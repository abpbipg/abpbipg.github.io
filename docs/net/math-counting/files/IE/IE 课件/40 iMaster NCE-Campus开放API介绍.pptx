
<file path=[Content_Types].xml><?xml version="1.0" encoding="utf-8"?>
<Types xmlns="http://schemas.openxmlformats.org/package/2006/content-types">
  <Default Extension="png" ContentType="image/png"/>
  <Default Extension="bin" ContentType="application/vnd.openxmlformats-officedocument.oleObject"/>
  <Default Extension="vsd" ContentType="application/vnd.visio"/>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43"/>
  </p:notesMasterIdLst>
  <p:handoutMasterIdLst>
    <p:handoutMasterId r:id="rId44"/>
  </p:handoutMasterIdLst>
  <p:sldIdLst>
    <p:sldId id="257" r:id="rId8"/>
    <p:sldId id="258"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284" r:id="rId42"/>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292" userDrawn="1">
          <p15:clr>
            <a:srgbClr val="A4A3A4"/>
          </p15:clr>
        </p15:guide>
        <p15:guide id="4" orient="horz" pos="2137"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junjianzjhw" initials="h" lastIdx="12" clrIdx="0">
    <p:extLst>
      <p:ext uri="{19B8F6BF-5375-455C-9EA6-DF929625EA0E}">
        <p15:presenceInfo xmlns:p15="http://schemas.microsoft.com/office/powerpoint/2012/main" userId="S-1-5-21-147214757-305610072-1517763936-56826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DAE2"/>
    <a:srgbClr val="DDDDDD"/>
    <a:srgbClr val="8B8E96"/>
    <a:srgbClr val="56C4D2"/>
    <a:srgbClr val="C7000B"/>
    <a:srgbClr val="BEE9EE"/>
    <a:srgbClr val="30B5C5"/>
    <a:srgbClr val="F4FBFE"/>
    <a:srgbClr val="FAFAFA"/>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8" autoAdjust="0"/>
    <p:restoredTop sz="90773" autoAdjust="0"/>
  </p:normalViewPr>
  <p:slideViewPr>
    <p:cSldViewPr snapToGrid="0" snapToObjects="1">
      <p:cViewPr varScale="1">
        <p:scale>
          <a:sx n="67" d="100"/>
          <a:sy n="67" d="100"/>
        </p:scale>
        <p:origin x="792" y="72"/>
      </p:cViewPr>
      <p:guideLst>
        <p:guide pos="5292"/>
        <p:guide orient="horz" pos="2137"/>
      </p:guideLst>
    </p:cSldViewPr>
  </p:slideViewPr>
  <p:outlineViewPr>
    <p:cViewPr>
      <p:scale>
        <a:sx n="33" d="100"/>
        <a:sy n="33" d="100"/>
      </p:scale>
      <p:origin x="0" y="-29832"/>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82" d="100"/>
          <a:sy n="82" d="100"/>
        </p:scale>
        <p:origin x="5442" y="240"/>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11/15/2021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790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845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49250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70078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36932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iMaster NCE-Campus</a:t>
            </a:r>
            <a:r>
              <a:rPr lang="zh-CN" altLang="en-US" smtClean="0"/>
              <a:t>是华为面向园区网络的新一代自动驾驶网络管理控制系统，是集管理、控制、分析和</a:t>
            </a:r>
            <a:r>
              <a:rPr lang="en-US" altLang="zh-CN" smtClean="0"/>
              <a:t>AI</a:t>
            </a:r>
            <a:r>
              <a:rPr lang="zh-CN" altLang="en-US" smtClean="0"/>
              <a:t>智能功能于一体的网络自动化与智能化平台，提供园区网络的全生命周期自动化、基于大数据和</a:t>
            </a:r>
            <a:r>
              <a:rPr lang="en-US" altLang="zh-CN" smtClean="0"/>
              <a:t>AI</a:t>
            </a:r>
            <a:r>
              <a:rPr lang="zh-CN" altLang="en-US" smtClean="0"/>
              <a:t>的故障智能闭环能力，帮助企业降低</a:t>
            </a:r>
            <a:r>
              <a:rPr lang="en-US" altLang="zh-CN" smtClean="0"/>
              <a:t>OPEX</a:t>
            </a:r>
            <a:r>
              <a:rPr lang="zh-CN" altLang="en-US" smtClean="0"/>
              <a:t>运维成本，加速企业云化与数字化转型，让网络管理更自动、网络运维更智能。</a:t>
            </a:r>
          </a:p>
          <a:p>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3185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应用层：聚焦主流场景，覆盖行业应用；网络业务数据全共享，满足应用层对数据增值和运营需求。</a:t>
            </a:r>
            <a:endParaRPr lang="en-US" altLang="zh-CN" dirty="0" smtClean="0"/>
          </a:p>
          <a:p>
            <a:r>
              <a:rPr lang="zh-CN" altLang="en-US" dirty="0" smtClean="0"/>
              <a:t>平台层：平台覆盖 </a:t>
            </a:r>
            <a:r>
              <a:rPr lang="en-US" altLang="zh-CN" dirty="0" smtClean="0"/>
              <a:t>4 </a:t>
            </a:r>
            <a:r>
              <a:rPr lang="zh-CN" altLang="en-US" dirty="0" smtClean="0"/>
              <a:t>大类 </a:t>
            </a:r>
            <a:r>
              <a:rPr lang="en-US" altLang="zh-CN" dirty="0" smtClean="0"/>
              <a:t>API </a:t>
            </a:r>
            <a:r>
              <a:rPr lang="zh-CN" altLang="en-US" dirty="0" smtClean="0"/>
              <a:t>接口，支持业界标准网络对接协议。</a:t>
            </a:r>
            <a:endParaRPr lang="en-US" altLang="zh-CN" dirty="0" smtClean="0"/>
          </a:p>
          <a:p>
            <a:r>
              <a:rPr lang="zh-CN" altLang="en-US" dirty="0" smtClean="0"/>
              <a:t>网络层：支持 </a:t>
            </a:r>
            <a:r>
              <a:rPr lang="en-US" altLang="zh-CN" dirty="0" err="1" smtClean="0"/>
              <a:t>Netconf</a:t>
            </a:r>
            <a:r>
              <a:rPr lang="en-US" altLang="zh-CN" dirty="0" smtClean="0"/>
              <a:t>/YANG/Telemetry </a:t>
            </a:r>
            <a:r>
              <a:rPr lang="zh-CN" altLang="en-US" dirty="0" smtClean="0"/>
              <a:t>等多种开放接口，提升设备可管理性； </a:t>
            </a:r>
            <a:r>
              <a:rPr lang="en-US" altLang="zh-CN" dirty="0" smtClean="0"/>
              <a:t>AP </a:t>
            </a:r>
            <a:r>
              <a:rPr lang="zh-CN" altLang="en-US" dirty="0" smtClean="0"/>
              <a:t>开放三方物联插卡，物联使能。</a:t>
            </a:r>
            <a:endParaRPr lang="en-US" altLang="zh-CN" dirty="0" smtClean="0"/>
          </a:p>
          <a:p>
            <a:r>
              <a:rPr lang="zh-CN" altLang="en-US" dirty="0" smtClean="0"/>
              <a:t>终端层：支持物联终端接入（</a:t>
            </a:r>
            <a:r>
              <a:rPr lang="en-US" altLang="zh-CN" dirty="0" err="1" smtClean="0"/>
              <a:t>Zigbee</a:t>
            </a:r>
            <a:r>
              <a:rPr lang="zh-CN" altLang="en-US" dirty="0" smtClean="0"/>
              <a:t>、</a:t>
            </a:r>
            <a:r>
              <a:rPr lang="en-US" altLang="zh-CN" dirty="0" smtClean="0"/>
              <a:t>RFID</a:t>
            </a:r>
            <a:r>
              <a:rPr lang="zh-CN" altLang="en-US" dirty="0" smtClean="0"/>
              <a:t>、</a:t>
            </a:r>
            <a:r>
              <a:rPr lang="en-US" altLang="zh-CN" dirty="0" smtClean="0"/>
              <a:t>BLE..</a:t>
            </a:r>
            <a:r>
              <a:rPr lang="zh-CN" altLang="en-US" dirty="0" smtClean="0"/>
              <a:t>）；支持有线和无线终端接入 </a:t>
            </a:r>
            <a:r>
              <a:rPr lang="en-US" altLang="zh-CN" dirty="0" smtClean="0"/>
              <a:t>(</a:t>
            </a:r>
            <a:r>
              <a:rPr lang="zh-CN" altLang="en-US" dirty="0" smtClean="0"/>
              <a:t>移动电话、</a:t>
            </a:r>
            <a:r>
              <a:rPr lang="en-US" altLang="zh-CN" dirty="0" smtClean="0"/>
              <a:t>IP </a:t>
            </a:r>
            <a:r>
              <a:rPr lang="zh-CN" altLang="en-US" dirty="0" smtClean="0"/>
              <a:t>电话、平板、摄像头等</a:t>
            </a:r>
            <a:r>
              <a:rPr lang="en-US" altLang="zh-CN" dirty="0" smtClean="0"/>
              <a:t>)</a:t>
            </a:r>
            <a:r>
              <a:rPr lang="zh-CN" altLang="en-US" dirty="0" smtClean="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87782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03361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01259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sym typeface="Huawei Sans" panose="020C0503030203020204" pitchFamily="34" charset="0"/>
              </a:rPr>
              <a:t>租户或</a:t>
            </a:r>
            <a:r>
              <a:rPr lang="en-US" altLang="zh-CN" smtClean="0">
                <a:sym typeface="Huawei Sans" panose="020C0503030203020204" pitchFamily="34" charset="0"/>
              </a:rPr>
              <a:t>MSP</a:t>
            </a:r>
            <a:r>
              <a:rPr lang="zh-CN" altLang="en-US" smtClean="0">
                <a:sym typeface="Huawei Sans" panose="020C0503030203020204" pitchFamily="34" charset="0"/>
              </a:rPr>
              <a:t>希望使用已有或者第三方认证平台，通过</a:t>
            </a:r>
            <a:r>
              <a:rPr lang="en-US" altLang="zh-CN" smtClean="0">
                <a:sym typeface="Huawei Sans" panose="020C0503030203020204" pitchFamily="34" charset="0"/>
              </a:rPr>
              <a:t>Web</a:t>
            </a:r>
            <a:r>
              <a:rPr lang="zh-CN" altLang="en-US" smtClean="0">
                <a:sym typeface="Huawei Sans" panose="020C0503030203020204" pitchFamily="34" charset="0"/>
              </a:rPr>
              <a:t>页面（认证</a:t>
            </a:r>
            <a:r>
              <a:rPr lang="en-US" altLang="zh-CN" smtClean="0">
                <a:sym typeface="Huawei Sans" panose="020C0503030203020204" pitchFamily="34" charset="0"/>
              </a:rPr>
              <a:t>Portal</a:t>
            </a:r>
            <a:r>
              <a:rPr lang="zh-CN" altLang="en-US" smtClean="0">
                <a:sym typeface="Huawei Sans" panose="020C0503030203020204" pitchFamily="34" charset="0"/>
              </a:rPr>
              <a:t>）进行网络接入认证的用户身份信息验证和授权。比如某</a:t>
            </a:r>
            <a:r>
              <a:rPr lang="en-US" altLang="zh-CN" smtClean="0">
                <a:sym typeface="Huawei Sans" panose="020C0503030203020204" pitchFamily="34" charset="0"/>
              </a:rPr>
              <a:t>MSP</a:t>
            </a:r>
            <a:r>
              <a:rPr lang="zh-CN" altLang="en-US" smtClean="0">
                <a:sym typeface="Huawei Sans" panose="020C0503030203020204" pitchFamily="34" charset="0"/>
              </a:rPr>
              <a:t>为服务的租户提供统一的接入认证页面。</a:t>
            </a:r>
            <a:endParaRPr lang="en-US" altLang="zh-CN">
              <a:sym typeface="Huawei Sans" panose="020C0503030203020204" pitchFamily="34" charset="0"/>
            </a:endParaRP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85246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终端用户在需要访问互联网时，连接</a:t>
            </a:r>
            <a:r>
              <a:rPr lang="en-US" altLang="zh-CN" smtClean="0"/>
              <a:t>Wi-Fi</a:t>
            </a:r>
            <a:r>
              <a:rPr lang="zh-CN" altLang="en-US" smtClean="0"/>
              <a:t>的</a:t>
            </a:r>
            <a:r>
              <a:rPr lang="en-US" altLang="zh-CN" smtClean="0"/>
              <a:t>SSID</a:t>
            </a:r>
            <a:r>
              <a:rPr lang="zh-CN" altLang="en-US" smtClean="0"/>
              <a:t>，登录由开发者应用推送的</a:t>
            </a:r>
            <a:r>
              <a:rPr lang="en-US" altLang="zh-CN" smtClean="0"/>
              <a:t>Portal</a:t>
            </a:r>
            <a:r>
              <a:rPr lang="zh-CN" altLang="en-US" smtClean="0"/>
              <a:t>页面进行认证。开发者应用调用华为</a:t>
            </a:r>
            <a:r>
              <a:rPr lang="en-US" altLang="zh-CN" smtClean="0"/>
              <a:t>iMaster NCE-Campus</a:t>
            </a:r>
            <a:r>
              <a:rPr lang="zh-CN" altLang="en-US" smtClean="0"/>
              <a:t>云平台认证授权</a:t>
            </a:r>
            <a:r>
              <a:rPr lang="en-US" altLang="zh-CN" smtClean="0"/>
              <a:t>API</a:t>
            </a:r>
            <a:r>
              <a:rPr lang="zh-CN" altLang="en-US" smtClean="0"/>
              <a:t>，给</a:t>
            </a:r>
            <a:r>
              <a:rPr lang="en-US" altLang="zh-CN" smtClean="0"/>
              <a:t>AP</a:t>
            </a:r>
            <a:r>
              <a:rPr lang="zh-CN" altLang="en-US" smtClean="0"/>
              <a:t>设备授权终端用户的</a:t>
            </a:r>
            <a:r>
              <a:rPr lang="en-US" altLang="zh-CN" smtClean="0"/>
              <a:t>Wi-Fi</a:t>
            </a:r>
            <a:r>
              <a:rPr lang="zh-CN" altLang="en-US" smtClean="0"/>
              <a:t>接入权限，从而终端用户可以访问互联网。</a:t>
            </a:r>
            <a:endParaRPr lang="en-US" altLang="zh-CN" smtClean="0"/>
          </a:p>
          <a:p>
            <a:r>
              <a:rPr lang="en-US" altLang="zh-CN" smtClean="0"/>
              <a:t>NAC</a:t>
            </a:r>
            <a:r>
              <a:rPr lang="zh-CN" altLang="en-US" smtClean="0"/>
              <a:t>为</a:t>
            </a:r>
            <a:r>
              <a:rPr lang="en-US" altLang="zh-CN" smtClean="0"/>
              <a:t>Network Access Control</a:t>
            </a:r>
            <a:r>
              <a:rPr lang="zh-CN" altLang="en-US" smtClean="0"/>
              <a:t>，即网络访问控制。</a:t>
            </a:r>
            <a:endParaRPr lang="en-US" altLang="zh-CN" smtClean="0"/>
          </a:p>
          <a:p>
            <a:r>
              <a:rPr lang="en-US" altLang="zh-CN" smtClean="0"/>
              <a:t>HACA</a:t>
            </a:r>
            <a:r>
              <a:rPr lang="zh-CN" altLang="en-US" smtClean="0"/>
              <a:t>协议是基于移动互联网的</a:t>
            </a:r>
            <a:r>
              <a:rPr lang="en-US" altLang="zh-CN" smtClean="0"/>
              <a:t>HTTP 2.0</a:t>
            </a:r>
            <a:r>
              <a:rPr lang="zh-CN" altLang="en-US" smtClean="0"/>
              <a:t>协议。</a:t>
            </a: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72698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更多</a:t>
            </a:r>
            <a:r>
              <a:rPr lang="en-US" altLang="zh-CN" smtClean="0"/>
              <a:t>API</a:t>
            </a:r>
            <a:r>
              <a:rPr lang="zh-CN" altLang="en-US" smtClean="0"/>
              <a:t>认证授权方案请参考，</a:t>
            </a:r>
            <a:r>
              <a:rPr lang="en-US" altLang="zh-CN" smtClean="0"/>
              <a:t>https://devzone.huawei.com/cn/enterprise/campus/apiSolution.html</a:t>
            </a:r>
            <a:r>
              <a:rPr lang="zh-CN" altLang="en-US" smtClean="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1457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更多</a:t>
            </a:r>
            <a:r>
              <a:rPr lang="en-US" altLang="zh-CN" dirty="0" smtClean="0"/>
              <a:t>RADIUS</a:t>
            </a:r>
            <a:r>
              <a:rPr lang="zh-CN" altLang="en-US" dirty="0" smtClean="0"/>
              <a:t>方案请参考，</a:t>
            </a:r>
            <a:r>
              <a:rPr lang="en-US" altLang="zh-CN" dirty="0" smtClean="0"/>
              <a:t>https://devzone.huawei.com/cn/enterprise/campus/radiusSolution.html</a:t>
            </a:r>
            <a:r>
              <a:rPr lang="zh-CN" altLang="en-US" dirty="0" smtClean="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77345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21455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sym typeface="Huawei Sans" panose="020C0503030203020204" pitchFamily="34" charset="0"/>
              </a:rPr>
              <a:t>位置服务</a:t>
            </a:r>
            <a:r>
              <a:rPr lang="en-US" altLang="zh-CN" smtClean="0">
                <a:sym typeface="Huawei Sans" panose="020C0503030203020204" pitchFamily="34" charset="0"/>
              </a:rPr>
              <a:t>(LBS, Location Based Services) </a:t>
            </a:r>
            <a:r>
              <a:rPr lang="zh-CN" altLang="en-US" smtClean="0">
                <a:sym typeface="Huawei Sans" panose="020C0503030203020204" pitchFamily="34" charset="0"/>
              </a:rPr>
              <a:t>是利用各类型的定位技术来获取定位设备当前所在位置，通过移动互联网向定位设备提供信息资源和基础服务。</a:t>
            </a:r>
            <a:endParaRPr lang="en-US" altLang="zh-CN" smtClean="0">
              <a:sym typeface="Huawei Sans" panose="020C0503030203020204" pitchFamily="34" charset="0"/>
            </a:endParaRPr>
          </a:p>
          <a:p>
            <a:r>
              <a:rPr lang="zh-CN" altLang="en-US" smtClean="0">
                <a:sym typeface="Huawei Sans" panose="020C0503030203020204" pitchFamily="34" charset="0"/>
              </a:rPr>
              <a:t>华为</a:t>
            </a:r>
            <a:r>
              <a:rPr lang="en-US" altLang="zh-CN" smtClean="0">
                <a:sym typeface="Huawei Sans" panose="020C0503030203020204" pitchFamily="34" charset="0"/>
              </a:rPr>
              <a:t>iMaster NCE-Campus</a:t>
            </a:r>
            <a:r>
              <a:rPr lang="zh-CN" altLang="en-US" smtClean="0">
                <a:sym typeface="Huawei Sans" panose="020C0503030203020204" pitchFamily="34" charset="0"/>
              </a:rPr>
              <a:t>平台，支持将</a:t>
            </a:r>
            <a:r>
              <a:rPr lang="en-US" altLang="zh-CN" smtClean="0">
                <a:sym typeface="Huawei Sans" panose="020C0503030203020204" pitchFamily="34" charset="0"/>
              </a:rPr>
              <a:t>AP</a:t>
            </a:r>
            <a:r>
              <a:rPr lang="zh-CN" altLang="en-US" smtClean="0">
                <a:sym typeface="Huawei Sans" panose="020C0503030203020204" pitchFamily="34" charset="0"/>
              </a:rPr>
              <a:t>采集的终端位置数据汇聚，周期性的发送给第三方合作伙伴</a:t>
            </a:r>
            <a:r>
              <a:rPr lang="en-US" altLang="zh-CN" smtClean="0">
                <a:sym typeface="Huawei Sans" panose="020C0503030203020204" pitchFamily="34" charset="0"/>
              </a:rPr>
              <a:t>LBS</a:t>
            </a:r>
            <a:r>
              <a:rPr lang="zh-CN" altLang="en-US" smtClean="0">
                <a:sym typeface="Huawei Sans" panose="020C0503030203020204" pitchFamily="34" charset="0"/>
              </a:rPr>
              <a:t>位置服务分析平台。由第三方合作伙伴平台解析位置数据后，经过一些列算法和数据分析，为最终客户提供热力图、轨迹跟踪、客流分析等增值业务应用。</a:t>
            </a:r>
            <a:endParaRPr lang="en-US" altLang="zh-CN" smtClean="0">
              <a:sym typeface="Huawei Sans" panose="020C0503030203020204" pitchFamily="34" charset="0"/>
            </a:endParaRPr>
          </a:p>
          <a:p>
            <a:r>
              <a:rPr lang="zh-CN" altLang="en-US" smtClean="0">
                <a:sym typeface="Huawei Sans" panose="020C0503030203020204" pitchFamily="34" charset="0"/>
              </a:rPr>
              <a:t>备注：合作伙伴需要根据使用场景满足相关标准，如欧盟通用数据保护法规（</a:t>
            </a:r>
            <a:r>
              <a:rPr lang="en-US" altLang="zh-CN" smtClean="0">
                <a:sym typeface="Huawei Sans" panose="020C0503030203020204" pitchFamily="34" charset="0"/>
              </a:rPr>
              <a:t>GDPR</a:t>
            </a:r>
            <a:r>
              <a:rPr lang="zh-CN" altLang="en-US" smtClean="0">
                <a:sym typeface="Huawei Sans" panose="020C0503030203020204" pitchFamily="34" charset="0"/>
              </a:rPr>
              <a:t>）。</a:t>
            </a:r>
            <a:endParaRPr lang="en-US" altLang="zh-CN" smtClean="0">
              <a:sym typeface="Huawei Sans" panose="020C0503030203020204" pitchFamily="34" charset="0"/>
            </a:endParaRPr>
          </a:p>
          <a:p>
            <a:endParaRPr lang="zh-CN" altLang="en-US" dirty="0">
              <a:sym typeface="Huawei Sans" panose="020C0503030203020204" pitchFamily="34" charset="0"/>
            </a:endParaRP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91383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err="1" smtClean="0"/>
              <a:t>iMaster</a:t>
            </a:r>
            <a:r>
              <a:rPr lang="en-US" altLang="zh-CN" dirty="0" smtClean="0"/>
              <a:t> NCE-Campus</a:t>
            </a:r>
            <a:r>
              <a:rPr lang="zh-CN" altLang="en-US" dirty="0" smtClean="0"/>
              <a:t>支持直接上报终端位置数据，也被称为中继位置服务方案。</a:t>
            </a:r>
            <a:endParaRPr lang="en-US"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0862211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smtClean="0"/>
              <a:t>Validator</a:t>
            </a:r>
            <a:r>
              <a:rPr lang="zh-CN" altLang="en-US" dirty="0" smtClean="0"/>
              <a:t>为</a:t>
            </a:r>
            <a:r>
              <a:rPr lang="en-US" altLang="zh-CN" dirty="0" smtClean="0">
                <a:sym typeface="Huawei Sans" panose="020C0503030203020204" pitchFamily="34" charset="0"/>
              </a:rPr>
              <a:t>UUID</a:t>
            </a:r>
            <a:r>
              <a:rPr lang="zh-CN" altLang="en-US" dirty="0" smtClean="0">
                <a:sym typeface="Huawei Sans" panose="020C0503030203020204" pitchFamily="34" charset="0"/>
              </a:rPr>
              <a:t>格式，由</a:t>
            </a:r>
            <a:r>
              <a:rPr lang="en-US" altLang="zh-CN" dirty="0" err="1" smtClean="0">
                <a:sym typeface="Huawei Sans" panose="020C0503030203020204" pitchFamily="34" charset="0"/>
              </a:rPr>
              <a:t>iMaster</a:t>
            </a:r>
            <a:r>
              <a:rPr lang="en-US" altLang="zh-CN" dirty="0" smtClean="0">
                <a:sym typeface="Huawei Sans" panose="020C0503030203020204" pitchFamily="34" charset="0"/>
              </a:rPr>
              <a:t> NCE-Campus</a:t>
            </a:r>
            <a:r>
              <a:rPr lang="zh-CN" altLang="en-US" dirty="0" smtClean="0">
                <a:sym typeface="Huawei Sans" panose="020C0503030203020204" pitchFamily="34" charset="0"/>
              </a:rPr>
              <a:t>生成。</a:t>
            </a:r>
            <a:endParaRPr lang="en-US" altLang="zh-CN" dirty="0" smtClean="0"/>
          </a:p>
          <a:p>
            <a:r>
              <a:rPr lang="zh-CN" altLang="en-US" dirty="0" smtClean="0"/>
              <a:t>更多完整示例请参考开发者社区</a:t>
            </a:r>
            <a:r>
              <a:rPr lang="zh-CN" altLang="en-US" dirty="0"/>
              <a:t>，</a:t>
            </a:r>
            <a:r>
              <a:rPr lang="en-US" altLang="zh-CN" dirty="0" smtClean="0"/>
              <a:t>https://developer.huaweicloud.com/techfield/network.html#CloudCampus</a:t>
            </a:r>
            <a:r>
              <a:rPr lang="zh-CN" altLang="en-US" dirty="0" smtClean="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80693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更多</a:t>
            </a:r>
            <a:r>
              <a:rPr lang="en-US" altLang="zh-CN" smtClean="0"/>
              <a:t>AP</a:t>
            </a:r>
            <a:r>
              <a:rPr lang="zh-CN" altLang="en-US" smtClean="0"/>
              <a:t>位置上报方案请参考，</a:t>
            </a:r>
            <a:r>
              <a:rPr lang="en-US" altLang="zh-CN" smtClean="0"/>
              <a:t>https://devzone.huawei.com/cn/enterprise/campus/lbsWiFiSolution.html#Wi-Fi</a:t>
            </a:r>
            <a:r>
              <a:rPr lang="zh-CN" altLang="en-US" smtClean="0"/>
              <a:t>终端数据上报流程。</a:t>
            </a: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163402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更多</a:t>
            </a:r>
            <a:r>
              <a:rPr lang="en-US" altLang="zh-CN" smtClean="0"/>
              <a:t>AP</a:t>
            </a:r>
            <a:r>
              <a:rPr lang="zh-CN" altLang="en-US" smtClean="0"/>
              <a:t>蓝牙定位方案请参考，</a:t>
            </a:r>
            <a:r>
              <a:rPr lang="en-US" altLang="zh-CN" smtClean="0"/>
              <a:t>https://devzone.huawei.com/cn/enterprise/campus/lbsBluetoothSolution.html</a:t>
            </a:r>
            <a:r>
              <a:rPr lang="zh-CN" altLang="en-US" smtClean="0"/>
              <a:t>。</a:t>
            </a: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81813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87402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613361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更多增值业务方案请参考，</a:t>
            </a:r>
            <a:r>
              <a:rPr lang="en-US" altLang="zh-CN" dirty="0" smtClean="0"/>
              <a:t>https://devzone.huawei.com/cn/enterprise/campus/valueAddedApi.html</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621631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214670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79808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更多基础网络方案可参考，</a:t>
            </a:r>
            <a:r>
              <a:rPr lang="en-US" altLang="zh-CN" smtClean="0"/>
              <a:t>https://devzone.huawei.com/cn/enterprise/cloudcampus/quickStart.html#network</a:t>
            </a: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770871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101988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
            </a:r>
            <a:br>
              <a:rPr lang="en-US" altLang="zh-CN" smtClean="0"/>
            </a:b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906606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更多智慧物联方案请参考，</a:t>
            </a:r>
            <a:r>
              <a:rPr lang="en-US" altLang="zh-CN" dirty="0"/>
              <a:t>https://devzone.huawei.com/cn/enterprise/cloudcampus/quickStart.html#iot</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812746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297500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86540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931098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333190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smtClean="0"/>
              <a:t>ABCD</a:t>
            </a:r>
            <a:endParaRPr lang="zh-CN" altLang="en-US"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413791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89505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5552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base"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4.emf"/><Relationship Id="rId13" Type="http://schemas.openxmlformats.org/officeDocument/2006/relationships/image" Target="../media/image19.emf"/><Relationship Id="rId3" Type="http://schemas.openxmlformats.org/officeDocument/2006/relationships/image" Target="../media/image8.png"/><Relationship Id="rId7" Type="http://schemas.openxmlformats.org/officeDocument/2006/relationships/image" Target="../media/image13.png"/><Relationship Id="rId12" Type="http://schemas.openxmlformats.org/officeDocument/2006/relationships/image" Target="../media/image18.emf"/><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11.png"/><Relationship Id="rId11" Type="http://schemas.openxmlformats.org/officeDocument/2006/relationships/image" Target="../media/image17.emf"/><Relationship Id="rId5" Type="http://schemas.openxmlformats.org/officeDocument/2006/relationships/image" Target="../media/image10.png"/><Relationship Id="rId10" Type="http://schemas.openxmlformats.org/officeDocument/2006/relationships/image" Target="../media/image16.emf"/><Relationship Id="rId4" Type="http://schemas.openxmlformats.org/officeDocument/2006/relationships/image" Target="../media/image9.png"/><Relationship Id="rId9" Type="http://schemas.openxmlformats.org/officeDocument/2006/relationships/image" Target="../media/image15.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8.png"/><Relationship Id="rId4" Type="http://schemas.openxmlformats.org/officeDocument/2006/relationships/image" Target="../media/image21.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25.png"/><Relationship Id="rId5" Type="http://schemas.openxmlformats.org/officeDocument/2006/relationships/image" Target="../media/image20.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13.xml"/><Relationship Id="rId7" Type="http://schemas.openxmlformats.org/officeDocument/2006/relationships/image" Target="../media/image25.png"/><Relationship Id="rId2" Type="http://schemas.openxmlformats.org/officeDocument/2006/relationships/slideLayout" Target="../slideLayouts/slideLayout15.xml"/><Relationship Id="rId1" Type="http://schemas.openxmlformats.org/officeDocument/2006/relationships/vmlDrawing" Target="../drawings/vmlDrawing1.vml"/><Relationship Id="rId6" Type="http://schemas.openxmlformats.org/officeDocument/2006/relationships/image" Target="../media/image27.emf"/><Relationship Id="rId5" Type="http://schemas.openxmlformats.org/officeDocument/2006/relationships/oleObject" Target="../embeddings/Microsoft_Visio_2003-2010_Drawing1.vsd"/><Relationship Id="rId4" Type="http://schemas.openxmlformats.org/officeDocument/2006/relationships/oleObject" Target="../embeddings/oleObject1.bin"/><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8.png"/><Relationship Id="rId4" Type="http://schemas.openxmlformats.org/officeDocument/2006/relationships/image" Target="../media/image28.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16.xml"/><Relationship Id="rId7" Type="http://schemas.openxmlformats.org/officeDocument/2006/relationships/image" Target="../media/image25.png"/><Relationship Id="rId2" Type="http://schemas.openxmlformats.org/officeDocument/2006/relationships/slideLayout" Target="../slideLayouts/slideLayout15.xml"/><Relationship Id="rId1" Type="http://schemas.openxmlformats.org/officeDocument/2006/relationships/vmlDrawing" Target="../drawings/vmlDrawing2.vml"/><Relationship Id="rId6" Type="http://schemas.openxmlformats.org/officeDocument/2006/relationships/image" Target="../media/image27.emf"/><Relationship Id="rId5" Type="http://schemas.openxmlformats.org/officeDocument/2006/relationships/oleObject" Target="../embeddings/Microsoft_Visio_2003-2010_Drawing2.vsd"/><Relationship Id="rId4" Type="http://schemas.openxmlformats.org/officeDocument/2006/relationships/oleObject" Target="../embeddings/oleObject2.bin"/><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0.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31.png"/><Relationship Id="rId5" Type="http://schemas.openxmlformats.org/officeDocument/2006/relationships/image" Target="../media/image23.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0.png"/><Relationship Id="rId7"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2.png"/><Relationship Id="rId10" Type="http://schemas.openxmlformats.org/officeDocument/2006/relationships/image" Target="../media/image25.png"/><Relationship Id="rId4" Type="http://schemas.openxmlformats.org/officeDocument/2006/relationships/image" Target="../media/image35.png"/><Relationship Id="rId9"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1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5.emf"/><Relationship Id="rId7"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15.xml"/><Relationship Id="rId6" Type="http://schemas.openxmlformats.org/officeDocument/2006/relationships/image" Target="../media/image46.png"/><Relationship Id="rId5" Type="http://schemas.openxmlformats.org/officeDocument/2006/relationships/image" Target="../media/image24.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1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gif"/><Relationship Id="rId9"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56.png"/><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文本占位符 13"/>
          <p:cNvSpPr>
            <a:spLocks noGrp="1"/>
          </p:cNvSpPr>
          <p:nvPr>
            <p:ph type="body" sz="quarter" idx="17"/>
          </p:nvPr>
        </p:nvSpPr>
        <p:spPr/>
        <p:txBody>
          <a:bodyPr/>
          <a:lstStyle/>
          <a:p>
            <a:endParaRPr lang="zh-CN" altLang="en-US">
              <a:sym typeface="Huawei Sans" panose="020C0503030203020204" pitchFamily="34" charset="0"/>
            </a:endParaRPr>
          </a:p>
        </p:txBody>
      </p:sp>
      <p:sp>
        <p:nvSpPr>
          <p:cNvPr id="25" name="文本占位符 24"/>
          <p:cNvSpPr>
            <a:spLocks noGrp="1"/>
          </p:cNvSpPr>
          <p:nvPr>
            <p:ph type="body" sz="quarter" idx="18"/>
          </p:nvPr>
        </p:nvSpPr>
        <p:spPr/>
        <p:txBody>
          <a:bodyPr/>
          <a:lstStyle/>
          <a:p>
            <a:r>
              <a:rPr lang="en-US" altLang="zh-CN" dirty="0" smtClean="0">
                <a:sym typeface="Huawei Sans" panose="020C0503030203020204" pitchFamily="34" charset="0"/>
              </a:rPr>
              <a:t>Datacom</a:t>
            </a:r>
            <a:endParaRPr lang="zh-CN" altLang="en-US" dirty="0">
              <a:sym typeface="Huawei Sans" panose="020C0503030203020204" pitchFamily="34" charset="0"/>
            </a:endParaRPr>
          </a:p>
        </p:txBody>
      </p:sp>
      <p:sp>
        <p:nvSpPr>
          <p:cNvPr id="15" name="文本占位符 14"/>
          <p:cNvSpPr>
            <a:spLocks noGrp="1"/>
          </p:cNvSpPr>
          <p:nvPr>
            <p:ph type="body" sz="quarter" idx="19"/>
          </p:nvPr>
        </p:nvSpPr>
        <p:spPr/>
        <p:txBody>
          <a:bodyPr/>
          <a:lstStyle/>
          <a:p>
            <a:r>
              <a:rPr lang="zh-CN" altLang="en-US" dirty="0" smtClean="0">
                <a:sym typeface="Huawei Sans" panose="020C0503030203020204" pitchFamily="34" charset="0"/>
              </a:rPr>
              <a:t>通用</a:t>
            </a:r>
            <a:endParaRPr lang="zh-CN" altLang="en-US" dirty="0">
              <a:sym typeface="Huawei Sans" panose="020C0503030203020204" pitchFamily="34" charset="0"/>
            </a:endParaRPr>
          </a:p>
        </p:txBody>
      </p:sp>
      <p:sp>
        <p:nvSpPr>
          <p:cNvPr id="16" name="文本占位符 15"/>
          <p:cNvSpPr>
            <a:spLocks noGrp="1"/>
          </p:cNvSpPr>
          <p:nvPr>
            <p:ph type="body" sz="quarter" idx="20"/>
          </p:nvPr>
        </p:nvSpPr>
        <p:spPr/>
        <p:txBody>
          <a:bodyPr/>
          <a:lstStyle/>
          <a:p>
            <a:r>
              <a:rPr lang="en-US" altLang="zh-CN" dirty="0" smtClean="0">
                <a:sym typeface="Huawei Sans" panose="020C0503030203020204" pitchFamily="34" charset="0"/>
              </a:rPr>
              <a:t>V1.0</a:t>
            </a:r>
            <a:endParaRPr lang="zh-CN" altLang="en-US" dirty="0">
              <a:sym typeface="Huawei Sans" panose="020C0503030203020204" pitchFamily="34" charset="0"/>
            </a:endParaRPr>
          </a:p>
        </p:txBody>
      </p:sp>
      <p:sp>
        <p:nvSpPr>
          <p:cNvPr id="74" name="文本占位符 73"/>
          <p:cNvSpPr>
            <a:spLocks noGrp="1"/>
          </p:cNvSpPr>
          <p:nvPr>
            <p:ph type="body" sz="quarter" idx="13"/>
          </p:nvPr>
        </p:nvSpPr>
        <p:spPr/>
        <p:txBody>
          <a:bodyPr/>
          <a:lstStyle/>
          <a:p>
            <a:r>
              <a:rPr lang="zh-CN" altLang="en-US" dirty="0">
                <a:sym typeface="Huawei Sans" panose="020C0503030203020204" pitchFamily="34" charset="0"/>
              </a:rPr>
              <a:t>陈粲</a:t>
            </a:r>
            <a:r>
              <a:rPr lang="en-US" altLang="zh-CN" dirty="0" smtClean="0">
                <a:sym typeface="Huawei Sans" panose="020C0503030203020204" pitchFamily="34" charset="0"/>
              </a:rPr>
              <a:t>/WX934766</a:t>
            </a:r>
            <a:endParaRPr lang="en-US" altLang="zh-CN" dirty="0">
              <a:sym typeface="Huawei Sans" panose="020C0503030203020204" pitchFamily="34" charset="0"/>
            </a:endParaRPr>
          </a:p>
        </p:txBody>
      </p:sp>
      <p:sp>
        <p:nvSpPr>
          <p:cNvPr id="75" name="文本占位符 74"/>
          <p:cNvSpPr>
            <a:spLocks noGrp="1"/>
          </p:cNvSpPr>
          <p:nvPr>
            <p:ph type="body" sz="quarter" idx="14"/>
          </p:nvPr>
        </p:nvSpPr>
        <p:spPr/>
        <p:txBody>
          <a:bodyPr/>
          <a:lstStyle/>
          <a:p>
            <a:r>
              <a:rPr lang="en-US" altLang="zh-CN" smtClean="0">
                <a:sym typeface="Huawei Sans" panose="020C0503030203020204" pitchFamily="34" charset="0"/>
              </a:rPr>
              <a:t>2020.06.16</a:t>
            </a:r>
            <a:endParaRPr lang="en-US" altLang="zh-CN" dirty="0">
              <a:sym typeface="Huawei Sans" panose="020C0503030203020204" pitchFamily="34" charset="0"/>
            </a:endParaRPr>
          </a:p>
        </p:txBody>
      </p:sp>
      <p:sp>
        <p:nvSpPr>
          <p:cNvPr id="22" name="文本占位符 21"/>
          <p:cNvSpPr>
            <a:spLocks noGrp="1"/>
          </p:cNvSpPr>
          <p:nvPr>
            <p:ph type="body" sz="quarter" idx="15"/>
          </p:nvPr>
        </p:nvSpPr>
        <p:spPr/>
        <p:txBody>
          <a:bodyPr/>
          <a:lstStyle/>
          <a:p>
            <a:r>
              <a:rPr lang="zh-CN" altLang="en-US" dirty="0">
                <a:sym typeface="Huawei Sans" panose="020C0503030203020204" pitchFamily="34" charset="0"/>
              </a:rPr>
              <a:t>李先</a:t>
            </a:r>
            <a:r>
              <a:rPr lang="zh-CN" altLang="en-US" dirty="0" smtClean="0">
                <a:sym typeface="Huawei Sans" panose="020C0503030203020204" pitchFamily="34" charset="0"/>
              </a:rPr>
              <a:t>之</a:t>
            </a:r>
            <a:r>
              <a:rPr lang="en-US" altLang="zh-CN" dirty="0" smtClean="0">
                <a:sym typeface="Huawei Sans" panose="020C0503030203020204" pitchFamily="34" charset="0"/>
              </a:rPr>
              <a:t>/00354681</a:t>
            </a:r>
            <a:endParaRPr lang="en-US" altLang="zh-CN" dirty="0">
              <a:sym typeface="Huawei Sans" panose="020C0503030203020204" pitchFamily="34" charset="0"/>
            </a:endParaRPr>
          </a:p>
        </p:txBody>
      </p:sp>
      <p:sp>
        <p:nvSpPr>
          <p:cNvPr id="23" name="文本占位符 22"/>
          <p:cNvSpPr>
            <a:spLocks noGrp="1"/>
          </p:cNvSpPr>
          <p:nvPr>
            <p:ph type="body" sz="quarter" idx="16"/>
          </p:nvPr>
        </p:nvSpPr>
        <p:spPr/>
        <p:txBody>
          <a:bodyPr/>
          <a:lstStyle/>
          <a:p>
            <a:r>
              <a:rPr lang="zh-CN" altLang="en-US" dirty="0" smtClean="0">
                <a:sym typeface="Huawei Sans" panose="020C0503030203020204" pitchFamily="34" charset="0"/>
              </a:rPr>
              <a:t>新开发</a:t>
            </a:r>
            <a:endParaRPr lang="zh-CN" altLang="en-US" dirty="0">
              <a:sym typeface="Huawei Sans" panose="020C0503030203020204" pitchFamily="34" charset="0"/>
            </a:endParaRPr>
          </a:p>
        </p:txBody>
      </p:sp>
      <p:sp>
        <p:nvSpPr>
          <p:cNvPr id="28" name="文本占位符 27"/>
          <p:cNvSpPr>
            <a:spLocks noGrp="1"/>
          </p:cNvSpPr>
          <p:nvPr>
            <p:ph type="body" sz="quarter" idx="21"/>
          </p:nvPr>
        </p:nvSpPr>
        <p:spPr/>
        <p:txBody>
          <a:bodyPr/>
          <a:lstStyle/>
          <a:p>
            <a:r>
              <a:rPr lang="zh-CN" altLang="en-US" dirty="0">
                <a:sym typeface="Huawei Sans" panose="020C0503030203020204" pitchFamily="34" charset="0"/>
              </a:rPr>
              <a:t>何军建</a:t>
            </a:r>
            <a:r>
              <a:rPr lang="en-US" altLang="zh-CN" dirty="0" smtClean="0">
                <a:sym typeface="Huawei Sans" panose="020C0503030203020204" pitchFamily="34" charset="0"/>
              </a:rPr>
              <a:t>/WX580230</a:t>
            </a:r>
            <a:endParaRPr lang="en-US" altLang="zh-CN" dirty="0">
              <a:sym typeface="Huawei Sans" panose="020C0503030203020204" pitchFamily="34" charset="0"/>
            </a:endParaRPr>
          </a:p>
        </p:txBody>
      </p:sp>
      <p:sp>
        <p:nvSpPr>
          <p:cNvPr id="29" name="文本占位符 28"/>
          <p:cNvSpPr>
            <a:spLocks noGrp="1"/>
          </p:cNvSpPr>
          <p:nvPr>
            <p:ph type="body" sz="quarter" idx="22"/>
          </p:nvPr>
        </p:nvSpPr>
        <p:spPr/>
        <p:txBody>
          <a:bodyPr/>
          <a:lstStyle/>
          <a:p>
            <a:r>
              <a:rPr lang="en-US" altLang="zh-CN" dirty="0" smtClean="0">
                <a:sym typeface="Huawei Sans" panose="020C0503030203020204" pitchFamily="34" charset="0"/>
              </a:rPr>
              <a:t>2021.08.24</a:t>
            </a:r>
            <a:endParaRPr lang="en-US" altLang="zh-CN" dirty="0">
              <a:sym typeface="Huawei Sans" panose="020C0503030203020204" pitchFamily="34" charset="0"/>
            </a:endParaRPr>
          </a:p>
        </p:txBody>
      </p:sp>
      <p:sp>
        <p:nvSpPr>
          <p:cNvPr id="30" name="文本占位符 29"/>
          <p:cNvSpPr>
            <a:spLocks noGrp="1"/>
          </p:cNvSpPr>
          <p:nvPr>
            <p:ph type="body" sz="quarter" idx="23"/>
          </p:nvPr>
        </p:nvSpPr>
        <p:spPr/>
        <p:txBody>
          <a:bodyPr/>
          <a:lstStyle/>
          <a:p>
            <a:r>
              <a:rPr lang="zh-CN" altLang="en-US" dirty="0">
                <a:sym typeface="Huawei Sans" panose="020C0503030203020204" pitchFamily="34" charset="0"/>
              </a:rPr>
              <a:t>李先之</a:t>
            </a:r>
            <a:r>
              <a:rPr lang="en-US" altLang="zh-CN" dirty="0" smtClean="0">
                <a:sym typeface="Huawei Sans" panose="020C0503030203020204" pitchFamily="34" charset="0"/>
              </a:rPr>
              <a:t>/00354681</a:t>
            </a:r>
            <a:endParaRPr lang="en-US" altLang="zh-CN" dirty="0">
              <a:sym typeface="Huawei Sans" panose="020C0503030203020204" pitchFamily="34" charset="0"/>
            </a:endParaRPr>
          </a:p>
        </p:txBody>
      </p:sp>
      <p:sp>
        <p:nvSpPr>
          <p:cNvPr id="31" name="文本占位符 30"/>
          <p:cNvSpPr>
            <a:spLocks noGrp="1"/>
          </p:cNvSpPr>
          <p:nvPr>
            <p:ph type="body" sz="quarter" idx="24"/>
          </p:nvPr>
        </p:nvSpPr>
        <p:spPr/>
        <p:txBody>
          <a:bodyPr/>
          <a:lstStyle/>
          <a:p>
            <a:r>
              <a:rPr lang="zh-CN" altLang="en-US" dirty="0" smtClean="0">
                <a:sym typeface="Huawei Sans" panose="020C0503030203020204" pitchFamily="34" charset="0"/>
              </a:rPr>
              <a:t>优化</a:t>
            </a:r>
            <a:endParaRPr lang="zh-CN" altLang="en-US" dirty="0">
              <a:sym typeface="Huawei Sans" panose="020C0503030203020204" pitchFamily="34" charset="0"/>
            </a:endParaRPr>
          </a:p>
        </p:txBody>
      </p:sp>
      <p:sp>
        <p:nvSpPr>
          <p:cNvPr id="32" name="文本占位符 31"/>
          <p:cNvSpPr>
            <a:spLocks noGrp="1"/>
          </p:cNvSpPr>
          <p:nvPr>
            <p:ph type="body" sz="quarter" idx="25"/>
          </p:nvPr>
        </p:nvSpPr>
        <p:spPr/>
        <p:txBody>
          <a:bodyPr/>
          <a:lstStyle/>
          <a:p>
            <a:endParaRPr lang="en-US" altLang="zh-CN" dirty="0">
              <a:sym typeface="Huawei Sans" panose="020C0503030203020204" pitchFamily="34" charset="0"/>
            </a:endParaRPr>
          </a:p>
        </p:txBody>
      </p:sp>
      <p:sp>
        <p:nvSpPr>
          <p:cNvPr id="33" name="文本占位符 32"/>
          <p:cNvSpPr>
            <a:spLocks noGrp="1"/>
          </p:cNvSpPr>
          <p:nvPr>
            <p:ph type="body" sz="quarter" idx="26"/>
          </p:nvPr>
        </p:nvSpPr>
        <p:spPr/>
        <p:txBody>
          <a:bodyPr/>
          <a:lstStyle/>
          <a:p>
            <a:endParaRPr lang="en-US" altLang="zh-CN" dirty="0">
              <a:sym typeface="Huawei Sans" panose="020C0503030203020204" pitchFamily="34" charset="0"/>
            </a:endParaRPr>
          </a:p>
        </p:txBody>
      </p:sp>
      <p:sp>
        <p:nvSpPr>
          <p:cNvPr id="17" name="文本占位符 16"/>
          <p:cNvSpPr>
            <a:spLocks noGrp="1"/>
          </p:cNvSpPr>
          <p:nvPr>
            <p:ph type="body" sz="quarter" idx="27"/>
          </p:nvPr>
        </p:nvSpPr>
        <p:spPr/>
        <p:txBody>
          <a:bodyPr/>
          <a:lstStyle/>
          <a:p>
            <a:endParaRPr lang="zh-CN" altLang="en-US">
              <a:sym typeface="Huawei Sans" panose="020C0503030203020204" pitchFamily="34" charset="0"/>
            </a:endParaRPr>
          </a:p>
        </p:txBody>
      </p:sp>
      <p:sp>
        <p:nvSpPr>
          <p:cNvPr id="35" name="文本占位符 34"/>
          <p:cNvSpPr>
            <a:spLocks noGrp="1"/>
          </p:cNvSpPr>
          <p:nvPr>
            <p:ph type="body" sz="quarter" idx="28"/>
          </p:nvPr>
        </p:nvSpPr>
        <p:spPr/>
        <p:txBody>
          <a:bodyPr/>
          <a:lstStyle/>
          <a:p>
            <a:endParaRPr lang="zh-CN" altLang="en-US" dirty="0">
              <a:sym typeface="Huawei Sans" panose="020C0503030203020204" pitchFamily="34" charset="0"/>
            </a:endParaRPr>
          </a:p>
        </p:txBody>
      </p:sp>
      <p:sp>
        <p:nvSpPr>
          <p:cNvPr id="18" name="文本占位符 17"/>
          <p:cNvSpPr>
            <a:spLocks noGrp="1"/>
          </p:cNvSpPr>
          <p:nvPr>
            <p:ph type="body" sz="quarter" idx="29"/>
          </p:nvPr>
        </p:nvSpPr>
        <p:spPr/>
        <p:txBody>
          <a:bodyPr/>
          <a:lstStyle/>
          <a:p>
            <a:endParaRPr lang="zh-CN" altLang="en-US">
              <a:sym typeface="Huawei Sans" panose="020C0503030203020204" pitchFamily="34" charset="0"/>
            </a:endParaRPr>
          </a:p>
        </p:txBody>
      </p:sp>
      <p:sp>
        <p:nvSpPr>
          <p:cNvPr id="19" name="文本占位符 18"/>
          <p:cNvSpPr>
            <a:spLocks noGrp="1"/>
          </p:cNvSpPr>
          <p:nvPr>
            <p:ph type="body" sz="quarter" idx="30"/>
          </p:nvPr>
        </p:nvSpPr>
        <p:spPr/>
        <p:txBody>
          <a:bodyPr/>
          <a:lstStyle/>
          <a:p>
            <a:endParaRPr lang="zh-CN" altLang="en-US">
              <a:sym typeface="Huawei Sans" panose="020C0503030203020204" pitchFamily="34" charset="0"/>
            </a:endParaRPr>
          </a:p>
        </p:txBody>
      </p:sp>
      <p:sp>
        <p:nvSpPr>
          <p:cNvPr id="20" name="文本占位符 19"/>
          <p:cNvSpPr>
            <a:spLocks noGrp="1"/>
          </p:cNvSpPr>
          <p:nvPr>
            <p:ph type="body" sz="quarter" idx="31"/>
          </p:nvPr>
        </p:nvSpPr>
        <p:spPr/>
        <p:txBody>
          <a:bodyPr/>
          <a:lstStyle/>
          <a:p>
            <a:endParaRPr lang="zh-CN" altLang="en-US">
              <a:sym typeface="Huawei Sans" panose="020C0503030203020204" pitchFamily="34" charset="0"/>
            </a:endParaRPr>
          </a:p>
        </p:txBody>
      </p:sp>
      <p:sp>
        <p:nvSpPr>
          <p:cNvPr id="21" name="文本占位符 20"/>
          <p:cNvSpPr>
            <a:spLocks noGrp="1"/>
          </p:cNvSpPr>
          <p:nvPr>
            <p:ph type="body" sz="quarter" idx="32"/>
          </p:nvPr>
        </p:nvSpPr>
        <p:spPr/>
        <p:txBody>
          <a:bodyPr/>
          <a:lstStyle/>
          <a:p>
            <a:endParaRPr lang="zh-CN" altLang="en-US" dirty="0">
              <a:sym typeface="Huawei Sans" panose="020C0503030203020204" pitchFamily="34" charset="0"/>
            </a:endParaRPr>
          </a:p>
        </p:txBody>
      </p:sp>
    </p:spTree>
    <p:extLst>
      <p:ext uri="{BB962C8B-B14F-4D97-AF65-F5344CB8AC3E}">
        <p14:creationId xmlns:p14="http://schemas.microsoft.com/office/powerpoint/2010/main" val="11296919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bwMode="gray"/>
        <p:txBody>
          <a:bodyPr/>
          <a:lstStyle/>
          <a:p>
            <a:r>
              <a:rPr lang="en-US" altLang="zh-CN" dirty="0" err="1" smtClean="0">
                <a:sym typeface="Huawei Sans" panose="020C0503030203020204" pitchFamily="34" charset="0"/>
              </a:rPr>
              <a:t>iMaster</a:t>
            </a:r>
            <a:r>
              <a:rPr lang="en-US" altLang="zh-CN" dirty="0" smtClean="0">
                <a:sym typeface="Huawei Sans" panose="020C0503030203020204" pitchFamily="34" charset="0"/>
              </a:rPr>
              <a:t> </a:t>
            </a:r>
            <a:r>
              <a:rPr lang="en-US" altLang="zh-CN" dirty="0">
                <a:sym typeface="Huawei Sans" panose="020C0503030203020204" pitchFamily="34" charset="0"/>
              </a:rPr>
              <a:t>NCE-Campus</a:t>
            </a:r>
            <a:r>
              <a:rPr lang="zh-CN" altLang="en-US" dirty="0">
                <a:sym typeface="Huawei Sans" panose="020C0503030203020204" pitchFamily="34" charset="0"/>
              </a:rPr>
              <a:t>开放</a:t>
            </a:r>
            <a:r>
              <a:rPr lang="en-US" altLang="zh-CN" dirty="0">
                <a:sym typeface="Huawei Sans" panose="020C0503030203020204" pitchFamily="34" charset="0"/>
              </a:rPr>
              <a:t>API</a:t>
            </a:r>
            <a:r>
              <a:rPr lang="zh-CN" altLang="en-US" dirty="0" smtClean="0">
                <a:sym typeface="Huawei Sans" panose="020C0503030203020204" pitchFamily="34" charset="0"/>
              </a:rPr>
              <a:t>介绍</a:t>
            </a:r>
            <a:endParaRPr lang="zh-CN" altLang="en-US" dirty="0">
              <a:sym typeface="Huawei Sans" panose="020C0503030203020204" pitchFamily="34" charset="0"/>
            </a:endParaRPr>
          </a:p>
        </p:txBody>
      </p:sp>
    </p:spTree>
    <p:extLst>
      <p:ext uri="{BB962C8B-B14F-4D97-AF65-F5344CB8AC3E}">
        <p14:creationId xmlns:p14="http://schemas.microsoft.com/office/powerpoint/2010/main" val="31712373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en-US" altLang="zh-CN" dirty="0" err="1" smtClean="0">
                <a:sym typeface="Huawei Sans" panose="020C0503030203020204" pitchFamily="34" charset="0"/>
              </a:rPr>
              <a:t>iMaster</a:t>
            </a:r>
            <a:r>
              <a:rPr lang="en-US" altLang="zh-CN" dirty="0" smtClean="0">
                <a:sym typeface="Huawei Sans" panose="020C0503030203020204" pitchFamily="34" charset="0"/>
              </a:rPr>
              <a:t> NCE-Campus</a:t>
            </a:r>
            <a:r>
              <a:rPr lang="zh-CN" altLang="en-US" dirty="0" smtClean="0">
                <a:sym typeface="Huawei Sans" panose="020C0503030203020204" pitchFamily="34" charset="0"/>
              </a:rPr>
              <a:t>是新一代面向企业园区网的</a:t>
            </a:r>
            <a:r>
              <a:rPr lang="en-US" altLang="zh-CN" dirty="0" smtClean="0">
                <a:sym typeface="Huawei Sans" panose="020C0503030203020204" pitchFamily="34" charset="0"/>
              </a:rPr>
              <a:t>SDN</a:t>
            </a:r>
            <a:r>
              <a:rPr lang="zh-CN" altLang="en-US" dirty="0" smtClean="0">
                <a:sym typeface="Huawei Sans" panose="020C0503030203020204" pitchFamily="34" charset="0"/>
              </a:rPr>
              <a:t>控制器，是华为智简园区网络</a:t>
            </a:r>
            <a:r>
              <a:rPr lang="en-US" altLang="zh-CN" dirty="0" err="1" smtClean="0">
                <a:sym typeface="Huawei Sans" panose="020C0503030203020204" pitchFamily="34" charset="0"/>
              </a:rPr>
              <a:t>CloudCampus</a:t>
            </a:r>
            <a:r>
              <a:rPr lang="zh-CN" altLang="en-US" dirty="0" smtClean="0">
                <a:sym typeface="Huawei Sans" panose="020C0503030203020204" pitchFamily="34" charset="0"/>
              </a:rPr>
              <a:t>解决方案的核心部件。</a:t>
            </a:r>
          </a:p>
          <a:p>
            <a:r>
              <a:rPr lang="en-US" altLang="zh-CN" dirty="0" err="1" smtClean="0">
                <a:sym typeface="Huawei Sans" panose="020C0503030203020204" pitchFamily="34" charset="0"/>
              </a:rPr>
              <a:t>iMaster</a:t>
            </a:r>
            <a:r>
              <a:rPr lang="en-US" altLang="zh-CN" dirty="0" smtClean="0">
                <a:sym typeface="Huawei Sans" panose="020C0503030203020204" pitchFamily="34" charset="0"/>
              </a:rPr>
              <a:t> NCE-Campus</a:t>
            </a:r>
            <a:r>
              <a:rPr lang="zh-CN" altLang="en-US" dirty="0" smtClean="0">
                <a:sym typeface="Huawei Sans" panose="020C0503030203020204" pitchFamily="34" charset="0"/>
              </a:rPr>
              <a:t>集中管控企业园区，提供自动化部署、安全防御和可视化运维。协助客户构建以业务为中心的网络业务动态调度能力。</a:t>
            </a:r>
          </a:p>
          <a:p>
            <a:r>
              <a:rPr lang="en-US" altLang="zh-CN" dirty="0" err="1" smtClean="0">
                <a:sym typeface="Huawei Sans" panose="020C0503030203020204" pitchFamily="34" charset="0"/>
              </a:rPr>
              <a:t>iMaster</a:t>
            </a:r>
            <a:r>
              <a:rPr lang="en-US" altLang="zh-CN" dirty="0" smtClean="0">
                <a:sym typeface="Huawei Sans" panose="020C0503030203020204" pitchFamily="34" charset="0"/>
              </a:rPr>
              <a:t> NCE-Campus</a:t>
            </a:r>
            <a:r>
              <a:rPr lang="zh-CN" altLang="en-US" dirty="0" smtClean="0">
                <a:sym typeface="Huawei Sans" panose="020C0503030203020204" pitchFamily="34" charset="0"/>
              </a:rPr>
              <a:t>提供标准</a:t>
            </a:r>
            <a:r>
              <a:rPr lang="en-US" altLang="zh-CN" dirty="0" smtClean="0">
                <a:sym typeface="Huawei Sans" panose="020C0503030203020204" pitchFamily="34" charset="0"/>
              </a:rPr>
              <a:t>RESTful</a:t>
            </a:r>
            <a:r>
              <a:rPr lang="zh-CN" altLang="en-US" dirty="0" smtClean="0">
                <a:sym typeface="Huawei Sans" panose="020C0503030203020204" pitchFamily="34" charset="0"/>
              </a:rPr>
              <a:t>接口开放能力，可用于合作伙伴开发创新应用</a:t>
            </a:r>
            <a:r>
              <a:rPr lang="en-US" altLang="zh-CN" dirty="0" smtClean="0">
                <a:sym typeface="Huawei Sans" panose="020C0503030203020204" pitchFamily="34" charset="0"/>
              </a:rPr>
              <a:t>APP</a:t>
            </a:r>
            <a:r>
              <a:rPr lang="zh-CN" altLang="en-US" dirty="0" smtClean="0">
                <a:sym typeface="Huawei Sans" panose="020C0503030203020204" pitchFamily="34" charset="0"/>
              </a:rPr>
              <a:t>，持续为企业市场客户创造价值。</a:t>
            </a: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1015699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zh-CN" altLang="en-US" dirty="0" smtClean="0">
                <a:sym typeface="Huawei Sans" panose="020C0503030203020204" pitchFamily="34" charset="0"/>
              </a:rPr>
              <a:t>学完本课程后，您将能够：</a:t>
            </a:r>
          </a:p>
          <a:p>
            <a:pPr lvl="1"/>
            <a:r>
              <a:rPr lang="zh-CN" altLang="en-US" dirty="0" smtClean="0">
                <a:sym typeface="Huawei Sans" panose="020C0503030203020204" pitchFamily="34" charset="0"/>
              </a:rPr>
              <a:t>描述</a:t>
            </a:r>
            <a:r>
              <a:rPr lang="en-US" altLang="zh-CN" dirty="0" err="1" smtClean="0">
                <a:sym typeface="Huawei Sans" panose="020C0503030203020204" pitchFamily="34" charset="0"/>
              </a:rPr>
              <a:t>iMaster</a:t>
            </a:r>
            <a:r>
              <a:rPr lang="en-US" altLang="zh-CN" dirty="0" smtClean="0">
                <a:sym typeface="Huawei Sans" panose="020C0503030203020204" pitchFamily="34" charset="0"/>
              </a:rPr>
              <a:t> NCE-Campus</a:t>
            </a:r>
            <a:r>
              <a:rPr lang="zh-CN" altLang="en-US" dirty="0" smtClean="0">
                <a:sym typeface="Huawei Sans" panose="020C0503030203020204" pitchFamily="34" charset="0"/>
              </a:rPr>
              <a:t>解决方案</a:t>
            </a:r>
          </a:p>
          <a:p>
            <a:pPr lvl="1"/>
            <a:r>
              <a:rPr lang="zh-CN" altLang="en-US" dirty="0" smtClean="0">
                <a:sym typeface="Huawei Sans" panose="020C0503030203020204" pitchFamily="34" charset="0"/>
              </a:rPr>
              <a:t>描述</a:t>
            </a:r>
            <a:r>
              <a:rPr lang="en-US" altLang="zh-CN" dirty="0" err="1" smtClean="0">
                <a:sym typeface="Huawei Sans" panose="020C0503030203020204" pitchFamily="34" charset="0"/>
              </a:rPr>
              <a:t>iMaster</a:t>
            </a:r>
            <a:r>
              <a:rPr lang="en-US" altLang="zh-CN" dirty="0" smtClean="0">
                <a:sym typeface="Huawei Sans" panose="020C0503030203020204" pitchFamily="34" charset="0"/>
              </a:rPr>
              <a:t> NCE-Campus</a:t>
            </a:r>
            <a:r>
              <a:rPr lang="zh-CN" altLang="en-US" dirty="0" smtClean="0">
                <a:sym typeface="Huawei Sans" panose="020C0503030203020204" pitchFamily="34" charset="0"/>
              </a:rPr>
              <a:t>主要开放</a:t>
            </a:r>
            <a:r>
              <a:rPr lang="en-US" altLang="zh-CN" dirty="0" smtClean="0">
                <a:sym typeface="Huawei Sans" panose="020C0503030203020204" pitchFamily="34" charset="0"/>
              </a:rPr>
              <a:t>API</a:t>
            </a:r>
          </a:p>
          <a:p>
            <a:pPr lvl="1"/>
            <a:r>
              <a:rPr lang="zh-CN" altLang="en-US" dirty="0" smtClean="0">
                <a:sym typeface="Huawei Sans" panose="020C0503030203020204" pitchFamily="34" charset="0"/>
              </a:rPr>
              <a:t>描述</a:t>
            </a:r>
            <a:r>
              <a:rPr lang="en-US" altLang="zh-CN" dirty="0" err="1" smtClean="0">
                <a:sym typeface="Huawei Sans" panose="020C0503030203020204" pitchFamily="34" charset="0"/>
              </a:rPr>
              <a:t>iMaster</a:t>
            </a:r>
            <a:r>
              <a:rPr lang="en-US" altLang="zh-CN" dirty="0" smtClean="0">
                <a:sym typeface="Huawei Sans" panose="020C0503030203020204" pitchFamily="34" charset="0"/>
              </a:rPr>
              <a:t> NCE-Campus</a:t>
            </a:r>
            <a:r>
              <a:rPr lang="zh-CN" altLang="en-US" dirty="0" smtClean="0">
                <a:sym typeface="Huawei Sans" panose="020C0503030203020204" pitchFamily="34" charset="0"/>
              </a:rPr>
              <a:t>典型应用场景</a:t>
            </a:r>
            <a:endParaRPr lang="zh-CN" altLang="en-US" dirty="0">
              <a:sym typeface="Huawei Sans" panose="020C0503030203020204" pitchFamily="34" charset="0"/>
            </a:endParaRPr>
          </a:p>
        </p:txBody>
      </p:sp>
    </p:spTree>
    <p:extLst>
      <p:ext uri="{BB962C8B-B14F-4D97-AF65-F5344CB8AC3E}">
        <p14:creationId xmlns:p14="http://schemas.microsoft.com/office/powerpoint/2010/main" val="5800308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smtClean="0">
                <a:sym typeface="Huawei Sans" panose="020C0503030203020204" pitchFamily="34" charset="0"/>
              </a:rPr>
              <a:t>解决方案概述</a:t>
            </a:r>
            <a:endParaRPr lang="en-US" altLang="zh-CN" b="1" dirty="0" smtClean="0">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典型场景及开放能力介绍</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开放合作案例</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1716591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矩形 284"/>
          <p:cNvSpPr/>
          <p:nvPr/>
        </p:nvSpPr>
        <p:spPr bwMode="gray">
          <a:xfrm>
            <a:off x="6430280" y="4827240"/>
            <a:ext cx="5188999" cy="1347533"/>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4" name="矩形 283"/>
          <p:cNvSpPr/>
          <p:nvPr/>
        </p:nvSpPr>
        <p:spPr bwMode="gray">
          <a:xfrm>
            <a:off x="6395202" y="1974307"/>
            <a:ext cx="5217506" cy="2763075"/>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3" name="矩形 282"/>
          <p:cNvSpPr/>
          <p:nvPr/>
        </p:nvSpPr>
        <p:spPr bwMode="gray">
          <a:xfrm>
            <a:off x="6423709" y="984079"/>
            <a:ext cx="5188999" cy="865702"/>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en-US" altLang="zh-CN" smtClean="0">
                <a:sym typeface="Huawei Sans" panose="020C0503030203020204" pitchFamily="34" charset="0"/>
              </a:rPr>
              <a:t>CloudCampus</a:t>
            </a:r>
            <a:r>
              <a:rPr lang="zh-CN" altLang="en-US" smtClean="0">
                <a:sym typeface="Huawei Sans" panose="020C0503030203020204" pitchFamily="34" charset="0"/>
              </a:rPr>
              <a:t>解决方案</a:t>
            </a:r>
            <a:endParaRPr lang="zh-CN" altLang="en-US" dirty="0">
              <a:sym typeface="Huawei Sans" panose="020C0503030203020204" pitchFamily="34" charset="0"/>
            </a:endParaRPr>
          </a:p>
        </p:txBody>
      </p:sp>
      <p:sp>
        <p:nvSpPr>
          <p:cNvPr id="267" name="文本框 64">
            <a:extLst>
              <a:ext uri="{FF2B5EF4-FFF2-40B4-BE49-F238E27FC236}">
                <a16:creationId xmlns:a16="http://schemas.microsoft.com/office/drawing/2014/main" xmlns="" id="{7F5C853B-C84A-43F2-937C-22A2BB81ECEF}"/>
              </a:ext>
            </a:extLst>
          </p:cNvPr>
          <p:cNvSpPr txBox="1">
            <a:spLocks noChangeArrowheads="1"/>
          </p:cNvSpPr>
          <p:nvPr/>
        </p:nvSpPr>
        <p:spPr bwMode="gray">
          <a:xfrm>
            <a:off x="7133754" y="991854"/>
            <a:ext cx="3927400" cy="86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78" rIns="35978">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defTabSz="914035">
              <a:lnSpc>
                <a:spcPts val="1999"/>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开放</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的架构：预集成，易集成</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2696" indent="-172696" defTabSz="914035">
              <a:lnSpc>
                <a:spcPts val="1999"/>
              </a:lnSpc>
              <a:buClr>
                <a:prstClr val="black"/>
              </a:buClr>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预集成</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生态伙伴，</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360+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终端特征库</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2696" indent="-172696" defTabSz="914035">
              <a:lnSpc>
                <a:spcPts val="1999"/>
              </a:lnSpc>
              <a:buClr>
                <a:prstClr val="black"/>
              </a:buClr>
              <a:buFont typeface="Arial" panose="020B0604020202020204" pitchFamily="34" charset="0"/>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大类支持</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300+ API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，易于和第三方厂家集成</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8" name="文本框 8">
            <a:extLst>
              <a:ext uri="{FF2B5EF4-FFF2-40B4-BE49-F238E27FC236}">
                <a16:creationId xmlns:a16="http://schemas.microsoft.com/office/drawing/2014/main" xmlns="" id="{FB83F7E3-BA5E-4C77-966B-1E5613424A39}"/>
              </a:ext>
            </a:extLst>
          </p:cNvPr>
          <p:cNvSpPr txBox="1">
            <a:spLocks noChangeArrowheads="1"/>
          </p:cNvSpPr>
          <p:nvPr/>
        </p:nvSpPr>
        <p:spPr bwMode="gray">
          <a:xfrm>
            <a:off x="7133754" y="2987884"/>
            <a:ext cx="4167060" cy="861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78" rIns="35978">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defTabSz="914035">
              <a:lnSpc>
                <a:spcPts val="1999"/>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安全</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的防御：主动防御，全网协同</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安全探针实时数据采集，实现全网安全态势感知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基于安全引擎主动识别并处置安全威胁，威胁识别率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&gt;99%</a:t>
            </a:r>
          </a:p>
        </p:txBody>
      </p:sp>
      <p:sp>
        <p:nvSpPr>
          <p:cNvPr id="269" name="文本框 64">
            <a:extLst>
              <a:ext uri="{FF2B5EF4-FFF2-40B4-BE49-F238E27FC236}">
                <a16:creationId xmlns:a16="http://schemas.microsoft.com/office/drawing/2014/main" xmlns="" id="{E7736EED-8646-4A86-91AA-A289A07554E6}"/>
              </a:ext>
            </a:extLst>
          </p:cNvPr>
          <p:cNvSpPr txBox="1">
            <a:spLocks noChangeArrowheads="1"/>
          </p:cNvSpPr>
          <p:nvPr/>
        </p:nvSpPr>
        <p:spPr bwMode="gray">
          <a:xfrm>
            <a:off x="7192465" y="4800039"/>
            <a:ext cx="4229473" cy="1374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78">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defTabSz="914035">
              <a:lnSpc>
                <a:spcPts val="1999"/>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超宽</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的承载：场景化，超宽，物联</a:t>
            </a:r>
            <a:endParaRPr lang="en-US" altLang="zh-CN" sz="1100" dirty="0">
              <a:latin typeface="Huawei Sans" panose="020C0503030203020204" pitchFamily="34" charset="0"/>
              <a:ea typeface="方正兰亭黑简体" panose="02000000000000000000" pitchFamily="2" charset="-122"/>
              <a:sym typeface="Huawei Sans" panose="020C0503030203020204" pitchFamily="34" charset="0"/>
            </a:endParaRP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超宽转发：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核心交换机，无阻塞高速转发</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超宽接入：业界首款商用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Wi-Fi 6 AP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，已成功交付</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客户</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场景化：全场景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方案，满足不同场景覆盖需求</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物联使能：</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融合</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IoT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Zigbee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RFID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BLE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UWB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0" name="文本框 64">
            <a:extLst>
              <a:ext uri="{FF2B5EF4-FFF2-40B4-BE49-F238E27FC236}">
                <a16:creationId xmlns:a16="http://schemas.microsoft.com/office/drawing/2014/main" xmlns="" id="{FEEFDF66-773F-4083-A351-5F9FF2AEB31C}"/>
              </a:ext>
            </a:extLst>
          </p:cNvPr>
          <p:cNvSpPr txBox="1">
            <a:spLocks noChangeArrowheads="1"/>
          </p:cNvSpPr>
          <p:nvPr/>
        </p:nvSpPr>
        <p:spPr bwMode="gray">
          <a:xfrm>
            <a:off x="7129660" y="1949112"/>
            <a:ext cx="4702121" cy="1118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78" rIns="35978">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defTabSz="914035">
              <a:lnSpc>
                <a:spcPts val="1999"/>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极简</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的部署：自动化部署，云化架构</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自动化：基于策略引擎实现全自动化部署，效率提升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50%</a:t>
            </a: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虚拟化：基于</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的网络虚拟化，实现一网多用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云化：全生命周期云管理服务，分钟级开通分支网络</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2" name="文本框 8">
            <a:extLst>
              <a:ext uri="{FF2B5EF4-FFF2-40B4-BE49-F238E27FC236}">
                <a16:creationId xmlns:a16="http://schemas.microsoft.com/office/drawing/2014/main" xmlns="" id="{A2384706-C42A-4C72-8CE0-8507384291CB}"/>
              </a:ext>
            </a:extLst>
          </p:cNvPr>
          <p:cNvSpPr txBox="1">
            <a:spLocks noChangeArrowheads="1"/>
          </p:cNvSpPr>
          <p:nvPr/>
        </p:nvSpPr>
        <p:spPr bwMode="gray">
          <a:xfrm>
            <a:off x="7133754" y="3812516"/>
            <a:ext cx="4478954"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5978" rIns="35978">
            <a:spAutoFit/>
          </a:bodyPr>
          <a:lstStyle>
            <a:lvl1pPr>
              <a:defRPr sz="1000">
                <a:solidFill>
                  <a:schemeClr val="tx1"/>
                </a:solidFill>
                <a:latin typeface="Arial" panose="020B0604020202020204" pitchFamily="34" charset="0"/>
                <a:ea typeface="微软雅黑" panose="020B0503020204020204" pitchFamily="34" charset="-122"/>
              </a:defRPr>
            </a:lvl1pPr>
            <a:lvl2pPr marL="742950" indent="-285750">
              <a:defRPr sz="1000">
                <a:solidFill>
                  <a:schemeClr val="tx1"/>
                </a:solidFill>
                <a:latin typeface="Arial" panose="020B0604020202020204" pitchFamily="34" charset="0"/>
                <a:ea typeface="微软雅黑" panose="020B0503020204020204" pitchFamily="34" charset="-122"/>
              </a:defRPr>
            </a:lvl2pPr>
            <a:lvl3pPr marL="1143000" indent="-228600">
              <a:defRPr sz="1000">
                <a:solidFill>
                  <a:schemeClr val="tx1"/>
                </a:solidFill>
                <a:latin typeface="Arial" panose="020B0604020202020204" pitchFamily="34" charset="0"/>
                <a:ea typeface="微软雅黑" panose="020B0503020204020204" pitchFamily="34" charset="-122"/>
              </a:defRPr>
            </a:lvl3pPr>
            <a:lvl4pPr marL="1600200" indent="-228600">
              <a:defRPr sz="1000">
                <a:solidFill>
                  <a:schemeClr val="tx1"/>
                </a:solidFill>
                <a:latin typeface="Arial" panose="020B0604020202020204" pitchFamily="34" charset="0"/>
                <a:ea typeface="微软雅黑" panose="020B0503020204020204" pitchFamily="34" charset="-122"/>
              </a:defRPr>
            </a:lvl4pPr>
            <a:lvl5pPr marL="2057400" indent="-228600">
              <a:defRPr sz="1000">
                <a:solidFill>
                  <a:schemeClr val="tx1"/>
                </a:solidFill>
                <a:latin typeface="Arial" panose="020B0604020202020204" pitchFamily="34" charset="0"/>
                <a:ea typeface="微软雅黑" panose="020B0503020204020204" pitchFamily="34" charset="-122"/>
              </a:defRPr>
            </a:lvl5pPr>
            <a:lvl6pPr marL="25146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6pPr>
            <a:lvl7pPr marL="29718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7pPr>
            <a:lvl8pPr marL="34290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8pPr>
            <a:lvl9pPr marL="3886200" indent="-228600" defTabSz="276225" fontAlgn="base">
              <a:spcBef>
                <a:spcPct val="0"/>
              </a:spcBef>
              <a:spcAft>
                <a:spcPct val="0"/>
              </a:spcAft>
              <a:defRPr sz="1000">
                <a:solidFill>
                  <a:schemeClr val="tx1"/>
                </a:solidFill>
                <a:latin typeface="Arial" panose="020B0604020202020204" pitchFamily="34" charset="0"/>
                <a:ea typeface="微软雅黑" panose="020B0503020204020204" pitchFamily="34" charset="-122"/>
              </a:defRPr>
            </a:lvl9pPr>
          </a:lstStyle>
          <a:p>
            <a:pPr defTabSz="1218906">
              <a:lnSpc>
                <a:spcPts val="1999"/>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智慧</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的运维：体验可视，预测优化</a:t>
            </a:r>
          </a:p>
          <a:p>
            <a:pPr marL="171348" indent="-171348" defTabSz="914035">
              <a:lnSpc>
                <a:spcPts val="1999"/>
              </a:lnSpc>
              <a:buFont typeface="Arial" panose="020B0604020202020204" pitchFamily="34" charset="0"/>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Telemetry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秒级数据采集，实现用户全旅程体验感知；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348" indent="-171348" defTabSz="914035">
              <a:lnSpc>
                <a:spcPts val="1999"/>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基于专家经验，故障识别率</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85%</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动态基线的异常预测</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5" name="圆角矩形 827">
            <a:extLst>
              <a:ext uri="{FF2B5EF4-FFF2-40B4-BE49-F238E27FC236}">
                <a16:creationId xmlns:a16="http://schemas.microsoft.com/office/drawing/2014/main" xmlns="" id="{A0CEDAD7-C3FA-4666-8B98-CCA05588E88F}"/>
              </a:ext>
            </a:extLst>
          </p:cNvPr>
          <p:cNvSpPr/>
          <p:nvPr/>
        </p:nvSpPr>
        <p:spPr bwMode="gray">
          <a:xfrm>
            <a:off x="6395202" y="983505"/>
            <a:ext cx="602423" cy="866276"/>
          </a:xfrm>
          <a:prstGeom prst="roundRect">
            <a:avLst>
              <a:gd name="adj" fmla="val 4536"/>
            </a:avLst>
          </a:prstGeom>
          <a:solidFill>
            <a:srgbClr val="30B5C5"/>
          </a:solidFill>
          <a:ln w="6350" cap="flat" cmpd="sng" algn="ctr">
            <a:noFill/>
            <a:prstDash val="dash"/>
            <a:round/>
            <a:headEnd type="none" w="med" len="med"/>
            <a:tailEnd type="none" w="med" len="med"/>
          </a:ln>
          <a:effectLst/>
        </p:spPr>
        <p:txBody>
          <a:bodyPr vert="horz" wrap="square" lIns="35968" tIns="0" rIns="0" bIns="0" numCol="1" rtlCol="0" anchor="ctr" anchorCtr="1" compatLnSpc="1">
            <a:prstTxWarp prst="textNoShape">
              <a:avLst/>
            </a:prstTxWarp>
            <a:noAutofit/>
          </a:bodyPr>
          <a:lstStyle/>
          <a:p>
            <a:pPr defTabSz="800887">
              <a:lnSpc>
                <a:spcPct val="150000"/>
              </a:lnSpc>
            </a:pPr>
            <a:r>
              <a:rPr lang="zh-CN" altLang="en-US"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开放</a:t>
            </a:r>
            <a:endParaRPr lang="en-US" altLang="zh-CN"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800887">
              <a:lnSpc>
                <a:spcPct val="150000"/>
              </a:lnSpc>
            </a:pPr>
            <a:r>
              <a:rPr lang="zh-CN" altLang="en-US"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生态</a:t>
            </a:r>
            <a:endParaRPr lang="en-US" altLang="zh-CN"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276" name="直接连接符 275">
            <a:extLst>
              <a:ext uri="{FF2B5EF4-FFF2-40B4-BE49-F238E27FC236}">
                <a16:creationId xmlns:a16="http://schemas.microsoft.com/office/drawing/2014/main" xmlns="" id="{48E7AE2F-DE42-4DF5-B042-0DCEA39FB05F}"/>
              </a:ext>
            </a:extLst>
          </p:cNvPr>
          <p:cNvCxnSpPr/>
          <p:nvPr/>
        </p:nvCxnSpPr>
        <p:spPr bwMode="gray">
          <a:xfrm>
            <a:off x="7129660" y="3008617"/>
            <a:ext cx="3878549" cy="0"/>
          </a:xfrm>
          <a:prstGeom prst="line">
            <a:avLst/>
          </a:prstGeom>
          <a:noFill/>
          <a:ln w="6350" cap="flat" cmpd="sng" algn="ctr">
            <a:solidFill>
              <a:schemeClr val="bg1">
                <a:lumMod val="40000"/>
                <a:lumOff val="60000"/>
              </a:schemeClr>
            </a:solidFill>
            <a:prstDash val="dash"/>
            <a:round/>
            <a:headEnd type="none" w="med" len="med"/>
            <a:tailEnd type="none" w="med" len="med"/>
          </a:ln>
          <a:effectLst/>
        </p:spPr>
      </p:cxnSp>
      <p:cxnSp>
        <p:nvCxnSpPr>
          <p:cNvPr id="277" name="直接连接符 276">
            <a:extLst>
              <a:ext uri="{FF2B5EF4-FFF2-40B4-BE49-F238E27FC236}">
                <a16:creationId xmlns:a16="http://schemas.microsoft.com/office/drawing/2014/main" xmlns="" id="{DE6DDABC-D961-418E-9738-21CA9EB8DC8F}"/>
              </a:ext>
            </a:extLst>
          </p:cNvPr>
          <p:cNvCxnSpPr/>
          <p:nvPr/>
        </p:nvCxnSpPr>
        <p:spPr bwMode="gray">
          <a:xfrm>
            <a:off x="7178511" y="3794848"/>
            <a:ext cx="3878549" cy="0"/>
          </a:xfrm>
          <a:prstGeom prst="line">
            <a:avLst/>
          </a:prstGeom>
          <a:noFill/>
          <a:ln w="6350" cap="flat" cmpd="sng" algn="ctr">
            <a:solidFill>
              <a:schemeClr val="bg1">
                <a:lumMod val="40000"/>
                <a:lumOff val="60000"/>
              </a:schemeClr>
            </a:solidFill>
            <a:prstDash val="dash"/>
            <a:round/>
            <a:headEnd type="none" w="med" len="med"/>
            <a:tailEnd type="none" w="med" len="med"/>
          </a:ln>
          <a:effectLst/>
        </p:spPr>
      </p:cxnSp>
      <p:sp>
        <p:nvSpPr>
          <p:cNvPr id="278" name="圆角矩形 831">
            <a:extLst>
              <a:ext uri="{FF2B5EF4-FFF2-40B4-BE49-F238E27FC236}">
                <a16:creationId xmlns:a16="http://schemas.microsoft.com/office/drawing/2014/main" xmlns="" id="{53922886-C890-409A-A14E-7E0E2A925E77}"/>
              </a:ext>
            </a:extLst>
          </p:cNvPr>
          <p:cNvSpPr/>
          <p:nvPr/>
        </p:nvSpPr>
        <p:spPr bwMode="gray">
          <a:xfrm>
            <a:off x="6384295" y="1944516"/>
            <a:ext cx="613329" cy="2808913"/>
          </a:xfrm>
          <a:prstGeom prst="roundRect">
            <a:avLst>
              <a:gd name="adj" fmla="val 4536"/>
            </a:avLst>
          </a:prstGeom>
          <a:solidFill>
            <a:srgbClr val="30B5C5"/>
          </a:solidFill>
          <a:ln w="6350" cap="flat" cmpd="sng" algn="ctr">
            <a:noFill/>
            <a:prstDash val="dash"/>
            <a:round/>
            <a:headEnd type="none" w="med" len="med"/>
            <a:tailEnd type="none" w="med" len="med"/>
          </a:ln>
          <a:effectLst/>
        </p:spPr>
        <p:txBody>
          <a:bodyPr vert="horz" wrap="square" lIns="35968" tIns="0" rIns="0" bIns="0" numCol="1" rtlCol="0" anchor="ctr" anchorCtr="1" compatLnSpc="1">
            <a:prstTxWarp prst="textNoShape">
              <a:avLst/>
            </a:prstTxWarp>
            <a:noAutofit/>
          </a:bodyPr>
          <a:lstStyle/>
          <a:p>
            <a:pPr defTabSz="800887">
              <a:lnSpc>
                <a:spcPct val="150000"/>
              </a:lnSpc>
            </a:pPr>
            <a:r>
              <a:rPr lang="zh-CN" altLang="en-US"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智慧</a:t>
            </a:r>
            <a:endParaRPr lang="en-US" altLang="zh-CN"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800887">
              <a:lnSpc>
                <a:spcPct val="150000"/>
              </a:lnSpc>
            </a:pPr>
            <a:r>
              <a:rPr lang="zh-CN" altLang="en-US"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a:t>
            </a:r>
            <a:endParaRPr lang="en-US" altLang="zh-CN"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79" name="圆角矩形 832">
            <a:extLst>
              <a:ext uri="{FF2B5EF4-FFF2-40B4-BE49-F238E27FC236}">
                <a16:creationId xmlns:a16="http://schemas.microsoft.com/office/drawing/2014/main" xmlns="" id="{C04138E9-A53D-4038-9CBF-6F07D43FCE80}"/>
              </a:ext>
            </a:extLst>
          </p:cNvPr>
          <p:cNvSpPr/>
          <p:nvPr/>
        </p:nvSpPr>
        <p:spPr bwMode="gray">
          <a:xfrm>
            <a:off x="6370323" y="4822200"/>
            <a:ext cx="627301" cy="1352574"/>
          </a:xfrm>
          <a:prstGeom prst="roundRect">
            <a:avLst>
              <a:gd name="adj" fmla="val 4536"/>
            </a:avLst>
          </a:prstGeom>
          <a:solidFill>
            <a:srgbClr val="30B5C5"/>
          </a:solidFill>
          <a:ln w="6350" cap="flat" cmpd="sng" algn="ctr">
            <a:noFill/>
            <a:prstDash val="dash"/>
            <a:round/>
            <a:headEnd type="none" w="med" len="med"/>
            <a:tailEnd type="none" w="med" len="med"/>
          </a:ln>
          <a:effectLst/>
        </p:spPr>
        <p:txBody>
          <a:bodyPr vert="horz" wrap="square" lIns="35968" tIns="0" rIns="0" bIns="0" numCol="1" rtlCol="0" anchor="ctr" anchorCtr="1" compatLnSpc="1">
            <a:prstTxWarp prst="textNoShape">
              <a:avLst/>
            </a:prstTxWarp>
            <a:noAutofit/>
          </a:bodyPr>
          <a:lstStyle/>
          <a:p>
            <a:pPr defTabSz="800887">
              <a:lnSpc>
                <a:spcPct val="150000"/>
              </a:lnSpc>
            </a:pPr>
            <a:r>
              <a:rPr lang="zh-CN" altLang="en-US"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超宽</a:t>
            </a:r>
            <a:endParaRPr lang="en-US" altLang="zh-CN"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800887">
              <a:lnSpc>
                <a:spcPct val="150000"/>
              </a:lnSpc>
            </a:pPr>
            <a:r>
              <a:rPr lang="zh-CN" altLang="en-US"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连接</a:t>
            </a:r>
            <a:endParaRPr lang="en-US" altLang="zh-CN" sz="16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97" name="梯形 296"/>
          <p:cNvSpPr/>
          <p:nvPr/>
        </p:nvSpPr>
        <p:spPr bwMode="gray">
          <a:xfrm>
            <a:off x="1141174" y="4940656"/>
            <a:ext cx="4938949" cy="898818"/>
          </a:xfrm>
          <a:prstGeom prst="trapezoid">
            <a:avLst>
              <a:gd name="adj" fmla="val 75739"/>
            </a:avLst>
          </a:prstGeom>
          <a:gradFill flip="none" rotWithShape="1">
            <a:gsLst>
              <a:gs pos="0">
                <a:schemeClr val="bg1"/>
              </a:gs>
              <a:gs pos="100000">
                <a:srgbClr val="56C4D2"/>
              </a:gs>
            </a:gsLst>
            <a:lin ang="5400000" scaled="1"/>
            <a:tileRect/>
          </a:gradFill>
          <a:ln>
            <a:gradFill flip="none" rotWithShape="1">
              <a:gsLst>
                <a:gs pos="0">
                  <a:schemeClr val="accent1">
                    <a:lumMod val="5000"/>
                    <a:lumOff val="95000"/>
                  </a:schemeClr>
                </a:gs>
                <a:gs pos="100000">
                  <a:srgbClr val="56C4D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6" name="梯形 295"/>
          <p:cNvSpPr/>
          <p:nvPr/>
        </p:nvSpPr>
        <p:spPr bwMode="gray">
          <a:xfrm>
            <a:off x="1377722" y="4035450"/>
            <a:ext cx="4511335" cy="898818"/>
          </a:xfrm>
          <a:prstGeom prst="trapezoid">
            <a:avLst>
              <a:gd name="adj" fmla="val 75739"/>
            </a:avLst>
          </a:prstGeom>
          <a:gradFill flip="none" rotWithShape="1">
            <a:gsLst>
              <a:gs pos="0">
                <a:schemeClr val="bg1"/>
              </a:gs>
              <a:gs pos="100000">
                <a:srgbClr val="56C4D2"/>
              </a:gs>
            </a:gsLst>
            <a:lin ang="5400000" scaled="1"/>
            <a:tileRect/>
          </a:gradFill>
          <a:ln>
            <a:gradFill flip="none" rotWithShape="1">
              <a:gsLst>
                <a:gs pos="0">
                  <a:schemeClr val="accent1">
                    <a:lumMod val="5000"/>
                    <a:lumOff val="95000"/>
                  </a:schemeClr>
                </a:gs>
                <a:gs pos="100000">
                  <a:srgbClr val="56C4D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Freeform 6">
            <a:extLst>
              <a:ext uri="{FF2B5EF4-FFF2-40B4-BE49-F238E27FC236}">
                <a16:creationId xmlns:a16="http://schemas.microsoft.com/office/drawing/2014/main" xmlns="" id="{AD73F6D4-9876-459E-AE53-8F9EED1E36AA}"/>
              </a:ext>
            </a:extLst>
          </p:cNvPr>
          <p:cNvSpPr>
            <a:spLocks/>
          </p:cNvSpPr>
          <p:nvPr/>
        </p:nvSpPr>
        <p:spPr bwMode="gray">
          <a:xfrm>
            <a:off x="974855" y="1941975"/>
            <a:ext cx="5190367" cy="2293875"/>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solidFill>
            <a:srgbClr val="F4FBFE"/>
          </a:solidFill>
          <a:ln w="19050" cap="flat">
            <a:solidFill>
              <a:schemeClr val="bg1">
                <a:lumMod val="85000"/>
              </a:schemeClr>
            </a:solidFill>
            <a:prstDash val="solid"/>
            <a:miter lim="800000"/>
            <a:headEnd/>
            <a:tailEnd/>
          </a:ln>
          <a:effectLst/>
        </p:spPr>
        <p:txBody>
          <a:bodyPr vert="horz" wrap="none" lIns="27395" tIns="13698" rIns="27395" bIns="13698" numCol="1" anchor="t" anchorCtr="0" compatLnSpc="1">
            <a:prstTxWarp prst="textNoShape">
              <a:avLst/>
            </a:prstTxWarp>
          </a:bodyPr>
          <a:lstStyle/>
          <a:p>
            <a:pPr defTabSz="773694" fontAlgn="ctr">
              <a:defRPr/>
            </a:pPr>
            <a:endParaRPr lang="en-US" altLang="zh-CN" sz="500" kern="0" dirty="0">
              <a:solidFill>
                <a:sysClr val="windowText" lastClr="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8" name="组合 63">
            <a:extLst>
              <a:ext uri="{FF2B5EF4-FFF2-40B4-BE49-F238E27FC236}">
                <a16:creationId xmlns:a16="http://schemas.microsoft.com/office/drawing/2014/main" xmlns="" id="{66C30CB2-8A56-4748-83C9-088258658583}"/>
              </a:ext>
            </a:extLst>
          </p:cNvPr>
          <p:cNvGrpSpPr>
            <a:grpSpLocks/>
          </p:cNvGrpSpPr>
          <p:nvPr/>
        </p:nvGrpSpPr>
        <p:grpSpPr bwMode="gray">
          <a:xfrm>
            <a:off x="2912645" y="4397854"/>
            <a:ext cx="1788962" cy="562518"/>
            <a:chOff x="4260381" y="4924040"/>
            <a:chExt cx="3423193" cy="1385975"/>
          </a:xfrm>
        </p:grpSpPr>
        <p:grpSp>
          <p:nvGrpSpPr>
            <p:cNvPr id="9" name="Group 338">
              <a:extLst>
                <a:ext uri="{FF2B5EF4-FFF2-40B4-BE49-F238E27FC236}">
                  <a16:creationId xmlns:a16="http://schemas.microsoft.com/office/drawing/2014/main" xmlns="" id="{2E8A110D-D82B-4C19-99CC-787E66D78858}"/>
                </a:ext>
              </a:extLst>
            </p:cNvPr>
            <p:cNvGrpSpPr>
              <a:grpSpLocks/>
            </p:cNvGrpSpPr>
            <p:nvPr/>
          </p:nvGrpSpPr>
          <p:grpSpPr bwMode="gray">
            <a:xfrm>
              <a:off x="4260381" y="4924040"/>
              <a:ext cx="3423193" cy="1385975"/>
              <a:chOff x="3914219" y="2315459"/>
              <a:chExt cx="2584320" cy="1247012"/>
            </a:xfrm>
          </p:grpSpPr>
          <p:sp>
            <p:nvSpPr>
              <p:cNvPr id="14" name="Freeform 339">
                <a:extLst>
                  <a:ext uri="{FF2B5EF4-FFF2-40B4-BE49-F238E27FC236}">
                    <a16:creationId xmlns:a16="http://schemas.microsoft.com/office/drawing/2014/main" xmlns="" id="{73852F7E-B97F-4011-A052-FF78663F6D87}"/>
                  </a:ext>
                </a:extLst>
              </p:cNvPr>
              <p:cNvSpPr/>
              <p:nvPr/>
            </p:nvSpPr>
            <p:spPr bwMode="gray">
              <a:xfrm>
                <a:off x="4777126" y="2564442"/>
                <a:ext cx="1413231" cy="998029"/>
              </a:xfrm>
              <a:custGeom>
                <a:avLst/>
                <a:gdLst>
                  <a:gd name="connsiteX0" fmla="*/ 1441450 w 1441450"/>
                  <a:gd name="connsiteY0" fmla="*/ 0 h 876300"/>
                  <a:gd name="connsiteX1" fmla="*/ 673100 w 1441450"/>
                  <a:gd name="connsiteY1" fmla="*/ 368300 h 876300"/>
                  <a:gd name="connsiteX2" fmla="*/ 0 w 1441450"/>
                  <a:gd name="connsiteY2" fmla="*/ 876300 h 876300"/>
                </a:gdLst>
                <a:ahLst/>
                <a:cxnLst>
                  <a:cxn ang="0">
                    <a:pos x="connsiteX0" y="connsiteY0"/>
                  </a:cxn>
                  <a:cxn ang="0">
                    <a:pos x="connsiteX1" y="connsiteY1"/>
                  </a:cxn>
                  <a:cxn ang="0">
                    <a:pos x="connsiteX2" y="connsiteY2"/>
                  </a:cxn>
                </a:cxnLst>
                <a:rect l="l" t="t" r="r" b="b"/>
                <a:pathLst>
                  <a:path w="1441450" h="876300">
                    <a:moveTo>
                      <a:pt x="1441450" y="0"/>
                    </a:moveTo>
                    <a:cubicBezTo>
                      <a:pt x="1177396" y="111125"/>
                      <a:pt x="913342" y="222250"/>
                      <a:pt x="673100" y="368300"/>
                    </a:cubicBezTo>
                    <a:cubicBezTo>
                      <a:pt x="432858" y="514350"/>
                      <a:pt x="0" y="876300"/>
                      <a:pt x="0" y="876300"/>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 name="Group 340">
                <a:extLst>
                  <a:ext uri="{FF2B5EF4-FFF2-40B4-BE49-F238E27FC236}">
                    <a16:creationId xmlns:a16="http://schemas.microsoft.com/office/drawing/2014/main" xmlns="" id="{975EEF4F-D4AB-4082-A9FC-4CD51AF7DB4D}"/>
                  </a:ext>
                </a:extLst>
              </p:cNvPr>
              <p:cNvGrpSpPr>
                <a:grpSpLocks/>
              </p:cNvGrpSpPr>
              <p:nvPr/>
            </p:nvGrpSpPr>
            <p:grpSpPr bwMode="gray">
              <a:xfrm>
                <a:off x="3914219" y="2315459"/>
                <a:ext cx="2584320" cy="1247012"/>
                <a:chOff x="3914219" y="2315459"/>
                <a:chExt cx="2584320" cy="1247012"/>
              </a:xfrm>
            </p:grpSpPr>
            <p:sp>
              <p:nvSpPr>
                <p:cNvPr id="16" name="Freeform 341">
                  <a:extLst>
                    <a:ext uri="{FF2B5EF4-FFF2-40B4-BE49-F238E27FC236}">
                      <a16:creationId xmlns:a16="http://schemas.microsoft.com/office/drawing/2014/main" xmlns="" id="{12D622AB-E82F-4B42-A42A-12ABA0AF6E6F}"/>
                    </a:ext>
                  </a:extLst>
                </p:cNvPr>
                <p:cNvSpPr/>
                <p:nvPr/>
              </p:nvSpPr>
              <p:spPr bwMode="gray">
                <a:xfrm>
                  <a:off x="3925959" y="3152380"/>
                  <a:ext cx="859972" cy="410091"/>
                </a:xfrm>
                <a:custGeom>
                  <a:avLst/>
                  <a:gdLst>
                    <a:gd name="connsiteX0" fmla="*/ 0 w 539750"/>
                    <a:gd name="connsiteY0" fmla="*/ 0 h 355600"/>
                    <a:gd name="connsiteX1" fmla="*/ 374650 w 539750"/>
                    <a:gd name="connsiteY1" fmla="*/ 114300 h 355600"/>
                    <a:gd name="connsiteX2" fmla="*/ 539750 w 539750"/>
                    <a:gd name="connsiteY2" fmla="*/ 355600 h 355600"/>
                  </a:gdLst>
                  <a:ahLst/>
                  <a:cxnLst>
                    <a:cxn ang="0">
                      <a:pos x="connsiteX0" y="connsiteY0"/>
                    </a:cxn>
                    <a:cxn ang="0">
                      <a:pos x="connsiteX1" y="connsiteY1"/>
                    </a:cxn>
                    <a:cxn ang="0">
                      <a:pos x="connsiteX2" y="connsiteY2"/>
                    </a:cxn>
                  </a:cxnLst>
                  <a:rect l="l" t="t" r="r" b="b"/>
                  <a:pathLst>
                    <a:path w="539750" h="355600">
                      <a:moveTo>
                        <a:pt x="0" y="0"/>
                      </a:moveTo>
                      <a:cubicBezTo>
                        <a:pt x="142346" y="27516"/>
                        <a:pt x="284692" y="55033"/>
                        <a:pt x="374650" y="114300"/>
                      </a:cubicBezTo>
                      <a:cubicBezTo>
                        <a:pt x="464608" y="173567"/>
                        <a:pt x="539750" y="355600"/>
                        <a:pt x="539750" y="355600"/>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Freeform 342">
                  <a:extLst>
                    <a:ext uri="{FF2B5EF4-FFF2-40B4-BE49-F238E27FC236}">
                      <a16:creationId xmlns:a16="http://schemas.microsoft.com/office/drawing/2014/main" xmlns="" id="{D2102F4F-9234-4FBC-9F0F-5EA643A4A18A}"/>
                    </a:ext>
                  </a:extLst>
                </p:cNvPr>
                <p:cNvSpPr/>
                <p:nvPr/>
              </p:nvSpPr>
              <p:spPr bwMode="gray">
                <a:xfrm>
                  <a:off x="3918622" y="2522596"/>
                  <a:ext cx="2321632" cy="600491"/>
                </a:xfrm>
                <a:custGeom>
                  <a:avLst/>
                  <a:gdLst>
                    <a:gd name="connsiteX0" fmla="*/ 0 w 1993900"/>
                    <a:gd name="connsiteY0" fmla="*/ 520700 h 520700"/>
                    <a:gd name="connsiteX1" fmla="*/ 1009650 w 1993900"/>
                    <a:gd name="connsiteY1" fmla="*/ 361950 h 520700"/>
                    <a:gd name="connsiteX2" fmla="*/ 1993900 w 1993900"/>
                    <a:gd name="connsiteY2" fmla="*/ 0 h 520700"/>
                  </a:gdLst>
                  <a:ahLst/>
                  <a:cxnLst>
                    <a:cxn ang="0">
                      <a:pos x="connsiteX0" y="connsiteY0"/>
                    </a:cxn>
                    <a:cxn ang="0">
                      <a:pos x="connsiteX1" y="connsiteY1"/>
                    </a:cxn>
                    <a:cxn ang="0">
                      <a:pos x="connsiteX2" y="connsiteY2"/>
                    </a:cxn>
                  </a:cxnLst>
                  <a:rect l="l" t="t" r="r" b="b"/>
                  <a:pathLst>
                    <a:path w="1993900" h="520700">
                      <a:moveTo>
                        <a:pt x="0" y="520700"/>
                      </a:moveTo>
                      <a:cubicBezTo>
                        <a:pt x="338666" y="484716"/>
                        <a:pt x="677333" y="448733"/>
                        <a:pt x="1009650" y="361950"/>
                      </a:cubicBezTo>
                      <a:cubicBezTo>
                        <a:pt x="1341967" y="275167"/>
                        <a:pt x="1993900" y="0"/>
                        <a:pt x="1993900" y="0"/>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8" name="Group 343">
                  <a:extLst>
                    <a:ext uri="{FF2B5EF4-FFF2-40B4-BE49-F238E27FC236}">
                      <a16:creationId xmlns:a16="http://schemas.microsoft.com/office/drawing/2014/main" xmlns="" id="{EFA49EA3-57F2-47C6-B28C-9E6A2396E6BD}"/>
                    </a:ext>
                  </a:extLst>
                </p:cNvPr>
                <p:cNvGrpSpPr>
                  <a:grpSpLocks/>
                </p:cNvGrpSpPr>
                <p:nvPr/>
              </p:nvGrpSpPr>
              <p:grpSpPr bwMode="gray">
                <a:xfrm>
                  <a:off x="3914219" y="2315459"/>
                  <a:ext cx="2584320" cy="1239844"/>
                  <a:chOff x="3914219" y="2315459"/>
                  <a:chExt cx="2584320" cy="1239844"/>
                </a:xfrm>
              </p:grpSpPr>
              <p:sp>
                <p:nvSpPr>
                  <p:cNvPr id="19" name="Freeform 344">
                    <a:extLst>
                      <a:ext uri="{FF2B5EF4-FFF2-40B4-BE49-F238E27FC236}">
                        <a16:creationId xmlns:a16="http://schemas.microsoft.com/office/drawing/2014/main" xmlns="" id="{50A65F30-2B87-4B1A-9E1C-23AD74F5AA76}"/>
                      </a:ext>
                    </a:extLst>
                  </p:cNvPr>
                  <p:cNvSpPr/>
                  <p:nvPr/>
                </p:nvSpPr>
                <p:spPr bwMode="gray">
                  <a:xfrm>
                    <a:off x="3914219" y="3097980"/>
                    <a:ext cx="2571112" cy="332676"/>
                  </a:xfrm>
                  <a:custGeom>
                    <a:avLst/>
                    <a:gdLst>
                      <a:gd name="connsiteX0" fmla="*/ 0 w 1809750"/>
                      <a:gd name="connsiteY0" fmla="*/ 48926 h 220376"/>
                      <a:gd name="connsiteX1" fmla="*/ 1009650 w 1809750"/>
                      <a:gd name="connsiteY1" fmla="*/ 10826 h 220376"/>
                      <a:gd name="connsiteX2" fmla="*/ 1809750 w 1809750"/>
                      <a:gd name="connsiteY2" fmla="*/ 220376 h 220376"/>
                      <a:gd name="connsiteX0" fmla="*/ 0 w 1813188"/>
                      <a:gd name="connsiteY0" fmla="*/ 31614 h 226243"/>
                      <a:gd name="connsiteX1" fmla="*/ 1013088 w 1813188"/>
                      <a:gd name="connsiteY1" fmla="*/ 16693 h 226243"/>
                      <a:gd name="connsiteX2" fmla="*/ 1813188 w 1813188"/>
                      <a:gd name="connsiteY2" fmla="*/ 226243 h 226243"/>
                    </a:gdLst>
                    <a:ahLst/>
                    <a:cxnLst>
                      <a:cxn ang="0">
                        <a:pos x="connsiteX0" y="connsiteY0"/>
                      </a:cxn>
                      <a:cxn ang="0">
                        <a:pos x="connsiteX1" y="connsiteY1"/>
                      </a:cxn>
                      <a:cxn ang="0">
                        <a:pos x="connsiteX2" y="connsiteY2"/>
                      </a:cxn>
                    </a:cxnLst>
                    <a:rect l="l" t="t" r="r" b="b"/>
                    <a:pathLst>
                      <a:path w="1813188" h="226243">
                        <a:moveTo>
                          <a:pt x="0" y="31614"/>
                        </a:moveTo>
                        <a:cubicBezTo>
                          <a:pt x="354012" y="-1724"/>
                          <a:pt x="711463" y="-11882"/>
                          <a:pt x="1013088" y="16693"/>
                        </a:cubicBezTo>
                        <a:cubicBezTo>
                          <a:pt x="1314713" y="45268"/>
                          <a:pt x="1813188" y="226243"/>
                          <a:pt x="1813188" y="226243"/>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0" name="Group 345">
                    <a:extLst>
                      <a:ext uri="{FF2B5EF4-FFF2-40B4-BE49-F238E27FC236}">
                        <a16:creationId xmlns:a16="http://schemas.microsoft.com/office/drawing/2014/main" xmlns="" id="{CACAE539-F39C-4EB8-B917-674C21F24122}"/>
                      </a:ext>
                    </a:extLst>
                  </p:cNvPr>
                  <p:cNvGrpSpPr>
                    <a:grpSpLocks/>
                  </p:cNvGrpSpPr>
                  <p:nvPr/>
                </p:nvGrpSpPr>
                <p:grpSpPr bwMode="gray">
                  <a:xfrm>
                    <a:off x="3926293" y="2315459"/>
                    <a:ext cx="2572246" cy="1239844"/>
                    <a:chOff x="3926293" y="2315459"/>
                    <a:chExt cx="2572246" cy="1239844"/>
                  </a:xfrm>
                </p:grpSpPr>
                <p:grpSp>
                  <p:nvGrpSpPr>
                    <p:cNvPr id="21" name="Group 347">
                      <a:extLst>
                        <a:ext uri="{FF2B5EF4-FFF2-40B4-BE49-F238E27FC236}">
                          <a16:creationId xmlns:a16="http://schemas.microsoft.com/office/drawing/2014/main" xmlns="" id="{FF66F690-7C95-4C2F-9498-DD6B3DEFBDC6}"/>
                        </a:ext>
                      </a:extLst>
                    </p:cNvPr>
                    <p:cNvGrpSpPr>
                      <a:grpSpLocks/>
                    </p:cNvGrpSpPr>
                    <p:nvPr/>
                  </p:nvGrpSpPr>
                  <p:grpSpPr bwMode="gray">
                    <a:xfrm>
                      <a:off x="3926293" y="2315459"/>
                      <a:ext cx="2561355" cy="1232679"/>
                      <a:chOff x="1049927" y="2533651"/>
                      <a:chExt cx="2223036" cy="1092199"/>
                    </a:xfrm>
                  </p:grpSpPr>
                  <p:sp>
                    <p:nvSpPr>
                      <p:cNvPr id="23" name="Freeform 349">
                        <a:extLst>
                          <a:ext uri="{FF2B5EF4-FFF2-40B4-BE49-F238E27FC236}">
                            <a16:creationId xmlns:a16="http://schemas.microsoft.com/office/drawing/2014/main" xmlns="" id="{BF20A12B-EFE7-4172-B7DF-EA4C48BB74CB}"/>
                          </a:ext>
                        </a:extLst>
                      </p:cNvPr>
                      <p:cNvSpPr/>
                      <p:nvPr/>
                    </p:nvSpPr>
                    <p:spPr bwMode="gray">
                      <a:xfrm>
                        <a:off x="1049637" y="2533651"/>
                        <a:ext cx="1100468" cy="741543"/>
                      </a:xfrm>
                      <a:custGeom>
                        <a:avLst/>
                        <a:gdLst>
                          <a:gd name="connsiteX0" fmla="*/ 0 w 1085850"/>
                          <a:gd name="connsiteY0" fmla="*/ 749300 h 749300"/>
                          <a:gd name="connsiteX1" fmla="*/ 622300 w 1085850"/>
                          <a:gd name="connsiteY1" fmla="*/ 508000 h 749300"/>
                          <a:gd name="connsiteX2" fmla="*/ 1085850 w 1085850"/>
                          <a:gd name="connsiteY2" fmla="*/ 0 h 749300"/>
                        </a:gdLst>
                        <a:ahLst/>
                        <a:cxnLst>
                          <a:cxn ang="0">
                            <a:pos x="connsiteX0" y="connsiteY0"/>
                          </a:cxn>
                          <a:cxn ang="0">
                            <a:pos x="connsiteX1" y="connsiteY1"/>
                          </a:cxn>
                          <a:cxn ang="0">
                            <a:pos x="connsiteX2" y="connsiteY2"/>
                          </a:cxn>
                        </a:cxnLst>
                        <a:rect l="l" t="t" r="r" b="b"/>
                        <a:pathLst>
                          <a:path w="1085850" h="749300">
                            <a:moveTo>
                              <a:pt x="0" y="749300"/>
                            </a:moveTo>
                            <a:cubicBezTo>
                              <a:pt x="220662" y="691091"/>
                              <a:pt x="441325" y="632883"/>
                              <a:pt x="622300" y="508000"/>
                            </a:cubicBezTo>
                            <a:cubicBezTo>
                              <a:pt x="803275" y="383117"/>
                              <a:pt x="1085850" y="0"/>
                              <a:pt x="1085850" y="0"/>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Freeform 350">
                        <a:extLst>
                          <a:ext uri="{FF2B5EF4-FFF2-40B4-BE49-F238E27FC236}">
                            <a16:creationId xmlns:a16="http://schemas.microsoft.com/office/drawing/2014/main" xmlns="" id="{E56EA618-57AD-4DB3-A460-FAF02FDFAEA8}"/>
                          </a:ext>
                        </a:extLst>
                      </p:cNvPr>
                      <p:cNvSpPr/>
                      <p:nvPr/>
                    </p:nvSpPr>
                    <p:spPr bwMode="gray">
                      <a:xfrm>
                        <a:off x="2137368" y="2533651"/>
                        <a:ext cx="931067" cy="224316"/>
                      </a:xfrm>
                      <a:custGeom>
                        <a:avLst/>
                        <a:gdLst>
                          <a:gd name="connsiteX0" fmla="*/ 0 w 927100"/>
                          <a:gd name="connsiteY0" fmla="*/ 0 h 294745"/>
                          <a:gd name="connsiteX1" fmla="*/ 419100 w 927100"/>
                          <a:gd name="connsiteY1" fmla="*/ 285750 h 294745"/>
                          <a:gd name="connsiteX2" fmla="*/ 927100 w 927100"/>
                          <a:gd name="connsiteY2" fmla="*/ 228600 h 294745"/>
                        </a:gdLst>
                        <a:ahLst/>
                        <a:cxnLst>
                          <a:cxn ang="0">
                            <a:pos x="connsiteX0" y="connsiteY0"/>
                          </a:cxn>
                          <a:cxn ang="0">
                            <a:pos x="connsiteX1" y="connsiteY1"/>
                          </a:cxn>
                          <a:cxn ang="0">
                            <a:pos x="connsiteX2" y="connsiteY2"/>
                          </a:cxn>
                        </a:cxnLst>
                        <a:rect l="l" t="t" r="r" b="b"/>
                        <a:pathLst>
                          <a:path w="927100" h="294745">
                            <a:moveTo>
                              <a:pt x="0" y="0"/>
                            </a:moveTo>
                            <a:cubicBezTo>
                              <a:pt x="132291" y="123825"/>
                              <a:pt x="264583" y="247650"/>
                              <a:pt x="419100" y="285750"/>
                            </a:cubicBezTo>
                            <a:cubicBezTo>
                              <a:pt x="573617" y="323850"/>
                              <a:pt x="927100" y="228600"/>
                              <a:pt x="927100" y="228600"/>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Freeform 351">
                        <a:extLst>
                          <a:ext uri="{FF2B5EF4-FFF2-40B4-BE49-F238E27FC236}">
                            <a16:creationId xmlns:a16="http://schemas.microsoft.com/office/drawing/2014/main" xmlns="" id="{70CA9626-E392-4813-AF06-8AE90790B0E0}"/>
                          </a:ext>
                        </a:extLst>
                      </p:cNvPr>
                      <p:cNvSpPr/>
                      <p:nvPr/>
                    </p:nvSpPr>
                    <p:spPr bwMode="gray">
                      <a:xfrm>
                        <a:off x="1796019" y="2552190"/>
                        <a:ext cx="351538" cy="1106752"/>
                      </a:xfrm>
                      <a:custGeom>
                        <a:avLst/>
                        <a:gdLst>
                          <a:gd name="connsiteX0" fmla="*/ 508000 w 508000"/>
                          <a:gd name="connsiteY0" fmla="*/ 0 h 1073150"/>
                          <a:gd name="connsiteX1" fmla="*/ 419100 w 508000"/>
                          <a:gd name="connsiteY1" fmla="*/ 488950 h 1073150"/>
                          <a:gd name="connsiteX2" fmla="*/ 0 w 508000"/>
                          <a:gd name="connsiteY2" fmla="*/ 1073150 h 1073150"/>
                        </a:gdLst>
                        <a:ahLst/>
                        <a:cxnLst>
                          <a:cxn ang="0">
                            <a:pos x="connsiteX0" y="connsiteY0"/>
                          </a:cxn>
                          <a:cxn ang="0">
                            <a:pos x="connsiteX1" y="connsiteY1"/>
                          </a:cxn>
                          <a:cxn ang="0">
                            <a:pos x="connsiteX2" y="connsiteY2"/>
                          </a:cxn>
                        </a:cxnLst>
                        <a:rect l="l" t="t" r="r" b="b"/>
                        <a:pathLst>
                          <a:path w="508000" h="1073150">
                            <a:moveTo>
                              <a:pt x="508000" y="0"/>
                            </a:moveTo>
                            <a:cubicBezTo>
                              <a:pt x="505883" y="155046"/>
                              <a:pt x="503767" y="310092"/>
                              <a:pt x="419100" y="488950"/>
                            </a:cubicBezTo>
                            <a:cubicBezTo>
                              <a:pt x="334433" y="667808"/>
                              <a:pt x="0" y="1073150"/>
                              <a:pt x="0" y="1073150"/>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Freeform 352">
                        <a:extLst>
                          <a:ext uri="{FF2B5EF4-FFF2-40B4-BE49-F238E27FC236}">
                            <a16:creationId xmlns:a16="http://schemas.microsoft.com/office/drawing/2014/main" xmlns="" id="{B5CED64E-8ABE-4746-804E-B810F7F351A7}"/>
                          </a:ext>
                        </a:extLst>
                      </p:cNvPr>
                      <p:cNvSpPr/>
                      <p:nvPr/>
                    </p:nvSpPr>
                    <p:spPr bwMode="gray">
                      <a:xfrm>
                        <a:off x="2159021" y="2602243"/>
                        <a:ext cx="1114478" cy="928783"/>
                      </a:xfrm>
                      <a:custGeom>
                        <a:avLst/>
                        <a:gdLst>
                          <a:gd name="connsiteX0" fmla="*/ 717550 w 717550"/>
                          <a:gd name="connsiteY0" fmla="*/ 889000 h 889000"/>
                          <a:gd name="connsiteX1" fmla="*/ 234950 w 717550"/>
                          <a:gd name="connsiteY1" fmla="*/ 539750 h 889000"/>
                          <a:gd name="connsiteX2" fmla="*/ 0 w 717550"/>
                          <a:gd name="connsiteY2" fmla="*/ 0 h 889000"/>
                        </a:gdLst>
                        <a:ahLst/>
                        <a:cxnLst>
                          <a:cxn ang="0">
                            <a:pos x="connsiteX0" y="connsiteY0"/>
                          </a:cxn>
                          <a:cxn ang="0">
                            <a:pos x="connsiteX1" y="connsiteY1"/>
                          </a:cxn>
                          <a:cxn ang="0">
                            <a:pos x="connsiteX2" y="connsiteY2"/>
                          </a:cxn>
                        </a:cxnLst>
                        <a:rect l="l" t="t" r="r" b="b"/>
                        <a:pathLst>
                          <a:path w="717550" h="889000">
                            <a:moveTo>
                              <a:pt x="717550" y="889000"/>
                            </a:moveTo>
                            <a:cubicBezTo>
                              <a:pt x="536046" y="788458"/>
                              <a:pt x="354542" y="687917"/>
                              <a:pt x="234950" y="539750"/>
                            </a:cubicBezTo>
                            <a:cubicBezTo>
                              <a:pt x="115358" y="391583"/>
                              <a:pt x="0" y="0"/>
                              <a:pt x="0" y="0"/>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2" name="Freeform 348">
                      <a:extLst>
                        <a:ext uri="{FF2B5EF4-FFF2-40B4-BE49-F238E27FC236}">
                          <a16:creationId xmlns:a16="http://schemas.microsoft.com/office/drawing/2014/main" xmlns="" id="{28B83EC1-B1AF-428A-BFEE-694300D78084}"/>
                        </a:ext>
                      </a:extLst>
                    </p:cNvPr>
                    <p:cNvSpPr/>
                    <p:nvPr/>
                  </p:nvSpPr>
                  <p:spPr bwMode="gray">
                    <a:xfrm>
                      <a:off x="4777126" y="3265365"/>
                      <a:ext cx="1721413" cy="290829"/>
                    </a:xfrm>
                    <a:custGeom>
                      <a:avLst/>
                      <a:gdLst>
                        <a:gd name="connsiteX0" fmla="*/ 0 w 1225550"/>
                        <a:gd name="connsiteY0" fmla="*/ 259827 h 259827"/>
                        <a:gd name="connsiteX1" fmla="*/ 577850 w 1225550"/>
                        <a:gd name="connsiteY1" fmla="*/ 5827 h 259827"/>
                        <a:gd name="connsiteX2" fmla="*/ 1225550 w 1225550"/>
                        <a:gd name="connsiteY2" fmla="*/ 75677 h 259827"/>
                        <a:gd name="connsiteX0" fmla="*/ 0 w 1260086"/>
                        <a:gd name="connsiteY0" fmla="*/ 257585 h 257585"/>
                        <a:gd name="connsiteX1" fmla="*/ 577850 w 1260086"/>
                        <a:gd name="connsiteY1" fmla="*/ 3585 h 257585"/>
                        <a:gd name="connsiteX2" fmla="*/ 1260086 w 1260086"/>
                        <a:gd name="connsiteY2" fmla="*/ 149368 h 257585"/>
                      </a:gdLst>
                      <a:ahLst/>
                      <a:cxnLst>
                        <a:cxn ang="0">
                          <a:pos x="connsiteX0" y="connsiteY0"/>
                        </a:cxn>
                        <a:cxn ang="0">
                          <a:pos x="connsiteX1" y="connsiteY1"/>
                        </a:cxn>
                        <a:cxn ang="0">
                          <a:pos x="connsiteX2" y="connsiteY2"/>
                        </a:cxn>
                      </a:cxnLst>
                      <a:rect l="l" t="t" r="r" b="b"/>
                      <a:pathLst>
                        <a:path w="1260086" h="257585">
                          <a:moveTo>
                            <a:pt x="0" y="257585"/>
                          </a:moveTo>
                          <a:cubicBezTo>
                            <a:pt x="186796" y="145931"/>
                            <a:pt x="373592" y="34277"/>
                            <a:pt x="577850" y="3585"/>
                          </a:cubicBezTo>
                          <a:cubicBezTo>
                            <a:pt x="782108" y="-27107"/>
                            <a:pt x="1260086" y="149368"/>
                            <a:pt x="1260086" y="149368"/>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grpSp>
        <p:sp>
          <p:nvSpPr>
            <p:cNvPr id="10" name="任意多边形 565">
              <a:extLst>
                <a:ext uri="{FF2B5EF4-FFF2-40B4-BE49-F238E27FC236}">
                  <a16:creationId xmlns:a16="http://schemas.microsoft.com/office/drawing/2014/main" xmlns="" id="{59809236-EB7F-481C-923E-3E881ACAB225}"/>
                </a:ext>
              </a:extLst>
            </p:cNvPr>
            <p:cNvSpPr/>
            <p:nvPr/>
          </p:nvSpPr>
          <p:spPr bwMode="gray">
            <a:xfrm>
              <a:off x="7310347" y="5200769"/>
              <a:ext cx="167175" cy="390678"/>
            </a:xfrm>
            <a:custGeom>
              <a:avLst/>
              <a:gdLst>
                <a:gd name="connsiteX0" fmla="*/ 14664 w 167064"/>
                <a:gd name="connsiteY0" fmla="*/ 0 h 390525"/>
                <a:gd name="connsiteX1" fmla="*/ 14664 w 167064"/>
                <a:gd name="connsiteY1" fmla="*/ 171450 h 390525"/>
                <a:gd name="connsiteX2" fmla="*/ 167064 w 167064"/>
                <a:gd name="connsiteY2" fmla="*/ 390525 h 390525"/>
              </a:gdLst>
              <a:ahLst/>
              <a:cxnLst>
                <a:cxn ang="0">
                  <a:pos x="connsiteX0" y="connsiteY0"/>
                </a:cxn>
                <a:cxn ang="0">
                  <a:pos x="connsiteX1" y="connsiteY1"/>
                </a:cxn>
                <a:cxn ang="0">
                  <a:pos x="connsiteX2" y="connsiteY2"/>
                </a:cxn>
              </a:cxnLst>
              <a:rect l="l" t="t" r="r" b="b"/>
              <a:pathLst>
                <a:path w="167064" h="390525">
                  <a:moveTo>
                    <a:pt x="14664" y="0"/>
                  </a:moveTo>
                  <a:cubicBezTo>
                    <a:pt x="1964" y="53181"/>
                    <a:pt x="-10736" y="106363"/>
                    <a:pt x="14664" y="171450"/>
                  </a:cubicBezTo>
                  <a:cubicBezTo>
                    <a:pt x="40064" y="236538"/>
                    <a:pt x="103564" y="313531"/>
                    <a:pt x="167064" y="390525"/>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任意多边形 566">
              <a:extLst>
                <a:ext uri="{FF2B5EF4-FFF2-40B4-BE49-F238E27FC236}">
                  <a16:creationId xmlns:a16="http://schemas.microsoft.com/office/drawing/2014/main" xmlns="" id="{623E08A3-CE91-4F17-AF15-0DCEEC448C76}"/>
                </a:ext>
              </a:extLst>
            </p:cNvPr>
            <p:cNvSpPr/>
            <p:nvPr/>
          </p:nvSpPr>
          <p:spPr bwMode="gray">
            <a:xfrm>
              <a:off x="7232591" y="5224024"/>
              <a:ext cx="439319" cy="899954"/>
            </a:xfrm>
            <a:custGeom>
              <a:avLst/>
              <a:gdLst>
                <a:gd name="connsiteX0" fmla="*/ 58797 w 430272"/>
                <a:gd name="connsiteY0" fmla="*/ 0 h 900112"/>
                <a:gd name="connsiteX1" fmla="*/ 30222 w 430272"/>
                <a:gd name="connsiteY1" fmla="*/ 333375 h 900112"/>
                <a:gd name="connsiteX2" fmla="*/ 430272 w 430272"/>
                <a:gd name="connsiteY2" fmla="*/ 900112 h 900112"/>
              </a:gdLst>
              <a:ahLst/>
              <a:cxnLst>
                <a:cxn ang="0">
                  <a:pos x="connsiteX0" y="connsiteY0"/>
                </a:cxn>
                <a:cxn ang="0">
                  <a:pos x="connsiteX1" y="connsiteY1"/>
                </a:cxn>
                <a:cxn ang="0">
                  <a:pos x="connsiteX2" y="connsiteY2"/>
                </a:cxn>
              </a:cxnLst>
              <a:rect l="l" t="t" r="r" b="b"/>
              <a:pathLst>
                <a:path w="430272" h="900112">
                  <a:moveTo>
                    <a:pt x="58797" y="0"/>
                  </a:moveTo>
                  <a:cubicBezTo>
                    <a:pt x="13553" y="91678"/>
                    <a:pt x="-31690" y="183356"/>
                    <a:pt x="30222" y="333375"/>
                  </a:cubicBezTo>
                  <a:cubicBezTo>
                    <a:pt x="92134" y="483394"/>
                    <a:pt x="361216" y="805656"/>
                    <a:pt x="430272" y="900112"/>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任意多边形 567">
              <a:extLst>
                <a:ext uri="{FF2B5EF4-FFF2-40B4-BE49-F238E27FC236}">
                  <a16:creationId xmlns:a16="http://schemas.microsoft.com/office/drawing/2014/main" xmlns="" id="{90AEF9EA-6056-4110-A46C-0D8688080208}"/>
                </a:ext>
              </a:extLst>
            </p:cNvPr>
            <p:cNvSpPr/>
            <p:nvPr/>
          </p:nvSpPr>
          <p:spPr bwMode="gray">
            <a:xfrm>
              <a:off x="4281764" y="5300765"/>
              <a:ext cx="268257" cy="499973"/>
            </a:xfrm>
            <a:custGeom>
              <a:avLst/>
              <a:gdLst>
                <a:gd name="connsiteX0" fmla="*/ 219075 w 267914"/>
                <a:gd name="connsiteY0" fmla="*/ 0 h 500062"/>
                <a:gd name="connsiteX1" fmla="*/ 252412 w 267914"/>
                <a:gd name="connsiteY1" fmla="*/ 242887 h 500062"/>
                <a:gd name="connsiteX2" fmla="*/ 0 w 267914"/>
                <a:gd name="connsiteY2" fmla="*/ 500062 h 500062"/>
              </a:gdLst>
              <a:ahLst/>
              <a:cxnLst>
                <a:cxn ang="0">
                  <a:pos x="connsiteX0" y="connsiteY0"/>
                </a:cxn>
                <a:cxn ang="0">
                  <a:pos x="connsiteX1" y="connsiteY1"/>
                </a:cxn>
                <a:cxn ang="0">
                  <a:pos x="connsiteX2" y="connsiteY2"/>
                </a:cxn>
              </a:cxnLst>
              <a:rect l="l" t="t" r="r" b="b"/>
              <a:pathLst>
                <a:path w="267914" h="500062">
                  <a:moveTo>
                    <a:pt x="219075" y="0"/>
                  </a:moveTo>
                  <a:cubicBezTo>
                    <a:pt x="254000" y="79771"/>
                    <a:pt x="288925" y="159543"/>
                    <a:pt x="252412" y="242887"/>
                  </a:cubicBezTo>
                  <a:cubicBezTo>
                    <a:pt x="215899" y="326231"/>
                    <a:pt x="107949" y="413146"/>
                    <a:pt x="0" y="500062"/>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任意多边形 568">
              <a:extLst>
                <a:ext uri="{FF2B5EF4-FFF2-40B4-BE49-F238E27FC236}">
                  <a16:creationId xmlns:a16="http://schemas.microsoft.com/office/drawing/2014/main" xmlns="" id="{AE7C5D75-BD6F-4343-8CD2-69812DDAB8B6}"/>
                </a:ext>
              </a:extLst>
            </p:cNvPr>
            <p:cNvSpPr/>
            <p:nvPr/>
          </p:nvSpPr>
          <p:spPr bwMode="gray">
            <a:xfrm>
              <a:off x="4524750" y="4972874"/>
              <a:ext cx="1376275" cy="346494"/>
            </a:xfrm>
            <a:custGeom>
              <a:avLst/>
              <a:gdLst>
                <a:gd name="connsiteX0" fmla="*/ 0 w 1376363"/>
                <a:gd name="connsiteY0" fmla="*/ 300038 h 347032"/>
                <a:gd name="connsiteX1" fmla="*/ 200025 w 1376363"/>
                <a:gd name="connsiteY1" fmla="*/ 328613 h 347032"/>
                <a:gd name="connsiteX2" fmla="*/ 766763 w 1376363"/>
                <a:gd name="connsiteY2" fmla="*/ 319088 h 347032"/>
                <a:gd name="connsiteX3" fmla="*/ 1376363 w 1376363"/>
                <a:gd name="connsiteY3" fmla="*/ 0 h 347032"/>
              </a:gdLst>
              <a:ahLst/>
              <a:cxnLst>
                <a:cxn ang="0">
                  <a:pos x="connsiteX0" y="connsiteY0"/>
                </a:cxn>
                <a:cxn ang="0">
                  <a:pos x="connsiteX1" y="connsiteY1"/>
                </a:cxn>
                <a:cxn ang="0">
                  <a:pos x="connsiteX2" y="connsiteY2"/>
                </a:cxn>
                <a:cxn ang="0">
                  <a:pos x="connsiteX3" y="connsiteY3"/>
                </a:cxn>
              </a:cxnLst>
              <a:rect l="l" t="t" r="r" b="b"/>
              <a:pathLst>
                <a:path w="1376363" h="347032">
                  <a:moveTo>
                    <a:pt x="0" y="300038"/>
                  </a:moveTo>
                  <a:cubicBezTo>
                    <a:pt x="36115" y="312738"/>
                    <a:pt x="200025" y="328613"/>
                    <a:pt x="200025" y="328613"/>
                  </a:cubicBezTo>
                  <a:cubicBezTo>
                    <a:pt x="327819" y="331788"/>
                    <a:pt x="570707" y="373857"/>
                    <a:pt x="766763" y="319088"/>
                  </a:cubicBezTo>
                  <a:cubicBezTo>
                    <a:pt x="962819" y="264319"/>
                    <a:pt x="1376363" y="0"/>
                    <a:pt x="1376363" y="0"/>
                  </a:cubicBezTo>
                </a:path>
              </a:pathLst>
            </a:custGeom>
            <a:noFill/>
            <a:ln w="3175" cap="flat" cmpd="sng" algn="ctr">
              <a:solidFill>
                <a:sysClr val="window" lastClr="FFFFFF">
                  <a:lumMod val="50000"/>
                  <a:alpha val="43000"/>
                </a:sysClr>
              </a:solidFill>
              <a:prstDash val="dash"/>
            </a:ln>
            <a:effectLst/>
          </p:spPr>
          <p:txBody>
            <a:bodyPr anchor="ctr"/>
            <a:lstStyle/>
            <a:p>
              <a:pPr algn="ctr" defTabSz="854907" fontAlgn="ctr">
                <a:defRPr/>
              </a:pPr>
              <a:endParaRPr 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 name="组合 2">
            <a:extLst>
              <a:ext uri="{FF2B5EF4-FFF2-40B4-BE49-F238E27FC236}">
                <a16:creationId xmlns:a16="http://schemas.microsoft.com/office/drawing/2014/main" xmlns="" id="{EC3A94FE-5207-4D4E-8C68-80D0E0216761}"/>
              </a:ext>
            </a:extLst>
          </p:cNvPr>
          <p:cNvGrpSpPr/>
          <p:nvPr/>
        </p:nvGrpSpPr>
        <p:grpSpPr bwMode="gray">
          <a:xfrm>
            <a:off x="3387402" y="4430227"/>
            <a:ext cx="1236424" cy="267158"/>
            <a:chOff x="6576688" y="5147470"/>
            <a:chExt cx="728916" cy="307965"/>
          </a:xfrm>
          <a:solidFill>
            <a:srgbClr val="00B0F0">
              <a:alpha val="30000"/>
            </a:srgbClr>
          </a:solidFill>
        </p:grpSpPr>
        <p:sp>
          <p:nvSpPr>
            <p:cNvPr id="28" name="云形 27">
              <a:extLst>
                <a:ext uri="{FF2B5EF4-FFF2-40B4-BE49-F238E27FC236}">
                  <a16:creationId xmlns:a16="http://schemas.microsoft.com/office/drawing/2014/main" xmlns="" id="{671A199B-1098-4F44-837A-0F73FF56B2F7}"/>
                </a:ext>
              </a:extLst>
            </p:cNvPr>
            <p:cNvSpPr/>
            <p:nvPr/>
          </p:nvSpPr>
          <p:spPr bwMode="gray">
            <a:xfrm>
              <a:off x="6576688" y="5147470"/>
              <a:ext cx="686359" cy="307965"/>
            </a:xfrm>
            <a:prstGeom prst="cloud">
              <a:avLst/>
            </a:prstGeom>
            <a:solidFill>
              <a:schemeClr val="bg1">
                <a:lumMod val="25000"/>
                <a:lumOff val="75000"/>
                <a:alpha val="70000"/>
              </a:schemeClr>
            </a:solidFill>
            <a:ln w="6350" cap="flat" cmpd="sng" algn="ctr">
              <a:noFill/>
              <a:prstDash val="solid"/>
            </a:ln>
            <a:effectLst/>
          </p:spPr>
          <p:txBody>
            <a:bodyPr lIns="128209" tIns="64105" rIns="128209" bIns="64105" anchor="ctr"/>
            <a:lstStyle/>
            <a:p>
              <a:pPr algn="ctr" defTabSz="854907" fontAlgn="ctr">
                <a:lnSpc>
                  <a:spcPct val="150000"/>
                </a:lnSpc>
                <a:buClr>
                  <a:srgbClr val="CC9900"/>
                </a:buClr>
                <a:defRPr/>
              </a:pPr>
              <a:endParaRPr lang="en-US" altLang="zh-CN"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9" name="Shape 423">
              <a:extLst>
                <a:ext uri="{FF2B5EF4-FFF2-40B4-BE49-F238E27FC236}">
                  <a16:creationId xmlns:a16="http://schemas.microsoft.com/office/drawing/2014/main" xmlns="" id="{48FC0238-39B1-4AF3-BFB2-7992BE5CD736}"/>
                </a:ext>
              </a:extLst>
            </p:cNvPr>
            <p:cNvSpPr/>
            <p:nvPr/>
          </p:nvSpPr>
          <p:spPr bwMode="gray">
            <a:xfrm>
              <a:off x="6581789" y="5230132"/>
              <a:ext cx="723815" cy="116183"/>
            </a:xfrm>
            <a:prstGeom prst="rect">
              <a:avLst/>
            </a:prstGeom>
            <a:noFill/>
            <a:ln w="12700">
              <a:miter lim="400000"/>
            </a:ln>
            <a:extLst>
              <a:ext uri="{C572A759-6A51-4108-AA02-DFA0A04FC94B}"/>
            </a:extLst>
          </p:spPr>
          <p:txBody>
            <a:bodyPr lIns="0" tIns="0" rIns="0" bIns="0" anchor="ctr"/>
            <a:lstStyle>
              <a:lvl1pPr defTabSz="516747">
                <a:defRPr sz="1600">
                  <a:solidFill>
                    <a:srgbClr val="FFFFFF"/>
                  </a:solidFill>
                  <a:latin typeface="+mn-lt"/>
                  <a:ea typeface="+mn-ea"/>
                  <a:cs typeface="+mn-cs"/>
                  <a:sym typeface="Helvetica"/>
                </a:defRPr>
              </a:lvl1pPr>
            </a:lstStyle>
            <a:p>
              <a:pPr algn="ctr" defTabSz="516695" fontAlgn="ctr">
                <a:defRPr/>
              </a:pPr>
              <a:r>
                <a:rPr lang="zh-CN" altLang="en-US"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虚拟办公网</a:t>
              </a:r>
              <a:endParaRPr lang="en-US" altLang="zh-CN"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nvGrpSpPr>
          <p:cNvPr id="30" name="组合 4">
            <a:extLst>
              <a:ext uri="{FF2B5EF4-FFF2-40B4-BE49-F238E27FC236}">
                <a16:creationId xmlns:a16="http://schemas.microsoft.com/office/drawing/2014/main" xmlns="" id="{C716D414-388A-4637-A548-F660E794C2A9}"/>
              </a:ext>
            </a:extLst>
          </p:cNvPr>
          <p:cNvGrpSpPr/>
          <p:nvPr/>
        </p:nvGrpSpPr>
        <p:grpSpPr bwMode="gray">
          <a:xfrm>
            <a:off x="3840412" y="4642062"/>
            <a:ext cx="1643514" cy="288433"/>
            <a:chOff x="5665547" y="5589028"/>
            <a:chExt cx="968910" cy="332489"/>
          </a:xfrm>
          <a:solidFill>
            <a:srgbClr val="00B0F0">
              <a:alpha val="30000"/>
            </a:srgbClr>
          </a:solidFill>
        </p:grpSpPr>
        <p:sp>
          <p:nvSpPr>
            <p:cNvPr id="31" name="云形 30">
              <a:extLst>
                <a:ext uri="{FF2B5EF4-FFF2-40B4-BE49-F238E27FC236}">
                  <a16:creationId xmlns:a16="http://schemas.microsoft.com/office/drawing/2014/main" xmlns="" id="{4DF5E3F6-B4DB-4CF6-B58E-DC64242B3EC3}"/>
                </a:ext>
              </a:extLst>
            </p:cNvPr>
            <p:cNvSpPr/>
            <p:nvPr/>
          </p:nvSpPr>
          <p:spPr bwMode="gray">
            <a:xfrm>
              <a:off x="5760829" y="5589028"/>
              <a:ext cx="741012" cy="332489"/>
            </a:xfrm>
            <a:prstGeom prst="cloud">
              <a:avLst/>
            </a:prstGeom>
            <a:solidFill>
              <a:schemeClr val="bg1">
                <a:lumMod val="25000"/>
                <a:lumOff val="75000"/>
                <a:alpha val="70000"/>
              </a:schemeClr>
            </a:solidFill>
            <a:ln w="6350" cap="flat" cmpd="sng" algn="ctr">
              <a:noFill/>
              <a:prstDash val="solid"/>
            </a:ln>
            <a:effectLst/>
          </p:spPr>
          <p:txBody>
            <a:bodyPr lIns="128209" tIns="64105" rIns="128209" bIns="64105" anchor="ctr"/>
            <a:lstStyle/>
            <a:p>
              <a:pPr algn="ctr" defTabSz="854907" fontAlgn="ctr">
                <a:lnSpc>
                  <a:spcPct val="150000"/>
                </a:lnSpc>
                <a:buClr>
                  <a:srgbClr val="CC9900"/>
                </a:buClr>
                <a:defRPr/>
              </a:pPr>
              <a:endParaRPr lang="en-US" altLang="zh-CN"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2" name="Shape 423">
              <a:extLst>
                <a:ext uri="{FF2B5EF4-FFF2-40B4-BE49-F238E27FC236}">
                  <a16:creationId xmlns:a16="http://schemas.microsoft.com/office/drawing/2014/main" xmlns="" id="{52B7E4E1-BE8F-4D74-9133-DA7F1A2C972E}"/>
                </a:ext>
              </a:extLst>
            </p:cNvPr>
            <p:cNvSpPr/>
            <p:nvPr/>
          </p:nvSpPr>
          <p:spPr bwMode="gray">
            <a:xfrm>
              <a:off x="5665547" y="5637105"/>
              <a:ext cx="968910" cy="271712"/>
            </a:xfrm>
            <a:prstGeom prst="rect">
              <a:avLst/>
            </a:prstGeom>
            <a:noFill/>
            <a:ln w="12700">
              <a:miter lim="400000"/>
            </a:ln>
            <a:extLst>
              <a:ext uri="{C572A759-6A51-4108-AA02-DFA0A04FC94B}"/>
            </a:extLst>
          </p:spPr>
          <p:txBody>
            <a:bodyPr lIns="0" tIns="0" rIns="0" bIns="0" anchor="ctr"/>
            <a:lstStyle>
              <a:lvl1pPr defTabSz="516747">
                <a:defRPr sz="1600">
                  <a:solidFill>
                    <a:srgbClr val="FFFFFF"/>
                  </a:solidFill>
                  <a:latin typeface="+mn-lt"/>
                  <a:ea typeface="+mn-ea"/>
                  <a:cs typeface="+mn-cs"/>
                  <a:sym typeface="Helvetica"/>
                </a:defRPr>
              </a:lvl1pPr>
            </a:lstStyle>
            <a:p>
              <a:pPr algn="ctr" defTabSz="516695" fontAlgn="ctr">
                <a:defRPr/>
              </a:pPr>
              <a:r>
                <a:rPr lang="zh-CN" altLang="en-US"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虚拟安防网</a:t>
              </a:r>
              <a:endParaRPr lang="en-US" altLang="zh-CN"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sp>
        <p:nvSpPr>
          <p:cNvPr id="33" name="云形 32">
            <a:extLst>
              <a:ext uri="{FF2B5EF4-FFF2-40B4-BE49-F238E27FC236}">
                <a16:creationId xmlns:a16="http://schemas.microsoft.com/office/drawing/2014/main" xmlns="" id="{C2FE5609-C658-4BBC-BF8E-9C8A61C73CA6}"/>
              </a:ext>
            </a:extLst>
          </p:cNvPr>
          <p:cNvSpPr/>
          <p:nvPr/>
        </p:nvSpPr>
        <p:spPr bwMode="gray">
          <a:xfrm>
            <a:off x="2379473" y="4595405"/>
            <a:ext cx="1164236" cy="289390"/>
          </a:xfrm>
          <a:prstGeom prst="cloud">
            <a:avLst/>
          </a:prstGeom>
          <a:solidFill>
            <a:schemeClr val="bg1">
              <a:lumMod val="25000"/>
              <a:lumOff val="75000"/>
              <a:alpha val="70000"/>
            </a:schemeClr>
          </a:solidFill>
          <a:ln w="6350" cap="flat" cmpd="sng" algn="ctr">
            <a:noFill/>
            <a:prstDash val="solid"/>
          </a:ln>
          <a:effectLst/>
        </p:spPr>
        <p:txBody>
          <a:bodyPr lIns="128209" tIns="64105" rIns="128209" bIns="64105" anchor="ctr"/>
          <a:lstStyle/>
          <a:p>
            <a:pPr algn="ctr" defTabSz="854907" fontAlgn="ctr">
              <a:lnSpc>
                <a:spcPct val="150000"/>
              </a:lnSpc>
              <a:buClr>
                <a:srgbClr val="CC9900"/>
              </a:buClr>
              <a:defRPr/>
            </a:pPr>
            <a:endParaRPr lang="en-US" altLang="zh-CN"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4" name="Shape 423">
            <a:extLst>
              <a:ext uri="{FF2B5EF4-FFF2-40B4-BE49-F238E27FC236}">
                <a16:creationId xmlns:a16="http://schemas.microsoft.com/office/drawing/2014/main" xmlns="" id="{C0385CDD-DACA-4CB2-A637-1C3E773D6FF1}"/>
              </a:ext>
            </a:extLst>
          </p:cNvPr>
          <p:cNvSpPr/>
          <p:nvPr/>
        </p:nvSpPr>
        <p:spPr bwMode="gray">
          <a:xfrm>
            <a:off x="2112172" y="4674323"/>
            <a:ext cx="1661674" cy="165885"/>
          </a:xfrm>
          <a:prstGeom prst="rect">
            <a:avLst/>
          </a:prstGeom>
          <a:noFill/>
          <a:ln w="12700">
            <a:miter lim="400000"/>
          </a:ln>
          <a:extLst>
            <a:ext uri="{C572A759-6A51-4108-AA02-DFA0A04FC94B}"/>
          </a:extLst>
        </p:spPr>
        <p:txBody>
          <a:bodyPr lIns="0" tIns="0" rIns="0" bIns="0" anchor="ctr"/>
          <a:lstStyle>
            <a:lvl1pPr defTabSz="516747">
              <a:defRPr sz="1600">
                <a:solidFill>
                  <a:srgbClr val="FFFFFF"/>
                </a:solidFill>
                <a:latin typeface="+mn-lt"/>
                <a:ea typeface="+mn-ea"/>
                <a:cs typeface="+mn-cs"/>
                <a:sym typeface="Helvetica"/>
              </a:defRPr>
            </a:lvl1pPr>
          </a:lstStyle>
          <a:p>
            <a:pPr algn="ctr" defTabSz="516695" fontAlgn="ctr">
              <a:defRPr/>
            </a:pPr>
            <a:r>
              <a:rPr lang="zh-CN" altLang="en-US"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虚拟生产网</a:t>
            </a:r>
            <a:endParaRPr lang="en-US" altLang="zh-CN"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5" name="矩形 34">
            <a:extLst>
              <a:ext uri="{FF2B5EF4-FFF2-40B4-BE49-F238E27FC236}">
                <a16:creationId xmlns:a16="http://schemas.microsoft.com/office/drawing/2014/main" xmlns="" id="{948D0E82-9A8D-4FF7-B294-122D04DAFFC0}"/>
              </a:ext>
            </a:extLst>
          </p:cNvPr>
          <p:cNvSpPr/>
          <p:nvPr/>
        </p:nvSpPr>
        <p:spPr bwMode="gray">
          <a:xfrm>
            <a:off x="450171" y="4796565"/>
            <a:ext cx="723181" cy="307737"/>
          </a:xfrm>
          <a:prstGeom prst="rect">
            <a:avLst/>
          </a:prstGeom>
        </p:spPr>
        <p:txBody>
          <a:bodyPr wrap="none">
            <a:spAutoFit/>
          </a:bodyPr>
          <a:lstStyle/>
          <a:p>
            <a:pPr defTabSz="914248"/>
            <a:r>
              <a:rPr lang="zh-CN" altLang="en-US" sz="140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网络层</a:t>
            </a:r>
          </a:p>
        </p:txBody>
      </p:sp>
      <p:sp>
        <p:nvSpPr>
          <p:cNvPr id="36" name="矩形 35">
            <a:extLst>
              <a:ext uri="{FF2B5EF4-FFF2-40B4-BE49-F238E27FC236}">
                <a16:creationId xmlns:a16="http://schemas.microsoft.com/office/drawing/2014/main" xmlns="" id="{AB225B85-BF3C-41ED-B311-A166824D9205}"/>
              </a:ext>
            </a:extLst>
          </p:cNvPr>
          <p:cNvSpPr/>
          <p:nvPr/>
        </p:nvSpPr>
        <p:spPr bwMode="gray">
          <a:xfrm>
            <a:off x="450171" y="2277196"/>
            <a:ext cx="723181" cy="307737"/>
          </a:xfrm>
          <a:prstGeom prst="rect">
            <a:avLst/>
          </a:prstGeom>
        </p:spPr>
        <p:txBody>
          <a:bodyPr wrap="none">
            <a:spAutoFit/>
          </a:bodyPr>
          <a:lstStyle/>
          <a:p>
            <a:pPr defTabSz="914248"/>
            <a:r>
              <a:rPr lang="zh-CN" altLang="en-US" sz="140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平台层</a:t>
            </a:r>
          </a:p>
        </p:txBody>
      </p:sp>
      <p:sp>
        <p:nvSpPr>
          <p:cNvPr id="38" name="矩形 340">
            <a:extLst>
              <a:ext uri="{FF2B5EF4-FFF2-40B4-BE49-F238E27FC236}">
                <a16:creationId xmlns:a16="http://schemas.microsoft.com/office/drawing/2014/main" xmlns="" id="{BF7CFAF8-4CDA-4CC6-8734-77DDC8938DF5}"/>
              </a:ext>
            </a:extLst>
          </p:cNvPr>
          <p:cNvSpPr>
            <a:spLocks noChangeArrowheads="1"/>
          </p:cNvSpPr>
          <p:nvPr/>
        </p:nvSpPr>
        <p:spPr bwMode="gray">
          <a:xfrm>
            <a:off x="3243174" y="5116111"/>
            <a:ext cx="181624" cy="398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4032" tIns="57017" rIns="114032" bIns="57017"/>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defTabSz="914248" fontAlgn="ctr">
              <a:lnSpc>
                <a:spcPct val="150000"/>
              </a:lnSpc>
              <a:spcBef>
                <a:spcPts val="749"/>
              </a:spcBef>
            </a:pPr>
            <a:endParaRPr lang="en-US" altLang="zh-CN" sz="1200" b="1">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9" name="文本框 237">
            <a:extLst>
              <a:ext uri="{FF2B5EF4-FFF2-40B4-BE49-F238E27FC236}">
                <a16:creationId xmlns:a16="http://schemas.microsoft.com/office/drawing/2014/main" xmlns="" id="{52148BF1-3800-4E6A-872E-B3D30331595E}"/>
              </a:ext>
            </a:extLst>
          </p:cNvPr>
          <p:cNvSpPr txBox="1">
            <a:spLocks noChangeArrowheads="1"/>
          </p:cNvSpPr>
          <p:nvPr/>
        </p:nvSpPr>
        <p:spPr bwMode="gray">
          <a:xfrm>
            <a:off x="2782834" y="2212367"/>
            <a:ext cx="1041972" cy="21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defTabSz="854855" fontAlgn="ctr">
              <a:spcBef>
                <a:spcPct val="0"/>
              </a:spcBef>
              <a:spcAft>
                <a:spcPct val="0"/>
              </a:spcAft>
            </a:pPr>
            <a:r>
              <a:rPr lang="en-US" altLang="zh-CN" sz="1200" b="1"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Open API</a:t>
            </a:r>
          </a:p>
        </p:txBody>
      </p:sp>
      <p:sp>
        <p:nvSpPr>
          <p:cNvPr id="40" name="文本框 39">
            <a:extLst>
              <a:ext uri="{FF2B5EF4-FFF2-40B4-BE49-F238E27FC236}">
                <a16:creationId xmlns:a16="http://schemas.microsoft.com/office/drawing/2014/main" xmlns="" id="{B501D28B-79E1-4B7D-88A7-553F2F983CEF}"/>
              </a:ext>
            </a:extLst>
          </p:cNvPr>
          <p:cNvSpPr txBox="1"/>
          <p:nvPr/>
        </p:nvSpPr>
        <p:spPr bwMode="gray">
          <a:xfrm>
            <a:off x="3145060" y="5629001"/>
            <a:ext cx="932686" cy="184666"/>
          </a:xfrm>
          <a:prstGeom prst="rect">
            <a:avLst/>
          </a:prstGeom>
          <a:noFill/>
        </p:spPr>
        <p:txBody>
          <a:bodyPr wrap="square" lIns="0" tIns="0" rIns="0" bIns="0" rtlCol="0">
            <a:spAutoFit/>
          </a:bodyPr>
          <a:lstStyle/>
          <a:p>
            <a:pPr algn="ctr" defTabSz="914248"/>
            <a:r>
              <a:rPr lang="zh-CN" altLang="en-US" sz="120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中型园区</a:t>
            </a:r>
            <a:endParaRPr lang="en-US" altLang="zh-CN" sz="120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1" name="文本框 40">
            <a:extLst>
              <a:ext uri="{FF2B5EF4-FFF2-40B4-BE49-F238E27FC236}">
                <a16:creationId xmlns:a16="http://schemas.microsoft.com/office/drawing/2014/main" xmlns="" id="{ADAA1AE6-5456-47E3-817A-CEAB9A9DC4DA}"/>
              </a:ext>
            </a:extLst>
          </p:cNvPr>
          <p:cNvSpPr txBox="1"/>
          <p:nvPr/>
        </p:nvSpPr>
        <p:spPr bwMode="gray">
          <a:xfrm>
            <a:off x="2177737" y="5629001"/>
            <a:ext cx="930887" cy="184666"/>
          </a:xfrm>
          <a:prstGeom prst="rect">
            <a:avLst/>
          </a:prstGeom>
          <a:noFill/>
        </p:spPr>
        <p:txBody>
          <a:bodyPr wrap="square" lIns="0" tIns="0" rIns="0" bIns="0" rtlCol="0">
            <a:spAutoFit/>
          </a:bodyPr>
          <a:lstStyle/>
          <a:p>
            <a:pPr algn="ctr" defTabSz="914248"/>
            <a:r>
              <a:rPr lang="zh-CN" altLang="en-US" sz="120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小微型园区</a:t>
            </a:r>
            <a:endParaRPr lang="en-US" altLang="zh-CN" sz="120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2" name="文本框 41">
            <a:extLst>
              <a:ext uri="{FF2B5EF4-FFF2-40B4-BE49-F238E27FC236}">
                <a16:creationId xmlns:a16="http://schemas.microsoft.com/office/drawing/2014/main" xmlns="" id="{8D7C4641-9212-4A1A-87A1-AD37407B3D77}"/>
              </a:ext>
            </a:extLst>
          </p:cNvPr>
          <p:cNvSpPr txBox="1"/>
          <p:nvPr/>
        </p:nvSpPr>
        <p:spPr bwMode="gray">
          <a:xfrm>
            <a:off x="4364822" y="5629001"/>
            <a:ext cx="1127261" cy="184666"/>
          </a:xfrm>
          <a:prstGeom prst="rect">
            <a:avLst/>
          </a:prstGeom>
          <a:noFill/>
        </p:spPr>
        <p:txBody>
          <a:bodyPr wrap="square" lIns="0" tIns="0" rIns="0" bIns="0" rtlCol="0">
            <a:spAutoFit/>
          </a:bodyPr>
          <a:lstStyle/>
          <a:p>
            <a:pPr algn="ctr" defTabSz="914248"/>
            <a:r>
              <a:rPr lang="zh-CN" altLang="en-US" sz="120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大型园区</a:t>
            </a:r>
            <a:endParaRPr lang="en-US" altLang="zh-CN" sz="120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43" name="组合 42">
            <a:extLst>
              <a:ext uri="{FF2B5EF4-FFF2-40B4-BE49-F238E27FC236}">
                <a16:creationId xmlns:a16="http://schemas.microsoft.com/office/drawing/2014/main" xmlns="" id="{7C857810-5C1F-45B7-858A-91093E2DD5FE}"/>
              </a:ext>
            </a:extLst>
          </p:cNvPr>
          <p:cNvGrpSpPr/>
          <p:nvPr/>
        </p:nvGrpSpPr>
        <p:grpSpPr bwMode="gray">
          <a:xfrm>
            <a:off x="3287732" y="5136838"/>
            <a:ext cx="1502087" cy="358177"/>
            <a:chOff x="5323684" y="5661328"/>
            <a:chExt cx="1685971" cy="427198"/>
          </a:xfrm>
          <a:solidFill>
            <a:srgbClr val="666666"/>
          </a:solidFill>
        </p:grpSpPr>
        <p:grpSp>
          <p:nvGrpSpPr>
            <p:cNvPr id="44" name="组合 43">
              <a:extLst>
                <a:ext uri="{FF2B5EF4-FFF2-40B4-BE49-F238E27FC236}">
                  <a16:creationId xmlns:a16="http://schemas.microsoft.com/office/drawing/2014/main" xmlns="" id="{A37BDD8B-8A95-4D04-9CF7-F0C7B9AD9D34}"/>
                </a:ext>
              </a:extLst>
            </p:cNvPr>
            <p:cNvGrpSpPr/>
            <p:nvPr/>
          </p:nvGrpSpPr>
          <p:grpSpPr bwMode="gray">
            <a:xfrm>
              <a:off x="5323684" y="5886481"/>
              <a:ext cx="103849" cy="195937"/>
              <a:chOff x="1710438" y="4778099"/>
              <a:chExt cx="103849" cy="195937"/>
            </a:xfrm>
            <a:grpFill/>
          </p:grpSpPr>
          <p:sp>
            <p:nvSpPr>
              <p:cNvPr id="59" name="Freeform 124">
                <a:extLst>
                  <a:ext uri="{FF2B5EF4-FFF2-40B4-BE49-F238E27FC236}">
                    <a16:creationId xmlns:a16="http://schemas.microsoft.com/office/drawing/2014/main" xmlns="" id="{5521948F-B552-4506-86B7-70322D42DF91}"/>
                  </a:ext>
                </a:extLst>
              </p:cNvPr>
              <p:cNvSpPr>
                <a:spLocks noEditPoints="1"/>
              </p:cNvSpPr>
              <p:nvPr/>
            </p:nvSpPr>
            <p:spPr bwMode="gray">
              <a:xfrm>
                <a:off x="1710438" y="4853002"/>
                <a:ext cx="84552" cy="121034"/>
              </a:xfrm>
              <a:custGeom>
                <a:avLst/>
                <a:gdLst/>
                <a:ahLst/>
                <a:cxnLst>
                  <a:cxn ang="0">
                    <a:pos x="415" y="0"/>
                  </a:cxn>
                  <a:cxn ang="0">
                    <a:pos x="9" y="0"/>
                  </a:cxn>
                  <a:cxn ang="0">
                    <a:pos x="9" y="0"/>
                  </a:cxn>
                  <a:cxn ang="0">
                    <a:pos x="4" y="4"/>
                  </a:cxn>
                  <a:cxn ang="0">
                    <a:pos x="0" y="8"/>
                  </a:cxn>
                  <a:cxn ang="0">
                    <a:pos x="0" y="142"/>
                  </a:cxn>
                  <a:cxn ang="0">
                    <a:pos x="0" y="142"/>
                  </a:cxn>
                  <a:cxn ang="0">
                    <a:pos x="4" y="147"/>
                  </a:cxn>
                  <a:cxn ang="0">
                    <a:pos x="9" y="151"/>
                  </a:cxn>
                  <a:cxn ang="0">
                    <a:pos x="415" y="151"/>
                  </a:cxn>
                  <a:cxn ang="0">
                    <a:pos x="415" y="151"/>
                  </a:cxn>
                  <a:cxn ang="0">
                    <a:pos x="420" y="147"/>
                  </a:cxn>
                  <a:cxn ang="0">
                    <a:pos x="424" y="142"/>
                  </a:cxn>
                  <a:cxn ang="0">
                    <a:pos x="424" y="8"/>
                  </a:cxn>
                  <a:cxn ang="0">
                    <a:pos x="424" y="8"/>
                  </a:cxn>
                  <a:cxn ang="0">
                    <a:pos x="420" y="4"/>
                  </a:cxn>
                  <a:cxn ang="0">
                    <a:pos x="415" y="0"/>
                  </a:cxn>
                  <a:cxn ang="0">
                    <a:pos x="415" y="0"/>
                  </a:cxn>
                  <a:cxn ang="0">
                    <a:pos x="78" y="103"/>
                  </a:cxn>
                  <a:cxn ang="0">
                    <a:pos x="78" y="103"/>
                  </a:cxn>
                  <a:cxn ang="0">
                    <a:pos x="61" y="103"/>
                  </a:cxn>
                  <a:cxn ang="0">
                    <a:pos x="48" y="95"/>
                  </a:cxn>
                  <a:cxn ang="0">
                    <a:pos x="39" y="86"/>
                  </a:cxn>
                  <a:cxn ang="0">
                    <a:pos x="35" y="73"/>
                  </a:cxn>
                  <a:cxn ang="0">
                    <a:pos x="35" y="73"/>
                  </a:cxn>
                  <a:cxn ang="0">
                    <a:pos x="39" y="64"/>
                  </a:cxn>
                  <a:cxn ang="0">
                    <a:pos x="48" y="56"/>
                  </a:cxn>
                  <a:cxn ang="0">
                    <a:pos x="61" y="47"/>
                  </a:cxn>
                  <a:cxn ang="0">
                    <a:pos x="78" y="47"/>
                  </a:cxn>
                  <a:cxn ang="0">
                    <a:pos x="78" y="47"/>
                  </a:cxn>
                  <a:cxn ang="0">
                    <a:pos x="95" y="47"/>
                  </a:cxn>
                  <a:cxn ang="0">
                    <a:pos x="108" y="56"/>
                  </a:cxn>
                  <a:cxn ang="0">
                    <a:pos x="117" y="64"/>
                  </a:cxn>
                  <a:cxn ang="0">
                    <a:pos x="121" y="73"/>
                  </a:cxn>
                  <a:cxn ang="0">
                    <a:pos x="121" y="73"/>
                  </a:cxn>
                  <a:cxn ang="0">
                    <a:pos x="117" y="86"/>
                  </a:cxn>
                  <a:cxn ang="0">
                    <a:pos x="108" y="95"/>
                  </a:cxn>
                  <a:cxn ang="0">
                    <a:pos x="95" y="103"/>
                  </a:cxn>
                  <a:cxn ang="0">
                    <a:pos x="78" y="103"/>
                  </a:cxn>
                  <a:cxn ang="0">
                    <a:pos x="78" y="103"/>
                  </a:cxn>
                  <a:cxn ang="0">
                    <a:pos x="389" y="86"/>
                  </a:cxn>
                  <a:cxn ang="0">
                    <a:pos x="389" y="86"/>
                  </a:cxn>
                  <a:cxn ang="0">
                    <a:pos x="385" y="95"/>
                  </a:cxn>
                  <a:cxn ang="0">
                    <a:pos x="377" y="99"/>
                  </a:cxn>
                  <a:cxn ang="0">
                    <a:pos x="195" y="99"/>
                  </a:cxn>
                  <a:cxn ang="0">
                    <a:pos x="195" y="99"/>
                  </a:cxn>
                  <a:cxn ang="0">
                    <a:pos x="186" y="95"/>
                  </a:cxn>
                  <a:cxn ang="0">
                    <a:pos x="182" y="86"/>
                  </a:cxn>
                  <a:cxn ang="0">
                    <a:pos x="182" y="64"/>
                  </a:cxn>
                  <a:cxn ang="0">
                    <a:pos x="182" y="64"/>
                  </a:cxn>
                  <a:cxn ang="0">
                    <a:pos x="186" y="56"/>
                  </a:cxn>
                  <a:cxn ang="0">
                    <a:pos x="195" y="51"/>
                  </a:cxn>
                  <a:cxn ang="0">
                    <a:pos x="377" y="51"/>
                  </a:cxn>
                  <a:cxn ang="0">
                    <a:pos x="377" y="51"/>
                  </a:cxn>
                  <a:cxn ang="0">
                    <a:pos x="385" y="56"/>
                  </a:cxn>
                  <a:cxn ang="0">
                    <a:pos x="389" y="64"/>
                  </a:cxn>
                  <a:cxn ang="0">
                    <a:pos x="389" y="86"/>
                  </a:cxn>
                </a:cxnLst>
                <a:rect l="0" t="0" r="r" b="b"/>
                <a:pathLst>
                  <a:path w="424" h="151">
                    <a:moveTo>
                      <a:pt x="415" y="0"/>
                    </a:moveTo>
                    <a:lnTo>
                      <a:pt x="9" y="0"/>
                    </a:lnTo>
                    <a:lnTo>
                      <a:pt x="9" y="0"/>
                    </a:lnTo>
                    <a:lnTo>
                      <a:pt x="4" y="4"/>
                    </a:lnTo>
                    <a:lnTo>
                      <a:pt x="0" y="8"/>
                    </a:lnTo>
                    <a:lnTo>
                      <a:pt x="0" y="142"/>
                    </a:lnTo>
                    <a:lnTo>
                      <a:pt x="0" y="142"/>
                    </a:lnTo>
                    <a:lnTo>
                      <a:pt x="4" y="147"/>
                    </a:lnTo>
                    <a:lnTo>
                      <a:pt x="9" y="151"/>
                    </a:lnTo>
                    <a:lnTo>
                      <a:pt x="415" y="151"/>
                    </a:lnTo>
                    <a:lnTo>
                      <a:pt x="415" y="151"/>
                    </a:lnTo>
                    <a:lnTo>
                      <a:pt x="420" y="147"/>
                    </a:lnTo>
                    <a:lnTo>
                      <a:pt x="424" y="142"/>
                    </a:lnTo>
                    <a:lnTo>
                      <a:pt x="424" y="8"/>
                    </a:lnTo>
                    <a:lnTo>
                      <a:pt x="424" y="8"/>
                    </a:lnTo>
                    <a:lnTo>
                      <a:pt x="420" y="4"/>
                    </a:lnTo>
                    <a:lnTo>
                      <a:pt x="415" y="0"/>
                    </a:lnTo>
                    <a:lnTo>
                      <a:pt x="415" y="0"/>
                    </a:lnTo>
                    <a:close/>
                    <a:moveTo>
                      <a:pt x="78" y="103"/>
                    </a:moveTo>
                    <a:lnTo>
                      <a:pt x="78" y="103"/>
                    </a:lnTo>
                    <a:lnTo>
                      <a:pt x="61" y="103"/>
                    </a:lnTo>
                    <a:lnTo>
                      <a:pt x="48" y="95"/>
                    </a:lnTo>
                    <a:lnTo>
                      <a:pt x="39" y="86"/>
                    </a:lnTo>
                    <a:lnTo>
                      <a:pt x="35" y="73"/>
                    </a:lnTo>
                    <a:lnTo>
                      <a:pt x="35" y="73"/>
                    </a:lnTo>
                    <a:lnTo>
                      <a:pt x="39" y="64"/>
                    </a:lnTo>
                    <a:lnTo>
                      <a:pt x="48" y="56"/>
                    </a:lnTo>
                    <a:lnTo>
                      <a:pt x="61" y="47"/>
                    </a:lnTo>
                    <a:lnTo>
                      <a:pt x="78" y="47"/>
                    </a:lnTo>
                    <a:lnTo>
                      <a:pt x="78" y="47"/>
                    </a:lnTo>
                    <a:lnTo>
                      <a:pt x="95" y="47"/>
                    </a:lnTo>
                    <a:lnTo>
                      <a:pt x="108" y="56"/>
                    </a:lnTo>
                    <a:lnTo>
                      <a:pt x="117" y="64"/>
                    </a:lnTo>
                    <a:lnTo>
                      <a:pt x="121" y="73"/>
                    </a:lnTo>
                    <a:lnTo>
                      <a:pt x="121" y="73"/>
                    </a:lnTo>
                    <a:lnTo>
                      <a:pt x="117" y="86"/>
                    </a:lnTo>
                    <a:lnTo>
                      <a:pt x="108" y="95"/>
                    </a:lnTo>
                    <a:lnTo>
                      <a:pt x="95" y="103"/>
                    </a:lnTo>
                    <a:lnTo>
                      <a:pt x="78" y="103"/>
                    </a:lnTo>
                    <a:lnTo>
                      <a:pt x="78" y="103"/>
                    </a:lnTo>
                    <a:close/>
                    <a:moveTo>
                      <a:pt x="389" y="86"/>
                    </a:moveTo>
                    <a:lnTo>
                      <a:pt x="389" y="86"/>
                    </a:lnTo>
                    <a:lnTo>
                      <a:pt x="385" y="95"/>
                    </a:lnTo>
                    <a:lnTo>
                      <a:pt x="377" y="99"/>
                    </a:lnTo>
                    <a:lnTo>
                      <a:pt x="195" y="99"/>
                    </a:lnTo>
                    <a:lnTo>
                      <a:pt x="195" y="99"/>
                    </a:lnTo>
                    <a:lnTo>
                      <a:pt x="186" y="95"/>
                    </a:lnTo>
                    <a:lnTo>
                      <a:pt x="182" y="86"/>
                    </a:lnTo>
                    <a:lnTo>
                      <a:pt x="182" y="64"/>
                    </a:lnTo>
                    <a:lnTo>
                      <a:pt x="182" y="64"/>
                    </a:lnTo>
                    <a:lnTo>
                      <a:pt x="186" y="56"/>
                    </a:lnTo>
                    <a:lnTo>
                      <a:pt x="195" y="51"/>
                    </a:lnTo>
                    <a:lnTo>
                      <a:pt x="377" y="51"/>
                    </a:lnTo>
                    <a:lnTo>
                      <a:pt x="377" y="51"/>
                    </a:lnTo>
                    <a:lnTo>
                      <a:pt x="385" y="56"/>
                    </a:lnTo>
                    <a:lnTo>
                      <a:pt x="389" y="64"/>
                    </a:lnTo>
                    <a:lnTo>
                      <a:pt x="389" y="86"/>
                    </a:lnTo>
                    <a:close/>
                  </a:path>
                </a:pathLst>
              </a:custGeom>
              <a:grpFill/>
              <a:ln w="9525">
                <a:noFill/>
                <a:round/>
                <a:headEnd/>
                <a:tailEnd/>
              </a:ln>
            </p:spPr>
            <p:txBody>
              <a:bodyPr vert="horz" wrap="square" lIns="34815" tIns="17409" rIns="34815" bIns="17409" numCol="1" anchor="t" anchorCtr="0" compatLnSpc="1">
                <a:prstTxWarp prst="textNoShape">
                  <a:avLst/>
                </a:prstTxWarp>
              </a:bodyPr>
              <a:lstStyle/>
              <a:p>
                <a:pPr defTabSz="1218539">
                  <a:defRPr/>
                </a:pPr>
                <a:endParaRPr lang="zh-CN" altLang="en-US" sz="1200" ker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16">
                <a:extLst>
                  <a:ext uri="{FF2B5EF4-FFF2-40B4-BE49-F238E27FC236}">
                    <a16:creationId xmlns:a16="http://schemas.microsoft.com/office/drawing/2014/main" xmlns="" id="{662B6F36-4BA1-49A6-8647-062F385A1C2B}"/>
                  </a:ext>
                </a:extLst>
              </p:cNvPr>
              <p:cNvSpPr>
                <a:spLocks noEditPoints="1"/>
              </p:cNvSpPr>
              <p:nvPr/>
            </p:nvSpPr>
            <p:spPr bwMode="gray">
              <a:xfrm>
                <a:off x="1711759" y="4778099"/>
                <a:ext cx="102528" cy="67230"/>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vert="horz" wrap="square" lIns="34815" tIns="17409" rIns="34815" bIns="17409" numCol="1" anchor="t" anchorCtr="0" compatLnSpc="1">
                <a:prstTxWarp prst="textNoShape">
                  <a:avLst/>
                </a:prstTxWarp>
              </a:bodyPr>
              <a:lstStyle/>
              <a:p>
                <a:pPr defTabSz="1218539">
                  <a:defRPr/>
                </a:pPr>
                <a:endParaRPr lang="zh-CN" altLang="en-US" sz="1200" ker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5" name="Freeform 13">
              <a:extLst>
                <a:ext uri="{FF2B5EF4-FFF2-40B4-BE49-F238E27FC236}">
                  <a16:creationId xmlns:a16="http://schemas.microsoft.com/office/drawing/2014/main" xmlns="" id="{D2533B24-0723-43A1-A258-F263C854E463}"/>
                </a:ext>
              </a:extLst>
            </p:cNvPr>
            <p:cNvSpPr>
              <a:spLocks noEditPoints="1"/>
            </p:cNvSpPr>
            <p:nvPr/>
          </p:nvSpPr>
          <p:spPr bwMode="gray">
            <a:xfrm>
              <a:off x="5539729" y="5688423"/>
              <a:ext cx="249340" cy="62487"/>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vert="horz" wrap="square" lIns="91399" tIns="45699" rIns="91399" bIns="45699" numCol="1" anchor="t" anchorCtr="0" compatLnSpc="1">
              <a:prstTxWarp prst="textNoShape">
                <a:avLst/>
              </a:prstTxWarp>
            </a:bodyPr>
            <a:lstStyle/>
            <a:p>
              <a:pPr defTabSz="1218539">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46" name="组合 45">
              <a:extLst>
                <a:ext uri="{FF2B5EF4-FFF2-40B4-BE49-F238E27FC236}">
                  <a16:creationId xmlns:a16="http://schemas.microsoft.com/office/drawing/2014/main" xmlns="" id="{939597FF-B7A0-44CE-A10F-01B59EE3F354}"/>
                </a:ext>
              </a:extLst>
            </p:cNvPr>
            <p:cNvGrpSpPr/>
            <p:nvPr/>
          </p:nvGrpSpPr>
          <p:grpSpPr bwMode="gray">
            <a:xfrm>
              <a:off x="5629804" y="5891511"/>
              <a:ext cx="103849" cy="195937"/>
              <a:chOff x="1710438" y="4778099"/>
              <a:chExt cx="103849" cy="195937"/>
            </a:xfrm>
            <a:grpFill/>
          </p:grpSpPr>
          <p:sp>
            <p:nvSpPr>
              <p:cNvPr id="57" name="Freeform 124">
                <a:extLst>
                  <a:ext uri="{FF2B5EF4-FFF2-40B4-BE49-F238E27FC236}">
                    <a16:creationId xmlns:a16="http://schemas.microsoft.com/office/drawing/2014/main" xmlns="" id="{79E2F679-EC93-4014-BFC4-BB75AAC93F24}"/>
                  </a:ext>
                </a:extLst>
              </p:cNvPr>
              <p:cNvSpPr>
                <a:spLocks noEditPoints="1"/>
              </p:cNvSpPr>
              <p:nvPr/>
            </p:nvSpPr>
            <p:spPr bwMode="gray">
              <a:xfrm>
                <a:off x="1710438" y="4853002"/>
                <a:ext cx="84552" cy="121034"/>
              </a:xfrm>
              <a:custGeom>
                <a:avLst/>
                <a:gdLst/>
                <a:ahLst/>
                <a:cxnLst>
                  <a:cxn ang="0">
                    <a:pos x="415" y="0"/>
                  </a:cxn>
                  <a:cxn ang="0">
                    <a:pos x="9" y="0"/>
                  </a:cxn>
                  <a:cxn ang="0">
                    <a:pos x="9" y="0"/>
                  </a:cxn>
                  <a:cxn ang="0">
                    <a:pos x="4" y="4"/>
                  </a:cxn>
                  <a:cxn ang="0">
                    <a:pos x="0" y="8"/>
                  </a:cxn>
                  <a:cxn ang="0">
                    <a:pos x="0" y="142"/>
                  </a:cxn>
                  <a:cxn ang="0">
                    <a:pos x="0" y="142"/>
                  </a:cxn>
                  <a:cxn ang="0">
                    <a:pos x="4" y="147"/>
                  </a:cxn>
                  <a:cxn ang="0">
                    <a:pos x="9" y="151"/>
                  </a:cxn>
                  <a:cxn ang="0">
                    <a:pos x="415" y="151"/>
                  </a:cxn>
                  <a:cxn ang="0">
                    <a:pos x="415" y="151"/>
                  </a:cxn>
                  <a:cxn ang="0">
                    <a:pos x="420" y="147"/>
                  </a:cxn>
                  <a:cxn ang="0">
                    <a:pos x="424" y="142"/>
                  </a:cxn>
                  <a:cxn ang="0">
                    <a:pos x="424" y="8"/>
                  </a:cxn>
                  <a:cxn ang="0">
                    <a:pos x="424" y="8"/>
                  </a:cxn>
                  <a:cxn ang="0">
                    <a:pos x="420" y="4"/>
                  </a:cxn>
                  <a:cxn ang="0">
                    <a:pos x="415" y="0"/>
                  </a:cxn>
                  <a:cxn ang="0">
                    <a:pos x="415" y="0"/>
                  </a:cxn>
                  <a:cxn ang="0">
                    <a:pos x="78" y="103"/>
                  </a:cxn>
                  <a:cxn ang="0">
                    <a:pos x="78" y="103"/>
                  </a:cxn>
                  <a:cxn ang="0">
                    <a:pos x="61" y="103"/>
                  </a:cxn>
                  <a:cxn ang="0">
                    <a:pos x="48" y="95"/>
                  </a:cxn>
                  <a:cxn ang="0">
                    <a:pos x="39" y="86"/>
                  </a:cxn>
                  <a:cxn ang="0">
                    <a:pos x="35" y="73"/>
                  </a:cxn>
                  <a:cxn ang="0">
                    <a:pos x="35" y="73"/>
                  </a:cxn>
                  <a:cxn ang="0">
                    <a:pos x="39" y="64"/>
                  </a:cxn>
                  <a:cxn ang="0">
                    <a:pos x="48" y="56"/>
                  </a:cxn>
                  <a:cxn ang="0">
                    <a:pos x="61" y="47"/>
                  </a:cxn>
                  <a:cxn ang="0">
                    <a:pos x="78" y="47"/>
                  </a:cxn>
                  <a:cxn ang="0">
                    <a:pos x="78" y="47"/>
                  </a:cxn>
                  <a:cxn ang="0">
                    <a:pos x="95" y="47"/>
                  </a:cxn>
                  <a:cxn ang="0">
                    <a:pos x="108" y="56"/>
                  </a:cxn>
                  <a:cxn ang="0">
                    <a:pos x="117" y="64"/>
                  </a:cxn>
                  <a:cxn ang="0">
                    <a:pos x="121" y="73"/>
                  </a:cxn>
                  <a:cxn ang="0">
                    <a:pos x="121" y="73"/>
                  </a:cxn>
                  <a:cxn ang="0">
                    <a:pos x="117" y="86"/>
                  </a:cxn>
                  <a:cxn ang="0">
                    <a:pos x="108" y="95"/>
                  </a:cxn>
                  <a:cxn ang="0">
                    <a:pos x="95" y="103"/>
                  </a:cxn>
                  <a:cxn ang="0">
                    <a:pos x="78" y="103"/>
                  </a:cxn>
                  <a:cxn ang="0">
                    <a:pos x="78" y="103"/>
                  </a:cxn>
                  <a:cxn ang="0">
                    <a:pos x="389" y="86"/>
                  </a:cxn>
                  <a:cxn ang="0">
                    <a:pos x="389" y="86"/>
                  </a:cxn>
                  <a:cxn ang="0">
                    <a:pos x="385" y="95"/>
                  </a:cxn>
                  <a:cxn ang="0">
                    <a:pos x="377" y="99"/>
                  </a:cxn>
                  <a:cxn ang="0">
                    <a:pos x="195" y="99"/>
                  </a:cxn>
                  <a:cxn ang="0">
                    <a:pos x="195" y="99"/>
                  </a:cxn>
                  <a:cxn ang="0">
                    <a:pos x="186" y="95"/>
                  </a:cxn>
                  <a:cxn ang="0">
                    <a:pos x="182" y="86"/>
                  </a:cxn>
                  <a:cxn ang="0">
                    <a:pos x="182" y="64"/>
                  </a:cxn>
                  <a:cxn ang="0">
                    <a:pos x="182" y="64"/>
                  </a:cxn>
                  <a:cxn ang="0">
                    <a:pos x="186" y="56"/>
                  </a:cxn>
                  <a:cxn ang="0">
                    <a:pos x="195" y="51"/>
                  </a:cxn>
                  <a:cxn ang="0">
                    <a:pos x="377" y="51"/>
                  </a:cxn>
                  <a:cxn ang="0">
                    <a:pos x="377" y="51"/>
                  </a:cxn>
                  <a:cxn ang="0">
                    <a:pos x="385" y="56"/>
                  </a:cxn>
                  <a:cxn ang="0">
                    <a:pos x="389" y="64"/>
                  </a:cxn>
                  <a:cxn ang="0">
                    <a:pos x="389" y="86"/>
                  </a:cxn>
                </a:cxnLst>
                <a:rect l="0" t="0" r="r" b="b"/>
                <a:pathLst>
                  <a:path w="424" h="151">
                    <a:moveTo>
                      <a:pt x="415" y="0"/>
                    </a:moveTo>
                    <a:lnTo>
                      <a:pt x="9" y="0"/>
                    </a:lnTo>
                    <a:lnTo>
                      <a:pt x="9" y="0"/>
                    </a:lnTo>
                    <a:lnTo>
                      <a:pt x="4" y="4"/>
                    </a:lnTo>
                    <a:lnTo>
                      <a:pt x="0" y="8"/>
                    </a:lnTo>
                    <a:lnTo>
                      <a:pt x="0" y="142"/>
                    </a:lnTo>
                    <a:lnTo>
                      <a:pt x="0" y="142"/>
                    </a:lnTo>
                    <a:lnTo>
                      <a:pt x="4" y="147"/>
                    </a:lnTo>
                    <a:lnTo>
                      <a:pt x="9" y="151"/>
                    </a:lnTo>
                    <a:lnTo>
                      <a:pt x="415" y="151"/>
                    </a:lnTo>
                    <a:lnTo>
                      <a:pt x="415" y="151"/>
                    </a:lnTo>
                    <a:lnTo>
                      <a:pt x="420" y="147"/>
                    </a:lnTo>
                    <a:lnTo>
                      <a:pt x="424" y="142"/>
                    </a:lnTo>
                    <a:lnTo>
                      <a:pt x="424" y="8"/>
                    </a:lnTo>
                    <a:lnTo>
                      <a:pt x="424" y="8"/>
                    </a:lnTo>
                    <a:lnTo>
                      <a:pt x="420" y="4"/>
                    </a:lnTo>
                    <a:lnTo>
                      <a:pt x="415" y="0"/>
                    </a:lnTo>
                    <a:lnTo>
                      <a:pt x="415" y="0"/>
                    </a:lnTo>
                    <a:close/>
                    <a:moveTo>
                      <a:pt x="78" y="103"/>
                    </a:moveTo>
                    <a:lnTo>
                      <a:pt x="78" y="103"/>
                    </a:lnTo>
                    <a:lnTo>
                      <a:pt x="61" y="103"/>
                    </a:lnTo>
                    <a:lnTo>
                      <a:pt x="48" y="95"/>
                    </a:lnTo>
                    <a:lnTo>
                      <a:pt x="39" y="86"/>
                    </a:lnTo>
                    <a:lnTo>
                      <a:pt x="35" y="73"/>
                    </a:lnTo>
                    <a:lnTo>
                      <a:pt x="35" y="73"/>
                    </a:lnTo>
                    <a:lnTo>
                      <a:pt x="39" y="64"/>
                    </a:lnTo>
                    <a:lnTo>
                      <a:pt x="48" y="56"/>
                    </a:lnTo>
                    <a:lnTo>
                      <a:pt x="61" y="47"/>
                    </a:lnTo>
                    <a:lnTo>
                      <a:pt x="78" y="47"/>
                    </a:lnTo>
                    <a:lnTo>
                      <a:pt x="78" y="47"/>
                    </a:lnTo>
                    <a:lnTo>
                      <a:pt x="95" y="47"/>
                    </a:lnTo>
                    <a:lnTo>
                      <a:pt x="108" y="56"/>
                    </a:lnTo>
                    <a:lnTo>
                      <a:pt x="117" y="64"/>
                    </a:lnTo>
                    <a:lnTo>
                      <a:pt x="121" y="73"/>
                    </a:lnTo>
                    <a:lnTo>
                      <a:pt x="121" y="73"/>
                    </a:lnTo>
                    <a:lnTo>
                      <a:pt x="117" y="86"/>
                    </a:lnTo>
                    <a:lnTo>
                      <a:pt x="108" y="95"/>
                    </a:lnTo>
                    <a:lnTo>
                      <a:pt x="95" y="103"/>
                    </a:lnTo>
                    <a:lnTo>
                      <a:pt x="78" y="103"/>
                    </a:lnTo>
                    <a:lnTo>
                      <a:pt x="78" y="103"/>
                    </a:lnTo>
                    <a:close/>
                    <a:moveTo>
                      <a:pt x="389" y="86"/>
                    </a:moveTo>
                    <a:lnTo>
                      <a:pt x="389" y="86"/>
                    </a:lnTo>
                    <a:lnTo>
                      <a:pt x="385" y="95"/>
                    </a:lnTo>
                    <a:lnTo>
                      <a:pt x="377" y="99"/>
                    </a:lnTo>
                    <a:lnTo>
                      <a:pt x="195" y="99"/>
                    </a:lnTo>
                    <a:lnTo>
                      <a:pt x="195" y="99"/>
                    </a:lnTo>
                    <a:lnTo>
                      <a:pt x="186" y="95"/>
                    </a:lnTo>
                    <a:lnTo>
                      <a:pt x="182" y="86"/>
                    </a:lnTo>
                    <a:lnTo>
                      <a:pt x="182" y="64"/>
                    </a:lnTo>
                    <a:lnTo>
                      <a:pt x="182" y="64"/>
                    </a:lnTo>
                    <a:lnTo>
                      <a:pt x="186" y="56"/>
                    </a:lnTo>
                    <a:lnTo>
                      <a:pt x="195" y="51"/>
                    </a:lnTo>
                    <a:lnTo>
                      <a:pt x="377" y="51"/>
                    </a:lnTo>
                    <a:lnTo>
                      <a:pt x="377" y="51"/>
                    </a:lnTo>
                    <a:lnTo>
                      <a:pt x="385" y="56"/>
                    </a:lnTo>
                    <a:lnTo>
                      <a:pt x="389" y="64"/>
                    </a:lnTo>
                    <a:lnTo>
                      <a:pt x="389" y="86"/>
                    </a:lnTo>
                    <a:close/>
                  </a:path>
                </a:pathLst>
              </a:custGeom>
              <a:grpFill/>
              <a:ln w="9525">
                <a:noFill/>
                <a:round/>
                <a:headEnd/>
                <a:tailEnd/>
              </a:ln>
            </p:spPr>
            <p:txBody>
              <a:bodyPr vert="horz" wrap="square" lIns="34815" tIns="17409" rIns="34815" bIns="17409" numCol="1" anchor="t" anchorCtr="0" compatLnSpc="1">
                <a:prstTxWarp prst="textNoShape">
                  <a:avLst/>
                </a:prstTxWarp>
              </a:bodyPr>
              <a:lstStyle/>
              <a:p>
                <a:pPr defTabSz="1218539">
                  <a:defRPr/>
                </a:pPr>
                <a:endParaRPr lang="zh-CN" altLang="en-US" sz="1200" ker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16">
                <a:extLst>
                  <a:ext uri="{FF2B5EF4-FFF2-40B4-BE49-F238E27FC236}">
                    <a16:creationId xmlns:a16="http://schemas.microsoft.com/office/drawing/2014/main" xmlns="" id="{9C22E2CE-C100-40FB-ACB1-D6CC10B1221A}"/>
                  </a:ext>
                </a:extLst>
              </p:cNvPr>
              <p:cNvSpPr>
                <a:spLocks noEditPoints="1"/>
              </p:cNvSpPr>
              <p:nvPr/>
            </p:nvSpPr>
            <p:spPr bwMode="gray">
              <a:xfrm>
                <a:off x="1711759" y="4778099"/>
                <a:ext cx="102528" cy="67230"/>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vert="horz" wrap="square" lIns="34815" tIns="17409" rIns="34815" bIns="17409" numCol="1" anchor="t" anchorCtr="0" compatLnSpc="1">
                <a:prstTxWarp prst="textNoShape">
                  <a:avLst/>
                </a:prstTxWarp>
              </a:bodyPr>
              <a:lstStyle/>
              <a:p>
                <a:pPr defTabSz="1218539">
                  <a:defRPr/>
                </a:pPr>
                <a:endParaRPr lang="zh-CN" altLang="en-US" sz="1200" ker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7" name="组合 46">
              <a:extLst>
                <a:ext uri="{FF2B5EF4-FFF2-40B4-BE49-F238E27FC236}">
                  <a16:creationId xmlns:a16="http://schemas.microsoft.com/office/drawing/2014/main" xmlns="" id="{F581F513-32D1-4E29-8FB9-96C1E7A61435}"/>
                </a:ext>
              </a:extLst>
            </p:cNvPr>
            <p:cNvGrpSpPr/>
            <p:nvPr/>
          </p:nvGrpSpPr>
          <p:grpSpPr bwMode="gray">
            <a:xfrm>
              <a:off x="5949953" y="5892589"/>
              <a:ext cx="103849" cy="195937"/>
              <a:chOff x="1710438" y="4778099"/>
              <a:chExt cx="103849" cy="195937"/>
            </a:xfrm>
            <a:grpFill/>
          </p:grpSpPr>
          <p:sp>
            <p:nvSpPr>
              <p:cNvPr id="55" name="Freeform 124">
                <a:extLst>
                  <a:ext uri="{FF2B5EF4-FFF2-40B4-BE49-F238E27FC236}">
                    <a16:creationId xmlns:a16="http://schemas.microsoft.com/office/drawing/2014/main" xmlns="" id="{232D5627-8206-4297-A992-29E6589CD2B8}"/>
                  </a:ext>
                </a:extLst>
              </p:cNvPr>
              <p:cNvSpPr>
                <a:spLocks noEditPoints="1"/>
              </p:cNvSpPr>
              <p:nvPr/>
            </p:nvSpPr>
            <p:spPr bwMode="gray">
              <a:xfrm>
                <a:off x="1710438" y="4853002"/>
                <a:ext cx="84552" cy="121034"/>
              </a:xfrm>
              <a:custGeom>
                <a:avLst/>
                <a:gdLst/>
                <a:ahLst/>
                <a:cxnLst>
                  <a:cxn ang="0">
                    <a:pos x="415" y="0"/>
                  </a:cxn>
                  <a:cxn ang="0">
                    <a:pos x="9" y="0"/>
                  </a:cxn>
                  <a:cxn ang="0">
                    <a:pos x="9" y="0"/>
                  </a:cxn>
                  <a:cxn ang="0">
                    <a:pos x="4" y="4"/>
                  </a:cxn>
                  <a:cxn ang="0">
                    <a:pos x="0" y="8"/>
                  </a:cxn>
                  <a:cxn ang="0">
                    <a:pos x="0" y="142"/>
                  </a:cxn>
                  <a:cxn ang="0">
                    <a:pos x="0" y="142"/>
                  </a:cxn>
                  <a:cxn ang="0">
                    <a:pos x="4" y="147"/>
                  </a:cxn>
                  <a:cxn ang="0">
                    <a:pos x="9" y="151"/>
                  </a:cxn>
                  <a:cxn ang="0">
                    <a:pos x="415" y="151"/>
                  </a:cxn>
                  <a:cxn ang="0">
                    <a:pos x="415" y="151"/>
                  </a:cxn>
                  <a:cxn ang="0">
                    <a:pos x="420" y="147"/>
                  </a:cxn>
                  <a:cxn ang="0">
                    <a:pos x="424" y="142"/>
                  </a:cxn>
                  <a:cxn ang="0">
                    <a:pos x="424" y="8"/>
                  </a:cxn>
                  <a:cxn ang="0">
                    <a:pos x="424" y="8"/>
                  </a:cxn>
                  <a:cxn ang="0">
                    <a:pos x="420" y="4"/>
                  </a:cxn>
                  <a:cxn ang="0">
                    <a:pos x="415" y="0"/>
                  </a:cxn>
                  <a:cxn ang="0">
                    <a:pos x="415" y="0"/>
                  </a:cxn>
                  <a:cxn ang="0">
                    <a:pos x="78" y="103"/>
                  </a:cxn>
                  <a:cxn ang="0">
                    <a:pos x="78" y="103"/>
                  </a:cxn>
                  <a:cxn ang="0">
                    <a:pos x="61" y="103"/>
                  </a:cxn>
                  <a:cxn ang="0">
                    <a:pos x="48" y="95"/>
                  </a:cxn>
                  <a:cxn ang="0">
                    <a:pos x="39" y="86"/>
                  </a:cxn>
                  <a:cxn ang="0">
                    <a:pos x="35" y="73"/>
                  </a:cxn>
                  <a:cxn ang="0">
                    <a:pos x="35" y="73"/>
                  </a:cxn>
                  <a:cxn ang="0">
                    <a:pos x="39" y="64"/>
                  </a:cxn>
                  <a:cxn ang="0">
                    <a:pos x="48" y="56"/>
                  </a:cxn>
                  <a:cxn ang="0">
                    <a:pos x="61" y="47"/>
                  </a:cxn>
                  <a:cxn ang="0">
                    <a:pos x="78" y="47"/>
                  </a:cxn>
                  <a:cxn ang="0">
                    <a:pos x="78" y="47"/>
                  </a:cxn>
                  <a:cxn ang="0">
                    <a:pos x="95" y="47"/>
                  </a:cxn>
                  <a:cxn ang="0">
                    <a:pos x="108" y="56"/>
                  </a:cxn>
                  <a:cxn ang="0">
                    <a:pos x="117" y="64"/>
                  </a:cxn>
                  <a:cxn ang="0">
                    <a:pos x="121" y="73"/>
                  </a:cxn>
                  <a:cxn ang="0">
                    <a:pos x="121" y="73"/>
                  </a:cxn>
                  <a:cxn ang="0">
                    <a:pos x="117" y="86"/>
                  </a:cxn>
                  <a:cxn ang="0">
                    <a:pos x="108" y="95"/>
                  </a:cxn>
                  <a:cxn ang="0">
                    <a:pos x="95" y="103"/>
                  </a:cxn>
                  <a:cxn ang="0">
                    <a:pos x="78" y="103"/>
                  </a:cxn>
                  <a:cxn ang="0">
                    <a:pos x="78" y="103"/>
                  </a:cxn>
                  <a:cxn ang="0">
                    <a:pos x="389" y="86"/>
                  </a:cxn>
                  <a:cxn ang="0">
                    <a:pos x="389" y="86"/>
                  </a:cxn>
                  <a:cxn ang="0">
                    <a:pos x="385" y="95"/>
                  </a:cxn>
                  <a:cxn ang="0">
                    <a:pos x="377" y="99"/>
                  </a:cxn>
                  <a:cxn ang="0">
                    <a:pos x="195" y="99"/>
                  </a:cxn>
                  <a:cxn ang="0">
                    <a:pos x="195" y="99"/>
                  </a:cxn>
                  <a:cxn ang="0">
                    <a:pos x="186" y="95"/>
                  </a:cxn>
                  <a:cxn ang="0">
                    <a:pos x="182" y="86"/>
                  </a:cxn>
                  <a:cxn ang="0">
                    <a:pos x="182" y="64"/>
                  </a:cxn>
                  <a:cxn ang="0">
                    <a:pos x="182" y="64"/>
                  </a:cxn>
                  <a:cxn ang="0">
                    <a:pos x="186" y="56"/>
                  </a:cxn>
                  <a:cxn ang="0">
                    <a:pos x="195" y="51"/>
                  </a:cxn>
                  <a:cxn ang="0">
                    <a:pos x="377" y="51"/>
                  </a:cxn>
                  <a:cxn ang="0">
                    <a:pos x="377" y="51"/>
                  </a:cxn>
                  <a:cxn ang="0">
                    <a:pos x="385" y="56"/>
                  </a:cxn>
                  <a:cxn ang="0">
                    <a:pos x="389" y="64"/>
                  </a:cxn>
                  <a:cxn ang="0">
                    <a:pos x="389" y="86"/>
                  </a:cxn>
                </a:cxnLst>
                <a:rect l="0" t="0" r="r" b="b"/>
                <a:pathLst>
                  <a:path w="424" h="151">
                    <a:moveTo>
                      <a:pt x="415" y="0"/>
                    </a:moveTo>
                    <a:lnTo>
                      <a:pt x="9" y="0"/>
                    </a:lnTo>
                    <a:lnTo>
                      <a:pt x="9" y="0"/>
                    </a:lnTo>
                    <a:lnTo>
                      <a:pt x="4" y="4"/>
                    </a:lnTo>
                    <a:lnTo>
                      <a:pt x="0" y="8"/>
                    </a:lnTo>
                    <a:lnTo>
                      <a:pt x="0" y="142"/>
                    </a:lnTo>
                    <a:lnTo>
                      <a:pt x="0" y="142"/>
                    </a:lnTo>
                    <a:lnTo>
                      <a:pt x="4" y="147"/>
                    </a:lnTo>
                    <a:lnTo>
                      <a:pt x="9" y="151"/>
                    </a:lnTo>
                    <a:lnTo>
                      <a:pt x="415" y="151"/>
                    </a:lnTo>
                    <a:lnTo>
                      <a:pt x="415" y="151"/>
                    </a:lnTo>
                    <a:lnTo>
                      <a:pt x="420" y="147"/>
                    </a:lnTo>
                    <a:lnTo>
                      <a:pt x="424" y="142"/>
                    </a:lnTo>
                    <a:lnTo>
                      <a:pt x="424" y="8"/>
                    </a:lnTo>
                    <a:lnTo>
                      <a:pt x="424" y="8"/>
                    </a:lnTo>
                    <a:lnTo>
                      <a:pt x="420" y="4"/>
                    </a:lnTo>
                    <a:lnTo>
                      <a:pt x="415" y="0"/>
                    </a:lnTo>
                    <a:lnTo>
                      <a:pt x="415" y="0"/>
                    </a:lnTo>
                    <a:close/>
                    <a:moveTo>
                      <a:pt x="78" y="103"/>
                    </a:moveTo>
                    <a:lnTo>
                      <a:pt x="78" y="103"/>
                    </a:lnTo>
                    <a:lnTo>
                      <a:pt x="61" y="103"/>
                    </a:lnTo>
                    <a:lnTo>
                      <a:pt x="48" y="95"/>
                    </a:lnTo>
                    <a:lnTo>
                      <a:pt x="39" y="86"/>
                    </a:lnTo>
                    <a:lnTo>
                      <a:pt x="35" y="73"/>
                    </a:lnTo>
                    <a:lnTo>
                      <a:pt x="35" y="73"/>
                    </a:lnTo>
                    <a:lnTo>
                      <a:pt x="39" y="64"/>
                    </a:lnTo>
                    <a:lnTo>
                      <a:pt x="48" y="56"/>
                    </a:lnTo>
                    <a:lnTo>
                      <a:pt x="61" y="47"/>
                    </a:lnTo>
                    <a:lnTo>
                      <a:pt x="78" y="47"/>
                    </a:lnTo>
                    <a:lnTo>
                      <a:pt x="78" y="47"/>
                    </a:lnTo>
                    <a:lnTo>
                      <a:pt x="95" y="47"/>
                    </a:lnTo>
                    <a:lnTo>
                      <a:pt x="108" y="56"/>
                    </a:lnTo>
                    <a:lnTo>
                      <a:pt x="117" y="64"/>
                    </a:lnTo>
                    <a:lnTo>
                      <a:pt x="121" y="73"/>
                    </a:lnTo>
                    <a:lnTo>
                      <a:pt x="121" y="73"/>
                    </a:lnTo>
                    <a:lnTo>
                      <a:pt x="117" y="86"/>
                    </a:lnTo>
                    <a:lnTo>
                      <a:pt x="108" y="95"/>
                    </a:lnTo>
                    <a:lnTo>
                      <a:pt x="95" y="103"/>
                    </a:lnTo>
                    <a:lnTo>
                      <a:pt x="78" y="103"/>
                    </a:lnTo>
                    <a:lnTo>
                      <a:pt x="78" y="103"/>
                    </a:lnTo>
                    <a:close/>
                    <a:moveTo>
                      <a:pt x="389" y="86"/>
                    </a:moveTo>
                    <a:lnTo>
                      <a:pt x="389" y="86"/>
                    </a:lnTo>
                    <a:lnTo>
                      <a:pt x="385" y="95"/>
                    </a:lnTo>
                    <a:lnTo>
                      <a:pt x="377" y="99"/>
                    </a:lnTo>
                    <a:lnTo>
                      <a:pt x="195" y="99"/>
                    </a:lnTo>
                    <a:lnTo>
                      <a:pt x="195" y="99"/>
                    </a:lnTo>
                    <a:lnTo>
                      <a:pt x="186" y="95"/>
                    </a:lnTo>
                    <a:lnTo>
                      <a:pt x="182" y="86"/>
                    </a:lnTo>
                    <a:lnTo>
                      <a:pt x="182" y="64"/>
                    </a:lnTo>
                    <a:lnTo>
                      <a:pt x="182" y="64"/>
                    </a:lnTo>
                    <a:lnTo>
                      <a:pt x="186" y="56"/>
                    </a:lnTo>
                    <a:lnTo>
                      <a:pt x="195" y="51"/>
                    </a:lnTo>
                    <a:lnTo>
                      <a:pt x="377" y="51"/>
                    </a:lnTo>
                    <a:lnTo>
                      <a:pt x="377" y="51"/>
                    </a:lnTo>
                    <a:lnTo>
                      <a:pt x="385" y="56"/>
                    </a:lnTo>
                    <a:lnTo>
                      <a:pt x="389" y="64"/>
                    </a:lnTo>
                    <a:lnTo>
                      <a:pt x="389" y="86"/>
                    </a:lnTo>
                    <a:close/>
                  </a:path>
                </a:pathLst>
              </a:custGeom>
              <a:grpFill/>
              <a:ln w="9525">
                <a:noFill/>
                <a:round/>
                <a:headEnd/>
                <a:tailEnd/>
              </a:ln>
            </p:spPr>
            <p:txBody>
              <a:bodyPr vert="horz" wrap="square" lIns="34815" tIns="17409" rIns="34815" bIns="17409" numCol="1" anchor="t" anchorCtr="0" compatLnSpc="1">
                <a:prstTxWarp prst="textNoShape">
                  <a:avLst/>
                </a:prstTxWarp>
              </a:bodyPr>
              <a:lstStyle/>
              <a:p>
                <a:pPr defTabSz="1218539">
                  <a:defRPr/>
                </a:pPr>
                <a:endParaRPr lang="zh-CN" altLang="en-US" sz="1200" ker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Freeform 16">
                <a:extLst>
                  <a:ext uri="{FF2B5EF4-FFF2-40B4-BE49-F238E27FC236}">
                    <a16:creationId xmlns:a16="http://schemas.microsoft.com/office/drawing/2014/main" xmlns="" id="{895DA7C2-1312-4DA9-9F7F-9D6C243B50DE}"/>
                  </a:ext>
                </a:extLst>
              </p:cNvPr>
              <p:cNvSpPr>
                <a:spLocks noEditPoints="1"/>
              </p:cNvSpPr>
              <p:nvPr/>
            </p:nvSpPr>
            <p:spPr bwMode="gray">
              <a:xfrm>
                <a:off x="1711759" y="4778099"/>
                <a:ext cx="102528" cy="67230"/>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vert="horz" wrap="square" lIns="34815" tIns="17409" rIns="34815" bIns="17409" numCol="1" anchor="t" anchorCtr="0" compatLnSpc="1">
                <a:prstTxWarp prst="textNoShape">
                  <a:avLst/>
                </a:prstTxWarp>
              </a:bodyPr>
              <a:lstStyle/>
              <a:p>
                <a:pPr defTabSz="1218539">
                  <a:defRPr/>
                </a:pPr>
                <a:endParaRPr lang="zh-CN" altLang="en-US" sz="1200" ker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1" name="矩形 50">
              <a:extLst>
                <a:ext uri="{FF2B5EF4-FFF2-40B4-BE49-F238E27FC236}">
                  <a16:creationId xmlns:a16="http://schemas.microsoft.com/office/drawing/2014/main" xmlns="" id="{9881F5FC-BC28-42BB-88D7-E47484205393}"/>
                </a:ext>
              </a:extLst>
            </p:cNvPr>
            <p:cNvSpPr/>
            <p:nvPr/>
          </p:nvSpPr>
          <p:spPr bwMode="gray">
            <a:xfrm>
              <a:off x="5967535" y="5661328"/>
              <a:ext cx="1042120" cy="330377"/>
            </a:xfrm>
            <a:prstGeom prst="rect">
              <a:avLst/>
            </a:prstGeom>
            <a:noFill/>
          </p:spPr>
          <p:txBody>
            <a:bodyPr wrap="none">
              <a:spAutoFit/>
            </a:bodyPr>
            <a:lstStyle/>
            <a:p>
              <a:pPr defTabSz="914248">
                <a:defRPr/>
              </a:pPr>
              <a:r>
                <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Central AP</a:t>
              </a:r>
              <a:endParaRPr lang="zh-CN" alt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连接符 51">
              <a:extLst>
                <a:ext uri="{FF2B5EF4-FFF2-40B4-BE49-F238E27FC236}">
                  <a16:creationId xmlns:a16="http://schemas.microsoft.com/office/drawing/2014/main" xmlns="" id="{67C3D479-6723-4B47-8EED-0F1DD70CDBDF}"/>
                </a:ext>
              </a:extLst>
            </p:cNvPr>
            <p:cNvCxnSpPr>
              <a:stCxn id="58" idx="0"/>
            </p:cNvCxnSpPr>
            <p:nvPr/>
          </p:nvCxnSpPr>
          <p:spPr bwMode="gray">
            <a:xfrm flipV="1">
              <a:off x="5647150" y="5763041"/>
              <a:ext cx="27874" cy="131821"/>
            </a:xfrm>
            <a:prstGeom prst="line">
              <a:avLst/>
            </a:prstGeom>
            <a:grpFill/>
            <a:ln w="9525" cap="flat" cmpd="sng" algn="ctr">
              <a:solidFill>
                <a:srgbClr val="4F81BD">
                  <a:shade val="95000"/>
                  <a:satMod val="105000"/>
                </a:srgbClr>
              </a:solidFill>
              <a:prstDash val="dash"/>
            </a:ln>
            <a:effectLst/>
          </p:spPr>
        </p:cxnSp>
        <p:cxnSp>
          <p:nvCxnSpPr>
            <p:cNvPr id="53" name="直接连接符 52">
              <a:extLst>
                <a:ext uri="{FF2B5EF4-FFF2-40B4-BE49-F238E27FC236}">
                  <a16:creationId xmlns:a16="http://schemas.microsoft.com/office/drawing/2014/main" xmlns="" id="{58148A7C-4B8D-4AFA-AC9D-4766F7AB2936}"/>
                </a:ext>
              </a:extLst>
            </p:cNvPr>
            <p:cNvCxnSpPr/>
            <p:nvPr/>
          </p:nvCxnSpPr>
          <p:spPr bwMode="gray">
            <a:xfrm flipV="1">
              <a:off x="5449588" y="5754012"/>
              <a:ext cx="225436" cy="108243"/>
            </a:xfrm>
            <a:prstGeom prst="line">
              <a:avLst/>
            </a:prstGeom>
            <a:grpFill/>
            <a:ln w="9525" cap="flat" cmpd="sng" algn="ctr">
              <a:solidFill>
                <a:srgbClr val="4F81BD">
                  <a:shade val="95000"/>
                  <a:satMod val="105000"/>
                </a:srgbClr>
              </a:solidFill>
              <a:prstDash val="dash"/>
            </a:ln>
            <a:effectLst/>
          </p:spPr>
        </p:cxnSp>
        <p:cxnSp>
          <p:nvCxnSpPr>
            <p:cNvPr id="54" name="直接连接符 53">
              <a:extLst>
                <a:ext uri="{FF2B5EF4-FFF2-40B4-BE49-F238E27FC236}">
                  <a16:creationId xmlns:a16="http://schemas.microsoft.com/office/drawing/2014/main" xmlns="" id="{BA27032C-ABB2-4235-A15B-BC629192D27A}"/>
                </a:ext>
              </a:extLst>
            </p:cNvPr>
            <p:cNvCxnSpPr>
              <a:stCxn id="56" idx="0"/>
            </p:cNvCxnSpPr>
            <p:nvPr/>
          </p:nvCxnSpPr>
          <p:spPr bwMode="gray">
            <a:xfrm flipH="1" flipV="1">
              <a:off x="5702724" y="5763041"/>
              <a:ext cx="264575" cy="132899"/>
            </a:xfrm>
            <a:prstGeom prst="line">
              <a:avLst/>
            </a:prstGeom>
            <a:grpFill/>
            <a:ln w="9525" cap="flat" cmpd="sng" algn="ctr">
              <a:solidFill>
                <a:srgbClr val="4F81BD">
                  <a:shade val="95000"/>
                  <a:satMod val="105000"/>
                </a:srgbClr>
              </a:solidFill>
              <a:prstDash val="dash"/>
            </a:ln>
            <a:effectLst/>
          </p:spPr>
        </p:cxnSp>
      </p:grpSp>
      <p:grpSp>
        <p:nvGrpSpPr>
          <p:cNvPr id="61" name="组合 60">
            <a:extLst>
              <a:ext uri="{FF2B5EF4-FFF2-40B4-BE49-F238E27FC236}">
                <a16:creationId xmlns:a16="http://schemas.microsoft.com/office/drawing/2014/main" xmlns="" id="{5F8FAB07-9CEA-4517-B752-0F362EE1DEB1}"/>
              </a:ext>
            </a:extLst>
          </p:cNvPr>
          <p:cNvGrpSpPr/>
          <p:nvPr/>
        </p:nvGrpSpPr>
        <p:grpSpPr bwMode="gray">
          <a:xfrm>
            <a:off x="4378376" y="5090830"/>
            <a:ext cx="1105655" cy="517274"/>
            <a:chOff x="1403509" y="1694180"/>
            <a:chExt cx="3680999" cy="2169943"/>
          </a:xfrm>
          <a:solidFill>
            <a:srgbClr val="666666"/>
          </a:solidFill>
        </p:grpSpPr>
        <p:grpSp>
          <p:nvGrpSpPr>
            <p:cNvPr id="62" name="组合 576">
              <a:extLst>
                <a:ext uri="{FF2B5EF4-FFF2-40B4-BE49-F238E27FC236}">
                  <a16:creationId xmlns:a16="http://schemas.microsoft.com/office/drawing/2014/main" xmlns="" id="{4C0C8C4F-5A3F-4207-9DC4-551839845D76}"/>
                </a:ext>
              </a:extLst>
            </p:cNvPr>
            <p:cNvGrpSpPr/>
            <p:nvPr/>
          </p:nvGrpSpPr>
          <p:grpSpPr bwMode="gray">
            <a:xfrm>
              <a:off x="1403509" y="3452852"/>
              <a:ext cx="425649" cy="411271"/>
              <a:chOff x="13096875" y="2576512"/>
              <a:chExt cx="804862" cy="777875"/>
            </a:xfrm>
            <a:grpFill/>
          </p:grpSpPr>
          <p:sp>
            <p:nvSpPr>
              <p:cNvPr id="132" name="Freeform 100">
                <a:extLst>
                  <a:ext uri="{FF2B5EF4-FFF2-40B4-BE49-F238E27FC236}">
                    <a16:creationId xmlns:a16="http://schemas.microsoft.com/office/drawing/2014/main" xmlns="" id="{9A02EA27-474C-4CF3-85D2-1F96F00C5756}"/>
                  </a:ext>
                </a:extLst>
              </p:cNvPr>
              <p:cNvSpPr>
                <a:spLocks/>
              </p:cNvSpPr>
              <p:nvPr/>
            </p:nvSpPr>
            <p:spPr bwMode="gray">
              <a:xfrm>
                <a:off x="13798550" y="2576512"/>
                <a:ext cx="103187" cy="323850"/>
              </a:xfrm>
              <a:custGeom>
                <a:avLst/>
                <a:gdLst/>
                <a:ahLst/>
                <a:cxnLst>
                  <a:cxn ang="0">
                    <a:pos x="4" y="178"/>
                  </a:cxn>
                  <a:cxn ang="0">
                    <a:pos x="4" y="178"/>
                  </a:cxn>
                  <a:cxn ang="0">
                    <a:pos x="17" y="161"/>
                  </a:cxn>
                  <a:cxn ang="0">
                    <a:pos x="30" y="143"/>
                  </a:cxn>
                  <a:cxn ang="0">
                    <a:pos x="34" y="122"/>
                  </a:cxn>
                  <a:cxn ang="0">
                    <a:pos x="34" y="100"/>
                  </a:cxn>
                  <a:cxn ang="0">
                    <a:pos x="34" y="100"/>
                  </a:cxn>
                  <a:cxn ang="0">
                    <a:pos x="34" y="83"/>
                  </a:cxn>
                  <a:cxn ang="0">
                    <a:pos x="30" y="61"/>
                  </a:cxn>
                  <a:cxn ang="0">
                    <a:pos x="17" y="39"/>
                  </a:cxn>
                  <a:cxn ang="0">
                    <a:pos x="4" y="26"/>
                  </a:cxn>
                  <a:cxn ang="0">
                    <a:pos x="4" y="26"/>
                  </a:cxn>
                  <a:cxn ang="0">
                    <a:pos x="0" y="13"/>
                  </a:cxn>
                  <a:cxn ang="0">
                    <a:pos x="4" y="5"/>
                  </a:cxn>
                  <a:cxn ang="0">
                    <a:pos x="4" y="5"/>
                  </a:cxn>
                  <a:cxn ang="0">
                    <a:pos x="13" y="0"/>
                  </a:cxn>
                  <a:cxn ang="0">
                    <a:pos x="26" y="5"/>
                  </a:cxn>
                  <a:cxn ang="0">
                    <a:pos x="26" y="5"/>
                  </a:cxn>
                  <a:cxn ang="0">
                    <a:pos x="43" y="26"/>
                  </a:cxn>
                  <a:cxn ang="0">
                    <a:pos x="56" y="48"/>
                  </a:cxn>
                  <a:cxn ang="0">
                    <a:pos x="60" y="74"/>
                  </a:cxn>
                  <a:cxn ang="0">
                    <a:pos x="65" y="100"/>
                  </a:cxn>
                  <a:cxn ang="0">
                    <a:pos x="60" y="126"/>
                  </a:cxn>
                  <a:cxn ang="0">
                    <a:pos x="56" y="152"/>
                  </a:cxn>
                  <a:cxn ang="0">
                    <a:pos x="43" y="178"/>
                  </a:cxn>
                  <a:cxn ang="0">
                    <a:pos x="26" y="200"/>
                  </a:cxn>
                  <a:cxn ang="0">
                    <a:pos x="26" y="200"/>
                  </a:cxn>
                  <a:cxn ang="0">
                    <a:pos x="13" y="204"/>
                  </a:cxn>
                  <a:cxn ang="0">
                    <a:pos x="4" y="200"/>
                  </a:cxn>
                  <a:cxn ang="0">
                    <a:pos x="4" y="200"/>
                  </a:cxn>
                  <a:cxn ang="0">
                    <a:pos x="0" y="187"/>
                  </a:cxn>
                  <a:cxn ang="0">
                    <a:pos x="4" y="178"/>
                  </a:cxn>
                  <a:cxn ang="0">
                    <a:pos x="4" y="178"/>
                  </a:cxn>
                </a:cxnLst>
                <a:rect l="0" t="0" r="r" b="b"/>
                <a:pathLst>
                  <a:path w="65" h="204">
                    <a:moveTo>
                      <a:pt x="4" y="178"/>
                    </a:moveTo>
                    <a:lnTo>
                      <a:pt x="4" y="178"/>
                    </a:lnTo>
                    <a:lnTo>
                      <a:pt x="17" y="161"/>
                    </a:lnTo>
                    <a:lnTo>
                      <a:pt x="30" y="143"/>
                    </a:lnTo>
                    <a:lnTo>
                      <a:pt x="34" y="122"/>
                    </a:lnTo>
                    <a:lnTo>
                      <a:pt x="34" y="100"/>
                    </a:lnTo>
                    <a:lnTo>
                      <a:pt x="34" y="100"/>
                    </a:lnTo>
                    <a:lnTo>
                      <a:pt x="34" y="83"/>
                    </a:lnTo>
                    <a:lnTo>
                      <a:pt x="30" y="61"/>
                    </a:lnTo>
                    <a:lnTo>
                      <a:pt x="17" y="39"/>
                    </a:lnTo>
                    <a:lnTo>
                      <a:pt x="4" y="26"/>
                    </a:lnTo>
                    <a:lnTo>
                      <a:pt x="4" y="26"/>
                    </a:lnTo>
                    <a:lnTo>
                      <a:pt x="0" y="13"/>
                    </a:lnTo>
                    <a:lnTo>
                      <a:pt x="4" y="5"/>
                    </a:lnTo>
                    <a:lnTo>
                      <a:pt x="4" y="5"/>
                    </a:lnTo>
                    <a:lnTo>
                      <a:pt x="13" y="0"/>
                    </a:lnTo>
                    <a:lnTo>
                      <a:pt x="26" y="5"/>
                    </a:lnTo>
                    <a:lnTo>
                      <a:pt x="26" y="5"/>
                    </a:lnTo>
                    <a:lnTo>
                      <a:pt x="43" y="26"/>
                    </a:lnTo>
                    <a:lnTo>
                      <a:pt x="56" y="48"/>
                    </a:lnTo>
                    <a:lnTo>
                      <a:pt x="60" y="74"/>
                    </a:lnTo>
                    <a:lnTo>
                      <a:pt x="65" y="100"/>
                    </a:lnTo>
                    <a:lnTo>
                      <a:pt x="60" y="126"/>
                    </a:lnTo>
                    <a:lnTo>
                      <a:pt x="56" y="152"/>
                    </a:lnTo>
                    <a:lnTo>
                      <a:pt x="43" y="178"/>
                    </a:lnTo>
                    <a:lnTo>
                      <a:pt x="26" y="200"/>
                    </a:lnTo>
                    <a:lnTo>
                      <a:pt x="26" y="200"/>
                    </a:lnTo>
                    <a:lnTo>
                      <a:pt x="13" y="204"/>
                    </a:lnTo>
                    <a:lnTo>
                      <a:pt x="4" y="200"/>
                    </a:lnTo>
                    <a:lnTo>
                      <a:pt x="4" y="200"/>
                    </a:lnTo>
                    <a:lnTo>
                      <a:pt x="0" y="187"/>
                    </a:lnTo>
                    <a:lnTo>
                      <a:pt x="4" y="178"/>
                    </a:lnTo>
                    <a:lnTo>
                      <a:pt x="4" y="178"/>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3" name="Freeform 101">
                <a:extLst>
                  <a:ext uri="{FF2B5EF4-FFF2-40B4-BE49-F238E27FC236}">
                    <a16:creationId xmlns:a16="http://schemas.microsoft.com/office/drawing/2014/main" xmlns="" id="{F1869AE1-57D8-439C-9A12-AE541D456464}"/>
                  </a:ext>
                </a:extLst>
              </p:cNvPr>
              <p:cNvSpPr>
                <a:spLocks/>
              </p:cNvSpPr>
              <p:nvPr/>
            </p:nvSpPr>
            <p:spPr bwMode="gray">
              <a:xfrm>
                <a:off x="13750925" y="2625725"/>
                <a:ext cx="80962" cy="227013"/>
              </a:xfrm>
              <a:custGeom>
                <a:avLst/>
                <a:gdLst/>
                <a:ahLst/>
                <a:cxnLst>
                  <a:cxn ang="0">
                    <a:pos x="4" y="117"/>
                  </a:cxn>
                  <a:cxn ang="0">
                    <a:pos x="4" y="117"/>
                  </a:cxn>
                  <a:cxn ang="0">
                    <a:pos x="12" y="108"/>
                  </a:cxn>
                  <a:cxn ang="0">
                    <a:pos x="21" y="95"/>
                  </a:cxn>
                  <a:cxn ang="0">
                    <a:pos x="25" y="69"/>
                  </a:cxn>
                  <a:cxn ang="0">
                    <a:pos x="21" y="47"/>
                  </a:cxn>
                  <a:cxn ang="0">
                    <a:pos x="12" y="34"/>
                  </a:cxn>
                  <a:cxn ang="0">
                    <a:pos x="4" y="21"/>
                  </a:cxn>
                  <a:cxn ang="0">
                    <a:pos x="4" y="21"/>
                  </a:cxn>
                  <a:cxn ang="0">
                    <a:pos x="0" y="13"/>
                  </a:cxn>
                  <a:cxn ang="0">
                    <a:pos x="4" y="4"/>
                  </a:cxn>
                  <a:cxn ang="0">
                    <a:pos x="4" y="4"/>
                  </a:cxn>
                  <a:cxn ang="0">
                    <a:pos x="12" y="0"/>
                  </a:cxn>
                  <a:cxn ang="0">
                    <a:pos x="25" y="4"/>
                  </a:cxn>
                  <a:cxn ang="0">
                    <a:pos x="25" y="4"/>
                  </a:cxn>
                  <a:cxn ang="0">
                    <a:pos x="34" y="17"/>
                  </a:cxn>
                  <a:cxn ang="0">
                    <a:pos x="43" y="34"/>
                  </a:cxn>
                  <a:cxn ang="0">
                    <a:pos x="51" y="52"/>
                  </a:cxn>
                  <a:cxn ang="0">
                    <a:pos x="51" y="69"/>
                  </a:cxn>
                  <a:cxn ang="0">
                    <a:pos x="51" y="86"/>
                  </a:cxn>
                  <a:cxn ang="0">
                    <a:pos x="43" y="104"/>
                  </a:cxn>
                  <a:cxn ang="0">
                    <a:pos x="34" y="121"/>
                  </a:cxn>
                  <a:cxn ang="0">
                    <a:pos x="25" y="138"/>
                  </a:cxn>
                  <a:cxn ang="0">
                    <a:pos x="25" y="138"/>
                  </a:cxn>
                  <a:cxn ang="0">
                    <a:pos x="12" y="143"/>
                  </a:cxn>
                  <a:cxn ang="0">
                    <a:pos x="4" y="138"/>
                  </a:cxn>
                  <a:cxn ang="0">
                    <a:pos x="4" y="138"/>
                  </a:cxn>
                  <a:cxn ang="0">
                    <a:pos x="0" y="125"/>
                  </a:cxn>
                  <a:cxn ang="0">
                    <a:pos x="4" y="117"/>
                  </a:cxn>
                  <a:cxn ang="0">
                    <a:pos x="4" y="117"/>
                  </a:cxn>
                </a:cxnLst>
                <a:rect l="0" t="0" r="r" b="b"/>
                <a:pathLst>
                  <a:path w="51" h="143">
                    <a:moveTo>
                      <a:pt x="4" y="117"/>
                    </a:moveTo>
                    <a:lnTo>
                      <a:pt x="4" y="117"/>
                    </a:lnTo>
                    <a:lnTo>
                      <a:pt x="12" y="108"/>
                    </a:lnTo>
                    <a:lnTo>
                      <a:pt x="21" y="95"/>
                    </a:lnTo>
                    <a:lnTo>
                      <a:pt x="25" y="69"/>
                    </a:lnTo>
                    <a:lnTo>
                      <a:pt x="21" y="47"/>
                    </a:lnTo>
                    <a:lnTo>
                      <a:pt x="12" y="34"/>
                    </a:lnTo>
                    <a:lnTo>
                      <a:pt x="4" y="21"/>
                    </a:lnTo>
                    <a:lnTo>
                      <a:pt x="4" y="21"/>
                    </a:lnTo>
                    <a:lnTo>
                      <a:pt x="0" y="13"/>
                    </a:lnTo>
                    <a:lnTo>
                      <a:pt x="4" y="4"/>
                    </a:lnTo>
                    <a:lnTo>
                      <a:pt x="4" y="4"/>
                    </a:lnTo>
                    <a:lnTo>
                      <a:pt x="12" y="0"/>
                    </a:lnTo>
                    <a:lnTo>
                      <a:pt x="25" y="4"/>
                    </a:lnTo>
                    <a:lnTo>
                      <a:pt x="25" y="4"/>
                    </a:lnTo>
                    <a:lnTo>
                      <a:pt x="34" y="17"/>
                    </a:lnTo>
                    <a:lnTo>
                      <a:pt x="43" y="34"/>
                    </a:lnTo>
                    <a:lnTo>
                      <a:pt x="51" y="52"/>
                    </a:lnTo>
                    <a:lnTo>
                      <a:pt x="51" y="69"/>
                    </a:lnTo>
                    <a:lnTo>
                      <a:pt x="51" y="86"/>
                    </a:lnTo>
                    <a:lnTo>
                      <a:pt x="43" y="104"/>
                    </a:lnTo>
                    <a:lnTo>
                      <a:pt x="34" y="121"/>
                    </a:lnTo>
                    <a:lnTo>
                      <a:pt x="25" y="138"/>
                    </a:lnTo>
                    <a:lnTo>
                      <a:pt x="25" y="138"/>
                    </a:lnTo>
                    <a:lnTo>
                      <a:pt x="12" y="143"/>
                    </a:lnTo>
                    <a:lnTo>
                      <a:pt x="4" y="138"/>
                    </a:lnTo>
                    <a:lnTo>
                      <a:pt x="4" y="138"/>
                    </a:lnTo>
                    <a:lnTo>
                      <a:pt x="0" y="125"/>
                    </a:lnTo>
                    <a:lnTo>
                      <a:pt x="4" y="117"/>
                    </a:lnTo>
                    <a:lnTo>
                      <a:pt x="4" y="117"/>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4" name="Freeform 102">
                <a:extLst>
                  <a:ext uri="{FF2B5EF4-FFF2-40B4-BE49-F238E27FC236}">
                    <a16:creationId xmlns:a16="http://schemas.microsoft.com/office/drawing/2014/main" xmlns="" id="{FE678CEE-8F76-4551-BEB2-1161FCAF7658}"/>
                  </a:ext>
                </a:extLst>
              </p:cNvPr>
              <p:cNvSpPr>
                <a:spLocks/>
              </p:cNvSpPr>
              <p:nvPr/>
            </p:nvSpPr>
            <p:spPr bwMode="gray">
              <a:xfrm>
                <a:off x="13406438" y="2576512"/>
                <a:ext cx="96837" cy="323850"/>
              </a:xfrm>
              <a:custGeom>
                <a:avLst/>
                <a:gdLst/>
                <a:ahLst/>
                <a:cxnLst>
                  <a:cxn ang="0">
                    <a:pos x="56" y="26"/>
                  </a:cxn>
                  <a:cxn ang="0">
                    <a:pos x="56" y="26"/>
                  </a:cxn>
                  <a:cxn ang="0">
                    <a:pos x="43" y="39"/>
                  </a:cxn>
                  <a:cxn ang="0">
                    <a:pos x="35" y="61"/>
                  </a:cxn>
                  <a:cxn ang="0">
                    <a:pos x="26" y="83"/>
                  </a:cxn>
                  <a:cxn ang="0">
                    <a:pos x="26" y="100"/>
                  </a:cxn>
                  <a:cxn ang="0">
                    <a:pos x="26" y="100"/>
                  </a:cxn>
                  <a:cxn ang="0">
                    <a:pos x="26" y="122"/>
                  </a:cxn>
                  <a:cxn ang="0">
                    <a:pos x="35" y="143"/>
                  </a:cxn>
                  <a:cxn ang="0">
                    <a:pos x="43" y="161"/>
                  </a:cxn>
                  <a:cxn ang="0">
                    <a:pos x="56" y="178"/>
                  </a:cxn>
                  <a:cxn ang="0">
                    <a:pos x="56" y="178"/>
                  </a:cxn>
                  <a:cxn ang="0">
                    <a:pos x="61" y="187"/>
                  </a:cxn>
                  <a:cxn ang="0">
                    <a:pos x="56" y="200"/>
                  </a:cxn>
                  <a:cxn ang="0">
                    <a:pos x="56" y="200"/>
                  </a:cxn>
                  <a:cxn ang="0">
                    <a:pos x="48" y="204"/>
                  </a:cxn>
                  <a:cxn ang="0">
                    <a:pos x="39" y="200"/>
                  </a:cxn>
                  <a:cxn ang="0">
                    <a:pos x="39" y="200"/>
                  </a:cxn>
                  <a:cxn ang="0">
                    <a:pos x="22" y="178"/>
                  </a:cxn>
                  <a:cxn ang="0">
                    <a:pos x="9" y="152"/>
                  </a:cxn>
                  <a:cxn ang="0">
                    <a:pos x="0" y="126"/>
                  </a:cxn>
                  <a:cxn ang="0">
                    <a:pos x="0" y="100"/>
                  </a:cxn>
                  <a:cxn ang="0">
                    <a:pos x="0" y="74"/>
                  </a:cxn>
                  <a:cxn ang="0">
                    <a:pos x="9" y="48"/>
                  </a:cxn>
                  <a:cxn ang="0">
                    <a:pos x="22" y="26"/>
                  </a:cxn>
                  <a:cxn ang="0">
                    <a:pos x="39" y="5"/>
                  </a:cxn>
                  <a:cxn ang="0">
                    <a:pos x="39" y="5"/>
                  </a:cxn>
                  <a:cxn ang="0">
                    <a:pos x="48" y="0"/>
                  </a:cxn>
                  <a:cxn ang="0">
                    <a:pos x="56" y="5"/>
                  </a:cxn>
                  <a:cxn ang="0">
                    <a:pos x="56" y="5"/>
                  </a:cxn>
                  <a:cxn ang="0">
                    <a:pos x="61" y="13"/>
                  </a:cxn>
                  <a:cxn ang="0">
                    <a:pos x="56" y="26"/>
                  </a:cxn>
                  <a:cxn ang="0">
                    <a:pos x="56" y="26"/>
                  </a:cxn>
                </a:cxnLst>
                <a:rect l="0" t="0" r="r" b="b"/>
                <a:pathLst>
                  <a:path w="61" h="204">
                    <a:moveTo>
                      <a:pt x="56" y="26"/>
                    </a:moveTo>
                    <a:lnTo>
                      <a:pt x="56" y="26"/>
                    </a:lnTo>
                    <a:lnTo>
                      <a:pt x="43" y="39"/>
                    </a:lnTo>
                    <a:lnTo>
                      <a:pt x="35" y="61"/>
                    </a:lnTo>
                    <a:lnTo>
                      <a:pt x="26" y="83"/>
                    </a:lnTo>
                    <a:lnTo>
                      <a:pt x="26" y="100"/>
                    </a:lnTo>
                    <a:lnTo>
                      <a:pt x="26" y="100"/>
                    </a:lnTo>
                    <a:lnTo>
                      <a:pt x="26" y="122"/>
                    </a:lnTo>
                    <a:lnTo>
                      <a:pt x="35" y="143"/>
                    </a:lnTo>
                    <a:lnTo>
                      <a:pt x="43" y="161"/>
                    </a:lnTo>
                    <a:lnTo>
                      <a:pt x="56" y="178"/>
                    </a:lnTo>
                    <a:lnTo>
                      <a:pt x="56" y="178"/>
                    </a:lnTo>
                    <a:lnTo>
                      <a:pt x="61" y="187"/>
                    </a:lnTo>
                    <a:lnTo>
                      <a:pt x="56" y="200"/>
                    </a:lnTo>
                    <a:lnTo>
                      <a:pt x="56" y="200"/>
                    </a:lnTo>
                    <a:lnTo>
                      <a:pt x="48" y="204"/>
                    </a:lnTo>
                    <a:lnTo>
                      <a:pt x="39" y="200"/>
                    </a:lnTo>
                    <a:lnTo>
                      <a:pt x="39" y="200"/>
                    </a:lnTo>
                    <a:lnTo>
                      <a:pt x="22" y="178"/>
                    </a:lnTo>
                    <a:lnTo>
                      <a:pt x="9" y="152"/>
                    </a:lnTo>
                    <a:lnTo>
                      <a:pt x="0" y="126"/>
                    </a:lnTo>
                    <a:lnTo>
                      <a:pt x="0" y="100"/>
                    </a:lnTo>
                    <a:lnTo>
                      <a:pt x="0" y="74"/>
                    </a:lnTo>
                    <a:lnTo>
                      <a:pt x="9" y="48"/>
                    </a:lnTo>
                    <a:lnTo>
                      <a:pt x="22" y="26"/>
                    </a:lnTo>
                    <a:lnTo>
                      <a:pt x="39" y="5"/>
                    </a:lnTo>
                    <a:lnTo>
                      <a:pt x="39" y="5"/>
                    </a:lnTo>
                    <a:lnTo>
                      <a:pt x="48" y="0"/>
                    </a:lnTo>
                    <a:lnTo>
                      <a:pt x="56" y="5"/>
                    </a:lnTo>
                    <a:lnTo>
                      <a:pt x="56" y="5"/>
                    </a:lnTo>
                    <a:lnTo>
                      <a:pt x="61" y="13"/>
                    </a:lnTo>
                    <a:lnTo>
                      <a:pt x="56" y="26"/>
                    </a:lnTo>
                    <a:lnTo>
                      <a:pt x="56" y="26"/>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5" name="Freeform 103">
                <a:extLst>
                  <a:ext uri="{FF2B5EF4-FFF2-40B4-BE49-F238E27FC236}">
                    <a16:creationId xmlns:a16="http://schemas.microsoft.com/office/drawing/2014/main" xmlns="" id="{770BBFC8-490C-4F38-8520-D7C66C9C629E}"/>
                  </a:ext>
                </a:extLst>
              </p:cNvPr>
              <p:cNvSpPr>
                <a:spLocks/>
              </p:cNvSpPr>
              <p:nvPr/>
            </p:nvSpPr>
            <p:spPr bwMode="gray">
              <a:xfrm>
                <a:off x="13468350" y="2625725"/>
                <a:ext cx="82550" cy="227013"/>
              </a:xfrm>
              <a:custGeom>
                <a:avLst/>
                <a:gdLst/>
                <a:ahLst/>
                <a:cxnLst>
                  <a:cxn ang="0">
                    <a:pos x="48" y="21"/>
                  </a:cxn>
                  <a:cxn ang="0">
                    <a:pos x="48" y="21"/>
                  </a:cxn>
                  <a:cxn ang="0">
                    <a:pos x="39" y="34"/>
                  </a:cxn>
                  <a:cxn ang="0">
                    <a:pos x="35" y="47"/>
                  </a:cxn>
                  <a:cxn ang="0">
                    <a:pos x="30" y="69"/>
                  </a:cxn>
                  <a:cxn ang="0">
                    <a:pos x="35" y="95"/>
                  </a:cxn>
                  <a:cxn ang="0">
                    <a:pos x="39" y="108"/>
                  </a:cxn>
                  <a:cxn ang="0">
                    <a:pos x="48" y="117"/>
                  </a:cxn>
                  <a:cxn ang="0">
                    <a:pos x="48" y="117"/>
                  </a:cxn>
                  <a:cxn ang="0">
                    <a:pos x="52" y="125"/>
                  </a:cxn>
                  <a:cxn ang="0">
                    <a:pos x="48" y="138"/>
                  </a:cxn>
                  <a:cxn ang="0">
                    <a:pos x="48" y="138"/>
                  </a:cxn>
                  <a:cxn ang="0">
                    <a:pos x="39" y="143"/>
                  </a:cxn>
                  <a:cxn ang="0">
                    <a:pos x="30" y="138"/>
                  </a:cxn>
                  <a:cxn ang="0">
                    <a:pos x="30" y="138"/>
                  </a:cxn>
                  <a:cxn ang="0">
                    <a:pos x="17" y="121"/>
                  </a:cxn>
                  <a:cxn ang="0">
                    <a:pos x="9" y="104"/>
                  </a:cxn>
                  <a:cxn ang="0">
                    <a:pos x="4" y="86"/>
                  </a:cxn>
                  <a:cxn ang="0">
                    <a:pos x="0" y="69"/>
                  </a:cxn>
                  <a:cxn ang="0">
                    <a:pos x="4" y="52"/>
                  </a:cxn>
                  <a:cxn ang="0">
                    <a:pos x="9" y="34"/>
                  </a:cxn>
                  <a:cxn ang="0">
                    <a:pos x="17" y="17"/>
                  </a:cxn>
                  <a:cxn ang="0">
                    <a:pos x="30" y="4"/>
                  </a:cxn>
                  <a:cxn ang="0">
                    <a:pos x="30" y="4"/>
                  </a:cxn>
                  <a:cxn ang="0">
                    <a:pos x="39" y="0"/>
                  </a:cxn>
                  <a:cxn ang="0">
                    <a:pos x="48" y="4"/>
                  </a:cxn>
                  <a:cxn ang="0">
                    <a:pos x="48" y="4"/>
                  </a:cxn>
                  <a:cxn ang="0">
                    <a:pos x="52" y="13"/>
                  </a:cxn>
                  <a:cxn ang="0">
                    <a:pos x="48" y="21"/>
                  </a:cxn>
                  <a:cxn ang="0">
                    <a:pos x="48" y="21"/>
                  </a:cxn>
                </a:cxnLst>
                <a:rect l="0" t="0" r="r" b="b"/>
                <a:pathLst>
                  <a:path w="52" h="143">
                    <a:moveTo>
                      <a:pt x="48" y="21"/>
                    </a:moveTo>
                    <a:lnTo>
                      <a:pt x="48" y="21"/>
                    </a:lnTo>
                    <a:lnTo>
                      <a:pt x="39" y="34"/>
                    </a:lnTo>
                    <a:lnTo>
                      <a:pt x="35" y="47"/>
                    </a:lnTo>
                    <a:lnTo>
                      <a:pt x="30" y="69"/>
                    </a:lnTo>
                    <a:lnTo>
                      <a:pt x="35" y="95"/>
                    </a:lnTo>
                    <a:lnTo>
                      <a:pt x="39" y="108"/>
                    </a:lnTo>
                    <a:lnTo>
                      <a:pt x="48" y="117"/>
                    </a:lnTo>
                    <a:lnTo>
                      <a:pt x="48" y="117"/>
                    </a:lnTo>
                    <a:lnTo>
                      <a:pt x="52" y="125"/>
                    </a:lnTo>
                    <a:lnTo>
                      <a:pt x="48" y="138"/>
                    </a:lnTo>
                    <a:lnTo>
                      <a:pt x="48" y="138"/>
                    </a:lnTo>
                    <a:lnTo>
                      <a:pt x="39" y="143"/>
                    </a:lnTo>
                    <a:lnTo>
                      <a:pt x="30" y="138"/>
                    </a:lnTo>
                    <a:lnTo>
                      <a:pt x="30" y="138"/>
                    </a:lnTo>
                    <a:lnTo>
                      <a:pt x="17" y="121"/>
                    </a:lnTo>
                    <a:lnTo>
                      <a:pt x="9" y="104"/>
                    </a:lnTo>
                    <a:lnTo>
                      <a:pt x="4" y="86"/>
                    </a:lnTo>
                    <a:lnTo>
                      <a:pt x="0" y="69"/>
                    </a:lnTo>
                    <a:lnTo>
                      <a:pt x="4" y="52"/>
                    </a:lnTo>
                    <a:lnTo>
                      <a:pt x="9" y="34"/>
                    </a:lnTo>
                    <a:lnTo>
                      <a:pt x="17" y="17"/>
                    </a:lnTo>
                    <a:lnTo>
                      <a:pt x="30" y="4"/>
                    </a:lnTo>
                    <a:lnTo>
                      <a:pt x="30" y="4"/>
                    </a:lnTo>
                    <a:lnTo>
                      <a:pt x="39" y="0"/>
                    </a:lnTo>
                    <a:lnTo>
                      <a:pt x="48" y="4"/>
                    </a:lnTo>
                    <a:lnTo>
                      <a:pt x="48" y="4"/>
                    </a:lnTo>
                    <a:lnTo>
                      <a:pt x="52" y="13"/>
                    </a:lnTo>
                    <a:lnTo>
                      <a:pt x="48" y="21"/>
                    </a:lnTo>
                    <a:lnTo>
                      <a:pt x="48"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6" name="Freeform 104">
                <a:extLst>
                  <a:ext uri="{FF2B5EF4-FFF2-40B4-BE49-F238E27FC236}">
                    <a16:creationId xmlns:a16="http://schemas.microsoft.com/office/drawing/2014/main" xmlns="" id="{5C52DA06-B3E5-481F-8B69-E29C3BCFF4FB}"/>
                  </a:ext>
                </a:extLst>
              </p:cNvPr>
              <p:cNvSpPr>
                <a:spLocks/>
              </p:cNvSpPr>
              <p:nvPr/>
            </p:nvSpPr>
            <p:spPr bwMode="gray">
              <a:xfrm>
                <a:off x="13619163" y="2782887"/>
                <a:ext cx="76200" cy="295275"/>
              </a:xfrm>
              <a:custGeom>
                <a:avLst/>
                <a:gdLst/>
                <a:ahLst/>
                <a:cxnLst>
                  <a:cxn ang="0">
                    <a:pos x="48" y="173"/>
                  </a:cxn>
                  <a:cxn ang="0">
                    <a:pos x="48" y="173"/>
                  </a:cxn>
                  <a:cxn ang="0">
                    <a:pos x="48" y="182"/>
                  </a:cxn>
                  <a:cxn ang="0">
                    <a:pos x="39" y="186"/>
                  </a:cxn>
                  <a:cxn ang="0">
                    <a:pos x="13" y="186"/>
                  </a:cxn>
                  <a:cxn ang="0">
                    <a:pos x="13" y="186"/>
                  </a:cxn>
                  <a:cxn ang="0">
                    <a:pos x="5" y="182"/>
                  </a:cxn>
                  <a:cxn ang="0">
                    <a:pos x="0" y="173"/>
                  </a:cxn>
                  <a:cxn ang="0">
                    <a:pos x="0" y="9"/>
                  </a:cxn>
                  <a:cxn ang="0">
                    <a:pos x="0" y="9"/>
                  </a:cxn>
                  <a:cxn ang="0">
                    <a:pos x="5" y="5"/>
                  </a:cxn>
                  <a:cxn ang="0">
                    <a:pos x="13" y="0"/>
                  </a:cxn>
                  <a:cxn ang="0">
                    <a:pos x="39" y="0"/>
                  </a:cxn>
                  <a:cxn ang="0">
                    <a:pos x="39" y="0"/>
                  </a:cxn>
                  <a:cxn ang="0">
                    <a:pos x="48" y="5"/>
                  </a:cxn>
                  <a:cxn ang="0">
                    <a:pos x="48" y="9"/>
                  </a:cxn>
                  <a:cxn ang="0">
                    <a:pos x="48" y="173"/>
                  </a:cxn>
                </a:cxnLst>
                <a:rect l="0" t="0" r="r" b="b"/>
                <a:pathLst>
                  <a:path w="48" h="186">
                    <a:moveTo>
                      <a:pt x="48" y="173"/>
                    </a:moveTo>
                    <a:lnTo>
                      <a:pt x="48" y="173"/>
                    </a:lnTo>
                    <a:lnTo>
                      <a:pt x="48" y="182"/>
                    </a:lnTo>
                    <a:lnTo>
                      <a:pt x="39" y="186"/>
                    </a:lnTo>
                    <a:lnTo>
                      <a:pt x="13" y="186"/>
                    </a:lnTo>
                    <a:lnTo>
                      <a:pt x="13" y="186"/>
                    </a:lnTo>
                    <a:lnTo>
                      <a:pt x="5" y="182"/>
                    </a:lnTo>
                    <a:lnTo>
                      <a:pt x="0" y="173"/>
                    </a:lnTo>
                    <a:lnTo>
                      <a:pt x="0" y="9"/>
                    </a:lnTo>
                    <a:lnTo>
                      <a:pt x="0" y="9"/>
                    </a:lnTo>
                    <a:lnTo>
                      <a:pt x="5" y="5"/>
                    </a:lnTo>
                    <a:lnTo>
                      <a:pt x="13" y="0"/>
                    </a:lnTo>
                    <a:lnTo>
                      <a:pt x="39" y="0"/>
                    </a:lnTo>
                    <a:lnTo>
                      <a:pt x="39" y="0"/>
                    </a:lnTo>
                    <a:lnTo>
                      <a:pt x="48" y="5"/>
                    </a:lnTo>
                    <a:lnTo>
                      <a:pt x="48" y="9"/>
                    </a:lnTo>
                    <a:lnTo>
                      <a:pt x="48" y="173"/>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7" name="Freeform 105">
                <a:extLst>
                  <a:ext uri="{FF2B5EF4-FFF2-40B4-BE49-F238E27FC236}">
                    <a16:creationId xmlns:a16="http://schemas.microsoft.com/office/drawing/2014/main" xmlns="" id="{29570199-8D43-4FFA-9D6C-66B2CF6622D8}"/>
                  </a:ext>
                </a:extLst>
              </p:cNvPr>
              <p:cNvSpPr>
                <a:spLocks/>
              </p:cNvSpPr>
              <p:nvPr/>
            </p:nvSpPr>
            <p:spPr bwMode="gray">
              <a:xfrm>
                <a:off x="13577888" y="2667000"/>
                <a:ext cx="158750" cy="165100"/>
              </a:xfrm>
              <a:custGeom>
                <a:avLst/>
                <a:gdLst/>
                <a:ahLst/>
                <a:cxnLst>
                  <a:cxn ang="0">
                    <a:pos x="100" y="52"/>
                  </a:cxn>
                  <a:cxn ang="0">
                    <a:pos x="100" y="52"/>
                  </a:cxn>
                  <a:cxn ang="0">
                    <a:pos x="96" y="73"/>
                  </a:cxn>
                  <a:cxn ang="0">
                    <a:pos x="87" y="86"/>
                  </a:cxn>
                  <a:cxn ang="0">
                    <a:pos x="70" y="99"/>
                  </a:cxn>
                  <a:cxn ang="0">
                    <a:pos x="52" y="104"/>
                  </a:cxn>
                  <a:cxn ang="0">
                    <a:pos x="52" y="104"/>
                  </a:cxn>
                  <a:cxn ang="0">
                    <a:pos x="31" y="99"/>
                  </a:cxn>
                  <a:cxn ang="0">
                    <a:pos x="18" y="86"/>
                  </a:cxn>
                  <a:cxn ang="0">
                    <a:pos x="5" y="73"/>
                  </a:cxn>
                  <a:cxn ang="0">
                    <a:pos x="0" y="52"/>
                  </a:cxn>
                  <a:cxn ang="0">
                    <a:pos x="0" y="52"/>
                  </a:cxn>
                  <a:cxn ang="0">
                    <a:pos x="5" y="34"/>
                  </a:cxn>
                  <a:cxn ang="0">
                    <a:pos x="18" y="17"/>
                  </a:cxn>
                  <a:cxn ang="0">
                    <a:pos x="31" y="4"/>
                  </a:cxn>
                  <a:cxn ang="0">
                    <a:pos x="52" y="0"/>
                  </a:cxn>
                  <a:cxn ang="0">
                    <a:pos x="52" y="0"/>
                  </a:cxn>
                  <a:cxn ang="0">
                    <a:pos x="70" y="4"/>
                  </a:cxn>
                  <a:cxn ang="0">
                    <a:pos x="87" y="17"/>
                  </a:cxn>
                  <a:cxn ang="0">
                    <a:pos x="96" y="34"/>
                  </a:cxn>
                  <a:cxn ang="0">
                    <a:pos x="100" y="52"/>
                  </a:cxn>
                  <a:cxn ang="0">
                    <a:pos x="100" y="52"/>
                  </a:cxn>
                </a:cxnLst>
                <a:rect l="0" t="0" r="r" b="b"/>
                <a:pathLst>
                  <a:path w="100" h="104">
                    <a:moveTo>
                      <a:pt x="100" y="52"/>
                    </a:moveTo>
                    <a:lnTo>
                      <a:pt x="100" y="52"/>
                    </a:lnTo>
                    <a:lnTo>
                      <a:pt x="96" y="73"/>
                    </a:lnTo>
                    <a:lnTo>
                      <a:pt x="87" y="86"/>
                    </a:lnTo>
                    <a:lnTo>
                      <a:pt x="70" y="99"/>
                    </a:lnTo>
                    <a:lnTo>
                      <a:pt x="52" y="104"/>
                    </a:lnTo>
                    <a:lnTo>
                      <a:pt x="52" y="104"/>
                    </a:lnTo>
                    <a:lnTo>
                      <a:pt x="31" y="99"/>
                    </a:lnTo>
                    <a:lnTo>
                      <a:pt x="18" y="86"/>
                    </a:lnTo>
                    <a:lnTo>
                      <a:pt x="5" y="73"/>
                    </a:lnTo>
                    <a:lnTo>
                      <a:pt x="0" y="52"/>
                    </a:lnTo>
                    <a:lnTo>
                      <a:pt x="0" y="52"/>
                    </a:lnTo>
                    <a:lnTo>
                      <a:pt x="5" y="34"/>
                    </a:lnTo>
                    <a:lnTo>
                      <a:pt x="18" y="17"/>
                    </a:lnTo>
                    <a:lnTo>
                      <a:pt x="31" y="4"/>
                    </a:lnTo>
                    <a:lnTo>
                      <a:pt x="52" y="0"/>
                    </a:lnTo>
                    <a:lnTo>
                      <a:pt x="52" y="0"/>
                    </a:lnTo>
                    <a:lnTo>
                      <a:pt x="70" y="4"/>
                    </a:lnTo>
                    <a:lnTo>
                      <a:pt x="87" y="17"/>
                    </a:lnTo>
                    <a:lnTo>
                      <a:pt x="96" y="34"/>
                    </a:lnTo>
                    <a:lnTo>
                      <a:pt x="100" y="52"/>
                    </a:lnTo>
                    <a:lnTo>
                      <a:pt x="100" y="52"/>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8" name="Freeform 106">
                <a:extLst>
                  <a:ext uri="{FF2B5EF4-FFF2-40B4-BE49-F238E27FC236}">
                    <a16:creationId xmlns:a16="http://schemas.microsoft.com/office/drawing/2014/main" xmlns="" id="{F0654912-AC64-4402-ADF2-D1F5A1114FAF}"/>
                  </a:ext>
                </a:extLst>
              </p:cNvPr>
              <p:cNvSpPr>
                <a:spLocks/>
              </p:cNvSpPr>
              <p:nvPr/>
            </p:nvSpPr>
            <p:spPr bwMode="gray">
              <a:xfrm>
                <a:off x="13096875" y="3106737"/>
                <a:ext cx="687387" cy="247650"/>
              </a:xfrm>
              <a:custGeom>
                <a:avLst/>
                <a:gdLst/>
                <a:ahLst/>
                <a:cxnLst>
                  <a:cxn ang="0">
                    <a:pos x="424" y="0"/>
                  </a:cxn>
                  <a:cxn ang="0">
                    <a:pos x="13" y="0"/>
                  </a:cxn>
                  <a:cxn ang="0">
                    <a:pos x="13" y="0"/>
                  </a:cxn>
                  <a:cxn ang="0">
                    <a:pos x="5" y="4"/>
                  </a:cxn>
                  <a:cxn ang="0">
                    <a:pos x="0" y="13"/>
                  </a:cxn>
                  <a:cxn ang="0">
                    <a:pos x="0" y="143"/>
                  </a:cxn>
                  <a:cxn ang="0">
                    <a:pos x="0" y="143"/>
                  </a:cxn>
                  <a:cxn ang="0">
                    <a:pos x="5" y="151"/>
                  </a:cxn>
                  <a:cxn ang="0">
                    <a:pos x="13" y="156"/>
                  </a:cxn>
                  <a:cxn ang="0">
                    <a:pos x="424" y="156"/>
                  </a:cxn>
                  <a:cxn ang="0">
                    <a:pos x="424" y="156"/>
                  </a:cxn>
                  <a:cxn ang="0">
                    <a:pos x="429" y="151"/>
                  </a:cxn>
                  <a:cxn ang="0">
                    <a:pos x="433" y="143"/>
                  </a:cxn>
                  <a:cxn ang="0">
                    <a:pos x="433" y="13"/>
                  </a:cxn>
                  <a:cxn ang="0">
                    <a:pos x="433" y="13"/>
                  </a:cxn>
                  <a:cxn ang="0">
                    <a:pos x="429" y="4"/>
                  </a:cxn>
                  <a:cxn ang="0">
                    <a:pos x="424" y="0"/>
                  </a:cxn>
                  <a:cxn ang="0">
                    <a:pos x="424" y="0"/>
                  </a:cxn>
                </a:cxnLst>
                <a:rect l="0" t="0" r="r" b="b"/>
                <a:pathLst>
                  <a:path w="433" h="156">
                    <a:moveTo>
                      <a:pt x="424" y="0"/>
                    </a:moveTo>
                    <a:lnTo>
                      <a:pt x="13" y="0"/>
                    </a:lnTo>
                    <a:lnTo>
                      <a:pt x="13" y="0"/>
                    </a:lnTo>
                    <a:lnTo>
                      <a:pt x="5" y="4"/>
                    </a:lnTo>
                    <a:lnTo>
                      <a:pt x="0" y="13"/>
                    </a:lnTo>
                    <a:lnTo>
                      <a:pt x="0" y="143"/>
                    </a:lnTo>
                    <a:lnTo>
                      <a:pt x="0" y="143"/>
                    </a:lnTo>
                    <a:lnTo>
                      <a:pt x="5" y="151"/>
                    </a:lnTo>
                    <a:lnTo>
                      <a:pt x="13" y="156"/>
                    </a:lnTo>
                    <a:lnTo>
                      <a:pt x="424" y="156"/>
                    </a:lnTo>
                    <a:lnTo>
                      <a:pt x="424" y="156"/>
                    </a:lnTo>
                    <a:lnTo>
                      <a:pt x="429" y="151"/>
                    </a:lnTo>
                    <a:lnTo>
                      <a:pt x="433" y="143"/>
                    </a:lnTo>
                    <a:lnTo>
                      <a:pt x="433" y="13"/>
                    </a:lnTo>
                    <a:lnTo>
                      <a:pt x="433" y="13"/>
                    </a:lnTo>
                    <a:lnTo>
                      <a:pt x="429" y="4"/>
                    </a:lnTo>
                    <a:lnTo>
                      <a:pt x="424" y="0"/>
                    </a:lnTo>
                    <a:lnTo>
                      <a:pt x="424" y="0"/>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9" name="Freeform 107">
                <a:extLst>
                  <a:ext uri="{FF2B5EF4-FFF2-40B4-BE49-F238E27FC236}">
                    <a16:creationId xmlns:a16="http://schemas.microsoft.com/office/drawing/2014/main" xmlns="" id="{926F1F63-0AB3-457A-86D8-EE0AA9F1AAEC}"/>
                  </a:ext>
                </a:extLst>
              </p:cNvPr>
              <p:cNvSpPr>
                <a:spLocks/>
              </p:cNvSpPr>
              <p:nvPr/>
            </p:nvSpPr>
            <p:spPr bwMode="gray">
              <a:xfrm>
                <a:off x="13146088" y="3148012"/>
                <a:ext cx="74612" cy="74613"/>
              </a:xfrm>
              <a:custGeom>
                <a:avLst/>
                <a:gdLst/>
                <a:ahLst/>
                <a:cxnLst>
                  <a:cxn ang="0">
                    <a:pos x="47" y="21"/>
                  </a:cxn>
                  <a:cxn ang="0">
                    <a:pos x="47" y="21"/>
                  </a:cxn>
                  <a:cxn ang="0">
                    <a:pos x="47" y="30"/>
                  </a:cxn>
                  <a:cxn ang="0">
                    <a:pos x="39" y="39"/>
                  </a:cxn>
                  <a:cxn ang="0">
                    <a:pos x="34" y="43"/>
                  </a:cxn>
                  <a:cxn ang="0">
                    <a:pos x="21" y="47"/>
                  </a:cxn>
                  <a:cxn ang="0">
                    <a:pos x="21" y="47"/>
                  </a:cxn>
                  <a:cxn ang="0">
                    <a:pos x="13" y="43"/>
                  </a:cxn>
                  <a:cxn ang="0">
                    <a:pos x="4" y="39"/>
                  </a:cxn>
                  <a:cxn ang="0">
                    <a:pos x="0" y="30"/>
                  </a:cxn>
                  <a:cxn ang="0">
                    <a:pos x="0" y="21"/>
                  </a:cxn>
                  <a:cxn ang="0">
                    <a:pos x="0" y="21"/>
                  </a:cxn>
                  <a:cxn ang="0">
                    <a:pos x="0" y="13"/>
                  </a:cxn>
                  <a:cxn ang="0">
                    <a:pos x="4" y="4"/>
                  </a:cxn>
                  <a:cxn ang="0">
                    <a:pos x="13" y="0"/>
                  </a:cxn>
                  <a:cxn ang="0">
                    <a:pos x="21" y="0"/>
                  </a:cxn>
                  <a:cxn ang="0">
                    <a:pos x="21" y="0"/>
                  </a:cxn>
                  <a:cxn ang="0">
                    <a:pos x="34" y="0"/>
                  </a:cxn>
                  <a:cxn ang="0">
                    <a:pos x="39" y="4"/>
                  </a:cxn>
                  <a:cxn ang="0">
                    <a:pos x="47" y="13"/>
                  </a:cxn>
                  <a:cxn ang="0">
                    <a:pos x="47" y="21"/>
                  </a:cxn>
                  <a:cxn ang="0">
                    <a:pos x="47" y="21"/>
                  </a:cxn>
                </a:cxnLst>
                <a:rect l="0" t="0" r="r" b="b"/>
                <a:pathLst>
                  <a:path w="47" h="47">
                    <a:moveTo>
                      <a:pt x="47" y="21"/>
                    </a:moveTo>
                    <a:lnTo>
                      <a:pt x="47" y="21"/>
                    </a:lnTo>
                    <a:lnTo>
                      <a:pt x="47" y="30"/>
                    </a:lnTo>
                    <a:lnTo>
                      <a:pt x="39" y="39"/>
                    </a:lnTo>
                    <a:lnTo>
                      <a:pt x="34" y="43"/>
                    </a:lnTo>
                    <a:lnTo>
                      <a:pt x="21" y="47"/>
                    </a:lnTo>
                    <a:lnTo>
                      <a:pt x="21" y="47"/>
                    </a:lnTo>
                    <a:lnTo>
                      <a:pt x="13" y="43"/>
                    </a:lnTo>
                    <a:lnTo>
                      <a:pt x="4" y="39"/>
                    </a:lnTo>
                    <a:lnTo>
                      <a:pt x="0" y="30"/>
                    </a:lnTo>
                    <a:lnTo>
                      <a:pt x="0" y="21"/>
                    </a:lnTo>
                    <a:lnTo>
                      <a:pt x="0" y="21"/>
                    </a:lnTo>
                    <a:lnTo>
                      <a:pt x="0" y="13"/>
                    </a:lnTo>
                    <a:lnTo>
                      <a:pt x="4" y="4"/>
                    </a:lnTo>
                    <a:lnTo>
                      <a:pt x="13" y="0"/>
                    </a:lnTo>
                    <a:lnTo>
                      <a:pt x="21" y="0"/>
                    </a:lnTo>
                    <a:lnTo>
                      <a:pt x="21" y="0"/>
                    </a:lnTo>
                    <a:lnTo>
                      <a:pt x="34" y="0"/>
                    </a:lnTo>
                    <a:lnTo>
                      <a:pt x="39" y="4"/>
                    </a:lnTo>
                    <a:lnTo>
                      <a:pt x="47" y="13"/>
                    </a:lnTo>
                    <a:lnTo>
                      <a:pt x="47" y="21"/>
                    </a:lnTo>
                    <a:lnTo>
                      <a:pt x="47"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0" name="Freeform 108">
                <a:extLst>
                  <a:ext uri="{FF2B5EF4-FFF2-40B4-BE49-F238E27FC236}">
                    <a16:creationId xmlns:a16="http://schemas.microsoft.com/office/drawing/2014/main" xmlns="" id="{A90E9973-FF0D-440F-BF1B-030D28B3A6A8}"/>
                  </a:ext>
                </a:extLst>
              </p:cNvPr>
              <p:cNvSpPr>
                <a:spLocks/>
              </p:cNvSpPr>
              <p:nvPr/>
            </p:nvSpPr>
            <p:spPr bwMode="gray">
              <a:xfrm>
                <a:off x="13255625" y="3148012"/>
                <a:ext cx="74612" cy="74613"/>
              </a:xfrm>
              <a:custGeom>
                <a:avLst/>
                <a:gdLst/>
                <a:ahLst/>
                <a:cxnLst>
                  <a:cxn ang="0">
                    <a:pos x="47" y="21"/>
                  </a:cxn>
                  <a:cxn ang="0">
                    <a:pos x="47" y="21"/>
                  </a:cxn>
                  <a:cxn ang="0">
                    <a:pos x="47" y="30"/>
                  </a:cxn>
                  <a:cxn ang="0">
                    <a:pos x="43" y="39"/>
                  </a:cxn>
                  <a:cxn ang="0">
                    <a:pos x="35" y="43"/>
                  </a:cxn>
                  <a:cxn ang="0">
                    <a:pos x="26" y="47"/>
                  </a:cxn>
                  <a:cxn ang="0">
                    <a:pos x="26" y="47"/>
                  </a:cxn>
                  <a:cxn ang="0">
                    <a:pos x="17" y="43"/>
                  </a:cxn>
                  <a:cxn ang="0">
                    <a:pos x="9" y="39"/>
                  </a:cxn>
                  <a:cxn ang="0">
                    <a:pos x="4" y="30"/>
                  </a:cxn>
                  <a:cxn ang="0">
                    <a:pos x="0" y="21"/>
                  </a:cxn>
                  <a:cxn ang="0">
                    <a:pos x="0" y="21"/>
                  </a:cxn>
                  <a:cxn ang="0">
                    <a:pos x="4" y="13"/>
                  </a:cxn>
                  <a:cxn ang="0">
                    <a:pos x="9" y="4"/>
                  </a:cxn>
                  <a:cxn ang="0">
                    <a:pos x="17" y="0"/>
                  </a:cxn>
                  <a:cxn ang="0">
                    <a:pos x="26" y="0"/>
                  </a:cxn>
                  <a:cxn ang="0">
                    <a:pos x="26" y="0"/>
                  </a:cxn>
                  <a:cxn ang="0">
                    <a:pos x="35" y="0"/>
                  </a:cxn>
                  <a:cxn ang="0">
                    <a:pos x="43" y="4"/>
                  </a:cxn>
                  <a:cxn ang="0">
                    <a:pos x="47" y="13"/>
                  </a:cxn>
                  <a:cxn ang="0">
                    <a:pos x="47" y="21"/>
                  </a:cxn>
                  <a:cxn ang="0">
                    <a:pos x="47" y="21"/>
                  </a:cxn>
                </a:cxnLst>
                <a:rect l="0" t="0" r="r" b="b"/>
                <a:pathLst>
                  <a:path w="47" h="47">
                    <a:moveTo>
                      <a:pt x="47" y="21"/>
                    </a:moveTo>
                    <a:lnTo>
                      <a:pt x="47" y="21"/>
                    </a:lnTo>
                    <a:lnTo>
                      <a:pt x="47" y="30"/>
                    </a:lnTo>
                    <a:lnTo>
                      <a:pt x="43" y="39"/>
                    </a:lnTo>
                    <a:lnTo>
                      <a:pt x="35" y="43"/>
                    </a:lnTo>
                    <a:lnTo>
                      <a:pt x="26" y="47"/>
                    </a:lnTo>
                    <a:lnTo>
                      <a:pt x="26" y="47"/>
                    </a:lnTo>
                    <a:lnTo>
                      <a:pt x="17" y="43"/>
                    </a:lnTo>
                    <a:lnTo>
                      <a:pt x="9" y="39"/>
                    </a:lnTo>
                    <a:lnTo>
                      <a:pt x="4" y="30"/>
                    </a:lnTo>
                    <a:lnTo>
                      <a:pt x="0" y="21"/>
                    </a:lnTo>
                    <a:lnTo>
                      <a:pt x="0" y="21"/>
                    </a:lnTo>
                    <a:lnTo>
                      <a:pt x="4" y="13"/>
                    </a:lnTo>
                    <a:lnTo>
                      <a:pt x="9" y="4"/>
                    </a:lnTo>
                    <a:lnTo>
                      <a:pt x="17" y="0"/>
                    </a:lnTo>
                    <a:lnTo>
                      <a:pt x="26" y="0"/>
                    </a:lnTo>
                    <a:lnTo>
                      <a:pt x="26" y="0"/>
                    </a:lnTo>
                    <a:lnTo>
                      <a:pt x="35" y="0"/>
                    </a:lnTo>
                    <a:lnTo>
                      <a:pt x="43" y="4"/>
                    </a:lnTo>
                    <a:lnTo>
                      <a:pt x="47" y="13"/>
                    </a:lnTo>
                    <a:lnTo>
                      <a:pt x="47" y="21"/>
                    </a:lnTo>
                    <a:lnTo>
                      <a:pt x="47"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1" name="Freeform 109">
                <a:extLst>
                  <a:ext uri="{FF2B5EF4-FFF2-40B4-BE49-F238E27FC236}">
                    <a16:creationId xmlns:a16="http://schemas.microsoft.com/office/drawing/2014/main" xmlns="" id="{5D29DBC2-BA26-4D1D-87A0-19F3690B1392}"/>
                  </a:ext>
                </a:extLst>
              </p:cNvPr>
              <p:cNvSpPr>
                <a:spLocks/>
              </p:cNvSpPr>
              <p:nvPr/>
            </p:nvSpPr>
            <p:spPr bwMode="gray">
              <a:xfrm>
                <a:off x="13365163" y="3148012"/>
                <a:ext cx="82550" cy="74613"/>
              </a:xfrm>
              <a:custGeom>
                <a:avLst/>
                <a:gdLst/>
                <a:ahLst/>
                <a:cxnLst>
                  <a:cxn ang="0">
                    <a:pos x="52" y="21"/>
                  </a:cxn>
                  <a:cxn ang="0">
                    <a:pos x="52" y="21"/>
                  </a:cxn>
                  <a:cxn ang="0">
                    <a:pos x="48" y="30"/>
                  </a:cxn>
                  <a:cxn ang="0">
                    <a:pos x="43" y="39"/>
                  </a:cxn>
                  <a:cxn ang="0">
                    <a:pos x="35" y="43"/>
                  </a:cxn>
                  <a:cxn ang="0">
                    <a:pos x="26" y="47"/>
                  </a:cxn>
                  <a:cxn ang="0">
                    <a:pos x="26" y="47"/>
                  </a:cxn>
                  <a:cxn ang="0">
                    <a:pos x="17" y="43"/>
                  </a:cxn>
                  <a:cxn ang="0">
                    <a:pos x="9" y="39"/>
                  </a:cxn>
                  <a:cxn ang="0">
                    <a:pos x="4" y="30"/>
                  </a:cxn>
                  <a:cxn ang="0">
                    <a:pos x="0" y="21"/>
                  </a:cxn>
                  <a:cxn ang="0">
                    <a:pos x="0" y="21"/>
                  </a:cxn>
                  <a:cxn ang="0">
                    <a:pos x="4" y="13"/>
                  </a:cxn>
                  <a:cxn ang="0">
                    <a:pos x="9" y="4"/>
                  </a:cxn>
                  <a:cxn ang="0">
                    <a:pos x="17" y="0"/>
                  </a:cxn>
                  <a:cxn ang="0">
                    <a:pos x="26" y="0"/>
                  </a:cxn>
                  <a:cxn ang="0">
                    <a:pos x="26" y="0"/>
                  </a:cxn>
                  <a:cxn ang="0">
                    <a:pos x="35" y="0"/>
                  </a:cxn>
                  <a:cxn ang="0">
                    <a:pos x="43" y="4"/>
                  </a:cxn>
                  <a:cxn ang="0">
                    <a:pos x="48" y="13"/>
                  </a:cxn>
                  <a:cxn ang="0">
                    <a:pos x="52" y="21"/>
                  </a:cxn>
                  <a:cxn ang="0">
                    <a:pos x="52" y="21"/>
                  </a:cxn>
                </a:cxnLst>
                <a:rect l="0" t="0" r="r" b="b"/>
                <a:pathLst>
                  <a:path w="52" h="47">
                    <a:moveTo>
                      <a:pt x="52" y="21"/>
                    </a:moveTo>
                    <a:lnTo>
                      <a:pt x="52" y="21"/>
                    </a:lnTo>
                    <a:lnTo>
                      <a:pt x="48" y="30"/>
                    </a:lnTo>
                    <a:lnTo>
                      <a:pt x="43" y="39"/>
                    </a:lnTo>
                    <a:lnTo>
                      <a:pt x="35" y="43"/>
                    </a:lnTo>
                    <a:lnTo>
                      <a:pt x="26" y="47"/>
                    </a:lnTo>
                    <a:lnTo>
                      <a:pt x="26" y="47"/>
                    </a:lnTo>
                    <a:lnTo>
                      <a:pt x="17" y="43"/>
                    </a:lnTo>
                    <a:lnTo>
                      <a:pt x="9" y="39"/>
                    </a:lnTo>
                    <a:lnTo>
                      <a:pt x="4" y="30"/>
                    </a:lnTo>
                    <a:lnTo>
                      <a:pt x="0" y="21"/>
                    </a:lnTo>
                    <a:lnTo>
                      <a:pt x="0" y="21"/>
                    </a:lnTo>
                    <a:lnTo>
                      <a:pt x="4" y="13"/>
                    </a:lnTo>
                    <a:lnTo>
                      <a:pt x="9" y="4"/>
                    </a:lnTo>
                    <a:lnTo>
                      <a:pt x="17" y="0"/>
                    </a:lnTo>
                    <a:lnTo>
                      <a:pt x="26" y="0"/>
                    </a:lnTo>
                    <a:lnTo>
                      <a:pt x="26" y="0"/>
                    </a:lnTo>
                    <a:lnTo>
                      <a:pt x="35" y="0"/>
                    </a:lnTo>
                    <a:lnTo>
                      <a:pt x="43" y="4"/>
                    </a:lnTo>
                    <a:lnTo>
                      <a:pt x="48" y="13"/>
                    </a:lnTo>
                    <a:lnTo>
                      <a:pt x="52" y="21"/>
                    </a:lnTo>
                    <a:lnTo>
                      <a:pt x="52"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63" name="组合 576">
              <a:extLst>
                <a:ext uri="{FF2B5EF4-FFF2-40B4-BE49-F238E27FC236}">
                  <a16:creationId xmlns:a16="http://schemas.microsoft.com/office/drawing/2014/main" xmlns="" id="{268FEEA4-F492-4157-80A1-FCF64D7A965F}"/>
                </a:ext>
              </a:extLst>
            </p:cNvPr>
            <p:cNvGrpSpPr/>
            <p:nvPr/>
          </p:nvGrpSpPr>
          <p:grpSpPr bwMode="gray">
            <a:xfrm>
              <a:off x="2308429" y="3452852"/>
              <a:ext cx="425649" cy="411271"/>
              <a:chOff x="13096875" y="2576512"/>
              <a:chExt cx="804862" cy="777875"/>
            </a:xfrm>
            <a:grpFill/>
          </p:grpSpPr>
          <p:sp>
            <p:nvSpPr>
              <p:cNvPr id="122" name="Freeform 100">
                <a:extLst>
                  <a:ext uri="{FF2B5EF4-FFF2-40B4-BE49-F238E27FC236}">
                    <a16:creationId xmlns:a16="http://schemas.microsoft.com/office/drawing/2014/main" xmlns="" id="{19786082-1D38-4F68-A880-1A5D14E1236F}"/>
                  </a:ext>
                </a:extLst>
              </p:cNvPr>
              <p:cNvSpPr>
                <a:spLocks/>
              </p:cNvSpPr>
              <p:nvPr/>
            </p:nvSpPr>
            <p:spPr bwMode="gray">
              <a:xfrm>
                <a:off x="13798550" y="2576512"/>
                <a:ext cx="103187" cy="323850"/>
              </a:xfrm>
              <a:custGeom>
                <a:avLst/>
                <a:gdLst/>
                <a:ahLst/>
                <a:cxnLst>
                  <a:cxn ang="0">
                    <a:pos x="4" y="178"/>
                  </a:cxn>
                  <a:cxn ang="0">
                    <a:pos x="4" y="178"/>
                  </a:cxn>
                  <a:cxn ang="0">
                    <a:pos x="17" y="161"/>
                  </a:cxn>
                  <a:cxn ang="0">
                    <a:pos x="30" y="143"/>
                  </a:cxn>
                  <a:cxn ang="0">
                    <a:pos x="34" y="122"/>
                  </a:cxn>
                  <a:cxn ang="0">
                    <a:pos x="34" y="100"/>
                  </a:cxn>
                  <a:cxn ang="0">
                    <a:pos x="34" y="100"/>
                  </a:cxn>
                  <a:cxn ang="0">
                    <a:pos x="34" y="83"/>
                  </a:cxn>
                  <a:cxn ang="0">
                    <a:pos x="30" y="61"/>
                  </a:cxn>
                  <a:cxn ang="0">
                    <a:pos x="17" y="39"/>
                  </a:cxn>
                  <a:cxn ang="0">
                    <a:pos x="4" y="26"/>
                  </a:cxn>
                  <a:cxn ang="0">
                    <a:pos x="4" y="26"/>
                  </a:cxn>
                  <a:cxn ang="0">
                    <a:pos x="0" y="13"/>
                  </a:cxn>
                  <a:cxn ang="0">
                    <a:pos x="4" y="5"/>
                  </a:cxn>
                  <a:cxn ang="0">
                    <a:pos x="4" y="5"/>
                  </a:cxn>
                  <a:cxn ang="0">
                    <a:pos x="13" y="0"/>
                  </a:cxn>
                  <a:cxn ang="0">
                    <a:pos x="26" y="5"/>
                  </a:cxn>
                  <a:cxn ang="0">
                    <a:pos x="26" y="5"/>
                  </a:cxn>
                  <a:cxn ang="0">
                    <a:pos x="43" y="26"/>
                  </a:cxn>
                  <a:cxn ang="0">
                    <a:pos x="56" y="48"/>
                  </a:cxn>
                  <a:cxn ang="0">
                    <a:pos x="60" y="74"/>
                  </a:cxn>
                  <a:cxn ang="0">
                    <a:pos x="65" y="100"/>
                  </a:cxn>
                  <a:cxn ang="0">
                    <a:pos x="60" y="126"/>
                  </a:cxn>
                  <a:cxn ang="0">
                    <a:pos x="56" y="152"/>
                  </a:cxn>
                  <a:cxn ang="0">
                    <a:pos x="43" y="178"/>
                  </a:cxn>
                  <a:cxn ang="0">
                    <a:pos x="26" y="200"/>
                  </a:cxn>
                  <a:cxn ang="0">
                    <a:pos x="26" y="200"/>
                  </a:cxn>
                  <a:cxn ang="0">
                    <a:pos x="13" y="204"/>
                  </a:cxn>
                  <a:cxn ang="0">
                    <a:pos x="4" y="200"/>
                  </a:cxn>
                  <a:cxn ang="0">
                    <a:pos x="4" y="200"/>
                  </a:cxn>
                  <a:cxn ang="0">
                    <a:pos x="0" y="187"/>
                  </a:cxn>
                  <a:cxn ang="0">
                    <a:pos x="4" y="178"/>
                  </a:cxn>
                  <a:cxn ang="0">
                    <a:pos x="4" y="178"/>
                  </a:cxn>
                </a:cxnLst>
                <a:rect l="0" t="0" r="r" b="b"/>
                <a:pathLst>
                  <a:path w="65" h="204">
                    <a:moveTo>
                      <a:pt x="4" y="178"/>
                    </a:moveTo>
                    <a:lnTo>
                      <a:pt x="4" y="178"/>
                    </a:lnTo>
                    <a:lnTo>
                      <a:pt x="17" y="161"/>
                    </a:lnTo>
                    <a:lnTo>
                      <a:pt x="30" y="143"/>
                    </a:lnTo>
                    <a:lnTo>
                      <a:pt x="34" y="122"/>
                    </a:lnTo>
                    <a:lnTo>
                      <a:pt x="34" y="100"/>
                    </a:lnTo>
                    <a:lnTo>
                      <a:pt x="34" y="100"/>
                    </a:lnTo>
                    <a:lnTo>
                      <a:pt x="34" y="83"/>
                    </a:lnTo>
                    <a:lnTo>
                      <a:pt x="30" y="61"/>
                    </a:lnTo>
                    <a:lnTo>
                      <a:pt x="17" y="39"/>
                    </a:lnTo>
                    <a:lnTo>
                      <a:pt x="4" y="26"/>
                    </a:lnTo>
                    <a:lnTo>
                      <a:pt x="4" y="26"/>
                    </a:lnTo>
                    <a:lnTo>
                      <a:pt x="0" y="13"/>
                    </a:lnTo>
                    <a:lnTo>
                      <a:pt x="4" y="5"/>
                    </a:lnTo>
                    <a:lnTo>
                      <a:pt x="4" y="5"/>
                    </a:lnTo>
                    <a:lnTo>
                      <a:pt x="13" y="0"/>
                    </a:lnTo>
                    <a:lnTo>
                      <a:pt x="26" y="5"/>
                    </a:lnTo>
                    <a:lnTo>
                      <a:pt x="26" y="5"/>
                    </a:lnTo>
                    <a:lnTo>
                      <a:pt x="43" y="26"/>
                    </a:lnTo>
                    <a:lnTo>
                      <a:pt x="56" y="48"/>
                    </a:lnTo>
                    <a:lnTo>
                      <a:pt x="60" y="74"/>
                    </a:lnTo>
                    <a:lnTo>
                      <a:pt x="65" y="100"/>
                    </a:lnTo>
                    <a:lnTo>
                      <a:pt x="60" y="126"/>
                    </a:lnTo>
                    <a:lnTo>
                      <a:pt x="56" y="152"/>
                    </a:lnTo>
                    <a:lnTo>
                      <a:pt x="43" y="178"/>
                    </a:lnTo>
                    <a:lnTo>
                      <a:pt x="26" y="200"/>
                    </a:lnTo>
                    <a:lnTo>
                      <a:pt x="26" y="200"/>
                    </a:lnTo>
                    <a:lnTo>
                      <a:pt x="13" y="204"/>
                    </a:lnTo>
                    <a:lnTo>
                      <a:pt x="4" y="200"/>
                    </a:lnTo>
                    <a:lnTo>
                      <a:pt x="4" y="200"/>
                    </a:lnTo>
                    <a:lnTo>
                      <a:pt x="0" y="187"/>
                    </a:lnTo>
                    <a:lnTo>
                      <a:pt x="4" y="178"/>
                    </a:lnTo>
                    <a:lnTo>
                      <a:pt x="4" y="178"/>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3" name="Freeform 101">
                <a:extLst>
                  <a:ext uri="{FF2B5EF4-FFF2-40B4-BE49-F238E27FC236}">
                    <a16:creationId xmlns:a16="http://schemas.microsoft.com/office/drawing/2014/main" xmlns="" id="{E985834E-219A-447B-919F-4BFA9AC1561F}"/>
                  </a:ext>
                </a:extLst>
              </p:cNvPr>
              <p:cNvSpPr>
                <a:spLocks/>
              </p:cNvSpPr>
              <p:nvPr/>
            </p:nvSpPr>
            <p:spPr bwMode="gray">
              <a:xfrm>
                <a:off x="13750925" y="2625725"/>
                <a:ext cx="80962" cy="227013"/>
              </a:xfrm>
              <a:custGeom>
                <a:avLst/>
                <a:gdLst/>
                <a:ahLst/>
                <a:cxnLst>
                  <a:cxn ang="0">
                    <a:pos x="4" y="117"/>
                  </a:cxn>
                  <a:cxn ang="0">
                    <a:pos x="4" y="117"/>
                  </a:cxn>
                  <a:cxn ang="0">
                    <a:pos x="12" y="108"/>
                  </a:cxn>
                  <a:cxn ang="0">
                    <a:pos x="21" y="95"/>
                  </a:cxn>
                  <a:cxn ang="0">
                    <a:pos x="25" y="69"/>
                  </a:cxn>
                  <a:cxn ang="0">
                    <a:pos x="21" y="47"/>
                  </a:cxn>
                  <a:cxn ang="0">
                    <a:pos x="12" y="34"/>
                  </a:cxn>
                  <a:cxn ang="0">
                    <a:pos x="4" y="21"/>
                  </a:cxn>
                  <a:cxn ang="0">
                    <a:pos x="4" y="21"/>
                  </a:cxn>
                  <a:cxn ang="0">
                    <a:pos x="0" y="13"/>
                  </a:cxn>
                  <a:cxn ang="0">
                    <a:pos x="4" y="4"/>
                  </a:cxn>
                  <a:cxn ang="0">
                    <a:pos x="4" y="4"/>
                  </a:cxn>
                  <a:cxn ang="0">
                    <a:pos x="12" y="0"/>
                  </a:cxn>
                  <a:cxn ang="0">
                    <a:pos x="25" y="4"/>
                  </a:cxn>
                  <a:cxn ang="0">
                    <a:pos x="25" y="4"/>
                  </a:cxn>
                  <a:cxn ang="0">
                    <a:pos x="34" y="17"/>
                  </a:cxn>
                  <a:cxn ang="0">
                    <a:pos x="43" y="34"/>
                  </a:cxn>
                  <a:cxn ang="0">
                    <a:pos x="51" y="52"/>
                  </a:cxn>
                  <a:cxn ang="0">
                    <a:pos x="51" y="69"/>
                  </a:cxn>
                  <a:cxn ang="0">
                    <a:pos x="51" y="86"/>
                  </a:cxn>
                  <a:cxn ang="0">
                    <a:pos x="43" y="104"/>
                  </a:cxn>
                  <a:cxn ang="0">
                    <a:pos x="34" y="121"/>
                  </a:cxn>
                  <a:cxn ang="0">
                    <a:pos x="25" y="138"/>
                  </a:cxn>
                  <a:cxn ang="0">
                    <a:pos x="25" y="138"/>
                  </a:cxn>
                  <a:cxn ang="0">
                    <a:pos x="12" y="143"/>
                  </a:cxn>
                  <a:cxn ang="0">
                    <a:pos x="4" y="138"/>
                  </a:cxn>
                  <a:cxn ang="0">
                    <a:pos x="4" y="138"/>
                  </a:cxn>
                  <a:cxn ang="0">
                    <a:pos x="0" y="125"/>
                  </a:cxn>
                  <a:cxn ang="0">
                    <a:pos x="4" y="117"/>
                  </a:cxn>
                  <a:cxn ang="0">
                    <a:pos x="4" y="117"/>
                  </a:cxn>
                </a:cxnLst>
                <a:rect l="0" t="0" r="r" b="b"/>
                <a:pathLst>
                  <a:path w="51" h="143">
                    <a:moveTo>
                      <a:pt x="4" y="117"/>
                    </a:moveTo>
                    <a:lnTo>
                      <a:pt x="4" y="117"/>
                    </a:lnTo>
                    <a:lnTo>
                      <a:pt x="12" y="108"/>
                    </a:lnTo>
                    <a:lnTo>
                      <a:pt x="21" y="95"/>
                    </a:lnTo>
                    <a:lnTo>
                      <a:pt x="25" y="69"/>
                    </a:lnTo>
                    <a:lnTo>
                      <a:pt x="21" y="47"/>
                    </a:lnTo>
                    <a:lnTo>
                      <a:pt x="12" y="34"/>
                    </a:lnTo>
                    <a:lnTo>
                      <a:pt x="4" y="21"/>
                    </a:lnTo>
                    <a:lnTo>
                      <a:pt x="4" y="21"/>
                    </a:lnTo>
                    <a:lnTo>
                      <a:pt x="0" y="13"/>
                    </a:lnTo>
                    <a:lnTo>
                      <a:pt x="4" y="4"/>
                    </a:lnTo>
                    <a:lnTo>
                      <a:pt x="4" y="4"/>
                    </a:lnTo>
                    <a:lnTo>
                      <a:pt x="12" y="0"/>
                    </a:lnTo>
                    <a:lnTo>
                      <a:pt x="25" y="4"/>
                    </a:lnTo>
                    <a:lnTo>
                      <a:pt x="25" y="4"/>
                    </a:lnTo>
                    <a:lnTo>
                      <a:pt x="34" y="17"/>
                    </a:lnTo>
                    <a:lnTo>
                      <a:pt x="43" y="34"/>
                    </a:lnTo>
                    <a:lnTo>
                      <a:pt x="51" y="52"/>
                    </a:lnTo>
                    <a:lnTo>
                      <a:pt x="51" y="69"/>
                    </a:lnTo>
                    <a:lnTo>
                      <a:pt x="51" y="86"/>
                    </a:lnTo>
                    <a:lnTo>
                      <a:pt x="43" y="104"/>
                    </a:lnTo>
                    <a:lnTo>
                      <a:pt x="34" y="121"/>
                    </a:lnTo>
                    <a:lnTo>
                      <a:pt x="25" y="138"/>
                    </a:lnTo>
                    <a:lnTo>
                      <a:pt x="25" y="138"/>
                    </a:lnTo>
                    <a:lnTo>
                      <a:pt x="12" y="143"/>
                    </a:lnTo>
                    <a:lnTo>
                      <a:pt x="4" y="138"/>
                    </a:lnTo>
                    <a:lnTo>
                      <a:pt x="4" y="138"/>
                    </a:lnTo>
                    <a:lnTo>
                      <a:pt x="0" y="125"/>
                    </a:lnTo>
                    <a:lnTo>
                      <a:pt x="4" y="117"/>
                    </a:lnTo>
                    <a:lnTo>
                      <a:pt x="4" y="117"/>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4" name="Freeform 102">
                <a:extLst>
                  <a:ext uri="{FF2B5EF4-FFF2-40B4-BE49-F238E27FC236}">
                    <a16:creationId xmlns:a16="http://schemas.microsoft.com/office/drawing/2014/main" xmlns="" id="{472C3A92-C069-4928-AD94-8D9E65CD9C33}"/>
                  </a:ext>
                </a:extLst>
              </p:cNvPr>
              <p:cNvSpPr>
                <a:spLocks/>
              </p:cNvSpPr>
              <p:nvPr/>
            </p:nvSpPr>
            <p:spPr bwMode="gray">
              <a:xfrm>
                <a:off x="13406438" y="2576512"/>
                <a:ext cx="96837" cy="323850"/>
              </a:xfrm>
              <a:custGeom>
                <a:avLst/>
                <a:gdLst/>
                <a:ahLst/>
                <a:cxnLst>
                  <a:cxn ang="0">
                    <a:pos x="56" y="26"/>
                  </a:cxn>
                  <a:cxn ang="0">
                    <a:pos x="56" y="26"/>
                  </a:cxn>
                  <a:cxn ang="0">
                    <a:pos x="43" y="39"/>
                  </a:cxn>
                  <a:cxn ang="0">
                    <a:pos x="35" y="61"/>
                  </a:cxn>
                  <a:cxn ang="0">
                    <a:pos x="26" y="83"/>
                  </a:cxn>
                  <a:cxn ang="0">
                    <a:pos x="26" y="100"/>
                  </a:cxn>
                  <a:cxn ang="0">
                    <a:pos x="26" y="100"/>
                  </a:cxn>
                  <a:cxn ang="0">
                    <a:pos x="26" y="122"/>
                  </a:cxn>
                  <a:cxn ang="0">
                    <a:pos x="35" y="143"/>
                  </a:cxn>
                  <a:cxn ang="0">
                    <a:pos x="43" y="161"/>
                  </a:cxn>
                  <a:cxn ang="0">
                    <a:pos x="56" y="178"/>
                  </a:cxn>
                  <a:cxn ang="0">
                    <a:pos x="56" y="178"/>
                  </a:cxn>
                  <a:cxn ang="0">
                    <a:pos x="61" y="187"/>
                  </a:cxn>
                  <a:cxn ang="0">
                    <a:pos x="56" y="200"/>
                  </a:cxn>
                  <a:cxn ang="0">
                    <a:pos x="56" y="200"/>
                  </a:cxn>
                  <a:cxn ang="0">
                    <a:pos x="48" y="204"/>
                  </a:cxn>
                  <a:cxn ang="0">
                    <a:pos x="39" y="200"/>
                  </a:cxn>
                  <a:cxn ang="0">
                    <a:pos x="39" y="200"/>
                  </a:cxn>
                  <a:cxn ang="0">
                    <a:pos x="22" y="178"/>
                  </a:cxn>
                  <a:cxn ang="0">
                    <a:pos x="9" y="152"/>
                  </a:cxn>
                  <a:cxn ang="0">
                    <a:pos x="0" y="126"/>
                  </a:cxn>
                  <a:cxn ang="0">
                    <a:pos x="0" y="100"/>
                  </a:cxn>
                  <a:cxn ang="0">
                    <a:pos x="0" y="74"/>
                  </a:cxn>
                  <a:cxn ang="0">
                    <a:pos x="9" y="48"/>
                  </a:cxn>
                  <a:cxn ang="0">
                    <a:pos x="22" y="26"/>
                  </a:cxn>
                  <a:cxn ang="0">
                    <a:pos x="39" y="5"/>
                  </a:cxn>
                  <a:cxn ang="0">
                    <a:pos x="39" y="5"/>
                  </a:cxn>
                  <a:cxn ang="0">
                    <a:pos x="48" y="0"/>
                  </a:cxn>
                  <a:cxn ang="0">
                    <a:pos x="56" y="5"/>
                  </a:cxn>
                  <a:cxn ang="0">
                    <a:pos x="56" y="5"/>
                  </a:cxn>
                  <a:cxn ang="0">
                    <a:pos x="61" y="13"/>
                  </a:cxn>
                  <a:cxn ang="0">
                    <a:pos x="56" y="26"/>
                  </a:cxn>
                  <a:cxn ang="0">
                    <a:pos x="56" y="26"/>
                  </a:cxn>
                </a:cxnLst>
                <a:rect l="0" t="0" r="r" b="b"/>
                <a:pathLst>
                  <a:path w="61" h="204">
                    <a:moveTo>
                      <a:pt x="56" y="26"/>
                    </a:moveTo>
                    <a:lnTo>
                      <a:pt x="56" y="26"/>
                    </a:lnTo>
                    <a:lnTo>
                      <a:pt x="43" y="39"/>
                    </a:lnTo>
                    <a:lnTo>
                      <a:pt x="35" y="61"/>
                    </a:lnTo>
                    <a:lnTo>
                      <a:pt x="26" y="83"/>
                    </a:lnTo>
                    <a:lnTo>
                      <a:pt x="26" y="100"/>
                    </a:lnTo>
                    <a:lnTo>
                      <a:pt x="26" y="100"/>
                    </a:lnTo>
                    <a:lnTo>
                      <a:pt x="26" y="122"/>
                    </a:lnTo>
                    <a:lnTo>
                      <a:pt x="35" y="143"/>
                    </a:lnTo>
                    <a:lnTo>
                      <a:pt x="43" y="161"/>
                    </a:lnTo>
                    <a:lnTo>
                      <a:pt x="56" y="178"/>
                    </a:lnTo>
                    <a:lnTo>
                      <a:pt x="56" y="178"/>
                    </a:lnTo>
                    <a:lnTo>
                      <a:pt x="61" y="187"/>
                    </a:lnTo>
                    <a:lnTo>
                      <a:pt x="56" y="200"/>
                    </a:lnTo>
                    <a:lnTo>
                      <a:pt x="56" y="200"/>
                    </a:lnTo>
                    <a:lnTo>
                      <a:pt x="48" y="204"/>
                    </a:lnTo>
                    <a:lnTo>
                      <a:pt x="39" y="200"/>
                    </a:lnTo>
                    <a:lnTo>
                      <a:pt x="39" y="200"/>
                    </a:lnTo>
                    <a:lnTo>
                      <a:pt x="22" y="178"/>
                    </a:lnTo>
                    <a:lnTo>
                      <a:pt x="9" y="152"/>
                    </a:lnTo>
                    <a:lnTo>
                      <a:pt x="0" y="126"/>
                    </a:lnTo>
                    <a:lnTo>
                      <a:pt x="0" y="100"/>
                    </a:lnTo>
                    <a:lnTo>
                      <a:pt x="0" y="74"/>
                    </a:lnTo>
                    <a:lnTo>
                      <a:pt x="9" y="48"/>
                    </a:lnTo>
                    <a:lnTo>
                      <a:pt x="22" y="26"/>
                    </a:lnTo>
                    <a:lnTo>
                      <a:pt x="39" y="5"/>
                    </a:lnTo>
                    <a:lnTo>
                      <a:pt x="39" y="5"/>
                    </a:lnTo>
                    <a:lnTo>
                      <a:pt x="48" y="0"/>
                    </a:lnTo>
                    <a:lnTo>
                      <a:pt x="56" y="5"/>
                    </a:lnTo>
                    <a:lnTo>
                      <a:pt x="56" y="5"/>
                    </a:lnTo>
                    <a:lnTo>
                      <a:pt x="61" y="13"/>
                    </a:lnTo>
                    <a:lnTo>
                      <a:pt x="56" y="26"/>
                    </a:lnTo>
                    <a:lnTo>
                      <a:pt x="56" y="26"/>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5" name="Freeform 103">
                <a:extLst>
                  <a:ext uri="{FF2B5EF4-FFF2-40B4-BE49-F238E27FC236}">
                    <a16:creationId xmlns:a16="http://schemas.microsoft.com/office/drawing/2014/main" xmlns="" id="{B45296B0-6F83-4098-96D9-DF92A585E16F}"/>
                  </a:ext>
                </a:extLst>
              </p:cNvPr>
              <p:cNvSpPr>
                <a:spLocks/>
              </p:cNvSpPr>
              <p:nvPr/>
            </p:nvSpPr>
            <p:spPr bwMode="gray">
              <a:xfrm>
                <a:off x="13468350" y="2625725"/>
                <a:ext cx="82550" cy="227013"/>
              </a:xfrm>
              <a:custGeom>
                <a:avLst/>
                <a:gdLst/>
                <a:ahLst/>
                <a:cxnLst>
                  <a:cxn ang="0">
                    <a:pos x="48" y="21"/>
                  </a:cxn>
                  <a:cxn ang="0">
                    <a:pos x="48" y="21"/>
                  </a:cxn>
                  <a:cxn ang="0">
                    <a:pos x="39" y="34"/>
                  </a:cxn>
                  <a:cxn ang="0">
                    <a:pos x="35" y="47"/>
                  </a:cxn>
                  <a:cxn ang="0">
                    <a:pos x="30" y="69"/>
                  </a:cxn>
                  <a:cxn ang="0">
                    <a:pos x="35" y="95"/>
                  </a:cxn>
                  <a:cxn ang="0">
                    <a:pos x="39" y="108"/>
                  </a:cxn>
                  <a:cxn ang="0">
                    <a:pos x="48" y="117"/>
                  </a:cxn>
                  <a:cxn ang="0">
                    <a:pos x="48" y="117"/>
                  </a:cxn>
                  <a:cxn ang="0">
                    <a:pos x="52" y="125"/>
                  </a:cxn>
                  <a:cxn ang="0">
                    <a:pos x="48" y="138"/>
                  </a:cxn>
                  <a:cxn ang="0">
                    <a:pos x="48" y="138"/>
                  </a:cxn>
                  <a:cxn ang="0">
                    <a:pos x="39" y="143"/>
                  </a:cxn>
                  <a:cxn ang="0">
                    <a:pos x="30" y="138"/>
                  </a:cxn>
                  <a:cxn ang="0">
                    <a:pos x="30" y="138"/>
                  </a:cxn>
                  <a:cxn ang="0">
                    <a:pos x="17" y="121"/>
                  </a:cxn>
                  <a:cxn ang="0">
                    <a:pos x="9" y="104"/>
                  </a:cxn>
                  <a:cxn ang="0">
                    <a:pos x="4" y="86"/>
                  </a:cxn>
                  <a:cxn ang="0">
                    <a:pos x="0" y="69"/>
                  </a:cxn>
                  <a:cxn ang="0">
                    <a:pos x="4" y="52"/>
                  </a:cxn>
                  <a:cxn ang="0">
                    <a:pos x="9" y="34"/>
                  </a:cxn>
                  <a:cxn ang="0">
                    <a:pos x="17" y="17"/>
                  </a:cxn>
                  <a:cxn ang="0">
                    <a:pos x="30" y="4"/>
                  </a:cxn>
                  <a:cxn ang="0">
                    <a:pos x="30" y="4"/>
                  </a:cxn>
                  <a:cxn ang="0">
                    <a:pos x="39" y="0"/>
                  </a:cxn>
                  <a:cxn ang="0">
                    <a:pos x="48" y="4"/>
                  </a:cxn>
                  <a:cxn ang="0">
                    <a:pos x="48" y="4"/>
                  </a:cxn>
                  <a:cxn ang="0">
                    <a:pos x="52" y="13"/>
                  </a:cxn>
                  <a:cxn ang="0">
                    <a:pos x="48" y="21"/>
                  </a:cxn>
                  <a:cxn ang="0">
                    <a:pos x="48" y="21"/>
                  </a:cxn>
                </a:cxnLst>
                <a:rect l="0" t="0" r="r" b="b"/>
                <a:pathLst>
                  <a:path w="52" h="143">
                    <a:moveTo>
                      <a:pt x="48" y="21"/>
                    </a:moveTo>
                    <a:lnTo>
                      <a:pt x="48" y="21"/>
                    </a:lnTo>
                    <a:lnTo>
                      <a:pt x="39" y="34"/>
                    </a:lnTo>
                    <a:lnTo>
                      <a:pt x="35" y="47"/>
                    </a:lnTo>
                    <a:lnTo>
                      <a:pt x="30" y="69"/>
                    </a:lnTo>
                    <a:lnTo>
                      <a:pt x="35" y="95"/>
                    </a:lnTo>
                    <a:lnTo>
                      <a:pt x="39" y="108"/>
                    </a:lnTo>
                    <a:lnTo>
                      <a:pt x="48" y="117"/>
                    </a:lnTo>
                    <a:lnTo>
                      <a:pt x="48" y="117"/>
                    </a:lnTo>
                    <a:lnTo>
                      <a:pt x="52" y="125"/>
                    </a:lnTo>
                    <a:lnTo>
                      <a:pt x="48" y="138"/>
                    </a:lnTo>
                    <a:lnTo>
                      <a:pt x="48" y="138"/>
                    </a:lnTo>
                    <a:lnTo>
                      <a:pt x="39" y="143"/>
                    </a:lnTo>
                    <a:lnTo>
                      <a:pt x="30" y="138"/>
                    </a:lnTo>
                    <a:lnTo>
                      <a:pt x="30" y="138"/>
                    </a:lnTo>
                    <a:lnTo>
                      <a:pt x="17" y="121"/>
                    </a:lnTo>
                    <a:lnTo>
                      <a:pt x="9" y="104"/>
                    </a:lnTo>
                    <a:lnTo>
                      <a:pt x="4" y="86"/>
                    </a:lnTo>
                    <a:lnTo>
                      <a:pt x="0" y="69"/>
                    </a:lnTo>
                    <a:lnTo>
                      <a:pt x="4" y="52"/>
                    </a:lnTo>
                    <a:lnTo>
                      <a:pt x="9" y="34"/>
                    </a:lnTo>
                    <a:lnTo>
                      <a:pt x="17" y="17"/>
                    </a:lnTo>
                    <a:lnTo>
                      <a:pt x="30" y="4"/>
                    </a:lnTo>
                    <a:lnTo>
                      <a:pt x="30" y="4"/>
                    </a:lnTo>
                    <a:lnTo>
                      <a:pt x="39" y="0"/>
                    </a:lnTo>
                    <a:lnTo>
                      <a:pt x="48" y="4"/>
                    </a:lnTo>
                    <a:lnTo>
                      <a:pt x="48" y="4"/>
                    </a:lnTo>
                    <a:lnTo>
                      <a:pt x="52" y="13"/>
                    </a:lnTo>
                    <a:lnTo>
                      <a:pt x="48" y="21"/>
                    </a:lnTo>
                    <a:lnTo>
                      <a:pt x="48"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6" name="Freeform 104">
                <a:extLst>
                  <a:ext uri="{FF2B5EF4-FFF2-40B4-BE49-F238E27FC236}">
                    <a16:creationId xmlns:a16="http://schemas.microsoft.com/office/drawing/2014/main" xmlns="" id="{56DDAE80-D2F5-4964-BE20-6CDC3A3310E0}"/>
                  </a:ext>
                </a:extLst>
              </p:cNvPr>
              <p:cNvSpPr>
                <a:spLocks/>
              </p:cNvSpPr>
              <p:nvPr/>
            </p:nvSpPr>
            <p:spPr bwMode="gray">
              <a:xfrm>
                <a:off x="13619163" y="2782887"/>
                <a:ext cx="76200" cy="295275"/>
              </a:xfrm>
              <a:custGeom>
                <a:avLst/>
                <a:gdLst/>
                <a:ahLst/>
                <a:cxnLst>
                  <a:cxn ang="0">
                    <a:pos x="48" y="173"/>
                  </a:cxn>
                  <a:cxn ang="0">
                    <a:pos x="48" y="173"/>
                  </a:cxn>
                  <a:cxn ang="0">
                    <a:pos x="48" y="182"/>
                  </a:cxn>
                  <a:cxn ang="0">
                    <a:pos x="39" y="186"/>
                  </a:cxn>
                  <a:cxn ang="0">
                    <a:pos x="13" y="186"/>
                  </a:cxn>
                  <a:cxn ang="0">
                    <a:pos x="13" y="186"/>
                  </a:cxn>
                  <a:cxn ang="0">
                    <a:pos x="5" y="182"/>
                  </a:cxn>
                  <a:cxn ang="0">
                    <a:pos x="0" y="173"/>
                  </a:cxn>
                  <a:cxn ang="0">
                    <a:pos x="0" y="9"/>
                  </a:cxn>
                  <a:cxn ang="0">
                    <a:pos x="0" y="9"/>
                  </a:cxn>
                  <a:cxn ang="0">
                    <a:pos x="5" y="5"/>
                  </a:cxn>
                  <a:cxn ang="0">
                    <a:pos x="13" y="0"/>
                  </a:cxn>
                  <a:cxn ang="0">
                    <a:pos x="39" y="0"/>
                  </a:cxn>
                  <a:cxn ang="0">
                    <a:pos x="39" y="0"/>
                  </a:cxn>
                  <a:cxn ang="0">
                    <a:pos x="48" y="5"/>
                  </a:cxn>
                  <a:cxn ang="0">
                    <a:pos x="48" y="9"/>
                  </a:cxn>
                  <a:cxn ang="0">
                    <a:pos x="48" y="173"/>
                  </a:cxn>
                </a:cxnLst>
                <a:rect l="0" t="0" r="r" b="b"/>
                <a:pathLst>
                  <a:path w="48" h="186">
                    <a:moveTo>
                      <a:pt x="48" y="173"/>
                    </a:moveTo>
                    <a:lnTo>
                      <a:pt x="48" y="173"/>
                    </a:lnTo>
                    <a:lnTo>
                      <a:pt x="48" y="182"/>
                    </a:lnTo>
                    <a:lnTo>
                      <a:pt x="39" y="186"/>
                    </a:lnTo>
                    <a:lnTo>
                      <a:pt x="13" y="186"/>
                    </a:lnTo>
                    <a:lnTo>
                      <a:pt x="13" y="186"/>
                    </a:lnTo>
                    <a:lnTo>
                      <a:pt x="5" y="182"/>
                    </a:lnTo>
                    <a:lnTo>
                      <a:pt x="0" y="173"/>
                    </a:lnTo>
                    <a:lnTo>
                      <a:pt x="0" y="9"/>
                    </a:lnTo>
                    <a:lnTo>
                      <a:pt x="0" y="9"/>
                    </a:lnTo>
                    <a:lnTo>
                      <a:pt x="5" y="5"/>
                    </a:lnTo>
                    <a:lnTo>
                      <a:pt x="13" y="0"/>
                    </a:lnTo>
                    <a:lnTo>
                      <a:pt x="39" y="0"/>
                    </a:lnTo>
                    <a:lnTo>
                      <a:pt x="39" y="0"/>
                    </a:lnTo>
                    <a:lnTo>
                      <a:pt x="48" y="5"/>
                    </a:lnTo>
                    <a:lnTo>
                      <a:pt x="48" y="9"/>
                    </a:lnTo>
                    <a:lnTo>
                      <a:pt x="48" y="173"/>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7" name="Freeform 105">
                <a:extLst>
                  <a:ext uri="{FF2B5EF4-FFF2-40B4-BE49-F238E27FC236}">
                    <a16:creationId xmlns:a16="http://schemas.microsoft.com/office/drawing/2014/main" xmlns="" id="{6A5F190D-0008-4D76-8DD0-8219610C7BAA}"/>
                  </a:ext>
                </a:extLst>
              </p:cNvPr>
              <p:cNvSpPr>
                <a:spLocks/>
              </p:cNvSpPr>
              <p:nvPr/>
            </p:nvSpPr>
            <p:spPr bwMode="gray">
              <a:xfrm>
                <a:off x="13577888" y="2667000"/>
                <a:ext cx="158750" cy="165100"/>
              </a:xfrm>
              <a:custGeom>
                <a:avLst/>
                <a:gdLst/>
                <a:ahLst/>
                <a:cxnLst>
                  <a:cxn ang="0">
                    <a:pos x="100" y="52"/>
                  </a:cxn>
                  <a:cxn ang="0">
                    <a:pos x="100" y="52"/>
                  </a:cxn>
                  <a:cxn ang="0">
                    <a:pos x="96" y="73"/>
                  </a:cxn>
                  <a:cxn ang="0">
                    <a:pos x="87" y="86"/>
                  </a:cxn>
                  <a:cxn ang="0">
                    <a:pos x="70" y="99"/>
                  </a:cxn>
                  <a:cxn ang="0">
                    <a:pos x="52" y="104"/>
                  </a:cxn>
                  <a:cxn ang="0">
                    <a:pos x="52" y="104"/>
                  </a:cxn>
                  <a:cxn ang="0">
                    <a:pos x="31" y="99"/>
                  </a:cxn>
                  <a:cxn ang="0">
                    <a:pos x="18" y="86"/>
                  </a:cxn>
                  <a:cxn ang="0">
                    <a:pos x="5" y="73"/>
                  </a:cxn>
                  <a:cxn ang="0">
                    <a:pos x="0" y="52"/>
                  </a:cxn>
                  <a:cxn ang="0">
                    <a:pos x="0" y="52"/>
                  </a:cxn>
                  <a:cxn ang="0">
                    <a:pos x="5" y="34"/>
                  </a:cxn>
                  <a:cxn ang="0">
                    <a:pos x="18" y="17"/>
                  </a:cxn>
                  <a:cxn ang="0">
                    <a:pos x="31" y="4"/>
                  </a:cxn>
                  <a:cxn ang="0">
                    <a:pos x="52" y="0"/>
                  </a:cxn>
                  <a:cxn ang="0">
                    <a:pos x="52" y="0"/>
                  </a:cxn>
                  <a:cxn ang="0">
                    <a:pos x="70" y="4"/>
                  </a:cxn>
                  <a:cxn ang="0">
                    <a:pos x="87" y="17"/>
                  </a:cxn>
                  <a:cxn ang="0">
                    <a:pos x="96" y="34"/>
                  </a:cxn>
                  <a:cxn ang="0">
                    <a:pos x="100" y="52"/>
                  </a:cxn>
                  <a:cxn ang="0">
                    <a:pos x="100" y="52"/>
                  </a:cxn>
                </a:cxnLst>
                <a:rect l="0" t="0" r="r" b="b"/>
                <a:pathLst>
                  <a:path w="100" h="104">
                    <a:moveTo>
                      <a:pt x="100" y="52"/>
                    </a:moveTo>
                    <a:lnTo>
                      <a:pt x="100" y="52"/>
                    </a:lnTo>
                    <a:lnTo>
                      <a:pt x="96" y="73"/>
                    </a:lnTo>
                    <a:lnTo>
                      <a:pt x="87" y="86"/>
                    </a:lnTo>
                    <a:lnTo>
                      <a:pt x="70" y="99"/>
                    </a:lnTo>
                    <a:lnTo>
                      <a:pt x="52" y="104"/>
                    </a:lnTo>
                    <a:lnTo>
                      <a:pt x="52" y="104"/>
                    </a:lnTo>
                    <a:lnTo>
                      <a:pt x="31" y="99"/>
                    </a:lnTo>
                    <a:lnTo>
                      <a:pt x="18" y="86"/>
                    </a:lnTo>
                    <a:lnTo>
                      <a:pt x="5" y="73"/>
                    </a:lnTo>
                    <a:lnTo>
                      <a:pt x="0" y="52"/>
                    </a:lnTo>
                    <a:lnTo>
                      <a:pt x="0" y="52"/>
                    </a:lnTo>
                    <a:lnTo>
                      <a:pt x="5" y="34"/>
                    </a:lnTo>
                    <a:lnTo>
                      <a:pt x="18" y="17"/>
                    </a:lnTo>
                    <a:lnTo>
                      <a:pt x="31" y="4"/>
                    </a:lnTo>
                    <a:lnTo>
                      <a:pt x="52" y="0"/>
                    </a:lnTo>
                    <a:lnTo>
                      <a:pt x="52" y="0"/>
                    </a:lnTo>
                    <a:lnTo>
                      <a:pt x="70" y="4"/>
                    </a:lnTo>
                    <a:lnTo>
                      <a:pt x="87" y="17"/>
                    </a:lnTo>
                    <a:lnTo>
                      <a:pt x="96" y="34"/>
                    </a:lnTo>
                    <a:lnTo>
                      <a:pt x="100" y="52"/>
                    </a:lnTo>
                    <a:lnTo>
                      <a:pt x="100" y="52"/>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8" name="Freeform 106">
                <a:extLst>
                  <a:ext uri="{FF2B5EF4-FFF2-40B4-BE49-F238E27FC236}">
                    <a16:creationId xmlns:a16="http://schemas.microsoft.com/office/drawing/2014/main" xmlns="" id="{70A709FF-455B-47B9-B87F-C48CEFCD9024}"/>
                  </a:ext>
                </a:extLst>
              </p:cNvPr>
              <p:cNvSpPr>
                <a:spLocks/>
              </p:cNvSpPr>
              <p:nvPr/>
            </p:nvSpPr>
            <p:spPr bwMode="gray">
              <a:xfrm>
                <a:off x="13096875" y="3106737"/>
                <a:ext cx="687387" cy="247650"/>
              </a:xfrm>
              <a:custGeom>
                <a:avLst/>
                <a:gdLst/>
                <a:ahLst/>
                <a:cxnLst>
                  <a:cxn ang="0">
                    <a:pos x="424" y="0"/>
                  </a:cxn>
                  <a:cxn ang="0">
                    <a:pos x="13" y="0"/>
                  </a:cxn>
                  <a:cxn ang="0">
                    <a:pos x="13" y="0"/>
                  </a:cxn>
                  <a:cxn ang="0">
                    <a:pos x="5" y="4"/>
                  </a:cxn>
                  <a:cxn ang="0">
                    <a:pos x="0" y="13"/>
                  </a:cxn>
                  <a:cxn ang="0">
                    <a:pos x="0" y="143"/>
                  </a:cxn>
                  <a:cxn ang="0">
                    <a:pos x="0" y="143"/>
                  </a:cxn>
                  <a:cxn ang="0">
                    <a:pos x="5" y="151"/>
                  </a:cxn>
                  <a:cxn ang="0">
                    <a:pos x="13" y="156"/>
                  </a:cxn>
                  <a:cxn ang="0">
                    <a:pos x="424" y="156"/>
                  </a:cxn>
                  <a:cxn ang="0">
                    <a:pos x="424" y="156"/>
                  </a:cxn>
                  <a:cxn ang="0">
                    <a:pos x="429" y="151"/>
                  </a:cxn>
                  <a:cxn ang="0">
                    <a:pos x="433" y="143"/>
                  </a:cxn>
                  <a:cxn ang="0">
                    <a:pos x="433" y="13"/>
                  </a:cxn>
                  <a:cxn ang="0">
                    <a:pos x="433" y="13"/>
                  </a:cxn>
                  <a:cxn ang="0">
                    <a:pos x="429" y="4"/>
                  </a:cxn>
                  <a:cxn ang="0">
                    <a:pos x="424" y="0"/>
                  </a:cxn>
                  <a:cxn ang="0">
                    <a:pos x="424" y="0"/>
                  </a:cxn>
                </a:cxnLst>
                <a:rect l="0" t="0" r="r" b="b"/>
                <a:pathLst>
                  <a:path w="433" h="156">
                    <a:moveTo>
                      <a:pt x="424" y="0"/>
                    </a:moveTo>
                    <a:lnTo>
                      <a:pt x="13" y="0"/>
                    </a:lnTo>
                    <a:lnTo>
                      <a:pt x="13" y="0"/>
                    </a:lnTo>
                    <a:lnTo>
                      <a:pt x="5" y="4"/>
                    </a:lnTo>
                    <a:lnTo>
                      <a:pt x="0" y="13"/>
                    </a:lnTo>
                    <a:lnTo>
                      <a:pt x="0" y="143"/>
                    </a:lnTo>
                    <a:lnTo>
                      <a:pt x="0" y="143"/>
                    </a:lnTo>
                    <a:lnTo>
                      <a:pt x="5" y="151"/>
                    </a:lnTo>
                    <a:lnTo>
                      <a:pt x="13" y="156"/>
                    </a:lnTo>
                    <a:lnTo>
                      <a:pt x="424" y="156"/>
                    </a:lnTo>
                    <a:lnTo>
                      <a:pt x="424" y="156"/>
                    </a:lnTo>
                    <a:lnTo>
                      <a:pt x="429" y="151"/>
                    </a:lnTo>
                    <a:lnTo>
                      <a:pt x="433" y="143"/>
                    </a:lnTo>
                    <a:lnTo>
                      <a:pt x="433" y="13"/>
                    </a:lnTo>
                    <a:lnTo>
                      <a:pt x="433" y="13"/>
                    </a:lnTo>
                    <a:lnTo>
                      <a:pt x="429" y="4"/>
                    </a:lnTo>
                    <a:lnTo>
                      <a:pt x="424" y="0"/>
                    </a:lnTo>
                    <a:lnTo>
                      <a:pt x="424" y="0"/>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9" name="Freeform 107">
                <a:extLst>
                  <a:ext uri="{FF2B5EF4-FFF2-40B4-BE49-F238E27FC236}">
                    <a16:creationId xmlns:a16="http://schemas.microsoft.com/office/drawing/2014/main" xmlns="" id="{A379B137-C6C2-49A2-A737-D51E2E7BED04}"/>
                  </a:ext>
                </a:extLst>
              </p:cNvPr>
              <p:cNvSpPr>
                <a:spLocks/>
              </p:cNvSpPr>
              <p:nvPr/>
            </p:nvSpPr>
            <p:spPr bwMode="gray">
              <a:xfrm>
                <a:off x="13146088" y="3148012"/>
                <a:ext cx="74612" cy="74613"/>
              </a:xfrm>
              <a:custGeom>
                <a:avLst/>
                <a:gdLst/>
                <a:ahLst/>
                <a:cxnLst>
                  <a:cxn ang="0">
                    <a:pos x="47" y="21"/>
                  </a:cxn>
                  <a:cxn ang="0">
                    <a:pos x="47" y="21"/>
                  </a:cxn>
                  <a:cxn ang="0">
                    <a:pos x="47" y="30"/>
                  </a:cxn>
                  <a:cxn ang="0">
                    <a:pos x="39" y="39"/>
                  </a:cxn>
                  <a:cxn ang="0">
                    <a:pos x="34" y="43"/>
                  </a:cxn>
                  <a:cxn ang="0">
                    <a:pos x="21" y="47"/>
                  </a:cxn>
                  <a:cxn ang="0">
                    <a:pos x="21" y="47"/>
                  </a:cxn>
                  <a:cxn ang="0">
                    <a:pos x="13" y="43"/>
                  </a:cxn>
                  <a:cxn ang="0">
                    <a:pos x="4" y="39"/>
                  </a:cxn>
                  <a:cxn ang="0">
                    <a:pos x="0" y="30"/>
                  </a:cxn>
                  <a:cxn ang="0">
                    <a:pos x="0" y="21"/>
                  </a:cxn>
                  <a:cxn ang="0">
                    <a:pos x="0" y="21"/>
                  </a:cxn>
                  <a:cxn ang="0">
                    <a:pos x="0" y="13"/>
                  </a:cxn>
                  <a:cxn ang="0">
                    <a:pos x="4" y="4"/>
                  </a:cxn>
                  <a:cxn ang="0">
                    <a:pos x="13" y="0"/>
                  </a:cxn>
                  <a:cxn ang="0">
                    <a:pos x="21" y="0"/>
                  </a:cxn>
                  <a:cxn ang="0">
                    <a:pos x="21" y="0"/>
                  </a:cxn>
                  <a:cxn ang="0">
                    <a:pos x="34" y="0"/>
                  </a:cxn>
                  <a:cxn ang="0">
                    <a:pos x="39" y="4"/>
                  </a:cxn>
                  <a:cxn ang="0">
                    <a:pos x="47" y="13"/>
                  </a:cxn>
                  <a:cxn ang="0">
                    <a:pos x="47" y="21"/>
                  </a:cxn>
                  <a:cxn ang="0">
                    <a:pos x="47" y="21"/>
                  </a:cxn>
                </a:cxnLst>
                <a:rect l="0" t="0" r="r" b="b"/>
                <a:pathLst>
                  <a:path w="47" h="47">
                    <a:moveTo>
                      <a:pt x="47" y="21"/>
                    </a:moveTo>
                    <a:lnTo>
                      <a:pt x="47" y="21"/>
                    </a:lnTo>
                    <a:lnTo>
                      <a:pt x="47" y="30"/>
                    </a:lnTo>
                    <a:lnTo>
                      <a:pt x="39" y="39"/>
                    </a:lnTo>
                    <a:lnTo>
                      <a:pt x="34" y="43"/>
                    </a:lnTo>
                    <a:lnTo>
                      <a:pt x="21" y="47"/>
                    </a:lnTo>
                    <a:lnTo>
                      <a:pt x="21" y="47"/>
                    </a:lnTo>
                    <a:lnTo>
                      <a:pt x="13" y="43"/>
                    </a:lnTo>
                    <a:lnTo>
                      <a:pt x="4" y="39"/>
                    </a:lnTo>
                    <a:lnTo>
                      <a:pt x="0" y="30"/>
                    </a:lnTo>
                    <a:lnTo>
                      <a:pt x="0" y="21"/>
                    </a:lnTo>
                    <a:lnTo>
                      <a:pt x="0" y="21"/>
                    </a:lnTo>
                    <a:lnTo>
                      <a:pt x="0" y="13"/>
                    </a:lnTo>
                    <a:lnTo>
                      <a:pt x="4" y="4"/>
                    </a:lnTo>
                    <a:lnTo>
                      <a:pt x="13" y="0"/>
                    </a:lnTo>
                    <a:lnTo>
                      <a:pt x="21" y="0"/>
                    </a:lnTo>
                    <a:lnTo>
                      <a:pt x="21" y="0"/>
                    </a:lnTo>
                    <a:lnTo>
                      <a:pt x="34" y="0"/>
                    </a:lnTo>
                    <a:lnTo>
                      <a:pt x="39" y="4"/>
                    </a:lnTo>
                    <a:lnTo>
                      <a:pt x="47" y="13"/>
                    </a:lnTo>
                    <a:lnTo>
                      <a:pt x="47" y="21"/>
                    </a:lnTo>
                    <a:lnTo>
                      <a:pt x="47"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0" name="Freeform 108">
                <a:extLst>
                  <a:ext uri="{FF2B5EF4-FFF2-40B4-BE49-F238E27FC236}">
                    <a16:creationId xmlns:a16="http://schemas.microsoft.com/office/drawing/2014/main" xmlns="" id="{6EFADD94-BB88-42F3-B853-F16DFB2634A1}"/>
                  </a:ext>
                </a:extLst>
              </p:cNvPr>
              <p:cNvSpPr>
                <a:spLocks/>
              </p:cNvSpPr>
              <p:nvPr/>
            </p:nvSpPr>
            <p:spPr bwMode="gray">
              <a:xfrm>
                <a:off x="13255625" y="3148012"/>
                <a:ext cx="74612" cy="74613"/>
              </a:xfrm>
              <a:custGeom>
                <a:avLst/>
                <a:gdLst/>
                <a:ahLst/>
                <a:cxnLst>
                  <a:cxn ang="0">
                    <a:pos x="47" y="21"/>
                  </a:cxn>
                  <a:cxn ang="0">
                    <a:pos x="47" y="21"/>
                  </a:cxn>
                  <a:cxn ang="0">
                    <a:pos x="47" y="30"/>
                  </a:cxn>
                  <a:cxn ang="0">
                    <a:pos x="43" y="39"/>
                  </a:cxn>
                  <a:cxn ang="0">
                    <a:pos x="35" y="43"/>
                  </a:cxn>
                  <a:cxn ang="0">
                    <a:pos x="26" y="47"/>
                  </a:cxn>
                  <a:cxn ang="0">
                    <a:pos x="26" y="47"/>
                  </a:cxn>
                  <a:cxn ang="0">
                    <a:pos x="17" y="43"/>
                  </a:cxn>
                  <a:cxn ang="0">
                    <a:pos x="9" y="39"/>
                  </a:cxn>
                  <a:cxn ang="0">
                    <a:pos x="4" y="30"/>
                  </a:cxn>
                  <a:cxn ang="0">
                    <a:pos x="0" y="21"/>
                  </a:cxn>
                  <a:cxn ang="0">
                    <a:pos x="0" y="21"/>
                  </a:cxn>
                  <a:cxn ang="0">
                    <a:pos x="4" y="13"/>
                  </a:cxn>
                  <a:cxn ang="0">
                    <a:pos x="9" y="4"/>
                  </a:cxn>
                  <a:cxn ang="0">
                    <a:pos x="17" y="0"/>
                  </a:cxn>
                  <a:cxn ang="0">
                    <a:pos x="26" y="0"/>
                  </a:cxn>
                  <a:cxn ang="0">
                    <a:pos x="26" y="0"/>
                  </a:cxn>
                  <a:cxn ang="0">
                    <a:pos x="35" y="0"/>
                  </a:cxn>
                  <a:cxn ang="0">
                    <a:pos x="43" y="4"/>
                  </a:cxn>
                  <a:cxn ang="0">
                    <a:pos x="47" y="13"/>
                  </a:cxn>
                  <a:cxn ang="0">
                    <a:pos x="47" y="21"/>
                  </a:cxn>
                  <a:cxn ang="0">
                    <a:pos x="47" y="21"/>
                  </a:cxn>
                </a:cxnLst>
                <a:rect l="0" t="0" r="r" b="b"/>
                <a:pathLst>
                  <a:path w="47" h="47">
                    <a:moveTo>
                      <a:pt x="47" y="21"/>
                    </a:moveTo>
                    <a:lnTo>
                      <a:pt x="47" y="21"/>
                    </a:lnTo>
                    <a:lnTo>
                      <a:pt x="47" y="30"/>
                    </a:lnTo>
                    <a:lnTo>
                      <a:pt x="43" y="39"/>
                    </a:lnTo>
                    <a:lnTo>
                      <a:pt x="35" y="43"/>
                    </a:lnTo>
                    <a:lnTo>
                      <a:pt x="26" y="47"/>
                    </a:lnTo>
                    <a:lnTo>
                      <a:pt x="26" y="47"/>
                    </a:lnTo>
                    <a:lnTo>
                      <a:pt x="17" y="43"/>
                    </a:lnTo>
                    <a:lnTo>
                      <a:pt x="9" y="39"/>
                    </a:lnTo>
                    <a:lnTo>
                      <a:pt x="4" y="30"/>
                    </a:lnTo>
                    <a:lnTo>
                      <a:pt x="0" y="21"/>
                    </a:lnTo>
                    <a:lnTo>
                      <a:pt x="0" y="21"/>
                    </a:lnTo>
                    <a:lnTo>
                      <a:pt x="4" y="13"/>
                    </a:lnTo>
                    <a:lnTo>
                      <a:pt x="9" y="4"/>
                    </a:lnTo>
                    <a:lnTo>
                      <a:pt x="17" y="0"/>
                    </a:lnTo>
                    <a:lnTo>
                      <a:pt x="26" y="0"/>
                    </a:lnTo>
                    <a:lnTo>
                      <a:pt x="26" y="0"/>
                    </a:lnTo>
                    <a:lnTo>
                      <a:pt x="35" y="0"/>
                    </a:lnTo>
                    <a:lnTo>
                      <a:pt x="43" y="4"/>
                    </a:lnTo>
                    <a:lnTo>
                      <a:pt x="47" y="13"/>
                    </a:lnTo>
                    <a:lnTo>
                      <a:pt x="47" y="21"/>
                    </a:lnTo>
                    <a:lnTo>
                      <a:pt x="47"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1" name="Freeform 109">
                <a:extLst>
                  <a:ext uri="{FF2B5EF4-FFF2-40B4-BE49-F238E27FC236}">
                    <a16:creationId xmlns:a16="http://schemas.microsoft.com/office/drawing/2014/main" xmlns="" id="{8C20DADE-0B53-4FAB-84A6-5669DFE9F09E}"/>
                  </a:ext>
                </a:extLst>
              </p:cNvPr>
              <p:cNvSpPr>
                <a:spLocks/>
              </p:cNvSpPr>
              <p:nvPr/>
            </p:nvSpPr>
            <p:spPr bwMode="gray">
              <a:xfrm>
                <a:off x="13365163" y="3148012"/>
                <a:ext cx="82550" cy="74613"/>
              </a:xfrm>
              <a:custGeom>
                <a:avLst/>
                <a:gdLst/>
                <a:ahLst/>
                <a:cxnLst>
                  <a:cxn ang="0">
                    <a:pos x="52" y="21"/>
                  </a:cxn>
                  <a:cxn ang="0">
                    <a:pos x="52" y="21"/>
                  </a:cxn>
                  <a:cxn ang="0">
                    <a:pos x="48" y="30"/>
                  </a:cxn>
                  <a:cxn ang="0">
                    <a:pos x="43" y="39"/>
                  </a:cxn>
                  <a:cxn ang="0">
                    <a:pos x="35" y="43"/>
                  </a:cxn>
                  <a:cxn ang="0">
                    <a:pos x="26" y="47"/>
                  </a:cxn>
                  <a:cxn ang="0">
                    <a:pos x="26" y="47"/>
                  </a:cxn>
                  <a:cxn ang="0">
                    <a:pos x="17" y="43"/>
                  </a:cxn>
                  <a:cxn ang="0">
                    <a:pos x="9" y="39"/>
                  </a:cxn>
                  <a:cxn ang="0">
                    <a:pos x="4" y="30"/>
                  </a:cxn>
                  <a:cxn ang="0">
                    <a:pos x="0" y="21"/>
                  </a:cxn>
                  <a:cxn ang="0">
                    <a:pos x="0" y="21"/>
                  </a:cxn>
                  <a:cxn ang="0">
                    <a:pos x="4" y="13"/>
                  </a:cxn>
                  <a:cxn ang="0">
                    <a:pos x="9" y="4"/>
                  </a:cxn>
                  <a:cxn ang="0">
                    <a:pos x="17" y="0"/>
                  </a:cxn>
                  <a:cxn ang="0">
                    <a:pos x="26" y="0"/>
                  </a:cxn>
                  <a:cxn ang="0">
                    <a:pos x="26" y="0"/>
                  </a:cxn>
                  <a:cxn ang="0">
                    <a:pos x="35" y="0"/>
                  </a:cxn>
                  <a:cxn ang="0">
                    <a:pos x="43" y="4"/>
                  </a:cxn>
                  <a:cxn ang="0">
                    <a:pos x="48" y="13"/>
                  </a:cxn>
                  <a:cxn ang="0">
                    <a:pos x="52" y="21"/>
                  </a:cxn>
                  <a:cxn ang="0">
                    <a:pos x="52" y="21"/>
                  </a:cxn>
                </a:cxnLst>
                <a:rect l="0" t="0" r="r" b="b"/>
                <a:pathLst>
                  <a:path w="52" h="47">
                    <a:moveTo>
                      <a:pt x="52" y="21"/>
                    </a:moveTo>
                    <a:lnTo>
                      <a:pt x="52" y="21"/>
                    </a:lnTo>
                    <a:lnTo>
                      <a:pt x="48" y="30"/>
                    </a:lnTo>
                    <a:lnTo>
                      <a:pt x="43" y="39"/>
                    </a:lnTo>
                    <a:lnTo>
                      <a:pt x="35" y="43"/>
                    </a:lnTo>
                    <a:lnTo>
                      <a:pt x="26" y="47"/>
                    </a:lnTo>
                    <a:lnTo>
                      <a:pt x="26" y="47"/>
                    </a:lnTo>
                    <a:lnTo>
                      <a:pt x="17" y="43"/>
                    </a:lnTo>
                    <a:lnTo>
                      <a:pt x="9" y="39"/>
                    </a:lnTo>
                    <a:lnTo>
                      <a:pt x="4" y="30"/>
                    </a:lnTo>
                    <a:lnTo>
                      <a:pt x="0" y="21"/>
                    </a:lnTo>
                    <a:lnTo>
                      <a:pt x="0" y="21"/>
                    </a:lnTo>
                    <a:lnTo>
                      <a:pt x="4" y="13"/>
                    </a:lnTo>
                    <a:lnTo>
                      <a:pt x="9" y="4"/>
                    </a:lnTo>
                    <a:lnTo>
                      <a:pt x="17" y="0"/>
                    </a:lnTo>
                    <a:lnTo>
                      <a:pt x="26" y="0"/>
                    </a:lnTo>
                    <a:lnTo>
                      <a:pt x="26" y="0"/>
                    </a:lnTo>
                    <a:lnTo>
                      <a:pt x="35" y="0"/>
                    </a:lnTo>
                    <a:lnTo>
                      <a:pt x="43" y="4"/>
                    </a:lnTo>
                    <a:lnTo>
                      <a:pt x="48" y="13"/>
                    </a:lnTo>
                    <a:lnTo>
                      <a:pt x="52" y="21"/>
                    </a:lnTo>
                    <a:lnTo>
                      <a:pt x="52"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64" name="组合 576">
              <a:extLst>
                <a:ext uri="{FF2B5EF4-FFF2-40B4-BE49-F238E27FC236}">
                  <a16:creationId xmlns:a16="http://schemas.microsoft.com/office/drawing/2014/main" xmlns="" id="{6E085147-19C0-45F4-9756-64A04AE1025E}"/>
                </a:ext>
              </a:extLst>
            </p:cNvPr>
            <p:cNvGrpSpPr/>
            <p:nvPr/>
          </p:nvGrpSpPr>
          <p:grpSpPr bwMode="gray">
            <a:xfrm>
              <a:off x="3443754" y="3452852"/>
              <a:ext cx="425649" cy="411271"/>
              <a:chOff x="13096875" y="2576512"/>
              <a:chExt cx="804862" cy="777875"/>
            </a:xfrm>
            <a:grpFill/>
          </p:grpSpPr>
          <p:sp>
            <p:nvSpPr>
              <p:cNvPr id="112" name="Freeform 100">
                <a:extLst>
                  <a:ext uri="{FF2B5EF4-FFF2-40B4-BE49-F238E27FC236}">
                    <a16:creationId xmlns:a16="http://schemas.microsoft.com/office/drawing/2014/main" xmlns="" id="{363A831B-43DF-4179-90B3-E9FF894130A5}"/>
                  </a:ext>
                </a:extLst>
              </p:cNvPr>
              <p:cNvSpPr>
                <a:spLocks/>
              </p:cNvSpPr>
              <p:nvPr/>
            </p:nvSpPr>
            <p:spPr bwMode="gray">
              <a:xfrm>
                <a:off x="13798550" y="2576512"/>
                <a:ext cx="103187" cy="323850"/>
              </a:xfrm>
              <a:custGeom>
                <a:avLst/>
                <a:gdLst/>
                <a:ahLst/>
                <a:cxnLst>
                  <a:cxn ang="0">
                    <a:pos x="4" y="178"/>
                  </a:cxn>
                  <a:cxn ang="0">
                    <a:pos x="4" y="178"/>
                  </a:cxn>
                  <a:cxn ang="0">
                    <a:pos x="17" y="161"/>
                  </a:cxn>
                  <a:cxn ang="0">
                    <a:pos x="30" y="143"/>
                  </a:cxn>
                  <a:cxn ang="0">
                    <a:pos x="34" y="122"/>
                  </a:cxn>
                  <a:cxn ang="0">
                    <a:pos x="34" y="100"/>
                  </a:cxn>
                  <a:cxn ang="0">
                    <a:pos x="34" y="100"/>
                  </a:cxn>
                  <a:cxn ang="0">
                    <a:pos x="34" y="83"/>
                  </a:cxn>
                  <a:cxn ang="0">
                    <a:pos x="30" y="61"/>
                  </a:cxn>
                  <a:cxn ang="0">
                    <a:pos x="17" y="39"/>
                  </a:cxn>
                  <a:cxn ang="0">
                    <a:pos x="4" y="26"/>
                  </a:cxn>
                  <a:cxn ang="0">
                    <a:pos x="4" y="26"/>
                  </a:cxn>
                  <a:cxn ang="0">
                    <a:pos x="0" y="13"/>
                  </a:cxn>
                  <a:cxn ang="0">
                    <a:pos x="4" y="5"/>
                  </a:cxn>
                  <a:cxn ang="0">
                    <a:pos x="4" y="5"/>
                  </a:cxn>
                  <a:cxn ang="0">
                    <a:pos x="13" y="0"/>
                  </a:cxn>
                  <a:cxn ang="0">
                    <a:pos x="26" y="5"/>
                  </a:cxn>
                  <a:cxn ang="0">
                    <a:pos x="26" y="5"/>
                  </a:cxn>
                  <a:cxn ang="0">
                    <a:pos x="43" y="26"/>
                  </a:cxn>
                  <a:cxn ang="0">
                    <a:pos x="56" y="48"/>
                  </a:cxn>
                  <a:cxn ang="0">
                    <a:pos x="60" y="74"/>
                  </a:cxn>
                  <a:cxn ang="0">
                    <a:pos x="65" y="100"/>
                  </a:cxn>
                  <a:cxn ang="0">
                    <a:pos x="60" y="126"/>
                  </a:cxn>
                  <a:cxn ang="0">
                    <a:pos x="56" y="152"/>
                  </a:cxn>
                  <a:cxn ang="0">
                    <a:pos x="43" y="178"/>
                  </a:cxn>
                  <a:cxn ang="0">
                    <a:pos x="26" y="200"/>
                  </a:cxn>
                  <a:cxn ang="0">
                    <a:pos x="26" y="200"/>
                  </a:cxn>
                  <a:cxn ang="0">
                    <a:pos x="13" y="204"/>
                  </a:cxn>
                  <a:cxn ang="0">
                    <a:pos x="4" y="200"/>
                  </a:cxn>
                  <a:cxn ang="0">
                    <a:pos x="4" y="200"/>
                  </a:cxn>
                  <a:cxn ang="0">
                    <a:pos x="0" y="187"/>
                  </a:cxn>
                  <a:cxn ang="0">
                    <a:pos x="4" y="178"/>
                  </a:cxn>
                  <a:cxn ang="0">
                    <a:pos x="4" y="178"/>
                  </a:cxn>
                </a:cxnLst>
                <a:rect l="0" t="0" r="r" b="b"/>
                <a:pathLst>
                  <a:path w="65" h="204">
                    <a:moveTo>
                      <a:pt x="4" y="178"/>
                    </a:moveTo>
                    <a:lnTo>
                      <a:pt x="4" y="178"/>
                    </a:lnTo>
                    <a:lnTo>
                      <a:pt x="17" y="161"/>
                    </a:lnTo>
                    <a:lnTo>
                      <a:pt x="30" y="143"/>
                    </a:lnTo>
                    <a:lnTo>
                      <a:pt x="34" y="122"/>
                    </a:lnTo>
                    <a:lnTo>
                      <a:pt x="34" y="100"/>
                    </a:lnTo>
                    <a:lnTo>
                      <a:pt x="34" y="100"/>
                    </a:lnTo>
                    <a:lnTo>
                      <a:pt x="34" y="83"/>
                    </a:lnTo>
                    <a:lnTo>
                      <a:pt x="30" y="61"/>
                    </a:lnTo>
                    <a:lnTo>
                      <a:pt x="17" y="39"/>
                    </a:lnTo>
                    <a:lnTo>
                      <a:pt x="4" y="26"/>
                    </a:lnTo>
                    <a:lnTo>
                      <a:pt x="4" y="26"/>
                    </a:lnTo>
                    <a:lnTo>
                      <a:pt x="0" y="13"/>
                    </a:lnTo>
                    <a:lnTo>
                      <a:pt x="4" y="5"/>
                    </a:lnTo>
                    <a:lnTo>
                      <a:pt x="4" y="5"/>
                    </a:lnTo>
                    <a:lnTo>
                      <a:pt x="13" y="0"/>
                    </a:lnTo>
                    <a:lnTo>
                      <a:pt x="26" y="5"/>
                    </a:lnTo>
                    <a:lnTo>
                      <a:pt x="26" y="5"/>
                    </a:lnTo>
                    <a:lnTo>
                      <a:pt x="43" y="26"/>
                    </a:lnTo>
                    <a:lnTo>
                      <a:pt x="56" y="48"/>
                    </a:lnTo>
                    <a:lnTo>
                      <a:pt x="60" y="74"/>
                    </a:lnTo>
                    <a:lnTo>
                      <a:pt x="65" y="100"/>
                    </a:lnTo>
                    <a:lnTo>
                      <a:pt x="60" y="126"/>
                    </a:lnTo>
                    <a:lnTo>
                      <a:pt x="56" y="152"/>
                    </a:lnTo>
                    <a:lnTo>
                      <a:pt x="43" y="178"/>
                    </a:lnTo>
                    <a:lnTo>
                      <a:pt x="26" y="200"/>
                    </a:lnTo>
                    <a:lnTo>
                      <a:pt x="26" y="200"/>
                    </a:lnTo>
                    <a:lnTo>
                      <a:pt x="13" y="204"/>
                    </a:lnTo>
                    <a:lnTo>
                      <a:pt x="4" y="200"/>
                    </a:lnTo>
                    <a:lnTo>
                      <a:pt x="4" y="200"/>
                    </a:lnTo>
                    <a:lnTo>
                      <a:pt x="0" y="187"/>
                    </a:lnTo>
                    <a:lnTo>
                      <a:pt x="4" y="178"/>
                    </a:lnTo>
                    <a:lnTo>
                      <a:pt x="4" y="178"/>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3" name="Freeform 101">
                <a:extLst>
                  <a:ext uri="{FF2B5EF4-FFF2-40B4-BE49-F238E27FC236}">
                    <a16:creationId xmlns:a16="http://schemas.microsoft.com/office/drawing/2014/main" xmlns="" id="{20A40888-ADDB-4AAD-9DAD-4ECF7B6C6819}"/>
                  </a:ext>
                </a:extLst>
              </p:cNvPr>
              <p:cNvSpPr>
                <a:spLocks/>
              </p:cNvSpPr>
              <p:nvPr/>
            </p:nvSpPr>
            <p:spPr bwMode="gray">
              <a:xfrm>
                <a:off x="13750925" y="2625725"/>
                <a:ext cx="80962" cy="227013"/>
              </a:xfrm>
              <a:custGeom>
                <a:avLst/>
                <a:gdLst/>
                <a:ahLst/>
                <a:cxnLst>
                  <a:cxn ang="0">
                    <a:pos x="4" y="117"/>
                  </a:cxn>
                  <a:cxn ang="0">
                    <a:pos x="4" y="117"/>
                  </a:cxn>
                  <a:cxn ang="0">
                    <a:pos x="12" y="108"/>
                  </a:cxn>
                  <a:cxn ang="0">
                    <a:pos x="21" y="95"/>
                  </a:cxn>
                  <a:cxn ang="0">
                    <a:pos x="25" y="69"/>
                  </a:cxn>
                  <a:cxn ang="0">
                    <a:pos x="21" y="47"/>
                  </a:cxn>
                  <a:cxn ang="0">
                    <a:pos x="12" y="34"/>
                  </a:cxn>
                  <a:cxn ang="0">
                    <a:pos x="4" y="21"/>
                  </a:cxn>
                  <a:cxn ang="0">
                    <a:pos x="4" y="21"/>
                  </a:cxn>
                  <a:cxn ang="0">
                    <a:pos x="0" y="13"/>
                  </a:cxn>
                  <a:cxn ang="0">
                    <a:pos x="4" y="4"/>
                  </a:cxn>
                  <a:cxn ang="0">
                    <a:pos x="4" y="4"/>
                  </a:cxn>
                  <a:cxn ang="0">
                    <a:pos x="12" y="0"/>
                  </a:cxn>
                  <a:cxn ang="0">
                    <a:pos x="25" y="4"/>
                  </a:cxn>
                  <a:cxn ang="0">
                    <a:pos x="25" y="4"/>
                  </a:cxn>
                  <a:cxn ang="0">
                    <a:pos x="34" y="17"/>
                  </a:cxn>
                  <a:cxn ang="0">
                    <a:pos x="43" y="34"/>
                  </a:cxn>
                  <a:cxn ang="0">
                    <a:pos x="51" y="52"/>
                  </a:cxn>
                  <a:cxn ang="0">
                    <a:pos x="51" y="69"/>
                  </a:cxn>
                  <a:cxn ang="0">
                    <a:pos x="51" y="86"/>
                  </a:cxn>
                  <a:cxn ang="0">
                    <a:pos x="43" y="104"/>
                  </a:cxn>
                  <a:cxn ang="0">
                    <a:pos x="34" y="121"/>
                  </a:cxn>
                  <a:cxn ang="0">
                    <a:pos x="25" y="138"/>
                  </a:cxn>
                  <a:cxn ang="0">
                    <a:pos x="25" y="138"/>
                  </a:cxn>
                  <a:cxn ang="0">
                    <a:pos x="12" y="143"/>
                  </a:cxn>
                  <a:cxn ang="0">
                    <a:pos x="4" y="138"/>
                  </a:cxn>
                  <a:cxn ang="0">
                    <a:pos x="4" y="138"/>
                  </a:cxn>
                  <a:cxn ang="0">
                    <a:pos x="0" y="125"/>
                  </a:cxn>
                  <a:cxn ang="0">
                    <a:pos x="4" y="117"/>
                  </a:cxn>
                  <a:cxn ang="0">
                    <a:pos x="4" y="117"/>
                  </a:cxn>
                </a:cxnLst>
                <a:rect l="0" t="0" r="r" b="b"/>
                <a:pathLst>
                  <a:path w="51" h="143">
                    <a:moveTo>
                      <a:pt x="4" y="117"/>
                    </a:moveTo>
                    <a:lnTo>
                      <a:pt x="4" y="117"/>
                    </a:lnTo>
                    <a:lnTo>
                      <a:pt x="12" y="108"/>
                    </a:lnTo>
                    <a:lnTo>
                      <a:pt x="21" y="95"/>
                    </a:lnTo>
                    <a:lnTo>
                      <a:pt x="25" y="69"/>
                    </a:lnTo>
                    <a:lnTo>
                      <a:pt x="21" y="47"/>
                    </a:lnTo>
                    <a:lnTo>
                      <a:pt x="12" y="34"/>
                    </a:lnTo>
                    <a:lnTo>
                      <a:pt x="4" y="21"/>
                    </a:lnTo>
                    <a:lnTo>
                      <a:pt x="4" y="21"/>
                    </a:lnTo>
                    <a:lnTo>
                      <a:pt x="0" y="13"/>
                    </a:lnTo>
                    <a:lnTo>
                      <a:pt x="4" y="4"/>
                    </a:lnTo>
                    <a:lnTo>
                      <a:pt x="4" y="4"/>
                    </a:lnTo>
                    <a:lnTo>
                      <a:pt x="12" y="0"/>
                    </a:lnTo>
                    <a:lnTo>
                      <a:pt x="25" y="4"/>
                    </a:lnTo>
                    <a:lnTo>
                      <a:pt x="25" y="4"/>
                    </a:lnTo>
                    <a:lnTo>
                      <a:pt x="34" y="17"/>
                    </a:lnTo>
                    <a:lnTo>
                      <a:pt x="43" y="34"/>
                    </a:lnTo>
                    <a:lnTo>
                      <a:pt x="51" y="52"/>
                    </a:lnTo>
                    <a:lnTo>
                      <a:pt x="51" y="69"/>
                    </a:lnTo>
                    <a:lnTo>
                      <a:pt x="51" y="86"/>
                    </a:lnTo>
                    <a:lnTo>
                      <a:pt x="43" y="104"/>
                    </a:lnTo>
                    <a:lnTo>
                      <a:pt x="34" y="121"/>
                    </a:lnTo>
                    <a:lnTo>
                      <a:pt x="25" y="138"/>
                    </a:lnTo>
                    <a:lnTo>
                      <a:pt x="25" y="138"/>
                    </a:lnTo>
                    <a:lnTo>
                      <a:pt x="12" y="143"/>
                    </a:lnTo>
                    <a:lnTo>
                      <a:pt x="4" y="138"/>
                    </a:lnTo>
                    <a:lnTo>
                      <a:pt x="4" y="138"/>
                    </a:lnTo>
                    <a:lnTo>
                      <a:pt x="0" y="125"/>
                    </a:lnTo>
                    <a:lnTo>
                      <a:pt x="4" y="117"/>
                    </a:lnTo>
                    <a:lnTo>
                      <a:pt x="4" y="117"/>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4" name="Freeform 102">
                <a:extLst>
                  <a:ext uri="{FF2B5EF4-FFF2-40B4-BE49-F238E27FC236}">
                    <a16:creationId xmlns:a16="http://schemas.microsoft.com/office/drawing/2014/main" xmlns="" id="{FCBAD764-1655-4086-86D5-E4D663B7DD03}"/>
                  </a:ext>
                </a:extLst>
              </p:cNvPr>
              <p:cNvSpPr>
                <a:spLocks/>
              </p:cNvSpPr>
              <p:nvPr/>
            </p:nvSpPr>
            <p:spPr bwMode="gray">
              <a:xfrm>
                <a:off x="13406438" y="2576512"/>
                <a:ext cx="96837" cy="323850"/>
              </a:xfrm>
              <a:custGeom>
                <a:avLst/>
                <a:gdLst/>
                <a:ahLst/>
                <a:cxnLst>
                  <a:cxn ang="0">
                    <a:pos x="56" y="26"/>
                  </a:cxn>
                  <a:cxn ang="0">
                    <a:pos x="56" y="26"/>
                  </a:cxn>
                  <a:cxn ang="0">
                    <a:pos x="43" y="39"/>
                  </a:cxn>
                  <a:cxn ang="0">
                    <a:pos x="35" y="61"/>
                  </a:cxn>
                  <a:cxn ang="0">
                    <a:pos x="26" y="83"/>
                  </a:cxn>
                  <a:cxn ang="0">
                    <a:pos x="26" y="100"/>
                  </a:cxn>
                  <a:cxn ang="0">
                    <a:pos x="26" y="100"/>
                  </a:cxn>
                  <a:cxn ang="0">
                    <a:pos x="26" y="122"/>
                  </a:cxn>
                  <a:cxn ang="0">
                    <a:pos x="35" y="143"/>
                  </a:cxn>
                  <a:cxn ang="0">
                    <a:pos x="43" y="161"/>
                  </a:cxn>
                  <a:cxn ang="0">
                    <a:pos x="56" y="178"/>
                  </a:cxn>
                  <a:cxn ang="0">
                    <a:pos x="56" y="178"/>
                  </a:cxn>
                  <a:cxn ang="0">
                    <a:pos x="61" y="187"/>
                  </a:cxn>
                  <a:cxn ang="0">
                    <a:pos x="56" y="200"/>
                  </a:cxn>
                  <a:cxn ang="0">
                    <a:pos x="56" y="200"/>
                  </a:cxn>
                  <a:cxn ang="0">
                    <a:pos x="48" y="204"/>
                  </a:cxn>
                  <a:cxn ang="0">
                    <a:pos x="39" y="200"/>
                  </a:cxn>
                  <a:cxn ang="0">
                    <a:pos x="39" y="200"/>
                  </a:cxn>
                  <a:cxn ang="0">
                    <a:pos x="22" y="178"/>
                  </a:cxn>
                  <a:cxn ang="0">
                    <a:pos x="9" y="152"/>
                  </a:cxn>
                  <a:cxn ang="0">
                    <a:pos x="0" y="126"/>
                  </a:cxn>
                  <a:cxn ang="0">
                    <a:pos x="0" y="100"/>
                  </a:cxn>
                  <a:cxn ang="0">
                    <a:pos x="0" y="74"/>
                  </a:cxn>
                  <a:cxn ang="0">
                    <a:pos x="9" y="48"/>
                  </a:cxn>
                  <a:cxn ang="0">
                    <a:pos x="22" y="26"/>
                  </a:cxn>
                  <a:cxn ang="0">
                    <a:pos x="39" y="5"/>
                  </a:cxn>
                  <a:cxn ang="0">
                    <a:pos x="39" y="5"/>
                  </a:cxn>
                  <a:cxn ang="0">
                    <a:pos x="48" y="0"/>
                  </a:cxn>
                  <a:cxn ang="0">
                    <a:pos x="56" y="5"/>
                  </a:cxn>
                  <a:cxn ang="0">
                    <a:pos x="56" y="5"/>
                  </a:cxn>
                  <a:cxn ang="0">
                    <a:pos x="61" y="13"/>
                  </a:cxn>
                  <a:cxn ang="0">
                    <a:pos x="56" y="26"/>
                  </a:cxn>
                  <a:cxn ang="0">
                    <a:pos x="56" y="26"/>
                  </a:cxn>
                </a:cxnLst>
                <a:rect l="0" t="0" r="r" b="b"/>
                <a:pathLst>
                  <a:path w="61" h="204">
                    <a:moveTo>
                      <a:pt x="56" y="26"/>
                    </a:moveTo>
                    <a:lnTo>
                      <a:pt x="56" y="26"/>
                    </a:lnTo>
                    <a:lnTo>
                      <a:pt x="43" y="39"/>
                    </a:lnTo>
                    <a:lnTo>
                      <a:pt x="35" y="61"/>
                    </a:lnTo>
                    <a:lnTo>
                      <a:pt x="26" y="83"/>
                    </a:lnTo>
                    <a:lnTo>
                      <a:pt x="26" y="100"/>
                    </a:lnTo>
                    <a:lnTo>
                      <a:pt x="26" y="100"/>
                    </a:lnTo>
                    <a:lnTo>
                      <a:pt x="26" y="122"/>
                    </a:lnTo>
                    <a:lnTo>
                      <a:pt x="35" y="143"/>
                    </a:lnTo>
                    <a:lnTo>
                      <a:pt x="43" y="161"/>
                    </a:lnTo>
                    <a:lnTo>
                      <a:pt x="56" y="178"/>
                    </a:lnTo>
                    <a:lnTo>
                      <a:pt x="56" y="178"/>
                    </a:lnTo>
                    <a:lnTo>
                      <a:pt x="61" y="187"/>
                    </a:lnTo>
                    <a:lnTo>
                      <a:pt x="56" y="200"/>
                    </a:lnTo>
                    <a:lnTo>
                      <a:pt x="56" y="200"/>
                    </a:lnTo>
                    <a:lnTo>
                      <a:pt x="48" y="204"/>
                    </a:lnTo>
                    <a:lnTo>
                      <a:pt x="39" y="200"/>
                    </a:lnTo>
                    <a:lnTo>
                      <a:pt x="39" y="200"/>
                    </a:lnTo>
                    <a:lnTo>
                      <a:pt x="22" y="178"/>
                    </a:lnTo>
                    <a:lnTo>
                      <a:pt x="9" y="152"/>
                    </a:lnTo>
                    <a:lnTo>
                      <a:pt x="0" y="126"/>
                    </a:lnTo>
                    <a:lnTo>
                      <a:pt x="0" y="100"/>
                    </a:lnTo>
                    <a:lnTo>
                      <a:pt x="0" y="74"/>
                    </a:lnTo>
                    <a:lnTo>
                      <a:pt x="9" y="48"/>
                    </a:lnTo>
                    <a:lnTo>
                      <a:pt x="22" y="26"/>
                    </a:lnTo>
                    <a:lnTo>
                      <a:pt x="39" y="5"/>
                    </a:lnTo>
                    <a:lnTo>
                      <a:pt x="39" y="5"/>
                    </a:lnTo>
                    <a:lnTo>
                      <a:pt x="48" y="0"/>
                    </a:lnTo>
                    <a:lnTo>
                      <a:pt x="56" y="5"/>
                    </a:lnTo>
                    <a:lnTo>
                      <a:pt x="56" y="5"/>
                    </a:lnTo>
                    <a:lnTo>
                      <a:pt x="61" y="13"/>
                    </a:lnTo>
                    <a:lnTo>
                      <a:pt x="56" y="26"/>
                    </a:lnTo>
                    <a:lnTo>
                      <a:pt x="56" y="26"/>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5" name="Freeform 103">
                <a:extLst>
                  <a:ext uri="{FF2B5EF4-FFF2-40B4-BE49-F238E27FC236}">
                    <a16:creationId xmlns:a16="http://schemas.microsoft.com/office/drawing/2014/main" xmlns="" id="{7E17E1E8-FCF5-4B95-99D6-AF88D49D22FD}"/>
                  </a:ext>
                </a:extLst>
              </p:cNvPr>
              <p:cNvSpPr>
                <a:spLocks/>
              </p:cNvSpPr>
              <p:nvPr/>
            </p:nvSpPr>
            <p:spPr bwMode="gray">
              <a:xfrm>
                <a:off x="13468350" y="2625725"/>
                <a:ext cx="82550" cy="227013"/>
              </a:xfrm>
              <a:custGeom>
                <a:avLst/>
                <a:gdLst/>
                <a:ahLst/>
                <a:cxnLst>
                  <a:cxn ang="0">
                    <a:pos x="48" y="21"/>
                  </a:cxn>
                  <a:cxn ang="0">
                    <a:pos x="48" y="21"/>
                  </a:cxn>
                  <a:cxn ang="0">
                    <a:pos x="39" y="34"/>
                  </a:cxn>
                  <a:cxn ang="0">
                    <a:pos x="35" y="47"/>
                  </a:cxn>
                  <a:cxn ang="0">
                    <a:pos x="30" y="69"/>
                  </a:cxn>
                  <a:cxn ang="0">
                    <a:pos x="35" y="95"/>
                  </a:cxn>
                  <a:cxn ang="0">
                    <a:pos x="39" y="108"/>
                  </a:cxn>
                  <a:cxn ang="0">
                    <a:pos x="48" y="117"/>
                  </a:cxn>
                  <a:cxn ang="0">
                    <a:pos x="48" y="117"/>
                  </a:cxn>
                  <a:cxn ang="0">
                    <a:pos x="52" y="125"/>
                  </a:cxn>
                  <a:cxn ang="0">
                    <a:pos x="48" y="138"/>
                  </a:cxn>
                  <a:cxn ang="0">
                    <a:pos x="48" y="138"/>
                  </a:cxn>
                  <a:cxn ang="0">
                    <a:pos x="39" y="143"/>
                  </a:cxn>
                  <a:cxn ang="0">
                    <a:pos x="30" y="138"/>
                  </a:cxn>
                  <a:cxn ang="0">
                    <a:pos x="30" y="138"/>
                  </a:cxn>
                  <a:cxn ang="0">
                    <a:pos x="17" y="121"/>
                  </a:cxn>
                  <a:cxn ang="0">
                    <a:pos x="9" y="104"/>
                  </a:cxn>
                  <a:cxn ang="0">
                    <a:pos x="4" y="86"/>
                  </a:cxn>
                  <a:cxn ang="0">
                    <a:pos x="0" y="69"/>
                  </a:cxn>
                  <a:cxn ang="0">
                    <a:pos x="4" y="52"/>
                  </a:cxn>
                  <a:cxn ang="0">
                    <a:pos x="9" y="34"/>
                  </a:cxn>
                  <a:cxn ang="0">
                    <a:pos x="17" y="17"/>
                  </a:cxn>
                  <a:cxn ang="0">
                    <a:pos x="30" y="4"/>
                  </a:cxn>
                  <a:cxn ang="0">
                    <a:pos x="30" y="4"/>
                  </a:cxn>
                  <a:cxn ang="0">
                    <a:pos x="39" y="0"/>
                  </a:cxn>
                  <a:cxn ang="0">
                    <a:pos x="48" y="4"/>
                  </a:cxn>
                  <a:cxn ang="0">
                    <a:pos x="48" y="4"/>
                  </a:cxn>
                  <a:cxn ang="0">
                    <a:pos x="52" y="13"/>
                  </a:cxn>
                  <a:cxn ang="0">
                    <a:pos x="48" y="21"/>
                  </a:cxn>
                  <a:cxn ang="0">
                    <a:pos x="48" y="21"/>
                  </a:cxn>
                </a:cxnLst>
                <a:rect l="0" t="0" r="r" b="b"/>
                <a:pathLst>
                  <a:path w="52" h="143">
                    <a:moveTo>
                      <a:pt x="48" y="21"/>
                    </a:moveTo>
                    <a:lnTo>
                      <a:pt x="48" y="21"/>
                    </a:lnTo>
                    <a:lnTo>
                      <a:pt x="39" y="34"/>
                    </a:lnTo>
                    <a:lnTo>
                      <a:pt x="35" y="47"/>
                    </a:lnTo>
                    <a:lnTo>
                      <a:pt x="30" y="69"/>
                    </a:lnTo>
                    <a:lnTo>
                      <a:pt x="35" y="95"/>
                    </a:lnTo>
                    <a:lnTo>
                      <a:pt x="39" y="108"/>
                    </a:lnTo>
                    <a:lnTo>
                      <a:pt x="48" y="117"/>
                    </a:lnTo>
                    <a:lnTo>
                      <a:pt x="48" y="117"/>
                    </a:lnTo>
                    <a:lnTo>
                      <a:pt x="52" y="125"/>
                    </a:lnTo>
                    <a:lnTo>
                      <a:pt x="48" y="138"/>
                    </a:lnTo>
                    <a:lnTo>
                      <a:pt x="48" y="138"/>
                    </a:lnTo>
                    <a:lnTo>
                      <a:pt x="39" y="143"/>
                    </a:lnTo>
                    <a:lnTo>
                      <a:pt x="30" y="138"/>
                    </a:lnTo>
                    <a:lnTo>
                      <a:pt x="30" y="138"/>
                    </a:lnTo>
                    <a:lnTo>
                      <a:pt x="17" y="121"/>
                    </a:lnTo>
                    <a:lnTo>
                      <a:pt x="9" y="104"/>
                    </a:lnTo>
                    <a:lnTo>
                      <a:pt x="4" y="86"/>
                    </a:lnTo>
                    <a:lnTo>
                      <a:pt x="0" y="69"/>
                    </a:lnTo>
                    <a:lnTo>
                      <a:pt x="4" y="52"/>
                    </a:lnTo>
                    <a:lnTo>
                      <a:pt x="9" y="34"/>
                    </a:lnTo>
                    <a:lnTo>
                      <a:pt x="17" y="17"/>
                    </a:lnTo>
                    <a:lnTo>
                      <a:pt x="30" y="4"/>
                    </a:lnTo>
                    <a:lnTo>
                      <a:pt x="30" y="4"/>
                    </a:lnTo>
                    <a:lnTo>
                      <a:pt x="39" y="0"/>
                    </a:lnTo>
                    <a:lnTo>
                      <a:pt x="48" y="4"/>
                    </a:lnTo>
                    <a:lnTo>
                      <a:pt x="48" y="4"/>
                    </a:lnTo>
                    <a:lnTo>
                      <a:pt x="52" y="13"/>
                    </a:lnTo>
                    <a:lnTo>
                      <a:pt x="48" y="21"/>
                    </a:lnTo>
                    <a:lnTo>
                      <a:pt x="48"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6" name="Freeform 104">
                <a:extLst>
                  <a:ext uri="{FF2B5EF4-FFF2-40B4-BE49-F238E27FC236}">
                    <a16:creationId xmlns:a16="http://schemas.microsoft.com/office/drawing/2014/main" xmlns="" id="{C266806B-E24A-47DF-80FC-9727885EB5F6}"/>
                  </a:ext>
                </a:extLst>
              </p:cNvPr>
              <p:cNvSpPr>
                <a:spLocks/>
              </p:cNvSpPr>
              <p:nvPr/>
            </p:nvSpPr>
            <p:spPr bwMode="gray">
              <a:xfrm>
                <a:off x="13619163" y="2782887"/>
                <a:ext cx="76200" cy="295275"/>
              </a:xfrm>
              <a:custGeom>
                <a:avLst/>
                <a:gdLst/>
                <a:ahLst/>
                <a:cxnLst>
                  <a:cxn ang="0">
                    <a:pos x="48" y="173"/>
                  </a:cxn>
                  <a:cxn ang="0">
                    <a:pos x="48" y="173"/>
                  </a:cxn>
                  <a:cxn ang="0">
                    <a:pos x="48" y="182"/>
                  </a:cxn>
                  <a:cxn ang="0">
                    <a:pos x="39" y="186"/>
                  </a:cxn>
                  <a:cxn ang="0">
                    <a:pos x="13" y="186"/>
                  </a:cxn>
                  <a:cxn ang="0">
                    <a:pos x="13" y="186"/>
                  </a:cxn>
                  <a:cxn ang="0">
                    <a:pos x="5" y="182"/>
                  </a:cxn>
                  <a:cxn ang="0">
                    <a:pos x="0" y="173"/>
                  </a:cxn>
                  <a:cxn ang="0">
                    <a:pos x="0" y="9"/>
                  </a:cxn>
                  <a:cxn ang="0">
                    <a:pos x="0" y="9"/>
                  </a:cxn>
                  <a:cxn ang="0">
                    <a:pos x="5" y="5"/>
                  </a:cxn>
                  <a:cxn ang="0">
                    <a:pos x="13" y="0"/>
                  </a:cxn>
                  <a:cxn ang="0">
                    <a:pos x="39" y="0"/>
                  </a:cxn>
                  <a:cxn ang="0">
                    <a:pos x="39" y="0"/>
                  </a:cxn>
                  <a:cxn ang="0">
                    <a:pos x="48" y="5"/>
                  </a:cxn>
                  <a:cxn ang="0">
                    <a:pos x="48" y="9"/>
                  </a:cxn>
                  <a:cxn ang="0">
                    <a:pos x="48" y="173"/>
                  </a:cxn>
                </a:cxnLst>
                <a:rect l="0" t="0" r="r" b="b"/>
                <a:pathLst>
                  <a:path w="48" h="186">
                    <a:moveTo>
                      <a:pt x="48" y="173"/>
                    </a:moveTo>
                    <a:lnTo>
                      <a:pt x="48" y="173"/>
                    </a:lnTo>
                    <a:lnTo>
                      <a:pt x="48" y="182"/>
                    </a:lnTo>
                    <a:lnTo>
                      <a:pt x="39" y="186"/>
                    </a:lnTo>
                    <a:lnTo>
                      <a:pt x="13" y="186"/>
                    </a:lnTo>
                    <a:lnTo>
                      <a:pt x="13" y="186"/>
                    </a:lnTo>
                    <a:lnTo>
                      <a:pt x="5" y="182"/>
                    </a:lnTo>
                    <a:lnTo>
                      <a:pt x="0" y="173"/>
                    </a:lnTo>
                    <a:lnTo>
                      <a:pt x="0" y="9"/>
                    </a:lnTo>
                    <a:lnTo>
                      <a:pt x="0" y="9"/>
                    </a:lnTo>
                    <a:lnTo>
                      <a:pt x="5" y="5"/>
                    </a:lnTo>
                    <a:lnTo>
                      <a:pt x="13" y="0"/>
                    </a:lnTo>
                    <a:lnTo>
                      <a:pt x="39" y="0"/>
                    </a:lnTo>
                    <a:lnTo>
                      <a:pt x="39" y="0"/>
                    </a:lnTo>
                    <a:lnTo>
                      <a:pt x="48" y="5"/>
                    </a:lnTo>
                    <a:lnTo>
                      <a:pt x="48" y="9"/>
                    </a:lnTo>
                    <a:lnTo>
                      <a:pt x="48" y="173"/>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7" name="Freeform 105">
                <a:extLst>
                  <a:ext uri="{FF2B5EF4-FFF2-40B4-BE49-F238E27FC236}">
                    <a16:creationId xmlns:a16="http://schemas.microsoft.com/office/drawing/2014/main" xmlns="" id="{7CBFE278-5B0A-4C7D-83D1-30CD83AEFFEE}"/>
                  </a:ext>
                </a:extLst>
              </p:cNvPr>
              <p:cNvSpPr>
                <a:spLocks/>
              </p:cNvSpPr>
              <p:nvPr/>
            </p:nvSpPr>
            <p:spPr bwMode="gray">
              <a:xfrm>
                <a:off x="13577888" y="2667000"/>
                <a:ext cx="158750" cy="165100"/>
              </a:xfrm>
              <a:custGeom>
                <a:avLst/>
                <a:gdLst/>
                <a:ahLst/>
                <a:cxnLst>
                  <a:cxn ang="0">
                    <a:pos x="100" y="52"/>
                  </a:cxn>
                  <a:cxn ang="0">
                    <a:pos x="100" y="52"/>
                  </a:cxn>
                  <a:cxn ang="0">
                    <a:pos x="96" y="73"/>
                  </a:cxn>
                  <a:cxn ang="0">
                    <a:pos x="87" y="86"/>
                  </a:cxn>
                  <a:cxn ang="0">
                    <a:pos x="70" y="99"/>
                  </a:cxn>
                  <a:cxn ang="0">
                    <a:pos x="52" y="104"/>
                  </a:cxn>
                  <a:cxn ang="0">
                    <a:pos x="52" y="104"/>
                  </a:cxn>
                  <a:cxn ang="0">
                    <a:pos x="31" y="99"/>
                  </a:cxn>
                  <a:cxn ang="0">
                    <a:pos x="18" y="86"/>
                  </a:cxn>
                  <a:cxn ang="0">
                    <a:pos x="5" y="73"/>
                  </a:cxn>
                  <a:cxn ang="0">
                    <a:pos x="0" y="52"/>
                  </a:cxn>
                  <a:cxn ang="0">
                    <a:pos x="0" y="52"/>
                  </a:cxn>
                  <a:cxn ang="0">
                    <a:pos x="5" y="34"/>
                  </a:cxn>
                  <a:cxn ang="0">
                    <a:pos x="18" y="17"/>
                  </a:cxn>
                  <a:cxn ang="0">
                    <a:pos x="31" y="4"/>
                  </a:cxn>
                  <a:cxn ang="0">
                    <a:pos x="52" y="0"/>
                  </a:cxn>
                  <a:cxn ang="0">
                    <a:pos x="52" y="0"/>
                  </a:cxn>
                  <a:cxn ang="0">
                    <a:pos x="70" y="4"/>
                  </a:cxn>
                  <a:cxn ang="0">
                    <a:pos x="87" y="17"/>
                  </a:cxn>
                  <a:cxn ang="0">
                    <a:pos x="96" y="34"/>
                  </a:cxn>
                  <a:cxn ang="0">
                    <a:pos x="100" y="52"/>
                  </a:cxn>
                  <a:cxn ang="0">
                    <a:pos x="100" y="52"/>
                  </a:cxn>
                </a:cxnLst>
                <a:rect l="0" t="0" r="r" b="b"/>
                <a:pathLst>
                  <a:path w="100" h="104">
                    <a:moveTo>
                      <a:pt x="100" y="52"/>
                    </a:moveTo>
                    <a:lnTo>
                      <a:pt x="100" y="52"/>
                    </a:lnTo>
                    <a:lnTo>
                      <a:pt x="96" y="73"/>
                    </a:lnTo>
                    <a:lnTo>
                      <a:pt x="87" y="86"/>
                    </a:lnTo>
                    <a:lnTo>
                      <a:pt x="70" y="99"/>
                    </a:lnTo>
                    <a:lnTo>
                      <a:pt x="52" y="104"/>
                    </a:lnTo>
                    <a:lnTo>
                      <a:pt x="52" y="104"/>
                    </a:lnTo>
                    <a:lnTo>
                      <a:pt x="31" y="99"/>
                    </a:lnTo>
                    <a:lnTo>
                      <a:pt x="18" y="86"/>
                    </a:lnTo>
                    <a:lnTo>
                      <a:pt x="5" y="73"/>
                    </a:lnTo>
                    <a:lnTo>
                      <a:pt x="0" y="52"/>
                    </a:lnTo>
                    <a:lnTo>
                      <a:pt x="0" y="52"/>
                    </a:lnTo>
                    <a:lnTo>
                      <a:pt x="5" y="34"/>
                    </a:lnTo>
                    <a:lnTo>
                      <a:pt x="18" y="17"/>
                    </a:lnTo>
                    <a:lnTo>
                      <a:pt x="31" y="4"/>
                    </a:lnTo>
                    <a:lnTo>
                      <a:pt x="52" y="0"/>
                    </a:lnTo>
                    <a:lnTo>
                      <a:pt x="52" y="0"/>
                    </a:lnTo>
                    <a:lnTo>
                      <a:pt x="70" y="4"/>
                    </a:lnTo>
                    <a:lnTo>
                      <a:pt x="87" y="17"/>
                    </a:lnTo>
                    <a:lnTo>
                      <a:pt x="96" y="34"/>
                    </a:lnTo>
                    <a:lnTo>
                      <a:pt x="100" y="52"/>
                    </a:lnTo>
                    <a:lnTo>
                      <a:pt x="100" y="52"/>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8" name="Freeform 106">
                <a:extLst>
                  <a:ext uri="{FF2B5EF4-FFF2-40B4-BE49-F238E27FC236}">
                    <a16:creationId xmlns:a16="http://schemas.microsoft.com/office/drawing/2014/main" xmlns="" id="{E5326535-DB1A-47D9-8ADB-B8481CEB421A}"/>
                  </a:ext>
                </a:extLst>
              </p:cNvPr>
              <p:cNvSpPr>
                <a:spLocks/>
              </p:cNvSpPr>
              <p:nvPr/>
            </p:nvSpPr>
            <p:spPr bwMode="gray">
              <a:xfrm>
                <a:off x="13096875" y="3106737"/>
                <a:ext cx="687387" cy="247650"/>
              </a:xfrm>
              <a:custGeom>
                <a:avLst/>
                <a:gdLst/>
                <a:ahLst/>
                <a:cxnLst>
                  <a:cxn ang="0">
                    <a:pos x="424" y="0"/>
                  </a:cxn>
                  <a:cxn ang="0">
                    <a:pos x="13" y="0"/>
                  </a:cxn>
                  <a:cxn ang="0">
                    <a:pos x="13" y="0"/>
                  </a:cxn>
                  <a:cxn ang="0">
                    <a:pos x="5" y="4"/>
                  </a:cxn>
                  <a:cxn ang="0">
                    <a:pos x="0" y="13"/>
                  </a:cxn>
                  <a:cxn ang="0">
                    <a:pos x="0" y="143"/>
                  </a:cxn>
                  <a:cxn ang="0">
                    <a:pos x="0" y="143"/>
                  </a:cxn>
                  <a:cxn ang="0">
                    <a:pos x="5" y="151"/>
                  </a:cxn>
                  <a:cxn ang="0">
                    <a:pos x="13" y="156"/>
                  </a:cxn>
                  <a:cxn ang="0">
                    <a:pos x="424" y="156"/>
                  </a:cxn>
                  <a:cxn ang="0">
                    <a:pos x="424" y="156"/>
                  </a:cxn>
                  <a:cxn ang="0">
                    <a:pos x="429" y="151"/>
                  </a:cxn>
                  <a:cxn ang="0">
                    <a:pos x="433" y="143"/>
                  </a:cxn>
                  <a:cxn ang="0">
                    <a:pos x="433" y="13"/>
                  </a:cxn>
                  <a:cxn ang="0">
                    <a:pos x="433" y="13"/>
                  </a:cxn>
                  <a:cxn ang="0">
                    <a:pos x="429" y="4"/>
                  </a:cxn>
                  <a:cxn ang="0">
                    <a:pos x="424" y="0"/>
                  </a:cxn>
                  <a:cxn ang="0">
                    <a:pos x="424" y="0"/>
                  </a:cxn>
                </a:cxnLst>
                <a:rect l="0" t="0" r="r" b="b"/>
                <a:pathLst>
                  <a:path w="433" h="156">
                    <a:moveTo>
                      <a:pt x="424" y="0"/>
                    </a:moveTo>
                    <a:lnTo>
                      <a:pt x="13" y="0"/>
                    </a:lnTo>
                    <a:lnTo>
                      <a:pt x="13" y="0"/>
                    </a:lnTo>
                    <a:lnTo>
                      <a:pt x="5" y="4"/>
                    </a:lnTo>
                    <a:lnTo>
                      <a:pt x="0" y="13"/>
                    </a:lnTo>
                    <a:lnTo>
                      <a:pt x="0" y="143"/>
                    </a:lnTo>
                    <a:lnTo>
                      <a:pt x="0" y="143"/>
                    </a:lnTo>
                    <a:lnTo>
                      <a:pt x="5" y="151"/>
                    </a:lnTo>
                    <a:lnTo>
                      <a:pt x="13" y="156"/>
                    </a:lnTo>
                    <a:lnTo>
                      <a:pt x="424" y="156"/>
                    </a:lnTo>
                    <a:lnTo>
                      <a:pt x="424" y="156"/>
                    </a:lnTo>
                    <a:lnTo>
                      <a:pt x="429" y="151"/>
                    </a:lnTo>
                    <a:lnTo>
                      <a:pt x="433" y="143"/>
                    </a:lnTo>
                    <a:lnTo>
                      <a:pt x="433" y="13"/>
                    </a:lnTo>
                    <a:lnTo>
                      <a:pt x="433" y="13"/>
                    </a:lnTo>
                    <a:lnTo>
                      <a:pt x="429" y="4"/>
                    </a:lnTo>
                    <a:lnTo>
                      <a:pt x="424" y="0"/>
                    </a:lnTo>
                    <a:lnTo>
                      <a:pt x="424" y="0"/>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9" name="Freeform 107">
                <a:extLst>
                  <a:ext uri="{FF2B5EF4-FFF2-40B4-BE49-F238E27FC236}">
                    <a16:creationId xmlns:a16="http://schemas.microsoft.com/office/drawing/2014/main" xmlns="" id="{FF07AFCD-EF15-454E-8180-47A6C622AEF6}"/>
                  </a:ext>
                </a:extLst>
              </p:cNvPr>
              <p:cNvSpPr>
                <a:spLocks/>
              </p:cNvSpPr>
              <p:nvPr/>
            </p:nvSpPr>
            <p:spPr bwMode="gray">
              <a:xfrm>
                <a:off x="13146088" y="3148012"/>
                <a:ext cx="74612" cy="74613"/>
              </a:xfrm>
              <a:custGeom>
                <a:avLst/>
                <a:gdLst/>
                <a:ahLst/>
                <a:cxnLst>
                  <a:cxn ang="0">
                    <a:pos x="47" y="21"/>
                  </a:cxn>
                  <a:cxn ang="0">
                    <a:pos x="47" y="21"/>
                  </a:cxn>
                  <a:cxn ang="0">
                    <a:pos x="47" y="30"/>
                  </a:cxn>
                  <a:cxn ang="0">
                    <a:pos x="39" y="39"/>
                  </a:cxn>
                  <a:cxn ang="0">
                    <a:pos x="34" y="43"/>
                  </a:cxn>
                  <a:cxn ang="0">
                    <a:pos x="21" y="47"/>
                  </a:cxn>
                  <a:cxn ang="0">
                    <a:pos x="21" y="47"/>
                  </a:cxn>
                  <a:cxn ang="0">
                    <a:pos x="13" y="43"/>
                  </a:cxn>
                  <a:cxn ang="0">
                    <a:pos x="4" y="39"/>
                  </a:cxn>
                  <a:cxn ang="0">
                    <a:pos x="0" y="30"/>
                  </a:cxn>
                  <a:cxn ang="0">
                    <a:pos x="0" y="21"/>
                  </a:cxn>
                  <a:cxn ang="0">
                    <a:pos x="0" y="21"/>
                  </a:cxn>
                  <a:cxn ang="0">
                    <a:pos x="0" y="13"/>
                  </a:cxn>
                  <a:cxn ang="0">
                    <a:pos x="4" y="4"/>
                  </a:cxn>
                  <a:cxn ang="0">
                    <a:pos x="13" y="0"/>
                  </a:cxn>
                  <a:cxn ang="0">
                    <a:pos x="21" y="0"/>
                  </a:cxn>
                  <a:cxn ang="0">
                    <a:pos x="21" y="0"/>
                  </a:cxn>
                  <a:cxn ang="0">
                    <a:pos x="34" y="0"/>
                  </a:cxn>
                  <a:cxn ang="0">
                    <a:pos x="39" y="4"/>
                  </a:cxn>
                  <a:cxn ang="0">
                    <a:pos x="47" y="13"/>
                  </a:cxn>
                  <a:cxn ang="0">
                    <a:pos x="47" y="21"/>
                  </a:cxn>
                  <a:cxn ang="0">
                    <a:pos x="47" y="21"/>
                  </a:cxn>
                </a:cxnLst>
                <a:rect l="0" t="0" r="r" b="b"/>
                <a:pathLst>
                  <a:path w="47" h="47">
                    <a:moveTo>
                      <a:pt x="47" y="21"/>
                    </a:moveTo>
                    <a:lnTo>
                      <a:pt x="47" y="21"/>
                    </a:lnTo>
                    <a:lnTo>
                      <a:pt x="47" y="30"/>
                    </a:lnTo>
                    <a:lnTo>
                      <a:pt x="39" y="39"/>
                    </a:lnTo>
                    <a:lnTo>
                      <a:pt x="34" y="43"/>
                    </a:lnTo>
                    <a:lnTo>
                      <a:pt x="21" y="47"/>
                    </a:lnTo>
                    <a:lnTo>
                      <a:pt x="21" y="47"/>
                    </a:lnTo>
                    <a:lnTo>
                      <a:pt x="13" y="43"/>
                    </a:lnTo>
                    <a:lnTo>
                      <a:pt x="4" y="39"/>
                    </a:lnTo>
                    <a:lnTo>
                      <a:pt x="0" y="30"/>
                    </a:lnTo>
                    <a:lnTo>
                      <a:pt x="0" y="21"/>
                    </a:lnTo>
                    <a:lnTo>
                      <a:pt x="0" y="21"/>
                    </a:lnTo>
                    <a:lnTo>
                      <a:pt x="0" y="13"/>
                    </a:lnTo>
                    <a:lnTo>
                      <a:pt x="4" y="4"/>
                    </a:lnTo>
                    <a:lnTo>
                      <a:pt x="13" y="0"/>
                    </a:lnTo>
                    <a:lnTo>
                      <a:pt x="21" y="0"/>
                    </a:lnTo>
                    <a:lnTo>
                      <a:pt x="21" y="0"/>
                    </a:lnTo>
                    <a:lnTo>
                      <a:pt x="34" y="0"/>
                    </a:lnTo>
                    <a:lnTo>
                      <a:pt x="39" y="4"/>
                    </a:lnTo>
                    <a:lnTo>
                      <a:pt x="47" y="13"/>
                    </a:lnTo>
                    <a:lnTo>
                      <a:pt x="47" y="21"/>
                    </a:lnTo>
                    <a:lnTo>
                      <a:pt x="47"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0" name="Freeform 108">
                <a:extLst>
                  <a:ext uri="{FF2B5EF4-FFF2-40B4-BE49-F238E27FC236}">
                    <a16:creationId xmlns:a16="http://schemas.microsoft.com/office/drawing/2014/main" xmlns="" id="{6E994104-1770-4FA6-B321-C39C9A77A8CB}"/>
                  </a:ext>
                </a:extLst>
              </p:cNvPr>
              <p:cNvSpPr>
                <a:spLocks/>
              </p:cNvSpPr>
              <p:nvPr/>
            </p:nvSpPr>
            <p:spPr bwMode="gray">
              <a:xfrm>
                <a:off x="13255625" y="3148012"/>
                <a:ext cx="74612" cy="74613"/>
              </a:xfrm>
              <a:custGeom>
                <a:avLst/>
                <a:gdLst/>
                <a:ahLst/>
                <a:cxnLst>
                  <a:cxn ang="0">
                    <a:pos x="47" y="21"/>
                  </a:cxn>
                  <a:cxn ang="0">
                    <a:pos x="47" y="21"/>
                  </a:cxn>
                  <a:cxn ang="0">
                    <a:pos x="47" y="30"/>
                  </a:cxn>
                  <a:cxn ang="0">
                    <a:pos x="43" y="39"/>
                  </a:cxn>
                  <a:cxn ang="0">
                    <a:pos x="35" y="43"/>
                  </a:cxn>
                  <a:cxn ang="0">
                    <a:pos x="26" y="47"/>
                  </a:cxn>
                  <a:cxn ang="0">
                    <a:pos x="26" y="47"/>
                  </a:cxn>
                  <a:cxn ang="0">
                    <a:pos x="17" y="43"/>
                  </a:cxn>
                  <a:cxn ang="0">
                    <a:pos x="9" y="39"/>
                  </a:cxn>
                  <a:cxn ang="0">
                    <a:pos x="4" y="30"/>
                  </a:cxn>
                  <a:cxn ang="0">
                    <a:pos x="0" y="21"/>
                  </a:cxn>
                  <a:cxn ang="0">
                    <a:pos x="0" y="21"/>
                  </a:cxn>
                  <a:cxn ang="0">
                    <a:pos x="4" y="13"/>
                  </a:cxn>
                  <a:cxn ang="0">
                    <a:pos x="9" y="4"/>
                  </a:cxn>
                  <a:cxn ang="0">
                    <a:pos x="17" y="0"/>
                  </a:cxn>
                  <a:cxn ang="0">
                    <a:pos x="26" y="0"/>
                  </a:cxn>
                  <a:cxn ang="0">
                    <a:pos x="26" y="0"/>
                  </a:cxn>
                  <a:cxn ang="0">
                    <a:pos x="35" y="0"/>
                  </a:cxn>
                  <a:cxn ang="0">
                    <a:pos x="43" y="4"/>
                  </a:cxn>
                  <a:cxn ang="0">
                    <a:pos x="47" y="13"/>
                  </a:cxn>
                  <a:cxn ang="0">
                    <a:pos x="47" y="21"/>
                  </a:cxn>
                  <a:cxn ang="0">
                    <a:pos x="47" y="21"/>
                  </a:cxn>
                </a:cxnLst>
                <a:rect l="0" t="0" r="r" b="b"/>
                <a:pathLst>
                  <a:path w="47" h="47">
                    <a:moveTo>
                      <a:pt x="47" y="21"/>
                    </a:moveTo>
                    <a:lnTo>
                      <a:pt x="47" y="21"/>
                    </a:lnTo>
                    <a:lnTo>
                      <a:pt x="47" y="30"/>
                    </a:lnTo>
                    <a:lnTo>
                      <a:pt x="43" y="39"/>
                    </a:lnTo>
                    <a:lnTo>
                      <a:pt x="35" y="43"/>
                    </a:lnTo>
                    <a:lnTo>
                      <a:pt x="26" y="47"/>
                    </a:lnTo>
                    <a:lnTo>
                      <a:pt x="26" y="47"/>
                    </a:lnTo>
                    <a:lnTo>
                      <a:pt x="17" y="43"/>
                    </a:lnTo>
                    <a:lnTo>
                      <a:pt x="9" y="39"/>
                    </a:lnTo>
                    <a:lnTo>
                      <a:pt x="4" y="30"/>
                    </a:lnTo>
                    <a:lnTo>
                      <a:pt x="0" y="21"/>
                    </a:lnTo>
                    <a:lnTo>
                      <a:pt x="0" y="21"/>
                    </a:lnTo>
                    <a:lnTo>
                      <a:pt x="4" y="13"/>
                    </a:lnTo>
                    <a:lnTo>
                      <a:pt x="9" y="4"/>
                    </a:lnTo>
                    <a:lnTo>
                      <a:pt x="17" y="0"/>
                    </a:lnTo>
                    <a:lnTo>
                      <a:pt x="26" y="0"/>
                    </a:lnTo>
                    <a:lnTo>
                      <a:pt x="26" y="0"/>
                    </a:lnTo>
                    <a:lnTo>
                      <a:pt x="35" y="0"/>
                    </a:lnTo>
                    <a:lnTo>
                      <a:pt x="43" y="4"/>
                    </a:lnTo>
                    <a:lnTo>
                      <a:pt x="47" y="13"/>
                    </a:lnTo>
                    <a:lnTo>
                      <a:pt x="47" y="21"/>
                    </a:lnTo>
                    <a:lnTo>
                      <a:pt x="47"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1" name="Freeform 109">
                <a:extLst>
                  <a:ext uri="{FF2B5EF4-FFF2-40B4-BE49-F238E27FC236}">
                    <a16:creationId xmlns:a16="http://schemas.microsoft.com/office/drawing/2014/main" xmlns="" id="{3FC0C17F-19F1-4869-9EE5-4A224D24849F}"/>
                  </a:ext>
                </a:extLst>
              </p:cNvPr>
              <p:cNvSpPr>
                <a:spLocks/>
              </p:cNvSpPr>
              <p:nvPr/>
            </p:nvSpPr>
            <p:spPr bwMode="gray">
              <a:xfrm>
                <a:off x="13365163" y="3148012"/>
                <a:ext cx="82550" cy="74613"/>
              </a:xfrm>
              <a:custGeom>
                <a:avLst/>
                <a:gdLst/>
                <a:ahLst/>
                <a:cxnLst>
                  <a:cxn ang="0">
                    <a:pos x="52" y="21"/>
                  </a:cxn>
                  <a:cxn ang="0">
                    <a:pos x="52" y="21"/>
                  </a:cxn>
                  <a:cxn ang="0">
                    <a:pos x="48" y="30"/>
                  </a:cxn>
                  <a:cxn ang="0">
                    <a:pos x="43" y="39"/>
                  </a:cxn>
                  <a:cxn ang="0">
                    <a:pos x="35" y="43"/>
                  </a:cxn>
                  <a:cxn ang="0">
                    <a:pos x="26" y="47"/>
                  </a:cxn>
                  <a:cxn ang="0">
                    <a:pos x="26" y="47"/>
                  </a:cxn>
                  <a:cxn ang="0">
                    <a:pos x="17" y="43"/>
                  </a:cxn>
                  <a:cxn ang="0">
                    <a:pos x="9" y="39"/>
                  </a:cxn>
                  <a:cxn ang="0">
                    <a:pos x="4" y="30"/>
                  </a:cxn>
                  <a:cxn ang="0">
                    <a:pos x="0" y="21"/>
                  </a:cxn>
                  <a:cxn ang="0">
                    <a:pos x="0" y="21"/>
                  </a:cxn>
                  <a:cxn ang="0">
                    <a:pos x="4" y="13"/>
                  </a:cxn>
                  <a:cxn ang="0">
                    <a:pos x="9" y="4"/>
                  </a:cxn>
                  <a:cxn ang="0">
                    <a:pos x="17" y="0"/>
                  </a:cxn>
                  <a:cxn ang="0">
                    <a:pos x="26" y="0"/>
                  </a:cxn>
                  <a:cxn ang="0">
                    <a:pos x="26" y="0"/>
                  </a:cxn>
                  <a:cxn ang="0">
                    <a:pos x="35" y="0"/>
                  </a:cxn>
                  <a:cxn ang="0">
                    <a:pos x="43" y="4"/>
                  </a:cxn>
                  <a:cxn ang="0">
                    <a:pos x="48" y="13"/>
                  </a:cxn>
                  <a:cxn ang="0">
                    <a:pos x="52" y="21"/>
                  </a:cxn>
                  <a:cxn ang="0">
                    <a:pos x="52" y="21"/>
                  </a:cxn>
                </a:cxnLst>
                <a:rect l="0" t="0" r="r" b="b"/>
                <a:pathLst>
                  <a:path w="52" h="47">
                    <a:moveTo>
                      <a:pt x="52" y="21"/>
                    </a:moveTo>
                    <a:lnTo>
                      <a:pt x="52" y="21"/>
                    </a:lnTo>
                    <a:lnTo>
                      <a:pt x="48" y="30"/>
                    </a:lnTo>
                    <a:lnTo>
                      <a:pt x="43" y="39"/>
                    </a:lnTo>
                    <a:lnTo>
                      <a:pt x="35" y="43"/>
                    </a:lnTo>
                    <a:lnTo>
                      <a:pt x="26" y="47"/>
                    </a:lnTo>
                    <a:lnTo>
                      <a:pt x="26" y="47"/>
                    </a:lnTo>
                    <a:lnTo>
                      <a:pt x="17" y="43"/>
                    </a:lnTo>
                    <a:lnTo>
                      <a:pt x="9" y="39"/>
                    </a:lnTo>
                    <a:lnTo>
                      <a:pt x="4" y="30"/>
                    </a:lnTo>
                    <a:lnTo>
                      <a:pt x="0" y="21"/>
                    </a:lnTo>
                    <a:lnTo>
                      <a:pt x="0" y="21"/>
                    </a:lnTo>
                    <a:lnTo>
                      <a:pt x="4" y="13"/>
                    </a:lnTo>
                    <a:lnTo>
                      <a:pt x="9" y="4"/>
                    </a:lnTo>
                    <a:lnTo>
                      <a:pt x="17" y="0"/>
                    </a:lnTo>
                    <a:lnTo>
                      <a:pt x="26" y="0"/>
                    </a:lnTo>
                    <a:lnTo>
                      <a:pt x="26" y="0"/>
                    </a:lnTo>
                    <a:lnTo>
                      <a:pt x="35" y="0"/>
                    </a:lnTo>
                    <a:lnTo>
                      <a:pt x="43" y="4"/>
                    </a:lnTo>
                    <a:lnTo>
                      <a:pt x="48" y="13"/>
                    </a:lnTo>
                    <a:lnTo>
                      <a:pt x="52" y="21"/>
                    </a:lnTo>
                    <a:lnTo>
                      <a:pt x="52"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65" name="组合 576">
              <a:extLst>
                <a:ext uri="{FF2B5EF4-FFF2-40B4-BE49-F238E27FC236}">
                  <a16:creationId xmlns:a16="http://schemas.microsoft.com/office/drawing/2014/main" xmlns="" id="{5A8450E2-B8B1-4EA2-B5C2-A88A74FBF001}"/>
                </a:ext>
              </a:extLst>
            </p:cNvPr>
            <p:cNvGrpSpPr/>
            <p:nvPr/>
          </p:nvGrpSpPr>
          <p:grpSpPr bwMode="gray">
            <a:xfrm>
              <a:off x="4235253" y="3393259"/>
              <a:ext cx="425649" cy="411271"/>
              <a:chOff x="13096875" y="2576512"/>
              <a:chExt cx="804862" cy="777875"/>
            </a:xfrm>
            <a:grpFill/>
          </p:grpSpPr>
          <p:sp>
            <p:nvSpPr>
              <p:cNvPr id="102" name="Freeform 100">
                <a:extLst>
                  <a:ext uri="{FF2B5EF4-FFF2-40B4-BE49-F238E27FC236}">
                    <a16:creationId xmlns:a16="http://schemas.microsoft.com/office/drawing/2014/main" xmlns="" id="{259440E4-CBDF-4759-91E4-788DF36A322C}"/>
                  </a:ext>
                </a:extLst>
              </p:cNvPr>
              <p:cNvSpPr>
                <a:spLocks/>
              </p:cNvSpPr>
              <p:nvPr/>
            </p:nvSpPr>
            <p:spPr bwMode="gray">
              <a:xfrm>
                <a:off x="13798550" y="2576512"/>
                <a:ext cx="103187" cy="323850"/>
              </a:xfrm>
              <a:custGeom>
                <a:avLst/>
                <a:gdLst/>
                <a:ahLst/>
                <a:cxnLst>
                  <a:cxn ang="0">
                    <a:pos x="4" y="178"/>
                  </a:cxn>
                  <a:cxn ang="0">
                    <a:pos x="4" y="178"/>
                  </a:cxn>
                  <a:cxn ang="0">
                    <a:pos x="17" y="161"/>
                  </a:cxn>
                  <a:cxn ang="0">
                    <a:pos x="30" y="143"/>
                  </a:cxn>
                  <a:cxn ang="0">
                    <a:pos x="34" y="122"/>
                  </a:cxn>
                  <a:cxn ang="0">
                    <a:pos x="34" y="100"/>
                  </a:cxn>
                  <a:cxn ang="0">
                    <a:pos x="34" y="100"/>
                  </a:cxn>
                  <a:cxn ang="0">
                    <a:pos x="34" y="83"/>
                  </a:cxn>
                  <a:cxn ang="0">
                    <a:pos x="30" y="61"/>
                  </a:cxn>
                  <a:cxn ang="0">
                    <a:pos x="17" y="39"/>
                  </a:cxn>
                  <a:cxn ang="0">
                    <a:pos x="4" y="26"/>
                  </a:cxn>
                  <a:cxn ang="0">
                    <a:pos x="4" y="26"/>
                  </a:cxn>
                  <a:cxn ang="0">
                    <a:pos x="0" y="13"/>
                  </a:cxn>
                  <a:cxn ang="0">
                    <a:pos x="4" y="5"/>
                  </a:cxn>
                  <a:cxn ang="0">
                    <a:pos x="4" y="5"/>
                  </a:cxn>
                  <a:cxn ang="0">
                    <a:pos x="13" y="0"/>
                  </a:cxn>
                  <a:cxn ang="0">
                    <a:pos x="26" y="5"/>
                  </a:cxn>
                  <a:cxn ang="0">
                    <a:pos x="26" y="5"/>
                  </a:cxn>
                  <a:cxn ang="0">
                    <a:pos x="43" y="26"/>
                  </a:cxn>
                  <a:cxn ang="0">
                    <a:pos x="56" y="48"/>
                  </a:cxn>
                  <a:cxn ang="0">
                    <a:pos x="60" y="74"/>
                  </a:cxn>
                  <a:cxn ang="0">
                    <a:pos x="65" y="100"/>
                  </a:cxn>
                  <a:cxn ang="0">
                    <a:pos x="60" y="126"/>
                  </a:cxn>
                  <a:cxn ang="0">
                    <a:pos x="56" y="152"/>
                  </a:cxn>
                  <a:cxn ang="0">
                    <a:pos x="43" y="178"/>
                  </a:cxn>
                  <a:cxn ang="0">
                    <a:pos x="26" y="200"/>
                  </a:cxn>
                  <a:cxn ang="0">
                    <a:pos x="26" y="200"/>
                  </a:cxn>
                  <a:cxn ang="0">
                    <a:pos x="13" y="204"/>
                  </a:cxn>
                  <a:cxn ang="0">
                    <a:pos x="4" y="200"/>
                  </a:cxn>
                  <a:cxn ang="0">
                    <a:pos x="4" y="200"/>
                  </a:cxn>
                  <a:cxn ang="0">
                    <a:pos x="0" y="187"/>
                  </a:cxn>
                  <a:cxn ang="0">
                    <a:pos x="4" y="178"/>
                  </a:cxn>
                  <a:cxn ang="0">
                    <a:pos x="4" y="178"/>
                  </a:cxn>
                </a:cxnLst>
                <a:rect l="0" t="0" r="r" b="b"/>
                <a:pathLst>
                  <a:path w="65" h="204">
                    <a:moveTo>
                      <a:pt x="4" y="178"/>
                    </a:moveTo>
                    <a:lnTo>
                      <a:pt x="4" y="178"/>
                    </a:lnTo>
                    <a:lnTo>
                      <a:pt x="17" y="161"/>
                    </a:lnTo>
                    <a:lnTo>
                      <a:pt x="30" y="143"/>
                    </a:lnTo>
                    <a:lnTo>
                      <a:pt x="34" y="122"/>
                    </a:lnTo>
                    <a:lnTo>
                      <a:pt x="34" y="100"/>
                    </a:lnTo>
                    <a:lnTo>
                      <a:pt x="34" y="100"/>
                    </a:lnTo>
                    <a:lnTo>
                      <a:pt x="34" y="83"/>
                    </a:lnTo>
                    <a:lnTo>
                      <a:pt x="30" y="61"/>
                    </a:lnTo>
                    <a:lnTo>
                      <a:pt x="17" y="39"/>
                    </a:lnTo>
                    <a:lnTo>
                      <a:pt x="4" y="26"/>
                    </a:lnTo>
                    <a:lnTo>
                      <a:pt x="4" y="26"/>
                    </a:lnTo>
                    <a:lnTo>
                      <a:pt x="0" y="13"/>
                    </a:lnTo>
                    <a:lnTo>
                      <a:pt x="4" y="5"/>
                    </a:lnTo>
                    <a:lnTo>
                      <a:pt x="4" y="5"/>
                    </a:lnTo>
                    <a:lnTo>
                      <a:pt x="13" y="0"/>
                    </a:lnTo>
                    <a:lnTo>
                      <a:pt x="26" y="5"/>
                    </a:lnTo>
                    <a:lnTo>
                      <a:pt x="26" y="5"/>
                    </a:lnTo>
                    <a:lnTo>
                      <a:pt x="43" y="26"/>
                    </a:lnTo>
                    <a:lnTo>
                      <a:pt x="56" y="48"/>
                    </a:lnTo>
                    <a:lnTo>
                      <a:pt x="60" y="74"/>
                    </a:lnTo>
                    <a:lnTo>
                      <a:pt x="65" y="100"/>
                    </a:lnTo>
                    <a:lnTo>
                      <a:pt x="60" y="126"/>
                    </a:lnTo>
                    <a:lnTo>
                      <a:pt x="56" y="152"/>
                    </a:lnTo>
                    <a:lnTo>
                      <a:pt x="43" y="178"/>
                    </a:lnTo>
                    <a:lnTo>
                      <a:pt x="26" y="200"/>
                    </a:lnTo>
                    <a:lnTo>
                      <a:pt x="26" y="200"/>
                    </a:lnTo>
                    <a:lnTo>
                      <a:pt x="13" y="204"/>
                    </a:lnTo>
                    <a:lnTo>
                      <a:pt x="4" y="200"/>
                    </a:lnTo>
                    <a:lnTo>
                      <a:pt x="4" y="200"/>
                    </a:lnTo>
                    <a:lnTo>
                      <a:pt x="0" y="187"/>
                    </a:lnTo>
                    <a:lnTo>
                      <a:pt x="4" y="178"/>
                    </a:lnTo>
                    <a:lnTo>
                      <a:pt x="4" y="178"/>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3" name="Freeform 101">
                <a:extLst>
                  <a:ext uri="{FF2B5EF4-FFF2-40B4-BE49-F238E27FC236}">
                    <a16:creationId xmlns:a16="http://schemas.microsoft.com/office/drawing/2014/main" xmlns="" id="{2B580B9A-5172-4ADB-AC61-3364E5B53D07}"/>
                  </a:ext>
                </a:extLst>
              </p:cNvPr>
              <p:cNvSpPr>
                <a:spLocks/>
              </p:cNvSpPr>
              <p:nvPr/>
            </p:nvSpPr>
            <p:spPr bwMode="gray">
              <a:xfrm>
                <a:off x="13750925" y="2625725"/>
                <a:ext cx="80962" cy="227013"/>
              </a:xfrm>
              <a:custGeom>
                <a:avLst/>
                <a:gdLst/>
                <a:ahLst/>
                <a:cxnLst>
                  <a:cxn ang="0">
                    <a:pos x="4" y="117"/>
                  </a:cxn>
                  <a:cxn ang="0">
                    <a:pos x="4" y="117"/>
                  </a:cxn>
                  <a:cxn ang="0">
                    <a:pos x="12" y="108"/>
                  </a:cxn>
                  <a:cxn ang="0">
                    <a:pos x="21" y="95"/>
                  </a:cxn>
                  <a:cxn ang="0">
                    <a:pos x="25" y="69"/>
                  </a:cxn>
                  <a:cxn ang="0">
                    <a:pos x="21" y="47"/>
                  </a:cxn>
                  <a:cxn ang="0">
                    <a:pos x="12" y="34"/>
                  </a:cxn>
                  <a:cxn ang="0">
                    <a:pos x="4" y="21"/>
                  </a:cxn>
                  <a:cxn ang="0">
                    <a:pos x="4" y="21"/>
                  </a:cxn>
                  <a:cxn ang="0">
                    <a:pos x="0" y="13"/>
                  </a:cxn>
                  <a:cxn ang="0">
                    <a:pos x="4" y="4"/>
                  </a:cxn>
                  <a:cxn ang="0">
                    <a:pos x="4" y="4"/>
                  </a:cxn>
                  <a:cxn ang="0">
                    <a:pos x="12" y="0"/>
                  </a:cxn>
                  <a:cxn ang="0">
                    <a:pos x="25" y="4"/>
                  </a:cxn>
                  <a:cxn ang="0">
                    <a:pos x="25" y="4"/>
                  </a:cxn>
                  <a:cxn ang="0">
                    <a:pos x="34" y="17"/>
                  </a:cxn>
                  <a:cxn ang="0">
                    <a:pos x="43" y="34"/>
                  </a:cxn>
                  <a:cxn ang="0">
                    <a:pos x="51" y="52"/>
                  </a:cxn>
                  <a:cxn ang="0">
                    <a:pos x="51" y="69"/>
                  </a:cxn>
                  <a:cxn ang="0">
                    <a:pos x="51" y="86"/>
                  </a:cxn>
                  <a:cxn ang="0">
                    <a:pos x="43" y="104"/>
                  </a:cxn>
                  <a:cxn ang="0">
                    <a:pos x="34" y="121"/>
                  </a:cxn>
                  <a:cxn ang="0">
                    <a:pos x="25" y="138"/>
                  </a:cxn>
                  <a:cxn ang="0">
                    <a:pos x="25" y="138"/>
                  </a:cxn>
                  <a:cxn ang="0">
                    <a:pos x="12" y="143"/>
                  </a:cxn>
                  <a:cxn ang="0">
                    <a:pos x="4" y="138"/>
                  </a:cxn>
                  <a:cxn ang="0">
                    <a:pos x="4" y="138"/>
                  </a:cxn>
                  <a:cxn ang="0">
                    <a:pos x="0" y="125"/>
                  </a:cxn>
                  <a:cxn ang="0">
                    <a:pos x="4" y="117"/>
                  </a:cxn>
                  <a:cxn ang="0">
                    <a:pos x="4" y="117"/>
                  </a:cxn>
                </a:cxnLst>
                <a:rect l="0" t="0" r="r" b="b"/>
                <a:pathLst>
                  <a:path w="51" h="143">
                    <a:moveTo>
                      <a:pt x="4" y="117"/>
                    </a:moveTo>
                    <a:lnTo>
                      <a:pt x="4" y="117"/>
                    </a:lnTo>
                    <a:lnTo>
                      <a:pt x="12" y="108"/>
                    </a:lnTo>
                    <a:lnTo>
                      <a:pt x="21" y="95"/>
                    </a:lnTo>
                    <a:lnTo>
                      <a:pt x="25" y="69"/>
                    </a:lnTo>
                    <a:lnTo>
                      <a:pt x="21" y="47"/>
                    </a:lnTo>
                    <a:lnTo>
                      <a:pt x="12" y="34"/>
                    </a:lnTo>
                    <a:lnTo>
                      <a:pt x="4" y="21"/>
                    </a:lnTo>
                    <a:lnTo>
                      <a:pt x="4" y="21"/>
                    </a:lnTo>
                    <a:lnTo>
                      <a:pt x="0" y="13"/>
                    </a:lnTo>
                    <a:lnTo>
                      <a:pt x="4" y="4"/>
                    </a:lnTo>
                    <a:lnTo>
                      <a:pt x="4" y="4"/>
                    </a:lnTo>
                    <a:lnTo>
                      <a:pt x="12" y="0"/>
                    </a:lnTo>
                    <a:lnTo>
                      <a:pt x="25" y="4"/>
                    </a:lnTo>
                    <a:lnTo>
                      <a:pt x="25" y="4"/>
                    </a:lnTo>
                    <a:lnTo>
                      <a:pt x="34" y="17"/>
                    </a:lnTo>
                    <a:lnTo>
                      <a:pt x="43" y="34"/>
                    </a:lnTo>
                    <a:lnTo>
                      <a:pt x="51" y="52"/>
                    </a:lnTo>
                    <a:lnTo>
                      <a:pt x="51" y="69"/>
                    </a:lnTo>
                    <a:lnTo>
                      <a:pt x="51" y="86"/>
                    </a:lnTo>
                    <a:lnTo>
                      <a:pt x="43" y="104"/>
                    </a:lnTo>
                    <a:lnTo>
                      <a:pt x="34" y="121"/>
                    </a:lnTo>
                    <a:lnTo>
                      <a:pt x="25" y="138"/>
                    </a:lnTo>
                    <a:lnTo>
                      <a:pt x="25" y="138"/>
                    </a:lnTo>
                    <a:lnTo>
                      <a:pt x="12" y="143"/>
                    </a:lnTo>
                    <a:lnTo>
                      <a:pt x="4" y="138"/>
                    </a:lnTo>
                    <a:lnTo>
                      <a:pt x="4" y="138"/>
                    </a:lnTo>
                    <a:lnTo>
                      <a:pt x="0" y="125"/>
                    </a:lnTo>
                    <a:lnTo>
                      <a:pt x="4" y="117"/>
                    </a:lnTo>
                    <a:lnTo>
                      <a:pt x="4" y="117"/>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4" name="Freeform 102">
                <a:extLst>
                  <a:ext uri="{FF2B5EF4-FFF2-40B4-BE49-F238E27FC236}">
                    <a16:creationId xmlns:a16="http://schemas.microsoft.com/office/drawing/2014/main" xmlns="" id="{74DDC45F-87B8-4DF7-BFC2-742176D784DA}"/>
                  </a:ext>
                </a:extLst>
              </p:cNvPr>
              <p:cNvSpPr>
                <a:spLocks/>
              </p:cNvSpPr>
              <p:nvPr/>
            </p:nvSpPr>
            <p:spPr bwMode="gray">
              <a:xfrm>
                <a:off x="13406438" y="2576512"/>
                <a:ext cx="96837" cy="323850"/>
              </a:xfrm>
              <a:custGeom>
                <a:avLst/>
                <a:gdLst/>
                <a:ahLst/>
                <a:cxnLst>
                  <a:cxn ang="0">
                    <a:pos x="56" y="26"/>
                  </a:cxn>
                  <a:cxn ang="0">
                    <a:pos x="56" y="26"/>
                  </a:cxn>
                  <a:cxn ang="0">
                    <a:pos x="43" y="39"/>
                  </a:cxn>
                  <a:cxn ang="0">
                    <a:pos x="35" y="61"/>
                  </a:cxn>
                  <a:cxn ang="0">
                    <a:pos x="26" y="83"/>
                  </a:cxn>
                  <a:cxn ang="0">
                    <a:pos x="26" y="100"/>
                  </a:cxn>
                  <a:cxn ang="0">
                    <a:pos x="26" y="100"/>
                  </a:cxn>
                  <a:cxn ang="0">
                    <a:pos x="26" y="122"/>
                  </a:cxn>
                  <a:cxn ang="0">
                    <a:pos x="35" y="143"/>
                  </a:cxn>
                  <a:cxn ang="0">
                    <a:pos x="43" y="161"/>
                  </a:cxn>
                  <a:cxn ang="0">
                    <a:pos x="56" y="178"/>
                  </a:cxn>
                  <a:cxn ang="0">
                    <a:pos x="56" y="178"/>
                  </a:cxn>
                  <a:cxn ang="0">
                    <a:pos x="61" y="187"/>
                  </a:cxn>
                  <a:cxn ang="0">
                    <a:pos x="56" y="200"/>
                  </a:cxn>
                  <a:cxn ang="0">
                    <a:pos x="56" y="200"/>
                  </a:cxn>
                  <a:cxn ang="0">
                    <a:pos x="48" y="204"/>
                  </a:cxn>
                  <a:cxn ang="0">
                    <a:pos x="39" y="200"/>
                  </a:cxn>
                  <a:cxn ang="0">
                    <a:pos x="39" y="200"/>
                  </a:cxn>
                  <a:cxn ang="0">
                    <a:pos x="22" y="178"/>
                  </a:cxn>
                  <a:cxn ang="0">
                    <a:pos x="9" y="152"/>
                  </a:cxn>
                  <a:cxn ang="0">
                    <a:pos x="0" y="126"/>
                  </a:cxn>
                  <a:cxn ang="0">
                    <a:pos x="0" y="100"/>
                  </a:cxn>
                  <a:cxn ang="0">
                    <a:pos x="0" y="74"/>
                  </a:cxn>
                  <a:cxn ang="0">
                    <a:pos x="9" y="48"/>
                  </a:cxn>
                  <a:cxn ang="0">
                    <a:pos x="22" y="26"/>
                  </a:cxn>
                  <a:cxn ang="0">
                    <a:pos x="39" y="5"/>
                  </a:cxn>
                  <a:cxn ang="0">
                    <a:pos x="39" y="5"/>
                  </a:cxn>
                  <a:cxn ang="0">
                    <a:pos x="48" y="0"/>
                  </a:cxn>
                  <a:cxn ang="0">
                    <a:pos x="56" y="5"/>
                  </a:cxn>
                  <a:cxn ang="0">
                    <a:pos x="56" y="5"/>
                  </a:cxn>
                  <a:cxn ang="0">
                    <a:pos x="61" y="13"/>
                  </a:cxn>
                  <a:cxn ang="0">
                    <a:pos x="56" y="26"/>
                  </a:cxn>
                  <a:cxn ang="0">
                    <a:pos x="56" y="26"/>
                  </a:cxn>
                </a:cxnLst>
                <a:rect l="0" t="0" r="r" b="b"/>
                <a:pathLst>
                  <a:path w="61" h="204">
                    <a:moveTo>
                      <a:pt x="56" y="26"/>
                    </a:moveTo>
                    <a:lnTo>
                      <a:pt x="56" y="26"/>
                    </a:lnTo>
                    <a:lnTo>
                      <a:pt x="43" y="39"/>
                    </a:lnTo>
                    <a:lnTo>
                      <a:pt x="35" y="61"/>
                    </a:lnTo>
                    <a:lnTo>
                      <a:pt x="26" y="83"/>
                    </a:lnTo>
                    <a:lnTo>
                      <a:pt x="26" y="100"/>
                    </a:lnTo>
                    <a:lnTo>
                      <a:pt x="26" y="100"/>
                    </a:lnTo>
                    <a:lnTo>
                      <a:pt x="26" y="122"/>
                    </a:lnTo>
                    <a:lnTo>
                      <a:pt x="35" y="143"/>
                    </a:lnTo>
                    <a:lnTo>
                      <a:pt x="43" y="161"/>
                    </a:lnTo>
                    <a:lnTo>
                      <a:pt x="56" y="178"/>
                    </a:lnTo>
                    <a:lnTo>
                      <a:pt x="56" y="178"/>
                    </a:lnTo>
                    <a:lnTo>
                      <a:pt x="61" y="187"/>
                    </a:lnTo>
                    <a:lnTo>
                      <a:pt x="56" y="200"/>
                    </a:lnTo>
                    <a:lnTo>
                      <a:pt x="56" y="200"/>
                    </a:lnTo>
                    <a:lnTo>
                      <a:pt x="48" y="204"/>
                    </a:lnTo>
                    <a:lnTo>
                      <a:pt x="39" y="200"/>
                    </a:lnTo>
                    <a:lnTo>
                      <a:pt x="39" y="200"/>
                    </a:lnTo>
                    <a:lnTo>
                      <a:pt x="22" y="178"/>
                    </a:lnTo>
                    <a:lnTo>
                      <a:pt x="9" y="152"/>
                    </a:lnTo>
                    <a:lnTo>
                      <a:pt x="0" y="126"/>
                    </a:lnTo>
                    <a:lnTo>
                      <a:pt x="0" y="100"/>
                    </a:lnTo>
                    <a:lnTo>
                      <a:pt x="0" y="74"/>
                    </a:lnTo>
                    <a:lnTo>
                      <a:pt x="9" y="48"/>
                    </a:lnTo>
                    <a:lnTo>
                      <a:pt x="22" y="26"/>
                    </a:lnTo>
                    <a:lnTo>
                      <a:pt x="39" y="5"/>
                    </a:lnTo>
                    <a:lnTo>
                      <a:pt x="39" y="5"/>
                    </a:lnTo>
                    <a:lnTo>
                      <a:pt x="48" y="0"/>
                    </a:lnTo>
                    <a:lnTo>
                      <a:pt x="56" y="5"/>
                    </a:lnTo>
                    <a:lnTo>
                      <a:pt x="56" y="5"/>
                    </a:lnTo>
                    <a:lnTo>
                      <a:pt x="61" y="13"/>
                    </a:lnTo>
                    <a:lnTo>
                      <a:pt x="56" y="26"/>
                    </a:lnTo>
                    <a:lnTo>
                      <a:pt x="56" y="26"/>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5" name="Freeform 103">
                <a:extLst>
                  <a:ext uri="{FF2B5EF4-FFF2-40B4-BE49-F238E27FC236}">
                    <a16:creationId xmlns:a16="http://schemas.microsoft.com/office/drawing/2014/main" xmlns="" id="{90D4600A-406F-41C9-84D7-C31B214B59D6}"/>
                  </a:ext>
                </a:extLst>
              </p:cNvPr>
              <p:cNvSpPr>
                <a:spLocks/>
              </p:cNvSpPr>
              <p:nvPr/>
            </p:nvSpPr>
            <p:spPr bwMode="gray">
              <a:xfrm>
                <a:off x="13468350" y="2625725"/>
                <a:ext cx="82550" cy="227013"/>
              </a:xfrm>
              <a:custGeom>
                <a:avLst/>
                <a:gdLst/>
                <a:ahLst/>
                <a:cxnLst>
                  <a:cxn ang="0">
                    <a:pos x="48" y="21"/>
                  </a:cxn>
                  <a:cxn ang="0">
                    <a:pos x="48" y="21"/>
                  </a:cxn>
                  <a:cxn ang="0">
                    <a:pos x="39" y="34"/>
                  </a:cxn>
                  <a:cxn ang="0">
                    <a:pos x="35" y="47"/>
                  </a:cxn>
                  <a:cxn ang="0">
                    <a:pos x="30" y="69"/>
                  </a:cxn>
                  <a:cxn ang="0">
                    <a:pos x="35" y="95"/>
                  </a:cxn>
                  <a:cxn ang="0">
                    <a:pos x="39" y="108"/>
                  </a:cxn>
                  <a:cxn ang="0">
                    <a:pos x="48" y="117"/>
                  </a:cxn>
                  <a:cxn ang="0">
                    <a:pos x="48" y="117"/>
                  </a:cxn>
                  <a:cxn ang="0">
                    <a:pos x="52" y="125"/>
                  </a:cxn>
                  <a:cxn ang="0">
                    <a:pos x="48" y="138"/>
                  </a:cxn>
                  <a:cxn ang="0">
                    <a:pos x="48" y="138"/>
                  </a:cxn>
                  <a:cxn ang="0">
                    <a:pos x="39" y="143"/>
                  </a:cxn>
                  <a:cxn ang="0">
                    <a:pos x="30" y="138"/>
                  </a:cxn>
                  <a:cxn ang="0">
                    <a:pos x="30" y="138"/>
                  </a:cxn>
                  <a:cxn ang="0">
                    <a:pos x="17" y="121"/>
                  </a:cxn>
                  <a:cxn ang="0">
                    <a:pos x="9" y="104"/>
                  </a:cxn>
                  <a:cxn ang="0">
                    <a:pos x="4" y="86"/>
                  </a:cxn>
                  <a:cxn ang="0">
                    <a:pos x="0" y="69"/>
                  </a:cxn>
                  <a:cxn ang="0">
                    <a:pos x="4" y="52"/>
                  </a:cxn>
                  <a:cxn ang="0">
                    <a:pos x="9" y="34"/>
                  </a:cxn>
                  <a:cxn ang="0">
                    <a:pos x="17" y="17"/>
                  </a:cxn>
                  <a:cxn ang="0">
                    <a:pos x="30" y="4"/>
                  </a:cxn>
                  <a:cxn ang="0">
                    <a:pos x="30" y="4"/>
                  </a:cxn>
                  <a:cxn ang="0">
                    <a:pos x="39" y="0"/>
                  </a:cxn>
                  <a:cxn ang="0">
                    <a:pos x="48" y="4"/>
                  </a:cxn>
                  <a:cxn ang="0">
                    <a:pos x="48" y="4"/>
                  </a:cxn>
                  <a:cxn ang="0">
                    <a:pos x="52" y="13"/>
                  </a:cxn>
                  <a:cxn ang="0">
                    <a:pos x="48" y="21"/>
                  </a:cxn>
                  <a:cxn ang="0">
                    <a:pos x="48" y="21"/>
                  </a:cxn>
                </a:cxnLst>
                <a:rect l="0" t="0" r="r" b="b"/>
                <a:pathLst>
                  <a:path w="52" h="143">
                    <a:moveTo>
                      <a:pt x="48" y="21"/>
                    </a:moveTo>
                    <a:lnTo>
                      <a:pt x="48" y="21"/>
                    </a:lnTo>
                    <a:lnTo>
                      <a:pt x="39" y="34"/>
                    </a:lnTo>
                    <a:lnTo>
                      <a:pt x="35" y="47"/>
                    </a:lnTo>
                    <a:lnTo>
                      <a:pt x="30" y="69"/>
                    </a:lnTo>
                    <a:lnTo>
                      <a:pt x="35" y="95"/>
                    </a:lnTo>
                    <a:lnTo>
                      <a:pt x="39" y="108"/>
                    </a:lnTo>
                    <a:lnTo>
                      <a:pt x="48" y="117"/>
                    </a:lnTo>
                    <a:lnTo>
                      <a:pt x="48" y="117"/>
                    </a:lnTo>
                    <a:lnTo>
                      <a:pt x="52" y="125"/>
                    </a:lnTo>
                    <a:lnTo>
                      <a:pt x="48" y="138"/>
                    </a:lnTo>
                    <a:lnTo>
                      <a:pt x="48" y="138"/>
                    </a:lnTo>
                    <a:lnTo>
                      <a:pt x="39" y="143"/>
                    </a:lnTo>
                    <a:lnTo>
                      <a:pt x="30" y="138"/>
                    </a:lnTo>
                    <a:lnTo>
                      <a:pt x="30" y="138"/>
                    </a:lnTo>
                    <a:lnTo>
                      <a:pt x="17" y="121"/>
                    </a:lnTo>
                    <a:lnTo>
                      <a:pt x="9" y="104"/>
                    </a:lnTo>
                    <a:lnTo>
                      <a:pt x="4" y="86"/>
                    </a:lnTo>
                    <a:lnTo>
                      <a:pt x="0" y="69"/>
                    </a:lnTo>
                    <a:lnTo>
                      <a:pt x="4" y="52"/>
                    </a:lnTo>
                    <a:lnTo>
                      <a:pt x="9" y="34"/>
                    </a:lnTo>
                    <a:lnTo>
                      <a:pt x="17" y="17"/>
                    </a:lnTo>
                    <a:lnTo>
                      <a:pt x="30" y="4"/>
                    </a:lnTo>
                    <a:lnTo>
                      <a:pt x="30" y="4"/>
                    </a:lnTo>
                    <a:lnTo>
                      <a:pt x="39" y="0"/>
                    </a:lnTo>
                    <a:lnTo>
                      <a:pt x="48" y="4"/>
                    </a:lnTo>
                    <a:lnTo>
                      <a:pt x="48" y="4"/>
                    </a:lnTo>
                    <a:lnTo>
                      <a:pt x="52" y="13"/>
                    </a:lnTo>
                    <a:lnTo>
                      <a:pt x="48" y="21"/>
                    </a:lnTo>
                    <a:lnTo>
                      <a:pt x="48"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6" name="Freeform 104">
                <a:extLst>
                  <a:ext uri="{FF2B5EF4-FFF2-40B4-BE49-F238E27FC236}">
                    <a16:creationId xmlns:a16="http://schemas.microsoft.com/office/drawing/2014/main" xmlns="" id="{55AB3752-EE39-482B-84DD-D25565CE99A2}"/>
                  </a:ext>
                </a:extLst>
              </p:cNvPr>
              <p:cNvSpPr>
                <a:spLocks/>
              </p:cNvSpPr>
              <p:nvPr/>
            </p:nvSpPr>
            <p:spPr bwMode="gray">
              <a:xfrm>
                <a:off x="13619163" y="2782887"/>
                <a:ext cx="76200" cy="295275"/>
              </a:xfrm>
              <a:custGeom>
                <a:avLst/>
                <a:gdLst/>
                <a:ahLst/>
                <a:cxnLst>
                  <a:cxn ang="0">
                    <a:pos x="48" y="173"/>
                  </a:cxn>
                  <a:cxn ang="0">
                    <a:pos x="48" y="173"/>
                  </a:cxn>
                  <a:cxn ang="0">
                    <a:pos x="48" y="182"/>
                  </a:cxn>
                  <a:cxn ang="0">
                    <a:pos x="39" y="186"/>
                  </a:cxn>
                  <a:cxn ang="0">
                    <a:pos x="13" y="186"/>
                  </a:cxn>
                  <a:cxn ang="0">
                    <a:pos x="13" y="186"/>
                  </a:cxn>
                  <a:cxn ang="0">
                    <a:pos x="5" y="182"/>
                  </a:cxn>
                  <a:cxn ang="0">
                    <a:pos x="0" y="173"/>
                  </a:cxn>
                  <a:cxn ang="0">
                    <a:pos x="0" y="9"/>
                  </a:cxn>
                  <a:cxn ang="0">
                    <a:pos x="0" y="9"/>
                  </a:cxn>
                  <a:cxn ang="0">
                    <a:pos x="5" y="5"/>
                  </a:cxn>
                  <a:cxn ang="0">
                    <a:pos x="13" y="0"/>
                  </a:cxn>
                  <a:cxn ang="0">
                    <a:pos x="39" y="0"/>
                  </a:cxn>
                  <a:cxn ang="0">
                    <a:pos x="39" y="0"/>
                  </a:cxn>
                  <a:cxn ang="0">
                    <a:pos x="48" y="5"/>
                  </a:cxn>
                  <a:cxn ang="0">
                    <a:pos x="48" y="9"/>
                  </a:cxn>
                  <a:cxn ang="0">
                    <a:pos x="48" y="173"/>
                  </a:cxn>
                </a:cxnLst>
                <a:rect l="0" t="0" r="r" b="b"/>
                <a:pathLst>
                  <a:path w="48" h="186">
                    <a:moveTo>
                      <a:pt x="48" y="173"/>
                    </a:moveTo>
                    <a:lnTo>
                      <a:pt x="48" y="173"/>
                    </a:lnTo>
                    <a:lnTo>
                      <a:pt x="48" y="182"/>
                    </a:lnTo>
                    <a:lnTo>
                      <a:pt x="39" y="186"/>
                    </a:lnTo>
                    <a:lnTo>
                      <a:pt x="13" y="186"/>
                    </a:lnTo>
                    <a:lnTo>
                      <a:pt x="13" y="186"/>
                    </a:lnTo>
                    <a:lnTo>
                      <a:pt x="5" y="182"/>
                    </a:lnTo>
                    <a:lnTo>
                      <a:pt x="0" y="173"/>
                    </a:lnTo>
                    <a:lnTo>
                      <a:pt x="0" y="9"/>
                    </a:lnTo>
                    <a:lnTo>
                      <a:pt x="0" y="9"/>
                    </a:lnTo>
                    <a:lnTo>
                      <a:pt x="5" y="5"/>
                    </a:lnTo>
                    <a:lnTo>
                      <a:pt x="13" y="0"/>
                    </a:lnTo>
                    <a:lnTo>
                      <a:pt x="39" y="0"/>
                    </a:lnTo>
                    <a:lnTo>
                      <a:pt x="39" y="0"/>
                    </a:lnTo>
                    <a:lnTo>
                      <a:pt x="48" y="5"/>
                    </a:lnTo>
                    <a:lnTo>
                      <a:pt x="48" y="9"/>
                    </a:lnTo>
                    <a:lnTo>
                      <a:pt x="48" y="173"/>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7" name="Freeform 105">
                <a:extLst>
                  <a:ext uri="{FF2B5EF4-FFF2-40B4-BE49-F238E27FC236}">
                    <a16:creationId xmlns:a16="http://schemas.microsoft.com/office/drawing/2014/main" xmlns="" id="{7DFA2C48-5D57-43AB-BBEE-36BB492A0DF2}"/>
                  </a:ext>
                </a:extLst>
              </p:cNvPr>
              <p:cNvSpPr>
                <a:spLocks/>
              </p:cNvSpPr>
              <p:nvPr/>
            </p:nvSpPr>
            <p:spPr bwMode="gray">
              <a:xfrm>
                <a:off x="13577888" y="2667000"/>
                <a:ext cx="158750" cy="165100"/>
              </a:xfrm>
              <a:custGeom>
                <a:avLst/>
                <a:gdLst/>
                <a:ahLst/>
                <a:cxnLst>
                  <a:cxn ang="0">
                    <a:pos x="100" y="52"/>
                  </a:cxn>
                  <a:cxn ang="0">
                    <a:pos x="100" y="52"/>
                  </a:cxn>
                  <a:cxn ang="0">
                    <a:pos x="96" y="73"/>
                  </a:cxn>
                  <a:cxn ang="0">
                    <a:pos x="87" y="86"/>
                  </a:cxn>
                  <a:cxn ang="0">
                    <a:pos x="70" y="99"/>
                  </a:cxn>
                  <a:cxn ang="0">
                    <a:pos x="52" y="104"/>
                  </a:cxn>
                  <a:cxn ang="0">
                    <a:pos x="52" y="104"/>
                  </a:cxn>
                  <a:cxn ang="0">
                    <a:pos x="31" y="99"/>
                  </a:cxn>
                  <a:cxn ang="0">
                    <a:pos x="18" y="86"/>
                  </a:cxn>
                  <a:cxn ang="0">
                    <a:pos x="5" y="73"/>
                  </a:cxn>
                  <a:cxn ang="0">
                    <a:pos x="0" y="52"/>
                  </a:cxn>
                  <a:cxn ang="0">
                    <a:pos x="0" y="52"/>
                  </a:cxn>
                  <a:cxn ang="0">
                    <a:pos x="5" y="34"/>
                  </a:cxn>
                  <a:cxn ang="0">
                    <a:pos x="18" y="17"/>
                  </a:cxn>
                  <a:cxn ang="0">
                    <a:pos x="31" y="4"/>
                  </a:cxn>
                  <a:cxn ang="0">
                    <a:pos x="52" y="0"/>
                  </a:cxn>
                  <a:cxn ang="0">
                    <a:pos x="52" y="0"/>
                  </a:cxn>
                  <a:cxn ang="0">
                    <a:pos x="70" y="4"/>
                  </a:cxn>
                  <a:cxn ang="0">
                    <a:pos x="87" y="17"/>
                  </a:cxn>
                  <a:cxn ang="0">
                    <a:pos x="96" y="34"/>
                  </a:cxn>
                  <a:cxn ang="0">
                    <a:pos x="100" y="52"/>
                  </a:cxn>
                  <a:cxn ang="0">
                    <a:pos x="100" y="52"/>
                  </a:cxn>
                </a:cxnLst>
                <a:rect l="0" t="0" r="r" b="b"/>
                <a:pathLst>
                  <a:path w="100" h="104">
                    <a:moveTo>
                      <a:pt x="100" y="52"/>
                    </a:moveTo>
                    <a:lnTo>
                      <a:pt x="100" y="52"/>
                    </a:lnTo>
                    <a:lnTo>
                      <a:pt x="96" y="73"/>
                    </a:lnTo>
                    <a:lnTo>
                      <a:pt x="87" y="86"/>
                    </a:lnTo>
                    <a:lnTo>
                      <a:pt x="70" y="99"/>
                    </a:lnTo>
                    <a:lnTo>
                      <a:pt x="52" y="104"/>
                    </a:lnTo>
                    <a:lnTo>
                      <a:pt x="52" y="104"/>
                    </a:lnTo>
                    <a:lnTo>
                      <a:pt x="31" y="99"/>
                    </a:lnTo>
                    <a:lnTo>
                      <a:pt x="18" y="86"/>
                    </a:lnTo>
                    <a:lnTo>
                      <a:pt x="5" y="73"/>
                    </a:lnTo>
                    <a:lnTo>
                      <a:pt x="0" y="52"/>
                    </a:lnTo>
                    <a:lnTo>
                      <a:pt x="0" y="52"/>
                    </a:lnTo>
                    <a:lnTo>
                      <a:pt x="5" y="34"/>
                    </a:lnTo>
                    <a:lnTo>
                      <a:pt x="18" y="17"/>
                    </a:lnTo>
                    <a:lnTo>
                      <a:pt x="31" y="4"/>
                    </a:lnTo>
                    <a:lnTo>
                      <a:pt x="52" y="0"/>
                    </a:lnTo>
                    <a:lnTo>
                      <a:pt x="52" y="0"/>
                    </a:lnTo>
                    <a:lnTo>
                      <a:pt x="70" y="4"/>
                    </a:lnTo>
                    <a:lnTo>
                      <a:pt x="87" y="17"/>
                    </a:lnTo>
                    <a:lnTo>
                      <a:pt x="96" y="34"/>
                    </a:lnTo>
                    <a:lnTo>
                      <a:pt x="100" y="52"/>
                    </a:lnTo>
                    <a:lnTo>
                      <a:pt x="100" y="52"/>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8" name="Freeform 106">
                <a:extLst>
                  <a:ext uri="{FF2B5EF4-FFF2-40B4-BE49-F238E27FC236}">
                    <a16:creationId xmlns:a16="http://schemas.microsoft.com/office/drawing/2014/main" xmlns="" id="{BCFFC7A4-A58E-4F73-9F3D-F589918D020A}"/>
                  </a:ext>
                </a:extLst>
              </p:cNvPr>
              <p:cNvSpPr>
                <a:spLocks/>
              </p:cNvSpPr>
              <p:nvPr/>
            </p:nvSpPr>
            <p:spPr bwMode="gray">
              <a:xfrm>
                <a:off x="13096875" y="3106737"/>
                <a:ext cx="687387" cy="247650"/>
              </a:xfrm>
              <a:custGeom>
                <a:avLst/>
                <a:gdLst/>
                <a:ahLst/>
                <a:cxnLst>
                  <a:cxn ang="0">
                    <a:pos x="424" y="0"/>
                  </a:cxn>
                  <a:cxn ang="0">
                    <a:pos x="13" y="0"/>
                  </a:cxn>
                  <a:cxn ang="0">
                    <a:pos x="13" y="0"/>
                  </a:cxn>
                  <a:cxn ang="0">
                    <a:pos x="5" y="4"/>
                  </a:cxn>
                  <a:cxn ang="0">
                    <a:pos x="0" y="13"/>
                  </a:cxn>
                  <a:cxn ang="0">
                    <a:pos x="0" y="143"/>
                  </a:cxn>
                  <a:cxn ang="0">
                    <a:pos x="0" y="143"/>
                  </a:cxn>
                  <a:cxn ang="0">
                    <a:pos x="5" y="151"/>
                  </a:cxn>
                  <a:cxn ang="0">
                    <a:pos x="13" y="156"/>
                  </a:cxn>
                  <a:cxn ang="0">
                    <a:pos x="424" y="156"/>
                  </a:cxn>
                  <a:cxn ang="0">
                    <a:pos x="424" y="156"/>
                  </a:cxn>
                  <a:cxn ang="0">
                    <a:pos x="429" y="151"/>
                  </a:cxn>
                  <a:cxn ang="0">
                    <a:pos x="433" y="143"/>
                  </a:cxn>
                  <a:cxn ang="0">
                    <a:pos x="433" y="13"/>
                  </a:cxn>
                  <a:cxn ang="0">
                    <a:pos x="433" y="13"/>
                  </a:cxn>
                  <a:cxn ang="0">
                    <a:pos x="429" y="4"/>
                  </a:cxn>
                  <a:cxn ang="0">
                    <a:pos x="424" y="0"/>
                  </a:cxn>
                  <a:cxn ang="0">
                    <a:pos x="424" y="0"/>
                  </a:cxn>
                </a:cxnLst>
                <a:rect l="0" t="0" r="r" b="b"/>
                <a:pathLst>
                  <a:path w="433" h="156">
                    <a:moveTo>
                      <a:pt x="424" y="0"/>
                    </a:moveTo>
                    <a:lnTo>
                      <a:pt x="13" y="0"/>
                    </a:lnTo>
                    <a:lnTo>
                      <a:pt x="13" y="0"/>
                    </a:lnTo>
                    <a:lnTo>
                      <a:pt x="5" y="4"/>
                    </a:lnTo>
                    <a:lnTo>
                      <a:pt x="0" y="13"/>
                    </a:lnTo>
                    <a:lnTo>
                      <a:pt x="0" y="143"/>
                    </a:lnTo>
                    <a:lnTo>
                      <a:pt x="0" y="143"/>
                    </a:lnTo>
                    <a:lnTo>
                      <a:pt x="5" y="151"/>
                    </a:lnTo>
                    <a:lnTo>
                      <a:pt x="13" y="156"/>
                    </a:lnTo>
                    <a:lnTo>
                      <a:pt x="424" y="156"/>
                    </a:lnTo>
                    <a:lnTo>
                      <a:pt x="424" y="156"/>
                    </a:lnTo>
                    <a:lnTo>
                      <a:pt x="429" y="151"/>
                    </a:lnTo>
                    <a:lnTo>
                      <a:pt x="433" y="143"/>
                    </a:lnTo>
                    <a:lnTo>
                      <a:pt x="433" y="13"/>
                    </a:lnTo>
                    <a:lnTo>
                      <a:pt x="433" y="13"/>
                    </a:lnTo>
                    <a:lnTo>
                      <a:pt x="429" y="4"/>
                    </a:lnTo>
                    <a:lnTo>
                      <a:pt x="424" y="0"/>
                    </a:lnTo>
                    <a:lnTo>
                      <a:pt x="424" y="0"/>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9" name="Freeform 107">
                <a:extLst>
                  <a:ext uri="{FF2B5EF4-FFF2-40B4-BE49-F238E27FC236}">
                    <a16:creationId xmlns:a16="http://schemas.microsoft.com/office/drawing/2014/main" xmlns="" id="{EB7A1191-55F5-4AFA-8DC0-6F93C1C6B1CD}"/>
                  </a:ext>
                </a:extLst>
              </p:cNvPr>
              <p:cNvSpPr>
                <a:spLocks/>
              </p:cNvSpPr>
              <p:nvPr/>
            </p:nvSpPr>
            <p:spPr bwMode="gray">
              <a:xfrm>
                <a:off x="13146088" y="3148012"/>
                <a:ext cx="74612" cy="74613"/>
              </a:xfrm>
              <a:custGeom>
                <a:avLst/>
                <a:gdLst/>
                <a:ahLst/>
                <a:cxnLst>
                  <a:cxn ang="0">
                    <a:pos x="47" y="21"/>
                  </a:cxn>
                  <a:cxn ang="0">
                    <a:pos x="47" y="21"/>
                  </a:cxn>
                  <a:cxn ang="0">
                    <a:pos x="47" y="30"/>
                  </a:cxn>
                  <a:cxn ang="0">
                    <a:pos x="39" y="39"/>
                  </a:cxn>
                  <a:cxn ang="0">
                    <a:pos x="34" y="43"/>
                  </a:cxn>
                  <a:cxn ang="0">
                    <a:pos x="21" y="47"/>
                  </a:cxn>
                  <a:cxn ang="0">
                    <a:pos x="21" y="47"/>
                  </a:cxn>
                  <a:cxn ang="0">
                    <a:pos x="13" y="43"/>
                  </a:cxn>
                  <a:cxn ang="0">
                    <a:pos x="4" y="39"/>
                  </a:cxn>
                  <a:cxn ang="0">
                    <a:pos x="0" y="30"/>
                  </a:cxn>
                  <a:cxn ang="0">
                    <a:pos x="0" y="21"/>
                  </a:cxn>
                  <a:cxn ang="0">
                    <a:pos x="0" y="21"/>
                  </a:cxn>
                  <a:cxn ang="0">
                    <a:pos x="0" y="13"/>
                  </a:cxn>
                  <a:cxn ang="0">
                    <a:pos x="4" y="4"/>
                  </a:cxn>
                  <a:cxn ang="0">
                    <a:pos x="13" y="0"/>
                  </a:cxn>
                  <a:cxn ang="0">
                    <a:pos x="21" y="0"/>
                  </a:cxn>
                  <a:cxn ang="0">
                    <a:pos x="21" y="0"/>
                  </a:cxn>
                  <a:cxn ang="0">
                    <a:pos x="34" y="0"/>
                  </a:cxn>
                  <a:cxn ang="0">
                    <a:pos x="39" y="4"/>
                  </a:cxn>
                  <a:cxn ang="0">
                    <a:pos x="47" y="13"/>
                  </a:cxn>
                  <a:cxn ang="0">
                    <a:pos x="47" y="21"/>
                  </a:cxn>
                  <a:cxn ang="0">
                    <a:pos x="47" y="21"/>
                  </a:cxn>
                </a:cxnLst>
                <a:rect l="0" t="0" r="r" b="b"/>
                <a:pathLst>
                  <a:path w="47" h="47">
                    <a:moveTo>
                      <a:pt x="47" y="21"/>
                    </a:moveTo>
                    <a:lnTo>
                      <a:pt x="47" y="21"/>
                    </a:lnTo>
                    <a:lnTo>
                      <a:pt x="47" y="30"/>
                    </a:lnTo>
                    <a:lnTo>
                      <a:pt x="39" y="39"/>
                    </a:lnTo>
                    <a:lnTo>
                      <a:pt x="34" y="43"/>
                    </a:lnTo>
                    <a:lnTo>
                      <a:pt x="21" y="47"/>
                    </a:lnTo>
                    <a:lnTo>
                      <a:pt x="21" y="47"/>
                    </a:lnTo>
                    <a:lnTo>
                      <a:pt x="13" y="43"/>
                    </a:lnTo>
                    <a:lnTo>
                      <a:pt x="4" y="39"/>
                    </a:lnTo>
                    <a:lnTo>
                      <a:pt x="0" y="30"/>
                    </a:lnTo>
                    <a:lnTo>
                      <a:pt x="0" y="21"/>
                    </a:lnTo>
                    <a:lnTo>
                      <a:pt x="0" y="21"/>
                    </a:lnTo>
                    <a:lnTo>
                      <a:pt x="0" y="13"/>
                    </a:lnTo>
                    <a:lnTo>
                      <a:pt x="4" y="4"/>
                    </a:lnTo>
                    <a:lnTo>
                      <a:pt x="13" y="0"/>
                    </a:lnTo>
                    <a:lnTo>
                      <a:pt x="21" y="0"/>
                    </a:lnTo>
                    <a:lnTo>
                      <a:pt x="21" y="0"/>
                    </a:lnTo>
                    <a:lnTo>
                      <a:pt x="34" y="0"/>
                    </a:lnTo>
                    <a:lnTo>
                      <a:pt x="39" y="4"/>
                    </a:lnTo>
                    <a:lnTo>
                      <a:pt x="47" y="13"/>
                    </a:lnTo>
                    <a:lnTo>
                      <a:pt x="47" y="21"/>
                    </a:lnTo>
                    <a:lnTo>
                      <a:pt x="47"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0" name="Freeform 108">
                <a:extLst>
                  <a:ext uri="{FF2B5EF4-FFF2-40B4-BE49-F238E27FC236}">
                    <a16:creationId xmlns:a16="http://schemas.microsoft.com/office/drawing/2014/main" xmlns="" id="{F0097C95-AA7B-4CFC-AECA-D1ACF6F54A11}"/>
                  </a:ext>
                </a:extLst>
              </p:cNvPr>
              <p:cNvSpPr>
                <a:spLocks/>
              </p:cNvSpPr>
              <p:nvPr/>
            </p:nvSpPr>
            <p:spPr bwMode="gray">
              <a:xfrm>
                <a:off x="13255625" y="3148012"/>
                <a:ext cx="74612" cy="74613"/>
              </a:xfrm>
              <a:custGeom>
                <a:avLst/>
                <a:gdLst/>
                <a:ahLst/>
                <a:cxnLst>
                  <a:cxn ang="0">
                    <a:pos x="47" y="21"/>
                  </a:cxn>
                  <a:cxn ang="0">
                    <a:pos x="47" y="21"/>
                  </a:cxn>
                  <a:cxn ang="0">
                    <a:pos x="47" y="30"/>
                  </a:cxn>
                  <a:cxn ang="0">
                    <a:pos x="43" y="39"/>
                  </a:cxn>
                  <a:cxn ang="0">
                    <a:pos x="35" y="43"/>
                  </a:cxn>
                  <a:cxn ang="0">
                    <a:pos x="26" y="47"/>
                  </a:cxn>
                  <a:cxn ang="0">
                    <a:pos x="26" y="47"/>
                  </a:cxn>
                  <a:cxn ang="0">
                    <a:pos x="17" y="43"/>
                  </a:cxn>
                  <a:cxn ang="0">
                    <a:pos x="9" y="39"/>
                  </a:cxn>
                  <a:cxn ang="0">
                    <a:pos x="4" y="30"/>
                  </a:cxn>
                  <a:cxn ang="0">
                    <a:pos x="0" y="21"/>
                  </a:cxn>
                  <a:cxn ang="0">
                    <a:pos x="0" y="21"/>
                  </a:cxn>
                  <a:cxn ang="0">
                    <a:pos x="4" y="13"/>
                  </a:cxn>
                  <a:cxn ang="0">
                    <a:pos x="9" y="4"/>
                  </a:cxn>
                  <a:cxn ang="0">
                    <a:pos x="17" y="0"/>
                  </a:cxn>
                  <a:cxn ang="0">
                    <a:pos x="26" y="0"/>
                  </a:cxn>
                  <a:cxn ang="0">
                    <a:pos x="26" y="0"/>
                  </a:cxn>
                  <a:cxn ang="0">
                    <a:pos x="35" y="0"/>
                  </a:cxn>
                  <a:cxn ang="0">
                    <a:pos x="43" y="4"/>
                  </a:cxn>
                  <a:cxn ang="0">
                    <a:pos x="47" y="13"/>
                  </a:cxn>
                  <a:cxn ang="0">
                    <a:pos x="47" y="21"/>
                  </a:cxn>
                  <a:cxn ang="0">
                    <a:pos x="47" y="21"/>
                  </a:cxn>
                </a:cxnLst>
                <a:rect l="0" t="0" r="r" b="b"/>
                <a:pathLst>
                  <a:path w="47" h="47">
                    <a:moveTo>
                      <a:pt x="47" y="21"/>
                    </a:moveTo>
                    <a:lnTo>
                      <a:pt x="47" y="21"/>
                    </a:lnTo>
                    <a:lnTo>
                      <a:pt x="47" y="30"/>
                    </a:lnTo>
                    <a:lnTo>
                      <a:pt x="43" y="39"/>
                    </a:lnTo>
                    <a:lnTo>
                      <a:pt x="35" y="43"/>
                    </a:lnTo>
                    <a:lnTo>
                      <a:pt x="26" y="47"/>
                    </a:lnTo>
                    <a:lnTo>
                      <a:pt x="26" y="47"/>
                    </a:lnTo>
                    <a:lnTo>
                      <a:pt x="17" y="43"/>
                    </a:lnTo>
                    <a:lnTo>
                      <a:pt x="9" y="39"/>
                    </a:lnTo>
                    <a:lnTo>
                      <a:pt x="4" y="30"/>
                    </a:lnTo>
                    <a:lnTo>
                      <a:pt x="0" y="21"/>
                    </a:lnTo>
                    <a:lnTo>
                      <a:pt x="0" y="21"/>
                    </a:lnTo>
                    <a:lnTo>
                      <a:pt x="4" y="13"/>
                    </a:lnTo>
                    <a:lnTo>
                      <a:pt x="9" y="4"/>
                    </a:lnTo>
                    <a:lnTo>
                      <a:pt x="17" y="0"/>
                    </a:lnTo>
                    <a:lnTo>
                      <a:pt x="26" y="0"/>
                    </a:lnTo>
                    <a:lnTo>
                      <a:pt x="26" y="0"/>
                    </a:lnTo>
                    <a:lnTo>
                      <a:pt x="35" y="0"/>
                    </a:lnTo>
                    <a:lnTo>
                      <a:pt x="43" y="4"/>
                    </a:lnTo>
                    <a:lnTo>
                      <a:pt x="47" y="13"/>
                    </a:lnTo>
                    <a:lnTo>
                      <a:pt x="47" y="21"/>
                    </a:lnTo>
                    <a:lnTo>
                      <a:pt x="47"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1" name="Freeform 109">
                <a:extLst>
                  <a:ext uri="{FF2B5EF4-FFF2-40B4-BE49-F238E27FC236}">
                    <a16:creationId xmlns:a16="http://schemas.microsoft.com/office/drawing/2014/main" xmlns="" id="{EDB50AC6-FA2E-4EA5-8DD2-AA18002DA963}"/>
                  </a:ext>
                </a:extLst>
              </p:cNvPr>
              <p:cNvSpPr>
                <a:spLocks/>
              </p:cNvSpPr>
              <p:nvPr/>
            </p:nvSpPr>
            <p:spPr bwMode="gray">
              <a:xfrm>
                <a:off x="13365163" y="3148012"/>
                <a:ext cx="82550" cy="74613"/>
              </a:xfrm>
              <a:custGeom>
                <a:avLst/>
                <a:gdLst/>
                <a:ahLst/>
                <a:cxnLst>
                  <a:cxn ang="0">
                    <a:pos x="52" y="21"/>
                  </a:cxn>
                  <a:cxn ang="0">
                    <a:pos x="52" y="21"/>
                  </a:cxn>
                  <a:cxn ang="0">
                    <a:pos x="48" y="30"/>
                  </a:cxn>
                  <a:cxn ang="0">
                    <a:pos x="43" y="39"/>
                  </a:cxn>
                  <a:cxn ang="0">
                    <a:pos x="35" y="43"/>
                  </a:cxn>
                  <a:cxn ang="0">
                    <a:pos x="26" y="47"/>
                  </a:cxn>
                  <a:cxn ang="0">
                    <a:pos x="26" y="47"/>
                  </a:cxn>
                  <a:cxn ang="0">
                    <a:pos x="17" y="43"/>
                  </a:cxn>
                  <a:cxn ang="0">
                    <a:pos x="9" y="39"/>
                  </a:cxn>
                  <a:cxn ang="0">
                    <a:pos x="4" y="30"/>
                  </a:cxn>
                  <a:cxn ang="0">
                    <a:pos x="0" y="21"/>
                  </a:cxn>
                  <a:cxn ang="0">
                    <a:pos x="0" y="21"/>
                  </a:cxn>
                  <a:cxn ang="0">
                    <a:pos x="4" y="13"/>
                  </a:cxn>
                  <a:cxn ang="0">
                    <a:pos x="9" y="4"/>
                  </a:cxn>
                  <a:cxn ang="0">
                    <a:pos x="17" y="0"/>
                  </a:cxn>
                  <a:cxn ang="0">
                    <a:pos x="26" y="0"/>
                  </a:cxn>
                  <a:cxn ang="0">
                    <a:pos x="26" y="0"/>
                  </a:cxn>
                  <a:cxn ang="0">
                    <a:pos x="35" y="0"/>
                  </a:cxn>
                  <a:cxn ang="0">
                    <a:pos x="43" y="4"/>
                  </a:cxn>
                  <a:cxn ang="0">
                    <a:pos x="48" y="13"/>
                  </a:cxn>
                  <a:cxn ang="0">
                    <a:pos x="52" y="21"/>
                  </a:cxn>
                  <a:cxn ang="0">
                    <a:pos x="52" y="21"/>
                  </a:cxn>
                </a:cxnLst>
                <a:rect l="0" t="0" r="r" b="b"/>
                <a:pathLst>
                  <a:path w="52" h="47">
                    <a:moveTo>
                      <a:pt x="52" y="21"/>
                    </a:moveTo>
                    <a:lnTo>
                      <a:pt x="52" y="21"/>
                    </a:lnTo>
                    <a:lnTo>
                      <a:pt x="48" y="30"/>
                    </a:lnTo>
                    <a:lnTo>
                      <a:pt x="43" y="39"/>
                    </a:lnTo>
                    <a:lnTo>
                      <a:pt x="35" y="43"/>
                    </a:lnTo>
                    <a:lnTo>
                      <a:pt x="26" y="47"/>
                    </a:lnTo>
                    <a:lnTo>
                      <a:pt x="26" y="47"/>
                    </a:lnTo>
                    <a:lnTo>
                      <a:pt x="17" y="43"/>
                    </a:lnTo>
                    <a:lnTo>
                      <a:pt x="9" y="39"/>
                    </a:lnTo>
                    <a:lnTo>
                      <a:pt x="4" y="30"/>
                    </a:lnTo>
                    <a:lnTo>
                      <a:pt x="0" y="21"/>
                    </a:lnTo>
                    <a:lnTo>
                      <a:pt x="0" y="21"/>
                    </a:lnTo>
                    <a:lnTo>
                      <a:pt x="4" y="13"/>
                    </a:lnTo>
                    <a:lnTo>
                      <a:pt x="9" y="4"/>
                    </a:lnTo>
                    <a:lnTo>
                      <a:pt x="17" y="0"/>
                    </a:lnTo>
                    <a:lnTo>
                      <a:pt x="26" y="0"/>
                    </a:lnTo>
                    <a:lnTo>
                      <a:pt x="26" y="0"/>
                    </a:lnTo>
                    <a:lnTo>
                      <a:pt x="35" y="0"/>
                    </a:lnTo>
                    <a:lnTo>
                      <a:pt x="43" y="4"/>
                    </a:lnTo>
                    <a:lnTo>
                      <a:pt x="48" y="13"/>
                    </a:lnTo>
                    <a:lnTo>
                      <a:pt x="52" y="21"/>
                    </a:lnTo>
                    <a:lnTo>
                      <a:pt x="52" y="21"/>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cxnSp>
          <p:nvCxnSpPr>
            <p:cNvPr id="66" name="直接连接符 65">
              <a:extLst>
                <a:ext uri="{FF2B5EF4-FFF2-40B4-BE49-F238E27FC236}">
                  <a16:creationId xmlns:a16="http://schemas.microsoft.com/office/drawing/2014/main" xmlns="" id="{BC4AEE81-6637-402A-800F-513F08C604E6}"/>
                </a:ext>
              </a:extLst>
            </p:cNvPr>
            <p:cNvCxnSpPr/>
            <p:nvPr/>
          </p:nvCxnSpPr>
          <p:spPr bwMode="gray">
            <a:xfrm flipV="1">
              <a:off x="2120996" y="2492796"/>
              <a:ext cx="757990" cy="541421"/>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连接符 66">
              <a:extLst>
                <a:ext uri="{FF2B5EF4-FFF2-40B4-BE49-F238E27FC236}">
                  <a16:creationId xmlns:a16="http://schemas.microsoft.com/office/drawing/2014/main" xmlns="" id="{F048BCFF-7767-4A70-B410-42A9DCAFB49F}"/>
                </a:ext>
              </a:extLst>
            </p:cNvPr>
            <p:cNvCxnSpPr/>
            <p:nvPr/>
          </p:nvCxnSpPr>
          <p:spPr bwMode="gray">
            <a:xfrm flipV="1">
              <a:off x="2108965" y="2480764"/>
              <a:ext cx="1864895" cy="553453"/>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a:extLst>
                <a:ext uri="{FF2B5EF4-FFF2-40B4-BE49-F238E27FC236}">
                  <a16:creationId xmlns:a16="http://schemas.microsoft.com/office/drawing/2014/main" xmlns="" id="{019B3358-94B1-4A00-A0F4-76053B3D682F}"/>
                </a:ext>
              </a:extLst>
            </p:cNvPr>
            <p:cNvCxnSpPr/>
            <p:nvPr/>
          </p:nvCxnSpPr>
          <p:spPr bwMode="gray">
            <a:xfrm flipH="1" flipV="1">
              <a:off x="2891017" y="2492795"/>
              <a:ext cx="120316" cy="553452"/>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连接符 68">
              <a:extLst>
                <a:ext uri="{FF2B5EF4-FFF2-40B4-BE49-F238E27FC236}">
                  <a16:creationId xmlns:a16="http://schemas.microsoft.com/office/drawing/2014/main" xmlns="" id="{A28C44F4-198F-4608-BB27-C875C4A0C2C8}"/>
                </a:ext>
              </a:extLst>
            </p:cNvPr>
            <p:cNvCxnSpPr/>
            <p:nvPr/>
          </p:nvCxnSpPr>
          <p:spPr bwMode="gray">
            <a:xfrm flipV="1">
              <a:off x="3023365" y="2492795"/>
              <a:ext cx="950495" cy="517358"/>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69">
              <a:extLst>
                <a:ext uri="{FF2B5EF4-FFF2-40B4-BE49-F238E27FC236}">
                  <a16:creationId xmlns:a16="http://schemas.microsoft.com/office/drawing/2014/main" xmlns="" id="{A78B5965-9E9B-4B40-9730-8541E2490F3D}"/>
                </a:ext>
              </a:extLst>
            </p:cNvPr>
            <p:cNvCxnSpPr/>
            <p:nvPr/>
          </p:nvCxnSpPr>
          <p:spPr bwMode="gray">
            <a:xfrm>
              <a:off x="2878986" y="2480763"/>
              <a:ext cx="1070810" cy="541421"/>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70">
              <a:extLst>
                <a:ext uri="{FF2B5EF4-FFF2-40B4-BE49-F238E27FC236}">
                  <a16:creationId xmlns:a16="http://schemas.microsoft.com/office/drawing/2014/main" xmlns="" id="{D7FFA744-60EC-490D-97F0-0B7E03ACF0E5}"/>
                </a:ext>
              </a:extLst>
            </p:cNvPr>
            <p:cNvCxnSpPr/>
            <p:nvPr/>
          </p:nvCxnSpPr>
          <p:spPr bwMode="gray">
            <a:xfrm>
              <a:off x="2854923" y="2480763"/>
              <a:ext cx="1961147" cy="553453"/>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71">
              <a:extLst>
                <a:ext uri="{FF2B5EF4-FFF2-40B4-BE49-F238E27FC236}">
                  <a16:creationId xmlns:a16="http://schemas.microsoft.com/office/drawing/2014/main" xmlns="" id="{D377849A-E1C3-4FC0-B826-0A143147FCAE}"/>
                </a:ext>
              </a:extLst>
            </p:cNvPr>
            <p:cNvCxnSpPr/>
            <p:nvPr/>
          </p:nvCxnSpPr>
          <p:spPr bwMode="gray">
            <a:xfrm flipH="1">
              <a:off x="3961828" y="2492795"/>
              <a:ext cx="12032" cy="529389"/>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72">
              <a:extLst>
                <a:ext uri="{FF2B5EF4-FFF2-40B4-BE49-F238E27FC236}">
                  <a16:creationId xmlns:a16="http://schemas.microsoft.com/office/drawing/2014/main" xmlns="" id="{32111FC8-EC6A-4218-8017-65262B9E7ECB}"/>
                </a:ext>
              </a:extLst>
            </p:cNvPr>
            <p:cNvCxnSpPr/>
            <p:nvPr/>
          </p:nvCxnSpPr>
          <p:spPr bwMode="gray">
            <a:xfrm>
              <a:off x="3961828" y="2504826"/>
              <a:ext cx="830179" cy="517358"/>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73">
              <a:extLst>
                <a:ext uri="{FF2B5EF4-FFF2-40B4-BE49-F238E27FC236}">
                  <a16:creationId xmlns:a16="http://schemas.microsoft.com/office/drawing/2014/main" xmlns="" id="{31E1DBB2-8442-4A32-A1DC-3B5C6BB6D8D8}"/>
                </a:ext>
              </a:extLst>
            </p:cNvPr>
            <p:cNvCxnSpPr>
              <a:endCxn id="133" idx="25"/>
            </p:cNvCxnSpPr>
            <p:nvPr/>
          </p:nvCxnSpPr>
          <p:spPr bwMode="gray">
            <a:xfrm flipH="1">
              <a:off x="1749405" y="3195969"/>
              <a:ext cx="315321" cy="283040"/>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74">
              <a:extLst>
                <a:ext uri="{FF2B5EF4-FFF2-40B4-BE49-F238E27FC236}">
                  <a16:creationId xmlns:a16="http://schemas.microsoft.com/office/drawing/2014/main" xmlns="" id="{19E6D2A1-1B8B-45A0-8C6F-259175E35F32}"/>
                </a:ext>
              </a:extLst>
            </p:cNvPr>
            <p:cNvCxnSpPr>
              <a:endCxn id="124" idx="13"/>
            </p:cNvCxnSpPr>
            <p:nvPr/>
          </p:nvCxnSpPr>
          <p:spPr bwMode="gray">
            <a:xfrm>
              <a:off x="2052693" y="3208001"/>
              <a:ext cx="419504" cy="245051"/>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6" name="组合 387">
              <a:extLst>
                <a:ext uri="{FF2B5EF4-FFF2-40B4-BE49-F238E27FC236}">
                  <a16:creationId xmlns:a16="http://schemas.microsoft.com/office/drawing/2014/main" xmlns="" id="{00D7DE08-D477-4DB3-978B-59D6D0A6F63F}"/>
                </a:ext>
              </a:extLst>
            </p:cNvPr>
            <p:cNvGrpSpPr>
              <a:grpSpLocks/>
            </p:cNvGrpSpPr>
            <p:nvPr/>
          </p:nvGrpSpPr>
          <p:grpSpPr bwMode="gray">
            <a:xfrm>
              <a:off x="3283164" y="1694180"/>
              <a:ext cx="395288" cy="409575"/>
              <a:chOff x="4622166" y="3061494"/>
              <a:chExt cx="489584" cy="615667"/>
            </a:xfrm>
            <a:grpFill/>
          </p:grpSpPr>
          <p:grpSp>
            <p:nvGrpSpPr>
              <p:cNvPr id="93" name="组合 376">
                <a:extLst>
                  <a:ext uri="{FF2B5EF4-FFF2-40B4-BE49-F238E27FC236}">
                    <a16:creationId xmlns:a16="http://schemas.microsoft.com/office/drawing/2014/main" xmlns="" id="{ADFEFCE7-7402-4493-91A1-11ACBCA3D25C}"/>
                  </a:ext>
                </a:extLst>
              </p:cNvPr>
              <p:cNvGrpSpPr>
                <a:grpSpLocks/>
              </p:cNvGrpSpPr>
              <p:nvPr/>
            </p:nvGrpSpPr>
            <p:grpSpPr bwMode="gray">
              <a:xfrm>
                <a:off x="4622166" y="3467100"/>
                <a:ext cx="489584" cy="210061"/>
                <a:chOff x="3298897" y="4095287"/>
                <a:chExt cx="1257750" cy="591162"/>
              </a:xfrm>
              <a:grpFill/>
            </p:grpSpPr>
            <p:sp>
              <p:nvSpPr>
                <p:cNvPr id="100" name="Freeform 13">
                  <a:extLst>
                    <a:ext uri="{FF2B5EF4-FFF2-40B4-BE49-F238E27FC236}">
                      <a16:creationId xmlns:a16="http://schemas.microsoft.com/office/drawing/2014/main" xmlns="" id="{C5EADABC-BA9D-4027-A206-430C93E4946A}"/>
                    </a:ext>
                  </a:extLst>
                </p:cNvPr>
                <p:cNvSpPr>
                  <a:spLocks noEditPoints="1"/>
                </p:cNvSpPr>
                <p:nvPr/>
              </p:nvSpPr>
              <p:spPr bwMode="gray">
                <a:xfrm>
                  <a:off x="3298897" y="4095473"/>
                  <a:ext cx="1257750" cy="295488"/>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1" name="Freeform 13">
                  <a:extLst>
                    <a:ext uri="{FF2B5EF4-FFF2-40B4-BE49-F238E27FC236}">
                      <a16:creationId xmlns:a16="http://schemas.microsoft.com/office/drawing/2014/main" xmlns="" id="{BB7E1EF2-DD05-4274-BF93-BAE0438753B2}"/>
                    </a:ext>
                  </a:extLst>
                </p:cNvPr>
                <p:cNvSpPr>
                  <a:spLocks noEditPoints="1"/>
                </p:cNvSpPr>
                <p:nvPr/>
              </p:nvSpPr>
              <p:spPr bwMode="gray">
                <a:xfrm>
                  <a:off x="3298897" y="4390961"/>
                  <a:ext cx="1257750" cy="295488"/>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94" name="组合 379">
                <a:extLst>
                  <a:ext uri="{FF2B5EF4-FFF2-40B4-BE49-F238E27FC236}">
                    <a16:creationId xmlns:a16="http://schemas.microsoft.com/office/drawing/2014/main" xmlns="" id="{0749515C-804B-431D-9264-5C74490D2F23}"/>
                  </a:ext>
                </a:extLst>
              </p:cNvPr>
              <p:cNvGrpSpPr>
                <a:grpSpLocks/>
              </p:cNvGrpSpPr>
              <p:nvPr/>
            </p:nvGrpSpPr>
            <p:grpSpPr bwMode="gray">
              <a:xfrm>
                <a:off x="4622166" y="3263900"/>
                <a:ext cx="489584" cy="210061"/>
                <a:chOff x="3298897" y="4095287"/>
                <a:chExt cx="1257750" cy="591162"/>
              </a:xfrm>
              <a:grpFill/>
            </p:grpSpPr>
            <p:sp>
              <p:nvSpPr>
                <p:cNvPr id="98" name="Freeform 13">
                  <a:extLst>
                    <a:ext uri="{FF2B5EF4-FFF2-40B4-BE49-F238E27FC236}">
                      <a16:creationId xmlns:a16="http://schemas.microsoft.com/office/drawing/2014/main" xmlns="" id="{801DAD03-97C9-4E63-AC0B-8F88E3F70C5F}"/>
                    </a:ext>
                  </a:extLst>
                </p:cNvPr>
                <p:cNvSpPr>
                  <a:spLocks noEditPoints="1"/>
                </p:cNvSpPr>
                <p:nvPr/>
              </p:nvSpPr>
              <p:spPr bwMode="gray">
                <a:xfrm>
                  <a:off x="3298897" y="4089783"/>
                  <a:ext cx="1257750" cy="295488"/>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9" name="Freeform 13">
                  <a:extLst>
                    <a:ext uri="{FF2B5EF4-FFF2-40B4-BE49-F238E27FC236}">
                      <a16:creationId xmlns:a16="http://schemas.microsoft.com/office/drawing/2014/main" xmlns="" id="{DA3ED034-114A-4E67-8739-EF9AC8AA2E2E}"/>
                    </a:ext>
                  </a:extLst>
                </p:cNvPr>
                <p:cNvSpPr>
                  <a:spLocks noEditPoints="1"/>
                </p:cNvSpPr>
                <p:nvPr/>
              </p:nvSpPr>
              <p:spPr bwMode="gray">
                <a:xfrm>
                  <a:off x="3298897" y="4385271"/>
                  <a:ext cx="1257750" cy="302201"/>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nvGrpSpPr>
              <p:cNvPr id="95" name="组合 94">
                <a:extLst>
                  <a:ext uri="{FF2B5EF4-FFF2-40B4-BE49-F238E27FC236}">
                    <a16:creationId xmlns:a16="http://schemas.microsoft.com/office/drawing/2014/main" xmlns="" id="{7E68E01F-F78C-497A-A850-F535C3863DE1}"/>
                  </a:ext>
                </a:extLst>
              </p:cNvPr>
              <p:cNvGrpSpPr>
                <a:grpSpLocks/>
              </p:cNvGrpSpPr>
              <p:nvPr/>
            </p:nvGrpSpPr>
            <p:grpSpPr bwMode="gray">
              <a:xfrm>
                <a:off x="4622166" y="3061494"/>
                <a:ext cx="489584" cy="210061"/>
                <a:chOff x="3298897" y="4095287"/>
                <a:chExt cx="1257750" cy="591162"/>
              </a:xfrm>
              <a:grpFill/>
            </p:grpSpPr>
            <p:sp>
              <p:nvSpPr>
                <p:cNvPr id="96" name="Freeform 13">
                  <a:extLst>
                    <a:ext uri="{FF2B5EF4-FFF2-40B4-BE49-F238E27FC236}">
                      <a16:creationId xmlns:a16="http://schemas.microsoft.com/office/drawing/2014/main" xmlns="" id="{5883DAA2-EB12-4CB1-BCD4-07DE5B546B71}"/>
                    </a:ext>
                  </a:extLst>
                </p:cNvPr>
                <p:cNvSpPr>
                  <a:spLocks noEditPoints="1"/>
                </p:cNvSpPr>
                <p:nvPr/>
              </p:nvSpPr>
              <p:spPr bwMode="gray">
                <a:xfrm>
                  <a:off x="3298897" y="4095287"/>
                  <a:ext cx="1257750" cy="295488"/>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7" name="Freeform 13">
                  <a:extLst>
                    <a:ext uri="{FF2B5EF4-FFF2-40B4-BE49-F238E27FC236}">
                      <a16:creationId xmlns:a16="http://schemas.microsoft.com/office/drawing/2014/main" xmlns="" id="{76E1F89A-7D39-4177-9D3E-EF5B651BEC1A}"/>
                    </a:ext>
                  </a:extLst>
                </p:cNvPr>
                <p:cNvSpPr>
                  <a:spLocks noEditPoints="1"/>
                </p:cNvSpPr>
                <p:nvPr/>
              </p:nvSpPr>
              <p:spPr bwMode="gray">
                <a:xfrm>
                  <a:off x="3298897" y="4390775"/>
                  <a:ext cx="1257750" cy="295488"/>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cxnSp>
          <p:nvCxnSpPr>
            <p:cNvPr id="77" name="直接连接符 76">
              <a:extLst>
                <a:ext uri="{FF2B5EF4-FFF2-40B4-BE49-F238E27FC236}">
                  <a16:creationId xmlns:a16="http://schemas.microsoft.com/office/drawing/2014/main" xmlns="" id="{83A9AF99-2F7D-40AE-8D31-1C41C2436EDC}"/>
                </a:ext>
              </a:extLst>
            </p:cNvPr>
            <p:cNvCxnSpPr/>
            <p:nvPr/>
          </p:nvCxnSpPr>
          <p:spPr bwMode="gray">
            <a:xfrm flipV="1">
              <a:off x="2907562" y="2075824"/>
              <a:ext cx="553493" cy="302315"/>
            </a:xfrm>
            <a:prstGeom prst="line">
              <a:avLst/>
            </a:prstGeom>
            <a:grpFill/>
            <a:ln w="9525" cap="flat" cmpd="sng" algn="ctr">
              <a:solidFill>
                <a:sysClr val="window" lastClr="FFFFFF">
                  <a:lumMod val="75000"/>
                </a:sysClr>
              </a:solidFill>
              <a:prstDash val="solid"/>
            </a:ln>
            <a:effectLst/>
          </p:spPr>
        </p:cxnSp>
        <p:cxnSp>
          <p:nvCxnSpPr>
            <p:cNvPr id="78" name="直接连接符 77">
              <a:extLst>
                <a:ext uri="{FF2B5EF4-FFF2-40B4-BE49-F238E27FC236}">
                  <a16:creationId xmlns:a16="http://schemas.microsoft.com/office/drawing/2014/main" xmlns="" id="{75BAF825-9D6B-4E92-8282-5C3D43358617}"/>
                </a:ext>
              </a:extLst>
            </p:cNvPr>
            <p:cNvCxnSpPr/>
            <p:nvPr/>
          </p:nvCxnSpPr>
          <p:spPr bwMode="gray">
            <a:xfrm>
              <a:off x="3424600" y="2075823"/>
              <a:ext cx="577877" cy="302316"/>
            </a:xfrm>
            <a:prstGeom prst="line">
              <a:avLst/>
            </a:prstGeom>
            <a:grpFill/>
            <a:ln w="9525" cap="flat" cmpd="sng" algn="ctr">
              <a:solidFill>
                <a:sysClr val="window" lastClr="FFFFFF">
                  <a:lumMod val="75000"/>
                </a:sysClr>
              </a:solidFill>
              <a:prstDash val="solid"/>
            </a:ln>
            <a:effectLst/>
          </p:spPr>
        </p:cxnSp>
        <p:sp>
          <p:nvSpPr>
            <p:cNvPr id="79" name="Freeform 13">
              <a:extLst>
                <a:ext uri="{FF2B5EF4-FFF2-40B4-BE49-F238E27FC236}">
                  <a16:creationId xmlns:a16="http://schemas.microsoft.com/office/drawing/2014/main" xmlns="" id="{A6E4CE5D-F3CC-474D-AEB3-19E57B1F29F7}"/>
                </a:ext>
              </a:extLst>
            </p:cNvPr>
            <p:cNvSpPr>
              <a:spLocks noEditPoints="1"/>
            </p:cNvSpPr>
            <p:nvPr/>
          </p:nvSpPr>
          <p:spPr bwMode="gray">
            <a:xfrm>
              <a:off x="1830624" y="3057454"/>
              <a:ext cx="536876" cy="127960"/>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lIns="162551" tIns="81274" rIns="162551" bIns="81274"/>
            <a:lstStyle/>
            <a:p>
              <a:pPr defTabSz="914248">
                <a:defRPr/>
              </a:pPr>
              <a:endParaRPr lang="zh-CN" alt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0" name="组合 79">
              <a:extLst>
                <a:ext uri="{FF2B5EF4-FFF2-40B4-BE49-F238E27FC236}">
                  <a16:creationId xmlns:a16="http://schemas.microsoft.com/office/drawing/2014/main" xmlns="" id="{ED3DA470-C38D-4483-95B5-9A010F3F4384}"/>
                </a:ext>
              </a:extLst>
            </p:cNvPr>
            <p:cNvGrpSpPr/>
            <p:nvPr/>
          </p:nvGrpSpPr>
          <p:grpSpPr bwMode="gray">
            <a:xfrm>
              <a:off x="2572284" y="2397778"/>
              <a:ext cx="536876" cy="240582"/>
              <a:chOff x="1853781" y="3436285"/>
              <a:chExt cx="536876" cy="240582"/>
            </a:xfrm>
            <a:grpFill/>
          </p:grpSpPr>
          <p:sp>
            <p:nvSpPr>
              <p:cNvPr id="91" name="Freeform 13">
                <a:extLst>
                  <a:ext uri="{FF2B5EF4-FFF2-40B4-BE49-F238E27FC236}">
                    <a16:creationId xmlns:a16="http://schemas.microsoft.com/office/drawing/2014/main" xmlns="" id="{AD2AB425-996E-443A-9984-5318C23D2CDF}"/>
                  </a:ext>
                </a:extLst>
              </p:cNvPr>
              <p:cNvSpPr>
                <a:spLocks noEditPoints="1"/>
              </p:cNvSpPr>
              <p:nvPr/>
            </p:nvSpPr>
            <p:spPr bwMode="gray">
              <a:xfrm>
                <a:off x="1909678" y="3566438"/>
                <a:ext cx="480977" cy="110429"/>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lIns="162551" tIns="81274" rIns="162551" bIns="81274"/>
              <a:lstStyle/>
              <a:p>
                <a:pPr defTabSz="914248">
                  <a:defRPr/>
                </a:pPr>
                <a:endParaRPr lang="zh-CN" alt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Freeform 13">
                <a:extLst>
                  <a:ext uri="{FF2B5EF4-FFF2-40B4-BE49-F238E27FC236}">
                    <a16:creationId xmlns:a16="http://schemas.microsoft.com/office/drawing/2014/main" xmlns="" id="{A35E4339-B7AB-4D5C-ADD7-066D4D87A425}"/>
                  </a:ext>
                </a:extLst>
              </p:cNvPr>
              <p:cNvSpPr>
                <a:spLocks noEditPoints="1"/>
              </p:cNvSpPr>
              <p:nvPr/>
            </p:nvSpPr>
            <p:spPr bwMode="gray">
              <a:xfrm>
                <a:off x="1853781" y="3436285"/>
                <a:ext cx="536876" cy="127960"/>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lIns="162551" tIns="81274" rIns="162551" bIns="81274"/>
              <a:lstStyle/>
              <a:p>
                <a:pPr defTabSz="914248">
                  <a:defRPr/>
                </a:pPr>
                <a:endParaRPr lang="zh-CN" alt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1" name="组合 80">
              <a:extLst>
                <a:ext uri="{FF2B5EF4-FFF2-40B4-BE49-F238E27FC236}">
                  <a16:creationId xmlns:a16="http://schemas.microsoft.com/office/drawing/2014/main" xmlns="" id="{C047B96D-8B4C-458A-8084-304BA0A2B9BB}"/>
                </a:ext>
              </a:extLst>
            </p:cNvPr>
            <p:cNvGrpSpPr/>
            <p:nvPr/>
          </p:nvGrpSpPr>
          <p:grpSpPr bwMode="gray">
            <a:xfrm>
              <a:off x="3784080" y="2397778"/>
              <a:ext cx="536876" cy="258113"/>
              <a:chOff x="1853781" y="3436285"/>
              <a:chExt cx="536876" cy="258113"/>
            </a:xfrm>
            <a:grpFill/>
          </p:grpSpPr>
          <p:sp>
            <p:nvSpPr>
              <p:cNvPr id="89" name="Freeform 13">
                <a:extLst>
                  <a:ext uri="{FF2B5EF4-FFF2-40B4-BE49-F238E27FC236}">
                    <a16:creationId xmlns:a16="http://schemas.microsoft.com/office/drawing/2014/main" xmlns="" id="{0D1B5C72-A28E-4BED-B2CD-A725F0752A94}"/>
                  </a:ext>
                </a:extLst>
              </p:cNvPr>
              <p:cNvSpPr>
                <a:spLocks noEditPoints="1"/>
              </p:cNvSpPr>
              <p:nvPr/>
            </p:nvSpPr>
            <p:spPr bwMode="gray">
              <a:xfrm>
                <a:off x="1853781" y="3566438"/>
                <a:ext cx="536876" cy="127960"/>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lIns="162551" tIns="81274" rIns="162551" bIns="81274"/>
              <a:lstStyle/>
              <a:p>
                <a:pPr defTabSz="914248">
                  <a:defRPr/>
                </a:pPr>
                <a:endParaRPr lang="zh-CN" alt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Freeform 13">
                <a:extLst>
                  <a:ext uri="{FF2B5EF4-FFF2-40B4-BE49-F238E27FC236}">
                    <a16:creationId xmlns:a16="http://schemas.microsoft.com/office/drawing/2014/main" xmlns="" id="{8D970E1D-A7B8-4514-AD22-18409279C00D}"/>
                  </a:ext>
                </a:extLst>
              </p:cNvPr>
              <p:cNvSpPr>
                <a:spLocks noEditPoints="1"/>
              </p:cNvSpPr>
              <p:nvPr/>
            </p:nvSpPr>
            <p:spPr bwMode="gray">
              <a:xfrm>
                <a:off x="1853781" y="3436285"/>
                <a:ext cx="536876" cy="127960"/>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lIns="162551" tIns="81274" rIns="162551" bIns="81274"/>
              <a:lstStyle/>
              <a:p>
                <a:pPr defTabSz="914248">
                  <a:defRPr/>
                </a:pPr>
                <a:endParaRPr lang="zh-CN" alt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2" name="Freeform 13">
              <a:extLst>
                <a:ext uri="{FF2B5EF4-FFF2-40B4-BE49-F238E27FC236}">
                  <a16:creationId xmlns:a16="http://schemas.microsoft.com/office/drawing/2014/main" xmlns="" id="{A5A298FC-D79F-4958-BC0C-90A57CEF6A2D}"/>
                </a:ext>
              </a:extLst>
            </p:cNvPr>
            <p:cNvSpPr>
              <a:spLocks noEditPoints="1"/>
            </p:cNvSpPr>
            <p:nvPr/>
          </p:nvSpPr>
          <p:spPr bwMode="gray">
            <a:xfrm>
              <a:off x="2697976" y="3057454"/>
              <a:ext cx="536876" cy="127960"/>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lIns="162551" tIns="81274" rIns="162551" bIns="81274"/>
            <a:lstStyle/>
            <a:p>
              <a:pPr defTabSz="914248">
                <a:defRPr/>
              </a:pPr>
              <a:endParaRPr lang="zh-CN" alt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Freeform 13">
              <a:extLst>
                <a:ext uri="{FF2B5EF4-FFF2-40B4-BE49-F238E27FC236}">
                  <a16:creationId xmlns:a16="http://schemas.microsoft.com/office/drawing/2014/main" xmlns="" id="{0ED56C9B-D786-414E-95C3-A09CAC595099}"/>
                </a:ext>
              </a:extLst>
            </p:cNvPr>
            <p:cNvSpPr>
              <a:spLocks noEditPoints="1"/>
            </p:cNvSpPr>
            <p:nvPr/>
          </p:nvSpPr>
          <p:spPr bwMode="gray">
            <a:xfrm>
              <a:off x="3743988" y="3057454"/>
              <a:ext cx="536876" cy="127960"/>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lIns="162551" tIns="81274" rIns="162551" bIns="81274"/>
            <a:lstStyle/>
            <a:p>
              <a:pPr defTabSz="914248">
                <a:defRPr/>
              </a:pPr>
              <a:endParaRPr lang="zh-CN" alt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Freeform 13">
              <a:extLst>
                <a:ext uri="{FF2B5EF4-FFF2-40B4-BE49-F238E27FC236}">
                  <a16:creationId xmlns:a16="http://schemas.microsoft.com/office/drawing/2014/main" xmlns="" id="{7C81FBC7-5673-4E06-B3E5-139A06C5FCAD}"/>
                </a:ext>
              </a:extLst>
            </p:cNvPr>
            <p:cNvSpPr>
              <a:spLocks noEditPoints="1"/>
            </p:cNvSpPr>
            <p:nvPr/>
          </p:nvSpPr>
          <p:spPr bwMode="gray">
            <a:xfrm>
              <a:off x="4547632" y="3057454"/>
              <a:ext cx="536876" cy="127960"/>
            </a:xfrm>
            <a:custGeom>
              <a:avLst/>
              <a:gdLst/>
              <a:ahLst/>
              <a:cxnLst>
                <a:cxn ang="0">
                  <a:pos x="16278" y="39"/>
                </a:cxn>
                <a:cxn ang="0">
                  <a:pos x="16504" y="184"/>
                </a:cxn>
                <a:cxn ang="0">
                  <a:pos x="16649" y="411"/>
                </a:cxn>
                <a:cxn ang="0">
                  <a:pos x="16687" y="3376"/>
                </a:cxn>
                <a:cxn ang="0">
                  <a:pos x="16612" y="3641"/>
                </a:cxn>
                <a:cxn ang="0">
                  <a:pos x="16437" y="3844"/>
                </a:cxn>
                <a:cxn ang="0">
                  <a:pos x="16189" y="3955"/>
                </a:cxn>
                <a:cxn ang="0">
                  <a:pos x="499" y="3955"/>
                </a:cxn>
                <a:cxn ang="0">
                  <a:pos x="251" y="3844"/>
                </a:cxn>
                <a:cxn ang="0">
                  <a:pos x="75" y="3641"/>
                </a:cxn>
                <a:cxn ang="0">
                  <a:pos x="1" y="3376"/>
                </a:cxn>
                <a:cxn ang="0">
                  <a:pos x="38" y="411"/>
                </a:cxn>
                <a:cxn ang="0">
                  <a:pos x="184" y="184"/>
                </a:cxn>
                <a:cxn ang="0">
                  <a:pos x="410" y="39"/>
                </a:cxn>
                <a:cxn ang="0">
                  <a:pos x="13820" y="2430"/>
                </a:cxn>
                <a:cxn ang="0">
                  <a:pos x="13953" y="2510"/>
                </a:cxn>
                <a:cxn ang="0">
                  <a:pos x="13976" y="2666"/>
                </a:cxn>
                <a:cxn ang="0">
                  <a:pos x="13873" y="2780"/>
                </a:cxn>
                <a:cxn ang="0">
                  <a:pos x="13714" y="2773"/>
                </a:cxn>
                <a:cxn ang="0">
                  <a:pos x="13623" y="2648"/>
                </a:cxn>
                <a:cxn ang="0">
                  <a:pos x="13661" y="2496"/>
                </a:cxn>
                <a:cxn ang="0">
                  <a:pos x="13802" y="2429"/>
                </a:cxn>
                <a:cxn ang="0">
                  <a:pos x="14470" y="2482"/>
                </a:cxn>
                <a:cxn ang="0">
                  <a:pos x="14522" y="2631"/>
                </a:cxn>
                <a:cxn ang="0">
                  <a:pos x="14442" y="2763"/>
                </a:cxn>
                <a:cxn ang="0">
                  <a:pos x="14286" y="2786"/>
                </a:cxn>
                <a:cxn ang="0">
                  <a:pos x="14172" y="2683"/>
                </a:cxn>
                <a:cxn ang="0">
                  <a:pos x="14180" y="2525"/>
                </a:cxn>
                <a:cxn ang="0">
                  <a:pos x="14304" y="2433"/>
                </a:cxn>
                <a:cxn ang="0">
                  <a:pos x="14981" y="2460"/>
                </a:cxn>
                <a:cxn ang="0">
                  <a:pos x="15061" y="2593"/>
                </a:cxn>
                <a:cxn ang="0">
                  <a:pos x="15008" y="2741"/>
                </a:cxn>
                <a:cxn ang="0">
                  <a:pos x="14861" y="2794"/>
                </a:cxn>
                <a:cxn ang="0">
                  <a:pos x="14728" y="2714"/>
                </a:cxn>
                <a:cxn ang="0">
                  <a:pos x="14705" y="2558"/>
                </a:cxn>
                <a:cxn ang="0">
                  <a:pos x="14809" y="2444"/>
                </a:cxn>
                <a:cxn ang="0">
                  <a:pos x="15489" y="2444"/>
                </a:cxn>
                <a:cxn ang="0">
                  <a:pos x="15592" y="2558"/>
                </a:cxn>
                <a:cxn ang="0">
                  <a:pos x="15569" y="2714"/>
                </a:cxn>
                <a:cxn ang="0">
                  <a:pos x="15436" y="2794"/>
                </a:cxn>
                <a:cxn ang="0">
                  <a:pos x="15289" y="2741"/>
                </a:cxn>
                <a:cxn ang="0">
                  <a:pos x="15236" y="2593"/>
                </a:cxn>
                <a:cxn ang="0">
                  <a:pos x="15315" y="2460"/>
                </a:cxn>
                <a:cxn ang="0">
                  <a:pos x="15712" y="1546"/>
                </a:cxn>
                <a:cxn ang="0">
                  <a:pos x="1822" y="1769"/>
                </a:cxn>
                <a:cxn ang="0">
                  <a:pos x="3288" y="1769"/>
                </a:cxn>
                <a:cxn ang="0">
                  <a:pos x="4754" y="1769"/>
                </a:cxn>
                <a:cxn ang="0">
                  <a:pos x="6219" y="1769"/>
                </a:cxn>
                <a:cxn ang="0">
                  <a:pos x="7685" y="1769"/>
                </a:cxn>
                <a:cxn ang="0">
                  <a:pos x="9151" y="1769"/>
                </a:cxn>
                <a:cxn ang="0">
                  <a:pos x="10617" y="1769"/>
                </a:cxn>
                <a:cxn ang="0">
                  <a:pos x="1822" y="2199"/>
                </a:cxn>
                <a:cxn ang="0">
                  <a:pos x="3288" y="2199"/>
                </a:cxn>
                <a:cxn ang="0">
                  <a:pos x="4754" y="2199"/>
                </a:cxn>
                <a:cxn ang="0">
                  <a:pos x="6219" y="2199"/>
                </a:cxn>
                <a:cxn ang="0">
                  <a:pos x="7685" y="2199"/>
                </a:cxn>
                <a:cxn ang="0">
                  <a:pos x="9151" y="2199"/>
                </a:cxn>
                <a:cxn ang="0">
                  <a:pos x="10617" y="2199"/>
                </a:cxn>
                <a:cxn ang="0">
                  <a:pos x="12128" y="1769"/>
                </a:cxn>
                <a:cxn ang="0">
                  <a:pos x="12128" y="2199"/>
                </a:cxn>
              </a:cxnLst>
              <a:rect l="0" t="0" r="r" b="b"/>
              <a:pathLst>
                <a:path w="16688" h="3968">
                  <a:moveTo>
                    <a:pt x="624" y="0"/>
                  </a:moveTo>
                  <a:lnTo>
                    <a:pt x="16064" y="0"/>
                  </a:lnTo>
                  <a:lnTo>
                    <a:pt x="16097" y="1"/>
                  </a:lnTo>
                  <a:lnTo>
                    <a:pt x="16128" y="3"/>
                  </a:lnTo>
                  <a:lnTo>
                    <a:pt x="16159" y="7"/>
                  </a:lnTo>
                  <a:lnTo>
                    <a:pt x="16189" y="13"/>
                  </a:lnTo>
                  <a:lnTo>
                    <a:pt x="16220" y="20"/>
                  </a:lnTo>
                  <a:lnTo>
                    <a:pt x="16249" y="28"/>
                  </a:lnTo>
                  <a:lnTo>
                    <a:pt x="16278" y="39"/>
                  </a:lnTo>
                  <a:lnTo>
                    <a:pt x="16306" y="49"/>
                  </a:lnTo>
                  <a:lnTo>
                    <a:pt x="16334" y="62"/>
                  </a:lnTo>
                  <a:lnTo>
                    <a:pt x="16360" y="76"/>
                  </a:lnTo>
                  <a:lnTo>
                    <a:pt x="16387" y="91"/>
                  </a:lnTo>
                  <a:lnTo>
                    <a:pt x="16413" y="108"/>
                  </a:lnTo>
                  <a:lnTo>
                    <a:pt x="16437" y="124"/>
                  </a:lnTo>
                  <a:lnTo>
                    <a:pt x="16461" y="143"/>
                  </a:lnTo>
                  <a:lnTo>
                    <a:pt x="16484" y="163"/>
                  </a:lnTo>
                  <a:lnTo>
                    <a:pt x="16504" y="184"/>
                  </a:lnTo>
                  <a:lnTo>
                    <a:pt x="16525" y="205"/>
                  </a:lnTo>
                  <a:lnTo>
                    <a:pt x="16545" y="228"/>
                  </a:lnTo>
                  <a:lnTo>
                    <a:pt x="16564" y="252"/>
                  </a:lnTo>
                  <a:lnTo>
                    <a:pt x="16581" y="276"/>
                  </a:lnTo>
                  <a:lnTo>
                    <a:pt x="16597" y="302"/>
                  </a:lnTo>
                  <a:lnTo>
                    <a:pt x="16612" y="328"/>
                  </a:lnTo>
                  <a:lnTo>
                    <a:pt x="16626" y="354"/>
                  </a:lnTo>
                  <a:lnTo>
                    <a:pt x="16639" y="382"/>
                  </a:lnTo>
                  <a:lnTo>
                    <a:pt x="16649" y="411"/>
                  </a:lnTo>
                  <a:lnTo>
                    <a:pt x="16660" y="440"/>
                  </a:lnTo>
                  <a:lnTo>
                    <a:pt x="16668" y="469"/>
                  </a:lnTo>
                  <a:lnTo>
                    <a:pt x="16675" y="499"/>
                  </a:lnTo>
                  <a:lnTo>
                    <a:pt x="16681" y="530"/>
                  </a:lnTo>
                  <a:lnTo>
                    <a:pt x="16685" y="561"/>
                  </a:lnTo>
                  <a:lnTo>
                    <a:pt x="16687" y="592"/>
                  </a:lnTo>
                  <a:lnTo>
                    <a:pt x="16688" y="625"/>
                  </a:lnTo>
                  <a:lnTo>
                    <a:pt x="16688" y="3343"/>
                  </a:lnTo>
                  <a:lnTo>
                    <a:pt x="16687" y="3376"/>
                  </a:lnTo>
                  <a:lnTo>
                    <a:pt x="16685" y="3407"/>
                  </a:lnTo>
                  <a:lnTo>
                    <a:pt x="16681" y="3438"/>
                  </a:lnTo>
                  <a:lnTo>
                    <a:pt x="16675" y="3469"/>
                  </a:lnTo>
                  <a:lnTo>
                    <a:pt x="16668" y="3499"/>
                  </a:lnTo>
                  <a:lnTo>
                    <a:pt x="16660" y="3529"/>
                  </a:lnTo>
                  <a:lnTo>
                    <a:pt x="16649" y="3557"/>
                  </a:lnTo>
                  <a:lnTo>
                    <a:pt x="16639" y="3586"/>
                  </a:lnTo>
                  <a:lnTo>
                    <a:pt x="16626" y="3614"/>
                  </a:lnTo>
                  <a:lnTo>
                    <a:pt x="16612" y="3641"/>
                  </a:lnTo>
                  <a:lnTo>
                    <a:pt x="16597" y="3667"/>
                  </a:lnTo>
                  <a:lnTo>
                    <a:pt x="16581" y="3692"/>
                  </a:lnTo>
                  <a:lnTo>
                    <a:pt x="16564" y="3716"/>
                  </a:lnTo>
                  <a:lnTo>
                    <a:pt x="16545" y="3740"/>
                  </a:lnTo>
                  <a:lnTo>
                    <a:pt x="16525" y="3763"/>
                  </a:lnTo>
                  <a:lnTo>
                    <a:pt x="16504" y="3784"/>
                  </a:lnTo>
                  <a:lnTo>
                    <a:pt x="16484" y="3805"/>
                  </a:lnTo>
                  <a:lnTo>
                    <a:pt x="16461" y="3825"/>
                  </a:lnTo>
                  <a:lnTo>
                    <a:pt x="16437" y="3844"/>
                  </a:lnTo>
                  <a:lnTo>
                    <a:pt x="16413" y="3861"/>
                  </a:lnTo>
                  <a:lnTo>
                    <a:pt x="16387" y="3877"/>
                  </a:lnTo>
                  <a:lnTo>
                    <a:pt x="16360" y="3893"/>
                  </a:lnTo>
                  <a:lnTo>
                    <a:pt x="16334" y="3906"/>
                  </a:lnTo>
                  <a:lnTo>
                    <a:pt x="16306" y="3919"/>
                  </a:lnTo>
                  <a:lnTo>
                    <a:pt x="16278" y="3930"/>
                  </a:lnTo>
                  <a:lnTo>
                    <a:pt x="16249" y="3940"/>
                  </a:lnTo>
                  <a:lnTo>
                    <a:pt x="16220" y="3948"/>
                  </a:lnTo>
                  <a:lnTo>
                    <a:pt x="16189" y="3955"/>
                  </a:lnTo>
                  <a:lnTo>
                    <a:pt x="16159" y="3961"/>
                  </a:lnTo>
                  <a:lnTo>
                    <a:pt x="16128" y="3965"/>
                  </a:lnTo>
                  <a:lnTo>
                    <a:pt x="16097" y="3967"/>
                  </a:lnTo>
                  <a:lnTo>
                    <a:pt x="16064" y="3968"/>
                  </a:lnTo>
                  <a:lnTo>
                    <a:pt x="624" y="3968"/>
                  </a:lnTo>
                  <a:lnTo>
                    <a:pt x="591" y="3967"/>
                  </a:lnTo>
                  <a:lnTo>
                    <a:pt x="560" y="3965"/>
                  </a:lnTo>
                  <a:lnTo>
                    <a:pt x="529" y="3961"/>
                  </a:lnTo>
                  <a:lnTo>
                    <a:pt x="499" y="3955"/>
                  </a:lnTo>
                  <a:lnTo>
                    <a:pt x="468" y="3948"/>
                  </a:lnTo>
                  <a:lnTo>
                    <a:pt x="438" y="3940"/>
                  </a:lnTo>
                  <a:lnTo>
                    <a:pt x="410" y="3930"/>
                  </a:lnTo>
                  <a:lnTo>
                    <a:pt x="382" y="3919"/>
                  </a:lnTo>
                  <a:lnTo>
                    <a:pt x="354" y="3906"/>
                  </a:lnTo>
                  <a:lnTo>
                    <a:pt x="326" y="3893"/>
                  </a:lnTo>
                  <a:lnTo>
                    <a:pt x="300" y="3877"/>
                  </a:lnTo>
                  <a:lnTo>
                    <a:pt x="275" y="3861"/>
                  </a:lnTo>
                  <a:lnTo>
                    <a:pt x="251" y="3844"/>
                  </a:lnTo>
                  <a:lnTo>
                    <a:pt x="227" y="3825"/>
                  </a:lnTo>
                  <a:lnTo>
                    <a:pt x="204" y="3805"/>
                  </a:lnTo>
                  <a:lnTo>
                    <a:pt x="184" y="3784"/>
                  </a:lnTo>
                  <a:lnTo>
                    <a:pt x="163" y="3763"/>
                  </a:lnTo>
                  <a:lnTo>
                    <a:pt x="143" y="3740"/>
                  </a:lnTo>
                  <a:lnTo>
                    <a:pt x="124" y="3716"/>
                  </a:lnTo>
                  <a:lnTo>
                    <a:pt x="106" y="3692"/>
                  </a:lnTo>
                  <a:lnTo>
                    <a:pt x="91" y="3667"/>
                  </a:lnTo>
                  <a:lnTo>
                    <a:pt x="75" y="3641"/>
                  </a:lnTo>
                  <a:lnTo>
                    <a:pt x="62" y="3614"/>
                  </a:lnTo>
                  <a:lnTo>
                    <a:pt x="49" y="3586"/>
                  </a:lnTo>
                  <a:lnTo>
                    <a:pt x="38" y="3557"/>
                  </a:lnTo>
                  <a:lnTo>
                    <a:pt x="28" y="3529"/>
                  </a:lnTo>
                  <a:lnTo>
                    <a:pt x="20" y="3499"/>
                  </a:lnTo>
                  <a:lnTo>
                    <a:pt x="13" y="3469"/>
                  </a:lnTo>
                  <a:lnTo>
                    <a:pt x="7" y="3438"/>
                  </a:lnTo>
                  <a:lnTo>
                    <a:pt x="3" y="3407"/>
                  </a:lnTo>
                  <a:lnTo>
                    <a:pt x="1" y="3376"/>
                  </a:lnTo>
                  <a:lnTo>
                    <a:pt x="0" y="3343"/>
                  </a:lnTo>
                  <a:lnTo>
                    <a:pt x="0" y="625"/>
                  </a:lnTo>
                  <a:lnTo>
                    <a:pt x="1" y="592"/>
                  </a:lnTo>
                  <a:lnTo>
                    <a:pt x="3" y="561"/>
                  </a:lnTo>
                  <a:lnTo>
                    <a:pt x="7" y="530"/>
                  </a:lnTo>
                  <a:lnTo>
                    <a:pt x="13" y="499"/>
                  </a:lnTo>
                  <a:lnTo>
                    <a:pt x="20" y="469"/>
                  </a:lnTo>
                  <a:lnTo>
                    <a:pt x="28" y="440"/>
                  </a:lnTo>
                  <a:lnTo>
                    <a:pt x="38" y="411"/>
                  </a:lnTo>
                  <a:lnTo>
                    <a:pt x="49" y="382"/>
                  </a:lnTo>
                  <a:lnTo>
                    <a:pt x="62" y="354"/>
                  </a:lnTo>
                  <a:lnTo>
                    <a:pt x="75" y="328"/>
                  </a:lnTo>
                  <a:lnTo>
                    <a:pt x="91" y="302"/>
                  </a:lnTo>
                  <a:lnTo>
                    <a:pt x="106" y="276"/>
                  </a:lnTo>
                  <a:lnTo>
                    <a:pt x="124" y="252"/>
                  </a:lnTo>
                  <a:lnTo>
                    <a:pt x="143" y="228"/>
                  </a:lnTo>
                  <a:lnTo>
                    <a:pt x="163" y="205"/>
                  </a:lnTo>
                  <a:lnTo>
                    <a:pt x="184" y="184"/>
                  </a:lnTo>
                  <a:lnTo>
                    <a:pt x="204" y="163"/>
                  </a:lnTo>
                  <a:lnTo>
                    <a:pt x="227" y="143"/>
                  </a:lnTo>
                  <a:lnTo>
                    <a:pt x="251" y="124"/>
                  </a:lnTo>
                  <a:lnTo>
                    <a:pt x="275" y="108"/>
                  </a:lnTo>
                  <a:lnTo>
                    <a:pt x="300" y="91"/>
                  </a:lnTo>
                  <a:lnTo>
                    <a:pt x="326" y="76"/>
                  </a:lnTo>
                  <a:lnTo>
                    <a:pt x="354" y="62"/>
                  </a:lnTo>
                  <a:lnTo>
                    <a:pt x="382" y="49"/>
                  </a:lnTo>
                  <a:lnTo>
                    <a:pt x="410" y="39"/>
                  </a:lnTo>
                  <a:lnTo>
                    <a:pt x="438" y="28"/>
                  </a:lnTo>
                  <a:lnTo>
                    <a:pt x="468" y="20"/>
                  </a:lnTo>
                  <a:lnTo>
                    <a:pt x="499" y="13"/>
                  </a:lnTo>
                  <a:lnTo>
                    <a:pt x="529" y="7"/>
                  </a:lnTo>
                  <a:lnTo>
                    <a:pt x="560" y="3"/>
                  </a:lnTo>
                  <a:lnTo>
                    <a:pt x="591" y="1"/>
                  </a:lnTo>
                  <a:lnTo>
                    <a:pt x="624" y="0"/>
                  </a:lnTo>
                  <a:close/>
                  <a:moveTo>
                    <a:pt x="13802" y="2429"/>
                  </a:moveTo>
                  <a:lnTo>
                    <a:pt x="13820" y="2430"/>
                  </a:lnTo>
                  <a:lnTo>
                    <a:pt x="13839" y="2433"/>
                  </a:lnTo>
                  <a:lnTo>
                    <a:pt x="13856" y="2437"/>
                  </a:lnTo>
                  <a:lnTo>
                    <a:pt x="13873" y="2444"/>
                  </a:lnTo>
                  <a:lnTo>
                    <a:pt x="13889" y="2451"/>
                  </a:lnTo>
                  <a:lnTo>
                    <a:pt x="13903" y="2460"/>
                  </a:lnTo>
                  <a:lnTo>
                    <a:pt x="13918" y="2471"/>
                  </a:lnTo>
                  <a:lnTo>
                    <a:pt x="13930" y="2482"/>
                  </a:lnTo>
                  <a:lnTo>
                    <a:pt x="13942" y="2496"/>
                  </a:lnTo>
                  <a:lnTo>
                    <a:pt x="13953" y="2510"/>
                  </a:lnTo>
                  <a:lnTo>
                    <a:pt x="13962" y="2525"/>
                  </a:lnTo>
                  <a:lnTo>
                    <a:pt x="13970" y="2541"/>
                  </a:lnTo>
                  <a:lnTo>
                    <a:pt x="13976" y="2558"/>
                  </a:lnTo>
                  <a:lnTo>
                    <a:pt x="13980" y="2575"/>
                  </a:lnTo>
                  <a:lnTo>
                    <a:pt x="13984" y="2593"/>
                  </a:lnTo>
                  <a:lnTo>
                    <a:pt x="13985" y="2612"/>
                  </a:lnTo>
                  <a:lnTo>
                    <a:pt x="13984" y="2631"/>
                  </a:lnTo>
                  <a:lnTo>
                    <a:pt x="13980" y="2648"/>
                  </a:lnTo>
                  <a:lnTo>
                    <a:pt x="13976" y="2666"/>
                  </a:lnTo>
                  <a:lnTo>
                    <a:pt x="13970" y="2683"/>
                  </a:lnTo>
                  <a:lnTo>
                    <a:pt x="13962" y="2699"/>
                  </a:lnTo>
                  <a:lnTo>
                    <a:pt x="13953" y="2714"/>
                  </a:lnTo>
                  <a:lnTo>
                    <a:pt x="13942" y="2728"/>
                  </a:lnTo>
                  <a:lnTo>
                    <a:pt x="13930" y="2741"/>
                  </a:lnTo>
                  <a:lnTo>
                    <a:pt x="13918" y="2753"/>
                  </a:lnTo>
                  <a:lnTo>
                    <a:pt x="13903" y="2763"/>
                  </a:lnTo>
                  <a:lnTo>
                    <a:pt x="13889" y="2773"/>
                  </a:lnTo>
                  <a:lnTo>
                    <a:pt x="13873" y="2780"/>
                  </a:lnTo>
                  <a:lnTo>
                    <a:pt x="13856" y="2786"/>
                  </a:lnTo>
                  <a:lnTo>
                    <a:pt x="13839" y="2791"/>
                  </a:lnTo>
                  <a:lnTo>
                    <a:pt x="13820" y="2794"/>
                  </a:lnTo>
                  <a:lnTo>
                    <a:pt x="13802" y="2795"/>
                  </a:lnTo>
                  <a:lnTo>
                    <a:pt x="13783" y="2794"/>
                  </a:lnTo>
                  <a:lnTo>
                    <a:pt x="13764" y="2791"/>
                  </a:lnTo>
                  <a:lnTo>
                    <a:pt x="13748" y="2786"/>
                  </a:lnTo>
                  <a:lnTo>
                    <a:pt x="13731" y="2780"/>
                  </a:lnTo>
                  <a:lnTo>
                    <a:pt x="13714" y="2773"/>
                  </a:lnTo>
                  <a:lnTo>
                    <a:pt x="13700" y="2763"/>
                  </a:lnTo>
                  <a:lnTo>
                    <a:pt x="13685" y="2753"/>
                  </a:lnTo>
                  <a:lnTo>
                    <a:pt x="13673" y="2741"/>
                  </a:lnTo>
                  <a:lnTo>
                    <a:pt x="13661" y="2728"/>
                  </a:lnTo>
                  <a:lnTo>
                    <a:pt x="13651" y="2714"/>
                  </a:lnTo>
                  <a:lnTo>
                    <a:pt x="13641" y="2699"/>
                  </a:lnTo>
                  <a:lnTo>
                    <a:pt x="13634" y="2683"/>
                  </a:lnTo>
                  <a:lnTo>
                    <a:pt x="13628" y="2666"/>
                  </a:lnTo>
                  <a:lnTo>
                    <a:pt x="13623" y="2648"/>
                  </a:lnTo>
                  <a:lnTo>
                    <a:pt x="13621" y="2631"/>
                  </a:lnTo>
                  <a:lnTo>
                    <a:pt x="13619" y="2612"/>
                  </a:lnTo>
                  <a:lnTo>
                    <a:pt x="13621" y="2593"/>
                  </a:lnTo>
                  <a:lnTo>
                    <a:pt x="13623" y="2575"/>
                  </a:lnTo>
                  <a:lnTo>
                    <a:pt x="13628" y="2558"/>
                  </a:lnTo>
                  <a:lnTo>
                    <a:pt x="13634" y="2541"/>
                  </a:lnTo>
                  <a:lnTo>
                    <a:pt x="13641" y="2525"/>
                  </a:lnTo>
                  <a:lnTo>
                    <a:pt x="13651" y="2510"/>
                  </a:lnTo>
                  <a:lnTo>
                    <a:pt x="13661" y="2496"/>
                  </a:lnTo>
                  <a:lnTo>
                    <a:pt x="13673" y="2482"/>
                  </a:lnTo>
                  <a:lnTo>
                    <a:pt x="13685" y="2471"/>
                  </a:lnTo>
                  <a:lnTo>
                    <a:pt x="13700" y="2460"/>
                  </a:lnTo>
                  <a:lnTo>
                    <a:pt x="13714" y="2451"/>
                  </a:lnTo>
                  <a:lnTo>
                    <a:pt x="13731" y="2444"/>
                  </a:lnTo>
                  <a:lnTo>
                    <a:pt x="13748" y="2437"/>
                  </a:lnTo>
                  <a:lnTo>
                    <a:pt x="13764" y="2433"/>
                  </a:lnTo>
                  <a:lnTo>
                    <a:pt x="13783" y="2430"/>
                  </a:lnTo>
                  <a:lnTo>
                    <a:pt x="13802" y="2429"/>
                  </a:lnTo>
                  <a:close/>
                  <a:moveTo>
                    <a:pt x="14340" y="2429"/>
                  </a:moveTo>
                  <a:lnTo>
                    <a:pt x="14359" y="2430"/>
                  </a:lnTo>
                  <a:lnTo>
                    <a:pt x="14377" y="2433"/>
                  </a:lnTo>
                  <a:lnTo>
                    <a:pt x="14394" y="2437"/>
                  </a:lnTo>
                  <a:lnTo>
                    <a:pt x="14411" y="2444"/>
                  </a:lnTo>
                  <a:lnTo>
                    <a:pt x="14427" y="2451"/>
                  </a:lnTo>
                  <a:lnTo>
                    <a:pt x="14442" y="2460"/>
                  </a:lnTo>
                  <a:lnTo>
                    <a:pt x="14456" y="2471"/>
                  </a:lnTo>
                  <a:lnTo>
                    <a:pt x="14470" y="2482"/>
                  </a:lnTo>
                  <a:lnTo>
                    <a:pt x="14481" y="2496"/>
                  </a:lnTo>
                  <a:lnTo>
                    <a:pt x="14491" y="2510"/>
                  </a:lnTo>
                  <a:lnTo>
                    <a:pt x="14501" y="2525"/>
                  </a:lnTo>
                  <a:lnTo>
                    <a:pt x="14508" y="2541"/>
                  </a:lnTo>
                  <a:lnTo>
                    <a:pt x="14514" y="2558"/>
                  </a:lnTo>
                  <a:lnTo>
                    <a:pt x="14519" y="2575"/>
                  </a:lnTo>
                  <a:lnTo>
                    <a:pt x="14522" y="2593"/>
                  </a:lnTo>
                  <a:lnTo>
                    <a:pt x="14523" y="2612"/>
                  </a:lnTo>
                  <a:lnTo>
                    <a:pt x="14522" y="2631"/>
                  </a:lnTo>
                  <a:lnTo>
                    <a:pt x="14519" y="2648"/>
                  </a:lnTo>
                  <a:lnTo>
                    <a:pt x="14514" y="2666"/>
                  </a:lnTo>
                  <a:lnTo>
                    <a:pt x="14508" y="2683"/>
                  </a:lnTo>
                  <a:lnTo>
                    <a:pt x="14501" y="2699"/>
                  </a:lnTo>
                  <a:lnTo>
                    <a:pt x="14491" y="2714"/>
                  </a:lnTo>
                  <a:lnTo>
                    <a:pt x="14481" y="2728"/>
                  </a:lnTo>
                  <a:lnTo>
                    <a:pt x="14470" y="2741"/>
                  </a:lnTo>
                  <a:lnTo>
                    <a:pt x="14456" y="2753"/>
                  </a:lnTo>
                  <a:lnTo>
                    <a:pt x="14442" y="2763"/>
                  </a:lnTo>
                  <a:lnTo>
                    <a:pt x="14427" y="2773"/>
                  </a:lnTo>
                  <a:lnTo>
                    <a:pt x="14411" y="2780"/>
                  </a:lnTo>
                  <a:lnTo>
                    <a:pt x="14394" y="2786"/>
                  </a:lnTo>
                  <a:lnTo>
                    <a:pt x="14377" y="2791"/>
                  </a:lnTo>
                  <a:lnTo>
                    <a:pt x="14359" y="2794"/>
                  </a:lnTo>
                  <a:lnTo>
                    <a:pt x="14340" y="2795"/>
                  </a:lnTo>
                  <a:lnTo>
                    <a:pt x="14321" y="2794"/>
                  </a:lnTo>
                  <a:lnTo>
                    <a:pt x="14304" y="2791"/>
                  </a:lnTo>
                  <a:lnTo>
                    <a:pt x="14286" y="2786"/>
                  </a:lnTo>
                  <a:lnTo>
                    <a:pt x="14269" y="2780"/>
                  </a:lnTo>
                  <a:lnTo>
                    <a:pt x="14254" y="2773"/>
                  </a:lnTo>
                  <a:lnTo>
                    <a:pt x="14238" y="2763"/>
                  </a:lnTo>
                  <a:lnTo>
                    <a:pt x="14224" y="2753"/>
                  </a:lnTo>
                  <a:lnTo>
                    <a:pt x="14212" y="2741"/>
                  </a:lnTo>
                  <a:lnTo>
                    <a:pt x="14199" y="2728"/>
                  </a:lnTo>
                  <a:lnTo>
                    <a:pt x="14189" y="2714"/>
                  </a:lnTo>
                  <a:lnTo>
                    <a:pt x="14180" y="2699"/>
                  </a:lnTo>
                  <a:lnTo>
                    <a:pt x="14172" y="2683"/>
                  </a:lnTo>
                  <a:lnTo>
                    <a:pt x="14166" y="2666"/>
                  </a:lnTo>
                  <a:lnTo>
                    <a:pt x="14162" y="2648"/>
                  </a:lnTo>
                  <a:lnTo>
                    <a:pt x="14159" y="2631"/>
                  </a:lnTo>
                  <a:lnTo>
                    <a:pt x="14158" y="2612"/>
                  </a:lnTo>
                  <a:lnTo>
                    <a:pt x="14159" y="2593"/>
                  </a:lnTo>
                  <a:lnTo>
                    <a:pt x="14162" y="2575"/>
                  </a:lnTo>
                  <a:lnTo>
                    <a:pt x="14166" y="2558"/>
                  </a:lnTo>
                  <a:lnTo>
                    <a:pt x="14172" y="2541"/>
                  </a:lnTo>
                  <a:lnTo>
                    <a:pt x="14180" y="2525"/>
                  </a:lnTo>
                  <a:lnTo>
                    <a:pt x="14189" y="2510"/>
                  </a:lnTo>
                  <a:lnTo>
                    <a:pt x="14199" y="2496"/>
                  </a:lnTo>
                  <a:lnTo>
                    <a:pt x="14212" y="2482"/>
                  </a:lnTo>
                  <a:lnTo>
                    <a:pt x="14224" y="2471"/>
                  </a:lnTo>
                  <a:lnTo>
                    <a:pt x="14238" y="2460"/>
                  </a:lnTo>
                  <a:lnTo>
                    <a:pt x="14254" y="2451"/>
                  </a:lnTo>
                  <a:lnTo>
                    <a:pt x="14269" y="2444"/>
                  </a:lnTo>
                  <a:lnTo>
                    <a:pt x="14286" y="2437"/>
                  </a:lnTo>
                  <a:lnTo>
                    <a:pt x="14304" y="2433"/>
                  </a:lnTo>
                  <a:lnTo>
                    <a:pt x="14321" y="2430"/>
                  </a:lnTo>
                  <a:lnTo>
                    <a:pt x="14340" y="2429"/>
                  </a:lnTo>
                  <a:close/>
                  <a:moveTo>
                    <a:pt x="14879" y="2429"/>
                  </a:moveTo>
                  <a:lnTo>
                    <a:pt x="14897" y="2430"/>
                  </a:lnTo>
                  <a:lnTo>
                    <a:pt x="14916" y="2433"/>
                  </a:lnTo>
                  <a:lnTo>
                    <a:pt x="14933" y="2437"/>
                  </a:lnTo>
                  <a:lnTo>
                    <a:pt x="14950" y="2444"/>
                  </a:lnTo>
                  <a:lnTo>
                    <a:pt x="14966" y="2451"/>
                  </a:lnTo>
                  <a:lnTo>
                    <a:pt x="14981" y="2460"/>
                  </a:lnTo>
                  <a:lnTo>
                    <a:pt x="14995" y="2471"/>
                  </a:lnTo>
                  <a:lnTo>
                    <a:pt x="15008" y="2482"/>
                  </a:lnTo>
                  <a:lnTo>
                    <a:pt x="15019" y="2496"/>
                  </a:lnTo>
                  <a:lnTo>
                    <a:pt x="15031" y="2510"/>
                  </a:lnTo>
                  <a:lnTo>
                    <a:pt x="15039" y="2525"/>
                  </a:lnTo>
                  <a:lnTo>
                    <a:pt x="15047" y="2541"/>
                  </a:lnTo>
                  <a:lnTo>
                    <a:pt x="15054" y="2558"/>
                  </a:lnTo>
                  <a:lnTo>
                    <a:pt x="15058" y="2575"/>
                  </a:lnTo>
                  <a:lnTo>
                    <a:pt x="15061" y="2593"/>
                  </a:lnTo>
                  <a:lnTo>
                    <a:pt x="15062" y="2612"/>
                  </a:lnTo>
                  <a:lnTo>
                    <a:pt x="15061" y="2631"/>
                  </a:lnTo>
                  <a:lnTo>
                    <a:pt x="15058" y="2648"/>
                  </a:lnTo>
                  <a:lnTo>
                    <a:pt x="15054" y="2666"/>
                  </a:lnTo>
                  <a:lnTo>
                    <a:pt x="15047" y="2683"/>
                  </a:lnTo>
                  <a:lnTo>
                    <a:pt x="15039" y="2699"/>
                  </a:lnTo>
                  <a:lnTo>
                    <a:pt x="15031" y="2714"/>
                  </a:lnTo>
                  <a:lnTo>
                    <a:pt x="15019" y="2728"/>
                  </a:lnTo>
                  <a:lnTo>
                    <a:pt x="15008" y="2741"/>
                  </a:lnTo>
                  <a:lnTo>
                    <a:pt x="14995" y="2753"/>
                  </a:lnTo>
                  <a:lnTo>
                    <a:pt x="14981" y="2763"/>
                  </a:lnTo>
                  <a:lnTo>
                    <a:pt x="14966" y="2773"/>
                  </a:lnTo>
                  <a:lnTo>
                    <a:pt x="14950" y="2780"/>
                  </a:lnTo>
                  <a:lnTo>
                    <a:pt x="14933" y="2786"/>
                  </a:lnTo>
                  <a:lnTo>
                    <a:pt x="14916" y="2791"/>
                  </a:lnTo>
                  <a:lnTo>
                    <a:pt x="14897" y="2794"/>
                  </a:lnTo>
                  <a:lnTo>
                    <a:pt x="14879" y="2795"/>
                  </a:lnTo>
                  <a:lnTo>
                    <a:pt x="14861" y="2794"/>
                  </a:lnTo>
                  <a:lnTo>
                    <a:pt x="14842" y="2791"/>
                  </a:lnTo>
                  <a:lnTo>
                    <a:pt x="14825" y="2786"/>
                  </a:lnTo>
                  <a:lnTo>
                    <a:pt x="14809" y="2780"/>
                  </a:lnTo>
                  <a:lnTo>
                    <a:pt x="14792" y="2773"/>
                  </a:lnTo>
                  <a:lnTo>
                    <a:pt x="14777" y="2763"/>
                  </a:lnTo>
                  <a:lnTo>
                    <a:pt x="14763" y="2753"/>
                  </a:lnTo>
                  <a:lnTo>
                    <a:pt x="14750" y="2741"/>
                  </a:lnTo>
                  <a:lnTo>
                    <a:pt x="14739" y="2728"/>
                  </a:lnTo>
                  <a:lnTo>
                    <a:pt x="14728" y="2714"/>
                  </a:lnTo>
                  <a:lnTo>
                    <a:pt x="14719" y="2699"/>
                  </a:lnTo>
                  <a:lnTo>
                    <a:pt x="14710" y="2683"/>
                  </a:lnTo>
                  <a:lnTo>
                    <a:pt x="14705" y="2666"/>
                  </a:lnTo>
                  <a:lnTo>
                    <a:pt x="14700" y="2648"/>
                  </a:lnTo>
                  <a:lnTo>
                    <a:pt x="14698" y="2631"/>
                  </a:lnTo>
                  <a:lnTo>
                    <a:pt x="14697" y="2612"/>
                  </a:lnTo>
                  <a:lnTo>
                    <a:pt x="14698" y="2593"/>
                  </a:lnTo>
                  <a:lnTo>
                    <a:pt x="14700" y="2575"/>
                  </a:lnTo>
                  <a:lnTo>
                    <a:pt x="14705" y="2558"/>
                  </a:lnTo>
                  <a:lnTo>
                    <a:pt x="14710" y="2541"/>
                  </a:lnTo>
                  <a:lnTo>
                    <a:pt x="14719" y="2525"/>
                  </a:lnTo>
                  <a:lnTo>
                    <a:pt x="14728" y="2510"/>
                  </a:lnTo>
                  <a:lnTo>
                    <a:pt x="14739" y="2496"/>
                  </a:lnTo>
                  <a:lnTo>
                    <a:pt x="14750" y="2482"/>
                  </a:lnTo>
                  <a:lnTo>
                    <a:pt x="14763" y="2471"/>
                  </a:lnTo>
                  <a:lnTo>
                    <a:pt x="14777" y="2460"/>
                  </a:lnTo>
                  <a:lnTo>
                    <a:pt x="14792" y="2451"/>
                  </a:lnTo>
                  <a:lnTo>
                    <a:pt x="14809" y="2444"/>
                  </a:lnTo>
                  <a:lnTo>
                    <a:pt x="14825" y="2437"/>
                  </a:lnTo>
                  <a:lnTo>
                    <a:pt x="14842" y="2433"/>
                  </a:lnTo>
                  <a:lnTo>
                    <a:pt x="14861" y="2430"/>
                  </a:lnTo>
                  <a:lnTo>
                    <a:pt x="14879" y="2429"/>
                  </a:lnTo>
                  <a:close/>
                  <a:moveTo>
                    <a:pt x="15418" y="2429"/>
                  </a:moveTo>
                  <a:lnTo>
                    <a:pt x="15436" y="2430"/>
                  </a:lnTo>
                  <a:lnTo>
                    <a:pt x="15454" y="2433"/>
                  </a:lnTo>
                  <a:lnTo>
                    <a:pt x="15472" y="2437"/>
                  </a:lnTo>
                  <a:lnTo>
                    <a:pt x="15489" y="2444"/>
                  </a:lnTo>
                  <a:lnTo>
                    <a:pt x="15504" y="2451"/>
                  </a:lnTo>
                  <a:lnTo>
                    <a:pt x="15520" y="2460"/>
                  </a:lnTo>
                  <a:lnTo>
                    <a:pt x="15533" y="2471"/>
                  </a:lnTo>
                  <a:lnTo>
                    <a:pt x="15547" y="2482"/>
                  </a:lnTo>
                  <a:lnTo>
                    <a:pt x="15558" y="2496"/>
                  </a:lnTo>
                  <a:lnTo>
                    <a:pt x="15569" y="2510"/>
                  </a:lnTo>
                  <a:lnTo>
                    <a:pt x="15578" y="2525"/>
                  </a:lnTo>
                  <a:lnTo>
                    <a:pt x="15586" y="2541"/>
                  </a:lnTo>
                  <a:lnTo>
                    <a:pt x="15592" y="2558"/>
                  </a:lnTo>
                  <a:lnTo>
                    <a:pt x="15596" y="2575"/>
                  </a:lnTo>
                  <a:lnTo>
                    <a:pt x="15599" y="2593"/>
                  </a:lnTo>
                  <a:lnTo>
                    <a:pt x="15600" y="2612"/>
                  </a:lnTo>
                  <a:lnTo>
                    <a:pt x="15599" y="2631"/>
                  </a:lnTo>
                  <a:lnTo>
                    <a:pt x="15596" y="2648"/>
                  </a:lnTo>
                  <a:lnTo>
                    <a:pt x="15592" y="2666"/>
                  </a:lnTo>
                  <a:lnTo>
                    <a:pt x="15586" y="2683"/>
                  </a:lnTo>
                  <a:lnTo>
                    <a:pt x="15578" y="2699"/>
                  </a:lnTo>
                  <a:lnTo>
                    <a:pt x="15569" y="2714"/>
                  </a:lnTo>
                  <a:lnTo>
                    <a:pt x="15558" y="2728"/>
                  </a:lnTo>
                  <a:lnTo>
                    <a:pt x="15547" y="2741"/>
                  </a:lnTo>
                  <a:lnTo>
                    <a:pt x="15533" y="2753"/>
                  </a:lnTo>
                  <a:lnTo>
                    <a:pt x="15520" y="2763"/>
                  </a:lnTo>
                  <a:lnTo>
                    <a:pt x="15504" y="2773"/>
                  </a:lnTo>
                  <a:lnTo>
                    <a:pt x="15489" y="2780"/>
                  </a:lnTo>
                  <a:lnTo>
                    <a:pt x="15472" y="2786"/>
                  </a:lnTo>
                  <a:lnTo>
                    <a:pt x="15454" y="2791"/>
                  </a:lnTo>
                  <a:lnTo>
                    <a:pt x="15436" y="2794"/>
                  </a:lnTo>
                  <a:lnTo>
                    <a:pt x="15418" y="2795"/>
                  </a:lnTo>
                  <a:lnTo>
                    <a:pt x="15399" y="2794"/>
                  </a:lnTo>
                  <a:lnTo>
                    <a:pt x="15381" y="2791"/>
                  </a:lnTo>
                  <a:lnTo>
                    <a:pt x="15363" y="2786"/>
                  </a:lnTo>
                  <a:lnTo>
                    <a:pt x="15347" y="2780"/>
                  </a:lnTo>
                  <a:lnTo>
                    <a:pt x="15331" y="2773"/>
                  </a:lnTo>
                  <a:lnTo>
                    <a:pt x="15315" y="2763"/>
                  </a:lnTo>
                  <a:lnTo>
                    <a:pt x="15302" y="2753"/>
                  </a:lnTo>
                  <a:lnTo>
                    <a:pt x="15289" y="2741"/>
                  </a:lnTo>
                  <a:lnTo>
                    <a:pt x="15277" y="2728"/>
                  </a:lnTo>
                  <a:lnTo>
                    <a:pt x="15266" y="2714"/>
                  </a:lnTo>
                  <a:lnTo>
                    <a:pt x="15257" y="2699"/>
                  </a:lnTo>
                  <a:lnTo>
                    <a:pt x="15250" y="2683"/>
                  </a:lnTo>
                  <a:lnTo>
                    <a:pt x="15243" y="2666"/>
                  </a:lnTo>
                  <a:lnTo>
                    <a:pt x="15239" y="2648"/>
                  </a:lnTo>
                  <a:lnTo>
                    <a:pt x="15236" y="2631"/>
                  </a:lnTo>
                  <a:lnTo>
                    <a:pt x="15235" y="2612"/>
                  </a:lnTo>
                  <a:lnTo>
                    <a:pt x="15236" y="2593"/>
                  </a:lnTo>
                  <a:lnTo>
                    <a:pt x="15239" y="2575"/>
                  </a:lnTo>
                  <a:lnTo>
                    <a:pt x="15243" y="2558"/>
                  </a:lnTo>
                  <a:lnTo>
                    <a:pt x="15250" y="2541"/>
                  </a:lnTo>
                  <a:lnTo>
                    <a:pt x="15257" y="2525"/>
                  </a:lnTo>
                  <a:lnTo>
                    <a:pt x="15266" y="2510"/>
                  </a:lnTo>
                  <a:lnTo>
                    <a:pt x="15277" y="2496"/>
                  </a:lnTo>
                  <a:lnTo>
                    <a:pt x="15289" y="2482"/>
                  </a:lnTo>
                  <a:lnTo>
                    <a:pt x="15302" y="2471"/>
                  </a:lnTo>
                  <a:lnTo>
                    <a:pt x="15315" y="2460"/>
                  </a:lnTo>
                  <a:lnTo>
                    <a:pt x="15331" y="2451"/>
                  </a:lnTo>
                  <a:lnTo>
                    <a:pt x="15347" y="2444"/>
                  </a:lnTo>
                  <a:lnTo>
                    <a:pt x="15363" y="2437"/>
                  </a:lnTo>
                  <a:lnTo>
                    <a:pt x="15381" y="2433"/>
                  </a:lnTo>
                  <a:lnTo>
                    <a:pt x="15399" y="2430"/>
                  </a:lnTo>
                  <a:lnTo>
                    <a:pt x="15418" y="2429"/>
                  </a:lnTo>
                  <a:close/>
                  <a:moveTo>
                    <a:pt x="13682" y="943"/>
                  </a:moveTo>
                  <a:lnTo>
                    <a:pt x="15712" y="943"/>
                  </a:lnTo>
                  <a:lnTo>
                    <a:pt x="15712" y="1546"/>
                  </a:lnTo>
                  <a:lnTo>
                    <a:pt x="13682" y="1546"/>
                  </a:lnTo>
                  <a:lnTo>
                    <a:pt x="13682" y="943"/>
                  </a:lnTo>
                  <a:close/>
                  <a:moveTo>
                    <a:pt x="1545" y="1123"/>
                  </a:moveTo>
                  <a:lnTo>
                    <a:pt x="1545" y="943"/>
                  </a:lnTo>
                  <a:lnTo>
                    <a:pt x="1089" y="943"/>
                  </a:lnTo>
                  <a:lnTo>
                    <a:pt x="1089" y="1123"/>
                  </a:lnTo>
                  <a:lnTo>
                    <a:pt x="811" y="1123"/>
                  </a:lnTo>
                  <a:lnTo>
                    <a:pt x="811" y="1769"/>
                  </a:lnTo>
                  <a:lnTo>
                    <a:pt x="1822" y="1769"/>
                  </a:lnTo>
                  <a:lnTo>
                    <a:pt x="1822" y="1123"/>
                  </a:lnTo>
                  <a:lnTo>
                    <a:pt x="1545" y="1123"/>
                  </a:lnTo>
                  <a:close/>
                  <a:moveTo>
                    <a:pt x="3010" y="1123"/>
                  </a:moveTo>
                  <a:lnTo>
                    <a:pt x="3010" y="943"/>
                  </a:lnTo>
                  <a:lnTo>
                    <a:pt x="2555" y="943"/>
                  </a:lnTo>
                  <a:lnTo>
                    <a:pt x="2555" y="1123"/>
                  </a:lnTo>
                  <a:lnTo>
                    <a:pt x="2278" y="1123"/>
                  </a:lnTo>
                  <a:lnTo>
                    <a:pt x="2278" y="1769"/>
                  </a:lnTo>
                  <a:lnTo>
                    <a:pt x="3288" y="1769"/>
                  </a:lnTo>
                  <a:lnTo>
                    <a:pt x="3288" y="1123"/>
                  </a:lnTo>
                  <a:lnTo>
                    <a:pt x="3010" y="1123"/>
                  </a:lnTo>
                  <a:close/>
                  <a:moveTo>
                    <a:pt x="4477" y="1123"/>
                  </a:moveTo>
                  <a:lnTo>
                    <a:pt x="4477" y="943"/>
                  </a:lnTo>
                  <a:lnTo>
                    <a:pt x="4021" y="943"/>
                  </a:lnTo>
                  <a:lnTo>
                    <a:pt x="4021" y="1123"/>
                  </a:lnTo>
                  <a:lnTo>
                    <a:pt x="3743" y="1123"/>
                  </a:lnTo>
                  <a:lnTo>
                    <a:pt x="3743" y="1769"/>
                  </a:lnTo>
                  <a:lnTo>
                    <a:pt x="4754" y="1769"/>
                  </a:lnTo>
                  <a:lnTo>
                    <a:pt x="4754" y="1123"/>
                  </a:lnTo>
                  <a:lnTo>
                    <a:pt x="4477" y="1123"/>
                  </a:lnTo>
                  <a:close/>
                  <a:moveTo>
                    <a:pt x="5942" y="1123"/>
                  </a:moveTo>
                  <a:lnTo>
                    <a:pt x="5942" y="943"/>
                  </a:lnTo>
                  <a:lnTo>
                    <a:pt x="5486" y="943"/>
                  </a:lnTo>
                  <a:lnTo>
                    <a:pt x="5486" y="1123"/>
                  </a:lnTo>
                  <a:lnTo>
                    <a:pt x="5209" y="1123"/>
                  </a:lnTo>
                  <a:lnTo>
                    <a:pt x="5209" y="1769"/>
                  </a:lnTo>
                  <a:lnTo>
                    <a:pt x="6219" y="1769"/>
                  </a:lnTo>
                  <a:lnTo>
                    <a:pt x="6219" y="1123"/>
                  </a:lnTo>
                  <a:lnTo>
                    <a:pt x="5942" y="1123"/>
                  </a:lnTo>
                  <a:close/>
                  <a:moveTo>
                    <a:pt x="7407" y="1123"/>
                  </a:moveTo>
                  <a:lnTo>
                    <a:pt x="7407" y="943"/>
                  </a:lnTo>
                  <a:lnTo>
                    <a:pt x="6953" y="943"/>
                  </a:lnTo>
                  <a:lnTo>
                    <a:pt x="6953" y="1123"/>
                  </a:lnTo>
                  <a:lnTo>
                    <a:pt x="6675" y="1123"/>
                  </a:lnTo>
                  <a:lnTo>
                    <a:pt x="6675" y="1769"/>
                  </a:lnTo>
                  <a:lnTo>
                    <a:pt x="7685" y="1769"/>
                  </a:lnTo>
                  <a:lnTo>
                    <a:pt x="7685" y="1123"/>
                  </a:lnTo>
                  <a:lnTo>
                    <a:pt x="7407" y="1123"/>
                  </a:lnTo>
                  <a:close/>
                  <a:moveTo>
                    <a:pt x="8874" y="1123"/>
                  </a:moveTo>
                  <a:lnTo>
                    <a:pt x="8874" y="943"/>
                  </a:lnTo>
                  <a:lnTo>
                    <a:pt x="8418" y="943"/>
                  </a:lnTo>
                  <a:lnTo>
                    <a:pt x="8418" y="1123"/>
                  </a:lnTo>
                  <a:lnTo>
                    <a:pt x="8141" y="1123"/>
                  </a:lnTo>
                  <a:lnTo>
                    <a:pt x="8141" y="1769"/>
                  </a:lnTo>
                  <a:lnTo>
                    <a:pt x="9151" y="1769"/>
                  </a:lnTo>
                  <a:lnTo>
                    <a:pt x="9151" y="1123"/>
                  </a:lnTo>
                  <a:lnTo>
                    <a:pt x="8874" y="1123"/>
                  </a:lnTo>
                  <a:close/>
                  <a:moveTo>
                    <a:pt x="10339" y="1123"/>
                  </a:moveTo>
                  <a:lnTo>
                    <a:pt x="10339" y="943"/>
                  </a:lnTo>
                  <a:lnTo>
                    <a:pt x="9883" y="943"/>
                  </a:lnTo>
                  <a:lnTo>
                    <a:pt x="9883" y="1123"/>
                  </a:lnTo>
                  <a:lnTo>
                    <a:pt x="9606" y="1123"/>
                  </a:lnTo>
                  <a:lnTo>
                    <a:pt x="9606" y="1769"/>
                  </a:lnTo>
                  <a:lnTo>
                    <a:pt x="10617" y="1769"/>
                  </a:lnTo>
                  <a:lnTo>
                    <a:pt x="10617" y="1123"/>
                  </a:lnTo>
                  <a:lnTo>
                    <a:pt x="10339" y="1123"/>
                  </a:lnTo>
                  <a:close/>
                  <a:moveTo>
                    <a:pt x="1545" y="2845"/>
                  </a:moveTo>
                  <a:lnTo>
                    <a:pt x="1545" y="3025"/>
                  </a:lnTo>
                  <a:lnTo>
                    <a:pt x="1089" y="3025"/>
                  </a:lnTo>
                  <a:lnTo>
                    <a:pt x="1089" y="2845"/>
                  </a:lnTo>
                  <a:lnTo>
                    <a:pt x="811" y="2845"/>
                  </a:lnTo>
                  <a:lnTo>
                    <a:pt x="811" y="2199"/>
                  </a:lnTo>
                  <a:lnTo>
                    <a:pt x="1822" y="2199"/>
                  </a:lnTo>
                  <a:lnTo>
                    <a:pt x="1822" y="2845"/>
                  </a:lnTo>
                  <a:lnTo>
                    <a:pt x="1545" y="2845"/>
                  </a:lnTo>
                  <a:close/>
                  <a:moveTo>
                    <a:pt x="3010" y="2845"/>
                  </a:moveTo>
                  <a:lnTo>
                    <a:pt x="3010" y="3025"/>
                  </a:lnTo>
                  <a:lnTo>
                    <a:pt x="2555" y="3025"/>
                  </a:lnTo>
                  <a:lnTo>
                    <a:pt x="2555" y="2845"/>
                  </a:lnTo>
                  <a:lnTo>
                    <a:pt x="2278" y="2845"/>
                  </a:lnTo>
                  <a:lnTo>
                    <a:pt x="2278" y="2199"/>
                  </a:lnTo>
                  <a:lnTo>
                    <a:pt x="3288" y="2199"/>
                  </a:lnTo>
                  <a:lnTo>
                    <a:pt x="3288" y="2845"/>
                  </a:lnTo>
                  <a:lnTo>
                    <a:pt x="3010" y="2845"/>
                  </a:lnTo>
                  <a:close/>
                  <a:moveTo>
                    <a:pt x="4477" y="2845"/>
                  </a:moveTo>
                  <a:lnTo>
                    <a:pt x="4477" y="3025"/>
                  </a:lnTo>
                  <a:lnTo>
                    <a:pt x="4021" y="3025"/>
                  </a:lnTo>
                  <a:lnTo>
                    <a:pt x="4021" y="2845"/>
                  </a:lnTo>
                  <a:lnTo>
                    <a:pt x="3743" y="2845"/>
                  </a:lnTo>
                  <a:lnTo>
                    <a:pt x="3743" y="2199"/>
                  </a:lnTo>
                  <a:lnTo>
                    <a:pt x="4754" y="2199"/>
                  </a:lnTo>
                  <a:lnTo>
                    <a:pt x="4754" y="2845"/>
                  </a:lnTo>
                  <a:lnTo>
                    <a:pt x="4477" y="2845"/>
                  </a:lnTo>
                  <a:close/>
                  <a:moveTo>
                    <a:pt x="5942" y="2845"/>
                  </a:moveTo>
                  <a:lnTo>
                    <a:pt x="5942" y="3025"/>
                  </a:lnTo>
                  <a:lnTo>
                    <a:pt x="5486" y="3025"/>
                  </a:lnTo>
                  <a:lnTo>
                    <a:pt x="5486" y="2845"/>
                  </a:lnTo>
                  <a:lnTo>
                    <a:pt x="5209" y="2845"/>
                  </a:lnTo>
                  <a:lnTo>
                    <a:pt x="5209" y="2199"/>
                  </a:lnTo>
                  <a:lnTo>
                    <a:pt x="6219" y="2199"/>
                  </a:lnTo>
                  <a:lnTo>
                    <a:pt x="6219" y="2845"/>
                  </a:lnTo>
                  <a:lnTo>
                    <a:pt x="5942" y="2845"/>
                  </a:lnTo>
                  <a:close/>
                  <a:moveTo>
                    <a:pt x="7407" y="2845"/>
                  </a:moveTo>
                  <a:lnTo>
                    <a:pt x="7407" y="3025"/>
                  </a:lnTo>
                  <a:lnTo>
                    <a:pt x="6953" y="3025"/>
                  </a:lnTo>
                  <a:lnTo>
                    <a:pt x="6953" y="2845"/>
                  </a:lnTo>
                  <a:lnTo>
                    <a:pt x="6675" y="2845"/>
                  </a:lnTo>
                  <a:lnTo>
                    <a:pt x="6675" y="2199"/>
                  </a:lnTo>
                  <a:lnTo>
                    <a:pt x="7685" y="2199"/>
                  </a:lnTo>
                  <a:lnTo>
                    <a:pt x="7685" y="2845"/>
                  </a:lnTo>
                  <a:lnTo>
                    <a:pt x="7407" y="2845"/>
                  </a:lnTo>
                  <a:close/>
                  <a:moveTo>
                    <a:pt x="8874" y="2845"/>
                  </a:moveTo>
                  <a:lnTo>
                    <a:pt x="8874" y="3025"/>
                  </a:lnTo>
                  <a:lnTo>
                    <a:pt x="8418" y="3025"/>
                  </a:lnTo>
                  <a:lnTo>
                    <a:pt x="8418" y="2845"/>
                  </a:lnTo>
                  <a:lnTo>
                    <a:pt x="8141" y="2845"/>
                  </a:lnTo>
                  <a:lnTo>
                    <a:pt x="8141" y="2199"/>
                  </a:lnTo>
                  <a:lnTo>
                    <a:pt x="9151" y="2199"/>
                  </a:lnTo>
                  <a:lnTo>
                    <a:pt x="9151" y="2845"/>
                  </a:lnTo>
                  <a:lnTo>
                    <a:pt x="8874" y="2845"/>
                  </a:lnTo>
                  <a:close/>
                  <a:moveTo>
                    <a:pt x="10339" y="2845"/>
                  </a:moveTo>
                  <a:lnTo>
                    <a:pt x="10339" y="3025"/>
                  </a:lnTo>
                  <a:lnTo>
                    <a:pt x="9883" y="3025"/>
                  </a:lnTo>
                  <a:lnTo>
                    <a:pt x="9883" y="2845"/>
                  </a:lnTo>
                  <a:lnTo>
                    <a:pt x="9606" y="2845"/>
                  </a:lnTo>
                  <a:lnTo>
                    <a:pt x="9606" y="2199"/>
                  </a:lnTo>
                  <a:lnTo>
                    <a:pt x="10617" y="2199"/>
                  </a:lnTo>
                  <a:lnTo>
                    <a:pt x="10617" y="2845"/>
                  </a:lnTo>
                  <a:lnTo>
                    <a:pt x="10339" y="2845"/>
                  </a:lnTo>
                  <a:close/>
                  <a:moveTo>
                    <a:pt x="11851" y="1123"/>
                  </a:moveTo>
                  <a:lnTo>
                    <a:pt x="11851" y="943"/>
                  </a:lnTo>
                  <a:lnTo>
                    <a:pt x="11395" y="943"/>
                  </a:lnTo>
                  <a:lnTo>
                    <a:pt x="11395" y="1123"/>
                  </a:lnTo>
                  <a:lnTo>
                    <a:pt x="11117" y="1123"/>
                  </a:lnTo>
                  <a:lnTo>
                    <a:pt x="11117" y="1769"/>
                  </a:lnTo>
                  <a:lnTo>
                    <a:pt x="12128" y="1769"/>
                  </a:lnTo>
                  <a:lnTo>
                    <a:pt x="12128" y="1123"/>
                  </a:lnTo>
                  <a:lnTo>
                    <a:pt x="11851" y="1123"/>
                  </a:lnTo>
                  <a:close/>
                  <a:moveTo>
                    <a:pt x="11851" y="2845"/>
                  </a:moveTo>
                  <a:lnTo>
                    <a:pt x="11851" y="3025"/>
                  </a:lnTo>
                  <a:lnTo>
                    <a:pt x="11395" y="3025"/>
                  </a:lnTo>
                  <a:lnTo>
                    <a:pt x="11395" y="2845"/>
                  </a:lnTo>
                  <a:lnTo>
                    <a:pt x="11117" y="2845"/>
                  </a:lnTo>
                  <a:lnTo>
                    <a:pt x="11117" y="2199"/>
                  </a:lnTo>
                  <a:lnTo>
                    <a:pt x="12128" y="2199"/>
                  </a:lnTo>
                  <a:lnTo>
                    <a:pt x="12128" y="2845"/>
                  </a:lnTo>
                  <a:lnTo>
                    <a:pt x="11851" y="2845"/>
                  </a:lnTo>
                  <a:close/>
                </a:path>
              </a:pathLst>
            </a:custGeom>
            <a:grpFill/>
            <a:ln w="9525">
              <a:noFill/>
              <a:round/>
              <a:headEnd/>
              <a:tailEnd/>
            </a:ln>
          </p:spPr>
          <p:txBody>
            <a:bodyPr lIns="162551" tIns="81274" rIns="162551" bIns="81274"/>
            <a:lstStyle/>
            <a:p>
              <a:pPr defTabSz="914248">
                <a:defRPr/>
              </a:pPr>
              <a:endParaRPr lang="zh-CN" altLang="en-US"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5" name="直接连接符 84">
              <a:extLst>
                <a:ext uri="{FF2B5EF4-FFF2-40B4-BE49-F238E27FC236}">
                  <a16:creationId xmlns:a16="http://schemas.microsoft.com/office/drawing/2014/main" xmlns="" id="{206AEAD5-C89A-4FCA-AC49-C4AD778FF414}"/>
                </a:ext>
              </a:extLst>
            </p:cNvPr>
            <p:cNvCxnSpPr>
              <a:endCxn id="112" idx="28"/>
            </p:cNvCxnSpPr>
            <p:nvPr/>
          </p:nvCxnSpPr>
          <p:spPr bwMode="gray">
            <a:xfrm flipH="1">
              <a:off x="3814837" y="3195969"/>
              <a:ext cx="210976" cy="257083"/>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直接连接符 85">
              <a:extLst>
                <a:ext uri="{FF2B5EF4-FFF2-40B4-BE49-F238E27FC236}">
                  <a16:creationId xmlns:a16="http://schemas.microsoft.com/office/drawing/2014/main" xmlns="" id="{FDC5420A-4E8C-4245-B86C-A5D18BC9088A}"/>
                </a:ext>
              </a:extLst>
            </p:cNvPr>
            <p:cNvCxnSpPr>
              <a:endCxn id="104" idx="16"/>
            </p:cNvCxnSpPr>
            <p:nvPr/>
          </p:nvCxnSpPr>
          <p:spPr bwMode="gray">
            <a:xfrm>
              <a:off x="4013780" y="3208001"/>
              <a:ext cx="385224" cy="185458"/>
            </a:xfrm>
            <a:prstGeom prst="line">
              <a:avLst/>
            </a:prstGeom>
            <a:grpFill/>
            <a:ln>
              <a:solidFill>
                <a:sysClr val="window" lastClr="FFFFFF">
                  <a:lumMod val="75000"/>
                </a:sysClr>
              </a:solid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Freeform 14">
              <a:extLst>
                <a:ext uri="{FF2B5EF4-FFF2-40B4-BE49-F238E27FC236}">
                  <a16:creationId xmlns:a16="http://schemas.microsoft.com/office/drawing/2014/main" xmlns="" id="{B3981BD4-A680-4C7A-85F9-00D3FB146327}"/>
                </a:ext>
              </a:extLst>
            </p:cNvPr>
            <p:cNvSpPr>
              <a:spLocks noEditPoints="1"/>
            </p:cNvSpPr>
            <p:nvPr/>
          </p:nvSpPr>
          <p:spPr bwMode="gray">
            <a:xfrm>
              <a:off x="4078623" y="1888831"/>
              <a:ext cx="521292" cy="144000"/>
            </a:xfrm>
            <a:custGeom>
              <a:avLst/>
              <a:gdLst/>
              <a:ahLst/>
              <a:cxnLst>
                <a:cxn ang="0">
                  <a:pos x="15920" y="15"/>
                </a:cxn>
                <a:cxn ang="0">
                  <a:pos x="16066" y="82"/>
                </a:cxn>
                <a:cxn ang="0">
                  <a:pos x="16180" y="191"/>
                </a:cxn>
                <a:cxn ang="0">
                  <a:pos x="16254" y="333"/>
                </a:cxn>
                <a:cxn ang="0">
                  <a:pos x="16275" y="1979"/>
                </a:cxn>
                <a:cxn ang="0">
                  <a:pos x="16247" y="2142"/>
                </a:cxn>
                <a:cxn ang="0">
                  <a:pos x="16166" y="2279"/>
                </a:cxn>
                <a:cxn ang="0">
                  <a:pos x="16047" y="2384"/>
                </a:cxn>
                <a:cxn ang="0">
                  <a:pos x="15897" y="2443"/>
                </a:cxn>
                <a:cxn ang="0">
                  <a:pos x="425" y="2450"/>
                </a:cxn>
                <a:cxn ang="0">
                  <a:pos x="269" y="2406"/>
                </a:cxn>
                <a:cxn ang="0">
                  <a:pos x="139" y="2313"/>
                </a:cxn>
                <a:cxn ang="0">
                  <a:pos x="47" y="2184"/>
                </a:cxn>
                <a:cxn ang="0">
                  <a:pos x="2" y="2027"/>
                </a:cxn>
                <a:cxn ang="0">
                  <a:pos x="9" y="379"/>
                </a:cxn>
                <a:cxn ang="0">
                  <a:pos x="68" y="228"/>
                </a:cxn>
                <a:cxn ang="0">
                  <a:pos x="173" y="109"/>
                </a:cxn>
                <a:cxn ang="0">
                  <a:pos x="310" y="29"/>
                </a:cxn>
                <a:cxn ang="0">
                  <a:pos x="473" y="0"/>
                </a:cxn>
                <a:cxn ang="0">
                  <a:pos x="3118" y="686"/>
                </a:cxn>
                <a:cxn ang="0">
                  <a:pos x="3301" y="780"/>
                </a:cxn>
                <a:cxn ang="0">
                  <a:pos x="3442" y="928"/>
                </a:cxn>
                <a:cxn ang="0">
                  <a:pos x="3528" y="1118"/>
                </a:cxn>
                <a:cxn ang="0">
                  <a:pos x="3544" y="1333"/>
                </a:cxn>
                <a:cxn ang="0">
                  <a:pos x="3487" y="1535"/>
                </a:cxn>
                <a:cxn ang="0">
                  <a:pos x="3368" y="1703"/>
                </a:cxn>
                <a:cxn ang="0">
                  <a:pos x="3200" y="1822"/>
                </a:cxn>
                <a:cxn ang="0">
                  <a:pos x="2999" y="1879"/>
                </a:cxn>
                <a:cxn ang="0">
                  <a:pos x="2784" y="1863"/>
                </a:cxn>
                <a:cxn ang="0">
                  <a:pos x="2595" y="1778"/>
                </a:cxn>
                <a:cxn ang="0">
                  <a:pos x="2446" y="1636"/>
                </a:cxn>
                <a:cxn ang="0">
                  <a:pos x="2353" y="1452"/>
                </a:cxn>
                <a:cxn ang="0">
                  <a:pos x="2326" y="1239"/>
                </a:cxn>
                <a:cxn ang="0">
                  <a:pos x="2373" y="1032"/>
                </a:cxn>
                <a:cxn ang="0">
                  <a:pos x="2484" y="859"/>
                </a:cxn>
                <a:cxn ang="0">
                  <a:pos x="2646" y="733"/>
                </a:cxn>
                <a:cxn ang="0">
                  <a:pos x="2843" y="665"/>
                </a:cxn>
                <a:cxn ang="0">
                  <a:pos x="14482" y="476"/>
                </a:cxn>
                <a:cxn ang="0">
                  <a:pos x="14578" y="503"/>
                </a:cxn>
                <a:cxn ang="0">
                  <a:pos x="14659" y="560"/>
                </a:cxn>
                <a:cxn ang="0">
                  <a:pos x="14716" y="640"/>
                </a:cxn>
                <a:cxn ang="0">
                  <a:pos x="14743" y="737"/>
                </a:cxn>
                <a:cxn ang="0">
                  <a:pos x="14739" y="1758"/>
                </a:cxn>
                <a:cxn ang="0">
                  <a:pos x="14702" y="1850"/>
                </a:cxn>
                <a:cxn ang="0">
                  <a:pos x="14638" y="1925"/>
                </a:cxn>
                <a:cxn ang="0">
                  <a:pos x="14553" y="1974"/>
                </a:cxn>
                <a:cxn ang="0">
                  <a:pos x="14452" y="1991"/>
                </a:cxn>
                <a:cxn ang="0">
                  <a:pos x="7495" y="1979"/>
                </a:cxn>
                <a:cxn ang="0">
                  <a:pos x="7407" y="1933"/>
                </a:cxn>
                <a:cxn ang="0">
                  <a:pos x="7339" y="1862"/>
                </a:cxn>
                <a:cxn ang="0">
                  <a:pos x="7298" y="1772"/>
                </a:cxn>
                <a:cxn ang="0">
                  <a:pos x="7289" y="752"/>
                </a:cxn>
                <a:cxn ang="0">
                  <a:pos x="7312" y="653"/>
                </a:cxn>
                <a:cxn ang="0">
                  <a:pos x="7365" y="571"/>
                </a:cxn>
                <a:cxn ang="0">
                  <a:pos x="7443" y="509"/>
                </a:cxn>
                <a:cxn ang="0">
                  <a:pos x="7537" y="477"/>
                </a:cxn>
              </a:cxnLst>
              <a:rect l="0" t="0" r="r" b="b"/>
              <a:pathLst>
                <a:path w="16275" h="2453">
                  <a:moveTo>
                    <a:pt x="473" y="0"/>
                  </a:moveTo>
                  <a:lnTo>
                    <a:pt x="15802" y="0"/>
                  </a:lnTo>
                  <a:lnTo>
                    <a:pt x="15826" y="1"/>
                  </a:lnTo>
                  <a:lnTo>
                    <a:pt x="15850" y="2"/>
                  </a:lnTo>
                  <a:lnTo>
                    <a:pt x="15874" y="5"/>
                  </a:lnTo>
                  <a:lnTo>
                    <a:pt x="15897" y="10"/>
                  </a:lnTo>
                  <a:lnTo>
                    <a:pt x="15920" y="15"/>
                  </a:lnTo>
                  <a:lnTo>
                    <a:pt x="15942" y="21"/>
                  </a:lnTo>
                  <a:lnTo>
                    <a:pt x="15964" y="29"/>
                  </a:lnTo>
                  <a:lnTo>
                    <a:pt x="15986" y="38"/>
                  </a:lnTo>
                  <a:lnTo>
                    <a:pt x="16006" y="47"/>
                  </a:lnTo>
                  <a:lnTo>
                    <a:pt x="16027" y="57"/>
                  </a:lnTo>
                  <a:lnTo>
                    <a:pt x="16047" y="69"/>
                  </a:lnTo>
                  <a:lnTo>
                    <a:pt x="16066" y="82"/>
                  </a:lnTo>
                  <a:lnTo>
                    <a:pt x="16085" y="95"/>
                  </a:lnTo>
                  <a:lnTo>
                    <a:pt x="16102" y="109"/>
                  </a:lnTo>
                  <a:lnTo>
                    <a:pt x="16119" y="123"/>
                  </a:lnTo>
                  <a:lnTo>
                    <a:pt x="16136" y="140"/>
                  </a:lnTo>
                  <a:lnTo>
                    <a:pt x="16152" y="156"/>
                  </a:lnTo>
                  <a:lnTo>
                    <a:pt x="16166" y="173"/>
                  </a:lnTo>
                  <a:lnTo>
                    <a:pt x="16180" y="191"/>
                  </a:lnTo>
                  <a:lnTo>
                    <a:pt x="16194" y="210"/>
                  </a:lnTo>
                  <a:lnTo>
                    <a:pt x="16206" y="228"/>
                  </a:lnTo>
                  <a:lnTo>
                    <a:pt x="16218" y="249"/>
                  </a:lnTo>
                  <a:lnTo>
                    <a:pt x="16228" y="269"/>
                  </a:lnTo>
                  <a:lnTo>
                    <a:pt x="16237" y="289"/>
                  </a:lnTo>
                  <a:lnTo>
                    <a:pt x="16247" y="312"/>
                  </a:lnTo>
                  <a:lnTo>
                    <a:pt x="16254" y="333"/>
                  </a:lnTo>
                  <a:lnTo>
                    <a:pt x="16260" y="356"/>
                  </a:lnTo>
                  <a:lnTo>
                    <a:pt x="16265" y="379"/>
                  </a:lnTo>
                  <a:lnTo>
                    <a:pt x="16270" y="401"/>
                  </a:lnTo>
                  <a:lnTo>
                    <a:pt x="16273" y="426"/>
                  </a:lnTo>
                  <a:lnTo>
                    <a:pt x="16274" y="449"/>
                  </a:lnTo>
                  <a:lnTo>
                    <a:pt x="16275" y="474"/>
                  </a:lnTo>
                  <a:lnTo>
                    <a:pt x="16275" y="1979"/>
                  </a:lnTo>
                  <a:lnTo>
                    <a:pt x="16274" y="2003"/>
                  </a:lnTo>
                  <a:lnTo>
                    <a:pt x="16273" y="2027"/>
                  </a:lnTo>
                  <a:lnTo>
                    <a:pt x="16270" y="2051"/>
                  </a:lnTo>
                  <a:lnTo>
                    <a:pt x="16265" y="2073"/>
                  </a:lnTo>
                  <a:lnTo>
                    <a:pt x="16260" y="2097"/>
                  </a:lnTo>
                  <a:lnTo>
                    <a:pt x="16254" y="2119"/>
                  </a:lnTo>
                  <a:lnTo>
                    <a:pt x="16247" y="2142"/>
                  </a:lnTo>
                  <a:lnTo>
                    <a:pt x="16237" y="2163"/>
                  </a:lnTo>
                  <a:lnTo>
                    <a:pt x="16228" y="2184"/>
                  </a:lnTo>
                  <a:lnTo>
                    <a:pt x="16218" y="2204"/>
                  </a:lnTo>
                  <a:lnTo>
                    <a:pt x="16206" y="2224"/>
                  </a:lnTo>
                  <a:lnTo>
                    <a:pt x="16194" y="2244"/>
                  </a:lnTo>
                  <a:lnTo>
                    <a:pt x="16180" y="2262"/>
                  </a:lnTo>
                  <a:lnTo>
                    <a:pt x="16166" y="2279"/>
                  </a:lnTo>
                  <a:lnTo>
                    <a:pt x="16152" y="2297"/>
                  </a:lnTo>
                  <a:lnTo>
                    <a:pt x="16136" y="2313"/>
                  </a:lnTo>
                  <a:lnTo>
                    <a:pt x="16119" y="2329"/>
                  </a:lnTo>
                  <a:lnTo>
                    <a:pt x="16102" y="2344"/>
                  </a:lnTo>
                  <a:lnTo>
                    <a:pt x="16085" y="2358"/>
                  </a:lnTo>
                  <a:lnTo>
                    <a:pt x="16066" y="2371"/>
                  </a:lnTo>
                  <a:lnTo>
                    <a:pt x="16047" y="2384"/>
                  </a:lnTo>
                  <a:lnTo>
                    <a:pt x="16027" y="2395"/>
                  </a:lnTo>
                  <a:lnTo>
                    <a:pt x="16006" y="2406"/>
                  </a:lnTo>
                  <a:lnTo>
                    <a:pt x="15986" y="2415"/>
                  </a:lnTo>
                  <a:lnTo>
                    <a:pt x="15964" y="2424"/>
                  </a:lnTo>
                  <a:lnTo>
                    <a:pt x="15942" y="2431"/>
                  </a:lnTo>
                  <a:lnTo>
                    <a:pt x="15920" y="2437"/>
                  </a:lnTo>
                  <a:lnTo>
                    <a:pt x="15897" y="2443"/>
                  </a:lnTo>
                  <a:lnTo>
                    <a:pt x="15874" y="2447"/>
                  </a:lnTo>
                  <a:lnTo>
                    <a:pt x="15850" y="2450"/>
                  </a:lnTo>
                  <a:lnTo>
                    <a:pt x="15826" y="2451"/>
                  </a:lnTo>
                  <a:lnTo>
                    <a:pt x="15802" y="2453"/>
                  </a:lnTo>
                  <a:lnTo>
                    <a:pt x="473" y="2453"/>
                  </a:lnTo>
                  <a:lnTo>
                    <a:pt x="449" y="2451"/>
                  </a:lnTo>
                  <a:lnTo>
                    <a:pt x="425" y="2450"/>
                  </a:lnTo>
                  <a:lnTo>
                    <a:pt x="401" y="2447"/>
                  </a:lnTo>
                  <a:lnTo>
                    <a:pt x="378" y="2443"/>
                  </a:lnTo>
                  <a:lnTo>
                    <a:pt x="355" y="2437"/>
                  </a:lnTo>
                  <a:lnTo>
                    <a:pt x="333" y="2431"/>
                  </a:lnTo>
                  <a:lnTo>
                    <a:pt x="310" y="2424"/>
                  </a:lnTo>
                  <a:lnTo>
                    <a:pt x="289" y="2415"/>
                  </a:lnTo>
                  <a:lnTo>
                    <a:pt x="269" y="2406"/>
                  </a:lnTo>
                  <a:lnTo>
                    <a:pt x="248" y="2395"/>
                  </a:lnTo>
                  <a:lnTo>
                    <a:pt x="228" y="2384"/>
                  </a:lnTo>
                  <a:lnTo>
                    <a:pt x="209" y="2371"/>
                  </a:lnTo>
                  <a:lnTo>
                    <a:pt x="190" y="2358"/>
                  </a:lnTo>
                  <a:lnTo>
                    <a:pt x="173" y="2344"/>
                  </a:lnTo>
                  <a:lnTo>
                    <a:pt x="156" y="2329"/>
                  </a:lnTo>
                  <a:lnTo>
                    <a:pt x="139" y="2313"/>
                  </a:lnTo>
                  <a:lnTo>
                    <a:pt x="123" y="2297"/>
                  </a:lnTo>
                  <a:lnTo>
                    <a:pt x="108" y="2279"/>
                  </a:lnTo>
                  <a:lnTo>
                    <a:pt x="95" y="2262"/>
                  </a:lnTo>
                  <a:lnTo>
                    <a:pt x="81" y="2244"/>
                  </a:lnTo>
                  <a:lnTo>
                    <a:pt x="68" y="2224"/>
                  </a:lnTo>
                  <a:lnTo>
                    <a:pt x="57" y="2204"/>
                  </a:lnTo>
                  <a:lnTo>
                    <a:pt x="47" y="2184"/>
                  </a:lnTo>
                  <a:lnTo>
                    <a:pt x="38" y="2163"/>
                  </a:lnTo>
                  <a:lnTo>
                    <a:pt x="28" y="2142"/>
                  </a:lnTo>
                  <a:lnTo>
                    <a:pt x="21" y="2119"/>
                  </a:lnTo>
                  <a:lnTo>
                    <a:pt x="15" y="2097"/>
                  </a:lnTo>
                  <a:lnTo>
                    <a:pt x="9" y="2073"/>
                  </a:lnTo>
                  <a:lnTo>
                    <a:pt x="5" y="2051"/>
                  </a:lnTo>
                  <a:lnTo>
                    <a:pt x="2" y="2027"/>
                  </a:lnTo>
                  <a:lnTo>
                    <a:pt x="1" y="2003"/>
                  </a:lnTo>
                  <a:lnTo>
                    <a:pt x="0" y="1979"/>
                  </a:lnTo>
                  <a:lnTo>
                    <a:pt x="0" y="474"/>
                  </a:lnTo>
                  <a:lnTo>
                    <a:pt x="1" y="449"/>
                  </a:lnTo>
                  <a:lnTo>
                    <a:pt x="2" y="426"/>
                  </a:lnTo>
                  <a:lnTo>
                    <a:pt x="5" y="401"/>
                  </a:lnTo>
                  <a:lnTo>
                    <a:pt x="9" y="379"/>
                  </a:lnTo>
                  <a:lnTo>
                    <a:pt x="15" y="356"/>
                  </a:lnTo>
                  <a:lnTo>
                    <a:pt x="21" y="333"/>
                  </a:lnTo>
                  <a:lnTo>
                    <a:pt x="28" y="312"/>
                  </a:lnTo>
                  <a:lnTo>
                    <a:pt x="38" y="289"/>
                  </a:lnTo>
                  <a:lnTo>
                    <a:pt x="47" y="269"/>
                  </a:lnTo>
                  <a:lnTo>
                    <a:pt x="57" y="249"/>
                  </a:lnTo>
                  <a:lnTo>
                    <a:pt x="68" y="228"/>
                  </a:lnTo>
                  <a:lnTo>
                    <a:pt x="81" y="210"/>
                  </a:lnTo>
                  <a:lnTo>
                    <a:pt x="95" y="191"/>
                  </a:lnTo>
                  <a:lnTo>
                    <a:pt x="108" y="173"/>
                  </a:lnTo>
                  <a:lnTo>
                    <a:pt x="123" y="156"/>
                  </a:lnTo>
                  <a:lnTo>
                    <a:pt x="139" y="140"/>
                  </a:lnTo>
                  <a:lnTo>
                    <a:pt x="156" y="123"/>
                  </a:lnTo>
                  <a:lnTo>
                    <a:pt x="173" y="109"/>
                  </a:lnTo>
                  <a:lnTo>
                    <a:pt x="190" y="95"/>
                  </a:lnTo>
                  <a:lnTo>
                    <a:pt x="209" y="82"/>
                  </a:lnTo>
                  <a:lnTo>
                    <a:pt x="228" y="69"/>
                  </a:lnTo>
                  <a:lnTo>
                    <a:pt x="248" y="57"/>
                  </a:lnTo>
                  <a:lnTo>
                    <a:pt x="269" y="47"/>
                  </a:lnTo>
                  <a:lnTo>
                    <a:pt x="289" y="38"/>
                  </a:lnTo>
                  <a:lnTo>
                    <a:pt x="310" y="29"/>
                  </a:lnTo>
                  <a:lnTo>
                    <a:pt x="333" y="21"/>
                  </a:lnTo>
                  <a:lnTo>
                    <a:pt x="355" y="15"/>
                  </a:lnTo>
                  <a:lnTo>
                    <a:pt x="378" y="10"/>
                  </a:lnTo>
                  <a:lnTo>
                    <a:pt x="401" y="5"/>
                  </a:lnTo>
                  <a:lnTo>
                    <a:pt x="425" y="2"/>
                  </a:lnTo>
                  <a:lnTo>
                    <a:pt x="449" y="1"/>
                  </a:lnTo>
                  <a:lnTo>
                    <a:pt x="473" y="0"/>
                  </a:lnTo>
                  <a:close/>
                  <a:moveTo>
                    <a:pt x="2937" y="658"/>
                  </a:moveTo>
                  <a:lnTo>
                    <a:pt x="2967" y="659"/>
                  </a:lnTo>
                  <a:lnTo>
                    <a:pt x="2999" y="661"/>
                  </a:lnTo>
                  <a:lnTo>
                    <a:pt x="3029" y="665"/>
                  </a:lnTo>
                  <a:lnTo>
                    <a:pt x="3059" y="670"/>
                  </a:lnTo>
                  <a:lnTo>
                    <a:pt x="3088" y="678"/>
                  </a:lnTo>
                  <a:lnTo>
                    <a:pt x="3118" y="686"/>
                  </a:lnTo>
                  <a:lnTo>
                    <a:pt x="3146" y="696"/>
                  </a:lnTo>
                  <a:lnTo>
                    <a:pt x="3174" y="706"/>
                  </a:lnTo>
                  <a:lnTo>
                    <a:pt x="3200" y="719"/>
                  </a:lnTo>
                  <a:lnTo>
                    <a:pt x="3227" y="733"/>
                  </a:lnTo>
                  <a:lnTo>
                    <a:pt x="3252" y="747"/>
                  </a:lnTo>
                  <a:lnTo>
                    <a:pt x="3277" y="763"/>
                  </a:lnTo>
                  <a:lnTo>
                    <a:pt x="3301" y="780"/>
                  </a:lnTo>
                  <a:lnTo>
                    <a:pt x="3324" y="799"/>
                  </a:lnTo>
                  <a:lnTo>
                    <a:pt x="3347" y="817"/>
                  </a:lnTo>
                  <a:lnTo>
                    <a:pt x="3368" y="838"/>
                  </a:lnTo>
                  <a:lnTo>
                    <a:pt x="3388" y="859"/>
                  </a:lnTo>
                  <a:lnTo>
                    <a:pt x="3408" y="881"/>
                  </a:lnTo>
                  <a:lnTo>
                    <a:pt x="3425" y="905"/>
                  </a:lnTo>
                  <a:lnTo>
                    <a:pt x="3442" y="928"/>
                  </a:lnTo>
                  <a:lnTo>
                    <a:pt x="3458" y="954"/>
                  </a:lnTo>
                  <a:lnTo>
                    <a:pt x="3473" y="979"/>
                  </a:lnTo>
                  <a:lnTo>
                    <a:pt x="3487" y="1006"/>
                  </a:lnTo>
                  <a:lnTo>
                    <a:pt x="3499" y="1032"/>
                  </a:lnTo>
                  <a:lnTo>
                    <a:pt x="3509" y="1061"/>
                  </a:lnTo>
                  <a:lnTo>
                    <a:pt x="3519" y="1089"/>
                  </a:lnTo>
                  <a:lnTo>
                    <a:pt x="3528" y="1118"/>
                  </a:lnTo>
                  <a:lnTo>
                    <a:pt x="3535" y="1147"/>
                  </a:lnTo>
                  <a:lnTo>
                    <a:pt x="3540" y="1178"/>
                  </a:lnTo>
                  <a:lnTo>
                    <a:pt x="3544" y="1208"/>
                  </a:lnTo>
                  <a:lnTo>
                    <a:pt x="3546" y="1239"/>
                  </a:lnTo>
                  <a:lnTo>
                    <a:pt x="3547" y="1271"/>
                  </a:lnTo>
                  <a:lnTo>
                    <a:pt x="3546" y="1302"/>
                  </a:lnTo>
                  <a:lnTo>
                    <a:pt x="3544" y="1333"/>
                  </a:lnTo>
                  <a:lnTo>
                    <a:pt x="3540" y="1363"/>
                  </a:lnTo>
                  <a:lnTo>
                    <a:pt x="3535" y="1394"/>
                  </a:lnTo>
                  <a:lnTo>
                    <a:pt x="3528" y="1423"/>
                  </a:lnTo>
                  <a:lnTo>
                    <a:pt x="3519" y="1452"/>
                  </a:lnTo>
                  <a:lnTo>
                    <a:pt x="3509" y="1480"/>
                  </a:lnTo>
                  <a:lnTo>
                    <a:pt x="3499" y="1508"/>
                  </a:lnTo>
                  <a:lnTo>
                    <a:pt x="3487" y="1535"/>
                  </a:lnTo>
                  <a:lnTo>
                    <a:pt x="3473" y="1562"/>
                  </a:lnTo>
                  <a:lnTo>
                    <a:pt x="3458" y="1587"/>
                  </a:lnTo>
                  <a:lnTo>
                    <a:pt x="3442" y="1612"/>
                  </a:lnTo>
                  <a:lnTo>
                    <a:pt x="3425" y="1636"/>
                  </a:lnTo>
                  <a:lnTo>
                    <a:pt x="3408" y="1659"/>
                  </a:lnTo>
                  <a:lnTo>
                    <a:pt x="3388" y="1681"/>
                  </a:lnTo>
                  <a:lnTo>
                    <a:pt x="3368" y="1703"/>
                  </a:lnTo>
                  <a:lnTo>
                    <a:pt x="3347" y="1723"/>
                  </a:lnTo>
                  <a:lnTo>
                    <a:pt x="3324" y="1742"/>
                  </a:lnTo>
                  <a:lnTo>
                    <a:pt x="3301" y="1761"/>
                  </a:lnTo>
                  <a:lnTo>
                    <a:pt x="3277" y="1778"/>
                  </a:lnTo>
                  <a:lnTo>
                    <a:pt x="3252" y="1793"/>
                  </a:lnTo>
                  <a:lnTo>
                    <a:pt x="3227" y="1809"/>
                  </a:lnTo>
                  <a:lnTo>
                    <a:pt x="3200" y="1822"/>
                  </a:lnTo>
                  <a:lnTo>
                    <a:pt x="3174" y="1834"/>
                  </a:lnTo>
                  <a:lnTo>
                    <a:pt x="3146" y="1845"/>
                  </a:lnTo>
                  <a:lnTo>
                    <a:pt x="3118" y="1854"/>
                  </a:lnTo>
                  <a:lnTo>
                    <a:pt x="3088" y="1863"/>
                  </a:lnTo>
                  <a:lnTo>
                    <a:pt x="3059" y="1870"/>
                  </a:lnTo>
                  <a:lnTo>
                    <a:pt x="3029" y="1875"/>
                  </a:lnTo>
                  <a:lnTo>
                    <a:pt x="2999" y="1879"/>
                  </a:lnTo>
                  <a:lnTo>
                    <a:pt x="2967" y="1882"/>
                  </a:lnTo>
                  <a:lnTo>
                    <a:pt x="2937" y="1882"/>
                  </a:lnTo>
                  <a:lnTo>
                    <a:pt x="2905" y="1882"/>
                  </a:lnTo>
                  <a:lnTo>
                    <a:pt x="2874" y="1879"/>
                  </a:lnTo>
                  <a:lnTo>
                    <a:pt x="2843" y="1875"/>
                  </a:lnTo>
                  <a:lnTo>
                    <a:pt x="2814" y="1870"/>
                  </a:lnTo>
                  <a:lnTo>
                    <a:pt x="2784" y="1863"/>
                  </a:lnTo>
                  <a:lnTo>
                    <a:pt x="2755" y="1854"/>
                  </a:lnTo>
                  <a:lnTo>
                    <a:pt x="2726" y="1845"/>
                  </a:lnTo>
                  <a:lnTo>
                    <a:pt x="2699" y="1834"/>
                  </a:lnTo>
                  <a:lnTo>
                    <a:pt x="2671" y="1822"/>
                  </a:lnTo>
                  <a:lnTo>
                    <a:pt x="2646" y="1809"/>
                  </a:lnTo>
                  <a:lnTo>
                    <a:pt x="2619" y="1793"/>
                  </a:lnTo>
                  <a:lnTo>
                    <a:pt x="2595" y="1778"/>
                  </a:lnTo>
                  <a:lnTo>
                    <a:pt x="2570" y="1761"/>
                  </a:lnTo>
                  <a:lnTo>
                    <a:pt x="2548" y="1742"/>
                  </a:lnTo>
                  <a:lnTo>
                    <a:pt x="2526" y="1723"/>
                  </a:lnTo>
                  <a:lnTo>
                    <a:pt x="2504" y="1703"/>
                  </a:lnTo>
                  <a:lnTo>
                    <a:pt x="2484" y="1681"/>
                  </a:lnTo>
                  <a:lnTo>
                    <a:pt x="2465" y="1659"/>
                  </a:lnTo>
                  <a:lnTo>
                    <a:pt x="2446" y="1636"/>
                  </a:lnTo>
                  <a:lnTo>
                    <a:pt x="2430" y="1612"/>
                  </a:lnTo>
                  <a:lnTo>
                    <a:pt x="2414" y="1587"/>
                  </a:lnTo>
                  <a:lnTo>
                    <a:pt x="2399" y="1562"/>
                  </a:lnTo>
                  <a:lnTo>
                    <a:pt x="2385" y="1535"/>
                  </a:lnTo>
                  <a:lnTo>
                    <a:pt x="2373" y="1508"/>
                  </a:lnTo>
                  <a:lnTo>
                    <a:pt x="2362" y="1480"/>
                  </a:lnTo>
                  <a:lnTo>
                    <a:pt x="2353" y="1452"/>
                  </a:lnTo>
                  <a:lnTo>
                    <a:pt x="2345" y="1423"/>
                  </a:lnTo>
                  <a:lnTo>
                    <a:pt x="2337" y="1394"/>
                  </a:lnTo>
                  <a:lnTo>
                    <a:pt x="2332" y="1363"/>
                  </a:lnTo>
                  <a:lnTo>
                    <a:pt x="2328" y="1333"/>
                  </a:lnTo>
                  <a:lnTo>
                    <a:pt x="2326" y="1302"/>
                  </a:lnTo>
                  <a:lnTo>
                    <a:pt x="2325" y="1271"/>
                  </a:lnTo>
                  <a:lnTo>
                    <a:pt x="2326" y="1239"/>
                  </a:lnTo>
                  <a:lnTo>
                    <a:pt x="2328" y="1208"/>
                  </a:lnTo>
                  <a:lnTo>
                    <a:pt x="2332" y="1178"/>
                  </a:lnTo>
                  <a:lnTo>
                    <a:pt x="2337" y="1147"/>
                  </a:lnTo>
                  <a:lnTo>
                    <a:pt x="2345" y="1118"/>
                  </a:lnTo>
                  <a:lnTo>
                    <a:pt x="2353" y="1089"/>
                  </a:lnTo>
                  <a:lnTo>
                    <a:pt x="2362" y="1061"/>
                  </a:lnTo>
                  <a:lnTo>
                    <a:pt x="2373" y="1032"/>
                  </a:lnTo>
                  <a:lnTo>
                    <a:pt x="2385" y="1006"/>
                  </a:lnTo>
                  <a:lnTo>
                    <a:pt x="2399" y="979"/>
                  </a:lnTo>
                  <a:lnTo>
                    <a:pt x="2414" y="954"/>
                  </a:lnTo>
                  <a:lnTo>
                    <a:pt x="2430" y="928"/>
                  </a:lnTo>
                  <a:lnTo>
                    <a:pt x="2446" y="905"/>
                  </a:lnTo>
                  <a:lnTo>
                    <a:pt x="2465" y="881"/>
                  </a:lnTo>
                  <a:lnTo>
                    <a:pt x="2484" y="859"/>
                  </a:lnTo>
                  <a:lnTo>
                    <a:pt x="2504" y="838"/>
                  </a:lnTo>
                  <a:lnTo>
                    <a:pt x="2526" y="817"/>
                  </a:lnTo>
                  <a:lnTo>
                    <a:pt x="2548" y="799"/>
                  </a:lnTo>
                  <a:lnTo>
                    <a:pt x="2570" y="780"/>
                  </a:lnTo>
                  <a:lnTo>
                    <a:pt x="2595" y="763"/>
                  </a:lnTo>
                  <a:lnTo>
                    <a:pt x="2619" y="747"/>
                  </a:lnTo>
                  <a:lnTo>
                    <a:pt x="2646" y="733"/>
                  </a:lnTo>
                  <a:lnTo>
                    <a:pt x="2671" y="719"/>
                  </a:lnTo>
                  <a:lnTo>
                    <a:pt x="2699" y="706"/>
                  </a:lnTo>
                  <a:lnTo>
                    <a:pt x="2726" y="696"/>
                  </a:lnTo>
                  <a:lnTo>
                    <a:pt x="2755" y="686"/>
                  </a:lnTo>
                  <a:lnTo>
                    <a:pt x="2784" y="678"/>
                  </a:lnTo>
                  <a:lnTo>
                    <a:pt x="2814" y="670"/>
                  </a:lnTo>
                  <a:lnTo>
                    <a:pt x="2843" y="665"/>
                  </a:lnTo>
                  <a:lnTo>
                    <a:pt x="2874" y="661"/>
                  </a:lnTo>
                  <a:lnTo>
                    <a:pt x="2905" y="659"/>
                  </a:lnTo>
                  <a:lnTo>
                    <a:pt x="2937" y="658"/>
                  </a:lnTo>
                  <a:close/>
                  <a:moveTo>
                    <a:pt x="7582" y="474"/>
                  </a:moveTo>
                  <a:lnTo>
                    <a:pt x="14452" y="474"/>
                  </a:lnTo>
                  <a:lnTo>
                    <a:pt x="14467" y="474"/>
                  </a:lnTo>
                  <a:lnTo>
                    <a:pt x="14482" y="476"/>
                  </a:lnTo>
                  <a:lnTo>
                    <a:pt x="14497" y="477"/>
                  </a:lnTo>
                  <a:lnTo>
                    <a:pt x="14511" y="480"/>
                  </a:lnTo>
                  <a:lnTo>
                    <a:pt x="14525" y="483"/>
                  </a:lnTo>
                  <a:lnTo>
                    <a:pt x="14539" y="487"/>
                  </a:lnTo>
                  <a:lnTo>
                    <a:pt x="14553" y="492"/>
                  </a:lnTo>
                  <a:lnTo>
                    <a:pt x="14566" y="497"/>
                  </a:lnTo>
                  <a:lnTo>
                    <a:pt x="14578" y="503"/>
                  </a:lnTo>
                  <a:lnTo>
                    <a:pt x="14592" y="509"/>
                  </a:lnTo>
                  <a:lnTo>
                    <a:pt x="14604" y="517"/>
                  </a:lnTo>
                  <a:lnTo>
                    <a:pt x="14616" y="524"/>
                  </a:lnTo>
                  <a:lnTo>
                    <a:pt x="14627" y="532"/>
                  </a:lnTo>
                  <a:lnTo>
                    <a:pt x="14638" y="541"/>
                  </a:lnTo>
                  <a:lnTo>
                    <a:pt x="14649" y="550"/>
                  </a:lnTo>
                  <a:lnTo>
                    <a:pt x="14659" y="560"/>
                  </a:lnTo>
                  <a:lnTo>
                    <a:pt x="14669" y="571"/>
                  </a:lnTo>
                  <a:lnTo>
                    <a:pt x="14678" y="581"/>
                  </a:lnTo>
                  <a:lnTo>
                    <a:pt x="14686" y="592"/>
                  </a:lnTo>
                  <a:lnTo>
                    <a:pt x="14694" y="603"/>
                  </a:lnTo>
                  <a:lnTo>
                    <a:pt x="14702" y="615"/>
                  </a:lnTo>
                  <a:lnTo>
                    <a:pt x="14710" y="628"/>
                  </a:lnTo>
                  <a:lnTo>
                    <a:pt x="14716" y="640"/>
                  </a:lnTo>
                  <a:lnTo>
                    <a:pt x="14722" y="653"/>
                  </a:lnTo>
                  <a:lnTo>
                    <a:pt x="14727" y="666"/>
                  </a:lnTo>
                  <a:lnTo>
                    <a:pt x="14732" y="680"/>
                  </a:lnTo>
                  <a:lnTo>
                    <a:pt x="14736" y="694"/>
                  </a:lnTo>
                  <a:lnTo>
                    <a:pt x="14739" y="708"/>
                  </a:lnTo>
                  <a:lnTo>
                    <a:pt x="14741" y="722"/>
                  </a:lnTo>
                  <a:lnTo>
                    <a:pt x="14743" y="737"/>
                  </a:lnTo>
                  <a:lnTo>
                    <a:pt x="14744" y="752"/>
                  </a:lnTo>
                  <a:lnTo>
                    <a:pt x="14745" y="767"/>
                  </a:lnTo>
                  <a:lnTo>
                    <a:pt x="14745" y="1699"/>
                  </a:lnTo>
                  <a:lnTo>
                    <a:pt x="14744" y="1714"/>
                  </a:lnTo>
                  <a:lnTo>
                    <a:pt x="14743" y="1728"/>
                  </a:lnTo>
                  <a:lnTo>
                    <a:pt x="14741" y="1742"/>
                  </a:lnTo>
                  <a:lnTo>
                    <a:pt x="14739" y="1758"/>
                  </a:lnTo>
                  <a:lnTo>
                    <a:pt x="14736" y="1771"/>
                  </a:lnTo>
                  <a:lnTo>
                    <a:pt x="14732" y="1785"/>
                  </a:lnTo>
                  <a:lnTo>
                    <a:pt x="14727" y="1798"/>
                  </a:lnTo>
                  <a:lnTo>
                    <a:pt x="14722" y="1812"/>
                  </a:lnTo>
                  <a:lnTo>
                    <a:pt x="14716" y="1825"/>
                  </a:lnTo>
                  <a:lnTo>
                    <a:pt x="14710" y="1838"/>
                  </a:lnTo>
                  <a:lnTo>
                    <a:pt x="14702" y="1850"/>
                  </a:lnTo>
                  <a:lnTo>
                    <a:pt x="14694" y="1862"/>
                  </a:lnTo>
                  <a:lnTo>
                    <a:pt x="14686" y="1874"/>
                  </a:lnTo>
                  <a:lnTo>
                    <a:pt x="14678" y="1885"/>
                  </a:lnTo>
                  <a:lnTo>
                    <a:pt x="14669" y="1895"/>
                  </a:lnTo>
                  <a:lnTo>
                    <a:pt x="14659" y="1905"/>
                  </a:lnTo>
                  <a:lnTo>
                    <a:pt x="14649" y="1916"/>
                  </a:lnTo>
                  <a:lnTo>
                    <a:pt x="14638" y="1925"/>
                  </a:lnTo>
                  <a:lnTo>
                    <a:pt x="14627" y="1933"/>
                  </a:lnTo>
                  <a:lnTo>
                    <a:pt x="14616" y="1941"/>
                  </a:lnTo>
                  <a:lnTo>
                    <a:pt x="14604" y="1949"/>
                  </a:lnTo>
                  <a:lnTo>
                    <a:pt x="14592" y="1956"/>
                  </a:lnTo>
                  <a:lnTo>
                    <a:pt x="14578" y="1962"/>
                  </a:lnTo>
                  <a:lnTo>
                    <a:pt x="14566" y="1969"/>
                  </a:lnTo>
                  <a:lnTo>
                    <a:pt x="14553" y="1974"/>
                  </a:lnTo>
                  <a:lnTo>
                    <a:pt x="14539" y="1979"/>
                  </a:lnTo>
                  <a:lnTo>
                    <a:pt x="14525" y="1982"/>
                  </a:lnTo>
                  <a:lnTo>
                    <a:pt x="14511" y="1986"/>
                  </a:lnTo>
                  <a:lnTo>
                    <a:pt x="14497" y="1988"/>
                  </a:lnTo>
                  <a:lnTo>
                    <a:pt x="14482" y="1990"/>
                  </a:lnTo>
                  <a:lnTo>
                    <a:pt x="14467" y="1991"/>
                  </a:lnTo>
                  <a:lnTo>
                    <a:pt x="14452" y="1991"/>
                  </a:lnTo>
                  <a:lnTo>
                    <a:pt x="7582" y="1991"/>
                  </a:lnTo>
                  <a:lnTo>
                    <a:pt x="7567" y="1991"/>
                  </a:lnTo>
                  <a:lnTo>
                    <a:pt x="7552" y="1990"/>
                  </a:lnTo>
                  <a:lnTo>
                    <a:pt x="7537" y="1988"/>
                  </a:lnTo>
                  <a:lnTo>
                    <a:pt x="7523" y="1986"/>
                  </a:lnTo>
                  <a:lnTo>
                    <a:pt x="7509" y="1982"/>
                  </a:lnTo>
                  <a:lnTo>
                    <a:pt x="7495" y="1979"/>
                  </a:lnTo>
                  <a:lnTo>
                    <a:pt x="7481" y="1974"/>
                  </a:lnTo>
                  <a:lnTo>
                    <a:pt x="7468" y="1969"/>
                  </a:lnTo>
                  <a:lnTo>
                    <a:pt x="7455" y="1962"/>
                  </a:lnTo>
                  <a:lnTo>
                    <a:pt x="7443" y="1956"/>
                  </a:lnTo>
                  <a:lnTo>
                    <a:pt x="7431" y="1949"/>
                  </a:lnTo>
                  <a:lnTo>
                    <a:pt x="7418" y="1941"/>
                  </a:lnTo>
                  <a:lnTo>
                    <a:pt x="7407" y="1933"/>
                  </a:lnTo>
                  <a:lnTo>
                    <a:pt x="7396" y="1925"/>
                  </a:lnTo>
                  <a:lnTo>
                    <a:pt x="7385" y="1916"/>
                  </a:lnTo>
                  <a:lnTo>
                    <a:pt x="7375" y="1905"/>
                  </a:lnTo>
                  <a:lnTo>
                    <a:pt x="7365" y="1895"/>
                  </a:lnTo>
                  <a:lnTo>
                    <a:pt x="7356" y="1885"/>
                  </a:lnTo>
                  <a:lnTo>
                    <a:pt x="7347" y="1874"/>
                  </a:lnTo>
                  <a:lnTo>
                    <a:pt x="7339" y="1862"/>
                  </a:lnTo>
                  <a:lnTo>
                    <a:pt x="7332" y="1850"/>
                  </a:lnTo>
                  <a:lnTo>
                    <a:pt x="7325" y="1838"/>
                  </a:lnTo>
                  <a:lnTo>
                    <a:pt x="7318" y="1825"/>
                  </a:lnTo>
                  <a:lnTo>
                    <a:pt x="7312" y="1812"/>
                  </a:lnTo>
                  <a:lnTo>
                    <a:pt x="7306" y="1798"/>
                  </a:lnTo>
                  <a:lnTo>
                    <a:pt x="7302" y="1785"/>
                  </a:lnTo>
                  <a:lnTo>
                    <a:pt x="7298" y="1772"/>
                  </a:lnTo>
                  <a:lnTo>
                    <a:pt x="7295" y="1758"/>
                  </a:lnTo>
                  <a:lnTo>
                    <a:pt x="7292" y="1742"/>
                  </a:lnTo>
                  <a:lnTo>
                    <a:pt x="7290" y="1728"/>
                  </a:lnTo>
                  <a:lnTo>
                    <a:pt x="7289" y="1714"/>
                  </a:lnTo>
                  <a:lnTo>
                    <a:pt x="7289" y="1699"/>
                  </a:lnTo>
                  <a:lnTo>
                    <a:pt x="7289" y="767"/>
                  </a:lnTo>
                  <a:lnTo>
                    <a:pt x="7289" y="752"/>
                  </a:lnTo>
                  <a:lnTo>
                    <a:pt x="7290" y="737"/>
                  </a:lnTo>
                  <a:lnTo>
                    <a:pt x="7292" y="722"/>
                  </a:lnTo>
                  <a:lnTo>
                    <a:pt x="7295" y="708"/>
                  </a:lnTo>
                  <a:lnTo>
                    <a:pt x="7298" y="694"/>
                  </a:lnTo>
                  <a:lnTo>
                    <a:pt x="7302" y="680"/>
                  </a:lnTo>
                  <a:lnTo>
                    <a:pt x="7306" y="666"/>
                  </a:lnTo>
                  <a:lnTo>
                    <a:pt x="7312" y="653"/>
                  </a:lnTo>
                  <a:lnTo>
                    <a:pt x="7318" y="640"/>
                  </a:lnTo>
                  <a:lnTo>
                    <a:pt x="7325" y="628"/>
                  </a:lnTo>
                  <a:lnTo>
                    <a:pt x="7332" y="615"/>
                  </a:lnTo>
                  <a:lnTo>
                    <a:pt x="7339" y="603"/>
                  </a:lnTo>
                  <a:lnTo>
                    <a:pt x="7347" y="592"/>
                  </a:lnTo>
                  <a:lnTo>
                    <a:pt x="7356" y="581"/>
                  </a:lnTo>
                  <a:lnTo>
                    <a:pt x="7365" y="571"/>
                  </a:lnTo>
                  <a:lnTo>
                    <a:pt x="7375" y="560"/>
                  </a:lnTo>
                  <a:lnTo>
                    <a:pt x="7385" y="550"/>
                  </a:lnTo>
                  <a:lnTo>
                    <a:pt x="7396" y="541"/>
                  </a:lnTo>
                  <a:lnTo>
                    <a:pt x="7407" y="532"/>
                  </a:lnTo>
                  <a:lnTo>
                    <a:pt x="7418" y="524"/>
                  </a:lnTo>
                  <a:lnTo>
                    <a:pt x="7431" y="517"/>
                  </a:lnTo>
                  <a:lnTo>
                    <a:pt x="7443" y="509"/>
                  </a:lnTo>
                  <a:lnTo>
                    <a:pt x="7455" y="503"/>
                  </a:lnTo>
                  <a:lnTo>
                    <a:pt x="7468" y="497"/>
                  </a:lnTo>
                  <a:lnTo>
                    <a:pt x="7481" y="492"/>
                  </a:lnTo>
                  <a:lnTo>
                    <a:pt x="7495" y="487"/>
                  </a:lnTo>
                  <a:lnTo>
                    <a:pt x="7509" y="483"/>
                  </a:lnTo>
                  <a:lnTo>
                    <a:pt x="7523" y="480"/>
                  </a:lnTo>
                  <a:lnTo>
                    <a:pt x="7537" y="477"/>
                  </a:lnTo>
                  <a:lnTo>
                    <a:pt x="7552" y="476"/>
                  </a:lnTo>
                  <a:lnTo>
                    <a:pt x="7567" y="474"/>
                  </a:lnTo>
                  <a:lnTo>
                    <a:pt x="7582" y="474"/>
                  </a:lnTo>
                  <a:close/>
                </a:path>
              </a:pathLst>
            </a:custGeom>
            <a:grpFill/>
            <a:ln w="9525">
              <a:noFill/>
              <a:round/>
              <a:headEnd/>
              <a:tailEnd/>
            </a:ln>
          </p:spPr>
          <p:txBody>
            <a:bodyPr/>
            <a:lstStyle/>
            <a:p>
              <a:pPr defTabSz="914248">
                <a:defRPr/>
              </a:pPr>
              <a:endParaRPr lang="zh-CN" altLang="en-US" sz="1200" ker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8" name="直接连接符 87">
              <a:extLst>
                <a:ext uri="{FF2B5EF4-FFF2-40B4-BE49-F238E27FC236}">
                  <a16:creationId xmlns:a16="http://schemas.microsoft.com/office/drawing/2014/main" xmlns="" id="{93D1FD0D-1C48-4D6C-9D5F-2F8B22130B3D}"/>
                </a:ext>
              </a:extLst>
            </p:cNvPr>
            <p:cNvCxnSpPr/>
            <p:nvPr/>
          </p:nvCxnSpPr>
          <p:spPr bwMode="gray">
            <a:xfrm>
              <a:off x="3654555" y="1960831"/>
              <a:ext cx="432000" cy="0"/>
            </a:xfrm>
            <a:prstGeom prst="line">
              <a:avLst/>
            </a:prstGeom>
            <a:grpFill/>
            <a:ln w="9525" cap="flat" cmpd="sng" algn="ctr">
              <a:solidFill>
                <a:sysClr val="window" lastClr="FFFFFF">
                  <a:lumMod val="75000"/>
                </a:sysClr>
              </a:solidFill>
              <a:prstDash val="solid"/>
            </a:ln>
            <a:effectLst/>
          </p:spPr>
        </p:cxnSp>
      </p:grpSp>
      <p:grpSp>
        <p:nvGrpSpPr>
          <p:cNvPr id="142" name="组合 141">
            <a:extLst>
              <a:ext uri="{FF2B5EF4-FFF2-40B4-BE49-F238E27FC236}">
                <a16:creationId xmlns:a16="http://schemas.microsoft.com/office/drawing/2014/main" xmlns="" id="{DADCD151-7DAF-4762-8420-2C7145D4C402}"/>
              </a:ext>
            </a:extLst>
          </p:cNvPr>
          <p:cNvGrpSpPr/>
          <p:nvPr/>
        </p:nvGrpSpPr>
        <p:grpSpPr bwMode="gray">
          <a:xfrm>
            <a:off x="2322163" y="5204338"/>
            <a:ext cx="714308" cy="208189"/>
            <a:chOff x="2430521" y="5715429"/>
            <a:chExt cx="714566" cy="208264"/>
          </a:xfrm>
        </p:grpSpPr>
        <p:grpSp>
          <p:nvGrpSpPr>
            <p:cNvPr id="144" name="组合 143">
              <a:extLst>
                <a:ext uri="{FF2B5EF4-FFF2-40B4-BE49-F238E27FC236}">
                  <a16:creationId xmlns:a16="http://schemas.microsoft.com/office/drawing/2014/main" xmlns="" id="{5BA001F1-391D-4756-91DF-E0CD37B20D33}"/>
                </a:ext>
              </a:extLst>
            </p:cNvPr>
            <p:cNvGrpSpPr/>
            <p:nvPr/>
          </p:nvGrpSpPr>
          <p:grpSpPr bwMode="gray">
            <a:xfrm>
              <a:off x="2650917" y="5715429"/>
              <a:ext cx="494170" cy="208264"/>
              <a:chOff x="1150547" y="4214710"/>
              <a:chExt cx="370552" cy="156167"/>
            </a:xfrm>
          </p:grpSpPr>
          <p:sp>
            <p:nvSpPr>
              <p:cNvPr id="157" name="椭圆 490">
                <a:extLst>
                  <a:ext uri="{FF2B5EF4-FFF2-40B4-BE49-F238E27FC236}">
                    <a16:creationId xmlns:a16="http://schemas.microsoft.com/office/drawing/2014/main" xmlns="" id="{1A61ED20-8B3C-4456-ADFF-A6985DC5FEF0}"/>
                  </a:ext>
                </a:extLst>
              </p:cNvPr>
              <p:cNvSpPr>
                <a:spLocks/>
              </p:cNvSpPr>
              <p:nvPr/>
            </p:nvSpPr>
            <p:spPr bwMode="gray">
              <a:xfrm>
                <a:off x="1395843" y="4247562"/>
                <a:ext cx="80750" cy="83506"/>
              </a:xfrm>
              <a:prstGeom prst="ellipse">
                <a:avLst/>
              </a:prstGeom>
              <a:solidFill>
                <a:srgbClr val="C00000"/>
              </a:solidFill>
              <a:ln w="6350" algn="ctr">
                <a:solidFill>
                  <a:srgbClr val="666666"/>
                </a:solidFill>
                <a:prstDash val="dash"/>
                <a:round/>
                <a:headEnd/>
                <a:tailEnd/>
              </a:ln>
            </p:spPr>
            <p:txBody>
              <a:bodyPr lIns="64107" tIns="32054" rIns="64107" bIns="32054"/>
              <a:lstStyle>
                <a:lvl1pPr defTabSz="800100">
                  <a:defRPr sz="2400">
                    <a:solidFill>
                      <a:schemeClr val="tx1"/>
                    </a:solidFill>
                    <a:latin typeface="Arial" panose="020B0604020202020204" pitchFamily="34" charset="0"/>
                    <a:ea typeface="宋体" panose="02010600030101010101" pitchFamily="2" charset="-122"/>
                  </a:defRPr>
                </a:lvl1pPr>
                <a:lvl2pPr marL="742950" indent="-285750" defTabSz="800100">
                  <a:defRPr sz="2400">
                    <a:solidFill>
                      <a:schemeClr val="tx1"/>
                    </a:solidFill>
                    <a:latin typeface="Arial" panose="020B0604020202020204" pitchFamily="34" charset="0"/>
                    <a:ea typeface="宋体" panose="02010600030101010101" pitchFamily="2" charset="-122"/>
                  </a:defRPr>
                </a:lvl2pPr>
                <a:lvl3pPr marL="1143000" indent="-228600" defTabSz="800100">
                  <a:defRPr sz="2400">
                    <a:solidFill>
                      <a:schemeClr val="tx1"/>
                    </a:solidFill>
                    <a:latin typeface="Arial" panose="020B0604020202020204" pitchFamily="34" charset="0"/>
                    <a:ea typeface="宋体" panose="02010600030101010101" pitchFamily="2" charset="-122"/>
                  </a:defRPr>
                </a:lvl3pPr>
                <a:lvl4pPr marL="1600200" indent="-228600" defTabSz="800100">
                  <a:defRPr sz="2400">
                    <a:solidFill>
                      <a:schemeClr val="tx1"/>
                    </a:solidFill>
                    <a:latin typeface="Arial" panose="020B0604020202020204" pitchFamily="34" charset="0"/>
                    <a:ea typeface="宋体" panose="02010600030101010101" pitchFamily="2" charset="-122"/>
                  </a:defRPr>
                </a:lvl4pPr>
                <a:lvl5pPr marL="2057400" indent="-228600" defTabSz="800100">
                  <a:defRPr sz="2400">
                    <a:solidFill>
                      <a:schemeClr val="tx1"/>
                    </a:solidFill>
                    <a:latin typeface="Arial" panose="020B0604020202020204" pitchFamily="34" charset="0"/>
                    <a:ea typeface="宋体" panose="02010600030101010101" pitchFamily="2" charset="-122"/>
                  </a:defRPr>
                </a:lvl5pPr>
                <a:lvl6pPr marL="2514600" indent="-228600" defTabSz="8001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001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001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001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fontAlgn="ctr">
                  <a:spcBef>
                    <a:spcPct val="0"/>
                  </a:spcBef>
                  <a:spcAft>
                    <a:spcPct val="0"/>
                  </a:spcAft>
                  <a:defRPr/>
                </a:pPr>
                <a:endParaRPr lang="en-US" altLang="zh-CN" sz="1200" b="1" kern="0">
                  <a:solidFill>
                    <a:srgbClr val="1D1D1B"/>
                  </a:solidFill>
                  <a:latin typeface="Huawei Sans" panose="020C0503030203020204" pitchFamily="34" charset="0"/>
                  <a:ea typeface="方正兰亭黑简体" panose="02000000000000000000" pitchFamily="2" charset="-122"/>
                  <a:cs typeface="方正兰亭细黑_GBK"/>
                  <a:sym typeface="Huawei Sans" panose="020C0503030203020204" pitchFamily="34" charset="0"/>
                </a:endParaRPr>
              </a:p>
            </p:txBody>
          </p:sp>
          <p:grpSp>
            <p:nvGrpSpPr>
              <p:cNvPr id="149" name="组合 142">
                <a:extLst>
                  <a:ext uri="{FF2B5EF4-FFF2-40B4-BE49-F238E27FC236}">
                    <a16:creationId xmlns:a16="http://schemas.microsoft.com/office/drawing/2014/main" xmlns="" id="{4F942D30-4761-4AC7-BF69-67DAB30BDEA8}"/>
                  </a:ext>
                </a:extLst>
              </p:cNvPr>
              <p:cNvGrpSpPr/>
              <p:nvPr/>
            </p:nvGrpSpPr>
            <p:grpSpPr bwMode="gray">
              <a:xfrm>
                <a:off x="1285070" y="4246219"/>
                <a:ext cx="94545" cy="77808"/>
                <a:chOff x="2327272" y="3684853"/>
                <a:chExt cx="798212" cy="497713"/>
              </a:xfrm>
              <a:solidFill>
                <a:srgbClr val="18B7F1"/>
              </a:solidFill>
            </p:grpSpPr>
            <p:sp>
              <p:nvSpPr>
                <p:cNvPr id="152" name="Freeform 511">
                  <a:extLst>
                    <a:ext uri="{FF2B5EF4-FFF2-40B4-BE49-F238E27FC236}">
                      <a16:creationId xmlns:a16="http://schemas.microsoft.com/office/drawing/2014/main" xmlns="" id="{A2A0E512-0E00-43A4-8B35-1AB379B287E6}"/>
                    </a:ext>
                  </a:extLst>
                </p:cNvPr>
                <p:cNvSpPr>
                  <a:spLocks/>
                </p:cNvSpPr>
                <p:nvPr/>
              </p:nvSpPr>
              <p:spPr bwMode="gray">
                <a:xfrm>
                  <a:off x="2327272" y="3684853"/>
                  <a:ext cx="798212" cy="113934"/>
                </a:xfrm>
                <a:custGeom>
                  <a:avLst/>
                  <a:gdLst/>
                  <a:ahLst/>
                  <a:cxnLst>
                    <a:cxn ang="0">
                      <a:pos x="6" y="38"/>
                    </a:cxn>
                    <a:cxn ang="0">
                      <a:pos x="6" y="38"/>
                    </a:cxn>
                    <a:cxn ang="0">
                      <a:pos x="22" y="26"/>
                    </a:cxn>
                    <a:cxn ang="0">
                      <a:pos x="40" y="18"/>
                    </a:cxn>
                    <a:cxn ang="0">
                      <a:pos x="58" y="14"/>
                    </a:cxn>
                    <a:cxn ang="0">
                      <a:pos x="76" y="12"/>
                    </a:cxn>
                    <a:cxn ang="0">
                      <a:pos x="94" y="14"/>
                    </a:cxn>
                    <a:cxn ang="0">
                      <a:pos x="112" y="18"/>
                    </a:cxn>
                    <a:cxn ang="0">
                      <a:pos x="128" y="26"/>
                    </a:cxn>
                    <a:cxn ang="0">
                      <a:pos x="144" y="36"/>
                    </a:cxn>
                    <a:cxn ang="0">
                      <a:pos x="150" y="26"/>
                    </a:cxn>
                    <a:cxn ang="0">
                      <a:pos x="150" y="26"/>
                    </a:cxn>
                    <a:cxn ang="0">
                      <a:pos x="132" y="16"/>
                    </a:cxn>
                    <a:cxn ang="0">
                      <a:pos x="114" y="6"/>
                    </a:cxn>
                    <a:cxn ang="0">
                      <a:pos x="96" y="2"/>
                    </a:cxn>
                    <a:cxn ang="0">
                      <a:pos x="76" y="0"/>
                    </a:cxn>
                    <a:cxn ang="0">
                      <a:pos x="56" y="2"/>
                    </a:cxn>
                    <a:cxn ang="0">
                      <a:pos x="36" y="8"/>
                    </a:cxn>
                    <a:cxn ang="0">
                      <a:pos x="18" y="16"/>
                    </a:cxn>
                    <a:cxn ang="0">
                      <a:pos x="0" y="26"/>
                    </a:cxn>
                    <a:cxn ang="0">
                      <a:pos x="6" y="38"/>
                    </a:cxn>
                  </a:cxnLst>
                  <a:rect l="0" t="0" r="r" b="b"/>
                  <a:pathLst>
                    <a:path w="150" h="38">
                      <a:moveTo>
                        <a:pt x="6" y="38"/>
                      </a:moveTo>
                      <a:lnTo>
                        <a:pt x="6" y="38"/>
                      </a:lnTo>
                      <a:lnTo>
                        <a:pt x="22" y="26"/>
                      </a:lnTo>
                      <a:lnTo>
                        <a:pt x="40" y="18"/>
                      </a:lnTo>
                      <a:lnTo>
                        <a:pt x="58" y="14"/>
                      </a:lnTo>
                      <a:lnTo>
                        <a:pt x="76" y="12"/>
                      </a:lnTo>
                      <a:lnTo>
                        <a:pt x="94" y="14"/>
                      </a:lnTo>
                      <a:lnTo>
                        <a:pt x="112" y="18"/>
                      </a:lnTo>
                      <a:lnTo>
                        <a:pt x="128" y="26"/>
                      </a:lnTo>
                      <a:lnTo>
                        <a:pt x="144" y="36"/>
                      </a:lnTo>
                      <a:lnTo>
                        <a:pt x="150" y="26"/>
                      </a:lnTo>
                      <a:lnTo>
                        <a:pt x="150" y="26"/>
                      </a:lnTo>
                      <a:lnTo>
                        <a:pt x="132" y="16"/>
                      </a:lnTo>
                      <a:lnTo>
                        <a:pt x="114" y="6"/>
                      </a:lnTo>
                      <a:lnTo>
                        <a:pt x="96" y="2"/>
                      </a:lnTo>
                      <a:lnTo>
                        <a:pt x="76" y="0"/>
                      </a:lnTo>
                      <a:lnTo>
                        <a:pt x="56" y="2"/>
                      </a:lnTo>
                      <a:lnTo>
                        <a:pt x="36" y="8"/>
                      </a:lnTo>
                      <a:lnTo>
                        <a:pt x="18" y="16"/>
                      </a:lnTo>
                      <a:lnTo>
                        <a:pt x="0" y="26"/>
                      </a:lnTo>
                      <a:lnTo>
                        <a:pt x="6" y="38"/>
                      </a:lnTo>
                      <a:close/>
                    </a:path>
                  </a:pathLst>
                </a:custGeom>
                <a:grpFill/>
                <a:ln w="9525">
                  <a:solidFill>
                    <a:srgbClr val="666666"/>
                  </a:solidFill>
                  <a:round/>
                  <a:headEnd/>
                  <a:tailEnd/>
                </a:ln>
              </p:spPr>
              <p:txBody>
                <a:bodyPr/>
                <a:lstStyle/>
                <a:p>
                  <a:pPr defTabSz="854907" fontAlgn="ctr">
                    <a:defRPr/>
                  </a:pPr>
                  <a:endPar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3" name="Freeform 512">
                  <a:extLst>
                    <a:ext uri="{FF2B5EF4-FFF2-40B4-BE49-F238E27FC236}">
                      <a16:creationId xmlns:a16="http://schemas.microsoft.com/office/drawing/2014/main" xmlns="" id="{599ABE9C-4E11-4BDA-B0C5-63E70901DDD3}"/>
                    </a:ext>
                  </a:extLst>
                </p:cNvPr>
                <p:cNvSpPr>
                  <a:spLocks/>
                </p:cNvSpPr>
                <p:nvPr/>
              </p:nvSpPr>
              <p:spPr bwMode="gray">
                <a:xfrm>
                  <a:off x="2423057" y="3792791"/>
                  <a:ext cx="606641" cy="95945"/>
                </a:xfrm>
                <a:custGeom>
                  <a:avLst/>
                  <a:gdLst/>
                  <a:ahLst/>
                  <a:cxnLst>
                    <a:cxn ang="0">
                      <a:pos x="114" y="22"/>
                    </a:cxn>
                    <a:cxn ang="0">
                      <a:pos x="114" y="22"/>
                    </a:cxn>
                    <a:cxn ang="0">
                      <a:pos x="102" y="12"/>
                    </a:cxn>
                    <a:cxn ang="0">
                      <a:pos x="88" y="6"/>
                    </a:cxn>
                    <a:cxn ang="0">
                      <a:pos x="72" y="2"/>
                    </a:cxn>
                    <a:cxn ang="0">
                      <a:pos x="58" y="0"/>
                    </a:cxn>
                    <a:cxn ang="0">
                      <a:pos x="42" y="2"/>
                    </a:cxn>
                    <a:cxn ang="0">
                      <a:pos x="28" y="6"/>
                    </a:cxn>
                    <a:cxn ang="0">
                      <a:pos x="14" y="12"/>
                    </a:cxn>
                    <a:cxn ang="0">
                      <a:pos x="0" y="22"/>
                    </a:cxn>
                    <a:cxn ang="0">
                      <a:pos x="8" y="32"/>
                    </a:cxn>
                    <a:cxn ang="0">
                      <a:pos x="8" y="32"/>
                    </a:cxn>
                    <a:cxn ang="0">
                      <a:pos x="8" y="32"/>
                    </a:cxn>
                    <a:cxn ang="0">
                      <a:pos x="8" y="32"/>
                    </a:cxn>
                    <a:cxn ang="0">
                      <a:pos x="18" y="24"/>
                    </a:cxn>
                    <a:cxn ang="0">
                      <a:pos x="30" y="18"/>
                    </a:cxn>
                    <a:cxn ang="0">
                      <a:pos x="44" y="14"/>
                    </a:cxn>
                    <a:cxn ang="0">
                      <a:pos x="58" y="12"/>
                    </a:cxn>
                    <a:cxn ang="0">
                      <a:pos x="72" y="14"/>
                    </a:cxn>
                    <a:cxn ang="0">
                      <a:pos x="84" y="16"/>
                    </a:cxn>
                    <a:cxn ang="0">
                      <a:pos x="96" y="24"/>
                    </a:cxn>
                    <a:cxn ang="0">
                      <a:pos x="108" y="32"/>
                    </a:cxn>
                    <a:cxn ang="0">
                      <a:pos x="114" y="22"/>
                    </a:cxn>
                  </a:cxnLst>
                  <a:rect l="0" t="0" r="r" b="b"/>
                  <a:pathLst>
                    <a:path w="114" h="32">
                      <a:moveTo>
                        <a:pt x="114" y="22"/>
                      </a:moveTo>
                      <a:lnTo>
                        <a:pt x="114" y="22"/>
                      </a:lnTo>
                      <a:lnTo>
                        <a:pt x="102" y="12"/>
                      </a:lnTo>
                      <a:lnTo>
                        <a:pt x="88" y="6"/>
                      </a:lnTo>
                      <a:lnTo>
                        <a:pt x="72" y="2"/>
                      </a:lnTo>
                      <a:lnTo>
                        <a:pt x="58" y="0"/>
                      </a:lnTo>
                      <a:lnTo>
                        <a:pt x="42" y="2"/>
                      </a:lnTo>
                      <a:lnTo>
                        <a:pt x="28" y="6"/>
                      </a:lnTo>
                      <a:lnTo>
                        <a:pt x="14" y="12"/>
                      </a:lnTo>
                      <a:lnTo>
                        <a:pt x="0" y="22"/>
                      </a:lnTo>
                      <a:lnTo>
                        <a:pt x="8" y="32"/>
                      </a:lnTo>
                      <a:lnTo>
                        <a:pt x="8" y="32"/>
                      </a:lnTo>
                      <a:lnTo>
                        <a:pt x="8" y="32"/>
                      </a:lnTo>
                      <a:lnTo>
                        <a:pt x="8" y="32"/>
                      </a:lnTo>
                      <a:lnTo>
                        <a:pt x="18" y="24"/>
                      </a:lnTo>
                      <a:lnTo>
                        <a:pt x="30" y="18"/>
                      </a:lnTo>
                      <a:lnTo>
                        <a:pt x="44" y="14"/>
                      </a:lnTo>
                      <a:lnTo>
                        <a:pt x="58" y="12"/>
                      </a:lnTo>
                      <a:lnTo>
                        <a:pt x="72" y="14"/>
                      </a:lnTo>
                      <a:lnTo>
                        <a:pt x="84" y="16"/>
                      </a:lnTo>
                      <a:lnTo>
                        <a:pt x="96" y="24"/>
                      </a:lnTo>
                      <a:lnTo>
                        <a:pt x="108" y="32"/>
                      </a:lnTo>
                      <a:lnTo>
                        <a:pt x="114" y="22"/>
                      </a:lnTo>
                      <a:close/>
                    </a:path>
                  </a:pathLst>
                </a:custGeom>
                <a:grpFill/>
                <a:ln w="9525">
                  <a:solidFill>
                    <a:srgbClr val="666666"/>
                  </a:solidFill>
                  <a:round/>
                  <a:headEnd/>
                  <a:tailEnd/>
                </a:ln>
              </p:spPr>
              <p:txBody>
                <a:bodyPr/>
                <a:lstStyle/>
                <a:p>
                  <a:pPr defTabSz="854907" fontAlgn="ctr">
                    <a:defRPr/>
                  </a:pPr>
                  <a:endPar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Freeform 513">
                  <a:extLst>
                    <a:ext uri="{FF2B5EF4-FFF2-40B4-BE49-F238E27FC236}">
                      <a16:creationId xmlns:a16="http://schemas.microsoft.com/office/drawing/2014/main" xmlns="" id="{2DDDF75F-271B-4F1B-9C09-231FD136ED47}"/>
                    </a:ext>
                  </a:extLst>
                </p:cNvPr>
                <p:cNvSpPr>
                  <a:spLocks/>
                </p:cNvSpPr>
                <p:nvPr/>
              </p:nvSpPr>
              <p:spPr bwMode="gray">
                <a:xfrm>
                  <a:off x="2529486" y="3900729"/>
                  <a:ext cx="404427" cy="89948"/>
                </a:xfrm>
                <a:custGeom>
                  <a:avLst/>
                  <a:gdLst/>
                  <a:ahLst/>
                  <a:cxnLst>
                    <a:cxn ang="0">
                      <a:pos x="72" y="14"/>
                    </a:cxn>
                    <a:cxn ang="0">
                      <a:pos x="72" y="14"/>
                    </a:cxn>
                    <a:cxn ang="0">
                      <a:pos x="64" y="8"/>
                    </a:cxn>
                    <a:cxn ang="0">
                      <a:pos x="56" y="2"/>
                    </a:cxn>
                    <a:cxn ang="0">
                      <a:pos x="46" y="0"/>
                    </a:cxn>
                    <a:cxn ang="0">
                      <a:pos x="38" y="0"/>
                    </a:cxn>
                    <a:cxn ang="0">
                      <a:pos x="28" y="0"/>
                    </a:cxn>
                    <a:cxn ang="0">
                      <a:pos x="20" y="2"/>
                    </a:cxn>
                    <a:cxn ang="0">
                      <a:pos x="12" y="8"/>
                    </a:cxn>
                    <a:cxn ang="0">
                      <a:pos x="4" y="14"/>
                    </a:cxn>
                    <a:cxn ang="0">
                      <a:pos x="4" y="14"/>
                    </a:cxn>
                    <a:cxn ang="0">
                      <a:pos x="0" y="18"/>
                    </a:cxn>
                    <a:cxn ang="0">
                      <a:pos x="6" y="30"/>
                    </a:cxn>
                    <a:cxn ang="0">
                      <a:pos x="6" y="30"/>
                    </a:cxn>
                    <a:cxn ang="0">
                      <a:pos x="12" y="22"/>
                    </a:cxn>
                    <a:cxn ang="0">
                      <a:pos x="12" y="22"/>
                    </a:cxn>
                    <a:cxn ang="0">
                      <a:pos x="18" y="18"/>
                    </a:cxn>
                    <a:cxn ang="0">
                      <a:pos x="24" y="14"/>
                    </a:cxn>
                    <a:cxn ang="0">
                      <a:pos x="30" y="12"/>
                    </a:cxn>
                    <a:cxn ang="0">
                      <a:pos x="38" y="12"/>
                    </a:cxn>
                    <a:cxn ang="0">
                      <a:pos x="44" y="12"/>
                    </a:cxn>
                    <a:cxn ang="0">
                      <a:pos x="52" y="14"/>
                    </a:cxn>
                    <a:cxn ang="0">
                      <a:pos x="58" y="18"/>
                    </a:cxn>
                    <a:cxn ang="0">
                      <a:pos x="62" y="22"/>
                    </a:cxn>
                    <a:cxn ang="0">
                      <a:pos x="62" y="22"/>
                    </a:cxn>
                    <a:cxn ang="0">
                      <a:pos x="68" y="30"/>
                    </a:cxn>
                    <a:cxn ang="0">
                      <a:pos x="76" y="18"/>
                    </a:cxn>
                    <a:cxn ang="0">
                      <a:pos x="76" y="18"/>
                    </a:cxn>
                    <a:cxn ang="0">
                      <a:pos x="72" y="14"/>
                    </a:cxn>
                    <a:cxn ang="0">
                      <a:pos x="72" y="14"/>
                    </a:cxn>
                  </a:cxnLst>
                  <a:rect l="0" t="0" r="r" b="b"/>
                  <a:pathLst>
                    <a:path w="76" h="30">
                      <a:moveTo>
                        <a:pt x="72" y="14"/>
                      </a:moveTo>
                      <a:lnTo>
                        <a:pt x="72" y="14"/>
                      </a:lnTo>
                      <a:lnTo>
                        <a:pt x="64" y="8"/>
                      </a:lnTo>
                      <a:lnTo>
                        <a:pt x="56" y="2"/>
                      </a:lnTo>
                      <a:lnTo>
                        <a:pt x="46" y="0"/>
                      </a:lnTo>
                      <a:lnTo>
                        <a:pt x="38" y="0"/>
                      </a:lnTo>
                      <a:lnTo>
                        <a:pt x="28" y="0"/>
                      </a:lnTo>
                      <a:lnTo>
                        <a:pt x="20" y="2"/>
                      </a:lnTo>
                      <a:lnTo>
                        <a:pt x="12" y="8"/>
                      </a:lnTo>
                      <a:lnTo>
                        <a:pt x="4" y="14"/>
                      </a:lnTo>
                      <a:lnTo>
                        <a:pt x="4" y="14"/>
                      </a:lnTo>
                      <a:lnTo>
                        <a:pt x="0" y="18"/>
                      </a:lnTo>
                      <a:lnTo>
                        <a:pt x="6" y="30"/>
                      </a:lnTo>
                      <a:lnTo>
                        <a:pt x="6" y="30"/>
                      </a:lnTo>
                      <a:lnTo>
                        <a:pt x="12" y="22"/>
                      </a:lnTo>
                      <a:lnTo>
                        <a:pt x="12" y="22"/>
                      </a:lnTo>
                      <a:lnTo>
                        <a:pt x="18" y="18"/>
                      </a:lnTo>
                      <a:lnTo>
                        <a:pt x="24" y="14"/>
                      </a:lnTo>
                      <a:lnTo>
                        <a:pt x="30" y="12"/>
                      </a:lnTo>
                      <a:lnTo>
                        <a:pt x="38" y="12"/>
                      </a:lnTo>
                      <a:lnTo>
                        <a:pt x="44" y="12"/>
                      </a:lnTo>
                      <a:lnTo>
                        <a:pt x="52" y="14"/>
                      </a:lnTo>
                      <a:lnTo>
                        <a:pt x="58" y="18"/>
                      </a:lnTo>
                      <a:lnTo>
                        <a:pt x="62" y="22"/>
                      </a:lnTo>
                      <a:lnTo>
                        <a:pt x="62" y="22"/>
                      </a:lnTo>
                      <a:lnTo>
                        <a:pt x="68" y="30"/>
                      </a:lnTo>
                      <a:lnTo>
                        <a:pt x="76" y="18"/>
                      </a:lnTo>
                      <a:lnTo>
                        <a:pt x="76" y="18"/>
                      </a:lnTo>
                      <a:lnTo>
                        <a:pt x="72" y="14"/>
                      </a:lnTo>
                      <a:lnTo>
                        <a:pt x="72" y="14"/>
                      </a:lnTo>
                      <a:close/>
                    </a:path>
                  </a:pathLst>
                </a:custGeom>
                <a:grpFill/>
                <a:ln w="9525">
                  <a:solidFill>
                    <a:srgbClr val="666666"/>
                  </a:solidFill>
                  <a:round/>
                  <a:headEnd/>
                  <a:tailEnd/>
                </a:ln>
              </p:spPr>
              <p:txBody>
                <a:bodyPr/>
                <a:lstStyle/>
                <a:p>
                  <a:pPr defTabSz="854907" fontAlgn="ctr">
                    <a:defRPr/>
                  </a:pPr>
                  <a:endPar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Rectangle 514">
                  <a:extLst>
                    <a:ext uri="{FF2B5EF4-FFF2-40B4-BE49-F238E27FC236}">
                      <a16:creationId xmlns:a16="http://schemas.microsoft.com/office/drawing/2014/main" xmlns="" id="{42E5C261-DC61-4965-983E-B6665B33D8AF}"/>
                    </a:ext>
                  </a:extLst>
                </p:cNvPr>
                <p:cNvSpPr>
                  <a:spLocks noChangeArrowheads="1"/>
                </p:cNvSpPr>
                <p:nvPr/>
              </p:nvSpPr>
              <p:spPr bwMode="gray">
                <a:xfrm>
                  <a:off x="2710414" y="4074628"/>
                  <a:ext cx="42571" cy="107938"/>
                </a:xfrm>
                <a:prstGeom prst="rect">
                  <a:avLst/>
                </a:prstGeom>
                <a:grpFill/>
                <a:ln w="9525">
                  <a:solidFill>
                    <a:srgbClr val="666666"/>
                  </a:solidFill>
                  <a:miter lim="800000"/>
                  <a:headEnd/>
                  <a:tailEnd/>
                </a:ln>
              </p:spPr>
              <p:txBody>
                <a:bodyPr/>
                <a:lstStyle/>
                <a:p>
                  <a:pPr defTabSz="854907" fontAlgn="ctr">
                    <a:defRPr/>
                  </a:pPr>
                  <a:endPar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Freeform 515">
                  <a:extLst>
                    <a:ext uri="{FF2B5EF4-FFF2-40B4-BE49-F238E27FC236}">
                      <a16:creationId xmlns:a16="http://schemas.microsoft.com/office/drawing/2014/main" xmlns="" id="{EA8D6060-7A64-445E-BC49-2417FABA91A3}"/>
                    </a:ext>
                  </a:extLst>
                </p:cNvPr>
                <p:cNvSpPr>
                  <a:spLocks/>
                </p:cNvSpPr>
                <p:nvPr/>
              </p:nvSpPr>
              <p:spPr bwMode="gray">
                <a:xfrm>
                  <a:off x="2657200" y="4002670"/>
                  <a:ext cx="149000" cy="83952"/>
                </a:xfrm>
                <a:custGeom>
                  <a:avLst/>
                  <a:gdLst/>
                  <a:ahLst/>
                  <a:cxnLst>
                    <a:cxn ang="0">
                      <a:pos x="14" y="0"/>
                    </a:cxn>
                    <a:cxn ang="0">
                      <a:pos x="14" y="0"/>
                    </a:cxn>
                    <a:cxn ang="0">
                      <a:pos x="8" y="0"/>
                    </a:cxn>
                    <a:cxn ang="0">
                      <a:pos x="4" y="4"/>
                    </a:cxn>
                    <a:cxn ang="0">
                      <a:pos x="0" y="8"/>
                    </a:cxn>
                    <a:cxn ang="0">
                      <a:pos x="0" y="14"/>
                    </a:cxn>
                    <a:cxn ang="0">
                      <a:pos x="0" y="14"/>
                    </a:cxn>
                    <a:cxn ang="0">
                      <a:pos x="0" y="20"/>
                    </a:cxn>
                    <a:cxn ang="0">
                      <a:pos x="4" y="24"/>
                    </a:cxn>
                    <a:cxn ang="0">
                      <a:pos x="8" y="26"/>
                    </a:cxn>
                    <a:cxn ang="0">
                      <a:pos x="14" y="28"/>
                    </a:cxn>
                    <a:cxn ang="0">
                      <a:pos x="14" y="28"/>
                    </a:cxn>
                    <a:cxn ang="0">
                      <a:pos x="20" y="26"/>
                    </a:cxn>
                    <a:cxn ang="0">
                      <a:pos x="24" y="24"/>
                    </a:cxn>
                    <a:cxn ang="0">
                      <a:pos x="26" y="20"/>
                    </a:cxn>
                    <a:cxn ang="0">
                      <a:pos x="28" y="14"/>
                    </a:cxn>
                    <a:cxn ang="0">
                      <a:pos x="28" y="14"/>
                    </a:cxn>
                    <a:cxn ang="0">
                      <a:pos x="26" y="8"/>
                    </a:cxn>
                    <a:cxn ang="0">
                      <a:pos x="24" y="4"/>
                    </a:cxn>
                    <a:cxn ang="0">
                      <a:pos x="20" y="0"/>
                    </a:cxn>
                    <a:cxn ang="0">
                      <a:pos x="14" y="0"/>
                    </a:cxn>
                    <a:cxn ang="0">
                      <a:pos x="14" y="0"/>
                    </a:cxn>
                  </a:cxnLst>
                  <a:rect l="0" t="0" r="r" b="b"/>
                  <a:pathLst>
                    <a:path w="28" h="28">
                      <a:moveTo>
                        <a:pt x="14" y="0"/>
                      </a:moveTo>
                      <a:lnTo>
                        <a:pt x="14" y="0"/>
                      </a:lnTo>
                      <a:lnTo>
                        <a:pt x="8" y="0"/>
                      </a:lnTo>
                      <a:lnTo>
                        <a:pt x="4" y="4"/>
                      </a:lnTo>
                      <a:lnTo>
                        <a:pt x="0" y="8"/>
                      </a:lnTo>
                      <a:lnTo>
                        <a:pt x="0" y="14"/>
                      </a:lnTo>
                      <a:lnTo>
                        <a:pt x="0" y="14"/>
                      </a:lnTo>
                      <a:lnTo>
                        <a:pt x="0" y="20"/>
                      </a:lnTo>
                      <a:lnTo>
                        <a:pt x="4" y="24"/>
                      </a:lnTo>
                      <a:lnTo>
                        <a:pt x="8" y="26"/>
                      </a:lnTo>
                      <a:lnTo>
                        <a:pt x="14" y="28"/>
                      </a:lnTo>
                      <a:lnTo>
                        <a:pt x="14" y="28"/>
                      </a:lnTo>
                      <a:lnTo>
                        <a:pt x="20" y="26"/>
                      </a:lnTo>
                      <a:lnTo>
                        <a:pt x="24" y="24"/>
                      </a:lnTo>
                      <a:lnTo>
                        <a:pt x="26" y="20"/>
                      </a:lnTo>
                      <a:lnTo>
                        <a:pt x="28" y="14"/>
                      </a:lnTo>
                      <a:lnTo>
                        <a:pt x="28" y="14"/>
                      </a:lnTo>
                      <a:lnTo>
                        <a:pt x="26" y="8"/>
                      </a:lnTo>
                      <a:lnTo>
                        <a:pt x="24" y="4"/>
                      </a:lnTo>
                      <a:lnTo>
                        <a:pt x="20" y="0"/>
                      </a:lnTo>
                      <a:lnTo>
                        <a:pt x="14" y="0"/>
                      </a:lnTo>
                      <a:lnTo>
                        <a:pt x="14" y="0"/>
                      </a:lnTo>
                      <a:close/>
                    </a:path>
                  </a:pathLst>
                </a:custGeom>
                <a:grpFill/>
                <a:ln w="9525">
                  <a:solidFill>
                    <a:srgbClr val="666666"/>
                  </a:solidFill>
                  <a:round/>
                  <a:headEnd/>
                  <a:tailEnd/>
                </a:ln>
              </p:spPr>
              <p:txBody>
                <a:bodyPr/>
                <a:lstStyle/>
                <a:p>
                  <a:pPr defTabSz="854907" fontAlgn="ctr">
                    <a:defRPr/>
                  </a:pPr>
                  <a:endPar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50" name="Freeform 477">
                <a:extLst>
                  <a:ext uri="{FF2B5EF4-FFF2-40B4-BE49-F238E27FC236}">
                    <a16:creationId xmlns:a16="http://schemas.microsoft.com/office/drawing/2014/main" xmlns="" id="{388FD984-6DE4-4694-B233-54107D33D5B9}"/>
                  </a:ext>
                </a:extLst>
              </p:cNvPr>
              <p:cNvSpPr>
                <a:spLocks noEditPoints="1"/>
              </p:cNvSpPr>
              <p:nvPr/>
            </p:nvSpPr>
            <p:spPr bwMode="gray">
              <a:xfrm>
                <a:off x="1190278" y="4239111"/>
                <a:ext cx="62434" cy="83777"/>
              </a:xfrm>
              <a:custGeom>
                <a:avLst/>
                <a:gdLst>
                  <a:gd name="T0" fmla="*/ 60 w 103"/>
                  <a:gd name="T1" fmla="*/ 105 h 210"/>
                  <a:gd name="T2" fmla="*/ 60 w 103"/>
                  <a:gd name="T3" fmla="*/ 104 h 210"/>
                  <a:gd name="T4" fmla="*/ 103 w 103"/>
                  <a:gd name="T5" fmla="*/ 61 h 210"/>
                  <a:gd name="T6" fmla="*/ 42 w 103"/>
                  <a:gd name="T7" fmla="*/ 0 h 210"/>
                  <a:gd name="T8" fmla="*/ 42 w 103"/>
                  <a:gd name="T9" fmla="*/ 87 h 210"/>
                  <a:gd name="T10" fmla="*/ 10 w 103"/>
                  <a:gd name="T11" fmla="*/ 54 h 210"/>
                  <a:gd name="T12" fmla="*/ 0 w 103"/>
                  <a:gd name="T13" fmla="*/ 65 h 210"/>
                  <a:gd name="T14" fmla="*/ 39 w 103"/>
                  <a:gd name="T15" fmla="*/ 105 h 210"/>
                  <a:gd name="T16" fmla="*/ 0 w 103"/>
                  <a:gd name="T17" fmla="*/ 144 h 210"/>
                  <a:gd name="T18" fmla="*/ 10 w 103"/>
                  <a:gd name="T19" fmla="*/ 154 h 210"/>
                  <a:gd name="T20" fmla="*/ 42 w 103"/>
                  <a:gd name="T21" fmla="*/ 122 h 210"/>
                  <a:gd name="T22" fmla="*/ 42 w 103"/>
                  <a:gd name="T23" fmla="*/ 210 h 210"/>
                  <a:gd name="T24" fmla="*/ 103 w 103"/>
                  <a:gd name="T25" fmla="*/ 149 h 210"/>
                  <a:gd name="T26" fmla="*/ 60 w 103"/>
                  <a:gd name="T27" fmla="*/ 105 h 210"/>
                  <a:gd name="T28" fmla="*/ 60 w 103"/>
                  <a:gd name="T29" fmla="*/ 105 h 210"/>
                  <a:gd name="T30" fmla="*/ 57 w 103"/>
                  <a:gd name="T31" fmla="*/ 35 h 210"/>
                  <a:gd name="T32" fmla="*/ 83 w 103"/>
                  <a:gd name="T33" fmla="*/ 61 h 210"/>
                  <a:gd name="T34" fmla="*/ 57 w 103"/>
                  <a:gd name="T35" fmla="*/ 87 h 210"/>
                  <a:gd name="T36" fmla="*/ 57 w 103"/>
                  <a:gd name="T37" fmla="*/ 35 h 210"/>
                  <a:gd name="T38" fmla="*/ 57 w 103"/>
                  <a:gd name="T39" fmla="*/ 174 h 210"/>
                  <a:gd name="T40" fmla="*/ 57 w 103"/>
                  <a:gd name="T41" fmla="*/ 122 h 210"/>
                  <a:gd name="T42" fmla="*/ 83 w 103"/>
                  <a:gd name="T43" fmla="*/ 149 h 210"/>
                  <a:gd name="T44" fmla="*/ 57 w 103"/>
                  <a:gd name="T45" fmla="*/ 174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3" h="210">
                    <a:moveTo>
                      <a:pt x="60" y="105"/>
                    </a:moveTo>
                    <a:lnTo>
                      <a:pt x="60" y="104"/>
                    </a:lnTo>
                    <a:lnTo>
                      <a:pt x="103" y="61"/>
                    </a:lnTo>
                    <a:lnTo>
                      <a:pt x="42" y="0"/>
                    </a:lnTo>
                    <a:lnTo>
                      <a:pt x="42" y="87"/>
                    </a:lnTo>
                    <a:lnTo>
                      <a:pt x="10" y="54"/>
                    </a:lnTo>
                    <a:lnTo>
                      <a:pt x="0" y="65"/>
                    </a:lnTo>
                    <a:lnTo>
                      <a:pt x="39" y="105"/>
                    </a:lnTo>
                    <a:lnTo>
                      <a:pt x="0" y="144"/>
                    </a:lnTo>
                    <a:lnTo>
                      <a:pt x="10" y="154"/>
                    </a:lnTo>
                    <a:lnTo>
                      <a:pt x="42" y="122"/>
                    </a:lnTo>
                    <a:lnTo>
                      <a:pt x="42" y="210"/>
                    </a:lnTo>
                    <a:lnTo>
                      <a:pt x="103" y="149"/>
                    </a:lnTo>
                    <a:lnTo>
                      <a:pt x="60" y="105"/>
                    </a:lnTo>
                    <a:lnTo>
                      <a:pt x="60" y="105"/>
                    </a:lnTo>
                    <a:close/>
                    <a:moveTo>
                      <a:pt x="57" y="35"/>
                    </a:moveTo>
                    <a:lnTo>
                      <a:pt x="83" y="61"/>
                    </a:lnTo>
                    <a:lnTo>
                      <a:pt x="57" y="87"/>
                    </a:lnTo>
                    <a:lnTo>
                      <a:pt x="57" y="35"/>
                    </a:lnTo>
                    <a:close/>
                    <a:moveTo>
                      <a:pt x="57" y="174"/>
                    </a:moveTo>
                    <a:lnTo>
                      <a:pt x="57" y="122"/>
                    </a:lnTo>
                    <a:lnTo>
                      <a:pt x="83" y="149"/>
                    </a:lnTo>
                    <a:lnTo>
                      <a:pt x="57" y="174"/>
                    </a:lnTo>
                    <a:close/>
                  </a:path>
                </a:pathLst>
              </a:custGeom>
              <a:solidFill>
                <a:srgbClr val="18B7F1"/>
              </a:solidFill>
              <a:ln>
                <a:solidFill>
                  <a:srgbClr val="666666"/>
                </a:solidFill>
              </a:ln>
            </p:spPr>
            <p:txBody>
              <a:bodyPr/>
              <a:lstStyle/>
              <a:p>
                <a:pPr defTabSz="854907" fontAlgn="ctr">
                  <a:defRPr/>
                </a:pPr>
                <a:endPar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圆角矩形 706">
                <a:extLst>
                  <a:ext uri="{FF2B5EF4-FFF2-40B4-BE49-F238E27FC236}">
                    <a16:creationId xmlns:a16="http://schemas.microsoft.com/office/drawing/2014/main" xmlns="" id="{FB6C3942-3956-4A86-ABE2-CCB8DEAEEC5B}"/>
                  </a:ext>
                </a:extLst>
              </p:cNvPr>
              <p:cNvSpPr/>
              <p:nvPr/>
            </p:nvSpPr>
            <p:spPr bwMode="gray">
              <a:xfrm>
                <a:off x="1150547" y="4214710"/>
                <a:ext cx="370552" cy="156167"/>
              </a:xfrm>
              <a:prstGeom prst="roundRect">
                <a:avLst/>
              </a:prstGeom>
              <a:noFill/>
              <a:ln w="3175" cap="flat" cmpd="sng" algn="ctr">
                <a:solidFill>
                  <a:srgbClr val="666666"/>
                </a:solidFill>
                <a:prstDash val="dash"/>
                <a:headEnd type="none" w="sm" len="med"/>
                <a:tailEnd type="none" w="sm" len="med"/>
              </a:ln>
              <a:effectLst/>
            </p:spPr>
            <p:txBody>
              <a:bodyPr lIns="64109" tIns="32054" rIns="64109" bIns="32054" anchor="ctr"/>
              <a:lstStyle/>
              <a:p>
                <a:pPr algn="ctr" defTabSz="854907" fontAlgn="ctr">
                  <a:defRPr/>
                </a:pPr>
                <a:endPar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45" name="组合 520">
              <a:extLst>
                <a:ext uri="{FF2B5EF4-FFF2-40B4-BE49-F238E27FC236}">
                  <a16:creationId xmlns:a16="http://schemas.microsoft.com/office/drawing/2014/main" xmlns="" id="{2A13F7BF-44DD-4B1D-BE37-5CC1CE2F2DE1}"/>
                </a:ext>
              </a:extLst>
            </p:cNvPr>
            <p:cNvGrpSpPr/>
            <p:nvPr/>
          </p:nvGrpSpPr>
          <p:grpSpPr bwMode="gray">
            <a:xfrm>
              <a:off x="2430521" y="5758857"/>
              <a:ext cx="196714" cy="150592"/>
              <a:chOff x="1710438" y="4778099"/>
              <a:chExt cx="166734" cy="136229"/>
            </a:xfrm>
            <a:solidFill>
              <a:srgbClr val="666666"/>
            </a:solidFill>
          </p:grpSpPr>
          <p:sp>
            <p:nvSpPr>
              <p:cNvPr id="146" name="Freeform 124">
                <a:extLst>
                  <a:ext uri="{FF2B5EF4-FFF2-40B4-BE49-F238E27FC236}">
                    <a16:creationId xmlns:a16="http://schemas.microsoft.com/office/drawing/2014/main" xmlns="" id="{2A016C96-9562-43DE-A098-375A65F20D1A}"/>
                  </a:ext>
                </a:extLst>
              </p:cNvPr>
              <p:cNvSpPr>
                <a:spLocks noEditPoints="1"/>
              </p:cNvSpPr>
              <p:nvPr/>
            </p:nvSpPr>
            <p:spPr bwMode="gray">
              <a:xfrm>
                <a:off x="1710438" y="4853002"/>
                <a:ext cx="166734" cy="61326"/>
              </a:xfrm>
              <a:custGeom>
                <a:avLst/>
                <a:gdLst/>
                <a:ahLst/>
                <a:cxnLst>
                  <a:cxn ang="0">
                    <a:pos x="415" y="0"/>
                  </a:cxn>
                  <a:cxn ang="0">
                    <a:pos x="9" y="0"/>
                  </a:cxn>
                  <a:cxn ang="0">
                    <a:pos x="9" y="0"/>
                  </a:cxn>
                  <a:cxn ang="0">
                    <a:pos x="4" y="4"/>
                  </a:cxn>
                  <a:cxn ang="0">
                    <a:pos x="0" y="8"/>
                  </a:cxn>
                  <a:cxn ang="0">
                    <a:pos x="0" y="142"/>
                  </a:cxn>
                  <a:cxn ang="0">
                    <a:pos x="0" y="142"/>
                  </a:cxn>
                  <a:cxn ang="0">
                    <a:pos x="4" y="147"/>
                  </a:cxn>
                  <a:cxn ang="0">
                    <a:pos x="9" y="151"/>
                  </a:cxn>
                  <a:cxn ang="0">
                    <a:pos x="415" y="151"/>
                  </a:cxn>
                  <a:cxn ang="0">
                    <a:pos x="415" y="151"/>
                  </a:cxn>
                  <a:cxn ang="0">
                    <a:pos x="420" y="147"/>
                  </a:cxn>
                  <a:cxn ang="0">
                    <a:pos x="424" y="142"/>
                  </a:cxn>
                  <a:cxn ang="0">
                    <a:pos x="424" y="8"/>
                  </a:cxn>
                  <a:cxn ang="0">
                    <a:pos x="424" y="8"/>
                  </a:cxn>
                  <a:cxn ang="0">
                    <a:pos x="420" y="4"/>
                  </a:cxn>
                  <a:cxn ang="0">
                    <a:pos x="415" y="0"/>
                  </a:cxn>
                  <a:cxn ang="0">
                    <a:pos x="415" y="0"/>
                  </a:cxn>
                  <a:cxn ang="0">
                    <a:pos x="78" y="103"/>
                  </a:cxn>
                  <a:cxn ang="0">
                    <a:pos x="78" y="103"/>
                  </a:cxn>
                  <a:cxn ang="0">
                    <a:pos x="61" y="103"/>
                  </a:cxn>
                  <a:cxn ang="0">
                    <a:pos x="48" y="95"/>
                  </a:cxn>
                  <a:cxn ang="0">
                    <a:pos x="39" y="86"/>
                  </a:cxn>
                  <a:cxn ang="0">
                    <a:pos x="35" y="73"/>
                  </a:cxn>
                  <a:cxn ang="0">
                    <a:pos x="35" y="73"/>
                  </a:cxn>
                  <a:cxn ang="0">
                    <a:pos x="39" y="64"/>
                  </a:cxn>
                  <a:cxn ang="0">
                    <a:pos x="48" y="56"/>
                  </a:cxn>
                  <a:cxn ang="0">
                    <a:pos x="61" y="47"/>
                  </a:cxn>
                  <a:cxn ang="0">
                    <a:pos x="78" y="47"/>
                  </a:cxn>
                  <a:cxn ang="0">
                    <a:pos x="78" y="47"/>
                  </a:cxn>
                  <a:cxn ang="0">
                    <a:pos x="95" y="47"/>
                  </a:cxn>
                  <a:cxn ang="0">
                    <a:pos x="108" y="56"/>
                  </a:cxn>
                  <a:cxn ang="0">
                    <a:pos x="117" y="64"/>
                  </a:cxn>
                  <a:cxn ang="0">
                    <a:pos x="121" y="73"/>
                  </a:cxn>
                  <a:cxn ang="0">
                    <a:pos x="121" y="73"/>
                  </a:cxn>
                  <a:cxn ang="0">
                    <a:pos x="117" y="86"/>
                  </a:cxn>
                  <a:cxn ang="0">
                    <a:pos x="108" y="95"/>
                  </a:cxn>
                  <a:cxn ang="0">
                    <a:pos x="95" y="103"/>
                  </a:cxn>
                  <a:cxn ang="0">
                    <a:pos x="78" y="103"/>
                  </a:cxn>
                  <a:cxn ang="0">
                    <a:pos x="78" y="103"/>
                  </a:cxn>
                  <a:cxn ang="0">
                    <a:pos x="389" y="86"/>
                  </a:cxn>
                  <a:cxn ang="0">
                    <a:pos x="389" y="86"/>
                  </a:cxn>
                  <a:cxn ang="0">
                    <a:pos x="385" y="95"/>
                  </a:cxn>
                  <a:cxn ang="0">
                    <a:pos x="377" y="99"/>
                  </a:cxn>
                  <a:cxn ang="0">
                    <a:pos x="195" y="99"/>
                  </a:cxn>
                  <a:cxn ang="0">
                    <a:pos x="195" y="99"/>
                  </a:cxn>
                  <a:cxn ang="0">
                    <a:pos x="186" y="95"/>
                  </a:cxn>
                  <a:cxn ang="0">
                    <a:pos x="182" y="86"/>
                  </a:cxn>
                  <a:cxn ang="0">
                    <a:pos x="182" y="64"/>
                  </a:cxn>
                  <a:cxn ang="0">
                    <a:pos x="182" y="64"/>
                  </a:cxn>
                  <a:cxn ang="0">
                    <a:pos x="186" y="56"/>
                  </a:cxn>
                  <a:cxn ang="0">
                    <a:pos x="195" y="51"/>
                  </a:cxn>
                  <a:cxn ang="0">
                    <a:pos x="377" y="51"/>
                  </a:cxn>
                  <a:cxn ang="0">
                    <a:pos x="377" y="51"/>
                  </a:cxn>
                  <a:cxn ang="0">
                    <a:pos x="385" y="56"/>
                  </a:cxn>
                  <a:cxn ang="0">
                    <a:pos x="389" y="64"/>
                  </a:cxn>
                  <a:cxn ang="0">
                    <a:pos x="389" y="86"/>
                  </a:cxn>
                </a:cxnLst>
                <a:rect l="0" t="0" r="r" b="b"/>
                <a:pathLst>
                  <a:path w="424" h="151">
                    <a:moveTo>
                      <a:pt x="415" y="0"/>
                    </a:moveTo>
                    <a:lnTo>
                      <a:pt x="9" y="0"/>
                    </a:lnTo>
                    <a:lnTo>
                      <a:pt x="9" y="0"/>
                    </a:lnTo>
                    <a:lnTo>
                      <a:pt x="4" y="4"/>
                    </a:lnTo>
                    <a:lnTo>
                      <a:pt x="0" y="8"/>
                    </a:lnTo>
                    <a:lnTo>
                      <a:pt x="0" y="142"/>
                    </a:lnTo>
                    <a:lnTo>
                      <a:pt x="0" y="142"/>
                    </a:lnTo>
                    <a:lnTo>
                      <a:pt x="4" y="147"/>
                    </a:lnTo>
                    <a:lnTo>
                      <a:pt x="9" y="151"/>
                    </a:lnTo>
                    <a:lnTo>
                      <a:pt x="415" y="151"/>
                    </a:lnTo>
                    <a:lnTo>
                      <a:pt x="415" y="151"/>
                    </a:lnTo>
                    <a:lnTo>
                      <a:pt x="420" y="147"/>
                    </a:lnTo>
                    <a:lnTo>
                      <a:pt x="424" y="142"/>
                    </a:lnTo>
                    <a:lnTo>
                      <a:pt x="424" y="8"/>
                    </a:lnTo>
                    <a:lnTo>
                      <a:pt x="424" y="8"/>
                    </a:lnTo>
                    <a:lnTo>
                      <a:pt x="420" y="4"/>
                    </a:lnTo>
                    <a:lnTo>
                      <a:pt x="415" y="0"/>
                    </a:lnTo>
                    <a:lnTo>
                      <a:pt x="415" y="0"/>
                    </a:lnTo>
                    <a:close/>
                    <a:moveTo>
                      <a:pt x="78" y="103"/>
                    </a:moveTo>
                    <a:lnTo>
                      <a:pt x="78" y="103"/>
                    </a:lnTo>
                    <a:lnTo>
                      <a:pt x="61" y="103"/>
                    </a:lnTo>
                    <a:lnTo>
                      <a:pt x="48" y="95"/>
                    </a:lnTo>
                    <a:lnTo>
                      <a:pt x="39" y="86"/>
                    </a:lnTo>
                    <a:lnTo>
                      <a:pt x="35" y="73"/>
                    </a:lnTo>
                    <a:lnTo>
                      <a:pt x="35" y="73"/>
                    </a:lnTo>
                    <a:lnTo>
                      <a:pt x="39" y="64"/>
                    </a:lnTo>
                    <a:lnTo>
                      <a:pt x="48" y="56"/>
                    </a:lnTo>
                    <a:lnTo>
                      <a:pt x="61" y="47"/>
                    </a:lnTo>
                    <a:lnTo>
                      <a:pt x="78" y="47"/>
                    </a:lnTo>
                    <a:lnTo>
                      <a:pt x="78" y="47"/>
                    </a:lnTo>
                    <a:lnTo>
                      <a:pt x="95" y="47"/>
                    </a:lnTo>
                    <a:lnTo>
                      <a:pt x="108" y="56"/>
                    </a:lnTo>
                    <a:lnTo>
                      <a:pt x="117" y="64"/>
                    </a:lnTo>
                    <a:lnTo>
                      <a:pt x="121" y="73"/>
                    </a:lnTo>
                    <a:lnTo>
                      <a:pt x="121" y="73"/>
                    </a:lnTo>
                    <a:lnTo>
                      <a:pt x="117" y="86"/>
                    </a:lnTo>
                    <a:lnTo>
                      <a:pt x="108" y="95"/>
                    </a:lnTo>
                    <a:lnTo>
                      <a:pt x="95" y="103"/>
                    </a:lnTo>
                    <a:lnTo>
                      <a:pt x="78" y="103"/>
                    </a:lnTo>
                    <a:lnTo>
                      <a:pt x="78" y="103"/>
                    </a:lnTo>
                    <a:close/>
                    <a:moveTo>
                      <a:pt x="389" y="86"/>
                    </a:moveTo>
                    <a:lnTo>
                      <a:pt x="389" y="86"/>
                    </a:lnTo>
                    <a:lnTo>
                      <a:pt x="385" y="95"/>
                    </a:lnTo>
                    <a:lnTo>
                      <a:pt x="377" y="99"/>
                    </a:lnTo>
                    <a:lnTo>
                      <a:pt x="195" y="99"/>
                    </a:lnTo>
                    <a:lnTo>
                      <a:pt x="195" y="99"/>
                    </a:lnTo>
                    <a:lnTo>
                      <a:pt x="186" y="95"/>
                    </a:lnTo>
                    <a:lnTo>
                      <a:pt x="182" y="86"/>
                    </a:lnTo>
                    <a:lnTo>
                      <a:pt x="182" y="64"/>
                    </a:lnTo>
                    <a:lnTo>
                      <a:pt x="182" y="64"/>
                    </a:lnTo>
                    <a:lnTo>
                      <a:pt x="186" y="56"/>
                    </a:lnTo>
                    <a:lnTo>
                      <a:pt x="195" y="51"/>
                    </a:lnTo>
                    <a:lnTo>
                      <a:pt x="377" y="51"/>
                    </a:lnTo>
                    <a:lnTo>
                      <a:pt x="377" y="51"/>
                    </a:lnTo>
                    <a:lnTo>
                      <a:pt x="385" y="56"/>
                    </a:lnTo>
                    <a:lnTo>
                      <a:pt x="389" y="64"/>
                    </a:lnTo>
                    <a:lnTo>
                      <a:pt x="389" y="86"/>
                    </a:lnTo>
                    <a:close/>
                  </a:path>
                </a:pathLst>
              </a:custGeom>
              <a:grpFill/>
              <a:ln w="9525">
                <a:noFill/>
                <a:round/>
                <a:headEnd/>
                <a:tailEnd/>
              </a:ln>
            </p:spPr>
            <p:txBody>
              <a:bodyPr lIns="24421" tIns="12210" rIns="24421" bIns="12210"/>
              <a:lstStyle/>
              <a:p>
                <a:pPr defTabSz="854764" fontAlgn="ctr">
                  <a:defRPr/>
                </a:pPr>
                <a:endPar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Freeform 16">
                <a:extLst>
                  <a:ext uri="{FF2B5EF4-FFF2-40B4-BE49-F238E27FC236}">
                    <a16:creationId xmlns:a16="http://schemas.microsoft.com/office/drawing/2014/main" xmlns="" id="{F1CEE54E-17A5-405C-BD59-3B78DC5AD2EC}"/>
                  </a:ext>
                </a:extLst>
              </p:cNvPr>
              <p:cNvSpPr>
                <a:spLocks noEditPoints="1"/>
              </p:cNvSpPr>
              <p:nvPr/>
            </p:nvSpPr>
            <p:spPr bwMode="gray">
              <a:xfrm>
                <a:off x="1769929" y="4778099"/>
                <a:ext cx="102528" cy="67230"/>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lIns="24421" tIns="12210" rIns="24421" bIns="12210"/>
              <a:lstStyle/>
              <a:p>
                <a:pPr defTabSz="854764" fontAlgn="ctr">
                  <a:defRPr/>
                </a:pPr>
                <a:endParaRPr lang="en-US" altLang="zh-CN" sz="12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61" name="矩形 160">
            <a:extLst>
              <a:ext uri="{FF2B5EF4-FFF2-40B4-BE49-F238E27FC236}">
                <a16:creationId xmlns:a16="http://schemas.microsoft.com/office/drawing/2014/main" xmlns="" id="{59A50D47-C97D-4C62-9CC5-3A4357CF38EC}"/>
              </a:ext>
            </a:extLst>
          </p:cNvPr>
          <p:cNvSpPr/>
          <p:nvPr/>
        </p:nvSpPr>
        <p:spPr bwMode="gray">
          <a:xfrm>
            <a:off x="4090513" y="3875879"/>
            <a:ext cx="1535998" cy="276999"/>
          </a:xfrm>
          <a:prstGeom prst="rect">
            <a:avLst/>
          </a:prstGeom>
          <a:ln>
            <a:noFill/>
          </a:ln>
        </p:spPr>
        <p:txBody>
          <a:bodyPr wrap="none">
            <a:spAutoFit/>
          </a:bodyPr>
          <a:lstStyle/>
          <a:p>
            <a:pPr defTabSz="855255" fontAlgn="base">
              <a:spcBef>
                <a:spcPct val="0"/>
              </a:spcBef>
              <a:spcAft>
                <a:spcPct val="0"/>
              </a:spcAft>
            </a:pPr>
            <a:r>
              <a:rPr lang="zh-CN" altLang="en-US" sz="120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Telemet</a:t>
            </a:r>
            <a:r>
              <a:rPr lang="en-US" altLang="zh-CN" sz="1200" dirty="0" err="1">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ry</a:t>
            </a:r>
            <a:r>
              <a:rPr lang="en-US" altLang="zh-CN" sz="120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/Context</a:t>
            </a:r>
            <a:r>
              <a:rPr lang="zh-CN" altLang="en-US" sz="120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p>
        </p:txBody>
      </p:sp>
      <p:sp>
        <p:nvSpPr>
          <p:cNvPr id="162" name="矩形 161">
            <a:extLst>
              <a:ext uri="{FF2B5EF4-FFF2-40B4-BE49-F238E27FC236}">
                <a16:creationId xmlns:a16="http://schemas.microsoft.com/office/drawing/2014/main" xmlns="" id="{3CD2B147-4871-4C77-B8FB-F5CDBE1B0E4E}"/>
              </a:ext>
            </a:extLst>
          </p:cNvPr>
          <p:cNvSpPr/>
          <p:nvPr/>
        </p:nvSpPr>
        <p:spPr bwMode="gray">
          <a:xfrm>
            <a:off x="1832698" y="3875878"/>
            <a:ext cx="1363875" cy="276999"/>
          </a:xfrm>
          <a:prstGeom prst="rect">
            <a:avLst/>
          </a:prstGeom>
          <a:ln>
            <a:noFill/>
          </a:ln>
        </p:spPr>
        <p:txBody>
          <a:bodyPr wrap="square">
            <a:spAutoFit/>
          </a:bodyPr>
          <a:lstStyle/>
          <a:p>
            <a:pPr defTabSz="854917" fontAlgn="base">
              <a:spcBef>
                <a:spcPct val="0"/>
              </a:spcBef>
              <a:spcAft>
                <a:spcPct val="0"/>
              </a:spcAft>
            </a:pPr>
            <a:r>
              <a:rPr lang="en-US" altLang="zh-CN" sz="1200" kern="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NETCONF/</a:t>
            </a:r>
            <a:r>
              <a:rPr lang="en-US" altLang="zh-CN"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YANG</a:t>
            </a:r>
          </a:p>
        </p:txBody>
      </p:sp>
      <p:sp>
        <p:nvSpPr>
          <p:cNvPr id="210" name="圆角矩形 799">
            <a:extLst>
              <a:ext uri="{FF2B5EF4-FFF2-40B4-BE49-F238E27FC236}">
                <a16:creationId xmlns:a16="http://schemas.microsoft.com/office/drawing/2014/main" xmlns="" id="{35064EF1-A7E9-42D9-89F0-F104C610131D}"/>
              </a:ext>
            </a:extLst>
          </p:cNvPr>
          <p:cNvSpPr/>
          <p:nvPr/>
        </p:nvSpPr>
        <p:spPr bwMode="gray">
          <a:xfrm>
            <a:off x="2121955" y="2680245"/>
            <a:ext cx="1151850" cy="231089"/>
          </a:xfrm>
          <a:prstGeom prst="roundRect">
            <a:avLst>
              <a:gd name="adj" fmla="val 50000"/>
            </a:avLst>
          </a:prstGeom>
          <a:solidFill>
            <a:srgbClr val="EC7061"/>
          </a:solidFill>
          <a:ln w="22225">
            <a:gradFill flip="none" rotWithShape="1">
              <a:gsLst>
                <a:gs pos="0">
                  <a:sysClr val="window" lastClr="FFFFFF">
                    <a:lumMod val="85000"/>
                  </a:sysClr>
                </a:gs>
                <a:gs pos="50000">
                  <a:sysClr val="window" lastClr="FFFFFF">
                    <a:lumMod val="95000"/>
                    <a:alpha val="0"/>
                  </a:sysClr>
                </a:gs>
                <a:gs pos="100000">
                  <a:sysClr val="window" lastClr="FFFFFF">
                    <a:lumMod val="85000"/>
                  </a:sysClr>
                </a:gs>
              </a:gsLst>
              <a:lin ang="2700000" scaled="1"/>
              <a:tileRect/>
            </a:gradFill>
            <a:miter lim="800000"/>
            <a:headEnd/>
            <a:tailEnd/>
          </a:ln>
        </p:spPr>
        <p:txBody>
          <a:bodyPr anchor="ctr"/>
          <a:lstStyle/>
          <a:p>
            <a:pPr algn="ctr" defTabSz="1625708">
              <a:defRPr/>
            </a:pPr>
            <a:endParaRPr lang="en-US" altLang="zh-CN" sz="1200" kern="0"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pic>
        <p:nvPicPr>
          <p:cNvPr id="211" name="图片 210">
            <a:extLst>
              <a:ext uri="{FF2B5EF4-FFF2-40B4-BE49-F238E27FC236}">
                <a16:creationId xmlns:a16="http://schemas.microsoft.com/office/drawing/2014/main" xmlns="" id="{9437687B-33A2-4C9A-AEDF-5741BEED438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bwMode="gray">
          <a:xfrm>
            <a:off x="3025152" y="2715162"/>
            <a:ext cx="201399" cy="161255"/>
          </a:xfrm>
          <a:prstGeom prst="rect">
            <a:avLst/>
          </a:prstGeom>
        </p:spPr>
      </p:pic>
      <p:sp>
        <p:nvSpPr>
          <p:cNvPr id="212" name="文本框 211">
            <a:extLst>
              <a:ext uri="{FF2B5EF4-FFF2-40B4-BE49-F238E27FC236}">
                <a16:creationId xmlns:a16="http://schemas.microsoft.com/office/drawing/2014/main" xmlns="" id="{D8D41F7D-C740-47BE-BC69-A7EA6E452455}"/>
              </a:ext>
            </a:extLst>
          </p:cNvPr>
          <p:cNvSpPr txBox="1"/>
          <p:nvPr/>
        </p:nvSpPr>
        <p:spPr bwMode="gray">
          <a:xfrm>
            <a:off x="2069873" y="2680415"/>
            <a:ext cx="971649" cy="258532"/>
          </a:xfrm>
          <a:prstGeom prst="rect">
            <a:avLst/>
          </a:prstGeom>
          <a:noFill/>
        </p:spPr>
        <p:txBody>
          <a:bodyPr wrap="square" rtlCol="0">
            <a:spAutoFit/>
          </a:bodyPr>
          <a:lstStyle>
            <a:defPPr>
              <a:defRPr lang="zh-CN"/>
            </a:defPPr>
            <a:lvl1pPr algn="ctr" defTabSz="457200" fontAlgn="base">
              <a:lnSpc>
                <a:spcPts val="1000"/>
              </a:lnSpc>
              <a:spcBef>
                <a:spcPct val="0"/>
              </a:spcBef>
              <a:spcAft>
                <a:spcPct val="0"/>
              </a:spcAft>
              <a:defRPr sz="1000">
                <a:solidFill>
                  <a:srgbClr val="FFFFFF"/>
                </a:solidFill>
                <a:latin typeface="Arial" pitchFamily="34" charset="0"/>
                <a:cs typeface="Arial" pitchFamily="34" charset="0"/>
              </a:defRPr>
            </a:lvl1pPr>
          </a:lstStyle>
          <a:p>
            <a:pPr>
              <a:lnSpc>
                <a:spcPct val="90000"/>
              </a:lnSpc>
            </a:pPr>
            <a:r>
              <a:rPr lang="zh-CN" altLang="en-US" sz="1200" b="1"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rPr>
              <a:t>意图引擎</a:t>
            </a:r>
            <a:endParaRPr lang="en-US" altLang="zh-CN" sz="1200" b="1"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sp>
        <p:nvSpPr>
          <p:cNvPr id="213" name="圆角矩形 802">
            <a:extLst>
              <a:ext uri="{FF2B5EF4-FFF2-40B4-BE49-F238E27FC236}">
                <a16:creationId xmlns:a16="http://schemas.microsoft.com/office/drawing/2014/main" xmlns="" id="{2A9A36BA-D540-4BE2-A9A7-A9D9110FEA0D}"/>
              </a:ext>
            </a:extLst>
          </p:cNvPr>
          <p:cNvSpPr/>
          <p:nvPr/>
        </p:nvSpPr>
        <p:spPr bwMode="gray">
          <a:xfrm>
            <a:off x="3877733" y="2690481"/>
            <a:ext cx="1151850" cy="210618"/>
          </a:xfrm>
          <a:prstGeom prst="roundRect">
            <a:avLst>
              <a:gd name="adj" fmla="val 50000"/>
            </a:avLst>
          </a:prstGeom>
          <a:solidFill>
            <a:srgbClr val="EC7061"/>
          </a:solidFill>
          <a:ln w="22225">
            <a:gradFill flip="none" rotWithShape="1">
              <a:gsLst>
                <a:gs pos="0">
                  <a:sysClr val="window" lastClr="FFFFFF">
                    <a:lumMod val="85000"/>
                  </a:sysClr>
                </a:gs>
                <a:gs pos="50000">
                  <a:sysClr val="window" lastClr="FFFFFF">
                    <a:lumMod val="95000"/>
                    <a:alpha val="0"/>
                  </a:sysClr>
                </a:gs>
                <a:gs pos="100000">
                  <a:sysClr val="window" lastClr="FFFFFF">
                    <a:lumMod val="85000"/>
                  </a:sysClr>
                </a:gs>
              </a:gsLst>
              <a:lin ang="2700000" scaled="1"/>
              <a:tileRect/>
            </a:gradFill>
            <a:miter lim="800000"/>
            <a:headEnd/>
            <a:tailEnd/>
          </a:ln>
        </p:spPr>
        <p:txBody>
          <a:bodyPr anchor="ctr"/>
          <a:lstStyle/>
          <a:p>
            <a:pPr algn="ctr" defTabSz="1625708">
              <a:defRPr/>
            </a:pPr>
            <a:endParaRPr lang="en-US" altLang="zh-CN" sz="1200" kern="0"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pic>
        <p:nvPicPr>
          <p:cNvPr id="214" name="图片 213">
            <a:extLst>
              <a:ext uri="{FF2B5EF4-FFF2-40B4-BE49-F238E27FC236}">
                <a16:creationId xmlns:a16="http://schemas.microsoft.com/office/drawing/2014/main" xmlns="" id="{D0F166A0-25E6-4060-878A-1CAF1750670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bwMode="gray">
          <a:xfrm>
            <a:off x="4832866" y="2730913"/>
            <a:ext cx="173315" cy="129756"/>
          </a:xfrm>
          <a:prstGeom prst="rect">
            <a:avLst/>
          </a:prstGeom>
        </p:spPr>
      </p:pic>
      <p:sp>
        <p:nvSpPr>
          <p:cNvPr id="215" name="文本框 214">
            <a:extLst>
              <a:ext uri="{FF2B5EF4-FFF2-40B4-BE49-F238E27FC236}">
                <a16:creationId xmlns:a16="http://schemas.microsoft.com/office/drawing/2014/main" xmlns="" id="{8EF845EB-85A9-46C8-BBB1-D3600E91A75B}"/>
              </a:ext>
            </a:extLst>
          </p:cNvPr>
          <p:cNvSpPr txBox="1"/>
          <p:nvPr/>
        </p:nvSpPr>
        <p:spPr bwMode="gray">
          <a:xfrm>
            <a:off x="3824806" y="2680415"/>
            <a:ext cx="971649" cy="258532"/>
          </a:xfrm>
          <a:prstGeom prst="rect">
            <a:avLst/>
          </a:prstGeom>
          <a:noFill/>
        </p:spPr>
        <p:txBody>
          <a:bodyPr wrap="square" rtlCol="0">
            <a:spAutoFit/>
          </a:bodyPr>
          <a:lstStyle/>
          <a:p>
            <a:pPr algn="ctr" defTabSz="609660" fontAlgn="base">
              <a:lnSpc>
                <a:spcPct val="90000"/>
              </a:lnSpc>
              <a:spcBef>
                <a:spcPct val="0"/>
              </a:spcBef>
              <a:spcAft>
                <a:spcPct val="0"/>
              </a:spcAft>
            </a:pPr>
            <a:r>
              <a:rPr lang="zh-CN" altLang="en-US" sz="1200" b="1"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rPr>
              <a:t>安全引擎</a:t>
            </a:r>
            <a:endParaRPr lang="en-US" altLang="zh-CN" sz="1200" b="1"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sp>
        <p:nvSpPr>
          <p:cNvPr id="216" name="圆角矩形 805">
            <a:extLst>
              <a:ext uri="{FF2B5EF4-FFF2-40B4-BE49-F238E27FC236}">
                <a16:creationId xmlns:a16="http://schemas.microsoft.com/office/drawing/2014/main" xmlns="" id="{F72FFC46-AAEF-47E0-A896-1BC8786769B9}"/>
              </a:ext>
            </a:extLst>
          </p:cNvPr>
          <p:cNvSpPr/>
          <p:nvPr/>
        </p:nvSpPr>
        <p:spPr bwMode="gray">
          <a:xfrm>
            <a:off x="2121955" y="3544461"/>
            <a:ext cx="1151850" cy="231090"/>
          </a:xfrm>
          <a:prstGeom prst="roundRect">
            <a:avLst>
              <a:gd name="adj" fmla="val 50000"/>
            </a:avLst>
          </a:prstGeom>
          <a:solidFill>
            <a:srgbClr val="EC7061"/>
          </a:solidFill>
          <a:ln w="22225">
            <a:gradFill flip="none" rotWithShape="1">
              <a:gsLst>
                <a:gs pos="0">
                  <a:sysClr val="window" lastClr="FFFFFF">
                    <a:lumMod val="85000"/>
                  </a:sysClr>
                </a:gs>
                <a:gs pos="50000">
                  <a:sysClr val="window" lastClr="FFFFFF">
                    <a:lumMod val="95000"/>
                    <a:alpha val="0"/>
                  </a:sysClr>
                </a:gs>
                <a:gs pos="100000">
                  <a:sysClr val="window" lastClr="FFFFFF">
                    <a:lumMod val="85000"/>
                  </a:sysClr>
                </a:gs>
              </a:gsLst>
              <a:lin ang="2700000" scaled="1"/>
              <a:tileRect/>
            </a:gradFill>
            <a:miter lim="800000"/>
            <a:headEnd/>
            <a:tailEnd/>
          </a:ln>
        </p:spPr>
        <p:txBody>
          <a:bodyPr anchor="ctr"/>
          <a:lstStyle/>
          <a:p>
            <a:pPr algn="ctr" defTabSz="1625708">
              <a:defRPr/>
            </a:pPr>
            <a:endParaRPr lang="en-US" altLang="zh-CN" sz="1200" kern="0"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pic>
        <p:nvPicPr>
          <p:cNvPr id="217" name="图片 216">
            <a:extLst>
              <a:ext uri="{FF2B5EF4-FFF2-40B4-BE49-F238E27FC236}">
                <a16:creationId xmlns:a16="http://schemas.microsoft.com/office/drawing/2014/main" xmlns="" id="{3043F7C1-1CF1-4C08-B433-2FD7DF366FC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bwMode="gray">
          <a:xfrm>
            <a:off x="3009397" y="3579627"/>
            <a:ext cx="216094" cy="160758"/>
          </a:xfrm>
          <a:prstGeom prst="rect">
            <a:avLst/>
          </a:prstGeom>
        </p:spPr>
      </p:pic>
      <p:sp>
        <p:nvSpPr>
          <p:cNvPr id="218" name="文本框 217">
            <a:extLst>
              <a:ext uri="{FF2B5EF4-FFF2-40B4-BE49-F238E27FC236}">
                <a16:creationId xmlns:a16="http://schemas.microsoft.com/office/drawing/2014/main" xmlns="" id="{6A62C44D-7B22-4AC6-B6E0-425058E9EB64}"/>
              </a:ext>
            </a:extLst>
          </p:cNvPr>
          <p:cNvSpPr txBox="1"/>
          <p:nvPr/>
        </p:nvSpPr>
        <p:spPr bwMode="gray">
          <a:xfrm>
            <a:off x="2033886" y="3544632"/>
            <a:ext cx="1007636" cy="258532"/>
          </a:xfrm>
          <a:prstGeom prst="rect">
            <a:avLst/>
          </a:prstGeom>
          <a:noFill/>
        </p:spPr>
        <p:txBody>
          <a:bodyPr wrap="square" rtlCol="0">
            <a:spAutoFit/>
          </a:bodyPr>
          <a:lstStyle/>
          <a:p>
            <a:pPr algn="ctr" defTabSz="914309">
              <a:lnSpc>
                <a:spcPct val="90000"/>
              </a:lnSpc>
            </a:pPr>
            <a:r>
              <a:rPr lang="zh-CN" altLang="en-US" sz="1200" b="1"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rPr>
              <a:t>策略引擎</a:t>
            </a:r>
            <a:endParaRPr lang="en-US" altLang="zh-CN" sz="1200" b="1"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sp>
        <p:nvSpPr>
          <p:cNvPr id="219" name="圆角矩形 808">
            <a:extLst>
              <a:ext uri="{FF2B5EF4-FFF2-40B4-BE49-F238E27FC236}">
                <a16:creationId xmlns:a16="http://schemas.microsoft.com/office/drawing/2014/main" xmlns="" id="{A2F69E3D-5425-4D61-8318-C164447DAAC0}"/>
              </a:ext>
            </a:extLst>
          </p:cNvPr>
          <p:cNvSpPr/>
          <p:nvPr/>
        </p:nvSpPr>
        <p:spPr bwMode="gray">
          <a:xfrm>
            <a:off x="3875232" y="3544169"/>
            <a:ext cx="1151850" cy="231677"/>
          </a:xfrm>
          <a:prstGeom prst="roundRect">
            <a:avLst>
              <a:gd name="adj" fmla="val 50000"/>
            </a:avLst>
          </a:prstGeom>
          <a:solidFill>
            <a:srgbClr val="EC7061"/>
          </a:solidFill>
          <a:ln w="22225">
            <a:gradFill flip="none" rotWithShape="1">
              <a:gsLst>
                <a:gs pos="0">
                  <a:sysClr val="window" lastClr="FFFFFF">
                    <a:lumMod val="85000"/>
                  </a:sysClr>
                </a:gs>
                <a:gs pos="50000">
                  <a:sysClr val="window" lastClr="FFFFFF">
                    <a:lumMod val="95000"/>
                    <a:alpha val="0"/>
                  </a:sysClr>
                </a:gs>
                <a:gs pos="100000">
                  <a:sysClr val="window" lastClr="FFFFFF">
                    <a:lumMod val="85000"/>
                  </a:sysClr>
                </a:gs>
              </a:gsLst>
              <a:lin ang="2700000" scaled="1"/>
              <a:tileRect/>
            </a:gradFill>
            <a:miter lim="800000"/>
            <a:headEnd/>
            <a:tailEnd/>
          </a:ln>
        </p:spPr>
        <p:txBody>
          <a:bodyPr anchor="ctr"/>
          <a:lstStyle/>
          <a:p>
            <a:pPr algn="ctr" defTabSz="1625708">
              <a:defRPr/>
            </a:pPr>
            <a:endParaRPr lang="en-US" altLang="zh-CN" sz="1200" kern="0"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pic>
        <p:nvPicPr>
          <p:cNvPr id="220" name="图片 219">
            <a:extLst>
              <a:ext uri="{FF2B5EF4-FFF2-40B4-BE49-F238E27FC236}">
                <a16:creationId xmlns:a16="http://schemas.microsoft.com/office/drawing/2014/main" xmlns="" id="{F05E1E69-CD4F-494B-A2B6-551B156973A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bwMode="gray">
          <a:xfrm>
            <a:off x="4812632" y="3574249"/>
            <a:ext cx="185388" cy="171514"/>
          </a:xfrm>
          <a:prstGeom prst="rect">
            <a:avLst/>
          </a:prstGeom>
        </p:spPr>
      </p:pic>
      <p:sp>
        <p:nvSpPr>
          <p:cNvPr id="221" name="文本框 220">
            <a:extLst>
              <a:ext uri="{FF2B5EF4-FFF2-40B4-BE49-F238E27FC236}">
                <a16:creationId xmlns:a16="http://schemas.microsoft.com/office/drawing/2014/main" xmlns="" id="{B2F54838-8CE7-4F90-B713-6E562DB7E02E}"/>
              </a:ext>
            </a:extLst>
          </p:cNvPr>
          <p:cNvSpPr txBox="1"/>
          <p:nvPr/>
        </p:nvSpPr>
        <p:spPr bwMode="gray">
          <a:xfrm>
            <a:off x="3843856" y="3544632"/>
            <a:ext cx="971649" cy="258532"/>
          </a:xfrm>
          <a:prstGeom prst="rect">
            <a:avLst/>
          </a:prstGeom>
          <a:noFill/>
        </p:spPr>
        <p:txBody>
          <a:bodyPr wrap="square" rtlCol="0">
            <a:spAutoFit/>
          </a:bodyPr>
          <a:lstStyle/>
          <a:p>
            <a:pPr algn="ctr" defTabSz="914309">
              <a:lnSpc>
                <a:spcPct val="90000"/>
              </a:lnSpc>
            </a:pPr>
            <a:r>
              <a:rPr lang="zh-CN" altLang="en-US" sz="1200" b="1"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rPr>
              <a:t>分析引擎</a:t>
            </a:r>
            <a:endParaRPr lang="en-US" altLang="zh-CN" sz="1200" b="1" dirty="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sp>
        <p:nvSpPr>
          <p:cNvPr id="222" name="上箭头 811">
            <a:extLst>
              <a:ext uri="{FF2B5EF4-FFF2-40B4-BE49-F238E27FC236}">
                <a16:creationId xmlns:a16="http://schemas.microsoft.com/office/drawing/2014/main" xmlns="" id="{A792EDFF-E1D9-4334-A2A9-8185E0210DCB}"/>
              </a:ext>
            </a:extLst>
          </p:cNvPr>
          <p:cNvSpPr/>
          <p:nvPr/>
        </p:nvSpPr>
        <p:spPr bwMode="gray">
          <a:xfrm rot="10800000" flipV="1">
            <a:off x="4070417" y="3110683"/>
            <a:ext cx="87705" cy="291869"/>
          </a:xfrm>
          <a:prstGeom prst="upArrow">
            <a:avLst/>
          </a:prstGeom>
          <a:solidFill>
            <a:srgbClr val="8BC9A0"/>
          </a:solidFill>
          <a:ln w="28575" cap="flat" cmpd="sng" algn="ctr">
            <a:noFill/>
            <a:prstDash val="solid"/>
            <a:headEnd type="none" w="sm" len="med"/>
            <a:tailEnd type="none" w="sm" len="med"/>
          </a:ln>
          <a:effectLst/>
        </p:spPr>
        <p:txBody>
          <a:bodyPr lIns="91420" tIns="45710" rIns="91420" bIns="45710" rtlCol="0" anchor="ctr"/>
          <a:lstStyle/>
          <a:p>
            <a:pPr algn="ctr" defTabSz="1219150">
              <a:defRPr/>
            </a:pPr>
            <a:endParaRPr lang="zh-CN" altLang="en-US" sz="1200" kern="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sp>
        <p:nvSpPr>
          <p:cNvPr id="223" name="上箭头 812">
            <a:extLst>
              <a:ext uri="{FF2B5EF4-FFF2-40B4-BE49-F238E27FC236}">
                <a16:creationId xmlns:a16="http://schemas.microsoft.com/office/drawing/2014/main" xmlns="" id="{DFDB5725-568B-4548-9F5B-8230C6A16DE0}"/>
              </a:ext>
            </a:extLst>
          </p:cNvPr>
          <p:cNvSpPr/>
          <p:nvPr/>
        </p:nvSpPr>
        <p:spPr bwMode="gray">
          <a:xfrm rot="10800000">
            <a:off x="2724067" y="3110683"/>
            <a:ext cx="87705" cy="291869"/>
          </a:xfrm>
          <a:prstGeom prst="upArrow">
            <a:avLst/>
          </a:prstGeom>
          <a:solidFill>
            <a:srgbClr val="8BC9A0"/>
          </a:solidFill>
          <a:ln w="28575" cap="flat" cmpd="sng" algn="ctr">
            <a:noFill/>
            <a:prstDash val="solid"/>
            <a:headEnd type="none" w="sm" len="med"/>
            <a:tailEnd type="none" w="sm" len="med"/>
          </a:ln>
          <a:effectLst/>
        </p:spPr>
        <p:txBody>
          <a:bodyPr lIns="91420" tIns="45710" rIns="91420" bIns="45710" rtlCol="0" anchor="ctr"/>
          <a:lstStyle/>
          <a:p>
            <a:pPr algn="ctr" defTabSz="1219150">
              <a:defRPr/>
            </a:pPr>
            <a:endParaRPr lang="zh-CN" altLang="en-US" sz="1200" kern="0">
              <a:solidFill>
                <a:prstClr val="white"/>
              </a:solidFill>
              <a:latin typeface="Huawei Sans" panose="020C0503030203020204" pitchFamily="34" charset="0"/>
              <a:ea typeface="方正兰亭黑简体" panose="02000000000000000000" pitchFamily="2" charset="-122"/>
              <a:cs typeface="FZLanTingHei-L-GBK-M" panose="02010600010101010101" pitchFamily="2" charset="2"/>
              <a:sym typeface="Huawei Sans" panose="020C0503030203020204" pitchFamily="34" charset="0"/>
            </a:endParaRPr>
          </a:p>
        </p:txBody>
      </p:sp>
      <p:sp>
        <p:nvSpPr>
          <p:cNvPr id="224" name="右箭头 813">
            <a:extLst>
              <a:ext uri="{FF2B5EF4-FFF2-40B4-BE49-F238E27FC236}">
                <a16:creationId xmlns:a16="http://schemas.microsoft.com/office/drawing/2014/main" xmlns="" id="{FC5900D4-35F2-476C-9144-4DFF9A67370D}"/>
              </a:ext>
            </a:extLst>
          </p:cNvPr>
          <p:cNvSpPr/>
          <p:nvPr/>
        </p:nvSpPr>
        <p:spPr bwMode="gray">
          <a:xfrm rot="10800000">
            <a:off x="3462016" y="2699829"/>
            <a:ext cx="187760" cy="191922"/>
          </a:xfrm>
          <a:prstGeom prst="rightArrow">
            <a:avLst/>
          </a:prstGeom>
          <a:solidFill>
            <a:srgbClr val="8BC9A0"/>
          </a:solidFill>
          <a:ln w="28575" cap="flat" cmpd="sng" algn="ctr">
            <a:noFill/>
            <a:prstDash val="solid"/>
            <a:headEnd type="none" w="sm" len="med"/>
            <a:tailEnd type="none" w="sm" len="med"/>
          </a:ln>
          <a:effectLst/>
        </p:spPr>
        <p:txBody>
          <a:bodyPr lIns="91420" tIns="45710" rIns="91420" bIns="45710" rtlCol="0" anchor="ctr"/>
          <a:lstStyle/>
          <a:p>
            <a:pPr algn="ctr" defTabSz="1219150">
              <a:defRPr/>
            </a:pPr>
            <a:endParaRPr lang="zh-CN" altLang="en-US" sz="1200" kern="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5" name="右箭头 814">
            <a:extLst>
              <a:ext uri="{FF2B5EF4-FFF2-40B4-BE49-F238E27FC236}">
                <a16:creationId xmlns:a16="http://schemas.microsoft.com/office/drawing/2014/main" xmlns="" id="{FEFD45C3-3A09-4B95-BA38-4722BCA81D26}"/>
              </a:ext>
            </a:extLst>
          </p:cNvPr>
          <p:cNvSpPr/>
          <p:nvPr/>
        </p:nvSpPr>
        <p:spPr bwMode="gray">
          <a:xfrm rot="10800000">
            <a:off x="3470575" y="3564045"/>
            <a:ext cx="187760" cy="191922"/>
          </a:xfrm>
          <a:prstGeom prst="rightArrow">
            <a:avLst/>
          </a:prstGeom>
          <a:solidFill>
            <a:srgbClr val="8BC9A0"/>
          </a:solidFill>
          <a:ln w="28575" cap="flat" cmpd="sng" algn="ctr">
            <a:noFill/>
            <a:prstDash val="solid"/>
            <a:headEnd type="none" w="sm" len="med"/>
            <a:tailEnd type="none" w="sm" len="med"/>
          </a:ln>
          <a:effectLst/>
        </p:spPr>
        <p:txBody>
          <a:bodyPr lIns="91420" tIns="45710" rIns="91420" bIns="45710" rtlCol="0" anchor="ctr"/>
          <a:lstStyle/>
          <a:p>
            <a:pPr algn="ctr" defTabSz="1219150">
              <a:defRPr/>
            </a:pPr>
            <a:endParaRPr lang="zh-CN" altLang="en-US" sz="1200" kern="0">
              <a:solidFill>
                <a:prstClr val="white"/>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29" name="矩形 228">
            <a:extLst>
              <a:ext uri="{FF2B5EF4-FFF2-40B4-BE49-F238E27FC236}">
                <a16:creationId xmlns:a16="http://schemas.microsoft.com/office/drawing/2014/main" xmlns="" id="{EB1D7700-702C-4CF2-8E7B-332230EB17C7}"/>
              </a:ext>
            </a:extLst>
          </p:cNvPr>
          <p:cNvSpPr/>
          <p:nvPr/>
        </p:nvSpPr>
        <p:spPr bwMode="gray">
          <a:xfrm>
            <a:off x="2099326" y="2395575"/>
            <a:ext cx="845059" cy="276999"/>
          </a:xfrm>
          <a:prstGeom prst="rect">
            <a:avLst/>
          </a:prstGeom>
          <a:ln>
            <a:noFill/>
          </a:ln>
        </p:spPr>
        <p:txBody>
          <a:bodyPr wrap="square">
            <a:spAutoFit/>
          </a:bodyPr>
          <a:lstStyle/>
          <a:p>
            <a:pPr defTabSz="854917" fontAlgn="base">
              <a:spcBef>
                <a:spcPct val="0"/>
              </a:spcBef>
              <a:spcAft>
                <a:spcPct val="0"/>
              </a:spcAft>
            </a:pPr>
            <a:r>
              <a:rPr lang="en-US" altLang="zh-CN" sz="1200" kern="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Internet</a:t>
            </a:r>
          </a:p>
        </p:txBody>
      </p:sp>
      <p:sp>
        <p:nvSpPr>
          <p:cNvPr id="230" name="矩形 229">
            <a:extLst>
              <a:ext uri="{FF2B5EF4-FFF2-40B4-BE49-F238E27FC236}">
                <a16:creationId xmlns:a16="http://schemas.microsoft.com/office/drawing/2014/main" xmlns="" id="{BE628ABF-7680-4519-9148-DC2957494338}"/>
              </a:ext>
            </a:extLst>
          </p:cNvPr>
          <p:cNvSpPr/>
          <p:nvPr/>
        </p:nvSpPr>
        <p:spPr bwMode="gray">
          <a:xfrm>
            <a:off x="452502" y="1392726"/>
            <a:ext cx="723181" cy="307737"/>
          </a:xfrm>
          <a:prstGeom prst="rect">
            <a:avLst/>
          </a:prstGeom>
        </p:spPr>
        <p:txBody>
          <a:bodyPr wrap="none">
            <a:spAutoFit/>
          </a:bodyPr>
          <a:lstStyle/>
          <a:p>
            <a:pPr defTabSz="914248"/>
            <a:r>
              <a:rPr lang="zh-CN" altLang="en-US" sz="140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应用层</a:t>
            </a:r>
          </a:p>
        </p:txBody>
      </p:sp>
      <p:sp>
        <p:nvSpPr>
          <p:cNvPr id="231" name="梯形 230">
            <a:extLst>
              <a:ext uri="{FF2B5EF4-FFF2-40B4-BE49-F238E27FC236}">
                <a16:creationId xmlns:a16="http://schemas.microsoft.com/office/drawing/2014/main" xmlns="" id="{BE9E5E01-A4A4-41F2-9550-50C7BF7C9F0C}"/>
              </a:ext>
            </a:extLst>
          </p:cNvPr>
          <p:cNvSpPr/>
          <p:nvPr/>
        </p:nvSpPr>
        <p:spPr bwMode="gray">
          <a:xfrm>
            <a:off x="1730190" y="1581710"/>
            <a:ext cx="3960633" cy="333288"/>
          </a:xfrm>
          <a:prstGeom prst="trapezoid">
            <a:avLst>
              <a:gd name="adj" fmla="val 135325"/>
            </a:avLst>
          </a:prstGeom>
          <a:solidFill>
            <a:srgbClr val="F4FBFE"/>
          </a:solidFill>
          <a:ln w="6350" cap="flat" cmpd="sng" algn="ctr">
            <a:gradFill>
              <a:gsLst>
                <a:gs pos="0">
                  <a:srgbClr val="4BF0F0">
                    <a:alpha val="0"/>
                  </a:srgbClr>
                </a:gs>
                <a:gs pos="50000">
                  <a:srgbClr val="4BF0F0">
                    <a:alpha val="0"/>
                  </a:srgbClr>
                </a:gs>
                <a:gs pos="100000">
                  <a:srgbClr val="26B7C8">
                    <a:alpha val="54000"/>
                  </a:srgbClr>
                </a:gs>
              </a:gsLst>
              <a:lin ang="5400000" scaled="0"/>
            </a:gradFill>
            <a:prstDash val="solid"/>
          </a:ln>
          <a:effectLst>
            <a:outerShdw blurRad="50800" dist="38100" dir="2700000" algn="tl" rotWithShape="0">
              <a:prstClr val="black">
                <a:alpha val="40000"/>
              </a:prstClr>
            </a:outerShdw>
          </a:effectLst>
        </p:spPr>
        <p:txBody>
          <a:bodyPr lIns="243775" tIns="121886" rIns="243775" bIns="121886" rtlCol="0" anchor="ctr"/>
          <a:lstStyle/>
          <a:p>
            <a:pPr algn="ctr" defTabSz="1218662">
              <a:defRPr/>
            </a:pPr>
            <a:endParaRPr lang="en-US" altLang="zh-CN" sz="3699" kern="0" dirty="0">
              <a:solidFill>
                <a:prstClr val="black"/>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2" name="1125557403">
            <a:extLst>
              <a:ext uri="{FF2B5EF4-FFF2-40B4-BE49-F238E27FC236}">
                <a16:creationId xmlns:a16="http://schemas.microsoft.com/office/drawing/2014/main" xmlns="" id="{C179DC02-FD1E-4A15-AC61-5FA003FE53A1}"/>
              </a:ext>
            </a:extLst>
          </p:cNvPr>
          <p:cNvSpPr txBox="1">
            <a:spLocks noChangeArrowheads="1"/>
          </p:cNvSpPr>
          <p:nvPr/>
        </p:nvSpPr>
        <p:spPr bwMode="gray">
          <a:xfrm>
            <a:off x="5537039" y="1200446"/>
            <a:ext cx="391551" cy="446924"/>
          </a:xfrm>
          <a:prstGeom prst="rect">
            <a:avLst/>
          </a:prstGeom>
          <a:noFill/>
          <a:ln w="9525">
            <a:noFill/>
            <a:miter lim="800000"/>
            <a:headEnd/>
            <a:tailEnd/>
          </a:ln>
        </p:spPr>
        <p:txBody>
          <a:bodyPr lIns="121915" tIns="60959" rIns="121915" bIns="60959"/>
          <a:lstStyle/>
          <a:p>
            <a:pPr defTabSz="1218662" fontAlgn="ctr"/>
            <a:r>
              <a:rPr lang="en-US" altLang="zh-CN" sz="1600" b="1" dirty="0">
                <a:solidFill>
                  <a:prstClr val="black"/>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p>
        </p:txBody>
      </p:sp>
      <p:sp>
        <p:nvSpPr>
          <p:cNvPr id="233" name="文本框 225">
            <a:extLst>
              <a:ext uri="{FF2B5EF4-FFF2-40B4-BE49-F238E27FC236}">
                <a16:creationId xmlns:a16="http://schemas.microsoft.com/office/drawing/2014/main" xmlns="" id="{270DFC37-6427-4378-9856-DB5256190A5D}"/>
              </a:ext>
            </a:extLst>
          </p:cNvPr>
          <p:cNvSpPr txBox="1">
            <a:spLocks noChangeArrowheads="1"/>
          </p:cNvSpPr>
          <p:nvPr/>
        </p:nvSpPr>
        <p:spPr bwMode="gray">
          <a:xfrm>
            <a:off x="2115684" y="1284304"/>
            <a:ext cx="621255" cy="461624"/>
          </a:xfrm>
          <a:prstGeom prst="rect">
            <a:avLst/>
          </a:prstGeom>
          <a:noFill/>
          <a:ln w="9525">
            <a:noFill/>
            <a:miter lim="800000"/>
            <a:headEnd/>
            <a:tailEnd/>
          </a:ln>
        </p:spPr>
        <p:txBody>
          <a:bodyPr wrap="square" lIns="91400" tIns="45700" rIns="91400" bIns="45700">
            <a:spAutoFit/>
          </a:bodyPr>
          <a:lstStyle/>
          <a:p>
            <a:pPr defTabSz="914035" fontAlgn="base">
              <a:spcBef>
                <a:spcPct val="0"/>
              </a:spcBef>
              <a:spcAft>
                <a:spcPct val="0"/>
              </a:spcAft>
              <a:buSzPct val="100000"/>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电子价签</a:t>
            </a:r>
            <a:endParaRPr lang="zh-CN"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4" name="文本框 225">
            <a:extLst>
              <a:ext uri="{FF2B5EF4-FFF2-40B4-BE49-F238E27FC236}">
                <a16:creationId xmlns:a16="http://schemas.microsoft.com/office/drawing/2014/main" xmlns="" id="{D92C0E9D-3F5A-4383-85ED-FB56B3D43969}"/>
              </a:ext>
            </a:extLst>
          </p:cNvPr>
          <p:cNvSpPr txBox="1">
            <a:spLocks noChangeArrowheads="1"/>
          </p:cNvSpPr>
          <p:nvPr/>
        </p:nvSpPr>
        <p:spPr bwMode="gray">
          <a:xfrm>
            <a:off x="3025226" y="1275297"/>
            <a:ext cx="501387" cy="461624"/>
          </a:xfrm>
          <a:prstGeom prst="rect">
            <a:avLst/>
          </a:prstGeom>
          <a:noFill/>
          <a:ln w="9525">
            <a:noFill/>
            <a:miter lim="800000"/>
            <a:headEnd/>
            <a:tailEnd/>
          </a:ln>
        </p:spPr>
        <p:txBody>
          <a:bodyPr wrap="square" lIns="91400" tIns="45700" rIns="91400" bIns="45700">
            <a:spAutoFit/>
          </a:bodyPr>
          <a:lstStyle/>
          <a:p>
            <a:pPr algn="ctr" defTabSz="914035" fontAlgn="base">
              <a:spcBef>
                <a:spcPct val="0"/>
              </a:spcBef>
              <a:spcAft>
                <a:spcPct val="0"/>
              </a:spcAft>
              <a:buSzPct val="100000"/>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能效管理</a:t>
            </a:r>
            <a:endParaRPr lang="zh-CN"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5" name="文本框 225">
            <a:extLst>
              <a:ext uri="{FF2B5EF4-FFF2-40B4-BE49-F238E27FC236}">
                <a16:creationId xmlns:a16="http://schemas.microsoft.com/office/drawing/2014/main" xmlns="" id="{0FF67F58-6D5E-4161-B652-95F0DF445BE6}"/>
              </a:ext>
            </a:extLst>
          </p:cNvPr>
          <p:cNvSpPr txBox="1">
            <a:spLocks noChangeArrowheads="1"/>
          </p:cNvSpPr>
          <p:nvPr/>
        </p:nvSpPr>
        <p:spPr bwMode="gray">
          <a:xfrm>
            <a:off x="4014076" y="1286648"/>
            <a:ext cx="609749" cy="461624"/>
          </a:xfrm>
          <a:prstGeom prst="rect">
            <a:avLst/>
          </a:prstGeom>
          <a:noFill/>
          <a:ln w="9525">
            <a:noFill/>
            <a:miter lim="800000"/>
            <a:headEnd/>
            <a:tailEnd/>
          </a:ln>
        </p:spPr>
        <p:txBody>
          <a:bodyPr wrap="square" lIns="91400" tIns="45700" rIns="91400" bIns="45700">
            <a:spAutoFit/>
          </a:bodyPr>
          <a:lstStyle/>
          <a:p>
            <a:pPr defTabSz="914035" fontAlgn="base">
              <a:spcBef>
                <a:spcPct val="0"/>
              </a:spcBef>
              <a:spcAft>
                <a:spcPct val="0"/>
              </a:spcAft>
              <a:buSzPct val="100000"/>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客群分析</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文本框 225">
            <a:extLst>
              <a:ext uri="{FF2B5EF4-FFF2-40B4-BE49-F238E27FC236}">
                <a16:creationId xmlns:a16="http://schemas.microsoft.com/office/drawing/2014/main" xmlns="" id="{B69A5986-0F44-42EE-A7B5-F26DD1120B24}"/>
              </a:ext>
            </a:extLst>
          </p:cNvPr>
          <p:cNvSpPr txBox="1">
            <a:spLocks noChangeArrowheads="1"/>
          </p:cNvSpPr>
          <p:nvPr/>
        </p:nvSpPr>
        <p:spPr bwMode="gray">
          <a:xfrm>
            <a:off x="4970916" y="1257004"/>
            <a:ext cx="526960" cy="461624"/>
          </a:xfrm>
          <a:prstGeom prst="rect">
            <a:avLst/>
          </a:prstGeom>
          <a:noFill/>
          <a:ln w="9525">
            <a:noFill/>
            <a:miter lim="800000"/>
            <a:headEnd/>
            <a:tailEnd/>
          </a:ln>
        </p:spPr>
        <p:txBody>
          <a:bodyPr wrap="square" lIns="91400" tIns="45700" rIns="91400" bIns="45700">
            <a:spAutoFit/>
          </a:bodyPr>
          <a:lstStyle/>
          <a:p>
            <a:pPr defTabSz="914035" fontAlgn="base">
              <a:spcBef>
                <a:spcPct val="0"/>
              </a:spcBef>
              <a:spcAft>
                <a:spcPct val="0"/>
              </a:spcAft>
              <a:buSzPct val="100000"/>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资产管理</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7" name="弧形 236">
            <a:extLst>
              <a:ext uri="{FF2B5EF4-FFF2-40B4-BE49-F238E27FC236}">
                <a16:creationId xmlns:a16="http://schemas.microsoft.com/office/drawing/2014/main" xmlns="" id="{D4572D21-F6BD-434C-B1B9-1F9418FEFF59}"/>
              </a:ext>
            </a:extLst>
          </p:cNvPr>
          <p:cNvSpPr>
            <a:spLocks noChangeAspect="1"/>
          </p:cNvSpPr>
          <p:nvPr/>
        </p:nvSpPr>
        <p:spPr bwMode="gray">
          <a:xfrm>
            <a:off x="2051695" y="1211127"/>
            <a:ext cx="550585" cy="550585"/>
          </a:xfrm>
          <a:prstGeom prst="arc">
            <a:avLst>
              <a:gd name="adj1" fmla="val 14445679"/>
              <a:gd name="adj2" fmla="val 10762572"/>
            </a:avLst>
          </a:prstGeom>
          <a:noFill/>
          <a:ln w="12700" cap="rnd" cmpd="sng" algn="ctr">
            <a:solidFill>
              <a:srgbClr val="00B0F0"/>
            </a:solidFill>
            <a:prstDash val="solid"/>
            <a:miter lim="800000"/>
            <a:tailEnd type="oval" w="sm" len="sm"/>
          </a:ln>
          <a:effectLst/>
        </p:spPr>
        <p:txBody>
          <a:bodyPr lIns="91400" tIns="45700" rIns="91400" bIns="45700" rtlCol="0" anchor="ctr"/>
          <a:lstStyle/>
          <a:p>
            <a:pPr algn="ctr" defTabSz="456856" fontAlgn="ctr">
              <a:defRPr/>
            </a:pPr>
            <a:endParaRPr lang="en-US" altLang="zh-CN" sz="15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8" name="组合 141">
            <a:extLst>
              <a:ext uri="{FF2B5EF4-FFF2-40B4-BE49-F238E27FC236}">
                <a16:creationId xmlns:a16="http://schemas.microsoft.com/office/drawing/2014/main" xmlns="" id="{4115E706-B685-45DF-8A22-37D8175FD406}"/>
              </a:ext>
            </a:extLst>
          </p:cNvPr>
          <p:cNvGrpSpPr/>
          <p:nvPr/>
        </p:nvGrpSpPr>
        <p:grpSpPr bwMode="gray">
          <a:xfrm>
            <a:off x="1959562" y="1162998"/>
            <a:ext cx="224655" cy="222688"/>
            <a:chOff x="7475491" y="3520018"/>
            <a:chExt cx="587800" cy="995174"/>
          </a:xfrm>
          <a:solidFill>
            <a:srgbClr val="0070C0">
              <a:lumMod val="60000"/>
              <a:lumOff val="40000"/>
            </a:srgbClr>
          </a:solidFill>
        </p:grpSpPr>
        <p:sp>
          <p:nvSpPr>
            <p:cNvPr id="239" name="Freeform 35">
              <a:extLst>
                <a:ext uri="{FF2B5EF4-FFF2-40B4-BE49-F238E27FC236}">
                  <a16:creationId xmlns:a16="http://schemas.microsoft.com/office/drawing/2014/main" xmlns="" id="{3C516B89-760A-46C7-ABA3-7E19C870ECFB}"/>
                </a:ext>
              </a:extLst>
            </p:cNvPr>
            <p:cNvSpPr>
              <a:spLocks noEditPoints="1"/>
            </p:cNvSpPr>
            <p:nvPr/>
          </p:nvSpPr>
          <p:spPr bwMode="gray">
            <a:xfrm>
              <a:off x="7573578" y="3800726"/>
              <a:ext cx="412546" cy="433758"/>
            </a:xfrm>
            <a:custGeom>
              <a:avLst/>
              <a:gdLst>
                <a:gd name="T0" fmla="*/ 170 w 477"/>
                <a:gd name="T1" fmla="*/ 429 h 502"/>
                <a:gd name="T2" fmla="*/ 86 w 477"/>
                <a:gd name="T3" fmla="*/ 502 h 502"/>
                <a:gd name="T4" fmla="*/ 0 w 477"/>
                <a:gd name="T5" fmla="*/ 416 h 502"/>
                <a:gd name="T6" fmla="*/ 72 w 477"/>
                <a:gd name="T7" fmla="*/ 330 h 502"/>
                <a:gd name="T8" fmla="*/ 63 w 477"/>
                <a:gd name="T9" fmla="*/ 258 h 502"/>
                <a:gd name="T10" fmla="*/ 144 w 477"/>
                <a:gd name="T11" fmla="*/ 143 h 502"/>
                <a:gd name="T12" fmla="*/ 254 w 477"/>
                <a:gd name="T13" fmla="*/ 20 h 502"/>
                <a:gd name="T14" fmla="*/ 458 w 477"/>
                <a:gd name="T15" fmla="*/ 0 h 502"/>
                <a:gd name="T16" fmla="*/ 477 w 477"/>
                <a:gd name="T17" fmla="*/ 153 h 502"/>
                <a:gd name="T18" fmla="*/ 398 w 477"/>
                <a:gd name="T19" fmla="*/ 172 h 502"/>
                <a:gd name="T20" fmla="*/ 438 w 477"/>
                <a:gd name="T21" fmla="*/ 223 h 502"/>
                <a:gd name="T22" fmla="*/ 404 w 477"/>
                <a:gd name="T23" fmla="*/ 245 h 502"/>
                <a:gd name="T24" fmla="*/ 452 w 477"/>
                <a:gd name="T25" fmla="*/ 355 h 502"/>
                <a:gd name="T26" fmla="*/ 452 w 477"/>
                <a:gd name="T27" fmla="*/ 477 h 502"/>
                <a:gd name="T28" fmla="*/ 330 w 477"/>
                <a:gd name="T29" fmla="*/ 477 h 502"/>
                <a:gd name="T30" fmla="*/ 256 w 477"/>
                <a:gd name="T31" fmla="*/ 464 h 502"/>
                <a:gd name="T32" fmla="*/ 235 w 477"/>
                <a:gd name="T33" fmla="*/ 429 h 502"/>
                <a:gd name="T34" fmla="*/ 162 w 477"/>
                <a:gd name="T35" fmla="*/ 160 h 502"/>
                <a:gd name="T36" fmla="*/ 135 w 477"/>
                <a:gd name="T37" fmla="*/ 275 h 502"/>
                <a:gd name="T38" fmla="*/ 101 w 477"/>
                <a:gd name="T39" fmla="*/ 331 h 502"/>
                <a:gd name="T40" fmla="*/ 171 w 477"/>
                <a:gd name="T41" fmla="*/ 404 h 502"/>
                <a:gd name="T42" fmla="*/ 235 w 477"/>
                <a:gd name="T43" fmla="*/ 378 h 502"/>
                <a:gd name="T44" fmla="*/ 306 w 477"/>
                <a:gd name="T45" fmla="*/ 408 h 502"/>
                <a:gd name="T46" fmla="*/ 378 w 477"/>
                <a:gd name="T47" fmla="*/ 330 h 502"/>
                <a:gd name="T48" fmla="*/ 353 w 477"/>
                <a:gd name="T49" fmla="*/ 245 h 502"/>
                <a:gd name="T50" fmla="*/ 382 w 477"/>
                <a:gd name="T51" fmla="*/ 174 h 502"/>
                <a:gd name="T52" fmla="*/ 273 w 477"/>
                <a:gd name="T53" fmla="*/ 172 h 502"/>
                <a:gd name="T54" fmla="*/ 254 w 477"/>
                <a:gd name="T55" fmla="*/ 101 h 502"/>
                <a:gd name="T56" fmla="*/ 292 w 477"/>
                <a:gd name="T57" fmla="*/ 38 h 502"/>
                <a:gd name="T58" fmla="*/ 439 w 477"/>
                <a:gd name="T59" fmla="*/ 134 h 502"/>
                <a:gd name="T60" fmla="*/ 425 w 477"/>
                <a:gd name="T61" fmla="*/ 382 h 502"/>
                <a:gd name="T62" fmla="*/ 357 w 477"/>
                <a:gd name="T63" fmla="*/ 382 h 502"/>
                <a:gd name="T64" fmla="*/ 357 w 477"/>
                <a:gd name="T65" fmla="*/ 450 h 502"/>
                <a:gd name="T66" fmla="*/ 425 w 477"/>
                <a:gd name="T67" fmla="*/ 450 h 502"/>
                <a:gd name="T68" fmla="*/ 425 w 477"/>
                <a:gd name="T69" fmla="*/ 382 h 502"/>
                <a:gd name="T70" fmla="*/ 86 w 477"/>
                <a:gd name="T71" fmla="*/ 367 h 502"/>
                <a:gd name="T72" fmla="*/ 38 w 477"/>
                <a:gd name="T73" fmla="*/ 416 h 502"/>
                <a:gd name="T74" fmla="*/ 86 w 477"/>
                <a:gd name="T75" fmla="*/ 464 h 502"/>
                <a:gd name="T76" fmla="*/ 134 w 477"/>
                <a:gd name="T77" fmla="*/ 416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7" h="502">
                  <a:moveTo>
                    <a:pt x="235" y="429"/>
                  </a:moveTo>
                  <a:cubicBezTo>
                    <a:pt x="170" y="429"/>
                    <a:pt x="170" y="429"/>
                    <a:pt x="170" y="429"/>
                  </a:cubicBezTo>
                  <a:cubicBezTo>
                    <a:pt x="168" y="448"/>
                    <a:pt x="159" y="464"/>
                    <a:pt x="146" y="477"/>
                  </a:cubicBezTo>
                  <a:cubicBezTo>
                    <a:pt x="131" y="493"/>
                    <a:pt x="109" y="502"/>
                    <a:pt x="86" y="502"/>
                  </a:cubicBezTo>
                  <a:cubicBezTo>
                    <a:pt x="62" y="502"/>
                    <a:pt x="41" y="493"/>
                    <a:pt x="25" y="477"/>
                  </a:cubicBezTo>
                  <a:cubicBezTo>
                    <a:pt x="10" y="461"/>
                    <a:pt x="0" y="440"/>
                    <a:pt x="0" y="416"/>
                  </a:cubicBezTo>
                  <a:cubicBezTo>
                    <a:pt x="0" y="392"/>
                    <a:pt x="10" y="370"/>
                    <a:pt x="25" y="355"/>
                  </a:cubicBezTo>
                  <a:cubicBezTo>
                    <a:pt x="38" y="342"/>
                    <a:pt x="54" y="333"/>
                    <a:pt x="72" y="330"/>
                  </a:cubicBezTo>
                  <a:cubicBezTo>
                    <a:pt x="48" y="277"/>
                    <a:pt x="48" y="277"/>
                    <a:pt x="48" y="277"/>
                  </a:cubicBezTo>
                  <a:cubicBezTo>
                    <a:pt x="43" y="269"/>
                    <a:pt x="48" y="255"/>
                    <a:pt x="63" y="258"/>
                  </a:cubicBezTo>
                  <a:cubicBezTo>
                    <a:pt x="84" y="263"/>
                    <a:pt x="84" y="263"/>
                    <a:pt x="84" y="263"/>
                  </a:cubicBezTo>
                  <a:cubicBezTo>
                    <a:pt x="94" y="216"/>
                    <a:pt x="115" y="175"/>
                    <a:pt x="144" y="143"/>
                  </a:cubicBezTo>
                  <a:cubicBezTo>
                    <a:pt x="174" y="108"/>
                    <a:pt x="212" y="84"/>
                    <a:pt x="254" y="75"/>
                  </a:cubicBezTo>
                  <a:cubicBezTo>
                    <a:pt x="254" y="20"/>
                    <a:pt x="254" y="20"/>
                    <a:pt x="254" y="20"/>
                  </a:cubicBezTo>
                  <a:cubicBezTo>
                    <a:pt x="254" y="9"/>
                    <a:pt x="264" y="0"/>
                    <a:pt x="275" y="0"/>
                  </a:cubicBezTo>
                  <a:cubicBezTo>
                    <a:pt x="458" y="0"/>
                    <a:pt x="458" y="0"/>
                    <a:pt x="458" y="0"/>
                  </a:cubicBezTo>
                  <a:cubicBezTo>
                    <a:pt x="468" y="0"/>
                    <a:pt x="477" y="9"/>
                    <a:pt x="477" y="19"/>
                  </a:cubicBezTo>
                  <a:cubicBezTo>
                    <a:pt x="477" y="153"/>
                    <a:pt x="477" y="153"/>
                    <a:pt x="477" y="153"/>
                  </a:cubicBezTo>
                  <a:cubicBezTo>
                    <a:pt x="477" y="163"/>
                    <a:pt x="468" y="172"/>
                    <a:pt x="458" y="172"/>
                  </a:cubicBezTo>
                  <a:cubicBezTo>
                    <a:pt x="398" y="172"/>
                    <a:pt x="398" y="172"/>
                    <a:pt x="398" y="172"/>
                  </a:cubicBezTo>
                  <a:cubicBezTo>
                    <a:pt x="398" y="172"/>
                    <a:pt x="399" y="173"/>
                    <a:pt x="399" y="174"/>
                  </a:cubicBezTo>
                  <a:cubicBezTo>
                    <a:pt x="438" y="223"/>
                    <a:pt x="438" y="223"/>
                    <a:pt x="438" y="223"/>
                  </a:cubicBezTo>
                  <a:cubicBezTo>
                    <a:pt x="444" y="229"/>
                    <a:pt x="443" y="245"/>
                    <a:pt x="428" y="245"/>
                  </a:cubicBezTo>
                  <a:cubicBezTo>
                    <a:pt x="404" y="245"/>
                    <a:pt x="404" y="245"/>
                    <a:pt x="404" y="245"/>
                  </a:cubicBezTo>
                  <a:cubicBezTo>
                    <a:pt x="404" y="330"/>
                    <a:pt x="404" y="330"/>
                    <a:pt x="404" y="330"/>
                  </a:cubicBezTo>
                  <a:cubicBezTo>
                    <a:pt x="422" y="333"/>
                    <a:pt x="439" y="342"/>
                    <a:pt x="452" y="355"/>
                  </a:cubicBezTo>
                  <a:cubicBezTo>
                    <a:pt x="467" y="370"/>
                    <a:pt x="477" y="392"/>
                    <a:pt x="477" y="416"/>
                  </a:cubicBezTo>
                  <a:cubicBezTo>
                    <a:pt x="477" y="440"/>
                    <a:pt x="467" y="461"/>
                    <a:pt x="452" y="477"/>
                  </a:cubicBezTo>
                  <a:cubicBezTo>
                    <a:pt x="436" y="493"/>
                    <a:pt x="415" y="502"/>
                    <a:pt x="391" y="502"/>
                  </a:cubicBezTo>
                  <a:cubicBezTo>
                    <a:pt x="367" y="502"/>
                    <a:pt x="346" y="493"/>
                    <a:pt x="330" y="477"/>
                  </a:cubicBezTo>
                  <a:cubicBezTo>
                    <a:pt x="317" y="463"/>
                    <a:pt x="308" y="445"/>
                    <a:pt x="306" y="425"/>
                  </a:cubicBezTo>
                  <a:cubicBezTo>
                    <a:pt x="256" y="464"/>
                    <a:pt x="256" y="464"/>
                    <a:pt x="256" y="464"/>
                  </a:cubicBezTo>
                  <a:cubicBezTo>
                    <a:pt x="249" y="470"/>
                    <a:pt x="235" y="469"/>
                    <a:pt x="235" y="453"/>
                  </a:cubicBezTo>
                  <a:cubicBezTo>
                    <a:pt x="235" y="429"/>
                    <a:pt x="235" y="429"/>
                    <a:pt x="235" y="429"/>
                  </a:cubicBezTo>
                  <a:close/>
                  <a:moveTo>
                    <a:pt x="254" y="101"/>
                  </a:moveTo>
                  <a:cubicBezTo>
                    <a:pt x="219" y="110"/>
                    <a:pt x="188" y="131"/>
                    <a:pt x="162" y="160"/>
                  </a:cubicBezTo>
                  <a:cubicBezTo>
                    <a:pt x="137" y="189"/>
                    <a:pt x="118" y="226"/>
                    <a:pt x="109" y="269"/>
                  </a:cubicBezTo>
                  <a:cubicBezTo>
                    <a:pt x="135" y="275"/>
                    <a:pt x="135" y="275"/>
                    <a:pt x="135" y="275"/>
                  </a:cubicBezTo>
                  <a:cubicBezTo>
                    <a:pt x="148" y="278"/>
                    <a:pt x="147" y="292"/>
                    <a:pt x="140" y="298"/>
                  </a:cubicBezTo>
                  <a:cubicBezTo>
                    <a:pt x="101" y="331"/>
                    <a:pt x="101" y="331"/>
                    <a:pt x="101" y="331"/>
                  </a:cubicBezTo>
                  <a:cubicBezTo>
                    <a:pt x="118" y="334"/>
                    <a:pt x="134" y="342"/>
                    <a:pt x="146" y="355"/>
                  </a:cubicBezTo>
                  <a:cubicBezTo>
                    <a:pt x="159" y="368"/>
                    <a:pt x="168" y="385"/>
                    <a:pt x="171" y="404"/>
                  </a:cubicBezTo>
                  <a:cubicBezTo>
                    <a:pt x="235" y="404"/>
                    <a:pt x="235" y="404"/>
                    <a:pt x="235" y="404"/>
                  </a:cubicBezTo>
                  <a:cubicBezTo>
                    <a:pt x="235" y="378"/>
                    <a:pt x="235" y="378"/>
                    <a:pt x="235" y="378"/>
                  </a:cubicBezTo>
                  <a:cubicBezTo>
                    <a:pt x="235" y="365"/>
                    <a:pt x="248" y="363"/>
                    <a:pt x="256" y="369"/>
                  </a:cubicBezTo>
                  <a:cubicBezTo>
                    <a:pt x="306" y="408"/>
                    <a:pt x="306" y="408"/>
                    <a:pt x="306" y="408"/>
                  </a:cubicBezTo>
                  <a:cubicBezTo>
                    <a:pt x="308" y="387"/>
                    <a:pt x="317" y="368"/>
                    <a:pt x="330" y="355"/>
                  </a:cubicBezTo>
                  <a:cubicBezTo>
                    <a:pt x="343" y="342"/>
                    <a:pt x="360" y="333"/>
                    <a:pt x="378" y="330"/>
                  </a:cubicBezTo>
                  <a:cubicBezTo>
                    <a:pt x="378" y="245"/>
                    <a:pt x="378" y="245"/>
                    <a:pt x="378" y="245"/>
                  </a:cubicBezTo>
                  <a:cubicBezTo>
                    <a:pt x="353" y="245"/>
                    <a:pt x="353" y="245"/>
                    <a:pt x="353" y="245"/>
                  </a:cubicBezTo>
                  <a:cubicBezTo>
                    <a:pt x="340" y="245"/>
                    <a:pt x="338" y="230"/>
                    <a:pt x="344" y="223"/>
                  </a:cubicBezTo>
                  <a:cubicBezTo>
                    <a:pt x="382" y="174"/>
                    <a:pt x="382" y="174"/>
                    <a:pt x="382" y="174"/>
                  </a:cubicBezTo>
                  <a:cubicBezTo>
                    <a:pt x="383" y="173"/>
                    <a:pt x="383" y="172"/>
                    <a:pt x="384" y="172"/>
                  </a:cubicBezTo>
                  <a:cubicBezTo>
                    <a:pt x="273" y="172"/>
                    <a:pt x="273" y="172"/>
                    <a:pt x="273" y="172"/>
                  </a:cubicBezTo>
                  <a:cubicBezTo>
                    <a:pt x="263" y="172"/>
                    <a:pt x="254" y="164"/>
                    <a:pt x="254" y="153"/>
                  </a:cubicBezTo>
                  <a:cubicBezTo>
                    <a:pt x="254" y="101"/>
                    <a:pt x="254" y="101"/>
                    <a:pt x="254" y="101"/>
                  </a:cubicBezTo>
                  <a:close/>
                  <a:moveTo>
                    <a:pt x="439" y="38"/>
                  </a:moveTo>
                  <a:cubicBezTo>
                    <a:pt x="292" y="38"/>
                    <a:pt x="292" y="38"/>
                    <a:pt x="292" y="38"/>
                  </a:cubicBezTo>
                  <a:cubicBezTo>
                    <a:pt x="292" y="134"/>
                    <a:pt x="292" y="134"/>
                    <a:pt x="292" y="134"/>
                  </a:cubicBezTo>
                  <a:cubicBezTo>
                    <a:pt x="439" y="134"/>
                    <a:pt x="439" y="134"/>
                    <a:pt x="439" y="134"/>
                  </a:cubicBezTo>
                  <a:cubicBezTo>
                    <a:pt x="439" y="38"/>
                    <a:pt x="439" y="38"/>
                    <a:pt x="439" y="38"/>
                  </a:cubicBezTo>
                  <a:close/>
                  <a:moveTo>
                    <a:pt x="425" y="382"/>
                  </a:moveTo>
                  <a:cubicBezTo>
                    <a:pt x="416" y="373"/>
                    <a:pt x="404" y="367"/>
                    <a:pt x="391" y="367"/>
                  </a:cubicBezTo>
                  <a:cubicBezTo>
                    <a:pt x="378" y="367"/>
                    <a:pt x="366" y="373"/>
                    <a:pt x="357" y="382"/>
                  </a:cubicBezTo>
                  <a:cubicBezTo>
                    <a:pt x="349" y="390"/>
                    <a:pt x="343" y="402"/>
                    <a:pt x="343" y="416"/>
                  </a:cubicBezTo>
                  <a:cubicBezTo>
                    <a:pt x="343" y="429"/>
                    <a:pt x="349" y="441"/>
                    <a:pt x="357" y="450"/>
                  </a:cubicBezTo>
                  <a:cubicBezTo>
                    <a:pt x="366" y="459"/>
                    <a:pt x="378" y="464"/>
                    <a:pt x="391" y="464"/>
                  </a:cubicBezTo>
                  <a:cubicBezTo>
                    <a:pt x="404" y="464"/>
                    <a:pt x="416" y="459"/>
                    <a:pt x="425" y="450"/>
                  </a:cubicBezTo>
                  <a:cubicBezTo>
                    <a:pt x="434" y="441"/>
                    <a:pt x="439" y="429"/>
                    <a:pt x="439" y="416"/>
                  </a:cubicBezTo>
                  <a:cubicBezTo>
                    <a:pt x="439" y="402"/>
                    <a:pt x="434" y="390"/>
                    <a:pt x="425" y="382"/>
                  </a:cubicBezTo>
                  <a:close/>
                  <a:moveTo>
                    <a:pt x="120" y="382"/>
                  </a:moveTo>
                  <a:cubicBezTo>
                    <a:pt x="111" y="373"/>
                    <a:pt x="99" y="367"/>
                    <a:pt x="86" y="367"/>
                  </a:cubicBezTo>
                  <a:cubicBezTo>
                    <a:pt x="73" y="367"/>
                    <a:pt x="61" y="373"/>
                    <a:pt x="52" y="382"/>
                  </a:cubicBezTo>
                  <a:cubicBezTo>
                    <a:pt x="43" y="390"/>
                    <a:pt x="38" y="402"/>
                    <a:pt x="38" y="416"/>
                  </a:cubicBezTo>
                  <a:cubicBezTo>
                    <a:pt x="38" y="429"/>
                    <a:pt x="43" y="441"/>
                    <a:pt x="52" y="450"/>
                  </a:cubicBezTo>
                  <a:cubicBezTo>
                    <a:pt x="61" y="459"/>
                    <a:pt x="73" y="464"/>
                    <a:pt x="86" y="464"/>
                  </a:cubicBezTo>
                  <a:cubicBezTo>
                    <a:pt x="99" y="464"/>
                    <a:pt x="111" y="459"/>
                    <a:pt x="120" y="450"/>
                  </a:cubicBezTo>
                  <a:cubicBezTo>
                    <a:pt x="128" y="441"/>
                    <a:pt x="134" y="429"/>
                    <a:pt x="134" y="416"/>
                  </a:cubicBezTo>
                  <a:cubicBezTo>
                    <a:pt x="134" y="402"/>
                    <a:pt x="128" y="390"/>
                    <a:pt x="120" y="382"/>
                  </a:cubicBezTo>
                  <a:close/>
                </a:path>
              </a:pathLst>
            </a:custGeom>
            <a:grpFill/>
            <a:ln>
              <a:noFill/>
            </a:ln>
          </p:spPr>
          <p:txBody>
            <a:bodyPr vert="horz" wrap="square" lIns="91380" tIns="45690" rIns="91380" bIns="45690" numCol="1" anchor="t" anchorCtr="0" compatLnSpc="1">
              <a:prstTxWarp prst="textNoShape">
                <a:avLst/>
              </a:prstTxWarp>
            </a:bodyPr>
            <a:lstStyle/>
            <a:p>
              <a:pPr defTabSz="914035" fontAlgn="base">
                <a:spcBef>
                  <a:spcPct val="0"/>
                </a:spcBef>
                <a:spcAft>
                  <a:spcPct val="0"/>
                </a:spcAft>
                <a:defRPr/>
              </a:pPr>
              <a:endParaRPr lang="zh-CN" altLang="en-US" sz="2799" kern="0" dirty="0">
                <a:solidFill>
                  <a:srgbClr val="000000">
                    <a:lumMod val="95000"/>
                    <a:lumOff val="5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0" name="Group 102">
              <a:extLst>
                <a:ext uri="{FF2B5EF4-FFF2-40B4-BE49-F238E27FC236}">
                  <a16:creationId xmlns:a16="http://schemas.microsoft.com/office/drawing/2014/main" xmlns="" id="{C869DA9D-1ED0-4ACE-80E0-B4F4600DEA14}"/>
                </a:ext>
              </a:extLst>
            </p:cNvPr>
            <p:cNvGrpSpPr/>
            <p:nvPr/>
          </p:nvGrpSpPr>
          <p:grpSpPr bwMode="gray">
            <a:xfrm>
              <a:off x="7475491" y="3520018"/>
              <a:ext cx="587800" cy="995174"/>
              <a:chOff x="5441157" y="4440238"/>
              <a:chExt cx="319088" cy="465138"/>
            </a:xfrm>
            <a:grpFill/>
          </p:grpSpPr>
          <p:sp>
            <p:nvSpPr>
              <p:cNvPr id="241" name="AutoShape 97">
                <a:extLst>
                  <a:ext uri="{FF2B5EF4-FFF2-40B4-BE49-F238E27FC236}">
                    <a16:creationId xmlns:a16="http://schemas.microsoft.com/office/drawing/2014/main" xmlns="" id="{B15DB6D8-052B-45DB-A4A6-DEEBD8CC3315}"/>
                  </a:ext>
                </a:extLst>
              </p:cNvPr>
              <p:cNvSpPr>
                <a:spLocks/>
              </p:cNvSpPr>
              <p:nvPr/>
            </p:nvSpPr>
            <p:spPr bwMode="gray">
              <a:xfrm>
                <a:off x="5441157" y="4440238"/>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38" tIns="19038" rIns="19038" bIns="19038" anchor="ctr"/>
              <a:lstStyle/>
              <a:p>
                <a:pPr algn="ctr" defTabSz="228428" fontAlgn="base" hangingPunct="0">
                  <a:spcBef>
                    <a:spcPct val="0"/>
                  </a:spcBef>
                  <a:spcAft>
                    <a:spcPct val="0"/>
                  </a:spcAft>
                  <a:defRPr/>
                </a:pPr>
                <a:endParaRPr lang="en-US" sz="1999" kern="0" dirty="0">
                  <a:solidFill>
                    <a:srgbClr val="000000">
                      <a:lumMod val="95000"/>
                      <a:lumOff val="5000"/>
                    </a:srgbClr>
                  </a:solidFill>
                  <a:effectLst>
                    <a:outerShdw blurRad="38100" dist="38100" dir="2700000" algn="tl">
                      <a:srgbClr val="000000"/>
                    </a:outerShdw>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2" name="AutoShape 98">
                <a:extLst>
                  <a:ext uri="{FF2B5EF4-FFF2-40B4-BE49-F238E27FC236}">
                    <a16:creationId xmlns:a16="http://schemas.microsoft.com/office/drawing/2014/main" xmlns="" id="{276174AB-EABB-4DCC-947D-7723025A871C}"/>
                  </a:ext>
                </a:extLst>
              </p:cNvPr>
              <p:cNvSpPr>
                <a:spLocks/>
              </p:cNvSpPr>
              <p:nvPr/>
            </p:nvSpPr>
            <p:spPr bwMode="gray">
              <a:xfrm>
                <a:off x="5571332" y="4483894"/>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38" tIns="19038" rIns="19038" bIns="19038" anchor="ctr"/>
              <a:lstStyle/>
              <a:p>
                <a:pPr algn="ctr" defTabSz="228428" fontAlgn="base" hangingPunct="0">
                  <a:spcBef>
                    <a:spcPct val="0"/>
                  </a:spcBef>
                  <a:spcAft>
                    <a:spcPct val="0"/>
                  </a:spcAft>
                  <a:defRPr/>
                </a:pPr>
                <a:endParaRPr lang="en-US" sz="1999" kern="0" dirty="0">
                  <a:solidFill>
                    <a:srgbClr val="000000">
                      <a:lumMod val="95000"/>
                      <a:lumOff val="5000"/>
                    </a:srgbClr>
                  </a:solidFill>
                  <a:effectLst>
                    <a:outerShdw blurRad="38100" dist="38100" dir="2700000" algn="tl">
                      <a:srgbClr val="000000"/>
                    </a:outerShdw>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3" name="AutoShape 99">
                <a:extLst>
                  <a:ext uri="{FF2B5EF4-FFF2-40B4-BE49-F238E27FC236}">
                    <a16:creationId xmlns:a16="http://schemas.microsoft.com/office/drawing/2014/main" xmlns="" id="{87D700E4-E267-48F8-A0F1-AF6DCF275347}"/>
                  </a:ext>
                </a:extLst>
              </p:cNvPr>
              <p:cNvSpPr>
                <a:spLocks/>
              </p:cNvSpPr>
              <p:nvPr/>
            </p:nvSpPr>
            <p:spPr bwMode="gray">
              <a:xfrm>
                <a:off x="5586413" y="4847432"/>
                <a:ext cx="28575"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38" tIns="19038" rIns="19038" bIns="19038" anchor="ctr"/>
              <a:lstStyle/>
              <a:p>
                <a:pPr algn="ctr" defTabSz="228428" fontAlgn="base" hangingPunct="0">
                  <a:spcBef>
                    <a:spcPct val="0"/>
                  </a:spcBef>
                  <a:spcAft>
                    <a:spcPct val="0"/>
                  </a:spcAft>
                  <a:defRPr/>
                </a:pPr>
                <a:endParaRPr lang="en-US" sz="1999" kern="0" dirty="0">
                  <a:solidFill>
                    <a:srgbClr val="000000">
                      <a:lumMod val="95000"/>
                      <a:lumOff val="5000"/>
                    </a:srgbClr>
                  </a:solidFill>
                  <a:effectLst>
                    <a:outerShdw blurRad="38100" dist="38100" dir="2700000" algn="tl">
                      <a:srgbClr val="000000"/>
                    </a:outerShdw>
                  </a:effectLst>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244" name="弧形 243">
            <a:extLst>
              <a:ext uri="{FF2B5EF4-FFF2-40B4-BE49-F238E27FC236}">
                <a16:creationId xmlns:a16="http://schemas.microsoft.com/office/drawing/2014/main" xmlns="" id="{E7A249B2-F4C3-494E-8806-04D6C8CA458C}"/>
              </a:ext>
            </a:extLst>
          </p:cNvPr>
          <p:cNvSpPr>
            <a:spLocks noChangeAspect="1"/>
          </p:cNvSpPr>
          <p:nvPr/>
        </p:nvSpPr>
        <p:spPr bwMode="gray">
          <a:xfrm>
            <a:off x="2972162" y="1211127"/>
            <a:ext cx="582545" cy="550585"/>
          </a:xfrm>
          <a:prstGeom prst="arc">
            <a:avLst>
              <a:gd name="adj1" fmla="val 14445679"/>
              <a:gd name="adj2" fmla="val 10762572"/>
            </a:avLst>
          </a:prstGeom>
          <a:noFill/>
          <a:ln w="12700" cap="rnd" cmpd="sng" algn="ctr">
            <a:solidFill>
              <a:srgbClr val="00B0F0"/>
            </a:solidFill>
            <a:prstDash val="solid"/>
            <a:miter lim="800000"/>
            <a:tailEnd type="oval" w="sm" len="sm"/>
          </a:ln>
          <a:effectLst/>
        </p:spPr>
        <p:txBody>
          <a:bodyPr lIns="91400" tIns="45700" rIns="91400" bIns="45700" rtlCol="0" anchor="ctr"/>
          <a:lstStyle/>
          <a:p>
            <a:pPr algn="ctr" defTabSz="456856" fontAlgn="ctr">
              <a:defRPr/>
            </a:pPr>
            <a:endParaRPr lang="en-US" altLang="zh-CN"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5" name="组合 244">
            <a:extLst>
              <a:ext uri="{FF2B5EF4-FFF2-40B4-BE49-F238E27FC236}">
                <a16:creationId xmlns:a16="http://schemas.microsoft.com/office/drawing/2014/main" xmlns="" id="{B25CC3C4-C7CB-4C70-9DC8-BF05D2C41A9B}"/>
              </a:ext>
            </a:extLst>
          </p:cNvPr>
          <p:cNvGrpSpPr/>
          <p:nvPr/>
        </p:nvGrpSpPr>
        <p:grpSpPr bwMode="gray">
          <a:xfrm>
            <a:off x="2806928" y="1162123"/>
            <a:ext cx="317091" cy="224433"/>
            <a:chOff x="3211025" y="1217655"/>
            <a:chExt cx="317215" cy="224520"/>
          </a:xfrm>
        </p:grpSpPr>
        <p:sp>
          <p:nvSpPr>
            <p:cNvPr id="246" name="Freeform 108">
              <a:extLst>
                <a:ext uri="{FF2B5EF4-FFF2-40B4-BE49-F238E27FC236}">
                  <a16:creationId xmlns:a16="http://schemas.microsoft.com/office/drawing/2014/main" xmlns="" id="{E07B2216-B5A7-40A2-91FE-601C66F335D4}"/>
                </a:ext>
              </a:extLst>
            </p:cNvPr>
            <p:cNvSpPr>
              <a:spLocks/>
            </p:cNvSpPr>
            <p:nvPr/>
          </p:nvSpPr>
          <p:spPr bwMode="gray">
            <a:xfrm rot="16200000">
              <a:off x="3257373" y="1171307"/>
              <a:ext cx="224520" cy="317215"/>
            </a:xfrm>
            <a:custGeom>
              <a:avLst/>
              <a:gdLst>
                <a:gd name="T0" fmla="*/ 0 w 152"/>
                <a:gd name="T1" fmla="*/ 186 h 206"/>
                <a:gd name="T2" fmla="*/ 0 w 152"/>
                <a:gd name="T3" fmla="*/ 19 h 206"/>
                <a:gd name="T4" fmla="*/ 20 w 152"/>
                <a:gd name="T5" fmla="*/ 0 h 206"/>
                <a:gd name="T6" fmla="*/ 133 w 152"/>
                <a:gd name="T7" fmla="*/ 0 h 206"/>
                <a:gd name="T8" fmla="*/ 152 w 152"/>
                <a:gd name="T9" fmla="*/ 19 h 206"/>
                <a:gd name="T10" fmla="*/ 152 w 152"/>
                <a:gd name="T11" fmla="*/ 186 h 206"/>
                <a:gd name="T12" fmla="*/ 133 w 152"/>
                <a:gd name="T13" fmla="*/ 206 h 206"/>
                <a:gd name="T14" fmla="*/ 20 w 152"/>
                <a:gd name="T15" fmla="*/ 206 h 206"/>
                <a:gd name="T16" fmla="*/ 0 w 152"/>
                <a:gd name="T17" fmla="*/ 18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206">
                  <a:moveTo>
                    <a:pt x="0" y="186"/>
                  </a:moveTo>
                  <a:cubicBezTo>
                    <a:pt x="0" y="19"/>
                    <a:pt x="0" y="19"/>
                    <a:pt x="0" y="19"/>
                  </a:cubicBezTo>
                  <a:cubicBezTo>
                    <a:pt x="0" y="8"/>
                    <a:pt x="9" y="0"/>
                    <a:pt x="20" y="0"/>
                  </a:cubicBezTo>
                  <a:cubicBezTo>
                    <a:pt x="133" y="0"/>
                    <a:pt x="133" y="0"/>
                    <a:pt x="133" y="0"/>
                  </a:cubicBezTo>
                  <a:cubicBezTo>
                    <a:pt x="143" y="0"/>
                    <a:pt x="152" y="8"/>
                    <a:pt x="152" y="19"/>
                  </a:cubicBezTo>
                  <a:cubicBezTo>
                    <a:pt x="152" y="186"/>
                    <a:pt x="152" y="186"/>
                    <a:pt x="152" y="186"/>
                  </a:cubicBezTo>
                  <a:cubicBezTo>
                    <a:pt x="152" y="197"/>
                    <a:pt x="143" y="206"/>
                    <a:pt x="133" y="206"/>
                  </a:cubicBezTo>
                  <a:cubicBezTo>
                    <a:pt x="20" y="206"/>
                    <a:pt x="20" y="206"/>
                    <a:pt x="20" y="206"/>
                  </a:cubicBezTo>
                  <a:cubicBezTo>
                    <a:pt x="9" y="206"/>
                    <a:pt x="0" y="197"/>
                    <a:pt x="0" y="186"/>
                  </a:cubicBezTo>
                  <a:close/>
                </a:path>
              </a:pathLst>
            </a:custGeom>
            <a:solidFill>
              <a:srgbClr val="0070C0">
                <a:lumMod val="60000"/>
                <a:lumOff val="40000"/>
              </a:srgbClr>
            </a:solidFill>
            <a:ln w="9525">
              <a:noFill/>
              <a:round/>
              <a:headEnd/>
              <a:tailEnd/>
            </a:ln>
          </p:spPr>
          <p:txBody>
            <a:bodyPr vert="horz" wrap="square" lIns="91380" tIns="45690" rIns="91380" bIns="45690" numCol="1" anchor="t" anchorCtr="0" compatLnSpc="1">
              <a:prstTxWarp prst="textNoShape">
                <a:avLst/>
              </a:prstTxWarp>
            </a:bodyPr>
            <a:lstStyle/>
            <a:p>
              <a:pPr defTabSz="914035" fontAlgn="base">
                <a:spcBef>
                  <a:spcPct val="0"/>
                </a:spcBef>
                <a:spcAft>
                  <a:spcPct val="0"/>
                </a:spcAft>
                <a:defRPr/>
              </a:pPr>
              <a:endParaRPr lang="zh-CN" altLang="en-US" sz="2799"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7" name="Freeform 109">
              <a:extLst>
                <a:ext uri="{FF2B5EF4-FFF2-40B4-BE49-F238E27FC236}">
                  <a16:creationId xmlns:a16="http://schemas.microsoft.com/office/drawing/2014/main" xmlns="" id="{DD0CEF58-CDEF-4008-8FA9-2B05485935D6}"/>
                </a:ext>
              </a:extLst>
            </p:cNvPr>
            <p:cNvSpPr>
              <a:spLocks/>
            </p:cNvSpPr>
            <p:nvPr/>
          </p:nvSpPr>
          <p:spPr bwMode="gray">
            <a:xfrm rot="16200000">
              <a:off x="3276203" y="1207474"/>
              <a:ext cx="186860" cy="244881"/>
            </a:xfrm>
            <a:custGeom>
              <a:avLst/>
              <a:gdLst>
                <a:gd name="T0" fmla="*/ 0 w 258"/>
                <a:gd name="T1" fmla="*/ 325 h 325"/>
                <a:gd name="T2" fmla="*/ 0 w 258"/>
                <a:gd name="T3" fmla="*/ 0 h 325"/>
                <a:gd name="T4" fmla="*/ 258 w 258"/>
                <a:gd name="T5" fmla="*/ 0 h 325"/>
                <a:gd name="T6" fmla="*/ 258 w 258"/>
                <a:gd name="T7" fmla="*/ 325 h 325"/>
                <a:gd name="T8" fmla="*/ 0 w 258"/>
                <a:gd name="T9" fmla="*/ 325 h 325"/>
                <a:gd name="T10" fmla="*/ 0 w 258"/>
                <a:gd name="T11" fmla="*/ 325 h 325"/>
              </a:gdLst>
              <a:ahLst/>
              <a:cxnLst>
                <a:cxn ang="0">
                  <a:pos x="T0" y="T1"/>
                </a:cxn>
                <a:cxn ang="0">
                  <a:pos x="T2" y="T3"/>
                </a:cxn>
                <a:cxn ang="0">
                  <a:pos x="T4" y="T5"/>
                </a:cxn>
                <a:cxn ang="0">
                  <a:pos x="T6" y="T7"/>
                </a:cxn>
                <a:cxn ang="0">
                  <a:pos x="T8" y="T9"/>
                </a:cxn>
                <a:cxn ang="0">
                  <a:pos x="T10" y="T11"/>
                </a:cxn>
              </a:cxnLst>
              <a:rect l="0" t="0" r="r" b="b"/>
              <a:pathLst>
                <a:path w="258" h="325">
                  <a:moveTo>
                    <a:pt x="0" y="325"/>
                  </a:moveTo>
                  <a:lnTo>
                    <a:pt x="0" y="0"/>
                  </a:lnTo>
                  <a:lnTo>
                    <a:pt x="258" y="0"/>
                  </a:lnTo>
                  <a:lnTo>
                    <a:pt x="258" y="325"/>
                  </a:lnTo>
                  <a:lnTo>
                    <a:pt x="0" y="325"/>
                  </a:lnTo>
                  <a:lnTo>
                    <a:pt x="0" y="325"/>
                  </a:lnTo>
                  <a:close/>
                </a:path>
              </a:pathLst>
            </a:custGeom>
            <a:solidFill>
              <a:srgbClr val="FFFFFF"/>
            </a:solidFill>
            <a:ln w="9525">
              <a:noFill/>
              <a:round/>
              <a:headEnd/>
              <a:tailEnd/>
            </a:ln>
          </p:spPr>
          <p:txBody>
            <a:bodyPr vert="horz" wrap="square" lIns="91380" tIns="45690" rIns="91380" bIns="45690" numCol="1" anchor="t" anchorCtr="0" compatLnSpc="1">
              <a:prstTxWarp prst="textNoShape">
                <a:avLst/>
              </a:prstTxWarp>
            </a:bodyPr>
            <a:lstStyle/>
            <a:p>
              <a:pPr defTabSz="914035" fontAlgn="base">
                <a:spcBef>
                  <a:spcPct val="0"/>
                </a:spcBef>
                <a:spcAft>
                  <a:spcPct val="0"/>
                </a:spcAft>
                <a:defRPr/>
              </a:pPr>
              <a:endParaRPr lang="zh-CN" altLang="en-US" sz="2799"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8" name="组合 247">
              <a:extLst>
                <a:ext uri="{FF2B5EF4-FFF2-40B4-BE49-F238E27FC236}">
                  <a16:creationId xmlns:a16="http://schemas.microsoft.com/office/drawing/2014/main" xmlns="" id="{3ED44C85-32FB-4DFD-BB0C-4BEAD33113D7}"/>
                </a:ext>
              </a:extLst>
            </p:cNvPr>
            <p:cNvGrpSpPr/>
            <p:nvPr/>
          </p:nvGrpSpPr>
          <p:grpSpPr bwMode="gray">
            <a:xfrm>
              <a:off x="3267159" y="1268352"/>
              <a:ext cx="204948" cy="123125"/>
              <a:chOff x="5119592" y="1569537"/>
              <a:chExt cx="204948" cy="123125"/>
            </a:xfrm>
          </p:grpSpPr>
          <p:sp>
            <p:nvSpPr>
              <p:cNvPr id="249" name="Freeform 110">
                <a:extLst>
                  <a:ext uri="{FF2B5EF4-FFF2-40B4-BE49-F238E27FC236}">
                    <a16:creationId xmlns:a16="http://schemas.microsoft.com/office/drawing/2014/main" xmlns="" id="{99EF0B09-D99B-43F9-AE1F-4FFFDFB14F89}"/>
                  </a:ext>
                </a:extLst>
              </p:cNvPr>
              <p:cNvSpPr>
                <a:spLocks/>
              </p:cNvSpPr>
              <p:nvPr/>
            </p:nvSpPr>
            <p:spPr bwMode="gray">
              <a:xfrm rot="16200000">
                <a:off x="5276652" y="1545551"/>
                <a:ext cx="16659" cy="79115"/>
              </a:xfrm>
              <a:custGeom>
                <a:avLst/>
                <a:gdLst>
                  <a:gd name="T0" fmla="*/ 0 w 23"/>
                  <a:gd name="T1" fmla="*/ 105 h 105"/>
                  <a:gd name="T2" fmla="*/ 0 w 23"/>
                  <a:gd name="T3" fmla="*/ 0 h 105"/>
                  <a:gd name="T4" fmla="*/ 23 w 23"/>
                  <a:gd name="T5" fmla="*/ 0 h 105"/>
                  <a:gd name="T6" fmla="*/ 23 w 23"/>
                  <a:gd name="T7" fmla="*/ 105 h 105"/>
                  <a:gd name="T8" fmla="*/ 0 w 23"/>
                  <a:gd name="T9" fmla="*/ 105 h 105"/>
                  <a:gd name="T10" fmla="*/ 0 w 23"/>
                  <a:gd name="T11" fmla="*/ 105 h 105"/>
                </a:gdLst>
                <a:ahLst/>
                <a:cxnLst>
                  <a:cxn ang="0">
                    <a:pos x="T0" y="T1"/>
                  </a:cxn>
                  <a:cxn ang="0">
                    <a:pos x="T2" y="T3"/>
                  </a:cxn>
                  <a:cxn ang="0">
                    <a:pos x="T4" y="T5"/>
                  </a:cxn>
                  <a:cxn ang="0">
                    <a:pos x="T6" y="T7"/>
                  </a:cxn>
                  <a:cxn ang="0">
                    <a:pos x="T8" y="T9"/>
                  </a:cxn>
                  <a:cxn ang="0">
                    <a:pos x="T10" y="T11"/>
                  </a:cxn>
                </a:cxnLst>
                <a:rect l="0" t="0" r="r" b="b"/>
                <a:pathLst>
                  <a:path w="23" h="105">
                    <a:moveTo>
                      <a:pt x="0" y="105"/>
                    </a:moveTo>
                    <a:lnTo>
                      <a:pt x="0" y="0"/>
                    </a:lnTo>
                    <a:lnTo>
                      <a:pt x="23" y="0"/>
                    </a:lnTo>
                    <a:lnTo>
                      <a:pt x="23" y="105"/>
                    </a:lnTo>
                    <a:lnTo>
                      <a:pt x="0" y="105"/>
                    </a:lnTo>
                    <a:lnTo>
                      <a:pt x="0" y="105"/>
                    </a:lnTo>
                    <a:close/>
                  </a:path>
                </a:pathLst>
              </a:custGeom>
              <a:solidFill>
                <a:srgbClr val="00B0F0"/>
              </a:solidFill>
              <a:ln w="9525">
                <a:noFill/>
                <a:round/>
                <a:headEnd/>
                <a:tailEnd/>
              </a:ln>
            </p:spPr>
            <p:txBody>
              <a:bodyPr vert="horz" wrap="square" lIns="91380" tIns="45690" rIns="91380" bIns="45690" numCol="1" anchor="t" anchorCtr="0" compatLnSpc="1">
                <a:prstTxWarp prst="textNoShape">
                  <a:avLst/>
                </a:prstTxWarp>
              </a:bodyPr>
              <a:lstStyle/>
              <a:p>
                <a:pPr defTabSz="914035" fontAlgn="base">
                  <a:spcBef>
                    <a:spcPct val="0"/>
                  </a:spcBef>
                  <a:spcAft>
                    <a:spcPct val="0"/>
                  </a:spcAft>
                  <a:defRPr/>
                </a:pPr>
                <a:endParaRPr lang="zh-CN" altLang="en-US" sz="2799"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0" name="Freeform 111">
                <a:extLst>
                  <a:ext uri="{FF2B5EF4-FFF2-40B4-BE49-F238E27FC236}">
                    <a16:creationId xmlns:a16="http://schemas.microsoft.com/office/drawing/2014/main" xmlns="" id="{47F1F0D9-A40C-495C-8E33-C407239B5265}"/>
                  </a:ext>
                </a:extLst>
              </p:cNvPr>
              <p:cNvSpPr>
                <a:spLocks/>
              </p:cNvSpPr>
              <p:nvPr/>
            </p:nvSpPr>
            <p:spPr bwMode="gray">
              <a:xfrm rot="16200000">
                <a:off x="5265351" y="1566840"/>
                <a:ext cx="16659" cy="101719"/>
              </a:xfrm>
              <a:custGeom>
                <a:avLst/>
                <a:gdLst>
                  <a:gd name="T0" fmla="*/ 0 w 23"/>
                  <a:gd name="T1" fmla="*/ 135 h 135"/>
                  <a:gd name="T2" fmla="*/ 0 w 23"/>
                  <a:gd name="T3" fmla="*/ 0 h 135"/>
                  <a:gd name="T4" fmla="*/ 23 w 23"/>
                  <a:gd name="T5" fmla="*/ 0 h 135"/>
                  <a:gd name="T6" fmla="*/ 23 w 23"/>
                  <a:gd name="T7" fmla="*/ 135 h 135"/>
                  <a:gd name="T8" fmla="*/ 0 w 23"/>
                  <a:gd name="T9" fmla="*/ 135 h 135"/>
                  <a:gd name="T10" fmla="*/ 0 w 23"/>
                  <a:gd name="T11" fmla="*/ 135 h 135"/>
                </a:gdLst>
                <a:ahLst/>
                <a:cxnLst>
                  <a:cxn ang="0">
                    <a:pos x="T0" y="T1"/>
                  </a:cxn>
                  <a:cxn ang="0">
                    <a:pos x="T2" y="T3"/>
                  </a:cxn>
                  <a:cxn ang="0">
                    <a:pos x="T4" y="T5"/>
                  </a:cxn>
                  <a:cxn ang="0">
                    <a:pos x="T6" y="T7"/>
                  </a:cxn>
                  <a:cxn ang="0">
                    <a:pos x="T8" y="T9"/>
                  </a:cxn>
                  <a:cxn ang="0">
                    <a:pos x="T10" y="T11"/>
                  </a:cxn>
                </a:cxnLst>
                <a:rect l="0" t="0" r="r" b="b"/>
                <a:pathLst>
                  <a:path w="23" h="135">
                    <a:moveTo>
                      <a:pt x="0" y="135"/>
                    </a:moveTo>
                    <a:lnTo>
                      <a:pt x="0" y="0"/>
                    </a:lnTo>
                    <a:lnTo>
                      <a:pt x="23" y="0"/>
                    </a:lnTo>
                    <a:lnTo>
                      <a:pt x="23" y="135"/>
                    </a:lnTo>
                    <a:lnTo>
                      <a:pt x="0" y="135"/>
                    </a:lnTo>
                    <a:lnTo>
                      <a:pt x="0" y="135"/>
                    </a:lnTo>
                    <a:close/>
                  </a:path>
                </a:pathLst>
              </a:custGeom>
              <a:solidFill>
                <a:srgbClr val="00B0F0"/>
              </a:solidFill>
              <a:ln w="9525">
                <a:noFill/>
                <a:round/>
                <a:headEnd/>
                <a:tailEnd/>
              </a:ln>
            </p:spPr>
            <p:txBody>
              <a:bodyPr vert="horz" wrap="square" lIns="91380" tIns="45690" rIns="91380" bIns="45690" numCol="1" anchor="t" anchorCtr="0" compatLnSpc="1">
                <a:prstTxWarp prst="textNoShape">
                  <a:avLst/>
                </a:prstTxWarp>
              </a:bodyPr>
              <a:lstStyle/>
              <a:p>
                <a:pPr defTabSz="914035" fontAlgn="base">
                  <a:spcBef>
                    <a:spcPct val="0"/>
                  </a:spcBef>
                  <a:spcAft>
                    <a:spcPct val="0"/>
                  </a:spcAft>
                  <a:defRPr/>
                </a:pPr>
                <a:endParaRPr lang="zh-CN" altLang="en-US" sz="2799"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1" name="Freeform 112">
                <a:extLst>
                  <a:ext uri="{FF2B5EF4-FFF2-40B4-BE49-F238E27FC236}">
                    <a16:creationId xmlns:a16="http://schemas.microsoft.com/office/drawing/2014/main" xmlns="" id="{4793DFFC-80B8-43FC-BF11-5770E98133B9}"/>
                  </a:ext>
                </a:extLst>
              </p:cNvPr>
              <p:cNvSpPr>
                <a:spLocks/>
              </p:cNvSpPr>
              <p:nvPr/>
            </p:nvSpPr>
            <p:spPr bwMode="gray">
              <a:xfrm rot="16200000">
                <a:off x="5254425" y="1589955"/>
                <a:ext cx="16659" cy="123571"/>
              </a:xfrm>
              <a:custGeom>
                <a:avLst/>
                <a:gdLst>
                  <a:gd name="T0" fmla="*/ 0 w 23"/>
                  <a:gd name="T1" fmla="*/ 164 h 164"/>
                  <a:gd name="T2" fmla="*/ 0 w 23"/>
                  <a:gd name="T3" fmla="*/ 0 h 164"/>
                  <a:gd name="T4" fmla="*/ 23 w 23"/>
                  <a:gd name="T5" fmla="*/ 0 h 164"/>
                  <a:gd name="T6" fmla="*/ 23 w 23"/>
                  <a:gd name="T7" fmla="*/ 164 h 164"/>
                  <a:gd name="T8" fmla="*/ 0 w 23"/>
                  <a:gd name="T9" fmla="*/ 164 h 164"/>
                  <a:gd name="T10" fmla="*/ 0 w 23"/>
                  <a:gd name="T11" fmla="*/ 164 h 164"/>
                </a:gdLst>
                <a:ahLst/>
                <a:cxnLst>
                  <a:cxn ang="0">
                    <a:pos x="T0" y="T1"/>
                  </a:cxn>
                  <a:cxn ang="0">
                    <a:pos x="T2" y="T3"/>
                  </a:cxn>
                  <a:cxn ang="0">
                    <a:pos x="T4" y="T5"/>
                  </a:cxn>
                  <a:cxn ang="0">
                    <a:pos x="T6" y="T7"/>
                  </a:cxn>
                  <a:cxn ang="0">
                    <a:pos x="T8" y="T9"/>
                  </a:cxn>
                  <a:cxn ang="0">
                    <a:pos x="T10" y="T11"/>
                  </a:cxn>
                </a:cxnLst>
                <a:rect l="0" t="0" r="r" b="b"/>
                <a:pathLst>
                  <a:path w="23" h="164">
                    <a:moveTo>
                      <a:pt x="0" y="164"/>
                    </a:moveTo>
                    <a:lnTo>
                      <a:pt x="0" y="0"/>
                    </a:lnTo>
                    <a:lnTo>
                      <a:pt x="23" y="0"/>
                    </a:lnTo>
                    <a:lnTo>
                      <a:pt x="23" y="164"/>
                    </a:lnTo>
                    <a:lnTo>
                      <a:pt x="0" y="164"/>
                    </a:lnTo>
                    <a:lnTo>
                      <a:pt x="0" y="164"/>
                    </a:lnTo>
                    <a:close/>
                  </a:path>
                </a:pathLst>
              </a:custGeom>
              <a:solidFill>
                <a:srgbClr val="00B0F0"/>
              </a:solidFill>
              <a:ln w="9525">
                <a:noFill/>
                <a:round/>
                <a:headEnd/>
                <a:tailEnd/>
              </a:ln>
            </p:spPr>
            <p:txBody>
              <a:bodyPr vert="horz" wrap="square" lIns="91380" tIns="45690" rIns="91380" bIns="45690" numCol="1" anchor="t" anchorCtr="0" compatLnSpc="1">
                <a:prstTxWarp prst="textNoShape">
                  <a:avLst/>
                </a:prstTxWarp>
              </a:bodyPr>
              <a:lstStyle/>
              <a:p>
                <a:pPr defTabSz="914035" fontAlgn="base">
                  <a:spcBef>
                    <a:spcPct val="0"/>
                  </a:spcBef>
                  <a:spcAft>
                    <a:spcPct val="0"/>
                  </a:spcAft>
                  <a:defRPr/>
                </a:pPr>
                <a:endParaRPr lang="zh-CN" altLang="en-US" sz="2799"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2" name="Freeform 113">
                <a:extLst>
                  <a:ext uri="{FF2B5EF4-FFF2-40B4-BE49-F238E27FC236}">
                    <a16:creationId xmlns:a16="http://schemas.microsoft.com/office/drawing/2014/main" xmlns="" id="{582A9EE3-1C1E-4F06-8250-9CBBF79EB739}"/>
                  </a:ext>
                </a:extLst>
              </p:cNvPr>
              <p:cNvSpPr>
                <a:spLocks/>
              </p:cNvSpPr>
              <p:nvPr/>
            </p:nvSpPr>
            <p:spPr bwMode="gray">
              <a:xfrm rot="16200000">
                <a:off x="5242745" y="1610868"/>
                <a:ext cx="16659" cy="146929"/>
              </a:xfrm>
              <a:custGeom>
                <a:avLst/>
                <a:gdLst>
                  <a:gd name="T0" fmla="*/ 0 w 23"/>
                  <a:gd name="T1" fmla="*/ 195 h 195"/>
                  <a:gd name="T2" fmla="*/ 0 w 23"/>
                  <a:gd name="T3" fmla="*/ 0 h 195"/>
                  <a:gd name="T4" fmla="*/ 23 w 23"/>
                  <a:gd name="T5" fmla="*/ 0 h 195"/>
                  <a:gd name="T6" fmla="*/ 23 w 23"/>
                  <a:gd name="T7" fmla="*/ 195 h 195"/>
                  <a:gd name="T8" fmla="*/ 0 w 23"/>
                  <a:gd name="T9" fmla="*/ 195 h 195"/>
                  <a:gd name="T10" fmla="*/ 0 w 23"/>
                  <a:gd name="T11" fmla="*/ 195 h 195"/>
                </a:gdLst>
                <a:ahLst/>
                <a:cxnLst>
                  <a:cxn ang="0">
                    <a:pos x="T0" y="T1"/>
                  </a:cxn>
                  <a:cxn ang="0">
                    <a:pos x="T2" y="T3"/>
                  </a:cxn>
                  <a:cxn ang="0">
                    <a:pos x="T4" y="T5"/>
                  </a:cxn>
                  <a:cxn ang="0">
                    <a:pos x="T6" y="T7"/>
                  </a:cxn>
                  <a:cxn ang="0">
                    <a:pos x="T8" y="T9"/>
                  </a:cxn>
                  <a:cxn ang="0">
                    <a:pos x="T10" y="T11"/>
                  </a:cxn>
                </a:cxnLst>
                <a:rect l="0" t="0" r="r" b="b"/>
                <a:pathLst>
                  <a:path w="23" h="195">
                    <a:moveTo>
                      <a:pt x="0" y="195"/>
                    </a:moveTo>
                    <a:lnTo>
                      <a:pt x="0" y="0"/>
                    </a:lnTo>
                    <a:lnTo>
                      <a:pt x="23" y="0"/>
                    </a:lnTo>
                    <a:lnTo>
                      <a:pt x="23" y="195"/>
                    </a:lnTo>
                    <a:lnTo>
                      <a:pt x="0" y="195"/>
                    </a:lnTo>
                    <a:lnTo>
                      <a:pt x="0" y="195"/>
                    </a:lnTo>
                    <a:close/>
                  </a:path>
                </a:pathLst>
              </a:custGeom>
              <a:solidFill>
                <a:srgbClr val="00B0F0"/>
              </a:solidFill>
              <a:ln w="9525">
                <a:noFill/>
                <a:round/>
                <a:headEnd/>
                <a:tailEnd/>
              </a:ln>
            </p:spPr>
            <p:txBody>
              <a:bodyPr vert="horz" wrap="square" lIns="91380" tIns="45690" rIns="91380" bIns="45690" numCol="1" anchor="t" anchorCtr="0" compatLnSpc="1">
                <a:prstTxWarp prst="textNoShape">
                  <a:avLst/>
                </a:prstTxWarp>
              </a:bodyPr>
              <a:lstStyle/>
              <a:p>
                <a:pPr defTabSz="914035" fontAlgn="base">
                  <a:spcBef>
                    <a:spcPct val="0"/>
                  </a:spcBef>
                  <a:spcAft>
                    <a:spcPct val="0"/>
                  </a:spcAft>
                  <a:defRPr/>
                </a:pPr>
                <a:endParaRPr lang="zh-CN" altLang="en-US" sz="2799"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3" name="Freeform 114">
                <a:extLst>
                  <a:ext uri="{FF2B5EF4-FFF2-40B4-BE49-F238E27FC236}">
                    <a16:creationId xmlns:a16="http://schemas.microsoft.com/office/drawing/2014/main" xmlns="" id="{B03A2741-7A28-4E76-A2F3-CED80B885C1C}"/>
                  </a:ext>
                </a:extLst>
              </p:cNvPr>
              <p:cNvSpPr>
                <a:spLocks/>
              </p:cNvSpPr>
              <p:nvPr/>
            </p:nvSpPr>
            <p:spPr bwMode="gray">
              <a:xfrm rot="16200000">
                <a:off x="5101732" y="1587397"/>
                <a:ext cx="123124" cy="87404"/>
              </a:xfrm>
              <a:custGeom>
                <a:avLst/>
                <a:gdLst>
                  <a:gd name="T0" fmla="*/ 133 w 170"/>
                  <a:gd name="T1" fmla="*/ 102 h 116"/>
                  <a:gd name="T2" fmla="*/ 0 w 170"/>
                  <a:gd name="T3" fmla="*/ 20 h 116"/>
                  <a:gd name="T4" fmla="*/ 10 w 170"/>
                  <a:gd name="T5" fmla="*/ 0 h 116"/>
                  <a:gd name="T6" fmla="*/ 143 w 170"/>
                  <a:gd name="T7" fmla="*/ 83 h 116"/>
                  <a:gd name="T8" fmla="*/ 152 w 170"/>
                  <a:gd name="T9" fmla="*/ 69 h 116"/>
                  <a:gd name="T10" fmla="*/ 170 w 170"/>
                  <a:gd name="T11" fmla="*/ 110 h 116"/>
                  <a:gd name="T12" fmla="*/ 125 w 170"/>
                  <a:gd name="T13" fmla="*/ 116 h 116"/>
                  <a:gd name="T14" fmla="*/ 133 w 170"/>
                  <a:gd name="T15" fmla="*/ 102 h 116"/>
                  <a:gd name="T16" fmla="*/ 133 w 170"/>
                  <a:gd name="T17" fmla="*/ 10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116">
                    <a:moveTo>
                      <a:pt x="133" y="102"/>
                    </a:moveTo>
                    <a:lnTo>
                      <a:pt x="0" y="20"/>
                    </a:lnTo>
                    <a:lnTo>
                      <a:pt x="10" y="0"/>
                    </a:lnTo>
                    <a:lnTo>
                      <a:pt x="143" y="83"/>
                    </a:lnTo>
                    <a:lnTo>
                      <a:pt x="152" y="69"/>
                    </a:lnTo>
                    <a:lnTo>
                      <a:pt x="170" y="110"/>
                    </a:lnTo>
                    <a:lnTo>
                      <a:pt x="125" y="116"/>
                    </a:lnTo>
                    <a:lnTo>
                      <a:pt x="133" y="102"/>
                    </a:lnTo>
                    <a:lnTo>
                      <a:pt x="133" y="102"/>
                    </a:lnTo>
                    <a:close/>
                  </a:path>
                </a:pathLst>
              </a:custGeom>
              <a:solidFill>
                <a:srgbClr val="00B0F0"/>
              </a:solidFill>
              <a:ln w="9525">
                <a:noFill/>
                <a:round/>
                <a:headEnd/>
                <a:tailEnd/>
              </a:ln>
            </p:spPr>
            <p:txBody>
              <a:bodyPr vert="horz" wrap="square" lIns="91380" tIns="45690" rIns="91380" bIns="45690" numCol="1" anchor="t" anchorCtr="0" compatLnSpc="1">
                <a:prstTxWarp prst="textNoShape">
                  <a:avLst/>
                </a:prstTxWarp>
              </a:bodyPr>
              <a:lstStyle/>
              <a:p>
                <a:pPr defTabSz="914035" fontAlgn="base">
                  <a:spcBef>
                    <a:spcPct val="0"/>
                  </a:spcBef>
                  <a:spcAft>
                    <a:spcPct val="0"/>
                  </a:spcAft>
                  <a:defRPr/>
                </a:pPr>
                <a:endParaRPr lang="zh-CN" altLang="en-US" sz="2799"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254" name="组合 161">
            <a:extLst>
              <a:ext uri="{FF2B5EF4-FFF2-40B4-BE49-F238E27FC236}">
                <a16:creationId xmlns:a16="http://schemas.microsoft.com/office/drawing/2014/main" xmlns="" id="{452FDE3B-1A2D-48C8-BA13-EEB0E0FF09EA}"/>
              </a:ext>
            </a:extLst>
          </p:cNvPr>
          <p:cNvGrpSpPr/>
          <p:nvPr/>
        </p:nvGrpSpPr>
        <p:grpSpPr bwMode="gray">
          <a:xfrm>
            <a:off x="3794360" y="1148185"/>
            <a:ext cx="297796" cy="252314"/>
            <a:chOff x="1814513" y="2640013"/>
            <a:chExt cx="933450" cy="731837"/>
          </a:xfrm>
          <a:solidFill>
            <a:srgbClr val="0070C0">
              <a:lumMod val="60000"/>
              <a:lumOff val="40000"/>
            </a:srgbClr>
          </a:solidFill>
        </p:grpSpPr>
        <p:sp>
          <p:nvSpPr>
            <p:cNvPr id="255" name="Freeform 15">
              <a:extLst>
                <a:ext uri="{FF2B5EF4-FFF2-40B4-BE49-F238E27FC236}">
                  <a16:creationId xmlns:a16="http://schemas.microsoft.com/office/drawing/2014/main" xmlns="" id="{044577E1-644C-46A7-A174-4DCBD5A7E886}"/>
                </a:ext>
              </a:extLst>
            </p:cNvPr>
            <p:cNvSpPr>
              <a:spLocks noEditPoints="1"/>
            </p:cNvSpPr>
            <p:nvPr/>
          </p:nvSpPr>
          <p:spPr bwMode="gray">
            <a:xfrm>
              <a:off x="2289175" y="2824163"/>
              <a:ext cx="349250" cy="347663"/>
            </a:xfrm>
            <a:custGeom>
              <a:avLst/>
              <a:gdLst/>
              <a:ahLst/>
              <a:cxnLst>
                <a:cxn ang="0">
                  <a:pos x="336" y="2"/>
                </a:cxn>
                <a:cxn ang="0">
                  <a:pos x="316" y="63"/>
                </a:cxn>
                <a:cxn ang="0">
                  <a:pos x="288" y="86"/>
                </a:cxn>
                <a:cxn ang="0">
                  <a:pos x="245" y="42"/>
                </a:cxn>
                <a:cxn ang="0">
                  <a:pos x="156" y="68"/>
                </a:cxn>
                <a:cxn ang="0">
                  <a:pos x="169" y="131"/>
                </a:cxn>
                <a:cxn ang="0">
                  <a:pos x="156" y="165"/>
                </a:cxn>
                <a:cxn ang="0">
                  <a:pos x="97" y="151"/>
                </a:cxn>
                <a:cxn ang="0">
                  <a:pos x="33" y="217"/>
                </a:cxn>
                <a:cxn ang="0">
                  <a:pos x="75" y="264"/>
                </a:cxn>
                <a:cxn ang="0">
                  <a:pos x="83" y="300"/>
                </a:cxn>
                <a:cxn ang="0">
                  <a:pos x="23" y="316"/>
                </a:cxn>
                <a:cxn ang="0">
                  <a:pos x="0" y="371"/>
                </a:cxn>
                <a:cxn ang="0">
                  <a:pos x="23" y="426"/>
                </a:cxn>
                <a:cxn ang="0">
                  <a:pos x="83" y="442"/>
                </a:cxn>
                <a:cxn ang="0">
                  <a:pos x="75" y="478"/>
                </a:cxn>
                <a:cxn ang="0">
                  <a:pos x="33" y="524"/>
                </a:cxn>
                <a:cxn ang="0">
                  <a:pos x="97" y="591"/>
                </a:cxn>
                <a:cxn ang="0">
                  <a:pos x="156" y="576"/>
                </a:cxn>
                <a:cxn ang="0">
                  <a:pos x="169" y="611"/>
                </a:cxn>
                <a:cxn ang="0">
                  <a:pos x="156" y="673"/>
                </a:cxn>
                <a:cxn ang="0">
                  <a:pos x="245" y="699"/>
                </a:cxn>
                <a:cxn ang="0">
                  <a:pos x="288" y="656"/>
                </a:cxn>
                <a:cxn ang="0">
                  <a:pos x="316" y="679"/>
                </a:cxn>
                <a:cxn ang="0">
                  <a:pos x="336" y="740"/>
                </a:cxn>
                <a:cxn ang="0">
                  <a:pos x="405" y="740"/>
                </a:cxn>
                <a:cxn ang="0">
                  <a:pos x="426" y="679"/>
                </a:cxn>
                <a:cxn ang="0">
                  <a:pos x="453" y="656"/>
                </a:cxn>
                <a:cxn ang="0">
                  <a:pos x="497" y="699"/>
                </a:cxn>
                <a:cxn ang="0">
                  <a:pos x="585" y="673"/>
                </a:cxn>
                <a:cxn ang="0">
                  <a:pos x="572" y="611"/>
                </a:cxn>
                <a:cxn ang="0">
                  <a:pos x="585" y="576"/>
                </a:cxn>
                <a:cxn ang="0">
                  <a:pos x="644" y="591"/>
                </a:cxn>
                <a:cxn ang="0">
                  <a:pos x="708" y="524"/>
                </a:cxn>
                <a:cxn ang="0">
                  <a:pos x="666" y="478"/>
                </a:cxn>
                <a:cxn ang="0">
                  <a:pos x="659" y="442"/>
                </a:cxn>
                <a:cxn ang="0">
                  <a:pos x="718" y="426"/>
                </a:cxn>
                <a:cxn ang="0">
                  <a:pos x="741" y="371"/>
                </a:cxn>
                <a:cxn ang="0">
                  <a:pos x="718" y="316"/>
                </a:cxn>
                <a:cxn ang="0">
                  <a:pos x="659" y="300"/>
                </a:cxn>
                <a:cxn ang="0">
                  <a:pos x="666" y="264"/>
                </a:cxn>
                <a:cxn ang="0">
                  <a:pos x="708" y="217"/>
                </a:cxn>
                <a:cxn ang="0">
                  <a:pos x="644" y="151"/>
                </a:cxn>
                <a:cxn ang="0">
                  <a:pos x="585" y="165"/>
                </a:cxn>
                <a:cxn ang="0">
                  <a:pos x="572" y="131"/>
                </a:cxn>
                <a:cxn ang="0">
                  <a:pos x="585" y="68"/>
                </a:cxn>
                <a:cxn ang="0">
                  <a:pos x="497" y="42"/>
                </a:cxn>
                <a:cxn ang="0">
                  <a:pos x="453" y="86"/>
                </a:cxn>
                <a:cxn ang="0">
                  <a:pos x="426" y="63"/>
                </a:cxn>
                <a:cxn ang="0">
                  <a:pos x="405" y="2"/>
                </a:cxn>
                <a:cxn ang="0">
                  <a:pos x="371" y="174"/>
                </a:cxn>
                <a:cxn ang="0">
                  <a:pos x="371" y="568"/>
                </a:cxn>
                <a:cxn ang="0">
                  <a:pos x="371" y="174"/>
                </a:cxn>
              </a:cxnLst>
              <a:rect l="0" t="0" r="r" b="b"/>
              <a:pathLst>
                <a:path w="741" h="741">
                  <a:moveTo>
                    <a:pt x="371" y="0"/>
                  </a:moveTo>
                  <a:cubicBezTo>
                    <a:pt x="359" y="0"/>
                    <a:pt x="347" y="0"/>
                    <a:pt x="336" y="2"/>
                  </a:cubicBezTo>
                  <a:cubicBezTo>
                    <a:pt x="324" y="3"/>
                    <a:pt x="316" y="12"/>
                    <a:pt x="316" y="23"/>
                  </a:cubicBezTo>
                  <a:cubicBezTo>
                    <a:pt x="316" y="63"/>
                    <a:pt x="316" y="63"/>
                    <a:pt x="316" y="63"/>
                  </a:cubicBezTo>
                  <a:cubicBezTo>
                    <a:pt x="316" y="73"/>
                    <a:pt x="310" y="80"/>
                    <a:pt x="300" y="83"/>
                  </a:cubicBezTo>
                  <a:cubicBezTo>
                    <a:pt x="295" y="84"/>
                    <a:pt x="293" y="84"/>
                    <a:pt x="288" y="86"/>
                  </a:cubicBezTo>
                  <a:cubicBezTo>
                    <a:pt x="278" y="89"/>
                    <a:pt x="269" y="85"/>
                    <a:pt x="264" y="76"/>
                  </a:cubicBezTo>
                  <a:cubicBezTo>
                    <a:pt x="245" y="42"/>
                    <a:pt x="245" y="42"/>
                    <a:pt x="245" y="42"/>
                  </a:cubicBezTo>
                  <a:cubicBezTo>
                    <a:pt x="239" y="32"/>
                    <a:pt x="227" y="29"/>
                    <a:pt x="217" y="34"/>
                  </a:cubicBezTo>
                  <a:cubicBezTo>
                    <a:pt x="195" y="43"/>
                    <a:pt x="175" y="55"/>
                    <a:pt x="156" y="68"/>
                  </a:cubicBezTo>
                  <a:cubicBezTo>
                    <a:pt x="147" y="75"/>
                    <a:pt x="145" y="87"/>
                    <a:pt x="151" y="97"/>
                  </a:cubicBezTo>
                  <a:cubicBezTo>
                    <a:pt x="169" y="131"/>
                    <a:pt x="169" y="131"/>
                    <a:pt x="169" y="131"/>
                  </a:cubicBezTo>
                  <a:cubicBezTo>
                    <a:pt x="174" y="139"/>
                    <a:pt x="172" y="149"/>
                    <a:pt x="165" y="157"/>
                  </a:cubicBezTo>
                  <a:cubicBezTo>
                    <a:pt x="162" y="159"/>
                    <a:pt x="159" y="162"/>
                    <a:pt x="156" y="165"/>
                  </a:cubicBezTo>
                  <a:cubicBezTo>
                    <a:pt x="149" y="172"/>
                    <a:pt x="139" y="174"/>
                    <a:pt x="130" y="170"/>
                  </a:cubicBezTo>
                  <a:cubicBezTo>
                    <a:pt x="97" y="151"/>
                    <a:pt x="97" y="151"/>
                    <a:pt x="97" y="151"/>
                  </a:cubicBezTo>
                  <a:cubicBezTo>
                    <a:pt x="87" y="145"/>
                    <a:pt x="74" y="148"/>
                    <a:pt x="68" y="157"/>
                  </a:cubicBezTo>
                  <a:cubicBezTo>
                    <a:pt x="55" y="175"/>
                    <a:pt x="43" y="196"/>
                    <a:pt x="33" y="217"/>
                  </a:cubicBezTo>
                  <a:cubicBezTo>
                    <a:pt x="29" y="227"/>
                    <a:pt x="32" y="239"/>
                    <a:pt x="42" y="245"/>
                  </a:cubicBezTo>
                  <a:cubicBezTo>
                    <a:pt x="75" y="264"/>
                    <a:pt x="75" y="264"/>
                    <a:pt x="75" y="264"/>
                  </a:cubicBezTo>
                  <a:cubicBezTo>
                    <a:pt x="84" y="268"/>
                    <a:pt x="89" y="278"/>
                    <a:pt x="86" y="288"/>
                  </a:cubicBezTo>
                  <a:cubicBezTo>
                    <a:pt x="84" y="293"/>
                    <a:pt x="84" y="295"/>
                    <a:pt x="83" y="300"/>
                  </a:cubicBezTo>
                  <a:cubicBezTo>
                    <a:pt x="81" y="308"/>
                    <a:pt x="72" y="316"/>
                    <a:pt x="62" y="316"/>
                  </a:cubicBezTo>
                  <a:cubicBezTo>
                    <a:pt x="23" y="316"/>
                    <a:pt x="23" y="316"/>
                    <a:pt x="23" y="316"/>
                  </a:cubicBezTo>
                  <a:cubicBezTo>
                    <a:pt x="12" y="316"/>
                    <a:pt x="3" y="324"/>
                    <a:pt x="2" y="336"/>
                  </a:cubicBezTo>
                  <a:cubicBezTo>
                    <a:pt x="0" y="348"/>
                    <a:pt x="0" y="359"/>
                    <a:pt x="0" y="371"/>
                  </a:cubicBezTo>
                  <a:cubicBezTo>
                    <a:pt x="0" y="382"/>
                    <a:pt x="0" y="394"/>
                    <a:pt x="2" y="405"/>
                  </a:cubicBezTo>
                  <a:cubicBezTo>
                    <a:pt x="3" y="417"/>
                    <a:pt x="12" y="426"/>
                    <a:pt x="23" y="426"/>
                  </a:cubicBezTo>
                  <a:cubicBezTo>
                    <a:pt x="62" y="426"/>
                    <a:pt x="62" y="426"/>
                    <a:pt x="62" y="426"/>
                  </a:cubicBezTo>
                  <a:cubicBezTo>
                    <a:pt x="72" y="426"/>
                    <a:pt x="80" y="432"/>
                    <a:pt x="83" y="442"/>
                  </a:cubicBezTo>
                  <a:cubicBezTo>
                    <a:pt x="84" y="446"/>
                    <a:pt x="84" y="449"/>
                    <a:pt x="86" y="453"/>
                  </a:cubicBezTo>
                  <a:cubicBezTo>
                    <a:pt x="89" y="463"/>
                    <a:pt x="84" y="473"/>
                    <a:pt x="75" y="478"/>
                  </a:cubicBezTo>
                  <a:cubicBezTo>
                    <a:pt x="42" y="497"/>
                    <a:pt x="42" y="497"/>
                    <a:pt x="42" y="497"/>
                  </a:cubicBezTo>
                  <a:cubicBezTo>
                    <a:pt x="32" y="502"/>
                    <a:pt x="29" y="514"/>
                    <a:pt x="33" y="524"/>
                  </a:cubicBezTo>
                  <a:cubicBezTo>
                    <a:pt x="43" y="546"/>
                    <a:pt x="55" y="567"/>
                    <a:pt x="68" y="585"/>
                  </a:cubicBezTo>
                  <a:cubicBezTo>
                    <a:pt x="75" y="594"/>
                    <a:pt x="87" y="596"/>
                    <a:pt x="97" y="591"/>
                  </a:cubicBezTo>
                  <a:cubicBezTo>
                    <a:pt x="130" y="572"/>
                    <a:pt x="130" y="572"/>
                    <a:pt x="130" y="572"/>
                  </a:cubicBezTo>
                  <a:cubicBezTo>
                    <a:pt x="139" y="567"/>
                    <a:pt x="149" y="569"/>
                    <a:pt x="156" y="576"/>
                  </a:cubicBezTo>
                  <a:cubicBezTo>
                    <a:pt x="159" y="579"/>
                    <a:pt x="162" y="582"/>
                    <a:pt x="165" y="585"/>
                  </a:cubicBezTo>
                  <a:cubicBezTo>
                    <a:pt x="172" y="592"/>
                    <a:pt x="174" y="603"/>
                    <a:pt x="169" y="611"/>
                  </a:cubicBezTo>
                  <a:cubicBezTo>
                    <a:pt x="151" y="644"/>
                    <a:pt x="151" y="644"/>
                    <a:pt x="151" y="644"/>
                  </a:cubicBezTo>
                  <a:cubicBezTo>
                    <a:pt x="145" y="654"/>
                    <a:pt x="148" y="667"/>
                    <a:pt x="156" y="673"/>
                  </a:cubicBezTo>
                  <a:cubicBezTo>
                    <a:pt x="175" y="686"/>
                    <a:pt x="195" y="698"/>
                    <a:pt x="217" y="708"/>
                  </a:cubicBezTo>
                  <a:cubicBezTo>
                    <a:pt x="227" y="713"/>
                    <a:pt x="239" y="709"/>
                    <a:pt x="245" y="699"/>
                  </a:cubicBezTo>
                  <a:cubicBezTo>
                    <a:pt x="264" y="666"/>
                    <a:pt x="264" y="666"/>
                    <a:pt x="264" y="666"/>
                  </a:cubicBezTo>
                  <a:cubicBezTo>
                    <a:pt x="268" y="658"/>
                    <a:pt x="278" y="653"/>
                    <a:pt x="288" y="656"/>
                  </a:cubicBezTo>
                  <a:cubicBezTo>
                    <a:pt x="293" y="657"/>
                    <a:pt x="295" y="658"/>
                    <a:pt x="300" y="659"/>
                  </a:cubicBezTo>
                  <a:cubicBezTo>
                    <a:pt x="308" y="661"/>
                    <a:pt x="316" y="669"/>
                    <a:pt x="316" y="679"/>
                  </a:cubicBezTo>
                  <a:cubicBezTo>
                    <a:pt x="316" y="718"/>
                    <a:pt x="316" y="718"/>
                    <a:pt x="316" y="718"/>
                  </a:cubicBezTo>
                  <a:cubicBezTo>
                    <a:pt x="316" y="730"/>
                    <a:pt x="324" y="738"/>
                    <a:pt x="336" y="740"/>
                  </a:cubicBezTo>
                  <a:cubicBezTo>
                    <a:pt x="347" y="741"/>
                    <a:pt x="359" y="741"/>
                    <a:pt x="371" y="741"/>
                  </a:cubicBezTo>
                  <a:cubicBezTo>
                    <a:pt x="382" y="741"/>
                    <a:pt x="394" y="741"/>
                    <a:pt x="405" y="740"/>
                  </a:cubicBezTo>
                  <a:cubicBezTo>
                    <a:pt x="417" y="738"/>
                    <a:pt x="426" y="730"/>
                    <a:pt x="426" y="718"/>
                  </a:cubicBezTo>
                  <a:cubicBezTo>
                    <a:pt x="426" y="679"/>
                    <a:pt x="426" y="679"/>
                    <a:pt x="426" y="679"/>
                  </a:cubicBezTo>
                  <a:cubicBezTo>
                    <a:pt x="426" y="669"/>
                    <a:pt x="431" y="662"/>
                    <a:pt x="442" y="659"/>
                  </a:cubicBezTo>
                  <a:cubicBezTo>
                    <a:pt x="446" y="657"/>
                    <a:pt x="449" y="657"/>
                    <a:pt x="453" y="656"/>
                  </a:cubicBezTo>
                  <a:cubicBezTo>
                    <a:pt x="463" y="653"/>
                    <a:pt x="473" y="657"/>
                    <a:pt x="478" y="666"/>
                  </a:cubicBezTo>
                  <a:cubicBezTo>
                    <a:pt x="497" y="699"/>
                    <a:pt x="497" y="699"/>
                    <a:pt x="497" y="699"/>
                  </a:cubicBezTo>
                  <a:cubicBezTo>
                    <a:pt x="502" y="709"/>
                    <a:pt x="514" y="713"/>
                    <a:pt x="524" y="708"/>
                  </a:cubicBezTo>
                  <a:cubicBezTo>
                    <a:pt x="546" y="698"/>
                    <a:pt x="566" y="687"/>
                    <a:pt x="585" y="673"/>
                  </a:cubicBezTo>
                  <a:cubicBezTo>
                    <a:pt x="594" y="667"/>
                    <a:pt x="596" y="654"/>
                    <a:pt x="591" y="644"/>
                  </a:cubicBezTo>
                  <a:cubicBezTo>
                    <a:pt x="572" y="611"/>
                    <a:pt x="572" y="611"/>
                    <a:pt x="572" y="611"/>
                  </a:cubicBezTo>
                  <a:cubicBezTo>
                    <a:pt x="567" y="603"/>
                    <a:pt x="569" y="592"/>
                    <a:pt x="576" y="585"/>
                  </a:cubicBezTo>
                  <a:cubicBezTo>
                    <a:pt x="579" y="582"/>
                    <a:pt x="582" y="579"/>
                    <a:pt x="585" y="576"/>
                  </a:cubicBezTo>
                  <a:cubicBezTo>
                    <a:pt x="592" y="569"/>
                    <a:pt x="602" y="567"/>
                    <a:pt x="611" y="572"/>
                  </a:cubicBezTo>
                  <a:cubicBezTo>
                    <a:pt x="644" y="591"/>
                    <a:pt x="644" y="591"/>
                    <a:pt x="644" y="591"/>
                  </a:cubicBezTo>
                  <a:cubicBezTo>
                    <a:pt x="654" y="596"/>
                    <a:pt x="667" y="594"/>
                    <a:pt x="673" y="585"/>
                  </a:cubicBezTo>
                  <a:cubicBezTo>
                    <a:pt x="686" y="566"/>
                    <a:pt x="698" y="546"/>
                    <a:pt x="708" y="524"/>
                  </a:cubicBezTo>
                  <a:cubicBezTo>
                    <a:pt x="712" y="514"/>
                    <a:pt x="709" y="502"/>
                    <a:pt x="699" y="497"/>
                  </a:cubicBezTo>
                  <a:cubicBezTo>
                    <a:pt x="666" y="478"/>
                    <a:pt x="666" y="478"/>
                    <a:pt x="666" y="478"/>
                  </a:cubicBezTo>
                  <a:cubicBezTo>
                    <a:pt x="657" y="473"/>
                    <a:pt x="653" y="463"/>
                    <a:pt x="656" y="453"/>
                  </a:cubicBezTo>
                  <a:cubicBezTo>
                    <a:pt x="657" y="449"/>
                    <a:pt x="658" y="446"/>
                    <a:pt x="659" y="442"/>
                  </a:cubicBezTo>
                  <a:cubicBezTo>
                    <a:pt x="661" y="433"/>
                    <a:pt x="669" y="426"/>
                    <a:pt x="679" y="426"/>
                  </a:cubicBezTo>
                  <a:cubicBezTo>
                    <a:pt x="718" y="426"/>
                    <a:pt x="718" y="426"/>
                    <a:pt x="718" y="426"/>
                  </a:cubicBezTo>
                  <a:cubicBezTo>
                    <a:pt x="730" y="426"/>
                    <a:pt x="738" y="417"/>
                    <a:pt x="740" y="405"/>
                  </a:cubicBezTo>
                  <a:cubicBezTo>
                    <a:pt x="741" y="394"/>
                    <a:pt x="741" y="382"/>
                    <a:pt x="741" y="371"/>
                  </a:cubicBezTo>
                  <a:cubicBezTo>
                    <a:pt x="741" y="359"/>
                    <a:pt x="741" y="348"/>
                    <a:pt x="740" y="336"/>
                  </a:cubicBezTo>
                  <a:cubicBezTo>
                    <a:pt x="738" y="324"/>
                    <a:pt x="730" y="316"/>
                    <a:pt x="718" y="316"/>
                  </a:cubicBezTo>
                  <a:cubicBezTo>
                    <a:pt x="679" y="316"/>
                    <a:pt x="679" y="316"/>
                    <a:pt x="679" y="316"/>
                  </a:cubicBezTo>
                  <a:cubicBezTo>
                    <a:pt x="669" y="316"/>
                    <a:pt x="662" y="310"/>
                    <a:pt x="659" y="300"/>
                  </a:cubicBezTo>
                  <a:cubicBezTo>
                    <a:pt x="657" y="295"/>
                    <a:pt x="657" y="293"/>
                    <a:pt x="656" y="288"/>
                  </a:cubicBezTo>
                  <a:cubicBezTo>
                    <a:pt x="653" y="278"/>
                    <a:pt x="657" y="269"/>
                    <a:pt x="666" y="264"/>
                  </a:cubicBezTo>
                  <a:cubicBezTo>
                    <a:pt x="699" y="245"/>
                    <a:pt x="699" y="245"/>
                    <a:pt x="699" y="245"/>
                  </a:cubicBezTo>
                  <a:cubicBezTo>
                    <a:pt x="709" y="239"/>
                    <a:pt x="712" y="227"/>
                    <a:pt x="708" y="217"/>
                  </a:cubicBezTo>
                  <a:cubicBezTo>
                    <a:pt x="698" y="196"/>
                    <a:pt x="687" y="175"/>
                    <a:pt x="673" y="157"/>
                  </a:cubicBezTo>
                  <a:cubicBezTo>
                    <a:pt x="666" y="147"/>
                    <a:pt x="654" y="145"/>
                    <a:pt x="644" y="151"/>
                  </a:cubicBezTo>
                  <a:cubicBezTo>
                    <a:pt x="611" y="170"/>
                    <a:pt x="611" y="170"/>
                    <a:pt x="611" y="170"/>
                  </a:cubicBezTo>
                  <a:cubicBezTo>
                    <a:pt x="602" y="174"/>
                    <a:pt x="592" y="172"/>
                    <a:pt x="585" y="165"/>
                  </a:cubicBezTo>
                  <a:cubicBezTo>
                    <a:pt x="582" y="162"/>
                    <a:pt x="579" y="159"/>
                    <a:pt x="576" y="157"/>
                  </a:cubicBezTo>
                  <a:cubicBezTo>
                    <a:pt x="569" y="149"/>
                    <a:pt x="567" y="139"/>
                    <a:pt x="572" y="131"/>
                  </a:cubicBezTo>
                  <a:cubicBezTo>
                    <a:pt x="591" y="97"/>
                    <a:pt x="591" y="97"/>
                    <a:pt x="591" y="97"/>
                  </a:cubicBezTo>
                  <a:cubicBezTo>
                    <a:pt x="596" y="87"/>
                    <a:pt x="593" y="74"/>
                    <a:pt x="585" y="68"/>
                  </a:cubicBezTo>
                  <a:cubicBezTo>
                    <a:pt x="566" y="55"/>
                    <a:pt x="546" y="43"/>
                    <a:pt x="524" y="34"/>
                  </a:cubicBezTo>
                  <a:cubicBezTo>
                    <a:pt x="514" y="29"/>
                    <a:pt x="502" y="32"/>
                    <a:pt x="497" y="42"/>
                  </a:cubicBezTo>
                  <a:cubicBezTo>
                    <a:pt x="478" y="76"/>
                    <a:pt x="478" y="76"/>
                    <a:pt x="478" y="76"/>
                  </a:cubicBezTo>
                  <a:cubicBezTo>
                    <a:pt x="473" y="84"/>
                    <a:pt x="463" y="89"/>
                    <a:pt x="453" y="86"/>
                  </a:cubicBezTo>
                  <a:cubicBezTo>
                    <a:pt x="449" y="84"/>
                    <a:pt x="446" y="84"/>
                    <a:pt x="442" y="83"/>
                  </a:cubicBezTo>
                  <a:cubicBezTo>
                    <a:pt x="433" y="81"/>
                    <a:pt x="426" y="73"/>
                    <a:pt x="426" y="63"/>
                  </a:cubicBezTo>
                  <a:cubicBezTo>
                    <a:pt x="426" y="23"/>
                    <a:pt x="426" y="23"/>
                    <a:pt x="426" y="23"/>
                  </a:cubicBezTo>
                  <a:cubicBezTo>
                    <a:pt x="426" y="12"/>
                    <a:pt x="417" y="3"/>
                    <a:pt x="405" y="2"/>
                  </a:cubicBezTo>
                  <a:cubicBezTo>
                    <a:pt x="394" y="0"/>
                    <a:pt x="382" y="0"/>
                    <a:pt x="371" y="0"/>
                  </a:cubicBezTo>
                  <a:close/>
                  <a:moveTo>
                    <a:pt x="371" y="174"/>
                  </a:moveTo>
                  <a:cubicBezTo>
                    <a:pt x="479" y="174"/>
                    <a:pt x="567" y="262"/>
                    <a:pt x="567" y="371"/>
                  </a:cubicBezTo>
                  <a:cubicBezTo>
                    <a:pt x="567" y="479"/>
                    <a:pt x="479" y="568"/>
                    <a:pt x="371" y="568"/>
                  </a:cubicBezTo>
                  <a:cubicBezTo>
                    <a:pt x="262" y="568"/>
                    <a:pt x="174" y="479"/>
                    <a:pt x="174" y="371"/>
                  </a:cubicBezTo>
                  <a:cubicBezTo>
                    <a:pt x="174" y="262"/>
                    <a:pt x="262" y="174"/>
                    <a:pt x="371" y="174"/>
                  </a:cubicBezTo>
                  <a:close/>
                </a:path>
              </a:pathLst>
            </a:custGeom>
            <a:grpFill/>
            <a:ln>
              <a:noFill/>
            </a:ln>
            <a:effectLst/>
          </p:spPr>
          <p:txBody>
            <a:bodyPr vert="horz" wrap="square" lIns="91380" tIns="45690" rIns="91380" bIns="45690" numCol="1" rtlCol="0" anchor="t" anchorCtr="0" compatLnSpc="1">
              <a:prstTxWarp prst="textNoShape">
                <a:avLst/>
              </a:prstTxWarp>
            </a:bodyPr>
            <a:lstStyle/>
            <a:p>
              <a:pPr defTabSz="914035" fontAlgn="base">
                <a:spcBef>
                  <a:spcPct val="0"/>
                </a:spcBef>
                <a:spcAft>
                  <a:spcPct val="0"/>
                </a:spcAft>
                <a:buClr>
                  <a:srgbClr val="CC9900"/>
                </a:buClr>
                <a:buFont typeface="Wingdings" pitchFamily="2" charset="2"/>
                <a:buChar char="n"/>
                <a:defRPr/>
              </a:pPr>
              <a:endParaRPr lang="zh-CN" altLang="en-US"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6" name="Freeform 16">
              <a:extLst>
                <a:ext uri="{FF2B5EF4-FFF2-40B4-BE49-F238E27FC236}">
                  <a16:creationId xmlns:a16="http://schemas.microsoft.com/office/drawing/2014/main" xmlns="" id="{445D8845-8D99-4179-82F2-8B15428AF698}"/>
                </a:ext>
              </a:extLst>
            </p:cNvPr>
            <p:cNvSpPr>
              <a:spLocks/>
            </p:cNvSpPr>
            <p:nvPr/>
          </p:nvSpPr>
          <p:spPr bwMode="gray">
            <a:xfrm>
              <a:off x="2144713" y="3248025"/>
              <a:ext cx="273050" cy="93663"/>
            </a:xfrm>
            <a:custGeom>
              <a:avLst/>
              <a:gdLst/>
              <a:ahLst/>
              <a:cxnLst>
                <a:cxn ang="0">
                  <a:pos x="0" y="0"/>
                </a:cxn>
                <a:cxn ang="0">
                  <a:pos x="0" y="153"/>
                </a:cxn>
                <a:cxn ang="0">
                  <a:pos x="29" y="200"/>
                </a:cxn>
                <a:cxn ang="0">
                  <a:pos x="551" y="200"/>
                </a:cxn>
                <a:cxn ang="0">
                  <a:pos x="580" y="153"/>
                </a:cxn>
                <a:cxn ang="0">
                  <a:pos x="580" y="1"/>
                </a:cxn>
                <a:cxn ang="0">
                  <a:pos x="0" y="0"/>
                </a:cxn>
              </a:cxnLst>
              <a:rect l="0" t="0" r="r" b="b"/>
              <a:pathLst>
                <a:path w="580" h="200">
                  <a:moveTo>
                    <a:pt x="0" y="0"/>
                  </a:moveTo>
                  <a:cubicBezTo>
                    <a:pt x="0" y="153"/>
                    <a:pt x="0" y="153"/>
                    <a:pt x="0" y="153"/>
                  </a:cubicBezTo>
                  <a:cubicBezTo>
                    <a:pt x="0" y="179"/>
                    <a:pt x="13" y="200"/>
                    <a:pt x="29" y="200"/>
                  </a:cubicBezTo>
                  <a:cubicBezTo>
                    <a:pt x="551" y="200"/>
                    <a:pt x="551" y="200"/>
                    <a:pt x="551" y="200"/>
                  </a:cubicBezTo>
                  <a:cubicBezTo>
                    <a:pt x="567" y="200"/>
                    <a:pt x="580" y="179"/>
                    <a:pt x="580" y="153"/>
                  </a:cubicBezTo>
                  <a:cubicBezTo>
                    <a:pt x="580" y="1"/>
                    <a:pt x="580" y="1"/>
                    <a:pt x="580" y="1"/>
                  </a:cubicBezTo>
                  <a:cubicBezTo>
                    <a:pt x="387" y="1"/>
                    <a:pt x="193" y="1"/>
                    <a:pt x="0" y="0"/>
                  </a:cubicBezTo>
                  <a:close/>
                </a:path>
              </a:pathLst>
            </a:custGeom>
            <a:grpFill/>
            <a:ln>
              <a:noFill/>
            </a:ln>
            <a:effectLst/>
          </p:spPr>
          <p:txBody>
            <a:bodyPr vert="horz" wrap="square" lIns="91380" tIns="45690" rIns="91380" bIns="45690" numCol="1" rtlCol="0" anchor="t" anchorCtr="0" compatLnSpc="1">
              <a:prstTxWarp prst="textNoShape">
                <a:avLst/>
              </a:prstTxWarp>
            </a:bodyPr>
            <a:lstStyle/>
            <a:p>
              <a:pPr defTabSz="914035" fontAlgn="base">
                <a:spcBef>
                  <a:spcPct val="0"/>
                </a:spcBef>
                <a:spcAft>
                  <a:spcPct val="0"/>
                </a:spcAft>
                <a:buClr>
                  <a:srgbClr val="CC9900"/>
                </a:buClr>
                <a:buFont typeface="Wingdings" pitchFamily="2" charset="2"/>
                <a:buChar char="n"/>
                <a:defRPr/>
              </a:pPr>
              <a:endParaRPr lang="zh-CN" altLang="en-US"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7" name="Freeform 17">
              <a:extLst>
                <a:ext uri="{FF2B5EF4-FFF2-40B4-BE49-F238E27FC236}">
                  <a16:creationId xmlns:a16="http://schemas.microsoft.com/office/drawing/2014/main" xmlns="" id="{3827DF60-93C2-4953-B4A2-8B0CC67A59C5}"/>
                </a:ext>
              </a:extLst>
            </p:cNvPr>
            <p:cNvSpPr>
              <a:spLocks/>
            </p:cNvSpPr>
            <p:nvPr/>
          </p:nvSpPr>
          <p:spPr bwMode="gray">
            <a:xfrm>
              <a:off x="2058988" y="3321050"/>
              <a:ext cx="444500" cy="50800"/>
            </a:xfrm>
            <a:custGeom>
              <a:avLst/>
              <a:gdLst/>
              <a:ahLst/>
              <a:cxnLst>
                <a:cxn ang="0">
                  <a:pos x="64" y="0"/>
                </a:cxn>
                <a:cxn ang="0">
                  <a:pos x="0" y="53"/>
                </a:cxn>
                <a:cxn ang="0">
                  <a:pos x="64" y="106"/>
                </a:cxn>
                <a:cxn ang="0">
                  <a:pos x="884" y="106"/>
                </a:cxn>
                <a:cxn ang="0">
                  <a:pos x="948" y="53"/>
                </a:cxn>
                <a:cxn ang="0">
                  <a:pos x="884" y="0"/>
                </a:cxn>
                <a:cxn ang="0">
                  <a:pos x="64" y="0"/>
                </a:cxn>
              </a:cxnLst>
              <a:rect l="0" t="0" r="r" b="b"/>
              <a:pathLst>
                <a:path w="948" h="106">
                  <a:moveTo>
                    <a:pt x="64" y="0"/>
                  </a:moveTo>
                  <a:cubicBezTo>
                    <a:pt x="29" y="0"/>
                    <a:pt x="0" y="24"/>
                    <a:pt x="0" y="53"/>
                  </a:cubicBezTo>
                  <a:cubicBezTo>
                    <a:pt x="0" y="82"/>
                    <a:pt x="29" y="106"/>
                    <a:pt x="64" y="106"/>
                  </a:cubicBezTo>
                  <a:cubicBezTo>
                    <a:pt x="884" y="106"/>
                    <a:pt x="884" y="106"/>
                    <a:pt x="884" y="106"/>
                  </a:cubicBezTo>
                  <a:cubicBezTo>
                    <a:pt x="920" y="106"/>
                    <a:pt x="948" y="82"/>
                    <a:pt x="948" y="53"/>
                  </a:cubicBezTo>
                  <a:cubicBezTo>
                    <a:pt x="948" y="24"/>
                    <a:pt x="920" y="0"/>
                    <a:pt x="884" y="0"/>
                  </a:cubicBezTo>
                  <a:lnTo>
                    <a:pt x="64" y="0"/>
                  </a:lnTo>
                  <a:close/>
                </a:path>
              </a:pathLst>
            </a:custGeom>
            <a:grpFill/>
            <a:ln>
              <a:noFill/>
            </a:ln>
            <a:effectLst/>
          </p:spPr>
          <p:txBody>
            <a:bodyPr vert="horz" wrap="square" lIns="91380" tIns="45690" rIns="91380" bIns="45690" numCol="1" rtlCol="0" anchor="t" anchorCtr="0" compatLnSpc="1">
              <a:prstTxWarp prst="textNoShape">
                <a:avLst/>
              </a:prstTxWarp>
            </a:bodyPr>
            <a:lstStyle/>
            <a:p>
              <a:pPr defTabSz="914035" fontAlgn="base">
                <a:spcBef>
                  <a:spcPct val="0"/>
                </a:spcBef>
                <a:spcAft>
                  <a:spcPct val="0"/>
                </a:spcAft>
                <a:buClr>
                  <a:srgbClr val="CC9900"/>
                </a:buClr>
                <a:buFont typeface="Wingdings" pitchFamily="2" charset="2"/>
                <a:buChar char="n"/>
                <a:defRPr/>
              </a:pPr>
              <a:endParaRPr lang="zh-CN" altLang="en-US"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8" name="Freeform 18">
              <a:extLst>
                <a:ext uri="{FF2B5EF4-FFF2-40B4-BE49-F238E27FC236}">
                  <a16:creationId xmlns:a16="http://schemas.microsoft.com/office/drawing/2014/main" xmlns="" id="{4E85936B-B480-4FB3-B6BD-CD758A8C0EA8}"/>
                </a:ext>
              </a:extLst>
            </p:cNvPr>
            <p:cNvSpPr>
              <a:spLocks noEditPoints="1"/>
            </p:cNvSpPr>
            <p:nvPr/>
          </p:nvSpPr>
          <p:spPr bwMode="gray">
            <a:xfrm>
              <a:off x="1814513" y="2640013"/>
              <a:ext cx="933450" cy="596900"/>
            </a:xfrm>
            <a:custGeom>
              <a:avLst/>
              <a:gdLst/>
              <a:ahLst/>
              <a:cxnLst>
                <a:cxn ang="0">
                  <a:pos x="131" y="0"/>
                </a:cxn>
                <a:cxn ang="0">
                  <a:pos x="0" y="130"/>
                </a:cxn>
                <a:cxn ang="0">
                  <a:pos x="0" y="1138"/>
                </a:cxn>
                <a:cxn ang="0">
                  <a:pos x="131" y="1269"/>
                </a:cxn>
                <a:cxn ang="0">
                  <a:pos x="1853" y="1269"/>
                </a:cxn>
                <a:cxn ang="0">
                  <a:pos x="1984" y="1138"/>
                </a:cxn>
                <a:cxn ang="0">
                  <a:pos x="1984" y="130"/>
                </a:cxn>
                <a:cxn ang="0">
                  <a:pos x="1853" y="0"/>
                </a:cxn>
                <a:cxn ang="0">
                  <a:pos x="131" y="0"/>
                </a:cxn>
                <a:cxn ang="0">
                  <a:pos x="131" y="63"/>
                </a:cxn>
                <a:cxn ang="0">
                  <a:pos x="1853" y="63"/>
                </a:cxn>
                <a:cxn ang="0">
                  <a:pos x="1921" y="130"/>
                </a:cxn>
                <a:cxn ang="0">
                  <a:pos x="1921" y="1138"/>
                </a:cxn>
                <a:cxn ang="0">
                  <a:pos x="1853" y="1206"/>
                </a:cxn>
                <a:cxn ang="0">
                  <a:pos x="131" y="1206"/>
                </a:cxn>
                <a:cxn ang="0">
                  <a:pos x="64" y="1138"/>
                </a:cxn>
                <a:cxn ang="0">
                  <a:pos x="64" y="130"/>
                </a:cxn>
                <a:cxn ang="0">
                  <a:pos x="131" y="63"/>
                </a:cxn>
              </a:cxnLst>
              <a:rect l="0" t="0" r="r" b="b"/>
              <a:pathLst>
                <a:path w="1984" h="1269">
                  <a:moveTo>
                    <a:pt x="131" y="0"/>
                  </a:moveTo>
                  <a:cubicBezTo>
                    <a:pt x="59" y="0"/>
                    <a:pt x="0" y="58"/>
                    <a:pt x="0" y="130"/>
                  </a:cubicBezTo>
                  <a:cubicBezTo>
                    <a:pt x="0" y="1138"/>
                    <a:pt x="0" y="1138"/>
                    <a:pt x="0" y="1138"/>
                  </a:cubicBezTo>
                  <a:cubicBezTo>
                    <a:pt x="0" y="1210"/>
                    <a:pt x="59" y="1269"/>
                    <a:pt x="131" y="1269"/>
                  </a:cubicBezTo>
                  <a:cubicBezTo>
                    <a:pt x="1853" y="1269"/>
                    <a:pt x="1853" y="1269"/>
                    <a:pt x="1853" y="1269"/>
                  </a:cubicBezTo>
                  <a:cubicBezTo>
                    <a:pt x="1925" y="1269"/>
                    <a:pt x="1984" y="1210"/>
                    <a:pt x="1984" y="1138"/>
                  </a:cubicBezTo>
                  <a:cubicBezTo>
                    <a:pt x="1984" y="130"/>
                    <a:pt x="1984" y="130"/>
                    <a:pt x="1984" y="130"/>
                  </a:cubicBezTo>
                  <a:cubicBezTo>
                    <a:pt x="1984" y="58"/>
                    <a:pt x="1925" y="0"/>
                    <a:pt x="1853" y="0"/>
                  </a:cubicBezTo>
                  <a:cubicBezTo>
                    <a:pt x="131" y="0"/>
                    <a:pt x="131" y="0"/>
                    <a:pt x="131" y="0"/>
                  </a:cubicBezTo>
                  <a:close/>
                  <a:moveTo>
                    <a:pt x="131" y="63"/>
                  </a:moveTo>
                  <a:cubicBezTo>
                    <a:pt x="1853" y="63"/>
                    <a:pt x="1853" y="63"/>
                    <a:pt x="1853" y="63"/>
                  </a:cubicBezTo>
                  <a:cubicBezTo>
                    <a:pt x="1891" y="63"/>
                    <a:pt x="1921" y="93"/>
                    <a:pt x="1921" y="130"/>
                  </a:cubicBezTo>
                  <a:cubicBezTo>
                    <a:pt x="1921" y="1138"/>
                    <a:pt x="1921" y="1138"/>
                    <a:pt x="1921" y="1138"/>
                  </a:cubicBezTo>
                  <a:cubicBezTo>
                    <a:pt x="1921" y="1176"/>
                    <a:pt x="1891" y="1206"/>
                    <a:pt x="1853" y="1206"/>
                  </a:cubicBezTo>
                  <a:cubicBezTo>
                    <a:pt x="131" y="1206"/>
                    <a:pt x="131" y="1206"/>
                    <a:pt x="131" y="1206"/>
                  </a:cubicBezTo>
                  <a:cubicBezTo>
                    <a:pt x="93" y="1206"/>
                    <a:pt x="64" y="1176"/>
                    <a:pt x="64" y="1138"/>
                  </a:cubicBezTo>
                  <a:cubicBezTo>
                    <a:pt x="64" y="130"/>
                    <a:pt x="64" y="130"/>
                    <a:pt x="64" y="130"/>
                  </a:cubicBezTo>
                  <a:cubicBezTo>
                    <a:pt x="64" y="93"/>
                    <a:pt x="93" y="63"/>
                    <a:pt x="131" y="63"/>
                  </a:cubicBezTo>
                  <a:close/>
                </a:path>
              </a:pathLst>
            </a:custGeom>
            <a:grpFill/>
            <a:ln>
              <a:noFill/>
            </a:ln>
            <a:effectLst/>
          </p:spPr>
          <p:txBody>
            <a:bodyPr vert="horz" wrap="square" lIns="91380" tIns="45690" rIns="91380" bIns="45690" numCol="1" rtlCol="0" anchor="t" anchorCtr="0" compatLnSpc="1">
              <a:prstTxWarp prst="textNoShape">
                <a:avLst/>
              </a:prstTxWarp>
            </a:bodyPr>
            <a:lstStyle/>
            <a:p>
              <a:pPr defTabSz="914035" fontAlgn="base">
                <a:spcBef>
                  <a:spcPct val="0"/>
                </a:spcBef>
                <a:spcAft>
                  <a:spcPct val="0"/>
                </a:spcAft>
                <a:buClr>
                  <a:srgbClr val="CC9900"/>
                </a:buClr>
                <a:buFont typeface="Wingdings" pitchFamily="2" charset="2"/>
                <a:buChar char="n"/>
                <a:defRPr/>
              </a:pPr>
              <a:endParaRPr lang="zh-CN" altLang="en-US"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9" name="Freeform 19">
              <a:extLst>
                <a:ext uri="{FF2B5EF4-FFF2-40B4-BE49-F238E27FC236}">
                  <a16:creationId xmlns:a16="http://schemas.microsoft.com/office/drawing/2014/main" xmlns="" id="{17EA44FA-5C44-4B02-954F-EAE8DDAE3B4A}"/>
                </a:ext>
              </a:extLst>
            </p:cNvPr>
            <p:cNvSpPr>
              <a:spLocks/>
            </p:cNvSpPr>
            <p:nvPr/>
          </p:nvSpPr>
          <p:spPr bwMode="gray">
            <a:xfrm>
              <a:off x="2052638" y="2743200"/>
              <a:ext cx="96838" cy="374650"/>
            </a:xfrm>
            <a:custGeom>
              <a:avLst/>
              <a:gdLst/>
              <a:ahLst/>
              <a:cxnLst>
                <a:cxn ang="0">
                  <a:pos x="32" y="0"/>
                </a:cxn>
                <a:cxn ang="0">
                  <a:pos x="0" y="32"/>
                </a:cxn>
                <a:cxn ang="0">
                  <a:pos x="0" y="765"/>
                </a:cxn>
                <a:cxn ang="0">
                  <a:pos x="32" y="797"/>
                </a:cxn>
                <a:cxn ang="0">
                  <a:pos x="175" y="797"/>
                </a:cxn>
                <a:cxn ang="0">
                  <a:pos x="206" y="765"/>
                </a:cxn>
                <a:cxn ang="0">
                  <a:pos x="206" y="32"/>
                </a:cxn>
                <a:cxn ang="0">
                  <a:pos x="175" y="0"/>
                </a:cxn>
                <a:cxn ang="0">
                  <a:pos x="32" y="0"/>
                </a:cxn>
              </a:cxnLst>
              <a:rect l="0" t="0" r="r" b="b"/>
              <a:pathLst>
                <a:path w="206" h="797">
                  <a:moveTo>
                    <a:pt x="32" y="0"/>
                  </a:moveTo>
                  <a:cubicBezTo>
                    <a:pt x="15" y="0"/>
                    <a:pt x="0" y="15"/>
                    <a:pt x="0" y="32"/>
                  </a:cubicBezTo>
                  <a:cubicBezTo>
                    <a:pt x="0" y="765"/>
                    <a:pt x="0" y="765"/>
                    <a:pt x="0" y="765"/>
                  </a:cubicBezTo>
                  <a:cubicBezTo>
                    <a:pt x="0" y="782"/>
                    <a:pt x="15" y="797"/>
                    <a:pt x="32" y="797"/>
                  </a:cubicBezTo>
                  <a:cubicBezTo>
                    <a:pt x="175" y="797"/>
                    <a:pt x="175" y="797"/>
                    <a:pt x="175" y="797"/>
                  </a:cubicBezTo>
                  <a:cubicBezTo>
                    <a:pt x="191" y="797"/>
                    <a:pt x="206" y="782"/>
                    <a:pt x="206" y="765"/>
                  </a:cubicBezTo>
                  <a:cubicBezTo>
                    <a:pt x="206" y="32"/>
                    <a:pt x="206" y="32"/>
                    <a:pt x="206" y="32"/>
                  </a:cubicBezTo>
                  <a:cubicBezTo>
                    <a:pt x="206" y="15"/>
                    <a:pt x="191" y="0"/>
                    <a:pt x="175" y="0"/>
                  </a:cubicBezTo>
                  <a:lnTo>
                    <a:pt x="32" y="0"/>
                  </a:lnTo>
                  <a:close/>
                </a:path>
              </a:pathLst>
            </a:custGeom>
            <a:grpFill/>
            <a:ln>
              <a:noFill/>
            </a:ln>
            <a:effectLst/>
          </p:spPr>
          <p:txBody>
            <a:bodyPr vert="horz" wrap="square" lIns="91380" tIns="45690" rIns="91380" bIns="45690" numCol="1" rtlCol="0" anchor="t" anchorCtr="0" compatLnSpc="1">
              <a:prstTxWarp prst="textNoShape">
                <a:avLst/>
              </a:prstTxWarp>
            </a:bodyPr>
            <a:lstStyle/>
            <a:p>
              <a:pPr defTabSz="914035" fontAlgn="base">
                <a:spcBef>
                  <a:spcPct val="0"/>
                </a:spcBef>
                <a:spcAft>
                  <a:spcPct val="0"/>
                </a:spcAft>
                <a:buClr>
                  <a:srgbClr val="CC9900"/>
                </a:buClr>
                <a:buFont typeface="Wingdings" pitchFamily="2" charset="2"/>
                <a:buChar char="n"/>
                <a:defRPr/>
              </a:pPr>
              <a:endParaRPr lang="zh-CN" altLang="en-US"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0" name="Freeform 20">
              <a:extLst>
                <a:ext uri="{FF2B5EF4-FFF2-40B4-BE49-F238E27FC236}">
                  <a16:creationId xmlns:a16="http://schemas.microsoft.com/office/drawing/2014/main" xmlns="" id="{9CBF9039-F641-4F74-AB29-E2436D390357}"/>
                </a:ext>
              </a:extLst>
            </p:cNvPr>
            <p:cNvSpPr>
              <a:spLocks/>
            </p:cNvSpPr>
            <p:nvPr/>
          </p:nvSpPr>
          <p:spPr bwMode="gray">
            <a:xfrm>
              <a:off x="2179638" y="2774950"/>
              <a:ext cx="96838" cy="342900"/>
            </a:xfrm>
            <a:custGeom>
              <a:avLst/>
              <a:gdLst/>
              <a:ahLst/>
              <a:cxnLst>
                <a:cxn ang="0">
                  <a:pos x="32" y="0"/>
                </a:cxn>
                <a:cxn ang="0">
                  <a:pos x="0" y="32"/>
                </a:cxn>
                <a:cxn ang="0">
                  <a:pos x="0" y="699"/>
                </a:cxn>
                <a:cxn ang="0">
                  <a:pos x="32" y="731"/>
                </a:cxn>
                <a:cxn ang="0">
                  <a:pos x="175" y="731"/>
                </a:cxn>
                <a:cxn ang="0">
                  <a:pos x="207" y="699"/>
                </a:cxn>
                <a:cxn ang="0">
                  <a:pos x="207" y="32"/>
                </a:cxn>
                <a:cxn ang="0">
                  <a:pos x="175" y="0"/>
                </a:cxn>
                <a:cxn ang="0">
                  <a:pos x="32" y="0"/>
                </a:cxn>
              </a:cxnLst>
              <a:rect l="0" t="0" r="r" b="b"/>
              <a:pathLst>
                <a:path w="207" h="731">
                  <a:moveTo>
                    <a:pt x="32" y="0"/>
                  </a:moveTo>
                  <a:cubicBezTo>
                    <a:pt x="15" y="0"/>
                    <a:pt x="0" y="16"/>
                    <a:pt x="0" y="32"/>
                  </a:cubicBezTo>
                  <a:cubicBezTo>
                    <a:pt x="0" y="699"/>
                    <a:pt x="0" y="699"/>
                    <a:pt x="0" y="699"/>
                  </a:cubicBezTo>
                  <a:cubicBezTo>
                    <a:pt x="0" y="716"/>
                    <a:pt x="15" y="731"/>
                    <a:pt x="32" y="731"/>
                  </a:cubicBezTo>
                  <a:cubicBezTo>
                    <a:pt x="175" y="731"/>
                    <a:pt x="175" y="731"/>
                    <a:pt x="175" y="731"/>
                  </a:cubicBezTo>
                  <a:cubicBezTo>
                    <a:pt x="191" y="731"/>
                    <a:pt x="207" y="716"/>
                    <a:pt x="207" y="699"/>
                  </a:cubicBezTo>
                  <a:cubicBezTo>
                    <a:pt x="207" y="32"/>
                    <a:pt x="207" y="32"/>
                    <a:pt x="207" y="32"/>
                  </a:cubicBezTo>
                  <a:cubicBezTo>
                    <a:pt x="207" y="16"/>
                    <a:pt x="191" y="0"/>
                    <a:pt x="175" y="0"/>
                  </a:cubicBezTo>
                  <a:lnTo>
                    <a:pt x="32" y="0"/>
                  </a:lnTo>
                  <a:close/>
                </a:path>
              </a:pathLst>
            </a:custGeom>
            <a:grpFill/>
            <a:ln>
              <a:noFill/>
            </a:ln>
            <a:effectLst/>
          </p:spPr>
          <p:txBody>
            <a:bodyPr vert="horz" wrap="square" lIns="91380" tIns="45690" rIns="91380" bIns="45690" numCol="1" rtlCol="0" anchor="t" anchorCtr="0" compatLnSpc="1">
              <a:prstTxWarp prst="textNoShape">
                <a:avLst/>
              </a:prstTxWarp>
            </a:bodyPr>
            <a:lstStyle/>
            <a:p>
              <a:pPr defTabSz="914035" fontAlgn="base">
                <a:spcBef>
                  <a:spcPct val="0"/>
                </a:spcBef>
                <a:spcAft>
                  <a:spcPct val="0"/>
                </a:spcAft>
                <a:buClr>
                  <a:srgbClr val="CC9900"/>
                </a:buClr>
                <a:buFont typeface="Wingdings" pitchFamily="2" charset="2"/>
                <a:buChar char="n"/>
                <a:defRPr/>
              </a:pPr>
              <a:endParaRPr lang="zh-CN" altLang="en-US"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1" name="Freeform 21">
              <a:extLst>
                <a:ext uri="{FF2B5EF4-FFF2-40B4-BE49-F238E27FC236}">
                  <a16:creationId xmlns:a16="http://schemas.microsoft.com/office/drawing/2014/main" xmlns="" id="{6F394E3D-47F4-4BC5-9503-4ACFF3F742C4}"/>
                </a:ext>
              </a:extLst>
            </p:cNvPr>
            <p:cNvSpPr>
              <a:spLocks/>
            </p:cNvSpPr>
            <p:nvPr/>
          </p:nvSpPr>
          <p:spPr bwMode="gray">
            <a:xfrm>
              <a:off x="2306638" y="2733675"/>
              <a:ext cx="96838" cy="158750"/>
            </a:xfrm>
            <a:custGeom>
              <a:avLst/>
              <a:gdLst/>
              <a:ahLst/>
              <a:cxnLst>
                <a:cxn ang="0">
                  <a:pos x="32" y="0"/>
                </a:cxn>
                <a:cxn ang="0">
                  <a:pos x="0" y="32"/>
                </a:cxn>
                <a:cxn ang="0">
                  <a:pos x="0" y="338"/>
                </a:cxn>
                <a:cxn ang="0">
                  <a:pos x="94" y="240"/>
                </a:cxn>
                <a:cxn ang="0">
                  <a:pos x="105" y="232"/>
                </a:cxn>
                <a:cxn ang="0">
                  <a:pos x="118" y="223"/>
                </a:cxn>
                <a:cxn ang="0">
                  <a:pos x="126" y="219"/>
                </a:cxn>
                <a:cxn ang="0">
                  <a:pos x="130" y="216"/>
                </a:cxn>
                <a:cxn ang="0">
                  <a:pos x="134" y="214"/>
                </a:cxn>
                <a:cxn ang="0">
                  <a:pos x="146" y="207"/>
                </a:cxn>
                <a:cxn ang="0">
                  <a:pos x="147" y="206"/>
                </a:cxn>
                <a:cxn ang="0">
                  <a:pos x="161" y="199"/>
                </a:cxn>
                <a:cxn ang="0">
                  <a:pos x="207" y="180"/>
                </a:cxn>
                <a:cxn ang="0">
                  <a:pos x="207" y="32"/>
                </a:cxn>
                <a:cxn ang="0">
                  <a:pos x="175" y="0"/>
                </a:cxn>
                <a:cxn ang="0">
                  <a:pos x="32" y="0"/>
                </a:cxn>
              </a:cxnLst>
              <a:rect l="0" t="0" r="r" b="b"/>
              <a:pathLst>
                <a:path w="207" h="338">
                  <a:moveTo>
                    <a:pt x="32" y="0"/>
                  </a:moveTo>
                  <a:cubicBezTo>
                    <a:pt x="16" y="0"/>
                    <a:pt x="0" y="15"/>
                    <a:pt x="0" y="32"/>
                  </a:cubicBezTo>
                  <a:cubicBezTo>
                    <a:pt x="0" y="338"/>
                    <a:pt x="0" y="338"/>
                    <a:pt x="0" y="338"/>
                  </a:cubicBezTo>
                  <a:cubicBezTo>
                    <a:pt x="26" y="301"/>
                    <a:pt x="58" y="268"/>
                    <a:pt x="94" y="240"/>
                  </a:cubicBezTo>
                  <a:cubicBezTo>
                    <a:pt x="98" y="238"/>
                    <a:pt x="102" y="235"/>
                    <a:pt x="105" y="232"/>
                  </a:cubicBezTo>
                  <a:cubicBezTo>
                    <a:pt x="110" y="229"/>
                    <a:pt x="114" y="226"/>
                    <a:pt x="118" y="223"/>
                  </a:cubicBezTo>
                  <a:cubicBezTo>
                    <a:pt x="121" y="222"/>
                    <a:pt x="123" y="220"/>
                    <a:pt x="126" y="219"/>
                  </a:cubicBezTo>
                  <a:cubicBezTo>
                    <a:pt x="127" y="218"/>
                    <a:pt x="129" y="217"/>
                    <a:pt x="130" y="216"/>
                  </a:cubicBezTo>
                  <a:cubicBezTo>
                    <a:pt x="132" y="215"/>
                    <a:pt x="133" y="214"/>
                    <a:pt x="134" y="214"/>
                  </a:cubicBezTo>
                  <a:cubicBezTo>
                    <a:pt x="138" y="211"/>
                    <a:pt x="142" y="209"/>
                    <a:pt x="146" y="207"/>
                  </a:cubicBezTo>
                  <a:cubicBezTo>
                    <a:pt x="146" y="207"/>
                    <a:pt x="147" y="206"/>
                    <a:pt x="147" y="206"/>
                  </a:cubicBezTo>
                  <a:cubicBezTo>
                    <a:pt x="151" y="204"/>
                    <a:pt x="156" y="201"/>
                    <a:pt x="161" y="199"/>
                  </a:cubicBezTo>
                  <a:cubicBezTo>
                    <a:pt x="176" y="192"/>
                    <a:pt x="191" y="185"/>
                    <a:pt x="207" y="180"/>
                  </a:cubicBezTo>
                  <a:cubicBezTo>
                    <a:pt x="207" y="32"/>
                    <a:pt x="207" y="32"/>
                    <a:pt x="207" y="32"/>
                  </a:cubicBezTo>
                  <a:cubicBezTo>
                    <a:pt x="207" y="15"/>
                    <a:pt x="192" y="0"/>
                    <a:pt x="175" y="0"/>
                  </a:cubicBezTo>
                  <a:lnTo>
                    <a:pt x="32" y="0"/>
                  </a:lnTo>
                  <a:close/>
                </a:path>
              </a:pathLst>
            </a:custGeom>
            <a:grpFill/>
            <a:ln>
              <a:noFill/>
            </a:ln>
            <a:effectLst/>
          </p:spPr>
          <p:txBody>
            <a:bodyPr vert="horz" wrap="square" lIns="91380" tIns="45690" rIns="91380" bIns="45690" numCol="1" rtlCol="0" anchor="t" anchorCtr="0" compatLnSpc="1">
              <a:prstTxWarp prst="textNoShape">
                <a:avLst/>
              </a:prstTxWarp>
            </a:bodyPr>
            <a:lstStyle/>
            <a:p>
              <a:pPr defTabSz="914035" fontAlgn="base">
                <a:spcBef>
                  <a:spcPct val="0"/>
                </a:spcBef>
                <a:spcAft>
                  <a:spcPct val="0"/>
                </a:spcAft>
                <a:buClr>
                  <a:srgbClr val="CC9900"/>
                </a:buClr>
                <a:buFont typeface="Wingdings" pitchFamily="2" charset="2"/>
                <a:buChar char="n"/>
                <a:defRPr/>
              </a:pPr>
              <a:endParaRPr lang="zh-CN" altLang="en-US"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2" name="Freeform 22">
              <a:extLst>
                <a:ext uri="{FF2B5EF4-FFF2-40B4-BE49-F238E27FC236}">
                  <a16:creationId xmlns:a16="http://schemas.microsoft.com/office/drawing/2014/main" xmlns="" id="{AF9F9228-8E3F-45A3-8148-2777D0B72F7F}"/>
                </a:ext>
              </a:extLst>
            </p:cNvPr>
            <p:cNvSpPr>
              <a:spLocks/>
            </p:cNvSpPr>
            <p:nvPr/>
          </p:nvSpPr>
          <p:spPr bwMode="gray">
            <a:xfrm>
              <a:off x="1924050" y="2868613"/>
              <a:ext cx="96838" cy="249238"/>
            </a:xfrm>
            <a:custGeom>
              <a:avLst/>
              <a:gdLst/>
              <a:ahLst/>
              <a:cxnLst>
                <a:cxn ang="0">
                  <a:pos x="32" y="0"/>
                </a:cxn>
                <a:cxn ang="0">
                  <a:pos x="0" y="32"/>
                </a:cxn>
                <a:cxn ang="0">
                  <a:pos x="0" y="498"/>
                </a:cxn>
                <a:cxn ang="0">
                  <a:pos x="32" y="530"/>
                </a:cxn>
                <a:cxn ang="0">
                  <a:pos x="175" y="530"/>
                </a:cxn>
                <a:cxn ang="0">
                  <a:pos x="206" y="498"/>
                </a:cxn>
                <a:cxn ang="0">
                  <a:pos x="206" y="32"/>
                </a:cxn>
                <a:cxn ang="0">
                  <a:pos x="175" y="0"/>
                </a:cxn>
                <a:cxn ang="0">
                  <a:pos x="32" y="0"/>
                </a:cxn>
              </a:cxnLst>
              <a:rect l="0" t="0" r="r" b="b"/>
              <a:pathLst>
                <a:path w="206" h="530">
                  <a:moveTo>
                    <a:pt x="32" y="0"/>
                  </a:moveTo>
                  <a:cubicBezTo>
                    <a:pt x="15" y="0"/>
                    <a:pt x="0" y="15"/>
                    <a:pt x="0" y="32"/>
                  </a:cubicBezTo>
                  <a:cubicBezTo>
                    <a:pt x="0" y="498"/>
                    <a:pt x="0" y="498"/>
                    <a:pt x="0" y="498"/>
                  </a:cubicBezTo>
                  <a:cubicBezTo>
                    <a:pt x="0" y="515"/>
                    <a:pt x="15" y="530"/>
                    <a:pt x="32" y="530"/>
                  </a:cubicBezTo>
                  <a:cubicBezTo>
                    <a:pt x="175" y="530"/>
                    <a:pt x="175" y="530"/>
                    <a:pt x="175" y="530"/>
                  </a:cubicBezTo>
                  <a:cubicBezTo>
                    <a:pt x="191" y="530"/>
                    <a:pt x="206" y="515"/>
                    <a:pt x="206" y="498"/>
                  </a:cubicBezTo>
                  <a:cubicBezTo>
                    <a:pt x="206" y="32"/>
                    <a:pt x="206" y="32"/>
                    <a:pt x="206" y="32"/>
                  </a:cubicBezTo>
                  <a:cubicBezTo>
                    <a:pt x="206" y="15"/>
                    <a:pt x="191" y="0"/>
                    <a:pt x="175" y="0"/>
                  </a:cubicBezTo>
                  <a:lnTo>
                    <a:pt x="32" y="0"/>
                  </a:lnTo>
                  <a:close/>
                </a:path>
              </a:pathLst>
            </a:custGeom>
            <a:grpFill/>
            <a:ln>
              <a:noFill/>
            </a:ln>
            <a:effectLst/>
          </p:spPr>
          <p:txBody>
            <a:bodyPr vert="horz" wrap="square" lIns="91380" tIns="45690" rIns="91380" bIns="45690" numCol="1" rtlCol="0" anchor="t" anchorCtr="0" compatLnSpc="1">
              <a:prstTxWarp prst="textNoShape">
                <a:avLst/>
              </a:prstTxWarp>
            </a:bodyPr>
            <a:lstStyle/>
            <a:p>
              <a:pPr defTabSz="914035" fontAlgn="base">
                <a:spcBef>
                  <a:spcPct val="0"/>
                </a:spcBef>
                <a:spcAft>
                  <a:spcPct val="0"/>
                </a:spcAft>
                <a:buClr>
                  <a:srgbClr val="CC9900"/>
                </a:buClr>
                <a:buFont typeface="Wingdings" pitchFamily="2" charset="2"/>
                <a:buChar char="n"/>
                <a:defRPr/>
              </a:pPr>
              <a:endParaRPr lang="zh-CN" altLang="en-US"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3" name="Freeform 23">
              <a:extLst>
                <a:ext uri="{FF2B5EF4-FFF2-40B4-BE49-F238E27FC236}">
                  <a16:creationId xmlns:a16="http://schemas.microsoft.com/office/drawing/2014/main" xmlns="" id="{984AE27F-1474-4160-A0AC-816364AE131E}"/>
                </a:ext>
              </a:extLst>
            </p:cNvPr>
            <p:cNvSpPr>
              <a:spLocks/>
            </p:cNvSpPr>
            <p:nvPr/>
          </p:nvSpPr>
          <p:spPr bwMode="gray">
            <a:xfrm>
              <a:off x="2436813" y="2705100"/>
              <a:ext cx="96838" cy="117475"/>
            </a:xfrm>
            <a:custGeom>
              <a:avLst/>
              <a:gdLst/>
              <a:ahLst/>
              <a:cxnLst>
                <a:cxn ang="0">
                  <a:pos x="32" y="0"/>
                </a:cxn>
                <a:cxn ang="0">
                  <a:pos x="0" y="32"/>
                </a:cxn>
                <a:cxn ang="0">
                  <a:pos x="0" y="226"/>
                </a:cxn>
                <a:cxn ang="0">
                  <a:pos x="55" y="222"/>
                </a:cxn>
                <a:cxn ang="0">
                  <a:pos x="68" y="222"/>
                </a:cxn>
                <a:cxn ang="0">
                  <a:pos x="206" y="251"/>
                </a:cxn>
                <a:cxn ang="0">
                  <a:pos x="206" y="32"/>
                </a:cxn>
                <a:cxn ang="0">
                  <a:pos x="175" y="0"/>
                </a:cxn>
                <a:cxn ang="0">
                  <a:pos x="32" y="0"/>
                </a:cxn>
              </a:cxnLst>
              <a:rect l="0" t="0" r="r" b="b"/>
              <a:pathLst>
                <a:path w="206" h="251">
                  <a:moveTo>
                    <a:pt x="32" y="0"/>
                  </a:moveTo>
                  <a:cubicBezTo>
                    <a:pt x="15" y="0"/>
                    <a:pt x="0" y="15"/>
                    <a:pt x="0" y="32"/>
                  </a:cubicBezTo>
                  <a:cubicBezTo>
                    <a:pt x="0" y="226"/>
                    <a:pt x="0" y="226"/>
                    <a:pt x="0" y="226"/>
                  </a:cubicBezTo>
                  <a:cubicBezTo>
                    <a:pt x="18" y="223"/>
                    <a:pt x="37" y="222"/>
                    <a:pt x="55" y="222"/>
                  </a:cubicBezTo>
                  <a:cubicBezTo>
                    <a:pt x="59" y="222"/>
                    <a:pt x="63" y="222"/>
                    <a:pt x="68" y="222"/>
                  </a:cubicBezTo>
                  <a:cubicBezTo>
                    <a:pt x="115" y="223"/>
                    <a:pt x="163" y="233"/>
                    <a:pt x="206" y="251"/>
                  </a:cubicBezTo>
                  <a:cubicBezTo>
                    <a:pt x="206" y="32"/>
                    <a:pt x="206" y="32"/>
                    <a:pt x="206" y="32"/>
                  </a:cubicBezTo>
                  <a:cubicBezTo>
                    <a:pt x="206" y="15"/>
                    <a:pt x="191" y="0"/>
                    <a:pt x="175" y="0"/>
                  </a:cubicBezTo>
                  <a:cubicBezTo>
                    <a:pt x="32" y="0"/>
                    <a:pt x="32" y="0"/>
                    <a:pt x="32" y="0"/>
                  </a:cubicBezTo>
                  <a:close/>
                </a:path>
              </a:pathLst>
            </a:custGeom>
            <a:grpFill/>
            <a:ln>
              <a:noFill/>
            </a:ln>
            <a:effectLst/>
          </p:spPr>
          <p:txBody>
            <a:bodyPr vert="horz" wrap="square" lIns="91380" tIns="45690" rIns="91380" bIns="45690" numCol="1" rtlCol="0" anchor="t" anchorCtr="0" compatLnSpc="1">
              <a:prstTxWarp prst="textNoShape">
                <a:avLst/>
              </a:prstTxWarp>
            </a:bodyPr>
            <a:lstStyle/>
            <a:p>
              <a:pPr defTabSz="914035" fontAlgn="base">
                <a:spcBef>
                  <a:spcPct val="0"/>
                </a:spcBef>
                <a:spcAft>
                  <a:spcPct val="0"/>
                </a:spcAft>
                <a:buClr>
                  <a:srgbClr val="CC9900"/>
                </a:buClr>
                <a:buFont typeface="Wingdings" pitchFamily="2" charset="2"/>
                <a:buChar char="n"/>
                <a:defRPr/>
              </a:pPr>
              <a:endParaRPr lang="zh-CN" altLang="en-US"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64" name="弧形 263">
            <a:extLst>
              <a:ext uri="{FF2B5EF4-FFF2-40B4-BE49-F238E27FC236}">
                <a16:creationId xmlns:a16="http://schemas.microsoft.com/office/drawing/2014/main" xmlns="" id="{6E9AA135-89B7-49A5-81F5-985444BC7118}"/>
              </a:ext>
            </a:extLst>
          </p:cNvPr>
          <p:cNvSpPr>
            <a:spLocks noChangeAspect="1"/>
          </p:cNvSpPr>
          <p:nvPr/>
        </p:nvSpPr>
        <p:spPr bwMode="gray">
          <a:xfrm>
            <a:off x="3957280" y="1211127"/>
            <a:ext cx="550585" cy="550585"/>
          </a:xfrm>
          <a:prstGeom prst="arc">
            <a:avLst>
              <a:gd name="adj1" fmla="val 14445679"/>
              <a:gd name="adj2" fmla="val 10762572"/>
            </a:avLst>
          </a:prstGeom>
          <a:noFill/>
          <a:ln w="12700" cap="rnd" cmpd="sng" algn="ctr">
            <a:solidFill>
              <a:srgbClr val="00B0F0"/>
            </a:solidFill>
            <a:prstDash val="solid"/>
            <a:miter lim="800000"/>
            <a:tailEnd type="oval" w="sm" len="sm"/>
          </a:ln>
          <a:effectLst/>
        </p:spPr>
        <p:txBody>
          <a:bodyPr lIns="91400" tIns="45700" rIns="91400" bIns="45700" rtlCol="0" anchor="ctr"/>
          <a:lstStyle/>
          <a:p>
            <a:pPr algn="ctr" defTabSz="456856" fontAlgn="ctr">
              <a:defRPr/>
            </a:pPr>
            <a:endParaRPr lang="en-US" altLang="zh-CN"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5" name="弧形 264">
            <a:extLst>
              <a:ext uri="{FF2B5EF4-FFF2-40B4-BE49-F238E27FC236}">
                <a16:creationId xmlns:a16="http://schemas.microsoft.com/office/drawing/2014/main" xmlns="" id="{151DC4A9-CE80-4261-8826-E256D6F6E578}"/>
              </a:ext>
            </a:extLst>
          </p:cNvPr>
          <p:cNvSpPr>
            <a:spLocks noChangeAspect="1"/>
          </p:cNvSpPr>
          <p:nvPr/>
        </p:nvSpPr>
        <p:spPr bwMode="gray">
          <a:xfrm>
            <a:off x="4906577" y="1212032"/>
            <a:ext cx="550585" cy="550585"/>
          </a:xfrm>
          <a:prstGeom prst="arc">
            <a:avLst>
              <a:gd name="adj1" fmla="val 14445679"/>
              <a:gd name="adj2" fmla="val 10762572"/>
            </a:avLst>
          </a:prstGeom>
          <a:noFill/>
          <a:ln w="12700" cap="rnd" cmpd="sng" algn="ctr">
            <a:solidFill>
              <a:srgbClr val="00B0F0"/>
            </a:solidFill>
            <a:prstDash val="solid"/>
            <a:miter lim="800000"/>
            <a:tailEnd type="oval" w="sm" len="sm"/>
          </a:ln>
          <a:effectLst/>
        </p:spPr>
        <p:txBody>
          <a:bodyPr lIns="91400" tIns="45700" rIns="91400" bIns="45700" rtlCol="0" anchor="ctr"/>
          <a:lstStyle/>
          <a:p>
            <a:pPr algn="ctr" defTabSz="456856" fontAlgn="ctr">
              <a:defRPr/>
            </a:pPr>
            <a:endParaRPr lang="en-US" altLang="zh-CN" sz="1500"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6" name="Freeform 14">
            <a:extLst>
              <a:ext uri="{FF2B5EF4-FFF2-40B4-BE49-F238E27FC236}">
                <a16:creationId xmlns:a16="http://schemas.microsoft.com/office/drawing/2014/main" xmlns="" id="{12243DEE-1350-427F-A2E4-66619D7FB3DE}"/>
              </a:ext>
            </a:extLst>
          </p:cNvPr>
          <p:cNvSpPr>
            <a:spLocks noEditPoints="1"/>
          </p:cNvSpPr>
          <p:nvPr/>
        </p:nvSpPr>
        <p:spPr bwMode="gray">
          <a:xfrm>
            <a:off x="4726682" y="1146210"/>
            <a:ext cx="309896" cy="258071"/>
          </a:xfrm>
          <a:custGeom>
            <a:avLst/>
            <a:gdLst/>
            <a:ahLst/>
            <a:cxnLst>
              <a:cxn ang="0">
                <a:pos x="398" y="176"/>
              </a:cxn>
              <a:cxn ang="0">
                <a:pos x="174" y="400"/>
              </a:cxn>
              <a:cxn ang="0">
                <a:pos x="154" y="176"/>
              </a:cxn>
              <a:cxn ang="0">
                <a:pos x="422" y="200"/>
              </a:cxn>
              <a:cxn ang="0">
                <a:pos x="442" y="424"/>
              </a:cxn>
              <a:cxn ang="0">
                <a:pos x="210" y="442"/>
              </a:cxn>
              <a:cxn ang="0">
                <a:pos x="386" y="418"/>
              </a:cxn>
              <a:cxn ang="0">
                <a:pos x="416" y="380"/>
              </a:cxn>
              <a:cxn ang="0">
                <a:pos x="352" y="18"/>
              </a:cxn>
              <a:cxn ang="0">
                <a:pos x="446" y="110"/>
              </a:cxn>
              <a:cxn ang="0">
                <a:pos x="524" y="134"/>
              </a:cxn>
              <a:cxn ang="0">
                <a:pos x="580" y="208"/>
              </a:cxn>
              <a:cxn ang="0">
                <a:pos x="572" y="310"/>
              </a:cxn>
              <a:cxn ang="0">
                <a:pos x="502" y="264"/>
              </a:cxn>
              <a:cxn ang="0">
                <a:pos x="472" y="226"/>
              </a:cxn>
              <a:cxn ang="0">
                <a:pos x="454" y="198"/>
              </a:cxn>
              <a:cxn ang="0">
                <a:pos x="416" y="176"/>
              </a:cxn>
              <a:cxn ang="0">
                <a:pos x="392" y="140"/>
              </a:cxn>
              <a:cxn ang="0">
                <a:pos x="152" y="144"/>
              </a:cxn>
              <a:cxn ang="0">
                <a:pos x="136" y="380"/>
              </a:cxn>
              <a:cxn ang="0">
                <a:pos x="50" y="370"/>
              </a:cxn>
              <a:cxn ang="0">
                <a:pos x="0" y="274"/>
              </a:cxn>
              <a:cxn ang="0">
                <a:pos x="76" y="164"/>
              </a:cxn>
              <a:cxn ang="0">
                <a:pos x="124" y="82"/>
              </a:cxn>
              <a:cxn ang="0">
                <a:pos x="210" y="12"/>
              </a:cxn>
              <a:cxn ang="0">
                <a:pos x="464" y="244"/>
              </a:cxn>
              <a:cxn ang="0">
                <a:pos x="484" y="468"/>
              </a:cxn>
              <a:cxn ang="0">
                <a:pos x="252" y="486"/>
              </a:cxn>
              <a:cxn ang="0">
                <a:pos x="428" y="462"/>
              </a:cxn>
              <a:cxn ang="0">
                <a:pos x="460" y="424"/>
              </a:cxn>
              <a:cxn ang="0">
                <a:pos x="182" y="306"/>
              </a:cxn>
              <a:cxn ang="0">
                <a:pos x="200" y="244"/>
              </a:cxn>
              <a:cxn ang="0">
                <a:pos x="250" y="256"/>
              </a:cxn>
              <a:cxn ang="0">
                <a:pos x="272" y="248"/>
              </a:cxn>
              <a:cxn ang="0">
                <a:pos x="278" y="300"/>
              </a:cxn>
              <a:cxn ang="0">
                <a:pos x="250" y="300"/>
              </a:cxn>
              <a:cxn ang="0">
                <a:pos x="250" y="284"/>
              </a:cxn>
              <a:cxn ang="0">
                <a:pos x="268" y="292"/>
              </a:cxn>
              <a:cxn ang="0">
                <a:pos x="268" y="264"/>
              </a:cxn>
              <a:cxn ang="0">
                <a:pos x="250" y="268"/>
              </a:cxn>
              <a:cxn ang="0">
                <a:pos x="304" y="252"/>
              </a:cxn>
              <a:cxn ang="0">
                <a:pos x="330" y="254"/>
              </a:cxn>
              <a:cxn ang="0">
                <a:pos x="330" y="300"/>
              </a:cxn>
              <a:cxn ang="0">
                <a:pos x="302" y="328"/>
              </a:cxn>
              <a:cxn ang="0">
                <a:pos x="306" y="290"/>
              </a:cxn>
              <a:cxn ang="0">
                <a:pos x="320" y="292"/>
              </a:cxn>
              <a:cxn ang="0">
                <a:pos x="318" y="260"/>
              </a:cxn>
              <a:cxn ang="0">
                <a:pos x="302" y="276"/>
              </a:cxn>
              <a:cxn ang="0">
                <a:pos x="358" y="296"/>
              </a:cxn>
              <a:cxn ang="0">
                <a:pos x="370" y="290"/>
              </a:cxn>
              <a:cxn ang="0">
                <a:pos x="346" y="278"/>
              </a:cxn>
              <a:cxn ang="0">
                <a:pos x="352" y="248"/>
              </a:cxn>
              <a:cxn ang="0">
                <a:pos x="382" y="262"/>
              </a:cxn>
              <a:cxn ang="0">
                <a:pos x="354" y="260"/>
              </a:cxn>
              <a:cxn ang="0">
                <a:pos x="374" y="274"/>
              </a:cxn>
              <a:cxn ang="0">
                <a:pos x="378" y="302"/>
              </a:cxn>
              <a:cxn ang="0">
                <a:pos x="346" y="304"/>
              </a:cxn>
            </a:cxnLst>
            <a:rect l="0" t="0" r="r" b="b"/>
            <a:pathLst>
              <a:path w="586" h="488">
                <a:moveTo>
                  <a:pt x="174" y="154"/>
                </a:moveTo>
                <a:lnTo>
                  <a:pt x="378" y="154"/>
                </a:lnTo>
                <a:lnTo>
                  <a:pt x="378" y="154"/>
                </a:lnTo>
                <a:lnTo>
                  <a:pt x="386" y="156"/>
                </a:lnTo>
                <a:lnTo>
                  <a:pt x="392" y="160"/>
                </a:lnTo>
                <a:lnTo>
                  <a:pt x="396" y="168"/>
                </a:lnTo>
                <a:lnTo>
                  <a:pt x="398" y="176"/>
                </a:lnTo>
                <a:lnTo>
                  <a:pt x="398" y="380"/>
                </a:lnTo>
                <a:lnTo>
                  <a:pt x="398" y="380"/>
                </a:lnTo>
                <a:lnTo>
                  <a:pt x="396" y="388"/>
                </a:lnTo>
                <a:lnTo>
                  <a:pt x="392" y="394"/>
                </a:lnTo>
                <a:lnTo>
                  <a:pt x="386" y="398"/>
                </a:lnTo>
                <a:lnTo>
                  <a:pt x="378" y="400"/>
                </a:lnTo>
                <a:lnTo>
                  <a:pt x="174" y="400"/>
                </a:lnTo>
                <a:lnTo>
                  <a:pt x="174" y="400"/>
                </a:lnTo>
                <a:lnTo>
                  <a:pt x="166" y="398"/>
                </a:lnTo>
                <a:lnTo>
                  <a:pt x="160" y="394"/>
                </a:lnTo>
                <a:lnTo>
                  <a:pt x="156" y="388"/>
                </a:lnTo>
                <a:lnTo>
                  <a:pt x="154" y="380"/>
                </a:lnTo>
                <a:lnTo>
                  <a:pt x="154" y="176"/>
                </a:lnTo>
                <a:lnTo>
                  <a:pt x="154" y="176"/>
                </a:lnTo>
                <a:lnTo>
                  <a:pt x="156" y="168"/>
                </a:lnTo>
                <a:lnTo>
                  <a:pt x="160" y="160"/>
                </a:lnTo>
                <a:lnTo>
                  <a:pt x="166" y="156"/>
                </a:lnTo>
                <a:lnTo>
                  <a:pt x="174" y="154"/>
                </a:lnTo>
                <a:lnTo>
                  <a:pt x="174" y="154"/>
                </a:lnTo>
                <a:close/>
                <a:moveTo>
                  <a:pt x="416" y="200"/>
                </a:moveTo>
                <a:lnTo>
                  <a:pt x="422" y="200"/>
                </a:lnTo>
                <a:lnTo>
                  <a:pt x="422" y="200"/>
                </a:lnTo>
                <a:lnTo>
                  <a:pt x="430" y="200"/>
                </a:lnTo>
                <a:lnTo>
                  <a:pt x="436" y="206"/>
                </a:lnTo>
                <a:lnTo>
                  <a:pt x="440" y="212"/>
                </a:lnTo>
                <a:lnTo>
                  <a:pt x="442" y="220"/>
                </a:lnTo>
                <a:lnTo>
                  <a:pt x="442" y="424"/>
                </a:lnTo>
                <a:lnTo>
                  <a:pt x="442" y="424"/>
                </a:lnTo>
                <a:lnTo>
                  <a:pt x="440" y="432"/>
                </a:lnTo>
                <a:lnTo>
                  <a:pt x="436" y="438"/>
                </a:lnTo>
                <a:lnTo>
                  <a:pt x="430" y="442"/>
                </a:lnTo>
                <a:lnTo>
                  <a:pt x="422" y="444"/>
                </a:lnTo>
                <a:lnTo>
                  <a:pt x="218" y="444"/>
                </a:lnTo>
                <a:lnTo>
                  <a:pt x="218" y="444"/>
                </a:lnTo>
                <a:lnTo>
                  <a:pt x="210" y="442"/>
                </a:lnTo>
                <a:lnTo>
                  <a:pt x="202" y="438"/>
                </a:lnTo>
                <a:lnTo>
                  <a:pt x="198" y="432"/>
                </a:lnTo>
                <a:lnTo>
                  <a:pt x="196" y="424"/>
                </a:lnTo>
                <a:lnTo>
                  <a:pt x="196" y="418"/>
                </a:lnTo>
                <a:lnTo>
                  <a:pt x="378" y="418"/>
                </a:lnTo>
                <a:lnTo>
                  <a:pt x="378" y="418"/>
                </a:lnTo>
                <a:lnTo>
                  <a:pt x="386" y="418"/>
                </a:lnTo>
                <a:lnTo>
                  <a:pt x="392" y="414"/>
                </a:lnTo>
                <a:lnTo>
                  <a:pt x="400" y="412"/>
                </a:lnTo>
                <a:lnTo>
                  <a:pt x="406" y="406"/>
                </a:lnTo>
                <a:lnTo>
                  <a:pt x="410" y="400"/>
                </a:lnTo>
                <a:lnTo>
                  <a:pt x="414" y="394"/>
                </a:lnTo>
                <a:lnTo>
                  <a:pt x="416" y="388"/>
                </a:lnTo>
                <a:lnTo>
                  <a:pt x="416" y="380"/>
                </a:lnTo>
                <a:lnTo>
                  <a:pt x="416" y="200"/>
                </a:lnTo>
                <a:lnTo>
                  <a:pt x="416" y="200"/>
                </a:lnTo>
                <a:close/>
                <a:moveTo>
                  <a:pt x="274" y="0"/>
                </a:moveTo>
                <a:lnTo>
                  <a:pt x="274" y="0"/>
                </a:lnTo>
                <a:lnTo>
                  <a:pt x="302" y="2"/>
                </a:lnTo>
                <a:lnTo>
                  <a:pt x="328" y="8"/>
                </a:lnTo>
                <a:lnTo>
                  <a:pt x="352" y="18"/>
                </a:lnTo>
                <a:lnTo>
                  <a:pt x="376" y="30"/>
                </a:lnTo>
                <a:lnTo>
                  <a:pt x="396" y="46"/>
                </a:lnTo>
                <a:lnTo>
                  <a:pt x="414" y="66"/>
                </a:lnTo>
                <a:lnTo>
                  <a:pt x="428" y="88"/>
                </a:lnTo>
                <a:lnTo>
                  <a:pt x="440" y="110"/>
                </a:lnTo>
                <a:lnTo>
                  <a:pt x="440" y="110"/>
                </a:lnTo>
                <a:lnTo>
                  <a:pt x="446" y="110"/>
                </a:lnTo>
                <a:lnTo>
                  <a:pt x="446" y="110"/>
                </a:lnTo>
                <a:lnTo>
                  <a:pt x="462" y="112"/>
                </a:lnTo>
                <a:lnTo>
                  <a:pt x="474" y="114"/>
                </a:lnTo>
                <a:lnTo>
                  <a:pt x="488" y="116"/>
                </a:lnTo>
                <a:lnTo>
                  <a:pt x="502" y="122"/>
                </a:lnTo>
                <a:lnTo>
                  <a:pt x="514" y="128"/>
                </a:lnTo>
                <a:lnTo>
                  <a:pt x="524" y="134"/>
                </a:lnTo>
                <a:lnTo>
                  <a:pt x="536" y="142"/>
                </a:lnTo>
                <a:lnTo>
                  <a:pt x="546" y="152"/>
                </a:lnTo>
                <a:lnTo>
                  <a:pt x="554" y="162"/>
                </a:lnTo>
                <a:lnTo>
                  <a:pt x="562" y="172"/>
                </a:lnTo>
                <a:lnTo>
                  <a:pt x="570" y="184"/>
                </a:lnTo>
                <a:lnTo>
                  <a:pt x="576" y="196"/>
                </a:lnTo>
                <a:lnTo>
                  <a:pt x="580" y="208"/>
                </a:lnTo>
                <a:lnTo>
                  <a:pt x="584" y="222"/>
                </a:lnTo>
                <a:lnTo>
                  <a:pt x="586" y="236"/>
                </a:lnTo>
                <a:lnTo>
                  <a:pt x="586" y="250"/>
                </a:lnTo>
                <a:lnTo>
                  <a:pt x="586" y="250"/>
                </a:lnTo>
                <a:lnTo>
                  <a:pt x="584" y="272"/>
                </a:lnTo>
                <a:lnTo>
                  <a:pt x="580" y="292"/>
                </a:lnTo>
                <a:lnTo>
                  <a:pt x="572" y="310"/>
                </a:lnTo>
                <a:lnTo>
                  <a:pt x="562" y="328"/>
                </a:lnTo>
                <a:lnTo>
                  <a:pt x="550" y="342"/>
                </a:lnTo>
                <a:lnTo>
                  <a:pt x="536" y="356"/>
                </a:lnTo>
                <a:lnTo>
                  <a:pt x="520" y="368"/>
                </a:lnTo>
                <a:lnTo>
                  <a:pt x="502" y="378"/>
                </a:lnTo>
                <a:lnTo>
                  <a:pt x="502" y="264"/>
                </a:lnTo>
                <a:lnTo>
                  <a:pt x="502" y="264"/>
                </a:lnTo>
                <a:lnTo>
                  <a:pt x="502" y="256"/>
                </a:lnTo>
                <a:lnTo>
                  <a:pt x="500" y="250"/>
                </a:lnTo>
                <a:lnTo>
                  <a:pt x="496" y="242"/>
                </a:lnTo>
                <a:lnTo>
                  <a:pt x="492" y="236"/>
                </a:lnTo>
                <a:lnTo>
                  <a:pt x="486" y="232"/>
                </a:lnTo>
                <a:lnTo>
                  <a:pt x="480" y="228"/>
                </a:lnTo>
                <a:lnTo>
                  <a:pt x="472" y="226"/>
                </a:lnTo>
                <a:lnTo>
                  <a:pt x="464" y="226"/>
                </a:lnTo>
                <a:lnTo>
                  <a:pt x="460" y="226"/>
                </a:lnTo>
                <a:lnTo>
                  <a:pt x="460" y="220"/>
                </a:lnTo>
                <a:lnTo>
                  <a:pt x="460" y="220"/>
                </a:lnTo>
                <a:lnTo>
                  <a:pt x="458" y="212"/>
                </a:lnTo>
                <a:lnTo>
                  <a:pt x="456" y="204"/>
                </a:lnTo>
                <a:lnTo>
                  <a:pt x="454" y="198"/>
                </a:lnTo>
                <a:lnTo>
                  <a:pt x="448" y="192"/>
                </a:lnTo>
                <a:lnTo>
                  <a:pt x="442" y="188"/>
                </a:lnTo>
                <a:lnTo>
                  <a:pt x="436" y="184"/>
                </a:lnTo>
                <a:lnTo>
                  <a:pt x="428" y="182"/>
                </a:lnTo>
                <a:lnTo>
                  <a:pt x="422" y="182"/>
                </a:lnTo>
                <a:lnTo>
                  <a:pt x="416" y="182"/>
                </a:lnTo>
                <a:lnTo>
                  <a:pt x="416" y="176"/>
                </a:lnTo>
                <a:lnTo>
                  <a:pt x="416" y="176"/>
                </a:lnTo>
                <a:lnTo>
                  <a:pt x="416" y="168"/>
                </a:lnTo>
                <a:lnTo>
                  <a:pt x="414" y="160"/>
                </a:lnTo>
                <a:lnTo>
                  <a:pt x="410" y="154"/>
                </a:lnTo>
                <a:lnTo>
                  <a:pt x="406" y="148"/>
                </a:lnTo>
                <a:lnTo>
                  <a:pt x="400" y="144"/>
                </a:lnTo>
                <a:lnTo>
                  <a:pt x="392" y="140"/>
                </a:lnTo>
                <a:lnTo>
                  <a:pt x="386" y="138"/>
                </a:lnTo>
                <a:lnTo>
                  <a:pt x="378" y="136"/>
                </a:lnTo>
                <a:lnTo>
                  <a:pt x="174" y="136"/>
                </a:lnTo>
                <a:lnTo>
                  <a:pt x="174" y="136"/>
                </a:lnTo>
                <a:lnTo>
                  <a:pt x="166" y="138"/>
                </a:lnTo>
                <a:lnTo>
                  <a:pt x="158" y="140"/>
                </a:lnTo>
                <a:lnTo>
                  <a:pt x="152" y="144"/>
                </a:lnTo>
                <a:lnTo>
                  <a:pt x="146" y="148"/>
                </a:lnTo>
                <a:lnTo>
                  <a:pt x="142" y="154"/>
                </a:lnTo>
                <a:lnTo>
                  <a:pt x="138" y="160"/>
                </a:lnTo>
                <a:lnTo>
                  <a:pt x="136" y="168"/>
                </a:lnTo>
                <a:lnTo>
                  <a:pt x="136" y="176"/>
                </a:lnTo>
                <a:lnTo>
                  <a:pt x="136" y="380"/>
                </a:lnTo>
                <a:lnTo>
                  <a:pt x="136" y="380"/>
                </a:lnTo>
                <a:lnTo>
                  <a:pt x="136" y="390"/>
                </a:lnTo>
                <a:lnTo>
                  <a:pt x="116" y="390"/>
                </a:lnTo>
                <a:lnTo>
                  <a:pt x="116" y="390"/>
                </a:lnTo>
                <a:lnTo>
                  <a:pt x="104" y="388"/>
                </a:lnTo>
                <a:lnTo>
                  <a:pt x="92" y="388"/>
                </a:lnTo>
                <a:lnTo>
                  <a:pt x="70" y="380"/>
                </a:lnTo>
                <a:lnTo>
                  <a:pt x="50" y="370"/>
                </a:lnTo>
                <a:lnTo>
                  <a:pt x="34" y="356"/>
                </a:lnTo>
                <a:lnTo>
                  <a:pt x="20" y="338"/>
                </a:lnTo>
                <a:lnTo>
                  <a:pt x="8" y="318"/>
                </a:lnTo>
                <a:lnTo>
                  <a:pt x="2" y="296"/>
                </a:lnTo>
                <a:lnTo>
                  <a:pt x="0" y="286"/>
                </a:lnTo>
                <a:lnTo>
                  <a:pt x="0" y="274"/>
                </a:lnTo>
                <a:lnTo>
                  <a:pt x="0" y="274"/>
                </a:lnTo>
                <a:lnTo>
                  <a:pt x="2" y="252"/>
                </a:lnTo>
                <a:lnTo>
                  <a:pt x="6" y="232"/>
                </a:lnTo>
                <a:lnTo>
                  <a:pt x="16" y="214"/>
                </a:lnTo>
                <a:lnTo>
                  <a:pt x="28" y="198"/>
                </a:lnTo>
                <a:lnTo>
                  <a:pt x="42" y="184"/>
                </a:lnTo>
                <a:lnTo>
                  <a:pt x="58" y="172"/>
                </a:lnTo>
                <a:lnTo>
                  <a:pt x="76" y="164"/>
                </a:lnTo>
                <a:lnTo>
                  <a:pt x="96" y="158"/>
                </a:lnTo>
                <a:lnTo>
                  <a:pt x="96" y="158"/>
                </a:lnTo>
                <a:lnTo>
                  <a:pt x="100" y="142"/>
                </a:lnTo>
                <a:lnTo>
                  <a:pt x="104" y="126"/>
                </a:lnTo>
                <a:lnTo>
                  <a:pt x="108" y="110"/>
                </a:lnTo>
                <a:lnTo>
                  <a:pt x="116" y="96"/>
                </a:lnTo>
                <a:lnTo>
                  <a:pt x="124" y="82"/>
                </a:lnTo>
                <a:lnTo>
                  <a:pt x="132" y="68"/>
                </a:lnTo>
                <a:lnTo>
                  <a:pt x="144" y="56"/>
                </a:lnTo>
                <a:lnTo>
                  <a:pt x="154" y="46"/>
                </a:lnTo>
                <a:lnTo>
                  <a:pt x="166" y="36"/>
                </a:lnTo>
                <a:lnTo>
                  <a:pt x="180" y="26"/>
                </a:lnTo>
                <a:lnTo>
                  <a:pt x="194" y="18"/>
                </a:lnTo>
                <a:lnTo>
                  <a:pt x="210" y="12"/>
                </a:lnTo>
                <a:lnTo>
                  <a:pt x="224" y="6"/>
                </a:lnTo>
                <a:lnTo>
                  <a:pt x="240" y="2"/>
                </a:lnTo>
                <a:lnTo>
                  <a:pt x="258" y="0"/>
                </a:lnTo>
                <a:lnTo>
                  <a:pt x="274" y="0"/>
                </a:lnTo>
                <a:lnTo>
                  <a:pt x="274" y="0"/>
                </a:lnTo>
                <a:close/>
                <a:moveTo>
                  <a:pt x="460" y="244"/>
                </a:moveTo>
                <a:lnTo>
                  <a:pt x="464" y="244"/>
                </a:lnTo>
                <a:lnTo>
                  <a:pt x="464" y="244"/>
                </a:lnTo>
                <a:lnTo>
                  <a:pt x="472" y="246"/>
                </a:lnTo>
                <a:lnTo>
                  <a:pt x="478" y="250"/>
                </a:lnTo>
                <a:lnTo>
                  <a:pt x="484" y="256"/>
                </a:lnTo>
                <a:lnTo>
                  <a:pt x="484" y="264"/>
                </a:lnTo>
                <a:lnTo>
                  <a:pt x="484" y="468"/>
                </a:lnTo>
                <a:lnTo>
                  <a:pt x="484" y="468"/>
                </a:lnTo>
                <a:lnTo>
                  <a:pt x="484" y="476"/>
                </a:lnTo>
                <a:lnTo>
                  <a:pt x="478" y="482"/>
                </a:lnTo>
                <a:lnTo>
                  <a:pt x="472" y="486"/>
                </a:lnTo>
                <a:lnTo>
                  <a:pt x="464" y="488"/>
                </a:lnTo>
                <a:lnTo>
                  <a:pt x="260" y="488"/>
                </a:lnTo>
                <a:lnTo>
                  <a:pt x="260" y="488"/>
                </a:lnTo>
                <a:lnTo>
                  <a:pt x="252" y="486"/>
                </a:lnTo>
                <a:lnTo>
                  <a:pt x="246" y="482"/>
                </a:lnTo>
                <a:lnTo>
                  <a:pt x="242" y="476"/>
                </a:lnTo>
                <a:lnTo>
                  <a:pt x="240" y="468"/>
                </a:lnTo>
                <a:lnTo>
                  <a:pt x="240" y="462"/>
                </a:lnTo>
                <a:lnTo>
                  <a:pt x="422" y="462"/>
                </a:lnTo>
                <a:lnTo>
                  <a:pt x="422" y="462"/>
                </a:lnTo>
                <a:lnTo>
                  <a:pt x="428" y="462"/>
                </a:lnTo>
                <a:lnTo>
                  <a:pt x="436" y="460"/>
                </a:lnTo>
                <a:lnTo>
                  <a:pt x="442" y="456"/>
                </a:lnTo>
                <a:lnTo>
                  <a:pt x="448" y="450"/>
                </a:lnTo>
                <a:lnTo>
                  <a:pt x="454" y="446"/>
                </a:lnTo>
                <a:lnTo>
                  <a:pt x="456" y="438"/>
                </a:lnTo>
                <a:lnTo>
                  <a:pt x="458" y="432"/>
                </a:lnTo>
                <a:lnTo>
                  <a:pt x="460" y="424"/>
                </a:lnTo>
                <a:lnTo>
                  <a:pt x="460" y="244"/>
                </a:lnTo>
                <a:lnTo>
                  <a:pt x="460" y="244"/>
                </a:lnTo>
                <a:close/>
                <a:moveTo>
                  <a:pt x="234" y="306"/>
                </a:moveTo>
                <a:lnTo>
                  <a:pt x="220" y="306"/>
                </a:lnTo>
                <a:lnTo>
                  <a:pt x="214" y="288"/>
                </a:lnTo>
                <a:lnTo>
                  <a:pt x="188" y="288"/>
                </a:lnTo>
                <a:lnTo>
                  <a:pt x="182" y="306"/>
                </a:lnTo>
                <a:lnTo>
                  <a:pt x="168" y="306"/>
                </a:lnTo>
                <a:lnTo>
                  <a:pt x="194" y="226"/>
                </a:lnTo>
                <a:lnTo>
                  <a:pt x="208" y="226"/>
                </a:lnTo>
                <a:lnTo>
                  <a:pt x="234" y="306"/>
                </a:lnTo>
                <a:lnTo>
                  <a:pt x="234" y="306"/>
                </a:lnTo>
                <a:close/>
                <a:moveTo>
                  <a:pt x="210" y="274"/>
                </a:moveTo>
                <a:lnTo>
                  <a:pt x="200" y="244"/>
                </a:lnTo>
                <a:lnTo>
                  <a:pt x="192" y="274"/>
                </a:lnTo>
                <a:lnTo>
                  <a:pt x="210" y="274"/>
                </a:lnTo>
                <a:lnTo>
                  <a:pt x="210" y="274"/>
                </a:lnTo>
                <a:close/>
                <a:moveTo>
                  <a:pt x="238" y="248"/>
                </a:moveTo>
                <a:lnTo>
                  <a:pt x="250" y="248"/>
                </a:lnTo>
                <a:lnTo>
                  <a:pt x="250" y="256"/>
                </a:lnTo>
                <a:lnTo>
                  <a:pt x="250" y="256"/>
                </a:lnTo>
                <a:lnTo>
                  <a:pt x="252" y="252"/>
                </a:lnTo>
                <a:lnTo>
                  <a:pt x="256" y="250"/>
                </a:lnTo>
                <a:lnTo>
                  <a:pt x="256" y="250"/>
                </a:lnTo>
                <a:lnTo>
                  <a:pt x="260" y="248"/>
                </a:lnTo>
                <a:lnTo>
                  <a:pt x="264" y="248"/>
                </a:lnTo>
                <a:lnTo>
                  <a:pt x="264" y="248"/>
                </a:lnTo>
                <a:lnTo>
                  <a:pt x="272" y="248"/>
                </a:lnTo>
                <a:lnTo>
                  <a:pt x="278" y="254"/>
                </a:lnTo>
                <a:lnTo>
                  <a:pt x="278" y="254"/>
                </a:lnTo>
                <a:lnTo>
                  <a:pt x="282" y="264"/>
                </a:lnTo>
                <a:lnTo>
                  <a:pt x="284" y="276"/>
                </a:lnTo>
                <a:lnTo>
                  <a:pt x="284" y="276"/>
                </a:lnTo>
                <a:lnTo>
                  <a:pt x="282" y="290"/>
                </a:lnTo>
                <a:lnTo>
                  <a:pt x="278" y="300"/>
                </a:lnTo>
                <a:lnTo>
                  <a:pt x="278" y="300"/>
                </a:lnTo>
                <a:lnTo>
                  <a:pt x="272" y="306"/>
                </a:lnTo>
                <a:lnTo>
                  <a:pt x="264" y="308"/>
                </a:lnTo>
                <a:lnTo>
                  <a:pt x="264" y="308"/>
                </a:lnTo>
                <a:lnTo>
                  <a:pt x="256" y="306"/>
                </a:lnTo>
                <a:lnTo>
                  <a:pt x="256" y="306"/>
                </a:lnTo>
                <a:lnTo>
                  <a:pt x="250" y="300"/>
                </a:lnTo>
                <a:lnTo>
                  <a:pt x="250" y="328"/>
                </a:lnTo>
                <a:lnTo>
                  <a:pt x="238" y="328"/>
                </a:lnTo>
                <a:lnTo>
                  <a:pt x="238" y="248"/>
                </a:lnTo>
                <a:lnTo>
                  <a:pt x="238" y="248"/>
                </a:lnTo>
                <a:close/>
                <a:moveTo>
                  <a:pt x="250" y="276"/>
                </a:moveTo>
                <a:lnTo>
                  <a:pt x="250" y="276"/>
                </a:lnTo>
                <a:lnTo>
                  <a:pt x="250" y="284"/>
                </a:lnTo>
                <a:lnTo>
                  <a:pt x="254" y="290"/>
                </a:lnTo>
                <a:lnTo>
                  <a:pt x="254" y="290"/>
                </a:lnTo>
                <a:lnTo>
                  <a:pt x="256" y="294"/>
                </a:lnTo>
                <a:lnTo>
                  <a:pt x="260" y="296"/>
                </a:lnTo>
                <a:lnTo>
                  <a:pt x="260" y="296"/>
                </a:lnTo>
                <a:lnTo>
                  <a:pt x="264" y="294"/>
                </a:lnTo>
                <a:lnTo>
                  <a:pt x="268" y="292"/>
                </a:lnTo>
                <a:lnTo>
                  <a:pt x="268" y="292"/>
                </a:lnTo>
                <a:lnTo>
                  <a:pt x="270" y="286"/>
                </a:lnTo>
                <a:lnTo>
                  <a:pt x="272" y="278"/>
                </a:lnTo>
                <a:lnTo>
                  <a:pt x="272" y="278"/>
                </a:lnTo>
                <a:lnTo>
                  <a:pt x="270" y="270"/>
                </a:lnTo>
                <a:lnTo>
                  <a:pt x="268" y="264"/>
                </a:lnTo>
                <a:lnTo>
                  <a:pt x="268" y="264"/>
                </a:lnTo>
                <a:lnTo>
                  <a:pt x="264" y="260"/>
                </a:lnTo>
                <a:lnTo>
                  <a:pt x="260" y="260"/>
                </a:lnTo>
                <a:lnTo>
                  <a:pt x="260" y="260"/>
                </a:lnTo>
                <a:lnTo>
                  <a:pt x="256" y="260"/>
                </a:lnTo>
                <a:lnTo>
                  <a:pt x="254" y="264"/>
                </a:lnTo>
                <a:lnTo>
                  <a:pt x="254" y="264"/>
                </a:lnTo>
                <a:lnTo>
                  <a:pt x="250" y="268"/>
                </a:lnTo>
                <a:lnTo>
                  <a:pt x="250" y="276"/>
                </a:lnTo>
                <a:lnTo>
                  <a:pt x="250" y="276"/>
                </a:lnTo>
                <a:close/>
                <a:moveTo>
                  <a:pt x="290" y="248"/>
                </a:moveTo>
                <a:lnTo>
                  <a:pt x="302" y="248"/>
                </a:lnTo>
                <a:lnTo>
                  <a:pt x="302" y="256"/>
                </a:lnTo>
                <a:lnTo>
                  <a:pt x="302" y="256"/>
                </a:lnTo>
                <a:lnTo>
                  <a:pt x="304" y="252"/>
                </a:lnTo>
                <a:lnTo>
                  <a:pt x="308" y="250"/>
                </a:lnTo>
                <a:lnTo>
                  <a:pt x="308" y="250"/>
                </a:lnTo>
                <a:lnTo>
                  <a:pt x="312" y="248"/>
                </a:lnTo>
                <a:lnTo>
                  <a:pt x="316" y="248"/>
                </a:lnTo>
                <a:lnTo>
                  <a:pt x="316" y="248"/>
                </a:lnTo>
                <a:lnTo>
                  <a:pt x="324" y="248"/>
                </a:lnTo>
                <a:lnTo>
                  <a:pt x="330" y="254"/>
                </a:lnTo>
                <a:lnTo>
                  <a:pt x="330" y="254"/>
                </a:lnTo>
                <a:lnTo>
                  <a:pt x="336" y="264"/>
                </a:lnTo>
                <a:lnTo>
                  <a:pt x="336" y="276"/>
                </a:lnTo>
                <a:lnTo>
                  <a:pt x="336" y="276"/>
                </a:lnTo>
                <a:lnTo>
                  <a:pt x="336" y="290"/>
                </a:lnTo>
                <a:lnTo>
                  <a:pt x="330" y="300"/>
                </a:lnTo>
                <a:lnTo>
                  <a:pt x="330" y="300"/>
                </a:lnTo>
                <a:lnTo>
                  <a:pt x="324" y="306"/>
                </a:lnTo>
                <a:lnTo>
                  <a:pt x="316" y="308"/>
                </a:lnTo>
                <a:lnTo>
                  <a:pt x="316" y="308"/>
                </a:lnTo>
                <a:lnTo>
                  <a:pt x="310" y="306"/>
                </a:lnTo>
                <a:lnTo>
                  <a:pt x="310" y="306"/>
                </a:lnTo>
                <a:lnTo>
                  <a:pt x="302" y="300"/>
                </a:lnTo>
                <a:lnTo>
                  <a:pt x="302" y="328"/>
                </a:lnTo>
                <a:lnTo>
                  <a:pt x="290" y="328"/>
                </a:lnTo>
                <a:lnTo>
                  <a:pt x="290" y="248"/>
                </a:lnTo>
                <a:lnTo>
                  <a:pt x="290" y="248"/>
                </a:lnTo>
                <a:close/>
                <a:moveTo>
                  <a:pt x="302" y="276"/>
                </a:moveTo>
                <a:lnTo>
                  <a:pt x="302" y="276"/>
                </a:lnTo>
                <a:lnTo>
                  <a:pt x="304" y="284"/>
                </a:lnTo>
                <a:lnTo>
                  <a:pt x="306" y="290"/>
                </a:lnTo>
                <a:lnTo>
                  <a:pt x="306" y="290"/>
                </a:lnTo>
                <a:lnTo>
                  <a:pt x="310" y="294"/>
                </a:lnTo>
                <a:lnTo>
                  <a:pt x="314" y="296"/>
                </a:lnTo>
                <a:lnTo>
                  <a:pt x="314" y="296"/>
                </a:lnTo>
                <a:lnTo>
                  <a:pt x="318" y="294"/>
                </a:lnTo>
                <a:lnTo>
                  <a:pt x="320" y="292"/>
                </a:lnTo>
                <a:lnTo>
                  <a:pt x="320" y="292"/>
                </a:lnTo>
                <a:lnTo>
                  <a:pt x="324" y="286"/>
                </a:lnTo>
                <a:lnTo>
                  <a:pt x="324" y="278"/>
                </a:lnTo>
                <a:lnTo>
                  <a:pt x="324" y="278"/>
                </a:lnTo>
                <a:lnTo>
                  <a:pt x="324" y="270"/>
                </a:lnTo>
                <a:lnTo>
                  <a:pt x="320" y="264"/>
                </a:lnTo>
                <a:lnTo>
                  <a:pt x="320" y="264"/>
                </a:lnTo>
                <a:lnTo>
                  <a:pt x="318" y="260"/>
                </a:lnTo>
                <a:lnTo>
                  <a:pt x="314" y="260"/>
                </a:lnTo>
                <a:lnTo>
                  <a:pt x="314" y="260"/>
                </a:lnTo>
                <a:lnTo>
                  <a:pt x="310" y="260"/>
                </a:lnTo>
                <a:lnTo>
                  <a:pt x="306" y="264"/>
                </a:lnTo>
                <a:lnTo>
                  <a:pt x="306" y="264"/>
                </a:lnTo>
                <a:lnTo>
                  <a:pt x="304" y="268"/>
                </a:lnTo>
                <a:lnTo>
                  <a:pt x="302" y="276"/>
                </a:lnTo>
                <a:lnTo>
                  <a:pt x="302" y="276"/>
                </a:lnTo>
                <a:close/>
                <a:moveTo>
                  <a:pt x="338" y="290"/>
                </a:moveTo>
                <a:lnTo>
                  <a:pt x="352" y="288"/>
                </a:lnTo>
                <a:lnTo>
                  <a:pt x="352" y="288"/>
                </a:lnTo>
                <a:lnTo>
                  <a:pt x="352" y="292"/>
                </a:lnTo>
                <a:lnTo>
                  <a:pt x="354" y="294"/>
                </a:lnTo>
                <a:lnTo>
                  <a:pt x="358" y="296"/>
                </a:lnTo>
                <a:lnTo>
                  <a:pt x="362" y="296"/>
                </a:lnTo>
                <a:lnTo>
                  <a:pt x="362" y="296"/>
                </a:lnTo>
                <a:lnTo>
                  <a:pt x="368" y="294"/>
                </a:lnTo>
                <a:lnTo>
                  <a:pt x="368" y="294"/>
                </a:lnTo>
                <a:lnTo>
                  <a:pt x="370" y="292"/>
                </a:lnTo>
                <a:lnTo>
                  <a:pt x="370" y="290"/>
                </a:lnTo>
                <a:lnTo>
                  <a:pt x="370" y="290"/>
                </a:lnTo>
                <a:lnTo>
                  <a:pt x="370" y="288"/>
                </a:lnTo>
                <a:lnTo>
                  <a:pt x="370" y="288"/>
                </a:lnTo>
                <a:lnTo>
                  <a:pt x="366" y="286"/>
                </a:lnTo>
                <a:lnTo>
                  <a:pt x="366" y="286"/>
                </a:lnTo>
                <a:lnTo>
                  <a:pt x="352" y="282"/>
                </a:lnTo>
                <a:lnTo>
                  <a:pt x="346" y="278"/>
                </a:lnTo>
                <a:lnTo>
                  <a:pt x="346" y="278"/>
                </a:lnTo>
                <a:lnTo>
                  <a:pt x="342" y="272"/>
                </a:lnTo>
                <a:lnTo>
                  <a:pt x="340" y="264"/>
                </a:lnTo>
                <a:lnTo>
                  <a:pt x="340" y="264"/>
                </a:lnTo>
                <a:lnTo>
                  <a:pt x="342" y="258"/>
                </a:lnTo>
                <a:lnTo>
                  <a:pt x="346" y="252"/>
                </a:lnTo>
                <a:lnTo>
                  <a:pt x="346" y="252"/>
                </a:lnTo>
                <a:lnTo>
                  <a:pt x="352" y="248"/>
                </a:lnTo>
                <a:lnTo>
                  <a:pt x="360" y="248"/>
                </a:lnTo>
                <a:lnTo>
                  <a:pt x="360" y="248"/>
                </a:lnTo>
                <a:lnTo>
                  <a:pt x="368" y="248"/>
                </a:lnTo>
                <a:lnTo>
                  <a:pt x="374" y="250"/>
                </a:lnTo>
                <a:lnTo>
                  <a:pt x="374" y="250"/>
                </a:lnTo>
                <a:lnTo>
                  <a:pt x="380" y="256"/>
                </a:lnTo>
                <a:lnTo>
                  <a:pt x="382" y="262"/>
                </a:lnTo>
                <a:lnTo>
                  <a:pt x="370" y="266"/>
                </a:lnTo>
                <a:lnTo>
                  <a:pt x="370" y="266"/>
                </a:lnTo>
                <a:lnTo>
                  <a:pt x="366" y="260"/>
                </a:lnTo>
                <a:lnTo>
                  <a:pt x="360" y="258"/>
                </a:lnTo>
                <a:lnTo>
                  <a:pt x="360" y="258"/>
                </a:lnTo>
                <a:lnTo>
                  <a:pt x="354" y="260"/>
                </a:lnTo>
                <a:lnTo>
                  <a:pt x="354" y="260"/>
                </a:lnTo>
                <a:lnTo>
                  <a:pt x="352" y="262"/>
                </a:lnTo>
                <a:lnTo>
                  <a:pt x="352" y="262"/>
                </a:lnTo>
                <a:lnTo>
                  <a:pt x="354" y="266"/>
                </a:lnTo>
                <a:lnTo>
                  <a:pt x="354" y="266"/>
                </a:lnTo>
                <a:lnTo>
                  <a:pt x="366" y="270"/>
                </a:lnTo>
                <a:lnTo>
                  <a:pt x="366" y="270"/>
                </a:lnTo>
                <a:lnTo>
                  <a:pt x="374" y="274"/>
                </a:lnTo>
                <a:lnTo>
                  <a:pt x="380" y="278"/>
                </a:lnTo>
                <a:lnTo>
                  <a:pt x="380" y="278"/>
                </a:lnTo>
                <a:lnTo>
                  <a:pt x="382" y="282"/>
                </a:lnTo>
                <a:lnTo>
                  <a:pt x="384" y="288"/>
                </a:lnTo>
                <a:lnTo>
                  <a:pt x="384" y="288"/>
                </a:lnTo>
                <a:lnTo>
                  <a:pt x="382" y="296"/>
                </a:lnTo>
                <a:lnTo>
                  <a:pt x="378" y="302"/>
                </a:lnTo>
                <a:lnTo>
                  <a:pt x="378" y="302"/>
                </a:lnTo>
                <a:lnTo>
                  <a:pt x="370" y="306"/>
                </a:lnTo>
                <a:lnTo>
                  <a:pt x="362" y="308"/>
                </a:lnTo>
                <a:lnTo>
                  <a:pt x="362" y="308"/>
                </a:lnTo>
                <a:lnTo>
                  <a:pt x="354" y="306"/>
                </a:lnTo>
                <a:lnTo>
                  <a:pt x="346" y="304"/>
                </a:lnTo>
                <a:lnTo>
                  <a:pt x="346" y="304"/>
                </a:lnTo>
                <a:lnTo>
                  <a:pt x="342" y="298"/>
                </a:lnTo>
                <a:lnTo>
                  <a:pt x="338" y="290"/>
                </a:lnTo>
                <a:lnTo>
                  <a:pt x="338" y="290"/>
                </a:lnTo>
                <a:close/>
              </a:path>
            </a:pathLst>
          </a:custGeom>
          <a:solidFill>
            <a:srgbClr val="0070C0">
              <a:lumMod val="60000"/>
              <a:lumOff val="40000"/>
            </a:srgbClr>
          </a:solidFill>
          <a:ln w="9525">
            <a:noFill/>
            <a:round/>
            <a:headEnd/>
            <a:tailEnd/>
          </a:ln>
        </p:spPr>
        <p:txBody>
          <a:bodyPr vert="horz" wrap="square" lIns="91376" tIns="45688" rIns="91376" bIns="45688" numCol="1" anchor="t" anchorCtr="0" compatLnSpc="1">
            <a:prstTxWarp prst="textNoShape">
              <a:avLst/>
            </a:prstTxWarp>
          </a:bodyPr>
          <a:lstStyle/>
          <a:p>
            <a:pPr defTabSz="914035" fontAlgn="ctr">
              <a:spcBef>
                <a:spcPct val="0"/>
              </a:spcBef>
              <a:spcAft>
                <a:spcPct val="0"/>
              </a:spcAft>
              <a:defRPr/>
            </a:pPr>
            <a:endParaRPr lang="en-US" altLang="zh-CN" sz="1799" kern="0" dirty="0">
              <a:solidFill>
                <a:srgbClr val="FFFFFF">
                  <a:lumMod val="50000"/>
                </a:srgb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8" name="矩形 297"/>
          <p:cNvSpPr/>
          <p:nvPr/>
        </p:nvSpPr>
        <p:spPr bwMode="gray">
          <a:xfrm>
            <a:off x="1377755" y="4942927"/>
            <a:ext cx="4508142" cy="17969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Overlay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9" name="矩形 298"/>
          <p:cNvSpPr/>
          <p:nvPr/>
        </p:nvSpPr>
        <p:spPr bwMode="gray">
          <a:xfrm>
            <a:off x="1132627" y="5849361"/>
            <a:ext cx="4947496" cy="165389"/>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Underlay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bwMode="gray">
          <a:xfrm>
            <a:off x="1655867" y="3145117"/>
            <a:ext cx="1056700" cy="276999"/>
          </a:xfrm>
          <a:prstGeom prst="rect">
            <a:avLst/>
          </a:prstGeom>
          <a:noFill/>
        </p:spPr>
        <p:txBody>
          <a:bodyPr wrap="square" rtlCol="0">
            <a:spAutoFit/>
          </a:bodyPr>
          <a:lstStyle/>
          <a:p>
            <a:pPr algn="ctr"/>
            <a:r>
              <a:rPr lang="en-US" altLang="zh-CN" sz="1200" dirty="0" err="1" smtClean="0"/>
              <a:t>iMaster</a:t>
            </a:r>
            <a:r>
              <a:rPr lang="en-US" altLang="zh-CN" sz="1200" dirty="0" smtClean="0"/>
              <a:t> NCE</a:t>
            </a:r>
            <a:endParaRPr lang="zh-CN" altLang="en-US" sz="1200" dirty="0"/>
          </a:p>
        </p:txBody>
      </p:sp>
      <p:sp>
        <p:nvSpPr>
          <p:cNvPr id="273" name="文本框 272"/>
          <p:cNvSpPr txBox="1"/>
          <p:nvPr/>
        </p:nvSpPr>
        <p:spPr bwMode="gray">
          <a:xfrm>
            <a:off x="4207131" y="3145117"/>
            <a:ext cx="1222665" cy="276999"/>
          </a:xfrm>
          <a:prstGeom prst="rect">
            <a:avLst/>
          </a:prstGeom>
          <a:noFill/>
        </p:spPr>
        <p:txBody>
          <a:bodyPr wrap="square" rtlCol="0">
            <a:spAutoFit/>
          </a:bodyPr>
          <a:lstStyle/>
          <a:p>
            <a:pPr algn="ctr"/>
            <a:r>
              <a:rPr lang="en-US" altLang="zh-CN" sz="1200" dirty="0" err="1"/>
              <a:t>CampusInsight</a:t>
            </a:r>
            <a:endParaRPr lang="zh-CN" altLang="en-US" sz="1200" dirty="0"/>
          </a:p>
        </p:txBody>
      </p:sp>
    </p:spTree>
    <p:extLst>
      <p:ext uri="{BB962C8B-B14F-4D97-AF65-F5344CB8AC3E}">
        <p14:creationId xmlns:p14="http://schemas.microsoft.com/office/powerpoint/2010/main" val="2238253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0" name="组合 169">
            <a:extLst>
              <a:ext uri="{FF2B5EF4-FFF2-40B4-BE49-F238E27FC236}">
                <a16:creationId xmlns:a16="http://schemas.microsoft.com/office/drawing/2014/main" xmlns="" id="{F4A56635-F926-4E7E-A5BB-E8096F2B26D4}"/>
              </a:ext>
            </a:extLst>
          </p:cNvPr>
          <p:cNvGrpSpPr/>
          <p:nvPr/>
        </p:nvGrpSpPr>
        <p:grpSpPr bwMode="gray">
          <a:xfrm>
            <a:off x="901278" y="2601413"/>
            <a:ext cx="10038037" cy="1308266"/>
            <a:chOff x="902525" y="2896022"/>
            <a:chExt cx="10038037" cy="1308266"/>
          </a:xfrm>
        </p:grpSpPr>
        <p:sp>
          <p:nvSpPr>
            <p:cNvPr id="166" name="矩形 165">
              <a:extLst>
                <a:ext uri="{FF2B5EF4-FFF2-40B4-BE49-F238E27FC236}">
                  <a16:creationId xmlns:a16="http://schemas.microsoft.com/office/drawing/2014/main" xmlns="" id="{A319C336-D868-47B0-B2C7-990036B011D8}"/>
                </a:ext>
              </a:extLst>
            </p:cNvPr>
            <p:cNvSpPr/>
            <p:nvPr/>
          </p:nvSpPr>
          <p:spPr bwMode="gray">
            <a:xfrm>
              <a:off x="902525" y="2896022"/>
              <a:ext cx="10038037" cy="1308266"/>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172">
              <a:extLst>
                <a:ext uri="{FF2B5EF4-FFF2-40B4-BE49-F238E27FC236}">
                  <a16:creationId xmlns:a16="http://schemas.microsoft.com/office/drawing/2014/main" xmlns="" id="{89F3D65B-B5B6-4E70-8310-B2D455C72E29}"/>
                </a:ext>
              </a:extLst>
            </p:cNvPr>
            <p:cNvSpPr/>
            <p:nvPr/>
          </p:nvSpPr>
          <p:spPr bwMode="gray">
            <a:xfrm>
              <a:off x="1923033" y="2936701"/>
              <a:ext cx="8446171" cy="1246424"/>
            </a:xfrm>
            <a:prstGeom prst="roundRect">
              <a:avLst>
                <a:gd name="adj" fmla="val 10120"/>
              </a:avLst>
            </a:prstGeom>
            <a:solidFill>
              <a:srgbClr val="FFFFFF"/>
            </a:solidFill>
            <a:ln>
              <a:solidFill>
                <a:srgbClr val="FFFFFF">
                  <a:lumMod val="75000"/>
                </a:srgbClr>
              </a:solidFill>
            </a:ln>
            <a:effectLst/>
          </p:spPr>
          <p:txBody>
            <a:bodyPr lIns="121910" tIns="60956" rIns="121910" bIns="60956" anchor="ctr"/>
            <a:lstStyle/>
            <a:p>
              <a:pPr marL="0" marR="0" lvl="0" indent="0" algn="ctr" defTabSz="913763"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 name="圆角矩形 37">
              <a:extLst>
                <a:ext uri="{FF2B5EF4-FFF2-40B4-BE49-F238E27FC236}">
                  <a16:creationId xmlns:a16="http://schemas.microsoft.com/office/drawing/2014/main" xmlns="" id="{B90FB500-558C-4E4E-BA10-AB4B9BEBC840}"/>
                </a:ext>
              </a:extLst>
            </p:cNvPr>
            <p:cNvSpPr/>
            <p:nvPr/>
          </p:nvSpPr>
          <p:spPr bwMode="gray">
            <a:xfrm>
              <a:off x="2240006" y="3964633"/>
              <a:ext cx="7760023" cy="172866"/>
            </a:xfrm>
            <a:prstGeom prst="roundRect">
              <a:avLst/>
            </a:prstGeom>
            <a:solidFill>
              <a:srgbClr val="56C4D2"/>
            </a:solidFill>
            <a:ln>
              <a:solidFill>
                <a:srgbClr val="99DFF9"/>
              </a:solidFill>
              <a:bevel/>
            </a:ln>
            <a:effectLst/>
          </p:spPr>
          <p:txBody>
            <a:bodyPr lIns="76787" tIns="38393" rIns="76787" bIns="38393" anchor="ctr"/>
            <a:lstStyle/>
            <a:p>
              <a:pPr algn="ctr" defTabSz="1233589">
                <a:defRPr/>
              </a:pPr>
              <a:r>
                <a:rPr lang="zh-CN" altLang="en-US"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解决方案平台层（控制引擎、策略引擎、安全引擎、分析引擎）</a:t>
              </a:r>
            </a:p>
          </p:txBody>
        </p:sp>
        <p:sp>
          <p:nvSpPr>
            <p:cNvPr id="12" name="文本框 11">
              <a:extLst>
                <a:ext uri="{FF2B5EF4-FFF2-40B4-BE49-F238E27FC236}">
                  <a16:creationId xmlns:a16="http://schemas.microsoft.com/office/drawing/2014/main" xmlns="" id="{91ECFA9C-D3D6-4D87-B78B-796A843ED2E0}"/>
                </a:ext>
              </a:extLst>
            </p:cNvPr>
            <p:cNvSpPr txBox="1"/>
            <p:nvPr/>
          </p:nvSpPr>
          <p:spPr bwMode="gray">
            <a:xfrm>
              <a:off x="1004096" y="3204008"/>
              <a:ext cx="990310"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平台层</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89">
              <a:extLst>
                <a:ext uri="{FF2B5EF4-FFF2-40B4-BE49-F238E27FC236}">
                  <a16:creationId xmlns:a16="http://schemas.microsoft.com/office/drawing/2014/main" xmlns="" id="{A29B1B28-C41D-476B-8964-0DB57FB37710}"/>
                </a:ext>
              </a:extLst>
            </p:cNvPr>
            <p:cNvSpPr txBox="1"/>
            <p:nvPr/>
          </p:nvSpPr>
          <p:spPr bwMode="gray">
            <a:xfrm>
              <a:off x="5055579" y="3013172"/>
              <a:ext cx="1318788" cy="272518"/>
            </a:xfrm>
            <a:prstGeom prst="rect">
              <a:avLst/>
            </a:prstGeom>
            <a:noFill/>
          </p:spPr>
          <p:txBody>
            <a:bodyPr wrap="square" lIns="87000" tIns="43501" rIns="87000" bIns="43501" rtlCol="0">
              <a:spAutoFit/>
            </a:bodyPr>
            <a:lstStyle/>
            <a:p>
              <a:pPr defTabSz="1035965" fontAlgn="auto">
                <a:spcBef>
                  <a:spcPts val="0"/>
                </a:spcBef>
                <a:spcAft>
                  <a:spcPts val="0"/>
                </a:spcAft>
                <a:defRPr/>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增值业务</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圆角矩形 143">
              <a:extLst>
                <a:ext uri="{FF2B5EF4-FFF2-40B4-BE49-F238E27FC236}">
                  <a16:creationId xmlns:a16="http://schemas.microsoft.com/office/drawing/2014/main" xmlns="" id="{22A805AE-8BF8-4A2B-AABC-419FF68D16C5}"/>
                </a:ext>
              </a:extLst>
            </p:cNvPr>
            <p:cNvSpPr/>
            <p:nvPr/>
          </p:nvSpPr>
          <p:spPr bwMode="gray">
            <a:xfrm>
              <a:off x="6878140" y="3280599"/>
              <a:ext cx="1532746" cy="212907"/>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Portal+Radius</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144">
              <a:extLst>
                <a:ext uri="{FF2B5EF4-FFF2-40B4-BE49-F238E27FC236}">
                  <a16:creationId xmlns:a16="http://schemas.microsoft.com/office/drawing/2014/main" xmlns="" id="{CDC0067C-1B95-488F-BB26-7EF51F72B8B0}"/>
                </a:ext>
              </a:extLst>
            </p:cNvPr>
            <p:cNvSpPr/>
            <p:nvPr/>
          </p:nvSpPr>
          <p:spPr bwMode="gray">
            <a:xfrm>
              <a:off x="6896818" y="3571270"/>
              <a:ext cx="1513569" cy="212907"/>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Authorization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8" name="组合 157">
              <a:extLst>
                <a:ext uri="{FF2B5EF4-FFF2-40B4-BE49-F238E27FC236}">
                  <a16:creationId xmlns:a16="http://schemas.microsoft.com/office/drawing/2014/main" xmlns="" id="{32C47168-48AC-4E2C-86BE-BF4D6102AD32}"/>
                </a:ext>
              </a:extLst>
            </p:cNvPr>
            <p:cNvGrpSpPr/>
            <p:nvPr/>
          </p:nvGrpSpPr>
          <p:grpSpPr bwMode="gray">
            <a:xfrm>
              <a:off x="2067236" y="3013172"/>
              <a:ext cx="2228053" cy="810401"/>
              <a:chOff x="224412" y="2228163"/>
              <a:chExt cx="2228053" cy="810401"/>
            </a:xfrm>
          </p:grpSpPr>
          <p:sp>
            <p:nvSpPr>
              <p:cNvPr id="15" name="矩形 14">
                <a:extLst>
                  <a:ext uri="{FF2B5EF4-FFF2-40B4-BE49-F238E27FC236}">
                    <a16:creationId xmlns:a16="http://schemas.microsoft.com/office/drawing/2014/main" xmlns="" id="{40408AC7-DAB0-49BD-8F99-51B931B5CD11}"/>
                  </a:ext>
                </a:extLst>
              </p:cNvPr>
              <p:cNvSpPr/>
              <p:nvPr/>
            </p:nvSpPr>
            <p:spPr bwMode="gray">
              <a:xfrm>
                <a:off x="224412" y="2237014"/>
                <a:ext cx="2228053" cy="801550"/>
              </a:xfrm>
              <a:prstGeom prst="rect">
                <a:avLst/>
              </a:prstGeom>
              <a:noFill/>
              <a:ln w="9525">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TextBox 189">
                <a:extLst>
                  <a:ext uri="{FF2B5EF4-FFF2-40B4-BE49-F238E27FC236}">
                    <a16:creationId xmlns:a16="http://schemas.microsoft.com/office/drawing/2014/main" xmlns="" id="{461E4BA5-5343-487D-BE3C-EF22776AF043}"/>
                  </a:ext>
                </a:extLst>
              </p:cNvPr>
              <p:cNvSpPr txBox="1"/>
              <p:nvPr/>
            </p:nvSpPr>
            <p:spPr bwMode="gray">
              <a:xfrm>
                <a:off x="546580" y="2228163"/>
                <a:ext cx="1784215" cy="272518"/>
              </a:xfrm>
              <a:prstGeom prst="rect">
                <a:avLst/>
              </a:prstGeom>
              <a:noFill/>
              <a:effectLst/>
            </p:spPr>
            <p:txBody>
              <a:bodyPr wrap="square" lIns="87000" tIns="43501" rIns="87000" bIns="43501" rtlCol="0">
                <a:spAutoFit/>
              </a:bodyPr>
              <a:lstStyle/>
              <a:p>
                <a:pPr defTabSz="1035965" fontAlgn="auto">
                  <a:spcBef>
                    <a:spcPts val="0"/>
                  </a:spcBef>
                  <a:spcAft>
                    <a:spcPts val="0"/>
                  </a:spcAft>
                  <a:defRPr/>
                </a:pPr>
                <a:r>
                  <a:rPr lang="zh-CN" altLang="en-US" sz="1200" kern="0" dirty="0">
                    <a:solidFill>
                      <a:srgbClr val="0000FF"/>
                    </a:solidFill>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基础网络</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125">
                <a:extLst>
                  <a:ext uri="{FF2B5EF4-FFF2-40B4-BE49-F238E27FC236}">
                    <a16:creationId xmlns:a16="http://schemas.microsoft.com/office/drawing/2014/main" xmlns="" id="{08D825E4-7302-4860-9890-9CDBF711E741}"/>
                  </a:ext>
                </a:extLst>
              </p:cNvPr>
              <p:cNvSpPr/>
              <p:nvPr/>
            </p:nvSpPr>
            <p:spPr bwMode="gray">
              <a:xfrm>
                <a:off x="283914" y="2516889"/>
                <a:ext cx="1040652"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基础服务</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139">
                <a:extLst>
                  <a:ext uri="{FF2B5EF4-FFF2-40B4-BE49-F238E27FC236}">
                    <a16:creationId xmlns:a16="http://schemas.microsoft.com/office/drawing/2014/main" xmlns="" id="{3BAE6B33-2FAC-45F1-9C59-88DBEC930E85}"/>
                  </a:ext>
                </a:extLst>
              </p:cNvPr>
              <p:cNvSpPr/>
              <p:nvPr/>
            </p:nvSpPr>
            <p:spPr bwMode="gray">
              <a:xfrm>
                <a:off x="267359" y="2768448"/>
                <a:ext cx="1060897" cy="20413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运维监控</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140">
                <a:extLst>
                  <a:ext uri="{FF2B5EF4-FFF2-40B4-BE49-F238E27FC236}">
                    <a16:creationId xmlns:a16="http://schemas.microsoft.com/office/drawing/2014/main" xmlns="" id="{078E5BA5-FA59-4376-9DB5-9923B0C9C83D}"/>
                  </a:ext>
                </a:extLst>
              </p:cNvPr>
              <p:cNvSpPr/>
              <p:nvPr/>
            </p:nvSpPr>
            <p:spPr bwMode="gray">
              <a:xfrm>
                <a:off x="1359621" y="2509269"/>
                <a:ext cx="1059067"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网络配置</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142">
                <a:extLst>
                  <a:ext uri="{FF2B5EF4-FFF2-40B4-BE49-F238E27FC236}">
                    <a16:creationId xmlns:a16="http://schemas.microsoft.com/office/drawing/2014/main" xmlns="" id="{CFD12BDA-7171-449F-8E10-54A67C3F81C6}"/>
                  </a:ext>
                </a:extLst>
              </p:cNvPr>
              <p:cNvSpPr/>
              <p:nvPr/>
            </p:nvSpPr>
            <p:spPr bwMode="gray">
              <a:xfrm>
                <a:off x="1351382" y="2780668"/>
                <a:ext cx="1071919" cy="20413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策略服务</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0" name="TextBox 189">
              <a:extLst>
                <a:ext uri="{FF2B5EF4-FFF2-40B4-BE49-F238E27FC236}">
                  <a16:creationId xmlns:a16="http://schemas.microsoft.com/office/drawing/2014/main" xmlns="" id="{D5793195-A5E2-4407-9557-FDEFBE82ED60}"/>
                </a:ext>
              </a:extLst>
            </p:cNvPr>
            <p:cNvSpPr txBox="1"/>
            <p:nvPr/>
          </p:nvSpPr>
          <p:spPr bwMode="gray">
            <a:xfrm>
              <a:off x="7125746" y="3013172"/>
              <a:ext cx="1318788" cy="272518"/>
            </a:xfrm>
            <a:prstGeom prst="rect">
              <a:avLst/>
            </a:prstGeom>
            <a:noFill/>
          </p:spPr>
          <p:txBody>
            <a:bodyPr wrap="square" lIns="87000" tIns="43501" rIns="87000" bIns="43501" rtlCol="0">
              <a:spAutoFit/>
            </a:bodyPr>
            <a:lstStyle/>
            <a:p>
              <a:pPr defTabSz="1035965" fontAlgn="auto">
                <a:spcBef>
                  <a:spcPts val="0"/>
                </a:spcBef>
                <a:spcAft>
                  <a:spcPts val="0"/>
                </a:spcAft>
                <a:defRPr/>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三方认证</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圆角矩形 117">
              <a:extLst>
                <a:ext uri="{FF2B5EF4-FFF2-40B4-BE49-F238E27FC236}">
                  <a16:creationId xmlns:a16="http://schemas.microsoft.com/office/drawing/2014/main" xmlns="" id="{6AF1FCD5-5F9D-4A46-A5CA-A5F704AD43DE}"/>
                </a:ext>
              </a:extLst>
            </p:cNvPr>
            <p:cNvSpPr/>
            <p:nvPr/>
          </p:nvSpPr>
          <p:spPr bwMode="gray">
            <a:xfrm>
              <a:off x="4451909" y="3319599"/>
              <a:ext cx="1098415"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终端数据</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圆角矩形 119">
              <a:extLst>
                <a:ext uri="{FF2B5EF4-FFF2-40B4-BE49-F238E27FC236}">
                  <a16:creationId xmlns:a16="http://schemas.microsoft.com/office/drawing/2014/main" xmlns="" id="{FC4599B6-7E1C-4EBA-B098-607C1BBEAABF}"/>
                </a:ext>
              </a:extLst>
            </p:cNvPr>
            <p:cNvSpPr/>
            <p:nvPr/>
          </p:nvSpPr>
          <p:spPr bwMode="gray">
            <a:xfrm>
              <a:off x="4447693" y="3574088"/>
              <a:ext cx="1098415"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流量数据</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圆角矩形 120">
              <a:extLst>
                <a:ext uri="{FF2B5EF4-FFF2-40B4-BE49-F238E27FC236}">
                  <a16:creationId xmlns:a16="http://schemas.microsoft.com/office/drawing/2014/main" xmlns="" id="{E4B3B4A2-B0A8-412C-821A-A9775E2EF96E}"/>
                </a:ext>
              </a:extLst>
            </p:cNvPr>
            <p:cNvSpPr/>
            <p:nvPr/>
          </p:nvSpPr>
          <p:spPr bwMode="gray">
            <a:xfrm>
              <a:off x="5573499" y="3311767"/>
              <a:ext cx="1098415"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应用数据</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6" name="组合 155">
              <a:extLst>
                <a:ext uri="{FF2B5EF4-FFF2-40B4-BE49-F238E27FC236}">
                  <a16:creationId xmlns:a16="http://schemas.microsoft.com/office/drawing/2014/main" xmlns="" id="{1CE00617-B984-4ADC-919E-C5F52F72ECCD}"/>
                </a:ext>
              </a:extLst>
            </p:cNvPr>
            <p:cNvGrpSpPr/>
            <p:nvPr/>
          </p:nvGrpSpPr>
          <p:grpSpPr bwMode="gray">
            <a:xfrm>
              <a:off x="8760850" y="3013172"/>
              <a:ext cx="1436268" cy="912853"/>
              <a:chOff x="8321714" y="2945637"/>
              <a:chExt cx="1436268" cy="912853"/>
            </a:xfrm>
          </p:grpSpPr>
          <p:sp>
            <p:nvSpPr>
              <p:cNvPr id="93" name="TextBox 189">
                <a:extLst>
                  <a:ext uri="{FF2B5EF4-FFF2-40B4-BE49-F238E27FC236}">
                    <a16:creationId xmlns:a16="http://schemas.microsoft.com/office/drawing/2014/main" xmlns="" id="{01D730F0-ADEC-4349-BC0B-F1FC92626F23}"/>
                  </a:ext>
                </a:extLst>
              </p:cNvPr>
              <p:cNvSpPr txBox="1"/>
              <p:nvPr/>
            </p:nvSpPr>
            <p:spPr bwMode="gray">
              <a:xfrm>
                <a:off x="8439194" y="2945637"/>
                <a:ext cx="1318788" cy="272518"/>
              </a:xfrm>
              <a:prstGeom prst="rect">
                <a:avLst/>
              </a:prstGeom>
              <a:noFill/>
            </p:spPr>
            <p:txBody>
              <a:bodyPr wrap="square" lIns="87000" tIns="43501" rIns="87000" bIns="43501" rtlCol="0">
                <a:spAutoFit/>
              </a:bodyPr>
              <a:lstStyle/>
              <a:p>
                <a:pPr defTabSz="1035965" fontAlgn="auto">
                  <a:spcBef>
                    <a:spcPts val="0"/>
                  </a:spcBef>
                  <a:spcAft>
                    <a:spcPts val="0"/>
                  </a:spcAft>
                  <a:defRPr/>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位置服务</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圆角矩形 121">
                <a:extLst>
                  <a:ext uri="{FF2B5EF4-FFF2-40B4-BE49-F238E27FC236}">
                    <a16:creationId xmlns:a16="http://schemas.microsoft.com/office/drawing/2014/main" xmlns="" id="{0FD662FA-EA2E-4DC5-B461-060F2BD089A7}"/>
                  </a:ext>
                </a:extLst>
              </p:cNvPr>
              <p:cNvSpPr/>
              <p:nvPr/>
            </p:nvSpPr>
            <p:spPr bwMode="gray">
              <a:xfrm>
                <a:off x="8321714" y="3206465"/>
                <a:ext cx="1131435" cy="20413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平台</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RSSI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圆角矩形 124">
                <a:extLst>
                  <a:ext uri="{FF2B5EF4-FFF2-40B4-BE49-F238E27FC236}">
                    <a16:creationId xmlns:a16="http://schemas.microsoft.com/office/drawing/2014/main" xmlns="" id="{B29BDEBA-1059-412E-A17D-5380872A518A}"/>
                  </a:ext>
                </a:extLst>
              </p:cNvPr>
              <p:cNvSpPr/>
              <p:nvPr/>
            </p:nvSpPr>
            <p:spPr bwMode="gray">
              <a:xfrm>
                <a:off x="8323046" y="3438096"/>
                <a:ext cx="1131435" cy="20413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 RSSI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圆角矩形 151">
                <a:extLst>
                  <a:ext uri="{FF2B5EF4-FFF2-40B4-BE49-F238E27FC236}">
                    <a16:creationId xmlns:a16="http://schemas.microsoft.com/office/drawing/2014/main" xmlns="" id="{39A16B0E-7E42-40DC-9A22-992ED2BFEC44}"/>
                  </a:ext>
                </a:extLst>
              </p:cNvPr>
              <p:cNvSpPr/>
              <p:nvPr/>
            </p:nvSpPr>
            <p:spPr bwMode="gray">
              <a:xfrm>
                <a:off x="8334046" y="3673847"/>
                <a:ext cx="1131435" cy="18464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蓝牙</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1" name="圆角矩形 161">
              <a:extLst>
                <a:ext uri="{FF2B5EF4-FFF2-40B4-BE49-F238E27FC236}">
                  <a16:creationId xmlns:a16="http://schemas.microsoft.com/office/drawing/2014/main" xmlns="" id="{610ABA87-2F1A-40CB-99C5-78023868CD1F}"/>
                </a:ext>
              </a:extLst>
            </p:cNvPr>
            <p:cNvSpPr/>
            <p:nvPr/>
          </p:nvSpPr>
          <p:spPr bwMode="gray">
            <a:xfrm>
              <a:off x="5576839" y="3576897"/>
              <a:ext cx="1098415"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IoT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71" name="组合 170">
            <a:extLst>
              <a:ext uri="{FF2B5EF4-FFF2-40B4-BE49-F238E27FC236}">
                <a16:creationId xmlns:a16="http://schemas.microsoft.com/office/drawing/2014/main" xmlns="" id="{B94FED27-431E-4165-955D-E61FD879A00C}"/>
              </a:ext>
            </a:extLst>
          </p:cNvPr>
          <p:cNvGrpSpPr/>
          <p:nvPr/>
        </p:nvGrpSpPr>
        <p:grpSpPr bwMode="gray">
          <a:xfrm>
            <a:off x="893289" y="3940974"/>
            <a:ext cx="10038037" cy="1199490"/>
            <a:chOff x="902525" y="4227010"/>
            <a:chExt cx="10038037" cy="1199490"/>
          </a:xfrm>
        </p:grpSpPr>
        <p:sp>
          <p:nvSpPr>
            <p:cNvPr id="167" name="矩形 166">
              <a:extLst>
                <a:ext uri="{FF2B5EF4-FFF2-40B4-BE49-F238E27FC236}">
                  <a16:creationId xmlns:a16="http://schemas.microsoft.com/office/drawing/2014/main" xmlns="" id="{C79DFC93-6776-4216-8CA5-0ADF5A2847BA}"/>
                </a:ext>
              </a:extLst>
            </p:cNvPr>
            <p:cNvSpPr/>
            <p:nvPr/>
          </p:nvSpPr>
          <p:spPr bwMode="gray">
            <a:xfrm>
              <a:off x="902525" y="4227010"/>
              <a:ext cx="10038037" cy="1199490"/>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158">
              <a:extLst>
                <a:ext uri="{FF2B5EF4-FFF2-40B4-BE49-F238E27FC236}">
                  <a16:creationId xmlns:a16="http://schemas.microsoft.com/office/drawing/2014/main" xmlns="" id="{9EE52217-DE4F-46F8-A228-71A0096A1855}"/>
                </a:ext>
              </a:extLst>
            </p:cNvPr>
            <p:cNvSpPr/>
            <p:nvPr/>
          </p:nvSpPr>
          <p:spPr bwMode="gray">
            <a:xfrm>
              <a:off x="2055071" y="4548877"/>
              <a:ext cx="8050292" cy="804042"/>
            </a:xfrm>
            <a:prstGeom prst="roundRect">
              <a:avLst>
                <a:gd name="adj" fmla="val 10120"/>
              </a:avLst>
            </a:prstGeom>
            <a:solidFill>
              <a:srgbClr val="FFFFFF"/>
            </a:solidFill>
            <a:ln>
              <a:solidFill>
                <a:srgbClr val="FFFFFF">
                  <a:lumMod val="75000"/>
                </a:srgbClr>
              </a:solidFill>
            </a:ln>
            <a:effectLst/>
          </p:spPr>
          <p:txBody>
            <a:bodyPr lIns="121910" tIns="60956" rIns="121910" bIns="60956" anchor="ctr"/>
            <a:lstStyle/>
            <a:p>
              <a:pPr marL="0" marR="0" lvl="0" indent="0" algn="ctr" defTabSz="913763"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 name="Shape 377">
              <a:extLst>
                <a:ext uri="{FF2B5EF4-FFF2-40B4-BE49-F238E27FC236}">
                  <a16:creationId xmlns:a16="http://schemas.microsoft.com/office/drawing/2014/main" xmlns="" id="{82424068-61DB-48B7-803A-86EC3A06F88E}"/>
                </a:ext>
              </a:extLst>
            </p:cNvPr>
            <p:cNvSpPr/>
            <p:nvPr/>
          </p:nvSpPr>
          <p:spPr bwMode="gray">
            <a:xfrm>
              <a:off x="3457850" y="4262960"/>
              <a:ext cx="4755166" cy="264615"/>
            </a:xfrm>
            <a:prstGeom prst="rect">
              <a:avLst/>
            </a:prstGeom>
            <a:solidFill>
              <a:srgbClr val="BEE9EE"/>
            </a:solidFill>
            <a:ln w="12700">
              <a:noFill/>
              <a:prstDash val="dash"/>
              <a:miter lim="400000"/>
            </a:ln>
            <a:extLst>
              <a:ext uri="{C572A759-6A51-4108-AA02-DFA0A04FC94B}">
                <ma14:wrappingTextBoxFlag xmlns="" xmlns:ma14="http://schemas.microsoft.com/office/mac/drawingml/2011/main" val="1"/>
              </a:ext>
            </a:extLst>
          </p:spPr>
          <p:txBody>
            <a:bodyPr wrap="square" lIns="115774" tIns="115774" rIns="115774" bIns="115774" anchor="ctr">
              <a:noAutofit/>
            </a:bodyPr>
            <a:lstStyle>
              <a:lvl1pPr defTabSz="457200">
                <a:lnSpc>
                  <a:spcPct val="120000"/>
                </a:lnSpc>
                <a:defRPr sz="6000" b="1">
                  <a:solidFill>
                    <a:srgbClr val="F7A837"/>
                  </a:solidFill>
                  <a:latin typeface="AkkuratPro-Bold"/>
                  <a:ea typeface="AkkuratPro-Bold"/>
                  <a:cs typeface="AkkuratPro-Bold"/>
                  <a:sym typeface="AkkuratPro-Bold"/>
                </a:defRPr>
              </a:lvl1pPr>
            </a:lstStyle>
            <a:p>
              <a:pPr algn="ctr" hangingPunct="0">
                <a:lnSpc>
                  <a:spcPct val="100000"/>
                </a:lnSpc>
              </a:pPr>
              <a:r>
                <a:rPr lang="en-US" altLang="zh-CN" sz="1200" kern="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NETCONF/YANG/Telemetry/Syslog/SNMP/</a:t>
              </a:r>
              <a:r>
                <a:rPr lang="en-US" altLang="zh-CN" sz="1200" kern="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Netstream</a:t>
              </a:r>
              <a:endParaRPr lang="en-US" altLang="zh-CN" sz="1200" kern="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152" name="组合 151">
              <a:extLst>
                <a:ext uri="{FF2B5EF4-FFF2-40B4-BE49-F238E27FC236}">
                  <a16:creationId xmlns:a16="http://schemas.microsoft.com/office/drawing/2014/main" xmlns="" id="{F997C661-1496-48FF-B042-9EFCC985B277}"/>
                </a:ext>
              </a:extLst>
            </p:cNvPr>
            <p:cNvGrpSpPr/>
            <p:nvPr/>
          </p:nvGrpSpPr>
          <p:grpSpPr bwMode="gray">
            <a:xfrm>
              <a:off x="6737655" y="4670058"/>
              <a:ext cx="659581" cy="742417"/>
              <a:chOff x="5837848" y="4931308"/>
              <a:chExt cx="659581" cy="742417"/>
            </a:xfrm>
          </p:grpSpPr>
          <p:sp>
            <p:nvSpPr>
              <p:cNvPr id="19" name="文本框 18">
                <a:extLst>
                  <a:ext uri="{FF2B5EF4-FFF2-40B4-BE49-F238E27FC236}">
                    <a16:creationId xmlns:a16="http://schemas.microsoft.com/office/drawing/2014/main" xmlns="" id="{C3681C8F-CAF2-40E5-AC7A-B72A81EBE111}"/>
                  </a:ext>
                </a:extLst>
              </p:cNvPr>
              <p:cNvSpPr txBox="1"/>
              <p:nvPr/>
            </p:nvSpPr>
            <p:spPr bwMode="gray">
              <a:xfrm>
                <a:off x="5837848" y="5396726"/>
                <a:ext cx="659581"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交换机</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 name="图片 21" descr="接入交换机.png">
                <a:extLst>
                  <a:ext uri="{FF2B5EF4-FFF2-40B4-BE49-F238E27FC236}">
                    <a16:creationId xmlns:a16="http://schemas.microsoft.com/office/drawing/2014/main" xmlns="" id="{6A8E1E46-4E37-429C-A8BF-4EEB8AC77751}"/>
                  </a:ext>
                </a:extLst>
              </p:cNvPr>
              <p:cNvPicPr>
                <a:picLocks noChangeAspect="1"/>
              </p:cNvPicPr>
              <p:nvPr/>
            </p:nvPicPr>
            <p:blipFill>
              <a:blip r:embed="rId3" cstate="print"/>
              <a:stretch>
                <a:fillRect/>
              </a:stretch>
            </p:blipFill>
            <p:spPr bwMode="gray">
              <a:xfrm>
                <a:off x="5901361" y="4931308"/>
                <a:ext cx="540000" cy="441818"/>
              </a:xfrm>
              <a:prstGeom prst="rect">
                <a:avLst/>
              </a:prstGeom>
              <a:effectLst/>
            </p:spPr>
          </p:pic>
        </p:grpSp>
        <p:grpSp>
          <p:nvGrpSpPr>
            <p:cNvPr id="154" name="组合 153">
              <a:extLst>
                <a:ext uri="{FF2B5EF4-FFF2-40B4-BE49-F238E27FC236}">
                  <a16:creationId xmlns:a16="http://schemas.microsoft.com/office/drawing/2014/main" xmlns="" id="{8910FAE6-1191-408F-B434-64CA5687E1C2}"/>
                </a:ext>
              </a:extLst>
            </p:cNvPr>
            <p:cNvGrpSpPr/>
            <p:nvPr/>
          </p:nvGrpSpPr>
          <p:grpSpPr bwMode="gray">
            <a:xfrm>
              <a:off x="2770799" y="4661762"/>
              <a:ext cx="744287" cy="743436"/>
              <a:chOff x="3032055" y="4923012"/>
              <a:chExt cx="744287" cy="743436"/>
            </a:xfrm>
          </p:grpSpPr>
          <p:sp>
            <p:nvSpPr>
              <p:cNvPr id="17" name="文本框 16">
                <a:extLst>
                  <a:ext uri="{FF2B5EF4-FFF2-40B4-BE49-F238E27FC236}">
                    <a16:creationId xmlns:a16="http://schemas.microsoft.com/office/drawing/2014/main" xmlns="" id="{BD89062E-A419-4DF5-AF93-550A590A6EF4}"/>
                  </a:ext>
                </a:extLst>
              </p:cNvPr>
              <p:cNvSpPr txBox="1"/>
              <p:nvPr/>
            </p:nvSpPr>
            <p:spPr bwMode="gray">
              <a:xfrm>
                <a:off x="3032055" y="5389449"/>
                <a:ext cx="744287"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防火墙</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 name="图片 22" descr="防火墙.png">
                <a:extLst>
                  <a:ext uri="{FF2B5EF4-FFF2-40B4-BE49-F238E27FC236}">
                    <a16:creationId xmlns:a16="http://schemas.microsoft.com/office/drawing/2014/main" xmlns="" id="{C6AFD5AC-97CA-4E74-BB0A-2106677B975D}"/>
                  </a:ext>
                </a:extLst>
              </p:cNvPr>
              <p:cNvPicPr>
                <a:picLocks noChangeAspect="1"/>
              </p:cNvPicPr>
              <p:nvPr/>
            </p:nvPicPr>
            <p:blipFill>
              <a:blip r:embed="rId4" cstate="print"/>
              <a:stretch>
                <a:fillRect/>
              </a:stretch>
            </p:blipFill>
            <p:spPr bwMode="gray">
              <a:xfrm>
                <a:off x="3124506" y="4923012"/>
                <a:ext cx="540000" cy="441818"/>
              </a:xfrm>
              <a:prstGeom prst="rect">
                <a:avLst/>
              </a:prstGeom>
              <a:effectLst/>
            </p:spPr>
          </p:pic>
        </p:grpSp>
        <p:grpSp>
          <p:nvGrpSpPr>
            <p:cNvPr id="151" name="组合 150">
              <a:extLst>
                <a:ext uri="{FF2B5EF4-FFF2-40B4-BE49-F238E27FC236}">
                  <a16:creationId xmlns:a16="http://schemas.microsoft.com/office/drawing/2014/main" xmlns="" id="{F29EC75F-84E0-4131-891C-F694E4E1A4B5}"/>
                </a:ext>
              </a:extLst>
            </p:cNvPr>
            <p:cNvGrpSpPr/>
            <p:nvPr/>
          </p:nvGrpSpPr>
          <p:grpSpPr bwMode="gray">
            <a:xfrm>
              <a:off x="8591058" y="4661963"/>
              <a:ext cx="1416960" cy="733015"/>
              <a:chOff x="7011641" y="4923213"/>
              <a:chExt cx="1416960" cy="733015"/>
            </a:xfrm>
          </p:grpSpPr>
          <p:sp>
            <p:nvSpPr>
              <p:cNvPr id="20" name="文本框 19">
                <a:extLst>
                  <a:ext uri="{FF2B5EF4-FFF2-40B4-BE49-F238E27FC236}">
                    <a16:creationId xmlns:a16="http://schemas.microsoft.com/office/drawing/2014/main" xmlns="" id="{654A941B-12D4-4DC5-A468-E96F250E3671}"/>
                  </a:ext>
                </a:extLst>
              </p:cNvPr>
              <p:cNvSpPr txBox="1"/>
              <p:nvPr/>
            </p:nvSpPr>
            <p:spPr bwMode="gray">
              <a:xfrm>
                <a:off x="7011641" y="5379229"/>
                <a:ext cx="1416960"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WLAN AP</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图片 23" descr="AP.png">
                <a:extLst>
                  <a:ext uri="{FF2B5EF4-FFF2-40B4-BE49-F238E27FC236}">
                    <a16:creationId xmlns:a16="http://schemas.microsoft.com/office/drawing/2014/main" xmlns="" id="{FAD78794-EE94-4E31-B20C-24DDEA1057DE}"/>
                  </a:ext>
                </a:extLst>
              </p:cNvPr>
              <p:cNvPicPr>
                <a:picLocks noChangeAspect="1"/>
              </p:cNvPicPr>
              <p:nvPr/>
            </p:nvPicPr>
            <p:blipFill>
              <a:blip r:embed="rId5" cstate="print"/>
              <a:stretch>
                <a:fillRect/>
              </a:stretch>
            </p:blipFill>
            <p:spPr bwMode="gray">
              <a:xfrm>
                <a:off x="7440036" y="4923213"/>
                <a:ext cx="540000" cy="441818"/>
              </a:xfrm>
              <a:prstGeom prst="rect">
                <a:avLst/>
              </a:prstGeom>
              <a:effectLst/>
            </p:spPr>
          </p:pic>
        </p:grpSp>
        <p:grpSp>
          <p:nvGrpSpPr>
            <p:cNvPr id="153" name="组合 152">
              <a:extLst>
                <a:ext uri="{FF2B5EF4-FFF2-40B4-BE49-F238E27FC236}">
                  <a16:creationId xmlns:a16="http://schemas.microsoft.com/office/drawing/2014/main" xmlns="" id="{57F9CCC1-3F5D-45D3-9A25-FD36BD853151}"/>
                </a:ext>
              </a:extLst>
            </p:cNvPr>
            <p:cNvGrpSpPr/>
            <p:nvPr/>
          </p:nvGrpSpPr>
          <p:grpSpPr bwMode="gray">
            <a:xfrm>
              <a:off x="4827553" y="4670255"/>
              <a:ext cx="609509" cy="726903"/>
              <a:chOff x="4421638" y="4931505"/>
              <a:chExt cx="609509" cy="726903"/>
            </a:xfrm>
          </p:grpSpPr>
          <p:sp>
            <p:nvSpPr>
              <p:cNvPr id="18" name="文本框 17">
                <a:extLst>
                  <a:ext uri="{FF2B5EF4-FFF2-40B4-BE49-F238E27FC236}">
                    <a16:creationId xmlns:a16="http://schemas.microsoft.com/office/drawing/2014/main" xmlns="" id="{23753D59-CDA4-476B-BB02-124DD90ECA0F}"/>
                  </a:ext>
                </a:extLst>
              </p:cNvPr>
              <p:cNvSpPr txBox="1"/>
              <p:nvPr/>
            </p:nvSpPr>
            <p:spPr bwMode="gray">
              <a:xfrm>
                <a:off x="4421638" y="5381409"/>
                <a:ext cx="609509"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 name="Picture 12" descr="E:\2016.01\1.12 扁平化图标\蓝色\AR-蓝色最新-40.png">
                <a:extLst>
                  <a:ext uri="{FF2B5EF4-FFF2-40B4-BE49-F238E27FC236}">
                    <a16:creationId xmlns:a16="http://schemas.microsoft.com/office/drawing/2014/main" xmlns="" id="{E2A85014-4FAB-4980-8E2B-941DA59652F9}"/>
                  </a:ext>
                </a:extLst>
              </p:cNvPr>
              <p:cNvPicPr>
                <a:picLocks noChangeAspect="1" noChangeArrowheads="1"/>
              </p:cNvPicPr>
              <p:nvPr/>
            </p:nvPicPr>
            <p:blipFill>
              <a:blip r:embed="rId6" cstate="print"/>
              <a:srcRect/>
              <a:stretch>
                <a:fillRect/>
              </a:stretch>
            </p:blipFill>
            <p:spPr bwMode="gray">
              <a:xfrm>
                <a:off x="4459206" y="4931505"/>
                <a:ext cx="540000" cy="441818"/>
              </a:xfrm>
              <a:prstGeom prst="rect">
                <a:avLst/>
              </a:prstGeom>
              <a:noFill/>
              <a:effectLst/>
            </p:spPr>
          </p:pic>
        </p:grpSp>
        <p:sp>
          <p:nvSpPr>
            <p:cNvPr id="101" name="椭圆 100">
              <a:extLst>
                <a:ext uri="{FF2B5EF4-FFF2-40B4-BE49-F238E27FC236}">
                  <a16:creationId xmlns:a16="http://schemas.microsoft.com/office/drawing/2014/main" xmlns="" id="{517EF3C1-83F4-40E2-8CC6-E7891437D4E6}"/>
                </a:ext>
              </a:extLst>
            </p:cNvPr>
            <p:cNvSpPr/>
            <p:nvPr/>
          </p:nvSpPr>
          <p:spPr bwMode="gray">
            <a:xfrm>
              <a:off x="3695786" y="4319757"/>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Huawei Sans" panose="020C0503030203020204" pitchFamily="34" charset="0"/>
                  <a:ea typeface="方正兰亭黑简体" panose="02000000000000000000" pitchFamily="2" charset="-122"/>
                  <a:sym typeface="Huawei Sans" panose="020C0503030203020204" pitchFamily="34" charset="0"/>
                </a:rPr>
                <a:t>5</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文本框 111">
              <a:extLst>
                <a:ext uri="{FF2B5EF4-FFF2-40B4-BE49-F238E27FC236}">
                  <a16:creationId xmlns:a16="http://schemas.microsoft.com/office/drawing/2014/main" xmlns="" id="{A244A975-1976-42A9-A5A9-15872AEFA8E9}"/>
                </a:ext>
              </a:extLst>
            </p:cNvPr>
            <p:cNvSpPr txBox="1"/>
            <p:nvPr/>
          </p:nvSpPr>
          <p:spPr bwMode="gray">
            <a:xfrm>
              <a:off x="1004096" y="4530378"/>
              <a:ext cx="990310"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网络层</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0" name="矩形 179">
            <a:extLst>
              <a:ext uri="{FF2B5EF4-FFF2-40B4-BE49-F238E27FC236}">
                <a16:creationId xmlns:a16="http://schemas.microsoft.com/office/drawing/2014/main" xmlns="" id="{40408AC7-DAB0-49BD-8F99-51B931B5CD11}"/>
              </a:ext>
            </a:extLst>
          </p:cNvPr>
          <p:cNvSpPr/>
          <p:nvPr/>
        </p:nvSpPr>
        <p:spPr bwMode="gray">
          <a:xfrm>
            <a:off x="8655818" y="2749384"/>
            <a:ext cx="1386019" cy="2361738"/>
          </a:xfrm>
          <a:prstGeom prst="rect">
            <a:avLst/>
          </a:prstGeom>
          <a:noFill/>
          <a:ln w="9525">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a:extLst>
              <a:ext uri="{FF2B5EF4-FFF2-40B4-BE49-F238E27FC236}">
                <a16:creationId xmlns:a16="http://schemas.microsoft.com/office/drawing/2014/main" xmlns="" id="{1A6E7AE0-CCB3-4977-A46F-02AB9275DFEA}"/>
              </a:ext>
            </a:extLst>
          </p:cNvPr>
          <p:cNvSpPr>
            <a:spLocks noGrp="1"/>
          </p:cNvSpPr>
          <p:nvPr>
            <p:ph type="title"/>
          </p:nvPr>
        </p:nvSpPr>
        <p:spPr bwMode="gray"/>
        <p:txBody>
          <a:bodyPr/>
          <a:lstStyle/>
          <a:p>
            <a:r>
              <a:rPr lang="zh-CN" altLang="en-US" smtClean="0">
                <a:sym typeface="Huawei Sans" panose="020C0503030203020204" pitchFamily="34" charset="0"/>
              </a:rPr>
              <a:t>智简园区能力开放全景图</a:t>
            </a:r>
            <a:endParaRPr lang="zh-CN" altLang="en-US">
              <a:sym typeface="Huawei Sans" panose="020C0503030203020204" pitchFamily="34" charset="0"/>
            </a:endParaRPr>
          </a:p>
        </p:txBody>
      </p:sp>
      <p:grpSp>
        <p:nvGrpSpPr>
          <p:cNvPr id="169" name="组合 168">
            <a:extLst>
              <a:ext uri="{FF2B5EF4-FFF2-40B4-BE49-F238E27FC236}">
                <a16:creationId xmlns:a16="http://schemas.microsoft.com/office/drawing/2014/main" xmlns="" id="{C63C371C-63A3-46B4-ABBC-EA5743371985}"/>
              </a:ext>
            </a:extLst>
          </p:cNvPr>
          <p:cNvGrpSpPr/>
          <p:nvPr/>
        </p:nvGrpSpPr>
        <p:grpSpPr bwMode="gray">
          <a:xfrm>
            <a:off x="902525" y="1004399"/>
            <a:ext cx="10038037" cy="1556535"/>
            <a:chOff x="902525" y="1207310"/>
            <a:chExt cx="10038037" cy="1556535"/>
          </a:xfrm>
        </p:grpSpPr>
        <p:sp>
          <p:nvSpPr>
            <p:cNvPr id="165" name="矩形 164">
              <a:extLst>
                <a:ext uri="{FF2B5EF4-FFF2-40B4-BE49-F238E27FC236}">
                  <a16:creationId xmlns:a16="http://schemas.microsoft.com/office/drawing/2014/main" xmlns="" id="{659DFDE4-177D-4BB1-9601-8EB95C4E2487}"/>
                </a:ext>
              </a:extLst>
            </p:cNvPr>
            <p:cNvSpPr/>
            <p:nvPr/>
          </p:nvSpPr>
          <p:spPr bwMode="gray">
            <a:xfrm>
              <a:off x="902525" y="1207310"/>
              <a:ext cx="10038037" cy="1556535"/>
            </a:xfrm>
            <a:prstGeom prst="rect">
              <a:avLst/>
            </a:prstGeom>
            <a:solidFill>
              <a:srgbClr val="FFFFCC"/>
            </a:solidFill>
            <a:ln>
              <a:solidFill>
                <a:srgbClr val="FFD2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a:extLst>
                <a:ext uri="{FF2B5EF4-FFF2-40B4-BE49-F238E27FC236}">
                  <a16:creationId xmlns:a16="http://schemas.microsoft.com/office/drawing/2014/main" xmlns="" id="{8A9FFB34-6BEE-417D-89EC-15146B8FC778}"/>
                </a:ext>
              </a:extLst>
            </p:cNvPr>
            <p:cNvSpPr txBox="1"/>
            <p:nvPr/>
          </p:nvSpPr>
          <p:spPr bwMode="gray">
            <a:xfrm>
              <a:off x="1004096" y="1700462"/>
              <a:ext cx="990310"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应用层</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a:extLst>
                <a:ext uri="{FF2B5EF4-FFF2-40B4-BE49-F238E27FC236}">
                  <a16:creationId xmlns:a16="http://schemas.microsoft.com/office/drawing/2014/main" xmlns="" id="{97FEA811-2E4B-4568-98F5-17EB38166AF4}"/>
                </a:ext>
              </a:extLst>
            </p:cNvPr>
            <p:cNvSpPr txBox="1"/>
            <p:nvPr/>
          </p:nvSpPr>
          <p:spPr bwMode="gray">
            <a:xfrm>
              <a:off x="4988110" y="2475952"/>
              <a:ext cx="1515413" cy="276999"/>
            </a:xfrm>
            <a:prstGeom prst="rect">
              <a:avLst/>
            </a:prstGeom>
            <a:solidFill>
              <a:srgbClr val="EC7061"/>
            </a:solidFill>
          </p:spPr>
          <p:txBody>
            <a:bodyPr wrap="square" rtlCol="0">
              <a:spAutoFit/>
            </a:bodyPr>
            <a:lstStyle/>
            <a:p>
              <a:pPr algn="ctr"/>
              <a:r>
                <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聚焦行业</a:t>
              </a:r>
              <a:endParaRPr 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4" name="组合 163">
              <a:extLst>
                <a:ext uri="{FF2B5EF4-FFF2-40B4-BE49-F238E27FC236}">
                  <a16:creationId xmlns:a16="http://schemas.microsoft.com/office/drawing/2014/main" xmlns="" id="{11D4ECA8-8B02-467A-9B65-724DDC2D6023}"/>
                </a:ext>
              </a:extLst>
            </p:cNvPr>
            <p:cNvGrpSpPr/>
            <p:nvPr/>
          </p:nvGrpSpPr>
          <p:grpSpPr bwMode="gray">
            <a:xfrm>
              <a:off x="2306340" y="1273372"/>
              <a:ext cx="1389446" cy="1251937"/>
              <a:chOff x="2306340" y="1534622"/>
              <a:chExt cx="1389446" cy="1251937"/>
            </a:xfrm>
          </p:grpSpPr>
          <p:sp>
            <p:nvSpPr>
              <p:cNvPr id="73" name="文本框 225">
                <a:extLst>
                  <a:ext uri="{FF2B5EF4-FFF2-40B4-BE49-F238E27FC236}">
                    <a16:creationId xmlns:a16="http://schemas.microsoft.com/office/drawing/2014/main" xmlns="" id="{87C8A0EB-96F2-4B29-839B-4A1293D884C7}"/>
                  </a:ext>
                </a:extLst>
              </p:cNvPr>
              <p:cNvSpPr txBox="1">
                <a:spLocks noChangeArrowheads="1"/>
              </p:cNvSpPr>
              <p:nvPr/>
            </p:nvSpPr>
            <p:spPr bwMode="gray">
              <a:xfrm>
                <a:off x="2559683" y="1655976"/>
                <a:ext cx="541450" cy="276995"/>
              </a:xfrm>
              <a:prstGeom prst="rect">
                <a:avLst/>
              </a:prstGeom>
              <a:noFill/>
              <a:ln w="9525">
                <a:noFill/>
                <a:miter lim="800000"/>
                <a:headEnd/>
                <a:tailEnd/>
              </a:ln>
            </p:spPr>
            <p:txBody>
              <a:bodyPr wrap="square" lIns="91436" tIns="45718" rIns="91436" bIns="45718">
                <a:spAutoFit/>
              </a:bodyPr>
              <a:lstStyle/>
              <a:p>
                <a:pPr marL="0" marR="0" lvl="0" indent="0" defTabSz="914400" eaLnBrk="1" fontAlgn="base" latinLnBrk="0" hangingPunct="1">
                  <a:lnSpc>
                    <a:spcPct val="100000"/>
                  </a:lnSpc>
                  <a:spcBef>
                    <a:spcPct val="0"/>
                  </a:spcBef>
                  <a:spcAft>
                    <a:spcPct val="0"/>
                  </a:spcAft>
                  <a:buClrTx/>
                  <a:buSzPct val="100000"/>
                  <a:buFontTx/>
                  <a:buNone/>
                  <a:tabLst/>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MSP</a:t>
                </a:r>
                <a:endParaRPr kumimoji="0" lang="zh-CN"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弧形 73">
                <a:extLst>
                  <a:ext uri="{FF2B5EF4-FFF2-40B4-BE49-F238E27FC236}">
                    <a16:creationId xmlns:a16="http://schemas.microsoft.com/office/drawing/2014/main" xmlns="" id="{EE9980B7-BDDB-432F-9602-F1E331F6265B}"/>
                  </a:ext>
                </a:extLst>
              </p:cNvPr>
              <p:cNvSpPr>
                <a:spLocks noChangeAspect="1"/>
              </p:cNvSpPr>
              <p:nvPr/>
            </p:nvSpPr>
            <p:spPr bwMode="gray">
              <a:xfrm>
                <a:off x="2495668" y="1555393"/>
                <a:ext cx="550800" cy="550800"/>
              </a:xfrm>
              <a:prstGeom prst="arc">
                <a:avLst>
                  <a:gd name="adj1" fmla="val 14445679"/>
                  <a:gd name="adj2" fmla="val 10762572"/>
                </a:avLst>
              </a:prstGeom>
              <a:noFill/>
              <a:ln w="12700" cap="rnd" cmpd="sng" algn="ctr">
                <a:solidFill>
                  <a:schemeClr val="bg2">
                    <a:lumMod val="50000"/>
                  </a:schemeClr>
                </a:solidFill>
                <a:prstDash val="solid"/>
                <a:miter lim="800000"/>
                <a:tailEnd type="oval" w="sm" len="sm"/>
              </a:ln>
              <a:effectLst/>
            </p:spPr>
            <p:txBody>
              <a:bodyPr lIns="91436" tIns="45718" rIns="91436" bIns="45718" rtlCol="0" anchor="ctr"/>
              <a:lstStyle/>
              <a:p>
                <a:pPr marL="0" marR="0" lvl="0" indent="0" algn="ctr" defTabSz="457039" eaLnBrk="1" fontAlgn="ctr" latinLnBrk="0" hangingPunct="1">
                  <a:lnSpc>
                    <a:spcPct val="100000"/>
                  </a:lnSpc>
                  <a:spcBef>
                    <a:spcPts val="0"/>
                  </a:spcBef>
                  <a:spcAft>
                    <a:spcPts val="0"/>
                  </a:spcAft>
                  <a:buClrTx/>
                  <a:buSzTx/>
                  <a:buFontTx/>
                  <a:buNone/>
                  <a:tabLst/>
                  <a:defRPr/>
                </a:pPr>
                <a:endPar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5" name="组合 141">
                <a:extLst>
                  <a:ext uri="{FF2B5EF4-FFF2-40B4-BE49-F238E27FC236}">
                    <a16:creationId xmlns:a16="http://schemas.microsoft.com/office/drawing/2014/main" xmlns="" id="{FC744964-8184-41A6-ADFD-76816813B353}"/>
                  </a:ext>
                </a:extLst>
              </p:cNvPr>
              <p:cNvGrpSpPr/>
              <p:nvPr/>
            </p:nvGrpSpPr>
            <p:grpSpPr bwMode="gray">
              <a:xfrm>
                <a:off x="2403500" y="1534622"/>
                <a:ext cx="224743" cy="222775"/>
                <a:chOff x="7475491" y="3520018"/>
                <a:chExt cx="587800" cy="995174"/>
              </a:xfrm>
              <a:solidFill>
                <a:schemeClr val="bg2">
                  <a:lumMod val="50000"/>
                </a:schemeClr>
              </a:solidFill>
            </p:grpSpPr>
            <p:sp>
              <p:nvSpPr>
                <p:cNvPr id="76" name="Freeform 35">
                  <a:extLst>
                    <a:ext uri="{FF2B5EF4-FFF2-40B4-BE49-F238E27FC236}">
                      <a16:creationId xmlns:a16="http://schemas.microsoft.com/office/drawing/2014/main" xmlns="" id="{05A36BF3-49DB-4FDE-9805-7D02D8DD5A8D}"/>
                    </a:ext>
                  </a:extLst>
                </p:cNvPr>
                <p:cNvSpPr>
                  <a:spLocks noEditPoints="1"/>
                </p:cNvSpPr>
                <p:nvPr/>
              </p:nvSpPr>
              <p:spPr bwMode="gray">
                <a:xfrm>
                  <a:off x="7573578" y="3800726"/>
                  <a:ext cx="412546" cy="433758"/>
                </a:xfrm>
                <a:custGeom>
                  <a:avLst/>
                  <a:gdLst>
                    <a:gd name="T0" fmla="*/ 170 w 477"/>
                    <a:gd name="T1" fmla="*/ 429 h 502"/>
                    <a:gd name="T2" fmla="*/ 86 w 477"/>
                    <a:gd name="T3" fmla="*/ 502 h 502"/>
                    <a:gd name="T4" fmla="*/ 0 w 477"/>
                    <a:gd name="T5" fmla="*/ 416 h 502"/>
                    <a:gd name="T6" fmla="*/ 72 w 477"/>
                    <a:gd name="T7" fmla="*/ 330 h 502"/>
                    <a:gd name="T8" fmla="*/ 63 w 477"/>
                    <a:gd name="T9" fmla="*/ 258 h 502"/>
                    <a:gd name="T10" fmla="*/ 144 w 477"/>
                    <a:gd name="T11" fmla="*/ 143 h 502"/>
                    <a:gd name="T12" fmla="*/ 254 w 477"/>
                    <a:gd name="T13" fmla="*/ 20 h 502"/>
                    <a:gd name="T14" fmla="*/ 458 w 477"/>
                    <a:gd name="T15" fmla="*/ 0 h 502"/>
                    <a:gd name="T16" fmla="*/ 477 w 477"/>
                    <a:gd name="T17" fmla="*/ 153 h 502"/>
                    <a:gd name="T18" fmla="*/ 398 w 477"/>
                    <a:gd name="T19" fmla="*/ 172 h 502"/>
                    <a:gd name="T20" fmla="*/ 438 w 477"/>
                    <a:gd name="T21" fmla="*/ 223 h 502"/>
                    <a:gd name="T22" fmla="*/ 404 w 477"/>
                    <a:gd name="T23" fmla="*/ 245 h 502"/>
                    <a:gd name="T24" fmla="*/ 452 w 477"/>
                    <a:gd name="T25" fmla="*/ 355 h 502"/>
                    <a:gd name="T26" fmla="*/ 452 w 477"/>
                    <a:gd name="T27" fmla="*/ 477 h 502"/>
                    <a:gd name="T28" fmla="*/ 330 w 477"/>
                    <a:gd name="T29" fmla="*/ 477 h 502"/>
                    <a:gd name="T30" fmla="*/ 256 w 477"/>
                    <a:gd name="T31" fmla="*/ 464 h 502"/>
                    <a:gd name="T32" fmla="*/ 235 w 477"/>
                    <a:gd name="T33" fmla="*/ 429 h 502"/>
                    <a:gd name="T34" fmla="*/ 162 w 477"/>
                    <a:gd name="T35" fmla="*/ 160 h 502"/>
                    <a:gd name="T36" fmla="*/ 135 w 477"/>
                    <a:gd name="T37" fmla="*/ 275 h 502"/>
                    <a:gd name="T38" fmla="*/ 101 w 477"/>
                    <a:gd name="T39" fmla="*/ 331 h 502"/>
                    <a:gd name="T40" fmla="*/ 171 w 477"/>
                    <a:gd name="T41" fmla="*/ 404 h 502"/>
                    <a:gd name="T42" fmla="*/ 235 w 477"/>
                    <a:gd name="T43" fmla="*/ 378 h 502"/>
                    <a:gd name="T44" fmla="*/ 306 w 477"/>
                    <a:gd name="T45" fmla="*/ 408 h 502"/>
                    <a:gd name="T46" fmla="*/ 378 w 477"/>
                    <a:gd name="T47" fmla="*/ 330 h 502"/>
                    <a:gd name="T48" fmla="*/ 353 w 477"/>
                    <a:gd name="T49" fmla="*/ 245 h 502"/>
                    <a:gd name="T50" fmla="*/ 382 w 477"/>
                    <a:gd name="T51" fmla="*/ 174 h 502"/>
                    <a:gd name="T52" fmla="*/ 273 w 477"/>
                    <a:gd name="T53" fmla="*/ 172 h 502"/>
                    <a:gd name="T54" fmla="*/ 254 w 477"/>
                    <a:gd name="T55" fmla="*/ 101 h 502"/>
                    <a:gd name="T56" fmla="*/ 292 w 477"/>
                    <a:gd name="T57" fmla="*/ 38 h 502"/>
                    <a:gd name="T58" fmla="*/ 439 w 477"/>
                    <a:gd name="T59" fmla="*/ 134 h 502"/>
                    <a:gd name="T60" fmla="*/ 425 w 477"/>
                    <a:gd name="T61" fmla="*/ 382 h 502"/>
                    <a:gd name="T62" fmla="*/ 357 w 477"/>
                    <a:gd name="T63" fmla="*/ 382 h 502"/>
                    <a:gd name="T64" fmla="*/ 357 w 477"/>
                    <a:gd name="T65" fmla="*/ 450 h 502"/>
                    <a:gd name="T66" fmla="*/ 425 w 477"/>
                    <a:gd name="T67" fmla="*/ 450 h 502"/>
                    <a:gd name="T68" fmla="*/ 425 w 477"/>
                    <a:gd name="T69" fmla="*/ 382 h 502"/>
                    <a:gd name="T70" fmla="*/ 86 w 477"/>
                    <a:gd name="T71" fmla="*/ 367 h 502"/>
                    <a:gd name="T72" fmla="*/ 38 w 477"/>
                    <a:gd name="T73" fmla="*/ 416 h 502"/>
                    <a:gd name="T74" fmla="*/ 86 w 477"/>
                    <a:gd name="T75" fmla="*/ 464 h 502"/>
                    <a:gd name="T76" fmla="*/ 134 w 477"/>
                    <a:gd name="T77" fmla="*/ 416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7" h="502">
                      <a:moveTo>
                        <a:pt x="235" y="429"/>
                      </a:moveTo>
                      <a:cubicBezTo>
                        <a:pt x="170" y="429"/>
                        <a:pt x="170" y="429"/>
                        <a:pt x="170" y="429"/>
                      </a:cubicBezTo>
                      <a:cubicBezTo>
                        <a:pt x="168" y="448"/>
                        <a:pt x="159" y="464"/>
                        <a:pt x="146" y="477"/>
                      </a:cubicBezTo>
                      <a:cubicBezTo>
                        <a:pt x="131" y="493"/>
                        <a:pt x="109" y="502"/>
                        <a:pt x="86" y="502"/>
                      </a:cubicBezTo>
                      <a:cubicBezTo>
                        <a:pt x="62" y="502"/>
                        <a:pt x="41" y="493"/>
                        <a:pt x="25" y="477"/>
                      </a:cubicBezTo>
                      <a:cubicBezTo>
                        <a:pt x="10" y="461"/>
                        <a:pt x="0" y="440"/>
                        <a:pt x="0" y="416"/>
                      </a:cubicBezTo>
                      <a:cubicBezTo>
                        <a:pt x="0" y="392"/>
                        <a:pt x="10" y="370"/>
                        <a:pt x="25" y="355"/>
                      </a:cubicBezTo>
                      <a:cubicBezTo>
                        <a:pt x="38" y="342"/>
                        <a:pt x="54" y="333"/>
                        <a:pt x="72" y="330"/>
                      </a:cubicBezTo>
                      <a:cubicBezTo>
                        <a:pt x="48" y="277"/>
                        <a:pt x="48" y="277"/>
                        <a:pt x="48" y="277"/>
                      </a:cubicBezTo>
                      <a:cubicBezTo>
                        <a:pt x="43" y="269"/>
                        <a:pt x="48" y="255"/>
                        <a:pt x="63" y="258"/>
                      </a:cubicBezTo>
                      <a:cubicBezTo>
                        <a:pt x="84" y="263"/>
                        <a:pt x="84" y="263"/>
                        <a:pt x="84" y="263"/>
                      </a:cubicBezTo>
                      <a:cubicBezTo>
                        <a:pt x="94" y="216"/>
                        <a:pt x="115" y="175"/>
                        <a:pt x="144" y="143"/>
                      </a:cubicBezTo>
                      <a:cubicBezTo>
                        <a:pt x="174" y="108"/>
                        <a:pt x="212" y="84"/>
                        <a:pt x="254" y="75"/>
                      </a:cubicBezTo>
                      <a:cubicBezTo>
                        <a:pt x="254" y="20"/>
                        <a:pt x="254" y="20"/>
                        <a:pt x="254" y="20"/>
                      </a:cubicBezTo>
                      <a:cubicBezTo>
                        <a:pt x="254" y="9"/>
                        <a:pt x="264" y="0"/>
                        <a:pt x="275" y="0"/>
                      </a:cubicBezTo>
                      <a:cubicBezTo>
                        <a:pt x="458" y="0"/>
                        <a:pt x="458" y="0"/>
                        <a:pt x="458" y="0"/>
                      </a:cubicBezTo>
                      <a:cubicBezTo>
                        <a:pt x="468" y="0"/>
                        <a:pt x="477" y="9"/>
                        <a:pt x="477" y="19"/>
                      </a:cubicBezTo>
                      <a:cubicBezTo>
                        <a:pt x="477" y="153"/>
                        <a:pt x="477" y="153"/>
                        <a:pt x="477" y="153"/>
                      </a:cubicBezTo>
                      <a:cubicBezTo>
                        <a:pt x="477" y="163"/>
                        <a:pt x="468" y="172"/>
                        <a:pt x="458" y="172"/>
                      </a:cubicBezTo>
                      <a:cubicBezTo>
                        <a:pt x="398" y="172"/>
                        <a:pt x="398" y="172"/>
                        <a:pt x="398" y="172"/>
                      </a:cubicBezTo>
                      <a:cubicBezTo>
                        <a:pt x="398" y="172"/>
                        <a:pt x="399" y="173"/>
                        <a:pt x="399" y="174"/>
                      </a:cubicBezTo>
                      <a:cubicBezTo>
                        <a:pt x="438" y="223"/>
                        <a:pt x="438" y="223"/>
                        <a:pt x="438" y="223"/>
                      </a:cubicBezTo>
                      <a:cubicBezTo>
                        <a:pt x="444" y="229"/>
                        <a:pt x="443" y="245"/>
                        <a:pt x="428" y="245"/>
                      </a:cubicBezTo>
                      <a:cubicBezTo>
                        <a:pt x="404" y="245"/>
                        <a:pt x="404" y="245"/>
                        <a:pt x="404" y="245"/>
                      </a:cubicBezTo>
                      <a:cubicBezTo>
                        <a:pt x="404" y="330"/>
                        <a:pt x="404" y="330"/>
                        <a:pt x="404" y="330"/>
                      </a:cubicBezTo>
                      <a:cubicBezTo>
                        <a:pt x="422" y="333"/>
                        <a:pt x="439" y="342"/>
                        <a:pt x="452" y="355"/>
                      </a:cubicBezTo>
                      <a:cubicBezTo>
                        <a:pt x="467" y="370"/>
                        <a:pt x="477" y="392"/>
                        <a:pt x="477" y="416"/>
                      </a:cubicBezTo>
                      <a:cubicBezTo>
                        <a:pt x="477" y="440"/>
                        <a:pt x="467" y="461"/>
                        <a:pt x="452" y="477"/>
                      </a:cubicBezTo>
                      <a:cubicBezTo>
                        <a:pt x="436" y="493"/>
                        <a:pt x="415" y="502"/>
                        <a:pt x="391" y="502"/>
                      </a:cubicBezTo>
                      <a:cubicBezTo>
                        <a:pt x="367" y="502"/>
                        <a:pt x="346" y="493"/>
                        <a:pt x="330" y="477"/>
                      </a:cubicBezTo>
                      <a:cubicBezTo>
                        <a:pt x="317" y="463"/>
                        <a:pt x="308" y="445"/>
                        <a:pt x="306" y="425"/>
                      </a:cubicBezTo>
                      <a:cubicBezTo>
                        <a:pt x="256" y="464"/>
                        <a:pt x="256" y="464"/>
                        <a:pt x="256" y="464"/>
                      </a:cubicBezTo>
                      <a:cubicBezTo>
                        <a:pt x="249" y="470"/>
                        <a:pt x="235" y="469"/>
                        <a:pt x="235" y="453"/>
                      </a:cubicBezTo>
                      <a:cubicBezTo>
                        <a:pt x="235" y="429"/>
                        <a:pt x="235" y="429"/>
                        <a:pt x="235" y="429"/>
                      </a:cubicBezTo>
                      <a:close/>
                      <a:moveTo>
                        <a:pt x="254" y="101"/>
                      </a:moveTo>
                      <a:cubicBezTo>
                        <a:pt x="219" y="110"/>
                        <a:pt x="188" y="131"/>
                        <a:pt x="162" y="160"/>
                      </a:cubicBezTo>
                      <a:cubicBezTo>
                        <a:pt x="137" y="189"/>
                        <a:pt x="118" y="226"/>
                        <a:pt x="109" y="269"/>
                      </a:cubicBezTo>
                      <a:cubicBezTo>
                        <a:pt x="135" y="275"/>
                        <a:pt x="135" y="275"/>
                        <a:pt x="135" y="275"/>
                      </a:cubicBezTo>
                      <a:cubicBezTo>
                        <a:pt x="148" y="278"/>
                        <a:pt x="147" y="292"/>
                        <a:pt x="140" y="298"/>
                      </a:cubicBezTo>
                      <a:cubicBezTo>
                        <a:pt x="101" y="331"/>
                        <a:pt x="101" y="331"/>
                        <a:pt x="101" y="331"/>
                      </a:cubicBezTo>
                      <a:cubicBezTo>
                        <a:pt x="118" y="334"/>
                        <a:pt x="134" y="342"/>
                        <a:pt x="146" y="355"/>
                      </a:cubicBezTo>
                      <a:cubicBezTo>
                        <a:pt x="159" y="368"/>
                        <a:pt x="168" y="385"/>
                        <a:pt x="171" y="404"/>
                      </a:cubicBezTo>
                      <a:cubicBezTo>
                        <a:pt x="235" y="404"/>
                        <a:pt x="235" y="404"/>
                        <a:pt x="235" y="404"/>
                      </a:cubicBezTo>
                      <a:cubicBezTo>
                        <a:pt x="235" y="378"/>
                        <a:pt x="235" y="378"/>
                        <a:pt x="235" y="378"/>
                      </a:cubicBezTo>
                      <a:cubicBezTo>
                        <a:pt x="235" y="365"/>
                        <a:pt x="248" y="363"/>
                        <a:pt x="256" y="369"/>
                      </a:cubicBezTo>
                      <a:cubicBezTo>
                        <a:pt x="306" y="408"/>
                        <a:pt x="306" y="408"/>
                        <a:pt x="306" y="408"/>
                      </a:cubicBezTo>
                      <a:cubicBezTo>
                        <a:pt x="308" y="387"/>
                        <a:pt x="317" y="368"/>
                        <a:pt x="330" y="355"/>
                      </a:cubicBezTo>
                      <a:cubicBezTo>
                        <a:pt x="343" y="342"/>
                        <a:pt x="360" y="333"/>
                        <a:pt x="378" y="330"/>
                      </a:cubicBezTo>
                      <a:cubicBezTo>
                        <a:pt x="378" y="245"/>
                        <a:pt x="378" y="245"/>
                        <a:pt x="378" y="245"/>
                      </a:cubicBezTo>
                      <a:cubicBezTo>
                        <a:pt x="353" y="245"/>
                        <a:pt x="353" y="245"/>
                        <a:pt x="353" y="245"/>
                      </a:cubicBezTo>
                      <a:cubicBezTo>
                        <a:pt x="340" y="245"/>
                        <a:pt x="338" y="230"/>
                        <a:pt x="344" y="223"/>
                      </a:cubicBezTo>
                      <a:cubicBezTo>
                        <a:pt x="382" y="174"/>
                        <a:pt x="382" y="174"/>
                        <a:pt x="382" y="174"/>
                      </a:cubicBezTo>
                      <a:cubicBezTo>
                        <a:pt x="383" y="173"/>
                        <a:pt x="383" y="172"/>
                        <a:pt x="384" y="172"/>
                      </a:cubicBezTo>
                      <a:cubicBezTo>
                        <a:pt x="273" y="172"/>
                        <a:pt x="273" y="172"/>
                        <a:pt x="273" y="172"/>
                      </a:cubicBezTo>
                      <a:cubicBezTo>
                        <a:pt x="263" y="172"/>
                        <a:pt x="254" y="164"/>
                        <a:pt x="254" y="153"/>
                      </a:cubicBezTo>
                      <a:cubicBezTo>
                        <a:pt x="254" y="101"/>
                        <a:pt x="254" y="101"/>
                        <a:pt x="254" y="101"/>
                      </a:cubicBezTo>
                      <a:close/>
                      <a:moveTo>
                        <a:pt x="439" y="38"/>
                      </a:moveTo>
                      <a:cubicBezTo>
                        <a:pt x="292" y="38"/>
                        <a:pt x="292" y="38"/>
                        <a:pt x="292" y="38"/>
                      </a:cubicBezTo>
                      <a:cubicBezTo>
                        <a:pt x="292" y="134"/>
                        <a:pt x="292" y="134"/>
                        <a:pt x="292" y="134"/>
                      </a:cubicBezTo>
                      <a:cubicBezTo>
                        <a:pt x="439" y="134"/>
                        <a:pt x="439" y="134"/>
                        <a:pt x="439" y="134"/>
                      </a:cubicBezTo>
                      <a:cubicBezTo>
                        <a:pt x="439" y="38"/>
                        <a:pt x="439" y="38"/>
                        <a:pt x="439" y="38"/>
                      </a:cubicBezTo>
                      <a:close/>
                      <a:moveTo>
                        <a:pt x="425" y="382"/>
                      </a:moveTo>
                      <a:cubicBezTo>
                        <a:pt x="416" y="373"/>
                        <a:pt x="404" y="367"/>
                        <a:pt x="391" y="367"/>
                      </a:cubicBezTo>
                      <a:cubicBezTo>
                        <a:pt x="378" y="367"/>
                        <a:pt x="366" y="373"/>
                        <a:pt x="357" y="382"/>
                      </a:cubicBezTo>
                      <a:cubicBezTo>
                        <a:pt x="349" y="390"/>
                        <a:pt x="343" y="402"/>
                        <a:pt x="343" y="416"/>
                      </a:cubicBezTo>
                      <a:cubicBezTo>
                        <a:pt x="343" y="429"/>
                        <a:pt x="349" y="441"/>
                        <a:pt x="357" y="450"/>
                      </a:cubicBezTo>
                      <a:cubicBezTo>
                        <a:pt x="366" y="459"/>
                        <a:pt x="378" y="464"/>
                        <a:pt x="391" y="464"/>
                      </a:cubicBezTo>
                      <a:cubicBezTo>
                        <a:pt x="404" y="464"/>
                        <a:pt x="416" y="459"/>
                        <a:pt x="425" y="450"/>
                      </a:cubicBezTo>
                      <a:cubicBezTo>
                        <a:pt x="434" y="441"/>
                        <a:pt x="439" y="429"/>
                        <a:pt x="439" y="416"/>
                      </a:cubicBezTo>
                      <a:cubicBezTo>
                        <a:pt x="439" y="402"/>
                        <a:pt x="434" y="390"/>
                        <a:pt x="425" y="382"/>
                      </a:cubicBezTo>
                      <a:close/>
                      <a:moveTo>
                        <a:pt x="120" y="382"/>
                      </a:moveTo>
                      <a:cubicBezTo>
                        <a:pt x="111" y="373"/>
                        <a:pt x="99" y="367"/>
                        <a:pt x="86" y="367"/>
                      </a:cubicBezTo>
                      <a:cubicBezTo>
                        <a:pt x="73" y="367"/>
                        <a:pt x="61" y="373"/>
                        <a:pt x="52" y="382"/>
                      </a:cubicBezTo>
                      <a:cubicBezTo>
                        <a:pt x="43" y="390"/>
                        <a:pt x="38" y="402"/>
                        <a:pt x="38" y="416"/>
                      </a:cubicBezTo>
                      <a:cubicBezTo>
                        <a:pt x="38" y="429"/>
                        <a:pt x="43" y="441"/>
                        <a:pt x="52" y="450"/>
                      </a:cubicBezTo>
                      <a:cubicBezTo>
                        <a:pt x="61" y="459"/>
                        <a:pt x="73" y="464"/>
                        <a:pt x="86" y="464"/>
                      </a:cubicBezTo>
                      <a:cubicBezTo>
                        <a:pt x="99" y="464"/>
                        <a:pt x="111" y="459"/>
                        <a:pt x="120" y="450"/>
                      </a:cubicBezTo>
                      <a:cubicBezTo>
                        <a:pt x="128" y="441"/>
                        <a:pt x="134" y="429"/>
                        <a:pt x="134" y="416"/>
                      </a:cubicBezTo>
                      <a:cubicBezTo>
                        <a:pt x="134" y="402"/>
                        <a:pt x="128" y="390"/>
                        <a:pt x="120" y="382"/>
                      </a:cubicBezTo>
                      <a:close/>
                    </a:path>
                  </a:pathLst>
                </a:custGeom>
                <a:grpFill/>
                <a:ln>
                  <a:noFill/>
                </a:ln>
              </p:spPr>
              <p:txBody>
                <a:bodyPr vert="horz" wrap="square" lIns="91416" tIns="45708" rIns="91416" bIns="45708"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lumMod val="95000"/>
                        <a:lumOff val="5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7" name="Group 102">
                  <a:extLst>
                    <a:ext uri="{FF2B5EF4-FFF2-40B4-BE49-F238E27FC236}">
                      <a16:creationId xmlns:a16="http://schemas.microsoft.com/office/drawing/2014/main" xmlns="" id="{5C281A92-B99F-4D45-8263-7985E750ED46}"/>
                    </a:ext>
                  </a:extLst>
                </p:cNvPr>
                <p:cNvGrpSpPr/>
                <p:nvPr/>
              </p:nvGrpSpPr>
              <p:grpSpPr bwMode="gray">
                <a:xfrm>
                  <a:off x="7475491" y="3520018"/>
                  <a:ext cx="587800" cy="995174"/>
                  <a:chOff x="5441157" y="4440238"/>
                  <a:chExt cx="319088" cy="465138"/>
                </a:xfrm>
                <a:grpFill/>
              </p:grpSpPr>
              <p:sp>
                <p:nvSpPr>
                  <p:cNvPr id="78" name="AutoShape 97">
                    <a:extLst>
                      <a:ext uri="{FF2B5EF4-FFF2-40B4-BE49-F238E27FC236}">
                        <a16:creationId xmlns:a16="http://schemas.microsoft.com/office/drawing/2014/main" xmlns="" id="{8C247049-9732-49B7-B2E6-AFC04C988CD1}"/>
                      </a:ext>
                    </a:extLst>
                  </p:cNvPr>
                  <p:cNvSpPr>
                    <a:spLocks/>
                  </p:cNvSpPr>
                  <p:nvPr/>
                </p:nvSpPr>
                <p:spPr bwMode="gray">
                  <a:xfrm>
                    <a:off x="5441157" y="4440238"/>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marL="0" marR="0" lvl="0" indent="0" algn="ctr" defTabSz="228520" eaLnBrk="1"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lumMod val="95000"/>
                          <a:lumOff val="5000"/>
                        </a:srgbClr>
                      </a:solidFill>
                      <a:effectLst>
                        <a:outerShdw blurRad="38100" dist="38100" dir="2700000" algn="tl">
                          <a:srgbClr val="000000"/>
                        </a:outerShdw>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AutoShape 98">
                    <a:extLst>
                      <a:ext uri="{FF2B5EF4-FFF2-40B4-BE49-F238E27FC236}">
                        <a16:creationId xmlns:a16="http://schemas.microsoft.com/office/drawing/2014/main" xmlns="" id="{A1EE292E-3E71-433C-B145-59BAED32611F}"/>
                      </a:ext>
                    </a:extLst>
                  </p:cNvPr>
                  <p:cNvSpPr>
                    <a:spLocks/>
                  </p:cNvSpPr>
                  <p:nvPr/>
                </p:nvSpPr>
                <p:spPr bwMode="gray">
                  <a:xfrm>
                    <a:off x="5571332" y="4483894"/>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marL="0" marR="0" lvl="0" indent="0" algn="ctr" defTabSz="228520" eaLnBrk="1"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lumMod val="95000"/>
                          <a:lumOff val="5000"/>
                        </a:srgbClr>
                      </a:solidFill>
                      <a:effectLst>
                        <a:outerShdw blurRad="38100" dist="38100" dir="2700000" algn="tl">
                          <a:srgbClr val="000000"/>
                        </a:outerShdw>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AutoShape 99">
                    <a:extLst>
                      <a:ext uri="{FF2B5EF4-FFF2-40B4-BE49-F238E27FC236}">
                        <a16:creationId xmlns:a16="http://schemas.microsoft.com/office/drawing/2014/main" xmlns="" id="{F6887FD3-5D17-48EA-88C4-C560F24CA048}"/>
                      </a:ext>
                    </a:extLst>
                  </p:cNvPr>
                  <p:cNvSpPr>
                    <a:spLocks/>
                  </p:cNvSpPr>
                  <p:nvPr/>
                </p:nvSpPr>
                <p:spPr bwMode="gray">
                  <a:xfrm>
                    <a:off x="5586413" y="4847432"/>
                    <a:ext cx="28575"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marL="0" marR="0" lvl="0" indent="0" algn="ctr" defTabSz="228520" eaLnBrk="1"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lumMod val="95000"/>
                          <a:lumOff val="5000"/>
                        </a:srgbClr>
                      </a:solidFill>
                      <a:effectLst>
                        <a:outerShdw blurRad="38100" dist="38100" dir="2700000" algn="tl">
                          <a:srgbClr val="000000"/>
                        </a:outerShdw>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04" name="文本框 103">
                <a:extLst>
                  <a:ext uri="{FF2B5EF4-FFF2-40B4-BE49-F238E27FC236}">
                    <a16:creationId xmlns:a16="http://schemas.microsoft.com/office/drawing/2014/main" xmlns="" id="{3FCE8783-4062-40D9-A79B-8AA5AD8C6C77}"/>
                  </a:ext>
                </a:extLst>
              </p:cNvPr>
              <p:cNvSpPr txBox="1"/>
              <p:nvPr/>
            </p:nvSpPr>
            <p:spPr bwMode="gray">
              <a:xfrm>
                <a:off x="2306340" y="2140228"/>
                <a:ext cx="1389446" cy="646331"/>
              </a:xfrm>
              <a:prstGeom prst="rect">
                <a:avLst/>
              </a:prstGeom>
              <a:noFill/>
            </p:spPr>
            <p:txBody>
              <a:bodyPr wrap="square" rtlCol="0">
                <a:spAutoFit/>
              </a:bodyPr>
              <a:lstStyle/>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认证计费</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网络管理监控</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日志分析</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63" name="组合 162">
              <a:extLst>
                <a:ext uri="{FF2B5EF4-FFF2-40B4-BE49-F238E27FC236}">
                  <a16:creationId xmlns:a16="http://schemas.microsoft.com/office/drawing/2014/main" xmlns="" id="{5EF28B46-883B-43C0-82C5-5A3C6A4FD17C}"/>
                </a:ext>
              </a:extLst>
            </p:cNvPr>
            <p:cNvGrpSpPr/>
            <p:nvPr/>
          </p:nvGrpSpPr>
          <p:grpSpPr bwMode="gray">
            <a:xfrm>
              <a:off x="3794767" y="1277776"/>
              <a:ext cx="1113820" cy="1446745"/>
              <a:chOff x="3356044" y="1539026"/>
              <a:chExt cx="1113820" cy="1446745"/>
            </a:xfrm>
          </p:grpSpPr>
          <p:sp>
            <p:nvSpPr>
              <p:cNvPr id="37" name="文本框 225">
                <a:extLst>
                  <a:ext uri="{FF2B5EF4-FFF2-40B4-BE49-F238E27FC236}">
                    <a16:creationId xmlns:a16="http://schemas.microsoft.com/office/drawing/2014/main" xmlns="" id="{9AFE22B6-F8E8-4927-ACCC-F49156319198}"/>
                  </a:ext>
                </a:extLst>
              </p:cNvPr>
              <p:cNvSpPr txBox="1">
                <a:spLocks noChangeArrowheads="1"/>
              </p:cNvSpPr>
              <p:nvPr/>
            </p:nvSpPr>
            <p:spPr bwMode="gray">
              <a:xfrm>
                <a:off x="3603019" y="1680445"/>
                <a:ext cx="466707" cy="461661"/>
              </a:xfrm>
              <a:prstGeom prst="rect">
                <a:avLst/>
              </a:prstGeom>
              <a:noFill/>
              <a:ln w="9525">
                <a:noFill/>
                <a:miter lim="800000"/>
                <a:headEnd/>
                <a:tailEnd/>
              </a:ln>
            </p:spPr>
            <p:txBody>
              <a:bodyPr wrap="square" lIns="91436" tIns="45718" rIns="91436" bIns="45718">
                <a:spAutoFit/>
              </a:bodyPr>
              <a:lstStyle/>
              <a:p>
                <a:pPr marL="0" marR="0" lvl="0" indent="0" defTabSz="914400" eaLnBrk="1" fontAlgn="base" latinLnBrk="0" hangingPunct="1">
                  <a:lnSpc>
                    <a:spcPct val="100000"/>
                  </a:lnSpc>
                  <a:spcBef>
                    <a:spcPct val="0"/>
                  </a:spcBef>
                  <a:spcAft>
                    <a:spcPct val="0"/>
                  </a:spcAft>
                  <a:buClrTx/>
                  <a:buSzPct val="100000"/>
                  <a:buFontTx/>
                  <a:buNone/>
                  <a:tabLst/>
                  <a:defRPr/>
                </a:pPr>
                <a:r>
                  <a:rPr lang="zh-CN" altLang="en-US" sz="1200" kern="0" noProof="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商业</a:t>
                </a:r>
                <a:endParaRPr kumimoji="0" lang="zh-CN"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弧形 40">
                <a:extLst>
                  <a:ext uri="{FF2B5EF4-FFF2-40B4-BE49-F238E27FC236}">
                    <a16:creationId xmlns:a16="http://schemas.microsoft.com/office/drawing/2014/main" xmlns="" id="{2FCFDB09-3A33-4FF1-8710-3CF1241AD85E}"/>
                  </a:ext>
                </a:extLst>
              </p:cNvPr>
              <p:cNvSpPr>
                <a:spLocks noChangeAspect="1"/>
              </p:cNvSpPr>
              <p:nvPr/>
            </p:nvSpPr>
            <p:spPr bwMode="gray">
              <a:xfrm>
                <a:off x="3539004" y="1579862"/>
                <a:ext cx="550800" cy="550800"/>
              </a:xfrm>
              <a:prstGeom prst="arc">
                <a:avLst>
                  <a:gd name="adj1" fmla="val 14445679"/>
                  <a:gd name="adj2" fmla="val 10762572"/>
                </a:avLst>
              </a:prstGeom>
              <a:noFill/>
              <a:ln w="12700" cap="rnd" cmpd="sng" algn="ctr">
                <a:solidFill>
                  <a:schemeClr val="bg2">
                    <a:lumMod val="50000"/>
                  </a:schemeClr>
                </a:solidFill>
                <a:prstDash val="solid"/>
                <a:miter lim="800000"/>
                <a:tailEnd type="oval" w="sm" len="sm"/>
              </a:ln>
              <a:effectLst/>
            </p:spPr>
            <p:txBody>
              <a:bodyPr lIns="91436" tIns="45718" rIns="91436" bIns="45718" rtlCol="0" anchor="ctr"/>
              <a:lstStyle/>
              <a:p>
                <a:pPr marL="0" marR="0" lvl="0" indent="0" algn="ctr" defTabSz="457039" eaLnBrk="1" fontAlgn="ctr" latinLnBrk="0" hangingPunct="1">
                  <a:lnSpc>
                    <a:spcPct val="100000"/>
                  </a:lnSpc>
                  <a:spcBef>
                    <a:spcPts val="0"/>
                  </a:spcBef>
                  <a:spcAft>
                    <a:spcPts val="0"/>
                  </a:spcAft>
                  <a:buClrTx/>
                  <a:buSzTx/>
                  <a:buFontTx/>
                  <a:buNone/>
                  <a:tabLst/>
                  <a:defRPr/>
                </a:pPr>
                <a:endPar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 name="组合 141">
                <a:extLst>
                  <a:ext uri="{FF2B5EF4-FFF2-40B4-BE49-F238E27FC236}">
                    <a16:creationId xmlns:a16="http://schemas.microsoft.com/office/drawing/2014/main" xmlns="" id="{3A19A979-0DFE-4110-969F-96B65CF5BB3C}"/>
                  </a:ext>
                </a:extLst>
              </p:cNvPr>
              <p:cNvGrpSpPr/>
              <p:nvPr/>
            </p:nvGrpSpPr>
            <p:grpSpPr bwMode="gray">
              <a:xfrm>
                <a:off x="3446836" y="1541392"/>
                <a:ext cx="224743" cy="222775"/>
                <a:chOff x="7475491" y="3520018"/>
                <a:chExt cx="587800" cy="995174"/>
              </a:xfrm>
              <a:solidFill>
                <a:schemeClr val="bg2">
                  <a:lumMod val="50000"/>
                </a:schemeClr>
              </a:solidFill>
            </p:grpSpPr>
            <p:sp>
              <p:nvSpPr>
                <p:cNvPr id="43" name="Freeform 35">
                  <a:extLst>
                    <a:ext uri="{FF2B5EF4-FFF2-40B4-BE49-F238E27FC236}">
                      <a16:creationId xmlns:a16="http://schemas.microsoft.com/office/drawing/2014/main" xmlns="" id="{9CE54F20-4D36-4086-B65E-DD6A829F746C}"/>
                    </a:ext>
                  </a:extLst>
                </p:cNvPr>
                <p:cNvSpPr>
                  <a:spLocks noEditPoints="1"/>
                </p:cNvSpPr>
                <p:nvPr/>
              </p:nvSpPr>
              <p:spPr bwMode="gray">
                <a:xfrm>
                  <a:off x="7573578" y="3800726"/>
                  <a:ext cx="412546" cy="433758"/>
                </a:xfrm>
                <a:custGeom>
                  <a:avLst/>
                  <a:gdLst>
                    <a:gd name="T0" fmla="*/ 170 w 477"/>
                    <a:gd name="T1" fmla="*/ 429 h 502"/>
                    <a:gd name="T2" fmla="*/ 86 w 477"/>
                    <a:gd name="T3" fmla="*/ 502 h 502"/>
                    <a:gd name="T4" fmla="*/ 0 w 477"/>
                    <a:gd name="T5" fmla="*/ 416 h 502"/>
                    <a:gd name="T6" fmla="*/ 72 w 477"/>
                    <a:gd name="T7" fmla="*/ 330 h 502"/>
                    <a:gd name="T8" fmla="*/ 63 w 477"/>
                    <a:gd name="T9" fmla="*/ 258 h 502"/>
                    <a:gd name="T10" fmla="*/ 144 w 477"/>
                    <a:gd name="T11" fmla="*/ 143 h 502"/>
                    <a:gd name="T12" fmla="*/ 254 w 477"/>
                    <a:gd name="T13" fmla="*/ 20 h 502"/>
                    <a:gd name="T14" fmla="*/ 458 w 477"/>
                    <a:gd name="T15" fmla="*/ 0 h 502"/>
                    <a:gd name="T16" fmla="*/ 477 w 477"/>
                    <a:gd name="T17" fmla="*/ 153 h 502"/>
                    <a:gd name="T18" fmla="*/ 398 w 477"/>
                    <a:gd name="T19" fmla="*/ 172 h 502"/>
                    <a:gd name="T20" fmla="*/ 438 w 477"/>
                    <a:gd name="T21" fmla="*/ 223 h 502"/>
                    <a:gd name="T22" fmla="*/ 404 w 477"/>
                    <a:gd name="T23" fmla="*/ 245 h 502"/>
                    <a:gd name="T24" fmla="*/ 452 w 477"/>
                    <a:gd name="T25" fmla="*/ 355 h 502"/>
                    <a:gd name="T26" fmla="*/ 452 w 477"/>
                    <a:gd name="T27" fmla="*/ 477 h 502"/>
                    <a:gd name="T28" fmla="*/ 330 w 477"/>
                    <a:gd name="T29" fmla="*/ 477 h 502"/>
                    <a:gd name="T30" fmla="*/ 256 w 477"/>
                    <a:gd name="T31" fmla="*/ 464 h 502"/>
                    <a:gd name="T32" fmla="*/ 235 w 477"/>
                    <a:gd name="T33" fmla="*/ 429 h 502"/>
                    <a:gd name="T34" fmla="*/ 162 w 477"/>
                    <a:gd name="T35" fmla="*/ 160 h 502"/>
                    <a:gd name="T36" fmla="*/ 135 w 477"/>
                    <a:gd name="T37" fmla="*/ 275 h 502"/>
                    <a:gd name="T38" fmla="*/ 101 w 477"/>
                    <a:gd name="T39" fmla="*/ 331 h 502"/>
                    <a:gd name="T40" fmla="*/ 171 w 477"/>
                    <a:gd name="T41" fmla="*/ 404 h 502"/>
                    <a:gd name="T42" fmla="*/ 235 w 477"/>
                    <a:gd name="T43" fmla="*/ 378 h 502"/>
                    <a:gd name="T44" fmla="*/ 306 w 477"/>
                    <a:gd name="T45" fmla="*/ 408 h 502"/>
                    <a:gd name="T46" fmla="*/ 378 w 477"/>
                    <a:gd name="T47" fmla="*/ 330 h 502"/>
                    <a:gd name="T48" fmla="*/ 353 w 477"/>
                    <a:gd name="T49" fmla="*/ 245 h 502"/>
                    <a:gd name="T50" fmla="*/ 382 w 477"/>
                    <a:gd name="T51" fmla="*/ 174 h 502"/>
                    <a:gd name="T52" fmla="*/ 273 w 477"/>
                    <a:gd name="T53" fmla="*/ 172 h 502"/>
                    <a:gd name="T54" fmla="*/ 254 w 477"/>
                    <a:gd name="T55" fmla="*/ 101 h 502"/>
                    <a:gd name="T56" fmla="*/ 292 w 477"/>
                    <a:gd name="T57" fmla="*/ 38 h 502"/>
                    <a:gd name="T58" fmla="*/ 439 w 477"/>
                    <a:gd name="T59" fmla="*/ 134 h 502"/>
                    <a:gd name="T60" fmla="*/ 425 w 477"/>
                    <a:gd name="T61" fmla="*/ 382 h 502"/>
                    <a:gd name="T62" fmla="*/ 357 w 477"/>
                    <a:gd name="T63" fmla="*/ 382 h 502"/>
                    <a:gd name="T64" fmla="*/ 357 w 477"/>
                    <a:gd name="T65" fmla="*/ 450 h 502"/>
                    <a:gd name="T66" fmla="*/ 425 w 477"/>
                    <a:gd name="T67" fmla="*/ 450 h 502"/>
                    <a:gd name="T68" fmla="*/ 425 w 477"/>
                    <a:gd name="T69" fmla="*/ 382 h 502"/>
                    <a:gd name="T70" fmla="*/ 86 w 477"/>
                    <a:gd name="T71" fmla="*/ 367 h 502"/>
                    <a:gd name="T72" fmla="*/ 38 w 477"/>
                    <a:gd name="T73" fmla="*/ 416 h 502"/>
                    <a:gd name="T74" fmla="*/ 86 w 477"/>
                    <a:gd name="T75" fmla="*/ 464 h 502"/>
                    <a:gd name="T76" fmla="*/ 134 w 477"/>
                    <a:gd name="T77" fmla="*/ 416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7" h="502">
                      <a:moveTo>
                        <a:pt x="235" y="429"/>
                      </a:moveTo>
                      <a:cubicBezTo>
                        <a:pt x="170" y="429"/>
                        <a:pt x="170" y="429"/>
                        <a:pt x="170" y="429"/>
                      </a:cubicBezTo>
                      <a:cubicBezTo>
                        <a:pt x="168" y="448"/>
                        <a:pt x="159" y="464"/>
                        <a:pt x="146" y="477"/>
                      </a:cubicBezTo>
                      <a:cubicBezTo>
                        <a:pt x="131" y="493"/>
                        <a:pt x="109" y="502"/>
                        <a:pt x="86" y="502"/>
                      </a:cubicBezTo>
                      <a:cubicBezTo>
                        <a:pt x="62" y="502"/>
                        <a:pt x="41" y="493"/>
                        <a:pt x="25" y="477"/>
                      </a:cubicBezTo>
                      <a:cubicBezTo>
                        <a:pt x="10" y="461"/>
                        <a:pt x="0" y="440"/>
                        <a:pt x="0" y="416"/>
                      </a:cubicBezTo>
                      <a:cubicBezTo>
                        <a:pt x="0" y="392"/>
                        <a:pt x="10" y="370"/>
                        <a:pt x="25" y="355"/>
                      </a:cubicBezTo>
                      <a:cubicBezTo>
                        <a:pt x="38" y="342"/>
                        <a:pt x="54" y="333"/>
                        <a:pt x="72" y="330"/>
                      </a:cubicBezTo>
                      <a:cubicBezTo>
                        <a:pt x="48" y="277"/>
                        <a:pt x="48" y="277"/>
                        <a:pt x="48" y="277"/>
                      </a:cubicBezTo>
                      <a:cubicBezTo>
                        <a:pt x="43" y="269"/>
                        <a:pt x="48" y="255"/>
                        <a:pt x="63" y="258"/>
                      </a:cubicBezTo>
                      <a:cubicBezTo>
                        <a:pt x="84" y="263"/>
                        <a:pt x="84" y="263"/>
                        <a:pt x="84" y="263"/>
                      </a:cubicBezTo>
                      <a:cubicBezTo>
                        <a:pt x="94" y="216"/>
                        <a:pt x="115" y="175"/>
                        <a:pt x="144" y="143"/>
                      </a:cubicBezTo>
                      <a:cubicBezTo>
                        <a:pt x="174" y="108"/>
                        <a:pt x="212" y="84"/>
                        <a:pt x="254" y="75"/>
                      </a:cubicBezTo>
                      <a:cubicBezTo>
                        <a:pt x="254" y="20"/>
                        <a:pt x="254" y="20"/>
                        <a:pt x="254" y="20"/>
                      </a:cubicBezTo>
                      <a:cubicBezTo>
                        <a:pt x="254" y="9"/>
                        <a:pt x="264" y="0"/>
                        <a:pt x="275" y="0"/>
                      </a:cubicBezTo>
                      <a:cubicBezTo>
                        <a:pt x="458" y="0"/>
                        <a:pt x="458" y="0"/>
                        <a:pt x="458" y="0"/>
                      </a:cubicBezTo>
                      <a:cubicBezTo>
                        <a:pt x="468" y="0"/>
                        <a:pt x="477" y="9"/>
                        <a:pt x="477" y="19"/>
                      </a:cubicBezTo>
                      <a:cubicBezTo>
                        <a:pt x="477" y="153"/>
                        <a:pt x="477" y="153"/>
                        <a:pt x="477" y="153"/>
                      </a:cubicBezTo>
                      <a:cubicBezTo>
                        <a:pt x="477" y="163"/>
                        <a:pt x="468" y="172"/>
                        <a:pt x="458" y="172"/>
                      </a:cubicBezTo>
                      <a:cubicBezTo>
                        <a:pt x="398" y="172"/>
                        <a:pt x="398" y="172"/>
                        <a:pt x="398" y="172"/>
                      </a:cubicBezTo>
                      <a:cubicBezTo>
                        <a:pt x="398" y="172"/>
                        <a:pt x="399" y="173"/>
                        <a:pt x="399" y="174"/>
                      </a:cubicBezTo>
                      <a:cubicBezTo>
                        <a:pt x="438" y="223"/>
                        <a:pt x="438" y="223"/>
                        <a:pt x="438" y="223"/>
                      </a:cubicBezTo>
                      <a:cubicBezTo>
                        <a:pt x="444" y="229"/>
                        <a:pt x="443" y="245"/>
                        <a:pt x="428" y="245"/>
                      </a:cubicBezTo>
                      <a:cubicBezTo>
                        <a:pt x="404" y="245"/>
                        <a:pt x="404" y="245"/>
                        <a:pt x="404" y="245"/>
                      </a:cubicBezTo>
                      <a:cubicBezTo>
                        <a:pt x="404" y="330"/>
                        <a:pt x="404" y="330"/>
                        <a:pt x="404" y="330"/>
                      </a:cubicBezTo>
                      <a:cubicBezTo>
                        <a:pt x="422" y="333"/>
                        <a:pt x="439" y="342"/>
                        <a:pt x="452" y="355"/>
                      </a:cubicBezTo>
                      <a:cubicBezTo>
                        <a:pt x="467" y="370"/>
                        <a:pt x="477" y="392"/>
                        <a:pt x="477" y="416"/>
                      </a:cubicBezTo>
                      <a:cubicBezTo>
                        <a:pt x="477" y="440"/>
                        <a:pt x="467" y="461"/>
                        <a:pt x="452" y="477"/>
                      </a:cubicBezTo>
                      <a:cubicBezTo>
                        <a:pt x="436" y="493"/>
                        <a:pt x="415" y="502"/>
                        <a:pt x="391" y="502"/>
                      </a:cubicBezTo>
                      <a:cubicBezTo>
                        <a:pt x="367" y="502"/>
                        <a:pt x="346" y="493"/>
                        <a:pt x="330" y="477"/>
                      </a:cubicBezTo>
                      <a:cubicBezTo>
                        <a:pt x="317" y="463"/>
                        <a:pt x="308" y="445"/>
                        <a:pt x="306" y="425"/>
                      </a:cubicBezTo>
                      <a:cubicBezTo>
                        <a:pt x="256" y="464"/>
                        <a:pt x="256" y="464"/>
                        <a:pt x="256" y="464"/>
                      </a:cubicBezTo>
                      <a:cubicBezTo>
                        <a:pt x="249" y="470"/>
                        <a:pt x="235" y="469"/>
                        <a:pt x="235" y="453"/>
                      </a:cubicBezTo>
                      <a:cubicBezTo>
                        <a:pt x="235" y="429"/>
                        <a:pt x="235" y="429"/>
                        <a:pt x="235" y="429"/>
                      </a:cubicBezTo>
                      <a:close/>
                      <a:moveTo>
                        <a:pt x="254" y="101"/>
                      </a:moveTo>
                      <a:cubicBezTo>
                        <a:pt x="219" y="110"/>
                        <a:pt x="188" y="131"/>
                        <a:pt x="162" y="160"/>
                      </a:cubicBezTo>
                      <a:cubicBezTo>
                        <a:pt x="137" y="189"/>
                        <a:pt x="118" y="226"/>
                        <a:pt x="109" y="269"/>
                      </a:cubicBezTo>
                      <a:cubicBezTo>
                        <a:pt x="135" y="275"/>
                        <a:pt x="135" y="275"/>
                        <a:pt x="135" y="275"/>
                      </a:cubicBezTo>
                      <a:cubicBezTo>
                        <a:pt x="148" y="278"/>
                        <a:pt x="147" y="292"/>
                        <a:pt x="140" y="298"/>
                      </a:cubicBezTo>
                      <a:cubicBezTo>
                        <a:pt x="101" y="331"/>
                        <a:pt x="101" y="331"/>
                        <a:pt x="101" y="331"/>
                      </a:cubicBezTo>
                      <a:cubicBezTo>
                        <a:pt x="118" y="334"/>
                        <a:pt x="134" y="342"/>
                        <a:pt x="146" y="355"/>
                      </a:cubicBezTo>
                      <a:cubicBezTo>
                        <a:pt x="159" y="368"/>
                        <a:pt x="168" y="385"/>
                        <a:pt x="171" y="404"/>
                      </a:cubicBezTo>
                      <a:cubicBezTo>
                        <a:pt x="235" y="404"/>
                        <a:pt x="235" y="404"/>
                        <a:pt x="235" y="404"/>
                      </a:cubicBezTo>
                      <a:cubicBezTo>
                        <a:pt x="235" y="378"/>
                        <a:pt x="235" y="378"/>
                        <a:pt x="235" y="378"/>
                      </a:cubicBezTo>
                      <a:cubicBezTo>
                        <a:pt x="235" y="365"/>
                        <a:pt x="248" y="363"/>
                        <a:pt x="256" y="369"/>
                      </a:cubicBezTo>
                      <a:cubicBezTo>
                        <a:pt x="306" y="408"/>
                        <a:pt x="306" y="408"/>
                        <a:pt x="306" y="408"/>
                      </a:cubicBezTo>
                      <a:cubicBezTo>
                        <a:pt x="308" y="387"/>
                        <a:pt x="317" y="368"/>
                        <a:pt x="330" y="355"/>
                      </a:cubicBezTo>
                      <a:cubicBezTo>
                        <a:pt x="343" y="342"/>
                        <a:pt x="360" y="333"/>
                        <a:pt x="378" y="330"/>
                      </a:cubicBezTo>
                      <a:cubicBezTo>
                        <a:pt x="378" y="245"/>
                        <a:pt x="378" y="245"/>
                        <a:pt x="378" y="245"/>
                      </a:cubicBezTo>
                      <a:cubicBezTo>
                        <a:pt x="353" y="245"/>
                        <a:pt x="353" y="245"/>
                        <a:pt x="353" y="245"/>
                      </a:cubicBezTo>
                      <a:cubicBezTo>
                        <a:pt x="340" y="245"/>
                        <a:pt x="338" y="230"/>
                        <a:pt x="344" y="223"/>
                      </a:cubicBezTo>
                      <a:cubicBezTo>
                        <a:pt x="382" y="174"/>
                        <a:pt x="382" y="174"/>
                        <a:pt x="382" y="174"/>
                      </a:cubicBezTo>
                      <a:cubicBezTo>
                        <a:pt x="383" y="173"/>
                        <a:pt x="383" y="172"/>
                        <a:pt x="384" y="172"/>
                      </a:cubicBezTo>
                      <a:cubicBezTo>
                        <a:pt x="273" y="172"/>
                        <a:pt x="273" y="172"/>
                        <a:pt x="273" y="172"/>
                      </a:cubicBezTo>
                      <a:cubicBezTo>
                        <a:pt x="263" y="172"/>
                        <a:pt x="254" y="164"/>
                        <a:pt x="254" y="153"/>
                      </a:cubicBezTo>
                      <a:cubicBezTo>
                        <a:pt x="254" y="101"/>
                        <a:pt x="254" y="101"/>
                        <a:pt x="254" y="101"/>
                      </a:cubicBezTo>
                      <a:close/>
                      <a:moveTo>
                        <a:pt x="439" y="38"/>
                      </a:moveTo>
                      <a:cubicBezTo>
                        <a:pt x="292" y="38"/>
                        <a:pt x="292" y="38"/>
                        <a:pt x="292" y="38"/>
                      </a:cubicBezTo>
                      <a:cubicBezTo>
                        <a:pt x="292" y="134"/>
                        <a:pt x="292" y="134"/>
                        <a:pt x="292" y="134"/>
                      </a:cubicBezTo>
                      <a:cubicBezTo>
                        <a:pt x="439" y="134"/>
                        <a:pt x="439" y="134"/>
                        <a:pt x="439" y="134"/>
                      </a:cubicBezTo>
                      <a:cubicBezTo>
                        <a:pt x="439" y="38"/>
                        <a:pt x="439" y="38"/>
                        <a:pt x="439" y="38"/>
                      </a:cubicBezTo>
                      <a:close/>
                      <a:moveTo>
                        <a:pt x="425" y="382"/>
                      </a:moveTo>
                      <a:cubicBezTo>
                        <a:pt x="416" y="373"/>
                        <a:pt x="404" y="367"/>
                        <a:pt x="391" y="367"/>
                      </a:cubicBezTo>
                      <a:cubicBezTo>
                        <a:pt x="378" y="367"/>
                        <a:pt x="366" y="373"/>
                        <a:pt x="357" y="382"/>
                      </a:cubicBezTo>
                      <a:cubicBezTo>
                        <a:pt x="349" y="390"/>
                        <a:pt x="343" y="402"/>
                        <a:pt x="343" y="416"/>
                      </a:cubicBezTo>
                      <a:cubicBezTo>
                        <a:pt x="343" y="429"/>
                        <a:pt x="349" y="441"/>
                        <a:pt x="357" y="450"/>
                      </a:cubicBezTo>
                      <a:cubicBezTo>
                        <a:pt x="366" y="459"/>
                        <a:pt x="378" y="464"/>
                        <a:pt x="391" y="464"/>
                      </a:cubicBezTo>
                      <a:cubicBezTo>
                        <a:pt x="404" y="464"/>
                        <a:pt x="416" y="459"/>
                        <a:pt x="425" y="450"/>
                      </a:cubicBezTo>
                      <a:cubicBezTo>
                        <a:pt x="434" y="441"/>
                        <a:pt x="439" y="429"/>
                        <a:pt x="439" y="416"/>
                      </a:cubicBezTo>
                      <a:cubicBezTo>
                        <a:pt x="439" y="402"/>
                        <a:pt x="434" y="390"/>
                        <a:pt x="425" y="382"/>
                      </a:cubicBezTo>
                      <a:close/>
                      <a:moveTo>
                        <a:pt x="120" y="382"/>
                      </a:moveTo>
                      <a:cubicBezTo>
                        <a:pt x="111" y="373"/>
                        <a:pt x="99" y="367"/>
                        <a:pt x="86" y="367"/>
                      </a:cubicBezTo>
                      <a:cubicBezTo>
                        <a:pt x="73" y="367"/>
                        <a:pt x="61" y="373"/>
                        <a:pt x="52" y="382"/>
                      </a:cubicBezTo>
                      <a:cubicBezTo>
                        <a:pt x="43" y="390"/>
                        <a:pt x="38" y="402"/>
                        <a:pt x="38" y="416"/>
                      </a:cubicBezTo>
                      <a:cubicBezTo>
                        <a:pt x="38" y="429"/>
                        <a:pt x="43" y="441"/>
                        <a:pt x="52" y="450"/>
                      </a:cubicBezTo>
                      <a:cubicBezTo>
                        <a:pt x="61" y="459"/>
                        <a:pt x="73" y="464"/>
                        <a:pt x="86" y="464"/>
                      </a:cubicBezTo>
                      <a:cubicBezTo>
                        <a:pt x="99" y="464"/>
                        <a:pt x="111" y="459"/>
                        <a:pt x="120" y="450"/>
                      </a:cubicBezTo>
                      <a:cubicBezTo>
                        <a:pt x="128" y="441"/>
                        <a:pt x="134" y="429"/>
                        <a:pt x="134" y="416"/>
                      </a:cubicBezTo>
                      <a:cubicBezTo>
                        <a:pt x="134" y="402"/>
                        <a:pt x="128" y="390"/>
                        <a:pt x="120" y="382"/>
                      </a:cubicBezTo>
                      <a:close/>
                    </a:path>
                  </a:pathLst>
                </a:custGeom>
                <a:grpFill/>
                <a:ln>
                  <a:noFill/>
                </a:ln>
              </p:spPr>
              <p:txBody>
                <a:bodyPr vert="horz" wrap="square" lIns="91416" tIns="45708" rIns="91416" bIns="45708"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lumMod val="95000"/>
                        <a:lumOff val="5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4" name="Group 102">
                  <a:extLst>
                    <a:ext uri="{FF2B5EF4-FFF2-40B4-BE49-F238E27FC236}">
                      <a16:creationId xmlns:a16="http://schemas.microsoft.com/office/drawing/2014/main" xmlns="" id="{E9E89DF1-DB4C-4B9C-914C-7DD75AB2A9EC}"/>
                    </a:ext>
                  </a:extLst>
                </p:cNvPr>
                <p:cNvGrpSpPr/>
                <p:nvPr/>
              </p:nvGrpSpPr>
              <p:grpSpPr bwMode="gray">
                <a:xfrm>
                  <a:off x="7475491" y="3520018"/>
                  <a:ext cx="587800" cy="995174"/>
                  <a:chOff x="5441157" y="4440238"/>
                  <a:chExt cx="319088" cy="465138"/>
                </a:xfrm>
                <a:grpFill/>
              </p:grpSpPr>
              <p:sp>
                <p:nvSpPr>
                  <p:cNvPr id="45" name="AutoShape 97">
                    <a:extLst>
                      <a:ext uri="{FF2B5EF4-FFF2-40B4-BE49-F238E27FC236}">
                        <a16:creationId xmlns:a16="http://schemas.microsoft.com/office/drawing/2014/main" xmlns="" id="{4588C27C-E038-46CA-A478-69785B4AEE37}"/>
                      </a:ext>
                    </a:extLst>
                  </p:cNvPr>
                  <p:cNvSpPr>
                    <a:spLocks/>
                  </p:cNvSpPr>
                  <p:nvPr/>
                </p:nvSpPr>
                <p:spPr bwMode="gray">
                  <a:xfrm>
                    <a:off x="5441157" y="4440238"/>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marL="0" marR="0" lvl="0" indent="0" algn="ctr" defTabSz="228520" eaLnBrk="1"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lumMod val="95000"/>
                          <a:lumOff val="5000"/>
                        </a:srgbClr>
                      </a:solidFill>
                      <a:effectLst>
                        <a:outerShdw blurRad="38100" dist="38100" dir="2700000" algn="tl">
                          <a:srgbClr val="000000"/>
                        </a:outerShdw>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AutoShape 98">
                    <a:extLst>
                      <a:ext uri="{FF2B5EF4-FFF2-40B4-BE49-F238E27FC236}">
                        <a16:creationId xmlns:a16="http://schemas.microsoft.com/office/drawing/2014/main" xmlns="" id="{15517C54-164B-4516-9814-21892739CF01}"/>
                      </a:ext>
                    </a:extLst>
                  </p:cNvPr>
                  <p:cNvSpPr>
                    <a:spLocks/>
                  </p:cNvSpPr>
                  <p:nvPr/>
                </p:nvSpPr>
                <p:spPr bwMode="gray">
                  <a:xfrm>
                    <a:off x="5571332" y="4483894"/>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marL="0" marR="0" lvl="0" indent="0" algn="ctr" defTabSz="228520" eaLnBrk="1"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lumMod val="95000"/>
                          <a:lumOff val="5000"/>
                        </a:srgbClr>
                      </a:solidFill>
                      <a:effectLst>
                        <a:outerShdw blurRad="38100" dist="38100" dir="2700000" algn="tl">
                          <a:srgbClr val="000000"/>
                        </a:outerShdw>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AutoShape 99">
                    <a:extLst>
                      <a:ext uri="{FF2B5EF4-FFF2-40B4-BE49-F238E27FC236}">
                        <a16:creationId xmlns:a16="http://schemas.microsoft.com/office/drawing/2014/main" xmlns="" id="{6B27C77A-EA13-4684-861E-0056C66525DB}"/>
                      </a:ext>
                    </a:extLst>
                  </p:cNvPr>
                  <p:cNvSpPr>
                    <a:spLocks/>
                  </p:cNvSpPr>
                  <p:nvPr/>
                </p:nvSpPr>
                <p:spPr bwMode="gray">
                  <a:xfrm>
                    <a:off x="5586413" y="4847432"/>
                    <a:ext cx="28575"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marL="0" marR="0" lvl="0" indent="0" algn="ctr" defTabSz="228520" eaLnBrk="1"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lumMod val="95000"/>
                          <a:lumOff val="5000"/>
                        </a:srgbClr>
                      </a:solidFill>
                      <a:effectLst>
                        <a:outerShdw blurRad="38100" dist="38100" dir="2700000" algn="tl">
                          <a:srgbClr val="000000"/>
                        </a:outerShdw>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81" name="椭圆 80">
                <a:extLst>
                  <a:ext uri="{FF2B5EF4-FFF2-40B4-BE49-F238E27FC236}">
                    <a16:creationId xmlns:a16="http://schemas.microsoft.com/office/drawing/2014/main" xmlns="" id="{93E19843-CC7E-49CC-93E5-E6ADCFEE9440}"/>
                  </a:ext>
                </a:extLst>
              </p:cNvPr>
              <p:cNvSpPr>
                <a:spLocks noChangeAspect="1"/>
              </p:cNvSpPr>
              <p:nvPr/>
            </p:nvSpPr>
            <p:spPr bwMode="gray">
              <a:xfrm>
                <a:off x="3449834" y="1539026"/>
                <a:ext cx="216000" cy="216000"/>
              </a:xfrm>
              <a:prstGeom prst="ellipse">
                <a:avLst/>
              </a:prstGeom>
              <a:solidFill>
                <a:schemeClr val="bg2">
                  <a:lumMod val="50000"/>
                </a:schemeClr>
              </a:solidFill>
              <a:ln w="6350" cap="flat" cmpd="sng" algn="ctr">
                <a:noFill/>
                <a:prstDash val="sysDash"/>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chemeClr val="tx1">
                      <a:lumMod val="50000"/>
                      <a:lumOff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Freeform 73">
                <a:extLst>
                  <a:ext uri="{FF2B5EF4-FFF2-40B4-BE49-F238E27FC236}">
                    <a16:creationId xmlns:a16="http://schemas.microsoft.com/office/drawing/2014/main" xmlns="" id="{29970223-73A8-4918-9E31-685985D5145F}"/>
                  </a:ext>
                </a:extLst>
              </p:cNvPr>
              <p:cNvSpPr>
                <a:spLocks noEditPoints="1"/>
              </p:cNvSpPr>
              <p:nvPr/>
            </p:nvSpPr>
            <p:spPr bwMode="gray">
              <a:xfrm>
                <a:off x="3489899" y="1573657"/>
                <a:ext cx="152175" cy="146737"/>
              </a:xfrm>
              <a:custGeom>
                <a:avLst/>
                <a:gdLst>
                  <a:gd name="T0" fmla="*/ 1799 w 2278"/>
                  <a:gd name="T1" fmla="*/ 879 h 2201"/>
                  <a:gd name="T2" fmla="*/ 1711 w 2278"/>
                  <a:gd name="T3" fmla="*/ 335 h 2201"/>
                  <a:gd name="T4" fmla="*/ 1363 w 2278"/>
                  <a:gd name="T5" fmla="*/ 315 h 2201"/>
                  <a:gd name="T6" fmla="*/ 1068 w 2278"/>
                  <a:gd name="T7" fmla="*/ 0 h 2201"/>
                  <a:gd name="T8" fmla="*/ 810 w 2278"/>
                  <a:gd name="T9" fmla="*/ 412 h 2201"/>
                  <a:gd name="T10" fmla="*/ 408 w 2278"/>
                  <a:gd name="T11" fmla="*/ 325 h 2201"/>
                  <a:gd name="T12" fmla="*/ 246 w 2278"/>
                  <a:gd name="T13" fmla="*/ 841 h 2201"/>
                  <a:gd name="T14" fmla="*/ 0 w 2278"/>
                  <a:gd name="T15" fmla="*/ 1138 h 2201"/>
                  <a:gd name="T16" fmla="*/ 338 w 2278"/>
                  <a:gd name="T17" fmla="*/ 1396 h 2201"/>
                  <a:gd name="T18" fmla="*/ 166 w 2278"/>
                  <a:gd name="T19" fmla="*/ 1885 h 2201"/>
                  <a:gd name="T20" fmla="*/ 769 w 2278"/>
                  <a:gd name="T21" fmla="*/ 1966 h 2201"/>
                  <a:gd name="T22" fmla="*/ 1053 w 2278"/>
                  <a:gd name="T23" fmla="*/ 2200 h 2201"/>
                  <a:gd name="T24" fmla="*/ 1081 w 2278"/>
                  <a:gd name="T25" fmla="*/ 2201 h 2201"/>
                  <a:gd name="T26" fmla="*/ 1184 w 2278"/>
                  <a:gd name="T27" fmla="*/ 1949 h 2201"/>
                  <a:gd name="T28" fmla="*/ 1666 w 2278"/>
                  <a:gd name="T29" fmla="*/ 1872 h 2201"/>
                  <a:gd name="T30" fmla="*/ 1874 w 2278"/>
                  <a:gd name="T31" fmla="*/ 1743 h 2201"/>
                  <a:gd name="T32" fmla="*/ 2060 w 2278"/>
                  <a:gd name="T33" fmla="*/ 1273 h 2201"/>
                  <a:gd name="T34" fmla="*/ 1940 w 2278"/>
                  <a:gd name="T35" fmla="*/ 1369 h 2201"/>
                  <a:gd name="T36" fmla="*/ 1385 w 2278"/>
                  <a:gd name="T37" fmla="*/ 1279 h 2201"/>
                  <a:gd name="T38" fmla="*/ 1837 w 2278"/>
                  <a:gd name="T39" fmla="*/ 1733 h 2201"/>
                  <a:gd name="T40" fmla="*/ 1302 w 2278"/>
                  <a:gd name="T41" fmla="*/ 1393 h 2201"/>
                  <a:gd name="T42" fmla="*/ 1433 w 2278"/>
                  <a:gd name="T43" fmla="*/ 1759 h 2201"/>
                  <a:gd name="T44" fmla="*/ 1193 w 2278"/>
                  <a:gd name="T45" fmla="*/ 1461 h 2201"/>
                  <a:gd name="T46" fmla="*/ 1156 w 2278"/>
                  <a:gd name="T47" fmla="*/ 1924 h 2201"/>
                  <a:gd name="T48" fmla="*/ 1053 w 2278"/>
                  <a:gd name="T49" fmla="*/ 1484 h 2201"/>
                  <a:gd name="T50" fmla="*/ 878 w 2278"/>
                  <a:gd name="T51" fmla="*/ 1857 h 2201"/>
                  <a:gd name="T52" fmla="*/ 804 w 2278"/>
                  <a:gd name="T53" fmla="*/ 1753 h 2201"/>
                  <a:gd name="T54" fmla="*/ 438 w 2278"/>
                  <a:gd name="T55" fmla="*/ 1789 h 2201"/>
                  <a:gd name="T56" fmla="*/ 369 w 2278"/>
                  <a:gd name="T57" fmla="*/ 1741 h 2201"/>
                  <a:gd name="T58" fmla="*/ 551 w 2278"/>
                  <a:gd name="T59" fmla="*/ 1362 h 2201"/>
                  <a:gd name="T60" fmla="*/ 447 w 2278"/>
                  <a:gd name="T61" fmla="*/ 1287 h 2201"/>
                  <a:gd name="T62" fmla="*/ 723 w 2278"/>
                  <a:gd name="T63" fmla="*/ 1153 h 2201"/>
                  <a:gd name="T64" fmla="*/ 253 w 2278"/>
                  <a:gd name="T65" fmla="*/ 1023 h 2201"/>
                  <a:gd name="T66" fmla="*/ 745 w 2278"/>
                  <a:gd name="T67" fmla="*/ 1014 h 2201"/>
                  <a:gd name="T68" fmla="*/ 386 w 2278"/>
                  <a:gd name="T69" fmla="*/ 736 h 2201"/>
                  <a:gd name="T70" fmla="*/ 813 w 2278"/>
                  <a:gd name="T71" fmla="*/ 904 h 2201"/>
                  <a:gd name="T72" fmla="*/ 701 w 2278"/>
                  <a:gd name="T73" fmla="*/ 530 h 2201"/>
                  <a:gd name="T74" fmla="*/ 944 w 2278"/>
                  <a:gd name="T75" fmla="*/ 815 h 2201"/>
                  <a:gd name="T76" fmla="*/ 996 w 2278"/>
                  <a:gd name="T77" fmla="*/ 287 h 2201"/>
                  <a:gd name="T78" fmla="*/ 1083 w 2278"/>
                  <a:gd name="T79" fmla="*/ 792 h 2201"/>
                  <a:gd name="T80" fmla="*/ 1253 w 2278"/>
                  <a:gd name="T81" fmla="*/ 424 h 2201"/>
                  <a:gd name="T82" fmla="*/ 1331 w 2278"/>
                  <a:gd name="T83" fmla="*/ 529 h 2201"/>
                  <a:gd name="T84" fmla="*/ 1558 w 2278"/>
                  <a:gd name="T85" fmla="*/ 488 h 2201"/>
                  <a:gd name="T86" fmla="*/ 1618 w 2278"/>
                  <a:gd name="T87" fmla="*/ 610 h 2201"/>
                  <a:gd name="T88" fmla="*/ 1586 w 2278"/>
                  <a:gd name="T89" fmla="*/ 914 h 2201"/>
                  <a:gd name="T90" fmla="*/ 1690 w 2278"/>
                  <a:gd name="T91" fmla="*/ 989 h 2201"/>
                  <a:gd name="T92" fmla="*/ 1414 w 2278"/>
                  <a:gd name="T93" fmla="*/ 1123 h 2201"/>
                  <a:gd name="T94" fmla="*/ 2028 w 2278"/>
                  <a:gd name="T95" fmla="*/ 1253 h 2201"/>
                  <a:gd name="T96" fmla="*/ 1292 w 2278"/>
                  <a:gd name="T97" fmla="*/ 936 h 2201"/>
                  <a:gd name="T98" fmla="*/ 1083 w 2278"/>
                  <a:gd name="T99" fmla="*/ 837 h 2201"/>
                  <a:gd name="T100" fmla="*/ 945 w 2278"/>
                  <a:gd name="T101" fmla="*/ 863 h 2201"/>
                  <a:gd name="T102" fmla="*/ 787 w 2278"/>
                  <a:gd name="T103" fmla="*/ 1031 h 2201"/>
                  <a:gd name="T104" fmla="*/ 787 w 2278"/>
                  <a:gd name="T105" fmla="*/ 1245 h 2201"/>
                  <a:gd name="T106" fmla="*/ 945 w 2278"/>
                  <a:gd name="T107" fmla="*/ 1412 h 2201"/>
                  <a:gd name="T108" fmla="*/ 1083 w 2278"/>
                  <a:gd name="T109" fmla="*/ 1439 h 2201"/>
                  <a:gd name="T110" fmla="*/ 1292 w 2278"/>
                  <a:gd name="T111" fmla="*/ 1340 h 2201"/>
                  <a:gd name="T112" fmla="*/ 1370 w 2278"/>
                  <a:gd name="T113" fmla="*/ 1138 h 2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78" h="2201">
                    <a:moveTo>
                      <a:pt x="2125" y="983"/>
                    </a:moveTo>
                    <a:cubicBezTo>
                      <a:pt x="2074" y="983"/>
                      <a:pt x="2030" y="1007"/>
                      <a:pt x="2002" y="1045"/>
                    </a:cubicBezTo>
                    <a:cubicBezTo>
                      <a:pt x="1787" y="929"/>
                      <a:pt x="1787" y="929"/>
                      <a:pt x="1787" y="929"/>
                    </a:cubicBezTo>
                    <a:cubicBezTo>
                      <a:pt x="1795" y="914"/>
                      <a:pt x="1799" y="897"/>
                      <a:pt x="1799" y="879"/>
                    </a:cubicBezTo>
                    <a:cubicBezTo>
                      <a:pt x="1799" y="828"/>
                      <a:pt x="1764" y="785"/>
                      <a:pt x="1715" y="773"/>
                    </a:cubicBezTo>
                    <a:cubicBezTo>
                      <a:pt x="1729" y="640"/>
                      <a:pt x="1729" y="640"/>
                      <a:pt x="1729" y="640"/>
                    </a:cubicBezTo>
                    <a:cubicBezTo>
                      <a:pt x="1805" y="630"/>
                      <a:pt x="1863" y="566"/>
                      <a:pt x="1863" y="488"/>
                    </a:cubicBezTo>
                    <a:cubicBezTo>
                      <a:pt x="1863" y="404"/>
                      <a:pt x="1795" y="335"/>
                      <a:pt x="1711" y="335"/>
                    </a:cubicBezTo>
                    <a:cubicBezTo>
                      <a:pt x="1645" y="335"/>
                      <a:pt x="1589" y="377"/>
                      <a:pt x="1567" y="435"/>
                    </a:cubicBezTo>
                    <a:cubicBezTo>
                      <a:pt x="1472" y="427"/>
                      <a:pt x="1472" y="427"/>
                      <a:pt x="1472" y="427"/>
                    </a:cubicBezTo>
                    <a:cubicBezTo>
                      <a:pt x="1472" y="426"/>
                      <a:pt x="1472" y="425"/>
                      <a:pt x="1472" y="424"/>
                    </a:cubicBezTo>
                    <a:cubicBezTo>
                      <a:pt x="1472" y="364"/>
                      <a:pt x="1423" y="315"/>
                      <a:pt x="1363" y="315"/>
                    </a:cubicBezTo>
                    <a:cubicBezTo>
                      <a:pt x="1334" y="315"/>
                      <a:pt x="1309" y="326"/>
                      <a:pt x="1289" y="343"/>
                    </a:cubicBezTo>
                    <a:cubicBezTo>
                      <a:pt x="1187" y="250"/>
                      <a:pt x="1187" y="250"/>
                      <a:pt x="1187" y="250"/>
                    </a:cubicBezTo>
                    <a:cubicBezTo>
                      <a:pt x="1208" y="223"/>
                      <a:pt x="1221" y="190"/>
                      <a:pt x="1221" y="153"/>
                    </a:cubicBezTo>
                    <a:cubicBezTo>
                      <a:pt x="1221" y="69"/>
                      <a:pt x="1153" y="0"/>
                      <a:pt x="1068" y="0"/>
                    </a:cubicBezTo>
                    <a:cubicBezTo>
                      <a:pt x="984" y="0"/>
                      <a:pt x="916" y="69"/>
                      <a:pt x="916" y="153"/>
                    </a:cubicBezTo>
                    <a:cubicBezTo>
                      <a:pt x="916" y="197"/>
                      <a:pt x="935" y="237"/>
                      <a:pt x="965" y="265"/>
                    </a:cubicBezTo>
                    <a:cubicBezTo>
                      <a:pt x="856" y="422"/>
                      <a:pt x="856" y="422"/>
                      <a:pt x="856" y="422"/>
                    </a:cubicBezTo>
                    <a:cubicBezTo>
                      <a:pt x="842" y="416"/>
                      <a:pt x="827" y="412"/>
                      <a:pt x="810" y="412"/>
                    </a:cubicBezTo>
                    <a:cubicBezTo>
                      <a:pt x="760" y="412"/>
                      <a:pt x="717" y="446"/>
                      <a:pt x="705" y="493"/>
                    </a:cubicBezTo>
                    <a:cubicBezTo>
                      <a:pt x="561" y="480"/>
                      <a:pt x="561" y="480"/>
                      <a:pt x="561" y="480"/>
                    </a:cubicBezTo>
                    <a:cubicBezTo>
                      <a:pt x="561" y="480"/>
                      <a:pt x="561" y="479"/>
                      <a:pt x="561" y="478"/>
                    </a:cubicBezTo>
                    <a:cubicBezTo>
                      <a:pt x="561" y="394"/>
                      <a:pt x="493" y="325"/>
                      <a:pt x="408" y="325"/>
                    </a:cubicBezTo>
                    <a:cubicBezTo>
                      <a:pt x="324" y="325"/>
                      <a:pt x="256" y="394"/>
                      <a:pt x="256" y="478"/>
                    </a:cubicBezTo>
                    <a:cubicBezTo>
                      <a:pt x="256" y="546"/>
                      <a:pt x="300" y="603"/>
                      <a:pt x="362" y="623"/>
                    </a:cubicBezTo>
                    <a:cubicBezTo>
                      <a:pt x="348" y="732"/>
                      <a:pt x="348" y="732"/>
                      <a:pt x="348" y="732"/>
                    </a:cubicBezTo>
                    <a:cubicBezTo>
                      <a:pt x="291" y="736"/>
                      <a:pt x="246" y="783"/>
                      <a:pt x="246" y="841"/>
                    </a:cubicBezTo>
                    <a:cubicBezTo>
                      <a:pt x="246" y="873"/>
                      <a:pt x="259" y="901"/>
                      <a:pt x="281" y="921"/>
                    </a:cubicBezTo>
                    <a:cubicBezTo>
                      <a:pt x="221" y="1002"/>
                      <a:pt x="221" y="1002"/>
                      <a:pt x="221" y="1002"/>
                    </a:cubicBezTo>
                    <a:cubicBezTo>
                      <a:pt x="201" y="991"/>
                      <a:pt x="177" y="985"/>
                      <a:pt x="153" y="985"/>
                    </a:cubicBezTo>
                    <a:cubicBezTo>
                      <a:pt x="68" y="985"/>
                      <a:pt x="0" y="1054"/>
                      <a:pt x="0" y="1138"/>
                    </a:cubicBezTo>
                    <a:cubicBezTo>
                      <a:pt x="0" y="1222"/>
                      <a:pt x="68" y="1291"/>
                      <a:pt x="153" y="1291"/>
                    </a:cubicBezTo>
                    <a:cubicBezTo>
                      <a:pt x="190" y="1291"/>
                      <a:pt x="225" y="1277"/>
                      <a:pt x="251" y="1254"/>
                    </a:cubicBezTo>
                    <a:cubicBezTo>
                      <a:pt x="354" y="1339"/>
                      <a:pt x="354" y="1339"/>
                      <a:pt x="354" y="1339"/>
                    </a:cubicBezTo>
                    <a:cubicBezTo>
                      <a:pt x="344" y="1356"/>
                      <a:pt x="338" y="1375"/>
                      <a:pt x="338" y="1396"/>
                    </a:cubicBezTo>
                    <a:cubicBezTo>
                      <a:pt x="338" y="1436"/>
                      <a:pt x="359" y="1471"/>
                      <a:pt x="392" y="1490"/>
                    </a:cubicBezTo>
                    <a:cubicBezTo>
                      <a:pt x="332" y="1733"/>
                      <a:pt x="332" y="1733"/>
                      <a:pt x="332" y="1733"/>
                    </a:cubicBezTo>
                    <a:cubicBezTo>
                      <a:pt x="328" y="1732"/>
                      <a:pt x="323" y="1732"/>
                      <a:pt x="319" y="1732"/>
                    </a:cubicBezTo>
                    <a:cubicBezTo>
                      <a:pt x="235" y="1732"/>
                      <a:pt x="166" y="1800"/>
                      <a:pt x="166" y="1885"/>
                    </a:cubicBezTo>
                    <a:cubicBezTo>
                      <a:pt x="166" y="1969"/>
                      <a:pt x="235" y="2038"/>
                      <a:pt x="319" y="2038"/>
                    </a:cubicBezTo>
                    <a:cubicBezTo>
                      <a:pt x="399" y="2038"/>
                      <a:pt x="464" y="1977"/>
                      <a:pt x="471" y="1899"/>
                    </a:cubicBezTo>
                    <a:cubicBezTo>
                      <a:pt x="664" y="1884"/>
                      <a:pt x="664" y="1884"/>
                      <a:pt x="664" y="1884"/>
                    </a:cubicBezTo>
                    <a:cubicBezTo>
                      <a:pt x="676" y="1931"/>
                      <a:pt x="718" y="1966"/>
                      <a:pt x="769" y="1966"/>
                    </a:cubicBezTo>
                    <a:cubicBezTo>
                      <a:pt x="802" y="1966"/>
                      <a:pt x="832" y="1951"/>
                      <a:pt x="852" y="1928"/>
                    </a:cubicBezTo>
                    <a:cubicBezTo>
                      <a:pt x="931" y="1982"/>
                      <a:pt x="931" y="1982"/>
                      <a:pt x="931" y="1982"/>
                    </a:cubicBezTo>
                    <a:cubicBezTo>
                      <a:pt x="921" y="2002"/>
                      <a:pt x="916" y="2024"/>
                      <a:pt x="916" y="2049"/>
                    </a:cubicBezTo>
                    <a:cubicBezTo>
                      <a:pt x="916" y="2128"/>
                      <a:pt x="976" y="2193"/>
                      <a:pt x="1053" y="2200"/>
                    </a:cubicBezTo>
                    <a:cubicBezTo>
                      <a:pt x="1053" y="2201"/>
                      <a:pt x="1053" y="2201"/>
                      <a:pt x="1053" y="2201"/>
                    </a:cubicBezTo>
                    <a:cubicBezTo>
                      <a:pt x="1056" y="2201"/>
                      <a:pt x="1056" y="2201"/>
                      <a:pt x="1056" y="2201"/>
                    </a:cubicBezTo>
                    <a:cubicBezTo>
                      <a:pt x="1060" y="2201"/>
                      <a:pt x="1064" y="2201"/>
                      <a:pt x="1068" y="2201"/>
                    </a:cubicBezTo>
                    <a:cubicBezTo>
                      <a:pt x="1073" y="2201"/>
                      <a:pt x="1077" y="2201"/>
                      <a:pt x="1081" y="2201"/>
                    </a:cubicBezTo>
                    <a:cubicBezTo>
                      <a:pt x="1083" y="2201"/>
                      <a:pt x="1083" y="2201"/>
                      <a:pt x="1083" y="2201"/>
                    </a:cubicBezTo>
                    <a:cubicBezTo>
                      <a:pt x="1083" y="2201"/>
                      <a:pt x="1083" y="2201"/>
                      <a:pt x="1083" y="2201"/>
                    </a:cubicBezTo>
                    <a:cubicBezTo>
                      <a:pt x="1161" y="2193"/>
                      <a:pt x="1221" y="2128"/>
                      <a:pt x="1221" y="2049"/>
                    </a:cubicBezTo>
                    <a:cubicBezTo>
                      <a:pt x="1221" y="2011"/>
                      <a:pt x="1207" y="1976"/>
                      <a:pt x="1184" y="1949"/>
                    </a:cubicBezTo>
                    <a:cubicBezTo>
                      <a:pt x="1268" y="1853"/>
                      <a:pt x="1268" y="1853"/>
                      <a:pt x="1268" y="1853"/>
                    </a:cubicBezTo>
                    <a:cubicBezTo>
                      <a:pt x="1285" y="1863"/>
                      <a:pt x="1304" y="1869"/>
                      <a:pt x="1324" y="1869"/>
                    </a:cubicBezTo>
                    <a:cubicBezTo>
                      <a:pt x="1364" y="1869"/>
                      <a:pt x="1399" y="1847"/>
                      <a:pt x="1418" y="1815"/>
                    </a:cubicBezTo>
                    <a:cubicBezTo>
                      <a:pt x="1666" y="1872"/>
                      <a:pt x="1666" y="1872"/>
                      <a:pt x="1666" y="1872"/>
                    </a:cubicBezTo>
                    <a:cubicBezTo>
                      <a:pt x="1665" y="1876"/>
                      <a:pt x="1665" y="1880"/>
                      <a:pt x="1665" y="1885"/>
                    </a:cubicBezTo>
                    <a:cubicBezTo>
                      <a:pt x="1665" y="1969"/>
                      <a:pt x="1734" y="2038"/>
                      <a:pt x="1818" y="2038"/>
                    </a:cubicBezTo>
                    <a:cubicBezTo>
                      <a:pt x="1902" y="2038"/>
                      <a:pt x="1971" y="1969"/>
                      <a:pt x="1971" y="1885"/>
                    </a:cubicBezTo>
                    <a:cubicBezTo>
                      <a:pt x="1971" y="1820"/>
                      <a:pt x="1931" y="1765"/>
                      <a:pt x="1874" y="1743"/>
                    </a:cubicBezTo>
                    <a:cubicBezTo>
                      <a:pt x="1893" y="1572"/>
                      <a:pt x="1893" y="1572"/>
                      <a:pt x="1893" y="1572"/>
                    </a:cubicBezTo>
                    <a:cubicBezTo>
                      <a:pt x="1949" y="1567"/>
                      <a:pt x="1994" y="1520"/>
                      <a:pt x="1994" y="1463"/>
                    </a:cubicBezTo>
                    <a:cubicBezTo>
                      <a:pt x="1994" y="1436"/>
                      <a:pt x="1984" y="1412"/>
                      <a:pt x="1969" y="1393"/>
                    </a:cubicBezTo>
                    <a:cubicBezTo>
                      <a:pt x="2060" y="1273"/>
                      <a:pt x="2060" y="1273"/>
                      <a:pt x="2060" y="1273"/>
                    </a:cubicBezTo>
                    <a:cubicBezTo>
                      <a:pt x="2080" y="1283"/>
                      <a:pt x="2102" y="1288"/>
                      <a:pt x="2125" y="1288"/>
                    </a:cubicBezTo>
                    <a:cubicBezTo>
                      <a:pt x="2209" y="1288"/>
                      <a:pt x="2278" y="1220"/>
                      <a:pt x="2278" y="1135"/>
                    </a:cubicBezTo>
                    <a:cubicBezTo>
                      <a:pt x="2278" y="1051"/>
                      <a:pt x="2209" y="983"/>
                      <a:pt x="2125" y="983"/>
                    </a:cubicBezTo>
                    <a:close/>
                    <a:moveTo>
                      <a:pt x="1940" y="1369"/>
                    </a:moveTo>
                    <a:cubicBezTo>
                      <a:pt x="1924" y="1359"/>
                      <a:pt x="1905" y="1353"/>
                      <a:pt x="1884" y="1353"/>
                    </a:cubicBezTo>
                    <a:cubicBezTo>
                      <a:pt x="1838" y="1353"/>
                      <a:pt x="1798" y="1383"/>
                      <a:pt x="1782" y="1424"/>
                    </a:cubicBezTo>
                    <a:cubicBezTo>
                      <a:pt x="1392" y="1262"/>
                      <a:pt x="1392" y="1262"/>
                      <a:pt x="1392" y="1262"/>
                    </a:cubicBezTo>
                    <a:cubicBezTo>
                      <a:pt x="1390" y="1268"/>
                      <a:pt x="1387" y="1273"/>
                      <a:pt x="1385" y="1279"/>
                    </a:cubicBezTo>
                    <a:cubicBezTo>
                      <a:pt x="1777" y="1441"/>
                      <a:pt x="1777" y="1441"/>
                      <a:pt x="1777" y="1441"/>
                    </a:cubicBezTo>
                    <a:cubicBezTo>
                      <a:pt x="1776" y="1448"/>
                      <a:pt x="1775" y="1455"/>
                      <a:pt x="1775" y="1463"/>
                    </a:cubicBezTo>
                    <a:cubicBezTo>
                      <a:pt x="1775" y="1513"/>
                      <a:pt x="1809" y="1555"/>
                      <a:pt x="1855" y="1568"/>
                    </a:cubicBezTo>
                    <a:cubicBezTo>
                      <a:pt x="1837" y="1733"/>
                      <a:pt x="1837" y="1733"/>
                      <a:pt x="1837" y="1733"/>
                    </a:cubicBezTo>
                    <a:cubicBezTo>
                      <a:pt x="1831" y="1733"/>
                      <a:pt x="1825" y="1732"/>
                      <a:pt x="1818" y="1732"/>
                    </a:cubicBezTo>
                    <a:cubicBezTo>
                      <a:pt x="1781" y="1732"/>
                      <a:pt x="1746" y="1746"/>
                      <a:pt x="1720" y="1768"/>
                    </a:cubicBezTo>
                    <a:cubicBezTo>
                      <a:pt x="1324" y="1372"/>
                      <a:pt x="1324" y="1372"/>
                      <a:pt x="1324" y="1372"/>
                    </a:cubicBezTo>
                    <a:cubicBezTo>
                      <a:pt x="1317" y="1379"/>
                      <a:pt x="1310" y="1386"/>
                      <a:pt x="1302" y="1393"/>
                    </a:cubicBezTo>
                    <a:cubicBezTo>
                      <a:pt x="1699" y="1789"/>
                      <a:pt x="1699" y="1789"/>
                      <a:pt x="1699" y="1789"/>
                    </a:cubicBezTo>
                    <a:cubicBezTo>
                      <a:pt x="1688" y="1803"/>
                      <a:pt x="1679" y="1818"/>
                      <a:pt x="1674" y="1835"/>
                    </a:cubicBezTo>
                    <a:cubicBezTo>
                      <a:pt x="1432" y="1779"/>
                      <a:pt x="1432" y="1779"/>
                      <a:pt x="1432" y="1779"/>
                    </a:cubicBezTo>
                    <a:cubicBezTo>
                      <a:pt x="1433" y="1773"/>
                      <a:pt x="1433" y="1766"/>
                      <a:pt x="1433" y="1759"/>
                    </a:cubicBezTo>
                    <a:cubicBezTo>
                      <a:pt x="1433" y="1699"/>
                      <a:pt x="1385" y="1650"/>
                      <a:pt x="1324" y="1650"/>
                    </a:cubicBezTo>
                    <a:cubicBezTo>
                      <a:pt x="1313" y="1650"/>
                      <a:pt x="1302" y="1652"/>
                      <a:pt x="1292" y="1655"/>
                    </a:cubicBezTo>
                    <a:cubicBezTo>
                      <a:pt x="1209" y="1454"/>
                      <a:pt x="1209" y="1454"/>
                      <a:pt x="1209" y="1454"/>
                    </a:cubicBezTo>
                    <a:cubicBezTo>
                      <a:pt x="1204" y="1457"/>
                      <a:pt x="1198" y="1459"/>
                      <a:pt x="1193" y="1461"/>
                    </a:cubicBezTo>
                    <a:cubicBezTo>
                      <a:pt x="1276" y="1662"/>
                      <a:pt x="1276" y="1662"/>
                      <a:pt x="1276" y="1662"/>
                    </a:cubicBezTo>
                    <a:cubicBezTo>
                      <a:pt x="1240" y="1680"/>
                      <a:pt x="1215" y="1717"/>
                      <a:pt x="1215" y="1759"/>
                    </a:cubicBezTo>
                    <a:cubicBezTo>
                      <a:pt x="1215" y="1786"/>
                      <a:pt x="1224" y="1810"/>
                      <a:pt x="1240" y="1828"/>
                    </a:cubicBezTo>
                    <a:cubicBezTo>
                      <a:pt x="1156" y="1924"/>
                      <a:pt x="1156" y="1924"/>
                      <a:pt x="1156" y="1924"/>
                    </a:cubicBezTo>
                    <a:cubicBezTo>
                      <a:pt x="1135" y="1909"/>
                      <a:pt x="1110" y="1899"/>
                      <a:pt x="1083" y="1897"/>
                    </a:cubicBezTo>
                    <a:cubicBezTo>
                      <a:pt x="1083" y="1484"/>
                      <a:pt x="1083" y="1484"/>
                      <a:pt x="1083" y="1484"/>
                    </a:cubicBezTo>
                    <a:cubicBezTo>
                      <a:pt x="1078" y="1484"/>
                      <a:pt x="1073" y="1484"/>
                      <a:pt x="1068" y="1484"/>
                    </a:cubicBezTo>
                    <a:cubicBezTo>
                      <a:pt x="1063" y="1484"/>
                      <a:pt x="1058" y="1484"/>
                      <a:pt x="1053" y="1484"/>
                    </a:cubicBezTo>
                    <a:cubicBezTo>
                      <a:pt x="1053" y="1897"/>
                      <a:pt x="1053" y="1897"/>
                      <a:pt x="1053" y="1897"/>
                    </a:cubicBezTo>
                    <a:cubicBezTo>
                      <a:pt x="1013" y="1901"/>
                      <a:pt x="977" y="1920"/>
                      <a:pt x="952" y="1950"/>
                    </a:cubicBezTo>
                    <a:cubicBezTo>
                      <a:pt x="871" y="1895"/>
                      <a:pt x="871" y="1895"/>
                      <a:pt x="871" y="1895"/>
                    </a:cubicBezTo>
                    <a:cubicBezTo>
                      <a:pt x="876" y="1883"/>
                      <a:pt x="878" y="1870"/>
                      <a:pt x="878" y="1857"/>
                    </a:cubicBezTo>
                    <a:cubicBezTo>
                      <a:pt x="878" y="1815"/>
                      <a:pt x="855" y="1779"/>
                      <a:pt x="820" y="1760"/>
                    </a:cubicBezTo>
                    <a:cubicBezTo>
                      <a:pt x="944" y="1461"/>
                      <a:pt x="944" y="1461"/>
                      <a:pt x="944" y="1461"/>
                    </a:cubicBezTo>
                    <a:cubicBezTo>
                      <a:pt x="939" y="1459"/>
                      <a:pt x="933" y="1457"/>
                      <a:pt x="928" y="1454"/>
                    </a:cubicBezTo>
                    <a:cubicBezTo>
                      <a:pt x="804" y="1753"/>
                      <a:pt x="804" y="1753"/>
                      <a:pt x="804" y="1753"/>
                    </a:cubicBezTo>
                    <a:cubicBezTo>
                      <a:pt x="793" y="1749"/>
                      <a:pt x="781" y="1747"/>
                      <a:pt x="769" y="1747"/>
                    </a:cubicBezTo>
                    <a:cubicBezTo>
                      <a:pt x="712" y="1747"/>
                      <a:pt x="666" y="1791"/>
                      <a:pt x="660" y="1846"/>
                    </a:cubicBezTo>
                    <a:cubicBezTo>
                      <a:pt x="470" y="1861"/>
                      <a:pt x="470" y="1861"/>
                      <a:pt x="470" y="1861"/>
                    </a:cubicBezTo>
                    <a:cubicBezTo>
                      <a:pt x="466" y="1834"/>
                      <a:pt x="454" y="1810"/>
                      <a:pt x="438" y="1789"/>
                    </a:cubicBezTo>
                    <a:cubicBezTo>
                      <a:pt x="835" y="1393"/>
                      <a:pt x="835" y="1393"/>
                      <a:pt x="835" y="1393"/>
                    </a:cubicBezTo>
                    <a:cubicBezTo>
                      <a:pt x="827" y="1386"/>
                      <a:pt x="820" y="1379"/>
                      <a:pt x="813" y="1372"/>
                    </a:cubicBezTo>
                    <a:cubicBezTo>
                      <a:pt x="417" y="1768"/>
                      <a:pt x="417" y="1768"/>
                      <a:pt x="417" y="1768"/>
                    </a:cubicBezTo>
                    <a:cubicBezTo>
                      <a:pt x="403" y="1756"/>
                      <a:pt x="387" y="1747"/>
                      <a:pt x="369" y="1741"/>
                    </a:cubicBezTo>
                    <a:cubicBezTo>
                      <a:pt x="428" y="1504"/>
                      <a:pt x="428" y="1504"/>
                      <a:pt x="428" y="1504"/>
                    </a:cubicBezTo>
                    <a:cubicBezTo>
                      <a:pt x="434" y="1505"/>
                      <a:pt x="440" y="1505"/>
                      <a:pt x="447" y="1505"/>
                    </a:cubicBezTo>
                    <a:cubicBezTo>
                      <a:pt x="507" y="1505"/>
                      <a:pt x="556" y="1457"/>
                      <a:pt x="556" y="1396"/>
                    </a:cubicBezTo>
                    <a:cubicBezTo>
                      <a:pt x="556" y="1384"/>
                      <a:pt x="554" y="1373"/>
                      <a:pt x="551" y="1362"/>
                    </a:cubicBezTo>
                    <a:cubicBezTo>
                      <a:pt x="752" y="1279"/>
                      <a:pt x="752" y="1279"/>
                      <a:pt x="752" y="1279"/>
                    </a:cubicBezTo>
                    <a:cubicBezTo>
                      <a:pt x="750" y="1273"/>
                      <a:pt x="747" y="1268"/>
                      <a:pt x="745" y="1262"/>
                    </a:cubicBezTo>
                    <a:cubicBezTo>
                      <a:pt x="544" y="1345"/>
                      <a:pt x="544" y="1345"/>
                      <a:pt x="544" y="1345"/>
                    </a:cubicBezTo>
                    <a:cubicBezTo>
                      <a:pt x="525" y="1311"/>
                      <a:pt x="489" y="1287"/>
                      <a:pt x="447" y="1287"/>
                    </a:cubicBezTo>
                    <a:cubicBezTo>
                      <a:pt x="421" y="1287"/>
                      <a:pt x="397" y="1296"/>
                      <a:pt x="379" y="1311"/>
                    </a:cubicBezTo>
                    <a:cubicBezTo>
                      <a:pt x="277" y="1226"/>
                      <a:pt x="277" y="1226"/>
                      <a:pt x="277" y="1226"/>
                    </a:cubicBezTo>
                    <a:cubicBezTo>
                      <a:pt x="292" y="1205"/>
                      <a:pt x="302" y="1180"/>
                      <a:pt x="305" y="1153"/>
                    </a:cubicBezTo>
                    <a:cubicBezTo>
                      <a:pt x="723" y="1153"/>
                      <a:pt x="723" y="1153"/>
                      <a:pt x="723" y="1153"/>
                    </a:cubicBezTo>
                    <a:cubicBezTo>
                      <a:pt x="722" y="1148"/>
                      <a:pt x="722" y="1143"/>
                      <a:pt x="722" y="1138"/>
                    </a:cubicBezTo>
                    <a:cubicBezTo>
                      <a:pt x="722" y="1133"/>
                      <a:pt x="722" y="1128"/>
                      <a:pt x="723" y="1123"/>
                    </a:cubicBezTo>
                    <a:cubicBezTo>
                      <a:pt x="305" y="1123"/>
                      <a:pt x="305" y="1123"/>
                      <a:pt x="305" y="1123"/>
                    </a:cubicBezTo>
                    <a:cubicBezTo>
                      <a:pt x="301" y="1083"/>
                      <a:pt x="281" y="1048"/>
                      <a:pt x="253" y="1023"/>
                    </a:cubicBezTo>
                    <a:cubicBezTo>
                      <a:pt x="312" y="942"/>
                      <a:pt x="312" y="942"/>
                      <a:pt x="312" y="942"/>
                    </a:cubicBezTo>
                    <a:cubicBezTo>
                      <a:pt x="325" y="947"/>
                      <a:pt x="340" y="950"/>
                      <a:pt x="355" y="950"/>
                    </a:cubicBezTo>
                    <a:cubicBezTo>
                      <a:pt x="397" y="950"/>
                      <a:pt x="433" y="927"/>
                      <a:pt x="451" y="892"/>
                    </a:cubicBezTo>
                    <a:cubicBezTo>
                      <a:pt x="745" y="1014"/>
                      <a:pt x="745" y="1014"/>
                      <a:pt x="745" y="1014"/>
                    </a:cubicBezTo>
                    <a:cubicBezTo>
                      <a:pt x="747" y="1008"/>
                      <a:pt x="750" y="1003"/>
                      <a:pt x="752" y="997"/>
                    </a:cubicBezTo>
                    <a:cubicBezTo>
                      <a:pt x="458" y="875"/>
                      <a:pt x="458" y="875"/>
                      <a:pt x="458" y="875"/>
                    </a:cubicBezTo>
                    <a:cubicBezTo>
                      <a:pt x="462" y="865"/>
                      <a:pt x="464" y="853"/>
                      <a:pt x="464" y="841"/>
                    </a:cubicBezTo>
                    <a:cubicBezTo>
                      <a:pt x="464" y="792"/>
                      <a:pt x="431" y="750"/>
                      <a:pt x="386" y="736"/>
                    </a:cubicBezTo>
                    <a:cubicBezTo>
                      <a:pt x="399" y="630"/>
                      <a:pt x="399" y="630"/>
                      <a:pt x="399" y="630"/>
                    </a:cubicBezTo>
                    <a:cubicBezTo>
                      <a:pt x="402" y="630"/>
                      <a:pt x="405" y="631"/>
                      <a:pt x="408" y="631"/>
                    </a:cubicBezTo>
                    <a:cubicBezTo>
                      <a:pt x="445" y="631"/>
                      <a:pt x="479" y="618"/>
                      <a:pt x="505" y="596"/>
                    </a:cubicBezTo>
                    <a:cubicBezTo>
                      <a:pt x="813" y="904"/>
                      <a:pt x="813" y="904"/>
                      <a:pt x="813" y="904"/>
                    </a:cubicBezTo>
                    <a:cubicBezTo>
                      <a:pt x="820" y="897"/>
                      <a:pt x="827" y="889"/>
                      <a:pt x="835" y="883"/>
                    </a:cubicBezTo>
                    <a:cubicBezTo>
                      <a:pt x="527" y="575"/>
                      <a:pt x="527" y="575"/>
                      <a:pt x="527" y="575"/>
                    </a:cubicBezTo>
                    <a:cubicBezTo>
                      <a:pt x="540" y="558"/>
                      <a:pt x="550" y="539"/>
                      <a:pt x="556" y="518"/>
                    </a:cubicBezTo>
                    <a:cubicBezTo>
                      <a:pt x="701" y="530"/>
                      <a:pt x="701" y="530"/>
                      <a:pt x="701" y="530"/>
                    </a:cubicBezTo>
                    <a:cubicBezTo>
                      <a:pt x="706" y="587"/>
                      <a:pt x="753" y="631"/>
                      <a:pt x="810" y="631"/>
                    </a:cubicBezTo>
                    <a:cubicBezTo>
                      <a:pt x="823" y="631"/>
                      <a:pt x="835" y="628"/>
                      <a:pt x="846" y="624"/>
                    </a:cubicBezTo>
                    <a:cubicBezTo>
                      <a:pt x="928" y="822"/>
                      <a:pt x="928" y="822"/>
                      <a:pt x="928" y="822"/>
                    </a:cubicBezTo>
                    <a:cubicBezTo>
                      <a:pt x="933" y="819"/>
                      <a:pt x="939" y="817"/>
                      <a:pt x="944" y="815"/>
                    </a:cubicBezTo>
                    <a:cubicBezTo>
                      <a:pt x="863" y="617"/>
                      <a:pt x="863" y="617"/>
                      <a:pt x="863" y="617"/>
                    </a:cubicBezTo>
                    <a:cubicBezTo>
                      <a:pt x="896" y="599"/>
                      <a:pt x="919" y="563"/>
                      <a:pt x="919" y="521"/>
                    </a:cubicBezTo>
                    <a:cubicBezTo>
                      <a:pt x="919" y="491"/>
                      <a:pt x="907" y="464"/>
                      <a:pt x="887" y="444"/>
                    </a:cubicBezTo>
                    <a:cubicBezTo>
                      <a:pt x="996" y="287"/>
                      <a:pt x="996" y="287"/>
                      <a:pt x="996" y="287"/>
                    </a:cubicBezTo>
                    <a:cubicBezTo>
                      <a:pt x="1013" y="297"/>
                      <a:pt x="1033" y="303"/>
                      <a:pt x="1053" y="305"/>
                    </a:cubicBezTo>
                    <a:cubicBezTo>
                      <a:pt x="1053" y="792"/>
                      <a:pt x="1053" y="792"/>
                      <a:pt x="1053" y="792"/>
                    </a:cubicBezTo>
                    <a:cubicBezTo>
                      <a:pt x="1058" y="792"/>
                      <a:pt x="1063" y="792"/>
                      <a:pt x="1068" y="792"/>
                    </a:cubicBezTo>
                    <a:cubicBezTo>
                      <a:pt x="1073" y="792"/>
                      <a:pt x="1078" y="792"/>
                      <a:pt x="1083" y="792"/>
                    </a:cubicBezTo>
                    <a:cubicBezTo>
                      <a:pt x="1083" y="305"/>
                      <a:pt x="1083" y="305"/>
                      <a:pt x="1083" y="305"/>
                    </a:cubicBezTo>
                    <a:cubicBezTo>
                      <a:pt x="1112" y="302"/>
                      <a:pt x="1138" y="292"/>
                      <a:pt x="1159" y="276"/>
                    </a:cubicBezTo>
                    <a:cubicBezTo>
                      <a:pt x="1266" y="373"/>
                      <a:pt x="1266" y="373"/>
                      <a:pt x="1266" y="373"/>
                    </a:cubicBezTo>
                    <a:cubicBezTo>
                      <a:pt x="1258" y="388"/>
                      <a:pt x="1253" y="406"/>
                      <a:pt x="1253" y="424"/>
                    </a:cubicBezTo>
                    <a:cubicBezTo>
                      <a:pt x="1253" y="467"/>
                      <a:pt x="1278" y="504"/>
                      <a:pt x="1314" y="522"/>
                    </a:cubicBezTo>
                    <a:cubicBezTo>
                      <a:pt x="1193" y="815"/>
                      <a:pt x="1193" y="815"/>
                      <a:pt x="1193" y="815"/>
                    </a:cubicBezTo>
                    <a:cubicBezTo>
                      <a:pt x="1198" y="817"/>
                      <a:pt x="1204" y="819"/>
                      <a:pt x="1209" y="822"/>
                    </a:cubicBezTo>
                    <a:cubicBezTo>
                      <a:pt x="1331" y="529"/>
                      <a:pt x="1331" y="529"/>
                      <a:pt x="1331" y="529"/>
                    </a:cubicBezTo>
                    <a:cubicBezTo>
                      <a:pt x="1341" y="532"/>
                      <a:pt x="1351" y="533"/>
                      <a:pt x="1363" y="533"/>
                    </a:cubicBezTo>
                    <a:cubicBezTo>
                      <a:pt x="1409" y="533"/>
                      <a:pt x="1448" y="505"/>
                      <a:pt x="1464" y="464"/>
                    </a:cubicBezTo>
                    <a:cubicBezTo>
                      <a:pt x="1559" y="472"/>
                      <a:pt x="1559" y="472"/>
                      <a:pt x="1559" y="472"/>
                    </a:cubicBezTo>
                    <a:cubicBezTo>
                      <a:pt x="1558" y="477"/>
                      <a:pt x="1558" y="483"/>
                      <a:pt x="1558" y="488"/>
                    </a:cubicBezTo>
                    <a:cubicBezTo>
                      <a:pt x="1558" y="527"/>
                      <a:pt x="1572" y="562"/>
                      <a:pt x="1596" y="589"/>
                    </a:cubicBezTo>
                    <a:cubicBezTo>
                      <a:pt x="1302" y="883"/>
                      <a:pt x="1302" y="883"/>
                      <a:pt x="1302" y="883"/>
                    </a:cubicBezTo>
                    <a:cubicBezTo>
                      <a:pt x="1310" y="889"/>
                      <a:pt x="1317" y="897"/>
                      <a:pt x="1324" y="904"/>
                    </a:cubicBezTo>
                    <a:cubicBezTo>
                      <a:pt x="1618" y="610"/>
                      <a:pt x="1618" y="610"/>
                      <a:pt x="1618" y="610"/>
                    </a:cubicBezTo>
                    <a:cubicBezTo>
                      <a:pt x="1639" y="625"/>
                      <a:pt x="1664" y="636"/>
                      <a:pt x="1691" y="640"/>
                    </a:cubicBezTo>
                    <a:cubicBezTo>
                      <a:pt x="1678" y="771"/>
                      <a:pt x="1678" y="771"/>
                      <a:pt x="1678" y="771"/>
                    </a:cubicBezTo>
                    <a:cubicBezTo>
                      <a:pt x="1623" y="777"/>
                      <a:pt x="1581" y="823"/>
                      <a:pt x="1581" y="879"/>
                    </a:cubicBezTo>
                    <a:cubicBezTo>
                      <a:pt x="1581" y="891"/>
                      <a:pt x="1583" y="903"/>
                      <a:pt x="1586" y="914"/>
                    </a:cubicBezTo>
                    <a:cubicBezTo>
                      <a:pt x="1385" y="997"/>
                      <a:pt x="1385" y="997"/>
                      <a:pt x="1385" y="997"/>
                    </a:cubicBezTo>
                    <a:cubicBezTo>
                      <a:pt x="1387" y="1003"/>
                      <a:pt x="1390" y="1008"/>
                      <a:pt x="1392" y="1014"/>
                    </a:cubicBezTo>
                    <a:cubicBezTo>
                      <a:pt x="1593" y="930"/>
                      <a:pt x="1593" y="930"/>
                      <a:pt x="1593" y="930"/>
                    </a:cubicBezTo>
                    <a:cubicBezTo>
                      <a:pt x="1612" y="965"/>
                      <a:pt x="1648" y="989"/>
                      <a:pt x="1690" y="989"/>
                    </a:cubicBezTo>
                    <a:cubicBezTo>
                      <a:pt x="1719" y="989"/>
                      <a:pt x="1745" y="978"/>
                      <a:pt x="1764" y="960"/>
                    </a:cubicBezTo>
                    <a:cubicBezTo>
                      <a:pt x="1983" y="1078"/>
                      <a:pt x="1983" y="1078"/>
                      <a:pt x="1983" y="1078"/>
                    </a:cubicBezTo>
                    <a:cubicBezTo>
                      <a:pt x="1978" y="1092"/>
                      <a:pt x="1974" y="1107"/>
                      <a:pt x="1973" y="1123"/>
                    </a:cubicBezTo>
                    <a:cubicBezTo>
                      <a:pt x="1414" y="1123"/>
                      <a:pt x="1414" y="1123"/>
                      <a:pt x="1414" y="1123"/>
                    </a:cubicBezTo>
                    <a:cubicBezTo>
                      <a:pt x="1415" y="1128"/>
                      <a:pt x="1415" y="1133"/>
                      <a:pt x="1415" y="1138"/>
                    </a:cubicBezTo>
                    <a:cubicBezTo>
                      <a:pt x="1415" y="1143"/>
                      <a:pt x="1415" y="1148"/>
                      <a:pt x="1414" y="1153"/>
                    </a:cubicBezTo>
                    <a:cubicBezTo>
                      <a:pt x="1973" y="1153"/>
                      <a:pt x="1973" y="1153"/>
                      <a:pt x="1973" y="1153"/>
                    </a:cubicBezTo>
                    <a:cubicBezTo>
                      <a:pt x="1978" y="1193"/>
                      <a:pt x="1998" y="1229"/>
                      <a:pt x="2028" y="1253"/>
                    </a:cubicBezTo>
                    <a:lnTo>
                      <a:pt x="1940" y="1369"/>
                    </a:lnTo>
                    <a:close/>
                    <a:moveTo>
                      <a:pt x="1350" y="1031"/>
                    </a:moveTo>
                    <a:cubicBezTo>
                      <a:pt x="1348" y="1025"/>
                      <a:pt x="1345" y="1020"/>
                      <a:pt x="1343" y="1014"/>
                    </a:cubicBezTo>
                    <a:cubicBezTo>
                      <a:pt x="1330" y="985"/>
                      <a:pt x="1313" y="959"/>
                      <a:pt x="1292" y="936"/>
                    </a:cubicBezTo>
                    <a:cubicBezTo>
                      <a:pt x="1285" y="928"/>
                      <a:pt x="1278" y="921"/>
                      <a:pt x="1270" y="915"/>
                    </a:cubicBezTo>
                    <a:cubicBezTo>
                      <a:pt x="1247" y="894"/>
                      <a:pt x="1221" y="876"/>
                      <a:pt x="1192" y="863"/>
                    </a:cubicBezTo>
                    <a:cubicBezTo>
                      <a:pt x="1186" y="861"/>
                      <a:pt x="1181" y="858"/>
                      <a:pt x="1175" y="856"/>
                    </a:cubicBezTo>
                    <a:cubicBezTo>
                      <a:pt x="1147" y="845"/>
                      <a:pt x="1116" y="839"/>
                      <a:pt x="1083" y="837"/>
                    </a:cubicBezTo>
                    <a:cubicBezTo>
                      <a:pt x="1079" y="837"/>
                      <a:pt x="1073" y="837"/>
                      <a:pt x="1068" y="837"/>
                    </a:cubicBezTo>
                    <a:cubicBezTo>
                      <a:pt x="1063" y="837"/>
                      <a:pt x="1058" y="837"/>
                      <a:pt x="1053" y="837"/>
                    </a:cubicBezTo>
                    <a:cubicBezTo>
                      <a:pt x="1021" y="839"/>
                      <a:pt x="990" y="845"/>
                      <a:pt x="962" y="856"/>
                    </a:cubicBezTo>
                    <a:cubicBezTo>
                      <a:pt x="956" y="858"/>
                      <a:pt x="950" y="861"/>
                      <a:pt x="945" y="863"/>
                    </a:cubicBezTo>
                    <a:cubicBezTo>
                      <a:pt x="916" y="876"/>
                      <a:pt x="890" y="894"/>
                      <a:pt x="866" y="915"/>
                    </a:cubicBezTo>
                    <a:cubicBezTo>
                      <a:pt x="859" y="921"/>
                      <a:pt x="852" y="928"/>
                      <a:pt x="845" y="936"/>
                    </a:cubicBezTo>
                    <a:cubicBezTo>
                      <a:pt x="824" y="959"/>
                      <a:pt x="807" y="985"/>
                      <a:pt x="794" y="1014"/>
                    </a:cubicBezTo>
                    <a:cubicBezTo>
                      <a:pt x="791" y="1020"/>
                      <a:pt x="789" y="1025"/>
                      <a:pt x="787" y="1031"/>
                    </a:cubicBezTo>
                    <a:cubicBezTo>
                      <a:pt x="776" y="1060"/>
                      <a:pt x="769" y="1091"/>
                      <a:pt x="768" y="1123"/>
                    </a:cubicBezTo>
                    <a:cubicBezTo>
                      <a:pt x="767" y="1128"/>
                      <a:pt x="767" y="1133"/>
                      <a:pt x="767" y="1138"/>
                    </a:cubicBezTo>
                    <a:cubicBezTo>
                      <a:pt x="767" y="1143"/>
                      <a:pt x="767" y="1148"/>
                      <a:pt x="768" y="1153"/>
                    </a:cubicBezTo>
                    <a:cubicBezTo>
                      <a:pt x="769" y="1185"/>
                      <a:pt x="776" y="1216"/>
                      <a:pt x="787" y="1245"/>
                    </a:cubicBezTo>
                    <a:cubicBezTo>
                      <a:pt x="789" y="1250"/>
                      <a:pt x="791" y="1256"/>
                      <a:pt x="794" y="1261"/>
                    </a:cubicBezTo>
                    <a:cubicBezTo>
                      <a:pt x="807" y="1290"/>
                      <a:pt x="824" y="1317"/>
                      <a:pt x="845" y="1340"/>
                    </a:cubicBezTo>
                    <a:cubicBezTo>
                      <a:pt x="852" y="1347"/>
                      <a:pt x="859" y="1354"/>
                      <a:pt x="866" y="1361"/>
                    </a:cubicBezTo>
                    <a:cubicBezTo>
                      <a:pt x="890" y="1382"/>
                      <a:pt x="916" y="1399"/>
                      <a:pt x="945" y="1412"/>
                    </a:cubicBezTo>
                    <a:cubicBezTo>
                      <a:pt x="950" y="1415"/>
                      <a:pt x="956" y="1417"/>
                      <a:pt x="962" y="1419"/>
                    </a:cubicBezTo>
                    <a:cubicBezTo>
                      <a:pt x="990" y="1430"/>
                      <a:pt x="1021" y="1437"/>
                      <a:pt x="1053" y="1439"/>
                    </a:cubicBezTo>
                    <a:cubicBezTo>
                      <a:pt x="1058" y="1439"/>
                      <a:pt x="1063" y="1439"/>
                      <a:pt x="1068" y="1439"/>
                    </a:cubicBezTo>
                    <a:cubicBezTo>
                      <a:pt x="1073" y="1439"/>
                      <a:pt x="1079" y="1439"/>
                      <a:pt x="1083" y="1439"/>
                    </a:cubicBezTo>
                    <a:cubicBezTo>
                      <a:pt x="1116" y="1437"/>
                      <a:pt x="1147" y="1430"/>
                      <a:pt x="1175" y="1419"/>
                    </a:cubicBezTo>
                    <a:cubicBezTo>
                      <a:pt x="1181" y="1417"/>
                      <a:pt x="1186" y="1415"/>
                      <a:pt x="1192" y="1412"/>
                    </a:cubicBezTo>
                    <a:cubicBezTo>
                      <a:pt x="1221" y="1399"/>
                      <a:pt x="1247" y="1382"/>
                      <a:pt x="1270" y="1361"/>
                    </a:cubicBezTo>
                    <a:cubicBezTo>
                      <a:pt x="1278" y="1354"/>
                      <a:pt x="1285" y="1347"/>
                      <a:pt x="1292" y="1340"/>
                    </a:cubicBezTo>
                    <a:cubicBezTo>
                      <a:pt x="1313" y="1317"/>
                      <a:pt x="1330" y="1290"/>
                      <a:pt x="1343" y="1261"/>
                    </a:cubicBezTo>
                    <a:cubicBezTo>
                      <a:pt x="1345" y="1256"/>
                      <a:pt x="1348" y="1250"/>
                      <a:pt x="1350" y="1245"/>
                    </a:cubicBezTo>
                    <a:cubicBezTo>
                      <a:pt x="1361" y="1216"/>
                      <a:pt x="1368" y="1185"/>
                      <a:pt x="1369" y="1153"/>
                    </a:cubicBezTo>
                    <a:cubicBezTo>
                      <a:pt x="1369" y="1148"/>
                      <a:pt x="1370" y="1143"/>
                      <a:pt x="1370" y="1138"/>
                    </a:cubicBezTo>
                    <a:cubicBezTo>
                      <a:pt x="1370" y="1133"/>
                      <a:pt x="1369" y="1128"/>
                      <a:pt x="1369" y="1123"/>
                    </a:cubicBezTo>
                    <a:cubicBezTo>
                      <a:pt x="1368" y="1091"/>
                      <a:pt x="1361" y="1060"/>
                      <a:pt x="1350" y="1031"/>
                    </a:cubicBezTo>
                    <a:close/>
                  </a:path>
                </a:pathLst>
              </a:custGeom>
              <a:solidFill>
                <a:srgbClr val="FFFFFF"/>
              </a:solidFill>
              <a:ln>
                <a:noFill/>
              </a:ln>
              <a:effectLst/>
            </p:spPr>
            <p:txBody>
              <a:bodyPr vert="horz" wrap="square" lIns="165197" tIns="82600" rIns="165197" bIns="8260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chemeClr val="tx1">
                      <a:lumMod val="50000"/>
                      <a:lumOff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104">
                <a:extLst>
                  <a:ext uri="{FF2B5EF4-FFF2-40B4-BE49-F238E27FC236}">
                    <a16:creationId xmlns:a16="http://schemas.microsoft.com/office/drawing/2014/main" xmlns="" id="{D6DA44CF-D83E-4EBD-9B78-3410A793E092}"/>
                  </a:ext>
                </a:extLst>
              </p:cNvPr>
              <p:cNvSpPr txBox="1"/>
              <p:nvPr/>
            </p:nvSpPr>
            <p:spPr bwMode="gray">
              <a:xfrm>
                <a:off x="3356044" y="2154774"/>
                <a:ext cx="1113820" cy="830997"/>
              </a:xfrm>
              <a:prstGeom prst="rect">
                <a:avLst/>
              </a:prstGeom>
              <a:noFill/>
            </p:spPr>
            <p:txBody>
              <a:bodyPr wrap="square" rtlCol="0">
                <a:spAutoFit/>
              </a:bodyPr>
              <a:lstStyle/>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人群画像</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客流分析</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电子价签</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营销触达</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62" name="组合 161">
              <a:extLst>
                <a:ext uri="{FF2B5EF4-FFF2-40B4-BE49-F238E27FC236}">
                  <a16:creationId xmlns:a16="http://schemas.microsoft.com/office/drawing/2014/main" xmlns="" id="{F3E742EB-66C6-4C85-8374-8A79FDC8B028}"/>
                </a:ext>
              </a:extLst>
            </p:cNvPr>
            <p:cNvGrpSpPr/>
            <p:nvPr/>
          </p:nvGrpSpPr>
          <p:grpSpPr bwMode="gray">
            <a:xfrm>
              <a:off x="5007568" y="1296968"/>
              <a:ext cx="1293079" cy="1073767"/>
              <a:chOff x="4457689" y="1558218"/>
              <a:chExt cx="1293079" cy="1073767"/>
            </a:xfrm>
          </p:grpSpPr>
          <p:sp>
            <p:nvSpPr>
              <p:cNvPr id="38" name="文本框 225">
                <a:extLst>
                  <a:ext uri="{FF2B5EF4-FFF2-40B4-BE49-F238E27FC236}">
                    <a16:creationId xmlns:a16="http://schemas.microsoft.com/office/drawing/2014/main" xmlns="" id="{2AADEC20-2E0E-450B-9A19-68018E962DCA}"/>
                  </a:ext>
                </a:extLst>
              </p:cNvPr>
              <p:cNvSpPr txBox="1">
                <a:spLocks noChangeArrowheads="1"/>
              </p:cNvSpPr>
              <p:nvPr/>
            </p:nvSpPr>
            <p:spPr bwMode="gray">
              <a:xfrm>
                <a:off x="4703440" y="1671434"/>
                <a:ext cx="425931" cy="461661"/>
              </a:xfrm>
              <a:prstGeom prst="rect">
                <a:avLst/>
              </a:prstGeom>
              <a:noFill/>
              <a:ln w="9525">
                <a:noFill/>
                <a:miter lim="800000"/>
                <a:headEnd/>
                <a:tailEnd/>
              </a:ln>
            </p:spPr>
            <p:txBody>
              <a:bodyPr wrap="square" lIns="91436" tIns="45718" rIns="91436" bIns="45718">
                <a:spAutoFit/>
              </a:bodyPr>
              <a:lstStyle/>
              <a:p>
                <a:pPr marL="0" marR="0" lvl="0" indent="0" algn="ctr" defTabSz="914400" eaLnBrk="1" fontAlgn="base" latinLnBrk="0" hangingPunct="1">
                  <a:lnSpc>
                    <a:spcPct val="100000"/>
                  </a:lnSpc>
                  <a:spcBef>
                    <a:spcPct val="0"/>
                  </a:spcBef>
                  <a:spcAft>
                    <a:spcPct val="0"/>
                  </a:spcAft>
                  <a:buClrTx/>
                  <a:buSzPct val="100000"/>
                  <a:buFontTx/>
                  <a:buNone/>
                  <a:tabLst/>
                  <a:defRPr/>
                </a:pPr>
                <a:r>
                  <a:rPr lang="zh-CN" altLang="en-US" sz="1200" kern="0" noProof="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教育</a:t>
                </a:r>
                <a:endParaRPr kumimoji="0" lang="zh-CN"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弧形 47">
                <a:extLst>
                  <a:ext uri="{FF2B5EF4-FFF2-40B4-BE49-F238E27FC236}">
                    <a16:creationId xmlns:a16="http://schemas.microsoft.com/office/drawing/2014/main" xmlns="" id="{EAD432DC-6F78-4C96-996C-5ECA674379D0}"/>
                  </a:ext>
                </a:extLst>
              </p:cNvPr>
              <p:cNvSpPr>
                <a:spLocks noChangeAspect="1"/>
              </p:cNvSpPr>
              <p:nvPr/>
            </p:nvSpPr>
            <p:spPr bwMode="gray">
              <a:xfrm>
                <a:off x="4650354" y="1607239"/>
                <a:ext cx="582773" cy="550800"/>
              </a:xfrm>
              <a:prstGeom prst="arc">
                <a:avLst>
                  <a:gd name="adj1" fmla="val 14445679"/>
                  <a:gd name="adj2" fmla="val 10762572"/>
                </a:avLst>
              </a:prstGeom>
              <a:noFill/>
              <a:ln w="12700" cap="rnd" cmpd="sng" algn="ctr">
                <a:solidFill>
                  <a:schemeClr val="bg2">
                    <a:lumMod val="50000"/>
                  </a:schemeClr>
                </a:solidFill>
                <a:prstDash val="solid"/>
                <a:miter lim="800000"/>
                <a:tailEnd type="oval" w="sm" len="sm"/>
              </a:ln>
              <a:effectLst/>
            </p:spPr>
            <p:txBody>
              <a:bodyPr lIns="91436" tIns="45718" rIns="91436" bIns="45718" rtlCol="0" anchor="ctr"/>
              <a:lstStyle/>
              <a:p>
                <a:pPr marL="0" marR="0" lvl="0" indent="0" algn="ctr" defTabSz="457039" eaLnBrk="1" fontAlgn="ctr" latinLnBrk="0" hangingPunct="1">
                  <a:lnSpc>
                    <a:spcPct val="100000"/>
                  </a:lnSpc>
                  <a:spcBef>
                    <a:spcPts val="0"/>
                  </a:spcBef>
                  <a:spcAft>
                    <a:spcPts val="0"/>
                  </a:spcAft>
                  <a:buClrTx/>
                  <a:buSzTx/>
                  <a:buFontTx/>
                  <a:buNone/>
                  <a:tabLst/>
                  <a:defRPr/>
                </a:pPr>
                <a:endParaRPr kumimoji="0" lang="en-US" altLang="zh-CN"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9" name="组合 48">
                <a:extLst>
                  <a:ext uri="{FF2B5EF4-FFF2-40B4-BE49-F238E27FC236}">
                    <a16:creationId xmlns:a16="http://schemas.microsoft.com/office/drawing/2014/main" xmlns="" id="{6C1D552F-1532-4587-9A00-53048952095C}"/>
                  </a:ext>
                </a:extLst>
              </p:cNvPr>
              <p:cNvGrpSpPr/>
              <p:nvPr/>
            </p:nvGrpSpPr>
            <p:grpSpPr bwMode="gray">
              <a:xfrm>
                <a:off x="4485057" y="1558218"/>
                <a:ext cx="317215" cy="224520"/>
                <a:chOff x="3211025" y="1217655"/>
                <a:chExt cx="317215" cy="224520"/>
              </a:xfrm>
            </p:grpSpPr>
            <p:sp>
              <p:nvSpPr>
                <p:cNvPr id="50" name="Freeform 108">
                  <a:extLst>
                    <a:ext uri="{FF2B5EF4-FFF2-40B4-BE49-F238E27FC236}">
                      <a16:creationId xmlns:a16="http://schemas.microsoft.com/office/drawing/2014/main" xmlns="" id="{7FCFF983-AF7F-49D2-A0B1-41180CF68597}"/>
                    </a:ext>
                  </a:extLst>
                </p:cNvPr>
                <p:cNvSpPr>
                  <a:spLocks/>
                </p:cNvSpPr>
                <p:nvPr/>
              </p:nvSpPr>
              <p:spPr bwMode="gray">
                <a:xfrm rot="16200000">
                  <a:off x="3257373" y="1171307"/>
                  <a:ext cx="224520" cy="317215"/>
                </a:xfrm>
                <a:custGeom>
                  <a:avLst/>
                  <a:gdLst>
                    <a:gd name="T0" fmla="*/ 0 w 152"/>
                    <a:gd name="T1" fmla="*/ 186 h 206"/>
                    <a:gd name="T2" fmla="*/ 0 w 152"/>
                    <a:gd name="T3" fmla="*/ 19 h 206"/>
                    <a:gd name="T4" fmla="*/ 20 w 152"/>
                    <a:gd name="T5" fmla="*/ 0 h 206"/>
                    <a:gd name="T6" fmla="*/ 133 w 152"/>
                    <a:gd name="T7" fmla="*/ 0 h 206"/>
                    <a:gd name="T8" fmla="*/ 152 w 152"/>
                    <a:gd name="T9" fmla="*/ 19 h 206"/>
                    <a:gd name="T10" fmla="*/ 152 w 152"/>
                    <a:gd name="T11" fmla="*/ 186 h 206"/>
                    <a:gd name="T12" fmla="*/ 133 w 152"/>
                    <a:gd name="T13" fmla="*/ 206 h 206"/>
                    <a:gd name="T14" fmla="*/ 20 w 152"/>
                    <a:gd name="T15" fmla="*/ 206 h 206"/>
                    <a:gd name="T16" fmla="*/ 0 w 152"/>
                    <a:gd name="T17" fmla="*/ 18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206">
                      <a:moveTo>
                        <a:pt x="0" y="186"/>
                      </a:moveTo>
                      <a:cubicBezTo>
                        <a:pt x="0" y="19"/>
                        <a:pt x="0" y="19"/>
                        <a:pt x="0" y="19"/>
                      </a:cubicBezTo>
                      <a:cubicBezTo>
                        <a:pt x="0" y="8"/>
                        <a:pt x="9" y="0"/>
                        <a:pt x="20" y="0"/>
                      </a:cubicBezTo>
                      <a:cubicBezTo>
                        <a:pt x="133" y="0"/>
                        <a:pt x="133" y="0"/>
                        <a:pt x="133" y="0"/>
                      </a:cubicBezTo>
                      <a:cubicBezTo>
                        <a:pt x="143" y="0"/>
                        <a:pt x="152" y="8"/>
                        <a:pt x="152" y="19"/>
                      </a:cubicBezTo>
                      <a:cubicBezTo>
                        <a:pt x="152" y="186"/>
                        <a:pt x="152" y="186"/>
                        <a:pt x="152" y="186"/>
                      </a:cubicBezTo>
                      <a:cubicBezTo>
                        <a:pt x="152" y="197"/>
                        <a:pt x="143" y="206"/>
                        <a:pt x="133" y="206"/>
                      </a:cubicBezTo>
                      <a:cubicBezTo>
                        <a:pt x="20" y="206"/>
                        <a:pt x="20" y="206"/>
                        <a:pt x="20" y="206"/>
                      </a:cubicBezTo>
                      <a:cubicBezTo>
                        <a:pt x="9" y="206"/>
                        <a:pt x="0" y="197"/>
                        <a:pt x="0" y="186"/>
                      </a:cubicBezTo>
                      <a:close/>
                    </a:path>
                  </a:pathLst>
                </a:custGeom>
                <a:solidFill>
                  <a:schemeClr val="bg2">
                    <a:lumMod val="50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109">
                  <a:extLst>
                    <a:ext uri="{FF2B5EF4-FFF2-40B4-BE49-F238E27FC236}">
                      <a16:creationId xmlns:a16="http://schemas.microsoft.com/office/drawing/2014/main" xmlns="" id="{10DB9026-C219-4719-BB75-67433E5B94F5}"/>
                    </a:ext>
                  </a:extLst>
                </p:cNvPr>
                <p:cNvSpPr>
                  <a:spLocks/>
                </p:cNvSpPr>
                <p:nvPr/>
              </p:nvSpPr>
              <p:spPr bwMode="gray">
                <a:xfrm rot="16200000">
                  <a:off x="3264230" y="1207547"/>
                  <a:ext cx="186860" cy="244881"/>
                </a:xfrm>
                <a:custGeom>
                  <a:avLst/>
                  <a:gdLst>
                    <a:gd name="T0" fmla="*/ 0 w 258"/>
                    <a:gd name="T1" fmla="*/ 325 h 325"/>
                    <a:gd name="T2" fmla="*/ 0 w 258"/>
                    <a:gd name="T3" fmla="*/ 0 h 325"/>
                    <a:gd name="T4" fmla="*/ 258 w 258"/>
                    <a:gd name="T5" fmla="*/ 0 h 325"/>
                    <a:gd name="T6" fmla="*/ 258 w 258"/>
                    <a:gd name="T7" fmla="*/ 325 h 325"/>
                    <a:gd name="T8" fmla="*/ 0 w 258"/>
                    <a:gd name="T9" fmla="*/ 325 h 325"/>
                    <a:gd name="T10" fmla="*/ 0 w 258"/>
                    <a:gd name="T11" fmla="*/ 325 h 325"/>
                  </a:gdLst>
                  <a:ahLst/>
                  <a:cxnLst>
                    <a:cxn ang="0">
                      <a:pos x="T0" y="T1"/>
                    </a:cxn>
                    <a:cxn ang="0">
                      <a:pos x="T2" y="T3"/>
                    </a:cxn>
                    <a:cxn ang="0">
                      <a:pos x="T4" y="T5"/>
                    </a:cxn>
                    <a:cxn ang="0">
                      <a:pos x="T6" y="T7"/>
                    </a:cxn>
                    <a:cxn ang="0">
                      <a:pos x="T8" y="T9"/>
                    </a:cxn>
                    <a:cxn ang="0">
                      <a:pos x="T10" y="T11"/>
                    </a:cxn>
                  </a:cxnLst>
                  <a:rect l="0" t="0" r="r" b="b"/>
                  <a:pathLst>
                    <a:path w="258" h="325">
                      <a:moveTo>
                        <a:pt x="0" y="325"/>
                      </a:moveTo>
                      <a:lnTo>
                        <a:pt x="0" y="0"/>
                      </a:lnTo>
                      <a:lnTo>
                        <a:pt x="258" y="0"/>
                      </a:lnTo>
                      <a:lnTo>
                        <a:pt x="258" y="325"/>
                      </a:lnTo>
                      <a:lnTo>
                        <a:pt x="0" y="325"/>
                      </a:lnTo>
                      <a:lnTo>
                        <a:pt x="0" y="325"/>
                      </a:lnTo>
                      <a:close/>
                    </a:path>
                  </a:pathLst>
                </a:custGeom>
                <a:solidFill>
                  <a:srgbClr val="FFFFFF"/>
                </a:solidFill>
                <a:ln w="9525">
                  <a:noFill/>
                  <a:round/>
                  <a:headEnd/>
                  <a:tailEnd/>
                </a:ln>
              </p:spPr>
              <p:txBody>
                <a:bodyPr vert="horz" wrap="square" lIns="91416" tIns="45708" rIns="91416" bIns="45708"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2" name="组合 51">
                  <a:extLst>
                    <a:ext uri="{FF2B5EF4-FFF2-40B4-BE49-F238E27FC236}">
                      <a16:creationId xmlns:a16="http://schemas.microsoft.com/office/drawing/2014/main" xmlns="" id="{2D97CB97-0243-4C40-B756-9A5987AF7A2D}"/>
                    </a:ext>
                  </a:extLst>
                </p:cNvPr>
                <p:cNvGrpSpPr/>
                <p:nvPr/>
              </p:nvGrpSpPr>
              <p:grpSpPr bwMode="gray">
                <a:xfrm>
                  <a:off x="3267159" y="1268352"/>
                  <a:ext cx="204948" cy="123125"/>
                  <a:chOff x="5119592" y="1569537"/>
                  <a:chExt cx="204948" cy="123125"/>
                </a:xfrm>
              </p:grpSpPr>
              <p:sp>
                <p:nvSpPr>
                  <p:cNvPr id="53" name="Freeform 110">
                    <a:extLst>
                      <a:ext uri="{FF2B5EF4-FFF2-40B4-BE49-F238E27FC236}">
                        <a16:creationId xmlns:a16="http://schemas.microsoft.com/office/drawing/2014/main" xmlns="" id="{B4F8C0F1-D5E5-4F3C-A63E-67E1783C35CC}"/>
                      </a:ext>
                    </a:extLst>
                  </p:cNvPr>
                  <p:cNvSpPr>
                    <a:spLocks/>
                  </p:cNvSpPr>
                  <p:nvPr/>
                </p:nvSpPr>
                <p:spPr bwMode="gray">
                  <a:xfrm rot="16200000">
                    <a:off x="5276652" y="1545551"/>
                    <a:ext cx="16659" cy="79115"/>
                  </a:xfrm>
                  <a:custGeom>
                    <a:avLst/>
                    <a:gdLst>
                      <a:gd name="T0" fmla="*/ 0 w 23"/>
                      <a:gd name="T1" fmla="*/ 105 h 105"/>
                      <a:gd name="T2" fmla="*/ 0 w 23"/>
                      <a:gd name="T3" fmla="*/ 0 h 105"/>
                      <a:gd name="T4" fmla="*/ 23 w 23"/>
                      <a:gd name="T5" fmla="*/ 0 h 105"/>
                      <a:gd name="T6" fmla="*/ 23 w 23"/>
                      <a:gd name="T7" fmla="*/ 105 h 105"/>
                      <a:gd name="T8" fmla="*/ 0 w 23"/>
                      <a:gd name="T9" fmla="*/ 105 h 105"/>
                      <a:gd name="T10" fmla="*/ 0 w 23"/>
                      <a:gd name="T11" fmla="*/ 105 h 105"/>
                    </a:gdLst>
                    <a:ahLst/>
                    <a:cxnLst>
                      <a:cxn ang="0">
                        <a:pos x="T0" y="T1"/>
                      </a:cxn>
                      <a:cxn ang="0">
                        <a:pos x="T2" y="T3"/>
                      </a:cxn>
                      <a:cxn ang="0">
                        <a:pos x="T4" y="T5"/>
                      </a:cxn>
                      <a:cxn ang="0">
                        <a:pos x="T6" y="T7"/>
                      </a:cxn>
                      <a:cxn ang="0">
                        <a:pos x="T8" y="T9"/>
                      </a:cxn>
                      <a:cxn ang="0">
                        <a:pos x="T10" y="T11"/>
                      </a:cxn>
                    </a:cxnLst>
                    <a:rect l="0" t="0" r="r" b="b"/>
                    <a:pathLst>
                      <a:path w="23" h="105">
                        <a:moveTo>
                          <a:pt x="0" y="105"/>
                        </a:moveTo>
                        <a:lnTo>
                          <a:pt x="0" y="0"/>
                        </a:lnTo>
                        <a:lnTo>
                          <a:pt x="23" y="0"/>
                        </a:lnTo>
                        <a:lnTo>
                          <a:pt x="23" y="105"/>
                        </a:lnTo>
                        <a:lnTo>
                          <a:pt x="0" y="105"/>
                        </a:lnTo>
                        <a:lnTo>
                          <a:pt x="0" y="105"/>
                        </a:lnTo>
                        <a:close/>
                      </a:path>
                    </a:pathLst>
                  </a:custGeom>
                  <a:solidFill>
                    <a:schemeClr val="bg2">
                      <a:lumMod val="50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Freeform 111">
                    <a:extLst>
                      <a:ext uri="{FF2B5EF4-FFF2-40B4-BE49-F238E27FC236}">
                        <a16:creationId xmlns:a16="http://schemas.microsoft.com/office/drawing/2014/main" xmlns="" id="{1C705F23-BED3-48AB-BC7C-687A6BC5AF90}"/>
                      </a:ext>
                    </a:extLst>
                  </p:cNvPr>
                  <p:cNvSpPr>
                    <a:spLocks/>
                  </p:cNvSpPr>
                  <p:nvPr/>
                </p:nvSpPr>
                <p:spPr bwMode="gray">
                  <a:xfrm rot="16200000">
                    <a:off x="5265351" y="1566840"/>
                    <a:ext cx="16659" cy="101719"/>
                  </a:xfrm>
                  <a:custGeom>
                    <a:avLst/>
                    <a:gdLst>
                      <a:gd name="T0" fmla="*/ 0 w 23"/>
                      <a:gd name="T1" fmla="*/ 135 h 135"/>
                      <a:gd name="T2" fmla="*/ 0 w 23"/>
                      <a:gd name="T3" fmla="*/ 0 h 135"/>
                      <a:gd name="T4" fmla="*/ 23 w 23"/>
                      <a:gd name="T5" fmla="*/ 0 h 135"/>
                      <a:gd name="T6" fmla="*/ 23 w 23"/>
                      <a:gd name="T7" fmla="*/ 135 h 135"/>
                      <a:gd name="T8" fmla="*/ 0 w 23"/>
                      <a:gd name="T9" fmla="*/ 135 h 135"/>
                      <a:gd name="T10" fmla="*/ 0 w 23"/>
                      <a:gd name="T11" fmla="*/ 135 h 135"/>
                    </a:gdLst>
                    <a:ahLst/>
                    <a:cxnLst>
                      <a:cxn ang="0">
                        <a:pos x="T0" y="T1"/>
                      </a:cxn>
                      <a:cxn ang="0">
                        <a:pos x="T2" y="T3"/>
                      </a:cxn>
                      <a:cxn ang="0">
                        <a:pos x="T4" y="T5"/>
                      </a:cxn>
                      <a:cxn ang="0">
                        <a:pos x="T6" y="T7"/>
                      </a:cxn>
                      <a:cxn ang="0">
                        <a:pos x="T8" y="T9"/>
                      </a:cxn>
                      <a:cxn ang="0">
                        <a:pos x="T10" y="T11"/>
                      </a:cxn>
                    </a:cxnLst>
                    <a:rect l="0" t="0" r="r" b="b"/>
                    <a:pathLst>
                      <a:path w="23" h="135">
                        <a:moveTo>
                          <a:pt x="0" y="135"/>
                        </a:moveTo>
                        <a:lnTo>
                          <a:pt x="0" y="0"/>
                        </a:lnTo>
                        <a:lnTo>
                          <a:pt x="23" y="0"/>
                        </a:lnTo>
                        <a:lnTo>
                          <a:pt x="23" y="135"/>
                        </a:lnTo>
                        <a:lnTo>
                          <a:pt x="0" y="135"/>
                        </a:lnTo>
                        <a:lnTo>
                          <a:pt x="0" y="135"/>
                        </a:lnTo>
                        <a:close/>
                      </a:path>
                    </a:pathLst>
                  </a:custGeom>
                  <a:solidFill>
                    <a:schemeClr val="bg2">
                      <a:lumMod val="50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Freeform 112">
                    <a:extLst>
                      <a:ext uri="{FF2B5EF4-FFF2-40B4-BE49-F238E27FC236}">
                        <a16:creationId xmlns:a16="http://schemas.microsoft.com/office/drawing/2014/main" xmlns="" id="{DB42CB83-7134-4FF2-A3AF-C062AB11D5FD}"/>
                      </a:ext>
                    </a:extLst>
                  </p:cNvPr>
                  <p:cNvSpPr>
                    <a:spLocks/>
                  </p:cNvSpPr>
                  <p:nvPr/>
                </p:nvSpPr>
                <p:spPr bwMode="gray">
                  <a:xfrm rot="16200000">
                    <a:off x="5254425" y="1589955"/>
                    <a:ext cx="16659" cy="123571"/>
                  </a:xfrm>
                  <a:custGeom>
                    <a:avLst/>
                    <a:gdLst>
                      <a:gd name="T0" fmla="*/ 0 w 23"/>
                      <a:gd name="T1" fmla="*/ 164 h 164"/>
                      <a:gd name="T2" fmla="*/ 0 w 23"/>
                      <a:gd name="T3" fmla="*/ 0 h 164"/>
                      <a:gd name="T4" fmla="*/ 23 w 23"/>
                      <a:gd name="T5" fmla="*/ 0 h 164"/>
                      <a:gd name="T6" fmla="*/ 23 w 23"/>
                      <a:gd name="T7" fmla="*/ 164 h 164"/>
                      <a:gd name="T8" fmla="*/ 0 w 23"/>
                      <a:gd name="T9" fmla="*/ 164 h 164"/>
                      <a:gd name="T10" fmla="*/ 0 w 23"/>
                      <a:gd name="T11" fmla="*/ 164 h 164"/>
                    </a:gdLst>
                    <a:ahLst/>
                    <a:cxnLst>
                      <a:cxn ang="0">
                        <a:pos x="T0" y="T1"/>
                      </a:cxn>
                      <a:cxn ang="0">
                        <a:pos x="T2" y="T3"/>
                      </a:cxn>
                      <a:cxn ang="0">
                        <a:pos x="T4" y="T5"/>
                      </a:cxn>
                      <a:cxn ang="0">
                        <a:pos x="T6" y="T7"/>
                      </a:cxn>
                      <a:cxn ang="0">
                        <a:pos x="T8" y="T9"/>
                      </a:cxn>
                      <a:cxn ang="0">
                        <a:pos x="T10" y="T11"/>
                      </a:cxn>
                    </a:cxnLst>
                    <a:rect l="0" t="0" r="r" b="b"/>
                    <a:pathLst>
                      <a:path w="23" h="164">
                        <a:moveTo>
                          <a:pt x="0" y="164"/>
                        </a:moveTo>
                        <a:lnTo>
                          <a:pt x="0" y="0"/>
                        </a:lnTo>
                        <a:lnTo>
                          <a:pt x="23" y="0"/>
                        </a:lnTo>
                        <a:lnTo>
                          <a:pt x="23" y="164"/>
                        </a:lnTo>
                        <a:lnTo>
                          <a:pt x="0" y="164"/>
                        </a:lnTo>
                        <a:lnTo>
                          <a:pt x="0" y="164"/>
                        </a:lnTo>
                        <a:close/>
                      </a:path>
                    </a:pathLst>
                  </a:custGeom>
                  <a:solidFill>
                    <a:schemeClr val="bg2">
                      <a:lumMod val="50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Freeform 113">
                    <a:extLst>
                      <a:ext uri="{FF2B5EF4-FFF2-40B4-BE49-F238E27FC236}">
                        <a16:creationId xmlns:a16="http://schemas.microsoft.com/office/drawing/2014/main" xmlns="" id="{EA8807A3-0AFF-455C-ACD1-9C4D8DABA963}"/>
                      </a:ext>
                    </a:extLst>
                  </p:cNvPr>
                  <p:cNvSpPr>
                    <a:spLocks/>
                  </p:cNvSpPr>
                  <p:nvPr/>
                </p:nvSpPr>
                <p:spPr bwMode="gray">
                  <a:xfrm rot="16200000">
                    <a:off x="5242745" y="1610868"/>
                    <a:ext cx="16659" cy="146929"/>
                  </a:xfrm>
                  <a:custGeom>
                    <a:avLst/>
                    <a:gdLst>
                      <a:gd name="T0" fmla="*/ 0 w 23"/>
                      <a:gd name="T1" fmla="*/ 195 h 195"/>
                      <a:gd name="T2" fmla="*/ 0 w 23"/>
                      <a:gd name="T3" fmla="*/ 0 h 195"/>
                      <a:gd name="T4" fmla="*/ 23 w 23"/>
                      <a:gd name="T5" fmla="*/ 0 h 195"/>
                      <a:gd name="T6" fmla="*/ 23 w 23"/>
                      <a:gd name="T7" fmla="*/ 195 h 195"/>
                      <a:gd name="T8" fmla="*/ 0 w 23"/>
                      <a:gd name="T9" fmla="*/ 195 h 195"/>
                      <a:gd name="T10" fmla="*/ 0 w 23"/>
                      <a:gd name="T11" fmla="*/ 195 h 195"/>
                    </a:gdLst>
                    <a:ahLst/>
                    <a:cxnLst>
                      <a:cxn ang="0">
                        <a:pos x="T0" y="T1"/>
                      </a:cxn>
                      <a:cxn ang="0">
                        <a:pos x="T2" y="T3"/>
                      </a:cxn>
                      <a:cxn ang="0">
                        <a:pos x="T4" y="T5"/>
                      </a:cxn>
                      <a:cxn ang="0">
                        <a:pos x="T6" y="T7"/>
                      </a:cxn>
                      <a:cxn ang="0">
                        <a:pos x="T8" y="T9"/>
                      </a:cxn>
                      <a:cxn ang="0">
                        <a:pos x="T10" y="T11"/>
                      </a:cxn>
                    </a:cxnLst>
                    <a:rect l="0" t="0" r="r" b="b"/>
                    <a:pathLst>
                      <a:path w="23" h="195">
                        <a:moveTo>
                          <a:pt x="0" y="195"/>
                        </a:moveTo>
                        <a:lnTo>
                          <a:pt x="0" y="0"/>
                        </a:lnTo>
                        <a:lnTo>
                          <a:pt x="23" y="0"/>
                        </a:lnTo>
                        <a:lnTo>
                          <a:pt x="23" y="195"/>
                        </a:lnTo>
                        <a:lnTo>
                          <a:pt x="0" y="195"/>
                        </a:lnTo>
                        <a:lnTo>
                          <a:pt x="0" y="195"/>
                        </a:lnTo>
                        <a:close/>
                      </a:path>
                    </a:pathLst>
                  </a:custGeom>
                  <a:solidFill>
                    <a:schemeClr val="bg2">
                      <a:lumMod val="50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114">
                    <a:extLst>
                      <a:ext uri="{FF2B5EF4-FFF2-40B4-BE49-F238E27FC236}">
                        <a16:creationId xmlns:a16="http://schemas.microsoft.com/office/drawing/2014/main" xmlns="" id="{3A4B19F6-C293-4B45-8547-364CBFE6C258}"/>
                      </a:ext>
                    </a:extLst>
                  </p:cNvPr>
                  <p:cNvSpPr>
                    <a:spLocks/>
                  </p:cNvSpPr>
                  <p:nvPr/>
                </p:nvSpPr>
                <p:spPr bwMode="gray">
                  <a:xfrm rot="16200000">
                    <a:off x="5101732" y="1587397"/>
                    <a:ext cx="123124" cy="87404"/>
                  </a:xfrm>
                  <a:custGeom>
                    <a:avLst/>
                    <a:gdLst>
                      <a:gd name="T0" fmla="*/ 133 w 170"/>
                      <a:gd name="T1" fmla="*/ 102 h 116"/>
                      <a:gd name="T2" fmla="*/ 0 w 170"/>
                      <a:gd name="T3" fmla="*/ 20 h 116"/>
                      <a:gd name="T4" fmla="*/ 10 w 170"/>
                      <a:gd name="T5" fmla="*/ 0 h 116"/>
                      <a:gd name="T6" fmla="*/ 143 w 170"/>
                      <a:gd name="T7" fmla="*/ 83 h 116"/>
                      <a:gd name="T8" fmla="*/ 152 w 170"/>
                      <a:gd name="T9" fmla="*/ 69 h 116"/>
                      <a:gd name="T10" fmla="*/ 170 w 170"/>
                      <a:gd name="T11" fmla="*/ 110 h 116"/>
                      <a:gd name="T12" fmla="*/ 125 w 170"/>
                      <a:gd name="T13" fmla="*/ 116 h 116"/>
                      <a:gd name="T14" fmla="*/ 133 w 170"/>
                      <a:gd name="T15" fmla="*/ 102 h 116"/>
                      <a:gd name="T16" fmla="*/ 133 w 170"/>
                      <a:gd name="T17" fmla="*/ 10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116">
                        <a:moveTo>
                          <a:pt x="133" y="102"/>
                        </a:moveTo>
                        <a:lnTo>
                          <a:pt x="0" y="20"/>
                        </a:lnTo>
                        <a:lnTo>
                          <a:pt x="10" y="0"/>
                        </a:lnTo>
                        <a:lnTo>
                          <a:pt x="143" y="83"/>
                        </a:lnTo>
                        <a:lnTo>
                          <a:pt x="152" y="69"/>
                        </a:lnTo>
                        <a:lnTo>
                          <a:pt x="170" y="110"/>
                        </a:lnTo>
                        <a:lnTo>
                          <a:pt x="125" y="116"/>
                        </a:lnTo>
                        <a:lnTo>
                          <a:pt x="133" y="102"/>
                        </a:lnTo>
                        <a:lnTo>
                          <a:pt x="133" y="102"/>
                        </a:lnTo>
                        <a:close/>
                      </a:path>
                    </a:pathLst>
                  </a:custGeom>
                  <a:solidFill>
                    <a:schemeClr val="bg2">
                      <a:lumMod val="50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06" name="文本框 105">
                <a:extLst>
                  <a:ext uri="{FF2B5EF4-FFF2-40B4-BE49-F238E27FC236}">
                    <a16:creationId xmlns:a16="http://schemas.microsoft.com/office/drawing/2014/main" xmlns="" id="{D85FB2EF-8E80-4C05-97B4-54BBF6A52E30}"/>
                  </a:ext>
                </a:extLst>
              </p:cNvPr>
              <p:cNvSpPr txBox="1"/>
              <p:nvPr/>
            </p:nvSpPr>
            <p:spPr bwMode="gray">
              <a:xfrm>
                <a:off x="4457689" y="2170320"/>
                <a:ext cx="1293079" cy="461665"/>
              </a:xfrm>
              <a:prstGeom prst="rect">
                <a:avLst/>
              </a:prstGeom>
              <a:noFill/>
            </p:spPr>
            <p:txBody>
              <a:bodyPr wrap="square" rtlCol="0">
                <a:spAutoFit/>
              </a:bodyPr>
              <a:lstStyle/>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学生健康管理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电子书包</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61" name="组合 160">
              <a:extLst>
                <a:ext uri="{FF2B5EF4-FFF2-40B4-BE49-F238E27FC236}">
                  <a16:creationId xmlns:a16="http://schemas.microsoft.com/office/drawing/2014/main" xmlns="" id="{81EE493B-D811-4F76-B328-474B72C509DD}"/>
                </a:ext>
              </a:extLst>
            </p:cNvPr>
            <p:cNvGrpSpPr/>
            <p:nvPr/>
          </p:nvGrpSpPr>
          <p:grpSpPr bwMode="gray">
            <a:xfrm>
              <a:off x="6399628" y="1283022"/>
              <a:ext cx="1113820" cy="1268407"/>
              <a:chOff x="5567097" y="1544272"/>
              <a:chExt cx="1113820" cy="1268407"/>
            </a:xfrm>
          </p:grpSpPr>
          <p:sp>
            <p:nvSpPr>
              <p:cNvPr id="39" name="文本框 225">
                <a:extLst>
                  <a:ext uri="{FF2B5EF4-FFF2-40B4-BE49-F238E27FC236}">
                    <a16:creationId xmlns:a16="http://schemas.microsoft.com/office/drawing/2014/main" xmlns="" id="{082FCF7C-3940-4A4B-B587-CC8BD1F71195}"/>
                  </a:ext>
                </a:extLst>
              </p:cNvPr>
              <p:cNvSpPr txBox="1">
                <a:spLocks noChangeArrowheads="1"/>
              </p:cNvSpPr>
              <p:nvPr/>
            </p:nvSpPr>
            <p:spPr bwMode="gray">
              <a:xfrm>
                <a:off x="5854041" y="1682789"/>
                <a:ext cx="466707" cy="461661"/>
              </a:xfrm>
              <a:prstGeom prst="rect">
                <a:avLst/>
              </a:prstGeom>
              <a:noFill/>
              <a:ln w="9525">
                <a:noFill/>
                <a:miter lim="800000"/>
                <a:headEnd/>
                <a:tailEnd/>
              </a:ln>
            </p:spPr>
            <p:txBody>
              <a:bodyPr wrap="square" lIns="91436" tIns="45718" rIns="91436" bIns="45718">
                <a:spAutoFit/>
              </a:bodyPr>
              <a:lstStyle/>
              <a:p>
                <a:pPr marL="0" marR="0" lvl="0" indent="0" defTabSz="914400" eaLnBrk="1" fontAlgn="base" latinLnBrk="0" hangingPunct="1">
                  <a:lnSpc>
                    <a:spcPct val="100000"/>
                  </a:lnSpc>
                  <a:spcBef>
                    <a:spcPct val="0"/>
                  </a:spcBef>
                  <a:spcAft>
                    <a:spcPct val="0"/>
                  </a:spcAft>
                  <a:buClrTx/>
                  <a:buSzPct val="100000"/>
                  <a:buFontTx/>
                  <a:buNone/>
                  <a:tabLst/>
                  <a:defRPr/>
                </a:pPr>
                <a:r>
                  <a:rPr lang="zh-CN" altLang="en-US" sz="1200" kern="0" noProof="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制造</a:t>
                </a:r>
                <a:endPar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8" name="组合 161">
                <a:extLst>
                  <a:ext uri="{FF2B5EF4-FFF2-40B4-BE49-F238E27FC236}">
                    <a16:creationId xmlns:a16="http://schemas.microsoft.com/office/drawing/2014/main" xmlns="" id="{D107CAAB-1340-4D2D-924C-C09AFAA5165E}"/>
                  </a:ext>
                </a:extLst>
              </p:cNvPr>
              <p:cNvGrpSpPr/>
              <p:nvPr/>
            </p:nvGrpSpPr>
            <p:grpSpPr bwMode="gray">
              <a:xfrm>
                <a:off x="5634238" y="1544272"/>
                <a:ext cx="297913" cy="252413"/>
                <a:chOff x="1814513" y="2640013"/>
                <a:chExt cx="933450" cy="731837"/>
              </a:xfrm>
              <a:solidFill>
                <a:schemeClr val="bg2">
                  <a:lumMod val="50000"/>
                </a:schemeClr>
              </a:solidFill>
            </p:grpSpPr>
            <p:sp>
              <p:nvSpPr>
                <p:cNvPr id="59" name="Freeform 15">
                  <a:extLst>
                    <a:ext uri="{FF2B5EF4-FFF2-40B4-BE49-F238E27FC236}">
                      <a16:creationId xmlns:a16="http://schemas.microsoft.com/office/drawing/2014/main" xmlns="" id="{C1658851-A552-432C-85A2-297127A7F5C1}"/>
                    </a:ext>
                  </a:extLst>
                </p:cNvPr>
                <p:cNvSpPr>
                  <a:spLocks noEditPoints="1"/>
                </p:cNvSpPr>
                <p:nvPr/>
              </p:nvSpPr>
              <p:spPr bwMode="gray">
                <a:xfrm>
                  <a:off x="2289175" y="2824163"/>
                  <a:ext cx="349250" cy="347663"/>
                </a:xfrm>
                <a:custGeom>
                  <a:avLst/>
                  <a:gdLst/>
                  <a:ahLst/>
                  <a:cxnLst>
                    <a:cxn ang="0">
                      <a:pos x="336" y="2"/>
                    </a:cxn>
                    <a:cxn ang="0">
                      <a:pos x="316" y="63"/>
                    </a:cxn>
                    <a:cxn ang="0">
                      <a:pos x="288" y="86"/>
                    </a:cxn>
                    <a:cxn ang="0">
                      <a:pos x="245" y="42"/>
                    </a:cxn>
                    <a:cxn ang="0">
                      <a:pos x="156" y="68"/>
                    </a:cxn>
                    <a:cxn ang="0">
                      <a:pos x="169" y="131"/>
                    </a:cxn>
                    <a:cxn ang="0">
                      <a:pos x="156" y="165"/>
                    </a:cxn>
                    <a:cxn ang="0">
                      <a:pos x="97" y="151"/>
                    </a:cxn>
                    <a:cxn ang="0">
                      <a:pos x="33" y="217"/>
                    </a:cxn>
                    <a:cxn ang="0">
                      <a:pos x="75" y="264"/>
                    </a:cxn>
                    <a:cxn ang="0">
                      <a:pos x="83" y="300"/>
                    </a:cxn>
                    <a:cxn ang="0">
                      <a:pos x="23" y="316"/>
                    </a:cxn>
                    <a:cxn ang="0">
                      <a:pos x="0" y="371"/>
                    </a:cxn>
                    <a:cxn ang="0">
                      <a:pos x="23" y="426"/>
                    </a:cxn>
                    <a:cxn ang="0">
                      <a:pos x="83" y="442"/>
                    </a:cxn>
                    <a:cxn ang="0">
                      <a:pos x="75" y="478"/>
                    </a:cxn>
                    <a:cxn ang="0">
                      <a:pos x="33" y="524"/>
                    </a:cxn>
                    <a:cxn ang="0">
                      <a:pos x="97" y="591"/>
                    </a:cxn>
                    <a:cxn ang="0">
                      <a:pos x="156" y="576"/>
                    </a:cxn>
                    <a:cxn ang="0">
                      <a:pos x="169" y="611"/>
                    </a:cxn>
                    <a:cxn ang="0">
                      <a:pos x="156" y="673"/>
                    </a:cxn>
                    <a:cxn ang="0">
                      <a:pos x="245" y="699"/>
                    </a:cxn>
                    <a:cxn ang="0">
                      <a:pos x="288" y="656"/>
                    </a:cxn>
                    <a:cxn ang="0">
                      <a:pos x="316" y="679"/>
                    </a:cxn>
                    <a:cxn ang="0">
                      <a:pos x="336" y="740"/>
                    </a:cxn>
                    <a:cxn ang="0">
                      <a:pos x="405" y="740"/>
                    </a:cxn>
                    <a:cxn ang="0">
                      <a:pos x="426" y="679"/>
                    </a:cxn>
                    <a:cxn ang="0">
                      <a:pos x="453" y="656"/>
                    </a:cxn>
                    <a:cxn ang="0">
                      <a:pos x="497" y="699"/>
                    </a:cxn>
                    <a:cxn ang="0">
                      <a:pos x="585" y="673"/>
                    </a:cxn>
                    <a:cxn ang="0">
                      <a:pos x="572" y="611"/>
                    </a:cxn>
                    <a:cxn ang="0">
                      <a:pos x="585" y="576"/>
                    </a:cxn>
                    <a:cxn ang="0">
                      <a:pos x="644" y="591"/>
                    </a:cxn>
                    <a:cxn ang="0">
                      <a:pos x="708" y="524"/>
                    </a:cxn>
                    <a:cxn ang="0">
                      <a:pos x="666" y="478"/>
                    </a:cxn>
                    <a:cxn ang="0">
                      <a:pos x="659" y="442"/>
                    </a:cxn>
                    <a:cxn ang="0">
                      <a:pos x="718" y="426"/>
                    </a:cxn>
                    <a:cxn ang="0">
                      <a:pos x="741" y="371"/>
                    </a:cxn>
                    <a:cxn ang="0">
                      <a:pos x="718" y="316"/>
                    </a:cxn>
                    <a:cxn ang="0">
                      <a:pos x="659" y="300"/>
                    </a:cxn>
                    <a:cxn ang="0">
                      <a:pos x="666" y="264"/>
                    </a:cxn>
                    <a:cxn ang="0">
                      <a:pos x="708" y="217"/>
                    </a:cxn>
                    <a:cxn ang="0">
                      <a:pos x="644" y="151"/>
                    </a:cxn>
                    <a:cxn ang="0">
                      <a:pos x="585" y="165"/>
                    </a:cxn>
                    <a:cxn ang="0">
                      <a:pos x="572" y="131"/>
                    </a:cxn>
                    <a:cxn ang="0">
                      <a:pos x="585" y="68"/>
                    </a:cxn>
                    <a:cxn ang="0">
                      <a:pos x="497" y="42"/>
                    </a:cxn>
                    <a:cxn ang="0">
                      <a:pos x="453" y="86"/>
                    </a:cxn>
                    <a:cxn ang="0">
                      <a:pos x="426" y="63"/>
                    </a:cxn>
                    <a:cxn ang="0">
                      <a:pos x="405" y="2"/>
                    </a:cxn>
                    <a:cxn ang="0">
                      <a:pos x="371" y="174"/>
                    </a:cxn>
                    <a:cxn ang="0">
                      <a:pos x="371" y="568"/>
                    </a:cxn>
                    <a:cxn ang="0">
                      <a:pos x="371" y="174"/>
                    </a:cxn>
                  </a:cxnLst>
                  <a:rect l="0" t="0" r="r" b="b"/>
                  <a:pathLst>
                    <a:path w="741" h="741">
                      <a:moveTo>
                        <a:pt x="371" y="0"/>
                      </a:moveTo>
                      <a:cubicBezTo>
                        <a:pt x="359" y="0"/>
                        <a:pt x="347" y="0"/>
                        <a:pt x="336" y="2"/>
                      </a:cubicBezTo>
                      <a:cubicBezTo>
                        <a:pt x="324" y="3"/>
                        <a:pt x="316" y="12"/>
                        <a:pt x="316" y="23"/>
                      </a:cubicBezTo>
                      <a:cubicBezTo>
                        <a:pt x="316" y="63"/>
                        <a:pt x="316" y="63"/>
                        <a:pt x="316" y="63"/>
                      </a:cubicBezTo>
                      <a:cubicBezTo>
                        <a:pt x="316" y="73"/>
                        <a:pt x="310" y="80"/>
                        <a:pt x="300" y="83"/>
                      </a:cubicBezTo>
                      <a:cubicBezTo>
                        <a:pt x="295" y="84"/>
                        <a:pt x="293" y="84"/>
                        <a:pt x="288" y="86"/>
                      </a:cubicBezTo>
                      <a:cubicBezTo>
                        <a:pt x="278" y="89"/>
                        <a:pt x="269" y="85"/>
                        <a:pt x="264" y="76"/>
                      </a:cubicBezTo>
                      <a:cubicBezTo>
                        <a:pt x="245" y="42"/>
                        <a:pt x="245" y="42"/>
                        <a:pt x="245" y="42"/>
                      </a:cubicBezTo>
                      <a:cubicBezTo>
                        <a:pt x="239" y="32"/>
                        <a:pt x="227" y="29"/>
                        <a:pt x="217" y="34"/>
                      </a:cubicBezTo>
                      <a:cubicBezTo>
                        <a:pt x="195" y="43"/>
                        <a:pt x="175" y="55"/>
                        <a:pt x="156" y="68"/>
                      </a:cubicBezTo>
                      <a:cubicBezTo>
                        <a:pt x="147" y="75"/>
                        <a:pt x="145" y="87"/>
                        <a:pt x="151" y="97"/>
                      </a:cubicBezTo>
                      <a:cubicBezTo>
                        <a:pt x="169" y="131"/>
                        <a:pt x="169" y="131"/>
                        <a:pt x="169" y="131"/>
                      </a:cubicBezTo>
                      <a:cubicBezTo>
                        <a:pt x="174" y="139"/>
                        <a:pt x="172" y="149"/>
                        <a:pt x="165" y="157"/>
                      </a:cubicBezTo>
                      <a:cubicBezTo>
                        <a:pt x="162" y="159"/>
                        <a:pt x="159" y="162"/>
                        <a:pt x="156" y="165"/>
                      </a:cubicBezTo>
                      <a:cubicBezTo>
                        <a:pt x="149" y="172"/>
                        <a:pt x="139" y="174"/>
                        <a:pt x="130" y="170"/>
                      </a:cubicBezTo>
                      <a:cubicBezTo>
                        <a:pt x="97" y="151"/>
                        <a:pt x="97" y="151"/>
                        <a:pt x="97" y="151"/>
                      </a:cubicBezTo>
                      <a:cubicBezTo>
                        <a:pt x="87" y="145"/>
                        <a:pt x="74" y="148"/>
                        <a:pt x="68" y="157"/>
                      </a:cubicBezTo>
                      <a:cubicBezTo>
                        <a:pt x="55" y="175"/>
                        <a:pt x="43" y="196"/>
                        <a:pt x="33" y="217"/>
                      </a:cubicBezTo>
                      <a:cubicBezTo>
                        <a:pt x="29" y="227"/>
                        <a:pt x="32" y="239"/>
                        <a:pt x="42" y="245"/>
                      </a:cubicBezTo>
                      <a:cubicBezTo>
                        <a:pt x="75" y="264"/>
                        <a:pt x="75" y="264"/>
                        <a:pt x="75" y="264"/>
                      </a:cubicBezTo>
                      <a:cubicBezTo>
                        <a:pt x="84" y="268"/>
                        <a:pt x="89" y="278"/>
                        <a:pt x="86" y="288"/>
                      </a:cubicBezTo>
                      <a:cubicBezTo>
                        <a:pt x="84" y="293"/>
                        <a:pt x="84" y="295"/>
                        <a:pt x="83" y="300"/>
                      </a:cubicBezTo>
                      <a:cubicBezTo>
                        <a:pt x="81" y="308"/>
                        <a:pt x="72" y="316"/>
                        <a:pt x="62" y="316"/>
                      </a:cubicBezTo>
                      <a:cubicBezTo>
                        <a:pt x="23" y="316"/>
                        <a:pt x="23" y="316"/>
                        <a:pt x="23" y="316"/>
                      </a:cubicBezTo>
                      <a:cubicBezTo>
                        <a:pt x="12" y="316"/>
                        <a:pt x="3" y="324"/>
                        <a:pt x="2" y="336"/>
                      </a:cubicBezTo>
                      <a:cubicBezTo>
                        <a:pt x="0" y="348"/>
                        <a:pt x="0" y="359"/>
                        <a:pt x="0" y="371"/>
                      </a:cubicBezTo>
                      <a:cubicBezTo>
                        <a:pt x="0" y="382"/>
                        <a:pt x="0" y="394"/>
                        <a:pt x="2" y="405"/>
                      </a:cubicBezTo>
                      <a:cubicBezTo>
                        <a:pt x="3" y="417"/>
                        <a:pt x="12" y="426"/>
                        <a:pt x="23" y="426"/>
                      </a:cubicBezTo>
                      <a:cubicBezTo>
                        <a:pt x="62" y="426"/>
                        <a:pt x="62" y="426"/>
                        <a:pt x="62" y="426"/>
                      </a:cubicBezTo>
                      <a:cubicBezTo>
                        <a:pt x="72" y="426"/>
                        <a:pt x="80" y="432"/>
                        <a:pt x="83" y="442"/>
                      </a:cubicBezTo>
                      <a:cubicBezTo>
                        <a:pt x="84" y="446"/>
                        <a:pt x="84" y="449"/>
                        <a:pt x="86" y="453"/>
                      </a:cubicBezTo>
                      <a:cubicBezTo>
                        <a:pt x="89" y="463"/>
                        <a:pt x="84" y="473"/>
                        <a:pt x="75" y="478"/>
                      </a:cubicBezTo>
                      <a:cubicBezTo>
                        <a:pt x="42" y="497"/>
                        <a:pt x="42" y="497"/>
                        <a:pt x="42" y="497"/>
                      </a:cubicBezTo>
                      <a:cubicBezTo>
                        <a:pt x="32" y="502"/>
                        <a:pt x="29" y="514"/>
                        <a:pt x="33" y="524"/>
                      </a:cubicBezTo>
                      <a:cubicBezTo>
                        <a:pt x="43" y="546"/>
                        <a:pt x="55" y="567"/>
                        <a:pt x="68" y="585"/>
                      </a:cubicBezTo>
                      <a:cubicBezTo>
                        <a:pt x="75" y="594"/>
                        <a:pt x="87" y="596"/>
                        <a:pt x="97" y="591"/>
                      </a:cubicBezTo>
                      <a:cubicBezTo>
                        <a:pt x="130" y="572"/>
                        <a:pt x="130" y="572"/>
                        <a:pt x="130" y="572"/>
                      </a:cubicBezTo>
                      <a:cubicBezTo>
                        <a:pt x="139" y="567"/>
                        <a:pt x="149" y="569"/>
                        <a:pt x="156" y="576"/>
                      </a:cubicBezTo>
                      <a:cubicBezTo>
                        <a:pt x="159" y="579"/>
                        <a:pt x="162" y="582"/>
                        <a:pt x="165" y="585"/>
                      </a:cubicBezTo>
                      <a:cubicBezTo>
                        <a:pt x="172" y="592"/>
                        <a:pt x="174" y="603"/>
                        <a:pt x="169" y="611"/>
                      </a:cubicBezTo>
                      <a:cubicBezTo>
                        <a:pt x="151" y="644"/>
                        <a:pt x="151" y="644"/>
                        <a:pt x="151" y="644"/>
                      </a:cubicBezTo>
                      <a:cubicBezTo>
                        <a:pt x="145" y="654"/>
                        <a:pt x="148" y="667"/>
                        <a:pt x="156" y="673"/>
                      </a:cubicBezTo>
                      <a:cubicBezTo>
                        <a:pt x="175" y="686"/>
                        <a:pt x="195" y="698"/>
                        <a:pt x="217" y="708"/>
                      </a:cubicBezTo>
                      <a:cubicBezTo>
                        <a:pt x="227" y="713"/>
                        <a:pt x="239" y="709"/>
                        <a:pt x="245" y="699"/>
                      </a:cubicBezTo>
                      <a:cubicBezTo>
                        <a:pt x="264" y="666"/>
                        <a:pt x="264" y="666"/>
                        <a:pt x="264" y="666"/>
                      </a:cubicBezTo>
                      <a:cubicBezTo>
                        <a:pt x="268" y="658"/>
                        <a:pt x="278" y="653"/>
                        <a:pt x="288" y="656"/>
                      </a:cubicBezTo>
                      <a:cubicBezTo>
                        <a:pt x="293" y="657"/>
                        <a:pt x="295" y="658"/>
                        <a:pt x="300" y="659"/>
                      </a:cubicBezTo>
                      <a:cubicBezTo>
                        <a:pt x="308" y="661"/>
                        <a:pt x="316" y="669"/>
                        <a:pt x="316" y="679"/>
                      </a:cubicBezTo>
                      <a:cubicBezTo>
                        <a:pt x="316" y="718"/>
                        <a:pt x="316" y="718"/>
                        <a:pt x="316" y="718"/>
                      </a:cubicBezTo>
                      <a:cubicBezTo>
                        <a:pt x="316" y="730"/>
                        <a:pt x="324" y="738"/>
                        <a:pt x="336" y="740"/>
                      </a:cubicBezTo>
                      <a:cubicBezTo>
                        <a:pt x="347" y="741"/>
                        <a:pt x="359" y="741"/>
                        <a:pt x="371" y="741"/>
                      </a:cubicBezTo>
                      <a:cubicBezTo>
                        <a:pt x="382" y="741"/>
                        <a:pt x="394" y="741"/>
                        <a:pt x="405" y="740"/>
                      </a:cubicBezTo>
                      <a:cubicBezTo>
                        <a:pt x="417" y="738"/>
                        <a:pt x="426" y="730"/>
                        <a:pt x="426" y="718"/>
                      </a:cubicBezTo>
                      <a:cubicBezTo>
                        <a:pt x="426" y="679"/>
                        <a:pt x="426" y="679"/>
                        <a:pt x="426" y="679"/>
                      </a:cubicBezTo>
                      <a:cubicBezTo>
                        <a:pt x="426" y="669"/>
                        <a:pt x="431" y="662"/>
                        <a:pt x="442" y="659"/>
                      </a:cubicBezTo>
                      <a:cubicBezTo>
                        <a:pt x="446" y="657"/>
                        <a:pt x="449" y="657"/>
                        <a:pt x="453" y="656"/>
                      </a:cubicBezTo>
                      <a:cubicBezTo>
                        <a:pt x="463" y="653"/>
                        <a:pt x="473" y="657"/>
                        <a:pt x="478" y="666"/>
                      </a:cubicBezTo>
                      <a:cubicBezTo>
                        <a:pt x="497" y="699"/>
                        <a:pt x="497" y="699"/>
                        <a:pt x="497" y="699"/>
                      </a:cubicBezTo>
                      <a:cubicBezTo>
                        <a:pt x="502" y="709"/>
                        <a:pt x="514" y="713"/>
                        <a:pt x="524" y="708"/>
                      </a:cubicBezTo>
                      <a:cubicBezTo>
                        <a:pt x="546" y="698"/>
                        <a:pt x="566" y="687"/>
                        <a:pt x="585" y="673"/>
                      </a:cubicBezTo>
                      <a:cubicBezTo>
                        <a:pt x="594" y="667"/>
                        <a:pt x="596" y="654"/>
                        <a:pt x="591" y="644"/>
                      </a:cubicBezTo>
                      <a:cubicBezTo>
                        <a:pt x="572" y="611"/>
                        <a:pt x="572" y="611"/>
                        <a:pt x="572" y="611"/>
                      </a:cubicBezTo>
                      <a:cubicBezTo>
                        <a:pt x="567" y="603"/>
                        <a:pt x="569" y="592"/>
                        <a:pt x="576" y="585"/>
                      </a:cubicBezTo>
                      <a:cubicBezTo>
                        <a:pt x="579" y="582"/>
                        <a:pt x="582" y="579"/>
                        <a:pt x="585" y="576"/>
                      </a:cubicBezTo>
                      <a:cubicBezTo>
                        <a:pt x="592" y="569"/>
                        <a:pt x="602" y="567"/>
                        <a:pt x="611" y="572"/>
                      </a:cubicBezTo>
                      <a:cubicBezTo>
                        <a:pt x="644" y="591"/>
                        <a:pt x="644" y="591"/>
                        <a:pt x="644" y="591"/>
                      </a:cubicBezTo>
                      <a:cubicBezTo>
                        <a:pt x="654" y="596"/>
                        <a:pt x="667" y="594"/>
                        <a:pt x="673" y="585"/>
                      </a:cubicBezTo>
                      <a:cubicBezTo>
                        <a:pt x="686" y="566"/>
                        <a:pt x="698" y="546"/>
                        <a:pt x="708" y="524"/>
                      </a:cubicBezTo>
                      <a:cubicBezTo>
                        <a:pt x="712" y="514"/>
                        <a:pt x="709" y="502"/>
                        <a:pt x="699" y="497"/>
                      </a:cubicBezTo>
                      <a:cubicBezTo>
                        <a:pt x="666" y="478"/>
                        <a:pt x="666" y="478"/>
                        <a:pt x="666" y="478"/>
                      </a:cubicBezTo>
                      <a:cubicBezTo>
                        <a:pt x="657" y="473"/>
                        <a:pt x="653" y="463"/>
                        <a:pt x="656" y="453"/>
                      </a:cubicBezTo>
                      <a:cubicBezTo>
                        <a:pt x="657" y="449"/>
                        <a:pt x="658" y="446"/>
                        <a:pt x="659" y="442"/>
                      </a:cubicBezTo>
                      <a:cubicBezTo>
                        <a:pt x="661" y="433"/>
                        <a:pt x="669" y="426"/>
                        <a:pt x="679" y="426"/>
                      </a:cubicBezTo>
                      <a:cubicBezTo>
                        <a:pt x="718" y="426"/>
                        <a:pt x="718" y="426"/>
                        <a:pt x="718" y="426"/>
                      </a:cubicBezTo>
                      <a:cubicBezTo>
                        <a:pt x="730" y="426"/>
                        <a:pt x="738" y="417"/>
                        <a:pt x="740" y="405"/>
                      </a:cubicBezTo>
                      <a:cubicBezTo>
                        <a:pt x="741" y="394"/>
                        <a:pt x="741" y="382"/>
                        <a:pt x="741" y="371"/>
                      </a:cubicBezTo>
                      <a:cubicBezTo>
                        <a:pt x="741" y="359"/>
                        <a:pt x="741" y="348"/>
                        <a:pt x="740" y="336"/>
                      </a:cubicBezTo>
                      <a:cubicBezTo>
                        <a:pt x="738" y="324"/>
                        <a:pt x="730" y="316"/>
                        <a:pt x="718" y="316"/>
                      </a:cubicBezTo>
                      <a:cubicBezTo>
                        <a:pt x="679" y="316"/>
                        <a:pt x="679" y="316"/>
                        <a:pt x="679" y="316"/>
                      </a:cubicBezTo>
                      <a:cubicBezTo>
                        <a:pt x="669" y="316"/>
                        <a:pt x="662" y="310"/>
                        <a:pt x="659" y="300"/>
                      </a:cubicBezTo>
                      <a:cubicBezTo>
                        <a:pt x="657" y="295"/>
                        <a:pt x="657" y="293"/>
                        <a:pt x="656" y="288"/>
                      </a:cubicBezTo>
                      <a:cubicBezTo>
                        <a:pt x="653" y="278"/>
                        <a:pt x="657" y="269"/>
                        <a:pt x="666" y="264"/>
                      </a:cubicBezTo>
                      <a:cubicBezTo>
                        <a:pt x="699" y="245"/>
                        <a:pt x="699" y="245"/>
                        <a:pt x="699" y="245"/>
                      </a:cubicBezTo>
                      <a:cubicBezTo>
                        <a:pt x="709" y="239"/>
                        <a:pt x="712" y="227"/>
                        <a:pt x="708" y="217"/>
                      </a:cubicBezTo>
                      <a:cubicBezTo>
                        <a:pt x="698" y="196"/>
                        <a:pt x="687" y="175"/>
                        <a:pt x="673" y="157"/>
                      </a:cubicBezTo>
                      <a:cubicBezTo>
                        <a:pt x="666" y="147"/>
                        <a:pt x="654" y="145"/>
                        <a:pt x="644" y="151"/>
                      </a:cubicBezTo>
                      <a:cubicBezTo>
                        <a:pt x="611" y="170"/>
                        <a:pt x="611" y="170"/>
                        <a:pt x="611" y="170"/>
                      </a:cubicBezTo>
                      <a:cubicBezTo>
                        <a:pt x="602" y="174"/>
                        <a:pt x="592" y="172"/>
                        <a:pt x="585" y="165"/>
                      </a:cubicBezTo>
                      <a:cubicBezTo>
                        <a:pt x="582" y="162"/>
                        <a:pt x="579" y="159"/>
                        <a:pt x="576" y="157"/>
                      </a:cubicBezTo>
                      <a:cubicBezTo>
                        <a:pt x="569" y="149"/>
                        <a:pt x="567" y="139"/>
                        <a:pt x="572" y="131"/>
                      </a:cubicBezTo>
                      <a:cubicBezTo>
                        <a:pt x="591" y="97"/>
                        <a:pt x="591" y="97"/>
                        <a:pt x="591" y="97"/>
                      </a:cubicBezTo>
                      <a:cubicBezTo>
                        <a:pt x="596" y="87"/>
                        <a:pt x="593" y="74"/>
                        <a:pt x="585" y="68"/>
                      </a:cubicBezTo>
                      <a:cubicBezTo>
                        <a:pt x="566" y="55"/>
                        <a:pt x="546" y="43"/>
                        <a:pt x="524" y="34"/>
                      </a:cubicBezTo>
                      <a:cubicBezTo>
                        <a:pt x="514" y="29"/>
                        <a:pt x="502" y="32"/>
                        <a:pt x="497" y="42"/>
                      </a:cubicBezTo>
                      <a:cubicBezTo>
                        <a:pt x="478" y="76"/>
                        <a:pt x="478" y="76"/>
                        <a:pt x="478" y="76"/>
                      </a:cubicBezTo>
                      <a:cubicBezTo>
                        <a:pt x="473" y="84"/>
                        <a:pt x="463" y="89"/>
                        <a:pt x="453" y="86"/>
                      </a:cubicBezTo>
                      <a:cubicBezTo>
                        <a:pt x="449" y="84"/>
                        <a:pt x="446" y="84"/>
                        <a:pt x="442" y="83"/>
                      </a:cubicBezTo>
                      <a:cubicBezTo>
                        <a:pt x="433" y="81"/>
                        <a:pt x="426" y="73"/>
                        <a:pt x="426" y="63"/>
                      </a:cubicBezTo>
                      <a:cubicBezTo>
                        <a:pt x="426" y="23"/>
                        <a:pt x="426" y="23"/>
                        <a:pt x="426" y="23"/>
                      </a:cubicBezTo>
                      <a:cubicBezTo>
                        <a:pt x="426" y="12"/>
                        <a:pt x="417" y="3"/>
                        <a:pt x="405" y="2"/>
                      </a:cubicBezTo>
                      <a:cubicBezTo>
                        <a:pt x="394" y="0"/>
                        <a:pt x="382" y="0"/>
                        <a:pt x="371" y="0"/>
                      </a:cubicBezTo>
                      <a:close/>
                      <a:moveTo>
                        <a:pt x="371" y="174"/>
                      </a:moveTo>
                      <a:cubicBezTo>
                        <a:pt x="479" y="174"/>
                        <a:pt x="567" y="262"/>
                        <a:pt x="567" y="371"/>
                      </a:cubicBezTo>
                      <a:cubicBezTo>
                        <a:pt x="567" y="479"/>
                        <a:pt x="479" y="568"/>
                        <a:pt x="371" y="568"/>
                      </a:cubicBezTo>
                      <a:cubicBezTo>
                        <a:pt x="262" y="568"/>
                        <a:pt x="174" y="479"/>
                        <a:pt x="174" y="371"/>
                      </a:cubicBezTo>
                      <a:cubicBezTo>
                        <a:pt x="174" y="262"/>
                        <a:pt x="262" y="174"/>
                        <a:pt x="371" y="174"/>
                      </a:cubicBezTo>
                      <a:close/>
                    </a:path>
                  </a:pathLst>
                </a:custGeom>
                <a:grpFill/>
                <a:ln>
                  <a:noFill/>
                </a:ln>
                <a:effectLst/>
              </p:spPr>
              <p:txBody>
                <a:bodyPr vert="horz" wrap="square" lIns="91416" tIns="45708" rIns="91416" bIns="45708"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16">
                  <a:extLst>
                    <a:ext uri="{FF2B5EF4-FFF2-40B4-BE49-F238E27FC236}">
                      <a16:creationId xmlns:a16="http://schemas.microsoft.com/office/drawing/2014/main" xmlns="" id="{74D1449D-E2EB-4539-BE2B-4906BE205C9E}"/>
                    </a:ext>
                  </a:extLst>
                </p:cNvPr>
                <p:cNvSpPr>
                  <a:spLocks/>
                </p:cNvSpPr>
                <p:nvPr/>
              </p:nvSpPr>
              <p:spPr bwMode="gray">
                <a:xfrm>
                  <a:off x="2144713" y="3248025"/>
                  <a:ext cx="273050" cy="93663"/>
                </a:xfrm>
                <a:custGeom>
                  <a:avLst/>
                  <a:gdLst/>
                  <a:ahLst/>
                  <a:cxnLst>
                    <a:cxn ang="0">
                      <a:pos x="0" y="0"/>
                    </a:cxn>
                    <a:cxn ang="0">
                      <a:pos x="0" y="153"/>
                    </a:cxn>
                    <a:cxn ang="0">
                      <a:pos x="29" y="200"/>
                    </a:cxn>
                    <a:cxn ang="0">
                      <a:pos x="551" y="200"/>
                    </a:cxn>
                    <a:cxn ang="0">
                      <a:pos x="580" y="153"/>
                    </a:cxn>
                    <a:cxn ang="0">
                      <a:pos x="580" y="1"/>
                    </a:cxn>
                    <a:cxn ang="0">
                      <a:pos x="0" y="0"/>
                    </a:cxn>
                  </a:cxnLst>
                  <a:rect l="0" t="0" r="r" b="b"/>
                  <a:pathLst>
                    <a:path w="580" h="200">
                      <a:moveTo>
                        <a:pt x="0" y="0"/>
                      </a:moveTo>
                      <a:cubicBezTo>
                        <a:pt x="0" y="153"/>
                        <a:pt x="0" y="153"/>
                        <a:pt x="0" y="153"/>
                      </a:cubicBezTo>
                      <a:cubicBezTo>
                        <a:pt x="0" y="179"/>
                        <a:pt x="13" y="200"/>
                        <a:pt x="29" y="200"/>
                      </a:cubicBezTo>
                      <a:cubicBezTo>
                        <a:pt x="551" y="200"/>
                        <a:pt x="551" y="200"/>
                        <a:pt x="551" y="200"/>
                      </a:cubicBezTo>
                      <a:cubicBezTo>
                        <a:pt x="567" y="200"/>
                        <a:pt x="580" y="179"/>
                        <a:pt x="580" y="153"/>
                      </a:cubicBezTo>
                      <a:cubicBezTo>
                        <a:pt x="580" y="1"/>
                        <a:pt x="580" y="1"/>
                        <a:pt x="580" y="1"/>
                      </a:cubicBezTo>
                      <a:cubicBezTo>
                        <a:pt x="387" y="1"/>
                        <a:pt x="193" y="1"/>
                        <a:pt x="0" y="0"/>
                      </a:cubicBezTo>
                      <a:close/>
                    </a:path>
                  </a:pathLst>
                </a:custGeom>
                <a:grpFill/>
                <a:ln>
                  <a:noFill/>
                </a:ln>
                <a:effectLst/>
              </p:spPr>
              <p:txBody>
                <a:bodyPr vert="horz" wrap="square" lIns="91416" tIns="45708" rIns="91416" bIns="45708"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17">
                  <a:extLst>
                    <a:ext uri="{FF2B5EF4-FFF2-40B4-BE49-F238E27FC236}">
                      <a16:creationId xmlns:a16="http://schemas.microsoft.com/office/drawing/2014/main" xmlns="" id="{6B106C55-F47E-4690-BE48-EE0BAB697310}"/>
                    </a:ext>
                  </a:extLst>
                </p:cNvPr>
                <p:cNvSpPr>
                  <a:spLocks/>
                </p:cNvSpPr>
                <p:nvPr/>
              </p:nvSpPr>
              <p:spPr bwMode="gray">
                <a:xfrm>
                  <a:off x="2058988" y="3321050"/>
                  <a:ext cx="444500" cy="50800"/>
                </a:xfrm>
                <a:custGeom>
                  <a:avLst/>
                  <a:gdLst/>
                  <a:ahLst/>
                  <a:cxnLst>
                    <a:cxn ang="0">
                      <a:pos x="64" y="0"/>
                    </a:cxn>
                    <a:cxn ang="0">
                      <a:pos x="0" y="53"/>
                    </a:cxn>
                    <a:cxn ang="0">
                      <a:pos x="64" y="106"/>
                    </a:cxn>
                    <a:cxn ang="0">
                      <a:pos x="884" y="106"/>
                    </a:cxn>
                    <a:cxn ang="0">
                      <a:pos x="948" y="53"/>
                    </a:cxn>
                    <a:cxn ang="0">
                      <a:pos x="884" y="0"/>
                    </a:cxn>
                    <a:cxn ang="0">
                      <a:pos x="64" y="0"/>
                    </a:cxn>
                  </a:cxnLst>
                  <a:rect l="0" t="0" r="r" b="b"/>
                  <a:pathLst>
                    <a:path w="948" h="106">
                      <a:moveTo>
                        <a:pt x="64" y="0"/>
                      </a:moveTo>
                      <a:cubicBezTo>
                        <a:pt x="29" y="0"/>
                        <a:pt x="0" y="24"/>
                        <a:pt x="0" y="53"/>
                      </a:cubicBezTo>
                      <a:cubicBezTo>
                        <a:pt x="0" y="82"/>
                        <a:pt x="29" y="106"/>
                        <a:pt x="64" y="106"/>
                      </a:cubicBezTo>
                      <a:cubicBezTo>
                        <a:pt x="884" y="106"/>
                        <a:pt x="884" y="106"/>
                        <a:pt x="884" y="106"/>
                      </a:cubicBezTo>
                      <a:cubicBezTo>
                        <a:pt x="920" y="106"/>
                        <a:pt x="948" y="82"/>
                        <a:pt x="948" y="53"/>
                      </a:cubicBezTo>
                      <a:cubicBezTo>
                        <a:pt x="948" y="24"/>
                        <a:pt x="920" y="0"/>
                        <a:pt x="884" y="0"/>
                      </a:cubicBezTo>
                      <a:lnTo>
                        <a:pt x="64" y="0"/>
                      </a:lnTo>
                      <a:close/>
                    </a:path>
                  </a:pathLst>
                </a:custGeom>
                <a:grpFill/>
                <a:ln>
                  <a:noFill/>
                </a:ln>
                <a:effectLst/>
              </p:spPr>
              <p:txBody>
                <a:bodyPr vert="horz" wrap="square" lIns="91416" tIns="45708" rIns="91416" bIns="45708"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Freeform 18">
                  <a:extLst>
                    <a:ext uri="{FF2B5EF4-FFF2-40B4-BE49-F238E27FC236}">
                      <a16:creationId xmlns:a16="http://schemas.microsoft.com/office/drawing/2014/main" xmlns="" id="{85D58AE7-3EA2-4D65-AEE0-CFD942288D9B}"/>
                    </a:ext>
                  </a:extLst>
                </p:cNvPr>
                <p:cNvSpPr>
                  <a:spLocks noEditPoints="1"/>
                </p:cNvSpPr>
                <p:nvPr/>
              </p:nvSpPr>
              <p:spPr bwMode="gray">
                <a:xfrm>
                  <a:off x="1814513" y="2640013"/>
                  <a:ext cx="933450" cy="596900"/>
                </a:xfrm>
                <a:custGeom>
                  <a:avLst/>
                  <a:gdLst/>
                  <a:ahLst/>
                  <a:cxnLst>
                    <a:cxn ang="0">
                      <a:pos x="131" y="0"/>
                    </a:cxn>
                    <a:cxn ang="0">
                      <a:pos x="0" y="130"/>
                    </a:cxn>
                    <a:cxn ang="0">
                      <a:pos x="0" y="1138"/>
                    </a:cxn>
                    <a:cxn ang="0">
                      <a:pos x="131" y="1269"/>
                    </a:cxn>
                    <a:cxn ang="0">
                      <a:pos x="1853" y="1269"/>
                    </a:cxn>
                    <a:cxn ang="0">
                      <a:pos x="1984" y="1138"/>
                    </a:cxn>
                    <a:cxn ang="0">
                      <a:pos x="1984" y="130"/>
                    </a:cxn>
                    <a:cxn ang="0">
                      <a:pos x="1853" y="0"/>
                    </a:cxn>
                    <a:cxn ang="0">
                      <a:pos x="131" y="0"/>
                    </a:cxn>
                    <a:cxn ang="0">
                      <a:pos x="131" y="63"/>
                    </a:cxn>
                    <a:cxn ang="0">
                      <a:pos x="1853" y="63"/>
                    </a:cxn>
                    <a:cxn ang="0">
                      <a:pos x="1921" y="130"/>
                    </a:cxn>
                    <a:cxn ang="0">
                      <a:pos x="1921" y="1138"/>
                    </a:cxn>
                    <a:cxn ang="0">
                      <a:pos x="1853" y="1206"/>
                    </a:cxn>
                    <a:cxn ang="0">
                      <a:pos x="131" y="1206"/>
                    </a:cxn>
                    <a:cxn ang="0">
                      <a:pos x="64" y="1138"/>
                    </a:cxn>
                    <a:cxn ang="0">
                      <a:pos x="64" y="130"/>
                    </a:cxn>
                    <a:cxn ang="0">
                      <a:pos x="131" y="63"/>
                    </a:cxn>
                  </a:cxnLst>
                  <a:rect l="0" t="0" r="r" b="b"/>
                  <a:pathLst>
                    <a:path w="1984" h="1269">
                      <a:moveTo>
                        <a:pt x="131" y="0"/>
                      </a:moveTo>
                      <a:cubicBezTo>
                        <a:pt x="59" y="0"/>
                        <a:pt x="0" y="58"/>
                        <a:pt x="0" y="130"/>
                      </a:cubicBezTo>
                      <a:cubicBezTo>
                        <a:pt x="0" y="1138"/>
                        <a:pt x="0" y="1138"/>
                        <a:pt x="0" y="1138"/>
                      </a:cubicBezTo>
                      <a:cubicBezTo>
                        <a:pt x="0" y="1210"/>
                        <a:pt x="59" y="1269"/>
                        <a:pt x="131" y="1269"/>
                      </a:cubicBezTo>
                      <a:cubicBezTo>
                        <a:pt x="1853" y="1269"/>
                        <a:pt x="1853" y="1269"/>
                        <a:pt x="1853" y="1269"/>
                      </a:cubicBezTo>
                      <a:cubicBezTo>
                        <a:pt x="1925" y="1269"/>
                        <a:pt x="1984" y="1210"/>
                        <a:pt x="1984" y="1138"/>
                      </a:cubicBezTo>
                      <a:cubicBezTo>
                        <a:pt x="1984" y="130"/>
                        <a:pt x="1984" y="130"/>
                        <a:pt x="1984" y="130"/>
                      </a:cubicBezTo>
                      <a:cubicBezTo>
                        <a:pt x="1984" y="58"/>
                        <a:pt x="1925" y="0"/>
                        <a:pt x="1853" y="0"/>
                      </a:cubicBezTo>
                      <a:cubicBezTo>
                        <a:pt x="131" y="0"/>
                        <a:pt x="131" y="0"/>
                        <a:pt x="131" y="0"/>
                      </a:cubicBezTo>
                      <a:close/>
                      <a:moveTo>
                        <a:pt x="131" y="63"/>
                      </a:moveTo>
                      <a:cubicBezTo>
                        <a:pt x="1853" y="63"/>
                        <a:pt x="1853" y="63"/>
                        <a:pt x="1853" y="63"/>
                      </a:cubicBezTo>
                      <a:cubicBezTo>
                        <a:pt x="1891" y="63"/>
                        <a:pt x="1921" y="93"/>
                        <a:pt x="1921" y="130"/>
                      </a:cubicBezTo>
                      <a:cubicBezTo>
                        <a:pt x="1921" y="1138"/>
                        <a:pt x="1921" y="1138"/>
                        <a:pt x="1921" y="1138"/>
                      </a:cubicBezTo>
                      <a:cubicBezTo>
                        <a:pt x="1921" y="1176"/>
                        <a:pt x="1891" y="1206"/>
                        <a:pt x="1853" y="1206"/>
                      </a:cubicBezTo>
                      <a:cubicBezTo>
                        <a:pt x="131" y="1206"/>
                        <a:pt x="131" y="1206"/>
                        <a:pt x="131" y="1206"/>
                      </a:cubicBezTo>
                      <a:cubicBezTo>
                        <a:pt x="93" y="1206"/>
                        <a:pt x="64" y="1176"/>
                        <a:pt x="64" y="1138"/>
                      </a:cubicBezTo>
                      <a:cubicBezTo>
                        <a:pt x="64" y="130"/>
                        <a:pt x="64" y="130"/>
                        <a:pt x="64" y="130"/>
                      </a:cubicBezTo>
                      <a:cubicBezTo>
                        <a:pt x="64" y="93"/>
                        <a:pt x="93" y="63"/>
                        <a:pt x="131" y="63"/>
                      </a:cubicBezTo>
                      <a:close/>
                    </a:path>
                  </a:pathLst>
                </a:custGeom>
                <a:grpFill/>
                <a:ln>
                  <a:noFill/>
                </a:ln>
                <a:effectLst/>
              </p:spPr>
              <p:txBody>
                <a:bodyPr vert="horz" wrap="square" lIns="91416" tIns="45708" rIns="91416" bIns="45708"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19">
                  <a:extLst>
                    <a:ext uri="{FF2B5EF4-FFF2-40B4-BE49-F238E27FC236}">
                      <a16:creationId xmlns:a16="http://schemas.microsoft.com/office/drawing/2014/main" xmlns="" id="{77D39D7B-CC15-45F5-8359-D063FAAB06B9}"/>
                    </a:ext>
                  </a:extLst>
                </p:cNvPr>
                <p:cNvSpPr>
                  <a:spLocks/>
                </p:cNvSpPr>
                <p:nvPr/>
              </p:nvSpPr>
              <p:spPr bwMode="gray">
                <a:xfrm>
                  <a:off x="2052638" y="2743200"/>
                  <a:ext cx="96838" cy="374650"/>
                </a:xfrm>
                <a:custGeom>
                  <a:avLst/>
                  <a:gdLst/>
                  <a:ahLst/>
                  <a:cxnLst>
                    <a:cxn ang="0">
                      <a:pos x="32" y="0"/>
                    </a:cxn>
                    <a:cxn ang="0">
                      <a:pos x="0" y="32"/>
                    </a:cxn>
                    <a:cxn ang="0">
                      <a:pos x="0" y="765"/>
                    </a:cxn>
                    <a:cxn ang="0">
                      <a:pos x="32" y="797"/>
                    </a:cxn>
                    <a:cxn ang="0">
                      <a:pos x="175" y="797"/>
                    </a:cxn>
                    <a:cxn ang="0">
                      <a:pos x="206" y="765"/>
                    </a:cxn>
                    <a:cxn ang="0">
                      <a:pos x="206" y="32"/>
                    </a:cxn>
                    <a:cxn ang="0">
                      <a:pos x="175" y="0"/>
                    </a:cxn>
                    <a:cxn ang="0">
                      <a:pos x="32" y="0"/>
                    </a:cxn>
                  </a:cxnLst>
                  <a:rect l="0" t="0" r="r" b="b"/>
                  <a:pathLst>
                    <a:path w="206" h="797">
                      <a:moveTo>
                        <a:pt x="32" y="0"/>
                      </a:moveTo>
                      <a:cubicBezTo>
                        <a:pt x="15" y="0"/>
                        <a:pt x="0" y="15"/>
                        <a:pt x="0" y="32"/>
                      </a:cubicBezTo>
                      <a:cubicBezTo>
                        <a:pt x="0" y="765"/>
                        <a:pt x="0" y="765"/>
                        <a:pt x="0" y="765"/>
                      </a:cubicBezTo>
                      <a:cubicBezTo>
                        <a:pt x="0" y="782"/>
                        <a:pt x="15" y="797"/>
                        <a:pt x="32" y="797"/>
                      </a:cubicBezTo>
                      <a:cubicBezTo>
                        <a:pt x="175" y="797"/>
                        <a:pt x="175" y="797"/>
                        <a:pt x="175" y="797"/>
                      </a:cubicBezTo>
                      <a:cubicBezTo>
                        <a:pt x="191" y="797"/>
                        <a:pt x="206" y="782"/>
                        <a:pt x="206" y="765"/>
                      </a:cubicBezTo>
                      <a:cubicBezTo>
                        <a:pt x="206" y="32"/>
                        <a:pt x="206" y="32"/>
                        <a:pt x="206" y="32"/>
                      </a:cubicBezTo>
                      <a:cubicBezTo>
                        <a:pt x="206" y="15"/>
                        <a:pt x="191" y="0"/>
                        <a:pt x="175" y="0"/>
                      </a:cubicBezTo>
                      <a:lnTo>
                        <a:pt x="32" y="0"/>
                      </a:lnTo>
                      <a:close/>
                    </a:path>
                  </a:pathLst>
                </a:custGeom>
                <a:grpFill/>
                <a:ln>
                  <a:noFill/>
                </a:ln>
                <a:effectLst/>
              </p:spPr>
              <p:txBody>
                <a:bodyPr vert="horz" wrap="square" lIns="91416" tIns="45708" rIns="91416" bIns="45708"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20">
                  <a:extLst>
                    <a:ext uri="{FF2B5EF4-FFF2-40B4-BE49-F238E27FC236}">
                      <a16:creationId xmlns:a16="http://schemas.microsoft.com/office/drawing/2014/main" xmlns="" id="{CAD168D7-7CF5-4A2F-A5B6-3BD854E30A5B}"/>
                    </a:ext>
                  </a:extLst>
                </p:cNvPr>
                <p:cNvSpPr>
                  <a:spLocks/>
                </p:cNvSpPr>
                <p:nvPr/>
              </p:nvSpPr>
              <p:spPr bwMode="gray">
                <a:xfrm>
                  <a:off x="2179638" y="2774950"/>
                  <a:ext cx="96838" cy="342900"/>
                </a:xfrm>
                <a:custGeom>
                  <a:avLst/>
                  <a:gdLst/>
                  <a:ahLst/>
                  <a:cxnLst>
                    <a:cxn ang="0">
                      <a:pos x="32" y="0"/>
                    </a:cxn>
                    <a:cxn ang="0">
                      <a:pos x="0" y="32"/>
                    </a:cxn>
                    <a:cxn ang="0">
                      <a:pos x="0" y="699"/>
                    </a:cxn>
                    <a:cxn ang="0">
                      <a:pos x="32" y="731"/>
                    </a:cxn>
                    <a:cxn ang="0">
                      <a:pos x="175" y="731"/>
                    </a:cxn>
                    <a:cxn ang="0">
                      <a:pos x="207" y="699"/>
                    </a:cxn>
                    <a:cxn ang="0">
                      <a:pos x="207" y="32"/>
                    </a:cxn>
                    <a:cxn ang="0">
                      <a:pos x="175" y="0"/>
                    </a:cxn>
                    <a:cxn ang="0">
                      <a:pos x="32" y="0"/>
                    </a:cxn>
                  </a:cxnLst>
                  <a:rect l="0" t="0" r="r" b="b"/>
                  <a:pathLst>
                    <a:path w="207" h="731">
                      <a:moveTo>
                        <a:pt x="32" y="0"/>
                      </a:moveTo>
                      <a:cubicBezTo>
                        <a:pt x="15" y="0"/>
                        <a:pt x="0" y="16"/>
                        <a:pt x="0" y="32"/>
                      </a:cubicBezTo>
                      <a:cubicBezTo>
                        <a:pt x="0" y="699"/>
                        <a:pt x="0" y="699"/>
                        <a:pt x="0" y="699"/>
                      </a:cubicBezTo>
                      <a:cubicBezTo>
                        <a:pt x="0" y="716"/>
                        <a:pt x="15" y="731"/>
                        <a:pt x="32" y="731"/>
                      </a:cubicBezTo>
                      <a:cubicBezTo>
                        <a:pt x="175" y="731"/>
                        <a:pt x="175" y="731"/>
                        <a:pt x="175" y="731"/>
                      </a:cubicBezTo>
                      <a:cubicBezTo>
                        <a:pt x="191" y="731"/>
                        <a:pt x="207" y="716"/>
                        <a:pt x="207" y="699"/>
                      </a:cubicBezTo>
                      <a:cubicBezTo>
                        <a:pt x="207" y="32"/>
                        <a:pt x="207" y="32"/>
                        <a:pt x="207" y="32"/>
                      </a:cubicBezTo>
                      <a:cubicBezTo>
                        <a:pt x="207" y="16"/>
                        <a:pt x="191" y="0"/>
                        <a:pt x="175" y="0"/>
                      </a:cubicBezTo>
                      <a:lnTo>
                        <a:pt x="32" y="0"/>
                      </a:lnTo>
                      <a:close/>
                    </a:path>
                  </a:pathLst>
                </a:custGeom>
                <a:grpFill/>
                <a:ln>
                  <a:noFill/>
                </a:ln>
                <a:effectLst/>
              </p:spPr>
              <p:txBody>
                <a:bodyPr vert="horz" wrap="square" lIns="91416" tIns="45708" rIns="91416" bIns="45708"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Freeform 21">
                  <a:extLst>
                    <a:ext uri="{FF2B5EF4-FFF2-40B4-BE49-F238E27FC236}">
                      <a16:creationId xmlns:a16="http://schemas.microsoft.com/office/drawing/2014/main" xmlns="" id="{95A326B0-0F5C-40F9-9C2F-DDE2F7C01345}"/>
                    </a:ext>
                  </a:extLst>
                </p:cNvPr>
                <p:cNvSpPr>
                  <a:spLocks/>
                </p:cNvSpPr>
                <p:nvPr/>
              </p:nvSpPr>
              <p:spPr bwMode="gray">
                <a:xfrm>
                  <a:off x="2306638" y="2733675"/>
                  <a:ext cx="96838" cy="158750"/>
                </a:xfrm>
                <a:custGeom>
                  <a:avLst/>
                  <a:gdLst/>
                  <a:ahLst/>
                  <a:cxnLst>
                    <a:cxn ang="0">
                      <a:pos x="32" y="0"/>
                    </a:cxn>
                    <a:cxn ang="0">
                      <a:pos x="0" y="32"/>
                    </a:cxn>
                    <a:cxn ang="0">
                      <a:pos x="0" y="338"/>
                    </a:cxn>
                    <a:cxn ang="0">
                      <a:pos x="94" y="240"/>
                    </a:cxn>
                    <a:cxn ang="0">
                      <a:pos x="105" y="232"/>
                    </a:cxn>
                    <a:cxn ang="0">
                      <a:pos x="118" y="223"/>
                    </a:cxn>
                    <a:cxn ang="0">
                      <a:pos x="126" y="219"/>
                    </a:cxn>
                    <a:cxn ang="0">
                      <a:pos x="130" y="216"/>
                    </a:cxn>
                    <a:cxn ang="0">
                      <a:pos x="134" y="214"/>
                    </a:cxn>
                    <a:cxn ang="0">
                      <a:pos x="146" y="207"/>
                    </a:cxn>
                    <a:cxn ang="0">
                      <a:pos x="147" y="206"/>
                    </a:cxn>
                    <a:cxn ang="0">
                      <a:pos x="161" y="199"/>
                    </a:cxn>
                    <a:cxn ang="0">
                      <a:pos x="207" y="180"/>
                    </a:cxn>
                    <a:cxn ang="0">
                      <a:pos x="207" y="32"/>
                    </a:cxn>
                    <a:cxn ang="0">
                      <a:pos x="175" y="0"/>
                    </a:cxn>
                    <a:cxn ang="0">
                      <a:pos x="32" y="0"/>
                    </a:cxn>
                  </a:cxnLst>
                  <a:rect l="0" t="0" r="r" b="b"/>
                  <a:pathLst>
                    <a:path w="207" h="338">
                      <a:moveTo>
                        <a:pt x="32" y="0"/>
                      </a:moveTo>
                      <a:cubicBezTo>
                        <a:pt x="16" y="0"/>
                        <a:pt x="0" y="15"/>
                        <a:pt x="0" y="32"/>
                      </a:cubicBezTo>
                      <a:cubicBezTo>
                        <a:pt x="0" y="338"/>
                        <a:pt x="0" y="338"/>
                        <a:pt x="0" y="338"/>
                      </a:cubicBezTo>
                      <a:cubicBezTo>
                        <a:pt x="26" y="301"/>
                        <a:pt x="58" y="268"/>
                        <a:pt x="94" y="240"/>
                      </a:cubicBezTo>
                      <a:cubicBezTo>
                        <a:pt x="98" y="238"/>
                        <a:pt x="102" y="235"/>
                        <a:pt x="105" y="232"/>
                      </a:cubicBezTo>
                      <a:cubicBezTo>
                        <a:pt x="110" y="229"/>
                        <a:pt x="114" y="226"/>
                        <a:pt x="118" y="223"/>
                      </a:cubicBezTo>
                      <a:cubicBezTo>
                        <a:pt x="121" y="222"/>
                        <a:pt x="123" y="220"/>
                        <a:pt x="126" y="219"/>
                      </a:cubicBezTo>
                      <a:cubicBezTo>
                        <a:pt x="127" y="218"/>
                        <a:pt x="129" y="217"/>
                        <a:pt x="130" y="216"/>
                      </a:cubicBezTo>
                      <a:cubicBezTo>
                        <a:pt x="132" y="215"/>
                        <a:pt x="133" y="214"/>
                        <a:pt x="134" y="214"/>
                      </a:cubicBezTo>
                      <a:cubicBezTo>
                        <a:pt x="138" y="211"/>
                        <a:pt x="142" y="209"/>
                        <a:pt x="146" y="207"/>
                      </a:cubicBezTo>
                      <a:cubicBezTo>
                        <a:pt x="146" y="207"/>
                        <a:pt x="147" y="206"/>
                        <a:pt x="147" y="206"/>
                      </a:cubicBezTo>
                      <a:cubicBezTo>
                        <a:pt x="151" y="204"/>
                        <a:pt x="156" y="201"/>
                        <a:pt x="161" y="199"/>
                      </a:cubicBezTo>
                      <a:cubicBezTo>
                        <a:pt x="176" y="192"/>
                        <a:pt x="191" y="185"/>
                        <a:pt x="207" y="180"/>
                      </a:cubicBezTo>
                      <a:cubicBezTo>
                        <a:pt x="207" y="32"/>
                        <a:pt x="207" y="32"/>
                        <a:pt x="207" y="32"/>
                      </a:cubicBezTo>
                      <a:cubicBezTo>
                        <a:pt x="207" y="15"/>
                        <a:pt x="192" y="0"/>
                        <a:pt x="175" y="0"/>
                      </a:cubicBezTo>
                      <a:lnTo>
                        <a:pt x="32" y="0"/>
                      </a:lnTo>
                      <a:close/>
                    </a:path>
                  </a:pathLst>
                </a:custGeom>
                <a:grpFill/>
                <a:ln>
                  <a:noFill/>
                </a:ln>
                <a:effectLst/>
              </p:spPr>
              <p:txBody>
                <a:bodyPr vert="horz" wrap="square" lIns="91416" tIns="45708" rIns="91416" bIns="45708"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22">
                  <a:extLst>
                    <a:ext uri="{FF2B5EF4-FFF2-40B4-BE49-F238E27FC236}">
                      <a16:creationId xmlns:a16="http://schemas.microsoft.com/office/drawing/2014/main" xmlns="" id="{70717C1D-22FA-40A5-AA41-5E2DA85CDF70}"/>
                    </a:ext>
                  </a:extLst>
                </p:cNvPr>
                <p:cNvSpPr>
                  <a:spLocks/>
                </p:cNvSpPr>
                <p:nvPr/>
              </p:nvSpPr>
              <p:spPr bwMode="gray">
                <a:xfrm>
                  <a:off x="1924050" y="2868613"/>
                  <a:ext cx="96838" cy="249238"/>
                </a:xfrm>
                <a:custGeom>
                  <a:avLst/>
                  <a:gdLst/>
                  <a:ahLst/>
                  <a:cxnLst>
                    <a:cxn ang="0">
                      <a:pos x="32" y="0"/>
                    </a:cxn>
                    <a:cxn ang="0">
                      <a:pos x="0" y="32"/>
                    </a:cxn>
                    <a:cxn ang="0">
                      <a:pos x="0" y="498"/>
                    </a:cxn>
                    <a:cxn ang="0">
                      <a:pos x="32" y="530"/>
                    </a:cxn>
                    <a:cxn ang="0">
                      <a:pos x="175" y="530"/>
                    </a:cxn>
                    <a:cxn ang="0">
                      <a:pos x="206" y="498"/>
                    </a:cxn>
                    <a:cxn ang="0">
                      <a:pos x="206" y="32"/>
                    </a:cxn>
                    <a:cxn ang="0">
                      <a:pos x="175" y="0"/>
                    </a:cxn>
                    <a:cxn ang="0">
                      <a:pos x="32" y="0"/>
                    </a:cxn>
                  </a:cxnLst>
                  <a:rect l="0" t="0" r="r" b="b"/>
                  <a:pathLst>
                    <a:path w="206" h="530">
                      <a:moveTo>
                        <a:pt x="32" y="0"/>
                      </a:moveTo>
                      <a:cubicBezTo>
                        <a:pt x="15" y="0"/>
                        <a:pt x="0" y="15"/>
                        <a:pt x="0" y="32"/>
                      </a:cubicBezTo>
                      <a:cubicBezTo>
                        <a:pt x="0" y="498"/>
                        <a:pt x="0" y="498"/>
                        <a:pt x="0" y="498"/>
                      </a:cubicBezTo>
                      <a:cubicBezTo>
                        <a:pt x="0" y="515"/>
                        <a:pt x="15" y="530"/>
                        <a:pt x="32" y="530"/>
                      </a:cubicBezTo>
                      <a:cubicBezTo>
                        <a:pt x="175" y="530"/>
                        <a:pt x="175" y="530"/>
                        <a:pt x="175" y="530"/>
                      </a:cubicBezTo>
                      <a:cubicBezTo>
                        <a:pt x="191" y="530"/>
                        <a:pt x="206" y="515"/>
                        <a:pt x="206" y="498"/>
                      </a:cubicBezTo>
                      <a:cubicBezTo>
                        <a:pt x="206" y="32"/>
                        <a:pt x="206" y="32"/>
                        <a:pt x="206" y="32"/>
                      </a:cubicBezTo>
                      <a:cubicBezTo>
                        <a:pt x="206" y="15"/>
                        <a:pt x="191" y="0"/>
                        <a:pt x="175" y="0"/>
                      </a:cubicBezTo>
                      <a:lnTo>
                        <a:pt x="32" y="0"/>
                      </a:lnTo>
                      <a:close/>
                    </a:path>
                  </a:pathLst>
                </a:custGeom>
                <a:grpFill/>
                <a:ln>
                  <a:noFill/>
                </a:ln>
                <a:effectLst/>
              </p:spPr>
              <p:txBody>
                <a:bodyPr vert="horz" wrap="square" lIns="91416" tIns="45708" rIns="91416" bIns="45708"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23">
                  <a:extLst>
                    <a:ext uri="{FF2B5EF4-FFF2-40B4-BE49-F238E27FC236}">
                      <a16:creationId xmlns:a16="http://schemas.microsoft.com/office/drawing/2014/main" xmlns="" id="{B28444FF-FB87-4A6F-8C4C-10AAA02B4796}"/>
                    </a:ext>
                  </a:extLst>
                </p:cNvPr>
                <p:cNvSpPr>
                  <a:spLocks/>
                </p:cNvSpPr>
                <p:nvPr/>
              </p:nvSpPr>
              <p:spPr bwMode="gray">
                <a:xfrm>
                  <a:off x="2436813" y="2705100"/>
                  <a:ext cx="96838" cy="117475"/>
                </a:xfrm>
                <a:custGeom>
                  <a:avLst/>
                  <a:gdLst/>
                  <a:ahLst/>
                  <a:cxnLst>
                    <a:cxn ang="0">
                      <a:pos x="32" y="0"/>
                    </a:cxn>
                    <a:cxn ang="0">
                      <a:pos x="0" y="32"/>
                    </a:cxn>
                    <a:cxn ang="0">
                      <a:pos x="0" y="226"/>
                    </a:cxn>
                    <a:cxn ang="0">
                      <a:pos x="55" y="222"/>
                    </a:cxn>
                    <a:cxn ang="0">
                      <a:pos x="68" y="222"/>
                    </a:cxn>
                    <a:cxn ang="0">
                      <a:pos x="206" y="251"/>
                    </a:cxn>
                    <a:cxn ang="0">
                      <a:pos x="206" y="32"/>
                    </a:cxn>
                    <a:cxn ang="0">
                      <a:pos x="175" y="0"/>
                    </a:cxn>
                    <a:cxn ang="0">
                      <a:pos x="32" y="0"/>
                    </a:cxn>
                  </a:cxnLst>
                  <a:rect l="0" t="0" r="r" b="b"/>
                  <a:pathLst>
                    <a:path w="206" h="251">
                      <a:moveTo>
                        <a:pt x="32" y="0"/>
                      </a:moveTo>
                      <a:cubicBezTo>
                        <a:pt x="15" y="0"/>
                        <a:pt x="0" y="15"/>
                        <a:pt x="0" y="32"/>
                      </a:cubicBezTo>
                      <a:cubicBezTo>
                        <a:pt x="0" y="226"/>
                        <a:pt x="0" y="226"/>
                        <a:pt x="0" y="226"/>
                      </a:cubicBezTo>
                      <a:cubicBezTo>
                        <a:pt x="18" y="223"/>
                        <a:pt x="37" y="222"/>
                        <a:pt x="55" y="222"/>
                      </a:cubicBezTo>
                      <a:cubicBezTo>
                        <a:pt x="59" y="222"/>
                        <a:pt x="63" y="222"/>
                        <a:pt x="68" y="222"/>
                      </a:cubicBezTo>
                      <a:cubicBezTo>
                        <a:pt x="115" y="223"/>
                        <a:pt x="163" y="233"/>
                        <a:pt x="206" y="251"/>
                      </a:cubicBezTo>
                      <a:cubicBezTo>
                        <a:pt x="206" y="32"/>
                        <a:pt x="206" y="32"/>
                        <a:pt x="206" y="32"/>
                      </a:cubicBezTo>
                      <a:cubicBezTo>
                        <a:pt x="206" y="15"/>
                        <a:pt x="191" y="0"/>
                        <a:pt x="175" y="0"/>
                      </a:cubicBezTo>
                      <a:cubicBezTo>
                        <a:pt x="32" y="0"/>
                        <a:pt x="32" y="0"/>
                        <a:pt x="32" y="0"/>
                      </a:cubicBezTo>
                      <a:close/>
                    </a:path>
                  </a:pathLst>
                </a:custGeom>
                <a:grpFill/>
                <a:ln>
                  <a:noFill/>
                </a:ln>
                <a:effectLst/>
              </p:spPr>
              <p:txBody>
                <a:bodyPr vert="horz" wrap="square" lIns="91416" tIns="45708" rIns="91416" bIns="45708"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8" name="弧形 67">
                <a:extLst>
                  <a:ext uri="{FF2B5EF4-FFF2-40B4-BE49-F238E27FC236}">
                    <a16:creationId xmlns:a16="http://schemas.microsoft.com/office/drawing/2014/main" xmlns="" id="{C12B78CE-283C-46A2-A89D-3785496E7354}"/>
                  </a:ext>
                </a:extLst>
              </p:cNvPr>
              <p:cNvSpPr>
                <a:spLocks noChangeAspect="1"/>
              </p:cNvSpPr>
              <p:nvPr/>
            </p:nvSpPr>
            <p:spPr bwMode="gray">
              <a:xfrm>
                <a:off x="5797222" y="1607239"/>
                <a:ext cx="550800" cy="550800"/>
              </a:xfrm>
              <a:prstGeom prst="arc">
                <a:avLst>
                  <a:gd name="adj1" fmla="val 14445679"/>
                  <a:gd name="adj2" fmla="val 10762572"/>
                </a:avLst>
              </a:prstGeom>
              <a:noFill/>
              <a:ln w="12700" cap="rnd" cmpd="sng" algn="ctr">
                <a:solidFill>
                  <a:schemeClr val="bg2">
                    <a:lumMod val="50000"/>
                  </a:schemeClr>
                </a:solidFill>
                <a:prstDash val="solid"/>
                <a:miter lim="800000"/>
                <a:tailEnd type="oval" w="sm" len="sm"/>
              </a:ln>
              <a:effectLst/>
            </p:spPr>
            <p:txBody>
              <a:bodyPr lIns="91436" tIns="45718" rIns="91436" bIns="45718" rtlCol="0" anchor="ctr"/>
              <a:lstStyle/>
              <a:p>
                <a:pPr marL="0" marR="0" lvl="0" indent="0" algn="ctr" defTabSz="457039" eaLnBrk="1" fontAlgn="ctr" latinLnBrk="0" hangingPunct="1">
                  <a:lnSpc>
                    <a:spcPct val="100000"/>
                  </a:lnSpc>
                  <a:spcBef>
                    <a:spcPts val="0"/>
                  </a:spcBef>
                  <a:spcAft>
                    <a:spcPts val="0"/>
                  </a:spcAft>
                  <a:buClrTx/>
                  <a:buSzTx/>
                  <a:buFontTx/>
                  <a:buNone/>
                  <a:tabLst/>
                  <a:defRPr/>
                </a:pPr>
                <a:endParaRPr kumimoji="0" lang="en-US" altLang="zh-CN"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文本框 106">
                <a:extLst>
                  <a:ext uri="{FF2B5EF4-FFF2-40B4-BE49-F238E27FC236}">
                    <a16:creationId xmlns:a16="http://schemas.microsoft.com/office/drawing/2014/main" xmlns="" id="{7D992C68-374E-4278-A822-86B0628A3150}"/>
                  </a:ext>
                </a:extLst>
              </p:cNvPr>
              <p:cNvSpPr txBox="1"/>
              <p:nvPr/>
            </p:nvSpPr>
            <p:spPr bwMode="gray">
              <a:xfrm>
                <a:off x="5567097" y="2166348"/>
                <a:ext cx="1113820" cy="646331"/>
              </a:xfrm>
              <a:prstGeom prst="rect">
                <a:avLst/>
              </a:prstGeom>
              <a:noFill/>
            </p:spPr>
            <p:txBody>
              <a:bodyPr wrap="square" rtlCol="0">
                <a:spAutoFit/>
              </a:bodyPr>
              <a:lstStyle/>
              <a:p>
                <a:pPr marL="171450" indent="-171450">
                  <a:buFont typeface="Wingdings" panose="05000000000000000000" pitchFamily="2" charset="2"/>
                  <a:buChar cha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AGV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导航</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资产管理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人员管理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60" name="组合 159">
              <a:extLst>
                <a:ext uri="{FF2B5EF4-FFF2-40B4-BE49-F238E27FC236}">
                  <a16:creationId xmlns:a16="http://schemas.microsoft.com/office/drawing/2014/main" xmlns="" id="{9F3C9350-B503-4694-BC8D-60C770901A02}"/>
                </a:ext>
              </a:extLst>
            </p:cNvPr>
            <p:cNvGrpSpPr/>
            <p:nvPr/>
          </p:nvGrpSpPr>
          <p:grpSpPr bwMode="gray">
            <a:xfrm>
              <a:off x="7612429" y="1280142"/>
              <a:ext cx="1148175" cy="1460679"/>
              <a:chOff x="6728604" y="1541392"/>
              <a:chExt cx="1148175" cy="1460679"/>
            </a:xfrm>
          </p:grpSpPr>
          <p:sp>
            <p:nvSpPr>
              <p:cNvPr id="40" name="文本框 225">
                <a:extLst>
                  <a:ext uri="{FF2B5EF4-FFF2-40B4-BE49-F238E27FC236}">
                    <a16:creationId xmlns:a16="http://schemas.microsoft.com/office/drawing/2014/main" xmlns="" id="{82F3151F-D171-428D-BE1C-43170955A727}"/>
                  </a:ext>
                </a:extLst>
              </p:cNvPr>
              <p:cNvSpPr txBox="1">
                <a:spLocks noChangeArrowheads="1"/>
              </p:cNvSpPr>
              <p:nvPr/>
            </p:nvSpPr>
            <p:spPr bwMode="gray">
              <a:xfrm>
                <a:off x="6972931" y="1652229"/>
                <a:ext cx="466707" cy="461661"/>
              </a:xfrm>
              <a:prstGeom prst="rect">
                <a:avLst/>
              </a:prstGeom>
              <a:noFill/>
              <a:ln w="9525">
                <a:noFill/>
                <a:miter lim="800000"/>
                <a:headEnd/>
                <a:tailEnd/>
              </a:ln>
            </p:spPr>
            <p:txBody>
              <a:bodyPr wrap="square" lIns="91436" tIns="45718" rIns="91436" bIns="45718">
                <a:spAutoFit/>
              </a:bodyPr>
              <a:lstStyle/>
              <a:p>
                <a:pPr marL="0" marR="0" lvl="0" indent="0" defTabSz="914400" eaLnBrk="1" fontAlgn="base" latinLnBrk="0" hangingPunct="1">
                  <a:lnSpc>
                    <a:spcPct val="100000"/>
                  </a:lnSpc>
                  <a:spcBef>
                    <a:spcPct val="0"/>
                  </a:spcBef>
                  <a:spcAft>
                    <a:spcPct val="0"/>
                  </a:spcAft>
                  <a:buClrTx/>
                  <a:buSzPct val="100000"/>
                  <a:buFontTx/>
                  <a:buNone/>
                  <a:tabLst/>
                  <a:defRPr/>
                </a:pPr>
                <a:r>
                  <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医疗</a:t>
                </a:r>
                <a:endPar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弧形 68">
                <a:extLst>
                  <a:ext uri="{FF2B5EF4-FFF2-40B4-BE49-F238E27FC236}">
                    <a16:creationId xmlns:a16="http://schemas.microsoft.com/office/drawing/2014/main" xmlns="" id="{AD4D7E97-5C80-4475-9E4E-CBF6DA4EC663}"/>
                  </a:ext>
                </a:extLst>
              </p:cNvPr>
              <p:cNvSpPr>
                <a:spLocks noChangeAspect="1"/>
              </p:cNvSpPr>
              <p:nvPr/>
            </p:nvSpPr>
            <p:spPr bwMode="gray">
              <a:xfrm>
                <a:off x="6908568" y="1607239"/>
                <a:ext cx="550800" cy="550800"/>
              </a:xfrm>
              <a:prstGeom prst="arc">
                <a:avLst>
                  <a:gd name="adj1" fmla="val 14445679"/>
                  <a:gd name="adj2" fmla="val 10762572"/>
                </a:avLst>
              </a:prstGeom>
              <a:noFill/>
              <a:ln w="12700" cap="rnd" cmpd="sng" algn="ctr">
                <a:solidFill>
                  <a:schemeClr val="bg2">
                    <a:lumMod val="50000"/>
                  </a:schemeClr>
                </a:solidFill>
                <a:prstDash val="solid"/>
                <a:miter lim="800000"/>
                <a:tailEnd type="oval" w="sm" len="sm"/>
              </a:ln>
              <a:effectLst/>
            </p:spPr>
            <p:txBody>
              <a:bodyPr lIns="91436" tIns="45718" rIns="91436" bIns="45718" rtlCol="0" anchor="ctr"/>
              <a:lstStyle/>
              <a:p>
                <a:pPr marL="0" marR="0" lvl="0" indent="0" algn="ctr" defTabSz="457039" eaLnBrk="1" fontAlgn="ctr" latinLnBrk="0" hangingPunct="1">
                  <a:lnSpc>
                    <a:spcPct val="100000"/>
                  </a:lnSpc>
                  <a:spcBef>
                    <a:spcPts val="0"/>
                  </a:spcBef>
                  <a:spcAft>
                    <a:spcPts val="0"/>
                  </a:spcAft>
                  <a:buClrTx/>
                  <a:buSzTx/>
                  <a:buFontTx/>
                  <a:buNone/>
                  <a:tabLst/>
                  <a:defRPr/>
                </a:pPr>
                <a:endParaRPr kumimoji="0" lang="en-US" altLang="zh-CN"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14">
                <a:extLst>
                  <a:ext uri="{FF2B5EF4-FFF2-40B4-BE49-F238E27FC236}">
                    <a16:creationId xmlns:a16="http://schemas.microsoft.com/office/drawing/2014/main" xmlns="" id="{3FCA8396-6208-4FCF-9868-66C0BD7DA204}"/>
                  </a:ext>
                </a:extLst>
              </p:cNvPr>
              <p:cNvSpPr>
                <a:spLocks noEditPoints="1"/>
              </p:cNvSpPr>
              <p:nvPr/>
            </p:nvSpPr>
            <p:spPr bwMode="gray">
              <a:xfrm>
                <a:off x="6728604" y="1541392"/>
                <a:ext cx="310017" cy="258172"/>
              </a:xfrm>
              <a:custGeom>
                <a:avLst/>
                <a:gdLst/>
                <a:ahLst/>
                <a:cxnLst>
                  <a:cxn ang="0">
                    <a:pos x="398" y="176"/>
                  </a:cxn>
                  <a:cxn ang="0">
                    <a:pos x="174" y="400"/>
                  </a:cxn>
                  <a:cxn ang="0">
                    <a:pos x="154" y="176"/>
                  </a:cxn>
                  <a:cxn ang="0">
                    <a:pos x="422" y="200"/>
                  </a:cxn>
                  <a:cxn ang="0">
                    <a:pos x="442" y="424"/>
                  </a:cxn>
                  <a:cxn ang="0">
                    <a:pos x="210" y="442"/>
                  </a:cxn>
                  <a:cxn ang="0">
                    <a:pos x="386" y="418"/>
                  </a:cxn>
                  <a:cxn ang="0">
                    <a:pos x="416" y="380"/>
                  </a:cxn>
                  <a:cxn ang="0">
                    <a:pos x="352" y="18"/>
                  </a:cxn>
                  <a:cxn ang="0">
                    <a:pos x="446" y="110"/>
                  </a:cxn>
                  <a:cxn ang="0">
                    <a:pos x="524" y="134"/>
                  </a:cxn>
                  <a:cxn ang="0">
                    <a:pos x="580" y="208"/>
                  </a:cxn>
                  <a:cxn ang="0">
                    <a:pos x="572" y="310"/>
                  </a:cxn>
                  <a:cxn ang="0">
                    <a:pos x="502" y="264"/>
                  </a:cxn>
                  <a:cxn ang="0">
                    <a:pos x="472" y="226"/>
                  </a:cxn>
                  <a:cxn ang="0">
                    <a:pos x="454" y="198"/>
                  </a:cxn>
                  <a:cxn ang="0">
                    <a:pos x="416" y="176"/>
                  </a:cxn>
                  <a:cxn ang="0">
                    <a:pos x="392" y="140"/>
                  </a:cxn>
                  <a:cxn ang="0">
                    <a:pos x="152" y="144"/>
                  </a:cxn>
                  <a:cxn ang="0">
                    <a:pos x="136" y="380"/>
                  </a:cxn>
                  <a:cxn ang="0">
                    <a:pos x="50" y="370"/>
                  </a:cxn>
                  <a:cxn ang="0">
                    <a:pos x="0" y="274"/>
                  </a:cxn>
                  <a:cxn ang="0">
                    <a:pos x="76" y="164"/>
                  </a:cxn>
                  <a:cxn ang="0">
                    <a:pos x="124" y="82"/>
                  </a:cxn>
                  <a:cxn ang="0">
                    <a:pos x="210" y="12"/>
                  </a:cxn>
                  <a:cxn ang="0">
                    <a:pos x="464" y="244"/>
                  </a:cxn>
                  <a:cxn ang="0">
                    <a:pos x="484" y="468"/>
                  </a:cxn>
                  <a:cxn ang="0">
                    <a:pos x="252" y="486"/>
                  </a:cxn>
                  <a:cxn ang="0">
                    <a:pos x="428" y="462"/>
                  </a:cxn>
                  <a:cxn ang="0">
                    <a:pos x="460" y="424"/>
                  </a:cxn>
                  <a:cxn ang="0">
                    <a:pos x="182" y="306"/>
                  </a:cxn>
                  <a:cxn ang="0">
                    <a:pos x="200" y="244"/>
                  </a:cxn>
                  <a:cxn ang="0">
                    <a:pos x="250" y="256"/>
                  </a:cxn>
                  <a:cxn ang="0">
                    <a:pos x="272" y="248"/>
                  </a:cxn>
                  <a:cxn ang="0">
                    <a:pos x="278" y="300"/>
                  </a:cxn>
                  <a:cxn ang="0">
                    <a:pos x="250" y="300"/>
                  </a:cxn>
                  <a:cxn ang="0">
                    <a:pos x="250" y="284"/>
                  </a:cxn>
                  <a:cxn ang="0">
                    <a:pos x="268" y="292"/>
                  </a:cxn>
                  <a:cxn ang="0">
                    <a:pos x="268" y="264"/>
                  </a:cxn>
                  <a:cxn ang="0">
                    <a:pos x="250" y="268"/>
                  </a:cxn>
                  <a:cxn ang="0">
                    <a:pos x="304" y="252"/>
                  </a:cxn>
                  <a:cxn ang="0">
                    <a:pos x="330" y="254"/>
                  </a:cxn>
                  <a:cxn ang="0">
                    <a:pos x="330" y="300"/>
                  </a:cxn>
                  <a:cxn ang="0">
                    <a:pos x="302" y="328"/>
                  </a:cxn>
                  <a:cxn ang="0">
                    <a:pos x="306" y="290"/>
                  </a:cxn>
                  <a:cxn ang="0">
                    <a:pos x="320" y="292"/>
                  </a:cxn>
                  <a:cxn ang="0">
                    <a:pos x="318" y="260"/>
                  </a:cxn>
                  <a:cxn ang="0">
                    <a:pos x="302" y="276"/>
                  </a:cxn>
                  <a:cxn ang="0">
                    <a:pos x="358" y="296"/>
                  </a:cxn>
                  <a:cxn ang="0">
                    <a:pos x="370" y="290"/>
                  </a:cxn>
                  <a:cxn ang="0">
                    <a:pos x="346" y="278"/>
                  </a:cxn>
                  <a:cxn ang="0">
                    <a:pos x="352" y="248"/>
                  </a:cxn>
                  <a:cxn ang="0">
                    <a:pos x="382" y="262"/>
                  </a:cxn>
                  <a:cxn ang="0">
                    <a:pos x="354" y="260"/>
                  </a:cxn>
                  <a:cxn ang="0">
                    <a:pos x="374" y="274"/>
                  </a:cxn>
                  <a:cxn ang="0">
                    <a:pos x="378" y="302"/>
                  </a:cxn>
                  <a:cxn ang="0">
                    <a:pos x="346" y="304"/>
                  </a:cxn>
                </a:cxnLst>
                <a:rect l="0" t="0" r="r" b="b"/>
                <a:pathLst>
                  <a:path w="586" h="488">
                    <a:moveTo>
                      <a:pt x="174" y="154"/>
                    </a:moveTo>
                    <a:lnTo>
                      <a:pt x="378" y="154"/>
                    </a:lnTo>
                    <a:lnTo>
                      <a:pt x="378" y="154"/>
                    </a:lnTo>
                    <a:lnTo>
                      <a:pt x="386" y="156"/>
                    </a:lnTo>
                    <a:lnTo>
                      <a:pt x="392" y="160"/>
                    </a:lnTo>
                    <a:lnTo>
                      <a:pt x="396" y="168"/>
                    </a:lnTo>
                    <a:lnTo>
                      <a:pt x="398" y="176"/>
                    </a:lnTo>
                    <a:lnTo>
                      <a:pt x="398" y="380"/>
                    </a:lnTo>
                    <a:lnTo>
                      <a:pt x="398" y="380"/>
                    </a:lnTo>
                    <a:lnTo>
                      <a:pt x="396" y="388"/>
                    </a:lnTo>
                    <a:lnTo>
                      <a:pt x="392" y="394"/>
                    </a:lnTo>
                    <a:lnTo>
                      <a:pt x="386" y="398"/>
                    </a:lnTo>
                    <a:lnTo>
                      <a:pt x="378" y="400"/>
                    </a:lnTo>
                    <a:lnTo>
                      <a:pt x="174" y="400"/>
                    </a:lnTo>
                    <a:lnTo>
                      <a:pt x="174" y="400"/>
                    </a:lnTo>
                    <a:lnTo>
                      <a:pt x="166" y="398"/>
                    </a:lnTo>
                    <a:lnTo>
                      <a:pt x="160" y="394"/>
                    </a:lnTo>
                    <a:lnTo>
                      <a:pt x="156" y="388"/>
                    </a:lnTo>
                    <a:lnTo>
                      <a:pt x="154" y="380"/>
                    </a:lnTo>
                    <a:lnTo>
                      <a:pt x="154" y="176"/>
                    </a:lnTo>
                    <a:lnTo>
                      <a:pt x="154" y="176"/>
                    </a:lnTo>
                    <a:lnTo>
                      <a:pt x="156" y="168"/>
                    </a:lnTo>
                    <a:lnTo>
                      <a:pt x="160" y="160"/>
                    </a:lnTo>
                    <a:lnTo>
                      <a:pt x="166" y="156"/>
                    </a:lnTo>
                    <a:lnTo>
                      <a:pt x="174" y="154"/>
                    </a:lnTo>
                    <a:lnTo>
                      <a:pt x="174" y="154"/>
                    </a:lnTo>
                    <a:close/>
                    <a:moveTo>
                      <a:pt x="416" y="200"/>
                    </a:moveTo>
                    <a:lnTo>
                      <a:pt x="422" y="200"/>
                    </a:lnTo>
                    <a:lnTo>
                      <a:pt x="422" y="200"/>
                    </a:lnTo>
                    <a:lnTo>
                      <a:pt x="430" y="200"/>
                    </a:lnTo>
                    <a:lnTo>
                      <a:pt x="436" y="206"/>
                    </a:lnTo>
                    <a:lnTo>
                      <a:pt x="440" y="212"/>
                    </a:lnTo>
                    <a:lnTo>
                      <a:pt x="442" y="220"/>
                    </a:lnTo>
                    <a:lnTo>
                      <a:pt x="442" y="424"/>
                    </a:lnTo>
                    <a:lnTo>
                      <a:pt x="442" y="424"/>
                    </a:lnTo>
                    <a:lnTo>
                      <a:pt x="440" y="432"/>
                    </a:lnTo>
                    <a:lnTo>
                      <a:pt x="436" y="438"/>
                    </a:lnTo>
                    <a:lnTo>
                      <a:pt x="430" y="442"/>
                    </a:lnTo>
                    <a:lnTo>
                      <a:pt x="422" y="444"/>
                    </a:lnTo>
                    <a:lnTo>
                      <a:pt x="218" y="444"/>
                    </a:lnTo>
                    <a:lnTo>
                      <a:pt x="218" y="444"/>
                    </a:lnTo>
                    <a:lnTo>
                      <a:pt x="210" y="442"/>
                    </a:lnTo>
                    <a:lnTo>
                      <a:pt x="202" y="438"/>
                    </a:lnTo>
                    <a:lnTo>
                      <a:pt x="198" y="432"/>
                    </a:lnTo>
                    <a:lnTo>
                      <a:pt x="196" y="424"/>
                    </a:lnTo>
                    <a:lnTo>
                      <a:pt x="196" y="418"/>
                    </a:lnTo>
                    <a:lnTo>
                      <a:pt x="378" y="418"/>
                    </a:lnTo>
                    <a:lnTo>
                      <a:pt x="378" y="418"/>
                    </a:lnTo>
                    <a:lnTo>
                      <a:pt x="386" y="418"/>
                    </a:lnTo>
                    <a:lnTo>
                      <a:pt x="392" y="414"/>
                    </a:lnTo>
                    <a:lnTo>
                      <a:pt x="400" y="412"/>
                    </a:lnTo>
                    <a:lnTo>
                      <a:pt x="406" y="406"/>
                    </a:lnTo>
                    <a:lnTo>
                      <a:pt x="410" y="400"/>
                    </a:lnTo>
                    <a:lnTo>
                      <a:pt x="414" y="394"/>
                    </a:lnTo>
                    <a:lnTo>
                      <a:pt x="416" y="388"/>
                    </a:lnTo>
                    <a:lnTo>
                      <a:pt x="416" y="380"/>
                    </a:lnTo>
                    <a:lnTo>
                      <a:pt x="416" y="200"/>
                    </a:lnTo>
                    <a:lnTo>
                      <a:pt x="416" y="200"/>
                    </a:lnTo>
                    <a:close/>
                    <a:moveTo>
                      <a:pt x="274" y="0"/>
                    </a:moveTo>
                    <a:lnTo>
                      <a:pt x="274" y="0"/>
                    </a:lnTo>
                    <a:lnTo>
                      <a:pt x="302" y="2"/>
                    </a:lnTo>
                    <a:lnTo>
                      <a:pt x="328" y="8"/>
                    </a:lnTo>
                    <a:lnTo>
                      <a:pt x="352" y="18"/>
                    </a:lnTo>
                    <a:lnTo>
                      <a:pt x="376" y="30"/>
                    </a:lnTo>
                    <a:lnTo>
                      <a:pt x="396" y="46"/>
                    </a:lnTo>
                    <a:lnTo>
                      <a:pt x="414" y="66"/>
                    </a:lnTo>
                    <a:lnTo>
                      <a:pt x="428" y="88"/>
                    </a:lnTo>
                    <a:lnTo>
                      <a:pt x="440" y="110"/>
                    </a:lnTo>
                    <a:lnTo>
                      <a:pt x="440" y="110"/>
                    </a:lnTo>
                    <a:lnTo>
                      <a:pt x="446" y="110"/>
                    </a:lnTo>
                    <a:lnTo>
                      <a:pt x="446" y="110"/>
                    </a:lnTo>
                    <a:lnTo>
                      <a:pt x="462" y="112"/>
                    </a:lnTo>
                    <a:lnTo>
                      <a:pt x="474" y="114"/>
                    </a:lnTo>
                    <a:lnTo>
                      <a:pt x="488" y="116"/>
                    </a:lnTo>
                    <a:lnTo>
                      <a:pt x="502" y="122"/>
                    </a:lnTo>
                    <a:lnTo>
                      <a:pt x="514" y="128"/>
                    </a:lnTo>
                    <a:lnTo>
                      <a:pt x="524" y="134"/>
                    </a:lnTo>
                    <a:lnTo>
                      <a:pt x="536" y="142"/>
                    </a:lnTo>
                    <a:lnTo>
                      <a:pt x="546" y="152"/>
                    </a:lnTo>
                    <a:lnTo>
                      <a:pt x="554" y="162"/>
                    </a:lnTo>
                    <a:lnTo>
                      <a:pt x="562" y="172"/>
                    </a:lnTo>
                    <a:lnTo>
                      <a:pt x="570" y="184"/>
                    </a:lnTo>
                    <a:lnTo>
                      <a:pt x="576" y="196"/>
                    </a:lnTo>
                    <a:lnTo>
                      <a:pt x="580" y="208"/>
                    </a:lnTo>
                    <a:lnTo>
                      <a:pt x="584" y="222"/>
                    </a:lnTo>
                    <a:lnTo>
                      <a:pt x="586" y="236"/>
                    </a:lnTo>
                    <a:lnTo>
                      <a:pt x="586" y="250"/>
                    </a:lnTo>
                    <a:lnTo>
                      <a:pt x="586" y="250"/>
                    </a:lnTo>
                    <a:lnTo>
                      <a:pt x="584" y="272"/>
                    </a:lnTo>
                    <a:lnTo>
                      <a:pt x="580" y="292"/>
                    </a:lnTo>
                    <a:lnTo>
                      <a:pt x="572" y="310"/>
                    </a:lnTo>
                    <a:lnTo>
                      <a:pt x="562" y="328"/>
                    </a:lnTo>
                    <a:lnTo>
                      <a:pt x="550" y="342"/>
                    </a:lnTo>
                    <a:lnTo>
                      <a:pt x="536" y="356"/>
                    </a:lnTo>
                    <a:lnTo>
                      <a:pt x="520" y="368"/>
                    </a:lnTo>
                    <a:lnTo>
                      <a:pt x="502" y="378"/>
                    </a:lnTo>
                    <a:lnTo>
                      <a:pt x="502" y="264"/>
                    </a:lnTo>
                    <a:lnTo>
                      <a:pt x="502" y="264"/>
                    </a:lnTo>
                    <a:lnTo>
                      <a:pt x="502" y="256"/>
                    </a:lnTo>
                    <a:lnTo>
                      <a:pt x="500" y="250"/>
                    </a:lnTo>
                    <a:lnTo>
                      <a:pt x="496" y="242"/>
                    </a:lnTo>
                    <a:lnTo>
                      <a:pt x="492" y="236"/>
                    </a:lnTo>
                    <a:lnTo>
                      <a:pt x="486" y="232"/>
                    </a:lnTo>
                    <a:lnTo>
                      <a:pt x="480" y="228"/>
                    </a:lnTo>
                    <a:lnTo>
                      <a:pt x="472" y="226"/>
                    </a:lnTo>
                    <a:lnTo>
                      <a:pt x="464" y="226"/>
                    </a:lnTo>
                    <a:lnTo>
                      <a:pt x="460" y="226"/>
                    </a:lnTo>
                    <a:lnTo>
                      <a:pt x="460" y="220"/>
                    </a:lnTo>
                    <a:lnTo>
                      <a:pt x="460" y="220"/>
                    </a:lnTo>
                    <a:lnTo>
                      <a:pt x="458" y="212"/>
                    </a:lnTo>
                    <a:lnTo>
                      <a:pt x="456" y="204"/>
                    </a:lnTo>
                    <a:lnTo>
                      <a:pt x="454" y="198"/>
                    </a:lnTo>
                    <a:lnTo>
                      <a:pt x="448" y="192"/>
                    </a:lnTo>
                    <a:lnTo>
                      <a:pt x="442" y="188"/>
                    </a:lnTo>
                    <a:lnTo>
                      <a:pt x="436" y="184"/>
                    </a:lnTo>
                    <a:lnTo>
                      <a:pt x="428" y="182"/>
                    </a:lnTo>
                    <a:lnTo>
                      <a:pt x="422" y="182"/>
                    </a:lnTo>
                    <a:lnTo>
                      <a:pt x="416" y="182"/>
                    </a:lnTo>
                    <a:lnTo>
                      <a:pt x="416" y="176"/>
                    </a:lnTo>
                    <a:lnTo>
                      <a:pt x="416" y="176"/>
                    </a:lnTo>
                    <a:lnTo>
                      <a:pt x="416" y="168"/>
                    </a:lnTo>
                    <a:lnTo>
                      <a:pt x="414" y="160"/>
                    </a:lnTo>
                    <a:lnTo>
                      <a:pt x="410" y="154"/>
                    </a:lnTo>
                    <a:lnTo>
                      <a:pt x="406" y="148"/>
                    </a:lnTo>
                    <a:lnTo>
                      <a:pt x="400" y="144"/>
                    </a:lnTo>
                    <a:lnTo>
                      <a:pt x="392" y="140"/>
                    </a:lnTo>
                    <a:lnTo>
                      <a:pt x="386" y="138"/>
                    </a:lnTo>
                    <a:lnTo>
                      <a:pt x="378" y="136"/>
                    </a:lnTo>
                    <a:lnTo>
                      <a:pt x="174" y="136"/>
                    </a:lnTo>
                    <a:lnTo>
                      <a:pt x="174" y="136"/>
                    </a:lnTo>
                    <a:lnTo>
                      <a:pt x="166" y="138"/>
                    </a:lnTo>
                    <a:lnTo>
                      <a:pt x="158" y="140"/>
                    </a:lnTo>
                    <a:lnTo>
                      <a:pt x="152" y="144"/>
                    </a:lnTo>
                    <a:lnTo>
                      <a:pt x="146" y="148"/>
                    </a:lnTo>
                    <a:lnTo>
                      <a:pt x="142" y="154"/>
                    </a:lnTo>
                    <a:lnTo>
                      <a:pt x="138" y="160"/>
                    </a:lnTo>
                    <a:lnTo>
                      <a:pt x="136" y="168"/>
                    </a:lnTo>
                    <a:lnTo>
                      <a:pt x="136" y="176"/>
                    </a:lnTo>
                    <a:lnTo>
                      <a:pt x="136" y="380"/>
                    </a:lnTo>
                    <a:lnTo>
                      <a:pt x="136" y="380"/>
                    </a:lnTo>
                    <a:lnTo>
                      <a:pt x="136" y="390"/>
                    </a:lnTo>
                    <a:lnTo>
                      <a:pt x="116" y="390"/>
                    </a:lnTo>
                    <a:lnTo>
                      <a:pt x="116" y="390"/>
                    </a:lnTo>
                    <a:lnTo>
                      <a:pt x="104" y="388"/>
                    </a:lnTo>
                    <a:lnTo>
                      <a:pt x="92" y="388"/>
                    </a:lnTo>
                    <a:lnTo>
                      <a:pt x="70" y="380"/>
                    </a:lnTo>
                    <a:lnTo>
                      <a:pt x="50" y="370"/>
                    </a:lnTo>
                    <a:lnTo>
                      <a:pt x="34" y="356"/>
                    </a:lnTo>
                    <a:lnTo>
                      <a:pt x="20" y="338"/>
                    </a:lnTo>
                    <a:lnTo>
                      <a:pt x="8" y="318"/>
                    </a:lnTo>
                    <a:lnTo>
                      <a:pt x="2" y="296"/>
                    </a:lnTo>
                    <a:lnTo>
                      <a:pt x="0" y="286"/>
                    </a:lnTo>
                    <a:lnTo>
                      <a:pt x="0" y="274"/>
                    </a:lnTo>
                    <a:lnTo>
                      <a:pt x="0" y="274"/>
                    </a:lnTo>
                    <a:lnTo>
                      <a:pt x="2" y="252"/>
                    </a:lnTo>
                    <a:lnTo>
                      <a:pt x="6" y="232"/>
                    </a:lnTo>
                    <a:lnTo>
                      <a:pt x="16" y="214"/>
                    </a:lnTo>
                    <a:lnTo>
                      <a:pt x="28" y="198"/>
                    </a:lnTo>
                    <a:lnTo>
                      <a:pt x="42" y="184"/>
                    </a:lnTo>
                    <a:lnTo>
                      <a:pt x="58" y="172"/>
                    </a:lnTo>
                    <a:lnTo>
                      <a:pt x="76" y="164"/>
                    </a:lnTo>
                    <a:lnTo>
                      <a:pt x="96" y="158"/>
                    </a:lnTo>
                    <a:lnTo>
                      <a:pt x="96" y="158"/>
                    </a:lnTo>
                    <a:lnTo>
                      <a:pt x="100" y="142"/>
                    </a:lnTo>
                    <a:lnTo>
                      <a:pt x="104" y="126"/>
                    </a:lnTo>
                    <a:lnTo>
                      <a:pt x="108" y="110"/>
                    </a:lnTo>
                    <a:lnTo>
                      <a:pt x="116" y="96"/>
                    </a:lnTo>
                    <a:lnTo>
                      <a:pt x="124" y="82"/>
                    </a:lnTo>
                    <a:lnTo>
                      <a:pt x="132" y="68"/>
                    </a:lnTo>
                    <a:lnTo>
                      <a:pt x="144" y="56"/>
                    </a:lnTo>
                    <a:lnTo>
                      <a:pt x="154" y="46"/>
                    </a:lnTo>
                    <a:lnTo>
                      <a:pt x="166" y="36"/>
                    </a:lnTo>
                    <a:lnTo>
                      <a:pt x="180" y="26"/>
                    </a:lnTo>
                    <a:lnTo>
                      <a:pt x="194" y="18"/>
                    </a:lnTo>
                    <a:lnTo>
                      <a:pt x="210" y="12"/>
                    </a:lnTo>
                    <a:lnTo>
                      <a:pt x="224" y="6"/>
                    </a:lnTo>
                    <a:lnTo>
                      <a:pt x="240" y="2"/>
                    </a:lnTo>
                    <a:lnTo>
                      <a:pt x="258" y="0"/>
                    </a:lnTo>
                    <a:lnTo>
                      <a:pt x="274" y="0"/>
                    </a:lnTo>
                    <a:lnTo>
                      <a:pt x="274" y="0"/>
                    </a:lnTo>
                    <a:close/>
                    <a:moveTo>
                      <a:pt x="460" y="244"/>
                    </a:moveTo>
                    <a:lnTo>
                      <a:pt x="464" y="244"/>
                    </a:lnTo>
                    <a:lnTo>
                      <a:pt x="464" y="244"/>
                    </a:lnTo>
                    <a:lnTo>
                      <a:pt x="472" y="246"/>
                    </a:lnTo>
                    <a:lnTo>
                      <a:pt x="478" y="250"/>
                    </a:lnTo>
                    <a:lnTo>
                      <a:pt x="484" y="256"/>
                    </a:lnTo>
                    <a:lnTo>
                      <a:pt x="484" y="264"/>
                    </a:lnTo>
                    <a:lnTo>
                      <a:pt x="484" y="468"/>
                    </a:lnTo>
                    <a:lnTo>
                      <a:pt x="484" y="468"/>
                    </a:lnTo>
                    <a:lnTo>
                      <a:pt x="484" y="476"/>
                    </a:lnTo>
                    <a:lnTo>
                      <a:pt x="478" y="482"/>
                    </a:lnTo>
                    <a:lnTo>
                      <a:pt x="472" y="486"/>
                    </a:lnTo>
                    <a:lnTo>
                      <a:pt x="464" y="488"/>
                    </a:lnTo>
                    <a:lnTo>
                      <a:pt x="260" y="488"/>
                    </a:lnTo>
                    <a:lnTo>
                      <a:pt x="260" y="488"/>
                    </a:lnTo>
                    <a:lnTo>
                      <a:pt x="252" y="486"/>
                    </a:lnTo>
                    <a:lnTo>
                      <a:pt x="246" y="482"/>
                    </a:lnTo>
                    <a:lnTo>
                      <a:pt x="242" y="476"/>
                    </a:lnTo>
                    <a:lnTo>
                      <a:pt x="240" y="468"/>
                    </a:lnTo>
                    <a:lnTo>
                      <a:pt x="240" y="462"/>
                    </a:lnTo>
                    <a:lnTo>
                      <a:pt x="422" y="462"/>
                    </a:lnTo>
                    <a:lnTo>
                      <a:pt x="422" y="462"/>
                    </a:lnTo>
                    <a:lnTo>
                      <a:pt x="428" y="462"/>
                    </a:lnTo>
                    <a:lnTo>
                      <a:pt x="436" y="460"/>
                    </a:lnTo>
                    <a:lnTo>
                      <a:pt x="442" y="456"/>
                    </a:lnTo>
                    <a:lnTo>
                      <a:pt x="448" y="450"/>
                    </a:lnTo>
                    <a:lnTo>
                      <a:pt x="454" y="446"/>
                    </a:lnTo>
                    <a:lnTo>
                      <a:pt x="456" y="438"/>
                    </a:lnTo>
                    <a:lnTo>
                      <a:pt x="458" y="432"/>
                    </a:lnTo>
                    <a:lnTo>
                      <a:pt x="460" y="424"/>
                    </a:lnTo>
                    <a:lnTo>
                      <a:pt x="460" y="244"/>
                    </a:lnTo>
                    <a:lnTo>
                      <a:pt x="460" y="244"/>
                    </a:lnTo>
                    <a:close/>
                    <a:moveTo>
                      <a:pt x="234" y="306"/>
                    </a:moveTo>
                    <a:lnTo>
                      <a:pt x="220" y="306"/>
                    </a:lnTo>
                    <a:lnTo>
                      <a:pt x="214" y="288"/>
                    </a:lnTo>
                    <a:lnTo>
                      <a:pt x="188" y="288"/>
                    </a:lnTo>
                    <a:lnTo>
                      <a:pt x="182" y="306"/>
                    </a:lnTo>
                    <a:lnTo>
                      <a:pt x="168" y="306"/>
                    </a:lnTo>
                    <a:lnTo>
                      <a:pt x="194" y="226"/>
                    </a:lnTo>
                    <a:lnTo>
                      <a:pt x="208" y="226"/>
                    </a:lnTo>
                    <a:lnTo>
                      <a:pt x="234" y="306"/>
                    </a:lnTo>
                    <a:lnTo>
                      <a:pt x="234" y="306"/>
                    </a:lnTo>
                    <a:close/>
                    <a:moveTo>
                      <a:pt x="210" y="274"/>
                    </a:moveTo>
                    <a:lnTo>
                      <a:pt x="200" y="244"/>
                    </a:lnTo>
                    <a:lnTo>
                      <a:pt x="192" y="274"/>
                    </a:lnTo>
                    <a:lnTo>
                      <a:pt x="210" y="274"/>
                    </a:lnTo>
                    <a:lnTo>
                      <a:pt x="210" y="274"/>
                    </a:lnTo>
                    <a:close/>
                    <a:moveTo>
                      <a:pt x="238" y="248"/>
                    </a:moveTo>
                    <a:lnTo>
                      <a:pt x="250" y="248"/>
                    </a:lnTo>
                    <a:lnTo>
                      <a:pt x="250" y="256"/>
                    </a:lnTo>
                    <a:lnTo>
                      <a:pt x="250" y="256"/>
                    </a:lnTo>
                    <a:lnTo>
                      <a:pt x="252" y="252"/>
                    </a:lnTo>
                    <a:lnTo>
                      <a:pt x="256" y="250"/>
                    </a:lnTo>
                    <a:lnTo>
                      <a:pt x="256" y="250"/>
                    </a:lnTo>
                    <a:lnTo>
                      <a:pt x="260" y="248"/>
                    </a:lnTo>
                    <a:lnTo>
                      <a:pt x="264" y="248"/>
                    </a:lnTo>
                    <a:lnTo>
                      <a:pt x="264" y="248"/>
                    </a:lnTo>
                    <a:lnTo>
                      <a:pt x="272" y="248"/>
                    </a:lnTo>
                    <a:lnTo>
                      <a:pt x="278" y="254"/>
                    </a:lnTo>
                    <a:lnTo>
                      <a:pt x="278" y="254"/>
                    </a:lnTo>
                    <a:lnTo>
                      <a:pt x="282" y="264"/>
                    </a:lnTo>
                    <a:lnTo>
                      <a:pt x="284" y="276"/>
                    </a:lnTo>
                    <a:lnTo>
                      <a:pt x="284" y="276"/>
                    </a:lnTo>
                    <a:lnTo>
                      <a:pt x="282" y="290"/>
                    </a:lnTo>
                    <a:lnTo>
                      <a:pt x="278" y="300"/>
                    </a:lnTo>
                    <a:lnTo>
                      <a:pt x="278" y="300"/>
                    </a:lnTo>
                    <a:lnTo>
                      <a:pt x="272" y="306"/>
                    </a:lnTo>
                    <a:lnTo>
                      <a:pt x="264" y="308"/>
                    </a:lnTo>
                    <a:lnTo>
                      <a:pt x="264" y="308"/>
                    </a:lnTo>
                    <a:lnTo>
                      <a:pt x="256" y="306"/>
                    </a:lnTo>
                    <a:lnTo>
                      <a:pt x="256" y="306"/>
                    </a:lnTo>
                    <a:lnTo>
                      <a:pt x="250" y="300"/>
                    </a:lnTo>
                    <a:lnTo>
                      <a:pt x="250" y="328"/>
                    </a:lnTo>
                    <a:lnTo>
                      <a:pt x="238" y="328"/>
                    </a:lnTo>
                    <a:lnTo>
                      <a:pt x="238" y="248"/>
                    </a:lnTo>
                    <a:lnTo>
                      <a:pt x="238" y="248"/>
                    </a:lnTo>
                    <a:close/>
                    <a:moveTo>
                      <a:pt x="250" y="276"/>
                    </a:moveTo>
                    <a:lnTo>
                      <a:pt x="250" y="276"/>
                    </a:lnTo>
                    <a:lnTo>
                      <a:pt x="250" y="284"/>
                    </a:lnTo>
                    <a:lnTo>
                      <a:pt x="254" y="290"/>
                    </a:lnTo>
                    <a:lnTo>
                      <a:pt x="254" y="290"/>
                    </a:lnTo>
                    <a:lnTo>
                      <a:pt x="256" y="294"/>
                    </a:lnTo>
                    <a:lnTo>
                      <a:pt x="260" y="296"/>
                    </a:lnTo>
                    <a:lnTo>
                      <a:pt x="260" y="296"/>
                    </a:lnTo>
                    <a:lnTo>
                      <a:pt x="264" y="294"/>
                    </a:lnTo>
                    <a:lnTo>
                      <a:pt x="268" y="292"/>
                    </a:lnTo>
                    <a:lnTo>
                      <a:pt x="268" y="292"/>
                    </a:lnTo>
                    <a:lnTo>
                      <a:pt x="270" y="286"/>
                    </a:lnTo>
                    <a:lnTo>
                      <a:pt x="272" y="278"/>
                    </a:lnTo>
                    <a:lnTo>
                      <a:pt x="272" y="278"/>
                    </a:lnTo>
                    <a:lnTo>
                      <a:pt x="270" y="270"/>
                    </a:lnTo>
                    <a:lnTo>
                      <a:pt x="268" y="264"/>
                    </a:lnTo>
                    <a:lnTo>
                      <a:pt x="268" y="264"/>
                    </a:lnTo>
                    <a:lnTo>
                      <a:pt x="264" y="260"/>
                    </a:lnTo>
                    <a:lnTo>
                      <a:pt x="260" y="260"/>
                    </a:lnTo>
                    <a:lnTo>
                      <a:pt x="260" y="260"/>
                    </a:lnTo>
                    <a:lnTo>
                      <a:pt x="256" y="260"/>
                    </a:lnTo>
                    <a:lnTo>
                      <a:pt x="254" y="264"/>
                    </a:lnTo>
                    <a:lnTo>
                      <a:pt x="254" y="264"/>
                    </a:lnTo>
                    <a:lnTo>
                      <a:pt x="250" y="268"/>
                    </a:lnTo>
                    <a:lnTo>
                      <a:pt x="250" y="276"/>
                    </a:lnTo>
                    <a:lnTo>
                      <a:pt x="250" y="276"/>
                    </a:lnTo>
                    <a:close/>
                    <a:moveTo>
                      <a:pt x="290" y="248"/>
                    </a:moveTo>
                    <a:lnTo>
                      <a:pt x="302" y="248"/>
                    </a:lnTo>
                    <a:lnTo>
                      <a:pt x="302" y="256"/>
                    </a:lnTo>
                    <a:lnTo>
                      <a:pt x="302" y="256"/>
                    </a:lnTo>
                    <a:lnTo>
                      <a:pt x="304" y="252"/>
                    </a:lnTo>
                    <a:lnTo>
                      <a:pt x="308" y="250"/>
                    </a:lnTo>
                    <a:lnTo>
                      <a:pt x="308" y="250"/>
                    </a:lnTo>
                    <a:lnTo>
                      <a:pt x="312" y="248"/>
                    </a:lnTo>
                    <a:lnTo>
                      <a:pt x="316" y="248"/>
                    </a:lnTo>
                    <a:lnTo>
                      <a:pt x="316" y="248"/>
                    </a:lnTo>
                    <a:lnTo>
                      <a:pt x="324" y="248"/>
                    </a:lnTo>
                    <a:lnTo>
                      <a:pt x="330" y="254"/>
                    </a:lnTo>
                    <a:lnTo>
                      <a:pt x="330" y="254"/>
                    </a:lnTo>
                    <a:lnTo>
                      <a:pt x="336" y="264"/>
                    </a:lnTo>
                    <a:lnTo>
                      <a:pt x="336" y="276"/>
                    </a:lnTo>
                    <a:lnTo>
                      <a:pt x="336" y="276"/>
                    </a:lnTo>
                    <a:lnTo>
                      <a:pt x="336" y="290"/>
                    </a:lnTo>
                    <a:lnTo>
                      <a:pt x="330" y="300"/>
                    </a:lnTo>
                    <a:lnTo>
                      <a:pt x="330" y="300"/>
                    </a:lnTo>
                    <a:lnTo>
                      <a:pt x="324" y="306"/>
                    </a:lnTo>
                    <a:lnTo>
                      <a:pt x="316" y="308"/>
                    </a:lnTo>
                    <a:lnTo>
                      <a:pt x="316" y="308"/>
                    </a:lnTo>
                    <a:lnTo>
                      <a:pt x="310" y="306"/>
                    </a:lnTo>
                    <a:lnTo>
                      <a:pt x="310" y="306"/>
                    </a:lnTo>
                    <a:lnTo>
                      <a:pt x="302" y="300"/>
                    </a:lnTo>
                    <a:lnTo>
                      <a:pt x="302" y="328"/>
                    </a:lnTo>
                    <a:lnTo>
                      <a:pt x="290" y="328"/>
                    </a:lnTo>
                    <a:lnTo>
                      <a:pt x="290" y="248"/>
                    </a:lnTo>
                    <a:lnTo>
                      <a:pt x="290" y="248"/>
                    </a:lnTo>
                    <a:close/>
                    <a:moveTo>
                      <a:pt x="302" y="276"/>
                    </a:moveTo>
                    <a:lnTo>
                      <a:pt x="302" y="276"/>
                    </a:lnTo>
                    <a:lnTo>
                      <a:pt x="304" y="284"/>
                    </a:lnTo>
                    <a:lnTo>
                      <a:pt x="306" y="290"/>
                    </a:lnTo>
                    <a:lnTo>
                      <a:pt x="306" y="290"/>
                    </a:lnTo>
                    <a:lnTo>
                      <a:pt x="310" y="294"/>
                    </a:lnTo>
                    <a:lnTo>
                      <a:pt x="314" y="296"/>
                    </a:lnTo>
                    <a:lnTo>
                      <a:pt x="314" y="296"/>
                    </a:lnTo>
                    <a:lnTo>
                      <a:pt x="318" y="294"/>
                    </a:lnTo>
                    <a:lnTo>
                      <a:pt x="320" y="292"/>
                    </a:lnTo>
                    <a:lnTo>
                      <a:pt x="320" y="292"/>
                    </a:lnTo>
                    <a:lnTo>
                      <a:pt x="324" y="286"/>
                    </a:lnTo>
                    <a:lnTo>
                      <a:pt x="324" y="278"/>
                    </a:lnTo>
                    <a:lnTo>
                      <a:pt x="324" y="278"/>
                    </a:lnTo>
                    <a:lnTo>
                      <a:pt x="324" y="270"/>
                    </a:lnTo>
                    <a:lnTo>
                      <a:pt x="320" y="264"/>
                    </a:lnTo>
                    <a:lnTo>
                      <a:pt x="320" y="264"/>
                    </a:lnTo>
                    <a:lnTo>
                      <a:pt x="318" y="260"/>
                    </a:lnTo>
                    <a:lnTo>
                      <a:pt x="314" y="260"/>
                    </a:lnTo>
                    <a:lnTo>
                      <a:pt x="314" y="260"/>
                    </a:lnTo>
                    <a:lnTo>
                      <a:pt x="310" y="260"/>
                    </a:lnTo>
                    <a:lnTo>
                      <a:pt x="306" y="264"/>
                    </a:lnTo>
                    <a:lnTo>
                      <a:pt x="306" y="264"/>
                    </a:lnTo>
                    <a:lnTo>
                      <a:pt x="304" y="268"/>
                    </a:lnTo>
                    <a:lnTo>
                      <a:pt x="302" y="276"/>
                    </a:lnTo>
                    <a:lnTo>
                      <a:pt x="302" y="276"/>
                    </a:lnTo>
                    <a:close/>
                    <a:moveTo>
                      <a:pt x="338" y="290"/>
                    </a:moveTo>
                    <a:lnTo>
                      <a:pt x="352" y="288"/>
                    </a:lnTo>
                    <a:lnTo>
                      <a:pt x="352" y="288"/>
                    </a:lnTo>
                    <a:lnTo>
                      <a:pt x="352" y="292"/>
                    </a:lnTo>
                    <a:lnTo>
                      <a:pt x="354" y="294"/>
                    </a:lnTo>
                    <a:lnTo>
                      <a:pt x="358" y="296"/>
                    </a:lnTo>
                    <a:lnTo>
                      <a:pt x="362" y="296"/>
                    </a:lnTo>
                    <a:lnTo>
                      <a:pt x="362" y="296"/>
                    </a:lnTo>
                    <a:lnTo>
                      <a:pt x="368" y="294"/>
                    </a:lnTo>
                    <a:lnTo>
                      <a:pt x="368" y="294"/>
                    </a:lnTo>
                    <a:lnTo>
                      <a:pt x="370" y="292"/>
                    </a:lnTo>
                    <a:lnTo>
                      <a:pt x="370" y="290"/>
                    </a:lnTo>
                    <a:lnTo>
                      <a:pt x="370" y="290"/>
                    </a:lnTo>
                    <a:lnTo>
                      <a:pt x="370" y="288"/>
                    </a:lnTo>
                    <a:lnTo>
                      <a:pt x="370" y="288"/>
                    </a:lnTo>
                    <a:lnTo>
                      <a:pt x="366" y="286"/>
                    </a:lnTo>
                    <a:lnTo>
                      <a:pt x="366" y="286"/>
                    </a:lnTo>
                    <a:lnTo>
                      <a:pt x="352" y="282"/>
                    </a:lnTo>
                    <a:lnTo>
                      <a:pt x="346" y="278"/>
                    </a:lnTo>
                    <a:lnTo>
                      <a:pt x="346" y="278"/>
                    </a:lnTo>
                    <a:lnTo>
                      <a:pt x="342" y="272"/>
                    </a:lnTo>
                    <a:lnTo>
                      <a:pt x="340" y="264"/>
                    </a:lnTo>
                    <a:lnTo>
                      <a:pt x="340" y="264"/>
                    </a:lnTo>
                    <a:lnTo>
                      <a:pt x="342" y="258"/>
                    </a:lnTo>
                    <a:lnTo>
                      <a:pt x="346" y="252"/>
                    </a:lnTo>
                    <a:lnTo>
                      <a:pt x="346" y="252"/>
                    </a:lnTo>
                    <a:lnTo>
                      <a:pt x="352" y="248"/>
                    </a:lnTo>
                    <a:lnTo>
                      <a:pt x="360" y="248"/>
                    </a:lnTo>
                    <a:lnTo>
                      <a:pt x="360" y="248"/>
                    </a:lnTo>
                    <a:lnTo>
                      <a:pt x="368" y="248"/>
                    </a:lnTo>
                    <a:lnTo>
                      <a:pt x="374" y="250"/>
                    </a:lnTo>
                    <a:lnTo>
                      <a:pt x="374" y="250"/>
                    </a:lnTo>
                    <a:lnTo>
                      <a:pt x="380" y="256"/>
                    </a:lnTo>
                    <a:lnTo>
                      <a:pt x="382" y="262"/>
                    </a:lnTo>
                    <a:lnTo>
                      <a:pt x="370" y="266"/>
                    </a:lnTo>
                    <a:lnTo>
                      <a:pt x="370" y="266"/>
                    </a:lnTo>
                    <a:lnTo>
                      <a:pt x="366" y="260"/>
                    </a:lnTo>
                    <a:lnTo>
                      <a:pt x="360" y="258"/>
                    </a:lnTo>
                    <a:lnTo>
                      <a:pt x="360" y="258"/>
                    </a:lnTo>
                    <a:lnTo>
                      <a:pt x="354" y="260"/>
                    </a:lnTo>
                    <a:lnTo>
                      <a:pt x="354" y="260"/>
                    </a:lnTo>
                    <a:lnTo>
                      <a:pt x="352" y="262"/>
                    </a:lnTo>
                    <a:lnTo>
                      <a:pt x="352" y="262"/>
                    </a:lnTo>
                    <a:lnTo>
                      <a:pt x="354" y="266"/>
                    </a:lnTo>
                    <a:lnTo>
                      <a:pt x="354" y="266"/>
                    </a:lnTo>
                    <a:lnTo>
                      <a:pt x="366" y="270"/>
                    </a:lnTo>
                    <a:lnTo>
                      <a:pt x="366" y="270"/>
                    </a:lnTo>
                    <a:lnTo>
                      <a:pt x="374" y="274"/>
                    </a:lnTo>
                    <a:lnTo>
                      <a:pt x="380" y="278"/>
                    </a:lnTo>
                    <a:lnTo>
                      <a:pt x="380" y="278"/>
                    </a:lnTo>
                    <a:lnTo>
                      <a:pt x="382" y="282"/>
                    </a:lnTo>
                    <a:lnTo>
                      <a:pt x="384" y="288"/>
                    </a:lnTo>
                    <a:lnTo>
                      <a:pt x="384" y="288"/>
                    </a:lnTo>
                    <a:lnTo>
                      <a:pt x="382" y="296"/>
                    </a:lnTo>
                    <a:lnTo>
                      <a:pt x="378" y="302"/>
                    </a:lnTo>
                    <a:lnTo>
                      <a:pt x="378" y="302"/>
                    </a:lnTo>
                    <a:lnTo>
                      <a:pt x="370" y="306"/>
                    </a:lnTo>
                    <a:lnTo>
                      <a:pt x="362" y="308"/>
                    </a:lnTo>
                    <a:lnTo>
                      <a:pt x="362" y="308"/>
                    </a:lnTo>
                    <a:lnTo>
                      <a:pt x="354" y="306"/>
                    </a:lnTo>
                    <a:lnTo>
                      <a:pt x="346" y="304"/>
                    </a:lnTo>
                    <a:lnTo>
                      <a:pt x="346" y="304"/>
                    </a:lnTo>
                    <a:lnTo>
                      <a:pt x="342" y="298"/>
                    </a:lnTo>
                    <a:lnTo>
                      <a:pt x="338" y="290"/>
                    </a:lnTo>
                    <a:lnTo>
                      <a:pt x="338" y="290"/>
                    </a:lnTo>
                    <a:close/>
                  </a:path>
                </a:pathLst>
              </a:custGeom>
              <a:solidFill>
                <a:schemeClr val="bg2">
                  <a:lumMod val="50000"/>
                </a:schemeClr>
              </a:solidFill>
              <a:ln w="9525">
                <a:noFill/>
                <a:round/>
                <a:headEnd/>
                <a:tailEnd/>
              </a:ln>
            </p:spPr>
            <p:txBody>
              <a:bodyPr vert="horz" wrap="square" lIns="91412" tIns="45706" rIns="91412" bIns="45706" numCol="1" anchor="t" anchorCtr="0" compatLnSpc="1">
                <a:prstTxWarp prst="textNoShape">
                  <a:avLst/>
                </a:prstTxWarp>
              </a:bodyPr>
              <a:lstStyle/>
              <a:p>
                <a:pPr marL="0" marR="0" lvl="0" indent="0" defTabSz="914400" eaLnBrk="1" fontAlgn="ctr" latinLnBrk="0" hangingPunct="1">
                  <a:lnSpc>
                    <a:spcPct val="100000"/>
                  </a:lnSpc>
                  <a:spcBef>
                    <a:spcPct val="0"/>
                  </a:spcBef>
                  <a:spcAft>
                    <a:spcPct val="0"/>
                  </a:spcAft>
                  <a:buClrTx/>
                  <a:buSzTx/>
                  <a:buFontTx/>
                  <a:buNone/>
                  <a:tabLst/>
                  <a:defRPr/>
                </a:pPr>
                <a:endParaRPr kumimoji="0" lang="en-US" altLang="zh-CN"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框 107">
                <a:extLst>
                  <a:ext uri="{FF2B5EF4-FFF2-40B4-BE49-F238E27FC236}">
                    <a16:creationId xmlns:a16="http://schemas.microsoft.com/office/drawing/2014/main" xmlns="" id="{63D2F1B0-0F25-4875-9F9F-7613C5071164}"/>
                  </a:ext>
                </a:extLst>
              </p:cNvPr>
              <p:cNvSpPr txBox="1"/>
              <p:nvPr/>
            </p:nvSpPr>
            <p:spPr bwMode="gray">
              <a:xfrm>
                <a:off x="6762959" y="2171074"/>
                <a:ext cx="1113820" cy="830997"/>
              </a:xfrm>
              <a:prstGeom prst="rect">
                <a:avLst/>
              </a:prstGeom>
              <a:noFill/>
            </p:spPr>
            <p:txBody>
              <a:bodyPr wrap="square" rtlCol="0">
                <a:spAutoFit/>
              </a:bodyPr>
              <a:lstStyle/>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婴儿手环</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资产管理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能效管理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人员管理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59" name="组合 158">
              <a:extLst>
                <a:ext uri="{FF2B5EF4-FFF2-40B4-BE49-F238E27FC236}">
                  <a16:creationId xmlns:a16="http://schemas.microsoft.com/office/drawing/2014/main" xmlns="" id="{A634318C-8EAC-445F-A350-789351CE873E}"/>
                </a:ext>
              </a:extLst>
            </p:cNvPr>
            <p:cNvGrpSpPr/>
            <p:nvPr/>
          </p:nvGrpSpPr>
          <p:grpSpPr bwMode="gray">
            <a:xfrm>
              <a:off x="8859583" y="1276727"/>
              <a:ext cx="1113820" cy="1082097"/>
              <a:chOff x="7719553" y="1537977"/>
              <a:chExt cx="1113820" cy="1082097"/>
            </a:xfrm>
          </p:grpSpPr>
          <p:sp>
            <p:nvSpPr>
              <p:cNvPr id="71" name="文本框 225">
                <a:extLst>
                  <a:ext uri="{FF2B5EF4-FFF2-40B4-BE49-F238E27FC236}">
                    <a16:creationId xmlns:a16="http://schemas.microsoft.com/office/drawing/2014/main" xmlns="" id="{6A7F2068-505B-4BA8-A7C0-8B284A915B33}"/>
                  </a:ext>
                </a:extLst>
              </p:cNvPr>
              <p:cNvSpPr txBox="1">
                <a:spLocks noChangeArrowheads="1"/>
              </p:cNvSpPr>
              <p:nvPr/>
            </p:nvSpPr>
            <p:spPr bwMode="gray">
              <a:xfrm>
                <a:off x="7951696" y="1618928"/>
                <a:ext cx="466707" cy="461661"/>
              </a:xfrm>
              <a:prstGeom prst="rect">
                <a:avLst/>
              </a:prstGeom>
              <a:noFill/>
              <a:ln w="9525">
                <a:noFill/>
                <a:miter lim="800000"/>
                <a:headEnd/>
                <a:tailEnd/>
              </a:ln>
            </p:spPr>
            <p:txBody>
              <a:bodyPr wrap="square" lIns="91436" tIns="45718" rIns="91436" bIns="45718">
                <a:spAutoFit/>
              </a:bodyPr>
              <a:lstStyle/>
              <a:p>
                <a:pPr marL="0" marR="0" lvl="0" indent="0" defTabSz="914400" eaLnBrk="1" fontAlgn="base" latinLnBrk="0" hangingPunct="1">
                  <a:lnSpc>
                    <a:spcPct val="100000"/>
                  </a:lnSpc>
                  <a:spcBef>
                    <a:spcPct val="0"/>
                  </a:spcBef>
                  <a:spcAft>
                    <a:spcPct val="0"/>
                  </a:spcAft>
                  <a:buClrTx/>
                  <a:buSzPct val="100000"/>
                  <a:buFontTx/>
                  <a:buNone/>
                  <a:tabLst/>
                  <a:defRPr/>
                </a:pPr>
                <a:r>
                  <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办公</a:t>
                </a:r>
                <a:endPar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弧形 71">
                <a:extLst>
                  <a:ext uri="{FF2B5EF4-FFF2-40B4-BE49-F238E27FC236}">
                    <a16:creationId xmlns:a16="http://schemas.microsoft.com/office/drawing/2014/main" xmlns="" id="{1CB0E0BF-3E04-436E-A5EC-E84F46214434}"/>
                  </a:ext>
                </a:extLst>
              </p:cNvPr>
              <p:cNvSpPr>
                <a:spLocks noChangeAspect="1"/>
              </p:cNvSpPr>
              <p:nvPr/>
            </p:nvSpPr>
            <p:spPr bwMode="gray">
              <a:xfrm>
                <a:off x="7887333" y="1573938"/>
                <a:ext cx="550800" cy="550800"/>
              </a:xfrm>
              <a:prstGeom prst="arc">
                <a:avLst>
                  <a:gd name="adj1" fmla="val 14445679"/>
                  <a:gd name="adj2" fmla="val 10762572"/>
                </a:avLst>
              </a:prstGeom>
              <a:noFill/>
              <a:ln w="12700" cap="rnd" cmpd="sng" algn="ctr">
                <a:solidFill>
                  <a:schemeClr val="bg2">
                    <a:lumMod val="50000"/>
                  </a:schemeClr>
                </a:solidFill>
                <a:prstDash val="solid"/>
                <a:miter lim="800000"/>
                <a:tailEnd type="oval" w="sm" len="sm"/>
              </a:ln>
              <a:effectLst/>
            </p:spPr>
            <p:txBody>
              <a:bodyPr lIns="91436" tIns="45718" rIns="91436" bIns="45718" rtlCol="0" anchor="ctr"/>
              <a:lstStyle/>
              <a:p>
                <a:pPr marL="0" marR="0" lvl="0" indent="0" algn="ctr" defTabSz="457039" eaLnBrk="1" fontAlgn="ctr" latinLnBrk="0" hangingPunct="1">
                  <a:lnSpc>
                    <a:spcPct val="100000"/>
                  </a:lnSpc>
                  <a:spcBef>
                    <a:spcPts val="0"/>
                  </a:spcBef>
                  <a:spcAft>
                    <a:spcPts val="0"/>
                  </a:spcAft>
                  <a:buClrTx/>
                  <a:buSzTx/>
                  <a:buFontTx/>
                  <a:buNone/>
                  <a:tabLst/>
                  <a:defRPr/>
                </a:pPr>
                <a:endParaRPr kumimoji="0" lang="en-US" altLang="zh-CN" sz="1200" b="0" i="0" u="none" strike="noStrike" kern="0" cap="none" spc="0" normalizeH="0" baseline="0" noProof="0" dirty="0">
                  <a:ln>
                    <a:noFill/>
                  </a:ln>
                  <a:solidFill>
                    <a:srgbClr val="FFFFFF">
                      <a:lumMod val="50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3" name="组合 240">
                <a:extLst>
                  <a:ext uri="{FF2B5EF4-FFF2-40B4-BE49-F238E27FC236}">
                    <a16:creationId xmlns:a16="http://schemas.microsoft.com/office/drawing/2014/main" xmlns="" id="{BC5DC269-D9C4-481A-9927-2CA9AC19F6A3}"/>
                  </a:ext>
                </a:extLst>
              </p:cNvPr>
              <p:cNvGrpSpPr/>
              <p:nvPr/>
            </p:nvGrpSpPr>
            <p:grpSpPr bwMode="gray">
              <a:xfrm>
                <a:off x="7755450" y="1537977"/>
                <a:ext cx="216000" cy="216000"/>
                <a:chOff x="426889" y="2311649"/>
                <a:chExt cx="254027" cy="246518"/>
              </a:xfrm>
            </p:grpSpPr>
            <p:sp>
              <p:nvSpPr>
                <p:cNvPr id="84" name="椭圆 83">
                  <a:extLst>
                    <a:ext uri="{FF2B5EF4-FFF2-40B4-BE49-F238E27FC236}">
                      <a16:creationId xmlns:a16="http://schemas.microsoft.com/office/drawing/2014/main" xmlns="" id="{E4BBFB60-A062-4600-901E-D585B31D2F65}"/>
                    </a:ext>
                  </a:extLst>
                </p:cNvPr>
                <p:cNvSpPr>
                  <a:spLocks noChangeAspect="1"/>
                </p:cNvSpPr>
                <p:nvPr/>
              </p:nvSpPr>
              <p:spPr bwMode="gray">
                <a:xfrm>
                  <a:off x="426889" y="2311649"/>
                  <a:ext cx="254027" cy="246518"/>
                </a:xfrm>
                <a:prstGeom prst="ellipse">
                  <a:avLst/>
                </a:prstGeom>
                <a:solidFill>
                  <a:schemeClr val="bg2">
                    <a:lumMod val="50000"/>
                  </a:schemeClr>
                </a:solidFill>
                <a:ln w="6350" cap="flat" cmpd="sng" algn="ctr">
                  <a:noFill/>
                  <a:prstDash val="sysDash"/>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chemeClr val="tx1">
                        <a:lumMod val="50000"/>
                        <a:lumOff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5" name="Picture 3" descr="C:\Users\Administrator\Desktop\商业模式-01.png">
                  <a:extLst>
                    <a:ext uri="{FF2B5EF4-FFF2-40B4-BE49-F238E27FC236}">
                      <a16:creationId xmlns:a16="http://schemas.microsoft.com/office/drawing/2014/main" xmlns="" id="{41BCEF3F-CDDF-4BFF-A7D4-3624572467C5}"/>
                    </a:ext>
                  </a:extLst>
                </p:cNvPr>
                <p:cNvPicPr>
                  <a:picLocks noChangeAspect="1" noChangeArrowheads="1"/>
                </p:cNvPicPr>
                <p:nvPr/>
              </p:nvPicPr>
              <p:blipFill>
                <a:blip r:embed="rId7" cstate="print"/>
                <a:srcRect/>
                <a:stretch>
                  <a:fillRect/>
                </a:stretch>
              </p:blipFill>
              <p:spPr bwMode="gray">
                <a:xfrm>
                  <a:off x="469822" y="2348186"/>
                  <a:ext cx="178325" cy="163863"/>
                </a:xfrm>
                <a:prstGeom prst="rect">
                  <a:avLst/>
                </a:prstGeom>
                <a:noFill/>
                <a:effectLst/>
              </p:spPr>
            </p:pic>
          </p:grpSp>
          <p:sp>
            <p:nvSpPr>
              <p:cNvPr id="103" name="1125557403">
                <a:extLst>
                  <a:ext uri="{FF2B5EF4-FFF2-40B4-BE49-F238E27FC236}">
                    <a16:creationId xmlns:a16="http://schemas.microsoft.com/office/drawing/2014/main" xmlns="" id="{B765ED5F-EA79-45D8-98CF-5149795A7CE7}"/>
                  </a:ext>
                </a:extLst>
              </p:cNvPr>
              <p:cNvSpPr txBox="1">
                <a:spLocks noChangeArrowheads="1"/>
              </p:cNvSpPr>
              <p:nvPr/>
            </p:nvSpPr>
            <p:spPr bwMode="gray">
              <a:xfrm>
                <a:off x="8373964" y="1799916"/>
                <a:ext cx="391551" cy="446924"/>
              </a:xfrm>
              <a:prstGeom prst="rect">
                <a:avLst/>
              </a:prstGeom>
              <a:noFill/>
              <a:ln w="9525">
                <a:noFill/>
                <a:miter lim="800000"/>
                <a:headEnd/>
                <a:tailEnd/>
              </a:ln>
            </p:spPr>
            <p:txBody>
              <a:bodyPr lIns="121915" tIns="60959" rIns="121915" bIns="60959"/>
              <a:lstStyle/>
              <a:p>
                <a:pPr defTabSz="1218662" fontAlgn="ctr"/>
                <a:r>
                  <a:rPr lang="en-US" altLang="zh-CN" sz="1200" b="1" dirty="0">
                    <a:solidFill>
                      <a:prstClr val="black"/>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p>
            </p:txBody>
          </p:sp>
          <p:sp>
            <p:nvSpPr>
              <p:cNvPr id="109" name="文本框 108">
                <a:extLst>
                  <a:ext uri="{FF2B5EF4-FFF2-40B4-BE49-F238E27FC236}">
                    <a16:creationId xmlns:a16="http://schemas.microsoft.com/office/drawing/2014/main" xmlns="" id="{B7EA91AF-D477-4288-866C-3BAFD8BC85F6}"/>
                  </a:ext>
                </a:extLst>
              </p:cNvPr>
              <p:cNvSpPr txBox="1"/>
              <p:nvPr/>
            </p:nvSpPr>
            <p:spPr bwMode="gray">
              <a:xfrm>
                <a:off x="7719553" y="2158409"/>
                <a:ext cx="1113820" cy="461665"/>
              </a:xfrm>
              <a:prstGeom prst="rect">
                <a:avLst/>
              </a:prstGeom>
              <a:noFill/>
            </p:spPr>
            <p:txBody>
              <a:bodyPr wrap="square" rtlCol="0">
                <a:spAutoFit/>
              </a:bodyPr>
              <a:lstStyle/>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能效管理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资产管理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68" name="矩形 167">
            <a:extLst>
              <a:ext uri="{FF2B5EF4-FFF2-40B4-BE49-F238E27FC236}">
                <a16:creationId xmlns:a16="http://schemas.microsoft.com/office/drawing/2014/main" xmlns="" id="{F510D7A0-DF5D-42E5-8125-8A67CA8EA66B}"/>
              </a:ext>
            </a:extLst>
          </p:cNvPr>
          <p:cNvSpPr/>
          <p:nvPr/>
        </p:nvSpPr>
        <p:spPr bwMode="gray">
          <a:xfrm>
            <a:off x="889894" y="5210388"/>
            <a:ext cx="10038037" cy="908838"/>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文本框 120">
            <a:extLst>
              <a:ext uri="{FF2B5EF4-FFF2-40B4-BE49-F238E27FC236}">
                <a16:creationId xmlns:a16="http://schemas.microsoft.com/office/drawing/2014/main" xmlns="" id="{B6C12123-FB13-4DF6-84BA-C74E02B59B4C}"/>
              </a:ext>
            </a:extLst>
          </p:cNvPr>
          <p:cNvSpPr txBox="1"/>
          <p:nvPr/>
        </p:nvSpPr>
        <p:spPr bwMode="gray">
          <a:xfrm>
            <a:off x="1004096" y="5349233"/>
            <a:ext cx="990310"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终端层</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0" name="组合 149">
            <a:extLst>
              <a:ext uri="{FF2B5EF4-FFF2-40B4-BE49-F238E27FC236}">
                <a16:creationId xmlns:a16="http://schemas.microsoft.com/office/drawing/2014/main" xmlns="" id="{64F64D19-E384-4864-A5BF-26961EEF598A}"/>
              </a:ext>
            </a:extLst>
          </p:cNvPr>
          <p:cNvGrpSpPr/>
          <p:nvPr/>
        </p:nvGrpSpPr>
        <p:grpSpPr bwMode="gray">
          <a:xfrm>
            <a:off x="2085035" y="5376872"/>
            <a:ext cx="8732317" cy="709956"/>
            <a:chOff x="2480730" y="6009687"/>
            <a:chExt cx="8732317" cy="709956"/>
          </a:xfrm>
        </p:grpSpPr>
        <p:grpSp>
          <p:nvGrpSpPr>
            <p:cNvPr id="149" name="组合 148">
              <a:extLst>
                <a:ext uri="{FF2B5EF4-FFF2-40B4-BE49-F238E27FC236}">
                  <a16:creationId xmlns:a16="http://schemas.microsoft.com/office/drawing/2014/main" xmlns="" id="{751DA095-F211-4166-A231-AFCCB054D047}"/>
                </a:ext>
              </a:extLst>
            </p:cNvPr>
            <p:cNvGrpSpPr/>
            <p:nvPr/>
          </p:nvGrpSpPr>
          <p:grpSpPr bwMode="gray">
            <a:xfrm>
              <a:off x="6172743" y="6009687"/>
              <a:ext cx="3546304" cy="654890"/>
              <a:chOff x="6172743" y="6025667"/>
              <a:chExt cx="3546304" cy="654890"/>
            </a:xfrm>
          </p:grpSpPr>
          <p:sp>
            <p:nvSpPr>
              <p:cNvPr id="141" name="矩形 140">
                <a:extLst>
                  <a:ext uri="{FF2B5EF4-FFF2-40B4-BE49-F238E27FC236}">
                    <a16:creationId xmlns:a16="http://schemas.microsoft.com/office/drawing/2014/main" xmlns="" id="{970B4FC4-D8F9-4221-8555-D5C99E2D5DEC}"/>
                  </a:ext>
                </a:extLst>
              </p:cNvPr>
              <p:cNvSpPr/>
              <p:nvPr/>
            </p:nvSpPr>
            <p:spPr bwMode="gray">
              <a:xfrm>
                <a:off x="6235486" y="6025667"/>
                <a:ext cx="3483561" cy="654890"/>
              </a:xfrm>
              <a:prstGeom prst="rect">
                <a:avLst/>
              </a:prstGeom>
              <a:noFill/>
              <a:ln>
                <a:solidFill>
                  <a:srgbClr val="94DAE2"/>
                </a:solidFill>
              </a:ln>
            </p:spPr>
            <p:style>
              <a:lnRef idx="2">
                <a:schemeClr val="accent1"/>
              </a:lnRef>
              <a:fillRef idx="1">
                <a:schemeClr val="lt1"/>
              </a:fillRef>
              <a:effectRef idx="0">
                <a:schemeClr val="accent1"/>
              </a:effectRef>
              <a:fontRef idx="minor">
                <a:schemeClr val="dk1"/>
              </a:fontRef>
            </p:style>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314623880">
                <a:extLst>
                  <a:ext uri="{FF2B5EF4-FFF2-40B4-BE49-F238E27FC236}">
                    <a16:creationId xmlns:a16="http://schemas.microsoft.com/office/drawing/2014/main" xmlns="" id="{3C8852CF-E0AD-4DF4-93D9-76C2A4EF58E6}"/>
                  </a:ext>
                </a:extLst>
              </p:cNvPr>
              <p:cNvSpPr/>
              <p:nvPr/>
            </p:nvSpPr>
            <p:spPr bwMode="gray">
              <a:xfrm>
                <a:off x="6172743" y="6433546"/>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Mobile </a:t>
                </a:r>
              </a:p>
            </p:txBody>
          </p:sp>
          <p:sp>
            <p:nvSpPr>
              <p:cNvPr id="143" name="314623880">
                <a:extLst>
                  <a:ext uri="{FF2B5EF4-FFF2-40B4-BE49-F238E27FC236}">
                    <a16:creationId xmlns:a16="http://schemas.microsoft.com/office/drawing/2014/main" xmlns="" id="{4F9FF12D-705D-49F4-914D-1B21F9F2D074}"/>
                  </a:ext>
                </a:extLst>
              </p:cNvPr>
              <p:cNvSpPr/>
              <p:nvPr/>
            </p:nvSpPr>
            <p:spPr bwMode="gray">
              <a:xfrm>
                <a:off x="6813511" y="6426098"/>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en-US" altLang="zh-CN"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phone</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314623880">
                <a:extLst>
                  <a:ext uri="{FF2B5EF4-FFF2-40B4-BE49-F238E27FC236}">
                    <a16:creationId xmlns:a16="http://schemas.microsoft.com/office/drawing/2014/main" xmlns="" id="{E3BC71F1-64D6-496E-BD24-1F6487FB357D}"/>
                  </a:ext>
                </a:extLst>
              </p:cNvPr>
              <p:cNvSpPr/>
              <p:nvPr/>
            </p:nvSpPr>
            <p:spPr bwMode="gray">
              <a:xfrm>
                <a:off x="7382576" y="6433546"/>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PAD</a:t>
                </a:r>
              </a:p>
            </p:txBody>
          </p:sp>
          <p:sp>
            <p:nvSpPr>
              <p:cNvPr id="145" name="314623880">
                <a:extLst>
                  <a:ext uri="{FF2B5EF4-FFF2-40B4-BE49-F238E27FC236}">
                    <a16:creationId xmlns:a16="http://schemas.microsoft.com/office/drawing/2014/main" xmlns="" id="{FB7C6E8F-CF14-4AA3-972F-1F7F12003C69}"/>
                  </a:ext>
                </a:extLst>
              </p:cNvPr>
              <p:cNvSpPr/>
              <p:nvPr/>
            </p:nvSpPr>
            <p:spPr bwMode="gray">
              <a:xfrm>
                <a:off x="8084148" y="6433546"/>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Camera</a:t>
                </a:r>
              </a:p>
            </p:txBody>
          </p:sp>
        </p:grpSp>
        <p:grpSp>
          <p:nvGrpSpPr>
            <p:cNvPr id="148" name="组合 147">
              <a:extLst>
                <a:ext uri="{FF2B5EF4-FFF2-40B4-BE49-F238E27FC236}">
                  <a16:creationId xmlns:a16="http://schemas.microsoft.com/office/drawing/2014/main" xmlns="" id="{1EDA0022-FC67-4772-ACE8-CA45863B0EB4}"/>
                </a:ext>
              </a:extLst>
            </p:cNvPr>
            <p:cNvGrpSpPr/>
            <p:nvPr/>
          </p:nvGrpSpPr>
          <p:grpSpPr bwMode="gray">
            <a:xfrm>
              <a:off x="2480730" y="6015919"/>
              <a:ext cx="3510417" cy="648657"/>
              <a:chOff x="2480730" y="5993706"/>
              <a:chExt cx="3510417" cy="648657"/>
            </a:xfrm>
          </p:grpSpPr>
          <p:sp>
            <p:nvSpPr>
              <p:cNvPr id="126" name="314623880">
                <a:extLst>
                  <a:ext uri="{FF2B5EF4-FFF2-40B4-BE49-F238E27FC236}">
                    <a16:creationId xmlns:a16="http://schemas.microsoft.com/office/drawing/2014/main" xmlns="" id="{7911C793-00AB-43A4-BD6D-499B7257D192}"/>
                  </a:ext>
                </a:extLst>
              </p:cNvPr>
              <p:cNvSpPr/>
              <p:nvPr/>
            </p:nvSpPr>
            <p:spPr bwMode="gray">
              <a:xfrm>
                <a:off x="2480730" y="6389119"/>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电子价签</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314623880">
                <a:extLst>
                  <a:ext uri="{FF2B5EF4-FFF2-40B4-BE49-F238E27FC236}">
                    <a16:creationId xmlns:a16="http://schemas.microsoft.com/office/drawing/2014/main" xmlns="" id="{029DEDB5-526D-4D8F-8205-F9298467ACA5}"/>
                  </a:ext>
                </a:extLst>
              </p:cNvPr>
              <p:cNvSpPr/>
              <p:nvPr/>
            </p:nvSpPr>
            <p:spPr bwMode="gray">
              <a:xfrm>
                <a:off x="3192549" y="6389119"/>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资产标签</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314623880">
                <a:extLst>
                  <a:ext uri="{FF2B5EF4-FFF2-40B4-BE49-F238E27FC236}">
                    <a16:creationId xmlns:a16="http://schemas.microsoft.com/office/drawing/2014/main" xmlns="" id="{76995BEF-3E12-4D2C-B780-232560FC7759}"/>
                  </a:ext>
                </a:extLst>
              </p:cNvPr>
              <p:cNvSpPr/>
              <p:nvPr/>
            </p:nvSpPr>
            <p:spPr bwMode="gray">
              <a:xfrm>
                <a:off x="4663684" y="6389119"/>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智能腕带</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314623880">
                <a:extLst>
                  <a:ext uri="{FF2B5EF4-FFF2-40B4-BE49-F238E27FC236}">
                    <a16:creationId xmlns:a16="http://schemas.microsoft.com/office/drawing/2014/main" xmlns="" id="{4E99F0C2-9BAD-4FE0-B43D-9193E01745FA}"/>
                  </a:ext>
                </a:extLst>
              </p:cNvPr>
              <p:cNvSpPr/>
              <p:nvPr/>
            </p:nvSpPr>
            <p:spPr bwMode="gray">
              <a:xfrm>
                <a:off x="3880613" y="6389119"/>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zh-CN" altLang="en-US" sz="1200" kern="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手</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环</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矩形 139">
                <a:extLst>
                  <a:ext uri="{FF2B5EF4-FFF2-40B4-BE49-F238E27FC236}">
                    <a16:creationId xmlns:a16="http://schemas.microsoft.com/office/drawing/2014/main" xmlns="" id="{391C9A36-34B2-446A-B2EC-724C60451684}"/>
                  </a:ext>
                </a:extLst>
              </p:cNvPr>
              <p:cNvSpPr/>
              <p:nvPr/>
            </p:nvSpPr>
            <p:spPr bwMode="gray">
              <a:xfrm>
                <a:off x="2539964" y="5993706"/>
                <a:ext cx="3451183" cy="648657"/>
              </a:xfrm>
              <a:prstGeom prst="rect">
                <a:avLst/>
              </a:prstGeom>
              <a:noFill/>
              <a:ln>
                <a:solidFill>
                  <a:srgbClr val="94DAE2"/>
                </a:solidFill>
              </a:ln>
            </p:spPr>
            <p:style>
              <a:lnRef idx="2">
                <a:schemeClr val="accent1"/>
              </a:lnRef>
              <a:fillRef idx="1">
                <a:schemeClr val="lt1"/>
              </a:fillRef>
              <a:effectRef idx="0">
                <a:schemeClr val="accent1"/>
              </a:effectRef>
              <a:fontRef idx="minor">
                <a:schemeClr val="dk1"/>
              </a:fontRef>
            </p:style>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文本框 145">
                <a:extLst>
                  <a:ext uri="{FF2B5EF4-FFF2-40B4-BE49-F238E27FC236}">
                    <a16:creationId xmlns:a16="http://schemas.microsoft.com/office/drawing/2014/main" xmlns="" id="{D84EE35D-C6D9-4C72-A756-C3E748F02EAB}"/>
                  </a:ext>
                </a:extLst>
              </p:cNvPr>
              <p:cNvSpPr txBox="1"/>
              <p:nvPr/>
            </p:nvSpPr>
            <p:spPr bwMode="gray">
              <a:xfrm>
                <a:off x="5499170" y="6049350"/>
                <a:ext cx="404889" cy="29617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oAutofit/>
              </a:bodyPr>
              <a:lstStyle/>
              <a:p>
                <a:pPr defTabSz="685800" fontAlgn="ctr">
                  <a:spcBef>
                    <a:spcPts val="0"/>
                  </a:spcBef>
                  <a:spcAft>
                    <a:spcPts val="0"/>
                  </a:spcAft>
                </a:pPr>
                <a:r>
                  <a:rPr lang="en-US" altLang="zh-CN"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0" name="圆角矩形 126">
              <a:extLst>
                <a:ext uri="{FF2B5EF4-FFF2-40B4-BE49-F238E27FC236}">
                  <a16:creationId xmlns:a16="http://schemas.microsoft.com/office/drawing/2014/main" xmlns="" id="{F7ACDA16-1103-4698-913E-3F337906807A}"/>
                </a:ext>
              </a:extLst>
            </p:cNvPr>
            <p:cNvSpPr/>
            <p:nvPr/>
          </p:nvSpPr>
          <p:spPr bwMode="gray">
            <a:xfrm>
              <a:off x="9813996" y="6493538"/>
              <a:ext cx="1399051" cy="226105"/>
            </a:xfrm>
            <a:prstGeom prst="roundRect">
              <a:avLst>
                <a:gd name="adj" fmla="val 6910"/>
              </a:avLst>
            </a:prstGeom>
            <a:solidFill>
              <a:srgbClr val="FFF5EB"/>
            </a:solidFill>
            <a:ln w="12700">
              <a:solidFill>
                <a:schemeClr val="bg1">
                  <a:lumMod val="85000"/>
                </a:schemeClr>
              </a:solidFill>
              <a:prstDash val="solid"/>
            </a:ln>
            <a:effectLst/>
          </p:spPr>
          <p:txBody>
            <a:bodyPr vert="horz" wrap="square" lIns="91440" tIns="45720" rIns="91440" bIns="45720" numCol="1" rtlCol="0" anchor="t" anchorCtr="0" compatLnSpc="1">
              <a:prstTxWarp prst="textNoShape">
                <a:avLst/>
              </a:prstTxWarp>
            </a:bodyPr>
            <a:lstStyle/>
            <a:p>
              <a:pPr marL="0" marR="0" indent="0" algn="ctr" defTabSz="914400" eaLnBrk="1" latinLnBrk="0" hangingPunct="1">
                <a:lnSpc>
                  <a:spcPct val="100000"/>
                </a:lnSpc>
                <a:buClr>
                  <a:srgbClr val="CC9900"/>
                </a:buClr>
                <a:buSzTx/>
                <a:tabLst/>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合作伙伴</a:t>
              </a:r>
            </a:p>
          </p:txBody>
        </p:sp>
      </p:grpSp>
      <p:grpSp>
        <p:nvGrpSpPr>
          <p:cNvPr id="147" name="组合 146">
            <a:extLst>
              <a:ext uri="{FF2B5EF4-FFF2-40B4-BE49-F238E27FC236}">
                <a16:creationId xmlns:a16="http://schemas.microsoft.com/office/drawing/2014/main" xmlns="" id="{C1669A1D-AB69-47E8-BC81-37E76E1713B0}"/>
              </a:ext>
            </a:extLst>
          </p:cNvPr>
          <p:cNvGrpSpPr/>
          <p:nvPr/>
        </p:nvGrpSpPr>
        <p:grpSpPr bwMode="gray">
          <a:xfrm>
            <a:off x="9623021" y="4854657"/>
            <a:ext cx="1449345" cy="749436"/>
            <a:chOff x="9320842" y="5172319"/>
            <a:chExt cx="1449345" cy="749436"/>
          </a:xfrm>
        </p:grpSpPr>
        <p:sp>
          <p:nvSpPr>
            <p:cNvPr id="86" name="圆角矩形 97">
              <a:extLst>
                <a:ext uri="{FF2B5EF4-FFF2-40B4-BE49-F238E27FC236}">
                  <a16:creationId xmlns:a16="http://schemas.microsoft.com/office/drawing/2014/main" xmlns="" id="{0AD78AD0-24B7-4095-97C7-32F49B268B21}"/>
                </a:ext>
              </a:extLst>
            </p:cNvPr>
            <p:cNvSpPr/>
            <p:nvPr/>
          </p:nvSpPr>
          <p:spPr bwMode="gray">
            <a:xfrm>
              <a:off x="9434031" y="5172319"/>
              <a:ext cx="949611" cy="499655"/>
            </a:xfrm>
            <a:prstGeom prst="roundRect">
              <a:avLst>
                <a:gd name="adj" fmla="val 6910"/>
              </a:avLst>
            </a:prstGeom>
            <a:solidFill>
              <a:srgbClr val="FFF5EB"/>
            </a:solidFill>
            <a:ln w="12700">
              <a:solidFill>
                <a:schemeClr val="bg1">
                  <a:lumMod val="85000"/>
                </a:schemeClr>
              </a:solidFill>
              <a:prstDash val="solid"/>
            </a:ln>
            <a:effectLst/>
          </p:spPr>
          <p:txBody>
            <a:bodyPr vert="horz" wrap="square" lIns="91440" tIns="45720" rIns="91440" bIns="45720" numCol="1" rtlCol="0" anchor="t" anchorCtr="0" compatLnSpc="1">
              <a:prstTxWarp prst="textNoShape">
                <a:avLst/>
              </a:prstTxWarp>
            </a:bodyPr>
            <a:lstStyle/>
            <a:p>
              <a:pPr marL="0" marR="0" indent="0" defTabSz="914400" eaLnBrk="1" latinLnBrk="0" hangingPunct="1">
                <a:lnSpc>
                  <a:spcPct val="100000"/>
                </a:lnSpc>
                <a:buClr>
                  <a:srgbClr val="CC9900"/>
                </a:buClr>
                <a:buSzTx/>
                <a:buFont typeface="Wingdings" pitchFamily="2" charset="2"/>
                <a:buChar char="n"/>
                <a:tabLst/>
              </a:pPr>
              <a:endParaRPr lang="zh-CN" altLang="en-US" sz="12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7" name="Picture 2">
              <a:extLst>
                <a:ext uri="{FF2B5EF4-FFF2-40B4-BE49-F238E27FC236}">
                  <a16:creationId xmlns:a16="http://schemas.microsoft.com/office/drawing/2014/main" xmlns="" id="{A89CCDA5-F8AA-4BAC-8705-0B81248544D1}"/>
                </a:ext>
              </a:extLst>
            </p:cNvPr>
            <p:cNvPicPr>
              <a:picLocks noChangeAspect="1" noChangeArrowheads="1"/>
            </p:cNvPicPr>
            <p:nvPr/>
          </p:nvPicPr>
          <p:blipFill>
            <a:blip r:embed="rId8" cstate="print"/>
            <a:srcRect/>
            <a:stretch>
              <a:fillRect/>
            </a:stretch>
          </p:blipFill>
          <p:spPr bwMode="gray">
            <a:xfrm>
              <a:off x="9517273" y="5226628"/>
              <a:ext cx="188566" cy="252598"/>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88" name="TextBox 88">
              <a:extLst>
                <a:ext uri="{FF2B5EF4-FFF2-40B4-BE49-F238E27FC236}">
                  <a16:creationId xmlns:a16="http://schemas.microsoft.com/office/drawing/2014/main" xmlns="" id="{97E250AB-16C4-47B0-90F1-B8E67222BF2F}"/>
                </a:ext>
              </a:extLst>
            </p:cNvPr>
            <p:cNvSpPr txBox="1">
              <a:spLocks noChangeArrowheads="1"/>
            </p:cNvSpPr>
            <p:nvPr/>
          </p:nvSpPr>
          <p:spPr bwMode="gray">
            <a:xfrm>
              <a:off x="9320842" y="5396365"/>
              <a:ext cx="1449345" cy="276999"/>
            </a:xfrm>
            <a:prstGeom prst="rect">
              <a:avLst/>
            </a:prstGeom>
            <a:noFill/>
            <a:ln w="9525">
              <a:noFill/>
              <a:miter lim="800000"/>
              <a:headEnd/>
              <a:tailEnd/>
            </a:ln>
          </p:spPr>
          <p:txBody>
            <a:bodyPr>
              <a:spAutoFit/>
            </a:bodyPr>
            <a:lstStyle/>
            <a:p>
              <a:pPr algn="ctr" fontAlgn="ctr">
                <a:buSzPct val="100000"/>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物联插卡</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椭圆 101">
              <a:extLst>
                <a:ext uri="{FF2B5EF4-FFF2-40B4-BE49-F238E27FC236}">
                  <a16:creationId xmlns:a16="http://schemas.microsoft.com/office/drawing/2014/main" xmlns="" id="{81BBF24B-BD74-4DBF-B70E-0047C53DCDB1}"/>
                </a:ext>
              </a:extLst>
            </p:cNvPr>
            <p:cNvSpPr/>
            <p:nvPr/>
          </p:nvSpPr>
          <p:spPr bwMode="gray">
            <a:xfrm>
              <a:off x="9792699" y="5192232"/>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6</a:t>
              </a:r>
            </a:p>
          </p:txBody>
        </p:sp>
        <p:sp>
          <p:nvSpPr>
            <p:cNvPr id="133" name="TextBox 111">
              <a:extLst>
                <a:ext uri="{FF2B5EF4-FFF2-40B4-BE49-F238E27FC236}">
                  <a16:creationId xmlns:a16="http://schemas.microsoft.com/office/drawing/2014/main" xmlns="" id="{DCBA4639-6026-4EB8-8776-B46BC3C8C942}"/>
                </a:ext>
              </a:extLst>
            </p:cNvPr>
            <p:cNvSpPr txBox="1"/>
            <p:nvPr/>
          </p:nvSpPr>
          <p:spPr bwMode="gray">
            <a:xfrm>
              <a:off x="9547917" y="5690983"/>
              <a:ext cx="122022" cy="230772"/>
            </a:xfrm>
            <a:prstGeom prst="rect">
              <a:avLst/>
            </a:prstGeom>
            <a:noFill/>
          </p:spPr>
          <p:txBody>
            <a:bodyPr wrap="square" lIns="91386" tIns="45690" rIns="91386" bIns="45690" rtlCol="0">
              <a:noAutofit/>
            </a:bodyPr>
            <a:lstStyle/>
            <a:p>
              <a:pPr defTabSz="1219078" fontAlgn="ctr">
                <a:spcBef>
                  <a:spcPts val="0"/>
                </a:spcBef>
                <a:spcAft>
                  <a:spcPts val="0"/>
                </a:spcAft>
              </a:pPr>
              <a:endPar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55" name="椭圆 154">
            <a:extLst>
              <a:ext uri="{FF2B5EF4-FFF2-40B4-BE49-F238E27FC236}">
                <a16:creationId xmlns:a16="http://schemas.microsoft.com/office/drawing/2014/main" xmlns="" id="{7FB00AE3-46D9-4893-946B-1A1135773F71}"/>
              </a:ext>
            </a:extLst>
          </p:cNvPr>
          <p:cNvSpPr/>
          <p:nvPr/>
        </p:nvSpPr>
        <p:spPr bwMode="gray">
          <a:xfrm>
            <a:off x="2526040" y="2772825"/>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Huawei Sans" panose="020C0503030203020204" pitchFamily="34" charset="0"/>
                <a:ea typeface="方正兰亭黑简体" panose="02000000000000000000" pitchFamily="2" charset="-122"/>
                <a:sym typeface="Huawei Sans" panose="020C0503030203020204" pitchFamily="34" charset="0"/>
              </a:rPr>
              <a:t>1</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椭圆 156">
            <a:extLst>
              <a:ext uri="{FF2B5EF4-FFF2-40B4-BE49-F238E27FC236}">
                <a16:creationId xmlns:a16="http://schemas.microsoft.com/office/drawing/2014/main" xmlns="" id="{31417F06-721C-46EF-94FA-87D823888CFE}"/>
              </a:ext>
            </a:extLst>
          </p:cNvPr>
          <p:cNvSpPr/>
          <p:nvPr/>
        </p:nvSpPr>
        <p:spPr bwMode="gray">
          <a:xfrm>
            <a:off x="4896382" y="2772825"/>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Huawei Sans" panose="020C0503030203020204" pitchFamily="34" charset="0"/>
                <a:ea typeface="方正兰亭黑简体" panose="02000000000000000000" pitchFamily="2" charset="-122"/>
                <a:sym typeface="Huawei Sans" panose="020C0503030203020204" pitchFamily="34" charset="0"/>
              </a:rPr>
              <a:t>2</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椭圆 171">
            <a:extLst>
              <a:ext uri="{FF2B5EF4-FFF2-40B4-BE49-F238E27FC236}">
                <a16:creationId xmlns:a16="http://schemas.microsoft.com/office/drawing/2014/main" xmlns="" id="{DDAFB42D-38FF-48A8-ABCC-1C64F5CC4988}"/>
              </a:ext>
            </a:extLst>
          </p:cNvPr>
          <p:cNvSpPr/>
          <p:nvPr/>
        </p:nvSpPr>
        <p:spPr bwMode="gray">
          <a:xfrm>
            <a:off x="6985685" y="2772825"/>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Huawei Sans" panose="020C0503030203020204" pitchFamily="34" charset="0"/>
                <a:ea typeface="方正兰亭黑简体" panose="02000000000000000000" pitchFamily="2" charset="-122"/>
                <a:sym typeface="Huawei Sans" panose="020C0503030203020204" pitchFamily="34" charset="0"/>
              </a:rPr>
              <a:t>3</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9" name="椭圆 228">
            <a:extLst>
              <a:ext uri="{FF2B5EF4-FFF2-40B4-BE49-F238E27FC236}">
                <a16:creationId xmlns:a16="http://schemas.microsoft.com/office/drawing/2014/main" xmlns="" id="{789AAA3A-DDB3-4620-81D8-42F1A9D74FC4}"/>
              </a:ext>
            </a:extLst>
          </p:cNvPr>
          <p:cNvSpPr/>
          <p:nvPr/>
        </p:nvSpPr>
        <p:spPr bwMode="gray">
          <a:xfrm>
            <a:off x="8777412" y="2763300"/>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Huawei Sans" panose="020C0503030203020204" pitchFamily="34" charset="0"/>
                <a:ea typeface="方正兰亭黑简体" panose="02000000000000000000" pitchFamily="2" charset="-122"/>
                <a:sym typeface="Huawei Sans" panose="020C0503030203020204" pitchFamily="34" charset="0"/>
              </a:rPr>
              <a:t>4</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文本框 176">
            <a:extLst>
              <a:ext uri="{FF2B5EF4-FFF2-40B4-BE49-F238E27FC236}">
                <a16:creationId xmlns:a16="http://schemas.microsoft.com/office/drawing/2014/main" xmlns="" id="{D84EE35D-C6D9-4C72-A756-C3E748F02EAB}"/>
              </a:ext>
            </a:extLst>
          </p:cNvPr>
          <p:cNvSpPr txBox="1"/>
          <p:nvPr/>
        </p:nvSpPr>
        <p:spPr bwMode="gray">
          <a:xfrm>
            <a:off x="8891289" y="5441660"/>
            <a:ext cx="404889" cy="29617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noAutofit/>
          </a:bodyPr>
          <a:lstStyle/>
          <a:p>
            <a:pPr defTabSz="685800" fontAlgn="ctr">
              <a:spcBef>
                <a:spcPts val="0"/>
              </a:spcBef>
              <a:spcAft>
                <a:spcPts val="0"/>
              </a:spcAft>
            </a:pPr>
            <a:r>
              <a:rPr lang="en-US" altLang="zh-CN" sz="12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8" name="矩形 177">
            <a:extLst>
              <a:ext uri="{FF2B5EF4-FFF2-40B4-BE49-F238E27FC236}">
                <a16:creationId xmlns:a16="http://schemas.microsoft.com/office/drawing/2014/main" xmlns="" id="{40408AC7-DAB0-49BD-8F99-51B931B5CD11}"/>
              </a:ext>
            </a:extLst>
          </p:cNvPr>
          <p:cNvSpPr/>
          <p:nvPr/>
        </p:nvSpPr>
        <p:spPr bwMode="gray">
          <a:xfrm>
            <a:off x="4370423" y="2733364"/>
            <a:ext cx="2334384" cy="801550"/>
          </a:xfrm>
          <a:prstGeom prst="rect">
            <a:avLst/>
          </a:prstGeom>
          <a:noFill/>
          <a:ln w="9525">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9" name="矩形 178">
            <a:extLst>
              <a:ext uri="{FF2B5EF4-FFF2-40B4-BE49-F238E27FC236}">
                <a16:creationId xmlns:a16="http://schemas.microsoft.com/office/drawing/2014/main" xmlns="" id="{40408AC7-DAB0-49BD-8F99-51B931B5CD11}"/>
              </a:ext>
            </a:extLst>
          </p:cNvPr>
          <p:cNvSpPr/>
          <p:nvPr/>
        </p:nvSpPr>
        <p:spPr bwMode="gray">
          <a:xfrm>
            <a:off x="6757342" y="2743050"/>
            <a:ext cx="1824903" cy="801550"/>
          </a:xfrm>
          <a:prstGeom prst="rect">
            <a:avLst/>
          </a:prstGeom>
          <a:noFill/>
          <a:ln w="9525">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3" name="组合 156"/>
          <p:cNvGrpSpPr>
            <a:grpSpLocks/>
          </p:cNvGrpSpPr>
          <p:nvPr/>
        </p:nvGrpSpPr>
        <p:grpSpPr bwMode="auto">
          <a:xfrm rot="5400000">
            <a:off x="3800786" y="5325274"/>
            <a:ext cx="275328" cy="543973"/>
            <a:chOff x="7150100" y="1062038"/>
            <a:chExt cx="266700" cy="814387"/>
          </a:xfrm>
        </p:grpSpPr>
        <p:sp>
          <p:nvSpPr>
            <p:cNvPr id="174" name="Freeform 991"/>
            <p:cNvSpPr>
              <a:spLocks noEditPoints="1"/>
            </p:cNvSpPr>
            <p:nvPr/>
          </p:nvSpPr>
          <p:spPr bwMode="auto">
            <a:xfrm>
              <a:off x="7159625" y="1171575"/>
              <a:ext cx="247650" cy="581025"/>
            </a:xfrm>
            <a:custGeom>
              <a:avLst/>
              <a:gdLst>
                <a:gd name="T0" fmla="*/ 2147483646 w 160"/>
                <a:gd name="T1" fmla="*/ 2147483646 h 372"/>
                <a:gd name="T2" fmla="*/ 2147483646 w 160"/>
                <a:gd name="T3" fmla="*/ 2147483646 h 372"/>
                <a:gd name="T4" fmla="*/ 0 w 160"/>
                <a:gd name="T5" fmla="*/ 2147483646 h 372"/>
                <a:gd name="T6" fmla="*/ 0 w 160"/>
                <a:gd name="T7" fmla="*/ 2147483646 h 372"/>
                <a:gd name="T8" fmla="*/ 2147483646 w 160"/>
                <a:gd name="T9" fmla="*/ 0 h 372"/>
                <a:gd name="T10" fmla="*/ 2147483646 w 160"/>
                <a:gd name="T11" fmla="*/ 0 h 372"/>
                <a:gd name="T12" fmla="*/ 2147483646 w 160"/>
                <a:gd name="T13" fmla="*/ 2147483646 h 372"/>
                <a:gd name="T14" fmla="*/ 2147483646 w 160"/>
                <a:gd name="T15" fmla="*/ 2147483646 h 372"/>
                <a:gd name="T16" fmla="*/ 2147483646 w 160"/>
                <a:gd name="T17" fmla="*/ 2147483646 h 372"/>
                <a:gd name="T18" fmla="*/ 2147483646 w 160"/>
                <a:gd name="T19" fmla="*/ 2147483646 h 372"/>
                <a:gd name="T20" fmla="*/ 2147483646 w 160"/>
                <a:gd name="T21" fmla="*/ 2147483646 h 372"/>
                <a:gd name="T22" fmla="*/ 2147483646 w 160"/>
                <a:gd name="T23" fmla="*/ 2147483646 h 372"/>
                <a:gd name="T24" fmla="*/ 2147483646 w 160"/>
                <a:gd name="T25" fmla="*/ 2147483646 h 372"/>
                <a:gd name="T26" fmla="*/ 2147483646 w 160"/>
                <a:gd name="T27" fmla="*/ 2147483646 h 372"/>
                <a:gd name="T28" fmla="*/ 2147483646 w 160"/>
                <a:gd name="T29" fmla="*/ 2147483646 h 372"/>
                <a:gd name="T30" fmla="*/ 2147483646 w 160"/>
                <a:gd name="T31" fmla="*/ 2147483646 h 372"/>
                <a:gd name="T32" fmla="*/ 2147483646 w 160"/>
                <a:gd name="T33" fmla="*/ 2147483646 h 372"/>
                <a:gd name="T34" fmla="*/ 2147483646 w 160"/>
                <a:gd name="T35" fmla="*/ 2147483646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0" h="372">
                  <a:moveTo>
                    <a:pt x="129" y="372"/>
                  </a:moveTo>
                  <a:cubicBezTo>
                    <a:pt x="32" y="372"/>
                    <a:pt x="32" y="372"/>
                    <a:pt x="32" y="372"/>
                  </a:cubicBezTo>
                  <a:cubicBezTo>
                    <a:pt x="14" y="372"/>
                    <a:pt x="0" y="358"/>
                    <a:pt x="0" y="340"/>
                  </a:cubicBezTo>
                  <a:cubicBezTo>
                    <a:pt x="0" y="31"/>
                    <a:pt x="0" y="31"/>
                    <a:pt x="0" y="31"/>
                  </a:cubicBezTo>
                  <a:cubicBezTo>
                    <a:pt x="0" y="14"/>
                    <a:pt x="14" y="0"/>
                    <a:pt x="32" y="0"/>
                  </a:cubicBezTo>
                  <a:cubicBezTo>
                    <a:pt x="129" y="0"/>
                    <a:pt x="129" y="0"/>
                    <a:pt x="129" y="0"/>
                  </a:cubicBezTo>
                  <a:cubicBezTo>
                    <a:pt x="146" y="0"/>
                    <a:pt x="160" y="14"/>
                    <a:pt x="160" y="31"/>
                  </a:cubicBezTo>
                  <a:cubicBezTo>
                    <a:pt x="160" y="340"/>
                    <a:pt x="160" y="340"/>
                    <a:pt x="160" y="340"/>
                  </a:cubicBezTo>
                  <a:cubicBezTo>
                    <a:pt x="160" y="358"/>
                    <a:pt x="146" y="372"/>
                    <a:pt x="129" y="372"/>
                  </a:cubicBezTo>
                  <a:close/>
                  <a:moveTo>
                    <a:pt x="32" y="8"/>
                  </a:moveTo>
                  <a:cubicBezTo>
                    <a:pt x="19" y="8"/>
                    <a:pt x="8" y="18"/>
                    <a:pt x="8" y="31"/>
                  </a:cubicBezTo>
                  <a:cubicBezTo>
                    <a:pt x="8" y="340"/>
                    <a:pt x="8" y="340"/>
                    <a:pt x="8" y="340"/>
                  </a:cubicBezTo>
                  <a:cubicBezTo>
                    <a:pt x="8" y="353"/>
                    <a:pt x="19" y="364"/>
                    <a:pt x="32" y="364"/>
                  </a:cubicBezTo>
                  <a:cubicBezTo>
                    <a:pt x="129" y="364"/>
                    <a:pt x="129" y="364"/>
                    <a:pt x="129" y="364"/>
                  </a:cubicBezTo>
                  <a:cubicBezTo>
                    <a:pt x="141" y="364"/>
                    <a:pt x="152" y="353"/>
                    <a:pt x="152" y="340"/>
                  </a:cubicBezTo>
                  <a:cubicBezTo>
                    <a:pt x="152" y="31"/>
                    <a:pt x="152" y="31"/>
                    <a:pt x="152" y="31"/>
                  </a:cubicBezTo>
                  <a:cubicBezTo>
                    <a:pt x="152" y="18"/>
                    <a:pt x="141" y="8"/>
                    <a:pt x="129" y="8"/>
                  </a:cubicBezTo>
                  <a:lnTo>
                    <a:pt x="32" y="8"/>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75" name="Freeform 992"/>
            <p:cNvSpPr>
              <a:spLocks noEditPoints="1"/>
            </p:cNvSpPr>
            <p:nvPr/>
          </p:nvSpPr>
          <p:spPr bwMode="auto">
            <a:xfrm>
              <a:off x="7199313" y="1258888"/>
              <a:ext cx="168275" cy="406400"/>
            </a:xfrm>
            <a:custGeom>
              <a:avLst/>
              <a:gdLst>
                <a:gd name="T0" fmla="*/ 2147483646 w 108"/>
                <a:gd name="T1" fmla="*/ 2147483646 h 260"/>
                <a:gd name="T2" fmla="*/ 2147483646 w 108"/>
                <a:gd name="T3" fmla="*/ 2147483646 h 260"/>
                <a:gd name="T4" fmla="*/ 0 w 108"/>
                <a:gd name="T5" fmla="*/ 2147483646 h 260"/>
                <a:gd name="T6" fmla="*/ 0 w 108"/>
                <a:gd name="T7" fmla="*/ 2147483646 h 260"/>
                <a:gd name="T8" fmla="*/ 2147483646 w 108"/>
                <a:gd name="T9" fmla="*/ 0 h 260"/>
                <a:gd name="T10" fmla="*/ 2147483646 w 108"/>
                <a:gd name="T11" fmla="*/ 0 h 260"/>
                <a:gd name="T12" fmla="*/ 2147483646 w 108"/>
                <a:gd name="T13" fmla="*/ 2147483646 h 260"/>
                <a:gd name="T14" fmla="*/ 2147483646 w 108"/>
                <a:gd name="T15" fmla="*/ 2147483646 h 260"/>
                <a:gd name="T16" fmla="*/ 2147483646 w 108"/>
                <a:gd name="T17" fmla="*/ 2147483646 h 260"/>
                <a:gd name="T18" fmla="*/ 2147483646 w 108"/>
                <a:gd name="T19" fmla="*/ 2147483646 h 260"/>
                <a:gd name="T20" fmla="*/ 2147483646 w 108"/>
                <a:gd name="T21" fmla="*/ 2147483646 h 260"/>
                <a:gd name="T22" fmla="*/ 2147483646 w 108"/>
                <a:gd name="T23" fmla="*/ 2147483646 h 260"/>
                <a:gd name="T24" fmla="*/ 2147483646 w 108"/>
                <a:gd name="T25" fmla="*/ 2147483646 h 260"/>
                <a:gd name="T26" fmla="*/ 2147483646 w 108"/>
                <a:gd name="T27" fmla="*/ 2147483646 h 260"/>
                <a:gd name="T28" fmla="*/ 2147483646 w 108"/>
                <a:gd name="T29" fmla="*/ 2147483646 h 260"/>
                <a:gd name="T30" fmla="*/ 2147483646 w 108"/>
                <a:gd name="T31" fmla="*/ 2147483646 h 260"/>
                <a:gd name="T32" fmla="*/ 2147483646 w 108"/>
                <a:gd name="T33" fmla="*/ 2147483646 h 260"/>
                <a:gd name="T34" fmla="*/ 2147483646 w 108"/>
                <a:gd name="T35" fmla="*/ 2147483646 h 2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8" h="260">
                  <a:moveTo>
                    <a:pt x="87" y="260"/>
                  </a:moveTo>
                  <a:cubicBezTo>
                    <a:pt x="21" y="260"/>
                    <a:pt x="21" y="260"/>
                    <a:pt x="21" y="260"/>
                  </a:cubicBezTo>
                  <a:cubicBezTo>
                    <a:pt x="9" y="260"/>
                    <a:pt x="0" y="250"/>
                    <a:pt x="0" y="239"/>
                  </a:cubicBezTo>
                  <a:cubicBezTo>
                    <a:pt x="0" y="21"/>
                    <a:pt x="0" y="21"/>
                    <a:pt x="0" y="21"/>
                  </a:cubicBezTo>
                  <a:cubicBezTo>
                    <a:pt x="0" y="9"/>
                    <a:pt x="9" y="0"/>
                    <a:pt x="21" y="0"/>
                  </a:cubicBezTo>
                  <a:cubicBezTo>
                    <a:pt x="87" y="0"/>
                    <a:pt x="87" y="0"/>
                    <a:pt x="87" y="0"/>
                  </a:cubicBezTo>
                  <a:cubicBezTo>
                    <a:pt x="99" y="0"/>
                    <a:pt x="108" y="9"/>
                    <a:pt x="108" y="21"/>
                  </a:cubicBezTo>
                  <a:cubicBezTo>
                    <a:pt x="108" y="239"/>
                    <a:pt x="108" y="239"/>
                    <a:pt x="108" y="239"/>
                  </a:cubicBezTo>
                  <a:cubicBezTo>
                    <a:pt x="108" y="250"/>
                    <a:pt x="99" y="260"/>
                    <a:pt x="87" y="260"/>
                  </a:cubicBezTo>
                  <a:close/>
                  <a:moveTo>
                    <a:pt x="21" y="4"/>
                  </a:moveTo>
                  <a:cubicBezTo>
                    <a:pt x="12" y="4"/>
                    <a:pt x="4" y="11"/>
                    <a:pt x="4" y="21"/>
                  </a:cubicBezTo>
                  <a:cubicBezTo>
                    <a:pt x="4" y="239"/>
                    <a:pt x="4" y="239"/>
                    <a:pt x="4" y="239"/>
                  </a:cubicBezTo>
                  <a:cubicBezTo>
                    <a:pt x="4" y="248"/>
                    <a:pt x="12" y="256"/>
                    <a:pt x="21" y="256"/>
                  </a:cubicBezTo>
                  <a:cubicBezTo>
                    <a:pt x="87" y="256"/>
                    <a:pt x="87" y="256"/>
                    <a:pt x="87" y="256"/>
                  </a:cubicBezTo>
                  <a:cubicBezTo>
                    <a:pt x="96" y="256"/>
                    <a:pt x="104" y="248"/>
                    <a:pt x="104" y="239"/>
                  </a:cubicBezTo>
                  <a:cubicBezTo>
                    <a:pt x="104" y="21"/>
                    <a:pt x="104" y="21"/>
                    <a:pt x="104" y="21"/>
                  </a:cubicBezTo>
                  <a:cubicBezTo>
                    <a:pt x="104" y="11"/>
                    <a:pt x="96" y="4"/>
                    <a:pt x="87" y="4"/>
                  </a:cubicBezTo>
                  <a:lnTo>
                    <a:pt x="21" y="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76" name="Freeform 993"/>
            <p:cNvSpPr>
              <a:spLocks/>
            </p:cNvSpPr>
            <p:nvPr/>
          </p:nvSpPr>
          <p:spPr bwMode="auto">
            <a:xfrm>
              <a:off x="7243763" y="1611313"/>
              <a:ext cx="77788" cy="12700"/>
            </a:xfrm>
            <a:custGeom>
              <a:avLst/>
              <a:gdLst>
                <a:gd name="T0" fmla="*/ 2147483646 w 50"/>
                <a:gd name="T1" fmla="*/ 2147483646 h 8"/>
                <a:gd name="T2" fmla="*/ 2147483646 w 50"/>
                <a:gd name="T3" fmla="*/ 2147483646 h 8"/>
                <a:gd name="T4" fmla="*/ 0 w 50"/>
                <a:gd name="T5" fmla="*/ 2147483646 h 8"/>
                <a:gd name="T6" fmla="*/ 2147483646 w 50"/>
                <a:gd name="T7" fmla="*/ 0 h 8"/>
                <a:gd name="T8" fmla="*/ 2147483646 w 50"/>
                <a:gd name="T9" fmla="*/ 0 h 8"/>
                <a:gd name="T10" fmla="*/ 2147483646 w 50"/>
                <a:gd name="T11" fmla="*/ 2147483646 h 8"/>
                <a:gd name="T12" fmla="*/ 2147483646 w 50"/>
                <a:gd name="T13" fmla="*/ 2147483646 h 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8">
                  <a:moveTo>
                    <a:pt x="46" y="8"/>
                  </a:moveTo>
                  <a:cubicBezTo>
                    <a:pt x="4" y="8"/>
                    <a:pt x="4" y="8"/>
                    <a:pt x="4" y="8"/>
                  </a:cubicBezTo>
                  <a:cubicBezTo>
                    <a:pt x="2" y="8"/>
                    <a:pt x="0" y="6"/>
                    <a:pt x="0" y="4"/>
                  </a:cubicBezTo>
                  <a:cubicBezTo>
                    <a:pt x="0" y="2"/>
                    <a:pt x="2" y="0"/>
                    <a:pt x="4" y="0"/>
                  </a:cubicBezTo>
                  <a:cubicBezTo>
                    <a:pt x="46" y="0"/>
                    <a:pt x="46" y="0"/>
                    <a:pt x="46" y="0"/>
                  </a:cubicBezTo>
                  <a:cubicBezTo>
                    <a:pt x="48" y="0"/>
                    <a:pt x="50" y="2"/>
                    <a:pt x="50" y="4"/>
                  </a:cubicBezTo>
                  <a:cubicBezTo>
                    <a:pt x="50" y="6"/>
                    <a:pt x="48" y="8"/>
                    <a:pt x="46" y="8"/>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81" name="Freeform 994"/>
            <p:cNvSpPr>
              <a:spLocks noEditPoints="1"/>
            </p:cNvSpPr>
            <p:nvPr/>
          </p:nvSpPr>
          <p:spPr bwMode="auto">
            <a:xfrm>
              <a:off x="7231063" y="1401763"/>
              <a:ext cx="104775" cy="119062"/>
            </a:xfrm>
            <a:custGeom>
              <a:avLst/>
              <a:gdLst>
                <a:gd name="T0" fmla="*/ 2147483646 w 68"/>
                <a:gd name="T1" fmla="*/ 2147483646 h 76"/>
                <a:gd name="T2" fmla="*/ 2147483646 w 68"/>
                <a:gd name="T3" fmla="*/ 2147483646 h 76"/>
                <a:gd name="T4" fmla="*/ 2147483646 w 68"/>
                <a:gd name="T5" fmla="*/ 2147483646 h 76"/>
                <a:gd name="T6" fmla="*/ 2147483646 w 68"/>
                <a:gd name="T7" fmla="*/ 2147483646 h 76"/>
                <a:gd name="T8" fmla="*/ 2147483646 w 68"/>
                <a:gd name="T9" fmla="*/ 2147483646 h 76"/>
                <a:gd name="T10" fmla="*/ 2147483646 w 68"/>
                <a:gd name="T11" fmla="*/ 2147483646 h 76"/>
                <a:gd name="T12" fmla="*/ 2147483646 w 68"/>
                <a:gd name="T13" fmla="*/ 2147483646 h 76"/>
                <a:gd name="T14" fmla="*/ 2147483646 w 68"/>
                <a:gd name="T15" fmla="*/ 2147483646 h 76"/>
                <a:gd name="T16" fmla="*/ 2147483646 w 68"/>
                <a:gd name="T17" fmla="*/ 2147483646 h 76"/>
                <a:gd name="T18" fmla="*/ 2147483646 w 68"/>
                <a:gd name="T19" fmla="*/ 2147483646 h 76"/>
                <a:gd name="T20" fmla="*/ 2147483646 w 68"/>
                <a:gd name="T21" fmla="*/ 2147483646 h 76"/>
                <a:gd name="T22" fmla="*/ 2147483646 w 68"/>
                <a:gd name="T23" fmla="*/ 2147483646 h 76"/>
                <a:gd name="T24" fmla="*/ 2147483646 w 68"/>
                <a:gd name="T25" fmla="*/ 2147483646 h 76"/>
                <a:gd name="T26" fmla="*/ 2147483646 w 68"/>
                <a:gd name="T27" fmla="*/ 2147483646 h 76"/>
                <a:gd name="T28" fmla="*/ 2147483646 w 68"/>
                <a:gd name="T29" fmla="*/ 2147483646 h 76"/>
                <a:gd name="T30" fmla="*/ 2147483646 w 68"/>
                <a:gd name="T31" fmla="*/ 2147483646 h 76"/>
                <a:gd name="T32" fmla="*/ 2147483646 w 68"/>
                <a:gd name="T33" fmla="*/ 2147483646 h 76"/>
                <a:gd name="T34" fmla="*/ 2147483646 w 68"/>
                <a:gd name="T35" fmla="*/ 2147483646 h 76"/>
                <a:gd name="T36" fmla="*/ 2147483646 w 68"/>
                <a:gd name="T37" fmla="*/ 2147483646 h 76"/>
                <a:gd name="T38" fmla="*/ 2147483646 w 68"/>
                <a:gd name="T39" fmla="*/ 2147483646 h 76"/>
                <a:gd name="T40" fmla="*/ 2147483646 w 68"/>
                <a:gd name="T41" fmla="*/ 2147483646 h 76"/>
                <a:gd name="T42" fmla="*/ 2147483646 w 68"/>
                <a:gd name="T43" fmla="*/ 2147483646 h 76"/>
                <a:gd name="T44" fmla="*/ 2147483646 w 68"/>
                <a:gd name="T45" fmla="*/ 2147483646 h 76"/>
                <a:gd name="T46" fmla="*/ 2147483646 w 68"/>
                <a:gd name="T47" fmla="*/ 2147483646 h 76"/>
                <a:gd name="T48" fmla="*/ 2147483646 w 68"/>
                <a:gd name="T49" fmla="*/ 2147483646 h 76"/>
                <a:gd name="T50" fmla="*/ 2147483646 w 68"/>
                <a:gd name="T51" fmla="*/ 2147483646 h 76"/>
                <a:gd name="T52" fmla="*/ 2147483646 w 68"/>
                <a:gd name="T53" fmla="*/ 2147483646 h 76"/>
                <a:gd name="T54" fmla="*/ 2147483646 w 68"/>
                <a:gd name="T55" fmla="*/ 2147483646 h 76"/>
                <a:gd name="T56" fmla="*/ 2147483646 w 68"/>
                <a:gd name="T57" fmla="*/ 2147483646 h 76"/>
                <a:gd name="T58" fmla="*/ 2147483646 w 68"/>
                <a:gd name="T59" fmla="*/ 2147483646 h 76"/>
                <a:gd name="T60" fmla="*/ 2147483646 w 68"/>
                <a:gd name="T61" fmla="*/ 2147483646 h 76"/>
                <a:gd name="T62" fmla="*/ 2147483646 w 68"/>
                <a:gd name="T63" fmla="*/ 2147483646 h 76"/>
                <a:gd name="T64" fmla="*/ 2147483646 w 68"/>
                <a:gd name="T65" fmla="*/ 2147483646 h 76"/>
                <a:gd name="T66" fmla="*/ 2147483646 w 68"/>
                <a:gd name="T67" fmla="*/ 2147483646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8" h="76">
                  <a:moveTo>
                    <a:pt x="63" y="35"/>
                  </a:moveTo>
                  <a:cubicBezTo>
                    <a:pt x="63" y="35"/>
                    <a:pt x="52" y="37"/>
                    <a:pt x="49" y="38"/>
                  </a:cubicBezTo>
                  <a:cubicBezTo>
                    <a:pt x="46" y="39"/>
                    <a:pt x="42" y="33"/>
                    <a:pt x="41" y="33"/>
                  </a:cubicBezTo>
                  <a:cubicBezTo>
                    <a:pt x="41" y="35"/>
                    <a:pt x="39" y="40"/>
                    <a:pt x="37" y="44"/>
                  </a:cubicBezTo>
                  <a:cubicBezTo>
                    <a:pt x="39" y="44"/>
                    <a:pt x="49" y="47"/>
                    <a:pt x="50" y="48"/>
                  </a:cubicBezTo>
                  <a:cubicBezTo>
                    <a:pt x="50" y="50"/>
                    <a:pt x="55" y="69"/>
                    <a:pt x="55" y="69"/>
                  </a:cubicBezTo>
                  <a:cubicBezTo>
                    <a:pt x="55" y="69"/>
                    <a:pt x="56" y="73"/>
                    <a:pt x="51" y="75"/>
                  </a:cubicBezTo>
                  <a:cubicBezTo>
                    <a:pt x="45" y="76"/>
                    <a:pt x="45" y="72"/>
                    <a:pt x="45" y="72"/>
                  </a:cubicBezTo>
                  <a:cubicBezTo>
                    <a:pt x="45" y="72"/>
                    <a:pt x="41" y="57"/>
                    <a:pt x="41" y="56"/>
                  </a:cubicBezTo>
                  <a:cubicBezTo>
                    <a:pt x="41" y="55"/>
                    <a:pt x="33" y="54"/>
                    <a:pt x="32" y="54"/>
                  </a:cubicBezTo>
                  <a:cubicBezTo>
                    <a:pt x="30" y="55"/>
                    <a:pt x="27" y="67"/>
                    <a:pt x="23" y="68"/>
                  </a:cubicBezTo>
                  <a:cubicBezTo>
                    <a:pt x="19" y="69"/>
                    <a:pt x="5" y="61"/>
                    <a:pt x="5" y="61"/>
                  </a:cubicBezTo>
                  <a:cubicBezTo>
                    <a:pt x="5" y="61"/>
                    <a:pt x="0" y="60"/>
                    <a:pt x="1" y="55"/>
                  </a:cubicBezTo>
                  <a:cubicBezTo>
                    <a:pt x="2" y="50"/>
                    <a:pt x="7" y="51"/>
                    <a:pt x="7" y="51"/>
                  </a:cubicBezTo>
                  <a:cubicBezTo>
                    <a:pt x="7" y="51"/>
                    <a:pt x="17" y="56"/>
                    <a:pt x="18" y="56"/>
                  </a:cubicBezTo>
                  <a:cubicBezTo>
                    <a:pt x="19" y="55"/>
                    <a:pt x="20" y="52"/>
                    <a:pt x="21" y="48"/>
                  </a:cubicBezTo>
                  <a:cubicBezTo>
                    <a:pt x="21" y="47"/>
                    <a:pt x="25" y="37"/>
                    <a:pt x="25" y="37"/>
                  </a:cubicBezTo>
                  <a:cubicBezTo>
                    <a:pt x="25" y="37"/>
                    <a:pt x="27" y="30"/>
                    <a:pt x="26" y="29"/>
                  </a:cubicBezTo>
                  <a:cubicBezTo>
                    <a:pt x="25" y="29"/>
                    <a:pt x="24" y="30"/>
                    <a:pt x="23" y="31"/>
                  </a:cubicBezTo>
                  <a:cubicBezTo>
                    <a:pt x="23" y="32"/>
                    <a:pt x="20" y="36"/>
                    <a:pt x="16" y="42"/>
                  </a:cubicBezTo>
                  <a:cubicBezTo>
                    <a:pt x="12" y="47"/>
                    <a:pt x="6" y="42"/>
                    <a:pt x="9" y="38"/>
                  </a:cubicBezTo>
                  <a:cubicBezTo>
                    <a:pt x="11" y="34"/>
                    <a:pt x="17" y="23"/>
                    <a:pt x="21" y="21"/>
                  </a:cubicBezTo>
                  <a:cubicBezTo>
                    <a:pt x="25" y="19"/>
                    <a:pt x="33" y="17"/>
                    <a:pt x="39" y="19"/>
                  </a:cubicBezTo>
                  <a:cubicBezTo>
                    <a:pt x="45" y="20"/>
                    <a:pt x="50" y="28"/>
                    <a:pt x="51" y="28"/>
                  </a:cubicBezTo>
                  <a:cubicBezTo>
                    <a:pt x="52" y="29"/>
                    <a:pt x="61" y="27"/>
                    <a:pt x="61" y="27"/>
                  </a:cubicBezTo>
                  <a:cubicBezTo>
                    <a:pt x="61" y="27"/>
                    <a:pt x="66" y="25"/>
                    <a:pt x="67" y="29"/>
                  </a:cubicBezTo>
                  <a:cubicBezTo>
                    <a:pt x="68" y="34"/>
                    <a:pt x="63" y="35"/>
                    <a:pt x="63" y="35"/>
                  </a:cubicBezTo>
                  <a:close/>
                  <a:moveTo>
                    <a:pt x="43" y="17"/>
                  </a:moveTo>
                  <a:cubicBezTo>
                    <a:pt x="39" y="18"/>
                    <a:pt x="34" y="15"/>
                    <a:pt x="33" y="11"/>
                  </a:cubicBezTo>
                  <a:cubicBezTo>
                    <a:pt x="32" y="7"/>
                    <a:pt x="34" y="2"/>
                    <a:pt x="39" y="1"/>
                  </a:cubicBezTo>
                  <a:cubicBezTo>
                    <a:pt x="43" y="0"/>
                    <a:pt x="48" y="2"/>
                    <a:pt x="49" y="7"/>
                  </a:cubicBezTo>
                  <a:cubicBezTo>
                    <a:pt x="50" y="11"/>
                    <a:pt x="47" y="16"/>
                    <a:pt x="43" y="17"/>
                  </a:cubicBezTo>
                  <a:close/>
                  <a:moveTo>
                    <a:pt x="43" y="17"/>
                  </a:moveTo>
                  <a:cubicBezTo>
                    <a:pt x="43" y="17"/>
                    <a:pt x="43" y="17"/>
                    <a:pt x="43" y="17"/>
                  </a:cubicBezTo>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82" name="Freeform 995"/>
            <p:cNvSpPr>
              <a:spLocks noEditPoints="1"/>
            </p:cNvSpPr>
            <p:nvPr/>
          </p:nvSpPr>
          <p:spPr bwMode="auto">
            <a:xfrm>
              <a:off x="7173913" y="1062038"/>
              <a:ext cx="217488" cy="122237"/>
            </a:xfrm>
            <a:custGeom>
              <a:avLst/>
              <a:gdLst>
                <a:gd name="T0" fmla="*/ 2147483646 w 140"/>
                <a:gd name="T1" fmla="*/ 2147483646 h 78"/>
                <a:gd name="T2" fmla="*/ 0 w 140"/>
                <a:gd name="T3" fmla="*/ 2147483646 h 78"/>
                <a:gd name="T4" fmla="*/ 2147483646 w 140"/>
                <a:gd name="T5" fmla="*/ 2147483646 h 78"/>
                <a:gd name="T6" fmla="*/ 2147483646 w 140"/>
                <a:gd name="T7" fmla="*/ 0 h 78"/>
                <a:gd name="T8" fmla="*/ 2147483646 w 140"/>
                <a:gd name="T9" fmla="*/ 0 h 78"/>
                <a:gd name="T10" fmla="*/ 2147483646 w 140"/>
                <a:gd name="T11" fmla="*/ 2147483646 h 78"/>
                <a:gd name="T12" fmla="*/ 2147483646 w 140"/>
                <a:gd name="T13" fmla="*/ 2147483646 h 78"/>
                <a:gd name="T14" fmla="*/ 2147483646 w 140"/>
                <a:gd name="T15" fmla="*/ 2147483646 h 78"/>
                <a:gd name="T16" fmla="*/ 2147483646 w 140"/>
                <a:gd name="T17" fmla="*/ 2147483646 h 78"/>
                <a:gd name="T18" fmla="*/ 2147483646 w 140"/>
                <a:gd name="T19" fmla="*/ 2147483646 h 78"/>
                <a:gd name="T20" fmla="*/ 2147483646 w 140"/>
                <a:gd name="T21" fmla="*/ 2147483646 h 78"/>
                <a:gd name="T22" fmla="*/ 2147483646 w 140"/>
                <a:gd name="T23" fmla="*/ 2147483646 h 78"/>
                <a:gd name="T24" fmla="*/ 2147483646 w 140"/>
                <a:gd name="T25" fmla="*/ 2147483646 h 78"/>
                <a:gd name="T26" fmla="*/ 2147483646 w 140"/>
                <a:gd name="T27" fmla="*/ 2147483646 h 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0" h="78">
                  <a:moveTo>
                    <a:pt x="140" y="78"/>
                  </a:moveTo>
                  <a:cubicBezTo>
                    <a:pt x="0" y="78"/>
                    <a:pt x="0" y="78"/>
                    <a:pt x="0" y="78"/>
                  </a:cubicBezTo>
                  <a:cubicBezTo>
                    <a:pt x="16" y="18"/>
                    <a:pt x="16" y="18"/>
                    <a:pt x="16" y="18"/>
                  </a:cubicBezTo>
                  <a:cubicBezTo>
                    <a:pt x="18" y="7"/>
                    <a:pt x="28" y="0"/>
                    <a:pt x="40" y="0"/>
                  </a:cubicBezTo>
                  <a:cubicBezTo>
                    <a:pt x="100" y="0"/>
                    <a:pt x="100" y="0"/>
                    <a:pt x="100" y="0"/>
                  </a:cubicBezTo>
                  <a:cubicBezTo>
                    <a:pt x="112" y="0"/>
                    <a:pt x="122" y="7"/>
                    <a:pt x="125" y="18"/>
                  </a:cubicBezTo>
                  <a:lnTo>
                    <a:pt x="140" y="78"/>
                  </a:lnTo>
                  <a:close/>
                  <a:moveTo>
                    <a:pt x="11" y="70"/>
                  </a:moveTo>
                  <a:cubicBezTo>
                    <a:pt x="129" y="70"/>
                    <a:pt x="129" y="70"/>
                    <a:pt x="129" y="70"/>
                  </a:cubicBezTo>
                  <a:cubicBezTo>
                    <a:pt x="117" y="20"/>
                    <a:pt x="117" y="20"/>
                    <a:pt x="117" y="20"/>
                  </a:cubicBezTo>
                  <a:cubicBezTo>
                    <a:pt x="115" y="13"/>
                    <a:pt x="108" y="8"/>
                    <a:pt x="100" y="8"/>
                  </a:cubicBezTo>
                  <a:cubicBezTo>
                    <a:pt x="40" y="8"/>
                    <a:pt x="40" y="8"/>
                    <a:pt x="40" y="8"/>
                  </a:cubicBezTo>
                  <a:cubicBezTo>
                    <a:pt x="32" y="8"/>
                    <a:pt x="25" y="13"/>
                    <a:pt x="23" y="20"/>
                  </a:cubicBezTo>
                  <a:lnTo>
                    <a:pt x="11" y="70"/>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83" name="Freeform 996"/>
            <p:cNvSpPr>
              <a:spLocks/>
            </p:cNvSpPr>
            <p:nvPr/>
          </p:nvSpPr>
          <p:spPr bwMode="auto">
            <a:xfrm>
              <a:off x="7173913" y="1739900"/>
              <a:ext cx="217488" cy="119062"/>
            </a:xfrm>
            <a:custGeom>
              <a:avLst/>
              <a:gdLst>
                <a:gd name="T0" fmla="*/ 2147483646 w 140"/>
                <a:gd name="T1" fmla="*/ 2147483646 h 77"/>
                <a:gd name="T2" fmla="*/ 2147483646 w 140"/>
                <a:gd name="T3" fmla="*/ 2147483646 h 77"/>
                <a:gd name="T4" fmla="*/ 2147483646 w 140"/>
                <a:gd name="T5" fmla="*/ 2147483646 h 77"/>
                <a:gd name="T6" fmla="*/ 2147483646 w 140"/>
                <a:gd name="T7" fmla="*/ 2147483646 h 77"/>
                <a:gd name="T8" fmla="*/ 2147483646 w 140"/>
                <a:gd name="T9" fmla="*/ 2147483646 h 77"/>
                <a:gd name="T10" fmla="*/ 2147483646 w 140"/>
                <a:gd name="T11" fmla="*/ 2147483646 h 77"/>
                <a:gd name="T12" fmla="*/ 2147483646 w 140"/>
                <a:gd name="T13" fmla="*/ 2147483646 h 77"/>
                <a:gd name="T14" fmla="*/ 2147483646 w 140"/>
                <a:gd name="T15" fmla="*/ 2147483646 h 77"/>
                <a:gd name="T16" fmla="*/ 2147483646 w 140"/>
                <a:gd name="T17" fmla="*/ 2147483646 h 77"/>
                <a:gd name="T18" fmla="*/ 0 w 140"/>
                <a:gd name="T19" fmla="*/ 0 h 77"/>
                <a:gd name="T20" fmla="*/ 2147483646 w 140"/>
                <a:gd name="T21" fmla="*/ 0 h 77"/>
                <a:gd name="T22" fmla="*/ 2147483646 w 140"/>
                <a:gd name="T23" fmla="*/ 2147483646 h 77"/>
                <a:gd name="T24" fmla="*/ 2147483646 w 140"/>
                <a:gd name="T25" fmla="*/ 2147483646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0" h="77">
                  <a:moveTo>
                    <a:pt x="100" y="77"/>
                  </a:moveTo>
                  <a:cubicBezTo>
                    <a:pt x="100" y="69"/>
                    <a:pt x="100" y="69"/>
                    <a:pt x="100" y="69"/>
                  </a:cubicBezTo>
                  <a:cubicBezTo>
                    <a:pt x="108" y="69"/>
                    <a:pt x="115" y="65"/>
                    <a:pt x="117" y="58"/>
                  </a:cubicBezTo>
                  <a:cubicBezTo>
                    <a:pt x="129" y="8"/>
                    <a:pt x="129" y="8"/>
                    <a:pt x="129" y="8"/>
                  </a:cubicBezTo>
                  <a:cubicBezTo>
                    <a:pt x="11" y="8"/>
                    <a:pt x="11" y="8"/>
                    <a:pt x="11" y="8"/>
                  </a:cubicBezTo>
                  <a:cubicBezTo>
                    <a:pt x="23" y="58"/>
                    <a:pt x="23" y="58"/>
                    <a:pt x="23" y="58"/>
                  </a:cubicBezTo>
                  <a:cubicBezTo>
                    <a:pt x="25" y="65"/>
                    <a:pt x="32" y="69"/>
                    <a:pt x="40" y="69"/>
                  </a:cubicBezTo>
                  <a:cubicBezTo>
                    <a:pt x="40" y="77"/>
                    <a:pt x="40" y="77"/>
                    <a:pt x="40" y="77"/>
                  </a:cubicBezTo>
                  <a:cubicBezTo>
                    <a:pt x="28" y="77"/>
                    <a:pt x="18" y="70"/>
                    <a:pt x="16" y="59"/>
                  </a:cubicBezTo>
                  <a:cubicBezTo>
                    <a:pt x="0" y="0"/>
                    <a:pt x="0" y="0"/>
                    <a:pt x="0" y="0"/>
                  </a:cubicBezTo>
                  <a:cubicBezTo>
                    <a:pt x="140" y="0"/>
                    <a:pt x="140" y="0"/>
                    <a:pt x="140" y="0"/>
                  </a:cubicBezTo>
                  <a:cubicBezTo>
                    <a:pt x="125" y="59"/>
                    <a:pt x="125" y="59"/>
                    <a:pt x="125" y="59"/>
                  </a:cubicBezTo>
                  <a:cubicBezTo>
                    <a:pt x="122" y="70"/>
                    <a:pt x="112" y="77"/>
                    <a:pt x="100" y="77"/>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84" name="Freeform 997"/>
            <p:cNvSpPr>
              <a:spLocks/>
            </p:cNvSpPr>
            <p:nvPr/>
          </p:nvSpPr>
          <p:spPr bwMode="auto">
            <a:xfrm>
              <a:off x="7397750" y="1527175"/>
              <a:ext cx="19050" cy="80962"/>
            </a:xfrm>
            <a:custGeom>
              <a:avLst/>
              <a:gdLst>
                <a:gd name="T0" fmla="*/ 2147483646 w 12"/>
                <a:gd name="T1" fmla="*/ 2147483646 h 52"/>
                <a:gd name="T2" fmla="*/ 0 w 12"/>
                <a:gd name="T3" fmla="*/ 2147483646 h 52"/>
                <a:gd name="T4" fmla="*/ 0 w 12"/>
                <a:gd name="T5" fmla="*/ 2147483646 h 52"/>
                <a:gd name="T6" fmla="*/ 2147483646 w 12"/>
                <a:gd name="T7" fmla="*/ 0 h 52"/>
                <a:gd name="T8" fmla="*/ 2147483646 w 12"/>
                <a:gd name="T9" fmla="*/ 2147483646 h 52"/>
                <a:gd name="T10" fmla="*/ 2147483646 w 12"/>
                <a:gd name="T11" fmla="*/ 2147483646 h 52"/>
                <a:gd name="T12" fmla="*/ 2147483646 w 12"/>
                <a:gd name="T13" fmla="*/ 2147483646 h 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 h="52">
                  <a:moveTo>
                    <a:pt x="6" y="52"/>
                  </a:moveTo>
                  <a:cubicBezTo>
                    <a:pt x="3" y="52"/>
                    <a:pt x="0" y="50"/>
                    <a:pt x="0" y="46"/>
                  </a:cubicBezTo>
                  <a:cubicBezTo>
                    <a:pt x="0" y="6"/>
                    <a:pt x="0" y="6"/>
                    <a:pt x="0" y="6"/>
                  </a:cubicBezTo>
                  <a:cubicBezTo>
                    <a:pt x="0" y="3"/>
                    <a:pt x="3" y="0"/>
                    <a:pt x="6" y="0"/>
                  </a:cubicBezTo>
                  <a:cubicBezTo>
                    <a:pt x="9" y="0"/>
                    <a:pt x="12" y="3"/>
                    <a:pt x="12" y="6"/>
                  </a:cubicBezTo>
                  <a:cubicBezTo>
                    <a:pt x="12" y="46"/>
                    <a:pt x="12" y="46"/>
                    <a:pt x="12" y="46"/>
                  </a:cubicBezTo>
                  <a:cubicBezTo>
                    <a:pt x="12" y="50"/>
                    <a:pt x="9" y="52"/>
                    <a:pt x="6" y="5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85" name="Freeform 998"/>
            <p:cNvSpPr>
              <a:spLocks/>
            </p:cNvSpPr>
            <p:nvPr/>
          </p:nvSpPr>
          <p:spPr bwMode="auto">
            <a:xfrm>
              <a:off x="7150100" y="1527175"/>
              <a:ext cx="19050" cy="80962"/>
            </a:xfrm>
            <a:custGeom>
              <a:avLst/>
              <a:gdLst>
                <a:gd name="T0" fmla="*/ 2147483646 w 12"/>
                <a:gd name="T1" fmla="*/ 2147483646 h 52"/>
                <a:gd name="T2" fmla="*/ 0 w 12"/>
                <a:gd name="T3" fmla="*/ 2147483646 h 52"/>
                <a:gd name="T4" fmla="*/ 0 w 12"/>
                <a:gd name="T5" fmla="*/ 2147483646 h 52"/>
                <a:gd name="T6" fmla="*/ 2147483646 w 12"/>
                <a:gd name="T7" fmla="*/ 0 h 52"/>
                <a:gd name="T8" fmla="*/ 2147483646 w 12"/>
                <a:gd name="T9" fmla="*/ 2147483646 h 52"/>
                <a:gd name="T10" fmla="*/ 2147483646 w 12"/>
                <a:gd name="T11" fmla="*/ 2147483646 h 52"/>
                <a:gd name="T12" fmla="*/ 2147483646 w 12"/>
                <a:gd name="T13" fmla="*/ 2147483646 h 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 h="52">
                  <a:moveTo>
                    <a:pt x="6" y="52"/>
                  </a:moveTo>
                  <a:cubicBezTo>
                    <a:pt x="3" y="52"/>
                    <a:pt x="0" y="50"/>
                    <a:pt x="0" y="46"/>
                  </a:cubicBezTo>
                  <a:cubicBezTo>
                    <a:pt x="0" y="6"/>
                    <a:pt x="0" y="6"/>
                    <a:pt x="0" y="6"/>
                  </a:cubicBezTo>
                  <a:cubicBezTo>
                    <a:pt x="0" y="3"/>
                    <a:pt x="3" y="0"/>
                    <a:pt x="6" y="0"/>
                  </a:cubicBezTo>
                  <a:cubicBezTo>
                    <a:pt x="10" y="0"/>
                    <a:pt x="12" y="3"/>
                    <a:pt x="12" y="6"/>
                  </a:cubicBezTo>
                  <a:cubicBezTo>
                    <a:pt x="12" y="46"/>
                    <a:pt x="12" y="46"/>
                    <a:pt x="12" y="46"/>
                  </a:cubicBezTo>
                  <a:cubicBezTo>
                    <a:pt x="12" y="50"/>
                    <a:pt x="10" y="52"/>
                    <a:pt x="6" y="5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86" name="Oval 1037"/>
            <p:cNvSpPr>
              <a:spLocks noChangeArrowheads="1"/>
            </p:cNvSpPr>
            <p:nvPr/>
          </p:nvSpPr>
          <p:spPr bwMode="auto">
            <a:xfrm>
              <a:off x="7226300" y="1831975"/>
              <a:ext cx="42863"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sp>
          <p:nvSpPr>
            <p:cNvPr id="187" name="Oval 1038"/>
            <p:cNvSpPr>
              <a:spLocks noChangeArrowheads="1"/>
            </p:cNvSpPr>
            <p:nvPr/>
          </p:nvSpPr>
          <p:spPr bwMode="auto">
            <a:xfrm>
              <a:off x="7297738" y="1831975"/>
              <a:ext cx="42863"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grpSp>
      <p:grpSp>
        <p:nvGrpSpPr>
          <p:cNvPr id="188" name="组合 116"/>
          <p:cNvGrpSpPr>
            <a:grpSpLocks/>
          </p:cNvGrpSpPr>
          <p:nvPr/>
        </p:nvGrpSpPr>
        <p:grpSpPr bwMode="auto">
          <a:xfrm rot="5400000">
            <a:off x="4571130" y="5351497"/>
            <a:ext cx="352466" cy="540994"/>
            <a:chOff x="862013" y="1049338"/>
            <a:chExt cx="546100" cy="838199"/>
          </a:xfrm>
        </p:grpSpPr>
        <p:sp>
          <p:nvSpPr>
            <p:cNvPr id="189" name="Freeform 1016"/>
            <p:cNvSpPr>
              <a:spLocks noEditPoints="1"/>
            </p:cNvSpPr>
            <p:nvPr/>
          </p:nvSpPr>
          <p:spPr bwMode="auto">
            <a:xfrm>
              <a:off x="912813" y="1244600"/>
              <a:ext cx="433388" cy="434975"/>
            </a:xfrm>
            <a:custGeom>
              <a:avLst/>
              <a:gdLst>
                <a:gd name="T0" fmla="*/ 2147483646 w 279"/>
                <a:gd name="T1" fmla="*/ 2147483646 h 279"/>
                <a:gd name="T2" fmla="*/ 0 w 279"/>
                <a:gd name="T3" fmla="*/ 2147483646 h 279"/>
                <a:gd name="T4" fmla="*/ 2147483646 w 279"/>
                <a:gd name="T5" fmla="*/ 0 h 279"/>
                <a:gd name="T6" fmla="*/ 2147483646 w 279"/>
                <a:gd name="T7" fmla="*/ 2147483646 h 279"/>
                <a:gd name="T8" fmla="*/ 2147483646 w 279"/>
                <a:gd name="T9" fmla="*/ 2147483646 h 279"/>
                <a:gd name="T10" fmla="*/ 2147483646 w 279"/>
                <a:gd name="T11" fmla="*/ 2147483646 h 279"/>
                <a:gd name="T12" fmla="*/ 2147483646 w 279"/>
                <a:gd name="T13" fmla="*/ 2147483646 h 279"/>
                <a:gd name="T14" fmla="*/ 2147483646 w 279"/>
                <a:gd name="T15" fmla="*/ 2147483646 h 279"/>
                <a:gd name="T16" fmla="*/ 2147483646 w 279"/>
                <a:gd name="T17" fmla="*/ 2147483646 h 279"/>
                <a:gd name="T18" fmla="*/ 2147483646 w 279"/>
                <a:gd name="T19" fmla="*/ 2147483646 h 2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close/>
                  <a:moveTo>
                    <a:pt x="140" y="4"/>
                  </a:moveTo>
                  <a:cubicBezTo>
                    <a:pt x="65" y="4"/>
                    <a:pt x="4" y="65"/>
                    <a:pt x="4" y="140"/>
                  </a:cubicBezTo>
                  <a:cubicBezTo>
                    <a:pt x="4" y="215"/>
                    <a:pt x="65" y="275"/>
                    <a:pt x="140" y="275"/>
                  </a:cubicBezTo>
                  <a:cubicBezTo>
                    <a:pt x="215" y="275"/>
                    <a:pt x="275" y="215"/>
                    <a:pt x="275" y="140"/>
                  </a:cubicBezTo>
                  <a:cubicBezTo>
                    <a:pt x="275" y="65"/>
                    <a:pt x="215" y="4"/>
                    <a:pt x="140" y="4"/>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90" name="Freeform 1017"/>
            <p:cNvSpPr>
              <a:spLocks noEditPoints="1"/>
            </p:cNvSpPr>
            <p:nvPr/>
          </p:nvSpPr>
          <p:spPr bwMode="auto">
            <a:xfrm>
              <a:off x="862013" y="1193800"/>
              <a:ext cx="536575" cy="539750"/>
            </a:xfrm>
            <a:custGeom>
              <a:avLst/>
              <a:gdLst>
                <a:gd name="T0" fmla="*/ 2147483646 w 346"/>
                <a:gd name="T1" fmla="*/ 2147483646 h 346"/>
                <a:gd name="T2" fmla="*/ 0 w 346"/>
                <a:gd name="T3" fmla="*/ 2147483646 h 346"/>
                <a:gd name="T4" fmla="*/ 2147483646 w 346"/>
                <a:gd name="T5" fmla="*/ 0 h 346"/>
                <a:gd name="T6" fmla="*/ 2147483646 w 346"/>
                <a:gd name="T7" fmla="*/ 2147483646 h 346"/>
                <a:gd name="T8" fmla="*/ 2147483646 w 346"/>
                <a:gd name="T9" fmla="*/ 2147483646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6" h="346">
                  <a:moveTo>
                    <a:pt x="173" y="346"/>
                  </a:moveTo>
                  <a:cubicBezTo>
                    <a:pt x="77" y="346"/>
                    <a:pt x="0" y="268"/>
                    <a:pt x="0" y="173"/>
                  </a:cubicBezTo>
                  <a:cubicBezTo>
                    <a:pt x="0" y="77"/>
                    <a:pt x="77" y="0"/>
                    <a:pt x="173" y="0"/>
                  </a:cubicBezTo>
                  <a:cubicBezTo>
                    <a:pt x="268" y="0"/>
                    <a:pt x="346" y="77"/>
                    <a:pt x="346" y="173"/>
                  </a:cubicBezTo>
                  <a:cubicBezTo>
                    <a:pt x="346" y="268"/>
                    <a:pt x="268" y="346"/>
                    <a:pt x="173" y="346"/>
                  </a:cubicBezTo>
                  <a:close/>
                  <a:moveTo>
                    <a:pt x="173" y="8"/>
                  </a:moveTo>
                  <a:cubicBezTo>
                    <a:pt x="82" y="8"/>
                    <a:pt x="8" y="82"/>
                    <a:pt x="8" y="173"/>
                  </a:cubicBezTo>
                  <a:cubicBezTo>
                    <a:pt x="8" y="264"/>
                    <a:pt x="82" y="338"/>
                    <a:pt x="173" y="338"/>
                  </a:cubicBezTo>
                  <a:cubicBezTo>
                    <a:pt x="264" y="338"/>
                    <a:pt x="338" y="264"/>
                    <a:pt x="338" y="173"/>
                  </a:cubicBezTo>
                  <a:cubicBezTo>
                    <a:pt x="338" y="82"/>
                    <a:pt x="264" y="8"/>
                    <a:pt x="173" y="8"/>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91" name="Freeform 1018"/>
            <p:cNvSpPr>
              <a:spLocks/>
            </p:cNvSpPr>
            <p:nvPr/>
          </p:nvSpPr>
          <p:spPr bwMode="auto">
            <a:xfrm>
              <a:off x="892175" y="1160463"/>
              <a:ext cx="120650" cy="185737"/>
            </a:xfrm>
            <a:custGeom>
              <a:avLst/>
              <a:gdLst>
                <a:gd name="T0" fmla="*/ 2147483646 w 76"/>
                <a:gd name="T1" fmla="*/ 2147483646 h 117"/>
                <a:gd name="T2" fmla="*/ 0 w 76"/>
                <a:gd name="T3" fmla="*/ 2147483646 h 117"/>
                <a:gd name="T4" fmla="*/ 2147483646 w 76"/>
                <a:gd name="T5" fmla="*/ 0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6" y="117"/>
                  </a:moveTo>
                  <a:lnTo>
                    <a:pt x="0" y="113"/>
                  </a:lnTo>
                  <a:lnTo>
                    <a:pt x="59" y="0"/>
                  </a:lnTo>
                  <a:lnTo>
                    <a:pt x="76" y="0"/>
                  </a:lnTo>
                  <a:lnTo>
                    <a:pt x="76" y="44"/>
                  </a:lnTo>
                  <a:lnTo>
                    <a:pt x="68" y="44"/>
                  </a:lnTo>
                  <a:lnTo>
                    <a:pt x="68" y="8"/>
                  </a:lnTo>
                  <a:lnTo>
                    <a:pt x="64" y="8"/>
                  </a:lnTo>
                  <a:lnTo>
                    <a:pt x="6" y="117"/>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92" name="Freeform 1019"/>
            <p:cNvSpPr>
              <a:spLocks/>
            </p:cNvSpPr>
            <p:nvPr/>
          </p:nvSpPr>
          <p:spPr bwMode="auto">
            <a:xfrm>
              <a:off x="1247775" y="1160463"/>
              <a:ext cx="122238" cy="185737"/>
            </a:xfrm>
            <a:custGeom>
              <a:avLst/>
              <a:gdLst>
                <a:gd name="T0" fmla="*/ 2147483646 w 77"/>
                <a:gd name="T1" fmla="*/ 2147483646 h 117"/>
                <a:gd name="T2" fmla="*/ 2147483646 w 77"/>
                <a:gd name="T3" fmla="*/ 2147483646 h 117"/>
                <a:gd name="T4" fmla="*/ 2147483646 w 77"/>
                <a:gd name="T5" fmla="*/ 2147483646 h 117"/>
                <a:gd name="T6" fmla="*/ 2147483646 w 77"/>
                <a:gd name="T7" fmla="*/ 2147483646 h 117"/>
                <a:gd name="T8" fmla="*/ 0 w 77"/>
                <a:gd name="T9" fmla="*/ 2147483646 h 117"/>
                <a:gd name="T10" fmla="*/ 0 w 77"/>
                <a:gd name="T11" fmla="*/ 0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70" y="117"/>
                  </a:moveTo>
                  <a:lnTo>
                    <a:pt x="12" y="8"/>
                  </a:lnTo>
                  <a:lnTo>
                    <a:pt x="8" y="8"/>
                  </a:lnTo>
                  <a:lnTo>
                    <a:pt x="8" y="44"/>
                  </a:lnTo>
                  <a:lnTo>
                    <a:pt x="0" y="44"/>
                  </a:lnTo>
                  <a:lnTo>
                    <a:pt x="0" y="0"/>
                  </a:lnTo>
                  <a:lnTo>
                    <a:pt x="17" y="0"/>
                  </a:lnTo>
                  <a:lnTo>
                    <a:pt x="77" y="113"/>
                  </a:lnTo>
                  <a:lnTo>
                    <a:pt x="70" y="117"/>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93" name="Freeform 1020"/>
            <p:cNvSpPr>
              <a:spLocks/>
            </p:cNvSpPr>
            <p:nvPr/>
          </p:nvSpPr>
          <p:spPr bwMode="auto">
            <a:xfrm>
              <a:off x="1341438" y="1282700"/>
              <a:ext cx="66675" cy="80962"/>
            </a:xfrm>
            <a:custGeom>
              <a:avLst/>
              <a:gdLst>
                <a:gd name="T0" fmla="*/ 2147483646 w 43"/>
                <a:gd name="T1" fmla="*/ 2147483646 h 52"/>
                <a:gd name="T2" fmla="*/ 2147483646 w 43"/>
                <a:gd name="T3" fmla="*/ 2147483646 h 52"/>
                <a:gd name="T4" fmla="*/ 2147483646 w 43"/>
                <a:gd name="T5" fmla="*/ 2147483646 h 52"/>
                <a:gd name="T6" fmla="*/ 2147483646 w 43"/>
                <a:gd name="T7" fmla="*/ 2147483646 h 52"/>
                <a:gd name="T8" fmla="*/ 2147483646 w 43"/>
                <a:gd name="T9" fmla="*/ 2147483646 h 52"/>
                <a:gd name="T10" fmla="*/ 2147483646 w 43"/>
                <a:gd name="T11" fmla="*/ 2147483646 h 52"/>
                <a:gd name="T12" fmla="*/ 0 w 43"/>
                <a:gd name="T13" fmla="*/ 2147483646 h 52"/>
                <a:gd name="T14" fmla="*/ 2147483646 w 43"/>
                <a:gd name="T15" fmla="*/ 2147483646 h 52"/>
                <a:gd name="T16" fmla="*/ 2147483646 w 43"/>
                <a:gd name="T17" fmla="*/ 2147483646 h 52"/>
                <a:gd name="T18" fmla="*/ 2147483646 w 43"/>
                <a:gd name="T19" fmla="*/ 2147483646 h 52"/>
                <a:gd name="T20" fmla="*/ 2147483646 w 43"/>
                <a:gd name="T21" fmla="*/ 2147483646 h 52"/>
                <a:gd name="T22" fmla="*/ 2147483646 w 43"/>
                <a:gd name="T23" fmla="*/ 2147483646 h 52"/>
                <a:gd name="T24" fmla="*/ 2147483646 w 4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 h="52">
                  <a:moveTo>
                    <a:pt x="20" y="52"/>
                  </a:moveTo>
                  <a:cubicBezTo>
                    <a:pt x="18" y="44"/>
                    <a:pt x="18" y="44"/>
                    <a:pt x="18" y="44"/>
                  </a:cubicBezTo>
                  <a:cubicBezTo>
                    <a:pt x="34" y="40"/>
                    <a:pt x="34" y="40"/>
                    <a:pt x="34" y="40"/>
                  </a:cubicBezTo>
                  <a:cubicBezTo>
                    <a:pt x="34" y="38"/>
                    <a:pt x="33" y="32"/>
                    <a:pt x="30" y="23"/>
                  </a:cubicBezTo>
                  <a:cubicBezTo>
                    <a:pt x="28" y="15"/>
                    <a:pt x="25" y="11"/>
                    <a:pt x="24" y="10"/>
                  </a:cubicBezTo>
                  <a:cubicBezTo>
                    <a:pt x="4" y="22"/>
                    <a:pt x="4" y="22"/>
                    <a:pt x="4" y="22"/>
                  </a:cubicBezTo>
                  <a:cubicBezTo>
                    <a:pt x="0" y="15"/>
                    <a:pt x="0" y="15"/>
                    <a:pt x="0" y="15"/>
                  </a:cubicBezTo>
                  <a:cubicBezTo>
                    <a:pt x="22" y="1"/>
                    <a:pt x="22" y="1"/>
                    <a:pt x="22" y="1"/>
                  </a:cubicBezTo>
                  <a:cubicBezTo>
                    <a:pt x="23" y="0"/>
                    <a:pt x="24" y="0"/>
                    <a:pt x="26" y="1"/>
                  </a:cubicBezTo>
                  <a:cubicBezTo>
                    <a:pt x="27" y="1"/>
                    <a:pt x="33" y="5"/>
                    <a:pt x="38" y="21"/>
                  </a:cubicBezTo>
                  <a:cubicBezTo>
                    <a:pt x="43" y="37"/>
                    <a:pt x="42" y="44"/>
                    <a:pt x="42" y="45"/>
                  </a:cubicBezTo>
                  <a:cubicBezTo>
                    <a:pt x="42" y="46"/>
                    <a:pt x="40" y="47"/>
                    <a:pt x="39" y="48"/>
                  </a:cubicBezTo>
                  <a:lnTo>
                    <a:pt x="20" y="52"/>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94" name="Line 1021"/>
            <p:cNvSpPr>
              <a:spLocks noChangeShapeType="1"/>
            </p:cNvSpPr>
            <p:nvPr/>
          </p:nvSpPr>
          <p:spPr bwMode="auto">
            <a:xfrm>
              <a:off x="1074738" y="1166813"/>
              <a:ext cx="0" cy="0"/>
            </a:xfrm>
            <a:prstGeom prst="line">
              <a:avLst/>
            </a:prstGeom>
            <a:noFill/>
            <a:ln w="23813">
              <a:solidFill>
                <a:srgbClr val="5A5858"/>
              </a:solidFill>
              <a:round/>
              <a:headEnd/>
              <a:tailEnd/>
            </a:ln>
            <a:extLst>
              <a:ext uri="{909E8E84-426E-40DD-AFC4-6F175D3DCCD1}">
                <a14:hiddenFill xmlns:a14="http://schemas.microsoft.com/office/drawing/2010/main">
                  <a:noFill/>
                </a14:hiddenFill>
              </a:ext>
            </a:extLst>
          </p:spPr>
          <p:txBody>
            <a:bodyPr/>
            <a:lstStyle/>
            <a:p>
              <a:endParaRPr lang="zh-CN" altLang="en-US" sz="2140"/>
            </a:p>
          </p:txBody>
        </p:sp>
        <p:sp>
          <p:nvSpPr>
            <p:cNvPr id="195" name="Rectangle 1022"/>
            <p:cNvSpPr>
              <a:spLocks noChangeArrowheads="1"/>
            </p:cNvSpPr>
            <p:nvPr/>
          </p:nvSpPr>
          <p:spPr bwMode="auto">
            <a:xfrm>
              <a:off x="1068388" y="1065213"/>
              <a:ext cx="6350" cy="984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000000"/>
                </a:solidFill>
              </a:endParaRPr>
            </a:p>
          </p:txBody>
        </p:sp>
        <p:sp>
          <p:nvSpPr>
            <p:cNvPr id="196" name="Freeform 1023"/>
            <p:cNvSpPr>
              <a:spLocks/>
            </p:cNvSpPr>
            <p:nvPr/>
          </p:nvSpPr>
          <p:spPr bwMode="auto">
            <a:xfrm>
              <a:off x="1000125" y="1049338"/>
              <a:ext cx="260350" cy="176212"/>
            </a:xfrm>
            <a:custGeom>
              <a:avLst/>
              <a:gdLst>
                <a:gd name="T0" fmla="*/ 2147483646 w 168"/>
                <a:gd name="T1" fmla="*/ 2147483646 h 113"/>
                <a:gd name="T2" fmla="*/ 2147483646 w 168"/>
                <a:gd name="T3" fmla="*/ 2147483646 h 113"/>
                <a:gd name="T4" fmla="*/ 2147483646 w 168"/>
                <a:gd name="T5" fmla="*/ 2147483646 h 113"/>
                <a:gd name="T6" fmla="*/ 2147483646 w 168"/>
                <a:gd name="T7" fmla="*/ 2147483646 h 113"/>
                <a:gd name="T8" fmla="*/ 2147483646 w 168"/>
                <a:gd name="T9" fmla="*/ 2147483646 h 113"/>
                <a:gd name="T10" fmla="*/ 2147483646 w 168"/>
                <a:gd name="T11" fmla="*/ 2147483646 h 113"/>
                <a:gd name="T12" fmla="*/ 2147483646 w 168"/>
                <a:gd name="T13" fmla="*/ 2147483646 h 113"/>
                <a:gd name="T14" fmla="*/ 2147483646 w 168"/>
                <a:gd name="T15" fmla="*/ 2147483646 h 113"/>
                <a:gd name="T16" fmla="*/ 2147483646 w 168"/>
                <a:gd name="T17" fmla="*/ 2147483646 h 113"/>
                <a:gd name="T18" fmla="*/ 2147483646 w 168"/>
                <a:gd name="T19" fmla="*/ 2147483646 h 113"/>
                <a:gd name="T20" fmla="*/ 2147483646 w 168"/>
                <a:gd name="T21" fmla="*/ 2147483646 h 113"/>
                <a:gd name="T22" fmla="*/ 2147483646 w 168"/>
                <a:gd name="T23" fmla="*/ 2147483646 h 113"/>
                <a:gd name="T24" fmla="*/ 0 w 168"/>
                <a:gd name="T25" fmla="*/ 2147483646 h 113"/>
                <a:gd name="T26" fmla="*/ 0 w 168"/>
                <a:gd name="T27" fmla="*/ 2147483646 h 113"/>
                <a:gd name="T28" fmla="*/ 2147483646 w 168"/>
                <a:gd name="T29" fmla="*/ 2147483646 h 113"/>
                <a:gd name="T30" fmla="*/ 2147483646 w 168"/>
                <a:gd name="T31" fmla="*/ 2147483646 h 113"/>
                <a:gd name="T32" fmla="*/ 2147483646 w 168"/>
                <a:gd name="T33" fmla="*/ 2147483646 h 113"/>
                <a:gd name="T34" fmla="*/ 2147483646 w 168"/>
                <a:gd name="T35" fmla="*/ 2147483646 h 113"/>
                <a:gd name="T36" fmla="*/ 2147483646 w 168"/>
                <a:gd name="T37" fmla="*/ 0 h 113"/>
                <a:gd name="T38" fmla="*/ 2147483646 w 168"/>
                <a:gd name="T39" fmla="*/ 2147483646 h 113"/>
                <a:gd name="T40" fmla="*/ 2147483646 w 168"/>
                <a:gd name="T41" fmla="*/ 2147483646 h 113"/>
                <a:gd name="T42" fmla="*/ 2147483646 w 168"/>
                <a:gd name="T43" fmla="*/ 2147483646 h 113"/>
                <a:gd name="T44" fmla="*/ 2147483646 w 168"/>
                <a:gd name="T45" fmla="*/ 2147483646 h 113"/>
                <a:gd name="T46" fmla="*/ 2147483646 w 168"/>
                <a:gd name="T47" fmla="*/ 2147483646 h 113"/>
                <a:gd name="T48" fmla="*/ 2147483646 w 168"/>
                <a:gd name="T49" fmla="*/ 2147483646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8" h="113">
                  <a:moveTo>
                    <a:pt x="168" y="113"/>
                  </a:moveTo>
                  <a:cubicBezTo>
                    <a:pt x="160" y="113"/>
                    <a:pt x="160" y="113"/>
                    <a:pt x="160" y="113"/>
                  </a:cubicBezTo>
                  <a:cubicBezTo>
                    <a:pt x="160" y="20"/>
                    <a:pt x="160" y="20"/>
                    <a:pt x="160" y="20"/>
                  </a:cubicBezTo>
                  <a:cubicBezTo>
                    <a:pt x="127" y="13"/>
                    <a:pt x="127" y="13"/>
                    <a:pt x="127" y="13"/>
                  </a:cubicBezTo>
                  <a:cubicBezTo>
                    <a:pt x="126" y="13"/>
                    <a:pt x="126" y="13"/>
                    <a:pt x="125" y="12"/>
                  </a:cubicBezTo>
                  <a:cubicBezTo>
                    <a:pt x="124" y="10"/>
                    <a:pt x="124" y="10"/>
                    <a:pt x="124" y="10"/>
                  </a:cubicBezTo>
                  <a:cubicBezTo>
                    <a:pt x="109" y="8"/>
                    <a:pt x="84" y="8"/>
                    <a:pt x="84" y="8"/>
                  </a:cubicBezTo>
                  <a:cubicBezTo>
                    <a:pt x="84" y="8"/>
                    <a:pt x="58" y="8"/>
                    <a:pt x="44" y="10"/>
                  </a:cubicBezTo>
                  <a:cubicBezTo>
                    <a:pt x="43" y="12"/>
                    <a:pt x="43" y="12"/>
                    <a:pt x="43" y="12"/>
                  </a:cubicBezTo>
                  <a:cubicBezTo>
                    <a:pt x="42" y="13"/>
                    <a:pt x="41" y="13"/>
                    <a:pt x="40" y="13"/>
                  </a:cubicBezTo>
                  <a:cubicBezTo>
                    <a:pt x="8" y="20"/>
                    <a:pt x="8" y="20"/>
                    <a:pt x="8" y="20"/>
                  </a:cubicBezTo>
                  <a:cubicBezTo>
                    <a:pt x="8" y="113"/>
                    <a:pt x="8" y="113"/>
                    <a:pt x="8" y="113"/>
                  </a:cubicBezTo>
                  <a:cubicBezTo>
                    <a:pt x="0" y="113"/>
                    <a:pt x="0" y="113"/>
                    <a:pt x="0" y="113"/>
                  </a:cubicBezTo>
                  <a:cubicBezTo>
                    <a:pt x="0" y="17"/>
                    <a:pt x="0" y="17"/>
                    <a:pt x="0" y="17"/>
                  </a:cubicBezTo>
                  <a:cubicBezTo>
                    <a:pt x="0" y="15"/>
                    <a:pt x="1" y="14"/>
                    <a:pt x="3" y="13"/>
                  </a:cubicBezTo>
                  <a:cubicBezTo>
                    <a:pt x="37" y="6"/>
                    <a:pt x="37" y="6"/>
                    <a:pt x="37" y="6"/>
                  </a:cubicBezTo>
                  <a:cubicBezTo>
                    <a:pt x="39" y="4"/>
                    <a:pt x="39" y="4"/>
                    <a:pt x="39" y="4"/>
                  </a:cubicBezTo>
                  <a:cubicBezTo>
                    <a:pt x="39" y="3"/>
                    <a:pt x="40" y="3"/>
                    <a:pt x="41" y="3"/>
                  </a:cubicBezTo>
                  <a:cubicBezTo>
                    <a:pt x="56" y="0"/>
                    <a:pt x="83" y="0"/>
                    <a:pt x="84" y="0"/>
                  </a:cubicBezTo>
                  <a:cubicBezTo>
                    <a:pt x="85" y="0"/>
                    <a:pt x="112" y="0"/>
                    <a:pt x="126" y="3"/>
                  </a:cubicBezTo>
                  <a:cubicBezTo>
                    <a:pt x="127" y="3"/>
                    <a:pt x="128" y="3"/>
                    <a:pt x="129" y="4"/>
                  </a:cubicBezTo>
                  <a:cubicBezTo>
                    <a:pt x="130" y="6"/>
                    <a:pt x="130" y="6"/>
                    <a:pt x="130" y="6"/>
                  </a:cubicBezTo>
                  <a:cubicBezTo>
                    <a:pt x="164" y="13"/>
                    <a:pt x="164" y="13"/>
                    <a:pt x="164" y="13"/>
                  </a:cubicBezTo>
                  <a:cubicBezTo>
                    <a:pt x="166" y="14"/>
                    <a:pt x="168" y="15"/>
                    <a:pt x="168" y="17"/>
                  </a:cubicBezTo>
                  <a:lnTo>
                    <a:pt x="168" y="113"/>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97" name="Rectangle 1024"/>
            <p:cNvSpPr>
              <a:spLocks noChangeArrowheads="1"/>
            </p:cNvSpPr>
            <p:nvPr/>
          </p:nvSpPr>
          <p:spPr bwMode="auto">
            <a:xfrm>
              <a:off x="1184275" y="1065213"/>
              <a:ext cx="6350" cy="984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000000"/>
                </a:solidFill>
              </a:endParaRPr>
            </a:p>
          </p:txBody>
        </p:sp>
        <p:sp>
          <p:nvSpPr>
            <p:cNvPr id="198" name="Freeform 1025"/>
            <p:cNvSpPr>
              <a:spLocks/>
            </p:cNvSpPr>
            <p:nvPr/>
          </p:nvSpPr>
          <p:spPr bwMode="auto">
            <a:xfrm>
              <a:off x="892175" y="1579563"/>
              <a:ext cx="120650" cy="185737"/>
            </a:xfrm>
            <a:custGeom>
              <a:avLst/>
              <a:gdLst>
                <a:gd name="T0" fmla="*/ 2147483646 w 76"/>
                <a:gd name="T1" fmla="*/ 2147483646 h 117"/>
                <a:gd name="T2" fmla="*/ 2147483646 w 76"/>
                <a:gd name="T3" fmla="*/ 2147483646 h 117"/>
                <a:gd name="T4" fmla="*/ 0 w 76"/>
                <a:gd name="T5" fmla="*/ 2147483646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76" y="117"/>
                  </a:moveTo>
                  <a:lnTo>
                    <a:pt x="59" y="117"/>
                  </a:lnTo>
                  <a:lnTo>
                    <a:pt x="0" y="4"/>
                  </a:lnTo>
                  <a:lnTo>
                    <a:pt x="6" y="0"/>
                  </a:lnTo>
                  <a:lnTo>
                    <a:pt x="64" y="110"/>
                  </a:lnTo>
                  <a:lnTo>
                    <a:pt x="68" y="110"/>
                  </a:lnTo>
                  <a:lnTo>
                    <a:pt x="68" y="73"/>
                  </a:lnTo>
                  <a:lnTo>
                    <a:pt x="76" y="73"/>
                  </a:lnTo>
                  <a:lnTo>
                    <a:pt x="76" y="117"/>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199" name="Freeform 1026"/>
            <p:cNvSpPr>
              <a:spLocks/>
            </p:cNvSpPr>
            <p:nvPr/>
          </p:nvSpPr>
          <p:spPr bwMode="auto">
            <a:xfrm>
              <a:off x="1247775" y="1579563"/>
              <a:ext cx="122238" cy="185737"/>
            </a:xfrm>
            <a:custGeom>
              <a:avLst/>
              <a:gdLst>
                <a:gd name="T0" fmla="*/ 2147483646 w 77"/>
                <a:gd name="T1" fmla="*/ 2147483646 h 117"/>
                <a:gd name="T2" fmla="*/ 0 w 77"/>
                <a:gd name="T3" fmla="*/ 2147483646 h 117"/>
                <a:gd name="T4" fmla="*/ 0 w 77"/>
                <a:gd name="T5" fmla="*/ 2147483646 h 117"/>
                <a:gd name="T6" fmla="*/ 2147483646 w 77"/>
                <a:gd name="T7" fmla="*/ 2147483646 h 117"/>
                <a:gd name="T8" fmla="*/ 2147483646 w 77"/>
                <a:gd name="T9" fmla="*/ 2147483646 h 117"/>
                <a:gd name="T10" fmla="*/ 2147483646 w 77"/>
                <a:gd name="T11" fmla="*/ 2147483646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17" y="117"/>
                  </a:moveTo>
                  <a:lnTo>
                    <a:pt x="0" y="117"/>
                  </a:lnTo>
                  <a:lnTo>
                    <a:pt x="0" y="73"/>
                  </a:lnTo>
                  <a:lnTo>
                    <a:pt x="8" y="73"/>
                  </a:lnTo>
                  <a:lnTo>
                    <a:pt x="8" y="110"/>
                  </a:lnTo>
                  <a:lnTo>
                    <a:pt x="12" y="110"/>
                  </a:lnTo>
                  <a:lnTo>
                    <a:pt x="70" y="0"/>
                  </a:lnTo>
                  <a:lnTo>
                    <a:pt x="77" y="4"/>
                  </a:lnTo>
                  <a:lnTo>
                    <a:pt x="17" y="117"/>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00" name="Freeform 1027"/>
            <p:cNvSpPr>
              <a:spLocks/>
            </p:cNvSpPr>
            <p:nvPr/>
          </p:nvSpPr>
          <p:spPr bwMode="auto">
            <a:xfrm>
              <a:off x="1341438" y="1563688"/>
              <a:ext cx="66675" cy="79375"/>
            </a:xfrm>
            <a:custGeom>
              <a:avLst/>
              <a:gdLst>
                <a:gd name="T0" fmla="*/ 2147483646 w 43"/>
                <a:gd name="T1" fmla="*/ 2147483646 h 51"/>
                <a:gd name="T2" fmla="*/ 2147483646 w 43"/>
                <a:gd name="T3" fmla="*/ 2147483646 h 51"/>
                <a:gd name="T4" fmla="*/ 0 w 43"/>
                <a:gd name="T5" fmla="*/ 2147483646 h 51"/>
                <a:gd name="T6" fmla="*/ 2147483646 w 43"/>
                <a:gd name="T7" fmla="*/ 2147483646 h 51"/>
                <a:gd name="T8" fmla="*/ 2147483646 w 43"/>
                <a:gd name="T9" fmla="*/ 2147483646 h 51"/>
                <a:gd name="T10" fmla="*/ 2147483646 w 43"/>
                <a:gd name="T11" fmla="*/ 2147483646 h 51"/>
                <a:gd name="T12" fmla="*/ 2147483646 w 43"/>
                <a:gd name="T13" fmla="*/ 2147483646 h 51"/>
                <a:gd name="T14" fmla="*/ 2147483646 w 43"/>
                <a:gd name="T15" fmla="*/ 2147483646 h 51"/>
                <a:gd name="T16" fmla="*/ 2147483646 w 43"/>
                <a:gd name="T17" fmla="*/ 0 h 51"/>
                <a:gd name="T18" fmla="*/ 2147483646 w 43"/>
                <a:gd name="T19" fmla="*/ 2147483646 h 51"/>
                <a:gd name="T20" fmla="*/ 2147483646 w 43"/>
                <a:gd name="T21" fmla="*/ 2147483646 h 51"/>
                <a:gd name="T22" fmla="*/ 2147483646 w 43"/>
                <a:gd name="T23" fmla="*/ 2147483646 h 51"/>
                <a:gd name="T24" fmla="*/ 2147483646 w 43"/>
                <a:gd name="T25" fmla="*/ 2147483646 h 51"/>
                <a:gd name="T26" fmla="*/ 2147483646 w 43"/>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 h="51">
                  <a:moveTo>
                    <a:pt x="24" y="51"/>
                  </a:moveTo>
                  <a:cubicBezTo>
                    <a:pt x="23" y="51"/>
                    <a:pt x="23" y="51"/>
                    <a:pt x="22" y="51"/>
                  </a:cubicBezTo>
                  <a:cubicBezTo>
                    <a:pt x="0" y="37"/>
                    <a:pt x="0" y="37"/>
                    <a:pt x="0" y="37"/>
                  </a:cubicBezTo>
                  <a:cubicBezTo>
                    <a:pt x="4" y="30"/>
                    <a:pt x="4" y="30"/>
                    <a:pt x="4" y="30"/>
                  </a:cubicBezTo>
                  <a:cubicBezTo>
                    <a:pt x="24" y="42"/>
                    <a:pt x="24" y="42"/>
                    <a:pt x="24" y="42"/>
                  </a:cubicBezTo>
                  <a:cubicBezTo>
                    <a:pt x="25" y="40"/>
                    <a:pt x="28" y="36"/>
                    <a:pt x="30" y="28"/>
                  </a:cubicBezTo>
                  <a:cubicBezTo>
                    <a:pt x="33" y="20"/>
                    <a:pt x="34" y="14"/>
                    <a:pt x="34" y="11"/>
                  </a:cubicBezTo>
                  <a:cubicBezTo>
                    <a:pt x="18" y="8"/>
                    <a:pt x="18" y="8"/>
                    <a:pt x="18" y="8"/>
                  </a:cubicBezTo>
                  <a:cubicBezTo>
                    <a:pt x="20" y="0"/>
                    <a:pt x="20" y="0"/>
                    <a:pt x="20" y="0"/>
                  </a:cubicBezTo>
                  <a:cubicBezTo>
                    <a:pt x="39" y="4"/>
                    <a:pt x="39" y="4"/>
                    <a:pt x="39" y="4"/>
                  </a:cubicBezTo>
                  <a:cubicBezTo>
                    <a:pt x="40" y="4"/>
                    <a:pt x="42" y="5"/>
                    <a:pt x="42" y="7"/>
                  </a:cubicBezTo>
                  <a:cubicBezTo>
                    <a:pt x="42" y="8"/>
                    <a:pt x="43" y="15"/>
                    <a:pt x="38" y="31"/>
                  </a:cubicBezTo>
                  <a:cubicBezTo>
                    <a:pt x="33" y="47"/>
                    <a:pt x="27" y="50"/>
                    <a:pt x="26" y="51"/>
                  </a:cubicBezTo>
                  <a:cubicBezTo>
                    <a:pt x="25" y="51"/>
                    <a:pt x="25" y="51"/>
                    <a:pt x="24" y="51"/>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01" name="Line 1028"/>
            <p:cNvSpPr>
              <a:spLocks noChangeShapeType="1"/>
            </p:cNvSpPr>
            <p:nvPr/>
          </p:nvSpPr>
          <p:spPr bwMode="auto">
            <a:xfrm>
              <a:off x="1074738" y="1760538"/>
              <a:ext cx="0" cy="0"/>
            </a:xfrm>
            <a:prstGeom prst="line">
              <a:avLst/>
            </a:prstGeom>
            <a:noFill/>
            <a:ln w="6350">
              <a:solidFill>
                <a:srgbClr val="5A5858"/>
              </a:solidFill>
              <a:miter lim="800000"/>
              <a:headEnd/>
              <a:tailEnd/>
            </a:ln>
            <a:extLst>
              <a:ext uri="{909E8E84-426E-40DD-AFC4-6F175D3DCCD1}">
                <a14:hiddenFill xmlns:a14="http://schemas.microsoft.com/office/drawing/2010/main">
                  <a:noFill/>
                </a14:hiddenFill>
              </a:ext>
            </a:extLst>
          </p:spPr>
          <p:txBody>
            <a:bodyPr/>
            <a:lstStyle/>
            <a:p>
              <a:endParaRPr lang="zh-CN" altLang="en-US" sz="2140"/>
            </a:p>
          </p:txBody>
        </p:sp>
        <p:sp>
          <p:nvSpPr>
            <p:cNvPr id="202" name="Rectangle 1029"/>
            <p:cNvSpPr>
              <a:spLocks noChangeArrowheads="1"/>
            </p:cNvSpPr>
            <p:nvPr/>
          </p:nvSpPr>
          <p:spPr bwMode="auto">
            <a:xfrm>
              <a:off x="1068388" y="1760538"/>
              <a:ext cx="6350" cy="1000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000000"/>
                </a:solidFill>
              </a:endParaRPr>
            </a:p>
          </p:txBody>
        </p:sp>
        <p:sp>
          <p:nvSpPr>
            <p:cNvPr id="203" name="Freeform 1030"/>
            <p:cNvSpPr>
              <a:spLocks/>
            </p:cNvSpPr>
            <p:nvPr/>
          </p:nvSpPr>
          <p:spPr bwMode="auto">
            <a:xfrm>
              <a:off x="1000125" y="1698625"/>
              <a:ext cx="69850" cy="171450"/>
            </a:xfrm>
            <a:custGeom>
              <a:avLst/>
              <a:gdLst>
                <a:gd name="T0" fmla="*/ 2147483646 w 45"/>
                <a:gd name="T1" fmla="*/ 2147483646 h 110"/>
                <a:gd name="T2" fmla="*/ 2147483646 w 45"/>
                <a:gd name="T3" fmla="*/ 2147483646 h 110"/>
                <a:gd name="T4" fmla="*/ 2147483646 w 45"/>
                <a:gd name="T5" fmla="*/ 2147483646 h 110"/>
                <a:gd name="T6" fmla="*/ 0 w 45"/>
                <a:gd name="T7" fmla="*/ 2147483646 h 110"/>
                <a:gd name="T8" fmla="*/ 0 w 45"/>
                <a:gd name="T9" fmla="*/ 0 h 110"/>
                <a:gd name="T10" fmla="*/ 2147483646 w 45"/>
                <a:gd name="T11" fmla="*/ 0 h 110"/>
                <a:gd name="T12" fmla="*/ 2147483646 w 45"/>
                <a:gd name="T13" fmla="*/ 2147483646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39" y="110"/>
                  </a:moveTo>
                  <a:cubicBezTo>
                    <a:pt x="37" y="108"/>
                    <a:pt x="37" y="108"/>
                    <a:pt x="37" y="108"/>
                  </a:cubicBezTo>
                  <a:cubicBezTo>
                    <a:pt x="3" y="101"/>
                    <a:pt x="3" y="101"/>
                    <a:pt x="3" y="101"/>
                  </a:cubicBezTo>
                  <a:cubicBezTo>
                    <a:pt x="1" y="100"/>
                    <a:pt x="0" y="99"/>
                    <a:pt x="0" y="97"/>
                  </a:cubicBezTo>
                  <a:cubicBezTo>
                    <a:pt x="0" y="0"/>
                    <a:pt x="0" y="0"/>
                    <a:pt x="0" y="0"/>
                  </a:cubicBezTo>
                  <a:cubicBezTo>
                    <a:pt x="8" y="0"/>
                    <a:pt x="8" y="0"/>
                    <a:pt x="8" y="0"/>
                  </a:cubicBezTo>
                  <a:cubicBezTo>
                    <a:pt x="8" y="93"/>
                    <a:pt x="8" y="93"/>
                    <a:pt x="8" y="93"/>
                  </a:cubicBezTo>
                  <a:cubicBezTo>
                    <a:pt x="40" y="100"/>
                    <a:pt x="40" y="100"/>
                    <a:pt x="40" y="100"/>
                  </a:cubicBezTo>
                  <a:cubicBezTo>
                    <a:pt x="41" y="100"/>
                    <a:pt x="42" y="101"/>
                    <a:pt x="43" y="102"/>
                  </a:cubicBezTo>
                  <a:cubicBezTo>
                    <a:pt x="45" y="105"/>
                    <a:pt x="45" y="105"/>
                    <a:pt x="45" y="105"/>
                  </a:cubicBezTo>
                  <a:lnTo>
                    <a:pt x="39" y="110"/>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04" name="Freeform 1031"/>
            <p:cNvSpPr>
              <a:spLocks/>
            </p:cNvSpPr>
            <p:nvPr/>
          </p:nvSpPr>
          <p:spPr bwMode="auto">
            <a:xfrm>
              <a:off x="1190625" y="1698625"/>
              <a:ext cx="69850" cy="171450"/>
            </a:xfrm>
            <a:custGeom>
              <a:avLst/>
              <a:gdLst>
                <a:gd name="T0" fmla="*/ 2147483646 w 45"/>
                <a:gd name="T1" fmla="*/ 2147483646 h 110"/>
                <a:gd name="T2" fmla="*/ 0 w 45"/>
                <a:gd name="T3" fmla="*/ 2147483646 h 110"/>
                <a:gd name="T4" fmla="*/ 2147483646 w 45"/>
                <a:gd name="T5" fmla="*/ 2147483646 h 110"/>
                <a:gd name="T6" fmla="*/ 2147483646 w 45"/>
                <a:gd name="T7" fmla="*/ 2147483646 h 110"/>
                <a:gd name="T8" fmla="*/ 2147483646 w 45"/>
                <a:gd name="T9" fmla="*/ 2147483646 h 110"/>
                <a:gd name="T10" fmla="*/ 2147483646 w 45"/>
                <a:gd name="T11" fmla="*/ 0 h 110"/>
                <a:gd name="T12" fmla="*/ 2147483646 w 45"/>
                <a:gd name="T13" fmla="*/ 0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6" y="110"/>
                  </a:moveTo>
                  <a:cubicBezTo>
                    <a:pt x="0" y="105"/>
                    <a:pt x="0" y="105"/>
                    <a:pt x="0" y="105"/>
                  </a:cubicBezTo>
                  <a:cubicBezTo>
                    <a:pt x="2" y="102"/>
                    <a:pt x="2" y="102"/>
                    <a:pt x="2" y="102"/>
                  </a:cubicBezTo>
                  <a:cubicBezTo>
                    <a:pt x="3" y="101"/>
                    <a:pt x="3" y="100"/>
                    <a:pt x="4" y="100"/>
                  </a:cubicBezTo>
                  <a:cubicBezTo>
                    <a:pt x="37" y="93"/>
                    <a:pt x="37" y="93"/>
                    <a:pt x="37" y="93"/>
                  </a:cubicBezTo>
                  <a:cubicBezTo>
                    <a:pt x="37" y="0"/>
                    <a:pt x="37" y="0"/>
                    <a:pt x="37" y="0"/>
                  </a:cubicBezTo>
                  <a:cubicBezTo>
                    <a:pt x="45" y="0"/>
                    <a:pt x="45" y="0"/>
                    <a:pt x="45" y="0"/>
                  </a:cubicBezTo>
                  <a:cubicBezTo>
                    <a:pt x="45" y="97"/>
                    <a:pt x="45" y="97"/>
                    <a:pt x="45" y="97"/>
                  </a:cubicBezTo>
                  <a:cubicBezTo>
                    <a:pt x="45" y="99"/>
                    <a:pt x="43" y="100"/>
                    <a:pt x="41" y="101"/>
                  </a:cubicBezTo>
                  <a:cubicBezTo>
                    <a:pt x="7" y="108"/>
                    <a:pt x="7" y="108"/>
                    <a:pt x="7" y="108"/>
                  </a:cubicBezTo>
                  <a:lnTo>
                    <a:pt x="6" y="110"/>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05" name="Rectangle 1032"/>
            <p:cNvSpPr>
              <a:spLocks noChangeArrowheads="1"/>
            </p:cNvSpPr>
            <p:nvPr/>
          </p:nvSpPr>
          <p:spPr bwMode="auto">
            <a:xfrm>
              <a:off x="1184275" y="1760538"/>
              <a:ext cx="6350" cy="1000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000000"/>
                </a:solidFill>
              </a:endParaRPr>
            </a:p>
          </p:txBody>
        </p:sp>
        <p:sp>
          <p:nvSpPr>
            <p:cNvPr id="206" name="Oval 1033"/>
            <p:cNvSpPr>
              <a:spLocks noChangeArrowheads="1"/>
            </p:cNvSpPr>
            <p:nvPr/>
          </p:nvSpPr>
          <p:spPr bwMode="auto">
            <a:xfrm>
              <a:off x="1049338" y="1844675"/>
              <a:ext cx="44450"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sp>
          <p:nvSpPr>
            <p:cNvPr id="207" name="Oval 1034"/>
            <p:cNvSpPr>
              <a:spLocks noChangeArrowheads="1"/>
            </p:cNvSpPr>
            <p:nvPr/>
          </p:nvSpPr>
          <p:spPr bwMode="auto">
            <a:xfrm>
              <a:off x="1166813" y="1844675"/>
              <a:ext cx="42863"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grpSp>
      <p:grpSp>
        <p:nvGrpSpPr>
          <p:cNvPr id="208" name="组合 111"/>
          <p:cNvGrpSpPr>
            <a:grpSpLocks/>
          </p:cNvGrpSpPr>
          <p:nvPr/>
        </p:nvGrpSpPr>
        <p:grpSpPr bwMode="auto">
          <a:xfrm>
            <a:off x="6128202" y="5428003"/>
            <a:ext cx="171185" cy="368013"/>
            <a:chOff x="8974138" y="3460752"/>
            <a:chExt cx="392113" cy="842964"/>
          </a:xfrm>
        </p:grpSpPr>
        <p:sp>
          <p:nvSpPr>
            <p:cNvPr id="209" name="Freeform 1442"/>
            <p:cNvSpPr>
              <a:spLocks/>
            </p:cNvSpPr>
            <p:nvPr/>
          </p:nvSpPr>
          <p:spPr bwMode="auto">
            <a:xfrm>
              <a:off x="8974138" y="3460752"/>
              <a:ext cx="392113" cy="827088"/>
            </a:xfrm>
            <a:custGeom>
              <a:avLst/>
              <a:gdLst>
                <a:gd name="T0" fmla="*/ 2147483646 w 253"/>
                <a:gd name="T1" fmla="*/ 2147483646 h 532"/>
                <a:gd name="T2" fmla="*/ 2147483646 w 253"/>
                <a:gd name="T3" fmla="*/ 2147483646 h 532"/>
                <a:gd name="T4" fmla="*/ 2147483646 w 253"/>
                <a:gd name="T5" fmla="*/ 2147483646 h 532"/>
                <a:gd name="T6" fmla="*/ 2147483646 w 253"/>
                <a:gd name="T7" fmla="*/ 2147483646 h 532"/>
                <a:gd name="T8" fmla="*/ 2147483646 w 253"/>
                <a:gd name="T9" fmla="*/ 2147483646 h 532"/>
                <a:gd name="T10" fmla="*/ 2147483646 w 253"/>
                <a:gd name="T11" fmla="*/ 2147483646 h 532"/>
                <a:gd name="T12" fmla="*/ 2147483646 w 253"/>
                <a:gd name="T13" fmla="*/ 2147483646 h 532"/>
                <a:gd name="T14" fmla="*/ 2147483646 w 253"/>
                <a:gd name="T15" fmla="*/ 2147483646 h 532"/>
                <a:gd name="T16" fmla="*/ 2147483646 w 253"/>
                <a:gd name="T17" fmla="*/ 2147483646 h 532"/>
                <a:gd name="T18" fmla="*/ 2147483646 w 253"/>
                <a:gd name="T19" fmla="*/ 2147483646 h 532"/>
                <a:gd name="T20" fmla="*/ 2147483646 w 253"/>
                <a:gd name="T21" fmla="*/ 2147483646 h 532"/>
                <a:gd name="T22" fmla="*/ 2147483646 w 253"/>
                <a:gd name="T23" fmla="*/ 2147483646 h 532"/>
                <a:gd name="T24" fmla="*/ 2147483646 w 253"/>
                <a:gd name="T25" fmla="*/ 2147483646 h 532"/>
                <a:gd name="T26" fmla="*/ 2147483646 w 253"/>
                <a:gd name="T27" fmla="*/ 2147483646 h 532"/>
                <a:gd name="T28" fmla="*/ 0 w 253"/>
                <a:gd name="T29" fmla="*/ 2147483646 h 532"/>
                <a:gd name="T30" fmla="*/ 0 w 253"/>
                <a:gd name="T31" fmla="*/ 2147483646 h 532"/>
                <a:gd name="T32" fmla="*/ 2147483646 w 253"/>
                <a:gd name="T33" fmla="*/ 0 h 532"/>
                <a:gd name="T34" fmla="*/ 2147483646 w 253"/>
                <a:gd name="T35" fmla="*/ 0 h 532"/>
                <a:gd name="T36" fmla="*/ 2147483646 w 253"/>
                <a:gd name="T37" fmla="*/ 2147483646 h 532"/>
                <a:gd name="T38" fmla="*/ 2147483646 w 253"/>
                <a:gd name="T39" fmla="*/ 2147483646 h 532"/>
                <a:gd name="T40" fmla="*/ 2147483646 w 253"/>
                <a:gd name="T41" fmla="*/ 2147483646 h 5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3" h="532">
                  <a:moveTo>
                    <a:pt x="221" y="532"/>
                  </a:moveTo>
                  <a:cubicBezTo>
                    <a:pt x="200" y="532"/>
                    <a:pt x="200" y="532"/>
                    <a:pt x="200" y="532"/>
                  </a:cubicBezTo>
                  <a:cubicBezTo>
                    <a:pt x="200" y="524"/>
                    <a:pt x="200" y="524"/>
                    <a:pt x="200" y="524"/>
                  </a:cubicBezTo>
                  <a:cubicBezTo>
                    <a:pt x="221" y="524"/>
                    <a:pt x="221" y="524"/>
                    <a:pt x="221" y="524"/>
                  </a:cubicBezTo>
                  <a:cubicBezTo>
                    <a:pt x="234" y="524"/>
                    <a:pt x="245" y="513"/>
                    <a:pt x="245" y="500"/>
                  </a:cubicBezTo>
                  <a:cubicBezTo>
                    <a:pt x="245" y="32"/>
                    <a:pt x="245" y="32"/>
                    <a:pt x="245" y="32"/>
                  </a:cubicBezTo>
                  <a:cubicBezTo>
                    <a:pt x="245" y="19"/>
                    <a:pt x="234" y="8"/>
                    <a:pt x="221" y="8"/>
                  </a:cubicBezTo>
                  <a:cubicBezTo>
                    <a:pt x="32" y="8"/>
                    <a:pt x="32" y="8"/>
                    <a:pt x="32" y="8"/>
                  </a:cubicBezTo>
                  <a:cubicBezTo>
                    <a:pt x="19" y="8"/>
                    <a:pt x="8" y="19"/>
                    <a:pt x="8" y="32"/>
                  </a:cubicBezTo>
                  <a:cubicBezTo>
                    <a:pt x="8" y="500"/>
                    <a:pt x="8" y="500"/>
                    <a:pt x="8" y="500"/>
                  </a:cubicBezTo>
                  <a:cubicBezTo>
                    <a:pt x="8" y="513"/>
                    <a:pt x="19" y="524"/>
                    <a:pt x="32" y="524"/>
                  </a:cubicBezTo>
                  <a:cubicBezTo>
                    <a:pt x="154" y="524"/>
                    <a:pt x="154" y="524"/>
                    <a:pt x="154" y="524"/>
                  </a:cubicBezTo>
                  <a:cubicBezTo>
                    <a:pt x="154" y="532"/>
                    <a:pt x="154" y="532"/>
                    <a:pt x="154" y="532"/>
                  </a:cubicBezTo>
                  <a:cubicBezTo>
                    <a:pt x="32" y="532"/>
                    <a:pt x="32" y="532"/>
                    <a:pt x="32" y="532"/>
                  </a:cubicBezTo>
                  <a:cubicBezTo>
                    <a:pt x="14" y="532"/>
                    <a:pt x="0" y="518"/>
                    <a:pt x="0" y="500"/>
                  </a:cubicBezTo>
                  <a:cubicBezTo>
                    <a:pt x="0" y="32"/>
                    <a:pt x="0" y="32"/>
                    <a:pt x="0" y="32"/>
                  </a:cubicBezTo>
                  <a:cubicBezTo>
                    <a:pt x="0" y="14"/>
                    <a:pt x="14" y="0"/>
                    <a:pt x="32" y="0"/>
                  </a:cubicBezTo>
                  <a:cubicBezTo>
                    <a:pt x="221" y="0"/>
                    <a:pt x="221" y="0"/>
                    <a:pt x="221" y="0"/>
                  </a:cubicBezTo>
                  <a:cubicBezTo>
                    <a:pt x="239" y="0"/>
                    <a:pt x="253" y="14"/>
                    <a:pt x="253" y="32"/>
                  </a:cubicBezTo>
                  <a:cubicBezTo>
                    <a:pt x="253" y="500"/>
                    <a:pt x="253" y="500"/>
                    <a:pt x="253" y="500"/>
                  </a:cubicBezTo>
                  <a:cubicBezTo>
                    <a:pt x="253" y="518"/>
                    <a:pt x="239" y="532"/>
                    <a:pt x="221" y="53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0" name="Freeform 1443"/>
            <p:cNvSpPr>
              <a:spLocks noEditPoints="1"/>
            </p:cNvSpPr>
            <p:nvPr/>
          </p:nvSpPr>
          <p:spPr bwMode="auto">
            <a:xfrm>
              <a:off x="8999538" y="3486152"/>
              <a:ext cx="339725" cy="762001"/>
            </a:xfrm>
            <a:custGeom>
              <a:avLst/>
              <a:gdLst>
                <a:gd name="T0" fmla="*/ 2147483646 w 219"/>
                <a:gd name="T1" fmla="*/ 2147483646 h 489"/>
                <a:gd name="T2" fmla="*/ 2147483646 w 219"/>
                <a:gd name="T3" fmla="*/ 2147483646 h 489"/>
                <a:gd name="T4" fmla="*/ 0 w 219"/>
                <a:gd name="T5" fmla="*/ 2147483646 h 489"/>
                <a:gd name="T6" fmla="*/ 0 w 219"/>
                <a:gd name="T7" fmla="*/ 2147483646 h 489"/>
                <a:gd name="T8" fmla="*/ 2147483646 w 219"/>
                <a:gd name="T9" fmla="*/ 0 h 489"/>
                <a:gd name="T10" fmla="*/ 2147483646 w 219"/>
                <a:gd name="T11" fmla="*/ 0 h 489"/>
                <a:gd name="T12" fmla="*/ 2147483646 w 219"/>
                <a:gd name="T13" fmla="*/ 2147483646 h 489"/>
                <a:gd name="T14" fmla="*/ 2147483646 w 219"/>
                <a:gd name="T15" fmla="*/ 2147483646 h 489"/>
                <a:gd name="T16" fmla="*/ 2147483646 w 219"/>
                <a:gd name="T17" fmla="*/ 2147483646 h 489"/>
                <a:gd name="T18" fmla="*/ 2147483646 w 219"/>
                <a:gd name="T19" fmla="*/ 0 h 489"/>
                <a:gd name="T20" fmla="*/ 2147483646 w 219"/>
                <a:gd name="T21" fmla="*/ 0 h 489"/>
                <a:gd name="T22" fmla="*/ 2147483646 w 219"/>
                <a:gd name="T23" fmla="*/ 2147483646 h 489"/>
                <a:gd name="T24" fmla="*/ 2147483646 w 219"/>
                <a:gd name="T25" fmla="*/ 2147483646 h 489"/>
                <a:gd name="T26" fmla="*/ 2147483646 w 219"/>
                <a:gd name="T27" fmla="*/ 2147483646 h 489"/>
                <a:gd name="T28" fmla="*/ 2147483646 w 219"/>
                <a:gd name="T29" fmla="*/ 2147483646 h 489"/>
                <a:gd name="T30" fmla="*/ 2147483646 w 219"/>
                <a:gd name="T31" fmla="*/ 2147483646 h 489"/>
                <a:gd name="T32" fmla="*/ 2147483646 w 219"/>
                <a:gd name="T33" fmla="*/ 2147483646 h 489"/>
                <a:gd name="T34" fmla="*/ 2147483646 w 219"/>
                <a:gd name="T35" fmla="*/ 2147483646 h 489"/>
                <a:gd name="T36" fmla="*/ 2147483646 w 219"/>
                <a:gd name="T37" fmla="*/ 2147483646 h 489"/>
                <a:gd name="T38" fmla="*/ 2147483646 w 219"/>
                <a:gd name="T39" fmla="*/ 2147483646 h 489"/>
                <a:gd name="T40" fmla="*/ 2147483646 w 219"/>
                <a:gd name="T41" fmla="*/ 2147483646 h 489"/>
                <a:gd name="T42" fmla="*/ 2147483646 w 219"/>
                <a:gd name="T43" fmla="*/ 2147483646 h 489"/>
                <a:gd name="T44" fmla="*/ 2147483646 w 219"/>
                <a:gd name="T45" fmla="*/ 2147483646 h 489"/>
                <a:gd name="T46" fmla="*/ 2147483646 w 219"/>
                <a:gd name="T47" fmla="*/ 2147483646 h 489"/>
                <a:gd name="T48" fmla="*/ 2147483646 w 219"/>
                <a:gd name="T49" fmla="*/ 2147483646 h 489"/>
                <a:gd name="T50" fmla="*/ 2147483646 w 219"/>
                <a:gd name="T51" fmla="*/ 2147483646 h 489"/>
                <a:gd name="T52" fmla="*/ 2147483646 w 219"/>
                <a:gd name="T53" fmla="*/ 2147483646 h 489"/>
                <a:gd name="T54" fmla="*/ 2147483646 w 219"/>
                <a:gd name="T55" fmla="*/ 2147483646 h 4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9" h="489">
                  <a:moveTo>
                    <a:pt x="200" y="489"/>
                  </a:moveTo>
                  <a:cubicBezTo>
                    <a:pt x="19" y="489"/>
                    <a:pt x="19" y="489"/>
                    <a:pt x="19" y="489"/>
                  </a:cubicBezTo>
                  <a:cubicBezTo>
                    <a:pt x="8" y="489"/>
                    <a:pt x="0" y="481"/>
                    <a:pt x="0" y="470"/>
                  </a:cubicBezTo>
                  <a:cubicBezTo>
                    <a:pt x="0" y="19"/>
                    <a:pt x="0" y="19"/>
                    <a:pt x="0" y="19"/>
                  </a:cubicBezTo>
                  <a:cubicBezTo>
                    <a:pt x="0" y="8"/>
                    <a:pt x="8" y="0"/>
                    <a:pt x="19" y="0"/>
                  </a:cubicBezTo>
                  <a:cubicBezTo>
                    <a:pt x="93" y="0"/>
                    <a:pt x="93" y="0"/>
                    <a:pt x="93" y="0"/>
                  </a:cubicBezTo>
                  <a:cubicBezTo>
                    <a:pt x="96" y="0"/>
                    <a:pt x="99" y="2"/>
                    <a:pt x="99" y="4"/>
                  </a:cubicBezTo>
                  <a:cubicBezTo>
                    <a:pt x="101" y="9"/>
                    <a:pt x="105" y="12"/>
                    <a:pt x="110" y="12"/>
                  </a:cubicBezTo>
                  <a:cubicBezTo>
                    <a:pt x="114" y="12"/>
                    <a:pt x="119" y="9"/>
                    <a:pt x="120" y="4"/>
                  </a:cubicBezTo>
                  <a:cubicBezTo>
                    <a:pt x="121" y="2"/>
                    <a:pt x="123" y="0"/>
                    <a:pt x="127" y="0"/>
                  </a:cubicBezTo>
                  <a:cubicBezTo>
                    <a:pt x="200" y="0"/>
                    <a:pt x="200" y="0"/>
                    <a:pt x="200" y="0"/>
                  </a:cubicBezTo>
                  <a:cubicBezTo>
                    <a:pt x="211" y="0"/>
                    <a:pt x="219" y="8"/>
                    <a:pt x="219" y="19"/>
                  </a:cubicBezTo>
                  <a:cubicBezTo>
                    <a:pt x="219" y="470"/>
                    <a:pt x="219" y="470"/>
                    <a:pt x="219" y="470"/>
                  </a:cubicBezTo>
                  <a:cubicBezTo>
                    <a:pt x="219" y="481"/>
                    <a:pt x="211" y="489"/>
                    <a:pt x="200" y="489"/>
                  </a:cubicBezTo>
                  <a:close/>
                  <a:moveTo>
                    <a:pt x="19" y="4"/>
                  </a:moveTo>
                  <a:cubicBezTo>
                    <a:pt x="11" y="4"/>
                    <a:pt x="4" y="10"/>
                    <a:pt x="4" y="19"/>
                  </a:cubicBezTo>
                  <a:cubicBezTo>
                    <a:pt x="4" y="470"/>
                    <a:pt x="4" y="470"/>
                    <a:pt x="4" y="470"/>
                  </a:cubicBezTo>
                  <a:cubicBezTo>
                    <a:pt x="4" y="478"/>
                    <a:pt x="11" y="485"/>
                    <a:pt x="19" y="485"/>
                  </a:cubicBezTo>
                  <a:cubicBezTo>
                    <a:pt x="200" y="485"/>
                    <a:pt x="200" y="485"/>
                    <a:pt x="200" y="485"/>
                  </a:cubicBezTo>
                  <a:cubicBezTo>
                    <a:pt x="209" y="485"/>
                    <a:pt x="215" y="478"/>
                    <a:pt x="215" y="470"/>
                  </a:cubicBezTo>
                  <a:cubicBezTo>
                    <a:pt x="215" y="19"/>
                    <a:pt x="215" y="19"/>
                    <a:pt x="215" y="19"/>
                  </a:cubicBezTo>
                  <a:cubicBezTo>
                    <a:pt x="215" y="10"/>
                    <a:pt x="209" y="4"/>
                    <a:pt x="200" y="4"/>
                  </a:cubicBezTo>
                  <a:cubicBezTo>
                    <a:pt x="127" y="4"/>
                    <a:pt x="127" y="4"/>
                    <a:pt x="127" y="4"/>
                  </a:cubicBezTo>
                  <a:cubicBezTo>
                    <a:pt x="125" y="4"/>
                    <a:pt x="124" y="4"/>
                    <a:pt x="124" y="6"/>
                  </a:cubicBezTo>
                  <a:cubicBezTo>
                    <a:pt x="122" y="12"/>
                    <a:pt x="116" y="16"/>
                    <a:pt x="110" y="16"/>
                  </a:cubicBezTo>
                  <a:cubicBezTo>
                    <a:pt x="103" y="16"/>
                    <a:pt x="97" y="12"/>
                    <a:pt x="95" y="6"/>
                  </a:cubicBezTo>
                  <a:cubicBezTo>
                    <a:pt x="95" y="4"/>
                    <a:pt x="94" y="4"/>
                    <a:pt x="93" y="4"/>
                  </a:cubicBezTo>
                  <a:lnTo>
                    <a:pt x="19" y="4"/>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1" name="Oval 1444"/>
            <p:cNvSpPr>
              <a:spLocks noChangeArrowheads="1"/>
            </p:cNvSpPr>
            <p:nvPr/>
          </p:nvSpPr>
          <p:spPr bwMode="auto">
            <a:xfrm>
              <a:off x="9161463" y="3481390"/>
              <a:ext cx="17463" cy="19050"/>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sp>
          <p:nvSpPr>
            <p:cNvPr id="212" name="Oval 1445"/>
            <p:cNvSpPr>
              <a:spLocks noChangeArrowheads="1"/>
            </p:cNvSpPr>
            <p:nvPr/>
          </p:nvSpPr>
          <p:spPr bwMode="auto">
            <a:xfrm>
              <a:off x="9191626" y="4260853"/>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sp>
          <p:nvSpPr>
            <p:cNvPr id="213" name="Oval 1446"/>
            <p:cNvSpPr>
              <a:spLocks noChangeArrowheads="1"/>
            </p:cNvSpPr>
            <p:nvPr/>
          </p:nvSpPr>
          <p:spPr bwMode="auto">
            <a:xfrm>
              <a:off x="9263063" y="4260853"/>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grpSp>
      <p:grpSp>
        <p:nvGrpSpPr>
          <p:cNvPr id="214" name="组合 140"/>
          <p:cNvGrpSpPr>
            <a:grpSpLocks/>
          </p:cNvGrpSpPr>
          <p:nvPr/>
        </p:nvGrpSpPr>
        <p:grpSpPr bwMode="auto">
          <a:xfrm>
            <a:off x="7227947" y="5503527"/>
            <a:ext cx="369884" cy="236936"/>
            <a:chOff x="835025" y="2397126"/>
            <a:chExt cx="892174" cy="571501"/>
          </a:xfrm>
        </p:grpSpPr>
        <p:sp>
          <p:nvSpPr>
            <p:cNvPr id="215" name="Freeform 1067"/>
            <p:cNvSpPr>
              <a:spLocks/>
            </p:cNvSpPr>
            <p:nvPr/>
          </p:nvSpPr>
          <p:spPr bwMode="auto">
            <a:xfrm>
              <a:off x="1216025" y="2914651"/>
              <a:ext cx="6350" cy="9525"/>
            </a:xfrm>
            <a:custGeom>
              <a:avLst/>
              <a:gdLst>
                <a:gd name="T0" fmla="*/ 2147483646 w 4"/>
                <a:gd name="T1" fmla="*/ 2147483646 h 6"/>
                <a:gd name="T2" fmla="*/ 0 w 4"/>
                <a:gd name="T3" fmla="*/ 2147483646 h 6"/>
                <a:gd name="T4" fmla="*/ 0 w 4"/>
                <a:gd name="T5" fmla="*/ 0 h 6"/>
                <a:gd name="T6" fmla="*/ 0 w 4"/>
                <a:gd name="T7" fmla="*/ 0 h 6"/>
                <a:gd name="T8" fmla="*/ 0 w 4"/>
                <a:gd name="T9" fmla="*/ 2147483646 h 6"/>
                <a:gd name="T10" fmla="*/ 0 w 4"/>
                <a:gd name="T11" fmla="*/ 2147483646 h 6"/>
                <a:gd name="T12" fmla="*/ 0 w 4"/>
                <a:gd name="T13" fmla="*/ 2147483646 h 6"/>
                <a:gd name="T14" fmla="*/ 2147483646 w 4"/>
                <a:gd name="T15" fmla="*/ 2147483646 h 6"/>
                <a:gd name="T16" fmla="*/ 2147483646 w 4"/>
                <a:gd name="T17" fmla="*/ 2147483646 h 6"/>
                <a:gd name="T18" fmla="*/ 2147483646 w 4"/>
                <a:gd name="T19" fmla="*/ 2147483646 h 6"/>
                <a:gd name="T20" fmla="*/ 2147483646 w 4"/>
                <a:gd name="T21" fmla="*/ 0 h 6"/>
                <a:gd name="T22" fmla="*/ 2147483646 w 4"/>
                <a:gd name="T23" fmla="*/ 0 h 6"/>
                <a:gd name="T24" fmla="*/ 2147483646 w 4"/>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6">
                  <a:moveTo>
                    <a:pt x="3" y="2"/>
                  </a:moveTo>
                  <a:lnTo>
                    <a:pt x="0" y="2"/>
                  </a:lnTo>
                  <a:lnTo>
                    <a:pt x="0" y="0"/>
                  </a:lnTo>
                  <a:lnTo>
                    <a:pt x="0" y="6"/>
                  </a:lnTo>
                  <a:lnTo>
                    <a:pt x="0" y="3"/>
                  </a:lnTo>
                  <a:lnTo>
                    <a:pt x="3" y="3"/>
                  </a:lnTo>
                  <a:lnTo>
                    <a:pt x="3" y="6"/>
                  </a:lnTo>
                  <a:lnTo>
                    <a:pt x="4" y="6"/>
                  </a:lnTo>
                  <a:lnTo>
                    <a:pt x="4" y="0"/>
                  </a:lnTo>
                  <a:lnTo>
                    <a:pt x="3" y="0"/>
                  </a:lnTo>
                  <a:lnTo>
                    <a:pt x="3" y="2"/>
                  </a:lnTo>
                  <a:close/>
                </a:path>
              </a:pathLst>
            </a:custGeom>
            <a:solidFill>
              <a:srgbClr val="5D5C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6" name="Freeform 1068"/>
            <p:cNvSpPr>
              <a:spLocks/>
            </p:cNvSpPr>
            <p:nvPr/>
          </p:nvSpPr>
          <p:spPr bwMode="auto">
            <a:xfrm>
              <a:off x="1223962" y="2914651"/>
              <a:ext cx="7937" cy="9525"/>
            </a:xfrm>
            <a:custGeom>
              <a:avLst/>
              <a:gdLst>
                <a:gd name="T0" fmla="*/ 2147483646 w 5"/>
                <a:gd name="T1" fmla="*/ 2147483646 h 6"/>
                <a:gd name="T2" fmla="*/ 2147483646 w 5"/>
                <a:gd name="T3" fmla="*/ 2147483646 h 6"/>
                <a:gd name="T4" fmla="*/ 2147483646 w 5"/>
                <a:gd name="T5" fmla="*/ 2147483646 h 6"/>
                <a:gd name="T6" fmla="*/ 2147483646 w 5"/>
                <a:gd name="T7" fmla="*/ 0 h 6"/>
                <a:gd name="T8" fmla="*/ 0 w 5"/>
                <a:gd name="T9" fmla="*/ 0 h 6"/>
                <a:gd name="T10" fmla="*/ 0 w 5"/>
                <a:gd name="T11" fmla="*/ 2147483646 h 6"/>
                <a:gd name="T12" fmla="*/ 2147483646 w 5"/>
                <a:gd name="T13" fmla="*/ 2147483646 h 6"/>
                <a:gd name="T14" fmla="*/ 2147483646 w 5"/>
                <a:gd name="T15" fmla="*/ 2147483646 h 6"/>
                <a:gd name="T16" fmla="*/ 2147483646 w 5"/>
                <a:gd name="T17" fmla="*/ 0 h 6"/>
                <a:gd name="T18" fmla="*/ 2147483646 w 5"/>
                <a:gd name="T19" fmla="*/ 0 h 6"/>
                <a:gd name="T20" fmla="*/ 2147483646 w 5"/>
                <a:gd name="T21" fmla="*/ 2147483646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 h="6">
                  <a:moveTo>
                    <a:pt x="4" y="3"/>
                  </a:moveTo>
                  <a:cubicBezTo>
                    <a:pt x="4" y="4"/>
                    <a:pt x="4" y="5"/>
                    <a:pt x="3" y="5"/>
                  </a:cubicBezTo>
                  <a:cubicBezTo>
                    <a:pt x="2" y="5"/>
                    <a:pt x="2" y="4"/>
                    <a:pt x="2" y="3"/>
                  </a:cubicBezTo>
                  <a:cubicBezTo>
                    <a:pt x="2" y="0"/>
                    <a:pt x="2" y="0"/>
                    <a:pt x="2" y="0"/>
                  </a:cubicBezTo>
                  <a:cubicBezTo>
                    <a:pt x="0" y="0"/>
                    <a:pt x="0" y="0"/>
                    <a:pt x="0" y="0"/>
                  </a:cubicBezTo>
                  <a:cubicBezTo>
                    <a:pt x="0" y="3"/>
                    <a:pt x="0" y="3"/>
                    <a:pt x="0" y="3"/>
                  </a:cubicBezTo>
                  <a:cubicBezTo>
                    <a:pt x="0" y="5"/>
                    <a:pt x="1" y="6"/>
                    <a:pt x="3" y="6"/>
                  </a:cubicBezTo>
                  <a:cubicBezTo>
                    <a:pt x="4" y="6"/>
                    <a:pt x="5" y="5"/>
                    <a:pt x="5" y="3"/>
                  </a:cubicBezTo>
                  <a:cubicBezTo>
                    <a:pt x="5" y="0"/>
                    <a:pt x="5" y="0"/>
                    <a:pt x="5" y="0"/>
                  </a:cubicBezTo>
                  <a:cubicBezTo>
                    <a:pt x="4" y="0"/>
                    <a:pt x="4" y="0"/>
                    <a:pt x="4" y="0"/>
                  </a:cubicBezTo>
                  <a:lnTo>
                    <a:pt x="4" y="3"/>
                  </a:lnTo>
                  <a:close/>
                </a:path>
              </a:pathLst>
            </a:custGeom>
            <a:solidFill>
              <a:srgbClr val="5D5C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7" name="Freeform 1069"/>
            <p:cNvSpPr>
              <a:spLocks/>
            </p:cNvSpPr>
            <p:nvPr/>
          </p:nvSpPr>
          <p:spPr bwMode="auto">
            <a:xfrm>
              <a:off x="1241425" y="2914651"/>
              <a:ext cx="12700" cy="9525"/>
            </a:xfrm>
            <a:custGeom>
              <a:avLst/>
              <a:gdLst>
                <a:gd name="T0" fmla="*/ 2147483646 w 8"/>
                <a:gd name="T1" fmla="*/ 2147483646 h 6"/>
                <a:gd name="T2" fmla="*/ 2147483646 w 8"/>
                <a:gd name="T3" fmla="*/ 0 h 6"/>
                <a:gd name="T4" fmla="*/ 2147483646 w 8"/>
                <a:gd name="T5" fmla="*/ 0 h 6"/>
                <a:gd name="T6" fmla="*/ 2147483646 w 8"/>
                <a:gd name="T7" fmla="*/ 2147483646 h 6"/>
                <a:gd name="T8" fmla="*/ 2147483646 w 8"/>
                <a:gd name="T9" fmla="*/ 0 h 6"/>
                <a:gd name="T10" fmla="*/ 0 w 8"/>
                <a:gd name="T11" fmla="*/ 0 h 6"/>
                <a:gd name="T12" fmla="*/ 2147483646 w 8"/>
                <a:gd name="T13" fmla="*/ 2147483646 h 6"/>
                <a:gd name="T14" fmla="*/ 2147483646 w 8"/>
                <a:gd name="T15" fmla="*/ 2147483646 h 6"/>
                <a:gd name="T16" fmla="*/ 2147483646 w 8"/>
                <a:gd name="T17" fmla="*/ 2147483646 h 6"/>
                <a:gd name="T18" fmla="*/ 2147483646 w 8"/>
                <a:gd name="T19" fmla="*/ 2147483646 h 6"/>
                <a:gd name="T20" fmla="*/ 2147483646 w 8"/>
                <a:gd name="T21" fmla="*/ 2147483646 h 6"/>
                <a:gd name="T22" fmla="*/ 2147483646 w 8"/>
                <a:gd name="T23" fmla="*/ 0 h 6"/>
                <a:gd name="T24" fmla="*/ 2147483646 w 8"/>
                <a:gd name="T25" fmla="*/ 0 h 6"/>
                <a:gd name="T26" fmla="*/ 2147483646 w 8"/>
                <a:gd name="T27" fmla="*/ 2147483646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 h="6">
                  <a:moveTo>
                    <a:pt x="6" y="4"/>
                  </a:moveTo>
                  <a:lnTo>
                    <a:pt x="4" y="0"/>
                  </a:lnTo>
                  <a:lnTo>
                    <a:pt x="2" y="4"/>
                  </a:lnTo>
                  <a:lnTo>
                    <a:pt x="1" y="0"/>
                  </a:lnTo>
                  <a:lnTo>
                    <a:pt x="0" y="0"/>
                  </a:lnTo>
                  <a:lnTo>
                    <a:pt x="2" y="6"/>
                  </a:lnTo>
                  <a:lnTo>
                    <a:pt x="3" y="6"/>
                  </a:lnTo>
                  <a:lnTo>
                    <a:pt x="4" y="2"/>
                  </a:lnTo>
                  <a:lnTo>
                    <a:pt x="5" y="6"/>
                  </a:lnTo>
                  <a:lnTo>
                    <a:pt x="6" y="6"/>
                  </a:lnTo>
                  <a:lnTo>
                    <a:pt x="8" y="0"/>
                  </a:lnTo>
                  <a:lnTo>
                    <a:pt x="7" y="0"/>
                  </a:lnTo>
                  <a:lnTo>
                    <a:pt x="6" y="4"/>
                  </a:lnTo>
                  <a:close/>
                </a:path>
              </a:pathLst>
            </a:custGeom>
            <a:solidFill>
              <a:srgbClr val="5D5C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8" name="Freeform 1070"/>
            <p:cNvSpPr>
              <a:spLocks/>
            </p:cNvSpPr>
            <p:nvPr/>
          </p:nvSpPr>
          <p:spPr bwMode="auto">
            <a:xfrm>
              <a:off x="1255712" y="2914651"/>
              <a:ext cx="6350" cy="9525"/>
            </a:xfrm>
            <a:custGeom>
              <a:avLst/>
              <a:gdLst>
                <a:gd name="T0" fmla="*/ 2147483646 w 4"/>
                <a:gd name="T1" fmla="*/ 2147483646 h 6"/>
                <a:gd name="T2" fmla="*/ 2147483646 w 4"/>
                <a:gd name="T3" fmla="*/ 2147483646 h 6"/>
                <a:gd name="T4" fmla="*/ 2147483646 w 4"/>
                <a:gd name="T5" fmla="*/ 2147483646 h 6"/>
                <a:gd name="T6" fmla="*/ 2147483646 w 4"/>
                <a:gd name="T7" fmla="*/ 2147483646 h 6"/>
                <a:gd name="T8" fmla="*/ 2147483646 w 4"/>
                <a:gd name="T9" fmla="*/ 2147483646 h 6"/>
                <a:gd name="T10" fmla="*/ 2147483646 w 4"/>
                <a:gd name="T11" fmla="*/ 2147483646 h 6"/>
                <a:gd name="T12" fmla="*/ 2147483646 w 4"/>
                <a:gd name="T13" fmla="*/ 0 h 6"/>
                <a:gd name="T14" fmla="*/ 0 w 4"/>
                <a:gd name="T15" fmla="*/ 0 h 6"/>
                <a:gd name="T16" fmla="*/ 0 w 4"/>
                <a:gd name="T17" fmla="*/ 2147483646 h 6"/>
                <a:gd name="T18" fmla="*/ 2147483646 w 4"/>
                <a:gd name="T19" fmla="*/ 2147483646 h 6"/>
                <a:gd name="T20" fmla="*/ 2147483646 w 4"/>
                <a:gd name="T21" fmla="*/ 2147483646 h 6"/>
                <a:gd name="T22" fmla="*/ 2147483646 w 4"/>
                <a:gd name="T23" fmla="*/ 2147483646 h 6"/>
                <a:gd name="T24" fmla="*/ 2147483646 w 4"/>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6">
                  <a:moveTo>
                    <a:pt x="1" y="3"/>
                  </a:moveTo>
                  <a:lnTo>
                    <a:pt x="3" y="3"/>
                  </a:lnTo>
                  <a:lnTo>
                    <a:pt x="3" y="2"/>
                  </a:lnTo>
                  <a:lnTo>
                    <a:pt x="1" y="2"/>
                  </a:lnTo>
                  <a:lnTo>
                    <a:pt x="1" y="1"/>
                  </a:lnTo>
                  <a:lnTo>
                    <a:pt x="4" y="1"/>
                  </a:lnTo>
                  <a:lnTo>
                    <a:pt x="4" y="0"/>
                  </a:lnTo>
                  <a:lnTo>
                    <a:pt x="0" y="0"/>
                  </a:lnTo>
                  <a:lnTo>
                    <a:pt x="0" y="6"/>
                  </a:lnTo>
                  <a:lnTo>
                    <a:pt x="4" y="6"/>
                  </a:lnTo>
                  <a:lnTo>
                    <a:pt x="4" y="5"/>
                  </a:lnTo>
                  <a:lnTo>
                    <a:pt x="1" y="5"/>
                  </a:lnTo>
                  <a:lnTo>
                    <a:pt x="1" y="3"/>
                  </a:lnTo>
                  <a:close/>
                </a:path>
              </a:pathLst>
            </a:custGeom>
            <a:solidFill>
              <a:srgbClr val="5D5C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9" name="Rectangle 1071"/>
            <p:cNvSpPr>
              <a:spLocks noChangeArrowheads="1"/>
            </p:cNvSpPr>
            <p:nvPr/>
          </p:nvSpPr>
          <p:spPr bwMode="auto">
            <a:xfrm>
              <a:off x="1263650" y="2914651"/>
              <a:ext cx="1587" cy="9525"/>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000000"/>
                </a:solidFill>
              </a:endParaRPr>
            </a:p>
          </p:txBody>
        </p:sp>
        <p:sp>
          <p:nvSpPr>
            <p:cNvPr id="220" name="Freeform 1072"/>
            <p:cNvSpPr>
              <a:spLocks noEditPoints="1"/>
            </p:cNvSpPr>
            <p:nvPr/>
          </p:nvSpPr>
          <p:spPr bwMode="auto">
            <a:xfrm>
              <a:off x="1233487" y="2914651"/>
              <a:ext cx="7937" cy="9525"/>
            </a:xfrm>
            <a:custGeom>
              <a:avLst/>
              <a:gdLst>
                <a:gd name="T0" fmla="*/ 2147483646 w 5"/>
                <a:gd name="T1" fmla="*/ 2147483646 h 6"/>
                <a:gd name="T2" fmla="*/ 2147483646 w 5"/>
                <a:gd name="T3" fmla="*/ 2147483646 h 6"/>
                <a:gd name="T4" fmla="*/ 2147483646 w 5"/>
                <a:gd name="T5" fmla="*/ 2147483646 h 6"/>
                <a:gd name="T6" fmla="*/ 2147483646 w 5"/>
                <a:gd name="T7" fmla="*/ 0 h 6"/>
                <a:gd name="T8" fmla="*/ 2147483646 w 5"/>
                <a:gd name="T9" fmla="*/ 0 h 6"/>
                <a:gd name="T10" fmla="*/ 2147483646 w 5"/>
                <a:gd name="T11" fmla="*/ 0 h 6"/>
                <a:gd name="T12" fmla="*/ 0 w 5"/>
                <a:gd name="T13" fmla="*/ 2147483646 h 6"/>
                <a:gd name="T14" fmla="*/ 2147483646 w 5"/>
                <a:gd name="T15" fmla="*/ 2147483646 h 6"/>
                <a:gd name="T16" fmla="*/ 2147483646 w 5"/>
                <a:gd name="T17" fmla="*/ 2147483646 h 6"/>
                <a:gd name="T18" fmla="*/ 2147483646 w 5"/>
                <a:gd name="T19" fmla="*/ 2147483646 h 6"/>
                <a:gd name="T20" fmla="*/ 2147483646 w 5"/>
                <a:gd name="T21" fmla="*/ 2147483646 h 6"/>
                <a:gd name="T22" fmla="*/ 2147483646 w 5"/>
                <a:gd name="T23" fmla="*/ 2147483646 h 6"/>
                <a:gd name="T24" fmla="*/ 2147483646 w 5"/>
                <a:gd name="T25" fmla="*/ 2147483646 h 6"/>
                <a:gd name="T26" fmla="*/ 2147483646 w 5"/>
                <a:gd name="T27" fmla="*/ 2147483646 h 6"/>
                <a:gd name="T28" fmla="*/ 2147483646 w 5"/>
                <a:gd name="T29" fmla="*/ 2147483646 h 6"/>
                <a:gd name="T30" fmla="*/ 2147483646 w 5"/>
                <a:gd name="T31" fmla="*/ 2147483646 h 6"/>
                <a:gd name="T32" fmla="*/ 2147483646 w 5"/>
                <a:gd name="T33" fmla="*/ 2147483646 h 6"/>
                <a:gd name="T34" fmla="*/ 2147483646 w 5"/>
                <a:gd name="T35" fmla="*/ 2147483646 h 6"/>
                <a:gd name="T36" fmla="*/ 2147483646 w 5"/>
                <a:gd name="T37" fmla="*/ 2147483646 h 6"/>
                <a:gd name="T38" fmla="*/ 2147483646 w 5"/>
                <a:gd name="T39" fmla="*/ 2147483646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 h="6">
                  <a:moveTo>
                    <a:pt x="4" y="5"/>
                  </a:moveTo>
                  <a:lnTo>
                    <a:pt x="4" y="6"/>
                  </a:lnTo>
                  <a:lnTo>
                    <a:pt x="5" y="6"/>
                  </a:lnTo>
                  <a:lnTo>
                    <a:pt x="3" y="0"/>
                  </a:lnTo>
                  <a:lnTo>
                    <a:pt x="2" y="0"/>
                  </a:lnTo>
                  <a:lnTo>
                    <a:pt x="0" y="6"/>
                  </a:lnTo>
                  <a:lnTo>
                    <a:pt x="1" y="6"/>
                  </a:lnTo>
                  <a:lnTo>
                    <a:pt x="1" y="5"/>
                  </a:lnTo>
                  <a:lnTo>
                    <a:pt x="4" y="5"/>
                  </a:lnTo>
                  <a:close/>
                  <a:moveTo>
                    <a:pt x="3" y="2"/>
                  </a:moveTo>
                  <a:lnTo>
                    <a:pt x="3" y="3"/>
                  </a:lnTo>
                  <a:lnTo>
                    <a:pt x="3" y="4"/>
                  </a:lnTo>
                  <a:lnTo>
                    <a:pt x="2" y="4"/>
                  </a:lnTo>
                  <a:lnTo>
                    <a:pt x="2" y="3"/>
                  </a:lnTo>
                  <a:lnTo>
                    <a:pt x="3" y="2"/>
                  </a:lnTo>
                  <a:close/>
                </a:path>
              </a:pathLst>
            </a:custGeom>
            <a:solidFill>
              <a:srgbClr val="5D5C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21" name="Oval 1073"/>
            <p:cNvSpPr>
              <a:spLocks noChangeArrowheads="1"/>
            </p:cNvSpPr>
            <p:nvPr/>
          </p:nvSpPr>
          <p:spPr bwMode="auto">
            <a:xfrm>
              <a:off x="1235075" y="2427288"/>
              <a:ext cx="11112" cy="9525"/>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sp>
          <p:nvSpPr>
            <p:cNvPr id="222" name="Freeform 1074"/>
            <p:cNvSpPr>
              <a:spLocks/>
            </p:cNvSpPr>
            <p:nvPr/>
          </p:nvSpPr>
          <p:spPr bwMode="auto">
            <a:xfrm>
              <a:off x="835025" y="2397126"/>
              <a:ext cx="825500" cy="557213"/>
            </a:xfrm>
            <a:custGeom>
              <a:avLst/>
              <a:gdLst>
                <a:gd name="T0" fmla="*/ 2147483646 w 532"/>
                <a:gd name="T1" fmla="*/ 2147483646 h 359"/>
                <a:gd name="T2" fmla="*/ 2147483646 w 532"/>
                <a:gd name="T3" fmla="*/ 2147483646 h 359"/>
                <a:gd name="T4" fmla="*/ 2147483646 w 532"/>
                <a:gd name="T5" fmla="*/ 2147483646 h 359"/>
                <a:gd name="T6" fmla="*/ 2147483646 w 532"/>
                <a:gd name="T7" fmla="*/ 2147483646 h 359"/>
                <a:gd name="T8" fmla="*/ 2147483646 w 532"/>
                <a:gd name="T9" fmla="*/ 2147483646 h 359"/>
                <a:gd name="T10" fmla="*/ 2147483646 w 532"/>
                <a:gd name="T11" fmla="*/ 2147483646 h 359"/>
                <a:gd name="T12" fmla="*/ 2147483646 w 532"/>
                <a:gd name="T13" fmla="*/ 2147483646 h 359"/>
                <a:gd name="T14" fmla="*/ 2147483646 w 532"/>
                <a:gd name="T15" fmla="*/ 2147483646 h 359"/>
                <a:gd name="T16" fmla="*/ 2147483646 w 532"/>
                <a:gd name="T17" fmla="*/ 2147483646 h 359"/>
                <a:gd name="T18" fmla="*/ 2147483646 w 532"/>
                <a:gd name="T19" fmla="*/ 2147483646 h 359"/>
                <a:gd name="T20" fmla="*/ 2147483646 w 532"/>
                <a:gd name="T21" fmla="*/ 2147483646 h 359"/>
                <a:gd name="T22" fmla="*/ 2147483646 w 532"/>
                <a:gd name="T23" fmla="*/ 2147483646 h 359"/>
                <a:gd name="T24" fmla="*/ 2147483646 w 532"/>
                <a:gd name="T25" fmla="*/ 2147483646 h 359"/>
                <a:gd name="T26" fmla="*/ 2147483646 w 532"/>
                <a:gd name="T27" fmla="*/ 2147483646 h 359"/>
                <a:gd name="T28" fmla="*/ 0 w 532"/>
                <a:gd name="T29" fmla="*/ 2147483646 h 359"/>
                <a:gd name="T30" fmla="*/ 0 w 532"/>
                <a:gd name="T31" fmla="*/ 2147483646 h 359"/>
                <a:gd name="T32" fmla="*/ 2147483646 w 532"/>
                <a:gd name="T33" fmla="*/ 0 h 359"/>
                <a:gd name="T34" fmla="*/ 2147483646 w 532"/>
                <a:gd name="T35" fmla="*/ 0 h 359"/>
                <a:gd name="T36" fmla="*/ 2147483646 w 532"/>
                <a:gd name="T37" fmla="*/ 2147483646 h 359"/>
                <a:gd name="T38" fmla="*/ 2147483646 w 532"/>
                <a:gd name="T39" fmla="*/ 2147483646 h 359"/>
                <a:gd name="T40" fmla="*/ 2147483646 w 532"/>
                <a:gd name="T41" fmla="*/ 2147483646 h 3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2" h="359">
                  <a:moveTo>
                    <a:pt x="506" y="359"/>
                  </a:moveTo>
                  <a:cubicBezTo>
                    <a:pt x="444" y="359"/>
                    <a:pt x="444" y="359"/>
                    <a:pt x="444" y="359"/>
                  </a:cubicBezTo>
                  <a:cubicBezTo>
                    <a:pt x="444" y="351"/>
                    <a:pt x="444" y="351"/>
                    <a:pt x="444" y="351"/>
                  </a:cubicBezTo>
                  <a:cubicBezTo>
                    <a:pt x="506" y="351"/>
                    <a:pt x="506" y="351"/>
                    <a:pt x="506" y="351"/>
                  </a:cubicBezTo>
                  <a:cubicBezTo>
                    <a:pt x="516" y="351"/>
                    <a:pt x="524" y="343"/>
                    <a:pt x="524" y="333"/>
                  </a:cubicBezTo>
                  <a:cubicBezTo>
                    <a:pt x="524" y="26"/>
                    <a:pt x="524" y="26"/>
                    <a:pt x="524" y="26"/>
                  </a:cubicBezTo>
                  <a:cubicBezTo>
                    <a:pt x="524" y="16"/>
                    <a:pt x="516" y="8"/>
                    <a:pt x="506" y="8"/>
                  </a:cubicBezTo>
                  <a:cubicBezTo>
                    <a:pt x="26" y="8"/>
                    <a:pt x="26" y="8"/>
                    <a:pt x="26" y="8"/>
                  </a:cubicBezTo>
                  <a:cubicBezTo>
                    <a:pt x="16" y="8"/>
                    <a:pt x="8" y="16"/>
                    <a:pt x="8" y="26"/>
                  </a:cubicBezTo>
                  <a:cubicBezTo>
                    <a:pt x="8" y="333"/>
                    <a:pt x="8" y="333"/>
                    <a:pt x="8" y="333"/>
                  </a:cubicBezTo>
                  <a:cubicBezTo>
                    <a:pt x="8" y="343"/>
                    <a:pt x="16" y="351"/>
                    <a:pt x="26" y="351"/>
                  </a:cubicBezTo>
                  <a:cubicBezTo>
                    <a:pt x="380" y="351"/>
                    <a:pt x="380" y="351"/>
                    <a:pt x="380" y="351"/>
                  </a:cubicBezTo>
                  <a:cubicBezTo>
                    <a:pt x="380" y="359"/>
                    <a:pt x="380" y="359"/>
                    <a:pt x="380" y="359"/>
                  </a:cubicBezTo>
                  <a:cubicBezTo>
                    <a:pt x="26" y="359"/>
                    <a:pt x="26" y="359"/>
                    <a:pt x="26" y="359"/>
                  </a:cubicBezTo>
                  <a:cubicBezTo>
                    <a:pt x="11" y="359"/>
                    <a:pt x="0" y="347"/>
                    <a:pt x="0" y="333"/>
                  </a:cubicBezTo>
                  <a:cubicBezTo>
                    <a:pt x="0" y="26"/>
                    <a:pt x="0" y="26"/>
                    <a:pt x="0" y="26"/>
                  </a:cubicBezTo>
                  <a:cubicBezTo>
                    <a:pt x="0" y="12"/>
                    <a:pt x="11" y="0"/>
                    <a:pt x="26" y="0"/>
                  </a:cubicBezTo>
                  <a:cubicBezTo>
                    <a:pt x="506" y="0"/>
                    <a:pt x="506" y="0"/>
                    <a:pt x="506" y="0"/>
                  </a:cubicBezTo>
                  <a:cubicBezTo>
                    <a:pt x="521" y="0"/>
                    <a:pt x="532" y="12"/>
                    <a:pt x="532" y="26"/>
                  </a:cubicBezTo>
                  <a:cubicBezTo>
                    <a:pt x="532" y="333"/>
                    <a:pt x="532" y="333"/>
                    <a:pt x="532" y="333"/>
                  </a:cubicBezTo>
                  <a:cubicBezTo>
                    <a:pt x="532" y="347"/>
                    <a:pt x="521" y="359"/>
                    <a:pt x="506" y="359"/>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23" name="Freeform 1075"/>
            <p:cNvSpPr>
              <a:spLocks noEditPoints="1"/>
            </p:cNvSpPr>
            <p:nvPr/>
          </p:nvSpPr>
          <p:spPr bwMode="auto">
            <a:xfrm>
              <a:off x="874712" y="2447926"/>
              <a:ext cx="727075" cy="454025"/>
            </a:xfrm>
            <a:custGeom>
              <a:avLst/>
              <a:gdLst>
                <a:gd name="T0" fmla="*/ 2147483646 w 458"/>
                <a:gd name="T1" fmla="*/ 2147483646 h 286"/>
                <a:gd name="T2" fmla="*/ 0 w 458"/>
                <a:gd name="T3" fmla="*/ 2147483646 h 286"/>
                <a:gd name="T4" fmla="*/ 0 w 458"/>
                <a:gd name="T5" fmla="*/ 0 h 286"/>
                <a:gd name="T6" fmla="*/ 2147483646 w 458"/>
                <a:gd name="T7" fmla="*/ 0 h 286"/>
                <a:gd name="T8" fmla="*/ 2147483646 w 458"/>
                <a:gd name="T9" fmla="*/ 2147483646 h 286"/>
                <a:gd name="T10" fmla="*/ 2147483646 w 458"/>
                <a:gd name="T11" fmla="*/ 2147483646 h 286"/>
                <a:gd name="T12" fmla="*/ 2147483646 w 458"/>
                <a:gd name="T13" fmla="*/ 2147483646 h 286"/>
                <a:gd name="T14" fmla="*/ 2147483646 w 458"/>
                <a:gd name="T15" fmla="*/ 2147483646 h 286"/>
                <a:gd name="T16" fmla="*/ 2147483646 w 458"/>
                <a:gd name="T17" fmla="*/ 2147483646 h 286"/>
                <a:gd name="T18" fmla="*/ 2147483646 w 458"/>
                <a:gd name="T19" fmla="*/ 2147483646 h 2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8" h="286">
                  <a:moveTo>
                    <a:pt x="458" y="286"/>
                  </a:moveTo>
                  <a:lnTo>
                    <a:pt x="0" y="286"/>
                  </a:lnTo>
                  <a:lnTo>
                    <a:pt x="0" y="0"/>
                  </a:lnTo>
                  <a:lnTo>
                    <a:pt x="458" y="0"/>
                  </a:lnTo>
                  <a:lnTo>
                    <a:pt x="458" y="286"/>
                  </a:lnTo>
                  <a:close/>
                  <a:moveTo>
                    <a:pt x="4" y="282"/>
                  </a:moveTo>
                  <a:lnTo>
                    <a:pt x="454" y="282"/>
                  </a:lnTo>
                  <a:lnTo>
                    <a:pt x="454" y="4"/>
                  </a:lnTo>
                  <a:lnTo>
                    <a:pt x="4" y="4"/>
                  </a:lnTo>
                  <a:lnTo>
                    <a:pt x="4" y="282"/>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24" name="Freeform 1076"/>
            <p:cNvSpPr>
              <a:spLocks noEditPoints="1"/>
            </p:cNvSpPr>
            <p:nvPr/>
          </p:nvSpPr>
          <p:spPr bwMode="auto">
            <a:xfrm>
              <a:off x="1611312" y="2647951"/>
              <a:ext cx="20637" cy="55563"/>
            </a:xfrm>
            <a:custGeom>
              <a:avLst/>
              <a:gdLst>
                <a:gd name="T0" fmla="*/ 2147483646 w 14"/>
                <a:gd name="T1" fmla="*/ 2147483646 h 36"/>
                <a:gd name="T2" fmla="*/ 0 w 14"/>
                <a:gd name="T3" fmla="*/ 2147483646 h 36"/>
                <a:gd name="T4" fmla="*/ 0 w 14"/>
                <a:gd name="T5" fmla="*/ 2147483646 h 36"/>
                <a:gd name="T6" fmla="*/ 2147483646 w 14"/>
                <a:gd name="T7" fmla="*/ 0 h 36"/>
                <a:gd name="T8" fmla="*/ 2147483646 w 14"/>
                <a:gd name="T9" fmla="*/ 2147483646 h 36"/>
                <a:gd name="T10" fmla="*/ 2147483646 w 14"/>
                <a:gd name="T11" fmla="*/ 2147483646 h 36"/>
                <a:gd name="T12" fmla="*/ 2147483646 w 14"/>
                <a:gd name="T13" fmla="*/ 2147483646 h 36"/>
                <a:gd name="T14" fmla="*/ 2147483646 w 14"/>
                <a:gd name="T15" fmla="*/ 2147483646 h 36"/>
                <a:gd name="T16" fmla="*/ 2147483646 w 14"/>
                <a:gd name="T17" fmla="*/ 2147483646 h 36"/>
                <a:gd name="T18" fmla="*/ 2147483646 w 14"/>
                <a:gd name="T19" fmla="*/ 2147483646 h 36"/>
                <a:gd name="T20" fmla="*/ 2147483646 w 14"/>
                <a:gd name="T21" fmla="*/ 2147483646 h 36"/>
                <a:gd name="T22" fmla="*/ 2147483646 w 14"/>
                <a:gd name="T23" fmla="*/ 2147483646 h 36"/>
                <a:gd name="T24" fmla="*/ 2147483646 w 14"/>
                <a:gd name="T25" fmla="*/ 2147483646 h 36"/>
                <a:gd name="T26" fmla="*/ 2147483646 w 14"/>
                <a:gd name="T27" fmla="*/ 2147483646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36">
                  <a:moveTo>
                    <a:pt x="7" y="36"/>
                  </a:moveTo>
                  <a:cubicBezTo>
                    <a:pt x="3" y="36"/>
                    <a:pt x="0" y="33"/>
                    <a:pt x="0" y="30"/>
                  </a:cubicBezTo>
                  <a:cubicBezTo>
                    <a:pt x="0" y="7"/>
                    <a:pt x="0" y="7"/>
                    <a:pt x="0" y="7"/>
                  </a:cubicBezTo>
                  <a:cubicBezTo>
                    <a:pt x="0" y="3"/>
                    <a:pt x="3" y="0"/>
                    <a:pt x="7" y="0"/>
                  </a:cubicBezTo>
                  <a:cubicBezTo>
                    <a:pt x="11" y="0"/>
                    <a:pt x="14" y="3"/>
                    <a:pt x="14" y="7"/>
                  </a:cubicBezTo>
                  <a:cubicBezTo>
                    <a:pt x="14" y="30"/>
                    <a:pt x="14" y="30"/>
                    <a:pt x="14" y="30"/>
                  </a:cubicBezTo>
                  <a:cubicBezTo>
                    <a:pt x="14" y="33"/>
                    <a:pt x="11" y="36"/>
                    <a:pt x="7" y="36"/>
                  </a:cubicBezTo>
                  <a:close/>
                  <a:moveTo>
                    <a:pt x="7" y="4"/>
                  </a:moveTo>
                  <a:cubicBezTo>
                    <a:pt x="5" y="4"/>
                    <a:pt x="4" y="6"/>
                    <a:pt x="4" y="7"/>
                  </a:cubicBezTo>
                  <a:cubicBezTo>
                    <a:pt x="4" y="30"/>
                    <a:pt x="4" y="30"/>
                    <a:pt x="4" y="30"/>
                  </a:cubicBezTo>
                  <a:cubicBezTo>
                    <a:pt x="4" y="31"/>
                    <a:pt x="5" y="32"/>
                    <a:pt x="7" y="32"/>
                  </a:cubicBezTo>
                  <a:cubicBezTo>
                    <a:pt x="9" y="32"/>
                    <a:pt x="10" y="31"/>
                    <a:pt x="10" y="30"/>
                  </a:cubicBezTo>
                  <a:cubicBezTo>
                    <a:pt x="10" y="7"/>
                    <a:pt x="10" y="7"/>
                    <a:pt x="10" y="7"/>
                  </a:cubicBezTo>
                  <a:cubicBezTo>
                    <a:pt x="10" y="6"/>
                    <a:pt x="9" y="4"/>
                    <a:pt x="7" y="4"/>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25" name="Freeform 1077"/>
            <p:cNvSpPr>
              <a:spLocks noEditPoints="1"/>
            </p:cNvSpPr>
            <p:nvPr/>
          </p:nvSpPr>
          <p:spPr bwMode="auto">
            <a:xfrm>
              <a:off x="1690687" y="2486026"/>
              <a:ext cx="36512" cy="455613"/>
            </a:xfrm>
            <a:custGeom>
              <a:avLst/>
              <a:gdLst>
                <a:gd name="T0" fmla="*/ 2147483646 w 24"/>
                <a:gd name="T1" fmla="*/ 2147483646 h 293"/>
                <a:gd name="T2" fmla="*/ 2147483646 w 24"/>
                <a:gd name="T3" fmla="*/ 2147483646 h 293"/>
                <a:gd name="T4" fmla="*/ 2147483646 w 24"/>
                <a:gd name="T5" fmla="*/ 2147483646 h 293"/>
                <a:gd name="T6" fmla="*/ 0 w 24"/>
                <a:gd name="T7" fmla="*/ 2147483646 h 293"/>
                <a:gd name="T8" fmla="*/ 0 w 24"/>
                <a:gd name="T9" fmla="*/ 2147483646 h 293"/>
                <a:gd name="T10" fmla="*/ 0 w 24"/>
                <a:gd name="T11" fmla="*/ 2147483646 h 293"/>
                <a:gd name="T12" fmla="*/ 2147483646 w 24"/>
                <a:gd name="T13" fmla="*/ 2147483646 h 293"/>
                <a:gd name="T14" fmla="*/ 2147483646 w 24"/>
                <a:gd name="T15" fmla="*/ 2147483646 h 293"/>
                <a:gd name="T16" fmla="*/ 2147483646 w 24"/>
                <a:gd name="T17" fmla="*/ 2147483646 h 293"/>
                <a:gd name="T18" fmla="*/ 2147483646 w 24"/>
                <a:gd name="T19" fmla="*/ 2147483646 h 293"/>
                <a:gd name="T20" fmla="*/ 2147483646 w 24"/>
                <a:gd name="T21" fmla="*/ 2147483646 h 293"/>
                <a:gd name="T22" fmla="*/ 2147483646 w 24"/>
                <a:gd name="T23" fmla="*/ 2147483646 h 293"/>
                <a:gd name="T24" fmla="*/ 2147483646 w 24"/>
                <a:gd name="T25" fmla="*/ 2147483646 h 293"/>
                <a:gd name="T26" fmla="*/ 2147483646 w 24"/>
                <a:gd name="T27" fmla="*/ 2147483646 h 293"/>
                <a:gd name="T28" fmla="*/ 2147483646 w 24"/>
                <a:gd name="T29" fmla="*/ 2147483646 h 293"/>
                <a:gd name="T30" fmla="*/ 2147483646 w 24"/>
                <a:gd name="T31" fmla="*/ 2147483646 h 293"/>
                <a:gd name="T32" fmla="*/ 2147483646 w 24"/>
                <a:gd name="T33" fmla="*/ 2147483646 h 293"/>
                <a:gd name="T34" fmla="*/ 2147483646 w 24"/>
                <a:gd name="T35" fmla="*/ 2147483646 h 293"/>
                <a:gd name="T36" fmla="*/ 2147483646 w 24"/>
                <a:gd name="T37" fmla="*/ 2147483646 h 293"/>
                <a:gd name="T38" fmla="*/ 2147483646 w 24"/>
                <a:gd name="T39" fmla="*/ 2147483646 h 293"/>
                <a:gd name="T40" fmla="*/ 2147483646 w 24"/>
                <a:gd name="T41" fmla="*/ 2147483646 h 293"/>
                <a:gd name="T42" fmla="*/ 2147483646 w 24"/>
                <a:gd name="T43" fmla="*/ 2147483646 h 293"/>
                <a:gd name="T44" fmla="*/ 2147483646 w 24"/>
                <a:gd name="T45" fmla="*/ 2147483646 h 293"/>
                <a:gd name="T46" fmla="*/ 2147483646 w 24"/>
                <a:gd name="T47" fmla="*/ 2147483646 h 293"/>
                <a:gd name="T48" fmla="*/ 2147483646 w 24"/>
                <a:gd name="T49" fmla="*/ 2147483646 h 293"/>
                <a:gd name="T50" fmla="*/ 2147483646 w 24"/>
                <a:gd name="T51" fmla="*/ 2147483646 h 293"/>
                <a:gd name="T52" fmla="*/ 2147483646 w 24"/>
                <a:gd name="T53" fmla="*/ 2147483646 h 2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4" h="293">
                  <a:moveTo>
                    <a:pt x="14" y="293"/>
                  </a:moveTo>
                  <a:cubicBezTo>
                    <a:pt x="9" y="293"/>
                    <a:pt x="9" y="293"/>
                    <a:pt x="9" y="293"/>
                  </a:cubicBezTo>
                  <a:cubicBezTo>
                    <a:pt x="6" y="293"/>
                    <a:pt x="4" y="291"/>
                    <a:pt x="3" y="288"/>
                  </a:cubicBezTo>
                  <a:cubicBezTo>
                    <a:pt x="0" y="272"/>
                    <a:pt x="0" y="272"/>
                    <a:pt x="0" y="272"/>
                  </a:cubicBezTo>
                  <a:cubicBezTo>
                    <a:pt x="0" y="270"/>
                    <a:pt x="0" y="267"/>
                    <a:pt x="0" y="264"/>
                  </a:cubicBezTo>
                  <a:cubicBezTo>
                    <a:pt x="0" y="13"/>
                    <a:pt x="0" y="13"/>
                    <a:pt x="0" y="13"/>
                  </a:cubicBezTo>
                  <a:cubicBezTo>
                    <a:pt x="0" y="7"/>
                    <a:pt x="4" y="2"/>
                    <a:pt x="10" y="1"/>
                  </a:cubicBezTo>
                  <a:cubicBezTo>
                    <a:pt x="10" y="1"/>
                    <a:pt x="10" y="1"/>
                    <a:pt x="10" y="1"/>
                  </a:cubicBezTo>
                  <a:cubicBezTo>
                    <a:pt x="13" y="0"/>
                    <a:pt x="17" y="1"/>
                    <a:pt x="19" y="3"/>
                  </a:cubicBezTo>
                  <a:cubicBezTo>
                    <a:pt x="22" y="6"/>
                    <a:pt x="24" y="9"/>
                    <a:pt x="24" y="13"/>
                  </a:cubicBezTo>
                  <a:cubicBezTo>
                    <a:pt x="24" y="264"/>
                    <a:pt x="24" y="264"/>
                    <a:pt x="24" y="264"/>
                  </a:cubicBezTo>
                  <a:cubicBezTo>
                    <a:pt x="24" y="267"/>
                    <a:pt x="23" y="270"/>
                    <a:pt x="23" y="272"/>
                  </a:cubicBezTo>
                  <a:cubicBezTo>
                    <a:pt x="20" y="288"/>
                    <a:pt x="20" y="288"/>
                    <a:pt x="20" y="288"/>
                  </a:cubicBezTo>
                  <a:cubicBezTo>
                    <a:pt x="19" y="291"/>
                    <a:pt x="17" y="293"/>
                    <a:pt x="14" y="293"/>
                  </a:cubicBezTo>
                  <a:close/>
                  <a:moveTo>
                    <a:pt x="12" y="286"/>
                  </a:moveTo>
                  <a:cubicBezTo>
                    <a:pt x="12" y="286"/>
                    <a:pt x="12" y="286"/>
                    <a:pt x="12" y="286"/>
                  </a:cubicBezTo>
                  <a:close/>
                  <a:moveTo>
                    <a:pt x="11" y="285"/>
                  </a:moveTo>
                  <a:cubicBezTo>
                    <a:pt x="12" y="285"/>
                    <a:pt x="12" y="285"/>
                    <a:pt x="12" y="285"/>
                  </a:cubicBezTo>
                  <a:cubicBezTo>
                    <a:pt x="15" y="271"/>
                    <a:pt x="15" y="271"/>
                    <a:pt x="15" y="271"/>
                  </a:cubicBezTo>
                  <a:cubicBezTo>
                    <a:pt x="15" y="269"/>
                    <a:pt x="16" y="266"/>
                    <a:pt x="16" y="264"/>
                  </a:cubicBezTo>
                  <a:cubicBezTo>
                    <a:pt x="16" y="13"/>
                    <a:pt x="16" y="13"/>
                    <a:pt x="16" y="13"/>
                  </a:cubicBezTo>
                  <a:cubicBezTo>
                    <a:pt x="16" y="11"/>
                    <a:pt x="15" y="10"/>
                    <a:pt x="14" y="9"/>
                  </a:cubicBezTo>
                  <a:cubicBezTo>
                    <a:pt x="13" y="9"/>
                    <a:pt x="12" y="8"/>
                    <a:pt x="11" y="9"/>
                  </a:cubicBezTo>
                  <a:cubicBezTo>
                    <a:pt x="9" y="9"/>
                    <a:pt x="8" y="11"/>
                    <a:pt x="8" y="13"/>
                  </a:cubicBezTo>
                  <a:cubicBezTo>
                    <a:pt x="8" y="264"/>
                    <a:pt x="8" y="264"/>
                    <a:pt x="8" y="264"/>
                  </a:cubicBezTo>
                  <a:cubicBezTo>
                    <a:pt x="8" y="266"/>
                    <a:pt x="8" y="269"/>
                    <a:pt x="8" y="271"/>
                  </a:cubicBezTo>
                  <a:lnTo>
                    <a:pt x="11" y="285"/>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26" name="Freeform 1078"/>
            <p:cNvSpPr>
              <a:spLocks/>
            </p:cNvSpPr>
            <p:nvPr/>
          </p:nvSpPr>
          <p:spPr bwMode="auto">
            <a:xfrm>
              <a:off x="1701800" y="2928939"/>
              <a:ext cx="12700" cy="23813"/>
            </a:xfrm>
            <a:custGeom>
              <a:avLst/>
              <a:gdLst>
                <a:gd name="T0" fmla="*/ 2147483646 w 8"/>
                <a:gd name="T1" fmla="*/ 2147483646 h 15"/>
                <a:gd name="T2" fmla="*/ 0 w 8"/>
                <a:gd name="T3" fmla="*/ 2147483646 h 15"/>
                <a:gd name="T4" fmla="*/ 0 w 8"/>
                <a:gd name="T5" fmla="*/ 2147483646 h 15"/>
                <a:gd name="T6" fmla="*/ 2147483646 w 8"/>
                <a:gd name="T7" fmla="*/ 0 h 15"/>
                <a:gd name="T8" fmla="*/ 2147483646 w 8"/>
                <a:gd name="T9" fmla="*/ 2147483646 h 15"/>
                <a:gd name="T10" fmla="*/ 2147483646 w 8"/>
                <a:gd name="T11" fmla="*/ 2147483646 h 15"/>
                <a:gd name="T12" fmla="*/ 2147483646 w 8"/>
                <a:gd name="T13" fmla="*/ 2147483646 h 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15">
                  <a:moveTo>
                    <a:pt x="4" y="15"/>
                  </a:moveTo>
                  <a:cubicBezTo>
                    <a:pt x="1" y="15"/>
                    <a:pt x="0" y="13"/>
                    <a:pt x="0" y="11"/>
                  </a:cubicBezTo>
                  <a:cubicBezTo>
                    <a:pt x="0" y="4"/>
                    <a:pt x="0" y="4"/>
                    <a:pt x="0" y="4"/>
                  </a:cubicBezTo>
                  <a:cubicBezTo>
                    <a:pt x="0" y="2"/>
                    <a:pt x="1" y="0"/>
                    <a:pt x="4" y="0"/>
                  </a:cubicBezTo>
                  <a:cubicBezTo>
                    <a:pt x="6" y="0"/>
                    <a:pt x="8" y="2"/>
                    <a:pt x="8" y="4"/>
                  </a:cubicBezTo>
                  <a:cubicBezTo>
                    <a:pt x="8" y="11"/>
                    <a:pt x="8" y="11"/>
                    <a:pt x="8" y="11"/>
                  </a:cubicBezTo>
                  <a:cubicBezTo>
                    <a:pt x="8" y="13"/>
                    <a:pt x="6" y="15"/>
                    <a:pt x="4" y="15"/>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27" name="Oval 1079"/>
            <p:cNvSpPr>
              <a:spLocks noChangeArrowheads="1"/>
            </p:cNvSpPr>
            <p:nvPr/>
          </p:nvSpPr>
          <p:spPr bwMode="auto">
            <a:xfrm>
              <a:off x="1416050" y="2925764"/>
              <a:ext cx="42862"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sp>
          <p:nvSpPr>
            <p:cNvPr id="228" name="Oval 1080"/>
            <p:cNvSpPr>
              <a:spLocks noChangeArrowheads="1"/>
            </p:cNvSpPr>
            <p:nvPr/>
          </p:nvSpPr>
          <p:spPr bwMode="auto">
            <a:xfrm>
              <a:off x="1489075" y="2925764"/>
              <a:ext cx="42862"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000000"/>
                </a:solidFill>
              </a:endParaRPr>
            </a:p>
          </p:txBody>
        </p:sp>
      </p:grpSp>
      <p:grpSp>
        <p:nvGrpSpPr>
          <p:cNvPr id="230" name="组合 721"/>
          <p:cNvGrpSpPr>
            <a:grpSpLocks/>
          </p:cNvGrpSpPr>
          <p:nvPr/>
        </p:nvGrpSpPr>
        <p:grpSpPr bwMode="auto">
          <a:xfrm>
            <a:off x="7960563" y="5447387"/>
            <a:ext cx="381605" cy="323360"/>
            <a:chOff x="3508375" y="665163"/>
            <a:chExt cx="603250" cy="509588"/>
          </a:xfrm>
        </p:grpSpPr>
        <p:sp>
          <p:nvSpPr>
            <p:cNvPr id="231" name="Oval 28"/>
            <p:cNvSpPr>
              <a:spLocks noChangeArrowheads="1"/>
            </p:cNvSpPr>
            <p:nvPr/>
          </p:nvSpPr>
          <p:spPr bwMode="auto">
            <a:xfrm>
              <a:off x="3802063" y="665163"/>
              <a:ext cx="76200" cy="76200"/>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endParaRPr lang="zh-CN" altLang="en-US" sz="2139"/>
            </a:p>
          </p:txBody>
        </p:sp>
        <p:sp>
          <p:nvSpPr>
            <p:cNvPr id="232" name="Freeform 29"/>
            <p:cNvSpPr>
              <a:spLocks/>
            </p:cNvSpPr>
            <p:nvPr/>
          </p:nvSpPr>
          <p:spPr bwMode="auto">
            <a:xfrm>
              <a:off x="3917950" y="665163"/>
              <a:ext cx="79375" cy="76200"/>
            </a:xfrm>
            <a:custGeom>
              <a:avLst/>
              <a:gdLst>
                <a:gd name="T0" fmla="*/ 0 w 41"/>
                <a:gd name="T1" fmla="*/ 38100 h 40"/>
                <a:gd name="T2" fmla="*/ 40655 w 41"/>
                <a:gd name="T3" fmla="*/ 0 h 40"/>
                <a:gd name="T4" fmla="*/ 79375 w 41"/>
                <a:gd name="T5" fmla="*/ 38100 h 40"/>
                <a:gd name="T6" fmla="*/ 38720 w 41"/>
                <a:gd name="T7" fmla="*/ 76200 h 40"/>
                <a:gd name="T8" fmla="*/ 0 w 41"/>
                <a:gd name="T9" fmla="*/ 38100 h 40"/>
                <a:gd name="T10" fmla="*/ 0 60000 65536"/>
                <a:gd name="T11" fmla="*/ 0 60000 65536"/>
                <a:gd name="T12" fmla="*/ 0 60000 65536"/>
                <a:gd name="T13" fmla="*/ 0 60000 65536"/>
                <a:gd name="T14" fmla="*/ 0 60000 65536"/>
                <a:gd name="T15" fmla="*/ 0 w 41"/>
                <a:gd name="T16" fmla="*/ 0 h 40"/>
                <a:gd name="T17" fmla="*/ 41 w 41"/>
                <a:gd name="T18" fmla="*/ 40 h 40"/>
              </a:gdLst>
              <a:ahLst/>
              <a:cxnLst>
                <a:cxn ang="T10">
                  <a:pos x="T0" y="T1"/>
                </a:cxn>
                <a:cxn ang="T11">
                  <a:pos x="T2" y="T3"/>
                </a:cxn>
                <a:cxn ang="T12">
                  <a:pos x="T4" y="T5"/>
                </a:cxn>
                <a:cxn ang="T13">
                  <a:pos x="T6" y="T7"/>
                </a:cxn>
                <a:cxn ang="T14">
                  <a:pos x="T8" y="T9"/>
                </a:cxn>
              </a:cxnLst>
              <a:rect l="T15" t="T16" r="T17" b="T18"/>
              <a:pathLst>
                <a:path w="41" h="40">
                  <a:moveTo>
                    <a:pt x="0" y="20"/>
                  </a:moveTo>
                  <a:cubicBezTo>
                    <a:pt x="0" y="9"/>
                    <a:pt x="9" y="0"/>
                    <a:pt x="21" y="0"/>
                  </a:cubicBezTo>
                  <a:cubicBezTo>
                    <a:pt x="32" y="0"/>
                    <a:pt x="41" y="9"/>
                    <a:pt x="41" y="20"/>
                  </a:cubicBezTo>
                  <a:cubicBezTo>
                    <a:pt x="41" y="31"/>
                    <a:pt x="32" y="40"/>
                    <a:pt x="20" y="40"/>
                  </a:cubicBezTo>
                  <a:cubicBezTo>
                    <a:pt x="9" y="40"/>
                    <a:pt x="0" y="31"/>
                    <a:pt x="0" y="20"/>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33" name="Freeform 246"/>
            <p:cNvSpPr>
              <a:spLocks noEditPoints="1"/>
            </p:cNvSpPr>
            <p:nvPr/>
          </p:nvSpPr>
          <p:spPr bwMode="auto">
            <a:xfrm>
              <a:off x="3657600" y="731838"/>
              <a:ext cx="231775" cy="119063"/>
            </a:xfrm>
            <a:custGeom>
              <a:avLst/>
              <a:gdLst>
                <a:gd name="T0" fmla="*/ 26597 w 122"/>
                <a:gd name="T1" fmla="*/ 119063 h 63"/>
                <a:gd name="T2" fmla="*/ 20898 w 122"/>
                <a:gd name="T3" fmla="*/ 115283 h 63"/>
                <a:gd name="T4" fmla="*/ 0 w 122"/>
                <a:gd name="T5" fmla="*/ 73706 h 63"/>
                <a:gd name="T6" fmla="*/ 1900 w 122"/>
                <a:gd name="T7" fmla="*/ 66146 h 63"/>
                <a:gd name="T8" fmla="*/ 7599 w 122"/>
                <a:gd name="T9" fmla="*/ 62366 h 63"/>
                <a:gd name="T10" fmla="*/ 22798 w 122"/>
                <a:gd name="T11" fmla="*/ 60476 h 63"/>
                <a:gd name="T12" fmla="*/ 28497 w 122"/>
                <a:gd name="T13" fmla="*/ 62366 h 63"/>
                <a:gd name="T14" fmla="*/ 47495 w 122"/>
                <a:gd name="T15" fmla="*/ 77485 h 63"/>
                <a:gd name="T16" fmla="*/ 83591 w 122"/>
                <a:gd name="T17" fmla="*/ 73706 h 63"/>
                <a:gd name="T18" fmla="*/ 56994 w 122"/>
                <a:gd name="T19" fmla="*/ 11339 h 63"/>
                <a:gd name="T20" fmla="*/ 58894 w 122"/>
                <a:gd name="T21" fmla="*/ 3780 h 63"/>
                <a:gd name="T22" fmla="*/ 64593 w 122"/>
                <a:gd name="T23" fmla="*/ 0 h 63"/>
                <a:gd name="T24" fmla="*/ 87391 w 122"/>
                <a:gd name="T25" fmla="*/ 0 h 63"/>
                <a:gd name="T26" fmla="*/ 93090 w 122"/>
                <a:gd name="T27" fmla="*/ 3780 h 63"/>
                <a:gd name="T28" fmla="*/ 146284 w 122"/>
                <a:gd name="T29" fmla="*/ 69926 h 63"/>
                <a:gd name="T30" fmla="*/ 189980 w 122"/>
                <a:gd name="T31" fmla="*/ 68036 h 63"/>
                <a:gd name="T32" fmla="*/ 193779 w 122"/>
                <a:gd name="T33" fmla="*/ 68036 h 63"/>
                <a:gd name="T34" fmla="*/ 227975 w 122"/>
                <a:gd name="T35" fmla="*/ 81265 h 63"/>
                <a:gd name="T36" fmla="*/ 216577 w 122"/>
                <a:gd name="T37" fmla="*/ 107724 h 63"/>
                <a:gd name="T38" fmla="*/ 214677 w 122"/>
                <a:gd name="T39" fmla="*/ 107724 h 63"/>
                <a:gd name="T40" fmla="*/ 26597 w 122"/>
                <a:gd name="T41" fmla="*/ 119063 h 63"/>
                <a:gd name="T42" fmla="*/ 26597 w 122"/>
                <a:gd name="T43" fmla="*/ 119063 h 63"/>
                <a:gd name="T44" fmla="*/ 18998 w 122"/>
                <a:gd name="T45" fmla="*/ 75596 h 63"/>
                <a:gd name="T46" fmla="*/ 32297 w 122"/>
                <a:gd name="T47" fmla="*/ 103944 h 63"/>
                <a:gd name="T48" fmla="*/ 212777 w 122"/>
                <a:gd name="T49" fmla="*/ 92605 h 63"/>
                <a:gd name="T50" fmla="*/ 212777 w 122"/>
                <a:gd name="T51" fmla="*/ 85045 h 63"/>
                <a:gd name="T52" fmla="*/ 193779 w 122"/>
                <a:gd name="T53" fmla="*/ 83155 h 63"/>
                <a:gd name="T54" fmla="*/ 189980 w 122"/>
                <a:gd name="T55" fmla="*/ 83155 h 63"/>
                <a:gd name="T56" fmla="*/ 144384 w 122"/>
                <a:gd name="T57" fmla="*/ 85045 h 63"/>
                <a:gd name="T58" fmla="*/ 136785 w 122"/>
                <a:gd name="T59" fmla="*/ 81265 h 63"/>
                <a:gd name="T60" fmla="*/ 83591 w 122"/>
                <a:gd name="T61" fmla="*/ 15119 h 63"/>
                <a:gd name="T62" fmla="*/ 75992 w 122"/>
                <a:gd name="T63" fmla="*/ 15119 h 63"/>
                <a:gd name="T64" fmla="*/ 100689 w 122"/>
                <a:gd name="T65" fmla="*/ 77485 h 63"/>
                <a:gd name="T66" fmla="*/ 100689 w 122"/>
                <a:gd name="T67" fmla="*/ 83155 h 63"/>
                <a:gd name="T68" fmla="*/ 94990 w 122"/>
                <a:gd name="T69" fmla="*/ 86935 h 63"/>
                <a:gd name="T70" fmla="*/ 45595 w 122"/>
                <a:gd name="T71" fmla="*/ 94494 h 63"/>
                <a:gd name="T72" fmla="*/ 39896 w 122"/>
                <a:gd name="T73" fmla="*/ 92605 h 63"/>
                <a:gd name="T74" fmla="*/ 20898 w 122"/>
                <a:gd name="T75" fmla="*/ 75596 h 63"/>
                <a:gd name="T76" fmla="*/ 18998 w 122"/>
                <a:gd name="T77" fmla="*/ 75596 h 6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2"/>
                <a:gd name="T118" fmla="*/ 0 h 63"/>
                <a:gd name="T119" fmla="*/ 122 w 122"/>
                <a:gd name="T120" fmla="*/ 63 h 6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2" h="63">
                  <a:moveTo>
                    <a:pt x="14" y="63"/>
                  </a:moveTo>
                  <a:cubicBezTo>
                    <a:pt x="13" y="63"/>
                    <a:pt x="11" y="62"/>
                    <a:pt x="11" y="61"/>
                  </a:cubicBezTo>
                  <a:cubicBezTo>
                    <a:pt x="0" y="39"/>
                    <a:pt x="0" y="39"/>
                    <a:pt x="0" y="39"/>
                  </a:cubicBezTo>
                  <a:cubicBezTo>
                    <a:pt x="0" y="38"/>
                    <a:pt x="0" y="36"/>
                    <a:pt x="1" y="35"/>
                  </a:cubicBezTo>
                  <a:cubicBezTo>
                    <a:pt x="1" y="34"/>
                    <a:pt x="2" y="33"/>
                    <a:pt x="4" y="33"/>
                  </a:cubicBezTo>
                  <a:cubicBezTo>
                    <a:pt x="12" y="32"/>
                    <a:pt x="12" y="32"/>
                    <a:pt x="12" y="32"/>
                  </a:cubicBezTo>
                  <a:cubicBezTo>
                    <a:pt x="13" y="32"/>
                    <a:pt x="15" y="32"/>
                    <a:pt x="15" y="33"/>
                  </a:cubicBezTo>
                  <a:cubicBezTo>
                    <a:pt x="25" y="41"/>
                    <a:pt x="25" y="41"/>
                    <a:pt x="25" y="41"/>
                  </a:cubicBezTo>
                  <a:cubicBezTo>
                    <a:pt x="44" y="39"/>
                    <a:pt x="44" y="39"/>
                    <a:pt x="44" y="39"/>
                  </a:cubicBezTo>
                  <a:cubicBezTo>
                    <a:pt x="30" y="6"/>
                    <a:pt x="30" y="6"/>
                    <a:pt x="30" y="6"/>
                  </a:cubicBezTo>
                  <a:cubicBezTo>
                    <a:pt x="30" y="4"/>
                    <a:pt x="30" y="3"/>
                    <a:pt x="31" y="2"/>
                  </a:cubicBezTo>
                  <a:cubicBezTo>
                    <a:pt x="31" y="1"/>
                    <a:pt x="33" y="0"/>
                    <a:pt x="34" y="0"/>
                  </a:cubicBezTo>
                  <a:cubicBezTo>
                    <a:pt x="46" y="0"/>
                    <a:pt x="46" y="0"/>
                    <a:pt x="46" y="0"/>
                  </a:cubicBezTo>
                  <a:cubicBezTo>
                    <a:pt x="48" y="0"/>
                    <a:pt x="49" y="1"/>
                    <a:pt x="49" y="2"/>
                  </a:cubicBezTo>
                  <a:cubicBezTo>
                    <a:pt x="77" y="37"/>
                    <a:pt x="77" y="37"/>
                    <a:pt x="77" y="37"/>
                  </a:cubicBezTo>
                  <a:cubicBezTo>
                    <a:pt x="82" y="36"/>
                    <a:pt x="96" y="36"/>
                    <a:pt x="100" y="36"/>
                  </a:cubicBezTo>
                  <a:cubicBezTo>
                    <a:pt x="100" y="36"/>
                    <a:pt x="101" y="36"/>
                    <a:pt x="102" y="36"/>
                  </a:cubicBezTo>
                  <a:cubicBezTo>
                    <a:pt x="107" y="35"/>
                    <a:pt x="117" y="35"/>
                    <a:pt x="120" y="43"/>
                  </a:cubicBezTo>
                  <a:cubicBezTo>
                    <a:pt x="122" y="50"/>
                    <a:pt x="118" y="55"/>
                    <a:pt x="114" y="57"/>
                  </a:cubicBezTo>
                  <a:cubicBezTo>
                    <a:pt x="114" y="57"/>
                    <a:pt x="113" y="57"/>
                    <a:pt x="113" y="57"/>
                  </a:cubicBezTo>
                  <a:cubicBezTo>
                    <a:pt x="14" y="63"/>
                    <a:pt x="14" y="63"/>
                    <a:pt x="14" y="63"/>
                  </a:cubicBezTo>
                  <a:cubicBezTo>
                    <a:pt x="14" y="63"/>
                    <a:pt x="14" y="63"/>
                    <a:pt x="14" y="63"/>
                  </a:cubicBezTo>
                  <a:close/>
                  <a:moveTo>
                    <a:pt x="10" y="40"/>
                  </a:moveTo>
                  <a:cubicBezTo>
                    <a:pt x="17" y="55"/>
                    <a:pt x="17" y="55"/>
                    <a:pt x="17" y="55"/>
                  </a:cubicBezTo>
                  <a:cubicBezTo>
                    <a:pt x="112" y="49"/>
                    <a:pt x="112" y="49"/>
                    <a:pt x="112" y="49"/>
                  </a:cubicBezTo>
                  <a:cubicBezTo>
                    <a:pt x="113" y="48"/>
                    <a:pt x="113" y="46"/>
                    <a:pt x="112" y="45"/>
                  </a:cubicBezTo>
                  <a:cubicBezTo>
                    <a:pt x="112" y="43"/>
                    <a:pt x="107" y="43"/>
                    <a:pt x="102" y="44"/>
                  </a:cubicBezTo>
                  <a:cubicBezTo>
                    <a:pt x="101" y="44"/>
                    <a:pt x="101" y="44"/>
                    <a:pt x="100" y="44"/>
                  </a:cubicBezTo>
                  <a:cubicBezTo>
                    <a:pt x="95" y="44"/>
                    <a:pt x="76" y="45"/>
                    <a:pt x="76" y="45"/>
                  </a:cubicBezTo>
                  <a:cubicBezTo>
                    <a:pt x="74" y="45"/>
                    <a:pt x="73" y="44"/>
                    <a:pt x="72" y="43"/>
                  </a:cubicBezTo>
                  <a:cubicBezTo>
                    <a:pt x="44" y="8"/>
                    <a:pt x="44" y="8"/>
                    <a:pt x="44" y="8"/>
                  </a:cubicBezTo>
                  <a:cubicBezTo>
                    <a:pt x="40" y="8"/>
                    <a:pt x="40" y="8"/>
                    <a:pt x="40" y="8"/>
                  </a:cubicBezTo>
                  <a:cubicBezTo>
                    <a:pt x="53" y="41"/>
                    <a:pt x="53" y="41"/>
                    <a:pt x="53" y="41"/>
                  </a:cubicBezTo>
                  <a:cubicBezTo>
                    <a:pt x="54" y="42"/>
                    <a:pt x="53" y="43"/>
                    <a:pt x="53" y="44"/>
                  </a:cubicBezTo>
                  <a:cubicBezTo>
                    <a:pt x="52" y="45"/>
                    <a:pt x="51" y="46"/>
                    <a:pt x="50" y="46"/>
                  </a:cubicBezTo>
                  <a:cubicBezTo>
                    <a:pt x="24" y="50"/>
                    <a:pt x="24" y="50"/>
                    <a:pt x="24" y="50"/>
                  </a:cubicBezTo>
                  <a:cubicBezTo>
                    <a:pt x="23" y="50"/>
                    <a:pt x="21" y="49"/>
                    <a:pt x="21" y="49"/>
                  </a:cubicBezTo>
                  <a:cubicBezTo>
                    <a:pt x="11" y="40"/>
                    <a:pt x="11" y="40"/>
                    <a:pt x="11" y="40"/>
                  </a:cubicBezTo>
                  <a:lnTo>
                    <a:pt x="10" y="40"/>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34" name="Freeform 310"/>
            <p:cNvSpPr>
              <a:spLocks/>
            </p:cNvSpPr>
            <p:nvPr/>
          </p:nvSpPr>
          <p:spPr bwMode="auto">
            <a:xfrm>
              <a:off x="3508375" y="685800"/>
              <a:ext cx="534988" cy="212725"/>
            </a:xfrm>
            <a:custGeom>
              <a:avLst/>
              <a:gdLst>
                <a:gd name="T0" fmla="*/ 517792 w 280"/>
                <a:gd name="T1" fmla="*/ 212725 h 112"/>
                <a:gd name="T2" fmla="*/ 135658 w 280"/>
                <a:gd name="T3" fmla="*/ 212725 h 112"/>
                <a:gd name="T4" fmla="*/ 120372 w 280"/>
                <a:gd name="T5" fmla="*/ 203228 h 112"/>
                <a:gd name="T6" fmla="*/ 3821 w 280"/>
                <a:gd name="T7" fmla="*/ 26591 h 112"/>
                <a:gd name="T8" fmla="*/ 3821 w 280"/>
                <a:gd name="T9" fmla="*/ 9497 h 112"/>
                <a:gd name="T10" fmla="*/ 19107 w 280"/>
                <a:gd name="T11" fmla="*/ 0 h 112"/>
                <a:gd name="T12" fmla="*/ 135658 w 280"/>
                <a:gd name="T13" fmla="*/ 0 h 112"/>
                <a:gd name="T14" fmla="*/ 152854 w 280"/>
                <a:gd name="T15" fmla="*/ 17094 h 112"/>
                <a:gd name="T16" fmla="*/ 135658 w 280"/>
                <a:gd name="T17" fmla="*/ 34188 h 112"/>
                <a:gd name="T18" fmla="*/ 49677 w 280"/>
                <a:gd name="T19" fmla="*/ 34188 h 112"/>
                <a:gd name="T20" fmla="*/ 143300 w 280"/>
                <a:gd name="T21" fmla="*/ 178537 h 112"/>
                <a:gd name="T22" fmla="*/ 517792 w 280"/>
                <a:gd name="T23" fmla="*/ 178537 h 112"/>
                <a:gd name="T24" fmla="*/ 534988 w 280"/>
                <a:gd name="T25" fmla="*/ 195631 h 112"/>
                <a:gd name="T26" fmla="*/ 517792 w 280"/>
                <a:gd name="T27" fmla="*/ 212725 h 1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0"/>
                <a:gd name="T43" fmla="*/ 0 h 112"/>
                <a:gd name="T44" fmla="*/ 280 w 280"/>
                <a:gd name="T45" fmla="*/ 112 h 1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0" h="112">
                  <a:moveTo>
                    <a:pt x="271" y="112"/>
                  </a:moveTo>
                  <a:cubicBezTo>
                    <a:pt x="71" y="112"/>
                    <a:pt x="71" y="112"/>
                    <a:pt x="71" y="112"/>
                  </a:cubicBezTo>
                  <a:cubicBezTo>
                    <a:pt x="68" y="112"/>
                    <a:pt x="65" y="110"/>
                    <a:pt x="63" y="107"/>
                  </a:cubicBezTo>
                  <a:cubicBezTo>
                    <a:pt x="2" y="14"/>
                    <a:pt x="2" y="14"/>
                    <a:pt x="2" y="14"/>
                  </a:cubicBezTo>
                  <a:cubicBezTo>
                    <a:pt x="0" y="11"/>
                    <a:pt x="0" y="7"/>
                    <a:pt x="2" y="5"/>
                  </a:cubicBezTo>
                  <a:cubicBezTo>
                    <a:pt x="3" y="2"/>
                    <a:pt x="6" y="0"/>
                    <a:pt x="10" y="0"/>
                  </a:cubicBezTo>
                  <a:cubicBezTo>
                    <a:pt x="71" y="0"/>
                    <a:pt x="71" y="0"/>
                    <a:pt x="71" y="0"/>
                  </a:cubicBezTo>
                  <a:cubicBezTo>
                    <a:pt x="76" y="0"/>
                    <a:pt x="80" y="4"/>
                    <a:pt x="80" y="9"/>
                  </a:cubicBezTo>
                  <a:cubicBezTo>
                    <a:pt x="80" y="14"/>
                    <a:pt x="76" y="18"/>
                    <a:pt x="71" y="18"/>
                  </a:cubicBezTo>
                  <a:cubicBezTo>
                    <a:pt x="26" y="18"/>
                    <a:pt x="26" y="18"/>
                    <a:pt x="26" y="18"/>
                  </a:cubicBezTo>
                  <a:cubicBezTo>
                    <a:pt x="75" y="94"/>
                    <a:pt x="75" y="94"/>
                    <a:pt x="75" y="94"/>
                  </a:cubicBezTo>
                  <a:cubicBezTo>
                    <a:pt x="271" y="94"/>
                    <a:pt x="271" y="94"/>
                    <a:pt x="271" y="94"/>
                  </a:cubicBezTo>
                  <a:cubicBezTo>
                    <a:pt x="276" y="94"/>
                    <a:pt x="280" y="98"/>
                    <a:pt x="280" y="103"/>
                  </a:cubicBezTo>
                  <a:cubicBezTo>
                    <a:pt x="280" y="108"/>
                    <a:pt x="276" y="112"/>
                    <a:pt x="271" y="1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35" name="Freeform 311"/>
            <p:cNvSpPr>
              <a:spLocks/>
            </p:cNvSpPr>
            <p:nvPr/>
          </p:nvSpPr>
          <p:spPr bwMode="auto">
            <a:xfrm>
              <a:off x="3816350" y="923925"/>
              <a:ext cx="295275" cy="180975"/>
            </a:xfrm>
            <a:custGeom>
              <a:avLst/>
              <a:gdLst>
                <a:gd name="T0" fmla="*/ 278130 w 155"/>
                <a:gd name="T1" fmla="*/ 180975 h 95"/>
                <a:gd name="T2" fmla="*/ 137160 w 155"/>
                <a:gd name="T3" fmla="*/ 180975 h 95"/>
                <a:gd name="T4" fmla="*/ 123825 w 155"/>
                <a:gd name="T5" fmla="*/ 173355 h 95"/>
                <a:gd name="T6" fmla="*/ 5715 w 155"/>
                <a:gd name="T7" fmla="*/ 28575 h 95"/>
                <a:gd name="T8" fmla="*/ 7620 w 155"/>
                <a:gd name="T9" fmla="*/ 5715 h 95"/>
                <a:gd name="T10" fmla="*/ 32385 w 155"/>
                <a:gd name="T11" fmla="*/ 7620 h 95"/>
                <a:gd name="T12" fmla="*/ 144780 w 155"/>
                <a:gd name="T13" fmla="*/ 146685 h 95"/>
                <a:gd name="T14" fmla="*/ 278130 w 155"/>
                <a:gd name="T15" fmla="*/ 146685 h 95"/>
                <a:gd name="T16" fmla="*/ 295275 w 155"/>
                <a:gd name="T17" fmla="*/ 163830 h 95"/>
                <a:gd name="T18" fmla="*/ 278130 w 155"/>
                <a:gd name="T19" fmla="*/ 180975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5"/>
                <a:gd name="T31" fmla="*/ 0 h 95"/>
                <a:gd name="T32" fmla="*/ 155 w 155"/>
                <a:gd name="T33" fmla="*/ 95 h 9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5" h="95">
                  <a:moveTo>
                    <a:pt x="146" y="95"/>
                  </a:moveTo>
                  <a:cubicBezTo>
                    <a:pt x="72" y="95"/>
                    <a:pt x="72" y="95"/>
                    <a:pt x="72" y="95"/>
                  </a:cubicBezTo>
                  <a:cubicBezTo>
                    <a:pt x="69" y="95"/>
                    <a:pt x="67" y="93"/>
                    <a:pt x="65" y="91"/>
                  </a:cubicBezTo>
                  <a:cubicBezTo>
                    <a:pt x="3" y="15"/>
                    <a:pt x="3" y="15"/>
                    <a:pt x="3" y="15"/>
                  </a:cubicBezTo>
                  <a:cubicBezTo>
                    <a:pt x="0" y="12"/>
                    <a:pt x="0" y="6"/>
                    <a:pt x="4" y="3"/>
                  </a:cubicBezTo>
                  <a:cubicBezTo>
                    <a:pt x="8" y="0"/>
                    <a:pt x="14" y="0"/>
                    <a:pt x="17" y="4"/>
                  </a:cubicBezTo>
                  <a:cubicBezTo>
                    <a:pt x="76" y="77"/>
                    <a:pt x="76" y="77"/>
                    <a:pt x="76" y="77"/>
                  </a:cubicBezTo>
                  <a:cubicBezTo>
                    <a:pt x="146" y="77"/>
                    <a:pt x="146" y="77"/>
                    <a:pt x="146" y="77"/>
                  </a:cubicBezTo>
                  <a:cubicBezTo>
                    <a:pt x="151" y="77"/>
                    <a:pt x="155" y="81"/>
                    <a:pt x="155" y="86"/>
                  </a:cubicBezTo>
                  <a:cubicBezTo>
                    <a:pt x="155" y="91"/>
                    <a:pt x="151" y="95"/>
                    <a:pt x="146" y="95"/>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36" name="Freeform 312"/>
            <p:cNvSpPr>
              <a:spLocks/>
            </p:cNvSpPr>
            <p:nvPr/>
          </p:nvSpPr>
          <p:spPr bwMode="auto">
            <a:xfrm>
              <a:off x="4076700" y="998538"/>
              <a:ext cx="34925" cy="176213"/>
            </a:xfrm>
            <a:custGeom>
              <a:avLst/>
              <a:gdLst>
                <a:gd name="T0" fmla="*/ 17463 w 18"/>
                <a:gd name="T1" fmla="*/ 176213 h 93"/>
                <a:gd name="T2" fmla="*/ 0 w 18"/>
                <a:gd name="T3" fmla="*/ 159160 h 93"/>
                <a:gd name="T4" fmla="*/ 0 w 18"/>
                <a:gd name="T5" fmla="*/ 17053 h 93"/>
                <a:gd name="T6" fmla="*/ 17463 w 18"/>
                <a:gd name="T7" fmla="*/ 0 h 93"/>
                <a:gd name="T8" fmla="*/ 34925 w 18"/>
                <a:gd name="T9" fmla="*/ 17053 h 93"/>
                <a:gd name="T10" fmla="*/ 34925 w 18"/>
                <a:gd name="T11" fmla="*/ 159160 h 93"/>
                <a:gd name="T12" fmla="*/ 17463 w 18"/>
                <a:gd name="T13" fmla="*/ 176213 h 93"/>
                <a:gd name="T14" fmla="*/ 0 60000 65536"/>
                <a:gd name="T15" fmla="*/ 0 60000 65536"/>
                <a:gd name="T16" fmla="*/ 0 60000 65536"/>
                <a:gd name="T17" fmla="*/ 0 60000 65536"/>
                <a:gd name="T18" fmla="*/ 0 60000 65536"/>
                <a:gd name="T19" fmla="*/ 0 60000 65536"/>
                <a:gd name="T20" fmla="*/ 0 60000 65536"/>
                <a:gd name="T21" fmla="*/ 0 w 18"/>
                <a:gd name="T22" fmla="*/ 0 h 93"/>
                <a:gd name="T23" fmla="*/ 18 w 18"/>
                <a:gd name="T24" fmla="*/ 93 h 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93">
                  <a:moveTo>
                    <a:pt x="9" y="93"/>
                  </a:moveTo>
                  <a:cubicBezTo>
                    <a:pt x="4" y="93"/>
                    <a:pt x="0" y="89"/>
                    <a:pt x="0" y="84"/>
                  </a:cubicBezTo>
                  <a:cubicBezTo>
                    <a:pt x="0" y="9"/>
                    <a:pt x="0" y="9"/>
                    <a:pt x="0" y="9"/>
                  </a:cubicBezTo>
                  <a:cubicBezTo>
                    <a:pt x="0" y="4"/>
                    <a:pt x="4" y="0"/>
                    <a:pt x="9" y="0"/>
                  </a:cubicBezTo>
                  <a:cubicBezTo>
                    <a:pt x="14" y="0"/>
                    <a:pt x="18" y="4"/>
                    <a:pt x="18" y="9"/>
                  </a:cubicBezTo>
                  <a:cubicBezTo>
                    <a:pt x="18" y="84"/>
                    <a:pt x="18" y="84"/>
                    <a:pt x="18" y="84"/>
                  </a:cubicBezTo>
                  <a:cubicBezTo>
                    <a:pt x="18" y="89"/>
                    <a:pt x="14" y="93"/>
                    <a:pt x="9" y="9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37" name="Freeform 313"/>
            <p:cNvSpPr>
              <a:spLocks noEditPoints="1"/>
            </p:cNvSpPr>
            <p:nvPr/>
          </p:nvSpPr>
          <p:spPr bwMode="auto">
            <a:xfrm>
              <a:off x="3511550" y="781050"/>
              <a:ext cx="95250" cy="152400"/>
            </a:xfrm>
            <a:custGeom>
              <a:avLst/>
              <a:gdLst>
                <a:gd name="T0" fmla="*/ 78105 w 50"/>
                <a:gd name="T1" fmla="*/ 152400 h 80"/>
                <a:gd name="T2" fmla="*/ 17145 w 50"/>
                <a:gd name="T3" fmla="*/ 152400 h 80"/>
                <a:gd name="T4" fmla="*/ 0 w 50"/>
                <a:gd name="T5" fmla="*/ 135255 h 80"/>
                <a:gd name="T6" fmla="*/ 0 w 50"/>
                <a:gd name="T7" fmla="*/ 17145 h 80"/>
                <a:gd name="T8" fmla="*/ 17145 w 50"/>
                <a:gd name="T9" fmla="*/ 0 h 80"/>
                <a:gd name="T10" fmla="*/ 78105 w 50"/>
                <a:gd name="T11" fmla="*/ 0 h 80"/>
                <a:gd name="T12" fmla="*/ 95250 w 50"/>
                <a:gd name="T13" fmla="*/ 17145 h 80"/>
                <a:gd name="T14" fmla="*/ 95250 w 50"/>
                <a:gd name="T15" fmla="*/ 135255 h 80"/>
                <a:gd name="T16" fmla="*/ 78105 w 50"/>
                <a:gd name="T17" fmla="*/ 152400 h 80"/>
                <a:gd name="T18" fmla="*/ 34290 w 50"/>
                <a:gd name="T19" fmla="*/ 118110 h 80"/>
                <a:gd name="T20" fmla="*/ 60960 w 50"/>
                <a:gd name="T21" fmla="*/ 118110 h 80"/>
                <a:gd name="T22" fmla="*/ 60960 w 50"/>
                <a:gd name="T23" fmla="*/ 34290 h 80"/>
                <a:gd name="T24" fmla="*/ 34290 w 50"/>
                <a:gd name="T25" fmla="*/ 34290 h 80"/>
                <a:gd name="T26" fmla="*/ 34290 w 50"/>
                <a:gd name="T27" fmla="*/ 118110 h 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80"/>
                <a:gd name="T44" fmla="*/ 50 w 50"/>
                <a:gd name="T45" fmla="*/ 80 h 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80">
                  <a:moveTo>
                    <a:pt x="41" y="80"/>
                  </a:moveTo>
                  <a:cubicBezTo>
                    <a:pt x="9" y="80"/>
                    <a:pt x="9" y="80"/>
                    <a:pt x="9" y="80"/>
                  </a:cubicBezTo>
                  <a:cubicBezTo>
                    <a:pt x="4" y="80"/>
                    <a:pt x="0" y="76"/>
                    <a:pt x="0" y="71"/>
                  </a:cubicBezTo>
                  <a:cubicBezTo>
                    <a:pt x="0" y="9"/>
                    <a:pt x="0" y="9"/>
                    <a:pt x="0" y="9"/>
                  </a:cubicBezTo>
                  <a:cubicBezTo>
                    <a:pt x="0" y="4"/>
                    <a:pt x="4" y="0"/>
                    <a:pt x="9" y="0"/>
                  </a:cubicBezTo>
                  <a:cubicBezTo>
                    <a:pt x="41" y="0"/>
                    <a:pt x="41" y="0"/>
                    <a:pt x="41" y="0"/>
                  </a:cubicBezTo>
                  <a:cubicBezTo>
                    <a:pt x="46" y="0"/>
                    <a:pt x="50" y="4"/>
                    <a:pt x="50" y="9"/>
                  </a:cubicBezTo>
                  <a:cubicBezTo>
                    <a:pt x="50" y="71"/>
                    <a:pt x="50" y="71"/>
                    <a:pt x="50" y="71"/>
                  </a:cubicBezTo>
                  <a:cubicBezTo>
                    <a:pt x="50" y="76"/>
                    <a:pt x="46" y="80"/>
                    <a:pt x="41" y="80"/>
                  </a:cubicBezTo>
                  <a:close/>
                  <a:moveTo>
                    <a:pt x="18" y="62"/>
                  </a:moveTo>
                  <a:cubicBezTo>
                    <a:pt x="32" y="62"/>
                    <a:pt x="32" y="62"/>
                    <a:pt x="32" y="62"/>
                  </a:cubicBezTo>
                  <a:cubicBezTo>
                    <a:pt x="32" y="18"/>
                    <a:pt x="32" y="18"/>
                    <a:pt x="32" y="18"/>
                  </a:cubicBezTo>
                  <a:cubicBezTo>
                    <a:pt x="18" y="18"/>
                    <a:pt x="18" y="18"/>
                    <a:pt x="18" y="18"/>
                  </a:cubicBezTo>
                  <a:lnTo>
                    <a:pt x="18" y="62"/>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38" name="Freeform 314"/>
            <p:cNvSpPr>
              <a:spLocks/>
            </p:cNvSpPr>
            <p:nvPr/>
          </p:nvSpPr>
          <p:spPr bwMode="auto">
            <a:xfrm>
              <a:off x="3571875" y="685800"/>
              <a:ext cx="471488" cy="274638"/>
            </a:xfrm>
            <a:custGeom>
              <a:avLst/>
              <a:gdLst>
                <a:gd name="T0" fmla="*/ 454308 w 247"/>
                <a:gd name="T1" fmla="*/ 274638 h 144"/>
                <a:gd name="T2" fmla="*/ 17180 w 247"/>
                <a:gd name="T3" fmla="*/ 274638 h 144"/>
                <a:gd name="T4" fmla="*/ 0 w 247"/>
                <a:gd name="T5" fmla="*/ 257473 h 144"/>
                <a:gd name="T6" fmla="*/ 0 w 247"/>
                <a:gd name="T7" fmla="*/ 116340 h 144"/>
                <a:gd name="T8" fmla="*/ 17180 w 247"/>
                <a:gd name="T9" fmla="*/ 99175 h 144"/>
                <a:gd name="T10" fmla="*/ 34359 w 247"/>
                <a:gd name="T11" fmla="*/ 116340 h 144"/>
                <a:gd name="T12" fmla="*/ 34359 w 247"/>
                <a:gd name="T13" fmla="*/ 240308 h 144"/>
                <a:gd name="T14" fmla="*/ 437129 w 247"/>
                <a:gd name="T15" fmla="*/ 240308 h 144"/>
                <a:gd name="T16" fmla="*/ 437129 w 247"/>
                <a:gd name="T17" fmla="*/ 34330 h 144"/>
                <a:gd name="T18" fmla="*/ 387498 w 247"/>
                <a:gd name="T19" fmla="*/ 34330 h 144"/>
                <a:gd name="T20" fmla="*/ 370319 w 247"/>
                <a:gd name="T21" fmla="*/ 17165 h 144"/>
                <a:gd name="T22" fmla="*/ 387498 w 247"/>
                <a:gd name="T23" fmla="*/ 0 h 144"/>
                <a:gd name="T24" fmla="*/ 454308 w 247"/>
                <a:gd name="T25" fmla="*/ 0 h 144"/>
                <a:gd name="T26" fmla="*/ 471488 w 247"/>
                <a:gd name="T27" fmla="*/ 17165 h 144"/>
                <a:gd name="T28" fmla="*/ 471488 w 247"/>
                <a:gd name="T29" fmla="*/ 257473 h 144"/>
                <a:gd name="T30" fmla="*/ 454308 w 247"/>
                <a:gd name="T31" fmla="*/ 274638 h 1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7"/>
                <a:gd name="T49" fmla="*/ 0 h 144"/>
                <a:gd name="T50" fmla="*/ 247 w 247"/>
                <a:gd name="T51" fmla="*/ 144 h 1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7" h="144">
                  <a:moveTo>
                    <a:pt x="238" y="144"/>
                  </a:moveTo>
                  <a:cubicBezTo>
                    <a:pt x="9" y="144"/>
                    <a:pt x="9" y="144"/>
                    <a:pt x="9" y="144"/>
                  </a:cubicBezTo>
                  <a:cubicBezTo>
                    <a:pt x="4" y="144"/>
                    <a:pt x="0" y="140"/>
                    <a:pt x="0" y="135"/>
                  </a:cubicBezTo>
                  <a:cubicBezTo>
                    <a:pt x="0" y="61"/>
                    <a:pt x="0" y="61"/>
                    <a:pt x="0" y="61"/>
                  </a:cubicBezTo>
                  <a:cubicBezTo>
                    <a:pt x="0" y="56"/>
                    <a:pt x="4" y="52"/>
                    <a:pt x="9" y="52"/>
                  </a:cubicBezTo>
                  <a:cubicBezTo>
                    <a:pt x="14" y="52"/>
                    <a:pt x="18" y="56"/>
                    <a:pt x="18" y="61"/>
                  </a:cubicBezTo>
                  <a:cubicBezTo>
                    <a:pt x="18" y="126"/>
                    <a:pt x="18" y="126"/>
                    <a:pt x="18" y="126"/>
                  </a:cubicBezTo>
                  <a:cubicBezTo>
                    <a:pt x="229" y="126"/>
                    <a:pt x="229" y="126"/>
                    <a:pt x="229" y="126"/>
                  </a:cubicBezTo>
                  <a:cubicBezTo>
                    <a:pt x="229" y="18"/>
                    <a:pt x="229" y="18"/>
                    <a:pt x="229" y="18"/>
                  </a:cubicBezTo>
                  <a:cubicBezTo>
                    <a:pt x="203" y="18"/>
                    <a:pt x="203" y="18"/>
                    <a:pt x="203" y="18"/>
                  </a:cubicBezTo>
                  <a:cubicBezTo>
                    <a:pt x="198" y="18"/>
                    <a:pt x="194" y="14"/>
                    <a:pt x="194" y="9"/>
                  </a:cubicBezTo>
                  <a:cubicBezTo>
                    <a:pt x="194" y="4"/>
                    <a:pt x="198" y="0"/>
                    <a:pt x="203" y="0"/>
                  </a:cubicBezTo>
                  <a:cubicBezTo>
                    <a:pt x="238" y="0"/>
                    <a:pt x="238" y="0"/>
                    <a:pt x="238" y="0"/>
                  </a:cubicBezTo>
                  <a:cubicBezTo>
                    <a:pt x="243" y="0"/>
                    <a:pt x="247" y="4"/>
                    <a:pt x="247" y="9"/>
                  </a:cubicBezTo>
                  <a:cubicBezTo>
                    <a:pt x="247" y="135"/>
                    <a:pt x="247" y="135"/>
                    <a:pt x="247" y="135"/>
                  </a:cubicBezTo>
                  <a:cubicBezTo>
                    <a:pt x="247" y="140"/>
                    <a:pt x="243" y="144"/>
                    <a:pt x="238" y="144"/>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39" name="Freeform 315"/>
            <p:cNvSpPr>
              <a:spLocks/>
            </p:cNvSpPr>
            <p:nvPr/>
          </p:nvSpPr>
          <p:spPr bwMode="auto">
            <a:xfrm>
              <a:off x="3571875" y="685800"/>
              <a:ext cx="285750" cy="33338"/>
            </a:xfrm>
            <a:custGeom>
              <a:avLst/>
              <a:gdLst>
                <a:gd name="T0" fmla="*/ 268605 w 150"/>
                <a:gd name="T1" fmla="*/ 33338 h 18"/>
                <a:gd name="T2" fmla="*/ 17145 w 150"/>
                <a:gd name="T3" fmla="*/ 33338 h 18"/>
                <a:gd name="T4" fmla="*/ 0 w 150"/>
                <a:gd name="T5" fmla="*/ 16669 h 18"/>
                <a:gd name="T6" fmla="*/ 17145 w 150"/>
                <a:gd name="T7" fmla="*/ 0 h 18"/>
                <a:gd name="T8" fmla="*/ 268605 w 150"/>
                <a:gd name="T9" fmla="*/ 0 h 18"/>
                <a:gd name="T10" fmla="*/ 285750 w 150"/>
                <a:gd name="T11" fmla="*/ 16669 h 18"/>
                <a:gd name="T12" fmla="*/ 268605 w 150"/>
                <a:gd name="T13" fmla="*/ 33338 h 18"/>
                <a:gd name="T14" fmla="*/ 0 60000 65536"/>
                <a:gd name="T15" fmla="*/ 0 60000 65536"/>
                <a:gd name="T16" fmla="*/ 0 60000 65536"/>
                <a:gd name="T17" fmla="*/ 0 60000 65536"/>
                <a:gd name="T18" fmla="*/ 0 60000 65536"/>
                <a:gd name="T19" fmla="*/ 0 60000 65536"/>
                <a:gd name="T20" fmla="*/ 0 60000 65536"/>
                <a:gd name="T21" fmla="*/ 0 w 150"/>
                <a:gd name="T22" fmla="*/ 0 h 18"/>
                <a:gd name="T23" fmla="*/ 150 w 150"/>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0" h="18">
                  <a:moveTo>
                    <a:pt x="141" y="18"/>
                  </a:moveTo>
                  <a:cubicBezTo>
                    <a:pt x="9" y="18"/>
                    <a:pt x="9" y="18"/>
                    <a:pt x="9" y="18"/>
                  </a:cubicBezTo>
                  <a:cubicBezTo>
                    <a:pt x="4" y="18"/>
                    <a:pt x="0" y="14"/>
                    <a:pt x="0" y="9"/>
                  </a:cubicBezTo>
                  <a:cubicBezTo>
                    <a:pt x="0" y="4"/>
                    <a:pt x="4" y="0"/>
                    <a:pt x="9" y="0"/>
                  </a:cubicBezTo>
                  <a:cubicBezTo>
                    <a:pt x="141" y="0"/>
                    <a:pt x="141" y="0"/>
                    <a:pt x="141" y="0"/>
                  </a:cubicBezTo>
                  <a:cubicBezTo>
                    <a:pt x="146" y="0"/>
                    <a:pt x="150" y="4"/>
                    <a:pt x="150" y="9"/>
                  </a:cubicBezTo>
                  <a:cubicBezTo>
                    <a:pt x="150" y="14"/>
                    <a:pt x="146" y="18"/>
                    <a:pt x="141"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grpSp>
      <p:grpSp>
        <p:nvGrpSpPr>
          <p:cNvPr id="240" name="组合 274"/>
          <p:cNvGrpSpPr>
            <a:grpSpLocks/>
          </p:cNvGrpSpPr>
          <p:nvPr/>
        </p:nvGrpSpPr>
        <p:grpSpPr bwMode="auto">
          <a:xfrm>
            <a:off x="6601322" y="5379861"/>
            <a:ext cx="384363" cy="385067"/>
            <a:chOff x="8413750" y="2260600"/>
            <a:chExt cx="866775" cy="868363"/>
          </a:xfrm>
        </p:grpSpPr>
        <p:sp>
          <p:nvSpPr>
            <p:cNvPr id="241" name="Freeform 173"/>
            <p:cNvSpPr>
              <a:spLocks noEditPoints="1"/>
            </p:cNvSpPr>
            <p:nvPr/>
          </p:nvSpPr>
          <p:spPr bwMode="auto">
            <a:xfrm>
              <a:off x="8596313" y="2874963"/>
              <a:ext cx="58737" cy="58738"/>
            </a:xfrm>
            <a:custGeom>
              <a:avLst/>
              <a:gdLst>
                <a:gd name="T0" fmla="*/ 30258 w 33"/>
                <a:gd name="T1" fmla="*/ 58738 h 33"/>
                <a:gd name="T2" fmla="*/ 0 w 33"/>
                <a:gd name="T3" fmla="*/ 30259 h 33"/>
                <a:gd name="T4" fmla="*/ 30258 w 33"/>
                <a:gd name="T5" fmla="*/ 0 h 33"/>
                <a:gd name="T6" fmla="*/ 58737 w 33"/>
                <a:gd name="T7" fmla="*/ 30259 h 33"/>
                <a:gd name="T8" fmla="*/ 30258 w 33"/>
                <a:gd name="T9" fmla="*/ 58738 h 33"/>
                <a:gd name="T10" fmla="*/ 30258 w 33"/>
                <a:gd name="T11" fmla="*/ 21359 h 33"/>
                <a:gd name="T12" fmla="*/ 21359 w 33"/>
                <a:gd name="T13" fmla="*/ 30259 h 33"/>
                <a:gd name="T14" fmla="*/ 30258 w 33"/>
                <a:gd name="T15" fmla="*/ 37379 h 33"/>
                <a:gd name="T16" fmla="*/ 37378 w 33"/>
                <a:gd name="T17" fmla="*/ 30259 h 33"/>
                <a:gd name="T18" fmla="*/ 30258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7" y="33"/>
                  </a:moveTo>
                  <a:cubicBezTo>
                    <a:pt x="8" y="33"/>
                    <a:pt x="0" y="26"/>
                    <a:pt x="0" y="17"/>
                  </a:cubicBezTo>
                  <a:cubicBezTo>
                    <a:pt x="0" y="7"/>
                    <a:pt x="8" y="0"/>
                    <a:pt x="17" y="0"/>
                  </a:cubicBezTo>
                  <a:cubicBezTo>
                    <a:pt x="26" y="0"/>
                    <a:pt x="33" y="7"/>
                    <a:pt x="33" y="17"/>
                  </a:cubicBezTo>
                  <a:cubicBezTo>
                    <a:pt x="33" y="26"/>
                    <a:pt x="26" y="33"/>
                    <a:pt x="17" y="33"/>
                  </a:cubicBezTo>
                  <a:close/>
                  <a:moveTo>
                    <a:pt x="17" y="12"/>
                  </a:moveTo>
                  <a:cubicBezTo>
                    <a:pt x="14" y="12"/>
                    <a:pt x="12" y="14"/>
                    <a:pt x="12" y="17"/>
                  </a:cubicBezTo>
                  <a:cubicBezTo>
                    <a:pt x="12" y="19"/>
                    <a:pt x="14" y="21"/>
                    <a:pt x="17" y="21"/>
                  </a:cubicBezTo>
                  <a:cubicBezTo>
                    <a:pt x="19" y="21"/>
                    <a:pt x="21" y="19"/>
                    <a:pt x="21" y="17"/>
                  </a:cubicBezTo>
                  <a:cubicBezTo>
                    <a:pt x="21" y="14"/>
                    <a:pt x="19" y="12"/>
                    <a:pt x="17"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42" name="Freeform 174"/>
            <p:cNvSpPr>
              <a:spLocks noEditPoints="1"/>
            </p:cNvSpPr>
            <p:nvPr/>
          </p:nvSpPr>
          <p:spPr bwMode="auto">
            <a:xfrm>
              <a:off x="8658225" y="2874963"/>
              <a:ext cx="58737" cy="58738"/>
            </a:xfrm>
            <a:custGeom>
              <a:avLst/>
              <a:gdLst>
                <a:gd name="T0" fmla="*/ 28479 w 33"/>
                <a:gd name="T1" fmla="*/ 58738 h 33"/>
                <a:gd name="T2" fmla="*/ 0 w 33"/>
                <a:gd name="T3" fmla="*/ 30259 h 33"/>
                <a:gd name="T4" fmla="*/ 28479 w 33"/>
                <a:gd name="T5" fmla="*/ 0 h 33"/>
                <a:gd name="T6" fmla="*/ 58737 w 33"/>
                <a:gd name="T7" fmla="*/ 30259 h 33"/>
                <a:gd name="T8" fmla="*/ 28479 w 33"/>
                <a:gd name="T9" fmla="*/ 58738 h 33"/>
                <a:gd name="T10" fmla="*/ 28479 w 33"/>
                <a:gd name="T11" fmla="*/ 21359 h 33"/>
                <a:gd name="T12" fmla="*/ 21359 w 33"/>
                <a:gd name="T13" fmla="*/ 30259 h 33"/>
                <a:gd name="T14" fmla="*/ 28479 w 33"/>
                <a:gd name="T15" fmla="*/ 37379 h 33"/>
                <a:gd name="T16" fmla="*/ 37378 w 33"/>
                <a:gd name="T17" fmla="*/ 30259 h 33"/>
                <a:gd name="T18" fmla="*/ 28479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6"/>
                    <a:pt x="0" y="17"/>
                  </a:cubicBezTo>
                  <a:cubicBezTo>
                    <a:pt x="0" y="7"/>
                    <a:pt x="7" y="0"/>
                    <a:pt x="16" y="0"/>
                  </a:cubicBezTo>
                  <a:cubicBezTo>
                    <a:pt x="25" y="0"/>
                    <a:pt x="33" y="7"/>
                    <a:pt x="33" y="17"/>
                  </a:cubicBezTo>
                  <a:cubicBezTo>
                    <a:pt x="33" y="26"/>
                    <a:pt x="25" y="33"/>
                    <a:pt x="16" y="33"/>
                  </a:cubicBezTo>
                  <a:close/>
                  <a:moveTo>
                    <a:pt x="16" y="12"/>
                  </a:moveTo>
                  <a:cubicBezTo>
                    <a:pt x="14" y="12"/>
                    <a:pt x="12" y="14"/>
                    <a:pt x="12" y="17"/>
                  </a:cubicBezTo>
                  <a:cubicBezTo>
                    <a:pt x="12" y="19"/>
                    <a:pt x="14" y="21"/>
                    <a:pt x="16" y="21"/>
                  </a:cubicBezTo>
                  <a:cubicBezTo>
                    <a:pt x="19" y="21"/>
                    <a:pt x="21" y="19"/>
                    <a:pt x="21" y="17"/>
                  </a:cubicBezTo>
                  <a:cubicBezTo>
                    <a:pt x="21" y="14"/>
                    <a:pt x="19" y="12"/>
                    <a:pt x="16"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43" name="Freeform 175"/>
            <p:cNvSpPr>
              <a:spLocks noEditPoints="1"/>
            </p:cNvSpPr>
            <p:nvPr/>
          </p:nvSpPr>
          <p:spPr bwMode="auto">
            <a:xfrm>
              <a:off x="8720138" y="2874963"/>
              <a:ext cx="58737" cy="58738"/>
            </a:xfrm>
            <a:custGeom>
              <a:avLst/>
              <a:gdLst>
                <a:gd name="T0" fmla="*/ 28479 w 33"/>
                <a:gd name="T1" fmla="*/ 58738 h 33"/>
                <a:gd name="T2" fmla="*/ 0 w 33"/>
                <a:gd name="T3" fmla="*/ 30259 h 33"/>
                <a:gd name="T4" fmla="*/ 28479 w 33"/>
                <a:gd name="T5" fmla="*/ 0 h 33"/>
                <a:gd name="T6" fmla="*/ 58737 w 33"/>
                <a:gd name="T7" fmla="*/ 30259 h 33"/>
                <a:gd name="T8" fmla="*/ 28479 w 33"/>
                <a:gd name="T9" fmla="*/ 58738 h 33"/>
                <a:gd name="T10" fmla="*/ 28479 w 33"/>
                <a:gd name="T11" fmla="*/ 21359 h 33"/>
                <a:gd name="T12" fmla="*/ 21359 w 33"/>
                <a:gd name="T13" fmla="*/ 30259 h 33"/>
                <a:gd name="T14" fmla="*/ 28479 w 33"/>
                <a:gd name="T15" fmla="*/ 37379 h 33"/>
                <a:gd name="T16" fmla="*/ 37378 w 33"/>
                <a:gd name="T17" fmla="*/ 30259 h 33"/>
                <a:gd name="T18" fmla="*/ 28479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6"/>
                    <a:pt x="0" y="17"/>
                  </a:cubicBezTo>
                  <a:cubicBezTo>
                    <a:pt x="0" y="7"/>
                    <a:pt x="7" y="0"/>
                    <a:pt x="16" y="0"/>
                  </a:cubicBezTo>
                  <a:cubicBezTo>
                    <a:pt x="25" y="0"/>
                    <a:pt x="33" y="7"/>
                    <a:pt x="33" y="17"/>
                  </a:cubicBezTo>
                  <a:cubicBezTo>
                    <a:pt x="33" y="26"/>
                    <a:pt x="25" y="33"/>
                    <a:pt x="16" y="33"/>
                  </a:cubicBezTo>
                  <a:close/>
                  <a:moveTo>
                    <a:pt x="16" y="12"/>
                  </a:moveTo>
                  <a:cubicBezTo>
                    <a:pt x="14" y="12"/>
                    <a:pt x="12" y="14"/>
                    <a:pt x="12" y="17"/>
                  </a:cubicBezTo>
                  <a:cubicBezTo>
                    <a:pt x="12" y="19"/>
                    <a:pt x="14" y="21"/>
                    <a:pt x="16" y="21"/>
                  </a:cubicBezTo>
                  <a:cubicBezTo>
                    <a:pt x="19" y="21"/>
                    <a:pt x="21" y="19"/>
                    <a:pt x="21" y="17"/>
                  </a:cubicBezTo>
                  <a:cubicBezTo>
                    <a:pt x="21" y="14"/>
                    <a:pt x="19" y="12"/>
                    <a:pt x="16"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44" name="Freeform 176"/>
            <p:cNvSpPr>
              <a:spLocks noEditPoints="1"/>
            </p:cNvSpPr>
            <p:nvPr/>
          </p:nvSpPr>
          <p:spPr bwMode="auto">
            <a:xfrm>
              <a:off x="8596313" y="2938463"/>
              <a:ext cx="58737" cy="58738"/>
            </a:xfrm>
            <a:custGeom>
              <a:avLst/>
              <a:gdLst>
                <a:gd name="T0" fmla="*/ 30258 w 33"/>
                <a:gd name="T1" fmla="*/ 58738 h 33"/>
                <a:gd name="T2" fmla="*/ 0 w 33"/>
                <a:gd name="T3" fmla="*/ 30259 h 33"/>
                <a:gd name="T4" fmla="*/ 30258 w 33"/>
                <a:gd name="T5" fmla="*/ 0 h 33"/>
                <a:gd name="T6" fmla="*/ 58737 w 33"/>
                <a:gd name="T7" fmla="*/ 30259 h 33"/>
                <a:gd name="T8" fmla="*/ 30258 w 33"/>
                <a:gd name="T9" fmla="*/ 58738 h 33"/>
                <a:gd name="T10" fmla="*/ 30258 w 33"/>
                <a:gd name="T11" fmla="*/ 21359 h 33"/>
                <a:gd name="T12" fmla="*/ 21359 w 33"/>
                <a:gd name="T13" fmla="*/ 30259 h 33"/>
                <a:gd name="T14" fmla="*/ 30258 w 33"/>
                <a:gd name="T15" fmla="*/ 37379 h 33"/>
                <a:gd name="T16" fmla="*/ 37378 w 33"/>
                <a:gd name="T17" fmla="*/ 30259 h 33"/>
                <a:gd name="T18" fmla="*/ 30258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12"/>
                  </a:moveTo>
                  <a:cubicBezTo>
                    <a:pt x="14" y="12"/>
                    <a:pt x="12" y="14"/>
                    <a:pt x="12" y="17"/>
                  </a:cubicBezTo>
                  <a:cubicBezTo>
                    <a:pt x="12" y="19"/>
                    <a:pt x="14" y="21"/>
                    <a:pt x="17" y="21"/>
                  </a:cubicBezTo>
                  <a:cubicBezTo>
                    <a:pt x="19" y="21"/>
                    <a:pt x="21" y="19"/>
                    <a:pt x="21" y="17"/>
                  </a:cubicBezTo>
                  <a:cubicBezTo>
                    <a:pt x="21" y="14"/>
                    <a:pt x="19" y="12"/>
                    <a:pt x="17"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45" name="Freeform 177"/>
            <p:cNvSpPr>
              <a:spLocks noEditPoints="1"/>
            </p:cNvSpPr>
            <p:nvPr/>
          </p:nvSpPr>
          <p:spPr bwMode="auto">
            <a:xfrm>
              <a:off x="8658225" y="2938463"/>
              <a:ext cx="58737" cy="58738"/>
            </a:xfrm>
            <a:custGeom>
              <a:avLst/>
              <a:gdLst>
                <a:gd name="T0" fmla="*/ 28479 w 33"/>
                <a:gd name="T1" fmla="*/ 58738 h 33"/>
                <a:gd name="T2" fmla="*/ 0 w 33"/>
                <a:gd name="T3" fmla="*/ 30259 h 33"/>
                <a:gd name="T4" fmla="*/ 28479 w 33"/>
                <a:gd name="T5" fmla="*/ 0 h 33"/>
                <a:gd name="T6" fmla="*/ 58737 w 33"/>
                <a:gd name="T7" fmla="*/ 30259 h 33"/>
                <a:gd name="T8" fmla="*/ 28479 w 33"/>
                <a:gd name="T9" fmla="*/ 58738 h 33"/>
                <a:gd name="T10" fmla="*/ 28479 w 33"/>
                <a:gd name="T11" fmla="*/ 21359 h 33"/>
                <a:gd name="T12" fmla="*/ 21359 w 33"/>
                <a:gd name="T13" fmla="*/ 30259 h 33"/>
                <a:gd name="T14" fmla="*/ 28479 w 33"/>
                <a:gd name="T15" fmla="*/ 37379 h 33"/>
                <a:gd name="T16" fmla="*/ 37378 w 33"/>
                <a:gd name="T17" fmla="*/ 30259 h 33"/>
                <a:gd name="T18" fmla="*/ 28479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6"/>
                    <a:pt x="0" y="17"/>
                  </a:cubicBezTo>
                  <a:cubicBezTo>
                    <a:pt x="0" y="8"/>
                    <a:pt x="7" y="0"/>
                    <a:pt x="16" y="0"/>
                  </a:cubicBezTo>
                  <a:cubicBezTo>
                    <a:pt x="25" y="0"/>
                    <a:pt x="33" y="8"/>
                    <a:pt x="33" y="17"/>
                  </a:cubicBezTo>
                  <a:cubicBezTo>
                    <a:pt x="33" y="26"/>
                    <a:pt x="25" y="33"/>
                    <a:pt x="16" y="33"/>
                  </a:cubicBezTo>
                  <a:close/>
                  <a:moveTo>
                    <a:pt x="16" y="12"/>
                  </a:moveTo>
                  <a:cubicBezTo>
                    <a:pt x="14" y="12"/>
                    <a:pt x="12" y="14"/>
                    <a:pt x="12" y="17"/>
                  </a:cubicBezTo>
                  <a:cubicBezTo>
                    <a:pt x="12" y="19"/>
                    <a:pt x="14" y="21"/>
                    <a:pt x="16" y="21"/>
                  </a:cubicBezTo>
                  <a:cubicBezTo>
                    <a:pt x="19" y="21"/>
                    <a:pt x="21" y="19"/>
                    <a:pt x="21" y="17"/>
                  </a:cubicBezTo>
                  <a:cubicBezTo>
                    <a:pt x="21" y="14"/>
                    <a:pt x="19" y="12"/>
                    <a:pt x="16"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46" name="Freeform 178"/>
            <p:cNvSpPr>
              <a:spLocks noEditPoints="1"/>
            </p:cNvSpPr>
            <p:nvPr/>
          </p:nvSpPr>
          <p:spPr bwMode="auto">
            <a:xfrm>
              <a:off x="8720138" y="2938463"/>
              <a:ext cx="58737" cy="58738"/>
            </a:xfrm>
            <a:custGeom>
              <a:avLst/>
              <a:gdLst>
                <a:gd name="T0" fmla="*/ 28479 w 33"/>
                <a:gd name="T1" fmla="*/ 58738 h 33"/>
                <a:gd name="T2" fmla="*/ 0 w 33"/>
                <a:gd name="T3" fmla="*/ 30259 h 33"/>
                <a:gd name="T4" fmla="*/ 28479 w 33"/>
                <a:gd name="T5" fmla="*/ 0 h 33"/>
                <a:gd name="T6" fmla="*/ 58737 w 33"/>
                <a:gd name="T7" fmla="*/ 30259 h 33"/>
                <a:gd name="T8" fmla="*/ 28479 w 33"/>
                <a:gd name="T9" fmla="*/ 58738 h 33"/>
                <a:gd name="T10" fmla="*/ 28479 w 33"/>
                <a:gd name="T11" fmla="*/ 21359 h 33"/>
                <a:gd name="T12" fmla="*/ 21359 w 33"/>
                <a:gd name="T13" fmla="*/ 30259 h 33"/>
                <a:gd name="T14" fmla="*/ 28479 w 33"/>
                <a:gd name="T15" fmla="*/ 37379 h 33"/>
                <a:gd name="T16" fmla="*/ 37378 w 33"/>
                <a:gd name="T17" fmla="*/ 30259 h 33"/>
                <a:gd name="T18" fmla="*/ 28479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6"/>
                    <a:pt x="0" y="17"/>
                  </a:cubicBezTo>
                  <a:cubicBezTo>
                    <a:pt x="0" y="8"/>
                    <a:pt x="7" y="0"/>
                    <a:pt x="16" y="0"/>
                  </a:cubicBezTo>
                  <a:cubicBezTo>
                    <a:pt x="25" y="0"/>
                    <a:pt x="33" y="8"/>
                    <a:pt x="33" y="17"/>
                  </a:cubicBezTo>
                  <a:cubicBezTo>
                    <a:pt x="33" y="26"/>
                    <a:pt x="25" y="33"/>
                    <a:pt x="16" y="33"/>
                  </a:cubicBezTo>
                  <a:close/>
                  <a:moveTo>
                    <a:pt x="16" y="12"/>
                  </a:moveTo>
                  <a:cubicBezTo>
                    <a:pt x="14" y="12"/>
                    <a:pt x="12" y="14"/>
                    <a:pt x="12" y="17"/>
                  </a:cubicBezTo>
                  <a:cubicBezTo>
                    <a:pt x="12" y="19"/>
                    <a:pt x="14" y="21"/>
                    <a:pt x="16" y="21"/>
                  </a:cubicBezTo>
                  <a:cubicBezTo>
                    <a:pt x="19" y="21"/>
                    <a:pt x="21" y="19"/>
                    <a:pt x="21" y="17"/>
                  </a:cubicBezTo>
                  <a:cubicBezTo>
                    <a:pt x="21" y="14"/>
                    <a:pt x="19" y="12"/>
                    <a:pt x="16"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47" name="Freeform 179"/>
            <p:cNvSpPr>
              <a:spLocks noEditPoints="1"/>
            </p:cNvSpPr>
            <p:nvPr/>
          </p:nvSpPr>
          <p:spPr bwMode="auto">
            <a:xfrm>
              <a:off x="8596313" y="3003550"/>
              <a:ext cx="58737" cy="57150"/>
            </a:xfrm>
            <a:custGeom>
              <a:avLst/>
              <a:gdLst>
                <a:gd name="T0" fmla="*/ 30258 w 33"/>
                <a:gd name="T1" fmla="*/ 57150 h 33"/>
                <a:gd name="T2" fmla="*/ 0 w 33"/>
                <a:gd name="T3" fmla="*/ 27709 h 33"/>
                <a:gd name="T4" fmla="*/ 30258 w 33"/>
                <a:gd name="T5" fmla="*/ 0 h 33"/>
                <a:gd name="T6" fmla="*/ 58737 w 33"/>
                <a:gd name="T7" fmla="*/ 27709 h 33"/>
                <a:gd name="T8" fmla="*/ 30258 w 33"/>
                <a:gd name="T9" fmla="*/ 57150 h 33"/>
                <a:gd name="T10" fmla="*/ 30258 w 33"/>
                <a:gd name="T11" fmla="*/ 20782 h 33"/>
                <a:gd name="T12" fmla="*/ 21359 w 33"/>
                <a:gd name="T13" fmla="*/ 27709 h 33"/>
                <a:gd name="T14" fmla="*/ 30258 w 33"/>
                <a:gd name="T15" fmla="*/ 36368 h 33"/>
                <a:gd name="T16" fmla="*/ 37378 w 33"/>
                <a:gd name="T17" fmla="*/ 27709 h 33"/>
                <a:gd name="T18" fmla="*/ 30258 w 33"/>
                <a:gd name="T19" fmla="*/ 20782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12"/>
                  </a:moveTo>
                  <a:cubicBezTo>
                    <a:pt x="14" y="12"/>
                    <a:pt x="12" y="14"/>
                    <a:pt x="12" y="16"/>
                  </a:cubicBezTo>
                  <a:cubicBezTo>
                    <a:pt x="12" y="19"/>
                    <a:pt x="14" y="21"/>
                    <a:pt x="17" y="21"/>
                  </a:cubicBezTo>
                  <a:cubicBezTo>
                    <a:pt x="19" y="21"/>
                    <a:pt x="21" y="19"/>
                    <a:pt x="21" y="16"/>
                  </a:cubicBezTo>
                  <a:cubicBezTo>
                    <a:pt x="21" y="14"/>
                    <a:pt x="19" y="12"/>
                    <a:pt x="17"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48" name="Freeform 180"/>
            <p:cNvSpPr>
              <a:spLocks noEditPoints="1"/>
            </p:cNvSpPr>
            <p:nvPr/>
          </p:nvSpPr>
          <p:spPr bwMode="auto">
            <a:xfrm>
              <a:off x="8658225" y="3003550"/>
              <a:ext cx="58737" cy="57150"/>
            </a:xfrm>
            <a:custGeom>
              <a:avLst/>
              <a:gdLst>
                <a:gd name="T0" fmla="*/ 28479 w 33"/>
                <a:gd name="T1" fmla="*/ 57150 h 33"/>
                <a:gd name="T2" fmla="*/ 0 w 33"/>
                <a:gd name="T3" fmla="*/ 27709 h 33"/>
                <a:gd name="T4" fmla="*/ 28479 w 33"/>
                <a:gd name="T5" fmla="*/ 0 h 33"/>
                <a:gd name="T6" fmla="*/ 58737 w 33"/>
                <a:gd name="T7" fmla="*/ 27709 h 33"/>
                <a:gd name="T8" fmla="*/ 28479 w 33"/>
                <a:gd name="T9" fmla="*/ 57150 h 33"/>
                <a:gd name="T10" fmla="*/ 28479 w 33"/>
                <a:gd name="T11" fmla="*/ 20782 h 33"/>
                <a:gd name="T12" fmla="*/ 21359 w 33"/>
                <a:gd name="T13" fmla="*/ 27709 h 33"/>
                <a:gd name="T14" fmla="*/ 28479 w 33"/>
                <a:gd name="T15" fmla="*/ 36368 h 33"/>
                <a:gd name="T16" fmla="*/ 37378 w 33"/>
                <a:gd name="T17" fmla="*/ 27709 h 33"/>
                <a:gd name="T18" fmla="*/ 28479 w 33"/>
                <a:gd name="T19" fmla="*/ 20782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5"/>
                    <a:pt x="0" y="16"/>
                  </a:cubicBezTo>
                  <a:cubicBezTo>
                    <a:pt x="0" y="7"/>
                    <a:pt x="7" y="0"/>
                    <a:pt x="16" y="0"/>
                  </a:cubicBezTo>
                  <a:cubicBezTo>
                    <a:pt x="25" y="0"/>
                    <a:pt x="33" y="7"/>
                    <a:pt x="33" y="16"/>
                  </a:cubicBezTo>
                  <a:cubicBezTo>
                    <a:pt x="33" y="25"/>
                    <a:pt x="25" y="33"/>
                    <a:pt x="16" y="33"/>
                  </a:cubicBezTo>
                  <a:close/>
                  <a:moveTo>
                    <a:pt x="16" y="12"/>
                  </a:moveTo>
                  <a:cubicBezTo>
                    <a:pt x="14" y="12"/>
                    <a:pt x="12" y="14"/>
                    <a:pt x="12" y="16"/>
                  </a:cubicBezTo>
                  <a:cubicBezTo>
                    <a:pt x="12" y="19"/>
                    <a:pt x="14" y="21"/>
                    <a:pt x="16" y="21"/>
                  </a:cubicBezTo>
                  <a:cubicBezTo>
                    <a:pt x="19" y="21"/>
                    <a:pt x="21" y="19"/>
                    <a:pt x="21" y="16"/>
                  </a:cubicBezTo>
                  <a:cubicBezTo>
                    <a:pt x="21" y="14"/>
                    <a:pt x="19" y="12"/>
                    <a:pt x="16"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49" name="Freeform 181"/>
            <p:cNvSpPr>
              <a:spLocks noEditPoints="1"/>
            </p:cNvSpPr>
            <p:nvPr/>
          </p:nvSpPr>
          <p:spPr bwMode="auto">
            <a:xfrm>
              <a:off x="8720138" y="3003550"/>
              <a:ext cx="58737" cy="57150"/>
            </a:xfrm>
            <a:custGeom>
              <a:avLst/>
              <a:gdLst>
                <a:gd name="T0" fmla="*/ 28479 w 33"/>
                <a:gd name="T1" fmla="*/ 57150 h 33"/>
                <a:gd name="T2" fmla="*/ 0 w 33"/>
                <a:gd name="T3" fmla="*/ 27709 h 33"/>
                <a:gd name="T4" fmla="*/ 28479 w 33"/>
                <a:gd name="T5" fmla="*/ 0 h 33"/>
                <a:gd name="T6" fmla="*/ 58737 w 33"/>
                <a:gd name="T7" fmla="*/ 27709 h 33"/>
                <a:gd name="T8" fmla="*/ 28479 w 33"/>
                <a:gd name="T9" fmla="*/ 57150 h 33"/>
                <a:gd name="T10" fmla="*/ 28479 w 33"/>
                <a:gd name="T11" fmla="*/ 20782 h 33"/>
                <a:gd name="T12" fmla="*/ 21359 w 33"/>
                <a:gd name="T13" fmla="*/ 27709 h 33"/>
                <a:gd name="T14" fmla="*/ 28479 w 33"/>
                <a:gd name="T15" fmla="*/ 36368 h 33"/>
                <a:gd name="T16" fmla="*/ 37378 w 33"/>
                <a:gd name="T17" fmla="*/ 27709 h 33"/>
                <a:gd name="T18" fmla="*/ 28479 w 33"/>
                <a:gd name="T19" fmla="*/ 20782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5"/>
                    <a:pt x="0" y="16"/>
                  </a:cubicBezTo>
                  <a:cubicBezTo>
                    <a:pt x="0" y="7"/>
                    <a:pt x="7" y="0"/>
                    <a:pt x="16" y="0"/>
                  </a:cubicBezTo>
                  <a:cubicBezTo>
                    <a:pt x="25" y="0"/>
                    <a:pt x="33" y="7"/>
                    <a:pt x="33" y="16"/>
                  </a:cubicBezTo>
                  <a:cubicBezTo>
                    <a:pt x="33" y="25"/>
                    <a:pt x="25" y="33"/>
                    <a:pt x="16" y="33"/>
                  </a:cubicBezTo>
                  <a:close/>
                  <a:moveTo>
                    <a:pt x="16" y="12"/>
                  </a:moveTo>
                  <a:cubicBezTo>
                    <a:pt x="14" y="12"/>
                    <a:pt x="12" y="14"/>
                    <a:pt x="12" y="16"/>
                  </a:cubicBezTo>
                  <a:cubicBezTo>
                    <a:pt x="12" y="19"/>
                    <a:pt x="14" y="21"/>
                    <a:pt x="16" y="21"/>
                  </a:cubicBezTo>
                  <a:cubicBezTo>
                    <a:pt x="19" y="21"/>
                    <a:pt x="21" y="19"/>
                    <a:pt x="21" y="16"/>
                  </a:cubicBezTo>
                  <a:cubicBezTo>
                    <a:pt x="21" y="14"/>
                    <a:pt x="19" y="12"/>
                    <a:pt x="16"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50" name="Freeform 182"/>
            <p:cNvSpPr>
              <a:spLocks/>
            </p:cNvSpPr>
            <p:nvPr/>
          </p:nvSpPr>
          <p:spPr bwMode="auto">
            <a:xfrm>
              <a:off x="8456613" y="2822575"/>
              <a:ext cx="66675" cy="20638"/>
            </a:xfrm>
            <a:custGeom>
              <a:avLst/>
              <a:gdLst>
                <a:gd name="T0" fmla="*/ 56147 w 38"/>
                <a:gd name="T1" fmla="*/ 20638 h 12"/>
                <a:gd name="T2" fmla="*/ 10528 w 38"/>
                <a:gd name="T3" fmla="*/ 20638 h 12"/>
                <a:gd name="T4" fmla="*/ 0 w 38"/>
                <a:gd name="T5" fmla="*/ 10319 h 12"/>
                <a:gd name="T6" fmla="*/ 10528 w 38"/>
                <a:gd name="T7" fmla="*/ 0 h 12"/>
                <a:gd name="T8" fmla="*/ 56147 w 38"/>
                <a:gd name="T9" fmla="*/ 0 h 12"/>
                <a:gd name="T10" fmla="*/ 66675 w 38"/>
                <a:gd name="T11" fmla="*/ 10319 h 12"/>
                <a:gd name="T12" fmla="*/ 56147 w 38"/>
                <a:gd name="T13" fmla="*/ 20638 h 12"/>
                <a:gd name="T14" fmla="*/ 0 60000 65536"/>
                <a:gd name="T15" fmla="*/ 0 60000 65536"/>
                <a:gd name="T16" fmla="*/ 0 60000 65536"/>
                <a:gd name="T17" fmla="*/ 0 60000 65536"/>
                <a:gd name="T18" fmla="*/ 0 60000 65536"/>
                <a:gd name="T19" fmla="*/ 0 60000 65536"/>
                <a:gd name="T20" fmla="*/ 0 60000 65536"/>
                <a:gd name="T21" fmla="*/ 0 w 38"/>
                <a:gd name="T22" fmla="*/ 0 h 12"/>
                <a:gd name="T23" fmla="*/ 38 w 3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2">
                  <a:moveTo>
                    <a:pt x="32" y="12"/>
                  </a:moveTo>
                  <a:cubicBezTo>
                    <a:pt x="6" y="12"/>
                    <a:pt x="6" y="12"/>
                    <a:pt x="6" y="12"/>
                  </a:cubicBezTo>
                  <a:cubicBezTo>
                    <a:pt x="3" y="12"/>
                    <a:pt x="0" y="9"/>
                    <a:pt x="0" y="6"/>
                  </a:cubicBezTo>
                  <a:cubicBezTo>
                    <a:pt x="0" y="2"/>
                    <a:pt x="3" y="0"/>
                    <a:pt x="6" y="0"/>
                  </a:cubicBezTo>
                  <a:cubicBezTo>
                    <a:pt x="32" y="0"/>
                    <a:pt x="32" y="0"/>
                    <a:pt x="32" y="0"/>
                  </a:cubicBezTo>
                  <a:cubicBezTo>
                    <a:pt x="35" y="0"/>
                    <a:pt x="38" y="2"/>
                    <a:pt x="38" y="6"/>
                  </a:cubicBezTo>
                  <a:cubicBezTo>
                    <a:pt x="38" y="9"/>
                    <a:pt x="35" y="12"/>
                    <a:pt x="3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51" name="Freeform 183"/>
            <p:cNvSpPr>
              <a:spLocks/>
            </p:cNvSpPr>
            <p:nvPr/>
          </p:nvSpPr>
          <p:spPr bwMode="auto">
            <a:xfrm>
              <a:off x="8456613" y="2860675"/>
              <a:ext cx="66675" cy="22225"/>
            </a:xfrm>
            <a:custGeom>
              <a:avLst/>
              <a:gdLst>
                <a:gd name="T0" fmla="*/ 56147 w 38"/>
                <a:gd name="T1" fmla="*/ 22225 h 12"/>
                <a:gd name="T2" fmla="*/ 10528 w 38"/>
                <a:gd name="T3" fmla="*/ 22225 h 12"/>
                <a:gd name="T4" fmla="*/ 0 w 38"/>
                <a:gd name="T5" fmla="*/ 11113 h 12"/>
                <a:gd name="T6" fmla="*/ 10528 w 38"/>
                <a:gd name="T7" fmla="*/ 0 h 12"/>
                <a:gd name="T8" fmla="*/ 56147 w 38"/>
                <a:gd name="T9" fmla="*/ 0 h 12"/>
                <a:gd name="T10" fmla="*/ 66675 w 38"/>
                <a:gd name="T11" fmla="*/ 11113 h 12"/>
                <a:gd name="T12" fmla="*/ 56147 w 38"/>
                <a:gd name="T13" fmla="*/ 22225 h 12"/>
                <a:gd name="T14" fmla="*/ 0 60000 65536"/>
                <a:gd name="T15" fmla="*/ 0 60000 65536"/>
                <a:gd name="T16" fmla="*/ 0 60000 65536"/>
                <a:gd name="T17" fmla="*/ 0 60000 65536"/>
                <a:gd name="T18" fmla="*/ 0 60000 65536"/>
                <a:gd name="T19" fmla="*/ 0 60000 65536"/>
                <a:gd name="T20" fmla="*/ 0 60000 65536"/>
                <a:gd name="T21" fmla="*/ 0 w 38"/>
                <a:gd name="T22" fmla="*/ 0 h 12"/>
                <a:gd name="T23" fmla="*/ 38 w 3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12">
                  <a:moveTo>
                    <a:pt x="32" y="12"/>
                  </a:moveTo>
                  <a:cubicBezTo>
                    <a:pt x="6" y="12"/>
                    <a:pt x="6" y="12"/>
                    <a:pt x="6" y="12"/>
                  </a:cubicBezTo>
                  <a:cubicBezTo>
                    <a:pt x="3" y="12"/>
                    <a:pt x="0" y="9"/>
                    <a:pt x="0" y="6"/>
                  </a:cubicBezTo>
                  <a:cubicBezTo>
                    <a:pt x="0" y="2"/>
                    <a:pt x="3" y="0"/>
                    <a:pt x="6" y="0"/>
                  </a:cubicBezTo>
                  <a:cubicBezTo>
                    <a:pt x="32" y="0"/>
                    <a:pt x="32" y="0"/>
                    <a:pt x="32" y="0"/>
                  </a:cubicBezTo>
                  <a:cubicBezTo>
                    <a:pt x="35" y="0"/>
                    <a:pt x="38" y="2"/>
                    <a:pt x="38" y="6"/>
                  </a:cubicBezTo>
                  <a:cubicBezTo>
                    <a:pt x="38" y="9"/>
                    <a:pt x="35" y="12"/>
                    <a:pt x="3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52" name="Freeform 184"/>
            <p:cNvSpPr>
              <a:spLocks noEditPoints="1"/>
            </p:cNvSpPr>
            <p:nvPr/>
          </p:nvSpPr>
          <p:spPr bwMode="auto">
            <a:xfrm>
              <a:off x="8413750" y="2587625"/>
              <a:ext cx="152400" cy="522288"/>
            </a:xfrm>
            <a:custGeom>
              <a:avLst/>
              <a:gdLst>
                <a:gd name="T0" fmla="*/ 95693 w 86"/>
                <a:gd name="T1" fmla="*/ 522288 h 294"/>
                <a:gd name="T2" fmla="*/ 56707 w 86"/>
                <a:gd name="T3" fmla="*/ 522288 h 294"/>
                <a:gd name="T4" fmla="*/ 0 w 86"/>
                <a:gd name="T5" fmla="*/ 467217 h 294"/>
                <a:gd name="T6" fmla="*/ 0 w 86"/>
                <a:gd name="T7" fmla="*/ 56848 h 294"/>
                <a:gd name="T8" fmla="*/ 56707 w 86"/>
                <a:gd name="T9" fmla="*/ 0 h 294"/>
                <a:gd name="T10" fmla="*/ 95693 w 86"/>
                <a:gd name="T11" fmla="*/ 0 h 294"/>
                <a:gd name="T12" fmla="*/ 152400 w 86"/>
                <a:gd name="T13" fmla="*/ 56848 h 294"/>
                <a:gd name="T14" fmla="*/ 152400 w 86"/>
                <a:gd name="T15" fmla="*/ 467217 h 294"/>
                <a:gd name="T16" fmla="*/ 95693 w 86"/>
                <a:gd name="T17" fmla="*/ 522288 h 294"/>
                <a:gd name="T18" fmla="*/ 56707 w 86"/>
                <a:gd name="T19" fmla="*/ 31977 h 294"/>
                <a:gd name="T20" fmla="*/ 31898 w 86"/>
                <a:gd name="T21" fmla="*/ 56848 h 294"/>
                <a:gd name="T22" fmla="*/ 31898 w 86"/>
                <a:gd name="T23" fmla="*/ 467217 h 294"/>
                <a:gd name="T24" fmla="*/ 56707 w 86"/>
                <a:gd name="T25" fmla="*/ 490311 h 294"/>
                <a:gd name="T26" fmla="*/ 95693 w 86"/>
                <a:gd name="T27" fmla="*/ 490311 h 294"/>
                <a:gd name="T28" fmla="*/ 120502 w 86"/>
                <a:gd name="T29" fmla="*/ 467217 h 294"/>
                <a:gd name="T30" fmla="*/ 120502 w 86"/>
                <a:gd name="T31" fmla="*/ 56848 h 294"/>
                <a:gd name="T32" fmla="*/ 95693 w 86"/>
                <a:gd name="T33" fmla="*/ 31977 h 294"/>
                <a:gd name="T34" fmla="*/ 56707 w 86"/>
                <a:gd name="T35" fmla="*/ 31977 h 29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294"/>
                <a:gd name="T56" fmla="*/ 86 w 86"/>
                <a:gd name="T57" fmla="*/ 294 h 29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294">
                  <a:moveTo>
                    <a:pt x="54" y="294"/>
                  </a:moveTo>
                  <a:cubicBezTo>
                    <a:pt x="32" y="294"/>
                    <a:pt x="32" y="294"/>
                    <a:pt x="32" y="294"/>
                  </a:cubicBezTo>
                  <a:cubicBezTo>
                    <a:pt x="15" y="294"/>
                    <a:pt x="0" y="280"/>
                    <a:pt x="0" y="263"/>
                  </a:cubicBezTo>
                  <a:cubicBezTo>
                    <a:pt x="0" y="32"/>
                    <a:pt x="0" y="32"/>
                    <a:pt x="0" y="32"/>
                  </a:cubicBezTo>
                  <a:cubicBezTo>
                    <a:pt x="0" y="15"/>
                    <a:pt x="15" y="0"/>
                    <a:pt x="32" y="0"/>
                  </a:cubicBezTo>
                  <a:cubicBezTo>
                    <a:pt x="54" y="0"/>
                    <a:pt x="54" y="0"/>
                    <a:pt x="54" y="0"/>
                  </a:cubicBezTo>
                  <a:cubicBezTo>
                    <a:pt x="71" y="0"/>
                    <a:pt x="86" y="15"/>
                    <a:pt x="86" y="32"/>
                  </a:cubicBezTo>
                  <a:cubicBezTo>
                    <a:pt x="86" y="263"/>
                    <a:pt x="86" y="263"/>
                    <a:pt x="86" y="263"/>
                  </a:cubicBezTo>
                  <a:cubicBezTo>
                    <a:pt x="86" y="280"/>
                    <a:pt x="71" y="294"/>
                    <a:pt x="54" y="294"/>
                  </a:cubicBezTo>
                  <a:close/>
                  <a:moveTo>
                    <a:pt x="32" y="18"/>
                  </a:moveTo>
                  <a:cubicBezTo>
                    <a:pt x="25" y="18"/>
                    <a:pt x="18" y="24"/>
                    <a:pt x="18" y="32"/>
                  </a:cubicBezTo>
                  <a:cubicBezTo>
                    <a:pt x="18" y="263"/>
                    <a:pt x="18" y="263"/>
                    <a:pt x="18" y="263"/>
                  </a:cubicBezTo>
                  <a:cubicBezTo>
                    <a:pt x="18" y="270"/>
                    <a:pt x="25" y="276"/>
                    <a:pt x="32" y="276"/>
                  </a:cubicBezTo>
                  <a:cubicBezTo>
                    <a:pt x="54" y="276"/>
                    <a:pt x="54" y="276"/>
                    <a:pt x="54" y="276"/>
                  </a:cubicBezTo>
                  <a:cubicBezTo>
                    <a:pt x="61" y="276"/>
                    <a:pt x="68" y="270"/>
                    <a:pt x="68" y="263"/>
                  </a:cubicBezTo>
                  <a:cubicBezTo>
                    <a:pt x="68" y="32"/>
                    <a:pt x="68" y="32"/>
                    <a:pt x="68" y="32"/>
                  </a:cubicBezTo>
                  <a:cubicBezTo>
                    <a:pt x="68" y="24"/>
                    <a:pt x="61" y="18"/>
                    <a:pt x="54" y="18"/>
                  </a:cubicBezTo>
                  <a:lnTo>
                    <a:pt x="32" y="1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53" name="Freeform 185"/>
            <p:cNvSpPr>
              <a:spLocks noEditPoints="1"/>
            </p:cNvSpPr>
            <p:nvPr/>
          </p:nvSpPr>
          <p:spPr bwMode="auto">
            <a:xfrm>
              <a:off x="8534400" y="2587625"/>
              <a:ext cx="306387" cy="522288"/>
            </a:xfrm>
            <a:custGeom>
              <a:avLst/>
              <a:gdLst>
                <a:gd name="T0" fmla="*/ 263882 w 173"/>
                <a:gd name="T1" fmla="*/ 522288 h 294"/>
                <a:gd name="T2" fmla="*/ 40734 w 173"/>
                <a:gd name="T3" fmla="*/ 522288 h 294"/>
                <a:gd name="T4" fmla="*/ 0 w 173"/>
                <a:gd name="T5" fmla="*/ 479652 h 294"/>
                <a:gd name="T6" fmla="*/ 0 w 173"/>
                <a:gd name="T7" fmla="*/ 42636 h 294"/>
                <a:gd name="T8" fmla="*/ 40734 w 173"/>
                <a:gd name="T9" fmla="*/ 0 h 294"/>
                <a:gd name="T10" fmla="*/ 263882 w 173"/>
                <a:gd name="T11" fmla="*/ 0 h 294"/>
                <a:gd name="T12" fmla="*/ 306387 w 173"/>
                <a:gd name="T13" fmla="*/ 42636 h 294"/>
                <a:gd name="T14" fmla="*/ 306387 w 173"/>
                <a:gd name="T15" fmla="*/ 479652 h 294"/>
                <a:gd name="T16" fmla="*/ 263882 w 173"/>
                <a:gd name="T17" fmla="*/ 522288 h 294"/>
                <a:gd name="T18" fmla="*/ 40734 w 173"/>
                <a:gd name="T19" fmla="*/ 31977 h 294"/>
                <a:gd name="T20" fmla="*/ 31878 w 173"/>
                <a:gd name="T21" fmla="*/ 42636 h 294"/>
                <a:gd name="T22" fmla="*/ 31878 w 173"/>
                <a:gd name="T23" fmla="*/ 479652 h 294"/>
                <a:gd name="T24" fmla="*/ 40734 w 173"/>
                <a:gd name="T25" fmla="*/ 490311 h 294"/>
                <a:gd name="T26" fmla="*/ 263882 w 173"/>
                <a:gd name="T27" fmla="*/ 490311 h 294"/>
                <a:gd name="T28" fmla="*/ 274509 w 173"/>
                <a:gd name="T29" fmla="*/ 479652 h 294"/>
                <a:gd name="T30" fmla="*/ 274509 w 173"/>
                <a:gd name="T31" fmla="*/ 42636 h 294"/>
                <a:gd name="T32" fmla="*/ 263882 w 173"/>
                <a:gd name="T33" fmla="*/ 31977 h 294"/>
                <a:gd name="T34" fmla="*/ 40734 w 173"/>
                <a:gd name="T35" fmla="*/ 31977 h 29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3"/>
                <a:gd name="T55" fmla="*/ 0 h 294"/>
                <a:gd name="T56" fmla="*/ 173 w 173"/>
                <a:gd name="T57" fmla="*/ 294 h 29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3" h="294">
                  <a:moveTo>
                    <a:pt x="149" y="294"/>
                  </a:moveTo>
                  <a:cubicBezTo>
                    <a:pt x="23" y="294"/>
                    <a:pt x="23" y="294"/>
                    <a:pt x="23" y="294"/>
                  </a:cubicBezTo>
                  <a:cubicBezTo>
                    <a:pt x="10" y="294"/>
                    <a:pt x="0" y="283"/>
                    <a:pt x="0" y="270"/>
                  </a:cubicBezTo>
                  <a:cubicBezTo>
                    <a:pt x="0" y="24"/>
                    <a:pt x="0" y="24"/>
                    <a:pt x="0" y="24"/>
                  </a:cubicBezTo>
                  <a:cubicBezTo>
                    <a:pt x="0" y="11"/>
                    <a:pt x="10" y="0"/>
                    <a:pt x="23" y="0"/>
                  </a:cubicBezTo>
                  <a:cubicBezTo>
                    <a:pt x="149" y="0"/>
                    <a:pt x="149" y="0"/>
                    <a:pt x="149" y="0"/>
                  </a:cubicBezTo>
                  <a:cubicBezTo>
                    <a:pt x="163" y="0"/>
                    <a:pt x="173" y="11"/>
                    <a:pt x="173" y="24"/>
                  </a:cubicBezTo>
                  <a:cubicBezTo>
                    <a:pt x="173" y="270"/>
                    <a:pt x="173" y="270"/>
                    <a:pt x="173" y="270"/>
                  </a:cubicBezTo>
                  <a:cubicBezTo>
                    <a:pt x="173" y="283"/>
                    <a:pt x="163" y="294"/>
                    <a:pt x="149" y="294"/>
                  </a:cubicBezTo>
                  <a:close/>
                  <a:moveTo>
                    <a:pt x="23" y="18"/>
                  </a:moveTo>
                  <a:cubicBezTo>
                    <a:pt x="20" y="18"/>
                    <a:pt x="18" y="21"/>
                    <a:pt x="18" y="24"/>
                  </a:cubicBezTo>
                  <a:cubicBezTo>
                    <a:pt x="18" y="270"/>
                    <a:pt x="18" y="270"/>
                    <a:pt x="18" y="270"/>
                  </a:cubicBezTo>
                  <a:cubicBezTo>
                    <a:pt x="18" y="274"/>
                    <a:pt x="20" y="276"/>
                    <a:pt x="23" y="276"/>
                  </a:cubicBezTo>
                  <a:cubicBezTo>
                    <a:pt x="149" y="276"/>
                    <a:pt x="149" y="276"/>
                    <a:pt x="149" y="276"/>
                  </a:cubicBezTo>
                  <a:cubicBezTo>
                    <a:pt x="153" y="276"/>
                    <a:pt x="155" y="274"/>
                    <a:pt x="155" y="270"/>
                  </a:cubicBezTo>
                  <a:cubicBezTo>
                    <a:pt x="155" y="24"/>
                    <a:pt x="155" y="24"/>
                    <a:pt x="155" y="24"/>
                  </a:cubicBezTo>
                  <a:cubicBezTo>
                    <a:pt x="155" y="21"/>
                    <a:pt x="153" y="18"/>
                    <a:pt x="149" y="18"/>
                  </a:cubicBezTo>
                  <a:lnTo>
                    <a:pt x="23" y="1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54" name="Freeform 186"/>
            <p:cNvSpPr>
              <a:spLocks/>
            </p:cNvSpPr>
            <p:nvPr/>
          </p:nvSpPr>
          <p:spPr bwMode="auto">
            <a:xfrm>
              <a:off x="8809038" y="2406650"/>
              <a:ext cx="471487" cy="703263"/>
            </a:xfrm>
            <a:custGeom>
              <a:avLst/>
              <a:gdLst>
                <a:gd name="T0" fmla="*/ 420084 w 266"/>
                <a:gd name="T1" fmla="*/ 703263 h 396"/>
                <a:gd name="T2" fmla="*/ 381089 w 266"/>
                <a:gd name="T3" fmla="*/ 703263 h 396"/>
                <a:gd name="T4" fmla="*/ 381089 w 266"/>
                <a:gd name="T5" fmla="*/ 671297 h 396"/>
                <a:gd name="T6" fmla="*/ 420084 w 266"/>
                <a:gd name="T7" fmla="*/ 671297 h 396"/>
                <a:gd name="T8" fmla="*/ 439582 w 266"/>
                <a:gd name="T9" fmla="*/ 651761 h 396"/>
                <a:gd name="T10" fmla="*/ 439582 w 266"/>
                <a:gd name="T11" fmla="*/ 51502 h 396"/>
                <a:gd name="T12" fmla="*/ 420084 w 266"/>
                <a:gd name="T13" fmla="*/ 31967 h 396"/>
                <a:gd name="T14" fmla="*/ 53175 w 266"/>
                <a:gd name="T15" fmla="*/ 31967 h 396"/>
                <a:gd name="T16" fmla="*/ 31905 w 266"/>
                <a:gd name="T17" fmla="*/ 51502 h 396"/>
                <a:gd name="T18" fmla="*/ 31905 w 266"/>
                <a:gd name="T19" fmla="*/ 651761 h 396"/>
                <a:gd name="T20" fmla="*/ 53175 w 266"/>
                <a:gd name="T21" fmla="*/ 671297 h 396"/>
                <a:gd name="T22" fmla="*/ 274739 w 266"/>
                <a:gd name="T23" fmla="*/ 671297 h 396"/>
                <a:gd name="T24" fmla="*/ 274739 w 266"/>
                <a:gd name="T25" fmla="*/ 703263 h 396"/>
                <a:gd name="T26" fmla="*/ 53175 w 266"/>
                <a:gd name="T27" fmla="*/ 703263 h 396"/>
                <a:gd name="T28" fmla="*/ 0 w 266"/>
                <a:gd name="T29" fmla="*/ 651761 h 396"/>
                <a:gd name="T30" fmla="*/ 0 w 266"/>
                <a:gd name="T31" fmla="*/ 51502 h 396"/>
                <a:gd name="T32" fmla="*/ 53175 w 266"/>
                <a:gd name="T33" fmla="*/ 0 h 396"/>
                <a:gd name="T34" fmla="*/ 420084 w 266"/>
                <a:gd name="T35" fmla="*/ 0 h 396"/>
                <a:gd name="T36" fmla="*/ 471487 w 266"/>
                <a:gd name="T37" fmla="*/ 51502 h 396"/>
                <a:gd name="T38" fmla="*/ 471487 w 266"/>
                <a:gd name="T39" fmla="*/ 651761 h 396"/>
                <a:gd name="T40" fmla="*/ 420084 w 266"/>
                <a:gd name="T41" fmla="*/ 703263 h 3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66"/>
                <a:gd name="T64" fmla="*/ 0 h 396"/>
                <a:gd name="T65" fmla="*/ 266 w 266"/>
                <a:gd name="T66" fmla="*/ 396 h 3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66" h="396">
                  <a:moveTo>
                    <a:pt x="237" y="396"/>
                  </a:moveTo>
                  <a:cubicBezTo>
                    <a:pt x="215" y="396"/>
                    <a:pt x="215" y="396"/>
                    <a:pt x="215" y="396"/>
                  </a:cubicBezTo>
                  <a:cubicBezTo>
                    <a:pt x="215" y="378"/>
                    <a:pt x="215" y="378"/>
                    <a:pt x="215" y="378"/>
                  </a:cubicBezTo>
                  <a:cubicBezTo>
                    <a:pt x="237" y="378"/>
                    <a:pt x="237" y="378"/>
                    <a:pt x="237" y="378"/>
                  </a:cubicBezTo>
                  <a:cubicBezTo>
                    <a:pt x="243" y="378"/>
                    <a:pt x="248" y="373"/>
                    <a:pt x="248" y="367"/>
                  </a:cubicBezTo>
                  <a:cubicBezTo>
                    <a:pt x="248" y="29"/>
                    <a:pt x="248" y="29"/>
                    <a:pt x="248" y="29"/>
                  </a:cubicBezTo>
                  <a:cubicBezTo>
                    <a:pt x="248" y="23"/>
                    <a:pt x="243" y="18"/>
                    <a:pt x="237" y="18"/>
                  </a:cubicBezTo>
                  <a:cubicBezTo>
                    <a:pt x="30" y="18"/>
                    <a:pt x="30" y="18"/>
                    <a:pt x="30" y="18"/>
                  </a:cubicBezTo>
                  <a:cubicBezTo>
                    <a:pt x="23" y="18"/>
                    <a:pt x="18" y="23"/>
                    <a:pt x="18" y="29"/>
                  </a:cubicBezTo>
                  <a:cubicBezTo>
                    <a:pt x="18" y="367"/>
                    <a:pt x="18" y="367"/>
                    <a:pt x="18" y="367"/>
                  </a:cubicBezTo>
                  <a:cubicBezTo>
                    <a:pt x="18" y="373"/>
                    <a:pt x="23" y="378"/>
                    <a:pt x="30" y="378"/>
                  </a:cubicBezTo>
                  <a:cubicBezTo>
                    <a:pt x="155" y="378"/>
                    <a:pt x="155" y="378"/>
                    <a:pt x="155" y="378"/>
                  </a:cubicBezTo>
                  <a:cubicBezTo>
                    <a:pt x="155" y="396"/>
                    <a:pt x="155" y="396"/>
                    <a:pt x="155" y="396"/>
                  </a:cubicBezTo>
                  <a:cubicBezTo>
                    <a:pt x="30" y="396"/>
                    <a:pt x="30" y="396"/>
                    <a:pt x="30" y="396"/>
                  </a:cubicBezTo>
                  <a:cubicBezTo>
                    <a:pt x="13" y="396"/>
                    <a:pt x="0" y="383"/>
                    <a:pt x="0" y="367"/>
                  </a:cubicBezTo>
                  <a:cubicBezTo>
                    <a:pt x="0" y="29"/>
                    <a:pt x="0" y="29"/>
                    <a:pt x="0" y="29"/>
                  </a:cubicBezTo>
                  <a:cubicBezTo>
                    <a:pt x="0" y="13"/>
                    <a:pt x="13" y="0"/>
                    <a:pt x="30" y="0"/>
                  </a:cubicBezTo>
                  <a:cubicBezTo>
                    <a:pt x="237" y="0"/>
                    <a:pt x="237" y="0"/>
                    <a:pt x="237" y="0"/>
                  </a:cubicBezTo>
                  <a:cubicBezTo>
                    <a:pt x="253" y="0"/>
                    <a:pt x="266" y="13"/>
                    <a:pt x="266" y="29"/>
                  </a:cubicBezTo>
                  <a:cubicBezTo>
                    <a:pt x="266" y="367"/>
                    <a:pt x="266" y="367"/>
                    <a:pt x="266" y="367"/>
                  </a:cubicBezTo>
                  <a:cubicBezTo>
                    <a:pt x="266" y="383"/>
                    <a:pt x="253" y="396"/>
                    <a:pt x="237" y="396"/>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55" name="Freeform 187"/>
            <p:cNvSpPr>
              <a:spLocks noEditPoints="1"/>
            </p:cNvSpPr>
            <p:nvPr/>
          </p:nvSpPr>
          <p:spPr bwMode="auto">
            <a:xfrm>
              <a:off x="8574088" y="2632075"/>
              <a:ext cx="228600" cy="141288"/>
            </a:xfrm>
            <a:custGeom>
              <a:avLst/>
              <a:gdLst>
                <a:gd name="T0" fmla="*/ 217967 w 129"/>
                <a:gd name="T1" fmla="*/ 141288 h 80"/>
                <a:gd name="T2" fmla="*/ 10633 w 129"/>
                <a:gd name="T3" fmla="*/ 141288 h 80"/>
                <a:gd name="T4" fmla="*/ 0 w 129"/>
                <a:gd name="T5" fmla="*/ 130691 h 80"/>
                <a:gd name="T6" fmla="*/ 0 w 129"/>
                <a:gd name="T7" fmla="*/ 10597 h 80"/>
                <a:gd name="T8" fmla="*/ 10633 w 129"/>
                <a:gd name="T9" fmla="*/ 0 h 80"/>
                <a:gd name="T10" fmla="*/ 217967 w 129"/>
                <a:gd name="T11" fmla="*/ 0 h 80"/>
                <a:gd name="T12" fmla="*/ 228600 w 129"/>
                <a:gd name="T13" fmla="*/ 10597 h 80"/>
                <a:gd name="T14" fmla="*/ 228600 w 129"/>
                <a:gd name="T15" fmla="*/ 130691 h 80"/>
                <a:gd name="T16" fmla="*/ 217967 w 129"/>
                <a:gd name="T17" fmla="*/ 141288 h 80"/>
                <a:gd name="T18" fmla="*/ 21265 w 129"/>
                <a:gd name="T19" fmla="*/ 120095 h 80"/>
                <a:gd name="T20" fmla="*/ 207335 w 129"/>
                <a:gd name="T21" fmla="*/ 120095 h 80"/>
                <a:gd name="T22" fmla="*/ 207335 w 129"/>
                <a:gd name="T23" fmla="*/ 21193 h 80"/>
                <a:gd name="T24" fmla="*/ 21265 w 129"/>
                <a:gd name="T25" fmla="*/ 21193 h 80"/>
                <a:gd name="T26" fmla="*/ 21265 w 129"/>
                <a:gd name="T27" fmla="*/ 120095 h 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9"/>
                <a:gd name="T43" fmla="*/ 0 h 80"/>
                <a:gd name="T44" fmla="*/ 129 w 129"/>
                <a:gd name="T45" fmla="*/ 80 h 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9" h="80">
                  <a:moveTo>
                    <a:pt x="123" y="80"/>
                  </a:moveTo>
                  <a:cubicBezTo>
                    <a:pt x="6" y="80"/>
                    <a:pt x="6" y="80"/>
                    <a:pt x="6" y="80"/>
                  </a:cubicBezTo>
                  <a:cubicBezTo>
                    <a:pt x="3" y="80"/>
                    <a:pt x="0" y="77"/>
                    <a:pt x="0" y="74"/>
                  </a:cubicBezTo>
                  <a:cubicBezTo>
                    <a:pt x="0" y="6"/>
                    <a:pt x="0" y="6"/>
                    <a:pt x="0" y="6"/>
                  </a:cubicBezTo>
                  <a:cubicBezTo>
                    <a:pt x="0" y="3"/>
                    <a:pt x="3" y="0"/>
                    <a:pt x="6" y="0"/>
                  </a:cubicBezTo>
                  <a:cubicBezTo>
                    <a:pt x="123" y="0"/>
                    <a:pt x="123" y="0"/>
                    <a:pt x="123" y="0"/>
                  </a:cubicBezTo>
                  <a:cubicBezTo>
                    <a:pt x="126" y="0"/>
                    <a:pt x="129" y="3"/>
                    <a:pt x="129" y="6"/>
                  </a:cubicBezTo>
                  <a:cubicBezTo>
                    <a:pt x="129" y="74"/>
                    <a:pt x="129" y="74"/>
                    <a:pt x="129" y="74"/>
                  </a:cubicBezTo>
                  <a:cubicBezTo>
                    <a:pt x="129" y="77"/>
                    <a:pt x="126" y="80"/>
                    <a:pt x="123" y="80"/>
                  </a:cubicBezTo>
                  <a:close/>
                  <a:moveTo>
                    <a:pt x="12" y="68"/>
                  </a:moveTo>
                  <a:cubicBezTo>
                    <a:pt x="117" y="68"/>
                    <a:pt x="117" y="68"/>
                    <a:pt x="117" y="68"/>
                  </a:cubicBezTo>
                  <a:cubicBezTo>
                    <a:pt x="117" y="12"/>
                    <a:pt x="117" y="12"/>
                    <a:pt x="117" y="12"/>
                  </a:cubicBezTo>
                  <a:cubicBezTo>
                    <a:pt x="12" y="12"/>
                    <a:pt x="12" y="12"/>
                    <a:pt x="12" y="12"/>
                  </a:cubicBezTo>
                  <a:lnTo>
                    <a:pt x="12" y="6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56" name="Freeform 188"/>
            <p:cNvSpPr>
              <a:spLocks noEditPoints="1"/>
            </p:cNvSpPr>
            <p:nvPr/>
          </p:nvSpPr>
          <p:spPr bwMode="auto">
            <a:xfrm>
              <a:off x="8575675" y="2792413"/>
              <a:ext cx="107950" cy="66675"/>
            </a:xfrm>
            <a:custGeom>
              <a:avLst/>
              <a:gdLst>
                <a:gd name="T0" fmla="*/ 97332 w 61"/>
                <a:gd name="T1" fmla="*/ 66675 h 38"/>
                <a:gd name="T2" fmla="*/ 10618 w 61"/>
                <a:gd name="T3" fmla="*/ 66675 h 38"/>
                <a:gd name="T4" fmla="*/ 0 w 61"/>
                <a:gd name="T5" fmla="*/ 56147 h 38"/>
                <a:gd name="T6" fmla="*/ 0 w 61"/>
                <a:gd name="T7" fmla="*/ 10528 h 38"/>
                <a:gd name="T8" fmla="*/ 10618 w 61"/>
                <a:gd name="T9" fmla="*/ 0 h 38"/>
                <a:gd name="T10" fmla="*/ 97332 w 61"/>
                <a:gd name="T11" fmla="*/ 0 h 38"/>
                <a:gd name="T12" fmla="*/ 107950 w 61"/>
                <a:gd name="T13" fmla="*/ 10528 h 38"/>
                <a:gd name="T14" fmla="*/ 107950 w 61"/>
                <a:gd name="T15" fmla="*/ 56147 h 38"/>
                <a:gd name="T16" fmla="*/ 97332 w 61"/>
                <a:gd name="T17" fmla="*/ 66675 h 38"/>
                <a:gd name="T18" fmla="*/ 21236 w 61"/>
                <a:gd name="T19" fmla="*/ 45620 h 38"/>
                <a:gd name="T20" fmla="*/ 86714 w 61"/>
                <a:gd name="T21" fmla="*/ 45620 h 38"/>
                <a:gd name="T22" fmla="*/ 86714 w 61"/>
                <a:gd name="T23" fmla="*/ 21055 h 38"/>
                <a:gd name="T24" fmla="*/ 21236 w 61"/>
                <a:gd name="T25" fmla="*/ 21055 h 38"/>
                <a:gd name="T26" fmla="*/ 21236 w 61"/>
                <a:gd name="T27" fmla="*/ 45620 h 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
                <a:gd name="T43" fmla="*/ 0 h 38"/>
                <a:gd name="T44" fmla="*/ 61 w 61"/>
                <a:gd name="T45" fmla="*/ 38 h 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 h="38">
                  <a:moveTo>
                    <a:pt x="55" y="38"/>
                  </a:moveTo>
                  <a:cubicBezTo>
                    <a:pt x="6" y="38"/>
                    <a:pt x="6" y="38"/>
                    <a:pt x="6" y="38"/>
                  </a:cubicBezTo>
                  <a:cubicBezTo>
                    <a:pt x="3" y="38"/>
                    <a:pt x="0" y="35"/>
                    <a:pt x="0" y="32"/>
                  </a:cubicBezTo>
                  <a:cubicBezTo>
                    <a:pt x="0" y="6"/>
                    <a:pt x="0" y="6"/>
                    <a:pt x="0" y="6"/>
                  </a:cubicBezTo>
                  <a:cubicBezTo>
                    <a:pt x="0" y="3"/>
                    <a:pt x="3" y="0"/>
                    <a:pt x="6" y="0"/>
                  </a:cubicBezTo>
                  <a:cubicBezTo>
                    <a:pt x="55" y="0"/>
                    <a:pt x="55" y="0"/>
                    <a:pt x="55" y="0"/>
                  </a:cubicBezTo>
                  <a:cubicBezTo>
                    <a:pt x="58" y="0"/>
                    <a:pt x="61" y="3"/>
                    <a:pt x="61" y="6"/>
                  </a:cubicBezTo>
                  <a:cubicBezTo>
                    <a:pt x="61" y="32"/>
                    <a:pt x="61" y="32"/>
                    <a:pt x="61" y="32"/>
                  </a:cubicBezTo>
                  <a:cubicBezTo>
                    <a:pt x="61" y="35"/>
                    <a:pt x="58" y="38"/>
                    <a:pt x="55" y="38"/>
                  </a:cubicBezTo>
                  <a:close/>
                  <a:moveTo>
                    <a:pt x="12" y="26"/>
                  </a:moveTo>
                  <a:cubicBezTo>
                    <a:pt x="49" y="26"/>
                    <a:pt x="49" y="26"/>
                    <a:pt x="49" y="26"/>
                  </a:cubicBezTo>
                  <a:cubicBezTo>
                    <a:pt x="49" y="12"/>
                    <a:pt x="49" y="12"/>
                    <a:pt x="49" y="12"/>
                  </a:cubicBezTo>
                  <a:cubicBezTo>
                    <a:pt x="12" y="12"/>
                    <a:pt x="12" y="12"/>
                    <a:pt x="12" y="12"/>
                  </a:cubicBezTo>
                  <a:lnTo>
                    <a:pt x="12" y="26"/>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57" name="Freeform 189"/>
            <p:cNvSpPr>
              <a:spLocks noEditPoints="1"/>
            </p:cNvSpPr>
            <p:nvPr/>
          </p:nvSpPr>
          <p:spPr bwMode="auto">
            <a:xfrm>
              <a:off x="8693150" y="2792413"/>
              <a:ext cx="106362" cy="66675"/>
            </a:xfrm>
            <a:custGeom>
              <a:avLst/>
              <a:gdLst>
                <a:gd name="T0" fmla="*/ 95726 w 60"/>
                <a:gd name="T1" fmla="*/ 66675 h 38"/>
                <a:gd name="T2" fmla="*/ 10636 w 60"/>
                <a:gd name="T3" fmla="*/ 66675 h 38"/>
                <a:gd name="T4" fmla="*/ 0 w 60"/>
                <a:gd name="T5" fmla="*/ 56147 h 38"/>
                <a:gd name="T6" fmla="*/ 0 w 60"/>
                <a:gd name="T7" fmla="*/ 10528 h 38"/>
                <a:gd name="T8" fmla="*/ 10636 w 60"/>
                <a:gd name="T9" fmla="*/ 0 h 38"/>
                <a:gd name="T10" fmla="*/ 95726 w 60"/>
                <a:gd name="T11" fmla="*/ 0 h 38"/>
                <a:gd name="T12" fmla="*/ 106362 w 60"/>
                <a:gd name="T13" fmla="*/ 10528 h 38"/>
                <a:gd name="T14" fmla="*/ 106362 w 60"/>
                <a:gd name="T15" fmla="*/ 56147 h 38"/>
                <a:gd name="T16" fmla="*/ 95726 w 60"/>
                <a:gd name="T17" fmla="*/ 66675 h 38"/>
                <a:gd name="T18" fmla="*/ 21272 w 60"/>
                <a:gd name="T19" fmla="*/ 45620 h 38"/>
                <a:gd name="T20" fmla="*/ 85090 w 60"/>
                <a:gd name="T21" fmla="*/ 45620 h 38"/>
                <a:gd name="T22" fmla="*/ 85090 w 60"/>
                <a:gd name="T23" fmla="*/ 21055 h 38"/>
                <a:gd name="T24" fmla="*/ 21272 w 60"/>
                <a:gd name="T25" fmla="*/ 21055 h 38"/>
                <a:gd name="T26" fmla="*/ 21272 w 60"/>
                <a:gd name="T27" fmla="*/ 45620 h 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0"/>
                <a:gd name="T43" fmla="*/ 0 h 38"/>
                <a:gd name="T44" fmla="*/ 60 w 60"/>
                <a:gd name="T45" fmla="*/ 38 h 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0" h="38">
                  <a:moveTo>
                    <a:pt x="54" y="38"/>
                  </a:moveTo>
                  <a:cubicBezTo>
                    <a:pt x="6" y="38"/>
                    <a:pt x="6" y="38"/>
                    <a:pt x="6" y="38"/>
                  </a:cubicBezTo>
                  <a:cubicBezTo>
                    <a:pt x="3" y="38"/>
                    <a:pt x="0" y="35"/>
                    <a:pt x="0" y="32"/>
                  </a:cubicBezTo>
                  <a:cubicBezTo>
                    <a:pt x="0" y="6"/>
                    <a:pt x="0" y="6"/>
                    <a:pt x="0" y="6"/>
                  </a:cubicBezTo>
                  <a:cubicBezTo>
                    <a:pt x="0" y="3"/>
                    <a:pt x="3" y="0"/>
                    <a:pt x="6" y="0"/>
                  </a:cubicBezTo>
                  <a:cubicBezTo>
                    <a:pt x="54" y="0"/>
                    <a:pt x="54" y="0"/>
                    <a:pt x="54" y="0"/>
                  </a:cubicBezTo>
                  <a:cubicBezTo>
                    <a:pt x="58" y="0"/>
                    <a:pt x="60" y="3"/>
                    <a:pt x="60" y="6"/>
                  </a:cubicBezTo>
                  <a:cubicBezTo>
                    <a:pt x="60" y="32"/>
                    <a:pt x="60" y="32"/>
                    <a:pt x="60" y="32"/>
                  </a:cubicBezTo>
                  <a:cubicBezTo>
                    <a:pt x="60" y="35"/>
                    <a:pt x="58" y="38"/>
                    <a:pt x="54" y="38"/>
                  </a:cubicBezTo>
                  <a:close/>
                  <a:moveTo>
                    <a:pt x="12" y="26"/>
                  </a:moveTo>
                  <a:cubicBezTo>
                    <a:pt x="48" y="26"/>
                    <a:pt x="48" y="26"/>
                    <a:pt x="48" y="26"/>
                  </a:cubicBezTo>
                  <a:cubicBezTo>
                    <a:pt x="48" y="12"/>
                    <a:pt x="48" y="12"/>
                    <a:pt x="48" y="12"/>
                  </a:cubicBezTo>
                  <a:cubicBezTo>
                    <a:pt x="12" y="12"/>
                    <a:pt x="12" y="12"/>
                    <a:pt x="12" y="12"/>
                  </a:cubicBezTo>
                  <a:lnTo>
                    <a:pt x="12" y="26"/>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58" name="Oval 190"/>
            <p:cNvSpPr>
              <a:spLocks noChangeArrowheads="1"/>
            </p:cNvSpPr>
            <p:nvPr/>
          </p:nvSpPr>
          <p:spPr bwMode="auto">
            <a:xfrm>
              <a:off x="9043988" y="3057525"/>
              <a:ext cx="71437" cy="71438"/>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endParaRPr lang="zh-CN" altLang="en-US" sz="2139"/>
            </a:p>
          </p:txBody>
        </p:sp>
        <p:sp>
          <p:nvSpPr>
            <p:cNvPr id="259" name="Oval 191"/>
            <p:cNvSpPr>
              <a:spLocks noChangeArrowheads="1"/>
            </p:cNvSpPr>
            <p:nvPr/>
          </p:nvSpPr>
          <p:spPr bwMode="auto">
            <a:xfrm>
              <a:off x="9153525" y="3057525"/>
              <a:ext cx="71437" cy="71438"/>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endParaRPr lang="zh-CN" altLang="en-US" sz="2139"/>
            </a:p>
          </p:txBody>
        </p:sp>
        <p:sp>
          <p:nvSpPr>
            <p:cNvPr id="260" name="Freeform 199"/>
            <p:cNvSpPr>
              <a:spLocks noEditPoints="1"/>
            </p:cNvSpPr>
            <p:nvPr/>
          </p:nvSpPr>
          <p:spPr bwMode="auto">
            <a:xfrm>
              <a:off x="8875713" y="2508250"/>
              <a:ext cx="69850" cy="71438"/>
            </a:xfrm>
            <a:custGeom>
              <a:avLst/>
              <a:gdLst>
                <a:gd name="T0" fmla="*/ 59373 w 40"/>
                <a:gd name="T1" fmla="*/ 71438 h 40"/>
                <a:gd name="T2" fmla="*/ 10478 w 40"/>
                <a:gd name="T3" fmla="*/ 71438 h 40"/>
                <a:gd name="T4" fmla="*/ 0 w 40"/>
                <a:gd name="T5" fmla="*/ 60722 h 40"/>
                <a:gd name="T6" fmla="*/ 0 w 40"/>
                <a:gd name="T7" fmla="*/ 10716 h 40"/>
                <a:gd name="T8" fmla="*/ 10478 w 40"/>
                <a:gd name="T9" fmla="*/ 0 h 40"/>
                <a:gd name="T10" fmla="*/ 59373 w 40"/>
                <a:gd name="T11" fmla="*/ 0 h 40"/>
                <a:gd name="T12" fmla="*/ 69850 w 40"/>
                <a:gd name="T13" fmla="*/ 10716 h 40"/>
                <a:gd name="T14" fmla="*/ 69850 w 40"/>
                <a:gd name="T15" fmla="*/ 60722 h 40"/>
                <a:gd name="T16" fmla="*/ 59373 w 40"/>
                <a:gd name="T17" fmla="*/ 71438 h 40"/>
                <a:gd name="T18" fmla="*/ 20955 w 40"/>
                <a:gd name="T19" fmla="*/ 50007 h 40"/>
                <a:gd name="T20" fmla="*/ 48895 w 40"/>
                <a:gd name="T21" fmla="*/ 50007 h 40"/>
                <a:gd name="T22" fmla="*/ 48895 w 40"/>
                <a:gd name="T23" fmla="*/ 21431 h 40"/>
                <a:gd name="T24" fmla="*/ 20955 w 40"/>
                <a:gd name="T25" fmla="*/ 21431 h 40"/>
                <a:gd name="T26" fmla="*/ 20955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7"/>
                    <a:pt x="0" y="34"/>
                  </a:cubicBezTo>
                  <a:cubicBezTo>
                    <a:pt x="0" y="6"/>
                    <a:pt x="0" y="6"/>
                    <a:pt x="0" y="6"/>
                  </a:cubicBezTo>
                  <a:cubicBezTo>
                    <a:pt x="0" y="2"/>
                    <a:pt x="3" y="0"/>
                    <a:pt x="6" y="0"/>
                  </a:cubicBezTo>
                  <a:cubicBezTo>
                    <a:pt x="34" y="0"/>
                    <a:pt x="34" y="0"/>
                    <a:pt x="34" y="0"/>
                  </a:cubicBezTo>
                  <a:cubicBezTo>
                    <a:pt x="38" y="0"/>
                    <a:pt x="40" y="2"/>
                    <a:pt x="40" y="6"/>
                  </a:cubicBezTo>
                  <a:cubicBezTo>
                    <a:pt x="40" y="34"/>
                    <a:pt x="40" y="34"/>
                    <a:pt x="40" y="34"/>
                  </a:cubicBezTo>
                  <a:cubicBezTo>
                    <a:pt x="40" y="37"/>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61" name="Freeform 200"/>
            <p:cNvSpPr>
              <a:spLocks noEditPoints="1"/>
            </p:cNvSpPr>
            <p:nvPr/>
          </p:nvSpPr>
          <p:spPr bwMode="auto">
            <a:xfrm>
              <a:off x="8966200" y="2508250"/>
              <a:ext cx="69850" cy="71438"/>
            </a:xfrm>
            <a:custGeom>
              <a:avLst/>
              <a:gdLst>
                <a:gd name="T0" fmla="*/ 59373 w 40"/>
                <a:gd name="T1" fmla="*/ 71438 h 40"/>
                <a:gd name="T2" fmla="*/ 10478 w 40"/>
                <a:gd name="T3" fmla="*/ 71438 h 40"/>
                <a:gd name="T4" fmla="*/ 0 w 40"/>
                <a:gd name="T5" fmla="*/ 60722 h 40"/>
                <a:gd name="T6" fmla="*/ 0 w 40"/>
                <a:gd name="T7" fmla="*/ 10716 h 40"/>
                <a:gd name="T8" fmla="*/ 10478 w 40"/>
                <a:gd name="T9" fmla="*/ 0 h 40"/>
                <a:gd name="T10" fmla="*/ 59373 w 40"/>
                <a:gd name="T11" fmla="*/ 0 h 40"/>
                <a:gd name="T12" fmla="*/ 69850 w 40"/>
                <a:gd name="T13" fmla="*/ 10716 h 40"/>
                <a:gd name="T14" fmla="*/ 69850 w 40"/>
                <a:gd name="T15" fmla="*/ 60722 h 40"/>
                <a:gd name="T16" fmla="*/ 59373 w 40"/>
                <a:gd name="T17" fmla="*/ 71438 h 40"/>
                <a:gd name="T18" fmla="*/ 20955 w 40"/>
                <a:gd name="T19" fmla="*/ 50007 h 40"/>
                <a:gd name="T20" fmla="*/ 48895 w 40"/>
                <a:gd name="T21" fmla="*/ 50007 h 40"/>
                <a:gd name="T22" fmla="*/ 48895 w 40"/>
                <a:gd name="T23" fmla="*/ 21431 h 40"/>
                <a:gd name="T24" fmla="*/ 20955 w 40"/>
                <a:gd name="T25" fmla="*/ 21431 h 40"/>
                <a:gd name="T26" fmla="*/ 20955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2" y="40"/>
                    <a:pt x="0" y="37"/>
                    <a:pt x="0" y="34"/>
                  </a:cubicBezTo>
                  <a:cubicBezTo>
                    <a:pt x="0" y="6"/>
                    <a:pt x="0" y="6"/>
                    <a:pt x="0" y="6"/>
                  </a:cubicBezTo>
                  <a:cubicBezTo>
                    <a:pt x="0" y="2"/>
                    <a:pt x="2" y="0"/>
                    <a:pt x="6" y="0"/>
                  </a:cubicBezTo>
                  <a:cubicBezTo>
                    <a:pt x="34" y="0"/>
                    <a:pt x="34" y="0"/>
                    <a:pt x="34" y="0"/>
                  </a:cubicBezTo>
                  <a:cubicBezTo>
                    <a:pt x="37" y="0"/>
                    <a:pt x="40" y="2"/>
                    <a:pt x="40" y="6"/>
                  </a:cubicBezTo>
                  <a:cubicBezTo>
                    <a:pt x="40" y="34"/>
                    <a:pt x="40" y="34"/>
                    <a:pt x="40" y="34"/>
                  </a:cubicBezTo>
                  <a:cubicBezTo>
                    <a:pt x="40" y="37"/>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62" name="Freeform 201"/>
            <p:cNvSpPr>
              <a:spLocks noEditPoints="1"/>
            </p:cNvSpPr>
            <p:nvPr/>
          </p:nvSpPr>
          <p:spPr bwMode="auto">
            <a:xfrm>
              <a:off x="9053513" y="2508250"/>
              <a:ext cx="71437" cy="71438"/>
            </a:xfrm>
            <a:custGeom>
              <a:avLst/>
              <a:gdLst>
                <a:gd name="T0" fmla="*/ 60721 w 40"/>
                <a:gd name="T1" fmla="*/ 71438 h 40"/>
                <a:gd name="T2" fmla="*/ 10716 w 40"/>
                <a:gd name="T3" fmla="*/ 71438 h 40"/>
                <a:gd name="T4" fmla="*/ 0 w 40"/>
                <a:gd name="T5" fmla="*/ 60722 h 40"/>
                <a:gd name="T6" fmla="*/ 0 w 40"/>
                <a:gd name="T7" fmla="*/ 10716 h 40"/>
                <a:gd name="T8" fmla="*/ 10716 w 40"/>
                <a:gd name="T9" fmla="*/ 0 h 40"/>
                <a:gd name="T10" fmla="*/ 60721 w 40"/>
                <a:gd name="T11" fmla="*/ 0 h 40"/>
                <a:gd name="T12" fmla="*/ 71437 w 40"/>
                <a:gd name="T13" fmla="*/ 10716 h 40"/>
                <a:gd name="T14" fmla="*/ 71437 w 40"/>
                <a:gd name="T15" fmla="*/ 60722 h 40"/>
                <a:gd name="T16" fmla="*/ 60721 w 40"/>
                <a:gd name="T17" fmla="*/ 71438 h 40"/>
                <a:gd name="T18" fmla="*/ 21431 w 40"/>
                <a:gd name="T19" fmla="*/ 50007 h 40"/>
                <a:gd name="T20" fmla="*/ 50006 w 40"/>
                <a:gd name="T21" fmla="*/ 50007 h 40"/>
                <a:gd name="T22" fmla="*/ 50006 w 40"/>
                <a:gd name="T23" fmla="*/ 21431 h 40"/>
                <a:gd name="T24" fmla="*/ 21431 w 40"/>
                <a:gd name="T25" fmla="*/ 21431 h 40"/>
                <a:gd name="T26" fmla="*/ 21431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7"/>
                    <a:pt x="0" y="34"/>
                  </a:cubicBezTo>
                  <a:cubicBezTo>
                    <a:pt x="0" y="6"/>
                    <a:pt x="0" y="6"/>
                    <a:pt x="0" y="6"/>
                  </a:cubicBezTo>
                  <a:cubicBezTo>
                    <a:pt x="0" y="2"/>
                    <a:pt x="3" y="0"/>
                    <a:pt x="6" y="0"/>
                  </a:cubicBezTo>
                  <a:cubicBezTo>
                    <a:pt x="34" y="0"/>
                    <a:pt x="34" y="0"/>
                    <a:pt x="34" y="0"/>
                  </a:cubicBezTo>
                  <a:cubicBezTo>
                    <a:pt x="38" y="0"/>
                    <a:pt x="40" y="2"/>
                    <a:pt x="40" y="6"/>
                  </a:cubicBezTo>
                  <a:cubicBezTo>
                    <a:pt x="40" y="34"/>
                    <a:pt x="40" y="34"/>
                    <a:pt x="40" y="34"/>
                  </a:cubicBezTo>
                  <a:cubicBezTo>
                    <a:pt x="40" y="37"/>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63" name="Freeform 202"/>
            <p:cNvSpPr>
              <a:spLocks noEditPoints="1"/>
            </p:cNvSpPr>
            <p:nvPr/>
          </p:nvSpPr>
          <p:spPr bwMode="auto">
            <a:xfrm>
              <a:off x="9144000" y="2508250"/>
              <a:ext cx="71437" cy="71438"/>
            </a:xfrm>
            <a:custGeom>
              <a:avLst/>
              <a:gdLst>
                <a:gd name="T0" fmla="*/ 60721 w 40"/>
                <a:gd name="T1" fmla="*/ 71438 h 40"/>
                <a:gd name="T2" fmla="*/ 10716 w 40"/>
                <a:gd name="T3" fmla="*/ 71438 h 40"/>
                <a:gd name="T4" fmla="*/ 0 w 40"/>
                <a:gd name="T5" fmla="*/ 60722 h 40"/>
                <a:gd name="T6" fmla="*/ 0 w 40"/>
                <a:gd name="T7" fmla="*/ 10716 h 40"/>
                <a:gd name="T8" fmla="*/ 10716 w 40"/>
                <a:gd name="T9" fmla="*/ 0 h 40"/>
                <a:gd name="T10" fmla="*/ 60721 w 40"/>
                <a:gd name="T11" fmla="*/ 0 h 40"/>
                <a:gd name="T12" fmla="*/ 71437 w 40"/>
                <a:gd name="T13" fmla="*/ 10716 h 40"/>
                <a:gd name="T14" fmla="*/ 71437 w 40"/>
                <a:gd name="T15" fmla="*/ 60722 h 40"/>
                <a:gd name="T16" fmla="*/ 60721 w 40"/>
                <a:gd name="T17" fmla="*/ 71438 h 40"/>
                <a:gd name="T18" fmla="*/ 21431 w 40"/>
                <a:gd name="T19" fmla="*/ 50007 h 40"/>
                <a:gd name="T20" fmla="*/ 50006 w 40"/>
                <a:gd name="T21" fmla="*/ 50007 h 40"/>
                <a:gd name="T22" fmla="*/ 50006 w 40"/>
                <a:gd name="T23" fmla="*/ 21431 h 40"/>
                <a:gd name="T24" fmla="*/ 21431 w 40"/>
                <a:gd name="T25" fmla="*/ 21431 h 40"/>
                <a:gd name="T26" fmla="*/ 21431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7"/>
                    <a:pt x="0" y="34"/>
                  </a:cubicBezTo>
                  <a:cubicBezTo>
                    <a:pt x="0" y="6"/>
                    <a:pt x="0" y="6"/>
                    <a:pt x="0" y="6"/>
                  </a:cubicBezTo>
                  <a:cubicBezTo>
                    <a:pt x="0" y="2"/>
                    <a:pt x="3" y="0"/>
                    <a:pt x="6" y="0"/>
                  </a:cubicBezTo>
                  <a:cubicBezTo>
                    <a:pt x="34" y="0"/>
                    <a:pt x="34" y="0"/>
                    <a:pt x="34" y="0"/>
                  </a:cubicBezTo>
                  <a:cubicBezTo>
                    <a:pt x="37" y="0"/>
                    <a:pt x="40" y="2"/>
                    <a:pt x="40" y="6"/>
                  </a:cubicBezTo>
                  <a:cubicBezTo>
                    <a:pt x="40" y="34"/>
                    <a:pt x="40" y="34"/>
                    <a:pt x="40" y="34"/>
                  </a:cubicBezTo>
                  <a:cubicBezTo>
                    <a:pt x="40" y="37"/>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64" name="Freeform 203"/>
            <p:cNvSpPr>
              <a:spLocks noEditPoints="1"/>
            </p:cNvSpPr>
            <p:nvPr/>
          </p:nvSpPr>
          <p:spPr bwMode="auto">
            <a:xfrm>
              <a:off x="8875713" y="2593975"/>
              <a:ext cx="69850" cy="69850"/>
            </a:xfrm>
            <a:custGeom>
              <a:avLst/>
              <a:gdLst>
                <a:gd name="T0" fmla="*/ 59373 w 40"/>
                <a:gd name="T1" fmla="*/ 69850 h 40"/>
                <a:gd name="T2" fmla="*/ 10478 w 40"/>
                <a:gd name="T3" fmla="*/ 69850 h 40"/>
                <a:gd name="T4" fmla="*/ 0 w 40"/>
                <a:gd name="T5" fmla="*/ 59373 h 40"/>
                <a:gd name="T6" fmla="*/ 0 w 40"/>
                <a:gd name="T7" fmla="*/ 10478 h 40"/>
                <a:gd name="T8" fmla="*/ 10478 w 40"/>
                <a:gd name="T9" fmla="*/ 0 h 40"/>
                <a:gd name="T10" fmla="*/ 59373 w 40"/>
                <a:gd name="T11" fmla="*/ 0 h 40"/>
                <a:gd name="T12" fmla="*/ 69850 w 40"/>
                <a:gd name="T13" fmla="*/ 10478 h 40"/>
                <a:gd name="T14" fmla="*/ 69850 w 40"/>
                <a:gd name="T15" fmla="*/ 59373 h 40"/>
                <a:gd name="T16" fmla="*/ 59373 w 40"/>
                <a:gd name="T17" fmla="*/ 69850 h 40"/>
                <a:gd name="T18" fmla="*/ 20955 w 40"/>
                <a:gd name="T19" fmla="*/ 48895 h 40"/>
                <a:gd name="T20" fmla="*/ 48895 w 40"/>
                <a:gd name="T21" fmla="*/ 48895 h 40"/>
                <a:gd name="T22" fmla="*/ 48895 w 40"/>
                <a:gd name="T23" fmla="*/ 20955 h 40"/>
                <a:gd name="T24" fmla="*/ 20955 w 40"/>
                <a:gd name="T25" fmla="*/ 20955 h 40"/>
                <a:gd name="T26" fmla="*/ 20955 w 40"/>
                <a:gd name="T27" fmla="*/ 48895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8"/>
                    <a:pt x="0" y="34"/>
                  </a:cubicBezTo>
                  <a:cubicBezTo>
                    <a:pt x="0" y="6"/>
                    <a:pt x="0" y="6"/>
                    <a:pt x="0" y="6"/>
                  </a:cubicBezTo>
                  <a:cubicBezTo>
                    <a:pt x="0" y="3"/>
                    <a:pt x="3" y="0"/>
                    <a:pt x="6" y="0"/>
                  </a:cubicBezTo>
                  <a:cubicBezTo>
                    <a:pt x="34" y="0"/>
                    <a:pt x="34" y="0"/>
                    <a:pt x="34" y="0"/>
                  </a:cubicBezTo>
                  <a:cubicBezTo>
                    <a:pt x="38" y="0"/>
                    <a:pt x="40" y="3"/>
                    <a:pt x="40" y="6"/>
                  </a:cubicBezTo>
                  <a:cubicBezTo>
                    <a:pt x="40" y="34"/>
                    <a:pt x="40" y="34"/>
                    <a:pt x="40" y="34"/>
                  </a:cubicBezTo>
                  <a:cubicBezTo>
                    <a:pt x="40" y="38"/>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65" name="Freeform 204"/>
            <p:cNvSpPr>
              <a:spLocks noEditPoints="1"/>
            </p:cNvSpPr>
            <p:nvPr/>
          </p:nvSpPr>
          <p:spPr bwMode="auto">
            <a:xfrm>
              <a:off x="8966200" y="2593975"/>
              <a:ext cx="69850" cy="69850"/>
            </a:xfrm>
            <a:custGeom>
              <a:avLst/>
              <a:gdLst>
                <a:gd name="T0" fmla="*/ 59373 w 40"/>
                <a:gd name="T1" fmla="*/ 69850 h 40"/>
                <a:gd name="T2" fmla="*/ 10478 w 40"/>
                <a:gd name="T3" fmla="*/ 69850 h 40"/>
                <a:gd name="T4" fmla="*/ 0 w 40"/>
                <a:gd name="T5" fmla="*/ 59373 h 40"/>
                <a:gd name="T6" fmla="*/ 0 w 40"/>
                <a:gd name="T7" fmla="*/ 10478 h 40"/>
                <a:gd name="T8" fmla="*/ 10478 w 40"/>
                <a:gd name="T9" fmla="*/ 0 h 40"/>
                <a:gd name="T10" fmla="*/ 59373 w 40"/>
                <a:gd name="T11" fmla="*/ 0 h 40"/>
                <a:gd name="T12" fmla="*/ 69850 w 40"/>
                <a:gd name="T13" fmla="*/ 10478 h 40"/>
                <a:gd name="T14" fmla="*/ 69850 w 40"/>
                <a:gd name="T15" fmla="*/ 59373 h 40"/>
                <a:gd name="T16" fmla="*/ 59373 w 40"/>
                <a:gd name="T17" fmla="*/ 69850 h 40"/>
                <a:gd name="T18" fmla="*/ 20955 w 40"/>
                <a:gd name="T19" fmla="*/ 48895 h 40"/>
                <a:gd name="T20" fmla="*/ 48895 w 40"/>
                <a:gd name="T21" fmla="*/ 48895 h 40"/>
                <a:gd name="T22" fmla="*/ 48895 w 40"/>
                <a:gd name="T23" fmla="*/ 20955 h 40"/>
                <a:gd name="T24" fmla="*/ 20955 w 40"/>
                <a:gd name="T25" fmla="*/ 20955 h 40"/>
                <a:gd name="T26" fmla="*/ 20955 w 40"/>
                <a:gd name="T27" fmla="*/ 48895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2" y="40"/>
                    <a:pt x="0" y="38"/>
                    <a:pt x="0" y="34"/>
                  </a:cubicBezTo>
                  <a:cubicBezTo>
                    <a:pt x="0" y="6"/>
                    <a:pt x="0" y="6"/>
                    <a:pt x="0" y="6"/>
                  </a:cubicBezTo>
                  <a:cubicBezTo>
                    <a:pt x="0" y="3"/>
                    <a:pt x="2" y="0"/>
                    <a:pt x="6" y="0"/>
                  </a:cubicBezTo>
                  <a:cubicBezTo>
                    <a:pt x="34" y="0"/>
                    <a:pt x="34" y="0"/>
                    <a:pt x="34" y="0"/>
                  </a:cubicBezTo>
                  <a:cubicBezTo>
                    <a:pt x="37" y="0"/>
                    <a:pt x="40" y="3"/>
                    <a:pt x="40" y="6"/>
                  </a:cubicBezTo>
                  <a:cubicBezTo>
                    <a:pt x="40" y="34"/>
                    <a:pt x="40" y="34"/>
                    <a:pt x="40" y="34"/>
                  </a:cubicBezTo>
                  <a:cubicBezTo>
                    <a:pt x="40" y="38"/>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66" name="Freeform 205"/>
            <p:cNvSpPr>
              <a:spLocks noEditPoints="1"/>
            </p:cNvSpPr>
            <p:nvPr/>
          </p:nvSpPr>
          <p:spPr bwMode="auto">
            <a:xfrm>
              <a:off x="9053513" y="2593975"/>
              <a:ext cx="71437" cy="69850"/>
            </a:xfrm>
            <a:custGeom>
              <a:avLst/>
              <a:gdLst>
                <a:gd name="T0" fmla="*/ 60721 w 40"/>
                <a:gd name="T1" fmla="*/ 69850 h 40"/>
                <a:gd name="T2" fmla="*/ 10716 w 40"/>
                <a:gd name="T3" fmla="*/ 69850 h 40"/>
                <a:gd name="T4" fmla="*/ 0 w 40"/>
                <a:gd name="T5" fmla="*/ 59373 h 40"/>
                <a:gd name="T6" fmla="*/ 0 w 40"/>
                <a:gd name="T7" fmla="*/ 10478 h 40"/>
                <a:gd name="T8" fmla="*/ 10716 w 40"/>
                <a:gd name="T9" fmla="*/ 0 h 40"/>
                <a:gd name="T10" fmla="*/ 60721 w 40"/>
                <a:gd name="T11" fmla="*/ 0 h 40"/>
                <a:gd name="T12" fmla="*/ 71437 w 40"/>
                <a:gd name="T13" fmla="*/ 10478 h 40"/>
                <a:gd name="T14" fmla="*/ 71437 w 40"/>
                <a:gd name="T15" fmla="*/ 59373 h 40"/>
                <a:gd name="T16" fmla="*/ 60721 w 40"/>
                <a:gd name="T17" fmla="*/ 69850 h 40"/>
                <a:gd name="T18" fmla="*/ 21431 w 40"/>
                <a:gd name="T19" fmla="*/ 48895 h 40"/>
                <a:gd name="T20" fmla="*/ 50006 w 40"/>
                <a:gd name="T21" fmla="*/ 48895 h 40"/>
                <a:gd name="T22" fmla="*/ 50006 w 40"/>
                <a:gd name="T23" fmla="*/ 20955 h 40"/>
                <a:gd name="T24" fmla="*/ 21431 w 40"/>
                <a:gd name="T25" fmla="*/ 20955 h 40"/>
                <a:gd name="T26" fmla="*/ 21431 w 40"/>
                <a:gd name="T27" fmla="*/ 48895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8"/>
                    <a:pt x="0" y="34"/>
                  </a:cubicBezTo>
                  <a:cubicBezTo>
                    <a:pt x="0" y="6"/>
                    <a:pt x="0" y="6"/>
                    <a:pt x="0" y="6"/>
                  </a:cubicBezTo>
                  <a:cubicBezTo>
                    <a:pt x="0" y="3"/>
                    <a:pt x="3" y="0"/>
                    <a:pt x="6" y="0"/>
                  </a:cubicBezTo>
                  <a:cubicBezTo>
                    <a:pt x="34" y="0"/>
                    <a:pt x="34" y="0"/>
                    <a:pt x="34" y="0"/>
                  </a:cubicBezTo>
                  <a:cubicBezTo>
                    <a:pt x="38" y="0"/>
                    <a:pt x="40" y="3"/>
                    <a:pt x="40" y="6"/>
                  </a:cubicBezTo>
                  <a:cubicBezTo>
                    <a:pt x="40" y="34"/>
                    <a:pt x="40" y="34"/>
                    <a:pt x="40" y="34"/>
                  </a:cubicBezTo>
                  <a:cubicBezTo>
                    <a:pt x="40" y="38"/>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67" name="Freeform 206"/>
            <p:cNvSpPr>
              <a:spLocks noEditPoints="1"/>
            </p:cNvSpPr>
            <p:nvPr/>
          </p:nvSpPr>
          <p:spPr bwMode="auto">
            <a:xfrm>
              <a:off x="9144000" y="2593975"/>
              <a:ext cx="71437" cy="69850"/>
            </a:xfrm>
            <a:custGeom>
              <a:avLst/>
              <a:gdLst>
                <a:gd name="T0" fmla="*/ 60721 w 40"/>
                <a:gd name="T1" fmla="*/ 69850 h 40"/>
                <a:gd name="T2" fmla="*/ 10716 w 40"/>
                <a:gd name="T3" fmla="*/ 69850 h 40"/>
                <a:gd name="T4" fmla="*/ 0 w 40"/>
                <a:gd name="T5" fmla="*/ 59373 h 40"/>
                <a:gd name="T6" fmla="*/ 0 w 40"/>
                <a:gd name="T7" fmla="*/ 10478 h 40"/>
                <a:gd name="T8" fmla="*/ 10716 w 40"/>
                <a:gd name="T9" fmla="*/ 0 h 40"/>
                <a:gd name="T10" fmla="*/ 60721 w 40"/>
                <a:gd name="T11" fmla="*/ 0 h 40"/>
                <a:gd name="T12" fmla="*/ 71437 w 40"/>
                <a:gd name="T13" fmla="*/ 10478 h 40"/>
                <a:gd name="T14" fmla="*/ 71437 w 40"/>
                <a:gd name="T15" fmla="*/ 59373 h 40"/>
                <a:gd name="T16" fmla="*/ 60721 w 40"/>
                <a:gd name="T17" fmla="*/ 69850 h 40"/>
                <a:gd name="T18" fmla="*/ 21431 w 40"/>
                <a:gd name="T19" fmla="*/ 48895 h 40"/>
                <a:gd name="T20" fmla="*/ 50006 w 40"/>
                <a:gd name="T21" fmla="*/ 48895 h 40"/>
                <a:gd name="T22" fmla="*/ 50006 w 40"/>
                <a:gd name="T23" fmla="*/ 20955 h 40"/>
                <a:gd name="T24" fmla="*/ 21431 w 40"/>
                <a:gd name="T25" fmla="*/ 20955 h 40"/>
                <a:gd name="T26" fmla="*/ 21431 w 40"/>
                <a:gd name="T27" fmla="*/ 48895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8"/>
                    <a:pt x="0" y="34"/>
                  </a:cubicBezTo>
                  <a:cubicBezTo>
                    <a:pt x="0" y="6"/>
                    <a:pt x="0" y="6"/>
                    <a:pt x="0" y="6"/>
                  </a:cubicBezTo>
                  <a:cubicBezTo>
                    <a:pt x="0" y="3"/>
                    <a:pt x="3" y="0"/>
                    <a:pt x="6" y="0"/>
                  </a:cubicBezTo>
                  <a:cubicBezTo>
                    <a:pt x="34" y="0"/>
                    <a:pt x="34" y="0"/>
                    <a:pt x="34" y="0"/>
                  </a:cubicBezTo>
                  <a:cubicBezTo>
                    <a:pt x="37" y="0"/>
                    <a:pt x="40" y="3"/>
                    <a:pt x="40" y="6"/>
                  </a:cubicBezTo>
                  <a:cubicBezTo>
                    <a:pt x="40" y="34"/>
                    <a:pt x="40" y="34"/>
                    <a:pt x="40" y="34"/>
                  </a:cubicBezTo>
                  <a:cubicBezTo>
                    <a:pt x="40" y="38"/>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68" name="Freeform 207"/>
            <p:cNvSpPr>
              <a:spLocks noEditPoints="1"/>
            </p:cNvSpPr>
            <p:nvPr/>
          </p:nvSpPr>
          <p:spPr bwMode="auto">
            <a:xfrm>
              <a:off x="8875713" y="2679700"/>
              <a:ext cx="69850" cy="71438"/>
            </a:xfrm>
            <a:custGeom>
              <a:avLst/>
              <a:gdLst>
                <a:gd name="T0" fmla="*/ 59373 w 40"/>
                <a:gd name="T1" fmla="*/ 71438 h 40"/>
                <a:gd name="T2" fmla="*/ 10478 w 40"/>
                <a:gd name="T3" fmla="*/ 71438 h 40"/>
                <a:gd name="T4" fmla="*/ 0 w 40"/>
                <a:gd name="T5" fmla="*/ 60722 h 40"/>
                <a:gd name="T6" fmla="*/ 0 w 40"/>
                <a:gd name="T7" fmla="*/ 10716 h 40"/>
                <a:gd name="T8" fmla="*/ 10478 w 40"/>
                <a:gd name="T9" fmla="*/ 0 h 40"/>
                <a:gd name="T10" fmla="*/ 59373 w 40"/>
                <a:gd name="T11" fmla="*/ 0 h 40"/>
                <a:gd name="T12" fmla="*/ 69850 w 40"/>
                <a:gd name="T13" fmla="*/ 10716 h 40"/>
                <a:gd name="T14" fmla="*/ 69850 w 40"/>
                <a:gd name="T15" fmla="*/ 60722 h 40"/>
                <a:gd name="T16" fmla="*/ 59373 w 40"/>
                <a:gd name="T17" fmla="*/ 71438 h 40"/>
                <a:gd name="T18" fmla="*/ 20955 w 40"/>
                <a:gd name="T19" fmla="*/ 50007 h 40"/>
                <a:gd name="T20" fmla="*/ 48895 w 40"/>
                <a:gd name="T21" fmla="*/ 50007 h 40"/>
                <a:gd name="T22" fmla="*/ 48895 w 40"/>
                <a:gd name="T23" fmla="*/ 21431 h 40"/>
                <a:gd name="T24" fmla="*/ 20955 w 40"/>
                <a:gd name="T25" fmla="*/ 21431 h 40"/>
                <a:gd name="T26" fmla="*/ 20955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7"/>
                    <a:pt x="0" y="34"/>
                  </a:cubicBezTo>
                  <a:cubicBezTo>
                    <a:pt x="0" y="6"/>
                    <a:pt x="0" y="6"/>
                    <a:pt x="0" y="6"/>
                  </a:cubicBezTo>
                  <a:cubicBezTo>
                    <a:pt x="0" y="2"/>
                    <a:pt x="3" y="0"/>
                    <a:pt x="6" y="0"/>
                  </a:cubicBezTo>
                  <a:cubicBezTo>
                    <a:pt x="34" y="0"/>
                    <a:pt x="34" y="0"/>
                    <a:pt x="34" y="0"/>
                  </a:cubicBezTo>
                  <a:cubicBezTo>
                    <a:pt x="38" y="0"/>
                    <a:pt x="40" y="2"/>
                    <a:pt x="40" y="6"/>
                  </a:cubicBezTo>
                  <a:cubicBezTo>
                    <a:pt x="40" y="34"/>
                    <a:pt x="40" y="34"/>
                    <a:pt x="40" y="34"/>
                  </a:cubicBezTo>
                  <a:cubicBezTo>
                    <a:pt x="40" y="37"/>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69" name="Freeform 208"/>
            <p:cNvSpPr>
              <a:spLocks noEditPoints="1"/>
            </p:cNvSpPr>
            <p:nvPr/>
          </p:nvSpPr>
          <p:spPr bwMode="auto">
            <a:xfrm>
              <a:off x="8966200" y="2679700"/>
              <a:ext cx="69850" cy="71438"/>
            </a:xfrm>
            <a:custGeom>
              <a:avLst/>
              <a:gdLst>
                <a:gd name="T0" fmla="*/ 59373 w 40"/>
                <a:gd name="T1" fmla="*/ 71438 h 40"/>
                <a:gd name="T2" fmla="*/ 10478 w 40"/>
                <a:gd name="T3" fmla="*/ 71438 h 40"/>
                <a:gd name="T4" fmla="*/ 0 w 40"/>
                <a:gd name="T5" fmla="*/ 60722 h 40"/>
                <a:gd name="T6" fmla="*/ 0 w 40"/>
                <a:gd name="T7" fmla="*/ 10716 h 40"/>
                <a:gd name="T8" fmla="*/ 10478 w 40"/>
                <a:gd name="T9" fmla="*/ 0 h 40"/>
                <a:gd name="T10" fmla="*/ 59373 w 40"/>
                <a:gd name="T11" fmla="*/ 0 h 40"/>
                <a:gd name="T12" fmla="*/ 69850 w 40"/>
                <a:gd name="T13" fmla="*/ 10716 h 40"/>
                <a:gd name="T14" fmla="*/ 69850 w 40"/>
                <a:gd name="T15" fmla="*/ 60722 h 40"/>
                <a:gd name="T16" fmla="*/ 59373 w 40"/>
                <a:gd name="T17" fmla="*/ 71438 h 40"/>
                <a:gd name="T18" fmla="*/ 20955 w 40"/>
                <a:gd name="T19" fmla="*/ 50007 h 40"/>
                <a:gd name="T20" fmla="*/ 48895 w 40"/>
                <a:gd name="T21" fmla="*/ 50007 h 40"/>
                <a:gd name="T22" fmla="*/ 48895 w 40"/>
                <a:gd name="T23" fmla="*/ 21431 h 40"/>
                <a:gd name="T24" fmla="*/ 20955 w 40"/>
                <a:gd name="T25" fmla="*/ 21431 h 40"/>
                <a:gd name="T26" fmla="*/ 20955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2" y="40"/>
                    <a:pt x="0" y="37"/>
                    <a:pt x="0" y="34"/>
                  </a:cubicBezTo>
                  <a:cubicBezTo>
                    <a:pt x="0" y="6"/>
                    <a:pt x="0" y="6"/>
                    <a:pt x="0" y="6"/>
                  </a:cubicBezTo>
                  <a:cubicBezTo>
                    <a:pt x="0" y="2"/>
                    <a:pt x="2" y="0"/>
                    <a:pt x="6" y="0"/>
                  </a:cubicBezTo>
                  <a:cubicBezTo>
                    <a:pt x="34" y="0"/>
                    <a:pt x="34" y="0"/>
                    <a:pt x="34" y="0"/>
                  </a:cubicBezTo>
                  <a:cubicBezTo>
                    <a:pt x="37" y="0"/>
                    <a:pt x="40" y="2"/>
                    <a:pt x="40" y="6"/>
                  </a:cubicBezTo>
                  <a:cubicBezTo>
                    <a:pt x="40" y="34"/>
                    <a:pt x="40" y="34"/>
                    <a:pt x="40" y="34"/>
                  </a:cubicBezTo>
                  <a:cubicBezTo>
                    <a:pt x="40" y="37"/>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0" name="Freeform 209"/>
            <p:cNvSpPr>
              <a:spLocks noEditPoints="1"/>
            </p:cNvSpPr>
            <p:nvPr/>
          </p:nvSpPr>
          <p:spPr bwMode="auto">
            <a:xfrm>
              <a:off x="9053513" y="2679700"/>
              <a:ext cx="71437" cy="71438"/>
            </a:xfrm>
            <a:custGeom>
              <a:avLst/>
              <a:gdLst>
                <a:gd name="T0" fmla="*/ 60721 w 40"/>
                <a:gd name="T1" fmla="*/ 71438 h 40"/>
                <a:gd name="T2" fmla="*/ 10716 w 40"/>
                <a:gd name="T3" fmla="*/ 71438 h 40"/>
                <a:gd name="T4" fmla="*/ 0 w 40"/>
                <a:gd name="T5" fmla="*/ 60722 h 40"/>
                <a:gd name="T6" fmla="*/ 0 w 40"/>
                <a:gd name="T7" fmla="*/ 10716 h 40"/>
                <a:gd name="T8" fmla="*/ 10716 w 40"/>
                <a:gd name="T9" fmla="*/ 0 h 40"/>
                <a:gd name="T10" fmla="*/ 60721 w 40"/>
                <a:gd name="T11" fmla="*/ 0 h 40"/>
                <a:gd name="T12" fmla="*/ 71437 w 40"/>
                <a:gd name="T13" fmla="*/ 10716 h 40"/>
                <a:gd name="T14" fmla="*/ 71437 w 40"/>
                <a:gd name="T15" fmla="*/ 60722 h 40"/>
                <a:gd name="T16" fmla="*/ 60721 w 40"/>
                <a:gd name="T17" fmla="*/ 71438 h 40"/>
                <a:gd name="T18" fmla="*/ 21431 w 40"/>
                <a:gd name="T19" fmla="*/ 50007 h 40"/>
                <a:gd name="T20" fmla="*/ 50006 w 40"/>
                <a:gd name="T21" fmla="*/ 50007 h 40"/>
                <a:gd name="T22" fmla="*/ 50006 w 40"/>
                <a:gd name="T23" fmla="*/ 21431 h 40"/>
                <a:gd name="T24" fmla="*/ 21431 w 40"/>
                <a:gd name="T25" fmla="*/ 21431 h 40"/>
                <a:gd name="T26" fmla="*/ 21431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7"/>
                    <a:pt x="0" y="34"/>
                  </a:cubicBezTo>
                  <a:cubicBezTo>
                    <a:pt x="0" y="6"/>
                    <a:pt x="0" y="6"/>
                    <a:pt x="0" y="6"/>
                  </a:cubicBezTo>
                  <a:cubicBezTo>
                    <a:pt x="0" y="2"/>
                    <a:pt x="3" y="0"/>
                    <a:pt x="6" y="0"/>
                  </a:cubicBezTo>
                  <a:cubicBezTo>
                    <a:pt x="34" y="0"/>
                    <a:pt x="34" y="0"/>
                    <a:pt x="34" y="0"/>
                  </a:cubicBezTo>
                  <a:cubicBezTo>
                    <a:pt x="38" y="0"/>
                    <a:pt x="40" y="2"/>
                    <a:pt x="40" y="6"/>
                  </a:cubicBezTo>
                  <a:cubicBezTo>
                    <a:pt x="40" y="34"/>
                    <a:pt x="40" y="34"/>
                    <a:pt x="40" y="34"/>
                  </a:cubicBezTo>
                  <a:cubicBezTo>
                    <a:pt x="40" y="37"/>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1" name="Freeform 210"/>
            <p:cNvSpPr>
              <a:spLocks noEditPoints="1"/>
            </p:cNvSpPr>
            <p:nvPr/>
          </p:nvSpPr>
          <p:spPr bwMode="auto">
            <a:xfrm>
              <a:off x="9144000" y="2679700"/>
              <a:ext cx="71437" cy="71438"/>
            </a:xfrm>
            <a:custGeom>
              <a:avLst/>
              <a:gdLst>
                <a:gd name="T0" fmla="*/ 60721 w 40"/>
                <a:gd name="T1" fmla="*/ 71438 h 40"/>
                <a:gd name="T2" fmla="*/ 10716 w 40"/>
                <a:gd name="T3" fmla="*/ 71438 h 40"/>
                <a:gd name="T4" fmla="*/ 0 w 40"/>
                <a:gd name="T5" fmla="*/ 60722 h 40"/>
                <a:gd name="T6" fmla="*/ 0 w 40"/>
                <a:gd name="T7" fmla="*/ 10716 h 40"/>
                <a:gd name="T8" fmla="*/ 10716 w 40"/>
                <a:gd name="T9" fmla="*/ 0 h 40"/>
                <a:gd name="T10" fmla="*/ 60721 w 40"/>
                <a:gd name="T11" fmla="*/ 0 h 40"/>
                <a:gd name="T12" fmla="*/ 71437 w 40"/>
                <a:gd name="T13" fmla="*/ 10716 h 40"/>
                <a:gd name="T14" fmla="*/ 71437 w 40"/>
                <a:gd name="T15" fmla="*/ 60722 h 40"/>
                <a:gd name="T16" fmla="*/ 60721 w 40"/>
                <a:gd name="T17" fmla="*/ 71438 h 40"/>
                <a:gd name="T18" fmla="*/ 21431 w 40"/>
                <a:gd name="T19" fmla="*/ 50007 h 40"/>
                <a:gd name="T20" fmla="*/ 50006 w 40"/>
                <a:gd name="T21" fmla="*/ 50007 h 40"/>
                <a:gd name="T22" fmla="*/ 50006 w 40"/>
                <a:gd name="T23" fmla="*/ 21431 h 40"/>
                <a:gd name="T24" fmla="*/ 21431 w 40"/>
                <a:gd name="T25" fmla="*/ 21431 h 40"/>
                <a:gd name="T26" fmla="*/ 21431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7"/>
                    <a:pt x="0" y="34"/>
                  </a:cubicBezTo>
                  <a:cubicBezTo>
                    <a:pt x="0" y="6"/>
                    <a:pt x="0" y="6"/>
                    <a:pt x="0" y="6"/>
                  </a:cubicBezTo>
                  <a:cubicBezTo>
                    <a:pt x="0" y="2"/>
                    <a:pt x="3" y="0"/>
                    <a:pt x="6" y="0"/>
                  </a:cubicBezTo>
                  <a:cubicBezTo>
                    <a:pt x="34" y="0"/>
                    <a:pt x="34" y="0"/>
                    <a:pt x="34" y="0"/>
                  </a:cubicBezTo>
                  <a:cubicBezTo>
                    <a:pt x="37" y="0"/>
                    <a:pt x="40" y="2"/>
                    <a:pt x="40" y="6"/>
                  </a:cubicBezTo>
                  <a:cubicBezTo>
                    <a:pt x="40" y="34"/>
                    <a:pt x="40" y="34"/>
                    <a:pt x="40" y="34"/>
                  </a:cubicBezTo>
                  <a:cubicBezTo>
                    <a:pt x="40" y="37"/>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2" name="Freeform 211"/>
            <p:cNvSpPr>
              <a:spLocks noEditPoints="1"/>
            </p:cNvSpPr>
            <p:nvPr/>
          </p:nvSpPr>
          <p:spPr bwMode="auto">
            <a:xfrm>
              <a:off x="8875713" y="2765425"/>
              <a:ext cx="69850" cy="71438"/>
            </a:xfrm>
            <a:custGeom>
              <a:avLst/>
              <a:gdLst>
                <a:gd name="T0" fmla="*/ 59373 w 40"/>
                <a:gd name="T1" fmla="*/ 71438 h 40"/>
                <a:gd name="T2" fmla="*/ 10478 w 40"/>
                <a:gd name="T3" fmla="*/ 71438 h 40"/>
                <a:gd name="T4" fmla="*/ 0 w 40"/>
                <a:gd name="T5" fmla="*/ 60722 h 40"/>
                <a:gd name="T6" fmla="*/ 0 w 40"/>
                <a:gd name="T7" fmla="*/ 10716 h 40"/>
                <a:gd name="T8" fmla="*/ 10478 w 40"/>
                <a:gd name="T9" fmla="*/ 0 h 40"/>
                <a:gd name="T10" fmla="*/ 59373 w 40"/>
                <a:gd name="T11" fmla="*/ 0 h 40"/>
                <a:gd name="T12" fmla="*/ 69850 w 40"/>
                <a:gd name="T13" fmla="*/ 10716 h 40"/>
                <a:gd name="T14" fmla="*/ 69850 w 40"/>
                <a:gd name="T15" fmla="*/ 60722 h 40"/>
                <a:gd name="T16" fmla="*/ 59373 w 40"/>
                <a:gd name="T17" fmla="*/ 71438 h 40"/>
                <a:gd name="T18" fmla="*/ 20955 w 40"/>
                <a:gd name="T19" fmla="*/ 50007 h 40"/>
                <a:gd name="T20" fmla="*/ 48895 w 40"/>
                <a:gd name="T21" fmla="*/ 50007 h 40"/>
                <a:gd name="T22" fmla="*/ 48895 w 40"/>
                <a:gd name="T23" fmla="*/ 21431 h 40"/>
                <a:gd name="T24" fmla="*/ 20955 w 40"/>
                <a:gd name="T25" fmla="*/ 21431 h 40"/>
                <a:gd name="T26" fmla="*/ 20955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8"/>
                    <a:pt x="0" y="34"/>
                  </a:cubicBezTo>
                  <a:cubicBezTo>
                    <a:pt x="0" y="6"/>
                    <a:pt x="0" y="6"/>
                    <a:pt x="0" y="6"/>
                  </a:cubicBezTo>
                  <a:cubicBezTo>
                    <a:pt x="0" y="3"/>
                    <a:pt x="3" y="0"/>
                    <a:pt x="6" y="0"/>
                  </a:cubicBezTo>
                  <a:cubicBezTo>
                    <a:pt x="34" y="0"/>
                    <a:pt x="34" y="0"/>
                    <a:pt x="34" y="0"/>
                  </a:cubicBezTo>
                  <a:cubicBezTo>
                    <a:pt x="38" y="0"/>
                    <a:pt x="40" y="3"/>
                    <a:pt x="40" y="6"/>
                  </a:cubicBezTo>
                  <a:cubicBezTo>
                    <a:pt x="40" y="34"/>
                    <a:pt x="40" y="34"/>
                    <a:pt x="40" y="34"/>
                  </a:cubicBezTo>
                  <a:cubicBezTo>
                    <a:pt x="40" y="38"/>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3" name="Freeform 212"/>
            <p:cNvSpPr>
              <a:spLocks noEditPoints="1"/>
            </p:cNvSpPr>
            <p:nvPr/>
          </p:nvSpPr>
          <p:spPr bwMode="auto">
            <a:xfrm>
              <a:off x="8966200" y="2765425"/>
              <a:ext cx="69850" cy="71438"/>
            </a:xfrm>
            <a:custGeom>
              <a:avLst/>
              <a:gdLst>
                <a:gd name="T0" fmla="*/ 59373 w 40"/>
                <a:gd name="T1" fmla="*/ 71438 h 40"/>
                <a:gd name="T2" fmla="*/ 10478 w 40"/>
                <a:gd name="T3" fmla="*/ 71438 h 40"/>
                <a:gd name="T4" fmla="*/ 0 w 40"/>
                <a:gd name="T5" fmla="*/ 60722 h 40"/>
                <a:gd name="T6" fmla="*/ 0 w 40"/>
                <a:gd name="T7" fmla="*/ 10716 h 40"/>
                <a:gd name="T8" fmla="*/ 10478 w 40"/>
                <a:gd name="T9" fmla="*/ 0 h 40"/>
                <a:gd name="T10" fmla="*/ 59373 w 40"/>
                <a:gd name="T11" fmla="*/ 0 h 40"/>
                <a:gd name="T12" fmla="*/ 69850 w 40"/>
                <a:gd name="T13" fmla="*/ 10716 h 40"/>
                <a:gd name="T14" fmla="*/ 69850 w 40"/>
                <a:gd name="T15" fmla="*/ 60722 h 40"/>
                <a:gd name="T16" fmla="*/ 59373 w 40"/>
                <a:gd name="T17" fmla="*/ 71438 h 40"/>
                <a:gd name="T18" fmla="*/ 20955 w 40"/>
                <a:gd name="T19" fmla="*/ 50007 h 40"/>
                <a:gd name="T20" fmla="*/ 48895 w 40"/>
                <a:gd name="T21" fmla="*/ 50007 h 40"/>
                <a:gd name="T22" fmla="*/ 48895 w 40"/>
                <a:gd name="T23" fmla="*/ 21431 h 40"/>
                <a:gd name="T24" fmla="*/ 20955 w 40"/>
                <a:gd name="T25" fmla="*/ 21431 h 40"/>
                <a:gd name="T26" fmla="*/ 20955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2" y="40"/>
                    <a:pt x="0" y="38"/>
                    <a:pt x="0" y="34"/>
                  </a:cubicBezTo>
                  <a:cubicBezTo>
                    <a:pt x="0" y="6"/>
                    <a:pt x="0" y="6"/>
                    <a:pt x="0" y="6"/>
                  </a:cubicBezTo>
                  <a:cubicBezTo>
                    <a:pt x="0" y="3"/>
                    <a:pt x="2" y="0"/>
                    <a:pt x="6" y="0"/>
                  </a:cubicBezTo>
                  <a:cubicBezTo>
                    <a:pt x="34" y="0"/>
                    <a:pt x="34" y="0"/>
                    <a:pt x="34" y="0"/>
                  </a:cubicBezTo>
                  <a:cubicBezTo>
                    <a:pt x="37" y="0"/>
                    <a:pt x="40" y="3"/>
                    <a:pt x="40" y="6"/>
                  </a:cubicBezTo>
                  <a:cubicBezTo>
                    <a:pt x="40" y="34"/>
                    <a:pt x="40" y="34"/>
                    <a:pt x="40" y="34"/>
                  </a:cubicBezTo>
                  <a:cubicBezTo>
                    <a:pt x="40" y="38"/>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4" name="Freeform 213"/>
            <p:cNvSpPr>
              <a:spLocks noEditPoints="1"/>
            </p:cNvSpPr>
            <p:nvPr/>
          </p:nvSpPr>
          <p:spPr bwMode="auto">
            <a:xfrm>
              <a:off x="9053513" y="2765425"/>
              <a:ext cx="71437" cy="71438"/>
            </a:xfrm>
            <a:custGeom>
              <a:avLst/>
              <a:gdLst>
                <a:gd name="T0" fmla="*/ 60721 w 40"/>
                <a:gd name="T1" fmla="*/ 71438 h 40"/>
                <a:gd name="T2" fmla="*/ 10716 w 40"/>
                <a:gd name="T3" fmla="*/ 71438 h 40"/>
                <a:gd name="T4" fmla="*/ 0 w 40"/>
                <a:gd name="T5" fmla="*/ 60722 h 40"/>
                <a:gd name="T6" fmla="*/ 0 w 40"/>
                <a:gd name="T7" fmla="*/ 10716 h 40"/>
                <a:gd name="T8" fmla="*/ 10716 w 40"/>
                <a:gd name="T9" fmla="*/ 0 h 40"/>
                <a:gd name="T10" fmla="*/ 60721 w 40"/>
                <a:gd name="T11" fmla="*/ 0 h 40"/>
                <a:gd name="T12" fmla="*/ 71437 w 40"/>
                <a:gd name="T13" fmla="*/ 10716 h 40"/>
                <a:gd name="T14" fmla="*/ 71437 w 40"/>
                <a:gd name="T15" fmla="*/ 60722 h 40"/>
                <a:gd name="T16" fmla="*/ 60721 w 40"/>
                <a:gd name="T17" fmla="*/ 71438 h 40"/>
                <a:gd name="T18" fmla="*/ 21431 w 40"/>
                <a:gd name="T19" fmla="*/ 50007 h 40"/>
                <a:gd name="T20" fmla="*/ 50006 w 40"/>
                <a:gd name="T21" fmla="*/ 50007 h 40"/>
                <a:gd name="T22" fmla="*/ 50006 w 40"/>
                <a:gd name="T23" fmla="*/ 21431 h 40"/>
                <a:gd name="T24" fmla="*/ 21431 w 40"/>
                <a:gd name="T25" fmla="*/ 21431 h 40"/>
                <a:gd name="T26" fmla="*/ 21431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8"/>
                    <a:pt x="0" y="34"/>
                  </a:cubicBezTo>
                  <a:cubicBezTo>
                    <a:pt x="0" y="6"/>
                    <a:pt x="0" y="6"/>
                    <a:pt x="0" y="6"/>
                  </a:cubicBezTo>
                  <a:cubicBezTo>
                    <a:pt x="0" y="3"/>
                    <a:pt x="3" y="0"/>
                    <a:pt x="6" y="0"/>
                  </a:cubicBezTo>
                  <a:cubicBezTo>
                    <a:pt x="34" y="0"/>
                    <a:pt x="34" y="0"/>
                    <a:pt x="34" y="0"/>
                  </a:cubicBezTo>
                  <a:cubicBezTo>
                    <a:pt x="38" y="0"/>
                    <a:pt x="40" y="3"/>
                    <a:pt x="40" y="6"/>
                  </a:cubicBezTo>
                  <a:cubicBezTo>
                    <a:pt x="40" y="34"/>
                    <a:pt x="40" y="34"/>
                    <a:pt x="40" y="34"/>
                  </a:cubicBezTo>
                  <a:cubicBezTo>
                    <a:pt x="40" y="38"/>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5" name="Freeform 214"/>
            <p:cNvSpPr>
              <a:spLocks noEditPoints="1"/>
            </p:cNvSpPr>
            <p:nvPr/>
          </p:nvSpPr>
          <p:spPr bwMode="auto">
            <a:xfrm>
              <a:off x="9144000" y="2765425"/>
              <a:ext cx="71437" cy="71438"/>
            </a:xfrm>
            <a:custGeom>
              <a:avLst/>
              <a:gdLst>
                <a:gd name="T0" fmla="*/ 60721 w 40"/>
                <a:gd name="T1" fmla="*/ 71438 h 40"/>
                <a:gd name="T2" fmla="*/ 10716 w 40"/>
                <a:gd name="T3" fmla="*/ 71438 h 40"/>
                <a:gd name="T4" fmla="*/ 0 w 40"/>
                <a:gd name="T5" fmla="*/ 60722 h 40"/>
                <a:gd name="T6" fmla="*/ 0 w 40"/>
                <a:gd name="T7" fmla="*/ 10716 h 40"/>
                <a:gd name="T8" fmla="*/ 10716 w 40"/>
                <a:gd name="T9" fmla="*/ 0 h 40"/>
                <a:gd name="T10" fmla="*/ 60721 w 40"/>
                <a:gd name="T11" fmla="*/ 0 h 40"/>
                <a:gd name="T12" fmla="*/ 71437 w 40"/>
                <a:gd name="T13" fmla="*/ 10716 h 40"/>
                <a:gd name="T14" fmla="*/ 71437 w 40"/>
                <a:gd name="T15" fmla="*/ 60722 h 40"/>
                <a:gd name="T16" fmla="*/ 60721 w 40"/>
                <a:gd name="T17" fmla="*/ 71438 h 40"/>
                <a:gd name="T18" fmla="*/ 21431 w 40"/>
                <a:gd name="T19" fmla="*/ 50007 h 40"/>
                <a:gd name="T20" fmla="*/ 50006 w 40"/>
                <a:gd name="T21" fmla="*/ 50007 h 40"/>
                <a:gd name="T22" fmla="*/ 50006 w 40"/>
                <a:gd name="T23" fmla="*/ 21431 h 40"/>
                <a:gd name="T24" fmla="*/ 21431 w 40"/>
                <a:gd name="T25" fmla="*/ 21431 h 40"/>
                <a:gd name="T26" fmla="*/ 21431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8"/>
                    <a:pt x="0" y="34"/>
                  </a:cubicBezTo>
                  <a:cubicBezTo>
                    <a:pt x="0" y="6"/>
                    <a:pt x="0" y="6"/>
                    <a:pt x="0" y="6"/>
                  </a:cubicBezTo>
                  <a:cubicBezTo>
                    <a:pt x="0" y="3"/>
                    <a:pt x="3" y="0"/>
                    <a:pt x="6" y="0"/>
                  </a:cubicBezTo>
                  <a:cubicBezTo>
                    <a:pt x="34" y="0"/>
                    <a:pt x="34" y="0"/>
                    <a:pt x="34" y="0"/>
                  </a:cubicBezTo>
                  <a:cubicBezTo>
                    <a:pt x="37" y="0"/>
                    <a:pt x="40" y="3"/>
                    <a:pt x="40" y="6"/>
                  </a:cubicBezTo>
                  <a:cubicBezTo>
                    <a:pt x="40" y="34"/>
                    <a:pt x="40" y="34"/>
                    <a:pt x="40" y="34"/>
                  </a:cubicBezTo>
                  <a:cubicBezTo>
                    <a:pt x="40" y="38"/>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6" name="Freeform 215"/>
            <p:cNvSpPr>
              <a:spLocks noEditPoints="1"/>
            </p:cNvSpPr>
            <p:nvPr/>
          </p:nvSpPr>
          <p:spPr bwMode="auto">
            <a:xfrm>
              <a:off x="8875713" y="2852738"/>
              <a:ext cx="69850" cy="69850"/>
            </a:xfrm>
            <a:custGeom>
              <a:avLst/>
              <a:gdLst>
                <a:gd name="T0" fmla="*/ 59373 w 40"/>
                <a:gd name="T1" fmla="*/ 69850 h 40"/>
                <a:gd name="T2" fmla="*/ 10478 w 40"/>
                <a:gd name="T3" fmla="*/ 69850 h 40"/>
                <a:gd name="T4" fmla="*/ 0 w 40"/>
                <a:gd name="T5" fmla="*/ 59373 h 40"/>
                <a:gd name="T6" fmla="*/ 0 w 40"/>
                <a:gd name="T7" fmla="*/ 10478 h 40"/>
                <a:gd name="T8" fmla="*/ 10478 w 40"/>
                <a:gd name="T9" fmla="*/ 0 h 40"/>
                <a:gd name="T10" fmla="*/ 59373 w 40"/>
                <a:gd name="T11" fmla="*/ 0 h 40"/>
                <a:gd name="T12" fmla="*/ 69850 w 40"/>
                <a:gd name="T13" fmla="*/ 10478 h 40"/>
                <a:gd name="T14" fmla="*/ 69850 w 40"/>
                <a:gd name="T15" fmla="*/ 59373 h 40"/>
                <a:gd name="T16" fmla="*/ 59373 w 40"/>
                <a:gd name="T17" fmla="*/ 69850 h 40"/>
                <a:gd name="T18" fmla="*/ 20955 w 40"/>
                <a:gd name="T19" fmla="*/ 48895 h 40"/>
                <a:gd name="T20" fmla="*/ 48895 w 40"/>
                <a:gd name="T21" fmla="*/ 48895 h 40"/>
                <a:gd name="T22" fmla="*/ 48895 w 40"/>
                <a:gd name="T23" fmla="*/ 20955 h 40"/>
                <a:gd name="T24" fmla="*/ 20955 w 40"/>
                <a:gd name="T25" fmla="*/ 20955 h 40"/>
                <a:gd name="T26" fmla="*/ 20955 w 40"/>
                <a:gd name="T27" fmla="*/ 48895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7"/>
                    <a:pt x="0" y="34"/>
                  </a:cubicBezTo>
                  <a:cubicBezTo>
                    <a:pt x="0" y="6"/>
                    <a:pt x="0" y="6"/>
                    <a:pt x="0" y="6"/>
                  </a:cubicBezTo>
                  <a:cubicBezTo>
                    <a:pt x="0" y="2"/>
                    <a:pt x="3" y="0"/>
                    <a:pt x="6" y="0"/>
                  </a:cubicBezTo>
                  <a:cubicBezTo>
                    <a:pt x="34" y="0"/>
                    <a:pt x="34" y="0"/>
                    <a:pt x="34" y="0"/>
                  </a:cubicBezTo>
                  <a:cubicBezTo>
                    <a:pt x="38" y="0"/>
                    <a:pt x="40" y="2"/>
                    <a:pt x="40" y="6"/>
                  </a:cubicBezTo>
                  <a:cubicBezTo>
                    <a:pt x="40" y="34"/>
                    <a:pt x="40" y="34"/>
                    <a:pt x="40" y="34"/>
                  </a:cubicBezTo>
                  <a:cubicBezTo>
                    <a:pt x="40" y="37"/>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7" name="Freeform 216"/>
            <p:cNvSpPr>
              <a:spLocks noEditPoints="1"/>
            </p:cNvSpPr>
            <p:nvPr/>
          </p:nvSpPr>
          <p:spPr bwMode="auto">
            <a:xfrm>
              <a:off x="8966200" y="2852738"/>
              <a:ext cx="69850" cy="69850"/>
            </a:xfrm>
            <a:custGeom>
              <a:avLst/>
              <a:gdLst>
                <a:gd name="T0" fmla="*/ 59373 w 40"/>
                <a:gd name="T1" fmla="*/ 69850 h 40"/>
                <a:gd name="T2" fmla="*/ 10478 w 40"/>
                <a:gd name="T3" fmla="*/ 69850 h 40"/>
                <a:gd name="T4" fmla="*/ 0 w 40"/>
                <a:gd name="T5" fmla="*/ 59373 h 40"/>
                <a:gd name="T6" fmla="*/ 0 w 40"/>
                <a:gd name="T7" fmla="*/ 10478 h 40"/>
                <a:gd name="T8" fmla="*/ 10478 w 40"/>
                <a:gd name="T9" fmla="*/ 0 h 40"/>
                <a:gd name="T10" fmla="*/ 59373 w 40"/>
                <a:gd name="T11" fmla="*/ 0 h 40"/>
                <a:gd name="T12" fmla="*/ 69850 w 40"/>
                <a:gd name="T13" fmla="*/ 10478 h 40"/>
                <a:gd name="T14" fmla="*/ 69850 w 40"/>
                <a:gd name="T15" fmla="*/ 59373 h 40"/>
                <a:gd name="T16" fmla="*/ 59373 w 40"/>
                <a:gd name="T17" fmla="*/ 69850 h 40"/>
                <a:gd name="T18" fmla="*/ 20955 w 40"/>
                <a:gd name="T19" fmla="*/ 48895 h 40"/>
                <a:gd name="T20" fmla="*/ 48895 w 40"/>
                <a:gd name="T21" fmla="*/ 48895 h 40"/>
                <a:gd name="T22" fmla="*/ 48895 w 40"/>
                <a:gd name="T23" fmla="*/ 20955 h 40"/>
                <a:gd name="T24" fmla="*/ 20955 w 40"/>
                <a:gd name="T25" fmla="*/ 20955 h 40"/>
                <a:gd name="T26" fmla="*/ 20955 w 40"/>
                <a:gd name="T27" fmla="*/ 48895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2" y="40"/>
                    <a:pt x="0" y="37"/>
                    <a:pt x="0" y="34"/>
                  </a:cubicBezTo>
                  <a:cubicBezTo>
                    <a:pt x="0" y="6"/>
                    <a:pt x="0" y="6"/>
                    <a:pt x="0" y="6"/>
                  </a:cubicBezTo>
                  <a:cubicBezTo>
                    <a:pt x="0" y="2"/>
                    <a:pt x="2" y="0"/>
                    <a:pt x="6" y="0"/>
                  </a:cubicBezTo>
                  <a:cubicBezTo>
                    <a:pt x="34" y="0"/>
                    <a:pt x="34" y="0"/>
                    <a:pt x="34" y="0"/>
                  </a:cubicBezTo>
                  <a:cubicBezTo>
                    <a:pt x="37" y="0"/>
                    <a:pt x="40" y="2"/>
                    <a:pt x="40" y="6"/>
                  </a:cubicBezTo>
                  <a:cubicBezTo>
                    <a:pt x="40" y="34"/>
                    <a:pt x="40" y="34"/>
                    <a:pt x="40" y="34"/>
                  </a:cubicBezTo>
                  <a:cubicBezTo>
                    <a:pt x="40" y="37"/>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8" name="Freeform 217"/>
            <p:cNvSpPr>
              <a:spLocks noEditPoints="1"/>
            </p:cNvSpPr>
            <p:nvPr/>
          </p:nvSpPr>
          <p:spPr bwMode="auto">
            <a:xfrm>
              <a:off x="9053513" y="2852738"/>
              <a:ext cx="71437" cy="69850"/>
            </a:xfrm>
            <a:custGeom>
              <a:avLst/>
              <a:gdLst>
                <a:gd name="T0" fmla="*/ 60721 w 40"/>
                <a:gd name="T1" fmla="*/ 69850 h 40"/>
                <a:gd name="T2" fmla="*/ 10716 w 40"/>
                <a:gd name="T3" fmla="*/ 69850 h 40"/>
                <a:gd name="T4" fmla="*/ 0 w 40"/>
                <a:gd name="T5" fmla="*/ 59373 h 40"/>
                <a:gd name="T6" fmla="*/ 0 w 40"/>
                <a:gd name="T7" fmla="*/ 10478 h 40"/>
                <a:gd name="T8" fmla="*/ 10716 w 40"/>
                <a:gd name="T9" fmla="*/ 0 h 40"/>
                <a:gd name="T10" fmla="*/ 60721 w 40"/>
                <a:gd name="T11" fmla="*/ 0 h 40"/>
                <a:gd name="T12" fmla="*/ 71437 w 40"/>
                <a:gd name="T13" fmla="*/ 10478 h 40"/>
                <a:gd name="T14" fmla="*/ 71437 w 40"/>
                <a:gd name="T15" fmla="*/ 59373 h 40"/>
                <a:gd name="T16" fmla="*/ 60721 w 40"/>
                <a:gd name="T17" fmla="*/ 69850 h 40"/>
                <a:gd name="T18" fmla="*/ 21431 w 40"/>
                <a:gd name="T19" fmla="*/ 48895 h 40"/>
                <a:gd name="T20" fmla="*/ 50006 w 40"/>
                <a:gd name="T21" fmla="*/ 48895 h 40"/>
                <a:gd name="T22" fmla="*/ 50006 w 40"/>
                <a:gd name="T23" fmla="*/ 20955 h 40"/>
                <a:gd name="T24" fmla="*/ 21431 w 40"/>
                <a:gd name="T25" fmla="*/ 20955 h 40"/>
                <a:gd name="T26" fmla="*/ 21431 w 40"/>
                <a:gd name="T27" fmla="*/ 48895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7"/>
                    <a:pt x="0" y="34"/>
                  </a:cubicBezTo>
                  <a:cubicBezTo>
                    <a:pt x="0" y="6"/>
                    <a:pt x="0" y="6"/>
                    <a:pt x="0" y="6"/>
                  </a:cubicBezTo>
                  <a:cubicBezTo>
                    <a:pt x="0" y="2"/>
                    <a:pt x="3" y="0"/>
                    <a:pt x="6" y="0"/>
                  </a:cubicBezTo>
                  <a:cubicBezTo>
                    <a:pt x="34" y="0"/>
                    <a:pt x="34" y="0"/>
                    <a:pt x="34" y="0"/>
                  </a:cubicBezTo>
                  <a:cubicBezTo>
                    <a:pt x="38" y="0"/>
                    <a:pt x="40" y="2"/>
                    <a:pt x="40" y="6"/>
                  </a:cubicBezTo>
                  <a:cubicBezTo>
                    <a:pt x="40" y="34"/>
                    <a:pt x="40" y="34"/>
                    <a:pt x="40" y="34"/>
                  </a:cubicBezTo>
                  <a:cubicBezTo>
                    <a:pt x="40" y="37"/>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79" name="Freeform 218"/>
            <p:cNvSpPr>
              <a:spLocks noEditPoints="1"/>
            </p:cNvSpPr>
            <p:nvPr/>
          </p:nvSpPr>
          <p:spPr bwMode="auto">
            <a:xfrm>
              <a:off x="9144000" y="2852738"/>
              <a:ext cx="71437" cy="69850"/>
            </a:xfrm>
            <a:custGeom>
              <a:avLst/>
              <a:gdLst>
                <a:gd name="T0" fmla="*/ 60721 w 40"/>
                <a:gd name="T1" fmla="*/ 69850 h 40"/>
                <a:gd name="T2" fmla="*/ 10716 w 40"/>
                <a:gd name="T3" fmla="*/ 69850 h 40"/>
                <a:gd name="T4" fmla="*/ 0 w 40"/>
                <a:gd name="T5" fmla="*/ 59373 h 40"/>
                <a:gd name="T6" fmla="*/ 0 w 40"/>
                <a:gd name="T7" fmla="*/ 10478 h 40"/>
                <a:gd name="T8" fmla="*/ 10716 w 40"/>
                <a:gd name="T9" fmla="*/ 0 h 40"/>
                <a:gd name="T10" fmla="*/ 60721 w 40"/>
                <a:gd name="T11" fmla="*/ 0 h 40"/>
                <a:gd name="T12" fmla="*/ 71437 w 40"/>
                <a:gd name="T13" fmla="*/ 10478 h 40"/>
                <a:gd name="T14" fmla="*/ 71437 w 40"/>
                <a:gd name="T15" fmla="*/ 59373 h 40"/>
                <a:gd name="T16" fmla="*/ 60721 w 40"/>
                <a:gd name="T17" fmla="*/ 69850 h 40"/>
                <a:gd name="T18" fmla="*/ 21431 w 40"/>
                <a:gd name="T19" fmla="*/ 48895 h 40"/>
                <a:gd name="T20" fmla="*/ 50006 w 40"/>
                <a:gd name="T21" fmla="*/ 48895 h 40"/>
                <a:gd name="T22" fmla="*/ 50006 w 40"/>
                <a:gd name="T23" fmla="*/ 20955 h 40"/>
                <a:gd name="T24" fmla="*/ 21431 w 40"/>
                <a:gd name="T25" fmla="*/ 20955 h 40"/>
                <a:gd name="T26" fmla="*/ 21431 w 40"/>
                <a:gd name="T27" fmla="*/ 48895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7"/>
                    <a:pt x="0" y="34"/>
                  </a:cubicBezTo>
                  <a:cubicBezTo>
                    <a:pt x="0" y="6"/>
                    <a:pt x="0" y="6"/>
                    <a:pt x="0" y="6"/>
                  </a:cubicBezTo>
                  <a:cubicBezTo>
                    <a:pt x="0" y="2"/>
                    <a:pt x="3" y="0"/>
                    <a:pt x="6" y="0"/>
                  </a:cubicBezTo>
                  <a:cubicBezTo>
                    <a:pt x="34" y="0"/>
                    <a:pt x="34" y="0"/>
                    <a:pt x="34" y="0"/>
                  </a:cubicBezTo>
                  <a:cubicBezTo>
                    <a:pt x="37" y="0"/>
                    <a:pt x="40" y="2"/>
                    <a:pt x="40" y="6"/>
                  </a:cubicBezTo>
                  <a:cubicBezTo>
                    <a:pt x="40" y="34"/>
                    <a:pt x="40" y="34"/>
                    <a:pt x="40" y="34"/>
                  </a:cubicBezTo>
                  <a:cubicBezTo>
                    <a:pt x="40" y="37"/>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80" name="Freeform 219"/>
            <p:cNvSpPr>
              <a:spLocks noEditPoints="1"/>
            </p:cNvSpPr>
            <p:nvPr/>
          </p:nvSpPr>
          <p:spPr bwMode="auto">
            <a:xfrm>
              <a:off x="8875713" y="2936875"/>
              <a:ext cx="69850" cy="71438"/>
            </a:xfrm>
            <a:custGeom>
              <a:avLst/>
              <a:gdLst>
                <a:gd name="T0" fmla="*/ 59373 w 40"/>
                <a:gd name="T1" fmla="*/ 71438 h 40"/>
                <a:gd name="T2" fmla="*/ 10478 w 40"/>
                <a:gd name="T3" fmla="*/ 71438 h 40"/>
                <a:gd name="T4" fmla="*/ 0 w 40"/>
                <a:gd name="T5" fmla="*/ 60722 h 40"/>
                <a:gd name="T6" fmla="*/ 0 w 40"/>
                <a:gd name="T7" fmla="*/ 10716 h 40"/>
                <a:gd name="T8" fmla="*/ 10478 w 40"/>
                <a:gd name="T9" fmla="*/ 0 h 40"/>
                <a:gd name="T10" fmla="*/ 59373 w 40"/>
                <a:gd name="T11" fmla="*/ 0 h 40"/>
                <a:gd name="T12" fmla="*/ 69850 w 40"/>
                <a:gd name="T13" fmla="*/ 10716 h 40"/>
                <a:gd name="T14" fmla="*/ 69850 w 40"/>
                <a:gd name="T15" fmla="*/ 60722 h 40"/>
                <a:gd name="T16" fmla="*/ 59373 w 40"/>
                <a:gd name="T17" fmla="*/ 71438 h 40"/>
                <a:gd name="T18" fmla="*/ 20955 w 40"/>
                <a:gd name="T19" fmla="*/ 50007 h 40"/>
                <a:gd name="T20" fmla="*/ 48895 w 40"/>
                <a:gd name="T21" fmla="*/ 50007 h 40"/>
                <a:gd name="T22" fmla="*/ 48895 w 40"/>
                <a:gd name="T23" fmla="*/ 21431 h 40"/>
                <a:gd name="T24" fmla="*/ 20955 w 40"/>
                <a:gd name="T25" fmla="*/ 21431 h 40"/>
                <a:gd name="T26" fmla="*/ 20955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8"/>
                    <a:pt x="0" y="34"/>
                  </a:cubicBezTo>
                  <a:cubicBezTo>
                    <a:pt x="0" y="6"/>
                    <a:pt x="0" y="6"/>
                    <a:pt x="0" y="6"/>
                  </a:cubicBezTo>
                  <a:cubicBezTo>
                    <a:pt x="0" y="3"/>
                    <a:pt x="3" y="0"/>
                    <a:pt x="6" y="0"/>
                  </a:cubicBezTo>
                  <a:cubicBezTo>
                    <a:pt x="34" y="0"/>
                    <a:pt x="34" y="0"/>
                    <a:pt x="34" y="0"/>
                  </a:cubicBezTo>
                  <a:cubicBezTo>
                    <a:pt x="38" y="0"/>
                    <a:pt x="40" y="3"/>
                    <a:pt x="40" y="6"/>
                  </a:cubicBezTo>
                  <a:cubicBezTo>
                    <a:pt x="40" y="34"/>
                    <a:pt x="40" y="34"/>
                    <a:pt x="40" y="34"/>
                  </a:cubicBezTo>
                  <a:cubicBezTo>
                    <a:pt x="40" y="38"/>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81" name="Freeform 220"/>
            <p:cNvSpPr>
              <a:spLocks noEditPoints="1"/>
            </p:cNvSpPr>
            <p:nvPr/>
          </p:nvSpPr>
          <p:spPr bwMode="auto">
            <a:xfrm>
              <a:off x="8966200" y="2936875"/>
              <a:ext cx="69850" cy="71438"/>
            </a:xfrm>
            <a:custGeom>
              <a:avLst/>
              <a:gdLst>
                <a:gd name="T0" fmla="*/ 59373 w 40"/>
                <a:gd name="T1" fmla="*/ 71438 h 40"/>
                <a:gd name="T2" fmla="*/ 10478 w 40"/>
                <a:gd name="T3" fmla="*/ 71438 h 40"/>
                <a:gd name="T4" fmla="*/ 0 w 40"/>
                <a:gd name="T5" fmla="*/ 60722 h 40"/>
                <a:gd name="T6" fmla="*/ 0 w 40"/>
                <a:gd name="T7" fmla="*/ 10716 h 40"/>
                <a:gd name="T8" fmla="*/ 10478 w 40"/>
                <a:gd name="T9" fmla="*/ 0 h 40"/>
                <a:gd name="T10" fmla="*/ 59373 w 40"/>
                <a:gd name="T11" fmla="*/ 0 h 40"/>
                <a:gd name="T12" fmla="*/ 69850 w 40"/>
                <a:gd name="T13" fmla="*/ 10716 h 40"/>
                <a:gd name="T14" fmla="*/ 69850 w 40"/>
                <a:gd name="T15" fmla="*/ 60722 h 40"/>
                <a:gd name="T16" fmla="*/ 59373 w 40"/>
                <a:gd name="T17" fmla="*/ 71438 h 40"/>
                <a:gd name="T18" fmla="*/ 20955 w 40"/>
                <a:gd name="T19" fmla="*/ 50007 h 40"/>
                <a:gd name="T20" fmla="*/ 48895 w 40"/>
                <a:gd name="T21" fmla="*/ 50007 h 40"/>
                <a:gd name="T22" fmla="*/ 48895 w 40"/>
                <a:gd name="T23" fmla="*/ 21431 h 40"/>
                <a:gd name="T24" fmla="*/ 20955 w 40"/>
                <a:gd name="T25" fmla="*/ 21431 h 40"/>
                <a:gd name="T26" fmla="*/ 20955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2" y="40"/>
                    <a:pt x="0" y="38"/>
                    <a:pt x="0" y="34"/>
                  </a:cubicBezTo>
                  <a:cubicBezTo>
                    <a:pt x="0" y="6"/>
                    <a:pt x="0" y="6"/>
                    <a:pt x="0" y="6"/>
                  </a:cubicBezTo>
                  <a:cubicBezTo>
                    <a:pt x="0" y="3"/>
                    <a:pt x="2" y="0"/>
                    <a:pt x="6" y="0"/>
                  </a:cubicBezTo>
                  <a:cubicBezTo>
                    <a:pt x="34" y="0"/>
                    <a:pt x="34" y="0"/>
                    <a:pt x="34" y="0"/>
                  </a:cubicBezTo>
                  <a:cubicBezTo>
                    <a:pt x="37" y="0"/>
                    <a:pt x="40" y="3"/>
                    <a:pt x="40" y="6"/>
                  </a:cubicBezTo>
                  <a:cubicBezTo>
                    <a:pt x="40" y="34"/>
                    <a:pt x="40" y="34"/>
                    <a:pt x="40" y="34"/>
                  </a:cubicBezTo>
                  <a:cubicBezTo>
                    <a:pt x="40" y="38"/>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82" name="Freeform 221"/>
            <p:cNvSpPr>
              <a:spLocks noEditPoints="1"/>
            </p:cNvSpPr>
            <p:nvPr/>
          </p:nvSpPr>
          <p:spPr bwMode="auto">
            <a:xfrm>
              <a:off x="9053513" y="2936875"/>
              <a:ext cx="71437" cy="71438"/>
            </a:xfrm>
            <a:custGeom>
              <a:avLst/>
              <a:gdLst>
                <a:gd name="T0" fmla="*/ 60721 w 40"/>
                <a:gd name="T1" fmla="*/ 71438 h 40"/>
                <a:gd name="T2" fmla="*/ 10716 w 40"/>
                <a:gd name="T3" fmla="*/ 71438 h 40"/>
                <a:gd name="T4" fmla="*/ 0 w 40"/>
                <a:gd name="T5" fmla="*/ 60722 h 40"/>
                <a:gd name="T6" fmla="*/ 0 w 40"/>
                <a:gd name="T7" fmla="*/ 10716 h 40"/>
                <a:gd name="T8" fmla="*/ 10716 w 40"/>
                <a:gd name="T9" fmla="*/ 0 h 40"/>
                <a:gd name="T10" fmla="*/ 60721 w 40"/>
                <a:gd name="T11" fmla="*/ 0 h 40"/>
                <a:gd name="T12" fmla="*/ 71437 w 40"/>
                <a:gd name="T13" fmla="*/ 10716 h 40"/>
                <a:gd name="T14" fmla="*/ 71437 w 40"/>
                <a:gd name="T15" fmla="*/ 60722 h 40"/>
                <a:gd name="T16" fmla="*/ 60721 w 40"/>
                <a:gd name="T17" fmla="*/ 71438 h 40"/>
                <a:gd name="T18" fmla="*/ 21431 w 40"/>
                <a:gd name="T19" fmla="*/ 50007 h 40"/>
                <a:gd name="T20" fmla="*/ 50006 w 40"/>
                <a:gd name="T21" fmla="*/ 50007 h 40"/>
                <a:gd name="T22" fmla="*/ 50006 w 40"/>
                <a:gd name="T23" fmla="*/ 21431 h 40"/>
                <a:gd name="T24" fmla="*/ 21431 w 40"/>
                <a:gd name="T25" fmla="*/ 21431 h 40"/>
                <a:gd name="T26" fmla="*/ 21431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8"/>
                    <a:pt x="0" y="34"/>
                  </a:cubicBezTo>
                  <a:cubicBezTo>
                    <a:pt x="0" y="6"/>
                    <a:pt x="0" y="6"/>
                    <a:pt x="0" y="6"/>
                  </a:cubicBezTo>
                  <a:cubicBezTo>
                    <a:pt x="0" y="3"/>
                    <a:pt x="3" y="0"/>
                    <a:pt x="6" y="0"/>
                  </a:cubicBezTo>
                  <a:cubicBezTo>
                    <a:pt x="34" y="0"/>
                    <a:pt x="34" y="0"/>
                    <a:pt x="34" y="0"/>
                  </a:cubicBezTo>
                  <a:cubicBezTo>
                    <a:pt x="38" y="0"/>
                    <a:pt x="40" y="3"/>
                    <a:pt x="40" y="6"/>
                  </a:cubicBezTo>
                  <a:cubicBezTo>
                    <a:pt x="40" y="34"/>
                    <a:pt x="40" y="34"/>
                    <a:pt x="40" y="34"/>
                  </a:cubicBezTo>
                  <a:cubicBezTo>
                    <a:pt x="40" y="38"/>
                    <a:pt x="38"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83" name="Freeform 222"/>
            <p:cNvSpPr>
              <a:spLocks noEditPoints="1"/>
            </p:cNvSpPr>
            <p:nvPr/>
          </p:nvSpPr>
          <p:spPr bwMode="auto">
            <a:xfrm>
              <a:off x="9144000" y="2936875"/>
              <a:ext cx="71437" cy="71438"/>
            </a:xfrm>
            <a:custGeom>
              <a:avLst/>
              <a:gdLst>
                <a:gd name="T0" fmla="*/ 60721 w 40"/>
                <a:gd name="T1" fmla="*/ 71438 h 40"/>
                <a:gd name="T2" fmla="*/ 10716 w 40"/>
                <a:gd name="T3" fmla="*/ 71438 h 40"/>
                <a:gd name="T4" fmla="*/ 0 w 40"/>
                <a:gd name="T5" fmla="*/ 60722 h 40"/>
                <a:gd name="T6" fmla="*/ 0 w 40"/>
                <a:gd name="T7" fmla="*/ 10716 h 40"/>
                <a:gd name="T8" fmla="*/ 10716 w 40"/>
                <a:gd name="T9" fmla="*/ 0 h 40"/>
                <a:gd name="T10" fmla="*/ 60721 w 40"/>
                <a:gd name="T11" fmla="*/ 0 h 40"/>
                <a:gd name="T12" fmla="*/ 71437 w 40"/>
                <a:gd name="T13" fmla="*/ 10716 h 40"/>
                <a:gd name="T14" fmla="*/ 71437 w 40"/>
                <a:gd name="T15" fmla="*/ 60722 h 40"/>
                <a:gd name="T16" fmla="*/ 60721 w 40"/>
                <a:gd name="T17" fmla="*/ 71438 h 40"/>
                <a:gd name="T18" fmla="*/ 21431 w 40"/>
                <a:gd name="T19" fmla="*/ 50007 h 40"/>
                <a:gd name="T20" fmla="*/ 50006 w 40"/>
                <a:gd name="T21" fmla="*/ 50007 h 40"/>
                <a:gd name="T22" fmla="*/ 50006 w 40"/>
                <a:gd name="T23" fmla="*/ 21431 h 40"/>
                <a:gd name="T24" fmla="*/ 21431 w 40"/>
                <a:gd name="T25" fmla="*/ 21431 h 40"/>
                <a:gd name="T26" fmla="*/ 21431 w 40"/>
                <a:gd name="T27" fmla="*/ 50007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40"/>
                <a:gd name="T44" fmla="*/ 40 w 40"/>
                <a:gd name="T45" fmla="*/ 40 h 4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40">
                  <a:moveTo>
                    <a:pt x="34" y="40"/>
                  </a:moveTo>
                  <a:cubicBezTo>
                    <a:pt x="6" y="40"/>
                    <a:pt x="6" y="40"/>
                    <a:pt x="6" y="40"/>
                  </a:cubicBezTo>
                  <a:cubicBezTo>
                    <a:pt x="3" y="40"/>
                    <a:pt x="0" y="38"/>
                    <a:pt x="0" y="34"/>
                  </a:cubicBezTo>
                  <a:cubicBezTo>
                    <a:pt x="0" y="6"/>
                    <a:pt x="0" y="6"/>
                    <a:pt x="0" y="6"/>
                  </a:cubicBezTo>
                  <a:cubicBezTo>
                    <a:pt x="0" y="3"/>
                    <a:pt x="3" y="0"/>
                    <a:pt x="6" y="0"/>
                  </a:cubicBezTo>
                  <a:cubicBezTo>
                    <a:pt x="34" y="0"/>
                    <a:pt x="34" y="0"/>
                    <a:pt x="34" y="0"/>
                  </a:cubicBezTo>
                  <a:cubicBezTo>
                    <a:pt x="37" y="0"/>
                    <a:pt x="40" y="3"/>
                    <a:pt x="40" y="6"/>
                  </a:cubicBezTo>
                  <a:cubicBezTo>
                    <a:pt x="40" y="34"/>
                    <a:pt x="40" y="34"/>
                    <a:pt x="40" y="34"/>
                  </a:cubicBezTo>
                  <a:cubicBezTo>
                    <a:pt x="40" y="38"/>
                    <a:pt x="37" y="40"/>
                    <a:pt x="34" y="40"/>
                  </a:cubicBezTo>
                  <a:close/>
                  <a:moveTo>
                    <a:pt x="12" y="28"/>
                  </a:moveTo>
                  <a:cubicBezTo>
                    <a:pt x="28" y="28"/>
                    <a:pt x="28" y="28"/>
                    <a:pt x="28" y="28"/>
                  </a:cubicBezTo>
                  <a:cubicBezTo>
                    <a:pt x="28" y="12"/>
                    <a:pt x="28" y="12"/>
                    <a:pt x="28" y="12"/>
                  </a:cubicBezTo>
                  <a:cubicBezTo>
                    <a:pt x="12" y="12"/>
                    <a:pt x="12" y="12"/>
                    <a:pt x="12" y="12"/>
                  </a:cubicBezTo>
                  <a:lnTo>
                    <a:pt x="12" y="2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84" name="Freeform 223"/>
            <p:cNvSpPr>
              <a:spLocks/>
            </p:cNvSpPr>
            <p:nvPr/>
          </p:nvSpPr>
          <p:spPr bwMode="auto">
            <a:xfrm>
              <a:off x="8597900" y="2344738"/>
              <a:ext cx="117475" cy="200025"/>
            </a:xfrm>
            <a:custGeom>
              <a:avLst/>
              <a:gdLst>
                <a:gd name="T0" fmla="*/ 99676 w 66"/>
                <a:gd name="T1" fmla="*/ 200025 h 113"/>
                <a:gd name="T2" fmla="*/ 99676 w 66"/>
                <a:gd name="T3" fmla="*/ 200025 h 113"/>
                <a:gd name="T4" fmla="*/ 83656 w 66"/>
                <a:gd name="T5" fmla="*/ 184094 h 113"/>
                <a:gd name="T6" fmla="*/ 83656 w 66"/>
                <a:gd name="T7" fmla="*/ 184094 h 113"/>
                <a:gd name="T8" fmla="*/ 8900 w 66"/>
                <a:gd name="T9" fmla="*/ 31862 h 113"/>
                <a:gd name="T10" fmla="*/ 5340 w 66"/>
                <a:gd name="T11" fmla="*/ 8851 h 113"/>
                <a:gd name="T12" fmla="*/ 28479 w 66"/>
                <a:gd name="T13" fmla="*/ 5310 h 113"/>
                <a:gd name="T14" fmla="*/ 115695 w 66"/>
                <a:gd name="T15" fmla="*/ 185864 h 113"/>
                <a:gd name="T16" fmla="*/ 99676 w 66"/>
                <a:gd name="T17" fmla="*/ 200025 h 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113"/>
                <a:gd name="T29" fmla="*/ 66 w 66"/>
                <a:gd name="T30" fmla="*/ 113 h 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113">
                  <a:moveTo>
                    <a:pt x="56" y="113"/>
                  </a:moveTo>
                  <a:cubicBezTo>
                    <a:pt x="56" y="113"/>
                    <a:pt x="56" y="113"/>
                    <a:pt x="56" y="113"/>
                  </a:cubicBezTo>
                  <a:cubicBezTo>
                    <a:pt x="51" y="113"/>
                    <a:pt x="47" y="109"/>
                    <a:pt x="47" y="104"/>
                  </a:cubicBezTo>
                  <a:cubicBezTo>
                    <a:pt x="47" y="104"/>
                    <a:pt x="47" y="104"/>
                    <a:pt x="47" y="104"/>
                  </a:cubicBezTo>
                  <a:cubicBezTo>
                    <a:pt x="47" y="104"/>
                    <a:pt x="48" y="50"/>
                    <a:pt x="5" y="18"/>
                  </a:cubicBezTo>
                  <a:cubicBezTo>
                    <a:pt x="1" y="15"/>
                    <a:pt x="0" y="9"/>
                    <a:pt x="3" y="5"/>
                  </a:cubicBezTo>
                  <a:cubicBezTo>
                    <a:pt x="6" y="1"/>
                    <a:pt x="12" y="0"/>
                    <a:pt x="16" y="3"/>
                  </a:cubicBezTo>
                  <a:cubicBezTo>
                    <a:pt x="66" y="41"/>
                    <a:pt x="65" y="102"/>
                    <a:pt x="65" y="105"/>
                  </a:cubicBezTo>
                  <a:cubicBezTo>
                    <a:pt x="65" y="110"/>
                    <a:pt x="61" y="113"/>
                    <a:pt x="56" y="11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85" name="Freeform 224"/>
            <p:cNvSpPr>
              <a:spLocks noEditPoints="1"/>
            </p:cNvSpPr>
            <p:nvPr/>
          </p:nvSpPr>
          <p:spPr bwMode="auto">
            <a:xfrm>
              <a:off x="8499475" y="2260600"/>
              <a:ext cx="146050" cy="138113"/>
            </a:xfrm>
            <a:custGeom>
              <a:avLst/>
              <a:gdLst>
                <a:gd name="T0" fmla="*/ 109098 w 83"/>
                <a:gd name="T1" fmla="*/ 138113 h 78"/>
                <a:gd name="T2" fmla="*/ 98540 w 83"/>
                <a:gd name="T3" fmla="*/ 136342 h 78"/>
                <a:gd name="T4" fmla="*/ 28154 w 83"/>
                <a:gd name="T5" fmla="*/ 104470 h 78"/>
                <a:gd name="T6" fmla="*/ 17596 w 83"/>
                <a:gd name="T7" fmla="*/ 28331 h 78"/>
                <a:gd name="T8" fmla="*/ 17596 w 83"/>
                <a:gd name="T9" fmla="*/ 28331 h 78"/>
                <a:gd name="T10" fmla="*/ 93261 w 83"/>
                <a:gd name="T11" fmla="*/ 17707 h 78"/>
                <a:gd name="T12" fmla="*/ 142531 w 83"/>
                <a:gd name="T13" fmla="*/ 79681 h 78"/>
                <a:gd name="T14" fmla="*/ 146050 w 83"/>
                <a:gd name="T15" fmla="*/ 88534 h 78"/>
                <a:gd name="T16" fmla="*/ 109098 w 83"/>
                <a:gd name="T17" fmla="*/ 138113 h 78"/>
                <a:gd name="T18" fmla="*/ 42231 w 83"/>
                <a:gd name="T19" fmla="*/ 47808 h 78"/>
                <a:gd name="T20" fmla="*/ 47510 w 83"/>
                <a:gd name="T21" fmla="*/ 77910 h 78"/>
                <a:gd name="T22" fmla="*/ 96780 w 83"/>
                <a:gd name="T23" fmla="*/ 102699 h 78"/>
                <a:gd name="T24" fmla="*/ 109098 w 83"/>
                <a:gd name="T25" fmla="*/ 86763 h 78"/>
                <a:gd name="T26" fmla="*/ 73905 w 83"/>
                <a:gd name="T27" fmla="*/ 44267 h 78"/>
                <a:gd name="T28" fmla="*/ 42231 w 83"/>
                <a:gd name="T29" fmla="*/ 47808 h 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3"/>
                <a:gd name="T46" fmla="*/ 0 h 78"/>
                <a:gd name="T47" fmla="*/ 83 w 83"/>
                <a:gd name="T48" fmla="*/ 78 h 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3" h="78">
                  <a:moveTo>
                    <a:pt x="62" y="78"/>
                  </a:moveTo>
                  <a:cubicBezTo>
                    <a:pt x="56" y="77"/>
                    <a:pt x="56" y="77"/>
                    <a:pt x="56" y="77"/>
                  </a:cubicBezTo>
                  <a:cubicBezTo>
                    <a:pt x="42" y="73"/>
                    <a:pt x="23" y="64"/>
                    <a:pt x="16" y="59"/>
                  </a:cubicBezTo>
                  <a:cubicBezTo>
                    <a:pt x="2" y="48"/>
                    <a:pt x="0" y="29"/>
                    <a:pt x="10" y="16"/>
                  </a:cubicBezTo>
                  <a:cubicBezTo>
                    <a:pt x="10" y="16"/>
                    <a:pt x="10" y="16"/>
                    <a:pt x="10" y="16"/>
                  </a:cubicBezTo>
                  <a:cubicBezTo>
                    <a:pt x="20" y="3"/>
                    <a:pt x="39" y="0"/>
                    <a:pt x="53" y="10"/>
                  </a:cubicBezTo>
                  <a:cubicBezTo>
                    <a:pt x="60" y="16"/>
                    <a:pt x="74" y="32"/>
                    <a:pt x="81" y="45"/>
                  </a:cubicBezTo>
                  <a:cubicBezTo>
                    <a:pt x="83" y="50"/>
                    <a:pt x="83" y="50"/>
                    <a:pt x="83" y="50"/>
                  </a:cubicBezTo>
                  <a:lnTo>
                    <a:pt x="62" y="78"/>
                  </a:lnTo>
                  <a:close/>
                  <a:moveTo>
                    <a:pt x="24" y="27"/>
                  </a:moveTo>
                  <a:cubicBezTo>
                    <a:pt x="20" y="32"/>
                    <a:pt x="21" y="40"/>
                    <a:pt x="27" y="44"/>
                  </a:cubicBezTo>
                  <a:cubicBezTo>
                    <a:pt x="30" y="47"/>
                    <a:pt x="43" y="54"/>
                    <a:pt x="55" y="58"/>
                  </a:cubicBezTo>
                  <a:cubicBezTo>
                    <a:pt x="62" y="49"/>
                    <a:pt x="62" y="49"/>
                    <a:pt x="62" y="49"/>
                  </a:cubicBezTo>
                  <a:cubicBezTo>
                    <a:pt x="55" y="38"/>
                    <a:pt x="46" y="28"/>
                    <a:pt x="42" y="25"/>
                  </a:cubicBezTo>
                  <a:cubicBezTo>
                    <a:pt x="36" y="20"/>
                    <a:pt x="28" y="22"/>
                    <a:pt x="24" y="27"/>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sp>
          <p:nvSpPr>
            <p:cNvPr id="286" name="Freeform 225"/>
            <p:cNvSpPr>
              <a:spLocks noEditPoints="1"/>
            </p:cNvSpPr>
            <p:nvPr/>
          </p:nvSpPr>
          <p:spPr bwMode="auto">
            <a:xfrm>
              <a:off x="8534400" y="2481263"/>
              <a:ext cx="306387" cy="138113"/>
            </a:xfrm>
            <a:custGeom>
              <a:avLst/>
              <a:gdLst>
                <a:gd name="T0" fmla="*/ 290448 w 173"/>
                <a:gd name="T1" fmla="*/ 138113 h 78"/>
                <a:gd name="T2" fmla="*/ 15939 w 173"/>
                <a:gd name="T3" fmla="*/ 138113 h 78"/>
                <a:gd name="T4" fmla="*/ 0 w 173"/>
                <a:gd name="T5" fmla="*/ 122177 h 78"/>
                <a:gd name="T6" fmla="*/ 0 w 173"/>
                <a:gd name="T7" fmla="*/ 56662 h 78"/>
                <a:gd name="T8" fmla="*/ 54902 w 173"/>
                <a:gd name="T9" fmla="*/ 0 h 78"/>
                <a:gd name="T10" fmla="*/ 251485 w 173"/>
                <a:gd name="T11" fmla="*/ 0 h 78"/>
                <a:gd name="T12" fmla="*/ 306387 w 173"/>
                <a:gd name="T13" fmla="*/ 56662 h 78"/>
                <a:gd name="T14" fmla="*/ 306387 w 173"/>
                <a:gd name="T15" fmla="*/ 122177 h 78"/>
                <a:gd name="T16" fmla="*/ 290448 w 173"/>
                <a:gd name="T17" fmla="*/ 138113 h 78"/>
                <a:gd name="T18" fmla="*/ 31878 w 173"/>
                <a:gd name="T19" fmla="*/ 106241 h 78"/>
                <a:gd name="T20" fmla="*/ 274509 w 173"/>
                <a:gd name="T21" fmla="*/ 106241 h 78"/>
                <a:gd name="T22" fmla="*/ 274509 w 173"/>
                <a:gd name="T23" fmla="*/ 56662 h 78"/>
                <a:gd name="T24" fmla="*/ 251485 w 173"/>
                <a:gd name="T25" fmla="*/ 31872 h 78"/>
                <a:gd name="T26" fmla="*/ 54902 w 173"/>
                <a:gd name="T27" fmla="*/ 31872 h 78"/>
                <a:gd name="T28" fmla="*/ 31878 w 173"/>
                <a:gd name="T29" fmla="*/ 56662 h 78"/>
                <a:gd name="T30" fmla="*/ 31878 w 173"/>
                <a:gd name="T31" fmla="*/ 106241 h 7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3"/>
                <a:gd name="T49" fmla="*/ 0 h 78"/>
                <a:gd name="T50" fmla="*/ 173 w 173"/>
                <a:gd name="T51" fmla="*/ 78 h 7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3" h="78">
                  <a:moveTo>
                    <a:pt x="164" y="78"/>
                  </a:moveTo>
                  <a:cubicBezTo>
                    <a:pt x="9" y="78"/>
                    <a:pt x="9" y="78"/>
                    <a:pt x="9" y="78"/>
                  </a:cubicBezTo>
                  <a:cubicBezTo>
                    <a:pt x="4" y="78"/>
                    <a:pt x="0" y="74"/>
                    <a:pt x="0" y="69"/>
                  </a:cubicBezTo>
                  <a:cubicBezTo>
                    <a:pt x="0" y="32"/>
                    <a:pt x="0" y="32"/>
                    <a:pt x="0" y="32"/>
                  </a:cubicBezTo>
                  <a:cubicBezTo>
                    <a:pt x="0" y="15"/>
                    <a:pt x="14" y="0"/>
                    <a:pt x="31" y="0"/>
                  </a:cubicBezTo>
                  <a:cubicBezTo>
                    <a:pt x="142" y="0"/>
                    <a:pt x="142" y="0"/>
                    <a:pt x="142" y="0"/>
                  </a:cubicBezTo>
                  <a:cubicBezTo>
                    <a:pt x="159" y="0"/>
                    <a:pt x="173" y="15"/>
                    <a:pt x="173" y="32"/>
                  </a:cubicBezTo>
                  <a:cubicBezTo>
                    <a:pt x="173" y="69"/>
                    <a:pt x="173" y="69"/>
                    <a:pt x="173" y="69"/>
                  </a:cubicBezTo>
                  <a:cubicBezTo>
                    <a:pt x="173" y="74"/>
                    <a:pt x="169" y="78"/>
                    <a:pt x="164" y="78"/>
                  </a:cubicBezTo>
                  <a:close/>
                  <a:moveTo>
                    <a:pt x="18" y="60"/>
                  </a:moveTo>
                  <a:cubicBezTo>
                    <a:pt x="155" y="60"/>
                    <a:pt x="155" y="60"/>
                    <a:pt x="155" y="60"/>
                  </a:cubicBezTo>
                  <a:cubicBezTo>
                    <a:pt x="155" y="32"/>
                    <a:pt x="155" y="32"/>
                    <a:pt x="155" y="32"/>
                  </a:cubicBezTo>
                  <a:cubicBezTo>
                    <a:pt x="155" y="25"/>
                    <a:pt x="149" y="18"/>
                    <a:pt x="142" y="18"/>
                  </a:cubicBezTo>
                  <a:cubicBezTo>
                    <a:pt x="31" y="18"/>
                    <a:pt x="31" y="18"/>
                    <a:pt x="31" y="18"/>
                  </a:cubicBezTo>
                  <a:cubicBezTo>
                    <a:pt x="24" y="18"/>
                    <a:pt x="18" y="25"/>
                    <a:pt x="18" y="32"/>
                  </a:cubicBezTo>
                  <a:lnTo>
                    <a:pt x="18" y="60"/>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p>
          </p:txBody>
        </p:sp>
      </p:grpSp>
      <p:grpSp>
        <p:nvGrpSpPr>
          <p:cNvPr id="7" name="组合 6"/>
          <p:cNvGrpSpPr/>
          <p:nvPr/>
        </p:nvGrpSpPr>
        <p:grpSpPr>
          <a:xfrm>
            <a:off x="3026986" y="5513561"/>
            <a:ext cx="486561" cy="204254"/>
            <a:chOff x="39917" y="3888516"/>
            <a:chExt cx="708937" cy="297605"/>
          </a:xfrm>
        </p:grpSpPr>
        <p:sp>
          <p:nvSpPr>
            <p:cNvPr id="2" name="五边形 1"/>
            <p:cNvSpPr/>
            <p:nvPr/>
          </p:nvSpPr>
          <p:spPr>
            <a:xfrm>
              <a:off x="39917" y="3888516"/>
              <a:ext cx="708937" cy="297605"/>
            </a:xfrm>
            <a:prstGeom prst="homePlat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04641" y="3976924"/>
              <a:ext cx="373380" cy="132307"/>
            </a:xfrm>
            <a:prstGeom prst="rect">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流程图: 决策 5"/>
            <p:cNvSpPr/>
            <p:nvPr/>
          </p:nvSpPr>
          <p:spPr>
            <a:xfrm>
              <a:off x="526478" y="3976924"/>
              <a:ext cx="102432" cy="132307"/>
            </a:xfrm>
            <a:prstGeom prst="flowChartDecision">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2309838" y="5520907"/>
            <a:ext cx="640080" cy="205485"/>
            <a:chOff x="2309838" y="5520907"/>
            <a:chExt cx="640080" cy="205485"/>
          </a:xfrm>
        </p:grpSpPr>
        <p:sp>
          <p:nvSpPr>
            <p:cNvPr id="8" name="矩形 7"/>
            <p:cNvSpPr/>
            <p:nvPr/>
          </p:nvSpPr>
          <p:spPr>
            <a:xfrm>
              <a:off x="2309838" y="5524487"/>
              <a:ext cx="640080" cy="1983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385235" y="5545526"/>
              <a:ext cx="525790" cy="146371"/>
            </a:xfrm>
            <a:prstGeom prst="rect">
              <a:avLst/>
            </a:prstGeom>
            <a:solidFill>
              <a:srgbClr val="8B8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30.0</a:t>
              </a:r>
              <a:endParaRPr lang="zh-CN" altLang="en-US" sz="1200" dirty="0"/>
            </a:p>
          </p:txBody>
        </p:sp>
        <p:cxnSp>
          <p:nvCxnSpPr>
            <p:cNvPr id="91" name="直接连接符 90"/>
            <p:cNvCxnSpPr/>
            <p:nvPr/>
          </p:nvCxnSpPr>
          <p:spPr>
            <a:xfrm>
              <a:off x="2331756" y="5526140"/>
              <a:ext cx="0" cy="2002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a:off x="2331756" y="5520907"/>
              <a:ext cx="0" cy="2002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9" name="直接连接符 288"/>
            <p:cNvCxnSpPr/>
            <p:nvPr/>
          </p:nvCxnSpPr>
          <p:spPr>
            <a:xfrm>
              <a:off x="2360488" y="5520907"/>
              <a:ext cx="0" cy="2002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3" name="文本框 112"/>
          <p:cNvSpPr txBox="1"/>
          <p:nvPr/>
        </p:nvSpPr>
        <p:spPr>
          <a:xfrm>
            <a:off x="9358139" y="5608173"/>
            <a:ext cx="967182" cy="276999"/>
          </a:xfrm>
          <a:prstGeom prst="rect">
            <a:avLst/>
          </a:prstGeom>
          <a:noFill/>
        </p:spPr>
        <p:txBody>
          <a:bodyPr wrap="square" rtlCol="0">
            <a:spAutoFit/>
          </a:bodyPr>
          <a:lstStyle/>
          <a:p>
            <a:pPr algn="ctr"/>
            <a:r>
              <a:rPr lang="en-US" altLang="zh-CN" sz="1200" dirty="0" smtClean="0"/>
              <a:t>Bluetooth</a:t>
            </a:r>
            <a:endParaRPr lang="zh-CN" altLang="en-US" sz="1200" dirty="0"/>
          </a:p>
        </p:txBody>
      </p:sp>
      <p:sp>
        <p:nvSpPr>
          <p:cNvPr id="290" name="文本框 289"/>
          <p:cNvSpPr txBox="1"/>
          <p:nvPr/>
        </p:nvSpPr>
        <p:spPr>
          <a:xfrm>
            <a:off x="9373843" y="5385987"/>
            <a:ext cx="530208" cy="276999"/>
          </a:xfrm>
          <a:prstGeom prst="rect">
            <a:avLst/>
          </a:prstGeom>
          <a:noFill/>
        </p:spPr>
        <p:txBody>
          <a:bodyPr wrap="square" rtlCol="0">
            <a:spAutoFit/>
          </a:bodyPr>
          <a:lstStyle/>
          <a:p>
            <a:pPr algn="ctr"/>
            <a:r>
              <a:rPr lang="en-US" altLang="zh-CN" sz="1200" dirty="0" smtClean="0"/>
              <a:t>RFID</a:t>
            </a:r>
            <a:endParaRPr lang="zh-CN" altLang="en-US" sz="1200" dirty="0"/>
          </a:p>
        </p:txBody>
      </p:sp>
      <p:sp>
        <p:nvSpPr>
          <p:cNvPr id="291" name="文本框 290"/>
          <p:cNvSpPr txBox="1"/>
          <p:nvPr/>
        </p:nvSpPr>
        <p:spPr>
          <a:xfrm>
            <a:off x="10096148" y="5385987"/>
            <a:ext cx="655167" cy="276999"/>
          </a:xfrm>
          <a:prstGeom prst="rect">
            <a:avLst/>
          </a:prstGeom>
          <a:noFill/>
        </p:spPr>
        <p:txBody>
          <a:bodyPr wrap="square" rtlCol="0">
            <a:spAutoFit/>
          </a:bodyPr>
          <a:lstStyle/>
          <a:p>
            <a:pPr algn="ctr"/>
            <a:r>
              <a:rPr lang="en-US" altLang="zh-CN" sz="1200" dirty="0" smtClean="0"/>
              <a:t>ZigBee</a:t>
            </a:r>
            <a:endParaRPr lang="zh-CN" altLang="en-US" sz="1200" dirty="0"/>
          </a:p>
        </p:txBody>
      </p:sp>
    </p:spTree>
    <p:extLst>
      <p:ext uri="{BB962C8B-B14F-4D97-AF65-F5344CB8AC3E}">
        <p14:creationId xmlns:p14="http://schemas.microsoft.com/office/powerpoint/2010/main" val="16953078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矩形 211">
            <a:extLst>
              <a:ext uri="{FF2B5EF4-FFF2-40B4-BE49-F238E27FC236}">
                <a16:creationId xmlns:a16="http://schemas.microsoft.com/office/drawing/2014/main" xmlns="" id="{659DFDE4-177D-4BB1-9601-8EB95C4E2487}"/>
              </a:ext>
            </a:extLst>
          </p:cNvPr>
          <p:cNvSpPr/>
          <p:nvPr/>
        </p:nvSpPr>
        <p:spPr bwMode="gray">
          <a:xfrm>
            <a:off x="953696" y="1086948"/>
            <a:ext cx="10038037" cy="2171159"/>
          </a:xfrm>
          <a:prstGeom prst="rect">
            <a:avLst/>
          </a:prstGeom>
          <a:solidFill>
            <a:srgbClr val="FFFFCC"/>
          </a:solidFill>
          <a:ln>
            <a:solidFill>
              <a:srgbClr val="FFD2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07" name="组合 206"/>
          <p:cNvGrpSpPr/>
          <p:nvPr/>
        </p:nvGrpSpPr>
        <p:grpSpPr bwMode="gray">
          <a:xfrm>
            <a:off x="953696" y="3387081"/>
            <a:ext cx="10298434" cy="2641105"/>
            <a:chOff x="1104420" y="3252779"/>
            <a:chExt cx="10298434" cy="2641105"/>
          </a:xfrm>
        </p:grpSpPr>
        <p:grpSp>
          <p:nvGrpSpPr>
            <p:cNvPr id="147" name="组合 146">
              <a:extLst>
                <a:ext uri="{FF2B5EF4-FFF2-40B4-BE49-F238E27FC236}">
                  <a16:creationId xmlns:a16="http://schemas.microsoft.com/office/drawing/2014/main" xmlns="" id="{B94FED27-431E-4165-955D-E61FD879A00C}"/>
                </a:ext>
              </a:extLst>
            </p:cNvPr>
            <p:cNvGrpSpPr/>
            <p:nvPr/>
          </p:nvGrpSpPr>
          <p:grpSpPr bwMode="gray">
            <a:xfrm>
              <a:off x="1104420" y="4694394"/>
              <a:ext cx="10038037" cy="1199490"/>
              <a:chOff x="902525" y="4227010"/>
              <a:chExt cx="10038037" cy="1199490"/>
            </a:xfrm>
          </p:grpSpPr>
          <p:sp>
            <p:nvSpPr>
              <p:cNvPr id="148" name="矩形 147">
                <a:extLst>
                  <a:ext uri="{FF2B5EF4-FFF2-40B4-BE49-F238E27FC236}">
                    <a16:creationId xmlns:a16="http://schemas.microsoft.com/office/drawing/2014/main" xmlns="" id="{C79DFC93-6776-4216-8CA5-0ADF5A2847BA}"/>
                  </a:ext>
                </a:extLst>
              </p:cNvPr>
              <p:cNvSpPr/>
              <p:nvPr/>
            </p:nvSpPr>
            <p:spPr bwMode="gray">
              <a:xfrm>
                <a:off x="902525" y="4227010"/>
                <a:ext cx="10038037" cy="1199490"/>
              </a:xfrm>
              <a:prstGeom prst="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圆角矩形 158">
                <a:extLst>
                  <a:ext uri="{FF2B5EF4-FFF2-40B4-BE49-F238E27FC236}">
                    <a16:creationId xmlns:a16="http://schemas.microsoft.com/office/drawing/2014/main" xmlns="" id="{9EE52217-DE4F-46F8-A228-71A0096A1855}"/>
                  </a:ext>
                </a:extLst>
              </p:cNvPr>
              <p:cNvSpPr/>
              <p:nvPr/>
            </p:nvSpPr>
            <p:spPr bwMode="gray">
              <a:xfrm>
                <a:off x="2055071" y="4548877"/>
                <a:ext cx="8050292" cy="804042"/>
              </a:xfrm>
              <a:prstGeom prst="roundRect">
                <a:avLst>
                  <a:gd name="adj" fmla="val 10120"/>
                </a:avLst>
              </a:prstGeom>
              <a:solidFill>
                <a:srgbClr val="FFFFFF"/>
              </a:solidFill>
              <a:ln>
                <a:solidFill>
                  <a:srgbClr val="FFFFFF">
                    <a:lumMod val="75000"/>
                  </a:srgbClr>
                </a:solidFill>
              </a:ln>
              <a:effectLst/>
            </p:spPr>
            <p:txBody>
              <a:bodyPr lIns="121910" tIns="60956" rIns="121910" bIns="60956" anchor="ctr"/>
              <a:lstStyle/>
              <a:p>
                <a:pPr marL="0" marR="0" lvl="0" indent="0" algn="ctr" defTabSz="913763"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0" name="Shape 377">
                <a:extLst>
                  <a:ext uri="{FF2B5EF4-FFF2-40B4-BE49-F238E27FC236}">
                    <a16:creationId xmlns:a16="http://schemas.microsoft.com/office/drawing/2014/main" xmlns="" id="{82424068-61DB-48B7-803A-86EC3A06F88E}"/>
                  </a:ext>
                </a:extLst>
              </p:cNvPr>
              <p:cNvSpPr/>
              <p:nvPr/>
            </p:nvSpPr>
            <p:spPr bwMode="gray">
              <a:xfrm>
                <a:off x="3457850" y="4262960"/>
                <a:ext cx="4755166" cy="264615"/>
              </a:xfrm>
              <a:prstGeom prst="rect">
                <a:avLst/>
              </a:prstGeom>
              <a:solidFill>
                <a:srgbClr val="BEE9EE"/>
              </a:solidFill>
              <a:ln w="12700">
                <a:noFill/>
                <a:prstDash val="dash"/>
                <a:miter lim="400000"/>
              </a:ln>
              <a:extLst>
                <a:ext uri="{C572A759-6A51-4108-AA02-DFA0A04FC94B}">
                  <ma14:wrappingTextBoxFlag xmlns="" xmlns:ma14="http://schemas.microsoft.com/office/mac/drawingml/2011/main" val="1"/>
                </a:ext>
              </a:extLst>
            </p:spPr>
            <p:txBody>
              <a:bodyPr wrap="square" lIns="115774" tIns="115774" rIns="115774" bIns="115774" anchor="ctr">
                <a:noAutofit/>
              </a:bodyPr>
              <a:lstStyle>
                <a:lvl1pPr defTabSz="457200">
                  <a:lnSpc>
                    <a:spcPct val="120000"/>
                  </a:lnSpc>
                  <a:defRPr sz="6000" b="1">
                    <a:solidFill>
                      <a:srgbClr val="F7A837"/>
                    </a:solidFill>
                    <a:latin typeface="AkkuratPro-Bold"/>
                    <a:ea typeface="AkkuratPro-Bold"/>
                    <a:cs typeface="AkkuratPro-Bold"/>
                    <a:sym typeface="AkkuratPro-Bold"/>
                  </a:defRPr>
                </a:lvl1pPr>
              </a:lstStyle>
              <a:p>
                <a:pPr algn="ctr" hangingPunct="0">
                  <a:lnSpc>
                    <a:spcPct val="100000"/>
                  </a:lnSpc>
                </a:pPr>
                <a:r>
                  <a:rPr lang="en-US" altLang="zh-CN" sz="1200" kern="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NETCONF/YANG/Telemetry/Syslog/SNMP/</a:t>
                </a:r>
                <a:r>
                  <a:rPr lang="en-US" altLang="zh-CN" sz="1200" kern="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Netstream</a:t>
                </a:r>
                <a:endParaRPr lang="en-US" altLang="zh-CN" sz="1200" kern="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151" name="组合 150">
                <a:extLst>
                  <a:ext uri="{FF2B5EF4-FFF2-40B4-BE49-F238E27FC236}">
                    <a16:creationId xmlns:a16="http://schemas.microsoft.com/office/drawing/2014/main" xmlns="" id="{F997C661-1496-48FF-B042-9EFCC985B277}"/>
                  </a:ext>
                </a:extLst>
              </p:cNvPr>
              <p:cNvGrpSpPr/>
              <p:nvPr/>
            </p:nvGrpSpPr>
            <p:grpSpPr bwMode="gray">
              <a:xfrm>
                <a:off x="6737655" y="4670058"/>
                <a:ext cx="659581" cy="742417"/>
                <a:chOff x="5837848" y="4931308"/>
                <a:chExt cx="659581" cy="742417"/>
              </a:xfrm>
            </p:grpSpPr>
            <p:sp>
              <p:nvSpPr>
                <p:cNvPr id="163" name="文本框 162">
                  <a:extLst>
                    <a:ext uri="{FF2B5EF4-FFF2-40B4-BE49-F238E27FC236}">
                      <a16:creationId xmlns:a16="http://schemas.microsoft.com/office/drawing/2014/main" xmlns="" id="{C3681C8F-CAF2-40E5-AC7A-B72A81EBE111}"/>
                    </a:ext>
                  </a:extLst>
                </p:cNvPr>
                <p:cNvSpPr txBox="1"/>
                <p:nvPr/>
              </p:nvSpPr>
              <p:spPr bwMode="gray">
                <a:xfrm>
                  <a:off x="5837848" y="5396726"/>
                  <a:ext cx="659581"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交换机</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4" name="图片 163" descr="接入交换机.png">
                  <a:extLst>
                    <a:ext uri="{FF2B5EF4-FFF2-40B4-BE49-F238E27FC236}">
                      <a16:creationId xmlns:a16="http://schemas.microsoft.com/office/drawing/2014/main" xmlns="" id="{6A8E1E46-4E37-429C-A8BF-4EEB8AC77751}"/>
                    </a:ext>
                  </a:extLst>
                </p:cNvPr>
                <p:cNvPicPr>
                  <a:picLocks noChangeAspect="1"/>
                </p:cNvPicPr>
                <p:nvPr/>
              </p:nvPicPr>
              <p:blipFill>
                <a:blip r:embed="rId3" cstate="print"/>
                <a:stretch>
                  <a:fillRect/>
                </a:stretch>
              </p:blipFill>
              <p:spPr bwMode="gray">
                <a:xfrm>
                  <a:off x="5901361" y="4931308"/>
                  <a:ext cx="540000" cy="441818"/>
                </a:xfrm>
                <a:prstGeom prst="rect">
                  <a:avLst/>
                </a:prstGeom>
                <a:effectLst/>
              </p:spPr>
            </p:pic>
          </p:grpSp>
          <p:grpSp>
            <p:nvGrpSpPr>
              <p:cNvPr id="152" name="组合 151">
                <a:extLst>
                  <a:ext uri="{FF2B5EF4-FFF2-40B4-BE49-F238E27FC236}">
                    <a16:creationId xmlns:a16="http://schemas.microsoft.com/office/drawing/2014/main" xmlns="" id="{8910FAE6-1191-408F-B434-64CA5687E1C2}"/>
                  </a:ext>
                </a:extLst>
              </p:cNvPr>
              <p:cNvGrpSpPr/>
              <p:nvPr/>
            </p:nvGrpSpPr>
            <p:grpSpPr bwMode="gray">
              <a:xfrm>
                <a:off x="2770799" y="4661762"/>
                <a:ext cx="744287" cy="743436"/>
                <a:chOff x="3032055" y="4923012"/>
                <a:chExt cx="744287" cy="743436"/>
              </a:xfrm>
            </p:grpSpPr>
            <p:sp>
              <p:nvSpPr>
                <p:cNvPr id="161" name="文本框 160">
                  <a:extLst>
                    <a:ext uri="{FF2B5EF4-FFF2-40B4-BE49-F238E27FC236}">
                      <a16:creationId xmlns:a16="http://schemas.microsoft.com/office/drawing/2014/main" xmlns="" id="{BD89062E-A419-4DF5-AF93-550A590A6EF4}"/>
                    </a:ext>
                  </a:extLst>
                </p:cNvPr>
                <p:cNvSpPr txBox="1"/>
                <p:nvPr/>
              </p:nvSpPr>
              <p:spPr bwMode="gray">
                <a:xfrm>
                  <a:off x="3032055" y="5389449"/>
                  <a:ext cx="744287"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防火墙</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2" name="图片 161" descr="防火墙.png">
                  <a:extLst>
                    <a:ext uri="{FF2B5EF4-FFF2-40B4-BE49-F238E27FC236}">
                      <a16:creationId xmlns:a16="http://schemas.microsoft.com/office/drawing/2014/main" xmlns="" id="{C6AFD5AC-97CA-4E74-BB0A-2106677B975D}"/>
                    </a:ext>
                  </a:extLst>
                </p:cNvPr>
                <p:cNvPicPr>
                  <a:picLocks noChangeAspect="1"/>
                </p:cNvPicPr>
                <p:nvPr/>
              </p:nvPicPr>
              <p:blipFill>
                <a:blip r:embed="rId4" cstate="print"/>
                <a:stretch>
                  <a:fillRect/>
                </a:stretch>
              </p:blipFill>
              <p:spPr bwMode="gray">
                <a:xfrm>
                  <a:off x="3124506" y="4923012"/>
                  <a:ext cx="540000" cy="441818"/>
                </a:xfrm>
                <a:prstGeom prst="rect">
                  <a:avLst/>
                </a:prstGeom>
                <a:effectLst/>
              </p:spPr>
            </p:pic>
          </p:grpSp>
          <p:grpSp>
            <p:nvGrpSpPr>
              <p:cNvPr id="153" name="组合 152">
                <a:extLst>
                  <a:ext uri="{FF2B5EF4-FFF2-40B4-BE49-F238E27FC236}">
                    <a16:creationId xmlns:a16="http://schemas.microsoft.com/office/drawing/2014/main" xmlns="" id="{F29EC75F-84E0-4131-891C-F694E4E1A4B5}"/>
                  </a:ext>
                </a:extLst>
              </p:cNvPr>
              <p:cNvGrpSpPr/>
              <p:nvPr/>
            </p:nvGrpSpPr>
            <p:grpSpPr bwMode="gray">
              <a:xfrm>
                <a:off x="8500349" y="4661963"/>
                <a:ext cx="1416960" cy="764352"/>
                <a:chOff x="6920932" y="4923213"/>
                <a:chExt cx="1416960" cy="764352"/>
              </a:xfrm>
            </p:grpSpPr>
            <p:pic>
              <p:nvPicPr>
                <p:cNvPr id="160" name="图片 159" descr="AP.png">
                  <a:extLst>
                    <a:ext uri="{FF2B5EF4-FFF2-40B4-BE49-F238E27FC236}">
                      <a16:creationId xmlns:a16="http://schemas.microsoft.com/office/drawing/2014/main" xmlns="" id="{FAD78794-EE94-4E31-B20C-24DDEA1057DE}"/>
                    </a:ext>
                  </a:extLst>
                </p:cNvPr>
                <p:cNvPicPr>
                  <a:picLocks noChangeAspect="1"/>
                </p:cNvPicPr>
                <p:nvPr/>
              </p:nvPicPr>
              <p:blipFill>
                <a:blip r:embed="rId5" cstate="print"/>
                <a:stretch>
                  <a:fillRect/>
                </a:stretch>
              </p:blipFill>
              <p:spPr bwMode="gray">
                <a:xfrm>
                  <a:off x="7399844" y="4923213"/>
                  <a:ext cx="540000" cy="441818"/>
                </a:xfrm>
                <a:prstGeom prst="rect">
                  <a:avLst/>
                </a:prstGeom>
                <a:effectLst/>
              </p:spPr>
            </p:pic>
            <p:sp>
              <p:nvSpPr>
                <p:cNvPr id="159" name="文本框 158">
                  <a:extLst>
                    <a:ext uri="{FF2B5EF4-FFF2-40B4-BE49-F238E27FC236}">
                      <a16:creationId xmlns:a16="http://schemas.microsoft.com/office/drawing/2014/main" xmlns="" id="{654A941B-12D4-4DC5-A468-E96F250E3671}"/>
                    </a:ext>
                  </a:extLst>
                </p:cNvPr>
                <p:cNvSpPr txBox="1"/>
                <p:nvPr/>
              </p:nvSpPr>
              <p:spPr bwMode="gray">
                <a:xfrm>
                  <a:off x="6920932" y="5410566"/>
                  <a:ext cx="1416960"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WLAN AP</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54" name="组合 153">
                <a:extLst>
                  <a:ext uri="{FF2B5EF4-FFF2-40B4-BE49-F238E27FC236}">
                    <a16:creationId xmlns:a16="http://schemas.microsoft.com/office/drawing/2014/main" xmlns="" id="{57F9CCC1-3F5D-45D3-9A25-FD36BD853151}"/>
                  </a:ext>
                </a:extLst>
              </p:cNvPr>
              <p:cNvGrpSpPr/>
              <p:nvPr/>
            </p:nvGrpSpPr>
            <p:grpSpPr bwMode="gray">
              <a:xfrm>
                <a:off x="4827553" y="4670255"/>
                <a:ext cx="609509" cy="726903"/>
                <a:chOff x="4421638" y="4931505"/>
                <a:chExt cx="609509" cy="726903"/>
              </a:xfrm>
            </p:grpSpPr>
            <p:sp>
              <p:nvSpPr>
                <p:cNvPr id="157" name="文本框 156">
                  <a:extLst>
                    <a:ext uri="{FF2B5EF4-FFF2-40B4-BE49-F238E27FC236}">
                      <a16:creationId xmlns:a16="http://schemas.microsoft.com/office/drawing/2014/main" xmlns="" id="{23753D59-CDA4-476B-BB02-124DD90ECA0F}"/>
                    </a:ext>
                  </a:extLst>
                </p:cNvPr>
                <p:cNvSpPr txBox="1"/>
                <p:nvPr/>
              </p:nvSpPr>
              <p:spPr bwMode="gray">
                <a:xfrm>
                  <a:off x="4421638" y="5381409"/>
                  <a:ext cx="609509" cy="276999"/>
                </a:xfrm>
                <a:prstGeom prst="rect">
                  <a:avLst/>
                </a:prstGeom>
                <a:noFill/>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8" name="Picture 12" descr="E:\2016.01\1.12 扁平化图标\蓝色\AR-蓝色最新-40.png">
                  <a:extLst>
                    <a:ext uri="{FF2B5EF4-FFF2-40B4-BE49-F238E27FC236}">
                      <a16:creationId xmlns:a16="http://schemas.microsoft.com/office/drawing/2014/main" xmlns="" id="{E2A85014-4FAB-4980-8E2B-941DA59652F9}"/>
                    </a:ext>
                  </a:extLst>
                </p:cNvPr>
                <p:cNvPicPr>
                  <a:picLocks noChangeAspect="1" noChangeArrowheads="1"/>
                </p:cNvPicPr>
                <p:nvPr/>
              </p:nvPicPr>
              <p:blipFill>
                <a:blip r:embed="rId6" cstate="print"/>
                <a:srcRect/>
                <a:stretch>
                  <a:fillRect/>
                </a:stretch>
              </p:blipFill>
              <p:spPr bwMode="gray">
                <a:xfrm>
                  <a:off x="4459206" y="4931505"/>
                  <a:ext cx="540000" cy="441818"/>
                </a:xfrm>
                <a:prstGeom prst="rect">
                  <a:avLst/>
                </a:prstGeom>
                <a:noFill/>
                <a:effectLst/>
              </p:spPr>
            </p:pic>
          </p:grpSp>
          <p:sp>
            <p:nvSpPr>
              <p:cNvPr id="155" name="椭圆 154">
                <a:extLst>
                  <a:ext uri="{FF2B5EF4-FFF2-40B4-BE49-F238E27FC236}">
                    <a16:creationId xmlns:a16="http://schemas.microsoft.com/office/drawing/2014/main" xmlns="" id="{517EF3C1-83F4-40E2-8CC6-E7891437D4E6}"/>
                  </a:ext>
                </a:extLst>
              </p:cNvPr>
              <p:cNvSpPr/>
              <p:nvPr/>
            </p:nvSpPr>
            <p:spPr bwMode="gray">
              <a:xfrm>
                <a:off x="3695786" y="4319757"/>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5</a:t>
                </a:r>
              </a:p>
            </p:txBody>
          </p:sp>
          <p:sp>
            <p:nvSpPr>
              <p:cNvPr id="156" name="文本框 155">
                <a:extLst>
                  <a:ext uri="{FF2B5EF4-FFF2-40B4-BE49-F238E27FC236}">
                    <a16:creationId xmlns:a16="http://schemas.microsoft.com/office/drawing/2014/main" xmlns="" id="{A244A975-1976-42A9-A5A9-15872AEFA8E9}"/>
                  </a:ext>
                </a:extLst>
              </p:cNvPr>
              <p:cNvSpPr txBox="1"/>
              <p:nvPr/>
            </p:nvSpPr>
            <p:spPr bwMode="gray">
              <a:xfrm>
                <a:off x="1004096" y="4530378"/>
                <a:ext cx="990310"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网络层</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65" name="组合 164">
              <a:extLst>
                <a:ext uri="{FF2B5EF4-FFF2-40B4-BE49-F238E27FC236}">
                  <a16:creationId xmlns:a16="http://schemas.microsoft.com/office/drawing/2014/main" xmlns="" id="{F4A56635-F926-4E7E-A5BB-E8096F2B26D4}"/>
                </a:ext>
              </a:extLst>
            </p:cNvPr>
            <p:cNvGrpSpPr/>
            <p:nvPr/>
          </p:nvGrpSpPr>
          <p:grpSpPr bwMode="gray">
            <a:xfrm>
              <a:off x="1112409" y="3252779"/>
              <a:ext cx="10038037" cy="1410320"/>
              <a:chOff x="902525" y="2793968"/>
              <a:chExt cx="10038037" cy="1410320"/>
            </a:xfrm>
          </p:grpSpPr>
          <p:sp>
            <p:nvSpPr>
              <p:cNvPr id="166" name="矩形 165">
                <a:extLst>
                  <a:ext uri="{FF2B5EF4-FFF2-40B4-BE49-F238E27FC236}">
                    <a16:creationId xmlns:a16="http://schemas.microsoft.com/office/drawing/2014/main" xmlns="" id="{A319C336-D868-47B0-B2C7-990036B011D8}"/>
                  </a:ext>
                </a:extLst>
              </p:cNvPr>
              <p:cNvSpPr/>
              <p:nvPr/>
            </p:nvSpPr>
            <p:spPr bwMode="gray">
              <a:xfrm>
                <a:off x="902525" y="2793968"/>
                <a:ext cx="10038037" cy="1410320"/>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圆角矩形 172">
                <a:extLst>
                  <a:ext uri="{FF2B5EF4-FFF2-40B4-BE49-F238E27FC236}">
                    <a16:creationId xmlns:a16="http://schemas.microsoft.com/office/drawing/2014/main" xmlns="" id="{89F3D65B-B5B6-4E70-8310-B2D455C72E29}"/>
                  </a:ext>
                </a:extLst>
              </p:cNvPr>
              <p:cNvSpPr/>
              <p:nvPr/>
            </p:nvSpPr>
            <p:spPr bwMode="gray">
              <a:xfrm>
                <a:off x="1923033" y="2936701"/>
                <a:ext cx="8446171" cy="1131050"/>
              </a:xfrm>
              <a:prstGeom prst="roundRect">
                <a:avLst>
                  <a:gd name="adj" fmla="val 10120"/>
                </a:avLst>
              </a:prstGeom>
              <a:solidFill>
                <a:srgbClr val="FFFFFF"/>
              </a:solidFill>
              <a:ln>
                <a:solidFill>
                  <a:srgbClr val="FFFFFF">
                    <a:lumMod val="75000"/>
                  </a:srgbClr>
                </a:solidFill>
              </a:ln>
              <a:effectLst/>
            </p:spPr>
            <p:txBody>
              <a:bodyPr lIns="121910" tIns="60956" rIns="121910" bIns="60956" anchor="ctr"/>
              <a:lstStyle/>
              <a:p>
                <a:pPr marL="0" marR="0" lvl="0" indent="0" algn="ctr" defTabSz="913763"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69" name="文本框 168">
                <a:extLst>
                  <a:ext uri="{FF2B5EF4-FFF2-40B4-BE49-F238E27FC236}">
                    <a16:creationId xmlns:a16="http://schemas.microsoft.com/office/drawing/2014/main" xmlns="" id="{91ECFA9C-D3D6-4D87-B78B-796A843ED2E0}"/>
                  </a:ext>
                </a:extLst>
              </p:cNvPr>
              <p:cNvSpPr txBox="1"/>
              <p:nvPr/>
            </p:nvSpPr>
            <p:spPr bwMode="gray">
              <a:xfrm>
                <a:off x="945593" y="3204008"/>
                <a:ext cx="990310"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平台层</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TextBox 189">
                <a:extLst>
                  <a:ext uri="{FF2B5EF4-FFF2-40B4-BE49-F238E27FC236}">
                    <a16:creationId xmlns:a16="http://schemas.microsoft.com/office/drawing/2014/main" xmlns="" id="{A29B1B28-C41D-476B-8964-0DB57FB37710}"/>
                  </a:ext>
                </a:extLst>
              </p:cNvPr>
              <p:cNvSpPr txBox="1"/>
              <p:nvPr/>
            </p:nvSpPr>
            <p:spPr bwMode="gray">
              <a:xfrm>
                <a:off x="5075899" y="3008081"/>
                <a:ext cx="1318788" cy="272518"/>
              </a:xfrm>
              <a:prstGeom prst="rect">
                <a:avLst/>
              </a:prstGeom>
              <a:noFill/>
            </p:spPr>
            <p:txBody>
              <a:bodyPr wrap="square" lIns="87000" tIns="43501" rIns="87000" bIns="43501" rtlCol="0">
                <a:spAutoFit/>
              </a:bodyPr>
              <a:lstStyle/>
              <a:p>
                <a:pPr defTabSz="1035965" fontAlgn="auto">
                  <a:spcBef>
                    <a:spcPts val="0"/>
                  </a:spcBef>
                  <a:spcAft>
                    <a:spcPts val="0"/>
                  </a:spcAft>
                  <a:defRPr/>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增值业务</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圆角矩形 143">
                <a:extLst>
                  <a:ext uri="{FF2B5EF4-FFF2-40B4-BE49-F238E27FC236}">
                    <a16:creationId xmlns:a16="http://schemas.microsoft.com/office/drawing/2014/main" xmlns="" id="{22A805AE-8BF8-4A2B-AABC-419FF68D16C5}"/>
                  </a:ext>
                </a:extLst>
              </p:cNvPr>
              <p:cNvSpPr/>
              <p:nvPr/>
            </p:nvSpPr>
            <p:spPr bwMode="gray">
              <a:xfrm>
                <a:off x="6878140" y="3280599"/>
                <a:ext cx="1532746" cy="212907"/>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Portal+Radius</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圆角矩形 144">
                <a:extLst>
                  <a:ext uri="{FF2B5EF4-FFF2-40B4-BE49-F238E27FC236}">
                    <a16:creationId xmlns:a16="http://schemas.microsoft.com/office/drawing/2014/main" xmlns="" id="{CDC0067C-1B95-488F-BB26-7EF51F72B8B0}"/>
                  </a:ext>
                </a:extLst>
              </p:cNvPr>
              <p:cNvSpPr/>
              <p:nvPr/>
            </p:nvSpPr>
            <p:spPr bwMode="gray">
              <a:xfrm>
                <a:off x="6896818" y="3571270"/>
                <a:ext cx="1513569" cy="212907"/>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Authorization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3" name="组合 172">
                <a:extLst>
                  <a:ext uri="{FF2B5EF4-FFF2-40B4-BE49-F238E27FC236}">
                    <a16:creationId xmlns:a16="http://schemas.microsoft.com/office/drawing/2014/main" xmlns="" id="{32C47168-48AC-4E2C-86BE-BF4D6102AD32}"/>
                  </a:ext>
                </a:extLst>
              </p:cNvPr>
              <p:cNvGrpSpPr/>
              <p:nvPr/>
            </p:nvGrpSpPr>
            <p:grpSpPr bwMode="gray">
              <a:xfrm>
                <a:off x="2067236" y="3022023"/>
                <a:ext cx="2228053" cy="801550"/>
                <a:chOff x="224412" y="2237014"/>
                <a:chExt cx="2228053" cy="801550"/>
              </a:xfrm>
            </p:grpSpPr>
            <p:sp>
              <p:nvSpPr>
                <p:cNvPr id="184" name="矩形 183">
                  <a:extLst>
                    <a:ext uri="{FF2B5EF4-FFF2-40B4-BE49-F238E27FC236}">
                      <a16:creationId xmlns:a16="http://schemas.microsoft.com/office/drawing/2014/main" xmlns="" id="{40408AC7-DAB0-49BD-8F99-51B931B5CD11}"/>
                    </a:ext>
                  </a:extLst>
                </p:cNvPr>
                <p:cNvSpPr/>
                <p:nvPr/>
              </p:nvSpPr>
              <p:spPr bwMode="gray">
                <a:xfrm>
                  <a:off x="224412" y="2237014"/>
                  <a:ext cx="2228053" cy="801550"/>
                </a:xfrm>
                <a:prstGeom prst="rect">
                  <a:avLst/>
                </a:prstGeom>
                <a:noFill/>
                <a:ln w="9525">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5" name="TextBox 189">
                  <a:extLst>
                    <a:ext uri="{FF2B5EF4-FFF2-40B4-BE49-F238E27FC236}">
                      <a16:creationId xmlns:a16="http://schemas.microsoft.com/office/drawing/2014/main" xmlns="" id="{461E4BA5-5343-487D-BE3C-EF22776AF043}"/>
                    </a:ext>
                  </a:extLst>
                </p:cNvPr>
                <p:cNvSpPr txBox="1"/>
                <p:nvPr/>
              </p:nvSpPr>
              <p:spPr bwMode="gray">
                <a:xfrm>
                  <a:off x="546580" y="2241927"/>
                  <a:ext cx="1784215" cy="272518"/>
                </a:xfrm>
                <a:prstGeom prst="rect">
                  <a:avLst/>
                </a:prstGeom>
                <a:noFill/>
                <a:effectLst/>
              </p:spPr>
              <p:txBody>
                <a:bodyPr wrap="square" lIns="87000" tIns="43501" rIns="87000" bIns="43501" rtlCol="0">
                  <a:spAutoFit/>
                </a:bodyPr>
                <a:lstStyle/>
                <a:p>
                  <a:pPr defTabSz="1035965" fontAlgn="auto">
                    <a:spcBef>
                      <a:spcPts val="0"/>
                    </a:spcBef>
                    <a:spcAft>
                      <a:spcPts val="0"/>
                    </a:spcAft>
                    <a:defRPr/>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      基础网络</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6" name="圆角矩形 125">
                  <a:extLst>
                    <a:ext uri="{FF2B5EF4-FFF2-40B4-BE49-F238E27FC236}">
                      <a16:creationId xmlns:a16="http://schemas.microsoft.com/office/drawing/2014/main" xmlns="" id="{08D825E4-7302-4860-9890-9CDBF711E741}"/>
                    </a:ext>
                  </a:extLst>
                </p:cNvPr>
                <p:cNvSpPr/>
                <p:nvPr/>
              </p:nvSpPr>
              <p:spPr bwMode="gray">
                <a:xfrm>
                  <a:off x="283914" y="2516889"/>
                  <a:ext cx="1040652"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基础服务</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7" name="圆角矩形 139">
                  <a:extLst>
                    <a:ext uri="{FF2B5EF4-FFF2-40B4-BE49-F238E27FC236}">
                      <a16:creationId xmlns:a16="http://schemas.microsoft.com/office/drawing/2014/main" xmlns="" id="{3BAE6B33-2FAC-45F1-9C59-88DBEC930E85}"/>
                    </a:ext>
                  </a:extLst>
                </p:cNvPr>
                <p:cNvSpPr/>
                <p:nvPr/>
              </p:nvSpPr>
              <p:spPr bwMode="gray">
                <a:xfrm>
                  <a:off x="267359" y="2768448"/>
                  <a:ext cx="1060897" cy="20413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运维监控</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圆角矩形 140">
                  <a:extLst>
                    <a:ext uri="{FF2B5EF4-FFF2-40B4-BE49-F238E27FC236}">
                      <a16:creationId xmlns:a16="http://schemas.microsoft.com/office/drawing/2014/main" xmlns="" id="{078E5BA5-FA59-4376-9DB5-9923B0C9C83D}"/>
                    </a:ext>
                  </a:extLst>
                </p:cNvPr>
                <p:cNvSpPr/>
                <p:nvPr/>
              </p:nvSpPr>
              <p:spPr bwMode="gray">
                <a:xfrm>
                  <a:off x="1359621" y="2509269"/>
                  <a:ext cx="1059067"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网络配置</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9" name="圆角矩形 142">
                  <a:extLst>
                    <a:ext uri="{FF2B5EF4-FFF2-40B4-BE49-F238E27FC236}">
                      <a16:creationId xmlns:a16="http://schemas.microsoft.com/office/drawing/2014/main" xmlns="" id="{CFD12BDA-7171-449F-8E10-54A67C3F81C6}"/>
                    </a:ext>
                  </a:extLst>
                </p:cNvPr>
                <p:cNvSpPr/>
                <p:nvPr/>
              </p:nvSpPr>
              <p:spPr bwMode="gray">
                <a:xfrm>
                  <a:off x="1351382" y="2780668"/>
                  <a:ext cx="1071919" cy="20413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策略服务</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74" name="TextBox 189">
                <a:extLst>
                  <a:ext uri="{FF2B5EF4-FFF2-40B4-BE49-F238E27FC236}">
                    <a16:creationId xmlns:a16="http://schemas.microsoft.com/office/drawing/2014/main" xmlns="" id="{D5793195-A5E2-4407-9557-FDEFBE82ED60}"/>
                  </a:ext>
                </a:extLst>
              </p:cNvPr>
              <p:cNvSpPr txBox="1"/>
              <p:nvPr/>
            </p:nvSpPr>
            <p:spPr bwMode="gray">
              <a:xfrm>
                <a:off x="7196866" y="3006668"/>
                <a:ext cx="1318788" cy="272518"/>
              </a:xfrm>
              <a:prstGeom prst="rect">
                <a:avLst/>
              </a:prstGeom>
              <a:noFill/>
            </p:spPr>
            <p:txBody>
              <a:bodyPr wrap="square" lIns="87000" tIns="43501" rIns="87000" bIns="43501" rtlCol="0">
                <a:spAutoFit/>
              </a:bodyPr>
              <a:lstStyle/>
              <a:p>
                <a:pPr defTabSz="1035965" fontAlgn="auto">
                  <a:spcBef>
                    <a:spcPts val="0"/>
                  </a:spcBef>
                  <a:spcAft>
                    <a:spcPts val="0"/>
                  </a:spcAft>
                  <a:defRPr/>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三方认证</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圆角矩形 117">
                <a:extLst>
                  <a:ext uri="{FF2B5EF4-FFF2-40B4-BE49-F238E27FC236}">
                    <a16:creationId xmlns:a16="http://schemas.microsoft.com/office/drawing/2014/main" xmlns="" id="{6AF1FCD5-5F9D-4A46-A5CA-A5F704AD43DE}"/>
                  </a:ext>
                </a:extLst>
              </p:cNvPr>
              <p:cNvSpPr/>
              <p:nvPr/>
            </p:nvSpPr>
            <p:spPr bwMode="gray">
              <a:xfrm>
                <a:off x="4451909" y="3319599"/>
                <a:ext cx="1098415"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终端数据</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圆角矩形 119">
                <a:extLst>
                  <a:ext uri="{FF2B5EF4-FFF2-40B4-BE49-F238E27FC236}">
                    <a16:creationId xmlns:a16="http://schemas.microsoft.com/office/drawing/2014/main" xmlns="" id="{FC4599B6-7E1C-4EBA-B098-607C1BBEAABF}"/>
                  </a:ext>
                </a:extLst>
              </p:cNvPr>
              <p:cNvSpPr/>
              <p:nvPr/>
            </p:nvSpPr>
            <p:spPr bwMode="gray">
              <a:xfrm>
                <a:off x="4447693" y="3574088"/>
                <a:ext cx="1098415"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流量数据</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圆角矩形 120">
                <a:extLst>
                  <a:ext uri="{FF2B5EF4-FFF2-40B4-BE49-F238E27FC236}">
                    <a16:creationId xmlns:a16="http://schemas.microsoft.com/office/drawing/2014/main" xmlns="" id="{E4B3B4A2-B0A8-412C-821A-A9775E2EF96E}"/>
                  </a:ext>
                </a:extLst>
              </p:cNvPr>
              <p:cNvSpPr/>
              <p:nvPr/>
            </p:nvSpPr>
            <p:spPr bwMode="gray">
              <a:xfrm>
                <a:off x="5573499" y="3311767"/>
                <a:ext cx="1098415"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应用数据</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8" name="组合 177">
                <a:extLst>
                  <a:ext uri="{FF2B5EF4-FFF2-40B4-BE49-F238E27FC236}">
                    <a16:creationId xmlns:a16="http://schemas.microsoft.com/office/drawing/2014/main" xmlns="" id="{1CE00617-B984-4ADC-919E-C5F52F72ECCD}"/>
                  </a:ext>
                </a:extLst>
              </p:cNvPr>
              <p:cNvGrpSpPr/>
              <p:nvPr/>
            </p:nvGrpSpPr>
            <p:grpSpPr bwMode="gray">
              <a:xfrm>
                <a:off x="8760850" y="3003012"/>
                <a:ext cx="1436268" cy="923013"/>
                <a:chOff x="8321714" y="2935477"/>
                <a:chExt cx="1436268" cy="923013"/>
              </a:xfrm>
            </p:grpSpPr>
            <p:sp>
              <p:nvSpPr>
                <p:cNvPr id="180" name="TextBox 189">
                  <a:extLst>
                    <a:ext uri="{FF2B5EF4-FFF2-40B4-BE49-F238E27FC236}">
                      <a16:creationId xmlns:a16="http://schemas.microsoft.com/office/drawing/2014/main" xmlns="" id="{01D730F0-ADEC-4349-BC0B-F1FC92626F23}"/>
                    </a:ext>
                  </a:extLst>
                </p:cNvPr>
                <p:cNvSpPr txBox="1"/>
                <p:nvPr/>
              </p:nvSpPr>
              <p:spPr bwMode="gray">
                <a:xfrm>
                  <a:off x="8439194" y="2935477"/>
                  <a:ext cx="1318788" cy="272518"/>
                </a:xfrm>
                <a:prstGeom prst="rect">
                  <a:avLst/>
                </a:prstGeom>
                <a:noFill/>
              </p:spPr>
              <p:txBody>
                <a:bodyPr wrap="square" lIns="87000" tIns="43501" rIns="87000" bIns="43501" rtlCol="0">
                  <a:spAutoFit/>
                </a:bodyPr>
                <a:lstStyle/>
                <a:p>
                  <a:pPr defTabSz="1035965" fontAlgn="auto">
                    <a:spcBef>
                      <a:spcPts val="0"/>
                    </a:spcBef>
                    <a:spcAft>
                      <a:spcPts val="0"/>
                    </a:spcAft>
                    <a:defRPr/>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位置服务</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1" name="圆角矩形 121">
                  <a:extLst>
                    <a:ext uri="{FF2B5EF4-FFF2-40B4-BE49-F238E27FC236}">
                      <a16:creationId xmlns:a16="http://schemas.microsoft.com/office/drawing/2014/main" xmlns="" id="{0FD662FA-EA2E-4DC5-B461-060F2BD089A7}"/>
                    </a:ext>
                  </a:extLst>
                </p:cNvPr>
                <p:cNvSpPr/>
                <p:nvPr/>
              </p:nvSpPr>
              <p:spPr bwMode="gray">
                <a:xfrm>
                  <a:off x="8321714" y="3206465"/>
                  <a:ext cx="1131435" cy="20413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平台</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RSSI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2" name="圆角矩形 124">
                  <a:extLst>
                    <a:ext uri="{FF2B5EF4-FFF2-40B4-BE49-F238E27FC236}">
                      <a16:creationId xmlns:a16="http://schemas.microsoft.com/office/drawing/2014/main" xmlns="" id="{B29BDEBA-1059-412E-A17D-5380872A518A}"/>
                    </a:ext>
                  </a:extLst>
                </p:cNvPr>
                <p:cNvSpPr/>
                <p:nvPr/>
              </p:nvSpPr>
              <p:spPr bwMode="gray">
                <a:xfrm>
                  <a:off x="8323046" y="3438096"/>
                  <a:ext cx="1131435" cy="20413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AP RSSI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3" name="圆角矩形 151">
                  <a:extLst>
                    <a:ext uri="{FF2B5EF4-FFF2-40B4-BE49-F238E27FC236}">
                      <a16:creationId xmlns:a16="http://schemas.microsoft.com/office/drawing/2014/main" xmlns="" id="{39A16B0E-7E42-40DC-9A22-992ED2BFEC44}"/>
                    </a:ext>
                  </a:extLst>
                </p:cNvPr>
                <p:cNvSpPr/>
                <p:nvPr/>
              </p:nvSpPr>
              <p:spPr bwMode="gray">
                <a:xfrm>
                  <a:off x="8334046" y="3673847"/>
                  <a:ext cx="1131435" cy="184643"/>
                </a:xfrm>
                <a:prstGeom prst="roundRect">
                  <a:avLst/>
                </a:prstGeom>
                <a:solidFill>
                  <a:srgbClr val="E1F1DB"/>
                </a:solidFill>
                <a:ln>
                  <a:noFill/>
                </a:ln>
                <a:effectLst/>
              </p:spPr>
              <p:txBody>
                <a:bodyPr lIns="76787" tIns="38393" rIns="76787" bIns="38393" anchor="ctr"/>
                <a:lstStyle/>
                <a:p>
                  <a:pPr algn="ctr" defTabSz="1233589" fontAlgn="auto">
                    <a:spcBef>
                      <a:spcPts val="0"/>
                    </a:spcBef>
                    <a:spcAft>
                      <a:spcPts val="0"/>
                    </a:spcAft>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蓝牙</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79" name="圆角矩形 161">
                <a:extLst>
                  <a:ext uri="{FF2B5EF4-FFF2-40B4-BE49-F238E27FC236}">
                    <a16:creationId xmlns:a16="http://schemas.microsoft.com/office/drawing/2014/main" xmlns="" id="{610ABA87-2F1A-40CB-99C5-78023868CD1F}"/>
                  </a:ext>
                </a:extLst>
              </p:cNvPr>
              <p:cNvSpPr/>
              <p:nvPr/>
            </p:nvSpPr>
            <p:spPr bwMode="gray">
              <a:xfrm>
                <a:off x="5576839" y="3576897"/>
                <a:ext cx="1098415" cy="204133"/>
              </a:xfrm>
              <a:prstGeom prst="roundRect">
                <a:avLst/>
              </a:prstGeom>
              <a:solidFill>
                <a:srgbClr val="E1F1DB"/>
              </a:solidFill>
              <a:ln>
                <a:noFill/>
              </a:ln>
              <a:effectLst/>
            </p:spPr>
            <p:txBody>
              <a:bodyPr lIns="76787" tIns="38393" rIns="76787" bIns="38393" anchor="ctr"/>
              <a:lstStyle/>
              <a:p>
                <a:pPr algn="ctr" defTabSz="1233589" eaLnBrk="1" fontAlgn="auto" hangingPunct="1">
                  <a:spcBef>
                    <a:spcPts val="0"/>
                  </a:spcBef>
                  <a:spcAft>
                    <a:spcPts val="0"/>
                  </a:spcAft>
                  <a:defRPr/>
                </a:pP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IoT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API</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6" name="矩形 205">
              <a:extLst>
                <a:ext uri="{FF2B5EF4-FFF2-40B4-BE49-F238E27FC236}">
                  <a16:creationId xmlns:a16="http://schemas.microsoft.com/office/drawing/2014/main" xmlns="" id="{40408AC7-DAB0-49BD-8F99-51B931B5CD11}"/>
                </a:ext>
              </a:extLst>
            </p:cNvPr>
            <p:cNvSpPr/>
            <p:nvPr/>
          </p:nvSpPr>
          <p:spPr bwMode="gray">
            <a:xfrm>
              <a:off x="8866949" y="3502804"/>
              <a:ext cx="1386019" cy="2361738"/>
            </a:xfrm>
            <a:prstGeom prst="rect">
              <a:avLst/>
            </a:prstGeom>
            <a:noFill/>
            <a:ln w="9525">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0" name="组合 189">
              <a:extLst>
                <a:ext uri="{FF2B5EF4-FFF2-40B4-BE49-F238E27FC236}">
                  <a16:creationId xmlns:a16="http://schemas.microsoft.com/office/drawing/2014/main" xmlns="" id="{C1669A1D-AB69-47E8-BC81-37E76E1713B0}"/>
                </a:ext>
              </a:extLst>
            </p:cNvPr>
            <p:cNvGrpSpPr/>
            <p:nvPr/>
          </p:nvGrpSpPr>
          <p:grpSpPr bwMode="gray">
            <a:xfrm>
              <a:off x="9953509" y="4903140"/>
              <a:ext cx="1449345" cy="501045"/>
              <a:chOff x="9440199" y="4467382"/>
              <a:chExt cx="1449345" cy="501045"/>
            </a:xfrm>
          </p:grpSpPr>
          <p:sp>
            <p:nvSpPr>
              <p:cNvPr id="191" name="圆角矩形 97">
                <a:extLst>
                  <a:ext uri="{FF2B5EF4-FFF2-40B4-BE49-F238E27FC236}">
                    <a16:creationId xmlns:a16="http://schemas.microsoft.com/office/drawing/2014/main" xmlns="" id="{0AD78AD0-24B7-4095-97C7-32F49B268B21}"/>
                  </a:ext>
                </a:extLst>
              </p:cNvPr>
              <p:cNvSpPr/>
              <p:nvPr/>
            </p:nvSpPr>
            <p:spPr bwMode="gray">
              <a:xfrm>
                <a:off x="9553388" y="4467382"/>
                <a:ext cx="949611" cy="499655"/>
              </a:xfrm>
              <a:prstGeom prst="roundRect">
                <a:avLst>
                  <a:gd name="adj" fmla="val 6910"/>
                </a:avLst>
              </a:prstGeom>
              <a:solidFill>
                <a:srgbClr val="FFF5EB"/>
              </a:solidFill>
              <a:ln w="12700">
                <a:solidFill>
                  <a:schemeClr val="bg1">
                    <a:lumMod val="85000"/>
                  </a:schemeClr>
                </a:solidFill>
                <a:prstDash val="solid"/>
              </a:ln>
              <a:effectLst/>
            </p:spPr>
            <p:txBody>
              <a:bodyPr vert="horz" wrap="square" lIns="91440" tIns="45720" rIns="91440" bIns="45720" numCol="1" rtlCol="0" anchor="t" anchorCtr="0" compatLnSpc="1">
                <a:prstTxWarp prst="textNoShape">
                  <a:avLst/>
                </a:prstTxWarp>
              </a:bodyPr>
              <a:lstStyle/>
              <a:p>
                <a:pPr marL="0" marR="0" indent="0" defTabSz="914400" eaLnBrk="1" latinLnBrk="0" hangingPunct="1">
                  <a:lnSpc>
                    <a:spcPct val="100000"/>
                  </a:lnSpc>
                  <a:buClr>
                    <a:srgbClr val="CC9900"/>
                  </a:buClr>
                  <a:buSzTx/>
                  <a:buFont typeface="Wingdings" pitchFamily="2" charset="2"/>
                  <a:buChar char="n"/>
                  <a:tabLst/>
                </a:pPr>
                <a:endParaRPr lang="zh-CN" altLang="en-US" sz="12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2" name="Picture 2">
                <a:extLst>
                  <a:ext uri="{FF2B5EF4-FFF2-40B4-BE49-F238E27FC236}">
                    <a16:creationId xmlns:a16="http://schemas.microsoft.com/office/drawing/2014/main" xmlns="" id="{A89CCDA5-F8AA-4BAC-8705-0B81248544D1}"/>
                  </a:ext>
                </a:extLst>
              </p:cNvPr>
              <p:cNvPicPr>
                <a:picLocks noChangeAspect="1" noChangeArrowheads="1"/>
              </p:cNvPicPr>
              <p:nvPr/>
            </p:nvPicPr>
            <p:blipFill>
              <a:blip r:embed="rId7" cstate="print"/>
              <a:srcRect/>
              <a:stretch>
                <a:fillRect/>
              </a:stretch>
            </p:blipFill>
            <p:spPr bwMode="gray">
              <a:xfrm>
                <a:off x="9636630" y="4521691"/>
                <a:ext cx="188566" cy="252598"/>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193" name="TextBox 88">
                <a:extLst>
                  <a:ext uri="{FF2B5EF4-FFF2-40B4-BE49-F238E27FC236}">
                    <a16:creationId xmlns:a16="http://schemas.microsoft.com/office/drawing/2014/main" xmlns="" id="{97E250AB-16C4-47B0-90F1-B8E67222BF2F}"/>
                  </a:ext>
                </a:extLst>
              </p:cNvPr>
              <p:cNvSpPr txBox="1">
                <a:spLocks noChangeArrowheads="1"/>
              </p:cNvSpPr>
              <p:nvPr/>
            </p:nvSpPr>
            <p:spPr bwMode="gray">
              <a:xfrm>
                <a:off x="9440199" y="4691428"/>
                <a:ext cx="1449345" cy="276999"/>
              </a:xfrm>
              <a:prstGeom prst="rect">
                <a:avLst/>
              </a:prstGeom>
              <a:noFill/>
              <a:ln w="9525">
                <a:noFill/>
                <a:miter lim="800000"/>
                <a:headEnd/>
                <a:tailEnd/>
              </a:ln>
            </p:spPr>
            <p:txBody>
              <a:bodyPr>
                <a:spAutoFit/>
              </a:bodyPr>
              <a:lstStyle/>
              <a:p>
                <a:pPr algn="ctr" fontAlgn="ctr">
                  <a:buSzPct val="100000"/>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物联插卡</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4" name="椭圆 193">
                <a:extLst>
                  <a:ext uri="{FF2B5EF4-FFF2-40B4-BE49-F238E27FC236}">
                    <a16:creationId xmlns:a16="http://schemas.microsoft.com/office/drawing/2014/main" xmlns="" id="{81BBF24B-BD74-4DBF-B70E-0047C53DCDB1}"/>
                  </a:ext>
                </a:extLst>
              </p:cNvPr>
              <p:cNvSpPr/>
              <p:nvPr/>
            </p:nvSpPr>
            <p:spPr bwMode="gray">
              <a:xfrm>
                <a:off x="9912056" y="4487295"/>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6</a:t>
                </a:r>
              </a:p>
            </p:txBody>
          </p:sp>
        </p:grpSp>
        <p:sp>
          <p:nvSpPr>
            <p:cNvPr id="200" name="椭圆 199">
              <a:extLst>
                <a:ext uri="{FF2B5EF4-FFF2-40B4-BE49-F238E27FC236}">
                  <a16:creationId xmlns:a16="http://schemas.microsoft.com/office/drawing/2014/main" xmlns="" id="{7FB00AE3-46D9-4893-946B-1A1135773F71}"/>
                </a:ext>
              </a:extLst>
            </p:cNvPr>
            <p:cNvSpPr/>
            <p:nvPr/>
          </p:nvSpPr>
          <p:spPr bwMode="gray">
            <a:xfrm>
              <a:off x="2737171" y="3526245"/>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Huawei Sans" panose="020C0503030203020204" pitchFamily="34" charset="0"/>
                  <a:ea typeface="方正兰亭黑简体" panose="02000000000000000000" pitchFamily="2" charset="-122"/>
                  <a:sym typeface="Huawei Sans" panose="020C0503030203020204" pitchFamily="34" charset="0"/>
                </a:rPr>
                <a:t>1</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椭圆 200">
              <a:extLst>
                <a:ext uri="{FF2B5EF4-FFF2-40B4-BE49-F238E27FC236}">
                  <a16:creationId xmlns:a16="http://schemas.microsoft.com/office/drawing/2014/main" xmlns="" id="{31417F06-721C-46EF-94FA-87D823888CFE}"/>
                </a:ext>
              </a:extLst>
            </p:cNvPr>
            <p:cNvSpPr/>
            <p:nvPr/>
          </p:nvSpPr>
          <p:spPr bwMode="gray">
            <a:xfrm>
              <a:off x="5107513" y="3526245"/>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Huawei Sans" panose="020C0503030203020204" pitchFamily="34" charset="0"/>
                  <a:ea typeface="方正兰亭黑简体" panose="02000000000000000000" pitchFamily="2" charset="-122"/>
                  <a:sym typeface="Huawei Sans" panose="020C0503030203020204" pitchFamily="34" charset="0"/>
                </a:rPr>
                <a:t>2</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椭圆 201">
              <a:extLst>
                <a:ext uri="{FF2B5EF4-FFF2-40B4-BE49-F238E27FC236}">
                  <a16:creationId xmlns:a16="http://schemas.microsoft.com/office/drawing/2014/main" xmlns="" id="{DDAFB42D-38FF-48A8-ABCC-1C64F5CC4988}"/>
                </a:ext>
              </a:extLst>
            </p:cNvPr>
            <p:cNvSpPr/>
            <p:nvPr/>
          </p:nvSpPr>
          <p:spPr bwMode="gray">
            <a:xfrm>
              <a:off x="7196816" y="3526245"/>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Huawei Sans" panose="020C0503030203020204" pitchFamily="34" charset="0"/>
                  <a:ea typeface="方正兰亭黑简体" panose="02000000000000000000" pitchFamily="2" charset="-122"/>
                  <a:sym typeface="Huawei Sans" panose="020C0503030203020204" pitchFamily="34" charset="0"/>
                </a:rPr>
                <a:t>3</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椭圆 202">
              <a:extLst>
                <a:ext uri="{FF2B5EF4-FFF2-40B4-BE49-F238E27FC236}">
                  <a16:creationId xmlns:a16="http://schemas.microsoft.com/office/drawing/2014/main" xmlns="" id="{789AAA3A-DDB3-4620-81D8-42F1A9D74FC4}"/>
                </a:ext>
              </a:extLst>
            </p:cNvPr>
            <p:cNvSpPr/>
            <p:nvPr/>
          </p:nvSpPr>
          <p:spPr bwMode="gray">
            <a:xfrm>
              <a:off x="8988543" y="3516720"/>
              <a:ext cx="152400" cy="152400"/>
            </a:xfrm>
            <a:prstGeom prst="ellipse">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latin typeface="Huawei Sans" panose="020C0503030203020204" pitchFamily="34" charset="0"/>
                  <a:ea typeface="方正兰亭黑简体" panose="02000000000000000000" pitchFamily="2" charset="-122"/>
                  <a:sym typeface="Huawei Sans" panose="020C0503030203020204" pitchFamily="34" charset="0"/>
                </a:rPr>
                <a:t>4</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矩形 203">
              <a:extLst>
                <a:ext uri="{FF2B5EF4-FFF2-40B4-BE49-F238E27FC236}">
                  <a16:creationId xmlns:a16="http://schemas.microsoft.com/office/drawing/2014/main" xmlns="" id="{40408AC7-DAB0-49BD-8F99-51B931B5CD11}"/>
                </a:ext>
              </a:extLst>
            </p:cNvPr>
            <p:cNvSpPr/>
            <p:nvPr/>
          </p:nvSpPr>
          <p:spPr bwMode="gray">
            <a:xfrm>
              <a:off x="4581554" y="3486784"/>
              <a:ext cx="2334384" cy="801550"/>
            </a:xfrm>
            <a:prstGeom prst="rect">
              <a:avLst/>
            </a:prstGeom>
            <a:noFill/>
            <a:ln w="9525">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5" name="矩形 204">
              <a:extLst>
                <a:ext uri="{FF2B5EF4-FFF2-40B4-BE49-F238E27FC236}">
                  <a16:creationId xmlns:a16="http://schemas.microsoft.com/office/drawing/2014/main" xmlns="" id="{40408AC7-DAB0-49BD-8F99-51B931B5CD11}"/>
                </a:ext>
              </a:extLst>
            </p:cNvPr>
            <p:cNvSpPr/>
            <p:nvPr/>
          </p:nvSpPr>
          <p:spPr bwMode="gray">
            <a:xfrm>
              <a:off x="6968473" y="3496470"/>
              <a:ext cx="1824903" cy="801550"/>
            </a:xfrm>
            <a:prstGeom prst="rect">
              <a:avLst/>
            </a:prstGeom>
            <a:noFill/>
            <a:ln w="9525">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3606" tIns="51803" rIns="103606" bIns="51803" numCol="1" rtlCol="0" anchor="t" anchorCtr="0" compatLnSpc="1">
              <a:prstTxWarp prst="textNoShape">
                <a:avLst/>
              </a:prstTxWarp>
            </a:bodyPr>
            <a:lstStyle/>
            <a:p>
              <a:pPr defTabSz="1035759" eaLnBrk="1" fontAlgn="auto" hangingPunct="1">
                <a:spcBef>
                  <a:spcPts val="0"/>
                </a:spcBef>
                <a:spcAft>
                  <a:spcPts val="0"/>
                </a:spcAft>
                <a:buClr>
                  <a:srgbClr val="CC9900"/>
                </a:buClr>
                <a:buFont typeface="Wingdings" pitchFamily="2" charset="2"/>
                <a:buChar char="n"/>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 name="标题 1">
            <a:extLst>
              <a:ext uri="{FF2B5EF4-FFF2-40B4-BE49-F238E27FC236}">
                <a16:creationId xmlns:a16="http://schemas.microsoft.com/office/drawing/2014/main" xmlns="" id="{0536CC4E-603C-4F86-88C8-8A3F50614F91}"/>
              </a:ext>
            </a:extLst>
          </p:cNvPr>
          <p:cNvSpPr>
            <a:spLocks noGrp="1"/>
          </p:cNvSpPr>
          <p:nvPr>
            <p:ph type="title"/>
          </p:nvPr>
        </p:nvSpPr>
        <p:spPr bwMode="gray"/>
        <p:txBody>
          <a:bodyPr/>
          <a:lstStyle/>
          <a:p>
            <a:r>
              <a:rPr lang="zh-CN" altLang="en-US" smtClean="0">
                <a:sym typeface="Huawei Sans" panose="020C0503030203020204" pitchFamily="34" charset="0"/>
              </a:rPr>
              <a:t>典型合作场景与开放接口</a:t>
            </a:r>
            <a:endParaRPr lang="zh-CN" altLang="en-US">
              <a:sym typeface="Huawei Sans" panose="020C0503030203020204" pitchFamily="34" charset="0"/>
            </a:endParaRPr>
          </a:p>
        </p:txBody>
      </p:sp>
      <p:sp>
        <p:nvSpPr>
          <p:cNvPr id="4" name="圆角矩形 183">
            <a:extLst>
              <a:ext uri="{FF2B5EF4-FFF2-40B4-BE49-F238E27FC236}">
                <a16:creationId xmlns:a16="http://schemas.microsoft.com/office/drawing/2014/main" xmlns="" id="{4C6F052E-BE31-453E-97F1-C71702392EBE}"/>
              </a:ext>
            </a:extLst>
          </p:cNvPr>
          <p:cNvSpPr/>
          <p:nvPr/>
        </p:nvSpPr>
        <p:spPr bwMode="gray">
          <a:xfrm>
            <a:off x="3141922" y="1403654"/>
            <a:ext cx="6241229" cy="1396828"/>
          </a:xfrm>
          <a:prstGeom prst="roundRect">
            <a:avLst>
              <a:gd name="adj" fmla="val 10120"/>
            </a:avLst>
          </a:prstGeom>
          <a:solidFill>
            <a:srgbClr val="FFFFFF"/>
          </a:solidFill>
          <a:ln>
            <a:solidFill>
              <a:srgbClr val="FFFFFF">
                <a:lumMod val="75000"/>
              </a:srgbClr>
            </a:solidFill>
          </a:ln>
          <a:effectLst/>
        </p:spPr>
        <p:txBody>
          <a:bodyPr lIns="121910" tIns="60956" rIns="121910" bIns="60956" anchor="ctr"/>
          <a:lstStyle/>
          <a:p>
            <a:pPr marL="0" marR="0" lvl="0" indent="0" algn="ctr" defTabSz="913763" eaLnBrk="1" fontAlgn="auto" latinLnBrk="0" hangingPunct="1">
              <a:lnSpc>
                <a:spcPct val="100000"/>
              </a:lnSpc>
              <a:spcBef>
                <a:spcPts val="0"/>
              </a:spcBef>
              <a:spcAft>
                <a:spcPts val="0"/>
              </a:spcAft>
              <a:buClrTx/>
              <a:buSzTx/>
              <a:buFontTx/>
              <a:buNone/>
              <a:tabLst/>
              <a:defRPr/>
            </a:pPr>
            <a:endParaRPr kumimoji="0" lang="zh-CN" altLang="en-US" sz="13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 name="文本框 4">
            <a:extLst>
              <a:ext uri="{FF2B5EF4-FFF2-40B4-BE49-F238E27FC236}">
                <a16:creationId xmlns:a16="http://schemas.microsoft.com/office/drawing/2014/main" xmlns="" id="{A22F312F-2322-44BC-9F6F-63884586975E}"/>
              </a:ext>
            </a:extLst>
          </p:cNvPr>
          <p:cNvSpPr txBox="1"/>
          <p:nvPr/>
        </p:nvSpPr>
        <p:spPr bwMode="gray">
          <a:xfrm>
            <a:off x="993208" y="1136308"/>
            <a:ext cx="1792905"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典型合作场景</a:t>
            </a:r>
            <a:endParaRPr 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a:extLst>
              <a:ext uri="{FF2B5EF4-FFF2-40B4-BE49-F238E27FC236}">
                <a16:creationId xmlns:a16="http://schemas.microsoft.com/office/drawing/2014/main" xmlns="" id="{B5058513-AA7F-488C-8139-15471443CEE3}"/>
              </a:ext>
            </a:extLst>
          </p:cNvPr>
          <p:cNvSpPr txBox="1"/>
          <p:nvPr/>
        </p:nvSpPr>
        <p:spPr bwMode="gray">
          <a:xfrm>
            <a:off x="8090769" y="1927289"/>
            <a:ext cx="1113820" cy="830997"/>
          </a:xfrm>
          <a:prstGeom prst="rect">
            <a:avLst/>
          </a:prstGeom>
          <a:noFill/>
        </p:spPr>
        <p:txBody>
          <a:bodyPr wrap="square" rtlCol="0">
            <a:spAutoFit/>
          </a:bodyPr>
          <a:lstStyle/>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能效管理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资产管理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物联定位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buFont typeface="Wingdings" panose="05000000000000000000" pitchFamily="2" charset="2"/>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电子价签</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7">
            <a:extLst>
              <a:ext uri="{FF2B5EF4-FFF2-40B4-BE49-F238E27FC236}">
                <a16:creationId xmlns:a16="http://schemas.microsoft.com/office/drawing/2014/main" xmlns="" id="{1CC85460-76D3-4F50-BAF8-A49CC92C018F}"/>
              </a:ext>
            </a:extLst>
          </p:cNvPr>
          <p:cNvPicPr>
            <a:picLocks noChangeAspect="1"/>
          </p:cNvPicPr>
          <p:nvPr/>
        </p:nvPicPr>
        <p:blipFill>
          <a:blip r:embed="rId8"/>
          <a:stretch>
            <a:fillRect/>
          </a:stretch>
        </p:blipFill>
        <p:spPr bwMode="gray">
          <a:xfrm>
            <a:off x="4865786" y="1601255"/>
            <a:ext cx="925035" cy="310754"/>
          </a:xfrm>
          <a:prstGeom prst="rect">
            <a:avLst/>
          </a:prstGeom>
        </p:spPr>
      </p:pic>
      <p:sp>
        <p:nvSpPr>
          <p:cNvPr id="9" name="文本框 8">
            <a:extLst>
              <a:ext uri="{FF2B5EF4-FFF2-40B4-BE49-F238E27FC236}">
                <a16:creationId xmlns:a16="http://schemas.microsoft.com/office/drawing/2014/main" xmlns="" id="{085F38F3-48B0-44D4-823E-EBD9B34D99D4}"/>
              </a:ext>
            </a:extLst>
          </p:cNvPr>
          <p:cNvSpPr txBox="1"/>
          <p:nvPr/>
        </p:nvSpPr>
        <p:spPr bwMode="gray">
          <a:xfrm>
            <a:off x="4981299" y="1632420"/>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网络运维</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9">
            <a:extLst>
              <a:ext uri="{FF2B5EF4-FFF2-40B4-BE49-F238E27FC236}">
                <a16:creationId xmlns:a16="http://schemas.microsoft.com/office/drawing/2014/main" xmlns="" id="{BFFB6E40-B3A8-4B52-AC6D-218F563885E1}"/>
              </a:ext>
            </a:extLst>
          </p:cNvPr>
          <p:cNvPicPr>
            <a:picLocks noChangeAspect="1"/>
          </p:cNvPicPr>
          <p:nvPr/>
        </p:nvPicPr>
        <p:blipFill>
          <a:blip r:embed="rId9"/>
          <a:stretch>
            <a:fillRect/>
          </a:stretch>
        </p:blipFill>
        <p:spPr bwMode="gray">
          <a:xfrm>
            <a:off x="3552154" y="1447217"/>
            <a:ext cx="346888" cy="296300"/>
          </a:xfrm>
          <a:prstGeom prst="rect">
            <a:avLst/>
          </a:prstGeom>
        </p:spPr>
      </p:pic>
      <p:pic>
        <p:nvPicPr>
          <p:cNvPr id="11" name="图片 10">
            <a:extLst>
              <a:ext uri="{FF2B5EF4-FFF2-40B4-BE49-F238E27FC236}">
                <a16:creationId xmlns:a16="http://schemas.microsoft.com/office/drawing/2014/main" xmlns="" id="{352BE183-632D-4E8D-9A84-19913CCE983F}"/>
              </a:ext>
            </a:extLst>
          </p:cNvPr>
          <p:cNvPicPr>
            <a:picLocks noChangeAspect="1"/>
          </p:cNvPicPr>
          <p:nvPr/>
        </p:nvPicPr>
        <p:blipFill>
          <a:blip r:embed="rId8"/>
          <a:stretch>
            <a:fillRect/>
          </a:stretch>
        </p:blipFill>
        <p:spPr bwMode="gray">
          <a:xfrm>
            <a:off x="3716920" y="1598565"/>
            <a:ext cx="925035" cy="310754"/>
          </a:xfrm>
          <a:prstGeom prst="rect">
            <a:avLst/>
          </a:prstGeom>
        </p:spPr>
      </p:pic>
      <p:sp>
        <p:nvSpPr>
          <p:cNvPr id="12" name="文本框 11">
            <a:extLst>
              <a:ext uri="{FF2B5EF4-FFF2-40B4-BE49-F238E27FC236}">
                <a16:creationId xmlns:a16="http://schemas.microsoft.com/office/drawing/2014/main" xmlns="" id="{D6A628CD-2ED1-49E8-9164-A7AF28F8E297}"/>
              </a:ext>
            </a:extLst>
          </p:cNvPr>
          <p:cNvSpPr txBox="1"/>
          <p:nvPr/>
        </p:nvSpPr>
        <p:spPr bwMode="gray">
          <a:xfrm>
            <a:off x="3832433" y="1629730"/>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认证授权</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12">
            <a:extLst>
              <a:ext uri="{FF2B5EF4-FFF2-40B4-BE49-F238E27FC236}">
                <a16:creationId xmlns:a16="http://schemas.microsoft.com/office/drawing/2014/main" xmlns="" id="{6E3407D0-350F-4F83-909B-6F6186FB9F60}"/>
              </a:ext>
            </a:extLst>
          </p:cNvPr>
          <p:cNvPicPr>
            <a:picLocks noChangeAspect="1"/>
          </p:cNvPicPr>
          <p:nvPr/>
        </p:nvPicPr>
        <p:blipFill>
          <a:blip r:embed="rId8"/>
          <a:stretch>
            <a:fillRect/>
          </a:stretch>
        </p:blipFill>
        <p:spPr bwMode="gray">
          <a:xfrm>
            <a:off x="5951036" y="1601255"/>
            <a:ext cx="925035" cy="310754"/>
          </a:xfrm>
          <a:prstGeom prst="rect">
            <a:avLst/>
          </a:prstGeom>
        </p:spPr>
      </p:pic>
      <p:sp>
        <p:nvSpPr>
          <p:cNvPr id="14" name="文本框 13">
            <a:extLst>
              <a:ext uri="{FF2B5EF4-FFF2-40B4-BE49-F238E27FC236}">
                <a16:creationId xmlns:a16="http://schemas.microsoft.com/office/drawing/2014/main" xmlns="" id="{05B05A4D-F824-433E-87C2-C48A510A03FA}"/>
              </a:ext>
            </a:extLst>
          </p:cNvPr>
          <p:cNvSpPr txBox="1"/>
          <p:nvPr/>
        </p:nvSpPr>
        <p:spPr bwMode="gray">
          <a:xfrm>
            <a:off x="6066549" y="1632420"/>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位置服务</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 name="图片 14">
            <a:extLst>
              <a:ext uri="{FF2B5EF4-FFF2-40B4-BE49-F238E27FC236}">
                <a16:creationId xmlns:a16="http://schemas.microsoft.com/office/drawing/2014/main" xmlns="" id="{17087EF9-48FC-4EE2-AAA4-5E2F567A2880}"/>
              </a:ext>
            </a:extLst>
          </p:cNvPr>
          <p:cNvPicPr>
            <a:picLocks noChangeAspect="1"/>
          </p:cNvPicPr>
          <p:nvPr/>
        </p:nvPicPr>
        <p:blipFill>
          <a:blip r:embed="rId8"/>
          <a:stretch>
            <a:fillRect/>
          </a:stretch>
        </p:blipFill>
        <p:spPr bwMode="gray">
          <a:xfrm>
            <a:off x="7075443" y="1598565"/>
            <a:ext cx="925035" cy="310754"/>
          </a:xfrm>
          <a:prstGeom prst="rect">
            <a:avLst/>
          </a:prstGeom>
        </p:spPr>
      </p:pic>
      <p:sp>
        <p:nvSpPr>
          <p:cNvPr id="16" name="文本框 15">
            <a:extLst>
              <a:ext uri="{FF2B5EF4-FFF2-40B4-BE49-F238E27FC236}">
                <a16:creationId xmlns:a16="http://schemas.microsoft.com/office/drawing/2014/main" xmlns="" id="{DB58D597-DFF4-495D-9FED-5CE839B81444}"/>
              </a:ext>
            </a:extLst>
          </p:cNvPr>
          <p:cNvSpPr txBox="1"/>
          <p:nvPr/>
        </p:nvSpPr>
        <p:spPr bwMode="gray">
          <a:xfrm>
            <a:off x="7190956" y="1629730"/>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人群画像</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a:extLst>
              <a:ext uri="{FF2B5EF4-FFF2-40B4-BE49-F238E27FC236}">
                <a16:creationId xmlns:a16="http://schemas.microsoft.com/office/drawing/2014/main" xmlns="" id="{08B10840-8BD5-4079-B18F-BFD8F86C883B}"/>
              </a:ext>
            </a:extLst>
          </p:cNvPr>
          <p:cNvPicPr>
            <a:picLocks noChangeAspect="1"/>
          </p:cNvPicPr>
          <p:nvPr/>
        </p:nvPicPr>
        <p:blipFill>
          <a:blip r:embed="rId8"/>
          <a:stretch>
            <a:fillRect/>
          </a:stretch>
        </p:blipFill>
        <p:spPr bwMode="gray">
          <a:xfrm>
            <a:off x="8211210" y="1593100"/>
            <a:ext cx="925035" cy="310754"/>
          </a:xfrm>
          <a:prstGeom prst="rect">
            <a:avLst/>
          </a:prstGeom>
        </p:spPr>
      </p:pic>
      <p:sp>
        <p:nvSpPr>
          <p:cNvPr id="18" name="文本框 17">
            <a:extLst>
              <a:ext uri="{FF2B5EF4-FFF2-40B4-BE49-F238E27FC236}">
                <a16:creationId xmlns:a16="http://schemas.microsoft.com/office/drawing/2014/main" xmlns="" id="{62A81BEB-D70E-4747-8A66-D1FE2FC3C3A2}"/>
              </a:ext>
            </a:extLst>
          </p:cNvPr>
          <p:cNvSpPr txBox="1"/>
          <p:nvPr/>
        </p:nvSpPr>
        <p:spPr bwMode="gray">
          <a:xfrm>
            <a:off x="8326723" y="1624265"/>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智慧物联</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 name="图片 18">
            <a:extLst>
              <a:ext uri="{FF2B5EF4-FFF2-40B4-BE49-F238E27FC236}">
                <a16:creationId xmlns:a16="http://schemas.microsoft.com/office/drawing/2014/main" xmlns="" id="{3FC6DD1C-7885-4A98-A3BD-D7B359D52B5E}"/>
              </a:ext>
            </a:extLst>
          </p:cNvPr>
          <p:cNvPicPr>
            <a:picLocks noChangeAspect="1"/>
          </p:cNvPicPr>
          <p:nvPr/>
        </p:nvPicPr>
        <p:blipFill>
          <a:blip r:embed="rId10"/>
          <a:stretch>
            <a:fillRect/>
          </a:stretch>
        </p:blipFill>
        <p:spPr bwMode="gray">
          <a:xfrm>
            <a:off x="5822581" y="1446811"/>
            <a:ext cx="277205" cy="308886"/>
          </a:xfrm>
          <a:prstGeom prst="rect">
            <a:avLst/>
          </a:prstGeom>
        </p:spPr>
      </p:pic>
      <p:pic>
        <p:nvPicPr>
          <p:cNvPr id="20" name="图片 19">
            <a:extLst>
              <a:ext uri="{FF2B5EF4-FFF2-40B4-BE49-F238E27FC236}">
                <a16:creationId xmlns:a16="http://schemas.microsoft.com/office/drawing/2014/main" xmlns="" id="{ECF408AD-9281-4C2E-9CCE-633B3FB18113}"/>
              </a:ext>
            </a:extLst>
          </p:cNvPr>
          <p:cNvPicPr>
            <a:picLocks noChangeAspect="1"/>
          </p:cNvPicPr>
          <p:nvPr/>
        </p:nvPicPr>
        <p:blipFill>
          <a:blip r:embed="rId11"/>
          <a:stretch>
            <a:fillRect/>
          </a:stretch>
        </p:blipFill>
        <p:spPr bwMode="gray">
          <a:xfrm>
            <a:off x="4751836" y="1432498"/>
            <a:ext cx="296300" cy="296300"/>
          </a:xfrm>
          <a:prstGeom prst="rect">
            <a:avLst/>
          </a:prstGeom>
        </p:spPr>
      </p:pic>
      <p:pic>
        <p:nvPicPr>
          <p:cNvPr id="21" name="图片 20">
            <a:extLst>
              <a:ext uri="{FF2B5EF4-FFF2-40B4-BE49-F238E27FC236}">
                <a16:creationId xmlns:a16="http://schemas.microsoft.com/office/drawing/2014/main" xmlns="" id="{5625F950-0CB3-4DFD-B0E3-B58C88E62447}"/>
              </a:ext>
            </a:extLst>
          </p:cNvPr>
          <p:cNvPicPr>
            <a:picLocks noChangeAspect="1"/>
          </p:cNvPicPr>
          <p:nvPr/>
        </p:nvPicPr>
        <p:blipFill>
          <a:blip r:embed="rId12"/>
          <a:stretch>
            <a:fillRect/>
          </a:stretch>
        </p:blipFill>
        <p:spPr bwMode="gray">
          <a:xfrm>
            <a:off x="6916447" y="1427509"/>
            <a:ext cx="317991" cy="300802"/>
          </a:xfrm>
          <a:prstGeom prst="rect">
            <a:avLst/>
          </a:prstGeom>
        </p:spPr>
      </p:pic>
      <p:pic>
        <p:nvPicPr>
          <p:cNvPr id="22" name="图片 21">
            <a:extLst>
              <a:ext uri="{FF2B5EF4-FFF2-40B4-BE49-F238E27FC236}">
                <a16:creationId xmlns:a16="http://schemas.microsoft.com/office/drawing/2014/main" xmlns="" id="{6566FB3C-67B3-4D74-8C9B-58A5C9FF3F87}"/>
              </a:ext>
            </a:extLst>
          </p:cNvPr>
          <p:cNvPicPr>
            <a:picLocks noChangeAspect="1"/>
          </p:cNvPicPr>
          <p:nvPr/>
        </p:nvPicPr>
        <p:blipFill>
          <a:blip r:embed="rId13"/>
          <a:stretch>
            <a:fillRect/>
          </a:stretch>
        </p:blipFill>
        <p:spPr bwMode="gray">
          <a:xfrm>
            <a:off x="8019667" y="1450100"/>
            <a:ext cx="360365" cy="296300"/>
          </a:xfrm>
          <a:prstGeom prst="rect">
            <a:avLst/>
          </a:prstGeom>
        </p:spPr>
      </p:pic>
      <p:cxnSp>
        <p:nvCxnSpPr>
          <p:cNvPr id="84" name="肘形连接符 4">
            <a:extLst>
              <a:ext uri="{FF2B5EF4-FFF2-40B4-BE49-F238E27FC236}">
                <a16:creationId xmlns:a16="http://schemas.microsoft.com/office/drawing/2014/main" xmlns="" id="{9D5863BA-36D4-402F-8CC6-0574A172F2F2}"/>
              </a:ext>
            </a:extLst>
          </p:cNvPr>
          <p:cNvCxnSpPr>
            <a:cxnSpLocks/>
          </p:cNvCxnSpPr>
          <p:nvPr/>
        </p:nvCxnSpPr>
        <p:spPr bwMode="gray">
          <a:xfrm rot="5400000" flipH="1" flipV="1">
            <a:off x="3709012" y="1982639"/>
            <a:ext cx="1609654" cy="1615610"/>
          </a:xfrm>
          <a:prstGeom prst="bentConnector3">
            <a:avLst>
              <a:gd name="adj1" fmla="val 48428"/>
            </a:avLst>
          </a:prstGeom>
          <a:ln w="2222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87" name="肘形连接符 8">
            <a:extLst>
              <a:ext uri="{FF2B5EF4-FFF2-40B4-BE49-F238E27FC236}">
                <a16:creationId xmlns:a16="http://schemas.microsoft.com/office/drawing/2014/main" xmlns="" id="{6A803E98-7A81-44C9-B1FF-9046648D5F2D}"/>
              </a:ext>
            </a:extLst>
          </p:cNvPr>
          <p:cNvCxnSpPr/>
          <p:nvPr/>
        </p:nvCxnSpPr>
        <p:spPr bwMode="gray">
          <a:xfrm rot="5400000" flipH="1" flipV="1">
            <a:off x="5803948" y="1870054"/>
            <a:ext cx="1624864" cy="1879054"/>
          </a:xfrm>
          <a:prstGeom prst="bentConnector3">
            <a:avLst>
              <a:gd name="adj1" fmla="val 50000"/>
            </a:avLst>
          </a:prstGeom>
          <a:ln w="2222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88" name="肘形连接符 10">
            <a:extLst>
              <a:ext uri="{FF2B5EF4-FFF2-40B4-BE49-F238E27FC236}">
                <a16:creationId xmlns:a16="http://schemas.microsoft.com/office/drawing/2014/main" xmlns="" id="{37A48F55-77AD-41C5-9107-73862147D26D}"/>
              </a:ext>
            </a:extLst>
          </p:cNvPr>
          <p:cNvCxnSpPr/>
          <p:nvPr/>
        </p:nvCxnSpPr>
        <p:spPr bwMode="gray">
          <a:xfrm rot="16200000" flipV="1">
            <a:off x="5140352" y="1085054"/>
            <a:ext cx="1641661" cy="3370371"/>
          </a:xfrm>
          <a:prstGeom prst="bentConnector3">
            <a:avLst>
              <a:gd name="adj1" fmla="val 40531"/>
            </a:avLst>
          </a:prstGeom>
          <a:ln w="22225">
            <a:solidFill>
              <a:schemeClr val="tx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9" name="肘形连接符 18">
            <a:extLst>
              <a:ext uri="{FF2B5EF4-FFF2-40B4-BE49-F238E27FC236}">
                <a16:creationId xmlns:a16="http://schemas.microsoft.com/office/drawing/2014/main" xmlns="" id="{890B2E6F-7E13-41A7-8E1C-8C97E8541BBF}"/>
              </a:ext>
            </a:extLst>
          </p:cNvPr>
          <p:cNvCxnSpPr/>
          <p:nvPr/>
        </p:nvCxnSpPr>
        <p:spPr bwMode="gray">
          <a:xfrm rot="16200000" flipV="1">
            <a:off x="6858042" y="1645365"/>
            <a:ext cx="1638971" cy="2315054"/>
          </a:xfrm>
          <a:prstGeom prst="bentConnector3">
            <a:avLst>
              <a:gd name="adj1" fmla="val 45537"/>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1" name="肘形连接符 29">
            <a:extLst>
              <a:ext uri="{FF2B5EF4-FFF2-40B4-BE49-F238E27FC236}">
                <a16:creationId xmlns:a16="http://schemas.microsoft.com/office/drawing/2014/main" xmlns="" id="{A10F29C6-2DA5-4A5E-A345-F320797F3073}"/>
              </a:ext>
            </a:extLst>
          </p:cNvPr>
          <p:cNvCxnSpPr>
            <a:cxnSpLocks/>
          </p:cNvCxnSpPr>
          <p:nvPr/>
        </p:nvCxnSpPr>
        <p:spPr bwMode="gray">
          <a:xfrm rot="5400000" flipH="1" flipV="1">
            <a:off x="3310645" y="3003648"/>
            <a:ext cx="2891416" cy="803809"/>
          </a:xfrm>
          <a:prstGeom prst="bentConnector3">
            <a:avLst>
              <a:gd name="adj1" fmla="val 49999"/>
            </a:avLst>
          </a:prstGeom>
          <a:ln w="2222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肘形连接符 13">
            <a:extLst>
              <a:ext uri="{FF2B5EF4-FFF2-40B4-BE49-F238E27FC236}">
                <a16:creationId xmlns:a16="http://schemas.microsoft.com/office/drawing/2014/main" xmlns="" id="{D81943C3-24C8-42BF-B782-D1A683B8A39E}"/>
              </a:ext>
            </a:extLst>
          </p:cNvPr>
          <p:cNvCxnSpPr>
            <a:cxnSpLocks/>
          </p:cNvCxnSpPr>
          <p:nvPr/>
        </p:nvCxnSpPr>
        <p:spPr bwMode="gray">
          <a:xfrm rot="16200000" flipV="1">
            <a:off x="8259823" y="2749349"/>
            <a:ext cx="3062698" cy="1513487"/>
          </a:xfrm>
          <a:prstGeom prst="bentConnector3">
            <a:avLst>
              <a:gd name="adj1" fmla="val 69685"/>
            </a:avLst>
          </a:prstGeom>
          <a:ln w="222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10061326" y="5745768"/>
            <a:ext cx="967182" cy="276999"/>
          </a:xfrm>
          <a:prstGeom prst="rect">
            <a:avLst/>
          </a:prstGeom>
          <a:noFill/>
        </p:spPr>
        <p:txBody>
          <a:bodyPr wrap="square" rtlCol="0">
            <a:spAutoFit/>
          </a:bodyPr>
          <a:lstStyle/>
          <a:p>
            <a:pPr algn="ctr"/>
            <a:r>
              <a:rPr lang="en-US" altLang="zh-CN" sz="1200" dirty="0" smtClean="0"/>
              <a:t>Bluetooth</a:t>
            </a:r>
            <a:endParaRPr lang="zh-CN" altLang="en-US" sz="1200" dirty="0"/>
          </a:p>
        </p:txBody>
      </p:sp>
      <p:sp>
        <p:nvSpPr>
          <p:cNvPr id="92" name="文本框 91"/>
          <p:cNvSpPr txBox="1"/>
          <p:nvPr/>
        </p:nvSpPr>
        <p:spPr>
          <a:xfrm>
            <a:off x="9628387" y="5538671"/>
            <a:ext cx="530208" cy="276999"/>
          </a:xfrm>
          <a:prstGeom prst="rect">
            <a:avLst/>
          </a:prstGeom>
          <a:noFill/>
        </p:spPr>
        <p:txBody>
          <a:bodyPr wrap="square" rtlCol="0">
            <a:spAutoFit/>
          </a:bodyPr>
          <a:lstStyle/>
          <a:p>
            <a:pPr algn="ctr"/>
            <a:r>
              <a:rPr lang="en-US" altLang="zh-CN" sz="1200" dirty="0" smtClean="0"/>
              <a:t>RFID</a:t>
            </a:r>
            <a:endParaRPr lang="zh-CN" altLang="en-US" sz="1200" dirty="0"/>
          </a:p>
        </p:txBody>
      </p:sp>
      <p:sp>
        <p:nvSpPr>
          <p:cNvPr id="94" name="文本框 93"/>
          <p:cNvSpPr txBox="1"/>
          <p:nvPr/>
        </p:nvSpPr>
        <p:spPr>
          <a:xfrm>
            <a:off x="10239512" y="5538671"/>
            <a:ext cx="655167" cy="276999"/>
          </a:xfrm>
          <a:prstGeom prst="rect">
            <a:avLst/>
          </a:prstGeom>
          <a:noFill/>
        </p:spPr>
        <p:txBody>
          <a:bodyPr wrap="square" rtlCol="0">
            <a:spAutoFit/>
          </a:bodyPr>
          <a:lstStyle/>
          <a:p>
            <a:pPr algn="ctr"/>
            <a:r>
              <a:rPr lang="en-US" altLang="zh-CN" sz="1200" dirty="0" smtClean="0"/>
              <a:t>ZigBee</a:t>
            </a:r>
            <a:endParaRPr lang="zh-CN" altLang="en-US" sz="1200" dirty="0"/>
          </a:p>
        </p:txBody>
      </p:sp>
    </p:spTree>
    <p:extLst>
      <p:ext uri="{BB962C8B-B14F-4D97-AF65-F5344CB8AC3E}">
        <p14:creationId xmlns:p14="http://schemas.microsoft.com/office/powerpoint/2010/main" val="41731837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解决方案概述</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典型场景及开放能力介绍</a:t>
            </a:r>
            <a:endParaRPr lang="en-US" altLang="zh-CN" b="1" dirty="0" smtClean="0">
              <a:sym typeface="Huawei Sans" panose="020C0503030203020204" pitchFamily="34" charset="0"/>
            </a:endParaRPr>
          </a:p>
          <a:p>
            <a:pPr lvl="1">
              <a:buSzPct val="60000"/>
              <a:buFont typeface="Wingdings" panose="05000000000000000000" pitchFamily="2" charset="2"/>
              <a:buChar char="n"/>
            </a:pPr>
            <a:r>
              <a:rPr lang="zh-CN" altLang="en-US" dirty="0" smtClean="0">
                <a:sym typeface="Huawei Sans" panose="020C0503030203020204" pitchFamily="34" charset="0"/>
              </a:rPr>
              <a:t>认证授权</a:t>
            </a:r>
            <a:endParaRPr lang="en-US" altLang="zh-CN"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位置服务</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人群画像</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网络运维</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智慧物联</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开放合作案例</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11993832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5E6AEAEA-C7F6-4D9D-AB56-0CF5F599CAFB}"/>
              </a:ext>
            </a:extLst>
          </p:cNvPr>
          <p:cNvSpPr>
            <a:spLocks noGrp="1"/>
          </p:cNvSpPr>
          <p:nvPr>
            <p:ph type="title"/>
          </p:nvPr>
        </p:nvSpPr>
        <p:spPr bwMode="gray"/>
        <p:txBody>
          <a:bodyPr/>
          <a:lstStyle/>
          <a:p>
            <a:r>
              <a:rPr lang="zh-CN" altLang="en-US" smtClean="0">
                <a:sym typeface="Huawei Sans" panose="020C0503030203020204" pitchFamily="34" charset="0"/>
              </a:rPr>
              <a:t>认证授权场景介绍</a:t>
            </a:r>
            <a:endParaRPr lang="zh-CN" altLang="en-US">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dirty="0">
                <a:sym typeface="Huawei Sans" panose="020C0503030203020204" pitchFamily="34" charset="0"/>
              </a:rPr>
              <a:t>认证授权，即第三方认证授权平台可以配合华为智简平台，对接入华为智简园区网络的终端设备进行网络接入认证和计费。</a:t>
            </a:r>
          </a:p>
          <a:p>
            <a:endParaRPr lang="zh-CN" altLang="en-US" sz="1600" dirty="0">
              <a:sym typeface="Huawei Sans" panose="020C0503030203020204" pitchFamily="34" charset="0"/>
            </a:endParaRPr>
          </a:p>
        </p:txBody>
      </p:sp>
      <p:sp>
        <p:nvSpPr>
          <p:cNvPr id="7" name="文本框 6">
            <a:extLst>
              <a:ext uri="{FF2B5EF4-FFF2-40B4-BE49-F238E27FC236}">
                <a16:creationId xmlns:a16="http://schemas.microsoft.com/office/drawing/2014/main" xmlns="" id="{AA2380CA-93D5-4DA8-A745-7B8207774684}"/>
              </a:ext>
            </a:extLst>
          </p:cNvPr>
          <p:cNvSpPr txBox="1"/>
          <p:nvPr/>
        </p:nvSpPr>
        <p:spPr bwMode="gray">
          <a:xfrm>
            <a:off x="6277236" y="2359982"/>
            <a:ext cx="5234044" cy="678712"/>
          </a:xfrm>
          <a:prstGeom prst="rect">
            <a:avLst/>
          </a:prstGeom>
          <a:noFill/>
          <a:ln>
            <a:solidFill>
              <a:srgbClr val="56C4D2"/>
            </a:solidFill>
          </a:ln>
        </p:spPr>
        <p:txBody>
          <a:bodyPr wrap="square" rtlCol="0">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通过第三方认证平台，华为</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CloudCampus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控制器支持两种认证授权集成方案。 租户可以根据自己的情况做出选择。</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8" name="表格 37"/>
          <p:cNvGraphicFramePr>
            <a:graphicFrameLocks noGrp="1"/>
          </p:cNvGraphicFramePr>
          <p:nvPr>
            <p:extLst>
              <p:ext uri="{D42A27DB-BD31-4B8C-83A1-F6EECF244321}">
                <p14:modId xmlns:p14="http://schemas.microsoft.com/office/powerpoint/2010/main" val="98012149"/>
              </p:ext>
            </p:extLst>
          </p:nvPr>
        </p:nvGraphicFramePr>
        <p:xfrm>
          <a:off x="6321907" y="3734872"/>
          <a:ext cx="5144702" cy="1335275"/>
        </p:xfrm>
        <a:graphic>
          <a:graphicData uri="http://schemas.openxmlformats.org/drawingml/2006/table">
            <a:tbl>
              <a:tblPr/>
              <a:tblGrid>
                <a:gridCol w="1648372">
                  <a:extLst>
                    <a:ext uri="{9D8B030D-6E8A-4147-A177-3AD203B41FA5}">
                      <a16:colId xmlns:a16="http://schemas.microsoft.com/office/drawing/2014/main" xmlns="" val="20000"/>
                    </a:ext>
                  </a:extLst>
                </a:gridCol>
                <a:gridCol w="3496330">
                  <a:extLst>
                    <a:ext uri="{9D8B030D-6E8A-4147-A177-3AD203B41FA5}">
                      <a16:colId xmlns:a16="http://schemas.microsoft.com/office/drawing/2014/main" xmlns="" val="20001"/>
                    </a:ext>
                  </a:extLst>
                </a:gridCol>
              </a:tblGrid>
              <a:tr h="375012">
                <a:tc>
                  <a:txBody>
                    <a:bodyPr/>
                    <a:lstStyle/>
                    <a:p>
                      <a:pPr algn="ctr">
                        <a:lnSpc>
                          <a:spcPct val="100000"/>
                        </a:lnSpc>
                      </a:pPr>
                      <a:r>
                        <a:rPr lang="zh-CN" altLang="en-US" sz="14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集成方案</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4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场景建议</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0"/>
                  </a:ext>
                </a:extLst>
              </a:tr>
              <a:tr h="438117">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kern="1200" dirty="0" err="1">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Portal+RADIUS</a:t>
                      </a:r>
                      <a:endParaRPr lang="en-US" altLang="zh-CN"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华为控制器作为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RADIUS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客户端和第三平台基于</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RADIUS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进行认证交互策略。建议</a:t>
                      </a:r>
                      <a:r>
                        <a:rPr lang="zh-CN" altLang="en-US" sz="1200" b="0" i="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计费。</a:t>
                      </a:r>
                      <a:endParaRPr lang="en-US" altLang="zh-CN" sz="10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503063">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Authorization API</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第三平台对用户进行认证后，第三平台可以调用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通知华为控制器授权用户。</a:t>
                      </a:r>
                      <a:r>
                        <a:rPr lang="zh-CN" altLang="en-US"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不建议计费。</a:t>
                      </a:r>
                      <a:endParaRPr lang="en-US" altLang="zh-CN" sz="1200"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grpSp>
        <p:nvGrpSpPr>
          <p:cNvPr id="8" name="组合 7"/>
          <p:cNvGrpSpPr/>
          <p:nvPr/>
        </p:nvGrpSpPr>
        <p:grpSpPr bwMode="gray">
          <a:xfrm>
            <a:off x="527667" y="1748364"/>
            <a:ext cx="5534627" cy="4318482"/>
            <a:chOff x="190187" y="1354002"/>
            <a:chExt cx="6986413" cy="5121453"/>
          </a:xfrm>
        </p:grpSpPr>
        <p:sp>
          <p:nvSpPr>
            <p:cNvPr id="9" name="Freeform 159">
              <a:extLst>
                <a:ext uri="{FF2B5EF4-FFF2-40B4-BE49-F238E27FC236}">
                  <a16:creationId xmlns:a16="http://schemas.microsoft.com/office/drawing/2014/main" xmlns="" id="{0BA610E4-2C68-4349-840F-29F43D2A463D}"/>
                </a:ext>
              </a:extLst>
            </p:cNvPr>
            <p:cNvSpPr/>
            <p:nvPr/>
          </p:nvSpPr>
          <p:spPr bwMode="gray">
            <a:xfrm flipH="1">
              <a:off x="589954" y="1573086"/>
              <a:ext cx="2857163" cy="14058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9">
              <a:extLst>
                <a:ext uri="{FF2B5EF4-FFF2-40B4-BE49-F238E27FC236}">
                  <a16:creationId xmlns:a16="http://schemas.microsoft.com/office/drawing/2014/main" xmlns="" id="{CB4C6808-C884-475A-BCCD-0CE3069160D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058360" y="2184680"/>
              <a:ext cx="680393" cy="542399"/>
            </a:xfrm>
            <a:prstGeom prst="rect">
              <a:avLst/>
            </a:prstGeom>
          </p:spPr>
        </p:pic>
        <p:pic>
          <p:nvPicPr>
            <p:cNvPr id="11" name="图片 10">
              <a:extLst>
                <a:ext uri="{FF2B5EF4-FFF2-40B4-BE49-F238E27FC236}">
                  <a16:creationId xmlns:a16="http://schemas.microsoft.com/office/drawing/2014/main" xmlns="" id="{7CA12E9E-7A8B-4392-9176-70219B81E82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84151" y="4970711"/>
              <a:ext cx="495187" cy="406053"/>
            </a:xfrm>
            <a:prstGeom prst="rect">
              <a:avLst/>
            </a:prstGeom>
          </p:spPr>
        </p:pic>
        <p:sp>
          <p:nvSpPr>
            <p:cNvPr id="12" name="文本框 11">
              <a:extLst>
                <a:ext uri="{FF2B5EF4-FFF2-40B4-BE49-F238E27FC236}">
                  <a16:creationId xmlns:a16="http://schemas.microsoft.com/office/drawing/2014/main" xmlns="" id="{29282D48-F113-44FD-AE82-13313460824A}"/>
                </a:ext>
              </a:extLst>
            </p:cNvPr>
            <p:cNvSpPr txBox="1"/>
            <p:nvPr/>
          </p:nvSpPr>
          <p:spPr bwMode="gray">
            <a:xfrm>
              <a:off x="1451034" y="1854852"/>
              <a:ext cx="1273102" cy="346754"/>
            </a:xfrm>
            <a:prstGeom prst="rect">
              <a:avLst/>
            </a:prstGeom>
            <a:noFill/>
          </p:spPr>
          <p:txBody>
            <a:bodyPr wrap="square" rtlCol="0">
              <a:spAutoFit/>
            </a:bodyPr>
            <a:lstStyle/>
            <a:p>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Open API</a:t>
              </a:r>
              <a:endParaRPr lang="zh-CN" altLang="en-US" sz="13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a:extLst>
                <a:ext uri="{FF2B5EF4-FFF2-40B4-BE49-F238E27FC236}">
                  <a16:creationId xmlns:a16="http://schemas.microsoft.com/office/drawing/2014/main" xmlns="" id="{272A6C28-738F-4245-9B4D-B724426B4C10}"/>
                </a:ext>
              </a:extLst>
            </p:cNvPr>
            <p:cNvSpPr txBox="1"/>
            <p:nvPr/>
          </p:nvSpPr>
          <p:spPr bwMode="gray">
            <a:xfrm>
              <a:off x="5470397" y="2838813"/>
              <a:ext cx="1706203" cy="346754"/>
            </a:xfrm>
            <a:prstGeom prst="rect">
              <a:avLst/>
            </a:prstGeom>
            <a:noFill/>
          </p:spPr>
          <p:txBody>
            <a:bodyPr wrap="none" rtlCol="0">
              <a:spAutoFit/>
            </a:bodyPr>
            <a:lstStyle/>
            <a:p>
              <a:r>
                <a:rPr lang="zh-CN" altLang="en-US" sz="1300" dirty="0">
                  <a:latin typeface="Huawei Sans" panose="020C0503030203020204" pitchFamily="34" charset="0"/>
                  <a:ea typeface="方正兰亭黑简体" panose="02000000000000000000" pitchFamily="2" charset="-122"/>
                  <a:sym typeface="Huawei Sans" panose="020C0503030203020204" pitchFamily="34" charset="0"/>
                </a:rPr>
                <a:t>第三方认证平台</a:t>
              </a:r>
            </a:p>
          </p:txBody>
        </p:sp>
        <p:pic>
          <p:nvPicPr>
            <p:cNvPr id="14" name="图片 76" descr="接入交换机.png">
              <a:extLst>
                <a:ext uri="{FF2B5EF4-FFF2-40B4-BE49-F238E27FC236}">
                  <a16:creationId xmlns:a16="http://schemas.microsoft.com/office/drawing/2014/main" xmlns="" id="{058C08F2-84A9-4B17-8118-125D27F51272}"/>
                </a:ext>
              </a:extLst>
            </p:cNvPr>
            <p:cNvPicPr>
              <a:picLocks/>
            </p:cNvPicPr>
            <p:nvPr/>
          </p:nvPicPr>
          <p:blipFill>
            <a:blip r:embed="rId5" cstate="print"/>
            <a:stretch>
              <a:fillRect/>
            </a:stretch>
          </p:blipFill>
          <p:spPr bwMode="gray">
            <a:xfrm>
              <a:off x="1709505" y="4077387"/>
              <a:ext cx="495187" cy="406053"/>
            </a:xfrm>
            <a:prstGeom prst="rect">
              <a:avLst/>
            </a:prstGeom>
          </p:spPr>
        </p:pic>
        <p:cxnSp>
          <p:nvCxnSpPr>
            <p:cNvPr id="15" name="直接连接符 14">
              <a:extLst>
                <a:ext uri="{FF2B5EF4-FFF2-40B4-BE49-F238E27FC236}">
                  <a16:creationId xmlns:a16="http://schemas.microsoft.com/office/drawing/2014/main" xmlns="" id="{382CCB86-B349-43FF-BC40-824BF57A3639}"/>
                </a:ext>
              </a:extLst>
            </p:cNvPr>
            <p:cNvCxnSpPr>
              <a:stCxn id="14" idx="2"/>
              <a:endCxn id="11" idx="0"/>
            </p:cNvCxnSpPr>
            <p:nvPr/>
          </p:nvCxnSpPr>
          <p:spPr bwMode="gray">
            <a:xfrm flipH="1">
              <a:off x="731745" y="4483440"/>
              <a:ext cx="1225354" cy="487271"/>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833716" y="4970710"/>
              <a:ext cx="495187" cy="406053"/>
            </a:xfrm>
            <a:prstGeom prst="rect">
              <a:avLst/>
            </a:prstGeom>
          </p:spPr>
        </p:pic>
        <p:cxnSp>
          <p:nvCxnSpPr>
            <p:cNvPr id="17" name="直接连接符 16">
              <a:extLst>
                <a:ext uri="{FF2B5EF4-FFF2-40B4-BE49-F238E27FC236}">
                  <a16:creationId xmlns:a16="http://schemas.microsoft.com/office/drawing/2014/main" xmlns="" id="{7A445271-B7E9-4734-821A-9C1214916573}"/>
                </a:ext>
              </a:extLst>
            </p:cNvPr>
            <p:cNvCxnSpPr>
              <a:cxnSpLocks/>
              <a:stCxn id="14" idx="2"/>
              <a:endCxn id="16" idx="0"/>
            </p:cNvCxnSpPr>
            <p:nvPr/>
          </p:nvCxnSpPr>
          <p:spPr bwMode="gray">
            <a:xfrm>
              <a:off x="1957099" y="4483440"/>
              <a:ext cx="1124211" cy="487270"/>
            </a:xfrm>
            <a:prstGeom prst="line">
              <a:avLst/>
            </a:prstGeom>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xmlns="" id="{A106802D-E113-4775-BB03-4ECE0FC0F203}"/>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712499" y="3303824"/>
              <a:ext cx="495187" cy="406053"/>
            </a:xfrm>
            <a:prstGeom prst="rect">
              <a:avLst/>
            </a:prstGeom>
          </p:spPr>
        </p:pic>
        <p:cxnSp>
          <p:nvCxnSpPr>
            <p:cNvPr id="19" name="直接连接符 18">
              <a:extLst>
                <a:ext uri="{FF2B5EF4-FFF2-40B4-BE49-F238E27FC236}">
                  <a16:creationId xmlns:a16="http://schemas.microsoft.com/office/drawing/2014/main" xmlns="" id="{657D2C54-031C-4A2F-BBA0-5E9C25F8AC3F}"/>
                </a:ext>
              </a:extLst>
            </p:cNvPr>
            <p:cNvCxnSpPr>
              <a:cxnSpLocks/>
              <a:stCxn id="18" idx="2"/>
              <a:endCxn id="14" idx="0"/>
            </p:cNvCxnSpPr>
            <p:nvPr/>
          </p:nvCxnSpPr>
          <p:spPr bwMode="gray">
            <a:xfrm flipH="1">
              <a:off x="1957099" y="3709877"/>
              <a:ext cx="2994" cy="3675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xmlns="" id="{00EC21D3-088E-47EE-80DA-EF09482D44C9}"/>
                </a:ext>
              </a:extLst>
            </p:cNvPr>
            <p:cNvCxnSpPr>
              <a:cxnSpLocks/>
              <a:endCxn id="18" idx="0"/>
            </p:cNvCxnSpPr>
            <p:nvPr/>
          </p:nvCxnSpPr>
          <p:spPr bwMode="gray">
            <a:xfrm>
              <a:off x="1957098" y="3006776"/>
              <a:ext cx="2995" cy="297048"/>
            </a:xfrm>
            <a:prstGeom prst="line">
              <a:avLst/>
            </a:prstGeom>
          </p:spPr>
          <p:style>
            <a:lnRef idx="1">
              <a:schemeClr val="accent1"/>
            </a:lnRef>
            <a:fillRef idx="0">
              <a:schemeClr val="accent1"/>
            </a:fillRef>
            <a:effectRef idx="0">
              <a:schemeClr val="accent1"/>
            </a:effectRef>
            <a:fontRef idx="minor">
              <a:schemeClr val="tx1"/>
            </a:fontRef>
          </p:style>
        </p:cxnSp>
        <p:sp>
          <p:nvSpPr>
            <p:cNvPr id="21" name="任意多边形: 形状 33">
              <a:extLst>
                <a:ext uri="{FF2B5EF4-FFF2-40B4-BE49-F238E27FC236}">
                  <a16:creationId xmlns:a16="http://schemas.microsoft.com/office/drawing/2014/main" xmlns="" id="{4202E2F6-FC8A-421A-8B3A-56DAC1222C87}"/>
                </a:ext>
              </a:extLst>
            </p:cNvPr>
            <p:cNvSpPr/>
            <p:nvPr/>
          </p:nvSpPr>
          <p:spPr bwMode="gray">
            <a:xfrm>
              <a:off x="2684256" y="5381597"/>
              <a:ext cx="461850" cy="528637"/>
            </a:xfrm>
            <a:custGeom>
              <a:avLst/>
              <a:gdLst>
                <a:gd name="connsiteX0" fmla="*/ 0 w 584200"/>
                <a:gd name="connsiteY0" fmla="*/ 533400 h 533400"/>
                <a:gd name="connsiteX1" fmla="*/ 469900 w 584200"/>
                <a:gd name="connsiteY1" fmla="*/ 393700 h 533400"/>
                <a:gd name="connsiteX2" fmla="*/ 584200 w 584200"/>
                <a:gd name="connsiteY2" fmla="*/ 0 h 533400"/>
                <a:gd name="connsiteX0" fmla="*/ 0 w 544870"/>
                <a:gd name="connsiteY0" fmla="*/ 528637 h 528637"/>
                <a:gd name="connsiteX1" fmla="*/ 469900 w 544870"/>
                <a:gd name="connsiteY1" fmla="*/ 388937 h 528637"/>
                <a:gd name="connsiteX2" fmla="*/ 544870 w 544870"/>
                <a:gd name="connsiteY2" fmla="*/ 0 h 528637"/>
                <a:gd name="connsiteX0" fmla="*/ 0 w 544870"/>
                <a:gd name="connsiteY0" fmla="*/ 528637 h 528637"/>
                <a:gd name="connsiteX1" fmla="*/ 469900 w 544870"/>
                <a:gd name="connsiteY1" fmla="*/ 388937 h 528637"/>
                <a:gd name="connsiteX2" fmla="*/ 544870 w 544870"/>
                <a:gd name="connsiteY2" fmla="*/ 0 h 528637"/>
              </a:gdLst>
              <a:ahLst/>
              <a:cxnLst>
                <a:cxn ang="0">
                  <a:pos x="connsiteX0" y="connsiteY0"/>
                </a:cxn>
                <a:cxn ang="0">
                  <a:pos x="connsiteX1" y="connsiteY1"/>
                </a:cxn>
                <a:cxn ang="0">
                  <a:pos x="connsiteX2" y="connsiteY2"/>
                </a:cxn>
              </a:cxnLst>
              <a:rect l="l" t="t" r="r" b="b"/>
              <a:pathLst>
                <a:path w="544870" h="528637">
                  <a:moveTo>
                    <a:pt x="0" y="528637"/>
                  </a:moveTo>
                  <a:cubicBezTo>
                    <a:pt x="186266" y="503237"/>
                    <a:pt x="372533" y="477837"/>
                    <a:pt x="469900" y="388937"/>
                  </a:cubicBezTo>
                  <a:cubicBezTo>
                    <a:pt x="567267" y="300037"/>
                    <a:pt x="536824" y="182033"/>
                    <a:pt x="544870" y="0"/>
                  </a:cubicBezTo>
                </a:path>
              </a:pathLst>
            </a:custGeom>
            <a:noFill/>
            <a:ln w="12700">
              <a:solidFill>
                <a:srgbClr val="94DAE2"/>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任意多边形: 形状 34">
              <a:extLst>
                <a:ext uri="{FF2B5EF4-FFF2-40B4-BE49-F238E27FC236}">
                  <a16:creationId xmlns:a16="http://schemas.microsoft.com/office/drawing/2014/main" xmlns="" id="{0DAEB878-DDFD-4621-9C73-FB4C1F9394A5}"/>
                </a:ext>
              </a:extLst>
            </p:cNvPr>
            <p:cNvSpPr/>
            <p:nvPr/>
          </p:nvSpPr>
          <p:spPr bwMode="gray">
            <a:xfrm>
              <a:off x="2045047" y="2866976"/>
              <a:ext cx="712066" cy="1892478"/>
            </a:xfrm>
            <a:custGeom>
              <a:avLst/>
              <a:gdLst>
                <a:gd name="connsiteX0" fmla="*/ 45950 w 446000"/>
                <a:gd name="connsiteY0" fmla="*/ 0 h 2076450"/>
                <a:gd name="connsiteX1" fmla="*/ 36425 w 446000"/>
                <a:gd name="connsiteY1" fmla="*/ 1495425 h 2076450"/>
                <a:gd name="connsiteX2" fmla="*/ 446000 w 446000"/>
                <a:gd name="connsiteY2" fmla="*/ 2076450 h 2076450"/>
                <a:gd name="connsiteX0" fmla="*/ 28405 w 460205"/>
                <a:gd name="connsiteY0" fmla="*/ 0 h 2000250"/>
                <a:gd name="connsiteX1" fmla="*/ 50630 w 460205"/>
                <a:gd name="connsiteY1" fmla="*/ 1419225 h 2000250"/>
                <a:gd name="connsiteX2" fmla="*/ 460205 w 460205"/>
                <a:gd name="connsiteY2" fmla="*/ 2000250 h 2000250"/>
                <a:gd name="connsiteX0" fmla="*/ 28405 w 460205"/>
                <a:gd name="connsiteY0" fmla="*/ 0 h 2000250"/>
                <a:gd name="connsiteX1" fmla="*/ 50630 w 460205"/>
                <a:gd name="connsiteY1" fmla="*/ 1419225 h 2000250"/>
                <a:gd name="connsiteX2" fmla="*/ 460205 w 460205"/>
                <a:gd name="connsiteY2" fmla="*/ 2000250 h 2000250"/>
                <a:gd name="connsiteX0" fmla="*/ 15136 w 446936"/>
                <a:gd name="connsiteY0" fmla="*/ 0 h 2000250"/>
                <a:gd name="connsiteX1" fmla="*/ 81811 w 446936"/>
                <a:gd name="connsiteY1" fmla="*/ 1419225 h 2000250"/>
                <a:gd name="connsiteX2" fmla="*/ 446936 w 446936"/>
                <a:gd name="connsiteY2" fmla="*/ 2000250 h 2000250"/>
                <a:gd name="connsiteX0" fmla="*/ 15136 w 446936"/>
                <a:gd name="connsiteY0" fmla="*/ 0 h 2000250"/>
                <a:gd name="connsiteX1" fmla="*/ 81811 w 446936"/>
                <a:gd name="connsiteY1" fmla="*/ 1419225 h 2000250"/>
                <a:gd name="connsiteX2" fmla="*/ 446936 w 446936"/>
                <a:gd name="connsiteY2" fmla="*/ 2000250 h 2000250"/>
              </a:gdLst>
              <a:ahLst/>
              <a:cxnLst>
                <a:cxn ang="0">
                  <a:pos x="connsiteX0" y="connsiteY0"/>
                </a:cxn>
                <a:cxn ang="0">
                  <a:pos x="connsiteX1" y="connsiteY1"/>
                </a:cxn>
                <a:cxn ang="0">
                  <a:pos x="connsiteX2" y="connsiteY2"/>
                </a:cxn>
              </a:cxnLst>
              <a:rect l="l" t="t" r="r" b="b"/>
              <a:pathLst>
                <a:path w="446936" h="2000250">
                  <a:moveTo>
                    <a:pt x="15136" y="0"/>
                  </a:moveTo>
                  <a:cubicBezTo>
                    <a:pt x="-22964" y="574675"/>
                    <a:pt x="15136" y="1073150"/>
                    <a:pt x="81811" y="1419225"/>
                  </a:cubicBezTo>
                  <a:cubicBezTo>
                    <a:pt x="186586" y="1765300"/>
                    <a:pt x="275486" y="1882775"/>
                    <a:pt x="446936" y="2000250"/>
                  </a:cubicBezTo>
                </a:path>
              </a:pathLst>
            </a:custGeom>
            <a:noFill/>
            <a:ln w="12700">
              <a:solidFill>
                <a:srgbClr val="94DAE2"/>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任意多边形: 形状 35">
              <a:extLst>
                <a:ext uri="{FF2B5EF4-FFF2-40B4-BE49-F238E27FC236}">
                  <a16:creationId xmlns:a16="http://schemas.microsoft.com/office/drawing/2014/main" xmlns="" id="{CEFD060C-3C85-4895-802C-256E1DD74BE1}"/>
                </a:ext>
              </a:extLst>
            </p:cNvPr>
            <p:cNvSpPr/>
            <p:nvPr/>
          </p:nvSpPr>
          <p:spPr bwMode="gray">
            <a:xfrm>
              <a:off x="2833716" y="1742667"/>
              <a:ext cx="3053706" cy="447678"/>
            </a:xfrm>
            <a:custGeom>
              <a:avLst/>
              <a:gdLst>
                <a:gd name="connsiteX0" fmla="*/ 0 w 2235200"/>
                <a:gd name="connsiteY0" fmla="*/ 376491 h 376491"/>
                <a:gd name="connsiteX1" fmla="*/ 711200 w 2235200"/>
                <a:gd name="connsiteY1" fmla="*/ 46291 h 376491"/>
                <a:gd name="connsiteX2" fmla="*/ 1524000 w 2235200"/>
                <a:gd name="connsiteY2" fmla="*/ 33591 h 376491"/>
                <a:gd name="connsiteX3" fmla="*/ 2235200 w 2235200"/>
                <a:gd name="connsiteY3" fmla="*/ 338391 h 376491"/>
              </a:gdLst>
              <a:ahLst/>
              <a:cxnLst>
                <a:cxn ang="0">
                  <a:pos x="connsiteX0" y="connsiteY0"/>
                </a:cxn>
                <a:cxn ang="0">
                  <a:pos x="connsiteX1" y="connsiteY1"/>
                </a:cxn>
                <a:cxn ang="0">
                  <a:pos x="connsiteX2" y="connsiteY2"/>
                </a:cxn>
                <a:cxn ang="0">
                  <a:pos x="connsiteX3" y="connsiteY3"/>
                </a:cxn>
              </a:cxnLst>
              <a:rect l="l" t="t" r="r" b="b"/>
              <a:pathLst>
                <a:path w="2235200" h="376491">
                  <a:moveTo>
                    <a:pt x="0" y="376491"/>
                  </a:moveTo>
                  <a:cubicBezTo>
                    <a:pt x="228600" y="239966"/>
                    <a:pt x="457200" y="103441"/>
                    <a:pt x="711200" y="46291"/>
                  </a:cubicBezTo>
                  <a:cubicBezTo>
                    <a:pt x="965200" y="-10859"/>
                    <a:pt x="1270000" y="-15092"/>
                    <a:pt x="1524000" y="33591"/>
                  </a:cubicBezTo>
                  <a:cubicBezTo>
                    <a:pt x="1778000" y="82274"/>
                    <a:pt x="2006600" y="210332"/>
                    <a:pt x="2235200" y="338391"/>
                  </a:cubicBezTo>
                </a:path>
              </a:pathLst>
            </a:custGeom>
            <a:noFill/>
            <a:ln w="19050">
              <a:solidFill>
                <a:srgbClr val="EC7061"/>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任意多边形: 形状 38">
              <a:extLst>
                <a:ext uri="{FF2B5EF4-FFF2-40B4-BE49-F238E27FC236}">
                  <a16:creationId xmlns:a16="http://schemas.microsoft.com/office/drawing/2014/main" xmlns="" id="{874C4E77-89F2-4DA2-A35F-0550E23A9BB0}"/>
                </a:ext>
              </a:extLst>
            </p:cNvPr>
            <p:cNvSpPr/>
            <p:nvPr/>
          </p:nvSpPr>
          <p:spPr bwMode="gray">
            <a:xfrm>
              <a:off x="2831459" y="2709723"/>
              <a:ext cx="3085155" cy="195991"/>
            </a:xfrm>
            <a:custGeom>
              <a:avLst/>
              <a:gdLst>
                <a:gd name="connsiteX0" fmla="*/ 0 w 1917700"/>
                <a:gd name="connsiteY0" fmla="*/ 0 h 190709"/>
                <a:gd name="connsiteX1" fmla="*/ 927100 w 1917700"/>
                <a:gd name="connsiteY1" fmla="*/ 190500 h 190709"/>
                <a:gd name="connsiteX2" fmla="*/ 1917700 w 1917700"/>
                <a:gd name="connsiteY2" fmla="*/ 38100 h 190709"/>
              </a:gdLst>
              <a:ahLst/>
              <a:cxnLst>
                <a:cxn ang="0">
                  <a:pos x="connsiteX0" y="connsiteY0"/>
                </a:cxn>
                <a:cxn ang="0">
                  <a:pos x="connsiteX1" y="connsiteY1"/>
                </a:cxn>
                <a:cxn ang="0">
                  <a:pos x="connsiteX2" y="connsiteY2"/>
                </a:cxn>
              </a:cxnLst>
              <a:rect l="l" t="t" r="r" b="b"/>
              <a:pathLst>
                <a:path w="1917700" h="190709">
                  <a:moveTo>
                    <a:pt x="0" y="0"/>
                  </a:moveTo>
                  <a:cubicBezTo>
                    <a:pt x="303741" y="92075"/>
                    <a:pt x="607483" y="184150"/>
                    <a:pt x="927100" y="190500"/>
                  </a:cubicBezTo>
                  <a:cubicBezTo>
                    <a:pt x="1246717" y="196850"/>
                    <a:pt x="1754717" y="57150"/>
                    <a:pt x="1917700" y="38100"/>
                  </a:cubicBezTo>
                </a:path>
              </a:pathLst>
            </a:custGeom>
            <a:noFill/>
            <a:ln w="19050">
              <a:solidFill>
                <a:srgbClr val="EC7061"/>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a:extLst>
                <a:ext uri="{FF2B5EF4-FFF2-40B4-BE49-F238E27FC236}">
                  <a16:creationId xmlns:a16="http://schemas.microsoft.com/office/drawing/2014/main" xmlns="" id="{9B269206-A764-4E8F-B2F7-5A8CFB498BA0}"/>
                </a:ext>
              </a:extLst>
            </p:cNvPr>
            <p:cNvSpPr txBox="1"/>
            <p:nvPr/>
          </p:nvSpPr>
          <p:spPr bwMode="gray">
            <a:xfrm>
              <a:off x="3400260" y="1354002"/>
              <a:ext cx="2070137" cy="328504"/>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：授权</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a:extLst>
                <a:ext uri="{FF2B5EF4-FFF2-40B4-BE49-F238E27FC236}">
                  <a16:creationId xmlns:a16="http://schemas.microsoft.com/office/drawing/2014/main" xmlns="" id="{04D25DB3-C1A0-457B-BBDD-8412FF857832}"/>
                </a:ext>
              </a:extLst>
            </p:cNvPr>
            <p:cNvSpPr txBox="1"/>
            <p:nvPr/>
          </p:nvSpPr>
          <p:spPr bwMode="gray">
            <a:xfrm>
              <a:off x="3340780" y="2921610"/>
              <a:ext cx="2327136" cy="328504"/>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2:Portal+Radius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894469" y="3330255"/>
              <a:ext cx="1238238" cy="328504"/>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Firewall</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948554" y="4145193"/>
              <a:ext cx="1238238" cy="328504"/>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a:extLst>
                <a:ext uri="{FF2B5EF4-FFF2-40B4-BE49-F238E27FC236}">
                  <a16:creationId xmlns:a16="http://schemas.microsoft.com/office/drawing/2014/main" xmlns="" id="{7A445271-B7E9-4734-821A-9C1214916573}"/>
                </a:ext>
              </a:extLst>
            </p:cNvPr>
            <p:cNvCxnSpPr>
              <a:cxnSpLocks/>
              <a:endCxn id="34" idx="0"/>
            </p:cNvCxnSpPr>
            <p:nvPr/>
          </p:nvCxnSpPr>
          <p:spPr bwMode="gray">
            <a:xfrm>
              <a:off x="1970701" y="4465289"/>
              <a:ext cx="0" cy="510255"/>
            </a:xfrm>
            <a:prstGeom prst="line">
              <a:avLst/>
            </a:prstGeom>
          </p:spPr>
          <p:style>
            <a:lnRef idx="1">
              <a:schemeClr val="accent1"/>
            </a:lnRef>
            <a:fillRef idx="0">
              <a:schemeClr val="accent1"/>
            </a:fillRef>
            <a:effectRef idx="0">
              <a:schemeClr val="accent1"/>
            </a:effectRef>
            <a:fontRef idx="minor">
              <a:schemeClr val="tx1"/>
            </a:fontRef>
          </p:style>
        </p:cxnSp>
        <p:pic>
          <p:nvPicPr>
            <p:cNvPr id="34" name="图片 33">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723107" y="4975544"/>
              <a:ext cx="495187" cy="406053"/>
            </a:xfrm>
            <a:prstGeom prst="rect">
              <a:avLst/>
            </a:prstGeom>
          </p:spPr>
        </p:pic>
        <p:sp>
          <p:nvSpPr>
            <p:cNvPr id="35" name="文本框 34"/>
            <p:cNvSpPr txBox="1"/>
            <p:nvPr/>
          </p:nvSpPr>
          <p:spPr bwMode="gray">
            <a:xfrm>
              <a:off x="190187" y="5398290"/>
              <a:ext cx="1277019" cy="328504"/>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1494197" y="5408793"/>
              <a:ext cx="1277019" cy="328504"/>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任意多边形: 形状 33">
              <a:extLst>
                <a:ext uri="{FF2B5EF4-FFF2-40B4-BE49-F238E27FC236}">
                  <a16:creationId xmlns:a16="http://schemas.microsoft.com/office/drawing/2014/main" xmlns="" id="{4202E2F6-FC8A-421A-8B3A-56DAC1222C87}"/>
                </a:ext>
              </a:extLst>
            </p:cNvPr>
            <p:cNvSpPr/>
            <p:nvPr/>
          </p:nvSpPr>
          <p:spPr bwMode="gray">
            <a:xfrm>
              <a:off x="1830862" y="5365825"/>
              <a:ext cx="1315410" cy="490061"/>
            </a:xfrm>
            <a:custGeom>
              <a:avLst/>
              <a:gdLst>
                <a:gd name="connsiteX0" fmla="*/ 0 w 584200"/>
                <a:gd name="connsiteY0" fmla="*/ 533400 h 533400"/>
                <a:gd name="connsiteX1" fmla="*/ 469900 w 584200"/>
                <a:gd name="connsiteY1" fmla="*/ 393700 h 533400"/>
                <a:gd name="connsiteX2" fmla="*/ 584200 w 584200"/>
                <a:gd name="connsiteY2" fmla="*/ 0 h 533400"/>
                <a:gd name="connsiteX0" fmla="*/ 0 w 544870"/>
                <a:gd name="connsiteY0" fmla="*/ 528637 h 528637"/>
                <a:gd name="connsiteX1" fmla="*/ 469900 w 544870"/>
                <a:gd name="connsiteY1" fmla="*/ 388937 h 528637"/>
                <a:gd name="connsiteX2" fmla="*/ 544870 w 544870"/>
                <a:gd name="connsiteY2" fmla="*/ 0 h 528637"/>
                <a:gd name="connsiteX0" fmla="*/ 0 w 544870"/>
                <a:gd name="connsiteY0" fmla="*/ 528637 h 528637"/>
                <a:gd name="connsiteX1" fmla="*/ 469900 w 544870"/>
                <a:gd name="connsiteY1" fmla="*/ 388937 h 528637"/>
                <a:gd name="connsiteX2" fmla="*/ 544870 w 544870"/>
                <a:gd name="connsiteY2" fmla="*/ 0 h 528637"/>
              </a:gdLst>
              <a:ahLst/>
              <a:cxnLst>
                <a:cxn ang="0">
                  <a:pos x="connsiteX0" y="connsiteY0"/>
                </a:cxn>
                <a:cxn ang="0">
                  <a:pos x="connsiteX1" y="connsiteY1"/>
                </a:cxn>
                <a:cxn ang="0">
                  <a:pos x="connsiteX2" y="connsiteY2"/>
                </a:cxn>
              </a:cxnLst>
              <a:rect l="l" t="t" r="r" b="b"/>
              <a:pathLst>
                <a:path w="544870" h="528637">
                  <a:moveTo>
                    <a:pt x="0" y="528637"/>
                  </a:moveTo>
                  <a:cubicBezTo>
                    <a:pt x="186266" y="503237"/>
                    <a:pt x="372533" y="477837"/>
                    <a:pt x="469900" y="388937"/>
                  </a:cubicBezTo>
                  <a:cubicBezTo>
                    <a:pt x="567267" y="300037"/>
                    <a:pt x="536824" y="182033"/>
                    <a:pt x="544870" y="0"/>
                  </a:cubicBezTo>
                </a:path>
              </a:pathLst>
            </a:custGeom>
            <a:noFill/>
            <a:ln w="12700">
              <a:solidFill>
                <a:srgbClr val="94DAE2"/>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40" descr="SAN网络-蓝.png"/>
            <p:cNvPicPr>
              <a:picLocks noChangeAspect="1"/>
            </p:cNvPicPr>
            <p:nvPr/>
          </p:nvPicPr>
          <p:blipFill>
            <a:blip r:embed="rId7" cstate="print"/>
            <a:stretch>
              <a:fillRect/>
            </a:stretch>
          </p:blipFill>
          <p:spPr bwMode="gray">
            <a:xfrm>
              <a:off x="2438075" y="5876892"/>
              <a:ext cx="267540" cy="438311"/>
            </a:xfrm>
            <a:prstGeom prst="rect">
              <a:avLst/>
            </a:prstGeom>
          </p:spPr>
        </p:pic>
        <p:pic>
          <p:nvPicPr>
            <p:cNvPr id="42" name="图片 41" descr="SAN网络-蓝.png"/>
            <p:cNvPicPr>
              <a:picLocks noChangeAspect="1"/>
            </p:cNvPicPr>
            <p:nvPr/>
          </p:nvPicPr>
          <p:blipFill>
            <a:blip r:embed="rId7" cstate="print"/>
            <a:stretch>
              <a:fillRect/>
            </a:stretch>
          </p:blipFill>
          <p:spPr bwMode="gray">
            <a:xfrm>
              <a:off x="1670397" y="5876892"/>
              <a:ext cx="267540" cy="438311"/>
            </a:xfrm>
            <a:prstGeom prst="rect">
              <a:avLst/>
            </a:prstGeom>
          </p:spPr>
        </p:pic>
        <p:sp>
          <p:nvSpPr>
            <p:cNvPr id="43" name="文本框 42"/>
            <p:cNvSpPr txBox="1"/>
            <p:nvPr/>
          </p:nvSpPr>
          <p:spPr bwMode="gray">
            <a:xfrm>
              <a:off x="2705615" y="6146951"/>
              <a:ext cx="1334645" cy="328504"/>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认证授权</a:t>
              </a:r>
            </a:p>
          </p:txBody>
        </p:sp>
      </p:grpSp>
      <p:pic>
        <p:nvPicPr>
          <p:cNvPr id="55" name="图片 54" descr="wifi信号蓝.png">
            <a:extLst>
              <a:ext uri="{FF2B5EF4-FFF2-40B4-BE49-F238E27FC236}">
                <a16:creationId xmlns:a16="http://schemas.microsoft.com/office/drawing/2014/main" xmlns="" id="{736C51A8-A709-46BC-A873-FDE80F5A3831}"/>
              </a:ext>
            </a:extLst>
          </p:cNvPr>
          <p:cNvPicPr>
            <a:picLocks noChangeAspect="1"/>
          </p:cNvPicPr>
          <p:nvPr/>
        </p:nvPicPr>
        <p:blipFill>
          <a:blip r:embed="rId8" cstate="print"/>
          <a:stretch>
            <a:fillRect/>
          </a:stretch>
        </p:blipFill>
        <p:spPr bwMode="gray">
          <a:xfrm>
            <a:off x="2563977" y="5580647"/>
            <a:ext cx="292214" cy="244685"/>
          </a:xfrm>
          <a:prstGeom prst="rect">
            <a:avLst/>
          </a:prstGeom>
        </p:spPr>
      </p:pic>
      <p:sp>
        <p:nvSpPr>
          <p:cNvPr id="45" name="文本框 44"/>
          <p:cNvSpPr txBox="1"/>
          <p:nvPr/>
        </p:nvSpPr>
        <p:spPr bwMode="gray">
          <a:xfrm>
            <a:off x="2348719" y="5158565"/>
            <a:ext cx="1011653"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9" name="图片 38">
            <a:extLst>
              <a:ext uri="{FF2B5EF4-FFF2-40B4-BE49-F238E27FC236}">
                <a16:creationId xmlns:a16="http://schemas.microsoft.com/office/drawing/2014/main" xmlns="" id="{A393F8C6-B304-4066-850C-3C06096FE2A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526739" y="2449538"/>
            <a:ext cx="951607" cy="540946"/>
          </a:xfrm>
          <a:prstGeom prst="rect">
            <a:avLst/>
          </a:prstGeom>
        </p:spPr>
      </p:pic>
    </p:spTree>
    <p:extLst>
      <p:ext uri="{BB962C8B-B14F-4D97-AF65-F5344CB8AC3E}">
        <p14:creationId xmlns:p14="http://schemas.microsoft.com/office/powerpoint/2010/main" val="15508675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0255AE0-B8FC-40E4-8868-C229E5423DA4}"/>
              </a:ext>
            </a:extLst>
          </p:cNvPr>
          <p:cNvSpPr>
            <a:spLocks noGrp="1"/>
          </p:cNvSpPr>
          <p:nvPr>
            <p:ph type="title"/>
          </p:nvPr>
        </p:nvSpPr>
        <p:spPr bwMode="gray"/>
        <p:txBody>
          <a:bodyPr/>
          <a:lstStyle/>
          <a:p>
            <a:r>
              <a:rPr lang="zh-CN" altLang="en-US" smtClean="0">
                <a:sym typeface="Huawei Sans" panose="020C0503030203020204" pitchFamily="34" charset="0"/>
              </a:rPr>
              <a:t>基于</a:t>
            </a:r>
            <a:r>
              <a:rPr lang="en-US" altLang="zh-CN" smtClean="0">
                <a:sym typeface="Huawei Sans" panose="020C0503030203020204" pitchFamily="34" charset="0"/>
              </a:rPr>
              <a:t>Authorization API</a:t>
            </a:r>
            <a:r>
              <a:rPr lang="zh-CN" altLang="en-US" smtClean="0">
                <a:sym typeface="Huawei Sans" panose="020C0503030203020204" pitchFamily="34" charset="0"/>
              </a:rPr>
              <a:t>对接流程</a:t>
            </a:r>
            <a:endParaRPr lang="zh-CN" altLang="en-US" dirty="0">
              <a:sym typeface="Huawei Sans" panose="020C0503030203020204" pitchFamily="34" charset="0"/>
            </a:endParaRPr>
          </a:p>
        </p:txBody>
      </p:sp>
      <p:sp>
        <p:nvSpPr>
          <p:cNvPr id="152" name="TextBox 213">
            <a:extLst>
              <a:ext uri="{FF2B5EF4-FFF2-40B4-BE49-F238E27FC236}">
                <a16:creationId xmlns:a16="http://schemas.microsoft.com/office/drawing/2014/main" xmlns="" id="{19DD1455-1280-4F05-A24D-5C2DA7EC593D}"/>
              </a:ext>
            </a:extLst>
          </p:cNvPr>
          <p:cNvSpPr txBox="1"/>
          <p:nvPr/>
        </p:nvSpPr>
        <p:spPr bwMode="gray">
          <a:xfrm>
            <a:off x="3537029" y="1033915"/>
            <a:ext cx="907621" cy="307777"/>
          </a:xfrm>
          <a:prstGeom prst="rect">
            <a:avLst/>
          </a:prstGeom>
          <a:noFill/>
        </p:spPr>
        <p:txBody>
          <a:bodyPr wrap="none" rtlCol="0">
            <a:spAutoFit/>
          </a:bodyPr>
          <a:lstStyle>
            <a:defPPr>
              <a:defRPr lang="en-US"/>
            </a:defPPr>
            <a:lvl1pPr>
              <a:defRPr sz="1500">
                <a:solidFill>
                  <a:srgbClr val="0070C0"/>
                </a:solidFill>
              </a:defRPr>
            </a:lvl1pPr>
          </a:lstStyle>
          <a:p>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a:t>
            </a:r>
          </a:p>
        </p:txBody>
      </p:sp>
      <p:cxnSp>
        <p:nvCxnSpPr>
          <p:cNvPr id="153" name="直接连接符 152">
            <a:extLst>
              <a:ext uri="{FF2B5EF4-FFF2-40B4-BE49-F238E27FC236}">
                <a16:creationId xmlns:a16="http://schemas.microsoft.com/office/drawing/2014/main" xmlns="" id="{D56670B5-86FA-4720-942F-EC772E307FEA}"/>
              </a:ext>
            </a:extLst>
          </p:cNvPr>
          <p:cNvCxnSpPr/>
          <p:nvPr/>
        </p:nvCxnSpPr>
        <p:spPr bwMode="gray">
          <a:xfrm>
            <a:off x="4004331" y="1883643"/>
            <a:ext cx="0" cy="4280887"/>
          </a:xfrm>
          <a:prstGeom prst="line">
            <a:avLst/>
          </a:prstGeom>
          <a:ln>
            <a:solidFill>
              <a:srgbClr val="94DAE2"/>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44" name="直接连接符 143">
            <a:extLst>
              <a:ext uri="{FF2B5EF4-FFF2-40B4-BE49-F238E27FC236}">
                <a16:creationId xmlns:a16="http://schemas.microsoft.com/office/drawing/2014/main" xmlns="" id="{0DF195BE-2427-49F4-98FE-0CE478847512}"/>
              </a:ext>
            </a:extLst>
          </p:cNvPr>
          <p:cNvCxnSpPr/>
          <p:nvPr/>
        </p:nvCxnSpPr>
        <p:spPr bwMode="gray">
          <a:xfrm>
            <a:off x="1018912" y="1852296"/>
            <a:ext cx="0" cy="4269351"/>
          </a:xfrm>
          <a:prstGeom prst="line">
            <a:avLst/>
          </a:prstGeom>
          <a:ln>
            <a:solidFill>
              <a:srgbClr val="94DAE2"/>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85" name="TextBox 243">
            <a:extLst>
              <a:ext uri="{FF2B5EF4-FFF2-40B4-BE49-F238E27FC236}">
                <a16:creationId xmlns:a16="http://schemas.microsoft.com/office/drawing/2014/main" xmlns="" id="{88AB2A3C-D939-48C7-B6A3-D4E09B4E5CAA}"/>
              </a:ext>
            </a:extLst>
          </p:cNvPr>
          <p:cNvSpPr txBox="1"/>
          <p:nvPr/>
        </p:nvSpPr>
        <p:spPr bwMode="gray">
          <a:xfrm>
            <a:off x="1083578" y="3456216"/>
            <a:ext cx="4275887"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8</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a:t>
            </a:r>
            <a:r>
              <a:rPr lang="zh-CN" altLang="zh-CN" sz="1200" dirty="0">
                <a:latin typeface="Huawei Sans" panose="020C0503030203020204" pitchFamily="34" charset="0"/>
                <a:ea typeface="方正兰亭黑简体" panose="02000000000000000000" pitchFamily="2" charset="-122"/>
                <a:sym typeface="Huawei Sans" panose="020C0503030203020204" pitchFamily="34" charset="0"/>
              </a:rPr>
              <a:t>用户输入</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账号</a:t>
            </a:r>
            <a:r>
              <a:rPr lang="zh-CN" altLang="zh-CN" sz="1200" dirty="0">
                <a:latin typeface="Huawei Sans" panose="020C0503030203020204" pitchFamily="34" charset="0"/>
                <a:ea typeface="方正兰亭黑简体" panose="02000000000000000000" pitchFamily="2" charset="-122"/>
                <a:sym typeface="Huawei Sans" panose="020C0503030203020204" pitchFamily="34" charset="0"/>
              </a:rPr>
              <a:t>、密码，</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进行登录</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6" name="直接箭头连接符 85">
            <a:extLst>
              <a:ext uri="{FF2B5EF4-FFF2-40B4-BE49-F238E27FC236}">
                <a16:creationId xmlns:a16="http://schemas.microsoft.com/office/drawing/2014/main" xmlns="" id="{C004ADD3-0E5C-49C9-86C0-767AC2D49A37}"/>
              </a:ext>
            </a:extLst>
          </p:cNvPr>
          <p:cNvCxnSpPr/>
          <p:nvPr/>
        </p:nvCxnSpPr>
        <p:spPr bwMode="gray">
          <a:xfrm flipV="1">
            <a:off x="1037052" y="3678415"/>
            <a:ext cx="9739229"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grpSp>
        <p:nvGrpSpPr>
          <p:cNvPr id="87" name="组合 157">
            <a:extLst>
              <a:ext uri="{FF2B5EF4-FFF2-40B4-BE49-F238E27FC236}">
                <a16:creationId xmlns:a16="http://schemas.microsoft.com/office/drawing/2014/main" xmlns="" id="{9890B34D-9516-4FBB-AD42-1A2B624C7E71}"/>
              </a:ext>
            </a:extLst>
          </p:cNvPr>
          <p:cNvGrpSpPr/>
          <p:nvPr/>
        </p:nvGrpSpPr>
        <p:grpSpPr bwMode="gray">
          <a:xfrm>
            <a:off x="4014558" y="3876554"/>
            <a:ext cx="4953403" cy="296908"/>
            <a:chOff x="2451585" y="2568405"/>
            <a:chExt cx="3528000" cy="356539"/>
          </a:xfrm>
        </p:grpSpPr>
        <p:sp>
          <p:nvSpPr>
            <p:cNvPr id="142" name="TextBox 246">
              <a:extLst>
                <a:ext uri="{FF2B5EF4-FFF2-40B4-BE49-F238E27FC236}">
                  <a16:creationId xmlns:a16="http://schemas.microsoft.com/office/drawing/2014/main" xmlns="" id="{ECC03AAD-0E8E-442C-8DF7-86240D77B283}"/>
                </a:ext>
              </a:extLst>
            </p:cNvPr>
            <p:cNvSpPr txBox="1"/>
            <p:nvPr/>
          </p:nvSpPr>
          <p:spPr bwMode="gray">
            <a:xfrm>
              <a:off x="2709077" y="2568405"/>
              <a:ext cx="1917176" cy="332631"/>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HACA</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通道给设备下发授权</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3" name="直接箭头连接符 142">
              <a:extLst>
                <a:ext uri="{FF2B5EF4-FFF2-40B4-BE49-F238E27FC236}">
                  <a16:creationId xmlns:a16="http://schemas.microsoft.com/office/drawing/2014/main" xmlns="" id="{6F906EC7-B524-4B88-9E8A-4B2A35BD6E36}"/>
                </a:ext>
              </a:extLst>
            </p:cNvPr>
            <p:cNvCxnSpPr/>
            <p:nvPr/>
          </p:nvCxnSpPr>
          <p:spPr bwMode="gray">
            <a:xfrm>
              <a:off x="2451585" y="2924944"/>
              <a:ext cx="3528000" cy="0"/>
            </a:xfrm>
            <a:prstGeom prst="straightConnector1">
              <a:avLst/>
            </a:prstGeom>
            <a:solidFill>
              <a:schemeClr val="accent1"/>
            </a:solidFill>
            <a:ln w="19050" cap="flat" cmpd="sng" algn="ctr">
              <a:solidFill>
                <a:schemeClr val="tx1"/>
              </a:solidFill>
              <a:prstDash val="solid"/>
              <a:round/>
              <a:headEnd type="triangle" w="med" len="med"/>
              <a:tailEnd type="none"/>
            </a:ln>
            <a:effectLst/>
          </p:spPr>
        </p:cxnSp>
      </p:grpSp>
      <p:grpSp>
        <p:nvGrpSpPr>
          <p:cNvPr id="88" name="组合 166">
            <a:extLst>
              <a:ext uri="{FF2B5EF4-FFF2-40B4-BE49-F238E27FC236}">
                <a16:creationId xmlns:a16="http://schemas.microsoft.com/office/drawing/2014/main" xmlns="" id="{020A9E22-CD3F-45EB-90D4-D32DAB240C12}"/>
              </a:ext>
            </a:extLst>
          </p:cNvPr>
          <p:cNvGrpSpPr/>
          <p:nvPr/>
        </p:nvGrpSpPr>
        <p:grpSpPr bwMode="gray">
          <a:xfrm>
            <a:off x="4058743" y="4297432"/>
            <a:ext cx="4909224" cy="276999"/>
            <a:chOff x="2331368" y="2637014"/>
            <a:chExt cx="3564000" cy="332633"/>
          </a:xfrm>
        </p:grpSpPr>
        <p:sp>
          <p:nvSpPr>
            <p:cNvPr id="140" name="TextBox 255">
              <a:extLst>
                <a:ext uri="{FF2B5EF4-FFF2-40B4-BE49-F238E27FC236}">
                  <a16:creationId xmlns:a16="http://schemas.microsoft.com/office/drawing/2014/main" xmlns="" id="{1A670F46-9D25-487C-BD4C-4732ECF2BD54}"/>
                </a:ext>
              </a:extLst>
            </p:cNvPr>
            <p:cNvSpPr txBox="1"/>
            <p:nvPr/>
          </p:nvSpPr>
          <p:spPr bwMode="gray">
            <a:xfrm>
              <a:off x="2602513" y="2637014"/>
              <a:ext cx="1041788" cy="332633"/>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、返回授权结果</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1" name="直接箭头连接符 140">
              <a:extLst>
                <a:ext uri="{FF2B5EF4-FFF2-40B4-BE49-F238E27FC236}">
                  <a16:creationId xmlns:a16="http://schemas.microsoft.com/office/drawing/2014/main" xmlns="" id="{11EDF9DF-811B-4C8D-8147-0A0344F88F28}"/>
                </a:ext>
              </a:extLst>
            </p:cNvPr>
            <p:cNvCxnSpPr/>
            <p:nvPr/>
          </p:nvCxnSpPr>
          <p:spPr bwMode="gray">
            <a:xfrm>
              <a:off x="2331368" y="2924944"/>
              <a:ext cx="3564000"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grpSp>
      <p:grpSp>
        <p:nvGrpSpPr>
          <p:cNvPr id="89" name="组合 169">
            <a:extLst>
              <a:ext uri="{FF2B5EF4-FFF2-40B4-BE49-F238E27FC236}">
                <a16:creationId xmlns:a16="http://schemas.microsoft.com/office/drawing/2014/main" xmlns="" id="{3DC2307A-64A9-485D-959D-0B25B965438B}"/>
              </a:ext>
            </a:extLst>
          </p:cNvPr>
          <p:cNvGrpSpPr/>
          <p:nvPr/>
        </p:nvGrpSpPr>
        <p:grpSpPr bwMode="gray">
          <a:xfrm>
            <a:off x="1098912" y="4588983"/>
            <a:ext cx="9635791" cy="284454"/>
            <a:chOff x="899592" y="2583359"/>
            <a:chExt cx="5544000" cy="341585"/>
          </a:xfrm>
        </p:grpSpPr>
        <p:sp>
          <p:nvSpPr>
            <p:cNvPr id="138" name="TextBox 258">
              <a:extLst>
                <a:ext uri="{FF2B5EF4-FFF2-40B4-BE49-F238E27FC236}">
                  <a16:creationId xmlns:a16="http://schemas.microsoft.com/office/drawing/2014/main" xmlns="" id="{2BCC0BF8-5F6B-4535-864B-6A1C52523EAF}"/>
                </a:ext>
              </a:extLst>
            </p:cNvPr>
            <p:cNvSpPr txBox="1"/>
            <p:nvPr/>
          </p:nvSpPr>
          <p:spPr bwMode="gray">
            <a:xfrm>
              <a:off x="2618708" y="2583359"/>
              <a:ext cx="2181414" cy="332633"/>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Portal Server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页面将认证结果通知用户</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9" name="直接箭头连接符 138">
              <a:extLst>
                <a:ext uri="{FF2B5EF4-FFF2-40B4-BE49-F238E27FC236}">
                  <a16:creationId xmlns:a16="http://schemas.microsoft.com/office/drawing/2014/main" xmlns="" id="{86860A22-EB06-4153-A097-A9F9293D5C47}"/>
                </a:ext>
              </a:extLst>
            </p:cNvPr>
            <p:cNvCxnSpPr/>
            <p:nvPr/>
          </p:nvCxnSpPr>
          <p:spPr bwMode="gray">
            <a:xfrm>
              <a:off x="899592" y="2924944"/>
              <a:ext cx="5544000"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grpSp>
      <p:cxnSp>
        <p:nvCxnSpPr>
          <p:cNvPr id="137" name="直接连接符 136">
            <a:extLst>
              <a:ext uri="{FF2B5EF4-FFF2-40B4-BE49-F238E27FC236}">
                <a16:creationId xmlns:a16="http://schemas.microsoft.com/office/drawing/2014/main" xmlns="" id="{39EB89AF-630A-44D0-8722-6EC0BC0EA496}"/>
              </a:ext>
            </a:extLst>
          </p:cNvPr>
          <p:cNvCxnSpPr>
            <a:cxnSpLocks/>
          </p:cNvCxnSpPr>
          <p:nvPr/>
        </p:nvCxnSpPr>
        <p:spPr bwMode="gray">
          <a:xfrm>
            <a:off x="8998091" y="1919873"/>
            <a:ext cx="0" cy="4236332"/>
          </a:xfrm>
          <a:prstGeom prst="line">
            <a:avLst/>
          </a:prstGeom>
          <a:ln>
            <a:solidFill>
              <a:srgbClr val="94DAE2"/>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26" name="TextBox 297">
            <a:extLst>
              <a:ext uri="{FF2B5EF4-FFF2-40B4-BE49-F238E27FC236}">
                <a16:creationId xmlns:a16="http://schemas.microsoft.com/office/drawing/2014/main" xmlns="" id="{0C84DD94-09A5-4168-9B60-5F6CC1AFAA2C}"/>
              </a:ext>
            </a:extLst>
          </p:cNvPr>
          <p:cNvSpPr txBox="1"/>
          <p:nvPr/>
        </p:nvSpPr>
        <p:spPr bwMode="gray">
          <a:xfrm>
            <a:off x="1665027" y="1471709"/>
            <a:ext cx="731290"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802.11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4" name="组合 67">
            <a:extLst>
              <a:ext uri="{FF2B5EF4-FFF2-40B4-BE49-F238E27FC236}">
                <a16:creationId xmlns:a16="http://schemas.microsoft.com/office/drawing/2014/main" xmlns="" id="{17D0FCFC-7D37-48EC-A9BB-DD8EB321D7B4}"/>
              </a:ext>
            </a:extLst>
          </p:cNvPr>
          <p:cNvGrpSpPr/>
          <p:nvPr/>
        </p:nvGrpSpPr>
        <p:grpSpPr bwMode="gray">
          <a:xfrm>
            <a:off x="1098159" y="5013766"/>
            <a:ext cx="4098042" cy="276999"/>
            <a:chOff x="2006656" y="2636914"/>
            <a:chExt cx="2880000" cy="332633"/>
          </a:xfrm>
        </p:grpSpPr>
        <p:cxnSp>
          <p:nvCxnSpPr>
            <p:cNvPr id="123" name="直接箭头连接符 122">
              <a:extLst>
                <a:ext uri="{FF2B5EF4-FFF2-40B4-BE49-F238E27FC236}">
                  <a16:creationId xmlns:a16="http://schemas.microsoft.com/office/drawing/2014/main" xmlns="" id="{8CCC4091-9563-42DB-A051-191E1ECFCA44}"/>
                </a:ext>
              </a:extLst>
            </p:cNvPr>
            <p:cNvCxnSpPr/>
            <p:nvPr/>
          </p:nvCxnSpPr>
          <p:spPr bwMode="gray">
            <a:xfrm>
              <a:off x="2006656" y="2924944"/>
              <a:ext cx="2880000"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124" name="TextBox 261">
              <a:extLst>
                <a:ext uri="{FF2B5EF4-FFF2-40B4-BE49-F238E27FC236}">
                  <a16:creationId xmlns:a16="http://schemas.microsoft.com/office/drawing/2014/main" xmlns="" id="{D61346FB-1DA9-47D3-BC85-62318BFB3DD2}"/>
                </a:ext>
              </a:extLst>
            </p:cNvPr>
            <p:cNvSpPr txBox="1"/>
            <p:nvPr/>
          </p:nvSpPr>
          <p:spPr bwMode="gray">
            <a:xfrm>
              <a:off x="2041528" y="2636914"/>
              <a:ext cx="2552988" cy="332633"/>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14</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、认证成功，用户获得网络访问权限，下载</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APP</a:t>
              </a:r>
            </a:p>
          </p:txBody>
        </p:sp>
      </p:grpSp>
      <p:sp>
        <p:nvSpPr>
          <p:cNvPr id="95" name="TextBox 237">
            <a:extLst>
              <a:ext uri="{FF2B5EF4-FFF2-40B4-BE49-F238E27FC236}">
                <a16:creationId xmlns:a16="http://schemas.microsoft.com/office/drawing/2014/main" xmlns="" id="{73F1C791-AF23-4C3E-95D6-2B2D77EC9F0D}"/>
              </a:ext>
            </a:extLst>
          </p:cNvPr>
          <p:cNvSpPr txBox="1"/>
          <p:nvPr/>
        </p:nvSpPr>
        <p:spPr bwMode="gray">
          <a:xfrm>
            <a:off x="4421965" y="1874266"/>
            <a:ext cx="5172600"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、设备和控制器建立</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HTTP2.0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连接通道</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6" name="直接箭头连接符 95">
            <a:extLst>
              <a:ext uri="{FF2B5EF4-FFF2-40B4-BE49-F238E27FC236}">
                <a16:creationId xmlns:a16="http://schemas.microsoft.com/office/drawing/2014/main" xmlns="" id="{9122B7ED-BE76-48DE-B602-20C354D89C5B}"/>
              </a:ext>
            </a:extLst>
          </p:cNvPr>
          <p:cNvCxnSpPr/>
          <p:nvPr/>
        </p:nvCxnSpPr>
        <p:spPr bwMode="gray">
          <a:xfrm>
            <a:off x="4041645" y="2111457"/>
            <a:ext cx="4899234"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97" name="TextBox 237">
            <a:extLst>
              <a:ext uri="{FF2B5EF4-FFF2-40B4-BE49-F238E27FC236}">
                <a16:creationId xmlns:a16="http://schemas.microsoft.com/office/drawing/2014/main" xmlns="" id="{A11CD33D-A463-4420-8ECE-EF4349510325}"/>
              </a:ext>
            </a:extLst>
          </p:cNvPr>
          <p:cNvSpPr txBox="1"/>
          <p:nvPr/>
        </p:nvSpPr>
        <p:spPr bwMode="gray">
          <a:xfrm>
            <a:off x="1085507" y="2311382"/>
            <a:ext cx="5172600"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、终端浏览器</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被重定向到控制器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TextBox 237">
            <a:extLst>
              <a:ext uri="{FF2B5EF4-FFF2-40B4-BE49-F238E27FC236}">
                <a16:creationId xmlns:a16="http://schemas.microsoft.com/office/drawing/2014/main" xmlns="" id="{8AF10B74-6241-4780-A816-1918C947B2FF}"/>
              </a:ext>
            </a:extLst>
          </p:cNvPr>
          <p:cNvSpPr txBox="1"/>
          <p:nvPr/>
        </p:nvSpPr>
        <p:spPr bwMode="gray">
          <a:xfrm>
            <a:off x="4433673" y="2393210"/>
            <a:ext cx="5172600"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、访问控制器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2" name="直接连接符 121">
            <a:extLst>
              <a:ext uri="{FF2B5EF4-FFF2-40B4-BE49-F238E27FC236}">
                <a16:creationId xmlns:a16="http://schemas.microsoft.com/office/drawing/2014/main" xmlns="" id="{E4F230F7-F691-4A4B-AA6F-3902FB43DC4C}"/>
              </a:ext>
            </a:extLst>
          </p:cNvPr>
          <p:cNvCxnSpPr/>
          <p:nvPr/>
        </p:nvCxnSpPr>
        <p:spPr bwMode="gray">
          <a:xfrm>
            <a:off x="10773358" y="1832165"/>
            <a:ext cx="0" cy="4324040"/>
          </a:xfrm>
          <a:prstGeom prst="line">
            <a:avLst/>
          </a:prstGeom>
          <a:ln>
            <a:solidFill>
              <a:srgbClr val="94DAE2"/>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01" name="直接箭头连接符 100">
            <a:extLst>
              <a:ext uri="{FF2B5EF4-FFF2-40B4-BE49-F238E27FC236}">
                <a16:creationId xmlns:a16="http://schemas.microsoft.com/office/drawing/2014/main" xmlns="" id="{EE2E2AC6-38C9-43D3-AFD9-71D301913290}"/>
              </a:ext>
            </a:extLst>
          </p:cNvPr>
          <p:cNvCxnSpPr/>
          <p:nvPr/>
        </p:nvCxnSpPr>
        <p:spPr bwMode="gray">
          <a:xfrm flipH="1">
            <a:off x="9025984" y="3998042"/>
            <a:ext cx="1696234" cy="0"/>
          </a:xfrm>
          <a:prstGeom prst="straightConnector1">
            <a:avLst/>
          </a:prstGeom>
          <a:noFill/>
          <a:ln w="22225">
            <a:solidFill>
              <a:srgbClr val="EC7061"/>
            </a:solidFill>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 name="TextBox 79">
            <a:extLst>
              <a:ext uri="{FF2B5EF4-FFF2-40B4-BE49-F238E27FC236}">
                <a16:creationId xmlns:a16="http://schemas.microsoft.com/office/drawing/2014/main" xmlns="" id="{34B32159-C396-49FD-AE1C-6BE0C6893F92}"/>
              </a:ext>
            </a:extLst>
          </p:cNvPr>
          <p:cNvSpPr txBox="1"/>
          <p:nvPr/>
        </p:nvSpPr>
        <p:spPr bwMode="gray">
          <a:xfrm>
            <a:off x="9102315" y="3701962"/>
            <a:ext cx="1273104"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9</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、调用授权</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p>
        </p:txBody>
      </p:sp>
      <p:cxnSp>
        <p:nvCxnSpPr>
          <p:cNvPr id="103" name="直接箭头连接符 102">
            <a:extLst>
              <a:ext uri="{FF2B5EF4-FFF2-40B4-BE49-F238E27FC236}">
                <a16:creationId xmlns:a16="http://schemas.microsoft.com/office/drawing/2014/main" xmlns="" id="{7B9F96F7-6378-4C67-9346-1CCB810FA9FD}"/>
              </a:ext>
            </a:extLst>
          </p:cNvPr>
          <p:cNvCxnSpPr/>
          <p:nvPr/>
        </p:nvCxnSpPr>
        <p:spPr bwMode="gray">
          <a:xfrm>
            <a:off x="9026971" y="4744745"/>
            <a:ext cx="1695247" cy="2491"/>
          </a:xfrm>
          <a:prstGeom prst="straightConnector1">
            <a:avLst/>
          </a:prstGeom>
          <a:noFill/>
          <a:ln w="22225">
            <a:solidFill>
              <a:srgbClr val="EC7061"/>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TextBox 82">
            <a:extLst>
              <a:ext uri="{FF2B5EF4-FFF2-40B4-BE49-F238E27FC236}">
                <a16:creationId xmlns:a16="http://schemas.microsoft.com/office/drawing/2014/main" xmlns="" id="{5147D345-EE65-4333-ACAA-ADB6182DD424}"/>
              </a:ext>
            </a:extLst>
          </p:cNvPr>
          <p:cNvSpPr txBox="1"/>
          <p:nvPr/>
        </p:nvSpPr>
        <p:spPr bwMode="gray">
          <a:xfrm>
            <a:off x="8967966" y="4286088"/>
            <a:ext cx="1736048" cy="461665"/>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、调用查询授权状态</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p>
        </p:txBody>
      </p:sp>
      <p:cxnSp>
        <p:nvCxnSpPr>
          <p:cNvPr id="105" name="直接箭头连接符 104">
            <a:extLst>
              <a:ext uri="{FF2B5EF4-FFF2-40B4-BE49-F238E27FC236}">
                <a16:creationId xmlns:a16="http://schemas.microsoft.com/office/drawing/2014/main" xmlns="" id="{8D9B8F3D-6991-4C19-AEDD-8B6C77E3E5CF}"/>
              </a:ext>
            </a:extLst>
          </p:cNvPr>
          <p:cNvCxnSpPr/>
          <p:nvPr/>
        </p:nvCxnSpPr>
        <p:spPr bwMode="gray">
          <a:xfrm flipH="1" flipV="1">
            <a:off x="1022201" y="2541239"/>
            <a:ext cx="2910427" cy="0"/>
          </a:xfrm>
          <a:prstGeom prst="straightConnector1">
            <a:avLst/>
          </a:prstGeom>
          <a:noFill/>
          <a:ln w="19050"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箭头连接符 105">
            <a:extLst>
              <a:ext uri="{FF2B5EF4-FFF2-40B4-BE49-F238E27FC236}">
                <a16:creationId xmlns:a16="http://schemas.microsoft.com/office/drawing/2014/main" xmlns="" id="{A119E1E6-504D-4DEB-86CE-9F3E766FD715}"/>
              </a:ext>
            </a:extLst>
          </p:cNvPr>
          <p:cNvCxnSpPr/>
          <p:nvPr/>
        </p:nvCxnSpPr>
        <p:spPr bwMode="gray">
          <a:xfrm flipV="1">
            <a:off x="1021886" y="2645830"/>
            <a:ext cx="7924233"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107" name="直接箭头连接符 106">
            <a:extLst>
              <a:ext uri="{FF2B5EF4-FFF2-40B4-BE49-F238E27FC236}">
                <a16:creationId xmlns:a16="http://schemas.microsoft.com/office/drawing/2014/main" xmlns="" id="{55AA31FA-5A0D-4812-976D-D87E018E10E6}"/>
              </a:ext>
            </a:extLst>
          </p:cNvPr>
          <p:cNvCxnSpPr/>
          <p:nvPr/>
        </p:nvCxnSpPr>
        <p:spPr bwMode="gray">
          <a:xfrm flipH="1">
            <a:off x="1041507" y="2936227"/>
            <a:ext cx="7964260" cy="0"/>
          </a:xfrm>
          <a:prstGeom prst="straightConnector1">
            <a:avLst/>
          </a:prstGeom>
          <a:noFill/>
          <a:ln w="19050"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箭头连接符 107">
            <a:extLst>
              <a:ext uri="{FF2B5EF4-FFF2-40B4-BE49-F238E27FC236}">
                <a16:creationId xmlns:a16="http://schemas.microsoft.com/office/drawing/2014/main" xmlns="" id="{48EB43AA-E07C-4D75-9369-DB367F444F4A}"/>
              </a:ext>
            </a:extLst>
          </p:cNvPr>
          <p:cNvCxnSpPr/>
          <p:nvPr/>
        </p:nvCxnSpPr>
        <p:spPr bwMode="gray">
          <a:xfrm flipV="1">
            <a:off x="1030455" y="3188609"/>
            <a:ext cx="9740391"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109" name="文本框 108">
            <a:extLst>
              <a:ext uri="{FF2B5EF4-FFF2-40B4-BE49-F238E27FC236}">
                <a16:creationId xmlns:a16="http://schemas.microsoft.com/office/drawing/2014/main" xmlns="" id="{F01DCC4C-CA31-42B9-A07B-5566DE023112}"/>
              </a:ext>
            </a:extLst>
          </p:cNvPr>
          <p:cNvSpPr txBox="1"/>
          <p:nvPr/>
        </p:nvSpPr>
        <p:spPr bwMode="gray">
          <a:xfrm>
            <a:off x="1090554" y="2936226"/>
            <a:ext cx="4174453"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6</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、终端浏览器访问第三方</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服务器页面</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0" name="直接箭头连接符 109">
            <a:extLst>
              <a:ext uri="{FF2B5EF4-FFF2-40B4-BE49-F238E27FC236}">
                <a16:creationId xmlns:a16="http://schemas.microsoft.com/office/drawing/2014/main" xmlns="" id="{4D16D54F-0686-482C-A60B-D981F532A226}"/>
              </a:ext>
            </a:extLst>
          </p:cNvPr>
          <p:cNvCxnSpPr/>
          <p:nvPr/>
        </p:nvCxnSpPr>
        <p:spPr bwMode="gray">
          <a:xfrm flipH="1">
            <a:off x="1021419" y="3466172"/>
            <a:ext cx="9700801"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111" name="文本框 110">
            <a:extLst>
              <a:ext uri="{FF2B5EF4-FFF2-40B4-BE49-F238E27FC236}">
                <a16:creationId xmlns:a16="http://schemas.microsoft.com/office/drawing/2014/main" xmlns="" id="{43CD7CF4-4087-40D3-847C-F6C33F361B22}"/>
              </a:ext>
            </a:extLst>
          </p:cNvPr>
          <p:cNvSpPr txBox="1"/>
          <p:nvPr/>
        </p:nvSpPr>
        <p:spPr bwMode="gray">
          <a:xfrm>
            <a:off x="1095753" y="3194818"/>
            <a:ext cx="4174453"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7</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、终端浏览器显示登录页面</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2" name="组合 67">
            <a:extLst>
              <a:ext uri="{FF2B5EF4-FFF2-40B4-BE49-F238E27FC236}">
                <a16:creationId xmlns:a16="http://schemas.microsoft.com/office/drawing/2014/main" xmlns="" id="{3336B33E-FFE5-4D57-9607-F34336969EDC}"/>
              </a:ext>
            </a:extLst>
          </p:cNvPr>
          <p:cNvGrpSpPr/>
          <p:nvPr/>
        </p:nvGrpSpPr>
        <p:grpSpPr bwMode="gray">
          <a:xfrm>
            <a:off x="1041507" y="2050284"/>
            <a:ext cx="2962824" cy="276999"/>
            <a:chOff x="2114474" y="2815231"/>
            <a:chExt cx="2971244" cy="332633"/>
          </a:xfrm>
        </p:grpSpPr>
        <p:cxnSp>
          <p:nvCxnSpPr>
            <p:cNvPr id="117" name="直接箭头连接符 116">
              <a:extLst>
                <a:ext uri="{FF2B5EF4-FFF2-40B4-BE49-F238E27FC236}">
                  <a16:creationId xmlns:a16="http://schemas.microsoft.com/office/drawing/2014/main" xmlns="" id="{EB12B2B6-041B-42D8-9D55-03F2224BF322}"/>
                </a:ext>
              </a:extLst>
            </p:cNvPr>
            <p:cNvCxnSpPr/>
            <p:nvPr/>
          </p:nvCxnSpPr>
          <p:spPr bwMode="gray">
            <a:xfrm>
              <a:off x="2114474" y="3106643"/>
              <a:ext cx="2971244"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118" name="TextBox 261">
              <a:extLst>
                <a:ext uri="{FF2B5EF4-FFF2-40B4-BE49-F238E27FC236}">
                  <a16:creationId xmlns:a16="http://schemas.microsoft.com/office/drawing/2014/main" xmlns="" id="{A038C0EC-B756-4333-9635-60C7F942A27B}"/>
                </a:ext>
              </a:extLst>
            </p:cNvPr>
            <p:cNvSpPr txBox="1"/>
            <p:nvPr/>
          </p:nvSpPr>
          <p:spPr bwMode="gray">
            <a:xfrm>
              <a:off x="2155537" y="2815231"/>
              <a:ext cx="1352278" cy="332633"/>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、终端访问网络</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3" name="弧形 112">
            <a:extLst>
              <a:ext uri="{FF2B5EF4-FFF2-40B4-BE49-F238E27FC236}">
                <a16:creationId xmlns:a16="http://schemas.microsoft.com/office/drawing/2014/main" xmlns="" id="{9F3C0399-9A68-437B-95C2-54F165BA2753}"/>
              </a:ext>
            </a:extLst>
          </p:cNvPr>
          <p:cNvSpPr/>
          <p:nvPr/>
        </p:nvSpPr>
        <p:spPr bwMode="gray">
          <a:xfrm flipH="1">
            <a:off x="10704014" y="5241587"/>
            <a:ext cx="362828" cy="223482"/>
          </a:xfrm>
          <a:prstGeom prst="arc">
            <a:avLst>
              <a:gd name="adj1" fmla="val 2731634"/>
              <a:gd name="adj2" fmla="val 18581549"/>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79">
            <a:extLst>
              <a:ext uri="{FF2B5EF4-FFF2-40B4-BE49-F238E27FC236}">
                <a16:creationId xmlns:a16="http://schemas.microsoft.com/office/drawing/2014/main" xmlns="" id="{9A2D41E8-F4BE-49C9-B1E2-D8F200D6006C}"/>
              </a:ext>
            </a:extLst>
          </p:cNvPr>
          <p:cNvSpPr txBox="1"/>
          <p:nvPr/>
        </p:nvSpPr>
        <p:spPr bwMode="gray">
          <a:xfrm>
            <a:off x="8935980" y="5082225"/>
            <a:ext cx="2110302" cy="461665"/>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15</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、根据第三方</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策略做出</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用户</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下线</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5" name="直接箭头连接符 114">
            <a:extLst>
              <a:ext uri="{FF2B5EF4-FFF2-40B4-BE49-F238E27FC236}">
                <a16:creationId xmlns:a16="http://schemas.microsoft.com/office/drawing/2014/main" xmlns="" id="{6AE0D19C-390B-4469-BA91-27E32EC22A69}"/>
              </a:ext>
            </a:extLst>
          </p:cNvPr>
          <p:cNvCxnSpPr/>
          <p:nvPr/>
        </p:nvCxnSpPr>
        <p:spPr bwMode="gray">
          <a:xfrm>
            <a:off x="9026087" y="5992902"/>
            <a:ext cx="1695247" cy="2491"/>
          </a:xfrm>
          <a:prstGeom prst="straightConnector1">
            <a:avLst/>
          </a:prstGeom>
          <a:noFill/>
          <a:ln w="22225">
            <a:solidFill>
              <a:srgbClr val="EC7061"/>
            </a:solidFill>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TextBox 82">
            <a:extLst>
              <a:ext uri="{FF2B5EF4-FFF2-40B4-BE49-F238E27FC236}">
                <a16:creationId xmlns:a16="http://schemas.microsoft.com/office/drawing/2014/main" xmlns="" id="{2768FDAC-4A03-4CF9-8931-29865A148E63}"/>
              </a:ext>
            </a:extLst>
          </p:cNvPr>
          <p:cNvSpPr txBox="1"/>
          <p:nvPr/>
        </p:nvSpPr>
        <p:spPr bwMode="gray">
          <a:xfrm>
            <a:off x="8943867" y="5701525"/>
            <a:ext cx="1790836"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16</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、调用用户下线</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p>
        </p:txBody>
      </p:sp>
      <p:grpSp>
        <p:nvGrpSpPr>
          <p:cNvPr id="72" name="组合 71">
            <a:extLst>
              <a:ext uri="{FF2B5EF4-FFF2-40B4-BE49-F238E27FC236}">
                <a16:creationId xmlns:a16="http://schemas.microsoft.com/office/drawing/2014/main" xmlns="" id="{27A138D1-DD1F-4246-9620-E2310F31C72B}"/>
              </a:ext>
            </a:extLst>
          </p:cNvPr>
          <p:cNvGrpSpPr/>
          <p:nvPr/>
        </p:nvGrpSpPr>
        <p:grpSpPr bwMode="gray">
          <a:xfrm>
            <a:off x="735909" y="1370479"/>
            <a:ext cx="882509" cy="439843"/>
            <a:chOff x="2965421" y="3811104"/>
            <a:chExt cx="882509" cy="439843"/>
          </a:xfrm>
        </p:grpSpPr>
        <p:pic>
          <p:nvPicPr>
            <p:cNvPr id="73" name="图片 72" descr="笔记本电脑.png">
              <a:extLst>
                <a:ext uri="{FF2B5EF4-FFF2-40B4-BE49-F238E27FC236}">
                  <a16:creationId xmlns:a16="http://schemas.microsoft.com/office/drawing/2014/main" xmlns="" id="{F219D451-B081-4A37-9F7E-AD6C82BA7A61}"/>
                </a:ext>
              </a:extLst>
            </p:cNvPr>
            <p:cNvPicPr>
              <a:picLocks noChangeAspect="1"/>
            </p:cNvPicPr>
            <p:nvPr/>
          </p:nvPicPr>
          <p:blipFill>
            <a:blip r:embed="rId3" cstate="print"/>
            <a:stretch>
              <a:fillRect/>
            </a:stretch>
          </p:blipFill>
          <p:spPr bwMode="gray">
            <a:xfrm>
              <a:off x="2965421" y="3912547"/>
              <a:ext cx="539779" cy="338400"/>
            </a:xfrm>
            <a:prstGeom prst="rect">
              <a:avLst/>
            </a:prstGeom>
          </p:spPr>
        </p:pic>
        <p:pic>
          <p:nvPicPr>
            <p:cNvPr id="74" name="图片 73" descr="wifi信号蓝.png">
              <a:extLst>
                <a:ext uri="{FF2B5EF4-FFF2-40B4-BE49-F238E27FC236}">
                  <a16:creationId xmlns:a16="http://schemas.microsoft.com/office/drawing/2014/main" xmlns="" id="{D53DDCB1-D1BC-4256-8621-6F9029BF2DED}"/>
                </a:ext>
              </a:extLst>
            </p:cNvPr>
            <p:cNvPicPr>
              <a:picLocks noChangeAspect="1"/>
            </p:cNvPicPr>
            <p:nvPr/>
          </p:nvPicPr>
          <p:blipFill>
            <a:blip r:embed="rId4" cstate="print"/>
            <a:stretch>
              <a:fillRect/>
            </a:stretch>
          </p:blipFill>
          <p:spPr bwMode="gray">
            <a:xfrm>
              <a:off x="3555716" y="3811104"/>
              <a:ext cx="292214" cy="244685"/>
            </a:xfrm>
            <a:prstGeom prst="rect">
              <a:avLst/>
            </a:prstGeom>
          </p:spPr>
        </p:pic>
      </p:grpSp>
      <p:sp>
        <p:nvSpPr>
          <p:cNvPr id="75" name="文本框 74">
            <a:extLst>
              <a:ext uri="{FF2B5EF4-FFF2-40B4-BE49-F238E27FC236}">
                <a16:creationId xmlns:a16="http://schemas.microsoft.com/office/drawing/2014/main" xmlns="" id="{96F2DDD5-79C0-48AD-BBF1-101E71B5C7E6}"/>
              </a:ext>
            </a:extLst>
          </p:cNvPr>
          <p:cNvSpPr txBox="1"/>
          <p:nvPr/>
        </p:nvSpPr>
        <p:spPr bwMode="gray">
          <a:xfrm>
            <a:off x="746369" y="1063776"/>
            <a:ext cx="543739"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a:t>
            </a:r>
          </a:p>
        </p:txBody>
      </p:sp>
      <p:pic>
        <p:nvPicPr>
          <p:cNvPr id="76" name="图片 75">
            <a:extLst>
              <a:ext uri="{FF2B5EF4-FFF2-40B4-BE49-F238E27FC236}">
                <a16:creationId xmlns:a16="http://schemas.microsoft.com/office/drawing/2014/main" xmlns="" id="{AB8C9B1A-E04E-403D-916E-BE2F5272D82C}"/>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0506281" y="1372087"/>
            <a:ext cx="540000" cy="442800"/>
          </a:xfrm>
          <a:prstGeom prst="rect">
            <a:avLst/>
          </a:prstGeom>
        </p:spPr>
      </p:pic>
      <p:pic>
        <p:nvPicPr>
          <p:cNvPr id="77" name="图片 76">
            <a:extLst>
              <a:ext uri="{FF2B5EF4-FFF2-40B4-BE49-F238E27FC236}">
                <a16:creationId xmlns:a16="http://schemas.microsoft.com/office/drawing/2014/main" xmlns="" id="{01C8F153-F90B-4BA8-9BBD-1779004378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8488104" y="1321511"/>
            <a:ext cx="951607" cy="540946"/>
          </a:xfrm>
          <a:prstGeom prst="rect">
            <a:avLst/>
          </a:prstGeom>
        </p:spPr>
      </p:pic>
      <p:sp>
        <p:nvSpPr>
          <p:cNvPr id="78" name="文本框 77">
            <a:extLst>
              <a:ext uri="{FF2B5EF4-FFF2-40B4-BE49-F238E27FC236}">
                <a16:creationId xmlns:a16="http://schemas.microsoft.com/office/drawing/2014/main" xmlns="" id="{C0916037-ABC1-4D79-A782-641046B27830}"/>
              </a:ext>
            </a:extLst>
          </p:cNvPr>
          <p:cNvSpPr txBox="1"/>
          <p:nvPr/>
        </p:nvSpPr>
        <p:spPr bwMode="gray">
          <a:xfrm>
            <a:off x="7972825" y="995663"/>
            <a:ext cx="1925527" cy="307777"/>
          </a:xfrm>
          <a:prstGeom prst="rect">
            <a:avLst/>
          </a:prstGeom>
          <a:noFill/>
        </p:spPr>
        <p:txBody>
          <a:bodyPr wrap="none" rtlCol="0">
            <a:spAutoFit/>
          </a:bodyPr>
          <a:lstStyle/>
          <a:p>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a:extLst>
              <a:ext uri="{FF2B5EF4-FFF2-40B4-BE49-F238E27FC236}">
                <a16:creationId xmlns:a16="http://schemas.microsoft.com/office/drawing/2014/main" xmlns="" id="{E2B460BF-6E52-4037-93A3-D3B1D13E79DA}"/>
              </a:ext>
            </a:extLst>
          </p:cNvPr>
          <p:cNvSpPr txBox="1"/>
          <p:nvPr/>
        </p:nvSpPr>
        <p:spPr bwMode="gray">
          <a:xfrm>
            <a:off x="10026186" y="1007237"/>
            <a:ext cx="1441420"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第三方认证平台</a:t>
            </a:r>
          </a:p>
        </p:txBody>
      </p:sp>
      <p:pic>
        <p:nvPicPr>
          <p:cNvPr id="80" name="图片 76" descr="接入交换机.png">
            <a:extLst>
              <a:ext uri="{FF2B5EF4-FFF2-40B4-BE49-F238E27FC236}">
                <a16:creationId xmlns:a16="http://schemas.microsoft.com/office/drawing/2014/main" xmlns="" id="{1B04431B-F553-4B89-82AE-5C2C6DB78EC1}"/>
              </a:ext>
            </a:extLst>
          </p:cNvPr>
          <p:cNvPicPr>
            <a:picLocks/>
          </p:cNvPicPr>
          <p:nvPr/>
        </p:nvPicPr>
        <p:blipFill>
          <a:blip r:embed="rId7" cstate="print"/>
          <a:stretch>
            <a:fillRect/>
          </a:stretch>
        </p:blipFill>
        <p:spPr bwMode="gray">
          <a:xfrm>
            <a:off x="3750446" y="1420409"/>
            <a:ext cx="495187" cy="406053"/>
          </a:xfrm>
          <a:prstGeom prst="rect">
            <a:avLst/>
          </a:prstGeom>
        </p:spPr>
      </p:pic>
      <p:sp>
        <p:nvSpPr>
          <p:cNvPr id="81" name="Freeform 159">
            <a:extLst>
              <a:ext uri="{FF2B5EF4-FFF2-40B4-BE49-F238E27FC236}">
                <a16:creationId xmlns:a16="http://schemas.microsoft.com/office/drawing/2014/main" xmlns="" id="{B47AD22C-8EBD-463A-BDE8-E73DAFD158D0}"/>
              </a:ext>
            </a:extLst>
          </p:cNvPr>
          <p:cNvSpPr/>
          <p:nvPr/>
        </p:nvSpPr>
        <p:spPr bwMode="gray">
          <a:xfrm flipH="1">
            <a:off x="5171417" y="5026486"/>
            <a:ext cx="1101731" cy="54692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81">
            <a:extLst>
              <a:ext uri="{FF2B5EF4-FFF2-40B4-BE49-F238E27FC236}">
                <a16:creationId xmlns:a16="http://schemas.microsoft.com/office/drawing/2014/main" xmlns="" id="{510FD690-A0D3-4170-8EE6-50ABB5AC15D4}"/>
              </a:ext>
            </a:extLst>
          </p:cNvPr>
          <p:cNvSpPr txBox="1"/>
          <p:nvPr/>
        </p:nvSpPr>
        <p:spPr bwMode="gray">
          <a:xfrm>
            <a:off x="5310512" y="5164171"/>
            <a:ext cx="832279"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TextBox 237">
            <a:extLst>
              <a:ext uri="{FF2B5EF4-FFF2-40B4-BE49-F238E27FC236}">
                <a16:creationId xmlns:a16="http://schemas.microsoft.com/office/drawing/2014/main" xmlns="" id="{8C08DF63-E288-40A2-A7DC-D5EC3A496C21}"/>
              </a:ext>
            </a:extLst>
          </p:cNvPr>
          <p:cNvSpPr txBox="1"/>
          <p:nvPr/>
        </p:nvSpPr>
        <p:spPr bwMode="gray">
          <a:xfrm>
            <a:off x="1088257" y="2649127"/>
            <a:ext cx="8749086"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、二次重定向到第三方</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服务器</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重定项</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URL</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中会携带第一次重定向的参数，如终端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等）</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535141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0255AE0-B8FC-40E4-8868-C229E5423DA4}"/>
              </a:ext>
            </a:extLst>
          </p:cNvPr>
          <p:cNvSpPr>
            <a:spLocks noGrp="1"/>
          </p:cNvSpPr>
          <p:nvPr>
            <p:ph type="title"/>
          </p:nvPr>
        </p:nvSpPr>
        <p:spPr bwMode="gray"/>
        <p:txBody>
          <a:bodyPr/>
          <a:lstStyle/>
          <a:p>
            <a:r>
              <a:rPr lang="en-US" altLang="zh-CN" smtClean="0">
                <a:sym typeface="Huawei Sans" panose="020C0503030203020204" pitchFamily="34" charset="0"/>
              </a:rPr>
              <a:t>Authorization API</a:t>
            </a:r>
            <a:r>
              <a:rPr lang="zh-CN" altLang="en-US" smtClean="0">
                <a:sym typeface="Huawei Sans" panose="020C0503030203020204" pitchFamily="34" charset="0"/>
              </a:rPr>
              <a:t>对接示例</a:t>
            </a:r>
            <a:endParaRPr lang="zh-CN" altLang="en-US" dirty="0">
              <a:sym typeface="Huawei Sans" panose="020C0503030203020204" pitchFamily="34" charset="0"/>
            </a:endParaRPr>
          </a:p>
        </p:txBody>
      </p:sp>
      <p:sp>
        <p:nvSpPr>
          <p:cNvPr id="4" name="Shape 214">
            <a:extLst>
              <a:ext uri="{FF2B5EF4-FFF2-40B4-BE49-F238E27FC236}">
                <a16:creationId xmlns:a16="http://schemas.microsoft.com/office/drawing/2014/main" xmlns="" id="{4BB1D541-FD1E-4471-8DFC-FC2160B68446}"/>
              </a:ext>
            </a:extLst>
          </p:cNvPr>
          <p:cNvSpPr/>
          <p:nvPr/>
        </p:nvSpPr>
        <p:spPr bwMode="gray">
          <a:xfrm>
            <a:off x="590412" y="1092250"/>
            <a:ext cx="10959345" cy="380862"/>
          </a:xfrm>
          <a:prstGeom prst="roundRect">
            <a:avLst>
              <a:gd name="adj" fmla="val 26745"/>
            </a:avLst>
          </a:prstGeom>
          <a:noFill/>
          <a:ln w="9525">
            <a:solidFill>
              <a:srgbClr val="94DAE2"/>
            </a:solidFill>
          </a:ln>
          <a:extLst>
            <a:ext uri="{C572A759-6A51-4108-AA02-DFA0A04FC94B}">
              <ma14:wrappingTextBoxFlag xmlns="" xmlns:ma14="http://schemas.microsoft.com/office/mac/drawingml/2011/main" xmlns:lc="http://schemas.openxmlformats.org/drawingml/2006/lockedCanvas" val="1"/>
            </a:ext>
          </a:extLst>
        </p:spPr>
        <p:txBody>
          <a:bodyPr lIns="45720" tIns="45720" rIns="45720" bIns="45720" anchor="ct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示例代码（</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Windows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a:extLst>
              <a:ext uri="{FF2B5EF4-FFF2-40B4-BE49-F238E27FC236}">
                <a16:creationId xmlns:a16="http://schemas.microsoft.com/office/drawing/2014/main" xmlns="" id="{16C330C1-C8E8-4E53-BF71-8904083BCB68}"/>
              </a:ext>
            </a:extLst>
          </p:cNvPr>
          <p:cNvSpPr/>
          <p:nvPr/>
        </p:nvSpPr>
        <p:spPr bwMode="gray">
          <a:xfrm>
            <a:off x="573907" y="1594585"/>
            <a:ext cx="10975852" cy="1384995"/>
          </a:xfrm>
          <a:prstGeom prst="rect">
            <a:avLst/>
          </a:prstGeom>
          <a:solidFill>
            <a:srgbClr val="FFFFCC"/>
          </a:solidFill>
          <a:ln>
            <a:solidFill>
              <a:srgbClr val="FFD17D"/>
            </a:solidFill>
          </a:ln>
        </p:spPr>
        <p:txBody>
          <a:bodyPr wrap="square">
            <a:spAutoFit/>
          </a:bodyPr>
          <a:lstStyle/>
          <a:p>
            <a:pPr fontAlgn="base">
              <a:lnSpc>
                <a:spcPct val="150000"/>
              </a:lnSpc>
              <a:spcAft>
                <a:spcPts val="0"/>
              </a:spcAft>
            </a:pPr>
            <a:r>
              <a:rPr lang="zh-CN" altLang="en-US" sz="140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接口协议为</a:t>
            </a:r>
            <a:r>
              <a:rPr 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https</a:t>
            </a:r>
            <a:r>
              <a:rPr lang="zh-CN" alt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，端口为</a:t>
            </a:r>
            <a:r>
              <a:rPr 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18008</a:t>
            </a:r>
            <a:r>
              <a:rPr lang="zh-CN" alt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endParaRPr>
          </a:p>
          <a:p>
            <a:pPr fontAlgn="base">
              <a:lnSpc>
                <a:spcPct val="150000"/>
              </a:lnSpc>
              <a:spcAft>
                <a:spcPts val="0"/>
              </a:spcAft>
            </a:pPr>
            <a:r>
              <a:rPr lang="zh-CN" altLang="en-US" sz="140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接口为</a:t>
            </a:r>
            <a:r>
              <a:rPr lang="en-US" sz="140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RESTful </a:t>
            </a:r>
            <a:r>
              <a:rPr 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API</a:t>
            </a:r>
            <a:r>
              <a:rPr lang="zh-CN" alt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r>
              <a:rPr 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Content-Type</a:t>
            </a:r>
            <a:r>
              <a:rPr lang="zh-CN" alt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为</a:t>
            </a:r>
            <a:r>
              <a:rPr 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application/</a:t>
            </a:r>
            <a:r>
              <a:rPr lang="en-US" sz="1400" dirty="0" err="1">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json</a:t>
            </a:r>
            <a:r>
              <a:rPr lang="zh-CN" alt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endParaRPr>
          </a:p>
          <a:p>
            <a:pPr fontAlgn="base">
              <a:lnSpc>
                <a:spcPct val="150000"/>
              </a:lnSpc>
              <a:spcAft>
                <a:spcPts val="0"/>
              </a:spcAft>
            </a:pPr>
            <a:r>
              <a:rPr lang="zh-CN" alt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接口描述中</a:t>
            </a:r>
            <a:r>
              <a:rPr lang="zh-CN" altLang="en-US" sz="140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仅展示部分</a:t>
            </a:r>
            <a:r>
              <a:rPr lang="en-US" altLang="zh-CN" sz="140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URL</a:t>
            </a:r>
            <a:r>
              <a:rPr lang="zh-CN" altLang="en-US" sz="140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，如控制器地址</a:t>
            </a:r>
            <a:r>
              <a:rPr lang="zh-CN" alt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为</a:t>
            </a:r>
            <a:r>
              <a:rPr 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https://10.186.40.148:18008/</a:t>
            </a:r>
            <a:r>
              <a:rPr lang="zh-CN" alt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，则完整的</a:t>
            </a:r>
            <a:r>
              <a:rPr lang="zh-CN" altLang="en-US" sz="140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授权接口为</a:t>
            </a:r>
            <a:r>
              <a:rPr lang="zh-CN" alt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r>
              <a:rPr lang="en-US" sz="1400" dirty="0">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https://10.186.40.148:18008/controller/cloud/v2/northbound/accessuser/haca/authorization</a:t>
            </a:r>
          </a:p>
        </p:txBody>
      </p:sp>
      <p:graphicFrame>
        <p:nvGraphicFramePr>
          <p:cNvPr id="6" name="表格 5">
            <a:extLst>
              <a:ext uri="{FF2B5EF4-FFF2-40B4-BE49-F238E27FC236}">
                <a16:creationId xmlns:a16="http://schemas.microsoft.com/office/drawing/2014/main" xmlns="" id="{A8F7100A-6E6B-4A29-B08F-FC0AAC59C05C}"/>
              </a:ext>
            </a:extLst>
          </p:cNvPr>
          <p:cNvGraphicFramePr>
            <a:graphicFrameLocks noGrp="1"/>
          </p:cNvGraphicFramePr>
          <p:nvPr>
            <p:extLst>
              <p:ext uri="{D42A27DB-BD31-4B8C-83A1-F6EECF244321}">
                <p14:modId xmlns:p14="http://schemas.microsoft.com/office/powerpoint/2010/main" val="302455224"/>
              </p:ext>
            </p:extLst>
          </p:nvPr>
        </p:nvGraphicFramePr>
        <p:xfrm>
          <a:off x="618303" y="3529525"/>
          <a:ext cx="5298049" cy="2580712"/>
        </p:xfrm>
        <a:graphic>
          <a:graphicData uri="http://schemas.openxmlformats.org/drawingml/2006/table">
            <a:tbl>
              <a:tblPr firstRow="1" firstCol="1" bandRow="1"/>
              <a:tblGrid>
                <a:gridCol w="5298049">
                  <a:extLst>
                    <a:ext uri="{9D8B030D-6E8A-4147-A177-3AD203B41FA5}">
                      <a16:colId xmlns:a16="http://schemas.microsoft.com/office/drawing/2014/main" xmlns="" val="20000"/>
                    </a:ext>
                  </a:extLst>
                </a:gridCol>
              </a:tblGrid>
              <a:tr h="418783">
                <a:tc>
                  <a:txBody>
                    <a:bodyPr/>
                    <a:lstStyle/>
                    <a:p>
                      <a:pPr>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POST </a:t>
                      </a:r>
                    </a:p>
                    <a:p>
                      <a:pPr>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/controller/cloud/v2/northbound/</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accessuser</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haca</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/authorization</a:t>
                      </a:r>
                    </a:p>
                  </a:txBody>
                  <a:tcPr marL="68580" marR="68580" marT="0" marB="0">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extLst>
                  <a:ext uri="{0D108BD9-81ED-4DB2-BD59-A6C34878D82A}">
                    <a16:rowId xmlns:a16="http://schemas.microsoft.com/office/drawing/2014/main" xmlns="" val="10000"/>
                  </a:ext>
                </a:extLst>
              </a:tr>
              <a:tr h="2161929">
                <a:tc>
                  <a:txBody>
                    <a:bodyPr/>
                    <a:lstStyle/>
                    <a:p>
                      <a:pPr>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"deviceMac":"AA:AA:AA:00:00:89",</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"deviceEsn":"AA50082935AAAA000088",</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ssid</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YWFh</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policyName</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dfdsffd</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"terminalIpV4":"10.11.11.11",</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"terminalMac":"ff-ff-ff-ff-ff-f1",</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"username":"</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liao</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"nodeIp":"10.186.40.148",</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"apMac":"AA:AA:AA:00:00:89"</a:t>
                      </a:r>
                    </a:p>
                    <a:p>
                      <a:pPr>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p>
                  </a:txBody>
                  <a:tcPr marL="68580" marR="68580" marT="0" marB="0">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extLst>
                  <a:ext uri="{0D108BD9-81ED-4DB2-BD59-A6C34878D82A}">
                    <a16:rowId xmlns:a16="http://schemas.microsoft.com/office/drawing/2014/main" xmlns="" val="10001"/>
                  </a:ext>
                </a:extLst>
              </a:tr>
            </a:tbl>
          </a:graphicData>
        </a:graphic>
      </p:graphicFrame>
      <p:graphicFrame>
        <p:nvGraphicFramePr>
          <p:cNvPr id="7" name="表格 6">
            <a:extLst>
              <a:ext uri="{FF2B5EF4-FFF2-40B4-BE49-F238E27FC236}">
                <a16:creationId xmlns:a16="http://schemas.microsoft.com/office/drawing/2014/main" xmlns="" id="{C20D4622-FFAA-475B-B723-6C5EBA334366}"/>
              </a:ext>
            </a:extLst>
          </p:cNvPr>
          <p:cNvGraphicFramePr>
            <a:graphicFrameLocks noGrp="1"/>
          </p:cNvGraphicFramePr>
          <p:nvPr>
            <p:extLst>
              <p:ext uri="{D42A27DB-BD31-4B8C-83A1-F6EECF244321}">
                <p14:modId xmlns:p14="http://schemas.microsoft.com/office/powerpoint/2010/main" val="73294791"/>
              </p:ext>
            </p:extLst>
          </p:nvPr>
        </p:nvGraphicFramePr>
        <p:xfrm>
          <a:off x="6251709" y="3544704"/>
          <a:ext cx="5298049" cy="2565533"/>
        </p:xfrm>
        <a:graphic>
          <a:graphicData uri="http://schemas.openxmlformats.org/drawingml/2006/table">
            <a:tbl>
              <a:tblPr firstRow="1" firstCol="1" bandRow="1"/>
              <a:tblGrid>
                <a:gridCol w="5298049">
                  <a:extLst>
                    <a:ext uri="{9D8B030D-6E8A-4147-A177-3AD203B41FA5}">
                      <a16:colId xmlns:a16="http://schemas.microsoft.com/office/drawing/2014/main" xmlns="" val="20000"/>
                    </a:ext>
                  </a:extLst>
                </a:gridCol>
              </a:tblGrid>
              <a:tr h="362695">
                <a:tc>
                  <a:txBody>
                    <a:bodyPr/>
                    <a:lstStyle/>
                    <a:p>
                      <a:pPr>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STATUS CODE 200</a:t>
                      </a:r>
                    </a:p>
                  </a:txBody>
                  <a:tcPr marL="68580" marR="68580" marT="0" marB="0">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extLst>
                  <a:ext uri="{0D108BD9-81ED-4DB2-BD59-A6C34878D82A}">
                    <a16:rowId xmlns:a16="http://schemas.microsoft.com/office/drawing/2014/main" xmlns="" val="10000"/>
                  </a:ext>
                </a:extLst>
              </a:tr>
              <a:tr h="2202838">
                <a:tc>
                  <a:txBody>
                    <a:bodyPr/>
                    <a:lstStyle/>
                    <a:p>
                      <a:pPr>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p>
                    <a:p>
                      <a:pPr>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  "</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errcode</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 "",</a:t>
                      </a:r>
                    </a:p>
                    <a:p>
                      <a:pPr>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  "</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errmsg</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 "",</a:t>
                      </a:r>
                    </a:p>
                    <a:p>
                      <a:pPr marL="180975" indent="0">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r>
                        <a:rPr lang="en-US" sz="1200" dirty="0" err="1">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psessionid</a:t>
                      </a: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   "846d65a4e1bb38c350a280f46e6d2f6ab0a688df7edbb72b77bc5d03e3926cd6"</a:t>
                      </a:r>
                    </a:p>
                    <a:p>
                      <a:pPr>
                        <a:spcAft>
                          <a:spcPts val="0"/>
                        </a:spcAft>
                      </a:pPr>
                      <a:r>
                        <a:rPr lang="en-US" sz="1200" dirty="0">
                          <a:solidFill>
                            <a:schemeClr val="tx1"/>
                          </a:solidFill>
                          <a:effectLst/>
                          <a:latin typeface="Huawei Sans" panose="020C0503030203020204" pitchFamily="34" charset="0"/>
                          <a:ea typeface="方正兰亭黑简体" panose="02000000000000000000" pitchFamily="2" charset="-122"/>
                          <a:cs typeface="Courier New" pitchFamily="49" charset="0"/>
                          <a:sym typeface="Huawei Sans" panose="020C0503030203020204" pitchFamily="34" charset="0"/>
                        </a:rPr>
                        <a:t>}</a:t>
                      </a:r>
                    </a:p>
                  </a:txBody>
                  <a:tcPr marL="68580" marR="68580" marT="0" marB="0">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extLst>
                  <a:ext uri="{0D108BD9-81ED-4DB2-BD59-A6C34878D82A}">
                    <a16:rowId xmlns:a16="http://schemas.microsoft.com/office/drawing/2014/main" xmlns="" val="10001"/>
                  </a:ext>
                </a:extLst>
              </a:tr>
            </a:tbl>
          </a:graphicData>
        </a:graphic>
      </p:graphicFrame>
      <p:sp>
        <p:nvSpPr>
          <p:cNvPr id="8" name="文本框 30">
            <a:extLst>
              <a:ext uri="{FF2B5EF4-FFF2-40B4-BE49-F238E27FC236}">
                <a16:creationId xmlns:a16="http://schemas.microsoft.com/office/drawing/2014/main" xmlns="" id="{7A03FAF4-68D9-48D5-B5CB-6A67582C2443}"/>
              </a:ext>
            </a:extLst>
          </p:cNvPr>
          <p:cNvSpPr txBox="1">
            <a:spLocks/>
          </p:cNvSpPr>
          <p:nvPr/>
        </p:nvSpPr>
        <p:spPr bwMode="gray">
          <a:xfrm>
            <a:off x="6237763" y="3144505"/>
            <a:ext cx="5311994" cy="307777"/>
          </a:xfrm>
          <a:prstGeom prst="rect">
            <a:avLst/>
          </a:prstGeom>
          <a:noFill/>
          <a:ln>
            <a:solidFill>
              <a:srgbClr val="94DAE2"/>
            </a:solidFill>
          </a:ln>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Response</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77">
            <a:extLst>
              <a:ext uri="{FF2B5EF4-FFF2-40B4-BE49-F238E27FC236}">
                <a16:creationId xmlns:a16="http://schemas.microsoft.com/office/drawing/2014/main" xmlns="" id="{B77F4C80-F057-4FB2-9A42-32DDDF3D4F3E}"/>
              </a:ext>
            </a:extLst>
          </p:cNvPr>
          <p:cNvSpPr txBox="1">
            <a:spLocks/>
          </p:cNvSpPr>
          <p:nvPr/>
        </p:nvSpPr>
        <p:spPr bwMode="gray">
          <a:xfrm>
            <a:off x="618303" y="3149221"/>
            <a:ext cx="5311994" cy="307777"/>
          </a:xfrm>
          <a:prstGeom prst="rect">
            <a:avLst/>
          </a:prstGeom>
          <a:noFill/>
          <a:ln>
            <a:solidFill>
              <a:srgbClr val="94DAE2"/>
            </a:solidFill>
          </a:ln>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Request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702740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A069651-FBA0-489F-A9D6-EF716E03EA51}"/>
              </a:ext>
            </a:extLst>
          </p:cNvPr>
          <p:cNvSpPr>
            <a:spLocks noGrp="1"/>
          </p:cNvSpPr>
          <p:nvPr>
            <p:ph type="title"/>
          </p:nvPr>
        </p:nvSpPr>
        <p:spPr/>
        <p:txBody>
          <a:bodyPr/>
          <a:lstStyle/>
          <a:p>
            <a:r>
              <a:rPr lang="zh-CN" altLang="en-US" smtClean="0">
                <a:sym typeface="Huawei Sans" panose="020C0503030203020204" pitchFamily="34" charset="0"/>
              </a:rPr>
              <a:t>基于</a:t>
            </a:r>
            <a:r>
              <a:rPr lang="en-US" altLang="zh-CN" smtClean="0">
                <a:sym typeface="Huawei Sans" panose="020C0503030203020204" pitchFamily="34" charset="0"/>
              </a:rPr>
              <a:t>Portal+RADIUS</a:t>
            </a:r>
            <a:r>
              <a:rPr lang="zh-CN" altLang="en-US" smtClean="0">
                <a:sym typeface="Huawei Sans" panose="020C0503030203020204" pitchFamily="34" charset="0"/>
              </a:rPr>
              <a:t>对接流程</a:t>
            </a:r>
            <a:endParaRPr lang="zh-CN" altLang="en-US">
              <a:sym typeface="Huawei Sans" panose="020C0503030203020204" pitchFamily="34" charset="0"/>
            </a:endParaRPr>
          </a:p>
        </p:txBody>
      </p:sp>
      <p:graphicFrame>
        <p:nvGraphicFramePr>
          <p:cNvPr id="3" name="Object 2">
            <a:extLst>
              <a:ext uri="{FF2B5EF4-FFF2-40B4-BE49-F238E27FC236}">
                <a16:creationId xmlns:a16="http://schemas.microsoft.com/office/drawing/2014/main" xmlns="" id="{875B7886-F458-4529-B279-60CCE9C97D72}"/>
              </a:ext>
            </a:extLst>
          </p:cNvPr>
          <p:cNvGraphicFramePr>
            <a:graphicFrameLocks noChangeAspect="1"/>
          </p:cNvGraphicFramePr>
          <p:nvPr>
            <p:extLst>
              <p:ext uri="{D42A27DB-BD31-4B8C-83A1-F6EECF244321}">
                <p14:modId xmlns:p14="http://schemas.microsoft.com/office/powerpoint/2010/main" val="3773255216"/>
              </p:ext>
            </p:extLst>
          </p:nvPr>
        </p:nvGraphicFramePr>
        <p:xfrm>
          <a:off x="2843569" y="1263952"/>
          <a:ext cx="521996" cy="353984"/>
        </p:xfrm>
        <a:graphic>
          <a:graphicData uri="http://schemas.openxmlformats.org/presentationml/2006/ole">
            <mc:AlternateContent xmlns:mc="http://schemas.openxmlformats.org/markup-compatibility/2006">
              <mc:Choice xmlns:v="urn:schemas-microsoft-com:vml" Requires="v">
                <p:oleObj spid="_x0000_s1053" name="Visio" r:id="rId5" imgW="460915" imgH="303181" progId="Visio.Drawing.11">
                  <p:embed/>
                </p:oleObj>
              </mc:Choice>
              <mc:Fallback>
                <p:oleObj name="Visio" r:id="rId5" imgW="460915" imgH="303181"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569" y="1263952"/>
                        <a:ext cx="521996" cy="353984"/>
                      </a:xfrm>
                      <a:prstGeom prst="rect">
                        <a:avLst/>
                      </a:prstGeom>
                      <a:noFill/>
                      <a:ln>
                        <a:noFill/>
                      </a:ln>
                      <a:effectLst/>
                    </p:spPr>
                  </p:pic>
                </p:oleObj>
              </mc:Fallback>
            </mc:AlternateContent>
          </a:graphicData>
        </a:graphic>
      </p:graphicFrame>
      <p:sp>
        <p:nvSpPr>
          <p:cNvPr id="8" name="TextBox 10">
            <a:extLst>
              <a:ext uri="{FF2B5EF4-FFF2-40B4-BE49-F238E27FC236}">
                <a16:creationId xmlns:a16="http://schemas.microsoft.com/office/drawing/2014/main" xmlns="" id="{599AB4BF-493D-4DEB-806E-B0D0B9ACF691}"/>
              </a:ext>
            </a:extLst>
          </p:cNvPr>
          <p:cNvSpPr txBox="1"/>
          <p:nvPr/>
        </p:nvSpPr>
        <p:spPr>
          <a:xfrm>
            <a:off x="8187815" y="970183"/>
            <a:ext cx="1212191" cy="307777"/>
          </a:xfrm>
          <a:prstGeom prst="rect">
            <a:avLst/>
          </a:prstGeom>
          <a:noFill/>
        </p:spPr>
        <p:txBody>
          <a:bodyPr wrap="none" rtlCol="0">
            <a:spAutoFit/>
          </a:bodyPr>
          <a:lstStyle>
            <a:defPPr>
              <a:defRPr lang="en-US"/>
            </a:defPPr>
            <a:lvl1pPr>
              <a:defRPr sz="1500">
                <a:solidFill>
                  <a:srgbClr val="0070C0"/>
                </a:solidFill>
              </a:defRPr>
            </a:lvl1pPr>
          </a:lstStyle>
          <a:p>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第三方</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Portal</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11">
            <a:extLst>
              <a:ext uri="{FF2B5EF4-FFF2-40B4-BE49-F238E27FC236}">
                <a16:creationId xmlns:a16="http://schemas.microsoft.com/office/drawing/2014/main" xmlns="" id="{71A968CC-2EEC-4288-AEEC-9D0A38124A1D}"/>
              </a:ext>
            </a:extLst>
          </p:cNvPr>
          <p:cNvSpPr txBox="1"/>
          <p:nvPr/>
        </p:nvSpPr>
        <p:spPr>
          <a:xfrm>
            <a:off x="9760464" y="970183"/>
            <a:ext cx="1358064" cy="307777"/>
          </a:xfrm>
          <a:prstGeom prst="rect">
            <a:avLst/>
          </a:prstGeom>
          <a:noFill/>
        </p:spPr>
        <p:txBody>
          <a:bodyPr wrap="none" rtlCol="0">
            <a:spAutoFit/>
          </a:bodyPr>
          <a:lstStyle>
            <a:defPPr>
              <a:defRPr lang="en-US"/>
            </a:defPPr>
            <a:lvl1pPr>
              <a:defRPr sz="1500">
                <a:solidFill>
                  <a:srgbClr val="0070C0"/>
                </a:solidFill>
              </a:defRPr>
            </a:lvl1pPr>
          </a:lstStyle>
          <a:p>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第三方</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RADIUS</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 name="直接连接符 9">
            <a:extLst>
              <a:ext uri="{FF2B5EF4-FFF2-40B4-BE49-F238E27FC236}">
                <a16:creationId xmlns:a16="http://schemas.microsoft.com/office/drawing/2014/main" xmlns="" id="{02D49FD3-9924-4D46-AF81-468186FB8B86}"/>
              </a:ext>
            </a:extLst>
          </p:cNvPr>
          <p:cNvCxnSpPr/>
          <p:nvPr/>
        </p:nvCxnSpPr>
        <p:spPr bwMode="auto">
          <a:xfrm>
            <a:off x="3105189" y="1892346"/>
            <a:ext cx="0" cy="4282927"/>
          </a:xfrm>
          <a:prstGeom prst="line">
            <a:avLst/>
          </a:prstGeom>
          <a:ln>
            <a:solidFill>
              <a:srgbClr val="94DAE2"/>
            </a:solidFill>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cxnSp>
        <p:nvCxnSpPr>
          <p:cNvPr id="11" name="直接连接符 10">
            <a:extLst>
              <a:ext uri="{FF2B5EF4-FFF2-40B4-BE49-F238E27FC236}">
                <a16:creationId xmlns:a16="http://schemas.microsoft.com/office/drawing/2014/main" xmlns="" id="{4F955300-157E-459F-B72C-33F16352567D}"/>
              </a:ext>
            </a:extLst>
          </p:cNvPr>
          <p:cNvCxnSpPr/>
          <p:nvPr/>
        </p:nvCxnSpPr>
        <p:spPr bwMode="auto">
          <a:xfrm>
            <a:off x="4896343" y="1893626"/>
            <a:ext cx="0" cy="4281647"/>
          </a:xfrm>
          <a:prstGeom prst="line">
            <a:avLst/>
          </a:prstGeom>
          <a:ln>
            <a:solidFill>
              <a:srgbClr val="94DAE2"/>
            </a:solidFill>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cxnSp>
        <p:nvCxnSpPr>
          <p:cNvPr id="12" name="直接连接符 11">
            <a:extLst>
              <a:ext uri="{FF2B5EF4-FFF2-40B4-BE49-F238E27FC236}">
                <a16:creationId xmlns:a16="http://schemas.microsoft.com/office/drawing/2014/main" xmlns="" id="{873834CE-4273-488F-951B-669AD8C65522}"/>
              </a:ext>
            </a:extLst>
          </p:cNvPr>
          <p:cNvCxnSpPr/>
          <p:nvPr/>
        </p:nvCxnSpPr>
        <p:spPr bwMode="auto">
          <a:xfrm>
            <a:off x="6674022" y="1849628"/>
            <a:ext cx="0" cy="4325645"/>
          </a:xfrm>
          <a:prstGeom prst="line">
            <a:avLst/>
          </a:prstGeom>
          <a:ln>
            <a:solidFill>
              <a:srgbClr val="94DAE2"/>
            </a:solidFill>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cxnSp>
        <p:nvCxnSpPr>
          <p:cNvPr id="13" name="直接连接符 12">
            <a:extLst>
              <a:ext uri="{FF2B5EF4-FFF2-40B4-BE49-F238E27FC236}">
                <a16:creationId xmlns:a16="http://schemas.microsoft.com/office/drawing/2014/main" xmlns="" id="{B64A0D09-89F8-4E96-B694-F73A7EFF2F95}"/>
              </a:ext>
            </a:extLst>
          </p:cNvPr>
          <p:cNvCxnSpPr/>
          <p:nvPr/>
        </p:nvCxnSpPr>
        <p:spPr bwMode="auto">
          <a:xfrm>
            <a:off x="8647608" y="1834269"/>
            <a:ext cx="0" cy="4341004"/>
          </a:xfrm>
          <a:prstGeom prst="line">
            <a:avLst/>
          </a:prstGeom>
          <a:ln>
            <a:solidFill>
              <a:srgbClr val="94DAE2"/>
            </a:solidFill>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cxnSp>
        <p:nvCxnSpPr>
          <p:cNvPr id="14" name="直接连接符 13">
            <a:extLst>
              <a:ext uri="{FF2B5EF4-FFF2-40B4-BE49-F238E27FC236}">
                <a16:creationId xmlns:a16="http://schemas.microsoft.com/office/drawing/2014/main" xmlns="" id="{BEE8D576-70CC-4836-A9E5-0581276FC901}"/>
              </a:ext>
            </a:extLst>
          </p:cNvPr>
          <p:cNvCxnSpPr/>
          <p:nvPr/>
        </p:nvCxnSpPr>
        <p:spPr bwMode="auto">
          <a:xfrm>
            <a:off x="10384168" y="1818907"/>
            <a:ext cx="0" cy="4356366"/>
          </a:xfrm>
          <a:prstGeom prst="line">
            <a:avLst/>
          </a:prstGeom>
          <a:ln>
            <a:solidFill>
              <a:srgbClr val="94DAE2"/>
            </a:solidFill>
            <a:headEnd type="none" w="med" len="med"/>
            <a:tailEnd type="none" w="med" len="med"/>
          </a:ln>
          <a:extLst/>
        </p:spPr>
        <p:style>
          <a:lnRef idx="3">
            <a:schemeClr val="accent1"/>
          </a:lnRef>
          <a:fillRef idx="0">
            <a:schemeClr val="accent1"/>
          </a:fillRef>
          <a:effectRef idx="2">
            <a:schemeClr val="accent1"/>
          </a:effectRef>
          <a:fontRef idx="minor">
            <a:schemeClr val="tx1"/>
          </a:fontRef>
        </p:style>
      </p:cxnSp>
      <p:sp>
        <p:nvSpPr>
          <p:cNvPr id="15" name="TextBox 17">
            <a:extLst>
              <a:ext uri="{FF2B5EF4-FFF2-40B4-BE49-F238E27FC236}">
                <a16:creationId xmlns:a16="http://schemas.microsoft.com/office/drawing/2014/main" xmlns="" id="{61033510-8DDD-49E2-8FB2-357593601272}"/>
              </a:ext>
            </a:extLst>
          </p:cNvPr>
          <p:cNvSpPr txBox="1"/>
          <p:nvPr/>
        </p:nvSpPr>
        <p:spPr>
          <a:xfrm>
            <a:off x="2780829" y="970183"/>
            <a:ext cx="710451" cy="307777"/>
          </a:xfrm>
          <a:prstGeom prst="rect">
            <a:avLst/>
          </a:prstGeom>
          <a:noFill/>
        </p:spPr>
        <p:txBody>
          <a:bodyPr wrap="none" rtlCol="0">
            <a:spAutoFit/>
          </a:bodyPr>
          <a:lstStyle>
            <a:defPPr>
              <a:defRPr lang="en-US"/>
            </a:defPPr>
            <a:lvl1pPr>
              <a:defRPr sz="1500">
                <a:solidFill>
                  <a:srgbClr val="0070C0"/>
                </a:solidFill>
              </a:defRPr>
            </a:lvl1pPr>
          </a:lstStyle>
          <a:p>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Client </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TextBox 18">
            <a:extLst>
              <a:ext uri="{FF2B5EF4-FFF2-40B4-BE49-F238E27FC236}">
                <a16:creationId xmlns:a16="http://schemas.microsoft.com/office/drawing/2014/main" xmlns="" id="{5640120B-D6F4-4EA9-8E86-3B30A177303E}"/>
              </a:ext>
            </a:extLst>
          </p:cNvPr>
          <p:cNvSpPr txBox="1"/>
          <p:nvPr/>
        </p:nvSpPr>
        <p:spPr>
          <a:xfrm>
            <a:off x="4690908" y="970183"/>
            <a:ext cx="404278" cy="307777"/>
          </a:xfrm>
          <a:prstGeom prst="rect">
            <a:avLst/>
          </a:prstGeom>
          <a:noFill/>
        </p:spPr>
        <p:txBody>
          <a:bodyPr wrap="none" rtlCol="0">
            <a:spAutoFit/>
          </a:bodyPr>
          <a:lstStyle>
            <a:defPPr>
              <a:defRPr lang="en-US"/>
            </a:defPPr>
            <a:lvl1pPr>
              <a:defRPr sz="1500">
                <a:solidFill>
                  <a:srgbClr val="0070C0"/>
                </a:solidFill>
              </a:defRPr>
            </a:lvl1pPr>
          </a:lstStyle>
          <a:p>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直接箭头连接符 17">
            <a:extLst>
              <a:ext uri="{FF2B5EF4-FFF2-40B4-BE49-F238E27FC236}">
                <a16:creationId xmlns:a16="http://schemas.microsoft.com/office/drawing/2014/main" xmlns="" id="{35BD45F0-3B2D-48DE-ACC0-0066E24DCC78}"/>
              </a:ext>
            </a:extLst>
          </p:cNvPr>
          <p:cNvCxnSpPr/>
          <p:nvPr/>
        </p:nvCxnSpPr>
        <p:spPr bwMode="auto">
          <a:xfrm flipV="1">
            <a:off x="3141926" y="1964378"/>
            <a:ext cx="1730341"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19" name="TextBox 21">
            <a:extLst>
              <a:ext uri="{FF2B5EF4-FFF2-40B4-BE49-F238E27FC236}">
                <a16:creationId xmlns:a16="http://schemas.microsoft.com/office/drawing/2014/main" xmlns="" id="{1902E7CD-AFF6-410B-B7F1-6F7E468CEBFE}"/>
              </a:ext>
            </a:extLst>
          </p:cNvPr>
          <p:cNvSpPr txBox="1"/>
          <p:nvPr/>
        </p:nvSpPr>
        <p:spPr>
          <a:xfrm>
            <a:off x="3052804" y="1671245"/>
            <a:ext cx="316464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、用户接入</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Wi-Fi</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，打开浏览器访问互联网</a:t>
            </a:r>
          </a:p>
        </p:txBody>
      </p:sp>
      <p:cxnSp>
        <p:nvCxnSpPr>
          <p:cNvPr id="20" name="直接箭头连接符 19">
            <a:extLst>
              <a:ext uri="{FF2B5EF4-FFF2-40B4-BE49-F238E27FC236}">
                <a16:creationId xmlns:a16="http://schemas.microsoft.com/office/drawing/2014/main" xmlns="" id="{4C56DD4E-64B0-4132-9C50-1EC3E048B795}"/>
              </a:ext>
            </a:extLst>
          </p:cNvPr>
          <p:cNvCxnSpPr/>
          <p:nvPr/>
        </p:nvCxnSpPr>
        <p:spPr bwMode="auto">
          <a:xfrm flipH="1">
            <a:off x="3123917" y="2340695"/>
            <a:ext cx="1749741"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1" name="TextBox 23">
            <a:extLst>
              <a:ext uri="{FF2B5EF4-FFF2-40B4-BE49-F238E27FC236}">
                <a16:creationId xmlns:a16="http://schemas.microsoft.com/office/drawing/2014/main" xmlns="" id="{ACE5D4C7-7E0A-4BD4-BCAB-BA104827C632}"/>
              </a:ext>
            </a:extLst>
          </p:cNvPr>
          <p:cNvSpPr txBox="1"/>
          <p:nvPr/>
        </p:nvSpPr>
        <p:spPr>
          <a:xfrm>
            <a:off x="3051650" y="2072681"/>
            <a:ext cx="2997937"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、首先被</a:t>
            </a:r>
            <a:r>
              <a:rPr lang="zh-CN" altLang="en-US" sz="12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重定向</a:t>
            </a:r>
            <a:r>
              <a:rPr lang="zh-CN" altLang="en-US" sz="120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到</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iMaster NCE-Campus</a:t>
            </a:r>
            <a:endPar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22" name="直接箭头连接符 21">
            <a:extLst>
              <a:ext uri="{FF2B5EF4-FFF2-40B4-BE49-F238E27FC236}">
                <a16:creationId xmlns:a16="http://schemas.microsoft.com/office/drawing/2014/main" xmlns="" id="{F7808474-B0AD-41A5-9670-980951A5D8A4}"/>
              </a:ext>
            </a:extLst>
          </p:cNvPr>
          <p:cNvCxnSpPr/>
          <p:nvPr/>
        </p:nvCxnSpPr>
        <p:spPr bwMode="auto">
          <a:xfrm flipV="1">
            <a:off x="3106268" y="2595924"/>
            <a:ext cx="3526823"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3" name="TextBox 25">
            <a:extLst>
              <a:ext uri="{FF2B5EF4-FFF2-40B4-BE49-F238E27FC236}">
                <a16:creationId xmlns:a16="http://schemas.microsoft.com/office/drawing/2014/main" xmlns="" id="{F4D18550-E432-40FC-8289-B4C0C7BE3597}"/>
              </a:ext>
            </a:extLst>
          </p:cNvPr>
          <p:cNvSpPr txBox="1"/>
          <p:nvPr/>
        </p:nvSpPr>
        <p:spPr>
          <a:xfrm>
            <a:off x="3026320" y="2349486"/>
            <a:ext cx="253627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3</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zh-CN" altLang="en-US" sz="12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重定向</a:t>
            </a:r>
            <a:r>
              <a:rPr lang="zh-CN" altLang="en-US" sz="120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到</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iMaster NCE-Campus</a:t>
            </a:r>
            <a:endPar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24" name="直接箭头连接符 23">
            <a:extLst>
              <a:ext uri="{FF2B5EF4-FFF2-40B4-BE49-F238E27FC236}">
                <a16:creationId xmlns:a16="http://schemas.microsoft.com/office/drawing/2014/main" xmlns="" id="{64B136E9-46FD-4949-96F5-0D4B27553654}"/>
              </a:ext>
            </a:extLst>
          </p:cNvPr>
          <p:cNvCxnSpPr/>
          <p:nvPr/>
        </p:nvCxnSpPr>
        <p:spPr bwMode="auto">
          <a:xfrm flipH="1">
            <a:off x="3138946" y="3411019"/>
            <a:ext cx="5506537" cy="0"/>
          </a:xfrm>
          <a:prstGeom prst="straightConnector1">
            <a:avLst/>
          </a:prstGeom>
          <a:ln w="19050" cap="flat" cmpd="sng" algn="ctr">
            <a:solidFill>
              <a:srgbClr val="EC7061"/>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sp>
        <p:nvSpPr>
          <p:cNvPr id="25" name="TextBox 27">
            <a:extLst>
              <a:ext uri="{FF2B5EF4-FFF2-40B4-BE49-F238E27FC236}">
                <a16:creationId xmlns:a16="http://schemas.microsoft.com/office/drawing/2014/main" xmlns="" id="{4D0FE2CD-E708-4CD6-AB99-7740F83EE906}"/>
              </a:ext>
            </a:extLst>
          </p:cNvPr>
          <p:cNvSpPr txBox="1"/>
          <p:nvPr/>
        </p:nvSpPr>
        <p:spPr>
          <a:xfrm>
            <a:off x="3051650" y="3156802"/>
            <a:ext cx="3169457"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6</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、让用户将用户名和密码推送给</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controller</a:t>
            </a:r>
            <a:endPar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26" name="直接箭头连接符 25">
            <a:extLst>
              <a:ext uri="{FF2B5EF4-FFF2-40B4-BE49-F238E27FC236}">
                <a16:creationId xmlns:a16="http://schemas.microsoft.com/office/drawing/2014/main" xmlns="" id="{2BC47F6F-8725-4168-94D1-142CBF14232A}"/>
              </a:ext>
            </a:extLst>
          </p:cNvPr>
          <p:cNvCxnSpPr/>
          <p:nvPr/>
        </p:nvCxnSpPr>
        <p:spPr bwMode="auto">
          <a:xfrm>
            <a:off x="3148353" y="3799495"/>
            <a:ext cx="3498296"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7" name="TextBox 29">
            <a:extLst>
              <a:ext uri="{FF2B5EF4-FFF2-40B4-BE49-F238E27FC236}">
                <a16:creationId xmlns:a16="http://schemas.microsoft.com/office/drawing/2014/main" xmlns="" id="{3DF5DC4C-6FEF-4BD6-882A-8212A5853A64}"/>
              </a:ext>
            </a:extLst>
          </p:cNvPr>
          <p:cNvSpPr txBox="1"/>
          <p:nvPr/>
        </p:nvSpPr>
        <p:spPr>
          <a:xfrm>
            <a:off x="3086479" y="3538762"/>
            <a:ext cx="347723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7</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、用户页面会将用户名和密码推送给</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controller</a:t>
            </a:r>
            <a:endPar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28" name="直接箭头连接符 27">
            <a:extLst>
              <a:ext uri="{FF2B5EF4-FFF2-40B4-BE49-F238E27FC236}">
                <a16:creationId xmlns:a16="http://schemas.microsoft.com/office/drawing/2014/main" xmlns="" id="{2D1DD24D-ABFD-4760-AB85-67CBCB3A8DA7}"/>
              </a:ext>
            </a:extLst>
          </p:cNvPr>
          <p:cNvCxnSpPr/>
          <p:nvPr/>
        </p:nvCxnSpPr>
        <p:spPr bwMode="auto">
          <a:xfrm flipV="1">
            <a:off x="6672836" y="4203263"/>
            <a:ext cx="3705333" cy="1"/>
          </a:xfrm>
          <a:prstGeom prst="straightConnector1">
            <a:avLst/>
          </a:prstGeom>
          <a:ln w="19050" cap="flat" cmpd="sng" algn="ctr">
            <a:solidFill>
              <a:srgbClr val="EC7061"/>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sp>
        <p:nvSpPr>
          <p:cNvPr id="29" name="TextBox 31">
            <a:extLst>
              <a:ext uri="{FF2B5EF4-FFF2-40B4-BE49-F238E27FC236}">
                <a16:creationId xmlns:a16="http://schemas.microsoft.com/office/drawing/2014/main" xmlns="" id="{7829CD8C-4ED1-41A8-A294-9E4AA41D7945}"/>
              </a:ext>
            </a:extLst>
          </p:cNvPr>
          <p:cNvSpPr txBox="1"/>
          <p:nvPr/>
        </p:nvSpPr>
        <p:spPr>
          <a:xfrm>
            <a:off x="6647943" y="3923683"/>
            <a:ext cx="343876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8</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、发起接入认证请求：使用</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RADIUS</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认证报文</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endPar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30" name="直接箭头连接符 29">
            <a:extLst>
              <a:ext uri="{FF2B5EF4-FFF2-40B4-BE49-F238E27FC236}">
                <a16:creationId xmlns:a16="http://schemas.microsoft.com/office/drawing/2014/main" xmlns="" id="{539C8CDD-16DD-47B4-832D-4E79EBDB6EF5}"/>
              </a:ext>
            </a:extLst>
          </p:cNvPr>
          <p:cNvCxnSpPr/>
          <p:nvPr/>
        </p:nvCxnSpPr>
        <p:spPr bwMode="auto">
          <a:xfrm flipH="1" flipV="1">
            <a:off x="6671679" y="4550253"/>
            <a:ext cx="3705333" cy="0"/>
          </a:xfrm>
          <a:prstGeom prst="straightConnector1">
            <a:avLst/>
          </a:prstGeom>
          <a:ln w="19050" cap="flat" cmpd="sng" algn="ctr">
            <a:solidFill>
              <a:srgbClr val="EC7061"/>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cxnSp>
        <p:nvCxnSpPr>
          <p:cNvPr id="31" name="直接箭头连接符 30">
            <a:extLst>
              <a:ext uri="{FF2B5EF4-FFF2-40B4-BE49-F238E27FC236}">
                <a16:creationId xmlns:a16="http://schemas.microsoft.com/office/drawing/2014/main" xmlns="" id="{E4E72F4B-65C4-433E-A10B-167B942D1AE8}"/>
              </a:ext>
            </a:extLst>
          </p:cNvPr>
          <p:cNvCxnSpPr/>
          <p:nvPr/>
        </p:nvCxnSpPr>
        <p:spPr bwMode="auto">
          <a:xfrm flipH="1">
            <a:off x="4909883" y="4856251"/>
            <a:ext cx="1758551"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2" name="TextBox 34">
            <a:extLst>
              <a:ext uri="{FF2B5EF4-FFF2-40B4-BE49-F238E27FC236}">
                <a16:creationId xmlns:a16="http://schemas.microsoft.com/office/drawing/2014/main" xmlns="" id="{D40BC2DF-3377-44F5-9E4B-78605618258E}"/>
              </a:ext>
            </a:extLst>
          </p:cNvPr>
          <p:cNvSpPr txBox="1"/>
          <p:nvPr/>
        </p:nvSpPr>
        <p:spPr>
          <a:xfrm>
            <a:off x="4937463" y="4583121"/>
            <a:ext cx="143500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、通知设备授权</a:t>
            </a:r>
          </a:p>
        </p:txBody>
      </p:sp>
      <p:cxnSp>
        <p:nvCxnSpPr>
          <p:cNvPr id="33" name="直接箭头连接符 32">
            <a:extLst>
              <a:ext uri="{FF2B5EF4-FFF2-40B4-BE49-F238E27FC236}">
                <a16:creationId xmlns:a16="http://schemas.microsoft.com/office/drawing/2014/main" xmlns="" id="{EDDFE4BD-3604-492F-9D54-6ABD3121D2C3}"/>
              </a:ext>
            </a:extLst>
          </p:cNvPr>
          <p:cNvCxnSpPr/>
          <p:nvPr/>
        </p:nvCxnSpPr>
        <p:spPr bwMode="auto">
          <a:xfrm>
            <a:off x="6675291" y="5011450"/>
            <a:ext cx="3708877" cy="0"/>
          </a:xfrm>
          <a:prstGeom prst="straightConnector1">
            <a:avLst/>
          </a:prstGeom>
          <a:ln w="19050" cap="flat" cmpd="sng" algn="ctr">
            <a:solidFill>
              <a:srgbClr val="EC7061"/>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sp>
        <p:nvSpPr>
          <p:cNvPr id="34" name="TextBox 36">
            <a:extLst>
              <a:ext uri="{FF2B5EF4-FFF2-40B4-BE49-F238E27FC236}">
                <a16:creationId xmlns:a16="http://schemas.microsoft.com/office/drawing/2014/main" xmlns="" id="{1DED22B4-8B91-4185-83C8-8491CA11E63A}"/>
              </a:ext>
            </a:extLst>
          </p:cNvPr>
          <p:cNvSpPr txBox="1"/>
          <p:nvPr/>
        </p:nvSpPr>
        <p:spPr>
          <a:xfrm>
            <a:off x="6637749" y="4734050"/>
            <a:ext cx="2877711"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11</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、计费消息：使用</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RADIUS</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认证报文</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endPar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35" name="直接箭头连接符 34">
            <a:extLst>
              <a:ext uri="{FF2B5EF4-FFF2-40B4-BE49-F238E27FC236}">
                <a16:creationId xmlns:a16="http://schemas.microsoft.com/office/drawing/2014/main" xmlns="" id="{D331C559-A10E-4825-98E0-A3192D9C574C}"/>
              </a:ext>
            </a:extLst>
          </p:cNvPr>
          <p:cNvCxnSpPr/>
          <p:nvPr/>
        </p:nvCxnSpPr>
        <p:spPr bwMode="auto">
          <a:xfrm flipH="1">
            <a:off x="3098207" y="6077630"/>
            <a:ext cx="5558000" cy="1282"/>
          </a:xfrm>
          <a:prstGeom prst="straightConnector1">
            <a:avLst/>
          </a:prstGeom>
          <a:ln w="19050" cap="flat" cmpd="sng" algn="ctr">
            <a:solidFill>
              <a:srgbClr val="EC7061"/>
            </a:solidFill>
            <a:prstDash val="solid"/>
            <a:round/>
            <a:headEnd type="none" w="sm"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cxnSp>
        <p:nvCxnSpPr>
          <p:cNvPr id="36" name="直接箭头连接符 35">
            <a:extLst>
              <a:ext uri="{FF2B5EF4-FFF2-40B4-BE49-F238E27FC236}">
                <a16:creationId xmlns:a16="http://schemas.microsoft.com/office/drawing/2014/main" xmlns="" id="{61088FD9-B0F1-4B2D-AF86-54D81655661E}"/>
              </a:ext>
            </a:extLst>
          </p:cNvPr>
          <p:cNvCxnSpPr/>
          <p:nvPr/>
        </p:nvCxnSpPr>
        <p:spPr bwMode="auto">
          <a:xfrm flipH="1" flipV="1">
            <a:off x="3141484" y="5407158"/>
            <a:ext cx="3499482"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7" name="TextBox 39">
            <a:extLst>
              <a:ext uri="{FF2B5EF4-FFF2-40B4-BE49-F238E27FC236}">
                <a16:creationId xmlns:a16="http://schemas.microsoft.com/office/drawing/2014/main" xmlns="" id="{A8E2A560-EBE7-4E44-A418-36A9C4DB4B30}"/>
              </a:ext>
            </a:extLst>
          </p:cNvPr>
          <p:cNvSpPr txBox="1"/>
          <p:nvPr/>
        </p:nvSpPr>
        <p:spPr>
          <a:xfrm>
            <a:off x="3126184" y="4917821"/>
            <a:ext cx="3631214" cy="461665"/>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12</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、如果认证成功跳转到成功页面（第三方实现）</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如果失败跳转到失败信息页面</a:t>
            </a:r>
          </a:p>
        </p:txBody>
      </p:sp>
      <p:cxnSp>
        <p:nvCxnSpPr>
          <p:cNvPr id="38" name="直接箭头连接符 37">
            <a:extLst>
              <a:ext uri="{FF2B5EF4-FFF2-40B4-BE49-F238E27FC236}">
                <a16:creationId xmlns:a16="http://schemas.microsoft.com/office/drawing/2014/main" xmlns="" id="{E289173A-EF82-4CBD-BF25-1B5BB284B686}"/>
              </a:ext>
            </a:extLst>
          </p:cNvPr>
          <p:cNvCxnSpPr/>
          <p:nvPr/>
        </p:nvCxnSpPr>
        <p:spPr bwMode="auto">
          <a:xfrm>
            <a:off x="3125537" y="5737947"/>
            <a:ext cx="5519946" cy="0"/>
          </a:xfrm>
          <a:prstGeom prst="straightConnector1">
            <a:avLst/>
          </a:prstGeom>
          <a:ln w="19050" cap="flat" cmpd="sng" algn="ctr">
            <a:solidFill>
              <a:srgbClr val="EC7061"/>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sp>
        <p:nvSpPr>
          <p:cNvPr id="39" name="TextBox 41">
            <a:extLst>
              <a:ext uri="{FF2B5EF4-FFF2-40B4-BE49-F238E27FC236}">
                <a16:creationId xmlns:a16="http://schemas.microsoft.com/office/drawing/2014/main" xmlns="" id="{CEE8D761-2864-4189-986E-D301CD14B6EF}"/>
              </a:ext>
            </a:extLst>
          </p:cNvPr>
          <p:cNvSpPr txBox="1"/>
          <p:nvPr/>
        </p:nvSpPr>
        <p:spPr>
          <a:xfrm>
            <a:off x="3112564" y="5489821"/>
            <a:ext cx="1435008"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13</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、获取页面资源</a:t>
            </a:r>
          </a:p>
        </p:txBody>
      </p:sp>
      <p:cxnSp>
        <p:nvCxnSpPr>
          <p:cNvPr id="40" name="直接箭头连接符 39">
            <a:extLst>
              <a:ext uri="{FF2B5EF4-FFF2-40B4-BE49-F238E27FC236}">
                <a16:creationId xmlns:a16="http://schemas.microsoft.com/office/drawing/2014/main" xmlns="" id="{C0C8FCF4-0F25-4BF9-9743-A1408B000369}"/>
              </a:ext>
            </a:extLst>
          </p:cNvPr>
          <p:cNvCxnSpPr/>
          <p:nvPr/>
        </p:nvCxnSpPr>
        <p:spPr bwMode="auto">
          <a:xfrm flipH="1">
            <a:off x="3114185" y="2862802"/>
            <a:ext cx="3540692" cy="319"/>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41" name="TextBox 43">
            <a:extLst>
              <a:ext uri="{FF2B5EF4-FFF2-40B4-BE49-F238E27FC236}">
                <a16:creationId xmlns:a16="http://schemas.microsoft.com/office/drawing/2014/main" xmlns="" id="{CE880A39-56F2-4532-9463-0E5CA0CD5C6F}"/>
              </a:ext>
            </a:extLst>
          </p:cNvPr>
          <p:cNvSpPr txBox="1"/>
          <p:nvPr/>
        </p:nvSpPr>
        <p:spPr>
          <a:xfrm>
            <a:off x="3022543" y="2619398"/>
            <a:ext cx="290015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4</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、再次被重定向到第三方的</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页面</a:t>
            </a:r>
          </a:p>
        </p:txBody>
      </p:sp>
      <p:cxnSp>
        <p:nvCxnSpPr>
          <p:cNvPr id="42" name="直接箭头连接符 41">
            <a:extLst>
              <a:ext uri="{FF2B5EF4-FFF2-40B4-BE49-F238E27FC236}">
                <a16:creationId xmlns:a16="http://schemas.microsoft.com/office/drawing/2014/main" xmlns="" id="{83D53C14-9D09-4A9C-B99D-19DC26F655C1}"/>
              </a:ext>
            </a:extLst>
          </p:cNvPr>
          <p:cNvCxnSpPr/>
          <p:nvPr/>
        </p:nvCxnSpPr>
        <p:spPr bwMode="auto">
          <a:xfrm flipV="1">
            <a:off x="3138947" y="3133659"/>
            <a:ext cx="5506537" cy="0"/>
          </a:xfrm>
          <a:prstGeom prst="straightConnector1">
            <a:avLst/>
          </a:prstGeom>
          <a:ln w="19050" cap="flat" cmpd="sng" algn="ctr">
            <a:solidFill>
              <a:srgbClr val="EC7061"/>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sp>
        <p:nvSpPr>
          <p:cNvPr id="43" name="TextBox 45">
            <a:extLst>
              <a:ext uri="{FF2B5EF4-FFF2-40B4-BE49-F238E27FC236}">
                <a16:creationId xmlns:a16="http://schemas.microsoft.com/office/drawing/2014/main" xmlns="" id="{C316998C-0C0F-4F91-8A8F-3B5A5D3C5DD7}"/>
              </a:ext>
            </a:extLst>
          </p:cNvPr>
          <p:cNvSpPr txBox="1"/>
          <p:nvPr/>
        </p:nvSpPr>
        <p:spPr>
          <a:xfrm>
            <a:off x="3017515" y="2880633"/>
            <a:ext cx="3958135"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5</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、重定向到第三方</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portal</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页面，根据页面提示进行登录</a:t>
            </a:r>
          </a:p>
        </p:txBody>
      </p:sp>
      <p:sp>
        <p:nvSpPr>
          <p:cNvPr id="44" name="TextBox 46">
            <a:extLst>
              <a:ext uri="{FF2B5EF4-FFF2-40B4-BE49-F238E27FC236}">
                <a16:creationId xmlns:a16="http://schemas.microsoft.com/office/drawing/2014/main" xmlns="" id="{E37B5C1B-206F-48E9-A1C1-49F3E6D6876E}"/>
              </a:ext>
            </a:extLst>
          </p:cNvPr>
          <p:cNvSpPr txBox="1"/>
          <p:nvPr/>
        </p:nvSpPr>
        <p:spPr>
          <a:xfrm>
            <a:off x="6675291" y="4283795"/>
            <a:ext cx="317747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9</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、接入接受</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拒绝：使用</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RADIUS</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认证报文</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endPar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5" name="TextBox 47">
            <a:extLst>
              <a:ext uri="{FF2B5EF4-FFF2-40B4-BE49-F238E27FC236}">
                <a16:creationId xmlns:a16="http://schemas.microsoft.com/office/drawing/2014/main" xmlns="" id="{A82399C7-8885-4FF0-BC6E-4D4871F0290F}"/>
              </a:ext>
            </a:extLst>
          </p:cNvPr>
          <p:cNvSpPr txBox="1"/>
          <p:nvPr/>
        </p:nvSpPr>
        <p:spPr>
          <a:xfrm>
            <a:off x="3114882" y="5802503"/>
            <a:ext cx="112723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14</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、显示页面</a:t>
            </a:r>
          </a:p>
        </p:txBody>
      </p:sp>
      <p:sp>
        <p:nvSpPr>
          <p:cNvPr id="46" name="TextBox 65">
            <a:extLst>
              <a:ext uri="{FF2B5EF4-FFF2-40B4-BE49-F238E27FC236}">
                <a16:creationId xmlns:a16="http://schemas.microsoft.com/office/drawing/2014/main" xmlns="" id="{FC74F623-21F9-4C40-A6D8-6E78050E9AA4}"/>
              </a:ext>
            </a:extLst>
          </p:cNvPr>
          <p:cNvSpPr txBox="1"/>
          <p:nvPr/>
        </p:nvSpPr>
        <p:spPr>
          <a:xfrm>
            <a:off x="994787" y="4964662"/>
            <a:ext cx="1957011" cy="617990"/>
          </a:xfrm>
          <a:prstGeom prst="rect">
            <a:avLst/>
          </a:prstGeom>
          <a:noFill/>
          <a:ln>
            <a:solidFill>
              <a:srgbClr val="94DAE2"/>
            </a:solidFill>
          </a:ln>
        </p:spPr>
        <p:txBody>
          <a:bodyPr wrap="square" rtlCol="0">
            <a:spAutoFit/>
          </a:bodyPr>
          <a:lstStyle/>
          <a:p>
            <a:pPr>
              <a:lnSpc>
                <a:spcPct val="150000"/>
              </a:lnSpc>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如果身份验证失败，将使用弹出来显示它。</a:t>
            </a:r>
            <a:endPar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48" name="图片 47">
            <a:extLst>
              <a:ext uri="{FF2B5EF4-FFF2-40B4-BE49-F238E27FC236}">
                <a16:creationId xmlns:a16="http://schemas.microsoft.com/office/drawing/2014/main" xmlns="" id="{7FDD9407-6FC6-4162-8B16-7A313DCDABC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72139" y="1265551"/>
            <a:ext cx="951607" cy="540946"/>
          </a:xfrm>
          <a:prstGeom prst="rect">
            <a:avLst/>
          </a:prstGeom>
        </p:spPr>
      </p:pic>
      <p:sp>
        <p:nvSpPr>
          <p:cNvPr id="49" name="文本框 48">
            <a:extLst>
              <a:ext uri="{FF2B5EF4-FFF2-40B4-BE49-F238E27FC236}">
                <a16:creationId xmlns:a16="http://schemas.microsoft.com/office/drawing/2014/main" xmlns="" id="{950BF48D-870F-4719-B624-ABE93A4134DF}"/>
              </a:ext>
            </a:extLst>
          </p:cNvPr>
          <p:cNvSpPr txBox="1"/>
          <p:nvPr/>
        </p:nvSpPr>
        <p:spPr>
          <a:xfrm>
            <a:off x="5667746" y="970183"/>
            <a:ext cx="1925527" cy="307777"/>
          </a:xfrm>
          <a:prstGeom prst="rect">
            <a:avLst/>
          </a:prstGeom>
          <a:noFill/>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iMaster NCE-Campus</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0" name="图片 49">
            <a:extLst>
              <a:ext uri="{FF2B5EF4-FFF2-40B4-BE49-F238E27FC236}">
                <a16:creationId xmlns:a16="http://schemas.microsoft.com/office/drawing/2014/main" xmlns="" id="{200418FE-C592-462C-8FB2-B49653CEEE31}"/>
              </a:ext>
            </a:extLst>
          </p:cNvPr>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4630939" y="1232844"/>
            <a:ext cx="485437" cy="398059"/>
          </a:xfrm>
          <a:prstGeom prst="rect">
            <a:avLst/>
          </a:prstGeom>
        </p:spPr>
      </p:pic>
      <p:pic>
        <p:nvPicPr>
          <p:cNvPr id="51" name="图片 50">
            <a:extLst>
              <a:ext uri="{FF2B5EF4-FFF2-40B4-BE49-F238E27FC236}">
                <a16:creationId xmlns:a16="http://schemas.microsoft.com/office/drawing/2014/main" xmlns="" id="{453378F2-DACC-4EC6-AF19-DD26E86BA04B}"/>
              </a:ext>
            </a:extLst>
          </p:cNvPr>
          <p:cNvPicPr>
            <a:picLocks/>
          </p:cNvPicPr>
          <p:nvPr/>
        </p:nvPicPr>
        <p:blipFill>
          <a:blip r:embed="rId9" cstate="print">
            <a:extLst>
              <a:ext uri="{28A0092B-C50C-407E-A947-70E740481C1C}">
                <a14:useLocalDpi xmlns:a14="http://schemas.microsoft.com/office/drawing/2010/main" val="0"/>
              </a:ext>
            </a:extLst>
          </a:blip>
          <a:stretch>
            <a:fillRect/>
          </a:stretch>
        </p:blipFill>
        <p:spPr>
          <a:xfrm>
            <a:off x="8366033" y="1240230"/>
            <a:ext cx="540000" cy="442800"/>
          </a:xfrm>
          <a:prstGeom prst="rect">
            <a:avLst/>
          </a:prstGeom>
        </p:spPr>
      </p:pic>
      <p:pic>
        <p:nvPicPr>
          <p:cNvPr id="52" name="图片 51">
            <a:extLst>
              <a:ext uri="{FF2B5EF4-FFF2-40B4-BE49-F238E27FC236}">
                <a16:creationId xmlns:a16="http://schemas.microsoft.com/office/drawing/2014/main" xmlns="" id="{025801F1-FC75-4CD1-8E3F-F8920172A656}"/>
              </a:ext>
            </a:extLst>
          </p:cNvPr>
          <p:cNvPicPr>
            <a:picLocks/>
          </p:cNvPicPr>
          <p:nvPr/>
        </p:nvPicPr>
        <p:blipFill>
          <a:blip r:embed="rId9" cstate="print">
            <a:extLst>
              <a:ext uri="{28A0092B-C50C-407E-A947-70E740481C1C}">
                <a14:useLocalDpi xmlns:a14="http://schemas.microsoft.com/office/drawing/2010/main" val="0"/>
              </a:ext>
            </a:extLst>
          </a:blip>
          <a:stretch>
            <a:fillRect/>
          </a:stretch>
        </p:blipFill>
        <p:spPr>
          <a:xfrm>
            <a:off x="10108169" y="1240230"/>
            <a:ext cx="540000" cy="442800"/>
          </a:xfrm>
          <a:prstGeom prst="rect">
            <a:avLst/>
          </a:prstGeom>
        </p:spPr>
      </p:pic>
    </p:spTree>
    <p:extLst>
      <p:ext uri="{BB962C8B-B14F-4D97-AF65-F5344CB8AC3E}">
        <p14:creationId xmlns:p14="http://schemas.microsoft.com/office/powerpoint/2010/main" val="902242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解决方案概述</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典型场景及开放能力介绍</a:t>
            </a:r>
            <a:endParaRPr lang="en-US" altLang="zh-CN" b="1"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认证授权</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smtClean="0">
                <a:sym typeface="Huawei Sans" panose="020C0503030203020204" pitchFamily="34" charset="0"/>
              </a:rPr>
              <a:t>位置服务</a:t>
            </a:r>
            <a:endParaRPr lang="en-US" altLang="zh-CN"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人群画像</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网络运维</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智慧物联</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开放合作案例</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7475366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599D416-9015-4FBA-B153-B5339D565BEE}"/>
              </a:ext>
            </a:extLst>
          </p:cNvPr>
          <p:cNvSpPr>
            <a:spLocks noGrp="1"/>
          </p:cNvSpPr>
          <p:nvPr>
            <p:ph type="title"/>
          </p:nvPr>
        </p:nvSpPr>
        <p:spPr bwMode="gray"/>
        <p:txBody>
          <a:bodyPr/>
          <a:lstStyle/>
          <a:p>
            <a:r>
              <a:rPr lang="zh-CN" altLang="en-US" smtClean="0">
                <a:sym typeface="Huawei Sans" panose="020C0503030203020204" pitchFamily="34" charset="0"/>
              </a:rPr>
              <a:t>位置服务场景介绍</a:t>
            </a:r>
            <a:endParaRPr lang="zh-CN" altLang="en-US">
              <a:sym typeface="Huawei Sans" panose="020C0503030203020204" pitchFamily="34" charset="0"/>
            </a:endParaRPr>
          </a:p>
        </p:txBody>
      </p:sp>
      <p:sp>
        <p:nvSpPr>
          <p:cNvPr id="7" name="文本占位符 6"/>
          <p:cNvSpPr>
            <a:spLocks noGrp="1"/>
          </p:cNvSpPr>
          <p:nvPr>
            <p:ph type="body" sz="quarter" idx="10"/>
          </p:nvPr>
        </p:nvSpPr>
        <p:spPr bwMode="gray"/>
        <p:txBody>
          <a:bodyPr/>
          <a:lstStyle/>
          <a:p>
            <a:r>
              <a:rPr lang="zh-CN" altLang="en-US" sz="1600" dirty="0">
                <a:sym typeface="Huawei Sans" panose="020C0503030203020204" pitchFamily="34" charset="0"/>
              </a:rPr>
              <a:t>位置服务（</a:t>
            </a:r>
            <a:r>
              <a:rPr lang="en-US" altLang="zh-CN" sz="1600" dirty="0">
                <a:sym typeface="Huawei Sans" panose="020C0503030203020204" pitchFamily="34" charset="0"/>
              </a:rPr>
              <a:t>LBS, Location Based Services</a:t>
            </a:r>
            <a:r>
              <a:rPr lang="zh-CN" altLang="en-US" sz="1600" dirty="0">
                <a:sym typeface="Huawei Sans" panose="020C0503030203020204" pitchFamily="34" charset="0"/>
              </a:rPr>
              <a:t>） ，即第三方</a:t>
            </a:r>
            <a:r>
              <a:rPr lang="en-US" altLang="zh-CN" sz="1600" dirty="0">
                <a:sym typeface="Huawei Sans" panose="020C0503030203020204" pitchFamily="34" charset="0"/>
              </a:rPr>
              <a:t>LBS</a:t>
            </a:r>
            <a:r>
              <a:rPr lang="zh-CN" altLang="en-US" sz="1600" dirty="0">
                <a:sym typeface="Huawei Sans" panose="020C0503030203020204" pitchFamily="34" charset="0"/>
              </a:rPr>
              <a:t>应用平台（客流分析、基于位置的 </a:t>
            </a:r>
            <a:r>
              <a:rPr lang="en-US" altLang="zh-CN" sz="1600" dirty="0">
                <a:sym typeface="Huawei Sans" panose="020C0503030203020204" pitchFamily="34" charset="0"/>
              </a:rPr>
              <a:t>Wi-Fi </a:t>
            </a:r>
            <a:r>
              <a:rPr lang="zh-CN" altLang="en-US" sz="1600" dirty="0">
                <a:sym typeface="Huawei Sans" panose="020C0503030203020204" pitchFamily="34" charset="0"/>
              </a:rPr>
              <a:t>营销、定位导航）可以对华为智简园区网络探测和关联的终端设备进行位置应用。</a:t>
            </a:r>
          </a:p>
          <a:p>
            <a:endParaRPr lang="zh-CN" altLang="en-US" sz="1600" dirty="0">
              <a:sym typeface="Huawei Sans" panose="020C0503030203020204" pitchFamily="34" charset="0"/>
            </a:endParaRPr>
          </a:p>
        </p:txBody>
      </p:sp>
      <p:graphicFrame>
        <p:nvGraphicFramePr>
          <p:cNvPr id="12" name="表格 11"/>
          <p:cNvGraphicFramePr>
            <a:graphicFrameLocks noGrp="1"/>
          </p:cNvGraphicFramePr>
          <p:nvPr>
            <p:extLst>
              <p:ext uri="{D42A27DB-BD31-4B8C-83A1-F6EECF244321}">
                <p14:modId xmlns:p14="http://schemas.microsoft.com/office/powerpoint/2010/main" val="1781431089"/>
              </p:ext>
            </p:extLst>
          </p:nvPr>
        </p:nvGraphicFramePr>
        <p:xfrm>
          <a:off x="7177192" y="4132805"/>
          <a:ext cx="4344248" cy="1340238"/>
        </p:xfrm>
        <a:graphic>
          <a:graphicData uri="http://schemas.openxmlformats.org/drawingml/2006/table">
            <a:tbl>
              <a:tblPr/>
              <a:tblGrid>
                <a:gridCol w="1401943">
                  <a:extLst>
                    <a:ext uri="{9D8B030D-6E8A-4147-A177-3AD203B41FA5}">
                      <a16:colId xmlns:a16="http://schemas.microsoft.com/office/drawing/2014/main" xmlns="" val="20000"/>
                    </a:ext>
                  </a:extLst>
                </a:gridCol>
                <a:gridCol w="2942305">
                  <a:extLst>
                    <a:ext uri="{9D8B030D-6E8A-4147-A177-3AD203B41FA5}">
                      <a16:colId xmlns:a16="http://schemas.microsoft.com/office/drawing/2014/main" xmlns="" val="20001"/>
                    </a:ext>
                  </a:extLst>
                </a:gridCol>
              </a:tblGrid>
              <a:tr h="244335">
                <a:tc>
                  <a:txBody>
                    <a:bodyPr/>
                    <a:lstStyle/>
                    <a:p>
                      <a:pPr algn="ctr">
                        <a:lnSpc>
                          <a:spcPct val="100000"/>
                        </a:lnSpc>
                      </a:pPr>
                      <a:r>
                        <a:rPr lang="zh-CN" altLang="en-US" sz="14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集成方案</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4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场景建议</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0"/>
                  </a:ext>
                </a:extLst>
              </a:tr>
              <a:tr h="345146">
                <a:tc>
                  <a:txBody>
                    <a:bodyPr/>
                    <a:lstStyle/>
                    <a:p>
                      <a:pPr algn="ctr">
                        <a:lnSpc>
                          <a:spcPct val="100000"/>
                        </a:lnSpc>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HTTPS+JSON</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适用于和基于</a:t>
                      </a: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SaaS</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部署的</a:t>
                      </a: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LBS</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系统</a:t>
                      </a:r>
                      <a:r>
                        <a:rPr lang="zh-CN" altLang="en-US" sz="1200" dirty="0" smtClean="0">
                          <a:effectLst/>
                          <a:latin typeface="Huawei Sans" panose="020C0503030203020204" pitchFamily="34" charset="0"/>
                          <a:ea typeface="方正兰亭黑简体" panose="02000000000000000000" pitchFamily="2" charset="-122"/>
                          <a:sym typeface="Huawei Sans" panose="020C0503030203020204" pitchFamily="34" charset="0"/>
                        </a:rPr>
                        <a:t>对接</a:t>
                      </a:r>
                      <a:endPar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345146">
                <a:tc>
                  <a:txBody>
                    <a:bodyPr/>
                    <a:lstStyle/>
                    <a:p>
                      <a:pPr algn="ctr">
                        <a:lnSpc>
                          <a:spcPct val="100000"/>
                        </a:lnSpc>
                      </a:pP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AP RSSI API</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适用于本地部署的</a:t>
                      </a:r>
                      <a:r>
                        <a:rPr lang="zh-CN" altLang="en-US" sz="1200" dirty="0" smtClean="0">
                          <a:effectLst/>
                          <a:latin typeface="Huawei Sans" panose="020C0503030203020204" pitchFamily="34" charset="0"/>
                          <a:ea typeface="方正兰亭黑简体" panose="02000000000000000000" pitchFamily="2" charset="-122"/>
                          <a:sym typeface="Huawei Sans" panose="020C0503030203020204" pitchFamily="34" charset="0"/>
                        </a:rPr>
                        <a:t>场景</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345146">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蓝牙</a:t>
                      </a: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API</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适用于蓝牙类终端定位，数据上报</a:t>
                      </a:r>
                      <a:r>
                        <a:rPr lang="zh-CN" altLang="en-US" sz="1200" dirty="0" smtClean="0">
                          <a:effectLst/>
                          <a:latin typeface="Huawei Sans" panose="020C0503030203020204" pitchFamily="34" charset="0"/>
                          <a:ea typeface="方正兰亭黑简体" panose="02000000000000000000" pitchFamily="2" charset="-122"/>
                          <a:sym typeface="Huawei Sans" panose="020C0503030203020204" pitchFamily="34" charset="0"/>
                        </a:rPr>
                        <a:t>等</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11" name="Freeform 159">
            <a:extLst>
              <a:ext uri="{FF2B5EF4-FFF2-40B4-BE49-F238E27FC236}">
                <a16:creationId xmlns:a16="http://schemas.microsoft.com/office/drawing/2014/main" xmlns="" id="{0BA610E4-2C68-4349-840F-29F43D2A463D}"/>
              </a:ext>
            </a:extLst>
          </p:cNvPr>
          <p:cNvSpPr/>
          <p:nvPr/>
        </p:nvSpPr>
        <p:spPr bwMode="gray">
          <a:xfrm flipH="1">
            <a:off x="1183458" y="2182055"/>
            <a:ext cx="1933759" cy="101279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12">
            <a:extLst>
              <a:ext uri="{FF2B5EF4-FFF2-40B4-BE49-F238E27FC236}">
                <a16:creationId xmlns:a16="http://schemas.microsoft.com/office/drawing/2014/main" xmlns="" id="{CB4C6808-C884-475A-BCCD-0CE3069160D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843591" y="2555547"/>
            <a:ext cx="460497" cy="390742"/>
          </a:xfrm>
          <a:prstGeom prst="rect">
            <a:avLst/>
          </a:prstGeom>
        </p:spPr>
      </p:pic>
      <p:pic>
        <p:nvPicPr>
          <p:cNvPr id="14" name="图片 13">
            <a:extLst>
              <a:ext uri="{FF2B5EF4-FFF2-40B4-BE49-F238E27FC236}">
                <a16:creationId xmlns:a16="http://schemas.microsoft.com/office/drawing/2014/main" xmlns="" id="{7CA12E9E-7A8B-4392-9176-70219B81E82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111849" y="4629688"/>
            <a:ext cx="335148" cy="292519"/>
          </a:xfrm>
          <a:prstGeom prst="rect">
            <a:avLst/>
          </a:prstGeom>
        </p:spPr>
      </p:pic>
      <p:sp>
        <p:nvSpPr>
          <p:cNvPr id="15" name="文本框 14">
            <a:extLst>
              <a:ext uri="{FF2B5EF4-FFF2-40B4-BE49-F238E27FC236}">
                <a16:creationId xmlns:a16="http://schemas.microsoft.com/office/drawing/2014/main" xmlns="" id="{29282D48-F113-44FD-AE82-13313460824A}"/>
              </a:ext>
            </a:extLst>
          </p:cNvPr>
          <p:cNvSpPr txBox="1"/>
          <p:nvPr/>
        </p:nvSpPr>
        <p:spPr bwMode="gray">
          <a:xfrm>
            <a:off x="1774134" y="2387329"/>
            <a:ext cx="1283667"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Open API</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a:extLst>
              <a:ext uri="{FF2B5EF4-FFF2-40B4-BE49-F238E27FC236}">
                <a16:creationId xmlns:a16="http://schemas.microsoft.com/office/drawing/2014/main" xmlns="" id="{272A6C28-738F-4245-9B4D-B724426B4C10}"/>
              </a:ext>
            </a:extLst>
          </p:cNvPr>
          <p:cNvSpPr txBox="1"/>
          <p:nvPr/>
        </p:nvSpPr>
        <p:spPr bwMode="gray">
          <a:xfrm>
            <a:off x="5608852" y="2904961"/>
            <a:ext cx="986896" cy="281468"/>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LBS server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76" descr="接入交换机.png">
            <a:extLst>
              <a:ext uri="{FF2B5EF4-FFF2-40B4-BE49-F238E27FC236}">
                <a16:creationId xmlns:a16="http://schemas.microsoft.com/office/drawing/2014/main" xmlns="" id="{058C08F2-84A9-4B17-8118-125D27F51272}"/>
              </a:ext>
            </a:extLst>
          </p:cNvPr>
          <p:cNvPicPr>
            <a:picLocks/>
          </p:cNvPicPr>
          <p:nvPr/>
        </p:nvPicPr>
        <p:blipFill>
          <a:blip r:embed="rId5" cstate="print"/>
          <a:stretch>
            <a:fillRect/>
          </a:stretch>
        </p:blipFill>
        <p:spPr bwMode="gray">
          <a:xfrm>
            <a:off x="1941181" y="3986142"/>
            <a:ext cx="335148" cy="292519"/>
          </a:xfrm>
          <a:prstGeom prst="rect">
            <a:avLst/>
          </a:prstGeom>
        </p:spPr>
      </p:pic>
      <p:cxnSp>
        <p:nvCxnSpPr>
          <p:cNvPr id="18" name="直接连接符 17">
            <a:extLst>
              <a:ext uri="{FF2B5EF4-FFF2-40B4-BE49-F238E27FC236}">
                <a16:creationId xmlns:a16="http://schemas.microsoft.com/office/drawing/2014/main" xmlns="" id="{382CCB86-B349-43FF-BC40-824BF57A3639}"/>
              </a:ext>
            </a:extLst>
          </p:cNvPr>
          <p:cNvCxnSpPr>
            <a:stCxn id="17" idx="2"/>
            <a:endCxn id="14" idx="0"/>
          </p:cNvCxnSpPr>
          <p:nvPr/>
        </p:nvCxnSpPr>
        <p:spPr bwMode="gray">
          <a:xfrm flipH="1">
            <a:off x="1279423" y="4278660"/>
            <a:ext cx="829333" cy="3510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02060" y="4629688"/>
            <a:ext cx="335148" cy="292519"/>
          </a:xfrm>
          <a:prstGeom prst="rect">
            <a:avLst/>
          </a:prstGeom>
        </p:spPr>
      </p:pic>
      <p:cxnSp>
        <p:nvCxnSpPr>
          <p:cNvPr id="20" name="直接连接符 19">
            <a:extLst>
              <a:ext uri="{FF2B5EF4-FFF2-40B4-BE49-F238E27FC236}">
                <a16:creationId xmlns:a16="http://schemas.microsoft.com/office/drawing/2014/main" xmlns="" id="{7A445271-B7E9-4734-821A-9C1214916573}"/>
              </a:ext>
            </a:extLst>
          </p:cNvPr>
          <p:cNvCxnSpPr>
            <a:cxnSpLocks/>
            <a:stCxn id="17" idx="2"/>
            <a:endCxn id="19" idx="0"/>
          </p:cNvCxnSpPr>
          <p:nvPr/>
        </p:nvCxnSpPr>
        <p:spPr bwMode="gray">
          <a:xfrm>
            <a:off x="2108756" y="4278660"/>
            <a:ext cx="760878" cy="3510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xmlns="" id="{A106802D-E113-4775-BB03-4ECE0FC0F203}"/>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943208" y="3428871"/>
            <a:ext cx="335148" cy="292519"/>
          </a:xfrm>
          <a:prstGeom prst="rect">
            <a:avLst/>
          </a:prstGeom>
        </p:spPr>
      </p:pic>
      <p:cxnSp>
        <p:nvCxnSpPr>
          <p:cNvPr id="22" name="直接连接符 21">
            <a:extLst>
              <a:ext uri="{FF2B5EF4-FFF2-40B4-BE49-F238E27FC236}">
                <a16:creationId xmlns:a16="http://schemas.microsoft.com/office/drawing/2014/main" xmlns="" id="{657D2C54-031C-4A2F-BBA0-5E9C25F8AC3F}"/>
              </a:ext>
            </a:extLst>
          </p:cNvPr>
          <p:cNvCxnSpPr>
            <a:cxnSpLocks/>
            <a:stCxn id="21" idx="2"/>
            <a:endCxn id="17" idx="0"/>
          </p:cNvCxnSpPr>
          <p:nvPr/>
        </p:nvCxnSpPr>
        <p:spPr bwMode="gray">
          <a:xfrm flipH="1">
            <a:off x="2108756" y="3721389"/>
            <a:ext cx="2027" cy="264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xmlns="" id="{00EC21D3-088E-47EE-80DA-EF09482D44C9}"/>
              </a:ext>
            </a:extLst>
          </p:cNvPr>
          <p:cNvCxnSpPr>
            <a:cxnSpLocks/>
            <a:endCxn id="21" idx="0"/>
          </p:cNvCxnSpPr>
          <p:nvPr/>
        </p:nvCxnSpPr>
        <p:spPr bwMode="gray">
          <a:xfrm>
            <a:off x="2108755" y="3214879"/>
            <a:ext cx="2027" cy="213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任意多边形: 形状 33">
            <a:extLst>
              <a:ext uri="{FF2B5EF4-FFF2-40B4-BE49-F238E27FC236}">
                <a16:creationId xmlns:a16="http://schemas.microsoft.com/office/drawing/2014/main" xmlns="" id="{4202E2F6-FC8A-421A-8B3A-56DAC1222C87}"/>
              </a:ext>
            </a:extLst>
          </p:cNvPr>
          <p:cNvSpPr/>
          <p:nvPr/>
        </p:nvSpPr>
        <p:spPr bwMode="gray">
          <a:xfrm flipH="1">
            <a:off x="2913488" y="4925689"/>
            <a:ext cx="37713" cy="318194"/>
          </a:xfrm>
          <a:custGeom>
            <a:avLst/>
            <a:gdLst>
              <a:gd name="connsiteX0" fmla="*/ 0 w 584200"/>
              <a:gd name="connsiteY0" fmla="*/ 533400 h 533400"/>
              <a:gd name="connsiteX1" fmla="*/ 469900 w 584200"/>
              <a:gd name="connsiteY1" fmla="*/ 393700 h 533400"/>
              <a:gd name="connsiteX2" fmla="*/ 584200 w 584200"/>
              <a:gd name="connsiteY2" fmla="*/ 0 h 533400"/>
              <a:gd name="connsiteX0" fmla="*/ 0 w 544870"/>
              <a:gd name="connsiteY0" fmla="*/ 528637 h 528637"/>
              <a:gd name="connsiteX1" fmla="*/ 469900 w 544870"/>
              <a:gd name="connsiteY1" fmla="*/ 388937 h 528637"/>
              <a:gd name="connsiteX2" fmla="*/ 544870 w 544870"/>
              <a:gd name="connsiteY2" fmla="*/ 0 h 528637"/>
              <a:gd name="connsiteX0" fmla="*/ 0 w 544870"/>
              <a:gd name="connsiteY0" fmla="*/ 528637 h 528637"/>
              <a:gd name="connsiteX1" fmla="*/ 469900 w 544870"/>
              <a:gd name="connsiteY1" fmla="*/ 388937 h 528637"/>
              <a:gd name="connsiteX2" fmla="*/ 544870 w 544870"/>
              <a:gd name="connsiteY2" fmla="*/ 0 h 528637"/>
            </a:gdLst>
            <a:ahLst/>
            <a:cxnLst>
              <a:cxn ang="0">
                <a:pos x="connsiteX0" y="connsiteY0"/>
              </a:cxn>
              <a:cxn ang="0">
                <a:pos x="connsiteX1" y="connsiteY1"/>
              </a:cxn>
              <a:cxn ang="0">
                <a:pos x="connsiteX2" y="connsiteY2"/>
              </a:cxn>
            </a:cxnLst>
            <a:rect l="l" t="t" r="r" b="b"/>
            <a:pathLst>
              <a:path w="544870" h="528637">
                <a:moveTo>
                  <a:pt x="0" y="528637"/>
                </a:moveTo>
                <a:cubicBezTo>
                  <a:pt x="186266" y="503237"/>
                  <a:pt x="372533" y="477837"/>
                  <a:pt x="469900" y="388937"/>
                </a:cubicBezTo>
                <a:cubicBezTo>
                  <a:pt x="567267" y="300037"/>
                  <a:pt x="536824" y="182033"/>
                  <a:pt x="544870" y="0"/>
                </a:cubicBezTo>
              </a:path>
            </a:pathLst>
          </a:custGeom>
          <a:noFill/>
          <a:ln w="12700">
            <a:solidFill>
              <a:srgbClr val="94DAE2"/>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任意多边形: 形状 34">
            <a:extLst>
              <a:ext uri="{FF2B5EF4-FFF2-40B4-BE49-F238E27FC236}">
                <a16:creationId xmlns:a16="http://schemas.microsoft.com/office/drawing/2014/main" xmlns="" id="{0DAEB878-DDFD-4621-9C73-FB4C1F9394A5}"/>
              </a:ext>
            </a:extLst>
          </p:cNvPr>
          <p:cNvSpPr/>
          <p:nvPr/>
        </p:nvSpPr>
        <p:spPr bwMode="gray">
          <a:xfrm rot="10800000" flipH="1">
            <a:off x="3111707" y="3271308"/>
            <a:ext cx="2384829" cy="1377837"/>
          </a:xfrm>
          <a:custGeom>
            <a:avLst/>
            <a:gdLst>
              <a:gd name="connsiteX0" fmla="*/ 45950 w 446000"/>
              <a:gd name="connsiteY0" fmla="*/ 0 h 2076450"/>
              <a:gd name="connsiteX1" fmla="*/ 36425 w 446000"/>
              <a:gd name="connsiteY1" fmla="*/ 1495425 h 2076450"/>
              <a:gd name="connsiteX2" fmla="*/ 446000 w 446000"/>
              <a:gd name="connsiteY2" fmla="*/ 2076450 h 2076450"/>
              <a:gd name="connsiteX0" fmla="*/ 28405 w 460205"/>
              <a:gd name="connsiteY0" fmla="*/ 0 h 2000250"/>
              <a:gd name="connsiteX1" fmla="*/ 50630 w 460205"/>
              <a:gd name="connsiteY1" fmla="*/ 1419225 h 2000250"/>
              <a:gd name="connsiteX2" fmla="*/ 460205 w 460205"/>
              <a:gd name="connsiteY2" fmla="*/ 2000250 h 2000250"/>
              <a:gd name="connsiteX0" fmla="*/ 28405 w 460205"/>
              <a:gd name="connsiteY0" fmla="*/ 0 h 2000250"/>
              <a:gd name="connsiteX1" fmla="*/ 50630 w 460205"/>
              <a:gd name="connsiteY1" fmla="*/ 1419225 h 2000250"/>
              <a:gd name="connsiteX2" fmla="*/ 460205 w 460205"/>
              <a:gd name="connsiteY2" fmla="*/ 2000250 h 2000250"/>
              <a:gd name="connsiteX0" fmla="*/ 15136 w 446936"/>
              <a:gd name="connsiteY0" fmla="*/ 0 h 2000250"/>
              <a:gd name="connsiteX1" fmla="*/ 81811 w 446936"/>
              <a:gd name="connsiteY1" fmla="*/ 1419225 h 2000250"/>
              <a:gd name="connsiteX2" fmla="*/ 446936 w 446936"/>
              <a:gd name="connsiteY2" fmla="*/ 2000250 h 2000250"/>
              <a:gd name="connsiteX0" fmla="*/ 15136 w 446936"/>
              <a:gd name="connsiteY0" fmla="*/ 0 h 2000250"/>
              <a:gd name="connsiteX1" fmla="*/ 81811 w 446936"/>
              <a:gd name="connsiteY1" fmla="*/ 1419225 h 2000250"/>
              <a:gd name="connsiteX2" fmla="*/ 446936 w 446936"/>
              <a:gd name="connsiteY2" fmla="*/ 2000250 h 2000250"/>
            </a:gdLst>
            <a:ahLst/>
            <a:cxnLst>
              <a:cxn ang="0">
                <a:pos x="connsiteX0" y="connsiteY0"/>
              </a:cxn>
              <a:cxn ang="0">
                <a:pos x="connsiteX1" y="connsiteY1"/>
              </a:cxn>
              <a:cxn ang="0">
                <a:pos x="connsiteX2" y="connsiteY2"/>
              </a:cxn>
            </a:cxnLst>
            <a:rect l="l" t="t" r="r" b="b"/>
            <a:pathLst>
              <a:path w="446936" h="2000250">
                <a:moveTo>
                  <a:pt x="15136" y="0"/>
                </a:moveTo>
                <a:cubicBezTo>
                  <a:pt x="-22964" y="574675"/>
                  <a:pt x="15136" y="1073150"/>
                  <a:pt x="81811" y="1419225"/>
                </a:cubicBezTo>
                <a:cubicBezTo>
                  <a:pt x="186586" y="1765300"/>
                  <a:pt x="275486" y="1882775"/>
                  <a:pt x="446936" y="2000250"/>
                </a:cubicBezTo>
              </a:path>
            </a:pathLst>
          </a:custGeom>
          <a:noFill/>
          <a:ln w="19050">
            <a:solidFill>
              <a:srgbClr val="56C4D2"/>
            </a:solidFill>
            <a:prstDash val="solid"/>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任意多边形: 形状 35">
            <a:extLst>
              <a:ext uri="{FF2B5EF4-FFF2-40B4-BE49-F238E27FC236}">
                <a16:creationId xmlns:a16="http://schemas.microsoft.com/office/drawing/2014/main" xmlns="" id="{CEFD060C-3C85-4895-802C-256E1DD74BE1}"/>
              </a:ext>
            </a:extLst>
          </p:cNvPr>
          <p:cNvSpPr/>
          <p:nvPr/>
        </p:nvSpPr>
        <p:spPr bwMode="gray">
          <a:xfrm>
            <a:off x="3037208" y="2304220"/>
            <a:ext cx="2307308" cy="291432"/>
          </a:xfrm>
          <a:custGeom>
            <a:avLst/>
            <a:gdLst>
              <a:gd name="connsiteX0" fmla="*/ 0 w 2235200"/>
              <a:gd name="connsiteY0" fmla="*/ 376491 h 376491"/>
              <a:gd name="connsiteX1" fmla="*/ 711200 w 2235200"/>
              <a:gd name="connsiteY1" fmla="*/ 46291 h 376491"/>
              <a:gd name="connsiteX2" fmla="*/ 1524000 w 2235200"/>
              <a:gd name="connsiteY2" fmla="*/ 33591 h 376491"/>
              <a:gd name="connsiteX3" fmla="*/ 2235200 w 2235200"/>
              <a:gd name="connsiteY3" fmla="*/ 338391 h 376491"/>
            </a:gdLst>
            <a:ahLst/>
            <a:cxnLst>
              <a:cxn ang="0">
                <a:pos x="connsiteX0" y="connsiteY0"/>
              </a:cxn>
              <a:cxn ang="0">
                <a:pos x="connsiteX1" y="connsiteY1"/>
              </a:cxn>
              <a:cxn ang="0">
                <a:pos x="connsiteX2" y="connsiteY2"/>
              </a:cxn>
              <a:cxn ang="0">
                <a:pos x="connsiteX3" y="connsiteY3"/>
              </a:cxn>
            </a:cxnLst>
            <a:rect l="l" t="t" r="r" b="b"/>
            <a:pathLst>
              <a:path w="2235200" h="376491">
                <a:moveTo>
                  <a:pt x="0" y="376491"/>
                </a:moveTo>
                <a:cubicBezTo>
                  <a:pt x="228600" y="239966"/>
                  <a:pt x="457200" y="103441"/>
                  <a:pt x="711200" y="46291"/>
                </a:cubicBezTo>
                <a:cubicBezTo>
                  <a:pt x="965200" y="-10859"/>
                  <a:pt x="1270000" y="-15092"/>
                  <a:pt x="1524000" y="33591"/>
                </a:cubicBezTo>
                <a:cubicBezTo>
                  <a:pt x="1778000" y="82274"/>
                  <a:pt x="2006600" y="210332"/>
                  <a:pt x="2235200" y="338391"/>
                </a:cubicBezTo>
              </a:path>
            </a:pathLst>
          </a:custGeom>
          <a:noFill/>
          <a:ln w="19050">
            <a:solidFill>
              <a:srgbClr val="EC7061"/>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a:extLst>
              <a:ext uri="{FF2B5EF4-FFF2-40B4-BE49-F238E27FC236}">
                <a16:creationId xmlns:a16="http://schemas.microsoft.com/office/drawing/2014/main" xmlns="" id="{9B269206-A764-4E8F-B2F7-5A8CFB498BA0}"/>
              </a:ext>
            </a:extLst>
          </p:cNvPr>
          <p:cNvSpPr txBox="1"/>
          <p:nvPr/>
        </p:nvSpPr>
        <p:spPr bwMode="gray">
          <a:xfrm>
            <a:off x="3284456" y="2017544"/>
            <a:ext cx="2064847" cy="276999"/>
          </a:xfrm>
          <a:prstGeom prst="rect">
            <a:avLst/>
          </a:prstGeom>
          <a:noFill/>
        </p:spPr>
        <p:txBody>
          <a:bodyPr wrap="square" rtlCol="0" anchor="ctr">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HTTPS+JSON</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a:extLst>
              <a:ext uri="{FF2B5EF4-FFF2-40B4-BE49-F238E27FC236}">
                <a16:creationId xmlns:a16="http://schemas.microsoft.com/office/drawing/2014/main" xmlns="" id="{04D25DB3-C1A0-457B-BBDD-8412FF857832}"/>
              </a:ext>
            </a:extLst>
          </p:cNvPr>
          <p:cNvSpPr txBox="1"/>
          <p:nvPr/>
        </p:nvSpPr>
        <p:spPr bwMode="gray">
          <a:xfrm>
            <a:off x="3284456" y="3096724"/>
            <a:ext cx="2086929" cy="276999"/>
          </a:xfrm>
          <a:prstGeom prst="rect">
            <a:avLst/>
          </a:prstGeom>
          <a:noFill/>
        </p:spPr>
        <p:txBody>
          <a:bodyPr wrap="square" rtlCol="0" anchor="ctr">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 RSSI API</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连接符 29"/>
          <p:cNvCxnSpPr/>
          <p:nvPr/>
        </p:nvCxnSpPr>
        <p:spPr bwMode="gray">
          <a:xfrm>
            <a:off x="3156219" y="2790898"/>
            <a:ext cx="2247712" cy="180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bwMode="gray">
          <a:xfrm>
            <a:off x="1268976" y="3447912"/>
            <a:ext cx="838053"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Firewall</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1304559" y="4034989"/>
            <a:ext cx="838053"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6" name="直接连接符 35">
            <a:extLst>
              <a:ext uri="{FF2B5EF4-FFF2-40B4-BE49-F238E27FC236}">
                <a16:creationId xmlns:a16="http://schemas.microsoft.com/office/drawing/2014/main" xmlns="" id="{7A445271-B7E9-4734-821A-9C1214916573}"/>
              </a:ext>
            </a:extLst>
          </p:cNvPr>
          <p:cNvCxnSpPr>
            <a:cxnSpLocks/>
            <a:endCxn id="37" idx="0"/>
          </p:cNvCxnSpPr>
          <p:nvPr/>
        </p:nvCxnSpPr>
        <p:spPr bwMode="gray">
          <a:xfrm>
            <a:off x="2117962" y="4265584"/>
            <a:ext cx="0" cy="3675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7" name="图片 36">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950388" y="4633170"/>
            <a:ext cx="335148" cy="292519"/>
          </a:xfrm>
          <a:prstGeom prst="rect">
            <a:avLst/>
          </a:prstGeom>
        </p:spPr>
      </p:pic>
      <p:sp>
        <p:nvSpPr>
          <p:cNvPr id="38" name="文本框 37"/>
          <p:cNvSpPr txBox="1"/>
          <p:nvPr/>
        </p:nvSpPr>
        <p:spPr bwMode="gray">
          <a:xfrm>
            <a:off x="981169" y="4974155"/>
            <a:ext cx="86430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1751758" y="4965162"/>
            <a:ext cx="86430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2830212" y="4961079"/>
            <a:ext cx="86430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任意多边形: 形状 33">
            <a:extLst>
              <a:ext uri="{FF2B5EF4-FFF2-40B4-BE49-F238E27FC236}">
                <a16:creationId xmlns:a16="http://schemas.microsoft.com/office/drawing/2014/main" xmlns="" id="{4202E2F6-FC8A-421A-8B3A-56DAC1222C87}"/>
              </a:ext>
            </a:extLst>
          </p:cNvPr>
          <p:cNvSpPr/>
          <p:nvPr/>
        </p:nvSpPr>
        <p:spPr bwMode="gray">
          <a:xfrm>
            <a:off x="2638203" y="4914326"/>
            <a:ext cx="215341" cy="358907"/>
          </a:xfrm>
          <a:custGeom>
            <a:avLst/>
            <a:gdLst>
              <a:gd name="connsiteX0" fmla="*/ 0 w 584200"/>
              <a:gd name="connsiteY0" fmla="*/ 533400 h 533400"/>
              <a:gd name="connsiteX1" fmla="*/ 469900 w 584200"/>
              <a:gd name="connsiteY1" fmla="*/ 393700 h 533400"/>
              <a:gd name="connsiteX2" fmla="*/ 584200 w 584200"/>
              <a:gd name="connsiteY2" fmla="*/ 0 h 533400"/>
              <a:gd name="connsiteX0" fmla="*/ 0 w 544870"/>
              <a:gd name="connsiteY0" fmla="*/ 528637 h 528637"/>
              <a:gd name="connsiteX1" fmla="*/ 469900 w 544870"/>
              <a:gd name="connsiteY1" fmla="*/ 388937 h 528637"/>
              <a:gd name="connsiteX2" fmla="*/ 544870 w 544870"/>
              <a:gd name="connsiteY2" fmla="*/ 0 h 528637"/>
              <a:gd name="connsiteX0" fmla="*/ 0 w 544870"/>
              <a:gd name="connsiteY0" fmla="*/ 528637 h 528637"/>
              <a:gd name="connsiteX1" fmla="*/ 469900 w 544870"/>
              <a:gd name="connsiteY1" fmla="*/ 388937 h 528637"/>
              <a:gd name="connsiteX2" fmla="*/ 544870 w 544870"/>
              <a:gd name="connsiteY2" fmla="*/ 0 h 528637"/>
            </a:gdLst>
            <a:ahLst/>
            <a:cxnLst>
              <a:cxn ang="0">
                <a:pos x="connsiteX0" y="connsiteY0"/>
              </a:cxn>
              <a:cxn ang="0">
                <a:pos x="connsiteX1" y="connsiteY1"/>
              </a:cxn>
              <a:cxn ang="0">
                <a:pos x="connsiteX2" y="connsiteY2"/>
              </a:cxn>
            </a:cxnLst>
            <a:rect l="l" t="t" r="r" b="b"/>
            <a:pathLst>
              <a:path w="544870" h="528637">
                <a:moveTo>
                  <a:pt x="0" y="528637"/>
                </a:moveTo>
                <a:cubicBezTo>
                  <a:pt x="186266" y="503237"/>
                  <a:pt x="372533" y="477837"/>
                  <a:pt x="469900" y="388937"/>
                </a:cubicBezTo>
                <a:cubicBezTo>
                  <a:pt x="567267" y="300037"/>
                  <a:pt x="536824" y="182033"/>
                  <a:pt x="544870" y="0"/>
                </a:cubicBezTo>
              </a:path>
            </a:pathLst>
          </a:custGeom>
          <a:noFill/>
          <a:ln w="12700">
            <a:solidFill>
              <a:srgbClr val="94DAE2"/>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2" name="图片 41" descr="SAN网络-蓝.png"/>
          <p:cNvPicPr>
            <a:picLocks noChangeAspect="1"/>
          </p:cNvPicPr>
          <p:nvPr/>
        </p:nvPicPr>
        <p:blipFill>
          <a:blip r:embed="rId7" cstate="print"/>
          <a:stretch>
            <a:fillRect/>
          </a:stretch>
        </p:blipFill>
        <p:spPr bwMode="gray">
          <a:xfrm>
            <a:off x="2887219" y="5206720"/>
            <a:ext cx="181074" cy="315757"/>
          </a:xfrm>
          <a:prstGeom prst="rect">
            <a:avLst/>
          </a:prstGeom>
        </p:spPr>
      </p:pic>
      <p:pic>
        <p:nvPicPr>
          <p:cNvPr id="43" name="图片 42" descr="SAN网络-蓝.png"/>
          <p:cNvPicPr>
            <a:picLocks noChangeAspect="1"/>
          </p:cNvPicPr>
          <p:nvPr/>
        </p:nvPicPr>
        <p:blipFill>
          <a:blip r:embed="rId7" cstate="print"/>
          <a:stretch>
            <a:fillRect/>
          </a:stretch>
        </p:blipFill>
        <p:spPr bwMode="gray">
          <a:xfrm>
            <a:off x="2496527" y="5230082"/>
            <a:ext cx="181074" cy="315757"/>
          </a:xfrm>
          <a:prstGeom prst="rect">
            <a:avLst/>
          </a:prstGeom>
        </p:spPr>
      </p:pic>
      <p:sp>
        <p:nvSpPr>
          <p:cNvPr id="44" name="文本框 43"/>
          <p:cNvSpPr txBox="1"/>
          <p:nvPr/>
        </p:nvSpPr>
        <p:spPr bwMode="gray">
          <a:xfrm>
            <a:off x="2566139" y="5838232"/>
            <a:ext cx="903302"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位置服务</a:t>
            </a:r>
          </a:p>
        </p:txBody>
      </p:sp>
      <p:sp>
        <p:nvSpPr>
          <p:cNvPr id="4" name="椭圆 3"/>
          <p:cNvSpPr/>
          <p:nvPr/>
        </p:nvSpPr>
        <p:spPr bwMode="gray">
          <a:xfrm>
            <a:off x="2282374" y="4576809"/>
            <a:ext cx="1321158" cy="1215914"/>
          </a:xfrm>
          <a:prstGeom prst="ellipse">
            <a:avLst/>
          </a:prstGeom>
          <a:noFill/>
          <a:ln w="19050">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椭圆 4"/>
          <p:cNvSpPr/>
          <p:nvPr/>
        </p:nvSpPr>
        <p:spPr bwMode="gray">
          <a:xfrm>
            <a:off x="5403932" y="1922161"/>
            <a:ext cx="1661934" cy="1550251"/>
          </a:xfrm>
          <a:prstGeom prst="ellipse">
            <a:avLst/>
          </a:prstGeom>
          <a:noFill/>
          <a:ln w="19050">
            <a:solidFill>
              <a:srgbClr val="99DFF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3284456" y="3772574"/>
            <a:ext cx="2156080" cy="276999"/>
          </a:xfrm>
          <a:prstGeom prst="rect">
            <a:avLst/>
          </a:prstGeom>
          <a:noFill/>
        </p:spPr>
        <p:txBody>
          <a:bodyPr wrap="square" rtlCol="0" anchor="ctr">
            <a:spAutoFit/>
          </a:bodyPr>
          <a:lstStyle>
            <a:defPPr>
              <a:defRPr lang="en-US"/>
            </a:defPPr>
            <a:lvl1pPr>
              <a:defRPr sz="1400">
                <a:solidFill>
                  <a:srgbClr val="EC7061"/>
                </a:solidFill>
              </a:defRPr>
            </a:lvl1pPr>
          </a:lstStyle>
          <a:p>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：蓝牙</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箭头连接符 51"/>
          <p:cNvCxnSpPr>
            <a:stCxn id="4" idx="7"/>
            <a:endCxn id="5" idx="3"/>
          </p:cNvCxnSpPr>
          <p:nvPr/>
        </p:nvCxnSpPr>
        <p:spPr bwMode="gray">
          <a:xfrm flipV="1">
            <a:off x="3410053" y="3245383"/>
            <a:ext cx="2237264" cy="1509492"/>
          </a:xfrm>
          <a:prstGeom prst="straightConnector1">
            <a:avLst/>
          </a:prstGeom>
          <a:ln w="19050">
            <a:solidFill>
              <a:srgbClr val="94DAE2"/>
            </a:solidFill>
            <a:tailEnd type="triangle"/>
          </a:ln>
        </p:spPr>
        <p:style>
          <a:lnRef idx="1">
            <a:schemeClr val="accent1"/>
          </a:lnRef>
          <a:fillRef idx="0">
            <a:schemeClr val="accent1"/>
          </a:fillRef>
          <a:effectRef idx="0">
            <a:schemeClr val="accent1"/>
          </a:effectRef>
          <a:fontRef idx="minor">
            <a:schemeClr val="tx1"/>
          </a:fontRef>
        </p:style>
      </p:cxnSp>
      <p:pic>
        <p:nvPicPr>
          <p:cNvPr id="55" name="图片 54"/>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6472822" y="2547624"/>
            <a:ext cx="445440" cy="365261"/>
          </a:xfrm>
          <a:prstGeom prst="rect">
            <a:avLst/>
          </a:prstGeom>
        </p:spPr>
      </p:pic>
      <p:sp>
        <p:nvSpPr>
          <p:cNvPr id="58" name="文本框 57">
            <a:extLst>
              <a:ext uri="{FF2B5EF4-FFF2-40B4-BE49-F238E27FC236}">
                <a16:creationId xmlns:a16="http://schemas.microsoft.com/office/drawing/2014/main" xmlns="" id="{272A6C28-738F-4245-9B4D-B724426B4C10}"/>
              </a:ext>
            </a:extLst>
          </p:cNvPr>
          <p:cNvSpPr txBox="1"/>
          <p:nvPr/>
        </p:nvSpPr>
        <p:spPr bwMode="gray">
          <a:xfrm>
            <a:off x="6548621" y="2895423"/>
            <a:ext cx="36901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BI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2115281" y="3717199"/>
            <a:ext cx="1488943" cy="276999"/>
          </a:xfrm>
          <a:prstGeom prst="rect">
            <a:avLst/>
          </a:prstGeom>
          <a:noFill/>
        </p:spPr>
        <p:txBody>
          <a:bodyPr wrap="square" rtlCol="0">
            <a:spAutoFit/>
          </a:bodyPr>
          <a:lstStyle>
            <a:defPPr>
              <a:defRPr lang="en-US"/>
            </a:defPPr>
            <a:lvl1pPr>
              <a:defRPr sz="1400">
                <a:solidFill>
                  <a:srgbClr val="EC7061"/>
                </a:solidFill>
              </a:defRPr>
            </a:lvl1p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RSSI data</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a:extLst>
              <a:ext uri="{FF2B5EF4-FFF2-40B4-BE49-F238E27FC236}">
                <a16:creationId xmlns:a16="http://schemas.microsoft.com/office/drawing/2014/main" xmlns="" id="{AA2380CA-93D5-4DA8-A745-7B8207774684}"/>
              </a:ext>
            </a:extLst>
          </p:cNvPr>
          <p:cNvSpPr txBox="1"/>
          <p:nvPr/>
        </p:nvSpPr>
        <p:spPr bwMode="gray">
          <a:xfrm>
            <a:off x="7786444" y="2041320"/>
            <a:ext cx="3734996" cy="1631216"/>
          </a:xfrm>
          <a:prstGeom prst="rect">
            <a:avLst/>
          </a:prstGeom>
          <a:noFill/>
          <a:ln>
            <a:solidFill>
              <a:srgbClr val="94DAE2"/>
            </a:solidFill>
          </a:ln>
        </p:spPr>
        <p:txBody>
          <a:bodyPr wrap="square" rtlCol="0">
            <a:spAutoFit/>
          </a:bodyPr>
          <a:lstStyle/>
          <a:p>
            <a:pPr>
              <a:lnSpc>
                <a:spcPts val="24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应用场景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主要应用场景是华为提供</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、蓝牙终端位置数据给第三方，由第三方合作伙伴解析位置数据后，为最终客户提供热力图、轨迹跟踪、客流分析等增值业务应用。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5" name="图片 44">
            <a:extLst>
              <a:ext uri="{FF2B5EF4-FFF2-40B4-BE49-F238E27FC236}">
                <a16:creationId xmlns:a16="http://schemas.microsoft.com/office/drawing/2014/main" xmlns="" id="{A393F8C6-B304-4066-850C-3C06096FE2A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775108" y="2664328"/>
            <a:ext cx="839230" cy="477065"/>
          </a:xfrm>
          <a:prstGeom prst="rect">
            <a:avLst/>
          </a:prstGeom>
        </p:spPr>
      </p:pic>
    </p:spTree>
    <p:extLst>
      <p:ext uri="{BB962C8B-B14F-4D97-AF65-F5344CB8AC3E}">
        <p14:creationId xmlns:p14="http://schemas.microsoft.com/office/powerpoint/2010/main" val="37709237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2B8ED1B-184F-4DF8-8858-5D772786E0D8}"/>
              </a:ext>
            </a:extLst>
          </p:cNvPr>
          <p:cNvSpPr>
            <a:spLocks noGrp="1"/>
          </p:cNvSpPr>
          <p:nvPr>
            <p:ph type="title"/>
          </p:nvPr>
        </p:nvSpPr>
        <p:spPr/>
        <p:txBody>
          <a:bodyPr/>
          <a:lstStyle/>
          <a:p>
            <a:r>
              <a:rPr lang="en-US" altLang="zh-CN" smtClean="0">
                <a:sym typeface="Huawei Sans" panose="020C0503030203020204" pitchFamily="34" charset="0"/>
              </a:rPr>
              <a:t>HTTP+JSON</a:t>
            </a:r>
            <a:r>
              <a:rPr lang="zh-CN" altLang="en-US" smtClean="0">
                <a:sym typeface="Huawei Sans" panose="020C0503030203020204" pitchFamily="34" charset="0"/>
              </a:rPr>
              <a:t>数据上报流程</a:t>
            </a:r>
            <a:endParaRPr lang="zh-CN" altLang="en-US" dirty="0">
              <a:sym typeface="Huawei Sans" panose="020C0503030203020204" pitchFamily="34" charset="0"/>
            </a:endParaRPr>
          </a:p>
        </p:txBody>
      </p:sp>
      <p:sp>
        <p:nvSpPr>
          <p:cNvPr id="7" name="TextBox 10">
            <a:extLst>
              <a:ext uri="{FF2B5EF4-FFF2-40B4-BE49-F238E27FC236}">
                <a16:creationId xmlns:a16="http://schemas.microsoft.com/office/drawing/2014/main" xmlns="" id="{09A4EB22-64DB-48D3-A760-825C8D85C359}"/>
              </a:ext>
            </a:extLst>
          </p:cNvPr>
          <p:cNvSpPr txBox="1"/>
          <p:nvPr/>
        </p:nvSpPr>
        <p:spPr>
          <a:xfrm>
            <a:off x="8017196" y="1011818"/>
            <a:ext cx="2000869"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第三方平台</a:t>
            </a:r>
            <a:r>
              <a:rPr lang="en-US" altLang="zh-CN" sz="14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(LBS </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sever)</a:t>
            </a:r>
            <a:endPar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8" name="直接连接符 7">
            <a:extLst>
              <a:ext uri="{FF2B5EF4-FFF2-40B4-BE49-F238E27FC236}">
                <a16:creationId xmlns:a16="http://schemas.microsoft.com/office/drawing/2014/main" xmlns="" id="{F127D973-C783-4990-AC38-2AFFEFC22753}"/>
              </a:ext>
            </a:extLst>
          </p:cNvPr>
          <p:cNvCxnSpPr/>
          <p:nvPr/>
        </p:nvCxnSpPr>
        <p:spPr bwMode="auto">
          <a:xfrm>
            <a:off x="2195639" y="1872621"/>
            <a:ext cx="0" cy="4240796"/>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xmlns="" id="{A8D4F21D-B705-4824-BD44-A9FE17FD2F40}"/>
              </a:ext>
            </a:extLst>
          </p:cNvPr>
          <p:cNvCxnSpPr/>
          <p:nvPr/>
        </p:nvCxnSpPr>
        <p:spPr bwMode="auto">
          <a:xfrm>
            <a:off x="3966536" y="1873838"/>
            <a:ext cx="0" cy="4239579"/>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xmlns="" id="{E6D4D54D-7B1E-4FD4-B2E4-9EC016CB0201}"/>
              </a:ext>
            </a:extLst>
          </p:cNvPr>
          <p:cNvCxnSpPr/>
          <p:nvPr/>
        </p:nvCxnSpPr>
        <p:spPr bwMode="auto">
          <a:xfrm>
            <a:off x="6191325" y="1832005"/>
            <a:ext cx="0" cy="4281412"/>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xmlns="" id="{853506E7-A3DC-4330-ADF3-0A1F2EF4A2EE}"/>
              </a:ext>
            </a:extLst>
          </p:cNvPr>
          <p:cNvCxnSpPr/>
          <p:nvPr/>
        </p:nvCxnSpPr>
        <p:spPr bwMode="auto">
          <a:xfrm>
            <a:off x="8859107" y="1787035"/>
            <a:ext cx="0" cy="4296015"/>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2" name="TextBox 17">
            <a:extLst>
              <a:ext uri="{FF2B5EF4-FFF2-40B4-BE49-F238E27FC236}">
                <a16:creationId xmlns:a16="http://schemas.microsoft.com/office/drawing/2014/main" xmlns="" id="{A19030B0-C9AA-47B9-8431-D62A693D09A7}"/>
              </a:ext>
            </a:extLst>
          </p:cNvPr>
          <p:cNvSpPr txBox="1"/>
          <p:nvPr/>
        </p:nvSpPr>
        <p:spPr>
          <a:xfrm>
            <a:off x="1857458" y="1011818"/>
            <a:ext cx="710451"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Client </a:t>
            </a:r>
            <a:endPar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TextBox 18">
            <a:extLst>
              <a:ext uri="{FF2B5EF4-FFF2-40B4-BE49-F238E27FC236}">
                <a16:creationId xmlns:a16="http://schemas.microsoft.com/office/drawing/2014/main" xmlns="" id="{4BC9B2F0-407E-43F8-A156-84B548684776}"/>
              </a:ext>
            </a:extLst>
          </p:cNvPr>
          <p:cNvSpPr txBox="1"/>
          <p:nvPr/>
        </p:nvSpPr>
        <p:spPr>
          <a:xfrm>
            <a:off x="3754143" y="1011818"/>
            <a:ext cx="404278"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AP</a:t>
            </a:r>
            <a:endPar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TextBox 19">
            <a:extLst>
              <a:ext uri="{FF2B5EF4-FFF2-40B4-BE49-F238E27FC236}">
                <a16:creationId xmlns:a16="http://schemas.microsoft.com/office/drawing/2014/main" xmlns="" id="{477DFC2C-DC2D-4929-B6CB-02FF24D69DB3}"/>
              </a:ext>
            </a:extLst>
          </p:cNvPr>
          <p:cNvSpPr txBox="1"/>
          <p:nvPr/>
        </p:nvSpPr>
        <p:spPr>
          <a:xfrm>
            <a:off x="5061816" y="1011818"/>
            <a:ext cx="2294218"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CloudCampus  Controller </a:t>
            </a:r>
            <a:endPar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 name="任意多边形 48">
            <a:extLst>
              <a:ext uri="{FF2B5EF4-FFF2-40B4-BE49-F238E27FC236}">
                <a16:creationId xmlns:a16="http://schemas.microsoft.com/office/drawing/2014/main" xmlns="" id="{19B18668-5469-44A1-91FB-53F5EDAABB68}"/>
              </a:ext>
            </a:extLst>
          </p:cNvPr>
          <p:cNvSpPr/>
          <p:nvPr/>
        </p:nvSpPr>
        <p:spPr bwMode="auto">
          <a:xfrm>
            <a:off x="8865160" y="1816889"/>
            <a:ext cx="230020" cy="295417"/>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 name="TextBox 21">
            <a:extLst>
              <a:ext uri="{FF2B5EF4-FFF2-40B4-BE49-F238E27FC236}">
                <a16:creationId xmlns:a16="http://schemas.microsoft.com/office/drawing/2014/main" xmlns="" id="{E120F533-88CE-4C9A-8821-86899600563D}"/>
              </a:ext>
            </a:extLst>
          </p:cNvPr>
          <p:cNvSpPr txBox="1"/>
          <p:nvPr/>
        </p:nvSpPr>
        <p:spPr>
          <a:xfrm>
            <a:off x="9170682" y="1826063"/>
            <a:ext cx="2578405"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、生成对接</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URL</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，生成</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secret</a:t>
            </a:r>
            <a:endPar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 name="任意多边形 52">
            <a:extLst>
              <a:ext uri="{FF2B5EF4-FFF2-40B4-BE49-F238E27FC236}">
                <a16:creationId xmlns:a16="http://schemas.microsoft.com/office/drawing/2014/main" xmlns="" id="{EE7AB1B2-2BD1-46EE-8854-022E2A317542}"/>
              </a:ext>
            </a:extLst>
          </p:cNvPr>
          <p:cNvSpPr/>
          <p:nvPr/>
        </p:nvSpPr>
        <p:spPr bwMode="auto">
          <a:xfrm>
            <a:off x="6191325" y="2176388"/>
            <a:ext cx="230020" cy="295417"/>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9" name="TextBox 21">
            <a:extLst>
              <a:ext uri="{FF2B5EF4-FFF2-40B4-BE49-F238E27FC236}">
                <a16:creationId xmlns:a16="http://schemas.microsoft.com/office/drawing/2014/main" xmlns="" id="{5A7368EE-49E0-4A96-BEDB-751DC39A4C2D}"/>
              </a:ext>
            </a:extLst>
          </p:cNvPr>
          <p:cNvSpPr txBox="1"/>
          <p:nvPr/>
        </p:nvSpPr>
        <p:spPr>
          <a:xfrm>
            <a:off x="6384269" y="2208741"/>
            <a:ext cx="2509020"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、配置对接</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URL</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secret</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字段</a:t>
            </a:r>
          </a:p>
        </p:txBody>
      </p:sp>
      <p:sp>
        <p:nvSpPr>
          <p:cNvPr id="20" name="任意多边形 54">
            <a:extLst>
              <a:ext uri="{FF2B5EF4-FFF2-40B4-BE49-F238E27FC236}">
                <a16:creationId xmlns:a16="http://schemas.microsoft.com/office/drawing/2014/main" xmlns="" id="{0B038587-B9DB-40CB-8D7B-FB39CD92C821}"/>
              </a:ext>
            </a:extLst>
          </p:cNvPr>
          <p:cNvSpPr/>
          <p:nvPr/>
        </p:nvSpPr>
        <p:spPr bwMode="auto">
          <a:xfrm>
            <a:off x="6183133" y="2628084"/>
            <a:ext cx="230020" cy="295417"/>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 name="TextBox 21">
            <a:extLst>
              <a:ext uri="{FF2B5EF4-FFF2-40B4-BE49-F238E27FC236}">
                <a16:creationId xmlns:a16="http://schemas.microsoft.com/office/drawing/2014/main" xmlns="" id="{CF685103-1B69-4C06-B553-0B936AB8ED5C}"/>
              </a:ext>
            </a:extLst>
          </p:cNvPr>
          <p:cNvSpPr txBox="1"/>
          <p:nvPr/>
        </p:nvSpPr>
        <p:spPr>
          <a:xfrm>
            <a:off x="6385313" y="2660437"/>
            <a:ext cx="165622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3</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、生成</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validator</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字段</a:t>
            </a:r>
          </a:p>
        </p:txBody>
      </p:sp>
      <p:sp>
        <p:nvSpPr>
          <p:cNvPr id="22" name="任意多边形 57">
            <a:extLst>
              <a:ext uri="{FF2B5EF4-FFF2-40B4-BE49-F238E27FC236}">
                <a16:creationId xmlns:a16="http://schemas.microsoft.com/office/drawing/2014/main" xmlns="" id="{E3329672-74F1-415F-99FE-AAD58E46C883}"/>
              </a:ext>
            </a:extLst>
          </p:cNvPr>
          <p:cNvSpPr/>
          <p:nvPr/>
        </p:nvSpPr>
        <p:spPr bwMode="auto">
          <a:xfrm>
            <a:off x="8872016" y="2868982"/>
            <a:ext cx="230020" cy="295417"/>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3" name="TextBox 21">
            <a:extLst>
              <a:ext uri="{FF2B5EF4-FFF2-40B4-BE49-F238E27FC236}">
                <a16:creationId xmlns:a16="http://schemas.microsoft.com/office/drawing/2014/main" xmlns="" id="{31BF80E8-E004-4C25-B9EB-635529EBB256}"/>
              </a:ext>
            </a:extLst>
          </p:cNvPr>
          <p:cNvSpPr txBox="1"/>
          <p:nvPr/>
        </p:nvSpPr>
        <p:spPr>
          <a:xfrm>
            <a:off x="9170682" y="2854345"/>
            <a:ext cx="165622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4</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、设置</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validator</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字段</a:t>
            </a:r>
          </a:p>
        </p:txBody>
      </p:sp>
      <p:cxnSp>
        <p:nvCxnSpPr>
          <p:cNvPr id="24" name="直接箭头连接符 23">
            <a:extLst>
              <a:ext uri="{FF2B5EF4-FFF2-40B4-BE49-F238E27FC236}">
                <a16:creationId xmlns:a16="http://schemas.microsoft.com/office/drawing/2014/main" xmlns="" id="{C4569A63-82C1-4EAB-8490-0BC397E53562}"/>
              </a:ext>
            </a:extLst>
          </p:cNvPr>
          <p:cNvCxnSpPr/>
          <p:nvPr/>
        </p:nvCxnSpPr>
        <p:spPr bwMode="auto">
          <a:xfrm>
            <a:off x="6201653" y="3416767"/>
            <a:ext cx="2657453"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5" name="TextBox 21">
            <a:extLst>
              <a:ext uri="{FF2B5EF4-FFF2-40B4-BE49-F238E27FC236}">
                <a16:creationId xmlns:a16="http://schemas.microsoft.com/office/drawing/2014/main" xmlns="" id="{9EFC2A84-53DA-4322-BD8E-E08B4A8B256F}"/>
              </a:ext>
            </a:extLst>
          </p:cNvPr>
          <p:cNvSpPr txBox="1"/>
          <p:nvPr/>
        </p:nvSpPr>
        <p:spPr>
          <a:xfrm>
            <a:off x="6389721" y="3174532"/>
            <a:ext cx="192873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5</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HTTPS</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通信，</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get</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请求</a:t>
            </a:r>
          </a:p>
        </p:txBody>
      </p:sp>
      <p:cxnSp>
        <p:nvCxnSpPr>
          <p:cNvPr id="26" name="直接箭头连接符 25">
            <a:extLst>
              <a:ext uri="{FF2B5EF4-FFF2-40B4-BE49-F238E27FC236}">
                <a16:creationId xmlns:a16="http://schemas.microsoft.com/office/drawing/2014/main" xmlns="" id="{2D21A7FC-5E18-4C1A-B395-890A631A845C}"/>
              </a:ext>
            </a:extLst>
          </p:cNvPr>
          <p:cNvCxnSpPr/>
          <p:nvPr/>
        </p:nvCxnSpPr>
        <p:spPr bwMode="auto">
          <a:xfrm flipH="1">
            <a:off x="6191325" y="3717691"/>
            <a:ext cx="2667782"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7" name="TextBox 21">
            <a:extLst>
              <a:ext uri="{FF2B5EF4-FFF2-40B4-BE49-F238E27FC236}">
                <a16:creationId xmlns:a16="http://schemas.microsoft.com/office/drawing/2014/main" xmlns="" id="{1087ACBB-9C7A-43EE-A3EC-AB505799E2A8}"/>
              </a:ext>
            </a:extLst>
          </p:cNvPr>
          <p:cNvSpPr txBox="1"/>
          <p:nvPr/>
        </p:nvSpPr>
        <p:spPr>
          <a:xfrm>
            <a:off x="6395542" y="3483152"/>
            <a:ext cx="170431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6</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回复</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validator</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字段</a:t>
            </a:r>
          </a:p>
        </p:txBody>
      </p:sp>
      <p:cxnSp>
        <p:nvCxnSpPr>
          <p:cNvPr id="28" name="直接箭头连接符 27">
            <a:extLst>
              <a:ext uri="{FF2B5EF4-FFF2-40B4-BE49-F238E27FC236}">
                <a16:creationId xmlns:a16="http://schemas.microsoft.com/office/drawing/2014/main" xmlns="" id="{6006690E-9C71-401F-9103-DEA7C8E439A3}"/>
              </a:ext>
            </a:extLst>
          </p:cNvPr>
          <p:cNvCxnSpPr/>
          <p:nvPr/>
        </p:nvCxnSpPr>
        <p:spPr bwMode="auto">
          <a:xfrm flipH="1">
            <a:off x="3956959" y="4315736"/>
            <a:ext cx="2234366"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9" name="任意多边形 70">
            <a:extLst>
              <a:ext uri="{FF2B5EF4-FFF2-40B4-BE49-F238E27FC236}">
                <a16:creationId xmlns:a16="http://schemas.microsoft.com/office/drawing/2014/main" xmlns="" id="{3F5B6C4F-7F44-45F1-ACF7-695716D6C81E}"/>
              </a:ext>
            </a:extLst>
          </p:cNvPr>
          <p:cNvSpPr/>
          <p:nvPr/>
        </p:nvSpPr>
        <p:spPr bwMode="auto">
          <a:xfrm>
            <a:off x="6216240" y="3854510"/>
            <a:ext cx="230020" cy="295417"/>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0" name="TextBox 21">
            <a:extLst>
              <a:ext uri="{FF2B5EF4-FFF2-40B4-BE49-F238E27FC236}">
                <a16:creationId xmlns:a16="http://schemas.microsoft.com/office/drawing/2014/main" xmlns="" id="{E2D15930-CE0D-4E65-9728-52BBE9B8101E}"/>
              </a:ext>
            </a:extLst>
          </p:cNvPr>
          <p:cNvSpPr txBox="1"/>
          <p:nvPr/>
        </p:nvSpPr>
        <p:spPr>
          <a:xfrm>
            <a:off x="6436479" y="3859214"/>
            <a:ext cx="165622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7</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、校验</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validator</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字段</a:t>
            </a:r>
          </a:p>
        </p:txBody>
      </p:sp>
      <p:sp>
        <p:nvSpPr>
          <p:cNvPr id="31" name="TextBox 21">
            <a:extLst>
              <a:ext uri="{FF2B5EF4-FFF2-40B4-BE49-F238E27FC236}">
                <a16:creationId xmlns:a16="http://schemas.microsoft.com/office/drawing/2014/main" xmlns="" id="{E5876DCE-3C8C-441D-8A20-7FA673DC3680}"/>
              </a:ext>
            </a:extLst>
          </p:cNvPr>
          <p:cNvSpPr txBox="1"/>
          <p:nvPr/>
        </p:nvSpPr>
        <p:spPr>
          <a:xfrm>
            <a:off x="4034861" y="4038450"/>
            <a:ext cx="2117887"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8</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、打开上报开关，下发配置</a:t>
            </a:r>
          </a:p>
        </p:txBody>
      </p:sp>
      <p:sp>
        <p:nvSpPr>
          <p:cNvPr id="32" name="TextBox 21">
            <a:extLst>
              <a:ext uri="{FF2B5EF4-FFF2-40B4-BE49-F238E27FC236}">
                <a16:creationId xmlns:a16="http://schemas.microsoft.com/office/drawing/2014/main" xmlns="" id="{876CF5B8-FFB8-4E3B-BF13-AA1E46F9C9E5}"/>
              </a:ext>
            </a:extLst>
          </p:cNvPr>
          <p:cNvSpPr txBox="1"/>
          <p:nvPr/>
        </p:nvSpPr>
        <p:spPr>
          <a:xfrm>
            <a:off x="2219448" y="4495404"/>
            <a:ext cx="165622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9</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、采集终端位置数据</a:t>
            </a:r>
          </a:p>
        </p:txBody>
      </p:sp>
      <p:cxnSp>
        <p:nvCxnSpPr>
          <p:cNvPr id="33" name="直接箭头连接符 32">
            <a:extLst>
              <a:ext uri="{FF2B5EF4-FFF2-40B4-BE49-F238E27FC236}">
                <a16:creationId xmlns:a16="http://schemas.microsoft.com/office/drawing/2014/main" xmlns="" id="{9ED902D6-2BA2-4F06-BEC9-F43C3FE073AB}"/>
              </a:ext>
            </a:extLst>
          </p:cNvPr>
          <p:cNvCxnSpPr/>
          <p:nvPr/>
        </p:nvCxnSpPr>
        <p:spPr bwMode="auto">
          <a:xfrm>
            <a:off x="2195639" y="4720980"/>
            <a:ext cx="1772000"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4" name="TextBox 21">
            <a:extLst>
              <a:ext uri="{FF2B5EF4-FFF2-40B4-BE49-F238E27FC236}">
                <a16:creationId xmlns:a16="http://schemas.microsoft.com/office/drawing/2014/main" xmlns="" id="{57EDAE90-0653-454F-B22D-9DDB6444C050}"/>
              </a:ext>
            </a:extLst>
          </p:cNvPr>
          <p:cNvSpPr txBox="1"/>
          <p:nvPr/>
        </p:nvSpPr>
        <p:spPr>
          <a:xfrm>
            <a:off x="4005679" y="4867258"/>
            <a:ext cx="158248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10</a:t>
            </a:r>
            <a:r>
              <a:rPr lang="zh-CN" altLang="en-US" sz="12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RSSI</a:t>
            </a:r>
            <a:r>
              <a:rPr lang="zh-CN" altLang="en-US" sz="120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上报</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控制器</a:t>
            </a:r>
          </a:p>
        </p:txBody>
      </p:sp>
      <p:cxnSp>
        <p:nvCxnSpPr>
          <p:cNvPr id="35" name="直接箭头连接符 34">
            <a:extLst>
              <a:ext uri="{FF2B5EF4-FFF2-40B4-BE49-F238E27FC236}">
                <a16:creationId xmlns:a16="http://schemas.microsoft.com/office/drawing/2014/main" xmlns="" id="{A3F95590-8E58-4606-BD6A-06CB7EAF6113}"/>
              </a:ext>
            </a:extLst>
          </p:cNvPr>
          <p:cNvCxnSpPr/>
          <p:nvPr/>
        </p:nvCxnSpPr>
        <p:spPr bwMode="auto">
          <a:xfrm>
            <a:off x="3981872" y="5092833"/>
            <a:ext cx="2201261"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6" name="TextBox 21">
            <a:extLst>
              <a:ext uri="{FF2B5EF4-FFF2-40B4-BE49-F238E27FC236}">
                <a16:creationId xmlns:a16="http://schemas.microsoft.com/office/drawing/2014/main" xmlns="" id="{D1F47084-C612-46D9-8B07-7F1551A637A6}"/>
              </a:ext>
            </a:extLst>
          </p:cNvPr>
          <p:cNvSpPr txBox="1"/>
          <p:nvPr/>
        </p:nvSpPr>
        <p:spPr>
          <a:xfrm>
            <a:off x="6254541" y="5169156"/>
            <a:ext cx="246413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11</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RSSI JSON</a:t>
            </a: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格式上报给第三方</a:t>
            </a:r>
          </a:p>
        </p:txBody>
      </p:sp>
      <p:cxnSp>
        <p:nvCxnSpPr>
          <p:cNvPr id="37" name="直接箭头连接符 36">
            <a:extLst>
              <a:ext uri="{FF2B5EF4-FFF2-40B4-BE49-F238E27FC236}">
                <a16:creationId xmlns:a16="http://schemas.microsoft.com/office/drawing/2014/main" xmlns="" id="{9982FFC5-DB1E-4410-B511-B74A65ED36A5}"/>
              </a:ext>
            </a:extLst>
          </p:cNvPr>
          <p:cNvCxnSpPr/>
          <p:nvPr/>
        </p:nvCxnSpPr>
        <p:spPr bwMode="auto">
          <a:xfrm>
            <a:off x="6231048" y="5404656"/>
            <a:ext cx="2598108"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cxnSp>
        <p:nvCxnSpPr>
          <p:cNvPr id="38" name="直接连接符 37">
            <a:extLst>
              <a:ext uri="{FF2B5EF4-FFF2-40B4-BE49-F238E27FC236}">
                <a16:creationId xmlns:a16="http://schemas.microsoft.com/office/drawing/2014/main" xmlns="" id="{3BAF9BEE-B802-4FD0-A7ED-F0A8B5A5A033}"/>
              </a:ext>
            </a:extLst>
          </p:cNvPr>
          <p:cNvCxnSpPr/>
          <p:nvPr/>
        </p:nvCxnSpPr>
        <p:spPr bwMode="auto">
          <a:xfrm flipV="1">
            <a:off x="655065" y="3185253"/>
            <a:ext cx="10185872" cy="29918"/>
          </a:xfrm>
          <a:prstGeom prst="line">
            <a:avLst/>
          </a:prstGeom>
          <a:noFill/>
          <a:ln w="28575" cap="flat" cmpd="sng" algn="ctr">
            <a:solidFill>
              <a:srgbClr val="EC7061"/>
            </a:solidFill>
            <a:prstDash val="sysDot"/>
            <a:headEnd type="none" w="med" len="med"/>
            <a:tailEnd type="none" w="med" len="med"/>
          </a:ln>
          <a:effectLst/>
        </p:spPr>
      </p:cxnSp>
      <p:sp>
        <p:nvSpPr>
          <p:cNvPr id="39" name="文本框 38">
            <a:extLst>
              <a:ext uri="{FF2B5EF4-FFF2-40B4-BE49-F238E27FC236}">
                <a16:creationId xmlns:a16="http://schemas.microsoft.com/office/drawing/2014/main" xmlns="" id="{DD18486A-541C-4506-A83E-0D530596E44D}"/>
              </a:ext>
            </a:extLst>
          </p:cNvPr>
          <p:cNvSpPr txBox="1"/>
          <p:nvPr/>
        </p:nvSpPr>
        <p:spPr>
          <a:xfrm>
            <a:off x="786337" y="2781920"/>
            <a:ext cx="976082" cy="307777"/>
          </a:xfrm>
          <a:prstGeom prst="rect">
            <a:avLst/>
          </a:prstGeom>
          <a:noFill/>
        </p:spPr>
        <p:txBody>
          <a:bodyPr wrap="square" rtlCol="0">
            <a:spAutoFit/>
          </a:bodyPr>
          <a:lstStyle/>
          <a:p>
            <a:r>
              <a:rPr lang="zh-CN" altLang="en-US" sz="1400" b="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准备</a:t>
            </a:r>
            <a:endParaRPr lang="en-US" sz="1400" b="1"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40" name="直接连接符 39">
            <a:extLst>
              <a:ext uri="{FF2B5EF4-FFF2-40B4-BE49-F238E27FC236}">
                <a16:creationId xmlns:a16="http://schemas.microsoft.com/office/drawing/2014/main" xmlns="" id="{161B5D9C-74AC-4828-8FC5-847A774B9F1D}"/>
              </a:ext>
            </a:extLst>
          </p:cNvPr>
          <p:cNvCxnSpPr/>
          <p:nvPr/>
        </p:nvCxnSpPr>
        <p:spPr bwMode="auto">
          <a:xfrm>
            <a:off x="655065" y="4477693"/>
            <a:ext cx="10301676" cy="9928"/>
          </a:xfrm>
          <a:prstGeom prst="line">
            <a:avLst/>
          </a:prstGeom>
          <a:noFill/>
          <a:ln w="28575" cap="flat" cmpd="sng" algn="ctr">
            <a:solidFill>
              <a:srgbClr val="EC7061"/>
            </a:solidFill>
            <a:prstDash val="sysDot"/>
            <a:headEnd type="none" w="med" len="med"/>
            <a:tailEnd type="none" w="med" len="med"/>
          </a:ln>
          <a:effectLst/>
        </p:spPr>
      </p:cxnSp>
      <p:sp>
        <p:nvSpPr>
          <p:cNvPr id="41" name="文本框 40">
            <a:extLst>
              <a:ext uri="{FF2B5EF4-FFF2-40B4-BE49-F238E27FC236}">
                <a16:creationId xmlns:a16="http://schemas.microsoft.com/office/drawing/2014/main" xmlns="" id="{DD36BAA3-E1C3-4AF5-ACC9-72F585E427C8}"/>
              </a:ext>
            </a:extLst>
          </p:cNvPr>
          <p:cNvSpPr txBox="1"/>
          <p:nvPr/>
        </p:nvSpPr>
        <p:spPr>
          <a:xfrm>
            <a:off x="760792" y="3781126"/>
            <a:ext cx="1411939" cy="307777"/>
          </a:xfrm>
          <a:prstGeom prst="rect">
            <a:avLst/>
          </a:prstGeom>
          <a:noFill/>
        </p:spPr>
        <p:txBody>
          <a:bodyPr wrap="square" rtlCol="0">
            <a:spAutoFit/>
          </a:bodyPr>
          <a:lstStyle/>
          <a:p>
            <a:r>
              <a:rPr lang="zh-CN" altLang="en-US" sz="1400" b="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配置</a:t>
            </a:r>
            <a:endParaRPr lang="en-US" sz="1400" b="1"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2" name="文本框 41">
            <a:extLst>
              <a:ext uri="{FF2B5EF4-FFF2-40B4-BE49-F238E27FC236}">
                <a16:creationId xmlns:a16="http://schemas.microsoft.com/office/drawing/2014/main" xmlns="" id="{39B5EA33-2236-4C1F-9F05-96E469F25BC1}"/>
              </a:ext>
            </a:extLst>
          </p:cNvPr>
          <p:cNvSpPr txBox="1"/>
          <p:nvPr/>
        </p:nvSpPr>
        <p:spPr>
          <a:xfrm>
            <a:off x="547806" y="4859236"/>
            <a:ext cx="1696791" cy="307777"/>
          </a:xfrm>
          <a:prstGeom prst="rect">
            <a:avLst/>
          </a:prstGeom>
          <a:noFill/>
        </p:spPr>
        <p:txBody>
          <a:bodyPr wrap="square" rtlCol="0">
            <a:spAutoFit/>
          </a:bodyPr>
          <a:lstStyle/>
          <a:p>
            <a:r>
              <a:rPr lang="zh-CN" altLang="en-US" sz="1400" b="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发送</a:t>
            </a:r>
            <a:r>
              <a:rPr lang="en-US" altLang="zh-CN" sz="1400" b="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RSSI</a:t>
            </a:r>
            <a:r>
              <a:rPr lang="zh-CN" altLang="en-US" sz="1400" b="1">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到第三方</a:t>
            </a:r>
            <a:endParaRPr lang="en-US" altLang="zh-CN" sz="1400" b="1"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3" name="文本框 42">
            <a:extLst>
              <a:ext uri="{FF2B5EF4-FFF2-40B4-BE49-F238E27FC236}">
                <a16:creationId xmlns:a16="http://schemas.microsoft.com/office/drawing/2014/main" xmlns="" id="{FC7496DA-C9CB-42D4-98CB-F5C10988E59F}"/>
              </a:ext>
            </a:extLst>
          </p:cNvPr>
          <p:cNvSpPr txBox="1"/>
          <p:nvPr/>
        </p:nvSpPr>
        <p:spPr>
          <a:xfrm>
            <a:off x="720365" y="3296848"/>
            <a:ext cx="492443" cy="276999"/>
          </a:xfrm>
          <a:prstGeom prst="rect">
            <a:avLst/>
          </a:prstGeom>
          <a:solidFill>
            <a:srgbClr val="8BC9A0"/>
          </a:solidFill>
        </p:spPr>
        <p:txBody>
          <a:bodyPr wrap="none" rtlCol="0">
            <a:spAutoFit/>
          </a:bodyPr>
          <a:lstStyle/>
          <a:p>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一次</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a:extLst>
              <a:ext uri="{FF2B5EF4-FFF2-40B4-BE49-F238E27FC236}">
                <a16:creationId xmlns:a16="http://schemas.microsoft.com/office/drawing/2014/main" xmlns="" id="{508AB75C-5CA6-4F99-B238-6D854FEF9EC6}"/>
              </a:ext>
            </a:extLst>
          </p:cNvPr>
          <p:cNvSpPr txBox="1"/>
          <p:nvPr/>
        </p:nvSpPr>
        <p:spPr>
          <a:xfrm>
            <a:off x="760792" y="5538628"/>
            <a:ext cx="492443" cy="276999"/>
          </a:xfrm>
          <a:prstGeom prst="rect">
            <a:avLst/>
          </a:prstGeom>
          <a:solidFill>
            <a:srgbClr val="8BC9A0"/>
          </a:solidFill>
        </p:spPr>
        <p:txBody>
          <a:bodyPr wrap="none" rtlCol="0">
            <a:spAutoFit/>
          </a:bodyPr>
          <a:lstStyle/>
          <a:p>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循环</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7" name="Object 2">
            <a:extLst>
              <a:ext uri="{FF2B5EF4-FFF2-40B4-BE49-F238E27FC236}">
                <a16:creationId xmlns:a16="http://schemas.microsoft.com/office/drawing/2014/main" xmlns="" id="{386D42E6-37B7-4E25-A4FC-6A12DC7D1B61}"/>
              </a:ext>
            </a:extLst>
          </p:cNvPr>
          <p:cNvGraphicFramePr>
            <a:graphicFrameLocks noChangeAspect="1"/>
          </p:cNvGraphicFramePr>
          <p:nvPr>
            <p:extLst>
              <p:ext uri="{D42A27DB-BD31-4B8C-83A1-F6EECF244321}">
                <p14:modId xmlns:p14="http://schemas.microsoft.com/office/powerpoint/2010/main" val="3942809577"/>
              </p:ext>
            </p:extLst>
          </p:nvPr>
        </p:nvGraphicFramePr>
        <p:xfrm>
          <a:off x="1963814" y="1428828"/>
          <a:ext cx="521996" cy="353984"/>
        </p:xfrm>
        <a:graphic>
          <a:graphicData uri="http://schemas.openxmlformats.org/presentationml/2006/ole">
            <mc:AlternateContent xmlns:mc="http://schemas.openxmlformats.org/markup-compatibility/2006">
              <mc:Choice xmlns:v="urn:schemas-microsoft-com:vml" Requires="v">
                <p:oleObj spid="_x0000_s2075" name="Visio" r:id="rId5" imgW="460915" imgH="303181" progId="Visio.Drawing.11">
                  <p:embed/>
                </p:oleObj>
              </mc:Choice>
              <mc:Fallback>
                <p:oleObj name="Visio" r:id="rId5" imgW="460915" imgH="303181"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3814" y="1428828"/>
                        <a:ext cx="521996" cy="353984"/>
                      </a:xfrm>
                      <a:prstGeom prst="rect">
                        <a:avLst/>
                      </a:prstGeom>
                      <a:noFill/>
                      <a:ln>
                        <a:noFill/>
                      </a:ln>
                      <a:effectLst/>
                    </p:spPr>
                  </p:pic>
                </p:oleObj>
              </mc:Fallback>
            </mc:AlternateContent>
          </a:graphicData>
        </a:graphic>
      </p:graphicFrame>
      <p:pic>
        <p:nvPicPr>
          <p:cNvPr id="48" name="图片 47">
            <a:extLst>
              <a:ext uri="{FF2B5EF4-FFF2-40B4-BE49-F238E27FC236}">
                <a16:creationId xmlns:a16="http://schemas.microsoft.com/office/drawing/2014/main" xmlns="" id="{18C69DF1-70D6-4534-BCE4-54F6778377B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98784" y="1341527"/>
            <a:ext cx="951607" cy="540946"/>
          </a:xfrm>
          <a:prstGeom prst="rect">
            <a:avLst/>
          </a:prstGeom>
        </p:spPr>
      </p:pic>
      <p:pic>
        <p:nvPicPr>
          <p:cNvPr id="49" name="图片 48">
            <a:extLst>
              <a:ext uri="{FF2B5EF4-FFF2-40B4-BE49-F238E27FC236}">
                <a16:creationId xmlns:a16="http://schemas.microsoft.com/office/drawing/2014/main" xmlns="" id="{072006B5-3F39-4007-9B3A-A2612BA2F5C3}"/>
              </a:ext>
            </a:extLst>
          </p:cNvPr>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3751184" y="1397720"/>
            <a:ext cx="485437" cy="398059"/>
          </a:xfrm>
          <a:prstGeom prst="rect">
            <a:avLst/>
          </a:prstGeom>
        </p:spPr>
      </p:pic>
      <p:pic>
        <p:nvPicPr>
          <p:cNvPr id="50" name="图片 49">
            <a:extLst>
              <a:ext uri="{FF2B5EF4-FFF2-40B4-BE49-F238E27FC236}">
                <a16:creationId xmlns:a16="http://schemas.microsoft.com/office/drawing/2014/main" xmlns="" id="{91B347FC-9577-4B3A-93D8-B0D28A739759}"/>
              </a:ext>
            </a:extLst>
          </p:cNvPr>
          <p:cNvPicPr>
            <a:picLocks/>
          </p:cNvPicPr>
          <p:nvPr/>
        </p:nvPicPr>
        <p:blipFill>
          <a:blip r:embed="rId9" cstate="print">
            <a:extLst>
              <a:ext uri="{28A0092B-C50C-407E-A947-70E740481C1C}">
                <a14:useLocalDpi xmlns:a14="http://schemas.microsoft.com/office/drawing/2010/main" val="0"/>
              </a:ext>
            </a:extLst>
          </a:blip>
          <a:stretch>
            <a:fillRect/>
          </a:stretch>
        </p:blipFill>
        <p:spPr>
          <a:xfrm>
            <a:off x="8591178" y="1316206"/>
            <a:ext cx="540000" cy="442800"/>
          </a:xfrm>
          <a:prstGeom prst="rect">
            <a:avLst/>
          </a:prstGeom>
        </p:spPr>
      </p:pic>
    </p:spTree>
    <p:extLst>
      <p:ext uri="{BB962C8B-B14F-4D97-AF65-F5344CB8AC3E}">
        <p14:creationId xmlns:p14="http://schemas.microsoft.com/office/powerpoint/2010/main" val="41545565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632775" y="1818608"/>
            <a:ext cx="5368929" cy="4154984"/>
          </a:xfrm>
          <a:prstGeom prst="rect">
            <a:avLst/>
          </a:prstGeom>
          <a:noFill/>
          <a:ln>
            <a:solidFill>
              <a:srgbClr val="94DAE2"/>
            </a:solidFill>
          </a:ln>
        </p:spPr>
        <p:txBody>
          <a:bodyPr wrap="square">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"data":[</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"apMac":"4C:FA:CA:D8:23:A0",</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"terminallist":[</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"terminalMac":"88:19:08:F1:88:45",</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"rssi":-68,</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"timestamp":1557460789000</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"terminalMac":"90:2E:1C:6A:2A:57",</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"rssi":-57,</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"timestamp":1557460789000</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      ],</a:t>
            </a:r>
          </a:p>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"secret":"Test@</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1234"</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"type":"Aplocation"</a:t>
            </a:r>
          </a:p>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a:extLst>
              <a:ext uri="{FF2B5EF4-FFF2-40B4-BE49-F238E27FC236}">
                <a16:creationId xmlns:a16="http://schemas.microsoft.com/office/drawing/2014/main" xmlns="" id="{42B8ED1B-184F-4DF8-8858-5D772786E0D8}"/>
              </a:ext>
            </a:extLst>
          </p:cNvPr>
          <p:cNvSpPr>
            <a:spLocks noGrp="1"/>
          </p:cNvSpPr>
          <p:nvPr>
            <p:ph type="title"/>
          </p:nvPr>
        </p:nvSpPr>
        <p:spPr bwMode="gray"/>
        <p:txBody>
          <a:bodyPr/>
          <a:lstStyle/>
          <a:p>
            <a:r>
              <a:rPr lang="en-US" altLang="zh-CN" smtClean="0">
                <a:sym typeface="Huawei Sans" panose="020C0503030203020204" pitchFamily="34" charset="0"/>
              </a:rPr>
              <a:t>HTTP+JSON</a:t>
            </a:r>
            <a:r>
              <a:rPr lang="zh-CN" altLang="en-US" smtClean="0">
                <a:sym typeface="Huawei Sans" panose="020C0503030203020204" pitchFamily="34" charset="0"/>
              </a:rPr>
              <a:t>数据上报示例</a:t>
            </a:r>
            <a:endParaRPr lang="zh-CN" altLang="en-US" dirty="0">
              <a:sym typeface="Huawei Sans" panose="020C0503030203020204" pitchFamily="34" charset="0"/>
            </a:endParaRPr>
          </a:p>
        </p:txBody>
      </p:sp>
      <p:sp>
        <p:nvSpPr>
          <p:cNvPr id="53" name="文本框 52">
            <a:extLst>
              <a:ext uri="{FF2B5EF4-FFF2-40B4-BE49-F238E27FC236}">
                <a16:creationId xmlns:a16="http://schemas.microsoft.com/office/drawing/2014/main" xmlns="" id="{E6D6E5C1-B6EC-4814-AB35-69F96776C064}"/>
              </a:ext>
            </a:extLst>
          </p:cNvPr>
          <p:cNvSpPr txBox="1"/>
          <p:nvPr/>
        </p:nvSpPr>
        <p:spPr>
          <a:xfrm>
            <a:off x="6263511" y="1818608"/>
            <a:ext cx="5345114" cy="1938992"/>
          </a:xfrm>
          <a:prstGeom prst="rect">
            <a:avLst/>
          </a:prstGeom>
          <a:noFill/>
          <a:ln>
            <a:solidFill>
              <a:srgbClr val="94DAE2"/>
            </a:solidFill>
          </a:ln>
        </p:spPr>
        <p:txBody>
          <a:bodyPr wrap="square" rtlCol="0">
            <a:spAutoFit/>
          </a:bodyPr>
          <a:lstStyle/>
          <a:p>
            <a:pPr marL="171450" indent="-1714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secret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 第三方系统用于校验</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发送的数据时的身份，若与记录的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URL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关联的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secret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不匹配，则会丢弃数据。由第三方系统生成，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进制字符，长度</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32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 </a:t>
            </a:r>
          </a:p>
          <a:p>
            <a:pPr marL="171450" indent="-1714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validator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在发送数据前校验对端返回的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validator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是否正确，若与记录的</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url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关联的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validator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不匹配，则不会发送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终端位置数据。</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Shape 214">
            <a:extLst>
              <a:ext uri="{FF2B5EF4-FFF2-40B4-BE49-F238E27FC236}">
                <a16:creationId xmlns:a16="http://schemas.microsoft.com/office/drawing/2014/main" xmlns="" id="{4BB1D541-FD1E-4471-8DFC-FC2160B68446}"/>
              </a:ext>
            </a:extLst>
          </p:cNvPr>
          <p:cNvSpPr/>
          <p:nvPr/>
        </p:nvSpPr>
        <p:spPr bwMode="gray">
          <a:xfrm>
            <a:off x="547684" y="1258957"/>
            <a:ext cx="10959345" cy="380862"/>
          </a:xfrm>
          <a:prstGeom prst="roundRect">
            <a:avLst>
              <a:gd name="adj" fmla="val 26745"/>
            </a:avLst>
          </a:prstGeom>
          <a:noFill/>
          <a:ln w="9525">
            <a:solidFill>
              <a:srgbClr val="94DAE2"/>
            </a:solidFill>
          </a:ln>
          <a:extLst>
            <a:ext uri="{C572A759-6A51-4108-AA02-DFA0A04FC94B}">
              <ma14:wrappingTextBoxFlag xmlns="" xmlns:ma14="http://schemas.microsoft.com/office/mac/drawingml/2011/main" xmlns:lc="http://schemas.openxmlformats.org/drawingml/2006/lockedCanvas" val="1"/>
            </a:ext>
          </a:extLst>
        </p:spPr>
        <p:txBody>
          <a:bodyPr lIns="45720" tIns="45720" rIns="45720" bIns="45720" anchor="ct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示例代码（</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Windows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382641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5FF0D9A-66C9-440A-9500-86E1A66E57CC}"/>
              </a:ext>
            </a:extLst>
          </p:cNvPr>
          <p:cNvSpPr>
            <a:spLocks noGrp="1"/>
          </p:cNvSpPr>
          <p:nvPr>
            <p:ph type="title"/>
          </p:nvPr>
        </p:nvSpPr>
        <p:spPr bwMode="gray"/>
        <p:txBody>
          <a:bodyPr/>
          <a:lstStyle/>
          <a:p>
            <a:r>
              <a:rPr lang="en-US" altLang="zh-CN" smtClean="0">
                <a:sym typeface="Huawei Sans" panose="020C0503030203020204" pitchFamily="34" charset="0"/>
              </a:rPr>
              <a:t>AP RSSI API</a:t>
            </a:r>
            <a:r>
              <a:rPr lang="zh-CN" altLang="en-US" smtClean="0">
                <a:sym typeface="Huawei Sans" panose="020C0503030203020204" pitchFamily="34" charset="0"/>
              </a:rPr>
              <a:t>数据上报流程</a:t>
            </a:r>
            <a:endParaRPr lang="zh-CN" altLang="en-US" dirty="0">
              <a:sym typeface="Huawei Sans" panose="020C0503030203020204" pitchFamily="34" charset="0"/>
            </a:endParaRPr>
          </a:p>
        </p:txBody>
      </p:sp>
      <p:sp>
        <p:nvSpPr>
          <p:cNvPr id="32" name="文本占位符 31">
            <a:extLst>
              <a:ext uri="{FF2B5EF4-FFF2-40B4-BE49-F238E27FC236}">
                <a16:creationId xmlns:a16="http://schemas.microsoft.com/office/drawing/2014/main" xmlns="" id="{2E14D7E8-4E4D-45D8-B7A7-0B6770CCB473}"/>
              </a:ext>
            </a:extLst>
          </p:cNvPr>
          <p:cNvSpPr>
            <a:spLocks noGrp="1"/>
          </p:cNvSpPr>
          <p:nvPr>
            <p:ph type="body" sz="quarter" idx="10"/>
          </p:nvPr>
        </p:nvSpPr>
        <p:spPr bwMode="gray"/>
        <p:txBody>
          <a:bodyPr/>
          <a:lstStyle/>
          <a:p>
            <a:r>
              <a:rPr lang="en-US" altLang="zh-CN" sz="1600" dirty="0" err="1" smtClean="0">
                <a:sym typeface="Huawei Sans" panose="020C0503030203020204" pitchFamily="34" charset="0"/>
              </a:rPr>
              <a:t>iMaster</a:t>
            </a:r>
            <a:r>
              <a:rPr lang="en-US" altLang="zh-CN" sz="1600" dirty="0" smtClean="0">
                <a:sym typeface="Huawei Sans" panose="020C0503030203020204" pitchFamily="34" charset="0"/>
              </a:rPr>
              <a:t> NCE-Campus</a:t>
            </a:r>
            <a:r>
              <a:rPr lang="zh-CN" altLang="en-US" sz="1600" dirty="0" smtClean="0">
                <a:sym typeface="Huawei Sans" panose="020C0503030203020204" pitchFamily="34" charset="0"/>
              </a:rPr>
              <a:t>支持直接由</a:t>
            </a:r>
            <a:r>
              <a:rPr lang="en-US" altLang="zh-CN" sz="1600" dirty="0" smtClean="0">
                <a:sym typeface="Huawei Sans" panose="020C0503030203020204" pitchFamily="34" charset="0"/>
              </a:rPr>
              <a:t>WLAN AP</a:t>
            </a:r>
            <a:r>
              <a:rPr lang="zh-CN" altLang="en-US" sz="1600" dirty="0" smtClean="0">
                <a:sym typeface="Huawei Sans" panose="020C0503030203020204" pitchFamily="34" charset="0"/>
              </a:rPr>
              <a:t>上报终端位置数据。控制器向</a:t>
            </a:r>
            <a:r>
              <a:rPr lang="en-US" altLang="zh-CN" sz="1600" dirty="0" smtClean="0">
                <a:sym typeface="Huawei Sans" panose="020C0503030203020204" pitchFamily="34" charset="0"/>
              </a:rPr>
              <a:t>AP</a:t>
            </a:r>
            <a:r>
              <a:rPr lang="zh-CN" altLang="en-US" sz="1600" dirty="0" smtClean="0">
                <a:sym typeface="Huawei Sans" panose="020C0503030203020204" pitchFamily="34" charset="0"/>
              </a:rPr>
              <a:t>设备下发上报位置报文的配置，然后</a:t>
            </a:r>
            <a:r>
              <a:rPr lang="en-US" altLang="zh-CN" sz="1600" dirty="0" smtClean="0">
                <a:sym typeface="Huawei Sans" panose="020C0503030203020204" pitchFamily="34" charset="0"/>
              </a:rPr>
              <a:t>AP</a:t>
            </a:r>
            <a:r>
              <a:rPr lang="zh-CN" altLang="en-US" sz="1600" dirty="0" smtClean="0">
                <a:sym typeface="Huawei Sans" panose="020C0503030203020204" pitchFamily="34" charset="0"/>
              </a:rPr>
              <a:t>直接向第三方位置服务应用定期发送报文。</a:t>
            </a:r>
            <a:endParaRPr lang="zh-CN" altLang="en-US" sz="1600" dirty="0">
              <a:sym typeface="Huawei Sans" panose="020C0503030203020204" pitchFamily="34" charset="0"/>
            </a:endParaRPr>
          </a:p>
        </p:txBody>
      </p:sp>
      <p:sp>
        <p:nvSpPr>
          <p:cNvPr id="34" name="TextBox 10">
            <a:extLst>
              <a:ext uri="{FF2B5EF4-FFF2-40B4-BE49-F238E27FC236}">
                <a16:creationId xmlns:a16="http://schemas.microsoft.com/office/drawing/2014/main" xmlns="" id="{796AD7A5-BD45-4A83-BF03-D7928BFDB581}"/>
              </a:ext>
            </a:extLst>
          </p:cNvPr>
          <p:cNvSpPr txBox="1"/>
          <p:nvPr/>
        </p:nvSpPr>
        <p:spPr bwMode="gray">
          <a:xfrm>
            <a:off x="6969553" y="2027597"/>
            <a:ext cx="1915909" cy="323165"/>
          </a:xfrm>
          <a:prstGeom prst="rect">
            <a:avLst/>
          </a:prstGeom>
          <a:noFill/>
        </p:spPr>
        <p:txBody>
          <a:bodyPr wrap="none" rtlCol="0">
            <a:spAutoFit/>
          </a:bodyPr>
          <a:lstStyle>
            <a:defPPr>
              <a:defRPr lang="en-US"/>
            </a:defPPr>
            <a:lvl1pPr>
              <a:defRPr sz="1500">
                <a:solidFill>
                  <a:srgbClr val="0070C0"/>
                </a:solidFill>
              </a:defRPr>
            </a:lvl1pPr>
          </a:lstStyle>
          <a:p>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第三方位置服务应用</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17">
            <a:extLst>
              <a:ext uri="{FF2B5EF4-FFF2-40B4-BE49-F238E27FC236}">
                <a16:creationId xmlns:a16="http://schemas.microsoft.com/office/drawing/2014/main" xmlns="" id="{0B375FB1-EF49-4FC8-B70C-5ADFB5777E64}"/>
              </a:ext>
            </a:extLst>
          </p:cNvPr>
          <p:cNvSpPr txBox="1"/>
          <p:nvPr/>
        </p:nvSpPr>
        <p:spPr bwMode="gray">
          <a:xfrm>
            <a:off x="4788304" y="5547719"/>
            <a:ext cx="569387" cy="323165"/>
          </a:xfrm>
          <a:prstGeom prst="rect">
            <a:avLst/>
          </a:prstGeom>
          <a:noFill/>
        </p:spPr>
        <p:txBody>
          <a:bodyPr wrap="none" rtlCol="0">
            <a:spAutoFit/>
          </a:bodyPr>
          <a:lstStyle>
            <a:defPPr>
              <a:defRPr lang="en-US"/>
            </a:defPPr>
            <a:lvl1pPr>
              <a:defRPr sz="1500">
                <a:solidFill>
                  <a:srgbClr val="0070C0"/>
                </a:solidFill>
              </a:defRPr>
            </a:lvl1pPr>
          </a:lstStyle>
          <a:p>
            <a:r>
              <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终端</a:t>
            </a:r>
          </a:p>
        </p:txBody>
      </p:sp>
      <p:sp>
        <p:nvSpPr>
          <p:cNvPr id="36" name="TextBox 18">
            <a:extLst>
              <a:ext uri="{FF2B5EF4-FFF2-40B4-BE49-F238E27FC236}">
                <a16:creationId xmlns:a16="http://schemas.microsoft.com/office/drawing/2014/main" xmlns="" id="{2A978B5B-6BD9-47CC-88A8-FD1810BE613F}"/>
              </a:ext>
            </a:extLst>
          </p:cNvPr>
          <p:cNvSpPr txBox="1"/>
          <p:nvPr/>
        </p:nvSpPr>
        <p:spPr bwMode="gray">
          <a:xfrm>
            <a:off x="4910755" y="4582337"/>
            <a:ext cx="420308" cy="323165"/>
          </a:xfrm>
          <a:prstGeom prst="rect">
            <a:avLst/>
          </a:prstGeom>
          <a:noFill/>
        </p:spPr>
        <p:txBody>
          <a:bodyPr wrap="none" rtlCol="0">
            <a:spAutoFit/>
          </a:bodyPr>
          <a:lstStyle>
            <a:defPPr>
              <a:defRPr lang="en-US"/>
            </a:defPPr>
            <a:lvl1pPr>
              <a:defRPr sz="1500">
                <a:solidFill>
                  <a:srgbClr val="0070C0"/>
                </a:solidFill>
              </a:defRPr>
            </a:lvl1pPr>
          </a:lstStyle>
          <a:p>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36">
            <a:extLst>
              <a:ext uri="{FF2B5EF4-FFF2-40B4-BE49-F238E27FC236}">
                <a16:creationId xmlns:a16="http://schemas.microsoft.com/office/drawing/2014/main" xmlns="" id="{2010B7B2-2BF6-4C0B-9762-DB179FDFEF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720176" y="2355016"/>
            <a:ext cx="951607" cy="540946"/>
          </a:xfrm>
          <a:prstGeom prst="rect">
            <a:avLst/>
          </a:prstGeom>
        </p:spPr>
      </p:pic>
      <p:sp>
        <p:nvSpPr>
          <p:cNvPr id="38" name="文本框 37">
            <a:extLst>
              <a:ext uri="{FF2B5EF4-FFF2-40B4-BE49-F238E27FC236}">
                <a16:creationId xmlns:a16="http://schemas.microsoft.com/office/drawing/2014/main" xmlns="" id="{E2E14CE8-91EA-4B37-A31D-5FDD80064E32}"/>
              </a:ext>
            </a:extLst>
          </p:cNvPr>
          <p:cNvSpPr txBox="1"/>
          <p:nvPr/>
        </p:nvSpPr>
        <p:spPr bwMode="gray">
          <a:xfrm>
            <a:off x="2172239" y="2029168"/>
            <a:ext cx="2050561" cy="323165"/>
          </a:xfrm>
          <a:prstGeom prst="rect">
            <a:avLst/>
          </a:prstGeom>
          <a:noFill/>
        </p:spPr>
        <p:txBody>
          <a:bodyPr wrap="none" rtlCol="0">
            <a:spAutoFit/>
          </a:bodyPr>
          <a:lstStyle/>
          <a:p>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iMaster NCE-Campus</a:t>
            </a:r>
            <a:endParaRPr lang="zh-CN" altLang="en-US" sz="15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9" name="图片 38">
            <a:extLst>
              <a:ext uri="{FF2B5EF4-FFF2-40B4-BE49-F238E27FC236}">
                <a16:creationId xmlns:a16="http://schemas.microsoft.com/office/drawing/2014/main" xmlns="" id="{64FC67C7-ECEC-4DE9-9023-1B45861D3089}"/>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397118" y="4518743"/>
            <a:ext cx="485437" cy="398059"/>
          </a:xfrm>
          <a:prstGeom prst="rect">
            <a:avLst/>
          </a:prstGeom>
        </p:spPr>
      </p:pic>
      <p:pic>
        <p:nvPicPr>
          <p:cNvPr id="40" name="图片 39">
            <a:extLst>
              <a:ext uri="{FF2B5EF4-FFF2-40B4-BE49-F238E27FC236}">
                <a16:creationId xmlns:a16="http://schemas.microsoft.com/office/drawing/2014/main" xmlns="" id="{5545F55B-CE5D-43D3-A45B-45B7C35C7FB1}"/>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657508" y="2438055"/>
            <a:ext cx="540000" cy="442800"/>
          </a:xfrm>
          <a:prstGeom prst="rect">
            <a:avLst/>
          </a:prstGeom>
        </p:spPr>
      </p:pic>
      <p:grpSp>
        <p:nvGrpSpPr>
          <p:cNvPr id="41" name="组合 40">
            <a:extLst>
              <a:ext uri="{FF2B5EF4-FFF2-40B4-BE49-F238E27FC236}">
                <a16:creationId xmlns:a16="http://schemas.microsoft.com/office/drawing/2014/main" xmlns="" id="{00A87FF7-F4AA-4A6A-932D-AA96B12827CB}"/>
              </a:ext>
            </a:extLst>
          </p:cNvPr>
          <p:cNvGrpSpPr/>
          <p:nvPr/>
        </p:nvGrpSpPr>
        <p:grpSpPr bwMode="gray">
          <a:xfrm>
            <a:off x="5346809" y="5409996"/>
            <a:ext cx="882509" cy="439843"/>
            <a:chOff x="2965421" y="3811104"/>
            <a:chExt cx="882509" cy="439843"/>
          </a:xfrm>
        </p:grpSpPr>
        <p:pic>
          <p:nvPicPr>
            <p:cNvPr id="42" name="图片 41" descr="笔记本电脑.png">
              <a:extLst>
                <a:ext uri="{FF2B5EF4-FFF2-40B4-BE49-F238E27FC236}">
                  <a16:creationId xmlns:a16="http://schemas.microsoft.com/office/drawing/2014/main" xmlns="" id="{8A592BB1-AAA6-40A2-8303-498DC6D28C67}"/>
                </a:ext>
              </a:extLst>
            </p:cNvPr>
            <p:cNvPicPr>
              <a:picLocks noChangeAspect="1"/>
            </p:cNvPicPr>
            <p:nvPr/>
          </p:nvPicPr>
          <p:blipFill>
            <a:blip r:embed="rId6" cstate="print"/>
            <a:stretch>
              <a:fillRect/>
            </a:stretch>
          </p:blipFill>
          <p:spPr bwMode="gray">
            <a:xfrm>
              <a:off x="2965421" y="3912547"/>
              <a:ext cx="539779" cy="338400"/>
            </a:xfrm>
            <a:prstGeom prst="rect">
              <a:avLst/>
            </a:prstGeom>
          </p:spPr>
        </p:pic>
        <p:pic>
          <p:nvPicPr>
            <p:cNvPr id="43" name="图片 42" descr="wifi信号蓝.png">
              <a:extLst>
                <a:ext uri="{FF2B5EF4-FFF2-40B4-BE49-F238E27FC236}">
                  <a16:creationId xmlns:a16="http://schemas.microsoft.com/office/drawing/2014/main" xmlns="" id="{F2569A79-12B9-4238-BCC5-7CDDC49ACC95}"/>
                </a:ext>
              </a:extLst>
            </p:cNvPr>
            <p:cNvPicPr>
              <a:picLocks noChangeAspect="1"/>
            </p:cNvPicPr>
            <p:nvPr/>
          </p:nvPicPr>
          <p:blipFill>
            <a:blip r:embed="rId7" cstate="print"/>
            <a:stretch>
              <a:fillRect/>
            </a:stretch>
          </p:blipFill>
          <p:spPr bwMode="gray">
            <a:xfrm>
              <a:off x="3555716" y="3811104"/>
              <a:ext cx="292214" cy="244685"/>
            </a:xfrm>
            <a:prstGeom prst="rect">
              <a:avLst/>
            </a:prstGeom>
          </p:spPr>
        </p:pic>
      </p:grpSp>
      <p:cxnSp>
        <p:nvCxnSpPr>
          <p:cNvPr id="45" name="直接箭头连接符 44">
            <a:extLst>
              <a:ext uri="{FF2B5EF4-FFF2-40B4-BE49-F238E27FC236}">
                <a16:creationId xmlns:a16="http://schemas.microsoft.com/office/drawing/2014/main" xmlns="" id="{95235B17-DFD9-4315-AAD4-F934C823EBDE}"/>
              </a:ext>
            </a:extLst>
          </p:cNvPr>
          <p:cNvCxnSpPr>
            <a:cxnSpLocks/>
          </p:cNvCxnSpPr>
          <p:nvPr/>
        </p:nvCxnSpPr>
        <p:spPr bwMode="gray">
          <a:xfrm>
            <a:off x="3671783" y="3020555"/>
            <a:ext cx="1830617" cy="1408334"/>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xmlns="" id="{AA7E1EAA-F340-4132-9C96-9993F948894E}"/>
              </a:ext>
            </a:extLst>
          </p:cNvPr>
          <p:cNvCxnSpPr>
            <a:cxnSpLocks/>
          </p:cNvCxnSpPr>
          <p:nvPr/>
        </p:nvCxnSpPr>
        <p:spPr bwMode="gray">
          <a:xfrm flipV="1">
            <a:off x="5781800" y="3020555"/>
            <a:ext cx="1875708" cy="1387956"/>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5" name="Oval 4">
            <a:extLst>
              <a:ext uri="{FF2B5EF4-FFF2-40B4-BE49-F238E27FC236}">
                <a16:creationId xmlns:a16="http://schemas.microsoft.com/office/drawing/2014/main" xmlns="" id="{58332323-9B67-4E36-9F72-67C91246F535}"/>
              </a:ext>
            </a:extLst>
          </p:cNvPr>
          <p:cNvSpPr>
            <a:spLocks noChangeAspect="1"/>
          </p:cNvSpPr>
          <p:nvPr/>
        </p:nvSpPr>
        <p:spPr bwMode="gray">
          <a:xfrm>
            <a:off x="2011759" y="3683376"/>
            <a:ext cx="252000" cy="252000"/>
          </a:xfrm>
          <a:prstGeom prst="ellipse">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a:extLst>
              <a:ext uri="{FF2B5EF4-FFF2-40B4-BE49-F238E27FC236}">
                <a16:creationId xmlns:a16="http://schemas.microsoft.com/office/drawing/2014/main" xmlns="" id="{6F1C0558-2900-4485-AF26-901783A3FAC6}"/>
              </a:ext>
            </a:extLst>
          </p:cNvPr>
          <p:cNvSpPr txBox="1"/>
          <p:nvPr/>
        </p:nvSpPr>
        <p:spPr bwMode="gray">
          <a:xfrm>
            <a:off x="2380722" y="3523417"/>
            <a:ext cx="1933760" cy="523220"/>
          </a:xfrm>
          <a:prstGeom prst="rect">
            <a:avLst/>
          </a:prstGeom>
          <a:noFill/>
        </p:spPr>
        <p:txBody>
          <a:bodyPr wrap="squar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控制器向</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设备下发上报定位报文的配置</a:t>
            </a:r>
          </a:p>
        </p:txBody>
      </p:sp>
      <p:sp>
        <p:nvSpPr>
          <p:cNvPr id="57" name="Oval 4">
            <a:extLst>
              <a:ext uri="{FF2B5EF4-FFF2-40B4-BE49-F238E27FC236}">
                <a16:creationId xmlns:a16="http://schemas.microsoft.com/office/drawing/2014/main" xmlns="" id="{F994CC04-9D9D-449A-9053-895895BFCC7D}"/>
              </a:ext>
            </a:extLst>
          </p:cNvPr>
          <p:cNvSpPr>
            <a:spLocks noChangeAspect="1"/>
          </p:cNvSpPr>
          <p:nvPr/>
        </p:nvSpPr>
        <p:spPr bwMode="gray">
          <a:xfrm>
            <a:off x="7288545" y="3683376"/>
            <a:ext cx="252000" cy="252000"/>
          </a:xfrm>
          <a:prstGeom prst="ellipse">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a:extLst>
              <a:ext uri="{FF2B5EF4-FFF2-40B4-BE49-F238E27FC236}">
                <a16:creationId xmlns:a16="http://schemas.microsoft.com/office/drawing/2014/main" xmlns="" id="{E74D2C04-6E23-4AB1-AA36-43FD60EE024D}"/>
              </a:ext>
            </a:extLst>
          </p:cNvPr>
          <p:cNvSpPr txBox="1"/>
          <p:nvPr/>
        </p:nvSpPr>
        <p:spPr bwMode="gray">
          <a:xfrm>
            <a:off x="7657508" y="3523417"/>
            <a:ext cx="2239092" cy="523220"/>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直接向第三方位置服务应用定期的发送定位报文</a:t>
            </a:r>
          </a:p>
        </p:txBody>
      </p:sp>
    </p:spTree>
    <p:extLst>
      <p:ext uri="{BB962C8B-B14F-4D97-AF65-F5344CB8AC3E}">
        <p14:creationId xmlns:p14="http://schemas.microsoft.com/office/powerpoint/2010/main" val="24367890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a:extLst>
              <a:ext uri="{FF2B5EF4-FFF2-40B4-BE49-F238E27FC236}">
                <a16:creationId xmlns:a16="http://schemas.microsoft.com/office/drawing/2014/main" xmlns="" id="{5FB7775F-0143-4EDC-9EDB-85F3C7D91F8A}"/>
              </a:ext>
            </a:extLst>
          </p:cNvPr>
          <p:cNvSpPr txBox="1">
            <a:spLocks/>
          </p:cNvSpPr>
          <p:nvPr/>
        </p:nvSpPr>
        <p:spPr bwMode="gray">
          <a:xfrm>
            <a:off x="3880014" y="159448"/>
            <a:ext cx="6235324" cy="640800"/>
          </a:xfrm>
          <a:prstGeom prst="rect">
            <a:avLst/>
          </a:prstGeom>
        </p:spPr>
        <p:txBody>
          <a:bodyPr/>
          <a:lstStyle>
            <a:lvl1pPr algn="l" defTabSz="914034" rtl="0" eaLnBrk="1" latinLnBrk="0" hangingPunct="1">
              <a:lnSpc>
                <a:spcPct val="90000"/>
              </a:lnSpc>
              <a:spcBef>
                <a:spcPct val="0"/>
              </a:spcBef>
              <a:buNone/>
              <a:defRPr sz="3499" kern="1200">
                <a:solidFill>
                  <a:schemeClr val="tx1"/>
                </a:solidFill>
                <a:latin typeface="+mj-lt"/>
                <a:ea typeface="+mj-ea"/>
                <a:cs typeface="+mj-cs"/>
              </a:defRPr>
            </a:lvl1p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蓝牙</a:t>
            </a:r>
            <a:r>
              <a:rPr lang="en-US" altLang="zh-CN" smtClean="0">
                <a:sym typeface="Huawei Sans" panose="020C0503030203020204" pitchFamily="34" charset="0"/>
              </a:rPr>
              <a:t>API</a:t>
            </a:r>
            <a:r>
              <a:rPr lang="zh-CN" altLang="en-US" smtClean="0">
                <a:sym typeface="Huawei Sans" panose="020C0503030203020204" pitchFamily="34" charset="0"/>
              </a:rPr>
              <a:t>数据上报流程</a:t>
            </a:r>
            <a:endParaRPr lang="zh-CN" altLang="en-US" dirty="0">
              <a:sym typeface="Huawei Sans" panose="020C0503030203020204" pitchFamily="34" charset="0"/>
            </a:endParaRPr>
          </a:p>
        </p:txBody>
      </p:sp>
      <p:sp>
        <p:nvSpPr>
          <p:cNvPr id="7" name="文本占位符 31">
            <a:extLst>
              <a:ext uri="{FF2B5EF4-FFF2-40B4-BE49-F238E27FC236}">
                <a16:creationId xmlns:a16="http://schemas.microsoft.com/office/drawing/2014/main" xmlns="" id="{1CD3EA07-EBEA-4DF7-BB46-9AB841353C9F}"/>
              </a:ext>
            </a:extLst>
          </p:cNvPr>
          <p:cNvSpPr>
            <a:spLocks noGrp="1"/>
          </p:cNvSpPr>
          <p:nvPr>
            <p:ph type="body" sz="quarter" idx="10"/>
          </p:nvPr>
        </p:nvSpPr>
        <p:spPr bwMode="gray"/>
        <p:txBody>
          <a:bodyPr/>
          <a:lstStyle/>
          <a:p>
            <a:r>
              <a:rPr lang="en-US" altLang="zh-CN" sz="1600" dirty="0" err="1" smtClean="0">
                <a:sym typeface="Huawei Sans" panose="020C0503030203020204" pitchFamily="34" charset="0"/>
              </a:rPr>
              <a:t>iMaster</a:t>
            </a:r>
            <a:r>
              <a:rPr lang="en-US" altLang="zh-CN" sz="1600" dirty="0" smtClean="0">
                <a:sym typeface="Huawei Sans" panose="020C0503030203020204" pitchFamily="34" charset="0"/>
              </a:rPr>
              <a:t> NCE-Campus</a:t>
            </a:r>
            <a:r>
              <a:rPr lang="zh-CN" altLang="en-US" sz="1600" dirty="0" smtClean="0">
                <a:sym typeface="Huawei Sans" panose="020C0503030203020204" pitchFamily="34" charset="0"/>
              </a:rPr>
              <a:t>支持</a:t>
            </a:r>
            <a:r>
              <a:rPr lang="en-US" altLang="zh-CN" sz="1600" dirty="0" smtClean="0">
                <a:sym typeface="Huawei Sans" panose="020C0503030203020204" pitchFamily="34" charset="0"/>
              </a:rPr>
              <a:t>WLAN AP</a:t>
            </a:r>
            <a:r>
              <a:rPr lang="zh-CN" altLang="en-US" sz="1600" dirty="0" smtClean="0">
                <a:sym typeface="Huawei Sans" panose="020C0503030203020204" pitchFamily="34" charset="0"/>
              </a:rPr>
              <a:t>通过蓝牙</a:t>
            </a:r>
            <a:r>
              <a:rPr lang="en-US" altLang="zh-CN" sz="1600" dirty="0" smtClean="0">
                <a:sym typeface="Huawei Sans" panose="020C0503030203020204" pitchFamily="34" charset="0"/>
              </a:rPr>
              <a:t>Beacon</a:t>
            </a:r>
            <a:r>
              <a:rPr lang="zh-CN" altLang="en-US" sz="1600" dirty="0" smtClean="0">
                <a:sym typeface="Huawei Sans" panose="020C0503030203020204" pitchFamily="34" charset="0"/>
              </a:rPr>
              <a:t>报文上报终端位置数据。控制器向</a:t>
            </a:r>
            <a:r>
              <a:rPr lang="en-US" altLang="zh-CN" sz="1600" dirty="0" smtClean="0">
                <a:sym typeface="Huawei Sans" panose="020C0503030203020204" pitchFamily="34" charset="0"/>
              </a:rPr>
              <a:t>AP</a:t>
            </a:r>
            <a:r>
              <a:rPr lang="zh-CN" altLang="en-US" sz="1600" dirty="0" smtClean="0">
                <a:sym typeface="Huawei Sans" panose="020C0503030203020204" pitchFamily="34" charset="0"/>
              </a:rPr>
              <a:t>设备下发上报蓝牙位置报文的配置，然后</a:t>
            </a:r>
            <a:r>
              <a:rPr lang="en-US" altLang="zh-CN" sz="1600" dirty="0" smtClean="0">
                <a:sym typeface="Huawei Sans" panose="020C0503030203020204" pitchFamily="34" charset="0"/>
              </a:rPr>
              <a:t>AP</a:t>
            </a:r>
            <a:r>
              <a:rPr lang="zh-CN" altLang="en-US" sz="1600" dirty="0" smtClean="0">
                <a:sym typeface="Huawei Sans" panose="020C0503030203020204" pitchFamily="34" charset="0"/>
              </a:rPr>
              <a:t>广播蓝牙</a:t>
            </a:r>
            <a:r>
              <a:rPr lang="en-US" altLang="zh-CN" sz="1600" dirty="0" smtClean="0">
                <a:sym typeface="Huawei Sans" panose="020C0503030203020204" pitchFamily="34" charset="0"/>
              </a:rPr>
              <a:t>Beacon</a:t>
            </a:r>
            <a:r>
              <a:rPr lang="zh-CN" altLang="en-US" sz="1600" dirty="0" smtClean="0">
                <a:sym typeface="Huawei Sans" panose="020C0503030203020204" pitchFamily="34" charset="0"/>
              </a:rPr>
              <a:t>报文，最后终端收到广播报文完成定位和位置上报。</a:t>
            </a:r>
            <a:endParaRPr lang="zh-CN" altLang="en-US" sz="1600" dirty="0">
              <a:sym typeface="Huawei Sans" panose="020C0503030203020204" pitchFamily="34" charset="0"/>
            </a:endParaRPr>
          </a:p>
        </p:txBody>
      </p:sp>
      <p:sp>
        <p:nvSpPr>
          <p:cNvPr id="10" name="TextBox 10">
            <a:extLst>
              <a:ext uri="{FF2B5EF4-FFF2-40B4-BE49-F238E27FC236}">
                <a16:creationId xmlns:a16="http://schemas.microsoft.com/office/drawing/2014/main" xmlns="" id="{0246DDEB-7D87-4264-BEA7-391C3A009512}"/>
              </a:ext>
            </a:extLst>
          </p:cNvPr>
          <p:cNvSpPr txBox="1"/>
          <p:nvPr/>
        </p:nvSpPr>
        <p:spPr bwMode="gray">
          <a:xfrm>
            <a:off x="7387508" y="2057133"/>
            <a:ext cx="1915909" cy="323165"/>
          </a:xfrm>
          <a:prstGeom prst="rect">
            <a:avLst/>
          </a:prstGeom>
          <a:noFill/>
        </p:spPr>
        <p:txBody>
          <a:bodyPr wrap="none" rtlCol="0">
            <a:spAutoFit/>
          </a:bodyPr>
          <a:lstStyle>
            <a:defPPr>
              <a:defRPr lang="en-US"/>
            </a:defPPr>
            <a:lvl1pPr>
              <a:defRPr sz="1500">
                <a:solidFill>
                  <a:srgbClr val="0070C0"/>
                </a:solidFill>
              </a:defRPr>
            </a:lvl1pPr>
          </a:lstStyle>
          <a:p>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第三方位置服务应用</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7">
            <a:extLst>
              <a:ext uri="{FF2B5EF4-FFF2-40B4-BE49-F238E27FC236}">
                <a16:creationId xmlns:a16="http://schemas.microsoft.com/office/drawing/2014/main" xmlns="" id="{13F9C44D-6E77-4C43-A56C-15F8FDC5B2D5}"/>
              </a:ext>
            </a:extLst>
          </p:cNvPr>
          <p:cNvSpPr txBox="1"/>
          <p:nvPr/>
        </p:nvSpPr>
        <p:spPr bwMode="gray">
          <a:xfrm>
            <a:off x="4509873" y="5599982"/>
            <a:ext cx="569387" cy="323165"/>
          </a:xfrm>
          <a:prstGeom prst="rect">
            <a:avLst/>
          </a:prstGeom>
          <a:noFill/>
        </p:spPr>
        <p:txBody>
          <a:bodyPr wrap="none" rtlCol="0">
            <a:spAutoFit/>
          </a:bodyPr>
          <a:lstStyle>
            <a:defPPr>
              <a:defRPr lang="en-US"/>
            </a:defPPr>
            <a:lvl1pPr>
              <a:defRPr sz="1500">
                <a:solidFill>
                  <a:srgbClr val="0070C0"/>
                </a:solidFill>
              </a:defRPr>
            </a:lvl1pPr>
          </a:lstStyle>
          <a:p>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终端</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18">
            <a:extLst>
              <a:ext uri="{FF2B5EF4-FFF2-40B4-BE49-F238E27FC236}">
                <a16:creationId xmlns:a16="http://schemas.microsoft.com/office/drawing/2014/main" xmlns="" id="{859E779D-FB7A-489D-A145-93EC2D55C381}"/>
              </a:ext>
            </a:extLst>
          </p:cNvPr>
          <p:cNvSpPr txBox="1"/>
          <p:nvPr/>
        </p:nvSpPr>
        <p:spPr bwMode="gray">
          <a:xfrm>
            <a:off x="3943950" y="4612066"/>
            <a:ext cx="420308" cy="323165"/>
          </a:xfrm>
          <a:prstGeom prst="rect">
            <a:avLst/>
          </a:prstGeom>
          <a:noFill/>
        </p:spPr>
        <p:txBody>
          <a:bodyPr wrap="none" rtlCol="0">
            <a:spAutoFit/>
          </a:bodyPr>
          <a:lstStyle>
            <a:defPPr>
              <a:defRPr lang="en-US"/>
            </a:defPPr>
            <a:lvl1pPr>
              <a:defRPr sz="1500">
                <a:solidFill>
                  <a:srgbClr val="0070C0"/>
                </a:solidFill>
              </a:defRPr>
            </a:lvl1pPr>
          </a:lstStyle>
          <a:p>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12">
            <a:extLst>
              <a:ext uri="{FF2B5EF4-FFF2-40B4-BE49-F238E27FC236}">
                <a16:creationId xmlns:a16="http://schemas.microsoft.com/office/drawing/2014/main" xmlns="" id="{A393F8C6-B304-4066-850C-3C06096FE2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091038" y="2413600"/>
            <a:ext cx="951607" cy="540946"/>
          </a:xfrm>
          <a:prstGeom prst="rect">
            <a:avLst/>
          </a:prstGeom>
        </p:spPr>
      </p:pic>
      <p:sp>
        <p:nvSpPr>
          <p:cNvPr id="15" name="文本框 14">
            <a:extLst>
              <a:ext uri="{FF2B5EF4-FFF2-40B4-BE49-F238E27FC236}">
                <a16:creationId xmlns:a16="http://schemas.microsoft.com/office/drawing/2014/main" xmlns="" id="{90F0161A-D663-4A85-9C45-EDA6CD46621F}"/>
              </a:ext>
            </a:extLst>
          </p:cNvPr>
          <p:cNvSpPr txBox="1"/>
          <p:nvPr/>
        </p:nvSpPr>
        <p:spPr bwMode="gray">
          <a:xfrm>
            <a:off x="2543101" y="2036952"/>
            <a:ext cx="2050561" cy="323165"/>
          </a:xfrm>
          <a:prstGeom prst="rect">
            <a:avLst/>
          </a:prstGeom>
          <a:noFill/>
        </p:spPr>
        <p:txBody>
          <a:bodyPr wrap="none" rtlCol="0">
            <a:spAutoFit/>
          </a:bodyPr>
          <a:lstStyle/>
          <a:p>
            <a:r>
              <a:rPr lang="en-US" altLang="zh-CN" sz="15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500" dirty="0">
                <a:latin typeface="Huawei Sans" panose="020C0503030203020204" pitchFamily="34" charset="0"/>
                <a:ea typeface="方正兰亭黑简体" panose="02000000000000000000" pitchFamily="2" charset="-122"/>
                <a:sym typeface="Huawei Sans" panose="020C0503030203020204" pitchFamily="34" charset="0"/>
              </a:rPr>
              <a:t> NCE-Campus</a:t>
            </a:r>
            <a:endParaRPr lang="zh-CN" altLang="en-US"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a:extLst>
              <a:ext uri="{FF2B5EF4-FFF2-40B4-BE49-F238E27FC236}">
                <a16:creationId xmlns:a16="http://schemas.microsoft.com/office/drawing/2014/main" xmlns="" id="{653B12CA-5194-4FAA-973A-1826EC10088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878821" y="4214007"/>
            <a:ext cx="485437" cy="398059"/>
          </a:xfrm>
          <a:prstGeom prst="rect">
            <a:avLst/>
          </a:prstGeom>
        </p:spPr>
      </p:pic>
      <p:pic>
        <p:nvPicPr>
          <p:cNvPr id="17" name="图片 16">
            <a:extLst>
              <a:ext uri="{FF2B5EF4-FFF2-40B4-BE49-F238E27FC236}">
                <a16:creationId xmlns:a16="http://schemas.microsoft.com/office/drawing/2014/main" xmlns="" id="{5FEFCA29-DB18-4537-BD1E-C8C287E135CC}"/>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028370" y="2496639"/>
            <a:ext cx="540000" cy="442800"/>
          </a:xfrm>
          <a:prstGeom prst="rect">
            <a:avLst/>
          </a:prstGeom>
        </p:spPr>
      </p:pic>
      <p:pic>
        <p:nvPicPr>
          <p:cNvPr id="19" name="图片 18" descr="笔记本电脑.png">
            <a:extLst>
              <a:ext uri="{FF2B5EF4-FFF2-40B4-BE49-F238E27FC236}">
                <a16:creationId xmlns:a16="http://schemas.microsoft.com/office/drawing/2014/main" xmlns="" id="{669CE8E4-795C-444F-83B8-812C1FC7287D}"/>
              </a:ext>
            </a:extLst>
          </p:cNvPr>
          <p:cNvPicPr>
            <a:picLocks noChangeAspect="1"/>
          </p:cNvPicPr>
          <p:nvPr/>
        </p:nvPicPr>
        <p:blipFill>
          <a:blip r:embed="rId6" cstate="print"/>
          <a:stretch>
            <a:fillRect/>
          </a:stretch>
        </p:blipFill>
        <p:spPr bwMode="gray">
          <a:xfrm>
            <a:off x="5120771" y="5582723"/>
            <a:ext cx="539779" cy="338400"/>
          </a:xfrm>
          <a:prstGeom prst="rect">
            <a:avLst/>
          </a:prstGeom>
        </p:spPr>
      </p:pic>
      <p:pic>
        <p:nvPicPr>
          <p:cNvPr id="20" name="图片 19" descr="wifi信号蓝.png">
            <a:extLst>
              <a:ext uri="{FF2B5EF4-FFF2-40B4-BE49-F238E27FC236}">
                <a16:creationId xmlns:a16="http://schemas.microsoft.com/office/drawing/2014/main" xmlns="" id="{6BF617A0-0714-473C-86D4-A074267C6ACA}"/>
              </a:ext>
            </a:extLst>
          </p:cNvPr>
          <p:cNvPicPr>
            <a:picLocks noChangeAspect="1"/>
          </p:cNvPicPr>
          <p:nvPr/>
        </p:nvPicPr>
        <p:blipFill>
          <a:blip r:embed="rId7" cstate="print"/>
          <a:stretch>
            <a:fillRect/>
          </a:stretch>
        </p:blipFill>
        <p:spPr bwMode="gray">
          <a:xfrm rot="10800000">
            <a:off x="4363767" y="4827719"/>
            <a:ext cx="292214" cy="244685"/>
          </a:xfrm>
          <a:prstGeom prst="rect">
            <a:avLst/>
          </a:prstGeom>
        </p:spPr>
      </p:pic>
      <p:cxnSp>
        <p:nvCxnSpPr>
          <p:cNvPr id="21" name="直接箭头连接符 20">
            <a:extLst>
              <a:ext uri="{FF2B5EF4-FFF2-40B4-BE49-F238E27FC236}">
                <a16:creationId xmlns:a16="http://schemas.microsoft.com/office/drawing/2014/main" xmlns="" id="{E21EE615-ACF3-498C-8A93-137BFB66C23F}"/>
              </a:ext>
            </a:extLst>
          </p:cNvPr>
          <p:cNvCxnSpPr>
            <a:cxnSpLocks/>
          </p:cNvCxnSpPr>
          <p:nvPr/>
        </p:nvCxnSpPr>
        <p:spPr bwMode="gray">
          <a:xfrm>
            <a:off x="3638939" y="3079139"/>
            <a:ext cx="403706" cy="919215"/>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xmlns="" id="{8C6006F3-07B0-4F46-AB98-AB72B1A3F925}"/>
              </a:ext>
            </a:extLst>
          </p:cNvPr>
          <p:cNvCxnSpPr>
            <a:cxnSpLocks/>
          </p:cNvCxnSpPr>
          <p:nvPr/>
        </p:nvCxnSpPr>
        <p:spPr bwMode="gray">
          <a:xfrm flipV="1">
            <a:off x="5949950" y="3079139"/>
            <a:ext cx="2078420" cy="2503584"/>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xmlns="" id="{ED511E1B-B3DF-4ED3-8AC1-A1E240A20F22}"/>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156948" y="4214007"/>
            <a:ext cx="485437" cy="398059"/>
          </a:xfrm>
          <a:prstGeom prst="rect">
            <a:avLst/>
          </a:prstGeom>
        </p:spPr>
      </p:pic>
      <p:pic>
        <p:nvPicPr>
          <p:cNvPr id="24" name="图片 23" descr="wifi信号蓝.png">
            <a:extLst>
              <a:ext uri="{FF2B5EF4-FFF2-40B4-BE49-F238E27FC236}">
                <a16:creationId xmlns:a16="http://schemas.microsoft.com/office/drawing/2014/main" xmlns="" id="{564F38D0-C89C-4D5A-AB4B-97D43274A242}"/>
              </a:ext>
            </a:extLst>
          </p:cNvPr>
          <p:cNvPicPr>
            <a:picLocks noChangeAspect="1"/>
          </p:cNvPicPr>
          <p:nvPr/>
        </p:nvPicPr>
        <p:blipFill>
          <a:blip r:embed="rId7" cstate="print"/>
          <a:stretch>
            <a:fillRect/>
          </a:stretch>
        </p:blipFill>
        <p:spPr bwMode="gray">
          <a:xfrm rot="10800000">
            <a:off x="4942351" y="4827719"/>
            <a:ext cx="292214" cy="244685"/>
          </a:xfrm>
          <a:prstGeom prst="rect">
            <a:avLst/>
          </a:prstGeom>
        </p:spPr>
      </p:pic>
      <p:sp>
        <p:nvSpPr>
          <p:cNvPr id="29" name="Oval 4">
            <a:extLst>
              <a:ext uri="{FF2B5EF4-FFF2-40B4-BE49-F238E27FC236}">
                <a16:creationId xmlns:a16="http://schemas.microsoft.com/office/drawing/2014/main" xmlns="" id="{E2B0C1F8-1963-457C-B5DB-998842890A96}"/>
              </a:ext>
            </a:extLst>
          </p:cNvPr>
          <p:cNvSpPr>
            <a:spLocks noChangeAspect="1"/>
          </p:cNvSpPr>
          <p:nvPr/>
        </p:nvSpPr>
        <p:spPr bwMode="gray">
          <a:xfrm>
            <a:off x="2241634" y="3447846"/>
            <a:ext cx="252000" cy="252000"/>
          </a:xfrm>
          <a:prstGeom prst="ellipse">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a:extLst>
              <a:ext uri="{FF2B5EF4-FFF2-40B4-BE49-F238E27FC236}">
                <a16:creationId xmlns:a16="http://schemas.microsoft.com/office/drawing/2014/main" xmlns="" id="{055CF942-1D5F-4A30-974F-EA349CF72F06}"/>
              </a:ext>
            </a:extLst>
          </p:cNvPr>
          <p:cNvSpPr txBox="1"/>
          <p:nvPr/>
        </p:nvSpPr>
        <p:spPr bwMode="gray">
          <a:xfrm>
            <a:off x="2536322" y="3322533"/>
            <a:ext cx="1240516" cy="523220"/>
          </a:xfrm>
          <a:prstGeom prst="rect">
            <a:avLst/>
          </a:prstGeom>
          <a:noFill/>
        </p:spPr>
        <p:txBody>
          <a:bodyPr wrap="squar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下发上报蓝牙定位配置</a:t>
            </a:r>
          </a:p>
        </p:txBody>
      </p:sp>
      <p:sp>
        <p:nvSpPr>
          <p:cNvPr id="31" name="Oval 4">
            <a:extLst>
              <a:ext uri="{FF2B5EF4-FFF2-40B4-BE49-F238E27FC236}">
                <a16:creationId xmlns:a16="http://schemas.microsoft.com/office/drawing/2014/main" xmlns="" id="{87484945-8135-4090-A53B-5695C3646AAF}"/>
              </a:ext>
            </a:extLst>
          </p:cNvPr>
          <p:cNvSpPr>
            <a:spLocks noChangeAspect="1"/>
          </p:cNvSpPr>
          <p:nvPr/>
        </p:nvSpPr>
        <p:spPr bwMode="gray">
          <a:xfrm>
            <a:off x="2241634" y="4964173"/>
            <a:ext cx="252000" cy="252000"/>
          </a:xfrm>
          <a:prstGeom prst="ellipse">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4A2FB549-48F7-446C-9F54-07D19327BAB1}"/>
              </a:ext>
            </a:extLst>
          </p:cNvPr>
          <p:cNvSpPr txBox="1"/>
          <p:nvPr/>
        </p:nvSpPr>
        <p:spPr bwMode="gray">
          <a:xfrm>
            <a:off x="2536321" y="4838860"/>
            <a:ext cx="1690643" cy="523220"/>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根据下发配置广播蓝牙</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Beacon</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报文</a:t>
            </a:r>
          </a:p>
        </p:txBody>
      </p:sp>
      <p:sp>
        <p:nvSpPr>
          <p:cNvPr id="33" name="Oval 4">
            <a:extLst>
              <a:ext uri="{FF2B5EF4-FFF2-40B4-BE49-F238E27FC236}">
                <a16:creationId xmlns:a16="http://schemas.microsoft.com/office/drawing/2014/main" xmlns="" id="{A53CF5C3-905C-4010-A511-1FFA9EC1EF0C}"/>
              </a:ext>
            </a:extLst>
          </p:cNvPr>
          <p:cNvSpPr>
            <a:spLocks noChangeAspect="1"/>
          </p:cNvSpPr>
          <p:nvPr/>
        </p:nvSpPr>
        <p:spPr bwMode="gray">
          <a:xfrm>
            <a:off x="7517261" y="4179962"/>
            <a:ext cx="252000" cy="252000"/>
          </a:xfrm>
          <a:prstGeom prst="ellipse">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a:extLst>
              <a:ext uri="{FF2B5EF4-FFF2-40B4-BE49-F238E27FC236}">
                <a16:creationId xmlns:a16="http://schemas.microsoft.com/office/drawing/2014/main" xmlns="" id="{358A6AD6-04CE-4FB4-A67B-04CCB213B708}"/>
              </a:ext>
            </a:extLst>
          </p:cNvPr>
          <p:cNvSpPr txBox="1"/>
          <p:nvPr/>
        </p:nvSpPr>
        <p:spPr bwMode="gray">
          <a:xfrm>
            <a:off x="7811948" y="4054649"/>
            <a:ext cx="2862814" cy="523220"/>
          </a:xfrm>
          <a:prstGeom prst="rect">
            <a:avLst/>
          </a:prstGeom>
          <a:noFill/>
        </p:spPr>
        <p:txBody>
          <a:bodyPr wrap="squar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终端收到</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广播报文进行定位，并上报位置信息到位置服务应用</a:t>
            </a:r>
          </a:p>
        </p:txBody>
      </p:sp>
      <p:sp>
        <p:nvSpPr>
          <p:cNvPr id="25" name="TextBox 18">
            <a:extLst>
              <a:ext uri="{FF2B5EF4-FFF2-40B4-BE49-F238E27FC236}">
                <a16:creationId xmlns:a16="http://schemas.microsoft.com/office/drawing/2014/main" xmlns="" id="{859E779D-FB7A-489D-A145-93EC2D55C381}"/>
              </a:ext>
            </a:extLst>
          </p:cNvPr>
          <p:cNvSpPr txBox="1"/>
          <p:nvPr/>
        </p:nvSpPr>
        <p:spPr bwMode="gray">
          <a:xfrm>
            <a:off x="5234565" y="4641008"/>
            <a:ext cx="420308" cy="323165"/>
          </a:xfrm>
          <a:prstGeom prst="rect">
            <a:avLst/>
          </a:prstGeom>
          <a:noFill/>
        </p:spPr>
        <p:txBody>
          <a:bodyPr wrap="none" rtlCol="0">
            <a:spAutoFit/>
          </a:bodyPr>
          <a:lstStyle>
            <a:defPPr>
              <a:defRPr lang="en-US"/>
            </a:defPPr>
            <a:lvl1pPr>
              <a:defRPr sz="1500">
                <a:solidFill>
                  <a:srgbClr val="0070C0"/>
                </a:solidFill>
              </a:defRPr>
            </a:lvl1pPr>
          </a:lstStyle>
          <a:p>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1532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解决方案概述</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典型场景及开放能力介绍</a:t>
            </a:r>
            <a:endParaRPr lang="en-US" altLang="zh-CN" b="1"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认证授权</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位置服务</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smtClean="0">
                <a:sym typeface="Huawei Sans" panose="020C0503030203020204" pitchFamily="34" charset="0"/>
              </a:rPr>
              <a:t>人群画像</a:t>
            </a:r>
            <a:endParaRPr lang="en-US" altLang="zh-CN"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网络运维</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智慧物联</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开放合作案例</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25323164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BAA9ED1-A19F-45B4-887B-6D8CFFD1FC1C}"/>
              </a:ext>
            </a:extLst>
          </p:cNvPr>
          <p:cNvSpPr>
            <a:spLocks noGrp="1"/>
          </p:cNvSpPr>
          <p:nvPr>
            <p:ph type="title"/>
          </p:nvPr>
        </p:nvSpPr>
        <p:spPr bwMode="gray"/>
        <p:txBody>
          <a:bodyPr/>
          <a:lstStyle/>
          <a:p>
            <a:r>
              <a:rPr lang="zh-CN" altLang="en-US" smtClean="0">
                <a:sym typeface="Huawei Sans" panose="020C0503030203020204" pitchFamily="34" charset="0"/>
              </a:rPr>
              <a:t>人群画像场景介绍</a:t>
            </a:r>
            <a:endParaRPr lang="zh-CN" altLang="en-US">
              <a:sym typeface="Huawei Sans" panose="020C0503030203020204" pitchFamily="34" charset="0"/>
            </a:endParaRPr>
          </a:p>
        </p:txBody>
      </p:sp>
      <p:sp>
        <p:nvSpPr>
          <p:cNvPr id="19" name="文本占位符 18"/>
          <p:cNvSpPr>
            <a:spLocks noGrp="1"/>
          </p:cNvSpPr>
          <p:nvPr>
            <p:ph type="body" sz="quarter" idx="10"/>
          </p:nvPr>
        </p:nvSpPr>
        <p:spPr bwMode="gray"/>
        <p:txBody>
          <a:bodyPr/>
          <a:lstStyle/>
          <a:p>
            <a:r>
              <a:rPr lang="zh-CN" altLang="en-US" sz="1600" dirty="0">
                <a:sym typeface="Huawei Sans" panose="020C0503030203020204" pitchFamily="34" charset="0"/>
              </a:rPr>
              <a:t>人群画像，即第三方大数据分析平台，对华为智简园区网络探测和管理的终端设备的位置和终端状态信息进行分析，获取某个区域内人群画像特征，使网络建设者可以做精准的信息推送。</a:t>
            </a:r>
          </a:p>
          <a:p>
            <a:endParaRPr lang="zh-CN" altLang="en-US" sz="1600" dirty="0">
              <a:sym typeface="Huawei Sans" panose="020C0503030203020204" pitchFamily="34" charset="0"/>
            </a:endParaRPr>
          </a:p>
        </p:txBody>
      </p:sp>
      <p:sp>
        <p:nvSpPr>
          <p:cNvPr id="5" name="文本框 4">
            <a:extLst>
              <a:ext uri="{FF2B5EF4-FFF2-40B4-BE49-F238E27FC236}">
                <a16:creationId xmlns:a16="http://schemas.microsoft.com/office/drawing/2014/main" xmlns="" id="{A6421C83-7048-46D6-984D-9B182FE2CEF4}"/>
              </a:ext>
            </a:extLst>
          </p:cNvPr>
          <p:cNvSpPr txBox="1"/>
          <p:nvPr/>
        </p:nvSpPr>
        <p:spPr bwMode="gray">
          <a:xfrm>
            <a:off x="6703080" y="1829811"/>
            <a:ext cx="5002175" cy="2246769"/>
          </a:xfrm>
          <a:prstGeom prst="rect">
            <a:avLst/>
          </a:prstGeom>
          <a:noFill/>
          <a:ln>
            <a:solidFill>
              <a:srgbClr val="56C4D2"/>
            </a:solidFill>
          </a:ln>
        </p:spPr>
        <p:txBody>
          <a:bodyPr wrap="square" rtlCol="0">
            <a:spAutoFit/>
          </a:bodyPr>
          <a:lstStyle/>
          <a:p>
            <a:pPr>
              <a:lnSpc>
                <a:spcPts val="24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应用场景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商业行业具有精准营销的诉求，精准营销可以通过获取人群画像，给特定人群打上标签，根据这些标签进行个性化服务，信息推送的方式达成。人群画像来自两部分数据，一部分是人群在线上留下的数据，另一部分是人群在实体店留下的数据：这部分数据与网络相关，包括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探针探测的数据，以及人群使用网络的数据。</a:t>
            </a:r>
          </a:p>
        </p:txBody>
      </p:sp>
      <p:graphicFrame>
        <p:nvGraphicFramePr>
          <p:cNvPr id="9" name="表格 8"/>
          <p:cNvGraphicFramePr>
            <a:graphicFrameLocks noGrp="1"/>
          </p:cNvGraphicFramePr>
          <p:nvPr>
            <p:extLst>
              <p:ext uri="{D42A27DB-BD31-4B8C-83A1-F6EECF244321}">
                <p14:modId xmlns:p14="http://schemas.microsoft.com/office/powerpoint/2010/main" val="4268260140"/>
              </p:ext>
            </p:extLst>
          </p:nvPr>
        </p:nvGraphicFramePr>
        <p:xfrm>
          <a:off x="5733816" y="4603223"/>
          <a:ext cx="5799423" cy="1229381"/>
        </p:xfrm>
        <a:graphic>
          <a:graphicData uri="http://schemas.openxmlformats.org/drawingml/2006/table">
            <a:tbl>
              <a:tblPr/>
              <a:tblGrid>
                <a:gridCol w="1799186">
                  <a:extLst>
                    <a:ext uri="{9D8B030D-6E8A-4147-A177-3AD203B41FA5}">
                      <a16:colId xmlns:a16="http://schemas.microsoft.com/office/drawing/2014/main" xmlns="" val="20000"/>
                    </a:ext>
                  </a:extLst>
                </a:gridCol>
                <a:gridCol w="4000237">
                  <a:extLst>
                    <a:ext uri="{9D8B030D-6E8A-4147-A177-3AD203B41FA5}">
                      <a16:colId xmlns:a16="http://schemas.microsoft.com/office/drawing/2014/main" xmlns="" val="20001"/>
                    </a:ext>
                  </a:extLst>
                </a:gridCol>
              </a:tblGrid>
              <a:tr h="342852">
                <a:tc>
                  <a:txBody>
                    <a:bodyPr/>
                    <a:lstStyle/>
                    <a:p>
                      <a:pPr algn="ctr">
                        <a:lnSpc>
                          <a:spcPct val="100000"/>
                        </a:lnSpc>
                      </a:pPr>
                      <a:r>
                        <a:rPr lang="zh-CN" altLang="en-US" sz="14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集成方案</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4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场景建议</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0"/>
                  </a:ext>
                </a:extLst>
              </a:tr>
              <a:tr h="402673">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位置服务</a:t>
                      </a: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API</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提供终端位置信息</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83856">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增值业务</a:t>
                      </a: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API</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提供终端上下线信息，网络应用信息，网络流量</a:t>
                      </a:r>
                      <a:r>
                        <a:rPr lang="zh-CN" altLang="en-US" sz="1200" dirty="0" smtClean="0">
                          <a:effectLst/>
                          <a:latin typeface="Huawei Sans" panose="020C0503030203020204" pitchFamily="34" charset="0"/>
                          <a:ea typeface="方正兰亭黑简体" panose="02000000000000000000" pitchFamily="2" charset="-122"/>
                          <a:sym typeface="Huawei Sans" panose="020C0503030203020204" pitchFamily="34" charset="0"/>
                        </a:rPr>
                        <a:t>信息</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grpSp>
        <p:nvGrpSpPr>
          <p:cNvPr id="4" name="组合 3"/>
          <p:cNvGrpSpPr/>
          <p:nvPr/>
        </p:nvGrpSpPr>
        <p:grpSpPr bwMode="gray">
          <a:xfrm>
            <a:off x="561021" y="2586716"/>
            <a:ext cx="6036650" cy="2259244"/>
            <a:chOff x="481957" y="3365356"/>
            <a:chExt cx="6036650" cy="2259244"/>
          </a:xfrm>
        </p:grpSpPr>
        <p:sp>
          <p:nvSpPr>
            <p:cNvPr id="14" name="文本框 13">
              <a:extLst>
                <a:ext uri="{FF2B5EF4-FFF2-40B4-BE49-F238E27FC236}">
                  <a16:creationId xmlns:a16="http://schemas.microsoft.com/office/drawing/2014/main" xmlns="" id="{272A6C28-738F-4245-9B4D-B724426B4C10}"/>
                </a:ext>
              </a:extLst>
            </p:cNvPr>
            <p:cNvSpPr txBox="1"/>
            <p:nvPr/>
          </p:nvSpPr>
          <p:spPr bwMode="gray">
            <a:xfrm>
              <a:off x="5516410" y="4187469"/>
              <a:ext cx="1002197"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第三方服务</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p:cNvSpPr/>
            <p:nvPr/>
          </p:nvSpPr>
          <p:spPr bwMode="gray">
            <a:xfrm>
              <a:off x="5064497" y="3408448"/>
              <a:ext cx="1398214" cy="1399201"/>
            </a:xfrm>
            <a:prstGeom prst="ellipse">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481957" y="3365356"/>
              <a:ext cx="5614043" cy="2259244"/>
              <a:chOff x="469758" y="2911505"/>
              <a:chExt cx="5782827" cy="2200065"/>
            </a:xfrm>
          </p:grpSpPr>
          <p:sp>
            <p:nvSpPr>
              <p:cNvPr id="10" name="Freeform 159">
                <a:extLst>
                  <a:ext uri="{FF2B5EF4-FFF2-40B4-BE49-F238E27FC236}">
                    <a16:creationId xmlns:a16="http://schemas.microsoft.com/office/drawing/2014/main" xmlns="" id="{0BA610E4-2C68-4349-840F-29F43D2A463D}"/>
                  </a:ext>
                </a:extLst>
              </p:cNvPr>
              <p:cNvSpPr/>
              <p:nvPr/>
            </p:nvSpPr>
            <p:spPr bwMode="gray">
              <a:xfrm flipH="1">
                <a:off x="599374" y="3087356"/>
                <a:ext cx="1908633" cy="87917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0">
                <a:extLst>
                  <a:ext uri="{FF2B5EF4-FFF2-40B4-BE49-F238E27FC236}">
                    <a16:creationId xmlns:a16="http://schemas.microsoft.com/office/drawing/2014/main" xmlns="" id="{CB4C6808-C884-475A-BCCD-0CE3069160D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798071" y="3375909"/>
                <a:ext cx="454514" cy="339188"/>
              </a:xfrm>
              <a:prstGeom prst="rect">
                <a:avLst/>
              </a:prstGeom>
            </p:spPr>
          </p:pic>
          <p:sp>
            <p:nvSpPr>
              <p:cNvPr id="13" name="文本框 12">
                <a:extLst>
                  <a:ext uri="{FF2B5EF4-FFF2-40B4-BE49-F238E27FC236}">
                    <a16:creationId xmlns:a16="http://schemas.microsoft.com/office/drawing/2014/main" xmlns="" id="{29282D48-F113-44FD-AE82-13313460824A}"/>
                  </a:ext>
                </a:extLst>
              </p:cNvPr>
              <p:cNvSpPr txBox="1"/>
              <p:nvPr/>
            </p:nvSpPr>
            <p:spPr bwMode="gray">
              <a:xfrm>
                <a:off x="1228657" y="3219493"/>
                <a:ext cx="1431403" cy="269743"/>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Open API</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任意多边形: 形状 35">
                <a:extLst>
                  <a:ext uri="{FF2B5EF4-FFF2-40B4-BE49-F238E27FC236}">
                    <a16:creationId xmlns:a16="http://schemas.microsoft.com/office/drawing/2014/main" xmlns="" id="{CEFD060C-3C85-4895-802C-256E1DD74BE1}"/>
                  </a:ext>
                </a:extLst>
              </p:cNvPr>
              <p:cNvSpPr/>
              <p:nvPr/>
            </p:nvSpPr>
            <p:spPr bwMode="gray">
              <a:xfrm>
                <a:off x="2381438" y="3193403"/>
                <a:ext cx="2826981" cy="197292"/>
              </a:xfrm>
              <a:custGeom>
                <a:avLst/>
                <a:gdLst>
                  <a:gd name="connsiteX0" fmla="*/ 0 w 2235200"/>
                  <a:gd name="connsiteY0" fmla="*/ 376491 h 376491"/>
                  <a:gd name="connsiteX1" fmla="*/ 711200 w 2235200"/>
                  <a:gd name="connsiteY1" fmla="*/ 46291 h 376491"/>
                  <a:gd name="connsiteX2" fmla="*/ 1524000 w 2235200"/>
                  <a:gd name="connsiteY2" fmla="*/ 33591 h 376491"/>
                  <a:gd name="connsiteX3" fmla="*/ 2235200 w 2235200"/>
                  <a:gd name="connsiteY3" fmla="*/ 338391 h 376491"/>
                </a:gdLst>
                <a:ahLst/>
                <a:cxnLst>
                  <a:cxn ang="0">
                    <a:pos x="connsiteX0" y="connsiteY0"/>
                  </a:cxn>
                  <a:cxn ang="0">
                    <a:pos x="connsiteX1" y="connsiteY1"/>
                  </a:cxn>
                  <a:cxn ang="0">
                    <a:pos x="connsiteX2" y="connsiteY2"/>
                  </a:cxn>
                  <a:cxn ang="0">
                    <a:pos x="connsiteX3" y="connsiteY3"/>
                  </a:cxn>
                </a:cxnLst>
                <a:rect l="l" t="t" r="r" b="b"/>
                <a:pathLst>
                  <a:path w="2235200" h="376491">
                    <a:moveTo>
                      <a:pt x="0" y="376491"/>
                    </a:moveTo>
                    <a:cubicBezTo>
                      <a:pt x="228600" y="239966"/>
                      <a:pt x="457200" y="103441"/>
                      <a:pt x="711200" y="46291"/>
                    </a:cubicBezTo>
                    <a:cubicBezTo>
                      <a:pt x="965200" y="-10859"/>
                      <a:pt x="1270000" y="-15092"/>
                      <a:pt x="1524000" y="33591"/>
                    </a:cubicBezTo>
                    <a:cubicBezTo>
                      <a:pt x="1778000" y="82274"/>
                      <a:pt x="2006600" y="210332"/>
                      <a:pt x="2235200" y="338391"/>
                    </a:cubicBezTo>
                  </a:path>
                </a:pathLst>
              </a:custGeom>
              <a:noFill/>
              <a:ln w="19050">
                <a:solidFill>
                  <a:srgbClr val="EC7061"/>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任意多边形: 形状 38">
                <a:extLst>
                  <a:ext uri="{FF2B5EF4-FFF2-40B4-BE49-F238E27FC236}">
                    <a16:creationId xmlns:a16="http://schemas.microsoft.com/office/drawing/2014/main" xmlns="" id="{874C4E77-89F2-4DA2-A35F-0550E23A9BB0}"/>
                  </a:ext>
                </a:extLst>
              </p:cNvPr>
              <p:cNvSpPr/>
              <p:nvPr/>
            </p:nvSpPr>
            <p:spPr bwMode="gray">
              <a:xfrm>
                <a:off x="2565412" y="3671215"/>
                <a:ext cx="2599453" cy="362863"/>
              </a:xfrm>
              <a:custGeom>
                <a:avLst/>
                <a:gdLst>
                  <a:gd name="connsiteX0" fmla="*/ 0 w 1917700"/>
                  <a:gd name="connsiteY0" fmla="*/ 0 h 190709"/>
                  <a:gd name="connsiteX1" fmla="*/ 927100 w 1917700"/>
                  <a:gd name="connsiteY1" fmla="*/ 190500 h 190709"/>
                  <a:gd name="connsiteX2" fmla="*/ 1917700 w 1917700"/>
                  <a:gd name="connsiteY2" fmla="*/ 38100 h 190709"/>
                </a:gdLst>
                <a:ahLst/>
                <a:cxnLst>
                  <a:cxn ang="0">
                    <a:pos x="connsiteX0" y="connsiteY0"/>
                  </a:cxn>
                  <a:cxn ang="0">
                    <a:pos x="connsiteX1" y="connsiteY1"/>
                  </a:cxn>
                  <a:cxn ang="0">
                    <a:pos x="connsiteX2" y="connsiteY2"/>
                  </a:cxn>
                </a:cxnLst>
                <a:rect l="l" t="t" r="r" b="b"/>
                <a:pathLst>
                  <a:path w="1917700" h="190709">
                    <a:moveTo>
                      <a:pt x="0" y="0"/>
                    </a:moveTo>
                    <a:cubicBezTo>
                      <a:pt x="303741" y="92075"/>
                      <a:pt x="607483" y="184150"/>
                      <a:pt x="927100" y="190500"/>
                    </a:cubicBezTo>
                    <a:cubicBezTo>
                      <a:pt x="1246717" y="196850"/>
                      <a:pt x="1754717" y="57150"/>
                      <a:pt x="1917700" y="38100"/>
                    </a:cubicBezTo>
                  </a:path>
                </a:pathLst>
              </a:custGeom>
              <a:noFill/>
              <a:ln w="19050">
                <a:solidFill>
                  <a:srgbClr val="EC7061"/>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a:extLst>
                  <a:ext uri="{FF2B5EF4-FFF2-40B4-BE49-F238E27FC236}">
                    <a16:creationId xmlns:a16="http://schemas.microsoft.com/office/drawing/2014/main" xmlns="" id="{9B269206-A764-4E8F-B2F7-5A8CFB498BA0}"/>
                  </a:ext>
                </a:extLst>
              </p:cNvPr>
              <p:cNvSpPr txBox="1"/>
              <p:nvPr/>
            </p:nvSpPr>
            <p:spPr bwMode="gray">
              <a:xfrm>
                <a:off x="2746228" y="2911505"/>
                <a:ext cx="2038017" cy="307777"/>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：增值业务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a:extLst>
                  <a:ext uri="{FF2B5EF4-FFF2-40B4-BE49-F238E27FC236}">
                    <a16:creationId xmlns:a16="http://schemas.microsoft.com/office/drawing/2014/main" xmlns="" id="{04D25DB3-C1A0-457B-BBDD-8412FF857832}"/>
                  </a:ext>
                </a:extLst>
              </p:cNvPr>
              <p:cNvSpPr txBox="1"/>
              <p:nvPr/>
            </p:nvSpPr>
            <p:spPr bwMode="gray">
              <a:xfrm>
                <a:off x="2867426" y="4079269"/>
                <a:ext cx="2059812" cy="307777"/>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：位置服务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连接符 27"/>
              <p:cNvCxnSpPr/>
              <p:nvPr/>
            </p:nvCxnSpPr>
            <p:spPr bwMode="gray">
              <a:xfrm flipV="1">
                <a:off x="2493163" y="3594842"/>
                <a:ext cx="266191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bwMode="gray">
              <a:xfrm>
                <a:off x="469758" y="3981827"/>
                <a:ext cx="2638156" cy="1129743"/>
                <a:chOff x="432953" y="4895988"/>
                <a:chExt cx="2638156" cy="1129743"/>
              </a:xfrm>
            </p:grpSpPr>
            <p:pic>
              <p:nvPicPr>
                <p:cNvPr id="12" name="图片 11">
                  <a:extLst>
                    <a:ext uri="{FF2B5EF4-FFF2-40B4-BE49-F238E27FC236}">
                      <a16:creationId xmlns:a16="http://schemas.microsoft.com/office/drawing/2014/main" xmlns="" id="{7CA12E9E-7A8B-4392-9176-70219B81E82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28696" y="5212053"/>
                  <a:ext cx="330793" cy="253925"/>
                </a:xfrm>
                <a:prstGeom prst="rect">
                  <a:avLst/>
                </a:prstGeom>
              </p:spPr>
            </p:pic>
            <p:cxnSp>
              <p:nvCxnSpPr>
                <p:cNvPr id="16" name="直接连接符 15">
                  <a:extLst>
                    <a:ext uri="{FF2B5EF4-FFF2-40B4-BE49-F238E27FC236}">
                      <a16:creationId xmlns:a16="http://schemas.microsoft.com/office/drawing/2014/main" xmlns="" id="{382CCB86-B349-43FF-BC40-824BF57A3639}"/>
                    </a:ext>
                  </a:extLst>
                </p:cNvPr>
                <p:cNvCxnSpPr>
                  <a:endCxn id="12" idx="0"/>
                </p:cNvCxnSpPr>
                <p:nvPr/>
              </p:nvCxnSpPr>
              <p:spPr bwMode="gray">
                <a:xfrm flipH="1">
                  <a:off x="694092" y="4907339"/>
                  <a:ext cx="818558" cy="3047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098244" y="5212053"/>
                  <a:ext cx="330793" cy="253925"/>
                </a:xfrm>
                <a:prstGeom prst="rect">
                  <a:avLst/>
                </a:prstGeom>
              </p:spPr>
            </p:pic>
            <p:cxnSp>
              <p:nvCxnSpPr>
                <p:cNvPr id="18" name="直接连接符 17">
                  <a:extLst>
                    <a:ext uri="{FF2B5EF4-FFF2-40B4-BE49-F238E27FC236}">
                      <a16:creationId xmlns:a16="http://schemas.microsoft.com/office/drawing/2014/main" xmlns="" id="{7A445271-B7E9-4734-821A-9C1214916573}"/>
                    </a:ext>
                  </a:extLst>
                </p:cNvPr>
                <p:cNvCxnSpPr>
                  <a:cxnSpLocks/>
                  <a:endCxn id="17" idx="0"/>
                </p:cNvCxnSpPr>
                <p:nvPr/>
              </p:nvCxnSpPr>
              <p:spPr bwMode="gray">
                <a:xfrm>
                  <a:off x="1512650" y="4907339"/>
                  <a:ext cx="750992" cy="3047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任意多边形: 形状 33">
                  <a:extLst>
                    <a:ext uri="{FF2B5EF4-FFF2-40B4-BE49-F238E27FC236}">
                      <a16:creationId xmlns:a16="http://schemas.microsoft.com/office/drawing/2014/main" xmlns="" id="{4202E2F6-FC8A-421A-8B3A-56DAC1222C87}"/>
                    </a:ext>
                  </a:extLst>
                </p:cNvPr>
                <p:cNvSpPr/>
                <p:nvPr/>
              </p:nvSpPr>
              <p:spPr bwMode="gray">
                <a:xfrm flipH="1">
                  <a:off x="2306925" y="5469000"/>
                  <a:ext cx="37223" cy="276212"/>
                </a:xfrm>
                <a:custGeom>
                  <a:avLst/>
                  <a:gdLst>
                    <a:gd name="connsiteX0" fmla="*/ 0 w 584200"/>
                    <a:gd name="connsiteY0" fmla="*/ 533400 h 533400"/>
                    <a:gd name="connsiteX1" fmla="*/ 469900 w 584200"/>
                    <a:gd name="connsiteY1" fmla="*/ 393700 h 533400"/>
                    <a:gd name="connsiteX2" fmla="*/ 584200 w 584200"/>
                    <a:gd name="connsiteY2" fmla="*/ 0 h 533400"/>
                    <a:gd name="connsiteX0" fmla="*/ 0 w 544870"/>
                    <a:gd name="connsiteY0" fmla="*/ 528637 h 528637"/>
                    <a:gd name="connsiteX1" fmla="*/ 469900 w 544870"/>
                    <a:gd name="connsiteY1" fmla="*/ 388937 h 528637"/>
                    <a:gd name="connsiteX2" fmla="*/ 544870 w 544870"/>
                    <a:gd name="connsiteY2" fmla="*/ 0 h 528637"/>
                    <a:gd name="connsiteX0" fmla="*/ 0 w 544870"/>
                    <a:gd name="connsiteY0" fmla="*/ 528637 h 528637"/>
                    <a:gd name="connsiteX1" fmla="*/ 469900 w 544870"/>
                    <a:gd name="connsiteY1" fmla="*/ 388937 h 528637"/>
                    <a:gd name="connsiteX2" fmla="*/ 544870 w 544870"/>
                    <a:gd name="connsiteY2" fmla="*/ 0 h 528637"/>
                  </a:gdLst>
                  <a:ahLst/>
                  <a:cxnLst>
                    <a:cxn ang="0">
                      <a:pos x="connsiteX0" y="connsiteY0"/>
                    </a:cxn>
                    <a:cxn ang="0">
                      <a:pos x="connsiteX1" y="connsiteY1"/>
                    </a:cxn>
                    <a:cxn ang="0">
                      <a:pos x="connsiteX2" y="connsiteY2"/>
                    </a:cxn>
                  </a:cxnLst>
                  <a:rect l="l" t="t" r="r" b="b"/>
                  <a:pathLst>
                    <a:path w="544870" h="528637">
                      <a:moveTo>
                        <a:pt x="0" y="528637"/>
                      </a:moveTo>
                      <a:cubicBezTo>
                        <a:pt x="186266" y="503237"/>
                        <a:pt x="372533" y="477837"/>
                        <a:pt x="469900" y="388937"/>
                      </a:cubicBezTo>
                      <a:cubicBezTo>
                        <a:pt x="567267" y="300037"/>
                        <a:pt x="536824" y="182033"/>
                        <a:pt x="544870" y="0"/>
                      </a:cubicBezTo>
                    </a:path>
                  </a:pathLst>
                </a:custGeom>
                <a:noFill/>
                <a:ln w="12700">
                  <a:solidFill>
                    <a:srgbClr val="94DAE2"/>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连接符 33">
                  <a:extLst>
                    <a:ext uri="{FF2B5EF4-FFF2-40B4-BE49-F238E27FC236}">
                      <a16:creationId xmlns:a16="http://schemas.microsoft.com/office/drawing/2014/main" xmlns="" id="{7A445271-B7E9-4734-821A-9C1214916573}"/>
                    </a:ext>
                  </a:extLst>
                </p:cNvPr>
                <p:cNvCxnSpPr>
                  <a:cxnSpLocks/>
                  <a:endCxn id="35" idx="0"/>
                </p:cNvCxnSpPr>
                <p:nvPr/>
              </p:nvCxnSpPr>
              <p:spPr bwMode="gray">
                <a:xfrm>
                  <a:off x="1521736" y="4895988"/>
                  <a:ext cx="0" cy="319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5" name="图片 34">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356339" y="5215075"/>
                  <a:ext cx="330793" cy="253925"/>
                </a:xfrm>
                <a:prstGeom prst="rect">
                  <a:avLst/>
                </a:prstGeom>
              </p:spPr>
            </p:pic>
            <p:sp>
              <p:nvSpPr>
                <p:cNvPr id="36" name="文本框 35"/>
                <p:cNvSpPr txBox="1"/>
                <p:nvPr/>
              </p:nvSpPr>
              <p:spPr bwMode="gray">
                <a:xfrm>
                  <a:off x="432953" y="5539731"/>
                  <a:ext cx="853070" cy="269743"/>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182146" y="5549871"/>
                  <a:ext cx="853070" cy="269743"/>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2218039" y="5537818"/>
                  <a:ext cx="853070" cy="269743"/>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任意多边形: 形状 33">
                  <a:extLst>
                    <a:ext uri="{FF2B5EF4-FFF2-40B4-BE49-F238E27FC236}">
                      <a16:creationId xmlns:a16="http://schemas.microsoft.com/office/drawing/2014/main" xmlns="" id="{4202E2F6-FC8A-421A-8B3A-56DAC1222C87}"/>
                    </a:ext>
                  </a:extLst>
                </p:cNvPr>
                <p:cNvSpPr/>
                <p:nvPr/>
              </p:nvSpPr>
              <p:spPr bwMode="gray">
                <a:xfrm>
                  <a:off x="2035217" y="5459136"/>
                  <a:ext cx="212543" cy="311554"/>
                </a:xfrm>
                <a:custGeom>
                  <a:avLst/>
                  <a:gdLst>
                    <a:gd name="connsiteX0" fmla="*/ 0 w 584200"/>
                    <a:gd name="connsiteY0" fmla="*/ 533400 h 533400"/>
                    <a:gd name="connsiteX1" fmla="*/ 469900 w 584200"/>
                    <a:gd name="connsiteY1" fmla="*/ 393700 h 533400"/>
                    <a:gd name="connsiteX2" fmla="*/ 584200 w 584200"/>
                    <a:gd name="connsiteY2" fmla="*/ 0 h 533400"/>
                    <a:gd name="connsiteX0" fmla="*/ 0 w 544870"/>
                    <a:gd name="connsiteY0" fmla="*/ 528637 h 528637"/>
                    <a:gd name="connsiteX1" fmla="*/ 469900 w 544870"/>
                    <a:gd name="connsiteY1" fmla="*/ 388937 h 528637"/>
                    <a:gd name="connsiteX2" fmla="*/ 544870 w 544870"/>
                    <a:gd name="connsiteY2" fmla="*/ 0 h 528637"/>
                    <a:gd name="connsiteX0" fmla="*/ 0 w 544870"/>
                    <a:gd name="connsiteY0" fmla="*/ 528637 h 528637"/>
                    <a:gd name="connsiteX1" fmla="*/ 469900 w 544870"/>
                    <a:gd name="connsiteY1" fmla="*/ 388937 h 528637"/>
                    <a:gd name="connsiteX2" fmla="*/ 544870 w 544870"/>
                    <a:gd name="connsiteY2" fmla="*/ 0 h 528637"/>
                  </a:gdLst>
                  <a:ahLst/>
                  <a:cxnLst>
                    <a:cxn ang="0">
                      <a:pos x="connsiteX0" y="connsiteY0"/>
                    </a:cxn>
                    <a:cxn ang="0">
                      <a:pos x="connsiteX1" y="connsiteY1"/>
                    </a:cxn>
                    <a:cxn ang="0">
                      <a:pos x="connsiteX2" y="connsiteY2"/>
                    </a:cxn>
                  </a:cxnLst>
                  <a:rect l="l" t="t" r="r" b="b"/>
                  <a:pathLst>
                    <a:path w="544870" h="528637">
                      <a:moveTo>
                        <a:pt x="0" y="528637"/>
                      </a:moveTo>
                      <a:cubicBezTo>
                        <a:pt x="186266" y="503237"/>
                        <a:pt x="372533" y="477837"/>
                        <a:pt x="469900" y="388937"/>
                      </a:cubicBezTo>
                      <a:cubicBezTo>
                        <a:pt x="567267" y="300037"/>
                        <a:pt x="536824" y="182033"/>
                        <a:pt x="544870" y="0"/>
                      </a:cubicBezTo>
                    </a:path>
                  </a:pathLst>
                </a:custGeom>
                <a:noFill/>
                <a:ln w="12700">
                  <a:solidFill>
                    <a:srgbClr val="94DAE2"/>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40" descr="SAN网络-蓝.png"/>
                <p:cNvPicPr>
                  <a:picLocks noChangeAspect="1"/>
                </p:cNvPicPr>
                <p:nvPr/>
              </p:nvPicPr>
              <p:blipFill>
                <a:blip r:embed="rId5" cstate="print"/>
                <a:stretch>
                  <a:fillRect/>
                </a:stretch>
              </p:blipFill>
              <p:spPr bwMode="gray">
                <a:xfrm>
                  <a:off x="1895382" y="5733232"/>
                  <a:ext cx="178721" cy="274097"/>
                </a:xfrm>
                <a:prstGeom prst="rect">
                  <a:avLst/>
                </a:prstGeom>
              </p:spPr>
            </p:pic>
            <p:pic>
              <p:nvPicPr>
                <p:cNvPr id="54" name="图片 53" descr="故障链路.png"/>
                <p:cNvPicPr>
                  <a:picLocks noChangeAspect="1"/>
                </p:cNvPicPr>
                <p:nvPr/>
              </p:nvPicPr>
              <p:blipFill>
                <a:blip r:embed="rId6" cstate="print"/>
                <a:stretch>
                  <a:fillRect/>
                </a:stretch>
              </p:blipFill>
              <p:spPr bwMode="gray">
                <a:xfrm>
                  <a:off x="2172513" y="5742642"/>
                  <a:ext cx="379639" cy="283089"/>
                </a:xfrm>
                <a:prstGeom prst="rect">
                  <a:avLst/>
                </a:prstGeom>
              </p:spPr>
            </p:pic>
          </p:grpSp>
          <p:pic>
            <p:nvPicPr>
              <p:cNvPr id="55" name="图片 54"/>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5259031" y="3377939"/>
                <a:ext cx="412592" cy="312612"/>
              </a:xfrm>
              <a:prstGeom prst="rect">
                <a:avLst/>
              </a:prstGeom>
            </p:spPr>
          </p:pic>
          <p:sp>
            <p:nvSpPr>
              <p:cNvPr id="56" name="文本框 55">
                <a:extLst>
                  <a:ext uri="{FF2B5EF4-FFF2-40B4-BE49-F238E27FC236}">
                    <a16:creationId xmlns:a16="http://schemas.microsoft.com/office/drawing/2014/main" xmlns="" id="{272A6C28-738F-4245-9B4D-B724426B4C10}"/>
                  </a:ext>
                </a:extLst>
              </p:cNvPr>
              <p:cNvSpPr txBox="1"/>
              <p:nvPr/>
            </p:nvSpPr>
            <p:spPr bwMode="gray">
              <a:xfrm>
                <a:off x="5232769" y="3706001"/>
                <a:ext cx="512202" cy="269743"/>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MSP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pic>
        <p:nvPicPr>
          <p:cNvPr id="42" name="图片 41">
            <a:extLst>
              <a:ext uri="{FF2B5EF4-FFF2-40B4-BE49-F238E27FC236}">
                <a16:creationId xmlns:a16="http://schemas.microsoft.com/office/drawing/2014/main" xmlns="" id="{A393F8C6-B304-4066-850C-3C06096FE2A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1293806" y="3181758"/>
            <a:ext cx="782020" cy="444543"/>
          </a:xfrm>
          <a:prstGeom prst="rect">
            <a:avLst/>
          </a:prstGeom>
        </p:spPr>
      </p:pic>
    </p:spTree>
    <p:extLst>
      <p:ext uri="{BB962C8B-B14F-4D97-AF65-F5344CB8AC3E}">
        <p14:creationId xmlns:p14="http://schemas.microsoft.com/office/powerpoint/2010/main" val="3544613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7DB10B0-DF9D-4AB4-AA90-EBA132273E4F}"/>
              </a:ext>
            </a:extLst>
          </p:cNvPr>
          <p:cNvSpPr>
            <a:spLocks noGrp="1"/>
          </p:cNvSpPr>
          <p:nvPr>
            <p:ph type="title"/>
          </p:nvPr>
        </p:nvSpPr>
        <p:spPr bwMode="gray"/>
        <p:txBody>
          <a:bodyPr/>
          <a:lstStyle/>
          <a:p>
            <a:r>
              <a:rPr lang="zh-CN" altLang="en-US" smtClean="0">
                <a:sym typeface="Huawei Sans" panose="020C0503030203020204" pitchFamily="34" charset="0"/>
              </a:rPr>
              <a:t>增值业务</a:t>
            </a:r>
            <a:r>
              <a:rPr lang="en-US" altLang="zh-CN" smtClean="0">
                <a:sym typeface="Huawei Sans" panose="020C0503030203020204" pitchFamily="34" charset="0"/>
              </a:rPr>
              <a:t>API</a:t>
            </a:r>
            <a:r>
              <a:rPr lang="zh-CN" altLang="en-US" smtClean="0">
                <a:sym typeface="Huawei Sans" panose="020C0503030203020204" pitchFamily="34" charset="0"/>
              </a:rPr>
              <a:t>调用</a:t>
            </a:r>
            <a:endParaRPr lang="zh-CN" altLang="en-US">
              <a:sym typeface="Huawei Sans" panose="020C0503030203020204" pitchFamily="34" charset="0"/>
            </a:endParaRPr>
          </a:p>
        </p:txBody>
      </p:sp>
      <p:sp>
        <p:nvSpPr>
          <p:cNvPr id="5" name="Shape 210">
            <a:extLst>
              <a:ext uri="{FF2B5EF4-FFF2-40B4-BE49-F238E27FC236}">
                <a16:creationId xmlns:a16="http://schemas.microsoft.com/office/drawing/2014/main" xmlns="" id="{688EA54B-1F9E-4D9B-9AE3-4E0514066E7E}"/>
              </a:ext>
            </a:extLst>
          </p:cNvPr>
          <p:cNvSpPr/>
          <p:nvPr/>
        </p:nvSpPr>
        <p:spPr bwMode="gray">
          <a:xfrm>
            <a:off x="7105699" y="1135300"/>
            <a:ext cx="4094536" cy="4548073"/>
          </a:xfrm>
          <a:prstGeom prst="roundRect">
            <a:avLst>
              <a:gd name="adj" fmla="val 7953"/>
            </a:avLst>
          </a:prstGeom>
          <a:noFill/>
          <a:ln w="41275">
            <a:noFill/>
          </a:ln>
        </p:spPr>
        <p:txBody>
          <a:bodyPr lIns="45720" tIns="45720" rIns="45720" bIns="45720" anchor="ct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marL="342900" indent="-342900" defTabSz="457200"/>
            <a:endParaRPr lang="en-US" altLang="zh-CN" sz="1000"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lang="en-US" altLang="zh-CN" sz="1000"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lang="en-US" sz="1000"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lang="en-US" sz="800"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lang="en-US" sz="800" b="1"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sz="800" b="1"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grpSp>
        <p:nvGrpSpPr>
          <p:cNvPr id="10" name="组合 9">
            <a:extLst>
              <a:ext uri="{FF2B5EF4-FFF2-40B4-BE49-F238E27FC236}">
                <a16:creationId xmlns:a16="http://schemas.microsoft.com/office/drawing/2014/main" xmlns="" id="{317A729D-029E-4B36-85A8-484D6F2B83EF}"/>
              </a:ext>
            </a:extLst>
          </p:cNvPr>
          <p:cNvGrpSpPr/>
          <p:nvPr/>
        </p:nvGrpSpPr>
        <p:grpSpPr bwMode="gray">
          <a:xfrm>
            <a:off x="2073150" y="1316977"/>
            <a:ext cx="9047432" cy="4693436"/>
            <a:chOff x="967154" y="842090"/>
            <a:chExt cx="12888733" cy="4636972"/>
          </a:xfrm>
        </p:grpSpPr>
        <p:cxnSp>
          <p:nvCxnSpPr>
            <p:cNvPr id="11" name="直接连接符 10">
              <a:extLst>
                <a:ext uri="{FF2B5EF4-FFF2-40B4-BE49-F238E27FC236}">
                  <a16:creationId xmlns:a16="http://schemas.microsoft.com/office/drawing/2014/main" xmlns="" id="{497301F1-8C36-41E1-B48C-F0CB66C25AC5}"/>
                </a:ext>
              </a:extLst>
            </p:cNvPr>
            <p:cNvCxnSpPr/>
            <p:nvPr/>
          </p:nvCxnSpPr>
          <p:spPr bwMode="gray">
            <a:xfrm>
              <a:off x="1371600" y="1987062"/>
              <a:ext cx="0" cy="3492000"/>
            </a:xfrm>
            <a:prstGeom prst="line">
              <a:avLst/>
            </a:prstGeom>
            <a:ln>
              <a:solidFill>
                <a:schemeClr val="tx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2" name="文本框 11">
              <a:extLst>
                <a:ext uri="{FF2B5EF4-FFF2-40B4-BE49-F238E27FC236}">
                  <a16:creationId xmlns:a16="http://schemas.microsoft.com/office/drawing/2014/main" xmlns="" id="{A6D1F738-88FD-4E0D-A644-DAE7CA1F5A58}"/>
                </a:ext>
              </a:extLst>
            </p:cNvPr>
            <p:cNvSpPr txBox="1"/>
            <p:nvPr/>
          </p:nvSpPr>
          <p:spPr bwMode="gray">
            <a:xfrm>
              <a:off x="967154" y="842090"/>
              <a:ext cx="914400" cy="304074"/>
            </a:xfrm>
            <a:prstGeom prst="rect">
              <a:avLst/>
            </a:prstGeom>
            <a:noFill/>
          </p:spPr>
          <p:txBody>
            <a:bodyPr wrap="squar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连接符 12">
              <a:extLst>
                <a:ext uri="{FF2B5EF4-FFF2-40B4-BE49-F238E27FC236}">
                  <a16:creationId xmlns:a16="http://schemas.microsoft.com/office/drawing/2014/main" xmlns="" id="{2D0D0144-69C3-4F21-B942-B29D95A93585}"/>
                </a:ext>
              </a:extLst>
            </p:cNvPr>
            <p:cNvCxnSpPr/>
            <p:nvPr/>
          </p:nvCxnSpPr>
          <p:spPr bwMode="gray">
            <a:xfrm>
              <a:off x="3763108" y="1987062"/>
              <a:ext cx="0" cy="3492000"/>
            </a:xfrm>
            <a:prstGeom prst="line">
              <a:avLst/>
            </a:prstGeom>
            <a:ln>
              <a:solidFill>
                <a:schemeClr val="tx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4" name="文本框 13">
              <a:extLst>
                <a:ext uri="{FF2B5EF4-FFF2-40B4-BE49-F238E27FC236}">
                  <a16:creationId xmlns:a16="http://schemas.microsoft.com/office/drawing/2014/main" xmlns="" id="{1E6789BD-BBFF-4F45-A630-B9188822B9AA}"/>
                </a:ext>
              </a:extLst>
            </p:cNvPr>
            <p:cNvSpPr txBox="1"/>
            <p:nvPr/>
          </p:nvSpPr>
          <p:spPr bwMode="gray">
            <a:xfrm>
              <a:off x="2792047" y="842090"/>
              <a:ext cx="2758306" cy="304074"/>
            </a:xfrm>
            <a:prstGeom prst="rect">
              <a:avLst/>
            </a:prstGeom>
            <a:noFill/>
          </p:spPr>
          <p:txBody>
            <a:bodyPr wrap="square" rtlCol="0">
              <a:spAutoFit/>
            </a:bodyPr>
            <a:lstStyle/>
            <a:p>
              <a:pPr algn="ct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NCE-Campus</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连接符 14">
              <a:extLst>
                <a:ext uri="{FF2B5EF4-FFF2-40B4-BE49-F238E27FC236}">
                  <a16:creationId xmlns:a16="http://schemas.microsoft.com/office/drawing/2014/main" xmlns="" id="{5096789C-A27F-4400-BB6A-56C1B90EA9D5}"/>
                </a:ext>
              </a:extLst>
            </p:cNvPr>
            <p:cNvCxnSpPr/>
            <p:nvPr/>
          </p:nvCxnSpPr>
          <p:spPr bwMode="gray">
            <a:xfrm>
              <a:off x="8959362" y="1987062"/>
              <a:ext cx="0" cy="3492000"/>
            </a:xfrm>
            <a:prstGeom prst="line">
              <a:avLst/>
            </a:prstGeom>
            <a:ln>
              <a:solidFill>
                <a:schemeClr val="tx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6" name="文本框 15">
              <a:extLst>
                <a:ext uri="{FF2B5EF4-FFF2-40B4-BE49-F238E27FC236}">
                  <a16:creationId xmlns:a16="http://schemas.microsoft.com/office/drawing/2014/main" xmlns="" id="{1DEA0B67-7804-41CB-9E21-46D626ACEDF5}"/>
                </a:ext>
              </a:extLst>
            </p:cNvPr>
            <p:cNvSpPr txBox="1"/>
            <p:nvPr/>
          </p:nvSpPr>
          <p:spPr bwMode="gray">
            <a:xfrm>
              <a:off x="8141677" y="842090"/>
              <a:ext cx="1635369" cy="456111"/>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第三方网络管理监控平台</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任意多边形 17">
              <a:extLst>
                <a:ext uri="{FF2B5EF4-FFF2-40B4-BE49-F238E27FC236}">
                  <a16:creationId xmlns:a16="http://schemas.microsoft.com/office/drawing/2014/main" xmlns="" id="{1EA2B660-781D-4154-9CE9-D3374953CDD8}"/>
                </a:ext>
              </a:extLst>
            </p:cNvPr>
            <p:cNvSpPr/>
            <p:nvPr/>
          </p:nvSpPr>
          <p:spPr bwMode="gray">
            <a:xfrm>
              <a:off x="3763108" y="1987062"/>
              <a:ext cx="167055" cy="246252"/>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a:extLst>
                <a:ext uri="{FF2B5EF4-FFF2-40B4-BE49-F238E27FC236}">
                  <a16:creationId xmlns:a16="http://schemas.microsoft.com/office/drawing/2014/main" xmlns="" id="{9401466A-C1B7-4320-B8E3-109DAA874A9A}"/>
                </a:ext>
              </a:extLst>
            </p:cNvPr>
            <p:cNvSpPr txBox="1"/>
            <p:nvPr/>
          </p:nvSpPr>
          <p:spPr bwMode="gray">
            <a:xfrm>
              <a:off x="3930162" y="1987063"/>
              <a:ext cx="4290648" cy="273667"/>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租户管理员创建北向接口管理员账号</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任意多边形 19">
              <a:extLst>
                <a:ext uri="{FF2B5EF4-FFF2-40B4-BE49-F238E27FC236}">
                  <a16:creationId xmlns:a16="http://schemas.microsoft.com/office/drawing/2014/main" xmlns="" id="{DFA034D5-9C98-4233-8EEE-903BBDF5AFE3}"/>
                </a:ext>
              </a:extLst>
            </p:cNvPr>
            <p:cNvSpPr/>
            <p:nvPr/>
          </p:nvSpPr>
          <p:spPr bwMode="gray">
            <a:xfrm>
              <a:off x="8959362" y="2378408"/>
              <a:ext cx="167055" cy="246252"/>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a:extLst>
                <a:ext uri="{FF2B5EF4-FFF2-40B4-BE49-F238E27FC236}">
                  <a16:creationId xmlns:a16="http://schemas.microsoft.com/office/drawing/2014/main" xmlns="" id="{B01C4ECC-38AC-4EAD-BE39-EFA6380A1A0D}"/>
                </a:ext>
              </a:extLst>
            </p:cNvPr>
            <p:cNvSpPr txBox="1"/>
            <p:nvPr/>
          </p:nvSpPr>
          <p:spPr bwMode="gray">
            <a:xfrm>
              <a:off x="9126417" y="2316863"/>
              <a:ext cx="4729470" cy="63855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合作伙伴获取到帐号和密码，通过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postman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获取</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Token_id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调用的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head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中</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携带</a:t>
              </a:r>
              <a:r>
                <a:rPr lang="en-US" altLang="zh-CN" sz="1200" dirty="0" err="1" smtClean="0">
                  <a:latin typeface="Huawei Sans" panose="020C0503030203020204" pitchFamily="34" charset="0"/>
                  <a:ea typeface="方正兰亭黑简体" panose="02000000000000000000" pitchFamily="2" charset="-122"/>
                  <a:sym typeface="Huawei Sans" panose="020C0503030203020204" pitchFamily="34" charset="0"/>
                </a:rPr>
                <a:t>Token_id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进行</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鉴权</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3">
              <a:extLst>
                <a:ext uri="{FF2B5EF4-FFF2-40B4-BE49-F238E27FC236}">
                  <a16:creationId xmlns:a16="http://schemas.microsoft.com/office/drawing/2014/main" xmlns="" id="{8E349B41-05C3-4619-B472-177B0AD57CCF}"/>
                </a:ext>
              </a:extLst>
            </p:cNvPr>
            <p:cNvSpPr/>
            <p:nvPr/>
          </p:nvSpPr>
          <p:spPr bwMode="gray">
            <a:xfrm>
              <a:off x="8968156" y="3159697"/>
              <a:ext cx="167055" cy="246252"/>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a:extLst>
                <a:ext uri="{FF2B5EF4-FFF2-40B4-BE49-F238E27FC236}">
                  <a16:creationId xmlns:a16="http://schemas.microsoft.com/office/drawing/2014/main" xmlns="" id="{F1E384B4-7CB9-412B-848C-E2432F25CF4A}"/>
                </a:ext>
              </a:extLst>
            </p:cNvPr>
            <p:cNvSpPr txBox="1"/>
            <p:nvPr/>
          </p:nvSpPr>
          <p:spPr bwMode="gray">
            <a:xfrm>
              <a:off x="9144004" y="3181378"/>
              <a:ext cx="2426676" cy="273667"/>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新增租户管理员帐号</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任意多边形 27">
              <a:extLst>
                <a:ext uri="{FF2B5EF4-FFF2-40B4-BE49-F238E27FC236}">
                  <a16:creationId xmlns:a16="http://schemas.microsoft.com/office/drawing/2014/main" xmlns="" id="{22EF2E23-AAD2-4F34-8D21-0EB6A8BD0CF3}"/>
                </a:ext>
              </a:extLst>
            </p:cNvPr>
            <p:cNvSpPr/>
            <p:nvPr/>
          </p:nvSpPr>
          <p:spPr bwMode="gray">
            <a:xfrm>
              <a:off x="8968156" y="4049241"/>
              <a:ext cx="167055" cy="246252"/>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a:extLst>
                <a:ext uri="{FF2B5EF4-FFF2-40B4-BE49-F238E27FC236}">
                  <a16:creationId xmlns:a16="http://schemas.microsoft.com/office/drawing/2014/main" xmlns="" id="{3BD78C92-2251-46CE-9885-D6F3D294BF6B}"/>
                </a:ext>
              </a:extLst>
            </p:cNvPr>
            <p:cNvSpPr txBox="1"/>
            <p:nvPr/>
          </p:nvSpPr>
          <p:spPr bwMode="gray">
            <a:xfrm>
              <a:off x="9144004" y="4055913"/>
              <a:ext cx="2426676" cy="273667"/>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调用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 name="直接箭头连接符 24">
              <a:extLst>
                <a:ext uri="{FF2B5EF4-FFF2-40B4-BE49-F238E27FC236}">
                  <a16:creationId xmlns:a16="http://schemas.microsoft.com/office/drawing/2014/main" xmlns="" id="{0669ECBC-46EB-46DC-9550-FDE9496EC83E}"/>
                </a:ext>
              </a:extLst>
            </p:cNvPr>
            <p:cNvCxnSpPr/>
            <p:nvPr/>
          </p:nvCxnSpPr>
          <p:spPr bwMode="gray">
            <a:xfrm flipH="1">
              <a:off x="3771900" y="4572538"/>
              <a:ext cx="5196256"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6" name="文本框 25">
              <a:extLst>
                <a:ext uri="{FF2B5EF4-FFF2-40B4-BE49-F238E27FC236}">
                  <a16:creationId xmlns:a16="http://schemas.microsoft.com/office/drawing/2014/main" xmlns="" id="{E361453B-D994-4A90-AE66-F775F732783F}"/>
                </a:ext>
              </a:extLst>
            </p:cNvPr>
            <p:cNvSpPr txBox="1"/>
            <p:nvPr/>
          </p:nvSpPr>
          <p:spPr bwMode="gray">
            <a:xfrm>
              <a:off x="3912580" y="4307080"/>
              <a:ext cx="4308230" cy="273667"/>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用户状态信息</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32" name="图片 3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71982" y="1970913"/>
            <a:ext cx="540000" cy="442800"/>
          </a:xfrm>
          <a:prstGeom prst="rect">
            <a:avLst/>
          </a:prstGeom>
        </p:spPr>
      </p:pic>
      <p:pic>
        <p:nvPicPr>
          <p:cNvPr id="33" name="图片 3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389701" y="1970913"/>
            <a:ext cx="540000" cy="442800"/>
          </a:xfrm>
          <a:prstGeom prst="rect">
            <a:avLst/>
          </a:prstGeom>
        </p:spPr>
      </p:pic>
      <p:pic>
        <p:nvPicPr>
          <p:cNvPr id="34" name="图片 3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101060" y="1970913"/>
            <a:ext cx="540000" cy="442800"/>
          </a:xfrm>
          <a:prstGeom prst="rect">
            <a:avLst/>
          </a:prstGeom>
        </p:spPr>
      </p:pic>
    </p:spTree>
    <p:extLst>
      <p:ext uri="{BB962C8B-B14F-4D97-AF65-F5344CB8AC3E}">
        <p14:creationId xmlns:p14="http://schemas.microsoft.com/office/powerpoint/2010/main" val="1497992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解决方案概述</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典型场景及开放能力介绍</a:t>
            </a:r>
            <a:endParaRPr lang="en-US" altLang="zh-CN" b="1"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认证授权</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位置服务</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人群画像</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smtClean="0">
                <a:sym typeface="Huawei Sans" panose="020C0503030203020204" pitchFamily="34" charset="0"/>
              </a:rPr>
              <a:t>网络运维</a:t>
            </a:r>
            <a:endParaRPr lang="en-US" altLang="zh-CN"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智慧物联</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开放合作案例</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36246154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7DB10B0-DF9D-4AB4-AA90-EBA132273E4F}"/>
              </a:ext>
            </a:extLst>
          </p:cNvPr>
          <p:cNvSpPr>
            <a:spLocks noGrp="1"/>
          </p:cNvSpPr>
          <p:nvPr>
            <p:ph type="title"/>
          </p:nvPr>
        </p:nvSpPr>
        <p:spPr bwMode="gray"/>
        <p:txBody>
          <a:bodyPr/>
          <a:lstStyle/>
          <a:p>
            <a:r>
              <a:rPr lang="zh-CN" altLang="en-US" smtClean="0">
                <a:sym typeface="Huawei Sans" panose="020C0503030203020204" pitchFamily="34" charset="0"/>
              </a:rPr>
              <a:t>网络运维场景介绍</a:t>
            </a:r>
            <a:endParaRPr lang="zh-CN" altLang="en-US">
              <a:sym typeface="Huawei Sans" panose="020C0503030203020204" pitchFamily="34" charset="0"/>
            </a:endParaRPr>
          </a:p>
        </p:txBody>
      </p:sp>
      <p:sp>
        <p:nvSpPr>
          <p:cNvPr id="5" name="文本占位符 4"/>
          <p:cNvSpPr>
            <a:spLocks noGrp="1"/>
          </p:cNvSpPr>
          <p:nvPr>
            <p:ph type="body" sz="quarter" idx="10"/>
          </p:nvPr>
        </p:nvSpPr>
        <p:spPr bwMode="gray"/>
        <p:txBody>
          <a:bodyPr/>
          <a:lstStyle/>
          <a:p>
            <a:r>
              <a:rPr lang="zh-CN" altLang="en-US" sz="1600" dirty="0"/>
              <a:t>网络运维，即第三方网络管理平台（</a:t>
            </a:r>
            <a:r>
              <a:rPr lang="en-US" altLang="zh-CN" sz="1600" dirty="0"/>
              <a:t>MSP</a:t>
            </a:r>
            <a:r>
              <a:rPr lang="zh-CN" altLang="en-US" sz="1600" dirty="0"/>
              <a:t>自有或主流网络管理监控平台）可以管理或监控华为智简园区平台管理的设备。</a:t>
            </a:r>
          </a:p>
          <a:p>
            <a:endParaRPr lang="zh-CN" altLang="en-US" sz="1600" dirty="0"/>
          </a:p>
        </p:txBody>
      </p:sp>
      <p:graphicFrame>
        <p:nvGraphicFramePr>
          <p:cNvPr id="9" name="表格 8"/>
          <p:cNvGraphicFramePr>
            <a:graphicFrameLocks noGrp="1"/>
          </p:cNvGraphicFramePr>
          <p:nvPr>
            <p:extLst>
              <p:ext uri="{D42A27DB-BD31-4B8C-83A1-F6EECF244321}">
                <p14:modId xmlns:p14="http://schemas.microsoft.com/office/powerpoint/2010/main" val="2699850681"/>
              </p:ext>
            </p:extLst>
          </p:nvPr>
        </p:nvGraphicFramePr>
        <p:xfrm>
          <a:off x="6281596" y="4860518"/>
          <a:ext cx="5118945" cy="1107974"/>
        </p:xfrm>
        <a:graphic>
          <a:graphicData uri="http://schemas.openxmlformats.org/drawingml/2006/table">
            <a:tbl>
              <a:tblPr/>
              <a:tblGrid>
                <a:gridCol w="1540993">
                  <a:extLst>
                    <a:ext uri="{9D8B030D-6E8A-4147-A177-3AD203B41FA5}">
                      <a16:colId xmlns:a16="http://schemas.microsoft.com/office/drawing/2014/main" xmlns="" val="20000"/>
                    </a:ext>
                  </a:extLst>
                </a:gridCol>
                <a:gridCol w="3577952">
                  <a:extLst>
                    <a:ext uri="{9D8B030D-6E8A-4147-A177-3AD203B41FA5}">
                      <a16:colId xmlns:a16="http://schemas.microsoft.com/office/drawing/2014/main" xmlns="" val="20001"/>
                    </a:ext>
                  </a:extLst>
                </a:gridCol>
              </a:tblGrid>
              <a:tr h="320434">
                <a:tc>
                  <a:txBody>
                    <a:bodyPr/>
                    <a:lstStyle/>
                    <a:p>
                      <a:pPr algn="ctr">
                        <a:lnSpc>
                          <a:spcPct val="100000"/>
                        </a:lnSpc>
                      </a:pPr>
                      <a:r>
                        <a:rPr lang="zh-CN" altLang="en-US" sz="14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集成方案</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4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场景建议</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0"/>
                  </a:ext>
                </a:extLst>
              </a:tr>
              <a:tr h="330340">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网络业务</a:t>
                      </a:r>
                      <a:r>
                        <a:rPr lang="en-US" altLang="zh-CN" sz="1200" dirty="0">
                          <a:effectLst/>
                          <a:latin typeface="Huawei Sans" panose="020C0503030203020204" pitchFamily="34" charset="0"/>
                          <a:ea typeface="方正兰亭黑简体" panose="02000000000000000000" pitchFamily="2" charset="-122"/>
                          <a:sym typeface="Huawei Sans" panose="020C0503030203020204" pitchFamily="34" charset="0"/>
                        </a:rPr>
                        <a:t>API</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适用于和各种三方私有</a:t>
                      </a:r>
                      <a:r>
                        <a:rPr lang="en-US" altLang="zh-CN" sz="1200" dirty="0" err="1">
                          <a:effectLst/>
                          <a:latin typeface="Huawei Sans" panose="020C0503030203020204" pitchFamily="34" charset="0"/>
                          <a:ea typeface="方正兰亭黑简体" panose="02000000000000000000" pitchFamily="2" charset="-122"/>
                          <a:sym typeface="Huawei Sans" panose="020C0503030203020204" pitchFamily="34" charset="0"/>
                        </a:rPr>
                        <a:t>Saas</a:t>
                      </a: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平台的对接</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330340">
                <a:tc>
                  <a:txBody>
                    <a:bodyPr/>
                    <a:lstStyle/>
                    <a:p>
                      <a:pPr algn="ctr">
                        <a:lnSpc>
                          <a:spcPct val="100000"/>
                        </a:lnSpc>
                      </a:pPr>
                      <a:r>
                        <a:rPr lang="en-US" altLang="zh-CN" sz="1200">
                          <a:effectLst/>
                          <a:latin typeface="Huawei Sans" panose="020C0503030203020204" pitchFamily="34" charset="0"/>
                          <a:ea typeface="方正兰亭黑简体" panose="02000000000000000000" pitchFamily="2" charset="-122"/>
                          <a:sym typeface="Huawei Sans" panose="020C0503030203020204" pitchFamily="34" charset="0"/>
                        </a:rPr>
                        <a:t>NETCONF/Yang/Telemetry/SNMP</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zh-CN" altLang="en-US" sz="1200" dirty="0">
                          <a:effectLst/>
                          <a:latin typeface="Huawei Sans" panose="020C0503030203020204" pitchFamily="34" charset="0"/>
                          <a:ea typeface="方正兰亭黑简体" panose="02000000000000000000" pitchFamily="2" charset="-122"/>
                          <a:sym typeface="Huawei Sans" panose="020C0503030203020204" pitchFamily="34" charset="0"/>
                        </a:rPr>
                        <a:t>适用于和传统网管类软件的</a:t>
                      </a:r>
                      <a:r>
                        <a:rPr lang="zh-CN" altLang="en-US" sz="1200" dirty="0" smtClean="0">
                          <a:effectLst/>
                          <a:latin typeface="Huawei Sans" panose="020C0503030203020204" pitchFamily="34" charset="0"/>
                          <a:ea typeface="方正兰亭黑简体" panose="02000000000000000000" pitchFamily="2" charset="-122"/>
                          <a:sym typeface="Huawei Sans" panose="020C0503030203020204" pitchFamily="34" charset="0"/>
                        </a:rPr>
                        <a:t>对接</a:t>
                      </a:r>
                      <a:endParaRPr lang="en-US" sz="12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14" name="文本框 13">
            <a:extLst>
              <a:ext uri="{FF2B5EF4-FFF2-40B4-BE49-F238E27FC236}">
                <a16:creationId xmlns:a16="http://schemas.microsoft.com/office/drawing/2014/main" xmlns="" id="{272A6C28-738F-4245-9B4D-B724426B4C10}"/>
              </a:ext>
            </a:extLst>
          </p:cNvPr>
          <p:cNvSpPr txBox="1"/>
          <p:nvPr/>
        </p:nvSpPr>
        <p:spPr bwMode="gray">
          <a:xfrm>
            <a:off x="5035960" y="3331131"/>
            <a:ext cx="1002197"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第三方服务</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椭圆 44"/>
          <p:cNvSpPr/>
          <p:nvPr/>
        </p:nvSpPr>
        <p:spPr bwMode="gray">
          <a:xfrm>
            <a:off x="4642431" y="2604842"/>
            <a:ext cx="1358358" cy="1235516"/>
          </a:xfrm>
          <a:prstGeom prst="ellipse">
            <a:avLst/>
          </a:prstGeom>
          <a:noFill/>
          <a:ln w="19050">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Freeform 159">
            <a:extLst>
              <a:ext uri="{FF2B5EF4-FFF2-40B4-BE49-F238E27FC236}">
                <a16:creationId xmlns:a16="http://schemas.microsoft.com/office/drawing/2014/main" xmlns="" id="{0BA610E4-2C68-4349-840F-29F43D2A463D}"/>
              </a:ext>
            </a:extLst>
          </p:cNvPr>
          <p:cNvSpPr/>
          <p:nvPr/>
        </p:nvSpPr>
        <p:spPr bwMode="gray">
          <a:xfrm flipH="1">
            <a:off x="838804" y="2734206"/>
            <a:ext cx="1586737" cy="87917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0">
            <a:extLst>
              <a:ext uri="{FF2B5EF4-FFF2-40B4-BE49-F238E27FC236}">
                <a16:creationId xmlns:a16="http://schemas.microsoft.com/office/drawing/2014/main" xmlns="" id="{CB4C6808-C884-475A-BCCD-0CE3069160D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333468" y="3033197"/>
            <a:ext cx="377859" cy="339188"/>
          </a:xfrm>
          <a:prstGeom prst="rect">
            <a:avLst/>
          </a:prstGeom>
        </p:spPr>
      </p:pic>
      <p:sp>
        <p:nvSpPr>
          <p:cNvPr id="13" name="文本框 12">
            <a:extLst>
              <a:ext uri="{FF2B5EF4-FFF2-40B4-BE49-F238E27FC236}">
                <a16:creationId xmlns:a16="http://schemas.microsoft.com/office/drawing/2014/main" xmlns="" id="{29282D48-F113-44FD-AE82-13313460824A}"/>
              </a:ext>
            </a:extLst>
          </p:cNvPr>
          <p:cNvSpPr txBox="1"/>
          <p:nvPr/>
        </p:nvSpPr>
        <p:spPr bwMode="gray">
          <a:xfrm>
            <a:off x="1192048" y="2833019"/>
            <a:ext cx="1189993" cy="323165"/>
          </a:xfrm>
          <a:prstGeom prst="rect">
            <a:avLst/>
          </a:prstGeom>
          <a:noFill/>
        </p:spPr>
        <p:txBody>
          <a:bodyPr wrap="square" rtlCol="0">
            <a:spAutoFit/>
          </a:bodyPr>
          <a:lstStyle/>
          <a:p>
            <a:r>
              <a:rPr lang="en-US" altLang="zh-CN" sz="1500" dirty="0">
                <a:latin typeface="Huawei Sans" panose="020C0503030203020204" pitchFamily="34" charset="0"/>
                <a:ea typeface="方正兰亭黑简体" panose="02000000000000000000" pitchFamily="2" charset="-122"/>
                <a:sym typeface="Huawei Sans" panose="020C0503030203020204" pitchFamily="34" charset="0"/>
              </a:rPr>
              <a:t>Open API</a:t>
            </a:r>
            <a:endParaRPr lang="zh-CN" altLang="en-US"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a:extLst>
              <a:ext uri="{FF2B5EF4-FFF2-40B4-BE49-F238E27FC236}">
                <a16:creationId xmlns:a16="http://schemas.microsoft.com/office/drawing/2014/main" xmlns="" id="{382CCB86-B349-43FF-BC40-824BF57A3639}"/>
              </a:ext>
            </a:extLst>
          </p:cNvPr>
          <p:cNvCxnSpPr/>
          <p:nvPr/>
        </p:nvCxnSpPr>
        <p:spPr bwMode="gray">
          <a:xfrm flipH="1">
            <a:off x="917549" y="3640439"/>
            <a:ext cx="501600" cy="12184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xmlns="" id="{7A445271-B7E9-4734-821A-9C1214916573}"/>
              </a:ext>
            </a:extLst>
          </p:cNvPr>
          <p:cNvCxnSpPr>
            <a:cxnSpLocks/>
          </p:cNvCxnSpPr>
          <p:nvPr/>
        </p:nvCxnSpPr>
        <p:spPr bwMode="gray">
          <a:xfrm>
            <a:off x="1685853" y="3629183"/>
            <a:ext cx="302620" cy="12094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任意多边形: 形状 35">
            <a:extLst>
              <a:ext uri="{FF2B5EF4-FFF2-40B4-BE49-F238E27FC236}">
                <a16:creationId xmlns:a16="http://schemas.microsoft.com/office/drawing/2014/main" xmlns="" id="{CEFD060C-3C85-4895-802C-256E1DD74BE1}"/>
              </a:ext>
            </a:extLst>
          </p:cNvPr>
          <p:cNvSpPr/>
          <p:nvPr/>
        </p:nvSpPr>
        <p:spPr bwMode="gray">
          <a:xfrm>
            <a:off x="2258510" y="2800950"/>
            <a:ext cx="2357757" cy="231835"/>
          </a:xfrm>
          <a:custGeom>
            <a:avLst/>
            <a:gdLst>
              <a:gd name="connsiteX0" fmla="*/ 0 w 2235200"/>
              <a:gd name="connsiteY0" fmla="*/ 376491 h 376491"/>
              <a:gd name="connsiteX1" fmla="*/ 711200 w 2235200"/>
              <a:gd name="connsiteY1" fmla="*/ 46291 h 376491"/>
              <a:gd name="connsiteX2" fmla="*/ 1524000 w 2235200"/>
              <a:gd name="connsiteY2" fmla="*/ 33591 h 376491"/>
              <a:gd name="connsiteX3" fmla="*/ 2235200 w 2235200"/>
              <a:gd name="connsiteY3" fmla="*/ 338391 h 376491"/>
            </a:gdLst>
            <a:ahLst/>
            <a:cxnLst>
              <a:cxn ang="0">
                <a:pos x="connsiteX0" y="connsiteY0"/>
              </a:cxn>
              <a:cxn ang="0">
                <a:pos x="connsiteX1" y="connsiteY1"/>
              </a:cxn>
              <a:cxn ang="0">
                <a:pos x="connsiteX2" y="connsiteY2"/>
              </a:cxn>
              <a:cxn ang="0">
                <a:pos x="connsiteX3" y="connsiteY3"/>
              </a:cxn>
            </a:cxnLst>
            <a:rect l="l" t="t" r="r" b="b"/>
            <a:pathLst>
              <a:path w="2235200" h="376491">
                <a:moveTo>
                  <a:pt x="0" y="376491"/>
                </a:moveTo>
                <a:cubicBezTo>
                  <a:pt x="228600" y="239966"/>
                  <a:pt x="457200" y="103441"/>
                  <a:pt x="711200" y="46291"/>
                </a:cubicBezTo>
                <a:cubicBezTo>
                  <a:pt x="965200" y="-10859"/>
                  <a:pt x="1270000" y="-15092"/>
                  <a:pt x="1524000" y="33591"/>
                </a:cubicBezTo>
                <a:cubicBezTo>
                  <a:pt x="1778000" y="82274"/>
                  <a:pt x="2006600" y="210332"/>
                  <a:pt x="2235200" y="338391"/>
                </a:cubicBezTo>
              </a:path>
            </a:pathLst>
          </a:custGeom>
          <a:noFill/>
          <a:ln w="19050">
            <a:solidFill>
              <a:srgbClr val="EC7061"/>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a:extLst>
              <a:ext uri="{FF2B5EF4-FFF2-40B4-BE49-F238E27FC236}">
                <a16:creationId xmlns:a16="http://schemas.microsoft.com/office/drawing/2014/main" xmlns="" id="{9B269206-A764-4E8F-B2F7-5A8CFB498BA0}"/>
              </a:ext>
            </a:extLst>
          </p:cNvPr>
          <p:cNvSpPr txBox="1"/>
          <p:nvPr/>
        </p:nvSpPr>
        <p:spPr bwMode="gray">
          <a:xfrm>
            <a:off x="2193153" y="2517175"/>
            <a:ext cx="1694300"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：增值业务</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a:extLst>
              <a:ext uri="{FF2B5EF4-FFF2-40B4-BE49-F238E27FC236}">
                <a16:creationId xmlns:a16="http://schemas.microsoft.com/office/drawing/2014/main" xmlns="" id="{04D25DB3-C1A0-457B-BBDD-8412FF857832}"/>
              </a:ext>
            </a:extLst>
          </p:cNvPr>
          <p:cNvSpPr txBox="1"/>
          <p:nvPr/>
        </p:nvSpPr>
        <p:spPr bwMode="gray">
          <a:xfrm>
            <a:off x="3332378" y="3788712"/>
            <a:ext cx="2001090" cy="646331"/>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方法</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NetConf/YANG/Telemetry/Syslog/SNMP/Netstrem</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连接符 26"/>
          <p:cNvCxnSpPr>
            <a:endCxn id="45" idx="2"/>
          </p:cNvCxnSpPr>
          <p:nvPr/>
        </p:nvCxnSpPr>
        <p:spPr bwMode="gray">
          <a:xfrm>
            <a:off x="2475036" y="3209096"/>
            <a:ext cx="2167395" cy="135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xmlns="" id="{7A445271-B7E9-4734-821A-9C1214916573}"/>
              </a:ext>
            </a:extLst>
          </p:cNvPr>
          <p:cNvCxnSpPr>
            <a:cxnSpLocks/>
            <a:endCxn id="34" idx="0"/>
          </p:cNvCxnSpPr>
          <p:nvPr/>
        </p:nvCxnSpPr>
        <p:spPr bwMode="gray">
          <a:xfrm>
            <a:off x="1521140" y="3640439"/>
            <a:ext cx="2289" cy="12075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图片 33">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375773" y="4847979"/>
            <a:ext cx="295311" cy="267628"/>
          </a:xfrm>
          <a:prstGeom prst="rect">
            <a:avLst/>
          </a:prstGeom>
        </p:spPr>
      </p:pic>
      <p:sp>
        <p:nvSpPr>
          <p:cNvPr id="36" name="文本框 35"/>
          <p:cNvSpPr txBox="1"/>
          <p:nvPr/>
        </p:nvSpPr>
        <p:spPr bwMode="gray">
          <a:xfrm>
            <a:off x="1334649" y="5101430"/>
            <a:ext cx="709197"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7" name="图片 4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712597" y="3024789"/>
            <a:ext cx="343007" cy="312612"/>
          </a:xfrm>
          <a:prstGeom prst="rect">
            <a:avLst/>
          </a:prstGeom>
        </p:spPr>
      </p:pic>
      <p:sp>
        <p:nvSpPr>
          <p:cNvPr id="48" name="文本框 47">
            <a:extLst>
              <a:ext uri="{FF2B5EF4-FFF2-40B4-BE49-F238E27FC236}">
                <a16:creationId xmlns:a16="http://schemas.microsoft.com/office/drawing/2014/main" xmlns="" id="{272A6C28-738F-4245-9B4D-B724426B4C10}"/>
              </a:ext>
            </a:extLst>
          </p:cNvPr>
          <p:cNvSpPr txBox="1"/>
          <p:nvPr/>
        </p:nvSpPr>
        <p:spPr bwMode="gray">
          <a:xfrm>
            <a:off x="4670522" y="3341579"/>
            <a:ext cx="49725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MSP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任意多边形: 形状 35">
            <a:extLst>
              <a:ext uri="{FF2B5EF4-FFF2-40B4-BE49-F238E27FC236}">
                <a16:creationId xmlns:a16="http://schemas.microsoft.com/office/drawing/2014/main" xmlns="" id="{CEFD060C-3C85-4895-802C-256E1DD74BE1}"/>
              </a:ext>
            </a:extLst>
          </p:cNvPr>
          <p:cNvSpPr/>
          <p:nvPr/>
        </p:nvSpPr>
        <p:spPr bwMode="gray">
          <a:xfrm rot="19760841">
            <a:off x="2401388" y="3715746"/>
            <a:ext cx="2337981" cy="419329"/>
          </a:xfrm>
          <a:custGeom>
            <a:avLst/>
            <a:gdLst>
              <a:gd name="connsiteX0" fmla="*/ 0 w 2235200"/>
              <a:gd name="connsiteY0" fmla="*/ 376491 h 376491"/>
              <a:gd name="connsiteX1" fmla="*/ 711200 w 2235200"/>
              <a:gd name="connsiteY1" fmla="*/ 46291 h 376491"/>
              <a:gd name="connsiteX2" fmla="*/ 1524000 w 2235200"/>
              <a:gd name="connsiteY2" fmla="*/ 33591 h 376491"/>
              <a:gd name="connsiteX3" fmla="*/ 2235200 w 2235200"/>
              <a:gd name="connsiteY3" fmla="*/ 338391 h 376491"/>
            </a:gdLst>
            <a:ahLst/>
            <a:cxnLst>
              <a:cxn ang="0">
                <a:pos x="connsiteX0" y="connsiteY0"/>
              </a:cxn>
              <a:cxn ang="0">
                <a:pos x="connsiteX1" y="connsiteY1"/>
              </a:cxn>
              <a:cxn ang="0">
                <a:pos x="connsiteX2" y="connsiteY2"/>
              </a:cxn>
              <a:cxn ang="0">
                <a:pos x="connsiteX3" y="connsiteY3"/>
              </a:cxn>
            </a:cxnLst>
            <a:rect l="l" t="t" r="r" b="b"/>
            <a:pathLst>
              <a:path w="2235200" h="376491">
                <a:moveTo>
                  <a:pt x="0" y="376491"/>
                </a:moveTo>
                <a:cubicBezTo>
                  <a:pt x="228600" y="239966"/>
                  <a:pt x="457200" y="103441"/>
                  <a:pt x="711200" y="46291"/>
                </a:cubicBezTo>
                <a:cubicBezTo>
                  <a:pt x="965200" y="-10859"/>
                  <a:pt x="1270000" y="-15092"/>
                  <a:pt x="1524000" y="33591"/>
                </a:cubicBezTo>
                <a:cubicBezTo>
                  <a:pt x="1778000" y="82274"/>
                  <a:pt x="2006600" y="210332"/>
                  <a:pt x="2235200" y="338391"/>
                </a:cubicBezTo>
              </a:path>
            </a:pathLst>
          </a:custGeom>
          <a:noFill/>
          <a:ln w="19050">
            <a:solidFill>
              <a:srgbClr val="EC7061"/>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连接符 51">
            <a:extLst>
              <a:ext uri="{FF2B5EF4-FFF2-40B4-BE49-F238E27FC236}">
                <a16:creationId xmlns:a16="http://schemas.microsoft.com/office/drawing/2014/main" xmlns="" id="{7A445271-B7E9-4734-821A-9C1214916573}"/>
              </a:ext>
            </a:extLst>
          </p:cNvPr>
          <p:cNvCxnSpPr>
            <a:cxnSpLocks/>
          </p:cNvCxnSpPr>
          <p:nvPr/>
        </p:nvCxnSpPr>
        <p:spPr bwMode="gray">
          <a:xfrm>
            <a:off x="1784486" y="3620152"/>
            <a:ext cx="777175" cy="13075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9" name="图片 58"/>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805447" y="4838601"/>
            <a:ext cx="295311" cy="267628"/>
          </a:xfrm>
          <a:prstGeom prst="rect">
            <a:avLst/>
          </a:prstGeom>
        </p:spPr>
      </p:pic>
      <p:sp>
        <p:nvSpPr>
          <p:cNvPr id="60" name="文本框 59"/>
          <p:cNvSpPr txBox="1"/>
          <p:nvPr/>
        </p:nvSpPr>
        <p:spPr bwMode="gray">
          <a:xfrm>
            <a:off x="657048" y="5101430"/>
            <a:ext cx="709197"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Switch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1" name="图片 60"/>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1870064" y="4838601"/>
            <a:ext cx="295311" cy="267628"/>
          </a:xfrm>
          <a:prstGeom prst="rect">
            <a:avLst/>
          </a:prstGeom>
        </p:spPr>
      </p:pic>
      <p:sp>
        <p:nvSpPr>
          <p:cNvPr id="62" name="文本框 61"/>
          <p:cNvSpPr txBox="1"/>
          <p:nvPr/>
        </p:nvSpPr>
        <p:spPr bwMode="gray">
          <a:xfrm>
            <a:off x="1654087" y="5104032"/>
            <a:ext cx="946508"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Firewall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62"/>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2381484" y="4838601"/>
            <a:ext cx="295311" cy="267628"/>
          </a:xfrm>
          <a:prstGeom prst="rect">
            <a:avLst/>
          </a:prstGeom>
        </p:spPr>
      </p:pic>
      <p:sp>
        <p:nvSpPr>
          <p:cNvPr id="64" name="文本框 63"/>
          <p:cNvSpPr txBox="1"/>
          <p:nvPr/>
        </p:nvSpPr>
        <p:spPr bwMode="gray">
          <a:xfrm>
            <a:off x="2226959" y="5092599"/>
            <a:ext cx="709197"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AR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2" name="图片 71"/>
          <p:cNvPicPr>
            <a:picLocks noChangeAspect="1"/>
          </p:cNvPicPr>
          <p:nvPr/>
        </p:nvPicPr>
        <p:blipFill>
          <a:blip r:embed="rId9"/>
          <a:stretch>
            <a:fillRect/>
          </a:stretch>
        </p:blipFill>
        <p:spPr bwMode="gray">
          <a:xfrm>
            <a:off x="2331916" y="1595061"/>
            <a:ext cx="2114262" cy="95250"/>
          </a:xfrm>
          <a:prstGeom prst="rect">
            <a:avLst/>
          </a:prstGeom>
        </p:spPr>
      </p:pic>
      <p:sp>
        <p:nvSpPr>
          <p:cNvPr id="40" name="文本框 39">
            <a:extLst>
              <a:ext uri="{FF2B5EF4-FFF2-40B4-BE49-F238E27FC236}">
                <a16:creationId xmlns:a16="http://schemas.microsoft.com/office/drawing/2014/main" xmlns="" id="{A6421C83-7048-46D6-984D-9B182FE2CEF4}"/>
              </a:ext>
            </a:extLst>
          </p:cNvPr>
          <p:cNvSpPr txBox="1"/>
          <p:nvPr/>
        </p:nvSpPr>
        <p:spPr bwMode="gray">
          <a:xfrm>
            <a:off x="6281596" y="2052684"/>
            <a:ext cx="5002175" cy="2677656"/>
          </a:xfrm>
          <a:prstGeom prst="rect">
            <a:avLst/>
          </a:prstGeom>
          <a:noFill/>
          <a:ln>
            <a:solidFill>
              <a:srgbClr val="94DAE2"/>
            </a:solidFill>
          </a:ln>
        </p:spPr>
        <p:txBody>
          <a:bodyPr wrap="square" rtlCol="0">
            <a:spAutoFit/>
          </a:bodyPr>
          <a:lstStyle/>
          <a:p>
            <a:pPr>
              <a:lnSpc>
                <a:spcPct val="1200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应用场景</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200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客户、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MSP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等使用已有的网络管理平台去管理或监控华为控制器平台管理的设备，例如创建租户管理员账号、管理设备、给指定设备进行网络配置，监控设备状态和告警等。</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200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当前有两种方式实现网络业务的运维业务：</a:t>
            </a:r>
          </a:p>
          <a:p>
            <a:pPr marL="742990" lvl="1" indent="-285750">
              <a:lnSpc>
                <a:spcPct val="120000"/>
              </a:lnSpc>
              <a:buSzPct val="4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网络业务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：三方网络管理</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平台通过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RESTful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类型接口完成设备的管理和监控。</a:t>
            </a:r>
          </a:p>
          <a:p>
            <a:pPr marL="742990" lvl="1" indent="-285750">
              <a:lnSpc>
                <a:spcPct val="120000"/>
              </a:lnSpc>
              <a:buSzPct val="40000"/>
              <a:buFont typeface="Wingdings" panose="05000000000000000000" pitchFamily="2" charset="2"/>
              <a:buChar char="p"/>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NETCONF/Yang/Telemetry/SNMP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等传统设备接口：网管类软件可以通过设备侧接口直接对设备进行配置管理及运</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维。</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40">
            <a:extLst>
              <a:ext uri="{FF2B5EF4-FFF2-40B4-BE49-F238E27FC236}">
                <a16:creationId xmlns:a16="http://schemas.microsoft.com/office/drawing/2014/main" xmlns="" id="{A393F8C6-B304-4066-850C-3C06096FE2A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1179061" y="3074608"/>
            <a:ext cx="820502" cy="466419"/>
          </a:xfrm>
          <a:prstGeom prst="rect">
            <a:avLst/>
          </a:prstGeom>
        </p:spPr>
      </p:pic>
    </p:spTree>
    <p:extLst>
      <p:ext uri="{BB962C8B-B14F-4D97-AF65-F5344CB8AC3E}">
        <p14:creationId xmlns:p14="http://schemas.microsoft.com/office/powerpoint/2010/main" val="4126979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7DB10B0-DF9D-4AB4-AA90-EBA132273E4F}"/>
              </a:ext>
            </a:extLst>
          </p:cNvPr>
          <p:cNvSpPr>
            <a:spLocks noGrp="1"/>
          </p:cNvSpPr>
          <p:nvPr>
            <p:ph type="title"/>
          </p:nvPr>
        </p:nvSpPr>
        <p:spPr bwMode="gray"/>
        <p:txBody>
          <a:bodyPr/>
          <a:lstStyle/>
          <a:p>
            <a:r>
              <a:rPr lang="zh-CN" altLang="en-US" smtClean="0">
                <a:sym typeface="Huawei Sans" panose="020C0503030203020204" pitchFamily="34" charset="0"/>
              </a:rPr>
              <a:t>网络管理监控对接流程</a:t>
            </a:r>
            <a:endParaRPr lang="zh-CN" altLang="en-US">
              <a:sym typeface="Huawei Sans" panose="020C0503030203020204" pitchFamily="34" charset="0"/>
            </a:endParaRPr>
          </a:p>
        </p:txBody>
      </p:sp>
      <p:sp>
        <p:nvSpPr>
          <p:cNvPr id="5" name="Shape 210">
            <a:extLst>
              <a:ext uri="{FF2B5EF4-FFF2-40B4-BE49-F238E27FC236}">
                <a16:creationId xmlns:a16="http://schemas.microsoft.com/office/drawing/2014/main" xmlns="" id="{1041E7DA-C846-4A64-98EC-331329ADAC9B}"/>
              </a:ext>
            </a:extLst>
          </p:cNvPr>
          <p:cNvSpPr/>
          <p:nvPr/>
        </p:nvSpPr>
        <p:spPr bwMode="gray">
          <a:xfrm>
            <a:off x="7109259" y="1233488"/>
            <a:ext cx="4094536" cy="4548073"/>
          </a:xfrm>
          <a:prstGeom prst="roundRect">
            <a:avLst>
              <a:gd name="adj" fmla="val 7953"/>
            </a:avLst>
          </a:prstGeom>
          <a:noFill/>
          <a:ln w="41275">
            <a:noFill/>
          </a:ln>
        </p:spPr>
        <p:txBody>
          <a:bodyPr lIns="45720" tIns="45720" rIns="45720" bIns="45720" anchor="ct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marL="342900" indent="-342900" defTabSz="457200"/>
            <a:endParaRPr lang="en-US" altLang="zh-CN" sz="1000"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lang="en-US" altLang="zh-CN" sz="1000"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lang="en-US" sz="1000"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lang="en-US" sz="800"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lang="en-US" sz="800" b="1"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a:p>
            <a:pPr marL="342900" indent="-342900" defTabSz="457200"/>
            <a:endParaRPr sz="800" b="1" dirty="0">
              <a:solidFill>
                <a:srgbClr val="0098DB"/>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cxnSp>
        <p:nvCxnSpPr>
          <p:cNvPr id="12" name="直接连接符 11">
            <a:extLst>
              <a:ext uri="{FF2B5EF4-FFF2-40B4-BE49-F238E27FC236}">
                <a16:creationId xmlns:a16="http://schemas.microsoft.com/office/drawing/2014/main" xmlns="" id="{15108B65-EDFF-43EA-ADB0-C64BC94ADCFE}"/>
              </a:ext>
            </a:extLst>
          </p:cNvPr>
          <p:cNvCxnSpPr/>
          <p:nvPr/>
        </p:nvCxnSpPr>
        <p:spPr bwMode="gray">
          <a:xfrm>
            <a:off x="2025447" y="2553423"/>
            <a:ext cx="0" cy="2707226"/>
          </a:xfrm>
          <a:prstGeom prst="line">
            <a:avLst/>
          </a:prstGeom>
          <a:ln>
            <a:solidFill>
              <a:schemeClr val="tx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3" name="文本框 12">
            <a:extLst>
              <a:ext uri="{FF2B5EF4-FFF2-40B4-BE49-F238E27FC236}">
                <a16:creationId xmlns:a16="http://schemas.microsoft.com/office/drawing/2014/main" xmlns="" id="{AB83E675-4D2C-4723-9304-8D2759DDAA85}"/>
              </a:ext>
            </a:extLst>
          </p:cNvPr>
          <p:cNvSpPr txBox="1"/>
          <p:nvPr/>
        </p:nvSpPr>
        <p:spPr bwMode="gray">
          <a:xfrm>
            <a:off x="1683642" y="1665766"/>
            <a:ext cx="772776"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连接符 13">
            <a:extLst>
              <a:ext uri="{FF2B5EF4-FFF2-40B4-BE49-F238E27FC236}">
                <a16:creationId xmlns:a16="http://schemas.microsoft.com/office/drawing/2014/main" xmlns="" id="{0E22117E-6884-404D-9015-D7739FA681EC}"/>
              </a:ext>
            </a:extLst>
          </p:cNvPr>
          <p:cNvCxnSpPr/>
          <p:nvPr/>
        </p:nvCxnSpPr>
        <p:spPr bwMode="gray">
          <a:xfrm>
            <a:off x="4046554" y="2553423"/>
            <a:ext cx="0" cy="2707226"/>
          </a:xfrm>
          <a:prstGeom prst="line">
            <a:avLst/>
          </a:prstGeom>
          <a:ln>
            <a:solidFill>
              <a:schemeClr val="tx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5" name="文本框 14">
            <a:extLst>
              <a:ext uri="{FF2B5EF4-FFF2-40B4-BE49-F238E27FC236}">
                <a16:creationId xmlns:a16="http://schemas.microsoft.com/office/drawing/2014/main" xmlns="" id="{7F1B34CB-5282-4153-9709-B885306E0763}"/>
              </a:ext>
            </a:extLst>
          </p:cNvPr>
          <p:cNvSpPr txBox="1"/>
          <p:nvPr/>
        </p:nvSpPr>
        <p:spPr bwMode="gray">
          <a:xfrm>
            <a:off x="3122991" y="1665766"/>
            <a:ext cx="2050828" cy="276999"/>
          </a:xfrm>
          <a:prstGeom prst="rect">
            <a:avLst/>
          </a:prstGeom>
          <a:noFill/>
        </p:spPr>
        <p:txBody>
          <a:bodyPr wrap="square" rtlCol="0">
            <a:spAutoFit/>
          </a:bodyPr>
          <a:lstStyle/>
          <a:p>
            <a:pPr algn="ct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NCE-Campus</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a:extLst>
              <a:ext uri="{FF2B5EF4-FFF2-40B4-BE49-F238E27FC236}">
                <a16:creationId xmlns:a16="http://schemas.microsoft.com/office/drawing/2014/main" xmlns="" id="{88BE6954-D655-4C83-9F8B-70B242112D25}"/>
              </a:ext>
            </a:extLst>
          </p:cNvPr>
          <p:cNvCxnSpPr/>
          <p:nvPr/>
        </p:nvCxnSpPr>
        <p:spPr bwMode="gray">
          <a:xfrm>
            <a:off x="8438004" y="2553423"/>
            <a:ext cx="0" cy="2707226"/>
          </a:xfrm>
          <a:prstGeom prst="line">
            <a:avLst/>
          </a:prstGeom>
          <a:ln>
            <a:solidFill>
              <a:schemeClr val="tx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7" name="文本框 16">
            <a:extLst>
              <a:ext uri="{FF2B5EF4-FFF2-40B4-BE49-F238E27FC236}">
                <a16:creationId xmlns:a16="http://schemas.microsoft.com/office/drawing/2014/main" xmlns="" id="{86F7A4B3-7976-44BF-A6A7-FB462FD67012}"/>
              </a:ext>
            </a:extLst>
          </p:cNvPr>
          <p:cNvSpPr txBox="1"/>
          <p:nvPr/>
        </p:nvSpPr>
        <p:spPr bwMode="gray">
          <a:xfrm>
            <a:off x="7746963" y="1668982"/>
            <a:ext cx="1382080" cy="461665"/>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第三方网络管理监控平台</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任意多边形 17">
            <a:extLst>
              <a:ext uri="{FF2B5EF4-FFF2-40B4-BE49-F238E27FC236}">
                <a16:creationId xmlns:a16="http://schemas.microsoft.com/office/drawing/2014/main" xmlns="" id="{D430075E-7899-4D7E-8AC6-8CEE9FCD7E4A}"/>
              </a:ext>
            </a:extLst>
          </p:cNvPr>
          <p:cNvSpPr/>
          <p:nvPr/>
        </p:nvSpPr>
        <p:spPr bwMode="gray">
          <a:xfrm>
            <a:off x="4046553" y="2553423"/>
            <a:ext cx="141181" cy="264639"/>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a:extLst>
              <a:ext uri="{FF2B5EF4-FFF2-40B4-BE49-F238E27FC236}">
                <a16:creationId xmlns:a16="http://schemas.microsoft.com/office/drawing/2014/main" xmlns="" id="{D4144536-B124-4271-B474-361414E7D98F}"/>
              </a:ext>
            </a:extLst>
          </p:cNvPr>
          <p:cNvSpPr txBox="1"/>
          <p:nvPr/>
        </p:nvSpPr>
        <p:spPr bwMode="gray">
          <a:xfrm>
            <a:off x="4187735" y="2553424"/>
            <a:ext cx="2050828" cy="46166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租户管理员创建北向接口管理员账号</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任意多边形 19">
            <a:extLst>
              <a:ext uri="{FF2B5EF4-FFF2-40B4-BE49-F238E27FC236}">
                <a16:creationId xmlns:a16="http://schemas.microsoft.com/office/drawing/2014/main" xmlns="" id="{B704174B-AC35-4190-9799-F1B213B2A1E2}"/>
              </a:ext>
            </a:extLst>
          </p:cNvPr>
          <p:cNvSpPr/>
          <p:nvPr/>
        </p:nvSpPr>
        <p:spPr bwMode="gray">
          <a:xfrm>
            <a:off x="8438005" y="2856820"/>
            <a:ext cx="141181" cy="264639"/>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a:extLst>
              <a:ext uri="{FF2B5EF4-FFF2-40B4-BE49-F238E27FC236}">
                <a16:creationId xmlns:a16="http://schemas.microsoft.com/office/drawing/2014/main" xmlns="" id="{8364DCD0-464D-41ED-A2AE-5B258BB0FFB1}"/>
              </a:ext>
            </a:extLst>
          </p:cNvPr>
          <p:cNvSpPr txBox="1"/>
          <p:nvPr/>
        </p:nvSpPr>
        <p:spPr bwMode="gray">
          <a:xfrm>
            <a:off x="8579186" y="2559679"/>
            <a:ext cx="2715662" cy="646331"/>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合作伙伴获取到帐号和密码，通过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postman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获取</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Token_id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调用的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head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中携带</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Token_id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进行</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鉴权</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任意多边形 23">
            <a:extLst>
              <a:ext uri="{FF2B5EF4-FFF2-40B4-BE49-F238E27FC236}">
                <a16:creationId xmlns:a16="http://schemas.microsoft.com/office/drawing/2014/main" xmlns="" id="{44AEFE34-76EA-47EA-96C1-BAC52AA34E21}"/>
              </a:ext>
            </a:extLst>
          </p:cNvPr>
          <p:cNvSpPr/>
          <p:nvPr/>
        </p:nvSpPr>
        <p:spPr bwMode="gray">
          <a:xfrm>
            <a:off x="8445436" y="3462526"/>
            <a:ext cx="141181" cy="264639"/>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a:extLst>
              <a:ext uri="{FF2B5EF4-FFF2-40B4-BE49-F238E27FC236}">
                <a16:creationId xmlns:a16="http://schemas.microsoft.com/office/drawing/2014/main" xmlns="" id="{E5E1406F-C773-49E5-B36A-15AACFEB0199}"/>
              </a:ext>
            </a:extLst>
          </p:cNvPr>
          <p:cNvSpPr txBox="1"/>
          <p:nvPr/>
        </p:nvSpPr>
        <p:spPr bwMode="gray">
          <a:xfrm>
            <a:off x="8612295" y="3461896"/>
            <a:ext cx="2050828"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新增租户管理员帐号</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任意多边形 27">
            <a:extLst>
              <a:ext uri="{FF2B5EF4-FFF2-40B4-BE49-F238E27FC236}">
                <a16:creationId xmlns:a16="http://schemas.microsoft.com/office/drawing/2014/main" xmlns="" id="{20040164-BEFE-4B2F-8530-7F90F2F475FC}"/>
              </a:ext>
            </a:extLst>
          </p:cNvPr>
          <p:cNvSpPr/>
          <p:nvPr/>
        </p:nvSpPr>
        <p:spPr bwMode="gray">
          <a:xfrm>
            <a:off x="8445436" y="4152159"/>
            <a:ext cx="141181" cy="264639"/>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a:extLst>
              <a:ext uri="{FF2B5EF4-FFF2-40B4-BE49-F238E27FC236}">
                <a16:creationId xmlns:a16="http://schemas.microsoft.com/office/drawing/2014/main" xmlns="" id="{E88F15BC-E997-4E22-AEAD-1FED9AD72B85}"/>
              </a:ext>
            </a:extLst>
          </p:cNvPr>
          <p:cNvSpPr txBox="1"/>
          <p:nvPr/>
        </p:nvSpPr>
        <p:spPr bwMode="gray">
          <a:xfrm>
            <a:off x="8594049" y="4157331"/>
            <a:ext cx="2050828"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SSID</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箭头连接符 25">
            <a:extLst>
              <a:ext uri="{FF2B5EF4-FFF2-40B4-BE49-F238E27FC236}">
                <a16:creationId xmlns:a16="http://schemas.microsoft.com/office/drawing/2014/main" xmlns="" id="{A3783094-4CB7-4C86-8CDE-F21466F2E2F8}"/>
              </a:ext>
            </a:extLst>
          </p:cNvPr>
          <p:cNvCxnSpPr/>
          <p:nvPr/>
        </p:nvCxnSpPr>
        <p:spPr bwMode="gray">
          <a:xfrm flipH="1">
            <a:off x="4053984" y="4557852"/>
            <a:ext cx="4391452"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7" name="文本框 26">
            <a:extLst>
              <a:ext uri="{FF2B5EF4-FFF2-40B4-BE49-F238E27FC236}">
                <a16:creationId xmlns:a16="http://schemas.microsoft.com/office/drawing/2014/main" xmlns="" id="{EDA19CDE-1690-4C3D-9B0A-79BF84A29084}"/>
              </a:ext>
            </a:extLst>
          </p:cNvPr>
          <p:cNvSpPr txBox="1"/>
          <p:nvPr/>
        </p:nvSpPr>
        <p:spPr bwMode="gray">
          <a:xfrm>
            <a:off x="4172876" y="4352052"/>
            <a:ext cx="3640964"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调用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任意多边形 31">
            <a:extLst>
              <a:ext uri="{FF2B5EF4-FFF2-40B4-BE49-F238E27FC236}">
                <a16:creationId xmlns:a16="http://schemas.microsoft.com/office/drawing/2014/main" xmlns="" id="{866F5786-B090-4BD3-887C-991ADB7F2BE0}"/>
              </a:ext>
            </a:extLst>
          </p:cNvPr>
          <p:cNvSpPr/>
          <p:nvPr/>
        </p:nvSpPr>
        <p:spPr bwMode="gray">
          <a:xfrm>
            <a:off x="4046553" y="4605026"/>
            <a:ext cx="141181" cy="264639"/>
          </a:xfrm>
          <a:custGeom>
            <a:avLst/>
            <a:gdLst>
              <a:gd name="connsiteX0" fmla="*/ 0 w 263902"/>
              <a:gd name="connsiteY0" fmla="*/ 66768 h 343020"/>
              <a:gd name="connsiteX1" fmla="*/ 43961 w 263902"/>
              <a:gd name="connsiteY1" fmla="*/ 14014 h 343020"/>
              <a:gd name="connsiteX2" fmla="*/ 167054 w 263902"/>
              <a:gd name="connsiteY2" fmla="*/ 5222 h 343020"/>
              <a:gd name="connsiteX3" fmla="*/ 254977 w 263902"/>
              <a:gd name="connsiteY3" fmla="*/ 84352 h 343020"/>
              <a:gd name="connsiteX4" fmla="*/ 254977 w 263902"/>
              <a:gd name="connsiteY4" fmla="*/ 225029 h 343020"/>
              <a:gd name="connsiteX5" fmla="*/ 202223 w 263902"/>
              <a:gd name="connsiteY5" fmla="*/ 321745 h 343020"/>
              <a:gd name="connsiteX6" fmla="*/ 61546 w 263902"/>
              <a:gd name="connsiteY6" fmla="*/ 339329 h 343020"/>
              <a:gd name="connsiteX7" fmla="*/ 0 w 263902"/>
              <a:gd name="connsiteY7" fmla="*/ 268991 h 343020"/>
              <a:gd name="connsiteX0" fmla="*/ 0 w 263902"/>
              <a:gd name="connsiteY0" fmla="*/ 66768 h 331280"/>
              <a:gd name="connsiteX1" fmla="*/ 43961 w 263902"/>
              <a:gd name="connsiteY1" fmla="*/ 14014 h 331280"/>
              <a:gd name="connsiteX2" fmla="*/ 167054 w 263902"/>
              <a:gd name="connsiteY2" fmla="*/ 5222 h 331280"/>
              <a:gd name="connsiteX3" fmla="*/ 254977 w 263902"/>
              <a:gd name="connsiteY3" fmla="*/ 84352 h 331280"/>
              <a:gd name="connsiteX4" fmla="*/ 254977 w 263902"/>
              <a:gd name="connsiteY4" fmla="*/ 225029 h 331280"/>
              <a:gd name="connsiteX5" fmla="*/ 202223 w 263902"/>
              <a:gd name="connsiteY5" fmla="*/ 321745 h 331280"/>
              <a:gd name="connsiteX6" fmla="*/ 70338 w 263902"/>
              <a:gd name="connsiteY6" fmla="*/ 321745 h 331280"/>
              <a:gd name="connsiteX7" fmla="*/ 0 w 263902"/>
              <a:gd name="connsiteY7" fmla="*/ 268991 h 331280"/>
              <a:gd name="connsiteX0" fmla="*/ 0 w 264092"/>
              <a:gd name="connsiteY0" fmla="*/ 66768 h 331280"/>
              <a:gd name="connsiteX1" fmla="*/ 43961 w 264092"/>
              <a:gd name="connsiteY1" fmla="*/ 14014 h 331280"/>
              <a:gd name="connsiteX2" fmla="*/ 167054 w 264092"/>
              <a:gd name="connsiteY2" fmla="*/ 5222 h 331280"/>
              <a:gd name="connsiteX3" fmla="*/ 254977 w 264092"/>
              <a:gd name="connsiteY3" fmla="*/ 84352 h 331280"/>
              <a:gd name="connsiteX4" fmla="*/ 254977 w 264092"/>
              <a:gd name="connsiteY4" fmla="*/ 225029 h 331280"/>
              <a:gd name="connsiteX5" fmla="*/ 198751 w 264092"/>
              <a:gd name="connsiteY5" fmla="*/ 321745 h 331280"/>
              <a:gd name="connsiteX6" fmla="*/ 70338 w 264092"/>
              <a:gd name="connsiteY6" fmla="*/ 321745 h 331280"/>
              <a:gd name="connsiteX7" fmla="*/ 0 w 264092"/>
              <a:gd name="connsiteY7" fmla="*/ 268991 h 331280"/>
              <a:gd name="connsiteX0" fmla="*/ 0 w 262037"/>
              <a:gd name="connsiteY0" fmla="*/ 66412 h 330924"/>
              <a:gd name="connsiteX1" fmla="*/ 43961 w 262037"/>
              <a:gd name="connsiteY1" fmla="*/ 13658 h 330924"/>
              <a:gd name="connsiteX2" fmla="*/ 167054 w 262037"/>
              <a:gd name="connsiteY2" fmla="*/ 4866 h 330924"/>
              <a:gd name="connsiteX3" fmla="*/ 251504 w 262037"/>
              <a:gd name="connsiteY3" fmla="*/ 79168 h 330924"/>
              <a:gd name="connsiteX4" fmla="*/ 254977 w 262037"/>
              <a:gd name="connsiteY4" fmla="*/ 224673 h 330924"/>
              <a:gd name="connsiteX5" fmla="*/ 198751 w 262037"/>
              <a:gd name="connsiteY5" fmla="*/ 321389 h 330924"/>
              <a:gd name="connsiteX6" fmla="*/ 70338 w 262037"/>
              <a:gd name="connsiteY6" fmla="*/ 321389 h 330924"/>
              <a:gd name="connsiteX7" fmla="*/ 0 w 262037"/>
              <a:gd name="connsiteY7" fmla="*/ 268635 h 330924"/>
              <a:gd name="connsiteX0" fmla="*/ 0 w 257400"/>
              <a:gd name="connsiteY0" fmla="*/ 66412 h 330588"/>
              <a:gd name="connsiteX1" fmla="*/ 43961 w 257400"/>
              <a:gd name="connsiteY1" fmla="*/ 13658 h 330588"/>
              <a:gd name="connsiteX2" fmla="*/ 167054 w 257400"/>
              <a:gd name="connsiteY2" fmla="*/ 4866 h 330588"/>
              <a:gd name="connsiteX3" fmla="*/ 251504 w 257400"/>
              <a:gd name="connsiteY3" fmla="*/ 79168 h 330588"/>
              <a:gd name="connsiteX4" fmla="*/ 244560 w 257400"/>
              <a:gd name="connsiteY4" fmla="*/ 229502 h 330588"/>
              <a:gd name="connsiteX5" fmla="*/ 198751 w 257400"/>
              <a:gd name="connsiteY5" fmla="*/ 321389 h 330588"/>
              <a:gd name="connsiteX6" fmla="*/ 70338 w 257400"/>
              <a:gd name="connsiteY6" fmla="*/ 321389 h 330588"/>
              <a:gd name="connsiteX7" fmla="*/ 0 w 257400"/>
              <a:gd name="connsiteY7" fmla="*/ 268635 h 330588"/>
              <a:gd name="connsiteX0" fmla="*/ 0 w 247359"/>
              <a:gd name="connsiteY0" fmla="*/ 66412 h 330588"/>
              <a:gd name="connsiteX1" fmla="*/ 43961 w 247359"/>
              <a:gd name="connsiteY1" fmla="*/ 13658 h 330588"/>
              <a:gd name="connsiteX2" fmla="*/ 167054 w 247359"/>
              <a:gd name="connsiteY2" fmla="*/ 4866 h 330588"/>
              <a:gd name="connsiteX3" fmla="*/ 234142 w 247359"/>
              <a:gd name="connsiteY3" fmla="*/ 79168 h 330588"/>
              <a:gd name="connsiteX4" fmla="*/ 244560 w 247359"/>
              <a:gd name="connsiteY4" fmla="*/ 229502 h 330588"/>
              <a:gd name="connsiteX5" fmla="*/ 198751 w 247359"/>
              <a:gd name="connsiteY5" fmla="*/ 321389 h 330588"/>
              <a:gd name="connsiteX6" fmla="*/ 70338 w 247359"/>
              <a:gd name="connsiteY6" fmla="*/ 321389 h 330588"/>
              <a:gd name="connsiteX7" fmla="*/ 0 w 247359"/>
              <a:gd name="connsiteY7" fmla="*/ 268635 h 330588"/>
              <a:gd name="connsiteX0" fmla="*/ 0 w 248130"/>
              <a:gd name="connsiteY0" fmla="*/ 66412 h 330588"/>
              <a:gd name="connsiteX1" fmla="*/ 4396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68268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130"/>
              <a:gd name="connsiteY0" fmla="*/ 66412 h 330588"/>
              <a:gd name="connsiteX1" fmla="*/ 57851 w 248130"/>
              <a:gd name="connsiteY1" fmla="*/ 13658 h 330588"/>
              <a:gd name="connsiteX2" fmla="*/ 167054 w 248130"/>
              <a:gd name="connsiteY2" fmla="*/ 4866 h 330588"/>
              <a:gd name="connsiteX3" fmla="*/ 234142 w 248130"/>
              <a:gd name="connsiteY3" fmla="*/ 79168 h 330588"/>
              <a:gd name="connsiteX4" fmla="*/ 244560 w 248130"/>
              <a:gd name="connsiteY4" fmla="*/ 229502 h 330588"/>
              <a:gd name="connsiteX5" fmla="*/ 188334 w 248130"/>
              <a:gd name="connsiteY5" fmla="*/ 321389 h 330588"/>
              <a:gd name="connsiteX6" fmla="*/ 70338 w 248130"/>
              <a:gd name="connsiteY6" fmla="*/ 321389 h 330588"/>
              <a:gd name="connsiteX7" fmla="*/ 0 w 248130"/>
              <a:gd name="connsiteY7" fmla="*/ 268635 h 330588"/>
              <a:gd name="connsiteX0" fmla="*/ 0 w 248012"/>
              <a:gd name="connsiteY0" fmla="*/ 59661 h 323837"/>
              <a:gd name="connsiteX1" fmla="*/ 57851 w 248012"/>
              <a:gd name="connsiteY1" fmla="*/ 6907 h 323837"/>
              <a:gd name="connsiteX2" fmla="*/ 170526 w 248012"/>
              <a:gd name="connsiteY2" fmla="*/ 7772 h 323837"/>
              <a:gd name="connsiteX3" fmla="*/ 234142 w 248012"/>
              <a:gd name="connsiteY3" fmla="*/ 72417 h 323837"/>
              <a:gd name="connsiteX4" fmla="*/ 244560 w 248012"/>
              <a:gd name="connsiteY4" fmla="*/ 222751 h 323837"/>
              <a:gd name="connsiteX5" fmla="*/ 188334 w 248012"/>
              <a:gd name="connsiteY5" fmla="*/ 314638 h 323837"/>
              <a:gd name="connsiteX6" fmla="*/ 70338 w 248012"/>
              <a:gd name="connsiteY6" fmla="*/ 314638 h 323837"/>
              <a:gd name="connsiteX7" fmla="*/ 0 w 248012"/>
              <a:gd name="connsiteY7" fmla="*/ 261884 h 323837"/>
              <a:gd name="connsiteX0" fmla="*/ 0 w 245549"/>
              <a:gd name="connsiteY0" fmla="*/ 59968 h 324144"/>
              <a:gd name="connsiteX1" fmla="*/ 57851 w 245549"/>
              <a:gd name="connsiteY1" fmla="*/ 7214 h 324144"/>
              <a:gd name="connsiteX2" fmla="*/ 170526 w 245549"/>
              <a:gd name="connsiteY2" fmla="*/ 8079 h 324144"/>
              <a:gd name="connsiteX3" fmla="*/ 220252 w 245549"/>
              <a:gd name="connsiteY3" fmla="*/ 77552 h 324144"/>
              <a:gd name="connsiteX4" fmla="*/ 244560 w 245549"/>
              <a:gd name="connsiteY4" fmla="*/ 223058 h 324144"/>
              <a:gd name="connsiteX5" fmla="*/ 188334 w 245549"/>
              <a:gd name="connsiteY5" fmla="*/ 314945 h 324144"/>
              <a:gd name="connsiteX6" fmla="*/ 70338 w 245549"/>
              <a:gd name="connsiteY6" fmla="*/ 314945 h 324144"/>
              <a:gd name="connsiteX7" fmla="*/ 0 w 245549"/>
              <a:gd name="connsiteY7" fmla="*/ 262191 h 324144"/>
              <a:gd name="connsiteX0" fmla="*/ 0 w 227386"/>
              <a:gd name="connsiteY0" fmla="*/ 59968 h 324144"/>
              <a:gd name="connsiteX1" fmla="*/ 57851 w 227386"/>
              <a:gd name="connsiteY1" fmla="*/ 7214 h 324144"/>
              <a:gd name="connsiteX2" fmla="*/ 170526 w 227386"/>
              <a:gd name="connsiteY2" fmla="*/ 8079 h 324144"/>
              <a:gd name="connsiteX3" fmla="*/ 220252 w 227386"/>
              <a:gd name="connsiteY3" fmla="*/ 77552 h 324144"/>
              <a:gd name="connsiteX4" fmla="*/ 223726 w 227386"/>
              <a:gd name="connsiteY4" fmla="*/ 223058 h 324144"/>
              <a:gd name="connsiteX5" fmla="*/ 188334 w 227386"/>
              <a:gd name="connsiteY5" fmla="*/ 314945 h 324144"/>
              <a:gd name="connsiteX6" fmla="*/ 70338 w 227386"/>
              <a:gd name="connsiteY6" fmla="*/ 314945 h 324144"/>
              <a:gd name="connsiteX7" fmla="*/ 0 w 227386"/>
              <a:gd name="connsiteY7" fmla="*/ 262191 h 324144"/>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16547"/>
              <a:gd name="connsiteX1" fmla="*/ 57851 w 228114"/>
              <a:gd name="connsiteY1" fmla="*/ 7214 h 316547"/>
              <a:gd name="connsiteX2" fmla="*/ 170526 w 228114"/>
              <a:gd name="connsiteY2" fmla="*/ 8079 h 316547"/>
              <a:gd name="connsiteX3" fmla="*/ 220252 w 228114"/>
              <a:gd name="connsiteY3" fmla="*/ 77552 h 316547"/>
              <a:gd name="connsiteX4" fmla="*/ 223726 w 228114"/>
              <a:gd name="connsiteY4" fmla="*/ 223058 h 316547"/>
              <a:gd name="connsiteX5" fmla="*/ 177917 w 228114"/>
              <a:gd name="connsiteY5" fmla="*/ 295631 h 316547"/>
              <a:gd name="connsiteX6" fmla="*/ 70338 w 228114"/>
              <a:gd name="connsiteY6" fmla="*/ 314945 h 316547"/>
              <a:gd name="connsiteX7" fmla="*/ 0 w 228114"/>
              <a:gd name="connsiteY7" fmla="*/ 262191 h 316547"/>
              <a:gd name="connsiteX0" fmla="*/ 0 w 228114"/>
              <a:gd name="connsiteY0" fmla="*/ 59968 h 320510"/>
              <a:gd name="connsiteX1" fmla="*/ 57851 w 228114"/>
              <a:gd name="connsiteY1" fmla="*/ 7214 h 320510"/>
              <a:gd name="connsiteX2" fmla="*/ 170526 w 228114"/>
              <a:gd name="connsiteY2" fmla="*/ 8079 h 320510"/>
              <a:gd name="connsiteX3" fmla="*/ 220252 w 228114"/>
              <a:gd name="connsiteY3" fmla="*/ 77552 h 320510"/>
              <a:gd name="connsiteX4" fmla="*/ 223726 w 228114"/>
              <a:gd name="connsiteY4" fmla="*/ 223058 h 320510"/>
              <a:gd name="connsiteX5" fmla="*/ 177917 w 228114"/>
              <a:gd name="connsiteY5" fmla="*/ 295631 h 320510"/>
              <a:gd name="connsiteX6" fmla="*/ 70338 w 228114"/>
              <a:gd name="connsiteY6" fmla="*/ 314945 h 320510"/>
              <a:gd name="connsiteX7" fmla="*/ 0 w 228114"/>
              <a:gd name="connsiteY7" fmla="*/ 204251 h 320510"/>
              <a:gd name="connsiteX0" fmla="*/ 0 w 228114"/>
              <a:gd name="connsiteY0" fmla="*/ 59968 h 312601"/>
              <a:gd name="connsiteX1" fmla="*/ 57851 w 228114"/>
              <a:gd name="connsiteY1" fmla="*/ 7214 h 312601"/>
              <a:gd name="connsiteX2" fmla="*/ 170526 w 228114"/>
              <a:gd name="connsiteY2" fmla="*/ 8079 h 312601"/>
              <a:gd name="connsiteX3" fmla="*/ 220252 w 228114"/>
              <a:gd name="connsiteY3" fmla="*/ 77552 h 312601"/>
              <a:gd name="connsiteX4" fmla="*/ 223726 w 228114"/>
              <a:gd name="connsiteY4" fmla="*/ 223058 h 312601"/>
              <a:gd name="connsiteX5" fmla="*/ 177917 w 228114"/>
              <a:gd name="connsiteY5" fmla="*/ 295631 h 312601"/>
              <a:gd name="connsiteX6" fmla="*/ 70338 w 228114"/>
              <a:gd name="connsiteY6" fmla="*/ 305288 h 312601"/>
              <a:gd name="connsiteX7" fmla="*/ 0 w 228114"/>
              <a:gd name="connsiteY7" fmla="*/ 204251 h 312601"/>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0 w 228114"/>
              <a:gd name="connsiteY7" fmla="*/ 207075 h 315425"/>
              <a:gd name="connsiteX0" fmla="*/ 0 w 228114"/>
              <a:gd name="connsiteY0" fmla="*/ 106247 h 315425"/>
              <a:gd name="connsiteX1" fmla="*/ 57851 w 228114"/>
              <a:gd name="connsiteY1" fmla="*/ 10038 h 315425"/>
              <a:gd name="connsiteX2" fmla="*/ 170526 w 228114"/>
              <a:gd name="connsiteY2" fmla="*/ 10903 h 315425"/>
              <a:gd name="connsiteX3" fmla="*/ 220252 w 228114"/>
              <a:gd name="connsiteY3" fmla="*/ 80376 h 315425"/>
              <a:gd name="connsiteX4" fmla="*/ 223726 w 228114"/>
              <a:gd name="connsiteY4" fmla="*/ 225882 h 315425"/>
              <a:gd name="connsiteX5" fmla="*/ 177917 w 228114"/>
              <a:gd name="connsiteY5" fmla="*/ 298455 h 315425"/>
              <a:gd name="connsiteX6" fmla="*/ 70338 w 228114"/>
              <a:gd name="connsiteY6" fmla="*/ 308112 h 315425"/>
              <a:gd name="connsiteX7" fmla="*/ 3472 w 228114"/>
              <a:gd name="connsiteY7" fmla="*/ 207075 h 315425"/>
              <a:gd name="connsiteX0" fmla="*/ 0 w 228114"/>
              <a:gd name="connsiteY0" fmla="*/ 101203 h 310381"/>
              <a:gd name="connsiteX1" fmla="*/ 64796 w 228114"/>
              <a:gd name="connsiteY1" fmla="*/ 14650 h 310381"/>
              <a:gd name="connsiteX2" fmla="*/ 170526 w 228114"/>
              <a:gd name="connsiteY2" fmla="*/ 5859 h 310381"/>
              <a:gd name="connsiteX3" fmla="*/ 220252 w 228114"/>
              <a:gd name="connsiteY3" fmla="*/ 75332 h 310381"/>
              <a:gd name="connsiteX4" fmla="*/ 223726 w 228114"/>
              <a:gd name="connsiteY4" fmla="*/ 220838 h 310381"/>
              <a:gd name="connsiteX5" fmla="*/ 177917 w 228114"/>
              <a:gd name="connsiteY5" fmla="*/ 293411 h 310381"/>
              <a:gd name="connsiteX6" fmla="*/ 70338 w 228114"/>
              <a:gd name="connsiteY6" fmla="*/ 303068 h 310381"/>
              <a:gd name="connsiteX7" fmla="*/ 3472 w 228114"/>
              <a:gd name="connsiteY7" fmla="*/ 202031 h 310381"/>
              <a:gd name="connsiteX0" fmla="*/ 0 w 229275"/>
              <a:gd name="connsiteY0" fmla="*/ 101203 h 310381"/>
              <a:gd name="connsiteX1" fmla="*/ 64796 w 229275"/>
              <a:gd name="connsiteY1" fmla="*/ 14650 h 310381"/>
              <a:gd name="connsiteX2" fmla="*/ 149692 w 229275"/>
              <a:gd name="connsiteY2" fmla="*/ 5859 h 310381"/>
              <a:gd name="connsiteX3" fmla="*/ 220252 w 229275"/>
              <a:gd name="connsiteY3" fmla="*/ 75332 h 310381"/>
              <a:gd name="connsiteX4" fmla="*/ 223726 w 229275"/>
              <a:gd name="connsiteY4" fmla="*/ 220838 h 310381"/>
              <a:gd name="connsiteX5" fmla="*/ 177917 w 229275"/>
              <a:gd name="connsiteY5" fmla="*/ 293411 h 310381"/>
              <a:gd name="connsiteX6" fmla="*/ 70338 w 229275"/>
              <a:gd name="connsiteY6" fmla="*/ 303068 h 310381"/>
              <a:gd name="connsiteX7" fmla="*/ 3472 w 229275"/>
              <a:gd name="connsiteY7" fmla="*/ 202031 h 310381"/>
              <a:gd name="connsiteX0" fmla="*/ 0 w 229275"/>
              <a:gd name="connsiteY0" fmla="*/ 101203 h 301058"/>
              <a:gd name="connsiteX1" fmla="*/ 64796 w 229275"/>
              <a:gd name="connsiteY1" fmla="*/ 14650 h 301058"/>
              <a:gd name="connsiteX2" fmla="*/ 149692 w 229275"/>
              <a:gd name="connsiteY2" fmla="*/ 5859 h 301058"/>
              <a:gd name="connsiteX3" fmla="*/ 220252 w 229275"/>
              <a:gd name="connsiteY3" fmla="*/ 75332 h 301058"/>
              <a:gd name="connsiteX4" fmla="*/ 223726 w 229275"/>
              <a:gd name="connsiteY4" fmla="*/ 220838 h 301058"/>
              <a:gd name="connsiteX5" fmla="*/ 177917 w 229275"/>
              <a:gd name="connsiteY5" fmla="*/ 293411 h 301058"/>
              <a:gd name="connsiteX6" fmla="*/ 70338 w 229275"/>
              <a:gd name="connsiteY6" fmla="*/ 288583 h 301058"/>
              <a:gd name="connsiteX7" fmla="*/ 3472 w 229275"/>
              <a:gd name="connsiteY7" fmla="*/ 202031 h 301058"/>
              <a:gd name="connsiteX0" fmla="*/ 0 w 229964"/>
              <a:gd name="connsiteY0" fmla="*/ 101203 h 298262"/>
              <a:gd name="connsiteX1" fmla="*/ 64796 w 229964"/>
              <a:gd name="connsiteY1" fmla="*/ 14650 h 298262"/>
              <a:gd name="connsiteX2" fmla="*/ 149692 w 229964"/>
              <a:gd name="connsiteY2" fmla="*/ 5859 h 298262"/>
              <a:gd name="connsiteX3" fmla="*/ 220252 w 229964"/>
              <a:gd name="connsiteY3" fmla="*/ 75332 h 298262"/>
              <a:gd name="connsiteX4" fmla="*/ 223726 w 229964"/>
              <a:gd name="connsiteY4" fmla="*/ 220838 h 298262"/>
              <a:gd name="connsiteX5" fmla="*/ 167500 w 229964"/>
              <a:gd name="connsiteY5" fmla="*/ 288583 h 298262"/>
              <a:gd name="connsiteX6" fmla="*/ 70338 w 229964"/>
              <a:gd name="connsiteY6" fmla="*/ 288583 h 298262"/>
              <a:gd name="connsiteX7" fmla="*/ 3472 w 229964"/>
              <a:gd name="connsiteY7" fmla="*/ 202031 h 298262"/>
              <a:gd name="connsiteX0" fmla="*/ 0 w 229964"/>
              <a:gd name="connsiteY0" fmla="*/ 100852 h 297911"/>
              <a:gd name="connsiteX1" fmla="*/ 64796 w 229964"/>
              <a:gd name="connsiteY1" fmla="*/ 14299 h 297911"/>
              <a:gd name="connsiteX2" fmla="*/ 149692 w 229964"/>
              <a:gd name="connsiteY2" fmla="*/ 5508 h 297911"/>
              <a:gd name="connsiteX3" fmla="*/ 220252 w 229964"/>
              <a:gd name="connsiteY3" fmla="*/ 70152 h 297911"/>
              <a:gd name="connsiteX4" fmla="*/ 223726 w 229964"/>
              <a:gd name="connsiteY4" fmla="*/ 220487 h 297911"/>
              <a:gd name="connsiteX5" fmla="*/ 167500 w 229964"/>
              <a:gd name="connsiteY5" fmla="*/ 288232 h 297911"/>
              <a:gd name="connsiteX6" fmla="*/ 70338 w 229964"/>
              <a:gd name="connsiteY6" fmla="*/ 288232 h 297911"/>
              <a:gd name="connsiteX7" fmla="*/ 3472 w 229964"/>
              <a:gd name="connsiteY7" fmla="*/ 201680 h 29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4" h="297911">
                <a:moveTo>
                  <a:pt x="0" y="100852"/>
                </a:moveTo>
                <a:cubicBezTo>
                  <a:pt x="8059" y="79604"/>
                  <a:pt x="39847" y="30190"/>
                  <a:pt x="64796" y="14299"/>
                </a:cubicBezTo>
                <a:cubicBezTo>
                  <a:pt x="89745" y="-1592"/>
                  <a:pt x="123783" y="-3801"/>
                  <a:pt x="149692" y="5508"/>
                </a:cubicBezTo>
                <a:cubicBezTo>
                  <a:pt x="175601" y="14817"/>
                  <a:pt x="207913" y="34322"/>
                  <a:pt x="220252" y="70152"/>
                </a:cubicBezTo>
                <a:cubicBezTo>
                  <a:pt x="232591" y="105982"/>
                  <a:pt x="232518" y="184140"/>
                  <a:pt x="223726" y="220487"/>
                </a:cubicBezTo>
                <a:cubicBezTo>
                  <a:pt x="214934" y="256834"/>
                  <a:pt x="193065" y="276941"/>
                  <a:pt x="167500" y="288232"/>
                </a:cubicBezTo>
                <a:cubicBezTo>
                  <a:pt x="141935" y="299523"/>
                  <a:pt x="97676" y="302657"/>
                  <a:pt x="70338" y="288232"/>
                </a:cubicBezTo>
                <a:cubicBezTo>
                  <a:pt x="43000" y="273807"/>
                  <a:pt x="17393" y="232453"/>
                  <a:pt x="3472" y="201680"/>
                </a:cubicBezTo>
              </a:path>
            </a:pathLst>
          </a:custGeom>
          <a:noFill/>
          <a:ln w="9525" cap="flat" cmpd="sng" algn="ctr">
            <a:solidFill>
              <a:schemeClr val="tx1"/>
            </a:solidFill>
            <a:prstDash val="solid"/>
            <a:round/>
            <a:headEnd type="none" w="med" len="med"/>
            <a:tailEnd type="arrow" w="med" len="med"/>
          </a:ln>
          <a:effectLst/>
        </p:spPr>
        <p:txBody>
          <a:bodyPr vert="horz" wrap="square" lIns="79200" tIns="39600" rIns="79200" bIns="39600" numCol="1" rtlCol="0" anchor="t" anchorCtr="0" compatLnSpc="1">
            <a:prstTxWarp prst="textNoShape">
              <a:avLst/>
            </a:prstTxWarp>
            <a:spAutoFit/>
          </a:bodyPr>
          <a:lstStyle/>
          <a:p>
            <a:pPr marL="0" marR="0" indent="0" algn="l" defTabSz="8016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a:extLst>
              <a:ext uri="{FF2B5EF4-FFF2-40B4-BE49-F238E27FC236}">
                <a16:creationId xmlns:a16="http://schemas.microsoft.com/office/drawing/2014/main" xmlns="" id="{0660E6C7-3D69-4494-9D95-FFF94F65B80A}"/>
              </a:ext>
            </a:extLst>
          </p:cNvPr>
          <p:cNvSpPr txBox="1"/>
          <p:nvPr/>
        </p:nvSpPr>
        <p:spPr bwMode="gray">
          <a:xfrm>
            <a:off x="4187734" y="4612237"/>
            <a:ext cx="2499241"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在控制器上配置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SSID</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箭头连接符 29">
            <a:extLst>
              <a:ext uri="{FF2B5EF4-FFF2-40B4-BE49-F238E27FC236}">
                <a16:creationId xmlns:a16="http://schemas.microsoft.com/office/drawing/2014/main" xmlns="" id="{C9B62629-107F-47D0-B780-1F2448C93BA0}"/>
              </a:ext>
            </a:extLst>
          </p:cNvPr>
          <p:cNvCxnSpPr/>
          <p:nvPr/>
        </p:nvCxnSpPr>
        <p:spPr bwMode="gray">
          <a:xfrm flipH="1">
            <a:off x="2025447" y="4821486"/>
            <a:ext cx="2021107"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1" name="文本框 30">
            <a:extLst>
              <a:ext uri="{FF2B5EF4-FFF2-40B4-BE49-F238E27FC236}">
                <a16:creationId xmlns:a16="http://schemas.microsoft.com/office/drawing/2014/main" xmlns="" id="{B744C3AD-4662-42A2-BCC4-0B489E732A24}"/>
              </a:ext>
            </a:extLst>
          </p:cNvPr>
          <p:cNvSpPr txBox="1"/>
          <p:nvPr/>
        </p:nvSpPr>
        <p:spPr bwMode="gray">
          <a:xfrm>
            <a:off x="2062600" y="4557852"/>
            <a:ext cx="1983952"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配置下发</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3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198036" y="2108827"/>
            <a:ext cx="540000" cy="442800"/>
          </a:xfrm>
          <a:prstGeom prst="rect">
            <a:avLst/>
          </a:prstGeom>
        </p:spPr>
      </p:pic>
      <p:pic>
        <p:nvPicPr>
          <p:cNvPr id="36" name="图片 3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83984" y="2091052"/>
            <a:ext cx="540000" cy="442800"/>
          </a:xfrm>
          <a:prstGeom prst="rect">
            <a:avLst/>
          </a:prstGeom>
        </p:spPr>
      </p:pic>
      <p:pic>
        <p:nvPicPr>
          <p:cNvPr id="37" name="图片 3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777573" y="2093913"/>
            <a:ext cx="540000" cy="442800"/>
          </a:xfrm>
          <a:prstGeom prst="rect">
            <a:avLst/>
          </a:prstGeom>
        </p:spPr>
      </p:pic>
    </p:spTree>
    <p:extLst>
      <p:ext uri="{BB962C8B-B14F-4D97-AF65-F5344CB8AC3E}">
        <p14:creationId xmlns:p14="http://schemas.microsoft.com/office/powerpoint/2010/main" val="24011012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解决方案概述</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典型场景及开放能力介绍</a:t>
            </a:r>
            <a:endParaRPr lang="en-US" altLang="zh-CN" b="1"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认证授权</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位置服务</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人群画像</a:t>
            </a:r>
            <a:endParaRPr lang="en-US" altLang="zh-CN" dirty="0" smtClean="0">
              <a:solidFill>
                <a:schemeClr val="bg1">
                  <a:lumMod val="50000"/>
                </a:schemeClr>
              </a:solidFill>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网络运维</a:t>
            </a:r>
            <a:endParaRPr lang="en-US" altLang="zh-CN" dirty="0"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smtClean="0">
                <a:sym typeface="Huawei Sans" panose="020C0503030203020204" pitchFamily="34" charset="0"/>
              </a:rPr>
              <a:t>智慧物联</a:t>
            </a:r>
            <a:endParaRPr lang="en-US" altLang="zh-CN" dirty="0" smtClean="0">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开放合作案例</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40541644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bwMode="gray">
          <a:xfrm>
            <a:off x="2734263" y="2024605"/>
            <a:ext cx="2735882" cy="1126462"/>
          </a:xfrm>
          <a:prstGeom prst="rect">
            <a:avLst/>
          </a:prstGeom>
          <a:noFill/>
          <a:ln>
            <a:solidFill>
              <a:srgbClr val="56C4D2"/>
            </a:solidFill>
          </a:ln>
        </p:spPr>
        <p:txBody>
          <a:bodyPr wrap="square" rtlCol="0">
            <a:spAutoFit/>
          </a:bodyPr>
          <a:lstStyle/>
          <a:p>
            <a:pPr>
              <a:lnSpc>
                <a:spcPct val="120000"/>
              </a:lnSpc>
            </a:pPr>
            <a:endParaRPr lang="en-US" altLang="zh-CN" sz="1400" dirty="0" smtClean="0">
              <a:solidFill>
                <a:schemeClr val="tx1"/>
              </a:solidFill>
              <a:latin typeface="Huawei Sans" panose="020C0503030203020204" pitchFamily="34" charset="0"/>
              <a:ea typeface="方正兰亭黑简体" panose="02000000000000000000" pitchFamily="2" charset="-122"/>
            </a:endParaRPr>
          </a:p>
          <a:p>
            <a:pPr>
              <a:lnSpc>
                <a:spcPct val="120000"/>
              </a:lnSpc>
            </a:pPr>
            <a:endParaRPr lang="en-US" altLang="zh-CN" sz="1400" dirty="0">
              <a:latin typeface="Huawei Sans" panose="020C0503030203020204" pitchFamily="34" charset="0"/>
              <a:ea typeface="方正兰亭黑简体" panose="02000000000000000000" pitchFamily="2" charset="-122"/>
            </a:endParaRPr>
          </a:p>
          <a:p>
            <a:pPr>
              <a:lnSpc>
                <a:spcPct val="120000"/>
              </a:lnSpc>
            </a:pPr>
            <a:endParaRPr lang="en-US" altLang="zh-CN" sz="1400" dirty="0" smtClean="0">
              <a:solidFill>
                <a:schemeClr val="tx1"/>
              </a:solidFill>
              <a:latin typeface="Huawei Sans" panose="020C0503030203020204" pitchFamily="34" charset="0"/>
              <a:ea typeface="方正兰亭黑简体" panose="02000000000000000000" pitchFamily="2" charset="-122"/>
            </a:endParaRPr>
          </a:p>
          <a:p>
            <a:pPr>
              <a:lnSpc>
                <a:spcPct val="120000"/>
              </a:lnSpc>
            </a:pPr>
            <a:endParaRPr lang="zh-CN" altLang="en-US" sz="1400" dirty="0">
              <a:solidFill>
                <a:schemeClr val="tx1"/>
              </a:solidFill>
              <a:latin typeface="Huawei Sans" panose="020C0503030203020204" pitchFamily="34" charset="0"/>
              <a:ea typeface="方正兰亭黑简体" panose="02000000000000000000" pitchFamily="2" charset="-122"/>
            </a:endParaRPr>
          </a:p>
        </p:txBody>
      </p:sp>
      <p:sp>
        <p:nvSpPr>
          <p:cNvPr id="2" name="标题 1">
            <a:extLst>
              <a:ext uri="{FF2B5EF4-FFF2-40B4-BE49-F238E27FC236}">
                <a16:creationId xmlns:a16="http://schemas.microsoft.com/office/drawing/2014/main" xmlns="" id="{37DB10B0-DF9D-4AB4-AA90-EBA132273E4F}"/>
              </a:ext>
            </a:extLst>
          </p:cNvPr>
          <p:cNvSpPr>
            <a:spLocks noGrp="1"/>
          </p:cNvSpPr>
          <p:nvPr>
            <p:ph type="title"/>
          </p:nvPr>
        </p:nvSpPr>
        <p:spPr bwMode="gray"/>
        <p:txBody>
          <a:bodyPr/>
          <a:lstStyle/>
          <a:p>
            <a:r>
              <a:rPr lang="zh-CN" altLang="en-US" smtClean="0">
                <a:sym typeface="Huawei Sans" panose="020C0503030203020204" pitchFamily="34" charset="0"/>
              </a:rPr>
              <a:t>智慧物联场景介绍</a:t>
            </a:r>
            <a:endParaRPr lang="zh-CN" altLang="en-US">
              <a:sym typeface="Huawei Sans" panose="020C0503030203020204" pitchFamily="34" charset="0"/>
            </a:endParaRPr>
          </a:p>
        </p:txBody>
      </p:sp>
      <p:sp>
        <p:nvSpPr>
          <p:cNvPr id="14" name="文本占位符 13"/>
          <p:cNvSpPr>
            <a:spLocks noGrp="1"/>
          </p:cNvSpPr>
          <p:nvPr>
            <p:ph type="body" sz="quarter" idx="10"/>
          </p:nvPr>
        </p:nvSpPr>
        <p:spPr bwMode="gray"/>
        <p:txBody>
          <a:bodyPr/>
          <a:lstStyle/>
          <a:p>
            <a:r>
              <a:rPr lang="zh-CN" altLang="en-US" sz="1600" dirty="0"/>
              <a:t>智慧物联，即第三方通过</a:t>
            </a:r>
            <a:r>
              <a:rPr lang="en-US" altLang="zh-CN" sz="1600" dirty="0"/>
              <a:t>AP</a:t>
            </a:r>
            <a:r>
              <a:rPr lang="zh-CN" altLang="en-US" sz="1600" dirty="0"/>
              <a:t>上开放的插卡能力，将</a:t>
            </a:r>
            <a:r>
              <a:rPr lang="en-US" altLang="zh-CN" sz="1600" dirty="0"/>
              <a:t>AP</a:t>
            </a:r>
            <a:r>
              <a:rPr lang="zh-CN" altLang="en-US" sz="1600" dirty="0"/>
              <a:t>扩充为一个物联基站实现能效管理、资产管理、物联定位、电子价签等功能。</a:t>
            </a:r>
          </a:p>
          <a:p>
            <a:endParaRPr lang="zh-CN" altLang="en-US" sz="1600" dirty="0"/>
          </a:p>
        </p:txBody>
      </p:sp>
      <p:sp>
        <p:nvSpPr>
          <p:cNvPr id="5" name="文本框 4">
            <a:extLst>
              <a:ext uri="{FF2B5EF4-FFF2-40B4-BE49-F238E27FC236}">
                <a16:creationId xmlns:a16="http://schemas.microsoft.com/office/drawing/2014/main" xmlns="" id="{4DE3FAA6-0EE2-435A-95E0-444999CCF16E}"/>
              </a:ext>
            </a:extLst>
          </p:cNvPr>
          <p:cNvSpPr txBox="1"/>
          <p:nvPr/>
        </p:nvSpPr>
        <p:spPr bwMode="gray">
          <a:xfrm>
            <a:off x="6737245" y="1851096"/>
            <a:ext cx="4683496" cy="1384995"/>
          </a:xfrm>
          <a:prstGeom prst="rect">
            <a:avLst/>
          </a:prstGeom>
          <a:noFill/>
          <a:ln>
            <a:solidFill>
              <a:srgbClr val="56C4D2"/>
            </a:solidFill>
          </a:ln>
        </p:spPr>
        <p:txBody>
          <a:bodyPr wrap="square" rtlCol="0">
            <a:spAutoFit/>
          </a:bodyPr>
          <a:lstStyle/>
          <a:p>
            <a:pPr>
              <a:lnSpc>
                <a:spcPct val="120000"/>
              </a:lnSpc>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应用场景</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200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合作伙伴希望借助华为网络基础设施，协助其完成物联信号（</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Zigbee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BLE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RFID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等）的覆盖，避免部署第二套物联网络，为最终客户低</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Capex</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；适用于电子价签、物联定位、能效管理、资产</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管理</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等</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场景。</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a:extLst>
              <a:ext uri="{FF2B5EF4-FFF2-40B4-BE49-F238E27FC236}">
                <a16:creationId xmlns:a16="http://schemas.microsoft.com/office/drawing/2014/main" xmlns="" id="{88172F63-3673-4A52-BD68-ADCBC0F67B05}"/>
              </a:ext>
            </a:extLst>
          </p:cNvPr>
          <p:cNvSpPr txBox="1"/>
          <p:nvPr/>
        </p:nvSpPr>
        <p:spPr bwMode="gray">
          <a:xfrm>
            <a:off x="6737245" y="3701328"/>
            <a:ext cx="4683496" cy="1885196"/>
          </a:xfrm>
          <a:prstGeom prst="rect">
            <a:avLst/>
          </a:prstGeom>
          <a:noFill/>
          <a:ln>
            <a:solidFill>
              <a:srgbClr val="56C4D2"/>
            </a:solidFill>
          </a:ln>
        </p:spPr>
        <p:txBody>
          <a:bodyPr wrap="square" rtlCol="0">
            <a:spAutoFit/>
          </a:bodyPr>
          <a:lstStyle/>
          <a:p>
            <a:pPr marL="285750" indent="-285750">
              <a:lnSpc>
                <a:spcPct val="120000"/>
              </a:lnSpc>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通过</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合作伙伴开发硬件插卡及插卡上的物联业务软件，与华为智简解决方案共同实现基础网络设施和物联</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业务服务。</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ct val="120000"/>
              </a:lnSpc>
              <a:buSzPct val="40000"/>
              <a:buFont typeface="Wingdings" panose="05000000000000000000" pitchFamily="2" charset="2"/>
              <a:buChar char="p"/>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华为</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侧提供</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基础网络设施，开放</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硬件，物联插卡的基础管理</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和</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监控。</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ct val="120000"/>
              </a:lnSpc>
              <a:buSzPct val="4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合作</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伙伴</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侧完成</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物联插卡开发；插卡软件开发、物联</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业务</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软件开发。</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1032040" y="2348898"/>
            <a:ext cx="1736915" cy="3064028"/>
            <a:chOff x="890461" y="2569533"/>
            <a:chExt cx="2089276" cy="3064028"/>
          </a:xfrm>
        </p:grpSpPr>
        <p:sp>
          <p:nvSpPr>
            <p:cNvPr id="9" name="Freeform 159">
              <a:extLst>
                <a:ext uri="{FF2B5EF4-FFF2-40B4-BE49-F238E27FC236}">
                  <a16:creationId xmlns:a16="http://schemas.microsoft.com/office/drawing/2014/main" xmlns="" id="{0BA610E4-2C68-4349-840F-29F43D2A463D}"/>
                </a:ext>
              </a:extLst>
            </p:cNvPr>
            <p:cNvSpPr/>
            <p:nvPr/>
          </p:nvSpPr>
          <p:spPr bwMode="gray">
            <a:xfrm flipH="1">
              <a:off x="890461" y="3218758"/>
              <a:ext cx="1908633" cy="87917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9">
              <a:extLst>
                <a:ext uri="{FF2B5EF4-FFF2-40B4-BE49-F238E27FC236}">
                  <a16:creationId xmlns:a16="http://schemas.microsoft.com/office/drawing/2014/main" xmlns="" id="{CB4C6808-C884-475A-BCCD-0CE3069160D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58465" y="2569533"/>
              <a:ext cx="454514" cy="339188"/>
            </a:xfrm>
            <a:prstGeom prst="rect">
              <a:avLst/>
            </a:prstGeom>
          </p:spPr>
        </p:pic>
        <p:sp>
          <p:nvSpPr>
            <p:cNvPr id="11" name="文本框 10">
              <a:extLst>
                <a:ext uri="{FF2B5EF4-FFF2-40B4-BE49-F238E27FC236}">
                  <a16:creationId xmlns:a16="http://schemas.microsoft.com/office/drawing/2014/main" xmlns="" id="{29282D48-F113-44FD-AE82-13313460824A}"/>
                </a:ext>
              </a:extLst>
            </p:cNvPr>
            <p:cNvSpPr txBox="1"/>
            <p:nvPr/>
          </p:nvSpPr>
          <p:spPr bwMode="gray">
            <a:xfrm>
              <a:off x="1301445" y="3300961"/>
              <a:ext cx="1431403" cy="323165"/>
            </a:xfrm>
            <a:prstGeom prst="rect">
              <a:avLst/>
            </a:prstGeom>
            <a:noFill/>
          </p:spPr>
          <p:txBody>
            <a:bodyPr wrap="square" rtlCol="0">
              <a:spAutoFit/>
            </a:bodyPr>
            <a:lstStyle/>
            <a:p>
              <a:r>
                <a:rPr lang="en-US" altLang="zh-CN" sz="1500" dirty="0">
                  <a:latin typeface="Huawei Sans" panose="020C0503030203020204" pitchFamily="34" charset="0"/>
                  <a:ea typeface="方正兰亭黑简体" panose="02000000000000000000" pitchFamily="2" charset="-122"/>
                  <a:sym typeface="Huawei Sans" panose="020C0503030203020204" pitchFamily="34" charset="0"/>
                </a:rPr>
                <a:t>Open API</a:t>
              </a:r>
              <a:endParaRPr lang="zh-CN" altLang="en-US"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a:extLst>
                <a:ext uri="{FF2B5EF4-FFF2-40B4-BE49-F238E27FC236}">
                  <a16:creationId xmlns:a16="http://schemas.microsoft.com/office/drawing/2014/main" xmlns="" id="{382CCB86-B349-43FF-BC40-824BF57A3639}"/>
                </a:ext>
              </a:extLst>
            </p:cNvPr>
            <p:cNvCxnSpPr>
              <a:endCxn id="45" idx="0"/>
            </p:cNvCxnSpPr>
            <p:nvPr/>
          </p:nvCxnSpPr>
          <p:spPr bwMode="gray">
            <a:xfrm flipH="1">
              <a:off x="895038" y="4135533"/>
              <a:ext cx="682057" cy="12184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xmlns="" id="{7A445271-B7E9-4734-821A-9C1214916573}"/>
                </a:ext>
              </a:extLst>
            </p:cNvPr>
            <p:cNvCxnSpPr>
              <a:cxnSpLocks/>
              <a:endCxn id="46" idx="0"/>
            </p:cNvCxnSpPr>
            <p:nvPr/>
          </p:nvCxnSpPr>
          <p:spPr bwMode="gray">
            <a:xfrm>
              <a:off x="1897905" y="4108080"/>
              <a:ext cx="457825" cy="12592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3"/>
              <a:endCxn id="10" idx="2"/>
            </p:cNvCxnSpPr>
            <p:nvPr/>
          </p:nvCxnSpPr>
          <p:spPr bwMode="gray">
            <a:xfrm flipH="1" flipV="1">
              <a:off x="1985722" y="2908721"/>
              <a:ext cx="31425" cy="447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xmlns="" id="{7A445271-B7E9-4734-821A-9C1214916573}"/>
                </a:ext>
              </a:extLst>
            </p:cNvPr>
            <p:cNvCxnSpPr>
              <a:cxnSpLocks/>
              <a:endCxn id="22" idx="0"/>
            </p:cNvCxnSpPr>
            <p:nvPr/>
          </p:nvCxnSpPr>
          <p:spPr bwMode="gray">
            <a:xfrm>
              <a:off x="1699777" y="4158393"/>
              <a:ext cx="2753" cy="12075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24920" y="5365933"/>
              <a:ext cx="355220" cy="267628"/>
            </a:xfrm>
            <a:prstGeom prst="rect">
              <a:avLst/>
            </a:prstGeom>
          </p:spPr>
        </p:pic>
        <p:cxnSp>
          <p:nvCxnSpPr>
            <p:cNvPr id="32" name="直接连接符 31">
              <a:extLst>
                <a:ext uri="{FF2B5EF4-FFF2-40B4-BE49-F238E27FC236}">
                  <a16:creationId xmlns:a16="http://schemas.microsoft.com/office/drawing/2014/main" xmlns="" id="{7A445271-B7E9-4734-821A-9C1214916573}"/>
                </a:ext>
              </a:extLst>
            </p:cNvPr>
            <p:cNvCxnSpPr>
              <a:cxnSpLocks/>
              <a:endCxn id="47" idx="0"/>
            </p:cNvCxnSpPr>
            <p:nvPr/>
          </p:nvCxnSpPr>
          <p:spPr bwMode="gray">
            <a:xfrm>
              <a:off x="2016549" y="4122866"/>
              <a:ext cx="963188" cy="1238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45" name="图片 44">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88189" y="5133362"/>
            <a:ext cx="295311" cy="267628"/>
          </a:xfrm>
          <a:prstGeom prst="rect">
            <a:avLst/>
          </a:prstGeom>
        </p:spPr>
      </p:pic>
      <p:pic>
        <p:nvPicPr>
          <p:cNvPr id="46" name="图片 45">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102532" y="5146721"/>
            <a:ext cx="295311" cy="267628"/>
          </a:xfrm>
          <a:prstGeom prst="rect">
            <a:avLst/>
          </a:prstGeom>
        </p:spPr>
      </p:pic>
      <p:pic>
        <p:nvPicPr>
          <p:cNvPr id="47" name="图片 46">
            <a:extLst>
              <a:ext uri="{FF2B5EF4-FFF2-40B4-BE49-F238E27FC236}">
                <a16:creationId xmlns:a16="http://schemas.microsoft.com/office/drawing/2014/main" xmlns="" id="{C891AE81-43B5-47EE-B361-790DA7435CD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21298" y="5140982"/>
            <a:ext cx="295311" cy="267628"/>
          </a:xfrm>
          <a:prstGeom prst="rect">
            <a:avLst/>
          </a:prstGeom>
        </p:spPr>
      </p:pic>
      <p:sp>
        <p:nvSpPr>
          <p:cNvPr id="48" name="文本框 47"/>
          <p:cNvSpPr txBox="1"/>
          <p:nvPr/>
        </p:nvSpPr>
        <p:spPr bwMode="gray">
          <a:xfrm>
            <a:off x="442913" y="5369771"/>
            <a:ext cx="864379"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1216622" y="5369771"/>
            <a:ext cx="864379"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1894794" y="5369771"/>
            <a:ext cx="864379"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2583232" y="5369771"/>
            <a:ext cx="864379"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Cloud AP </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1456198" y="2047865"/>
            <a:ext cx="1587980"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第三方服务</a:t>
            </a:r>
          </a:p>
        </p:txBody>
      </p:sp>
      <p:sp>
        <p:nvSpPr>
          <p:cNvPr id="42" name="椭圆 41"/>
          <p:cNvSpPr/>
          <p:nvPr/>
        </p:nvSpPr>
        <p:spPr bwMode="gray">
          <a:xfrm>
            <a:off x="1307292" y="1914572"/>
            <a:ext cx="1191544" cy="1077947"/>
          </a:xfrm>
          <a:prstGeom prst="ellipse">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a:extLst>
              <a:ext uri="{FF2B5EF4-FFF2-40B4-BE49-F238E27FC236}">
                <a16:creationId xmlns:a16="http://schemas.microsoft.com/office/drawing/2014/main" xmlns="" id="{A393F8C6-B304-4066-850C-3C06096FE2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500343" y="3356303"/>
            <a:ext cx="805441" cy="457857"/>
          </a:xfrm>
          <a:prstGeom prst="rect">
            <a:avLst/>
          </a:prstGeom>
        </p:spPr>
      </p:pic>
      <p:sp>
        <p:nvSpPr>
          <p:cNvPr id="15" name="文本框 14"/>
          <p:cNvSpPr txBox="1"/>
          <p:nvPr/>
        </p:nvSpPr>
        <p:spPr bwMode="gray">
          <a:xfrm>
            <a:off x="2878000" y="2159427"/>
            <a:ext cx="1050739" cy="307777"/>
          </a:xfrm>
          <a:prstGeom prst="rect">
            <a:avLst/>
          </a:prstGeom>
          <a:solidFill>
            <a:srgbClr val="56C4D2"/>
          </a:solidFill>
        </p:spPr>
        <p:txBody>
          <a:bodyPr wrap="square" rtlCol="0">
            <a:spAutoFit/>
          </a:bodyPr>
          <a:lstStyle/>
          <a:p>
            <a:pPr algn="ctr"/>
            <a:r>
              <a:rPr lang="zh-CN" altLang="en-US" sz="1400" dirty="0" smtClean="0">
                <a:solidFill>
                  <a:schemeClr val="bg1"/>
                </a:solidFill>
              </a:rPr>
              <a:t>电子价签</a:t>
            </a:r>
            <a:endParaRPr lang="zh-CN" altLang="en-US" sz="1400" dirty="0">
              <a:solidFill>
                <a:schemeClr val="bg1"/>
              </a:solidFill>
            </a:endParaRPr>
          </a:p>
        </p:txBody>
      </p:sp>
      <p:sp>
        <p:nvSpPr>
          <p:cNvPr id="37" name="文本框 36"/>
          <p:cNvSpPr txBox="1"/>
          <p:nvPr/>
        </p:nvSpPr>
        <p:spPr bwMode="gray">
          <a:xfrm>
            <a:off x="4310911" y="2159427"/>
            <a:ext cx="1050739" cy="307777"/>
          </a:xfrm>
          <a:prstGeom prst="rect">
            <a:avLst/>
          </a:prstGeom>
          <a:solidFill>
            <a:srgbClr val="56C4D2"/>
          </a:solidFill>
        </p:spPr>
        <p:txBody>
          <a:bodyPr wrap="square" rtlCol="0">
            <a:spAutoFit/>
          </a:bodyPr>
          <a:lstStyle/>
          <a:p>
            <a:pPr algn="ctr"/>
            <a:r>
              <a:rPr lang="zh-CN" altLang="en-US" sz="1400" dirty="0">
                <a:solidFill>
                  <a:schemeClr val="bg1"/>
                </a:solidFill>
              </a:rPr>
              <a:t>物联定位</a:t>
            </a:r>
          </a:p>
        </p:txBody>
      </p:sp>
      <p:sp>
        <p:nvSpPr>
          <p:cNvPr id="38" name="文本框 37"/>
          <p:cNvSpPr txBox="1"/>
          <p:nvPr/>
        </p:nvSpPr>
        <p:spPr bwMode="gray">
          <a:xfrm>
            <a:off x="2878000" y="2610201"/>
            <a:ext cx="1050739" cy="307777"/>
          </a:xfrm>
          <a:prstGeom prst="rect">
            <a:avLst/>
          </a:prstGeom>
          <a:solidFill>
            <a:srgbClr val="56C4D2"/>
          </a:solidFill>
        </p:spPr>
        <p:txBody>
          <a:bodyPr wrap="square" rtlCol="0">
            <a:spAutoFit/>
          </a:bodyPr>
          <a:lstStyle/>
          <a:p>
            <a:pPr algn="ctr"/>
            <a:r>
              <a:rPr lang="zh-CN" altLang="en-US" sz="1400" dirty="0">
                <a:solidFill>
                  <a:schemeClr val="bg1"/>
                </a:solidFill>
              </a:rPr>
              <a:t>能效管理</a:t>
            </a:r>
          </a:p>
        </p:txBody>
      </p:sp>
      <p:sp>
        <p:nvSpPr>
          <p:cNvPr id="39" name="文本框 38"/>
          <p:cNvSpPr txBox="1"/>
          <p:nvPr/>
        </p:nvSpPr>
        <p:spPr bwMode="gray">
          <a:xfrm>
            <a:off x="4310911" y="2610201"/>
            <a:ext cx="1050739" cy="307777"/>
          </a:xfrm>
          <a:prstGeom prst="rect">
            <a:avLst/>
          </a:prstGeom>
          <a:solidFill>
            <a:srgbClr val="56C4D2"/>
          </a:solidFill>
        </p:spPr>
        <p:txBody>
          <a:bodyPr wrap="square" rtlCol="0">
            <a:spAutoFit/>
          </a:bodyPr>
          <a:lstStyle/>
          <a:p>
            <a:pPr algn="ctr"/>
            <a:r>
              <a:rPr lang="zh-CN" altLang="en-US" sz="1400" dirty="0">
                <a:solidFill>
                  <a:schemeClr val="bg1"/>
                </a:solidFill>
              </a:rPr>
              <a:t>资产管理</a:t>
            </a:r>
          </a:p>
        </p:txBody>
      </p:sp>
    </p:spTree>
    <p:extLst>
      <p:ext uri="{BB962C8B-B14F-4D97-AF65-F5344CB8AC3E}">
        <p14:creationId xmlns:p14="http://schemas.microsoft.com/office/powerpoint/2010/main" val="30590791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xmlns="" id="{8C78BC22-974A-43E6-9984-503532F2F0D3}"/>
              </a:ext>
            </a:extLst>
          </p:cNvPr>
          <p:cNvPicPr>
            <a:picLocks noChangeAspect="1"/>
          </p:cNvPicPr>
          <p:nvPr/>
        </p:nvPicPr>
        <p:blipFill>
          <a:blip r:embed="rId3"/>
          <a:stretch>
            <a:fillRect/>
          </a:stretch>
        </p:blipFill>
        <p:spPr bwMode="gray">
          <a:xfrm>
            <a:off x="9710813" y="1627537"/>
            <a:ext cx="2038275" cy="2623384"/>
          </a:xfrm>
          <a:prstGeom prst="rect">
            <a:avLst/>
          </a:prstGeom>
        </p:spPr>
      </p:pic>
      <p:pic>
        <p:nvPicPr>
          <p:cNvPr id="6" name="图片 5">
            <a:extLst>
              <a:ext uri="{FF2B5EF4-FFF2-40B4-BE49-F238E27FC236}">
                <a16:creationId xmlns:a16="http://schemas.microsoft.com/office/drawing/2014/main" xmlns="" id="{1DE3BA24-8BEE-43CE-9515-951F8172F015}"/>
              </a:ext>
            </a:extLst>
          </p:cNvPr>
          <p:cNvPicPr>
            <a:picLocks noChangeAspect="1"/>
          </p:cNvPicPr>
          <p:nvPr/>
        </p:nvPicPr>
        <p:blipFill>
          <a:blip r:embed="rId4"/>
          <a:stretch>
            <a:fillRect/>
          </a:stretch>
        </p:blipFill>
        <p:spPr bwMode="gray">
          <a:xfrm>
            <a:off x="7621092" y="1635635"/>
            <a:ext cx="2221392" cy="3025036"/>
          </a:xfrm>
          <a:prstGeom prst="rect">
            <a:avLst/>
          </a:prstGeom>
        </p:spPr>
      </p:pic>
      <p:sp>
        <p:nvSpPr>
          <p:cNvPr id="2" name="标题 1">
            <a:extLst>
              <a:ext uri="{FF2B5EF4-FFF2-40B4-BE49-F238E27FC236}">
                <a16:creationId xmlns:a16="http://schemas.microsoft.com/office/drawing/2014/main" xmlns="" id="{37DB10B0-DF9D-4AB4-AA90-EBA132273E4F}"/>
              </a:ext>
            </a:extLst>
          </p:cNvPr>
          <p:cNvSpPr>
            <a:spLocks noGrp="1"/>
          </p:cNvSpPr>
          <p:nvPr>
            <p:ph type="title"/>
          </p:nvPr>
        </p:nvSpPr>
        <p:spPr bwMode="gray"/>
        <p:txBody>
          <a:bodyPr/>
          <a:lstStyle/>
          <a:p>
            <a:r>
              <a:rPr lang="zh-CN" altLang="en-US" smtClean="0">
                <a:sym typeface="Huawei Sans" panose="020C0503030203020204" pitchFamily="34" charset="0"/>
              </a:rPr>
              <a:t>智慧物联 </a:t>
            </a:r>
            <a:r>
              <a:rPr lang="en-US" altLang="zh-CN" smtClean="0">
                <a:sym typeface="Huawei Sans" panose="020C0503030203020204" pitchFamily="34" charset="0"/>
              </a:rPr>
              <a:t>(</a:t>
            </a:r>
            <a:r>
              <a:rPr lang="zh-CN" altLang="en-US" smtClean="0">
                <a:sym typeface="Huawei Sans" panose="020C0503030203020204" pitchFamily="34" charset="0"/>
              </a:rPr>
              <a:t>开放插卡</a:t>
            </a:r>
            <a:r>
              <a:rPr lang="en-US" altLang="zh-CN" smtClean="0">
                <a:sym typeface="Huawei Sans" panose="020C0503030203020204" pitchFamily="34" charset="0"/>
              </a:rPr>
              <a:t>)</a:t>
            </a:r>
            <a:endParaRPr lang="zh-CN" altLang="en-US" dirty="0">
              <a:sym typeface="Huawei Sans" panose="020C0503030203020204" pitchFamily="34" charset="0"/>
            </a:endParaRPr>
          </a:p>
        </p:txBody>
      </p:sp>
      <p:sp>
        <p:nvSpPr>
          <p:cNvPr id="3" name="Rectangle 2">
            <a:extLst>
              <a:ext uri="{FF2B5EF4-FFF2-40B4-BE49-F238E27FC236}">
                <a16:creationId xmlns:a16="http://schemas.microsoft.com/office/drawing/2014/main" xmlns="" id="{26F9B519-AC8E-4601-9873-C107A3A24FD8}"/>
              </a:ext>
            </a:extLst>
          </p:cNvPr>
          <p:cNvSpPr txBox="1">
            <a:spLocks noChangeArrowheads="1"/>
          </p:cNvSpPr>
          <p:nvPr/>
        </p:nvSpPr>
        <p:spPr bwMode="gray">
          <a:xfrm>
            <a:off x="250224" y="1116198"/>
            <a:ext cx="2783061" cy="543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73" rIns="80148" bIns="40073"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9pPr>
          </a:lstStyle>
          <a:p>
            <a:pPr lvl="0"/>
            <a:endParaRPr lang="zh-CN"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图片 3">
            <a:extLst>
              <a:ext uri="{FF2B5EF4-FFF2-40B4-BE49-F238E27FC236}">
                <a16:creationId xmlns:a16="http://schemas.microsoft.com/office/drawing/2014/main" xmlns="" id="{A299F7A8-5143-47E7-8C04-12538E99C064}"/>
              </a:ext>
            </a:extLst>
          </p:cNvPr>
          <p:cNvPicPr>
            <a:picLocks noChangeAspect="1"/>
          </p:cNvPicPr>
          <p:nvPr/>
        </p:nvPicPr>
        <p:blipFill>
          <a:blip r:embed="rId5"/>
          <a:stretch>
            <a:fillRect/>
          </a:stretch>
        </p:blipFill>
        <p:spPr bwMode="gray">
          <a:xfrm>
            <a:off x="2562777" y="1580126"/>
            <a:ext cx="2087685" cy="3832809"/>
          </a:xfrm>
          <a:prstGeom prst="rect">
            <a:avLst/>
          </a:prstGeom>
        </p:spPr>
      </p:pic>
      <p:pic>
        <p:nvPicPr>
          <p:cNvPr id="5" name="图片 4">
            <a:extLst>
              <a:ext uri="{FF2B5EF4-FFF2-40B4-BE49-F238E27FC236}">
                <a16:creationId xmlns:a16="http://schemas.microsoft.com/office/drawing/2014/main" xmlns="" id="{B7501DA8-F863-4A78-92B0-E9E0FACE0445}"/>
              </a:ext>
            </a:extLst>
          </p:cNvPr>
          <p:cNvPicPr>
            <a:picLocks noChangeAspect="1"/>
          </p:cNvPicPr>
          <p:nvPr/>
        </p:nvPicPr>
        <p:blipFill>
          <a:blip r:embed="rId6"/>
          <a:stretch>
            <a:fillRect/>
          </a:stretch>
        </p:blipFill>
        <p:spPr bwMode="gray">
          <a:xfrm>
            <a:off x="5008010" y="1623414"/>
            <a:ext cx="2705388" cy="3610360"/>
          </a:xfrm>
          <a:prstGeom prst="rect">
            <a:avLst/>
          </a:prstGeom>
        </p:spPr>
      </p:pic>
      <p:sp>
        <p:nvSpPr>
          <p:cNvPr id="8" name="Rectangle 2">
            <a:extLst>
              <a:ext uri="{FF2B5EF4-FFF2-40B4-BE49-F238E27FC236}">
                <a16:creationId xmlns:a16="http://schemas.microsoft.com/office/drawing/2014/main" xmlns="" id="{639D0C74-31F3-4362-AB80-E7FFD79BBC13}"/>
              </a:ext>
            </a:extLst>
          </p:cNvPr>
          <p:cNvSpPr txBox="1">
            <a:spLocks noChangeArrowheads="1"/>
          </p:cNvSpPr>
          <p:nvPr/>
        </p:nvSpPr>
        <p:spPr bwMode="gray">
          <a:xfrm>
            <a:off x="5019629" y="1258808"/>
            <a:ext cx="6728696" cy="271586"/>
          </a:xfrm>
          <a:prstGeom prst="rect">
            <a:avLst/>
          </a:prstGeom>
          <a:solidFill>
            <a:srgbClr val="56C4D2"/>
          </a:solidFill>
          <a:ln>
            <a:noFill/>
          </a:ln>
          <a:effectLst/>
        </p:spPr>
        <p:txBody>
          <a:bodyPr vert="horz" wrap="square" lIns="0" tIns="40073" rIns="80148" bIns="40073"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9pPr>
          </a:lstStyle>
          <a:p>
            <a:pPr lvl="0" algn="ctr"/>
            <a:r>
              <a:rPr lang="zh-CN" altLang="en-US" sz="18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外接插卡</a:t>
            </a:r>
            <a:endParaRPr lang="zh-CN" altLang="zh-CN" sz="18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椭圆 8">
            <a:extLst>
              <a:ext uri="{FF2B5EF4-FFF2-40B4-BE49-F238E27FC236}">
                <a16:creationId xmlns:a16="http://schemas.microsoft.com/office/drawing/2014/main" xmlns="" id="{4B74F562-7943-4241-B0DB-1BA105748357}"/>
              </a:ext>
            </a:extLst>
          </p:cNvPr>
          <p:cNvSpPr/>
          <p:nvPr/>
        </p:nvSpPr>
        <p:spPr bwMode="gray">
          <a:xfrm>
            <a:off x="2856477" y="1645236"/>
            <a:ext cx="1368469" cy="1905946"/>
          </a:xfrm>
          <a:prstGeom prst="ellipse">
            <a:avLst/>
          </a:prstGeom>
          <a:noFill/>
          <a:ln w="19050">
            <a:solidFill>
              <a:srgbClr val="C7000B"/>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1" tIns="45731" rIns="91461" bIns="45731" numCol="1" rtlCol="0" anchor="t" anchorCtr="0" compatLnSpc="1">
            <a:prstTxWarp prst="textNoShape">
              <a:avLst/>
            </a:prstTxWarp>
          </a:bodyPr>
          <a:lstStyle/>
          <a:p>
            <a:pPr defTabSz="914583" fontAlgn="base">
              <a:spcBef>
                <a:spcPct val="0"/>
              </a:spcBef>
              <a:spcAft>
                <a:spcPct val="0"/>
              </a:spcAft>
              <a:buClr>
                <a:srgbClr val="CC9900"/>
              </a:buClr>
              <a:buFont typeface="Wingdings" pitchFamily="2" charset="2"/>
              <a:buChar char="n"/>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Rectangle 2">
            <a:extLst>
              <a:ext uri="{FF2B5EF4-FFF2-40B4-BE49-F238E27FC236}">
                <a16:creationId xmlns:a16="http://schemas.microsoft.com/office/drawing/2014/main" xmlns="" id="{1B49EDC6-91CC-4635-90B9-C9A5608F6061}"/>
              </a:ext>
            </a:extLst>
          </p:cNvPr>
          <p:cNvSpPr txBox="1">
            <a:spLocks noChangeArrowheads="1"/>
          </p:cNvSpPr>
          <p:nvPr/>
        </p:nvSpPr>
        <p:spPr bwMode="gray">
          <a:xfrm>
            <a:off x="2930985" y="2261193"/>
            <a:ext cx="1584543" cy="288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73" rIns="80148" bIns="40073"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9pPr>
          </a:lstStyle>
          <a:p>
            <a:pPr lvl="0"/>
            <a:r>
              <a:rPr lang="zh-CN" altLang="en-US" sz="18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天线</a:t>
            </a:r>
            <a:endParaRPr lang="zh-CN"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椭圆 12">
            <a:extLst>
              <a:ext uri="{FF2B5EF4-FFF2-40B4-BE49-F238E27FC236}">
                <a16:creationId xmlns:a16="http://schemas.microsoft.com/office/drawing/2014/main" xmlns="" id="{6ACE29DD-F72B-457D-9AB8-6364CC0C1748}"/>
              </a:ext>
            </a:extLst>
          </p:cNvPr>
          <p:cNvSpPr/>
          <p:nvPr/>
        </p:nvSpPr>
        <p:spPr bwMode="gray">
          <a:xfrm>
            <a:off x="2747763" y="4061801"/>
            <a:ext cx="1298574" cy="768084"/>
          </a:xfrm>
          <a:prstGeom prst="ellipse">
            <a:avLst/>
          </a:prstGeom>
          <a:noFill/>
          <a:ln w="19050">
            <a:solidFill>
              <a:srgbClr val="C7000B"/>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1" tIns="45731" rIns="91461" bIns="45731" numCol="1" rtlCol="0" anchor="t" anchorCtr="0" compatLnSpc="1">
            <a:prstTxWarp prst="textNoShape">
              <a:avLst/>
            </a:prstTxWarp>
          </a:bodyPr>
          <a:lstStyle/>
          <a:p>
            <a:pPr defTabSz="914583" fontAlgn="base">
              <a:spcBef>
                <a:spcPct val="0"/>
              </a:spcBef>
              <a:spcAft>
                <a:spcPct val="0"/>
              </a:spcAft>
              <a:buClr>
                <a:srgbClr val="CC9900"/>
              </a:buClr>
              <a:buFont typeface="Wingdings" pitchFamily="2" charset="2"/>
              <a:buChar char="n"/>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Rectangle 2">
            <a:extLst>
              <a:ext uri="{FF2B5EF4-FFF2-40B4-BE49-F238E27FC236}">
                <a16:creationId xmlns:a16="http://schemas.microsoft.com/office/drawing/2014/main" xmlns="" id="{14C86896-0E3C-4FA8-8657-C18F3EC7E347}"/>
              </a:ext>
            </a:extLst>
          </p:cNvPr>
          <p:cNvSpPr txBox="1">
            <a:spLocks noChangeArrowheads="1"/>
          </p:cNvSpPr>
          <p:nvPr/>
        </p:nvSpPr>
        <p:spPr bwMode="gray">
          <a:xfrm>
            <a:off x="2857900" y="4352045"/>
            <a:ext cx="1584543" cy="288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73" rIns="80148" bIns="40073"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9pPr>
          </a:lstStyle>
          <a:p>
            <a:pPr lvl="0"/>
            <a:r>
              <a:rPr lang="zh-CN" altLang="en-US" sz="2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卡</a:t>
            </a:r>
            <a:endParaRPr lang="zh-CN" altLang="zh-CN" sz="2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椭圆 14">
            <a:extLst>
              <a:ext uri="{FF2B5EF4-FFF2-40B4-BE49-F238E27FC236}">
                <a16:creationId xmlns:a16="http://schemas.microsoft.com/office/drawing/2014/main" xmlns="" id="{B72A5099-8BCC-4AA0-83F9-DC5DD66BE175}"/>
              </a:ext>
            </a:extLst>
          </p:cNvPr>
          <p:cNvSpPr/>
          <p:nvPr/>
        </p:nvSpPr>
        <p:spPr bwMode="gray">
          <a:xfrm>
            <a:off x="10030117" y="1994219"/>
            <a:ext cx="1115352" cy="768084"/>
          </a:xfrm>
          <a:prstGeom prst="ellipse">
            <a:avLst/>
          </a:prstGeom>
          <a:noFill/>
          <a:ln w="19050">
            <a:solidFill>
              <a:srgbClr val="C7000B"/>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1" tIns="45731" rIns="91461" bIns="45731" numCol="1" rtlCol="0" anchor="t" anchorCtr="0" compatLnSpc="1">
            <a:prstTxWarp prst="textNoShape">
              <a:avLst/>
            </a:prstTxWarp>
          </a:bodyPr>
          <a:lstStyle/>
          <a:p>
            <a:pPr defTabSz="914583" fontAlgn="base">
              <a:spcBef>
                <a:spcPct val="0"/>
              </a:spcBef>
              <a:spcAft>
                <a:spcPct val="0"/>
              </a:spcAft>
              <a:buClr>
                <a:srgbClr val="CC9900"/>
              </a:buClr>
              <a:buFont typeface="Wingdings" pitchFamily="2" charset="2"/>
              <a:buChar char="n"/>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Rectangle 2">
            <a:extLst>
              <a:ext uri="{FF2B5EF4-FFF2-40B4-BE49-F238E27FC236}">
                <a16:creationId xmlns:a16="http://schemas.microsoft.com/office/drawing/2014/main" xmlns="" id="{89616A13-04D5-4D2C-A770-96FE5889C531}"/>
              </a:ext>
            </a:extLst>
          </p:cNvPr>
          <p:cNvSpPr txBox="1">
            <a:spLocks noChangeArrowheads="1"/>
          </p:cNvSpPr>
          <p:nvPr/>
        </p:nvSpPr>
        <p:spPr bwMode="gray">
          <a:xfrm>
            <a:off x="11144450" y="2203992"/>
            <a:ext cx="515078" cy="288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73" rIns="80148" bIns="40073"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9pPr>
          </a:lstStyle>
          <a:p>
            <a:pPr lvl="0"/>
            <a:r>
              <a:rPr lang="zh-CN" altLang="en-US" sz="2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卡</a:t>
            </a:r>
            <a:endParaRPr lang="zh-CN" altLang="zh-CN" sz="2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椭圆 16">
            <a:extLst>
              <a:ext uri="{FF2B5EF4-FFF2-40B4-BE49-F238E27FC236}">
                <a16:creationId xmlns:a16="http://schemas.microsoft.com/office/drawing/2014/main" xmlns="" id="{917BD959-FDC4-4236-9E23-D24ECC7257D4}"/>
              </a:ext>
            </a:extLst>
          </p:cNvPr>
          <p:cNvSpPr/>
          <p:nvPr/>
        </p:nvSpPr>
        <p:spPr bwMode="gray">
          <a:xfrm>
            <a:off x="8199153" y="2549293"/>
            <a:ext cx="1008345" cy="396794"/>
          </a:xfrm>
          <a:prstGeom prst="ellipse">
            <a:avLst/>
          </a:prstGeom>
          <a:noFill/>
          <a:ln w="19050">
            <a:solidFill>
              <a:srgbClr val="C7000B"/>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1" tIns="45731" rIns="91461" bIns="45731" numCol="1" rtlCol="0" anchor="t" anchorCtr="0" compatLnSpc="1">
            <a:prstTxWarp prst="textNoShape">
              <a:avLst/>
            </a:prstTxWarp>
          </a:bodyPr>
          <a:lstStyle/>
          <a:p>
            <a:pPr defTabSz="914583" fontAlgn="base">
              <a:spcBef>
                <a:spcPct val="0"/>
              </a:spcBef>
              <a:spcAft>
                <a:spcPct val="0"/>
              </a:spcAft>
              <a:buClr>
                <a:srgbClr val="CC9900"/>
              </a:buClr>
              <a:buFont typeface="Wingdings" pitchFamily="2" charset="2"/>
              <a:buChar char="n"/>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Rectangle 2">
            <a:extLst>
              <a:ext uri="{FF2B5EF4-FFF2-40B4-BE49-F238E27FC236}">
                <a16:creationId xmlns:a16="http://schemas.microsoft.com/office/drawing/2014/main" xmlns="" id="{3C8A57F9-E56D-4E7A-BDBB-B03829A60BE5}"/>
              </a:ext>
            </a:extLst>
          </p:cNvPr>
          <p:cNvSpPr txBox="1">
            <a:spLocks noChangeArrowheads="1"/>
          </p:cNvSpPr>
          <p:nvPr/>
        </p:nvSpPr>
        <p:spPr bwMode="gray">
          <a:xfrm>
            <a:off x="8077569" y="2061672"/>
            <a:ext cx="1584543" cy="288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73" rIns="80148" bIns="40073"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9pPr>
          </a:lstStyle>
          <a:p>
            <a:pPr lvl="0"/>
            <a:r>
              <a:rPr lang="en-US" altLang="zh-CN" sz="18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USB</a:t>
            </a:r>
            <a:r>
              <a:rPr lang="zh-CN" altLang="en-US" sz="18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接口</a:t>
            </a:r>
            <a:endParaRPr lang="zh-CN"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a:extLst>
              <a:ext uri="{FF2B5EF4-FFF2-40B4-BE49-F238E27FC236}">
                <a16:creationId xmlns:a16="http://schemas.microsoft.com/office/drawing/2014/main" xmlns="" id="{884B0E3C-3664-4506-A71D-7EE231232956}"/>
              </a:ext>
            </a:extLst>
          </p:cNvPr>
          <p:cNvSpPr/>
          <p:nvPr/>
        </p:nvSpPr>
        <p:spPr bwMode="gray">
          <a:xfrm>
            <a:off x="430097" y="4993162"/>
            <a:ext cx="2283330" cy="523220"/>
          </a:xfrm>
          <a:prstGeom prst="rect">
            <a:avLst/>
          </a:prstGeom>
        </p:spPr>
        <p:txBody>
          <a:bodyPr wrap="square">
            <a:spAutoFit/>
          </a:bodyPr>
          <a:lstStyle/>
          <a:p>
            <a:r>
              <a:rPr lang="zh-CN" altLang="en-US" sz="14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物联网插槽：允许插入物联网卡以提供扩展功能。</a:t>
            </a:r>
            <a:endPar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 name="图片 19">
            <a:extLst>
              <a:ext uri="{FF2B5EF4-FFF2-40B4-BE49-F238E27FC236}">
                <a16:creationId xmlns:a16="http://schemas.microsoft.com/office/drawing/2014/main" xmlns="" id="{789A3FAC-5AFF-42A2-B9C4-CC8FD6E7411A}"/>
              </a:ext>
            </a:extLst>
          </p:cNvPr>
          <p:cNvPicPr>
            <a:picLocks noChangeAspect="1"/>
          </p:cNvPicPr>
          <p:nvPr/>
        </p:nvPicPr>
        <p:blipFill>
          <a:blip r:embed="rId7"/>
          <a:stretch>
            <a:fillRect/>
          </a:stretch>
        </p:blipFill>
        <p:spPr bwMode="gray">
          <a:xfrm>
            <a:off x="446088" y="1602132"/>
            <a:ext cx="2088715" cy="3288947"/>
          </a:xfrm>
          <a:prstGeom prst="rect">
            <a:avLst/>
          </a:prstGeom>
        </p:spPr>
      </p:pic>
      <p:sp>
        <p:nvSpPr>
          <p:cNvPr id="21" name="椭圆 20">
            <a:extLst>
              <a:ext uri="{FF2B5EF4-FFF2-40B4-BE49-F238E27FC236}">
                <a16:creationId xmlns:a16="http://schemas.microsoft.com/office/drawing/2014/main" xmlns="" id="{9DDA815C-E5D8-4FEF-AB6C-AFE094E35D0D}"/>
              </a:ext>
            </a:extLst>
          </p:cNvPr>
          <p:cNvSpPr/>
          <p:nvPr/>
        </p:nvSpPr>
        <p:spPr bwMode="gray">
          <a:xfrm>
            <a:off x="1405557" y="2946086"/>
            <a:ext cx="730952" cy="404134"/>
          </a:xfrm>
          <a:prstGeom prst="ellipse">
            <a:avLst/>
          </a:prstGeom>
          <a:noFill/>
          <a:ln w="19050">
            <a:solidFill>
              <a:srgbClr val="C7000B"/>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1" tIns="45731" rIns="91461" bIns="45731" numCol="1" rtlCol="0" anchor="t" anchorCtr="0" compatLnSpc="1">
            <a:prstTxWarp prst="textNoShape">
              <a:avLst/>
            </a:prstTxWarp>
          </a:bodyPr>
          <a:lstStyle/>
          <a:p>
            <a:pPr defTabSz="914583" fontAlgn="base">
              <a:spcBef>
                <a:spcPct val="0"/>
              </a:spcBef>
              <a:spcAft>
                <a:spcPct val="0"/>
              </a:spcAft>
              <a:buClr>
                <a:srgbClr val="CC9900"/>
              </a:buClr>
              <a:buFont typeface="Wingdings" pitchFamily="2" charset="2"/>
              <a:buChar char="n"/>
            </a:pPr>
            <a:endParaRPr lang="zh-CN" altLang="en-US" sz="18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Rectangle 2">
            <a:extLst>
              <a:ext uri="{FF2B5EF4-FFF2-40B4-BE49-F238E27FC236}">
                <a16:creationId xmlns:a16="http://schemas.microsoft.com/office/drawing/2014/main" xmlns="" id="{86CEB18D-5824-4401-96B9-E03FB9C03DC5}"/>
              </a:ext>
            </a:extLst>
          </p:cNvPr>
          <p:cNvSpPr txBox="1">
            <a:spLocks noChangeArrowheads="1"/>
          </p:cNvSpPr>
          <p:nvPr/>
        </p:nvSpPr>
        <p:spPr bwMode="gray">
          <a:xfrm>
            <a:off x="2166671" y="5353935"/>
            <a:ext cx="2783061" cy="543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73" rIns="80148" bIns="40073"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9pPr>
          </a:lstStyle>
          <a:p>
            <a:pPr lvl="0" algn="ctr"/>
            <a:r>
              <a:rPr lang="en-US" altLang="zh-CN" sz="1400" b="0" dirty="0">
                <a:solidFill>
                  <a:srgbClr val="222222"/>
                </a:solidFill>
                <a:latin typeface="Huawei Sans" panose="020C0503030203020204" pitchFamily="34" charset="0"/>
                <a:ea typeface="方正兰亭黑简体" panose="02000000000000000000" pitchFamily="2" charset="-122"/>
                <a:sym typeface="Huawei Sans" panose="020C0503030203020204" pitchFamily="34" charset="0"/>
              </a:rPr>
              <a:t>AP4050DN-E</a:t>
            </a:r>
            <a:endParaRPr lang="zh-CN"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Rectangle 2">
            <a:extLst>
              <a:ext uri="{FF2B5EF4-FFF2-40B4-BE49-F238E27FC236}">
                <a16:creationId xmlns:a16="http://schemas.microsoft.com/office/drawing/2014/main" xmlns="" id="{8CE99421-D0BA-44E3-A454-775BAAD2D8CD}"/>
              </a:ext>
            </a:extLst>
          </p:cNvPr>
          <p:cNvSpPr txBox="1">
            <a:spLocks noChangeArrowheads="1"/>
          </p:cNvSpPr>
          <p:nvPr/>
        </p:nvSpPr>
        <p:spPr bwMode="gray">
          <a:xfrm>
            <a:off x="6004329" y="5118185"/>
            <a:ext cx="882987" cy="543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73" rIns="80148" bIns="40073"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9pPr>
          </a:lstStyle>
          <a:p>
            <a:pPr lvl="0"/>
            <a:r>
              <a:rPr lang="en-US" altLang="zh-CN" sz="1400" b="0" dirty="0">
                <a:solidFill>
                  <a:srgbClr val="222222"/>
                </a:solidFill>
                <a:latin typeface="Huawei Sans" panose="020C0503030203020204" pitchFamily="34" charset="0"/>
                <a:ea typeface="方正兰亭黑简体" panose="02000000000000000000" pitchFamily="2" charset="-122"/>
                <a:sym typeface="Huawei Sans" panose="020C0503030203020204" pitchFamily="34" charset="0"/>
              </a:rPr>
              <a:t>MT800</a:t>
            </a:r>
            <a:endParaRPr lang="zh-CN"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ectangle 2">
            <a:extLst>
              <a:ext uri="{FF2B5EF4-FFF2-40B4-BE49-F238E27FC236}">
                <a16:creationId xmlns:a16="http://schemas.microsoft.com/office/drawing/2014/main" xmlns="" id="{683C178A-B082-485E-9338-A779A0BC8B50}"/>
              </a:ext>
            </a:extLst>
          </p:cNvPr>
          <p:cNvSpPr txBox="1">
            <a:spLocks noChangeArrowheads="1"/>
          </p:cNvSpPr>
          <p:nvPr/>
        </p:nvSpPr>
        <p:spPr bwMode="gray">
          <a:xfrm>
            <a:off x="446088" y="1258808"/>
            <a:ext cx="4429184" cy="271586"/>
          </a:xfrm>
          <a:prstGeom prst="rect">
            <a:avLst/>
          </a:prstGeom>
          <a:solidFill>
            <a:srgbClr val="56C4D2"/>
          </a:solidFill>
          <a:ln>
            <a:noFill/>
          </a:ln>
          <a:effectLst/>
        </p:spPr>
        <p:txBody>
          <a:bodyPr vert="horz" wrap="square" lIns="0" tIns="40073" rIns="80148" bIns="40073"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Arial" panose="020B0604020202020204" pitchFamily="34" charset="0"/>
                <a:ea typeface="黑体" pitchFamily="49" charset="-122"/>
                <a:cs typeface="Arial" panose="020B0604020202020204"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a:defRPr>
            </a:lvl9pPr>
          </a:lstStyle>
          <a:p>
            <a:pPr lvl="0" algn="ctr"/>
            <a:r>
              <a:rPr lang="zh-CN" altLang="en-US" sz="18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内置插卡</a:t>
            </a:r>
            <a:endParaRPr lang="zh-CN" altLang="zh-CN" sz="18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椭圆 30">
            <a:extLst>
              <a:ext uri="{FF2B5EF4-FFF2-40B4-BE49-F238E27FC236}">
                <a16:creationId xmlns:a16="http://schemas.microsoft.com/office/drawing/2014/main" xmlns="" id="{9DDA815C-E5D8-4FEF-AB6C-AFE094E35D0D}"/>
              </a:ext>
            </a:extLst>
          </p:cNvPr>
          <p:cNvSpPr/>
          <p:nvPr/>
        </p:nvSpPr>
        <p:spPr bwMode="gray">
          <a:xfrm>
            <a:off x="568276" y="2358169"/>
            <a:ext cx="730952" cy="404134"/>
          </a:xfrm>
          <a:prstGeom prst="ellipse">
            <a:avLst/>
          </a:prstGeom>
          <a:noFill/>
          <a:ln w="19050">
            <a:solidFill>
              <a:srgbClr val="C7000B"/>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1" tIns="45731" rIns="91461" bIns="45731" numCol="1" rtlCol="0" anchor="t" anchorCtr="0" compatLnSpc="1">
            <a:prstTxWarp prst="textNoShape">
              <a:avLst/>
            </a:prstTxWarp>
          </a:bodyPr>
          <a:lstStyle/>
          <a:p>
            <a:pPr defTabSz="914583" fontAlgn="base">
              <a:spcBef>
                <a:spcPct val="0"/>
              </a:spcBef>
              <a:spcAft>
                <a:spcPct val="0"/>
              </a:spcAft>
              <a:buClr>
                <a:srgbClr val="CC9900"/>
              </a:buClr>
              <a:buFont typeface="Wingdings" pitchFamily="2" charset="2"/>
              <a:buChar char="n"/>
            </a:pPr>
            <a:endParaRPr lang="zh-CN" altLang="en-US" sz="180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031997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解决方案概述</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典型场景及开放能力介绍</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开放合作案例</a:t>
            </a:r>
            <a:endParaRPr lang="zh-CN" altLang="en-US" b="1" dirty="0">
              <a:sym typeface="Huawei Sans" panose="020C0503030203020204" pitchFamily="34" charset="0"/>
            </a:endParaRPr>
          </a:p>
        </p:txBody>
      </p:sp>
    </p:spTree>
    <p:extLst>
      <p:ext uri="{BB962C8B-B14F-4D97-AF65-F5344CB8AC3E}">
        <p14:creationId xmlns:p14="http://schemas.microsoft.com/office/powerpoint/2010/main" val="1125163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en-US" altLang="zh-CN" smtClean="0">
                <a:sym typeface="Huawei Sans" panose="020C0503030203020204" pitchFamily="34" charset="0"/>
              </a:rPr>
              <a:t>XX</a:t>
            </a:r>
            <a:r>
              <a:rPr lang="zh-CN" altLang="en-US" smtClean="0">
                <a:sym typeface="Huawei Sans" panose="020C0503030203020204" pitchFamily="34" charset="0"/>
              </a:rPr>
              <a:t>城市</a:t>
            </a:r>
            <a:r>
              <a:rPr lang="en-US" altLang="zh-CN" smtClean="0">
                <a:sym typeface="Huawei Sans" panose="020C0503030203020204" pitchFamily="34" charset="0"/>
              </a:rPr>
              <a:t>WIFI</a:t>
            </a:r>
            <a:r>
              <a:rPr lang="zh-CN" altLang="en-US" smtClean="0">
                <a:sym typeface="Huawei Sans" panose="020C0503030203020204" pitchFamily="34" charset="0"/>
              </a:rPr>
              <a:t>统一云化管理</a:t>
            </a:r>
            <a:endParaRPr lang="zh-CN" altLang="en-US" dirty="0">
              <a:sym typeface="Huawei Sans" panose="020C0503030203020204" pitchFamily="34" charset="0"/>
            </a:endParaRPr>
          </a:p>
        </p:txBody>
      </p:sp>
      <p:sp>
        <p:nvSpPr>
          <p:cNvPr id="3" name="矩形 2">
            <a:extLst>
              <a:ext uri="{FF2B5EF4-FFF2-40B4-BE49-F238E27FC236}">
                <a16:creationId xmlns:a16="http://schemas.microsoft.com/office/drawing/2014/main" xmlns="" id="{D3D03A91-5F24-43F1-8182-522AD5A503EC}"/>
              </a:ext>
            </a:extLst>
          </p:cNvPr>
          <p:cNvSpPr/>
          <p:nvPr/>
        </p:nvSpPr>
        <p:spPr bwMode="gray">
          <a:xfrm>
            <a:off x="550862" y="1025196"/>
            <a:ext cx="11090276" cy="1656184"/>
          </a:xfrm>
          <a:prstGeom prst="rect">
            <a:avLst/>
          </a:prstGeom>
          <a:noFill/>
          <a:ln w="3175" cap="flat" cmpd="sng" algn="ctr">
            <a:solidFill>
              <a:srgbClr val="56C4D2"/>
            </a:solidFill>
            <a:prstDash val="dash"/>
            <a:round/>
            <a:headEnd type="none" w="med" len="med"/>
            <a:tailEnd type="none" w="med" len="med"/>
          </a:ln>
          <a:effectLst/>
        </p:spPr>
        <p:txBody>
          <a:bodyPr vert="horz" wrap="square" lIns="91461" tIns="45731" rIns="91461" bIns="45731" numCol="1" rtlCol="0" anchor="t" anchorCtr="0" compatLnSpc="1">
            <a:prstTxWarp prst="textNoShape">
              <a:avLst/>
            </a:prstTxWarp>
          </a:bodyPr>
          <a:lstStyle/>
          <a:p>
            <a:pPr algn="ctr" defTabSz="801848"/>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a:extLst>
              <a:ext uri="{FF2B5EF4-FFF2-40B4-BE49-F238E27FC236}">
                <a16:creationId xmlns:a16="http://schemas.microsoft.com/office/drawing/2014/main" xmlns="" id="{F98FC0AC-3B85-422A-B40F-298EFD79FBEA}"/>
              </a:ext>
            </a:extLst>
          </p:cNvPr>
          <p:cNvSpPr/>
          <p:nvPr/>
        </p:nvSpPr>
        <p:spPr bwMode="gray">
          <a:xfrm>
            <a:off x="550861" y="2722706"/>
            <a:ext cx="11090277" cy="3456806"/>
          </a:xfrm>
          <a:prstGeom prst="rect">
            <a:avLst/>
          </a:prstGeom>
          <a:noFill/>
          <a:ln w="3175" cap="flat" cmpd="sng" algn="ctr">
            <a:solidFill>
              <a:srgbClr val="56C4D2"/>
            </a:solidFill>
            <a:prstDash val="dash"/>
            <a:round/>
            <a:headEnd type="none" w="med" len="med"/>
            <a:tailEnd type="none" w="med" len="med"/>
          </a:ln>
          <a:effectLst/>
        </p:spPr>
        <p:txBody>
          <a:bodyPr vert="horz" wrap="square" lIns="91461" tIns="45731" rIns="91461" bIns="45731" numCol="1" rtlCol="0" anchor="t" anchorCtr="0" compatLnSpc="1">
            <a:prstTxWarp prst="textNoShape">
              <a:avLst/>
            </a:prstTxWarp>
          </a:bodyPr>
          <a:lstStyle/>
          <a:p>
            <a:pPr algn="ctr" defTabSz="801848"/>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a:extLst>
              <a:ext uri="{FF2B5EF4-FFF2-40B4-BE49-F238E27FC236}">
                <a16:creationId xmlns:a16="http://schemas.microsoft.com/office/drawing/2014/main" xmlns="" id="{32775EF1-4684-4B70-98C8-8799F224980D}"/>
              </a:ext>
            </a:extLst>
          </p:cNvPr>
          <p:cNvSpPr/>
          <p:nvPr/>
        </p:nvSpPr>
        <p:spPr bwMode="gray">
          <a:xfrm>
            <a:off x="1678498" y="1574219"/>
            <a:ext cx="2956073" cy="738664"/>
          </a:xfrm>
          <a:prstGeom prst="rect">
            <a:avLst/>
          </a:prstGeom>
        </p:spPr>
        <p:txBody>
          <a:bodyPr wrap="square">
            <a:spAutoFit/>
          </a:bodyPr>
          <a:lstStyle/>
          <a:p>
            <a:pPr marL="177800" indent="-177800">
              <a:spcBef>
                <a:spcPct val="50000"/>
              </a:spcBef>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XX</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服务品牌，目前</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业务遍及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800+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城市，拥有</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150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万用户。</a:t>
            </a:r>
          </a:p>
        </p:txBody>
      </p:sp>
      <p:cxnSp>
        <p:nvCxnSpPr>
          <p:cNvPr id="7" name="直接连接符 6">
            <a:extLst>
              <a:ext uri="{FF2B5EF4-FFF2-40B4-BE49-F238E27FC236}">
                <a16:creationId xmlns:a16="http://schemas.microsoft.com/office/drawing/2014/main" xmlns="" id="{6E6CE68E-036A-4874-B1E0-2DCDB6AE4E06}"/>
              </a:ext>
            </a:extLst>
          </p:cNvPr>
          <p:cNvCxnSpPr/>
          <p:nvPr/>
        </p:nvCxnSpPr>
        <p:spPr bwMode="gray">
          <a:xfrm>
            <a:off x="6169594" y="1385153"/>
            <a:ext cx="0" cy="936104"/>
          </a:xfrm>
          <a:prstGeom prst="line">
            <a:avLst/>
          </a:prstGeom>
          <a:solidFill>
            <a:schemeClr val="accent1"/>
          </a:solidFill>
          <a:ln w="9525" cap="flat" cmpd="sng" algn="ctr">
            <a:solidFill>
              <a:schemeClr val="accent6">
                <a:lumMod val="60000"/>
                <a:lumOff val="40000"/>
              </a:schemeClr>
            </a:solidFill>
            <a:prstDash val="sysDash"/>
            <a:round/>
            <a:headEnd type="none" w="med" len="med"/>
            <a:tailEnd type="none" w="med" len="med"/>
          </a:ln>
          <a:effectLst/>
        </p:spPr>
      </p:cxnSp>
      <p:sp>
        <p:nvSpPr>
          <p:cNvPr id="8" name="矩形 7">
            <a:extLst>
              <a:ext uri="{FF2B5EF4-FFF2-40B4-BE49-F238E27FC236}">
                <a16:creationId xmlns:a16="http://schemas.microsoft.com/office/drawing/2014/main" xmlns="" id="{0C2DD8B0-1C38-4FE6-B4F1-C085AE4F01D8}"/>
              </a:ext>
            </a:extLst>
          </p:cNvPr>
          <p:cNvSpPr/>
          <p:nvPr/>
        </p:nvSpPr>
        <p:spPr bwMode="gray">
          <a:xfrm>
            <a:off x="6442511" y="1659694"/>
            <a:ext cx="598241" cy="338554"/>
          </a:xfrm>
          <a:prstGeom prst="rect">
            <a:avLst/>
          </a:prstGeom>
        </p:spPr>
        <p:txBody>
          <a:bodyPr wrap="none">
            <a:spAutoFit/>
          </a:bodyPr>
          <a:lstStyle/>
          <a:p>
            <a:r>
              <a:rPr lang="zh-CN" altLang="en-US" sz="1600" b="1" u="sng" dirty="0">
                <a:latin typeface="Huawei Sans" panose="020C0503030203020204" pitchFamily="34" charset="0"/>
                <a:ea typeface="方正兰亭黑简体" panose="02000000000000000000" pitchFamily="2" charset="-122"/>
                <a:sym typeface="Huawei Sans" panose="020C0503030203020204" pitchFamily="34" charset="0"/>
              </a:rPr>
              <a:t>挑战</a:t>
            </a:r>
            <a:endParaRPr lang="zh-CN" altLang="en-US" sz="1600" u="sng"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8">
            <a:extLst>
              <a:ext uri="{FF2B5EF4-FFF2-40B4-BE49-F238E27FC236}">
                <a16:creationId xmlns:a16="http://schemas.microsoft.com/office/drawing/2014/main" xmlns="" id="{26E1E2AE-72E5-4E74-B0C2-E78394229C72}"/>
              </a:ext>
            </a:extLst>
          </p:cNvPr>
          <p:cNvCxnSpPr/>
          <p:nvPr/>
        </p:nvCxnSpPr>
        <p:spPr bwMode="gray">
          <a:xfrm>
            <a:off x="8261360" y="3154939"/>
            <a:ext cx="0" cy="2448272"/>
          </a:xfrm>
          <a:prstGeom prst="line">
            <a:avLst/>
          </a:prstGeom>
          <a:solidFill>
            <a:schemeClr val="accent1"/>
          </a:solidFill>
          <a:ln w="9525" cap="flat" cmpd="sng" algn="ctr">
            <a:solidFill>
              <a:schemeClr val="accent6">
                <a:lumMod val="60000"/>
                <a:lumOff val="40000"/>
              </a:schemeClr>
            </a:solidFill>
            <a:prstDash val="sysDash"/>
            <a:round/>
            <a:headEnd type="none" w="med" len="med"/>
            <a:tailEnd type="none" w="med" len="med"/>
          </a:ln>
          <a:effectLst/>
        </p:spPr>
      </p:cxnSp>
      <p:sp>
        <p:nvSpPr>
          <p:cNvPr id="10" name="文本框 9">
            <a:extLst>
              <a:ext uri="{FF2B5EF4-FFF2-40B4-BE49-F238E27FC236}">
                <a16:creationId xmlns:a16="http://schemas.microsoft.com/office/drawing/2014/main" xmlns="" id="{38E03361-536F-4DDB-8463-468658E7F423}"/>
              </a:ext>
            </a:extLst>
          </p:cNvPr>
          <p:cNvSpPr txBox="1"/>
          <p:nvPr/>
        </p:nvSpPr>
        <p:spPr bwMode="gray">
          <a:xfrm>
            <a:off x="9109757" y="2836945"/>
            <a:ext cx="1011815" cy="338554"/>
          </a:xfrm>
          <a:prstGeom prst="rect">
            <a:avLst/>
          </a:prstGeom>
          <a:noFill/>
        </p:spPr>
        <p:txBody>
          <a:bodyPr wrap="none" rtlCol="0">
            <a:spAutoFit/>
          </a:bodyPr>
          <a:lstStyle>
            <a:defPPr>
              <a:defRPr lang="zh-CN"/>
            </a:defPPr>
            <a:lvl1pPr>
              <a:defRPr b="1">
                <a:solidFill>
                  <a:schemeClr val="accent6">
                    <a:lumMod val="75000"/>
                  </a:schemeClr>
                </a:solidFill>
                <a:latin typeface="+mn-ea"/>
                <a:ea typeface="+mn-ea"/>
              </a:defRPr>
            </a:lvl1pPr>
          </a:lstStyle>
          <a:p>
            <a:r>
              <a:rPr lang="zh-CN" altLang="en-US" sz="1600" u="sng"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客户价值</a:t>
            </a:r>
            <a:endParaRPr lang="en-US" altLang="zh-CN" sz="1600" u="sng"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a:extLst>
              <a:ext uri="{FF2B5EF4-FFF2-40B4-BE49-F238E27FC236}">
                <a16:creationId xmlns:a16="http://schemas.microsoft.com/office/drawing/2014/main" xmlns="" id="{AFE4526E-44B2-43A1-9D26-658CD859E52F}"/>
              </a:ext>
            </a:extLst>
          </p:cNvPr>
          <p:cNvSpPr/>
          <p:nvPr/>
        </p:nvSpPr>
        <p:spPr bwMode="gray">
          <a:xfrm>
            <a:off x="4593279" y="3225527"/>
            <a:ext cx="3627695" cy="1963614"/>
          </a:xfrm>
          <a:prstGeom prst="rect">
            <a:avLst/>
          </a:prstGeom>
        </p:spPr>
        <p:txBody>
          <a:bodyPr wrap="square">
            <a:spAutoFit/>
          </a:bodyPr>
          <a:lstStyle/>
          <a:p>
            <a:pPr>
              <a:lnSpc>
                <a:spcPct val="150000"/>
              </a:lnSpc>
              <a:buClr>
                <a:prstClr val="white"/>
              </a:buCl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方案实现</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20000"/>
              </a:lnSpc>
              <a:spcAft>
                <a:spcPts val="600"/>
              </a:spcAft>
              <a:buClr>
                <a:prstClr val="white"/>
              </a:buCl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华为云管理平台实现设备的即插即用，快速部署；提供全生命周期云管理，集中管理，简化运维。提供开放接口，无缝对接第三方认证计费管理平台，实现安全的</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网络管理。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spcAft>
                <a:spcPts val="600"/>
              </a:spcAft>
              <a:buClr>
                <a:prstClr val="white"/>
              </a:buCl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合作场景及接口</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a:spcAft>
                <a:spcPts val="600"/>
              </a:spcAft>
              <a:buClr>
                <a:prstClr val="white"/>
              </a:buCl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认证授权：</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Portal+Radius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API</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a:extLst>
              <a:ext uri="{FF2B5EF4-FFF2-40B4-BE49-F238E27FC236}">
                <a16:creationId xmlns:a16="http://schemas.microsoft.com/office/drawing/2014/main" xmlns="" id="{8AA5B922-A7D3-4E5D-890B-F95134201F14}"/>
              </a:ext>
            </a:extLst>
          </p:cNvPr>
          <p:cNvSpPr/>
          <p:nvPr/>
        </p:nvSpPr>
        <p:spPr bwMode="gray">
          <a:xfrm>
            <a:off x="7354067" y="1131480"/>
            <a:ext cx="4030280" cy="1384995"/>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marL="285750" indent="-285750" defTabSz="1218835">
              <a:lnSpc>
                <a:spcPct val="150000"/>
              </a:lnSpc>
              <a:buClr>
                <a:schemeClr val="tx1"/>
              </a:buClr>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网络覆盖质量</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，租户环境多样，如何保障良好的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信号质量和客户接入</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体验。</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1218835">
              <a:lnSpc>
                <a:spcPct val="150000"/>
              </a:lnSpc>
              <a:buClr>
                <a:schemeClr val="tx1"/>
              </a:buClr>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海量设备运维，</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租户多，设备部署分散，安装运维成本</a:t>
            </a:r>
            <a:r>
              <a:rPr lang="zh-CN" altLang="en-US" sz="140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高。</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3" name="直接连接符 12">
            <a:extLst>
              <a:ext uri="{FF2B5EF4-FFF2-40B4-BE49-F238E27FC236}">
                <a16:creationId xmlns:a16="http://schemas.microsoft.com/office/drawing/2014/main" xmlns="" id="{2759B3D1-BCD3-4534-8677-B1E4E7DC55A4}"/>
              </a:ext>
            </a:extLst>
          </p:cNvPr>
          <p:cNvCxnSpPr/>
          <p:nvPr/>
        </p:nvCxnSpPr>
        <p:spPr bwMode="gray">
          <a:xfrm>
            <a:off x="4423241" y="3272363"/>
            <a:ext cx="0" cy="2448272"/>
          </a:xfrm>
          <a:prstGeom prst="line">
            <a:avLst/>
          </a:prstGeom>
          <a:solidFill>
            <a:schemeClr val="accent1"/>
          </a:solidFill>
          <a:ln w="9525" cap="flat" cmpd="sng" algn="ctr">
            <a:solidFill>
              <a:schemeClr val="accent6">
                <a:lumMod val="60000"/>
                <a:lumOff val="40000"/>
              </a:schemeClr>
            </a:solidFill>
            <a:prstDash val="sysDash"/>
            <a:round/>
            <a:headEnd type="none" w="med" len="med"/>
            <a:tailEnd type="none" w="med" len="med"/>
          </a:ln>
          <a:effectLst/>
        </p:spPr>
      </p:cxnSp>
      <p:sp>
        <p:nvSpPr>
          <p:cNvPr id="14" name="矩形 13">
            <a:extLst>
              <a:ext uri="{FF2B5EF4-FFF2-40B4-BE49-F238E27FC236}">
                <a16:creationId xmlns:a16="http://schemas.microsoft.com/office/drawing/2014/main" xmlns="" id="{A2120A5C-FFA3-4791-B0DF-2BC63B43B661}"/>
              </a:ext>
            </a:extLst>
          </p:cNvPr>
          <p:cNvSpPr/>
          <p:nvPr/>
        </p:nvSpPr>
        <p:spPr bwMode="gray">
          <a:xfrm>
            <a:off x="9407550" y="3418839"/>
            <a:ext cx="1640193" cy="307777"/>
          </a:xfrm>
          <a:prstGeom prst="rect">
            <a:avLst/>
          </a:prstGeom>
        </p:spPr>
        <p:txBody>
          <a:bodyPr wrap="none">
            <a:spAutoFit/>
          </a:bodyPr>
          <a:lstStyle/>
          <a:p>
            <a:pPr algn="ct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高质量的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覆盖</a:t>
            </a:r>
          </a:p>
        </p:txBody>
      </p:sp>
      <p:sp>
        <p:nvSpPr>
          <p:cNvPr id="15" name="椭圆 14">
            <a:extLst>
              <a:ext uri="{FF2B5EF4-FFF2-40B4-BE49-F238E27FC236}">
                <a16:creationId xmlns:a16="http://schemas.microsoft.com/office/drawing/2014/main" xmlns="" id="{79504FBC-03CD-48D8-A1D6-57F74C9CC64B}"/>
              </a:ext>
            </a:extLst>
          </p:cNvPr>
          <p:cNvSpPr/>
          <p:nvPr/>
        </p:nvSpPr>
        <p:spPr bwMode="gray">
          <a:xfrm>
            <a:off x="8839444" y="3515234"/>
            <a:ext cx="360000" cy="360000"/>
          </a:xfrm>
          <a:prstGeom prst="ellipse">
            <a:avLst/>
          </a:prstGeom>
          <a:noFill/>
          <a:ln w="38100">
            <a:noFill/>
          </a:ln>
        </p:spPr>
        <p:txBody>
          <a:bodyPr wrap="none" anchor="ctr">
            <a:noAutofit/>
          </a:bodyPr>
          <a:lstStyle/>
          <a:p>
            <a:pPr algn="ctr" defTabSz="1219444">
              <a:buClr>
                <a:srgbClr val="CC9900"/>
              </a:buCl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网络覆盖</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a:extLst>
              <a:ext uri="{FF2B5EF4-FFF2-40B4-BE49-F238E27FC236}">
                <a16:creationId xmlns:a16="http://schemas.microsoft.com/office/drawing/2014/main" xmlns="" id="{24052749-1BC3-488E-BA32-DE268D511DA2}"/>
              </a:ext>
            </a:extLst>
          </p:cNvPr>
          <p:cNvSpPr/>
          <p:nvPr/>
        </p:nvSpPr>
        <p:spPr bwMode="gray">
          <a:xfrm>
            <a:off x="9221274" y="4375841"/>
            <a:ext cx="1952335" cy="307777"/>
          </a:xfrm>
          <a:prstGeom prst="rect">
            <a:avLst/>
          </a:prstGeom>
        </p:spPr>
        <p:txBody>
          <a:bodyPr wrap="square">
            <a:spAutoFit/>
          </a:bodyPr>
          <a:lstStyle/>
          <a:p>
            <a:pPr algn="ct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降低</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OPEX 80%</a:t>
            </a:r>
            <a:endPar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 name="椭圆 16">
            <a:extLst>
              <a:ext uri="{FF2B5EF4-FFF2-40B4-BE49-F238E27FC236}">
                <a16:creationId xmlns:a16="http://schemas.microsoft.com/office/drawing/2014/main" xmlns="" id="{96065478-1375-4BB5-87B4-B2732702F249}"/>
              </a:ext>
            </a:extLst>
          </p:cNvPr>
          <p:cNvSpPr/>
          <p:nvPr/>
        </p:nvSpPr>
        <p:spPr bwMode="gray">
          <a:xfrm>
            <a:off x="8844527" y="4409827"/>
            <a:ext cx="360000" cy="360000"/>
          </a:xfrm>
          <a:prstGeom prst="ellipse">
            <a:avLst/>
          </a:prstGeom>
          <a:ln w="38100">
            <a:noFill/>
          </a:ln>
        </p:spPr>
        <p:txBody>
          <a:bodyPr wrap="none" anchor="ctr">
            <a:noAutofit/>
          </a:bodyPr>
          <a:lstStyle/>
          <a:p>
            <a:pPr algn="ctr" defTabSz="1219444">
              <a:buClr>
                <a:srgbClr val="CC9900"/>
              </a:buCl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云化管理</a:t>
            </a:r>
          </a:p>
        </p:txBody>
      </p:sp>
      <p:sp>
        <p:nvSpPr>
          <p:cNvPr id="18" name="椭圆 17">
            <a:extLst>
              <a:ext uri="{FF2B5EF4-FFF2-40B4-BE49-F238E27FC236}">
                <a16:creationId xmlns:a16="http://schemas.microsoft.com/office/drawing/2014/main" xmlns="" id="{F1ED2F6D-3E03-481C-BD63-E63F9D296768}"/>
              </a:ext>
            </a:extLst>
          </p:cNvPr>
          <p:cNvSpPr>
            <a:spLocks noChangeAspect="1"/>
          </p:cNvSpPr>
          <p:nvPr/>
        </p:nvSpPr>
        <p:spPr bwMode="gray">
          <a:xfrm>
            <a:off x="8688503" y="3371065"/>
            <a:ext cx="648338" cy="648338"/>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 name="椭圆 18">
            <a:extLst>
              <a:ext uri="{FF2B5EF4-FFF2-40B4-BE49-F238E27FC236}">
                <a16:creationId xmlns:a16="http://schemas.microsoft.com/office/drawing/2014/main" xmlns="" id="{74983A74-8D21-42CA-819D-D4BF9E654873}"/>
              </a:ext>
            </a:extLst>
          </p:cNvPr>
          <p:cNvSpPr>
            <a:spLocks noChangeAspect="1"/>
          </p:cNvSpPr>
          <p:nvPr/>
        </p:nvSpPr>
        <p:spPr bwMode="gray">
          <a:xfrm>
            <a:off x="8692433" y="4235668"/>
            <a:ext cx="679351" cy="679351"/>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 name="矩形 19">
            <a:extLst>
              <a:ext uri="{FF2B5EF4-FFF2-40B4-BE49-F238E27FC236}">
                <a16:creationId xmlns:a16="http://schemas.microsoft.com/office/drawing/2014/main" xmlns="" id="{292983DE-DC8F-42A0-BA1E-73F38EFD6B0F}"/>
              </a:ext>
            </a:extLst>
          </p:cNvPr>
          <p:cNvSpPr/>
          <p:nvPr/>
        </p:nvSpPr>
        <p:spPr bwMode="gray">
          <a:xfrm>
            <a:off x="9183711" y="5301098"/>
            <a:ext cx="1966907" cy="307777"/>
          </a:xfrm>
          <a:prstGeom prst="rect">
            <a:avLst/>
          </a:prstGeom>
        </p:spPr>
        <p:txBody>
          <a:bodyPr wrap="square">
            <a:spAutoFit/>
          </a:bodyPr>
          <a:lstStyle/>
          <a:p>
            <a:pPr algn="ct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保护客户投资</a:t>
            </a:r>
          </a:p>
        </p:txBody>
      </p:sp>
      <p:sp>
        <p:nvSpPr>
          <p:cNvPr id="21" name="椭圆 20">
            <a:extLst>
              <a:ext uri="{FF2B5EF4-FFF2-40B4-BE49-F238E27FC236}">
                <a16:creationId xmlns:a16="http://schemas.microsoft.com/office/drawing/2014/main" xmlns="" id="{D484944B-01E0-40C2-8CFC-D0166DEC061F}"/>
              </a:ext>
            </a:extLst>
          </p:cNvPr>
          <p:cNvSpPr/>
          <p:nvPr/>
        </p:nvSpPr>
        <p:spPr bwMode="gray">
          <a:xfrm>
            <a:off x="8844351" y="5258567"/>
            <a:ext cx="362687" cy="360000"/>
          </a:xfrm>
          <a:prstGeom prst="ellipse">
            <a:avLst/>
          </a:prstGeom>
          <a:ln w="38100">
            <a:noFill/>
          </a:ln>
        </p:spPr>
        <p:txBody>
          <a:bodyPr wrap="none" anchor="ctr">
            <a:noAutofit/>
          </a:bodyPr>
          <a:lstStyle/>
          <a:p>
            <a:pPr algn="ctr" defTabSz="1219444">
              <a:buClr>
                <a:srgbClr val="CC9900"/>
              </a:buCl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平滑升级</a:t>
            </a:r>
          </a:p>
        </p:txBody>
      </p:sp>
      <p:sp>
        <p:nvSpPr>
          <p:cNvPr id="22" name="椭圆 21">
            <a:extLst>
              <a:ext uri="{FF2B5EF4-FFF2-40B4-BE49-F238E27FC236}">
                <a16:creationId xmlns:a16="http://schemas.microsoft.com/office/drawing/2014/main" xmlns="" id="{0A32D60E-A144-4E20-80D4-ADEF13B0BAE3}"/>
              </a:ext>
            </a:extLst>
          </p:cNvPr>
          <p:cNvSpPr>
            <a:spLocks noChangeAspect="1"/>
          </p:cNvSpPr>
          <p:nvPr/>
        </p:nvSpPr>
        <p:spPr bwMode="gray">
          <a:xfrm>
            <a:off x="8689874" y="5114397"/>
            <a:ext cx="684422" cy="679351"/>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4" name="文本框 225">
            <a:extLst>
              <a:ext uri="{FF2B5EF4-FFF2-40B4-BE49-F238E27FC236}">
                <a16:creationId xmlns:a16="http://schemas.microsoft.com/office/drawing/2014/main" xmlns="" id="{7784230B-A211-46BA-AA13-9C346F7A7E8A}"/>
              </a:ext>
            </a:extLst>
          </p:cNvPr>
          <p:cNvSpPr txBox="1">
            <a:spLocks noChangeArrowheads="1"/>
          </p:cNvSpPr>
          <p:nvPr/>
        </p:nvSpPr>
        <p:spPr bwMode="gray">
          <a:xfrm>
            <a:off x="2990010" y="3131109"/>
            <a:ext cx="575818" cy="461665"/>
          </a:xfrm>
          <a:prstGeom prst="rect">
            <a:avLst/>
          </a:prstGeom>
          <a:noFill/>
          <a:ln w="9525">
            <a:noFill/>
            <a:miter lim="800000"/>
          </a:ln>
        </p:spPr>
        <p:txBody>
          <a:bodyPr wrap="square">
            <a:spAutoFit/>
          </a:bodyPr>
          <a:lstStyle/>
          <a:p>
            <a:pPr>
              <a:buSzPct val="100000"/>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认证计费</a:t>
            </a:r>
            <a:endParaRPr lang="zh-CN"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弧形 24">
            <a:extLst>
              <a:ext uri="{FF2B5EF4-FFF2-40B4-BE49-F238E27FC236}">
                <a16:creationId xmlns:a16="http://schemas.microsoft.com/office/drawing/2014/main" xmlns="" id="{E0272465-53F8-45C7-BBFA-3B8163C944F6}"/>
              </a:ext>
            </a:extLst>
          </p:cNvPr>
          <p:cNvSpPr/>
          <p:nvPr/>
        </p:nvSpPr>
        <p:spPr bwMode="gray">
          <a:xfrm>
            <a:off x="2986966" y="3081288"/>
            <a:ext cx="479233" cy="479483"/>
          </a:xfrm>
          <a:prstGeom prst="arc">
            <a:avLst>
              <a:gd name="adj1" fmla="val 14445679"/>
              <a:gd name="adj2" fmla="val 10762572"/>
            </a:avLst>
          </a:prstGeom>
          <a:noFill/>
          <a:ln w="12700" cap="rnd" cmpd="sng" algn="ctr">
            <a:solidFill>
              <a:srgbClr val="0070C0"/>
            </a:solidFill>
            <a:prstDash val="solid"/>
            <a:miter lim="800000"/>
            <a:tailEnd type="oval" w="sm" len="sm"/>
          </a:ln>
          <a:effectLst/>
        </p:spPr>
        <p:txBody>
          <a:bodyPr rtlCol="0" anchor="ctr"/>
          <a:lstStyle/>
          <a:p>
            <a:pPr algn="ctr" defTabSz="456565">
              <a:defRPr/>
            </a:pPr>
            <a:endParaRPr lang="zh-CN" altLang="en-US" sz="105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a:extLst>
              <a:ext uri="{FF2B5EF4-FFF2-40B4-BE49-F238E27FC236}">
                <a16:creationId xmlns:a16="http://schemas.microsoft.com/office/drawing/2014/main" xmlns="" id="{C473C532-8F27-4126-B35B-45B1E87B7D24}"/>
              </a:ext>
            </a:extLst>
          </p:cNvPr>
          <p:cNvSpPr/>
          <p:nvPr/>
        </p:nvSpPr>
        <p:spPr bwMode="gray">
          <a:xfrm>
            <a:off x="1197814" y="3613233"/>
            <a:ext cx="954107" cy="276999"/>
          </a:xfrm>
          <a:prstGeom prst="rect">
            <a:avLst/>
          </a:prstGeom>
        </p:spPr>
        <p:txBody>
          <a:bodyPr wrap="none">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云管理平台</a:t>
            </a:r>
          </a:p>
        </p:txBody>
      </p:sp>
      <p:pic>
        <p:nvPicPr>
          <p:cNvPr id="27" name="图片 26">
            <a:extLst>
              <a:ext uri="{FF2B5EF4-FFF2-40B4-BE49-F238E27FC236}">
                <a16:creationId xmlns:a16="http://schemas.microsoft.com/office/drawing/2014/main" xmlns="" id="{7260EC2E-5840-4CC8-BCD8-3445D6EF236D}"/>
              </a:ext>
            </a:extLst>
          </p:cNvPr>
          <p:cNvPicPr>
            <a:picLocks noChangeAspect="1"/>
          </p:cNvPicPr>
          <p:nvPr/>
        </p:nvPicPr>
        <p:blipFill>
          <a:blip r:embed="rId3"/>
          <a:stretch>
            <a:fillRect/>
          </a:stretch>
        </p:blipFill>
        <p:spPr bwMode="gray">
          <a:xfrm>
            <a:off x="1377699" y="3815989"/>
            <a:ext cx="438455" cy="330828"/>
          </a:xfrm>
          <a:prstGeom prst="rect">
            <a:avLst/>
          </a:prstGeom>
        </p:spPr>
      </p:pic>
      <p:pic>
        <p:nvPicPr>
          <p:cNvPr id="28" name="图片 27" descr="AP.png">
            <a:extLst>
              <a:ext uri="{FF2B5EF4-FFF2-40B4-BE49-F238E27FC236}">
                <a16:creationId xmlns:a16="http://schemas.microsoft.com/office/drawing/2014/main" xmlns="" id="{0D7AB0B0-A0B0-40A7-8C36-8CF95659DBDB}"/>
              </a:ext>
            </a:extLst>
          </p:cNvPr>
          <p:cNvPicPr>
            <a:picLocks noChangeAspect="1"/>
          </p:cNvPicPr>
          <p:nvPr/>
        </p:nvPicPr>
        <p:blipFill>
          <a:blip r:embed="rId4" cstate="print"/>
          <a:stretch>
            <a:fillRect/>
          </a:stretch>
        </p:blipFill>
        <p:spPr bwMode="gray">
          <a:xfrm>
            <a:off x="1309862" y="5264673"/>
            <a:ext cx="331128" cy="287468"/>
          </a:xfrm>
          <a:prstGeom prst="rect">
            <a:avLst/>
          </a:prstGeom>
        </p:spPr>
      </p:pic>
      <p:pic>
        <p:nvPicPr>
          <p:cNvPr id="29" name="图片 28" descr="AP.png">
            <a:extLst>
              <a:ext uri="{FF2B5EF4-FFF2-40B4-BE49-F238E27FC236}">
                <a16:creationId xmlns:a16="http://schemas.microsoft.com/office/drawing/2014/main" xmlns="" id="{9185A48A-4C53-433D-9607-A83A2C705F3C}"/>
              </a:ext>
            </a:extLst>
          </p:cNvPr>
          <p:cNvPicPr>
            <a:picLocks noChangeAspect="1"/>
          </p:cNvPicPr>
          <p:nvPr/>
        </p:nvPicPr>
        <p:blipFill>
          <a:blip r:embed="rId4" cstate="print"/>
          <a:stretch>
            <a:fillRect/>
          </a:stretch>
        </p:blipFill>
        <p:spPr bwMode="gray">
          <a:xfrm>
            <a:off x="1982717" y="5264672"/>
            <a:ext cx="331128" cy="287468"/>
          </a:xfrm>
          <a:prstGeom prst="rect">
            <a:avLst/>
          </a:prstGeom>
        </p:spPr>
      </p:pic>
      <p:pic>
        <p:nvPicPr>
          <p:cNvPr id="30" name="图片 29" descr="wifi信号蓝.png">
            <a:extLst>
              <a:ext uri="{FF2B5EF4-FFF2-40B4-BE49-F238E27FC236}">
                <a16:creationId xmlns:a16="http://schemas.microsoft.com/office/drawing/2014/main" xmlns="" id="{D7F77C7C-2530-4D66-8E18-353222162881}"/>
              </a:ext>
            </a:extLst>
          </p:cNvPr>
          <p:cNvPicPr>
            <a:picLocks noChangeAspect="1"/>
          </p:cNvPicPr>
          <p:nvPr/>
        </p:nvPicPr>
        <p:blipFill>
          <a:blip r:embed="rId5" cstate="print"/>
          <a:stretch>
            <a:fillRect/>
          </a:stretch>
        </p:blipFill>
        <p:spPr bwMode="gray">
          <a:xfrm rot="10800000">
            <a:off x="1372503" y="5579251"/>
            <a:ext cx="205845" cy="168585"/>
          </a:xfrm>
          <a:prstGeom prst="rect">
            <a:avLst/>
          </a:prstGeom>
        </p:spPr>
      </p:pic>
      <p:pic>
        <p:nvPicPr>
          <p:cNvPr id="31" name="图片 30" descr="wifi信号蓝.png">
            <a:extLst>
              <a:ext uri="{FF2B5EF4-FFF2-40B4-BE49-F238E27FC236}">
                <a16:creationId xmlns:a16="http://schemas.microsoft.com/office/drawing/2014/main" xmlns="" id="{B4BD6FE3-D33B-4B78-B243-FB3E2C79A9D0}"/>
              </a:ext>
            </a:extLst>
          </p:cNvPr>
          <p:cNvPicPr>
            <a:picLocks noChangeAspect="1"/>
          </p:cNvPicPr>
          <p:nvPr/>
        </p:nvPicPr>
        <p:blipFill>
          <a:blip r:embed="rId5" cstate="print"/>
          <a:stretch>
            <a:fillRect/>
          </a:stretch>
        </p:blipFill>
        <p:spPr bwMode="gray">
          <a:xfrm rot="10800000">
            <a:off x="2045358" y="5574278"/>
            <a:ext cx="205845" cy="168585"/>
          </a:xfrm>
          <a:prstGeom prst="rect">
            <a:avLst/>
          </a:prstGeom>
        </p:spPr>
      </p:pic>
      <p:sp>
        <p:nvSpPr>
          <p:cNvPr id="32" name="矩形 31">
            <a:extLst>
              <a:ext uri="{FF2B5EF4-FFF2-40B4-BE49-F238E27FC236}">
                <a16:creationId xmlns:a16="http://schemas.microsoft.com/office/drawing/2014/main" xmlns="" id="{BF10DB9B-940D-400F-ACE2-DF3CC3A49FB3}"/>
              </a:ext>
            </a:extLst>
          </p:cNvPr>
          <p:cNvSpPr/>
          <p:nvPr/>
        </p:nvSpPr>
        <p:spPr bwMode="gray">
          <a:xfrm>
            <a:off x="1113404" y="4799603"/>
            <a:ext cx="824265"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32" descr="AP.png">
            <a:extLst>
              <a:ext uri="{FF2B5EF4-FFF2-40B4-BE49-F238E27FC236}">
                <a16:creationId xmlns:a16="http://schemas.microsoft.com/office/drawing/2014/main" xmlns="" id="{476A8C9B-792C-4578-BFDE-1ACED68CE1EE}"/>
              </a:ext>
            </a:extLst>
          </p:cNvPr>
          <p:cNvPicPr>
            <a:picLocks noChangeAspect="1"/>
          </p:cNvPicPr>
          <p:nvPr/>
        </p:nvPicPr>
        <p:blipFill>
          <a:blip r:embed="rId4" cstate="print"/>
          <a:stretch>
            <a:fillRect/>
          </a:stretch>
        </p:blipFill>
        <p:spPr bwMode="gray">
          <a:xfrm>
            <a:off x="3316087" y="5268661"/>
            <a:ext cx="331128" cy="287468"/>
          </a:xfrm>
          <a:prstGeom prst="rect">
            <a:avLst/>
          </a:prstGeom>
        </p:spPr>
      </p:pic>
      <p:pic>
        <p:nvPicPr>
          <p:cNvPr id="34" name="内容占位符 88" descr="交换机.png">
            <a:extLst>
              <a:ext uri="{FF2B5EF4-FFF2-40B4-BE49-F238E27FC236}">
                <a16:creationId xmlns:a16="http://schemas.microsoft.com/office/drawing/2014/main" xmlns="" id="{DE5FCCA9-C0F1-4BF8-8FC4-B414F42096F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3017391" y="3838166"/>
            <a:ext cx="396612" cy="29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5" name="肘形连接符 99">
            <a:extLst>
              <a:ext uri="{FF2B5EF4-FFF2-40B4-BE49-F238E27FC236}">
                <a16:creationId xmlns:a16="http://schemas.microsoft.com/office/drawing/2014/main" xmlns="" id="{13ABD085-8FAB-4DD7-A2B6-04F384A329DF}"/>
              </a:ext>
            </a:extLst>
          </p:cNvPr>
          <p:cNvCxnSpPr>
            <a:stCxn id="27" idx="2"/>
          </p:cNvCxnSpPr>
          <p:nvPr/>
        </p:nvCxnSpPr>
        <p:spPr bwMode="gray">
          <a:xfrm rot="16200000" flipH="1">
            <a:off x="1811971" y="3931772"/>
            <a:ext cx="389740" cy="819829"/>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肘形连接符 100">
            <a:extLst>
              <a:ext uri="{FF2B5EF4-FFF2-40B4-BE49-F238E27FC236}">
                <a16:creationId xmlns:a16="http://schemas.microsoft.com/office/drawing/2014/main" xmlns="" id="{6E7D307B-317B-45CF-8146-3B633E58A841}"/>
              </a:ext>
            </a:extLst>
          </p:cNvPr>
          <p:cNvCxnSpPr/>
          <p:nvPr/>
        </p:nvCxnSpPr>
        <p:spPr bwMode="gray">
          <a:xfrm rot="5400000">
            <a:off x="2601767" y="3943871"/>
            <a:ext cx="404904" cy="798941"/>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肘形连接符 101">
            <a:extLst>
              <a:ext uri="{FF2B5EF4-FFF2-40B4-BE49-F238E27FC236}">
                <a16:creationId xmlns:a16="http://schemas.microsoft.com/office/drawing/2014/main" xmlns="" id="{0533FF82-384E-4224-A57E-792EBEB6C28A}"/>
              </a:ext>
            </a:extLst>
          </p:cNvPr>
          <p:cNvCxnSpPr>
            <a:endCxn id="28" idx="0"/>
          </p:cNvCxnSpPr>
          <p:nvPr/>
        </p:nvCxnSpPr>
        <p:spPr bwMode="gray">
          <a:xfrm rot="5400000">
            <a:off x="1727916" y="4575832"/>
            <a:ext cx="436351" cy="941330"/>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肘形连接符 102">
            <a:extLst>
              <a:ext uri="{FF2B5EF4-FFF2-40B4-BE49-F238E27FC236}">
                <a16:creationId xmlns:a16="http://schemas.microsoft.com/office/drawing/2014/main" xmlns="" id="{C98CEC4A-6FDF-4C19-BECE-3989296BBD24}"/>
              </a:ext>
            </a:extLst>
          </p:cNvPr>
          <p:cNvCxnSpPr>
            <a:endCxn id="29" idx="0"/>
          </p:cNvCxnSpPr>
          <p:nvPr/>
        </p:nvCxnSpPr>
        <p:spPr bwMode="gray">
          <a:xfrm rot="5400000">
            <a:off x="2064344" y="4912260"/>
            <a:ext cx="436350" cy="26847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肘形连接符 103">
            <a:extLst>
              <a:ext uri="{FF2B5EF4-FFF2-40B4-BE49-F238E27FC236}">
                <a16:creationId xmlns:a16="http://schemas.microsoft.com/office/drawing/2014/main" xmlns="" id="{938C8628-BDA0-455D-B5CF-436F44BE9FA0}"/>
              </a:ext>
            </a:extLst>
          </p:cNvPr>
          <p:cNvCxnSpPr/>
          <p:nvPr/>
        </p:nvCxnSpPr>
        <p:spPr bwMode="gray">
          <a:xfrm rot="16200000" flipH="1">
            <a:off x="2737173" y="4503862"/>
            <a:ext cx="440339" cy="108925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0" name="图片 39" descr="wifi信号蓝.png">
            <a:extLst>
              <a:ext uri="{FF2B5EF4-FFF2-40B4-BE49-F238E27FC236}">
                <a16:creationId xmlns:a16="http://schemas.microsoft.com/office/drawing/2014/main" xmlns="" id="{9EA6FCC1-A75E-4E3C-95ED-BECD765FE649}"/>
              </a:ext>
            </a:extLst>
          </p:cNvPr>
          <p:cNvPicPr>
            <a:picLocks noChangeAspect="1"/>
          </p:cNvPicPr>
          <p:nvPr/>
        </p:nvPicPr>
        <p:blipFill>
          <a:blip r:embed="rId5" cstate="print"/>
          <a:stretch>
            <a:fillRect/>
          </a:stretch>
        </p:blipFill>
        <p:spPr bwMode="gray">
          <a:xfrm rot="10800000">
            <a:off x="3414003" y="5569984"/>
            <a:ext cx="205845" cy="168585"/>
          </a:xfrm>
          <a:prstGeom prst="rect">
            <a:avLst/>
          </a:prstGeom>
        </p:spPr>
      </p:pic>
      <p:sp>
        <p:nvSpPr>
          <p:cNvPr id="41" name="矩形 40">
            <a:extLst>
              <a:ext uri="{FF2B5EF4-FFF2-40B4-BE49-F238E27FC236}">
                <a16:creationId xmlns:a16="http://schemas.microsoft.com/office/drawing/2014/main" xmlns="" id="{464BCF13-EFD2-46F0-846B-EDA4B1B12529}"/>
              </a:ext>
            </a:extLst>
          </p:cNvPr>
          <p:cNvSpPr/>
          <p:nvPr/>
        </p:nvSpPr>
        <p:spPr bwMode="gray">
          <a:xfrm>
            <a:off x="2664408" y="5199925"/>
            <a:ext cx="326951" cy="307777"/>
          </a:xfrm>
          <a:prstGeom prst="rect">
            <a:avLst/>
          </a:prstGeom>
          <a:noFill/>
          <a:ln>
            <a:noFill/>
          </a:ln>
        </p:spPr>
        <p:txBody>
          <a:bodyPr wrap="square">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2" name="矩形 41">
            <a:extLst>
              <a:ext uri="{FF2B5EF4-FFF2-40B4-BE49-F238E27FC236}">
                <a16:creationId xmlns:a16="http://schemas.microsoft.com/office/drawing/2014/main" xmlns="" id="{EFE49F73-9EB0-4C97-8853-91D98BA5EE57}"/>
              </a:ext>
            </a:extLst>
          </p:cNvPr>
          <p:cNvSpPr/>
          <p:nvPr/>
        </p:nvSpPr>
        <p:spPr bwMode="gray">
          <a:xfrm>
            <a:off x="2885468" y="3598660"/>
            <a:ext cx="954107" cy="276999"/>
          </a:xfrm>
          <a:prstGeom prst="rect">
            <a:avLst/>
          </a:prstGeom>
        </p:spPr>
        <p:txBody>
          <a:bodyPr wrap="none">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第三方平台</a:t>
            </a:r>
          </a:p>
        </p:txBody>
      </p:sp>
      <p:grpSp>
        <p:nvGrpSpPr>
          <p:cNvPr id="43" name="组合 120">
            <a:extLst>
              <a:ext uri="{FF2B5EF4-FFF2-40B4-BE49-F238E27FC236}">
                <a16:creationId xmlns:a16="http://schemas.microsoft.com/office/drawing/2014/main" xmlns="" id="{11D4021A-D445-4F69-B112-B59564640885}"/>
              </a:ext>
            </a:extLst>
          </p:cNvPr>
          <p:cNvGrpSpPr/>
          <p:nvPr/>
        </p:nvGrpSpPr>
        <p:grpSpPr bwMode="gray">
          <a:xfrm>
            <a:off x="1236574" y="3039912"/>
            <a:ext cx="273073" cy="223416"/>
            <a:chOff x="1814513" y="2640013"/>
            <a:chExt cx="933450" cy="731837"/>
          </a:xfrm>
          <a:solidFill>
            <a:srgbClr val="0070C0"/>
          </a:solidFill>
        </p:grpSpPr>
        <p:sp>
          <p:nvSpPr>
            <p:cNvPr id="44" name="Freeform 15">
              <a:extLst>
                <a:ext uri="{FF2B5EF4-FFF2-40B4-BE49-F238E27FC236}">
                  <a16:creationId xmlns:a16="http://schemas.microsoft.com/office/drawing/2014/main" xmlns="" id="{0E107082-9E45-4E23-A301-A9F1B5D0FE88}"/>
                </a:ext>
              </a:extLst>
            </p:cNvPr>
            <p:cNvSpPr>
              <a:spLocks noEditPoints="1"/>
            </p:cNvSpPr>
            <p:nvPr/>
          </p:nvSpPr>
          <p:spPr bwMode="gray">
            <a:xfrm>
              <a:off x="2289175" y="2824163"/>
              <a:ext cx="349250" cy="347663"/>
            </a:xfrm>
            <a:custGeom>
              <a:avLst/>
              <a:gdLst/>
              <a:ahLst/>
              <a:cxnLst>
                <a:cxn ang="0">
                  <a:pos x="336" y="2"/>
                </a:cxn>
                <a:cxn ang="0">
                  <a:pos x="316" y="63"/>
                </a:cxn>
                <a:cxn ang="0">
                  <a:pos x="288" y="86"/>
                </a:cxn>
                <a:cxn ang="0">
                  <a:pos x="245" y="42"/>
                </a:cxn>
                <a:cxn ang="0">
                  <a:pos x="156" y="68"/>
                </a:cxn>
                <a:cxn ang="0">
                  <a:pos x="169" y="131"/>
                </a:cxn>
                <a:cxn ang="0">
                  <a:pos x="156" y="165"/>
                </a:cxn>
                <a:cxn ang="0">
                  <a:pos x="97" y="151"/>
                </a:cxn>
                <a:cxn ang="0">
                  <a:pos x="33" y="217"/>
                </a:cxn>
                <a:cxn ang="0">
                  <a:pos x="75" y="264"/>
                </a:cxn>
                <a:cxn ang="0">
                  <a:pos x="83" y="300"/>
                </a:cxn>
                <a:cxn ang="0">
                  <a:pos x="23" y="316"/>
                </a:cxn>
                <a:cxn ang="0">
                  <a:pos x="0" y="371"/>
                </a:cxn>
                <a:cxn ang="0">
                  <a:pos x="23" y="426"/>
                </a:cxn>
                <a:cxn ang="0">
                  <a:pos x="83" y="442"/>
                </a:cxn>
                <a:cxn ang="0">
                  <a:pos x="75" y="478"/>
                </a:cxn>
                <a:cxn ang="0">
                  <a:pos x="33" y="524"/>
                </a:cxn>
                <a:cxn ang="0">
                  <a:pos x="97" y="591"/>
                </a:cxn>
                <a:cxn ang="0">
                  <a:pos x="156" y="576"/>
                </a:cxn>
                <a:cxn ang="0">
                  <a:pos x="169" y="611"/>
                </a:cxn>
                <a:cxn ang="0">
                  <a:pos x="156" y="673"/>
                </a:cxn>
                <a:cxn ang="0">
                  <a:pos x="245" y="699"/>
                </a:cxn>
                <a:cxn ang="0">
                  <a:pos x="288" y="656"/>
                </a:cxn>
                <a:cxn ang="0">
                  <a:pos x="316" y="679"/>
                </a:cxn>
                <a:cxn ang="0">
                  <a:pos x="336" y="740"/>
                </a:cxn>
                <a:cxn ang="0">
                  <a:pos x="405" y="740"/>
                </a:cxn>
                <a:cxn ang="0">
                  <a:pos x="426" y="679"/>
                </a:cxn>
                <a:cxn ang="0">
                  <a:pos x="453" y="656"/>
                </a:cxn>
                <a:cxn ang="0">
                  <a:pos x="497" y="699"/>
                </a:cxn>
                <a:cxn ang="0">
                  <a:pos x="585" y="673"/>
                </a:cxn>
                <a:cxn ang="0">
                  <a:pos x="572" y="611"/>
                </a:cxn>
                <a:cxn ang="0">
                  <a:pos x="585" y="576"/>
                </a:cxn>
                <a:cxn ang="0">
                  <a:pos x="644" y="591"/>
                </a:cxn>
                <a:cxn ang="0">
                  <a:pos x="708" y="524"/>
                </a:cxn>
                <a:cxn ang="0">
                  <a:pos x="666" y="478"/>
                </a:cxn>
                <a:cxn ang="0">
                  <a:pos x="659" y="442"/>
                </a:cxn>
                <a:cxn ang="0">
                  <a:pos x="718" y="426"/>
                </a:cxn>
                <a:cxn ang="0">
                  <a:pos x="741" y="371"/>
                </a:cxn>
                <a:cxn ang="0">
                  <a:pos x="718" y="316"/>
                </a:cxn>
                <a:cxn ang="0">
                  <a:pos x="659" y="300"/>
                </a:cxn>
                <a:cxn ang="0">
                  <a:pos x="666" y="264"/>
                </a:cxn>
                <a:cxn ang="0">
                  <a:pos x="708" y="217"/>
                </a:cxn>
                <a:cxn ang="0">
                  <a:pos x="644" y="151"/>
                </a:cxn>
                <a:cxn ang="0">
                  <a:pos x="585" y="165"/>
                </a:cxn>
                <a:cxn ang="0">
                  <a:pos x="572" y="131"/>
                </a:cxn>
                <a:cxn ang="0">
                  <a:pos x="585" y="68"/>
                </a:cxn>
                <a:cxn ang="0">
                  <a:pos x="497" y="42"/>
                </a:cxn>
                <a:cxn ang="0">
                  <a:pos x="453" y="86"/>
                </a:cxn>
                <a:cxn ang="0">
                  <a:pos x="426" y="63"/>
                </a:cxn>
                <a:cxn ang="0">
                  <a:pos x="405" y="2"/>
                </a:cxn>
                <a:cxn ang="0">
                  <a:pos x="371" y="174"/>
                </a:cxn>
                <a:cxn ang="0">
                  <a:pos x="371" y="568"/>
                </a:cxn>
                <a:cxn ang="0">
                  <a:pos x="371" y="174"/>
                </a:cxn>
              </a:cxnLst>
              <a:rect l="0" t="0" r="r" b="b"/>
              <a:pathLst>
                <a:path w="741" h="741">
                  <a:moveTo>
                    <a:pt x="371" y="0"/>
                  </a:moveTo>
                  <a:cubicBezTo>
                    <a:pt x="359" y="0"/>
                    <a:pt x="347" y="0"/>
                    <a:pt x="336" y="2"/>
                  </a:cubicBezTo>
                  <a:cubicBezTo>
                    <a:pt x="324" y="3"/>
                    <a:pt x="316" y="12"/>
                    <a:pt x="316" y="23"/>
                  </a:cubicBezTo>
                  <a:cubicBezTo>
                    <a:pt x="316" y="63"/>
                    <a:pt x="316" y="63"/>
                    <a:pt x="316" y="63"/>
                  </a:cubicBezTo>
                  <a:cubicBezTo>
                    <a:pt x="316" y="73"/>
                    <a:pt x="310" y="80"/>
                    <a:pt x="300" y="83"/>
                  </a:cubicBezTo>
                  <a:cubicBezTo>
                    <a:pt x="295" y="84"/>
                    <a:pt x="293" y="84"/>
                    <a:pt x="288" y="86"/>
                  </a:cubicBezTo>
                  <a:cubicBezTo>
                    <a:pt x="278" y="89"/>
                    <a:pt x="269" y="85"/>
                    <a:pt x="264" y="76"/>
                  </a:cubicBezTo>
                  <a:cubicBezTo>
                    <a:pt x="245" y="42"/>
                    <a:pt x="245" y="42"/>
                    <a:pt x="245" y="42"/>
                  </a:cubicBezTo>
                  <a:cubicBezTo>
                    <a:pt x="239" y="32"/>
                    <a:pt x="227" y="29"/>
                    <a:pt x="217" y="34"/>
                  </a:cubicBezTo>
                  <a:cubicBezTo>
                    <a:pt x="195" y="43"/>
                    <a:pt x="175" y="55"/>
                    <a:pt x="156" y="68"/>
                  </a:cubicBezTo>
                  <a:cubicBezTo>
                    <a:pt x="147" y="75"/>
                    <a:pt x="145" y="87"/>
                    <a:pt x="151" y="97"/>
                  </a:cubicBezTo>
                  <a:cubicBezTo>
                    <a:pt x="169" y="131"/>
                    <a:pt x="169" y="131"/>
                    <a:pt x="169" y="131"/>
                  </a:cubicBezTo>
                  <a:cubicBezTo>
                    <a:pt x="174" y="139"/>
                    <a:pt x="172" y="149"/>
                    <a:pt x="165" y="157"/>
                  </a:cubicBezTo>
                  <a:cubicBezTo>
                    <a:pt x="162" y="159"/>
                    <a:pt x="159" y="162"/>
                    <a:pt x="156" y="165"/>
                  </a:cubicBezTo>
                  <a:cubicBezTo>
                    <a:pt x="149" y="172"/>
                    <a:pt x="139" y="174"/>
                    <a:pt x="130" y="170"/>
                  </a:cubicBezTo>
                  <a:cubicBezTo>
                    <a:pt x="97" y="151"/>
                    <a:pt x="97" y="151"/>
                    <a:pt x="97" y="151"/>
                  </a:cubicBezTo>
                  <a:cubicBezTo>
                    <a:pt x="87" y="145"/>
                    <a:pt x="74" y="148"/>
                    <a:pt x="68" y="157"/>
                  </a:cubicBezTo>
                  <a:cubicBezTo>
                    <a:pt x="55" y="175"/>
                    <a:pt x="43" y="196"/>
                    <a:pt x="33" y="217"/>
                  </a:cubicBezTo>
                  <a:cubicBezTo>
                    <a:pt x="29" y="227"/>
                    <a:pt x="32" y="239"/>
                    <a:pt x="42" y="245"/>
                  </a:cubicBezTo>
                  <a:cubicBezTo>
                    <a:pt x="75" y="264"/>
                    <a:pt x="75" y="264"/>
                    <a:pt x="75" y="264"/>
                  </a:cubicBezTo>
                  <a:cubicBezTo>
                    <a:pt x="84" y="268"/>
                    <a:pt x="89" y="278"/>
                    <a:pt x="86" y="288"/>
                  </a:cubicBezTo>
                  <a:cubicBezTo>
                    <a:pt x="84" y="293"/>
                    <a:pt x="84" y="295"/>
                    <a:pt x="83" y="300"/>
                  </a:cubicBezTo>
                  <a:cubicBezTo>
                    <a:pt x="81" y="308"/>
                    <a:pt x="72" y="316"/>
                    <a:pt x="62" y="316"/>
                  </a:cubicBezTo>
                  <a:cubicBezTo>
                    <a:pt x="23" y="316"/>
                    <a:pt x="23" y="316"/>
                    <a:pt x="23" y="316"/>
                  </a:cubicBezTo>
                  <a:cubicBezTo>
                    <a:pt x="12" y="316"/>
                    <a:pt x="3" y="324"/>
                    <a:pt x="2" y="336"/>
                  </a:cubicBezTo>
                  <a:cubicBezTo>
                    <a:pt x="0" y="348"/>
                    <a:pt x="0" y="359"/>
                    <a:pt x="0" y="371"/>
                  </a:cubicBezTo>
                  <a:cubicBezTo>
                    <a:pt x="0" y="382"/>
                    <a:pt x="0" y="394"/>
                    <a:pt x="2" y="405"/>
                  </a:cubicBezTo>
                  <a:cubicBezTo>
                    <a:pt x="3" y="417"/>
                    <a:pt x="12" y="426"/>
                    <a:pt x="23" y="426"/>
                  </a:cubicBezTo>
                  <a:cubicBezTo>
                    <a:pt x="62" y="426"/>
                    <a:pt x="62" y="426"/>
                    <a:pt x="62" y="426"/>
                  </a:cubicBezTo>
                  <a:cubicBezTo>
                    <a:pt x="72" y="426"/>
                    <a:pt x="80" y="432"/>
                    <a:pt x="83" y="442"/>
                  </a:cubicBezTo>
                  <a:cubicBezTo>
                    <a:pt x="84" y="446"/>
                    <a:pt x="84" y="449"/>
                    <a:pt x="86" y="453"/>
                  </a:cubicBezTo>
                  <a:cubicBezTo>
                    <a:pt x="89" y="463"/>
                    <a:pt x="84" y="473"/>
                    <a:pt x="75" y="478"/>
                  </a:cubicBezTo>
                  <a:cubicBezTo>
                    <a:pt x="42" y="497"/>
                    <a:pt x="42" y="497"/>
                    <a:pt x="42" y="497"/>
                  </a:cubicBezTo>
                  <a:cubicBezTo>
                    <a:pt x="32" y="502"/>
                    <a:pt x="29" y="514"/>
                    <a:pt x="33" y="524"/>
                  </a:cubicBezTo>
                  <a:cubicBezTo>
                    <a:pt x="43" y="546"/>
                    <a:pt x="55" y="567"/>
                    <a:pt x="68" y="585"/>
                  </a:cubicBezTo>
                  <a:cubicBezTo>
                    <a:pt x="75" y="594"/>
                    <a:pt x="87" y="596"/>
                    <a:pt x="97" y="591"/>
                  </a:cubicBezTo>
                  <a:cubicBezTo>
                    <a:pt x="130" y="572"/>
                    <a:pt x="130" y="572"/>
                    <a:pt x="130" y="572"/>
                  </a:cubicBezTo>
                  <a:cubicBezTo>
                    <a:pt x="139" y="567"/>
                    <a:pt x="149" y="569"/>
                    <a:pt x="156" y="576"/>
                  </a:cubicBezTo>
                  <a:cubicBezTo>
                    <a:pt x="159" y="579"/>
                    <a:pt x="162" y="582"/>
                    <a:pt x="165" y="585"/>
                  </a:cubicBezTo>
                  <a:cubicBezTo>
                    <a:pt x="172" y="592"/>
                    <a:pt x="174" y="603"/>
                    <a:pt x="169" y="611"/>
                  </a:cubicBezTo>
                  <a:cubicBezTo>
                    <a:pt x="151" y="644"/>
                    <a:pt x="151" y="644"/>
                    <a:pt x="151" y="644"/>
                  </a:cubicBezTo>
                  <a:cubicBezTo>
                    <a:pt x="145" y="654"/>
                    <a:pt x="148" y="667"/>
                    <a:pt x="156" y="673"/>
                  </a:cubicBezTo>
                  <a:cubicBezTo>
                    <a:pt x="175" y="686"/>
                    <a:pt x="195" y="698"/>
                    <a:pt x="217" y="708"/>
                  </a:cubicBezTo>
                  <a:cubicBezTo>
                    <a:pt x="227" y="713"/>
                    <a:pt x="239" y="709"/>
                    <a:pt x="245" y="699"/>
                  </a:cubicBezTo>
                  <a:cubicBezTo>
                    <a:pt x="264" y="666"/>
                    <a:pt x="264" y="666"/>
                    <a:pt x="264" y="666"/>
                  </a:cubicBezTo>
                  <a:cubicBezTo>
                    <a:pt x="268" y="658"/>
                    <a:pt x="278" y="653"/>
                    <a:pt x="288" y="656"/>
                  </a:cubicBezTo>
                  <a:cubicBezTo>
                    <a:pt x="293" y="657"/>
                    <a:pt x="295" y="658"/>
                    <a:pt x="300" y="659"/>
                  </a:cubicBezTo>
                  <a:cubicBezTo>
                    <a:pt x="308" y="661"/>
                    <a:pt x="316" y="669"/>
                    <a:pt x="316" y="679"/>
                  </a:cubicBezTo>
                  <a:cubicBezTo>
                    <a:pt x="316" y="718"/>
                    <a:pt x="316" y="718"/>
                    <a:pt x="316" y="718"/>
                  </a:cubicBezTo>
                  <a:cubicBezTo>
                    <a:pt x="316" y="730"/>
                    <a:pt x="324" y="738"/>
                    <a:pt x="336" y="740"/>
                  </a:cubicBezTo>
                  <a:cubicBezTo>
                    <a:pt x="347" y="741"/>
                    <a:pt x="359" y="741"/>
                    <a:pt x="371" y="741"/>
                  </a:cubicBezTo>
                  <a:cubicBezTo>
                    <a:pt x="382" y="741"/>
                    <a:pt x="394" y="741"/>
                    <a:pt x="405" y="740"/>
                  </a:cubicBezTo>
                  <a:cubicBezTo>
                    <a:pt x="417" y="738"/>
                    <a:pt x="426" y="730"/>
                    <a:pt x="426" y="718"/>
                  </a:cubicBezTo>
                  <a:cubicBezTo>
                    <a:pt x="426" y="679"/>
                    <a:pt x="426" y="679"/>
                    <a:pt x="426" y="679"/>
                  </a:cubicBezTo>
                  <a:cubicBezTo>
                    <a:pt x="426" y="669"/>
                    <a:pt x="431" y="662"/>
                    <a:pt x="442" y="659"/>
                  </a:cubicBezTo>
                  <a:cubicBezTo>
                    <a:pt x="446" y="657"/>
                    <a:pt x="449" y="657"/>
                    <a:pt x="453" y="656"/>
                  </a:cubicBezTo>
                  <a:cubicBezTo>
                    <a:pt x="463" y="653"/>
                    <a:pt x="473" y="657"/>
                    <a:pt x="478" y="666"/>
                  </a:cubicBezTo>
                  <a:cubicBezTo>
                    <a:pt x="497" y="699"/>
                    <a:pt x="497" y="699"/>
                    <a:pt x="497" y="699"/>
                  </a:cubicBezTo>
                  <a:cubicBezTo>
                    <a:pt x="502" y="709"/>
                    <a:pt x="514" y="713"/>
                    <a:pt x="524" y="708"/>
                  </a:cubicBezTo>
                  <a:cubicBezTo>
                    <a:pt x="546" y="698"/>
                    <a:pt x="566" y="687"/>
                    <a:pt x="585" y="673"/>
                  </a:cubicBezTo>
                  <a:cubicBezTo>
                    <a:pt x="594" y="667"/>
                    <a:pt x="596" y="654"/>
                    <a:pt x="591" y="644"/>
                  </a:cubicBezTo>
                  <a:cubicBezTo>
                    <a:pt x="572" y="611"/>
                    <a:pt x="572" y="611"/>
                    <a:pt x="572" y="611"/>
                  </a:cubicBezTo>
                  <a:cubicBezTo>
                    <a:pt x="567" y="603"/>
                    <a:pt x="569" y="592"/>
                    <a:pt x="576" y="585"/>
                  </a:cubicBezTo>
                  <a:cubicBezTo>
                    <a:pt x="579" y="582"/>
                    <a:pt x="582" y="579"/>
                    <a:pt x="585" y="576"/>
                  </a:cubicBezTo>
                  <a:cubicBezTo>
                    <a:pt x="592" y="569"/>
                    <a:pt x="602" y="567"/>
                    <a:pt x="611" y="572"/>
                  </a:cubicBezTo>
                  <a:cubicBezTo>
                    <a:pt x="644" y="591"/>
                    <a:pt x="644" y="591"/>
                    <a:pt x="644" y="591"/>
                  </a:cubicBezTo>
                  <a:cubicBezTo>
                    <a:pt x="654" y="596"/>
                    <a:pt x="667" y="594"/>
                    <a:pt x="673" y="585"/>
                  </a:cubicBezTo>
                  <a:cubicBezTo>
                    <a:pt x="686" y="566"/>
                    <a:pt x="698" y="546"/>
                    <a:pt x="708" y="524"/>
                  </a:cubicBezTo>
                  <a:cubicBezTo>
                    <a:pt x="712" y="514"/>
                    <a:pt x="709" y="502"/>
                    <a:pt x="699" y="497"/>
                  </a:cubicBezTo>
                  <a:cubicBezTo>
                    <a:pt x="666" y="478"/>
                    <a:pt x="666" y="478"/>
                    <a:pt x="666" y="478"/>
                  </a:cubicBezTo>
                  <a:cubicBezTo>
                    <a:pt x="657" y="473"/>
                    <a:pt x="653" y="463"/>
                    <a:pt x="656" y="453"/>
                  </a:cubicBezTo>
                  <a:cubicBezTo>
                    <a:pt x="657" y="449"/>
                    <a:pt x="658" y="446"/>
                    <a:pt x="659" y="442"/>
                  </a:cubicBezTo>
                  <a:cubicBezTo>
                    <a:pt x="661" y="433"/>
                    <a:pt x="669" y="426"/>
                    <a:pt x="679" y="426"/>
                  </a:cubicBezTo>
                  <a:cubicBezTo>
                    <a:pt x="718" y="426"/>
                    <a:pt x="718" y="426"/>
                    <a:pt x="718" y="426"/>
                  </a:cubicBezTo>
                  <a:cubicBezTo>
                    <a:pt x="730" y="426"/>
                    <a:pt x="738" y="417"/>
                    <a:pt x="740" y="405"/>
                  </a:cubicBezTo>
                  <a:cubicBezTo>
                    <a:pt x="741" y="394"/>
                    <a:pt x="741" y="382"/>
                    <a:pt x="741" y="371"/>
                  </a:cubicBezTo>
                  <a:cubicBezTo>
                    <a:pt x="741" y="359"/>
                    <a:pt x="741" y="348"/>
                    <a:pt x="740" y="336"/>
                  </a:cubicBezTo>
                  <a:cubicBezTo>
                    <a:pt x="738" y="324"/>
                    <a:pt x="730" y="316"/>
                    <a:pt x="718" y="316"/>
                  </a:cubicBezTo>
                  <a:cubicBezTo>
                    <a:pt x="679" y="316"/>
                    <a:pt x="679" y="316"/>
                    <a:pt x="679" y="316"/>
                  </a:cubicBezTo>
                  <a:cubicBezTo>
                    <a:pt x="669" y="316"/>
                    <a:pt x="662" y="310"/>
                    <a:pt x="659" y="300"/>
                  </a:cubicBezTo>
                  <a:cubicBezTo>
                    <a:pt x="657" y="295"/>
                    <a:pt x="657" y="293"/>
                    <a:pt x="656" y="288"/>
                  </a:cubicBezTo>
                  <a:cubicBezTo>
                    <a:pt x="653" y="278"/>
                    <a:pt x="657" y="269"/>
                    <a:pt x="666" y="264"/>
                  </a:cubicBezTo>
                  <a:cubicBezTo>
                    <a:pt x="699" y="245"/>
                    <a:pt x="699" y="245"/>
                    <a:pt x="699" y="245"/>
                  </a:cubicBezTo>
                  <a:cubicBezTo>
                    <a:pt x="709" y="239"/>
                    <a:pt x="712" y="227"/>
                    <a:pt x="708" y="217"/>
                  </a:cubicBezTo>
                  <a:cubicBezTo>
                    <a:pt x="698" y="196"/>
                    <a:pt x="687" y="175"/>
                    <a:pt x="673" y="157"/>
                  </a:cubicBezTo>
                  <a:cubicBezTo>
                    <a:pt x="666" y="147"/>
                    <a:pt x="654" y="145"/>
                    <a:pt x="644" y="151"/>
                  </a:cubicBezTo>
                  <a:cubicBezTo>
                    <a:pt x="611" y="170"/>
                    <a:pt x="611" y="170"/>
                    <a:pt x="611" y="170"/>
                  </a:cubicBezTo>
                  <a:cubicBezTo>
                    <a:pt x="602" y="174"/>
                    <a:pt x="592" y="172"/>
                    <a:pt x="585" y="165"/>
                  </a:cubicBezTo>
                  <a:cubicBezTo>
                    <a:pt x="582" y="162"/>
                    <a:pt x="579" y="159"/>
                    <a:pt x="576" y="157"/>
                  </a:cubicBezTo>
                  <a:cubicBezTo>
                    <a:pt x="569" y="149"/>
                    <a:pt x="567" y="139"/>
                    <a:pt x="572" y="131"/>
                  </a:cubicBezTo>
                  <a:cubicBezTo>
                    <a:pt x="591" y="97"/>
                    <a:pt x="591" y="97"/>
                    <a:pt x="591" y="97"/>
                  </a:cubicBezTo>
                  <a:cubicBezTo>
                    <a:pt x="596" y="87"/>
                    <a:pt x="593" y="74"/>
                    <a:pt x="585" y="68"/>
                  </a:cubicBezTo>
                  <a:cubicBezTo>
                    <a:pt x="566" y="55"/>
                    <a:pt x="546" y="43"/>
                    <a:pt x="524" y="34"/>
                  </a:cubicBezTo>
                  <a:cubicBezTo>
                    <a:pt x="514" y="29"/>
                    <a:pt x="502" y="32"/>
                    <a:pt x="497" y="42"/>
                  </a:cubicBezTo>
                  <a:cubicBezTo>
                    <a:pt x="478" y="76"/>
                    <a:pt x="478" y="76"/>
                    <a:pt x="478" y="76"/>
                  </a:cubicBezTo>
                  <a:cubicBezTo>
                    <a:pt x="473" y="84"/>
                    <a:pt x="463" y="89"/>
                    <a:pt x="453" y="86"/>
                  </a:cubicBezTo>
                  <a:cubicBezTo>
                    <a:pt x="449" y="84"/>
                    <a:pt x="446" y="84"/>
                    <a:pt x="442" y="83"/>
                  </a:cubicBezTo>
                  <a:cubicBezTo>
                    <a:pt x="433" y="81"/>
                    <a:pt x="426" y="73"/>
                    <a:pt x="426" y="63"/>
                  </a:cubicBezTo>
                  <a:cubicBezTo>
                    <a:pt x="426" y="23"/>
                    <a:pt x="426" y="23"/>
                    <a:pt x="426" y="23"/>
                  </a:cubicBezTo>
                  <a:cubicBezTo>
                    <a:pt x="426" y="12"/>
                    <a:pt x="417" y="3"/>
                    <a:pt x="405" y="2"/>
                  </a:cubicBezTo>
                  <a:cubicBezTo>
                    <a:pt x="394" y="0"/>
                    <a:pt x="382" y="0"/>
                    <a:pt x="371" y="0"/>
                  </a:cubicBezTo>
                  <a:close/>
                  <a:moveTo>
                    <a:pt x="371" y="174"/>
                  </a:moveTo>
                  <a:cubicBezTo>
                    <a:pt x="479" y="174"/>
                    <a:pt x="567" y="262"/>
                    <a:pt x="567" y="371"/>
                  </a:cubicBezTo>
                  <a:cubicBezTo>
                    <a:pt x="567" y="479"/>
                    <a:pt x="479" y="568"/>
                    <a:pt x="371" y="568"/>
                  </a:cubicBezTo>
                  <a:cubicBezTo>
                    <a:pt x="262" y="568"/>
                    <a:pt x="174" y="479"/>
                    <a:pt x="174" y="371"/>
                  </a:cubicBezTo>
                  <a:cubicBezTo>
                    <a:pt x="174" y="262"/>
                    <a:pt x="262" y="174"/>
                    <a:pt x="371" y="174"/>
                  </a:cubicBez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Freeform 16">
              <a:extLst>
                <a:ext uri="{FF2B5EF4-FFF2-40B4-BE49-F238E27FC236}">
                  <a16:creationId xmlns:a16="http://schemas.microsoft.com/office/drawing/2014/main" xmlns="" id="{2039FB0E-F435-46C0-9BE3-54BF63960AA2}"/>
                </a:ext>
              </a:extLst>
            </p:cNvPr>
            <p:cNvSpPr/>
            <p:nvPr/>
          </p:nvSpPr>
          <p:spPr bwMode="gray">
            <a:xfrm>
              <a:off x="2144713" y="3248025"/>
              <a:ext cx="273050" cy="93663"/>
            </a:xfrm>
            <a:custGeom>
              <a:avLst/>
              <a:gdLst/>
              <a:ahLst/>
              <a:cxnLst>
                <a:cxn ang="0">
                  <a:pos x="0" y="0"/>
                </a:cxn>
                <a:cxn ang="0">
                  <a:pos x="0" y="153"/>
                </a:cxn>
                <a:cxn ang="0">
                  <a:pos x="29" y="200"/>
                </a:cxn>
                <a:cxn ang="0">
                  <a:pos x="551" y="200"/>
                </a:cxn>
                <a:cxn ang="0">
                  <a:pos x="580" y="153"/>
                </a:cxn>
                <a:cxn ang="0">
                  <a:pos x="580" y="1"/>
                </a:cxn>
                <a:cxn ang="0">
                  <a:pos x="0" y="0"/>
                </a:cxn>
              </a:cxnLst>
              <a:rect l="0" t="0" r="r" b="b"/>
              <a:pathLst>
                <a:path w="580" h="200">
                  <a:moveTo>
                    <a:pt x="0" y="0"/>
                  </a:moveTo>
                  <a:cubicBezTo>
                    <a:pt x="0" y="153"/>
                    <a:pt x="0" y="153"/>
                    <a:pt x="0" y="153"/>
                  </a:cubicBezTo>
                  <a:cubicBezTo>
                    <a:pt x="0" y="179"/>
                    <a:pt x="13" y="200"/>
                    <a:pt x="29" y="200"/>
                  </a:cubicBezTo>
                  <a:cubicBezTo>
                    <a:pt x="551" y="200"/>
                    <a:pt x="551" y="200"/>
                    <a:pt x="551" y="200"/>
                  </a:cubicBezTo>
                  <a:cubicBezTo>
                    <a:pt x="567" y="200"/>
                    <a:pt x="580" y="179"/>
                    <a:pt x="580" y="153"/>
                  </a:cubicBezTo>
                  <a:cubicBezTo>
                    <a:pt x="580" y="1"/>
                    <a:pt x="580" y="1"/>
                    <a:pt x="580" y="1"/>
                  </a:cubicBezTo>
                  <a:cubicBezTo>
                    <a:pt x="387" y="1"/>
                    <a:pt x="193" y="1"/>
                    <a:pt x="0" y="0"/>
                  </a:cubicBez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Freeform 17">
              <a:extLst>
                <a:ext uri="{FF2B5EF4-FFF2-40B4-BE49-F238E27FC236}">
                  <a16:creationId xmlns:a16="http://schemas.microsoft.com/office/drawing/2014/main" xmlns="" id="{0D46544C-0344-4C99-8E67-C68C9DC65833}"/>
                </a:ext>
              </a:extLst>
            </p:cNvPr>
            <p:cNvSpPr/>
            <p:nvPr/>
          </p:nvSpPr>
          <p:spPr bwMode="gray">
            <a:xfrm>
              <a:off x="2058988" y="3321050"/>
              <a:ext cx="444500" cy="50800"/>
            </a:xfrm>
            <a:custGeom>
              <a:avLst/>
              <a:gdLst/>
              <a:ahLst/>
              <a:cxnLst>
                <a:cxn ang="0">
                  <a:pos x="64" y="0"/>
                </a:cxn>
                <a:cxn ang="0">
                  <a:pos x="0" y="53"/>
                </a:cxn>
                <a:cxn ang="0">
                  <a:pos x="64" y="106"/>
                </a:cxn>
                <a:cxn ang="0">
                  <a:pos x="884" y="106"/>
                </a:cxn>
                <a:cxn ang="0">
                  <a:pos x="948" y="53"/>
                </a:cxn>
                <a:cxn ang="0">
                  <a:pos x="884" y="0"/>
                </a:cxn>
                <a:cxn ang="0">
                  <a:pos x="64" y="0"/>
                </a:cxn>
              </a:cxnLst>
              <a:rect l="0" t="0" r="r" b="b"/>
              <a:pathLst>
                <a:path w="948" h="106">
                  <a:moveTo>
                    <a:pt x="64" y="0"/>
                  </a:moveTo>
                  <a:cubicBezTo>
                    <a:pt x="29" y="0"/>
                    <a:pt x="0" y="24"/>
                    <a:pt x="0" y="53"/>
                  </a:cubicBezTo>
                  <a:cubicBezTo>
                    <a:pt x="0" y="82"/>
                    <a:pt x="29" y="106"/>
                    <a:pt x="64" y="106"/>
                  </a:cubicBezTo>
                  <a:cubicBezTo>
                    <a:pt x="884" y="106"/>
                    <a:pt x="884" y="106"/>
                    <a:pt x="884" y="106"/>
                  </a:cubicBezTo>
                  <a:cubicBezTo>
                    <a:pt x="920" y="106"/>
                    <a:pt x="948" y="82"/>
                    <a:pt x="948" y="53"/>
                  </a:cubicBezTo>
                  <a:cubicBezTo>
                    <a:pt x="948" y="24"/>
                    <a:pt x="920" y="0"/>
                    <a:pt x="884" y="0"/>
                  </a:cubicBezTo>
                  <a:lnTo>
                    <a:pt x="64"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Freeform 18">
              <a:extLst>
                <a:ext uri="{FF2B5EF4-FFF2-40B4-BE49-F238E27FC236}">
                  <a16:creationId xmlns:a16="http://schemas.microsoft.com/office/drawing/2014/main" xmlns="" id="{07C39856-B328-4925-9265-84EDE0930DF8}"/>
                </a:ext>
              </a:extLst>
            </p:cNvPr>
            <p:cNvSpPr>
              <a:spLocks noEditPoints="1"/>
            </p:cNvSpPr>
            <p:nvPr/>
          </p:nvSpPr>
          <p:spPr bwMode="gray">
            <a:xfrm>
              <a:off x="1814513" y="2640013"/>
              <a:ext cx="933450" cy="596900"/>
            </a:xfrm>
            <a:custGeom>
              <a:avLst/>
              <a:gdLst/>
              <a:ahLst/>
              <a:cxnLst>
                <a:cxn ang="0">
                  <a:pos x="131" y="0"/>
                </a:cxn>
                <a:cxn ang="0">
                  <a:pos x="0" y="130"/>
                </a:cxn>
                <a:cxn ang="0">
                  <a:pos x="0" y="1138"/>
                </a:cxn>
                <a:cxn ang="0">
                  <a:pos x="131" y="1269"/>
                </a:cxn>
                <a:cxn ang="0">
                  <a:pos x="1853" y="1269"/>
                </a:cxn>
                <a:cxn ang="0">
                  <a:pos x="1984" y="1138"/>
                </a:cxn>
                <a:cxn ang="0">
                  <a:pos x="1984" y="130"/>
                </a:cxn>
                <a:cxn ang="0">
                  <a:pos x="1853" y="0"/>
                </a:cxn>
                <a:cxn ang="0">
                  <a:pos x="131" y="0"/>
                </a:cxn>
                <a:cxn ang="0">
                  <a:pos x="131" y="63"/>
                </a:cxn>
                <a:cxn ang="0">
                  <a:pos x="1853" y="63"/>
                </a:cxn>
                <a:cxn ang="0">
                  <a:pos x="1921" y="130"/>
                </a:cxn>
                <a:cxn ang="0">
                  <a:pos x="1921" y="1138"/>
                </a:cxn>
                <a:cxn ang="0">
                  <a:pos x="1853" y="1206"/>
                </a:cxn>
                <a:cxn ang="0">
                  <a:pos x="131" y="1206"/>
                </a:cxn>
                <a:cxn ang="0">
                  <a:pos x="64" y="1138"/>
                </a:cxn>
                <a:cxn ang="0">
                  <a:pos x="64" y="130"/>
                </a:cxn>
                <a:cxn ang="0">
                  <a:pos x="131" y="63"/>
                </a:cxn>
              </a:cxnLst>
              <a:rect l="0" t="0" r="r" b="b"/>
              <a:pathLst>
                <a:path w="1984" h="1269">
                  <a:moveTo>
                    <a:pt x="131" y="0"/>
                  </a:moveTo>
                  <a:cubicBezTo>
                    <a:pt x="59" y="0"/>
                    <a:pt x="0" y="58"/>
                    <a:pt x="0" y="130"/>
                  </a:cubicBezTo>
                  <a:cubicBezTo>
                    <a:pt x="0" y="1138"/>
                    <a:pt x="0" y="1138"/>
                    <a:pt x="0" y="1138"/>
                  </a:cubicBezTo>
                  <a:cubicBezTo>
                    <a:pt x="0" y="1210"/>
                    <a:pt x="59" y="1269"/>
                    <a:pt x="131" y="1269"/>
                  </a:cubicBezTo>
                  <a:cubicBezTo>
                    <a:pt x="1853" y="1269"/>
                    <a:pt x="1853" y="1269"/>
                    <a:pt x="1853" y="1269"/>
                  </a:cubicBezTo>
                  <a:cubicBezTo>
                    <a:pt x="1925" y="1269"/>
                    <a:pt x="1984" y="1210"/>
                    <a:pt x="1984" y="1138"/>
                  </a:cubicBezTo>
                  <a:cubicBezTo>
                    <a:pt x="1984" y="130"/>
                    <a:pt x="1984" y="130"/>
                    <a:pt x="1984" y="130"/>
                  </a:cubicBezTo>
                  <a:cubicBezTo>
                    <a:pt x="1984" y="58"/>
                    <a:pt x="1925" y="0"/>
                    <a:pt x="1853" y="0"/>
                  </a:cubicBezTo>
                  <a:cubicBezTo>
                    <a:pt x="131" y="0"/>
                    <a:pt x="131" y="0"/>
                    <a:pt x="131" y="0"/>
                  </a:cubicBezTo>
                  <a:close/>
                  <a:moveTo>
                    <a:pt x="131" y="63"/>
                  </a:moveTo>
                  <a:cubicBezTo>
                    <a:pt x="1853" y="63"/>
                    <a:pt x="1853" y="63"/>
                    <a:pt x="1853" y="63"/>
                  </a:cubicBezTo>
                  <a:cubicBezTo>
                    <a:pt x="1891" y="63"/>
                    <a:pt x="1921" y="93"/>
                    <a:pt x="1921" y="130"/>
                  </a:cubicBezTo>
                  <a:cubicBezTo>
                    <a:pt x="1921" y="1138"/>
                    <a:pt x="1921" y="1138"/>
                    <a:pt x="1921" y="1138"/>
                  </a:cubicBezTo>
                  <a:cubicBezTo>
                    <a:pt x="1921" y="1176"/>
                    <a:pt x="1891" y="1206"/>
                    <a:pt x="1853" y="1206"/>
                  </a:cubicBezTo>
                  <a:cubicBezTo>
                    <a:pt x="131" y="1206"/>
                    <a:pt x="131" y="1206"/>
                    <a:pt x="131" y="1206"/>
                  </a:cubicBezTo>
                  <a:cubicBezTo>
                    <a:pt x="93" y="1206"/>
                    <a:pt x="64" y="1176"/>
                    <a:pt x="64" y="1138"/>
                  </a:cubicBezTo>
                  <a:cubicBezTo>
                    <a:pt x="64" y="130"/>
                    <a:pt x="64" y="130"/>
                    <a:pt x="64" y="130"/>
                  </a:cubicBezTo>
                  <a:cubicBezTo>
                    <a:pt x="64" y="93"/>
                    <a:pt x="93" y="63"/>
                    <a:pt x="131" y="63"/>
                  </a:cubicBez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Freeform 19">
              <a:extLst>
                <a:ext uri="{FF2B5EF4-FFF2-40B4-BE49-F238E27FC236}">
                  <a16:creationId xmlns:a16="http://schemas.microsoft.com/office/drawing/2014/main" xmlns="" id="{36671134-225E-4B1C-A63A-6781D3EFB277}"/>
                </a:ext>
              </a:extLst>
            </p:cNvPr>
            <p:cNvSpPr/>
            <p:nvPr/>
          </p:nvSpPr>
          <p:spPr bwMode="gray">
            <a:xfrm>
              <a:off x="2052638" y="2743200"/>
              <a:ext cx="96838" cy="374650"/>
            </a:xfrm>
            <a:custGeom>
              <a:avLst/>
              <a:gdLst/>
              <a:ahLst/>
              <a:cxnLst>
                <a:cxn ang="0">
                  <a:pos x="32" y="0"/>
                </a:cxn>
                <a:cxn ang="0">
                  <a:pos x="0" y="32"/>
                </a:cxn>
                <a:cxn ang="0">
                  <a:pos x="0" y="765"/>
                </a:cxn>
                <a:cxn ang="0">
                  <a:pos x="32" y="797"/>
                </a:cxn>
                <a:cxn ang="0">
                  <a:pos x="175" y="797"/>
                </a:cxn>
                <a:cxn ang="0">
                  <a:pos x="206" y="765"/>
                </a:cxn>
                <a:cxn ang="0">
                  <a:pos x="206" y="32"/>
                </a:cxn>
                <a:cxn ang="0">
                  <a:pos x="175" y="0"/>
                </a:cxn>
                <a:cxn ang="0">
                  <a:pos x="32" y="0"/>
                </a:cxn>
              </a:cxnLst>
              <a:rect l="0" t="0" r="r" b="b"/>
              <a:pathLst>
                <a:path w="206" h="797">
                  <a:moveTo>
                    <a:pt x="32" y="0"/>
                  </a:moveTo>
                  <a:cubicBezTo>
                    <a:pt x="15" y="0"/>
                    <a:pt x="0" y="15"/>
                    <a:pt x="0" y="32"/>
                  </a:cubicBezTo>
                  <a:cubicBezTo>
                    <a:pt x="0" y="765"/>
                    <a:pt x="0" y="765"/>
                    <a:pt x="0" y="765"/>
                  </a:cubicBezTo>
                  <a:cubicBezTo>
                    <a:pt x="0" y="782"/>
                    <a:pt x="15" y="797"/>
                    <a:pt x="32" y="797"/>
                  </a:cubicBezTo>
                  <a:cubicBezTo>
                    <a:pt x="175" y="797"/>
                    <a:pt x="175" y="797"/>
                    <a:pt x="175" y="797"/>
                  </a:cubicBezTo>
                  <a:cubicBezTo>
                    <a:pt x="191" y="797"/>
                    <a:pt x="206" y="782"/>
                    <a:pt x="206" y="765"/>
                  </a:cubicBezTo>
                  <a:cubicBezTo>
                    <a:pt x="206" y="32"/>
                    <a:pt x="206" y="32"/>
                    <a:pt x="206" y="32"/>
                  </a:cubicBezTo>
                  <a:cubicBezTo>
                    <a:pt x="206" y="15"/>
                    <a:pt x="191" y="0"/>
                    <a:pt x="175" y="0"/>
                  </a:cubicBezTo>
                  <a:lnTo>
                    <a:pt x="32"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20">
              <a:extLst>
                <a:ext uri="{FF2B5EF4-FFF2-40B4-BE49-F238E27FC236}">
                  <a16:creationId xmlns:a16="http://schemas.microsoft.com/office/drawing/2014/main" xmlns="" id="{AE12DBE2-A481-421F-B6B0-83841C8EB8E0}"/>
                </a:ext>
              </a:extLst>
            </p:cNvPr>
            <p:cNvSpPr/>
            <p:nvPr/>
          </p:nvSpPr>
          <p:spPr bwMode="gray">
            <a:xfrm>
              <a:off x="2179638" y="2774950"/>
              <a:ext cx="96838" cy="342900"/>
            </a:xfrm>
            <a:custGeom>
              <a:avLst/>
              <a:gdLst/>
              <a:ahLst/>
              <a:cxnLst>
                <a:cxn ang="0">
                  <a:pos x="32" y="0"/>
                </a:cxn>
                <a:cxn ang="0">
                  <a:pos x="0" y="32"/>
                </a:cxn>
                <a:cxn ang="0">
                  <a:pos x="0" y="699"/>
                </a:cxn>
                <a:cxn ang="0">
                  <a:pos x="32" y="731"/>
                </a:cxn>
                <a:cxn ang="0">
                  <a:pos x="175" y="731"/>
                </a:cxn>
                <a:cxn ang="0">
                  <a:pos x="207" y="699"/>
                </a:cxn>
                <a:cxn ang="0">
                  <a:pos x="207" y="32"/>
                </a:cxn>
                <a:cxn ang="0">
                  <a:pos x="175" y="0"/>
                </a:cxn>
                <a:cxn ang="0">
                  <a:pos x="32" y="0"/>
                </a:cxn>
              </a:cxnLst>
              <a:rect l="0" t="0" r="r" b="b"/>
              <a:pathLst>
                <a:path w="207" h="731">
                  <a:moveTo>
                    <a:pt x="32" y="0"/>
                  </a:moveTo>
                  <a:cubicBezTo>
                    <a:pt x="15" y="0"/>
                    <a:pt x="0" y="16"/>
                    <a:pt x="0" y="32"/>
                  </a:cubicBezTo>
                  <a:cubicBezTo>
                    <a:pt x="0" y="699"/>
                    <a:pt x="0" y="699"/>
                    <a:pt x="0" y="699"/>
                  </a:cubicBezTo>
                  <a:cubicBezTo>
                    <a:pt x="0" y="716"/>
                    <a:pt x="15" y="731"/>
                    <a:pt x="32" y="731"/>
                  </a:cubicBezTo>
                  <a:cubicBezTo>
                    <a:pt x="175" y="731"/>
                    <a:pt x="175" y="731"/>
                    <a:pt x="175" y="731"/>
                  </a:cubicBezTo>
                  <a:cubicBezTo>
                    <a:pt x="191" y="731"/>
                    <a:pt x="207" y="716"/>
                    <a:pt x="207" y="699"/>
                  </a:cubicBezTo>
                  <a:cubicBezTo>
                    <a:pt x="207" y="32"/>
                    <a:pt x="207" y="32"/>
                    <a:pt x="207" y="32"/>
                  </a:cubicBezTo>
                  <a:cubicBezTo>
                    <a:pt x="207" y="16"/>
                    <a:pt x="191" y="0"/>
                    <a:pt x="175" y="0"/>
                  </a:cubicBezTo>
                  <a:lnTo>
                    <a:pt x="32"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21">
              <a:extLst>
                <a:ext uri="{FF2B5EF4-FFF2-40B4-BE49-F238E27FC236}">
                  <a16:creationId xmlns:a16="http://schemas.microsoft.com/office/drawing/2014/main" xmlns="" id="{88471F47-ECFE-4204-AE1F-5A489FDB87C4}"/>
                </a:ext>
              </a:extLst>
            </p:cNvPr>
            <p:cNvSpPr/>
            <p:nvPr/>
          </p:nvSpPr>
          <p:spPr bwMode="gray">
            <a:xfrm>
              <a:off x="2306638" y="2733675"/>
              <a:ext cx="96838" cy="158750"/>
            </a:xfrm>
            <a:custGeom>
              <a:avLst/>
              <a:gdLst/>
              <a:ahLst/>
              <a:cxnLst>
                <a:cxn ang="0">
                  <a:pos x="32" y="0"/>
                </a:cxn>
                <a:cxn ang="0">
                  <a:pos x="0" y="32"/>
                </a:cxn>
                <a:cxn ang="0">
                  <a:pos x="0" y="338"/>
                </a:cxn>
                <a:cxn ang="0">
                  <a:pos x="94" y="240"/>
                </a:cxn>
                <a:cxn ang="0">
                  <a:pos x="105" y="232"/>
                </a:cxn>
                <a:cxn ang="0">
                  <a:pos x="118" y="223"/>
                </a:cxn>
                <a:cxn ang="0">
                  <a:pos x="126" y="219"/>
                </a:cxn>
                <a:cxn ang="0">
                  <a:pos x="130" y="216"/>
                </a:cxn>
                <a:cxn ang="0">
                  <a:pos x="134" y="214"/>
                </a:cxn>
                <a:cxn ang="0">
                  <a:pos x="146" y="207"/>
                </a:cxn>
                <a:cxn ang="0">
                  <a:pos x="147" y="206"/>
                </a:cxn>
                <a:cxn ang="0">
                  <a:pos x="161" y="199"/>
                </a:cxn>
                <a:cxn ang="0">
                  <a:pos x="207" y="180"/>
                </a:cxn>
                <a:cxn ang="0">
                  <a:pos x="207" y="32"/>
                </a:cxn>
                <a:cxn ang="0">
                  <a:pos x="175" y="0"/>
                </a:cxn>
                <a:cxn ang="0">
                  <a:pos x="32" y="0"/>
                </a:cxn>
              </a:cxnLst>
              <a:rect l="0" t="0" r="r" b="b"/>
              <a:pathLst>
                <a:path w="207" h="338">
                  <a:moveTo>
                    <a:pt x="32" y="0"/>
                  </a:moveTo>
                  <a:cubicBezTo>
                    <a:pt x="16" y="0"/>
                    <a:pt x="0" y="15"/>
                    <a:pt x="0" y="32"/>
                  </a:cubicBezTo>
                  <a:cubicBezTo>
                    <a:pt x="0" y="338"/>
                    <a:pt x="0" y="338"/>
                    <a:pt x="0" y="338"/>
                  </a:cubicBezTo>
                  <a:cubicBezTo>
                    <a:pt x="26" y="301"/>
                    <a:pt x="58" y="268"/>
                    <a:pt x="94" y="240"/>
                  </a:cubicBezTo>
                  <a:cubicBezTo>
                    <a:pt x="98" y="238"/>
                    <a:pt x="102" y="235"/>
                    <a:pt x="105" y="232"/>
                  </a:cubicBezTo>
                  <a:cubicBezTo>
                    <a:pt x="110" y="229"/>
                    <a:pt x="114" y="226"/>
                    <a:pt x="118" y="223"/>
                  </a:cubicBezTo>
                  <a:cubicBezTo>
                    <a:pt x="121" y="222"/>
                    <a:pt x="123" y="220"/>
                    <a:pt x="126" y="219"/>
                  </a:cubicBezTo>
                  <a:cubicBezTo>
                    <a:pt x="127" y="218"/>
                    <a:pt x="129" y="217"/>
                    <a:pt x="130" y="216"/>
                  </a:cubicBezTo>
                  <a:cubicBezTo>
                    <a:pt x="132" y="215"/>
                    <a:pt x="133" y="214"/>
                    <a:pt x="134" y="214"/>
                  </a:cubicBezTo>
                  <a:cubicBezTo>
                    <a:pt x="138" y="211"/>
                    <a:pt x="142" y="209"/>
                    <a:pt x="146" y="207"/>
                  </a:cubicBezTo>
                  <a:cubicBezTo>
                    <a:pt x="146" y="207"/>
                    <a:pt x="147" y="206"/>
                    <a:pt x="147" y="206"/>
                  </a:cubicBezTo>
                  <a:cubicBezTo>
                    <a:pt x="151" y="204"/>
                    <a:pt x="156" y="201"/>
                    <a:pt x="161" y="199"/>
                  </a:cubicBezTo>
                  <a:cubicBezTo>
                    <a:pt x="176" y="192"/>
                    <a:pt x="191" y="185"/>
                    <a:pt x="207" y="180"/>
                  </a:cubicBezTo>
                  <a:cubicBezTo>
                    <a:pt x="207" y="32"/>
                    <a:pt x="207" y="32"/>
                    <a:pt x="207" y="32"/>
                  </a:cubicBezTo>
                  <a:cubicBezTo>
                    <a:pt x="207" y="15"/>
                    <a:pt x="192" y="0"/>
                    <a:pt x="175" y="0"/>
                  </a:cubicBezTo>
                  <a:lnTo>
                    <a:pt x="32"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22">
              <a:extLst>
                <a:ext uri="{FF2B5EF4-FFF2-40B4-BE49-F238E27FC236}">
                  <a16:creationId xmlns:a16="http://schemas.microsoft.com/office/drawing/2014/main" xmlns="" id="{B5455CEE-EE4D-4BE6-A71E-18A2ABC7735C}"/>
                </a:ext>
              </a:extLst>
            </p:cNvPr>
            <p:cNvSpPr/>
            <p:nvPr/>
          </p:nvSpPr>
          <p:spPr bwMode="gray">
            <a:xfrm>
              <a:off x="1924050" y="2868613"/>
              <a:ext cx="96838" cy="249238"/>
            </a:xfrm>
            <a:custGeom>
              <a:avLst/>
              <a:gdLst/>
              <a:ahLst/>
              <a:cxnLst>
                <a:cxn ang="0">
                  <a:pos x="32" y="0"/>
                </a:cxn>
                <a:cxn ang="0">
                  <a:pos x="0" y="32"/>
                </a:cxn>
                <a:cxn ang="0">
                  <a:pos x="0" y="498"/>
                </a:cxn>
                <a:cxn ang="0">
                  <a:pos x="32" y="530"/>
                </a:cxn>
                <a:cxn ang="0">
                  <a:pos x="175" y="530"/>
                </a:cxn>
                <a:cxn ang="0">
                  <a:pos x="206" y="498"/>
                </a:cxn>
                <a:cxn ang="0">
                  <a:pos x="206" y="32"/>
                </a:cxn>
                <a:cxn ang="0">
                  <a:pos x="175" y="0"/>
                </a:cxn>
                <a:cxn ang="0">
                  <a:pos x="32" y="0"/>
                </a:cxn>
              </a:cxnLst>
              <a:rect l="0" t="0" r="r" b="b"/>
              <a:pathLst>
                <a:path w="206" h="530">
                  <a:moveTo>
                    <a:pt x="32" y="0"/>
                  </a:moveTo>
                  <a:cubicBezTo>
                    <a:pt x="15" y="0"/>
                    <a:pt x="0" y="15"/>
                    <a:pt x="0" y="32"/>
                  </a:cubicBezTo>
                  <a:cubicBezTo>
                    <a:pt x="0" y="498"/>
                    <a:pt x="0" y="498"/>
                    <a:pt x="0" y="498"/>
                  </a:cubicBezTo>
                  <a:cubicBezTo>
                    <a:pt x="0" y="515"/>
                    <a:pt x="15" y="530"/>
                    <a:pt x="32" y="530"/>
                  </a:cubicBezTo>
                  <a:cubicBezTo>
                    <a:pt x="175" y="530"/>
                    <a:pt x="175" y="530"/>
                    <a:pt x="175" y="530"/>
                  </a:cubicBezTo>
                  <a:cubicBezTo>
                    <a:pt x="191" y="530"/>
                    <a:pt x="206" y="515"/>
                    <a:pt x="206" y="498"/>
                  </a:cubicBezTo>
                  <a:cubicBezTo>
                    <a:pt x="206" y="32"/>
                    <a:pt x="206" y="32"/>
                    <a:pt x="206" y="32"/>
                  </a:cubicBezTo>
                  <a:cubicBezTo>
                    <a:pt x="206" y="15"/>
                    <a:pt x="191" y="0"/>
                    <a:pt x="175" y="0"/>
                  </a:cubicBezTo>
                  <a:lnTo>
                    <a:pt x="32"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23">
              <a:extLst>
                <a:ext uri="{FF2B5EF4-FFF2-40B4-BE49-F238E27FC236}">
                  <a16:creationId xmlns:a16="http://schemas.microsoft.com/office/drawing/2014/main" xmlns="" id="{E7D2F0FE-7E34-4EF5-8D67-2AE4AA6D5CD8}"/>
                </a:ext>
              </a:extLst>
            </p:cNvPr>
            <p:cNvSpPr/>
            <p:nvPr/>
          </p:nvSpPr>
          <p:spPr bwMode="gray">
            <a:xfrm>
              <a:off x="2436813" y="2705100"/>
              <a:ext cx="96838" cy="117475"/>
            </a:xfrm>
            <a:custGeom>
              <a:avLst/>
              <a:gdLst/>
              <a:ahLst/>
              <a:cxnLst>
                <a:cxn ang="0">
                  <a:pos x="32" y="0"/>
                </a:cxn>
                <a:cxn ang="0">
                  <a:pos x="0" y="32"/>
                </a:cxn>
                <a:cxn ang="0">
                  <a:pos x="0" y="226"/>
                </a:cxn>
                <a:cxn ang="0">
                  <a:pos x="55" y="222"/>
                </a:cxn>
                <a:cxn ang="0">
                  <a:pos x="68" y="222"/>
                </a:cxn>
                <a:cxn ang="0">
                  <a:pos x="206" y="251"/>
                </a:cxn>
                <a:cxn ang="0">
                  <a:pos x="206" y="32"/>
                </a:cxn>
                <a:cxn ang="0">
                  <a:pos x="175" y="0"/>
                </a:cxn>
                <a:cxn ang="0">
                  <a:pos x="32" y="0"/>
                </a:cxn>
              </a:cxnLst>
              <a:rect l="0" t="0" r="r" b="b"/>
              <a:pathLst>
                <a:path w="206" h="251">
                  <a:moveTo>
                    <a:pt x="32" y="0"/>
                  </a:moveTo>
                  <a:cubicBezTo>
                    <a:pt x="15" y="0"/>
                    <a:pt x="0" y="15"/>
                    <a:pt x="0" y="32"/>
                  </a:cubicBezTo>
                  <a:cubicBezTo>
                    <a:pt x="0" y="226"/>
                    <a:pt x="0" y="226"/>
                    <a:pt x="0" y="226"/>
                  </a:cubicBezTo>
                  <a:cubicBezTo>
                    <a:pt x="18" y="223"/>
                    <a:pt x="37" y="222"/>
                    <a:pt x="55" y="222"/>
                  </a:cubicBezTo>
                  <a:cubicBezTo>
                    <a:pt x="59" y="222"/>
                    <a:pt x="63" y="222"/>
                    <a:pt x="68" y="222"/>
                  </a:cubicBezTo>
                  <a:cubicBezTo>
                    <a:pt x="115" y="223"/>
                    <a:pt x="163" y="233"/>
                    <a:pt x="206" y="251"/>
                  </a:cubicBezTo>
                  <a:cubicBezTo>
                    <a:pt x="206" y="32"/>
                    <a:pt x="206" y="32"/>
                    <a:pt x="206" y="32"/>
                  </a:cubicBezTo>
                  <a:cubicBezTo>
                    <a:pt x="206" y="15"/>
                    <a:pt x="191" y="0"/>
                    <a:pt x="175" y="0"/>
                  </a:cubicBezTo>
                  <a:cubicBezTo>
                    <a:pt x="32" y="0"/>
                    <a:pt x="32" y="0"/>
                    <a:pt x="32" y="0"/>
                  </a:cubicBez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3" name="弧形 52">
            <a:extLst>
              <a:ext uri="{FF2B5EF4-FFF2-40B4-BE49-F238E27FC236}">
                <a16:creationId xmlns:a16="http://schemas.microsoft.com/office/drawing/2014/main" xmlns="" id="{886006DC-FEC0-42C0-9375-40A3C653565C}"/>
              </a:ext>
            </a:extLst>
          </p:cNvPr>
          <p:cNvSpPr/>
          <p:nvPr/>
        </p:nvSpPr>
        <p:spPr bwMode="gray">
          <a:xfrm>
            <a:off x="1378326" y="3094837"/>
            <a:ext cx="494899" cy="477891"/>
          </a:xfrm>
          <a:prstGeom prst="arc">
            <a:avLst>
              <a:gd name="adj1" fmla="val 14445679"/>
              <a:gd name="adj2" fmla="val 10762572"/>
            </a:avLst>
          </a:prstGeom>
          <a:noFill/>
          <a:ln w="12700" cap="rnd" cmpd="sng" algn="ctr">
            <a:solidFill>
              <a:srgbClr val="0070C0"/>
            </a:solidFill>
            <a:prstDash val="solid"/>
            <a:miter lim="800000"/>
            <a:tailEnd type="oval" w="sm" len="sm"/>
          </a:ln>
          <a:effectLst/>
        </p:spPr>
        <p:txBody>
          <a:bodyPr rtlCol="0" anchor="ctr"/>
          <a:lstStyle/>
          <a:p>
            <a:pPr algn="ctr" defTabSz="456565"/>
            <a:endParaRPr lang="zh-CN" altLang="en-US" sz="105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225">
            <a:extLst>
              <a:ext uri="{FF2B5EF4-FFF2-40B4-BE49-F238E27FC236}">
                <a16:creationId xmlns:a16="http://schemas.microsoft.com/office/drawing/2014/main" xmlns="" id="{3038B91D-8FDD-483B-B389-68B517AD0D91}"/>
              </a:ext>
            </a:extLst>
          </p:cNvPr>
          <p:cNvSpPr txBox="1">
            <a:spLocks noChangeArrowheads="1"/>
          </p:cNvSpPr>
          <p:nvPr/>
        </p:nvSpPr>
        <p:spPr bwMode="gray">
          <a:xfrm>
            <a:off x="1397435" y="3123849"/>
            <a:ext cx="562126" cy="461665"/>
          </a:xfrm>
          <a:prstGeom prst="rect">
            <a:avLst/>
          </a:prstGeom>
          <a:noFill/>
          <a:ln w="9525">
            <a:noFill/>
            <a:miter lim="800000"/>
          </a:ln>
        </p:spPr>
        <p:txBody>
          <a:bodyPr wrap="square">
            <a:spAutoFit/>
          </a:bodyPr>
          <a:lstStyle/>
          <a:p>
            <a:pPr>
              <a:buSzPct val="100000"/>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系统管理</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54">
            <a:extLst>
              <a:ext uri="{FF2B5EF4-FFF2-40B4-BE49-F238E27FC236}">
                <a16:creationId xmlns:a16="http://schemas.microsoft.com/office/drawing/2014/main" xmlns="" id="{9FE8E2DC-38DF-407A-98E5-0612BAE6D3D6}"/>
              </a:ext>
            </a:extLst>
          </p:cNvPr>
          <p:cNvSpPr/>
          <p:nvPr/>
        </p:nvSpPr>
        <p:spPr bwMode="gray">
          <a:xfrm>
            <a:off x="3084875" y="4799603"/>
            <a:ext cx="824265"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Cloud AP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6" name="Picture 7" descr="C:\Users\z00232314\Desktop\HNC2015\背景模板\地球.png">
            <a:extLst>
              <a:ext uri="{FF2B5EF4-FFF2-40B4-BE49-F238E27FC236}">
                <a16:creationId xmlns:a16="http://schemas.microsoft.com/office/drawing/2014/main" xmlns="" id="{92894677-A5B5-492E-B847-26BA112CD58F}"/>
              </a:ext>
            </a:extLst>
          </p:cNvPr>
          <p:cNvPicPr preferRelativeResize="0">
            <a:picLocks noChangeAspect="1" noChangeArrowheads="1"/>
          </p:cNvPicPr>
          <p:nvPr/>
        </p:nvPicPr>
        <p:blipFill>
          <a:blip r:embed="rId7" cstate="print">
            <a:duotone>
              <a:prstClr val="black"/>
              <a:srgbClr val="0070C0">
                <a:tint val="45000"/>
                <a:satMod val="400000"/>
              </a:srgbClr>
            </a:duotone>
          </a:blip>
          <a:srcRect/>
          <a:stretch>
            <a:fillRect/>
          </a:stretch>
        </p:blipFill>
        <p:spPr bwMode="gray">
          <a:xfrm>
            <a:off x="2236757" y="4529730"/>
            <a:ext cx="360000" cy="360000"/>
          </a:xfrm>
          <a:prstGeom prst="rect">
            <a:avLst/>
          </a:prstGeom>
          <a:noFill/>
          <a:ln w="9525">
            <a:noFill/>
            <a:miter lim="800000"/>
            <a:headEnd/>
            <a:tailEnd/>
          </a:ln>
        </p:spPr>
      </p:pic>
      <p:sp>
        <p:nvSpPr>
          <p:cNvPr id="57" name="Freeform 16">
            <a:extLst>
              <a:ext uri="{FF2B5EF4-FFF2-40B4-BE49-F238E27FC236}">
                <a16:creationId xmlns:a16="http://schemas.microsoft.com/office/drawing/2014/main" xmlns="" id="{FAFFE435-CE9A-41AB-8712-576C92DDC64A}"/>
              </a:ext>
            </a:extLst>
          </p:cNvPr>
          <p:cNvSpPr/>
          <p:nvPr/>
        </p:nvSpPr>
        <p:spPr bwMode="gray">
          <a:xfrm>
            <a:off x="2935968" y="3249443"/>
            <a:ext cx="79878" cy="28594"/>
          </a:xfrm>
          <a:custGeom>
            <a:avLst/>
            <a:gdLst/>
            <a:ahLst/>
            <a:cxnLst>
              <a:cxn ang="0">
                <a:pos x="0" y="0"/>
              </a:cxn>
              <a:cxn ang="0">
                <a:pos x="0" y="153"/>
              </a:cxn>
              <a:cxn ang="0">
                <a:pos x="29" y="200"/>
              </a:cxn>
              <a:cxn ang="0">
                <a:pos x="551" y="200"/>
              </a:cxn>
              <a:cxn ang="0">
                <a:pos x="580" y="153"/>
              </a:cxn>
              <a:cxn ang="0">
                <a:pos x="580" y="1"/>
              </a:cxn>
              <a:cxn ang="0">
                <a:pos x="0" y="0"/>
              </a:cxn>
            </a:cxnLst>
            <a:rect l="0" t="0" r="r" b="b"/>
            <a:pathLst>
              <a:path w="580" h="200">
                <a:moveTo>
                  <a:pt x="0" y="0"/>
                </a:moveTo>
                <a:cubicBezTo>
                  <a:pt x="0" y="153"/>
                  <a:pt x="0" y="153"/>
                  <a:pt x="0" y="153"/>
                </a:cubicBezTo>
                <a:cubicBezTo>
                  <a:pt x="0" y="179"/>
                  <a:pt x="13" y="200"/>
                  <a:pt x="29" y="200"/>
                </a:cubicBezTo>
                <a:cubicBezTo>
                  <a:pt x="551" y="200"/>
                  <a:pt x="551" y="200"/>
                  <a:pt x="551" y="200"/>
                </a:cubicBezTo>
                <a:cubicBezTo>
                  <a:pt x="567" y="200"/>
                  <a:pt x="580" y="179"/>
                  <a:pt x="580" y="153"/>
                </a:cubicBezTo>
                <a:cubicBezTo>
                  <a:pt x="580" y="1"/>
                  <a:pt x="580" y="1"/>
                  <a:pt x="580" y="1"/>
                </a:cubicBezTo>
                <a:cubicBezTo>
                  <a:pt x="387" y="1"/>
                  <a:pt x="193" y="1"/>
                  <a:pt x="0" y="0"/>
                </a:cubicBezTo>
                <a:close/>
              </a:path>
            </a:pathLst>
          </a:custGeom>
          <a:solidFill>
            <a:srgbClr val="0070C0"/>
          </a:solid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17">
            <a:extLst>
              <a:ext uri="{FF2B5EF4-FFF2-40B4-BE49-F238E27FC236}">
                <a16:creationId xmlns:a16="http://schemas.microsoft.com/office/drawing/2014/main" xmlns="" id="{F4A00201-C7DE-4510-A7D4-5D4D7DBA5917}"/>
              </a:ext>
            </a:extLst>
          </p:cNvPr>
          <p:cNvSpPr/>
          <p:nvPr/>
        </p:nvSpPr>
        <p:spPr bwMode="gray">
          <a:xfrm>
            <a:off x="2910890" y="3271736"/>
            <a:ext cx="130035" cy="15508"/>
          </a:xfrm>
          <a:custGeom>
            <a:avLst/>
            <a:gdLst/>
            <a:ahLst/>
            <a:cxnLst>
              <a:cxn ang="0">
                <a:pos x="64" y="0"/>
              </a:cxn>
              <a:cxn ang="0">
                <a:pos x="0" y="53"/>
              </a:cxn>
              <a:cxn ang="0">
                <a:pos x="64" y="106"/>
              </a:cxn>
              <a:cxn ang="0">
                <a:pos x="884" y="106"/>
              </a:cxn>
              <a:cxn ang="0">
                <a:pos x="948" y="53"/>
              </a:cxn>
              <a:cxn ang="0">
                <a:pos x="884" y="0"/>
              </a:cxn>
              <a:cxn ang="0">
                <a:pos x="64" y="0"/>
              </a:cxn>
            </a:cxnLst>
            <a:rect l="0" t="0" r="r" b="b"/>
            <a:pathLst>
              <a:path w="948" h="106">
                <a:moveTo>
                  <a:pt x="64" y="0"/>
                </a:moveTo>
                <a:cubicBezTo>
                  <a:pt x="29" y="0"/>
                  <a:pt x="0" y="24"/>
                  <a:pt x="0" y="53"/>
                </a:cubicBezTo>
                <a:cubicBezTo>
                  <a:pt x="0" y="82"/>
                  <a:pt x="29" y="106"/>
                  <a:pt x="64" y="106"/>
                </a:cubicBezTo>
                <a:cubicBezTo>
                  <a:pt x="884" y="106"/>
                  <a:pt x="884" y="106"/>
                  <a:pt x="884" y="106"/>
                </a:cubicBezTo>
                <a:cubicBezTo>
                  <a:pt x="920" y="106"/>
                  <a:pt x="948" y="82"/>
                  <a:pt x="948" y="53"/>
                </a:cubicBezTo>
                <a:cubicBezTo>
                  <a:pt x="948" y="24"/>
                  <a:pt x="920" y="0"/>
                  <a:pt x="884" y="0"/>
                </a:cubicBezTo>
                <a:lnTo>
                  <a:pt x="64" y="0"/>
                </a:lnTo>
                <a:close/>
              </a:path>
            </a:pathLst>
          </a:custGeom>
          <a:solidFill>
            <a:srgbClr val="0070C0"/>
          </a:solid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Freeform 18">
            <a:extLst>
              <a:ext uri="{FF2B5EF4-FFF2-40B4-BE49-F238E27FC236}">
                <a16:creationId xmlns:a16="http://schemas.microsoft.com/office/drawing/2014/main" xmlns="" id="{18368FBE-C685-46F6-B7B6-7BF4597D790C}"/>
              </a:ext>
            </a:extLst>
          </p:cNvPr>
          <p:cNvSpPr>
            <a:spLocks noEditPoints="1"/>
          </p:cNvSpPr>
          <p:nvPr/>
        </p:nvSpPr>
        <p:spPr bwMode="gray">
          <a:xfrm>
            <a:off x="2790211" y="3063828"/>
            <a:ext cx="273073" cy="182222"/>
          </a:xfrm>
          <a:custGeom>
            <a:avLst/>
            <a:gdLst/>
            <a:ahLst/>
            <a:cxnLst>
              <a:cxn ang="0">
                <a:pos x="131" y="0"/>
              </a:cxn>
              <a:cxn ang="0">
                <a:pos x="0" y="130"/>
              </a:cxn>
              <a:cxn ang="0">
                <a:pos x="0" y="1138"/>
              </a:cxn>
              <a:cxn ang="0">
                <a:pos x="131" y="1269"/>
              </a:cxn>
              <a:cxn ang="0">
                <a:pos x="1853" y="1269"/>
              </a:cxn>
              <a:cxn ang="0">
                <a:pos x="1984" y="1138"/>
              </a:cxn>
              <a:cxn ang="0">
                <a:pos x="1984" y="130"/>
              </a:cxn>
              <a:cxn ang="0">
                <a:pos x="1853" y="0"/>
              </a:cxn>
              <a:cxn ang="0">
                <a:pos x="131" y="0"/>
              </a:cxn>
              <a:cxn ang="0">
                <a:pos x="131" y="63"/>
              </a:cxn>
              <a:cxn ang="0">
                <a:pos x="1853" y="63"/>
              </a:cxn>
              <a:cxn ang="0">
                <a:pos x="1921" y="130"/>
              </a:cxn>
              <a:cxn ang="0">
                <a:pos x="1921" y="1138"/>
              </a:cxn>
              <a:cxn ang="0">
                <a:pos x="1853" y="1206"/>
              </a:cxn>
              <a:cxn ang="0">
                <a:pos x="131" y="1206"/>
              </a:cxn>
              <a:cxn ang="0">
                <a:pos x="64" y="1138"/>
              </a:cxn>
              <a:cxn ang="0">
                <a:pos x="64" y="130"/>
              </a:cxn>
              <a:cxn ang="0">
                <a:pos x="131" y="63"/>
              </a:cxn>
            </a:cxnLst>
            <a:rect l="0" t="0" r="r" b="b"/>
            <a:pathLst>
              <a:path w="1984" h="1269">
                <a:moveTo>
                  <a:pt x="131" y="0"/>
                </a:moveTo>
                <a:cubicBezTo>
                  <a:pt x="59" y="0"/>
                  <a:pt x="0" y="58"/>
                  <a:pt x="0" y="130"/>
                </a:cubicBezTo>
                <a:cubicBezTo>
                  <a:pt x="0" y="1138"/>
                  <a:pt x="0" y="1138"/>
                  <a:pt x="0" y="1138"/>
                </a:cubicBezTo>
                <a:cubicBezTo>
                  <a:pt x="0" y="1210"/>
                  <a:pt x="59" y="1269"/>
                  <a:pt x="131" y="1269"/>
                </a:cubicBezTo>
                <a:cubicBezTo>
                  <a:pt x="1853" y="1269"/>
                  <a:pt x="1853" y="1269"/>
                  <a:pt x="1853" y="1269"/>
                </a:cubicBezTo>
                <a:cubicBezTo>
                  <a:pt x="1925" y="1269"/>
                  <a:pt x="1984" y="1210"/>
                  <a:pt x="1984" y="1138"/>
                </a:cubicBezTo>
                <a:cubicBezTo>
                  <a:pt x="1984" y="130"/>
                  <a:pt x="1984" y="130"/>
                  <a:pt x="1984" y="130"/>
                </a:cubicBezTo>
                <a:cubicBezTo>
                  <a:pt x="1984" y="58"/>
                  <a:pt x="1925" y="0"/>
                  <a:pt x="1853" y="0"/>
                </a:cubicBezTo>
                <a:cubicBezTo>
                  <a:pt x="131" y="0"/>
                  <a:pt x="131" y="0"/>
                  <a:pt x="131" y="0"/>
                </a:cubicBezTo>
                <a:close/>
                <a:moveTo>
                  <a:pt x="131" y="63"/>
                </a:moveTo>
                <a:cubicBezTo>
                  <a:pt x="1853" y="63"/>
                  <a:pt x="1853" y="63"/>
                  <a:pt x="1853" y="63"/>
                </a:cubicBezTo>
                <a:cubicBezTo>
                  <a:pt x="1891" y="63"/>
                  <a:pt x="1921" y="93"/>
                  <a:pt x="1921" y="130"/>
                </a:cubicBezTo>
                <a:cubicBezTo>
                  <a:pt x="1921" y="1138"/>
                  <a:pt x="1921" y="1138"/>
                  <a:pt x="1921" y="1138"/>
                </a:cubicBezTo>
                <a:cubicBezTo>
                  <a:pt x="1921" y="1176"/>
                  <a:pt x="1891" y="1206"/>
                  <a:pt x="1853" y="1206"/>
                </a:cubicBezTo>
                <a:cubicBezTo>
                  <a:pt x="131" y="1206"/>
                  <a:pt x="131" y="1206"/>
                  <a:pt x="131" y="1206"/>
                </a:cubicBezTo>
                <a:cubicBezTo>
                  <a:pt x="93" y="1206"/>
                  <a:pt x="64" y="1176"/>
                  <a:pt x="64" y="1138"/>
                </a:cubicBezTo>
                <a:cubicBezTo>
                  <a:pt x="64" y="130"/>
                  <a:pt x="64" y="130"/>
                  <a:pt x="64" y="130"/>
                </a:cubicBezTo>
                <a:cubicBezTo>
                  <a:pt x="64" y="93"/>
                  <a:pt x="93" y="63"/>
                  <a:pt x="131" y="63"/>
                </a:cubicBezTo>
                <a:close/>
              </a:path>
            </a:pathLst>
          </a:custGeom>
          <a:solidFill>
            <a:srgbClr val="0070C0"/>
          </a:solid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a:extLst>
              <a:ext uri="{FF2B5EF4-FFF2-40B4-BE49-F238E27FC236}">
                <a16:creationId xmlns:a16="http://schemas.microsoft.com/office/drawing/2014/main" xmlns="" id="{0677E5B4-E92B-48CD-818E-F5E6D57D1607}"/>
              </a:ext>
            </a:extLst>
          </p:cNvPr>
          <p:cNvSpPr/>
          <p:nvPr/>
        </p:nvSpPr>
        <p:spPr bwMode="gray">
          <a:xfrm>
            <a:off x="2497186" y="2996028"/>
            <a:ext cx="1371201" cy="1192811"/>
          </a:xfrm>
          <a:prstGeom prst="rect">
            <a:avLst/>
          </a:prstGeom>
          <a:noFill/>
          <a:ln w="317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a:extLst>
              <a:ext uri="{FF2B5EF4-FFF2-40B4-BE49-F238E27FC236}">
                <a16:creationId xmlns:a16="http://schemas.microsoft.com/office/drawing/2014/main" xmlns="" id="{E5F26979-4E6D-4ED3-8F93-B8A4F3B3C731}"/>
              </a:ext>
            </a:extLst>
          </p:cNvPr>
          <p:cNvSpPr/>
          <p:nvPr/>
        </p:nvSpPr>
        <p:spPr bwMode="gray">
          <a:xfrm>
            <a:off x="844265" y="1659692"/>
            <a:ext cx="598241" cy="338554"/>
          </a:xfrm>
          <a:prstGeom prst="rect">
            <a:avLst/>
          </a:prstGeom>
        </p:spPr>
        <p:txBody>
          <a:bodyPr wrap="none">
            <a:spAutoFit/>
          </a:bodyPr>
          <a:lstStyle/>
          <a:p>
            <a:r>
              <a:rPr lang="zh-CN" altLang="en-US" sz="1600" b="1" u="sng" dirty="0">
                <a:latin typeface="Huawei Sans" panose="020C0503030203020204" pitchFamily="34" charset="0"/>
                <a:ea typeface="方正兰亭黑简体" panose="02000000000000000000" pitchFamily="2" charset="-122"/>
                <a:sym typeface="Huawei Sans" panose="020C0503030203020204" pitchFamily="34" charset="0"/>
              </a:rPr>
              <a:t>背景</a:t>
            </a:r>
            <a:endParaRPr lang="zh-CN" altLang="en-US" sz="1600" u="sng"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396525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C875AE3-B23D-420E-A7C3-06D1F0E21D0E}"/>
              </a:ext>
            </a:extLst>
          </p:cNvPr>
          <p:cNvSpPr>
            <a:spLocks noGrp="1"/>
          </p:cNvSpPr>
          <p:nvPr>
            <p:ph type="title"/>
          </p:nvPr>
        </p:nvSpPr>
        <p:spPr bwMode="gray"/>
        <p:txBody>
          <a:bodyPr/>
          <a:lstStyle/>
          <a:p>
            <a:r>
              <a:rPr lang="en-US" altLang="zh-CN" smtClean="0">
                <a:sym typeface="Huawei Sans" panose="020C0503030203020204" pitchFamily="34" charset="0"/>
              </a:rPr>
              <a:t>XX</a:t>
            </a:r>
            <a:r>
              <a:rPr lang="zh-CN" altLang="en-US" smtClean="0">
                <a:sym typeface="Huawei Sans" panose="020C0503030203020204" pitchFamily="34" charset="0"/>
              </a:rPr>
              <a:t>建筑群打造未来商业</a:t>
            </a:r>
            <a:endParaRPr lang="zh-CN" altLang="en-US">
              <a:sym typeface="Huawei Sans" panose="020C0503030203020204" pitchFamily="34" charset="0"/>
            </a:endParaRPr>
          </a:p>
        </p:txBody>
      </p:sp>
      <p:sp>
        <p:nvSpPr>
          <p:cNvPr id="3" name="矩形 2">
            <a:extLst>
              <a:ext uri="{FF2B5EF4-FFF2-40B4-BE49-F238E27FC236}">
                <a16:creationId xmlns:a16="http://schemas.microsoft.com/office/drawing/2014/main" xmlns="" id="{3CB3705C-1D23-45F9-AA5D-A71BB991059B}"/>
              </a:ext>
            </a:extLst>
          </p:cNvPr>
          <p:cNvSpPr/>
          <p:nvPr/>
        </p:nvSpPr>
        <p:spPr bwMode="gray">
          <a:xfrm>
            <a:off x="550863" y="979909"/>
            <a:ext cx="11090276" cy="1656184"/>
          </a:xfrm>
          <a:prstGeom prst="rect">
            <a:avLst/>
          </a:prstGeom>
          <a:noFill/>
          <a:ln w="3175" cap="flat" cmpd="sng" algn="ctr">
            <a:solidFill>
              <a:srgbClr val="56C4D2"/>
            </a:solidFill>
            <a:prstDash val="dash"/>
            <a:round/>
            <a:headEnd type="none" w="med" len="med"/>
            <a:tailEnd type="none" w="med" len="med"/>
          </a:ln>
          <a:effectLst/>
        </p:spPr>
        <p:txBody>
          <a:bodyPr vert="horz" wrap="square" lIns="91461" tIns="45731" rIns="91461" bIns="45731" numCol="1" rtlCol="0" anchor="t" anchorCtr="0" compatLnSpc="1">
            <a:prstTxWarp prst="textNoShape">
              <a:avLst/>
            </a:prstTxWarp>
          </a:bodyPr>
          <a:lstStyle/>
          <a:p>
            <a:pPr algn="ctr" defTabSz="801848"/>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a:extLst>
              <a:ext uri="{FF2B5EF4-FFF2-40B4-BE49-F238E27FC236}">
                <a16:creationId xmlns:a16="http://schemas.microsoft.com/office/drawing/2014/main" xmlns="" id="{7C15A172-76BC-4F66-8548-22BBE78C36C8}"/>
              </a:ext>
            </a:extLst>
          </p:cNvPr>
          <p:cNvSpPr/>
          <p:nvPr/>
        </p:nvSpPr>
        <p:spPr bwMode="gray">
          <a:xfrm>
            <a:off x="550862" y="2679137"/>
            <a:ext cx="11090277" cy="3456806"/>
          </a:xfrm>
          <a:prstGeom prst="rect">
            <a:avLst/>
          </a:prstGeom>
          <a:noFill/>
          <a:ln w="3175" cap="flat" cmpd="sng" algn="ctr">
            <a:solidFill>
              <a:srgbClr val="56C4D2"/>
            </a:solidFill>
            <a:prstDash val="dash"/>
            <a:round/>
            <a:headEnd type="none" w="med" len="med"/>
            <a:tailEnd type="none" w="med" len="med"/>
          </a:ln>
          <a:effectLst/>
        </p:spPr>
        <p:txBody>
          <a:bodyPr vert="horz" wrap="square" lIns="91461" tIns="45731" rIns="91461" bIns="45731" numCol="1" rtlCol="0" anchor="t" anchorCtr="0" compatLnSpc="1">
            <a:prstTxWarp prst="textNoShape">
              <a:avLst/>
            </a:prstTxWarp>
          </a:bodyPr>
          <a:lstStyle/>
          <a:p>
            <a:pPr algn="ctr" defTabSz="801848"/>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a:extLst>
              <a:ext uri="{FF2B5EF4-FFF2-40B4-BE49-F238E27FC236}">
                <a16:creationId xmlns:a16="http://schemas.microsoft.com/office/drawing/2014/main" xmlns="" id="{AB32EBDC-663A-4E75-BB42-AD817AD7421B}"/>
              </a:ext>
            </a:extLst>
          </p:cNvPr>
          <p:cNvSpPr/>
          <p:nvPr/>
        </p:nvSpPr>
        <p:spPr bwMode="gray">
          <a:xfrm>
            <a:off x="2009741" y="1277659"/>
            <a:ext cx="2956073" cy="1061829"/>
          </a:xfrm>
          <a:prstGeom prst="rect">
            <a:avLst/>
          </a:prstGeom>
        </p:spPr>
        <p:txBody>
          <a:bodyPr wrap="square">
            <a:spAutoFit/>
          </a:bodyPr>
          <a:lstStyle/>
          <a:p>
            <a:pPr marL="177800" indent="-177800">
              <a:spcBef>
                <a:spcPct val="50000"/>
              </a:spcBef>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XXX</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是集产业研发、公寓、酒店、商业于一体大型城市综合体。</a:t>
            </a:r>
          </a:p>
          <a:p>
            <a:pPr marL="177800" indent="-177800">
              <a:spcBef>
                <a:spcPct val="50000"/>
              </a:spcBef>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XXX</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地标性建筑群，无线网络是智慧上城的重要基础组成部分</a:t>
            </a:r>
          </a:p>
        </p:txBody>
      </p:sp>
      <p:cxnSp>
        <p:nvCxnSpPr>
          <p:cNvPr id="6" name="直接连接符 5">
            <a:extLst>
              <a:ext uri="{FF2B5EF4-FFF2-40B4-BE49-F238E27FC236}">
                <a16:creationId xmlns:a16="http://schemas.microsoft.com/office/drawing/2014/main" xmlns="" id="{3A8382E1-448A-4D42-879C-007B3DEB84FC}"/>
              </a:ext>
            </a:extLst>
          </p:cNvPr>
          <p:cNvCxnSpPr/>
          <p:nvPr/>
        </p:nvCxnSpPr>
        <p:spPr bwMode="gray">
          <a:xfrm>
            <a:off x="6169595" y="1329706"/>
            <a:ext cx="0" cy="936104"/>
          </a:xfrm>
          <a:prstGeom prst="line">
            <a:avLst/>
          </a:prstGeom>
          <a:solidFill>
            <a:schemeClr val="accent1"/>
          </a:solidFill>
          <a:ln w="9525" cap="flat" cmpd="sng" algn="ctr">
            <a:solidFill>
              <a:schemeClr val="accent6">
                <a:lumMod val="60000"/>
                <a:lumOff val="40000"/>
              </a:schemeClr>
            </a:solidFill>
            <a:prstDash val="sysDash"/>
            <a:round/>
            <a:headEnd type="none" w="med" len="med"/>
            <a:tailEnd type="none" w="med" len="med"/>
          </a:ln>
          <a:effectLst/>
        </p:spPr>
      </p:cxnSp>
      <p:cxnSp>
        <p:nvCxnSpPr>
          <p:cNvPr id="8" name="直接连接符 7">
            <a:extLst>
              <a:ext uri="{FF2B5EF4-FFF2-40B4-BE49-F238E27FC236}">
                <a16:creationId xmlns:a16="http://schemas.microsoft.com/office/drawing/2014/main" xmlns="" id="{2B66FAA3-D233-479A-AAE5-28BB8CE7E53F}"/>
              </a:ext>
            </a:extLst>
          </p:cNvPr>
          <p:cNvCxnSpPr/>
          <p:nvPr/>
        </p:nvCxnSpPr>
        <p:spPr bwMode="gray">
          <a:xfrm>
            <a:off x="8505477" y="3221475"/>
            <a:ext cx="0" cy="2448272"/>
          </a:xfrm>
          <a:prstGeom prst="line">
            <a:avLst/>
          </a:prstGeom>
          <a:solidFill>
            <a:schemeClr val="accent1"/>
          </a:solidFill>
          <a:ln w="9525" cap="flat" cmpd="sng" algn="ctr">
            <a:solidFill>
              <a:schemeClr val="accent6">
                <a:lumMod val="60000"/>
                <a:lumOff val="40000"/>
              </a:schemeClr>
            </a:solidFill>
            <a:prstDash val="sysDash"/>
            <a:round/>
            <a:headEnd type="none" w="med" len="med"/>
            <a:tailEnd type="none" w="med" len="med"/>
          </a:ln>
          <a:effectLst/>
        </p:spPr>
      </p:cxnSp>
      <p:sp>
        <p:nvSpPr>
          <p:cNvPr id="9" name="文本框 8">
            <a:extLst>
              <a:ext uri="{FF2B5EF4-FFF2-40B4-BE49-F238E27FC236}">
                <a16:creationId xmlns:a16="http://schemas.microsoft.com/office/drawing/2014/main" xmlns="" id="{0AC17B54-FBC4-491C-81B9-6D33D7286C04}"/>
              </a:ext>
            </a:extLst>
          </p:cNvPr>
          <p:cNvSpPr txBox="1"/>
          <p:nvPr/>
        </p:nvSpPr>
        <p:spPr bwMode="gray">
          <a:xfrm>
            <a:off x="9370074" y="2793376"/>
            <a:ext cx="1011815" cy="338554"/>
          </a:xfrm>
          <a:prstGeom prst="rect">
            <a:avLst/>
          </a:prstGeom>
          <a:noFill/>
        </p:spPr>
        <p:txBody>
          <a:bodyPr wrap="none" rtlCol="0">
            <a:spAutoFit/>
          </a:bodyPr>
          <a:lstStyle>
            <a:defPPr>
              <a:defRPr lang="zh-CN"/>
            </a:defPPr>
            <a:lvl1pPr>
              <a:defRPr b="1">
                <a:solidFill>
                  <a:schemeClr val="accent6">
                    <a:lumMod val="75000"/>
                  </a:schemeClr>
                </a:solidFill>
                <a:latin typeface="+mn-ea"/>
                <a:ea typeface="+mn-ea"/>
              </a:defRPr>
            </a:lvl1pPr>
          </a:lstStyle>
          <a:p>
            <a:r>
              <a:rPr lang="zh-CN" altLang="en-US" sz="1600" u="sng"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客户价值</a:t>
            </a:r>
            <a:endParaRPr lang="en-US" altLang="zh-CN" sz="1600" u="sng"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a:extLst>
              <a:ext uri="{FF2B5EF4-FFF2-40B4-BE49-F238E27FC236}">
                <a16:creationId xmlns:a16="http://schemas.microsoft.com/office/drawing/2014/main" xmlns="" id="{CF32B228-52FD-484E-A31D-62B7F47B3A42}"/>
              </a:ext>
            </a:extLst>
          </p:cNvPr>
          <p:cNvSpPr/>
          <p:nvPr/>
        </p:nvSpPr>
        <p:spPr bwMode="gray">
          <a:xfrm>
            <a:off x="4725474" y="3245207"/>
            <a:ext cx="3809560" cy="2139047"/>
          </a:xfrm>
          <a:prstGeom prst="rect">
            <a:avLst/>
          </a:prstGeom>
        </p:spPr>
        <p:txBody>
          <a:bodyPr wrap="square">
            <a:spAutoFit/>
          </a:bodyPr>
          <a:lstStyle/>
          <a:p>
            <a:pPr>
              <a:lnSpc>
                <a:spcPct val="150000"/>
              </a:lnSpc>
              <a:buClr>
                <a:prstClr val="white"/>
              </a:buCl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方案实现</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buClr>
                <a:prstClr val="white"/>
              </a:buCl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三射频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独立射频，为终端定位</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WiFi</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TAG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提供定位扫描，地下车库结合蓝牙</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beacon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，可实现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1m~3m</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的高精度定位，开放</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对接奕通应用平台，实现客流分析和室内导航，精准营销，提供运营决策</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支撑。</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spcAft>
                <a:spcPts val="600"/>
              </a:spcAft>
              <a:buClr>
                <a:prstClr val="white"/>
              </a:buCl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合作场景及接口</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a:spcAft>
                <a:spcPts val="600"/>
              </a:spcAft>
              <a:buClr>
                <a:prstClr val="white"/>
              </a:buCl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位置服务：</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 RSSI </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API</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a:extLst>
              <a:ext uri="{FF2B5EF4-FFF2-40B4-BE49-F238E27FC236}">
                <a16:creationId xmlns:a16="http://schemas.microsoft.com/office/drawing/2014/main" xmlns="" id="{3A42CBB3-6423-4B60-8282-49C6D5AFF9F4}"/>
              </a:ext>
            </a:extLst>
          </p:cNvPr>
          <p:cNvSpPr/>
          <p:nvPr/>
        </p:nvSpPr>
        <p:spPr bwMode="gray">
          <a:xfrm>
            <a:off x="7167881" y="1105260"/>
            <a:ext cx="4393599" cy="1384995"/>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marL="285750" indent="-285750" defTabSz="1218835">
              <a:lnSpc>
                <a:spcPct val="150000"/>
              </a:lnSpc>
              <a:buClr>
                <a:schemeClr val="tx1"/>
              </a:buClr>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客户体验</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，需求高密度高质量的无线网络接入；</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160+</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店铺，</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30000+</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车位，需要精准的室内</a:t>
            </a:r>
            <a:r>
              <a:rPr lang="zh-CN" altLang="en-US" sz="140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导航。</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defTabSz="1218835">
              <a:lnSpc>
                <a:spcPct val="150000"/>
              </a:lnSpc>
              <a:buClr>
                <a:schemeClr val="tx1"/>
              </a:buClr>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智慧运营，</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利用网络，需求大数据分析刻画客户行为，工作人员位置可视化，支撑营销和运营</a:t>
            </a:r>
            <a:r>
              <a:rPr lang="zh-CN" altLang="en-US" sz="1400" dirty="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决策。</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2" name="直接连接符 11">
            <a:extLst>
              <a:ext uri="{FF2B5EF4-FFF2-40B4-BE49-F238E27FC236}">
                <a16:creationId xmlns:a16="http://schemas.microsoft.com/office/drawing/2014/main" xmlns="" id="{CDCBF026-1C45-4DC6-B191-EFFF67E80FF1}"/>
              </a:ext>
            </a:extLst>
          </p:cNvPr>
          <p:cNvCxnSpPr/>
          <p:nvPr/>
        </p:nvCxnSpPr>
        <p:spPr bwMode="gray">
          <a:xfrm>
            <a:off x="4689053" y="3183987"/>
            <a:ext cx="0" cy="2448272"/>
          </a:xfrm>
          <a:prstGeom prst="line">
            <a:avLst/>
          </a:prstGeom>
          <a:solidFill>
            <a:schemeClr val="accent1"/>
          </a:solidFill>
          <a:ln w="9525" cap="flat" cmpd="sng" algn="ctr">
            <a:solidFill>
              <a:schemeClr val="accent6">
                <a:lumMod val="60000"/>
                <a:lumOff val="40000"/>
              </a:schemeClr>
            </a:solidFill>
            <a:prstDash val="sysDash"/>
            <a:round/>
            <a:headEnd type="none" w="med" len="med"/>
            <a:tailEnd type="none" w="med" len="med"/>
          </a:ln>
          <a:effectLst/>
        </p:spPr>
      </p:cxnSp>
      <p:sp>
        <p:nvSpPr>
          <p:cNvPr id="13" name="矩形 12">
            <a:extLst>
              <a:ext uri="{FF2B5EF4-FFF2-40B4-BE49-F238E27FC236}">
                <a16:creationId xmlns:a16="http://schemas.microsoft.com/office/drawing/2014/main" xmlns="" id="{542DAD8B-8A53-4F5E-A378-0D926FEAE8C2}"/>
              </a:ext>
            </a:extLst>
          </p:cNvPr>
          <p:cNvSpPr/>
          <p:nvPr/>
        </p:nvSpPr>
        <p:spPr bwMode="gray">
          <a:xfrm>
            <a:off x="9561793" y="3486644"/>
            <a:ext cx="1640193" cy="307777"/>
          </a:xfrm>
          <a:prstGeom prst="rect">
            <a:avLst/>
          </a:prstGeom>
        </p:spPr>
        <p:txBody>
          <a:bodyPr wrap="none">
            <a:spAutoFit/>
          </a:bodyPr>
          <a:lstStyle/>
          <a:p>
            <a:pPr algn="ct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高质量的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a:t>
            </a:r>
          </a:p>
        </p:txBody>
      </p:sp>
      <p:sp>
        <p:nvSpPr>
          <p:cNvPr id="14" name="椭圆 13">
            <a:extLst>
              <a:ext uri="{FF2B5EF4-FFF2-40B4-BE49-F238E27FC236}">
                <a16:creationId xmlns:a16="http://schemas.microsoft.com/office/drawing/2014/main" xmlns="" id="{44D90C21-B79E-4A90-8747-C2F528377CA5}"/>
              </a:ext>
            </a:extLst>
          </p:cNvPr>
          <p:cNvSpPr/>
          <p:nvPr/>
        </p:nvSpPr>
        <p:spPr bwMode="gray">
          <a:xfrm>
            <a:off x="8856057" y="3454854"/>
            <a:ext cx="360000" cy="360000"/>
          </a:xfrm>
          <a:prstGeom prst="ellipse">
            <a:avLst/>
          </a:prstGeom>
          <a:noFill/>
          <a:ln w="38100">
            <a:noFill/>
          </a:ln>
        </p:spPr>
        <p:txBody>
          <a:bodyPr wrap="none" anchor="ctr">
            <a:noAutofit/>
          </a:bodyPr>
          <a:lstStyle/>
          <a:p>
            <a:pPr algn="ctr" defTabSz="1219444">
              <a:buClr>
                <a:srgbClr val="CC9900"/>
              </a:buCl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网络质量</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a:extLst>
              <a:ext uri="{FF2B5EF4-FFF2-40B4-BE49-F238E27FC236}">
                <a16:creationId xmlns:a16="http://schemas.microsoft.com/office/drawing/2014/main" xmlns="" id="{D4136D3A-40B7-4E14-AB8B-2E771A0FAE82}"/>
              </a:ext>
            </a:extLst>
          </p:cNvPr>
          <p:cNvSpPr/>
          <p:nvPr/>
        </p:nvSpPr>
        <p:spPr bwMode="gray">
          <a:xfrm>
            <a:off x="9360515" y="4378800"/>
            <a:ext cx="1952335" cy="307777"/>
          </a:xfrm>
          <a:prstGeom prst="rect">
            <a:avLst/>
          </a:prstGeom>
        </p:spPr>
        <p:txBody>
          <a:bodyPr wrap="square">
            <a:spAutoFit/>
          </a:bodyPr>
          <a:lstStyle/>
          <a:p>
            <a:pPr algn="ct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大数据精准营销</a:t>
            </a:r>
          </a:p>
        </p:txBody>
      </p:sp>
      <p:sp>
        <p:nvSpPr>
          <p:cNvPr id="16" name="椭圆 15">
            <a:extLst>
              <a:ext uri="{FF2B5EF4-FFF2-40B4-BE49-F238E27FC236}">
                <a16:creationId xmlns:a16="http://schemas.microsoft.com/office/drawing/2014/main" xmlns="" id="{682BEB3F-CB3B-44FE-88CA-037848796F6A}"/>
              </a:ext>
            </a:extLst>
          </p:cNvPr>
          <p:cNvSpPr/>
          <p:nvPr/>
        </p:nvSpPr>
        <p:spPr bwMode="gray">
          <a:xfrm>
            <a:off x="8872367" y="4319458"/>
            <a:ext cx="360000" cy="360000"/>
          </a:xfrm>
          <a:prstGeom prst="ellipse">
            <a:avLst/>
          </a:prstGeom>
          <a:ln w="38100">
            <a:noFill/>
          </a:ln>
        </p:spPr>
        <p:txBody>
          <a:bodyPr wrap="none" anchor="ctr">
            <a:noAutofit/>
          </a:bodyPr>
          <a:lstStyle/>
          <a:p>
            <a:pPr algn="ctr" defTabSz="1219444">
              <a:buClr>
                <a:srgbClr val="CC9900"/>
              </a:buCl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客流分析</a:t>
            </a:r>
          </a:p>
        </p:txBody>
      </p:sp>
      <p:sp>
        <p:nvSpPr>
          <p:cNvPr id="17" name="椭圆 16">
            <a:extLst>
              <a:ext uri="{FF2B5EF4-FFF2-40B4-BE49-F238E27FC236}">
                <a16:creationId xmlns:a16="http://schemas.microsoft.com/office/drawing/2014/main" xmlns="" id="{8851EFDB-20FD-4F88-80E4-3BE945F1D399}"/>
              </a:ext>
            </a:extLst>
          </p:cNvPr>
          <p:cNvSpPr>
            <a:spLocks noChangeAspect="1"/>
          </p:cNvSpPr>
          <p:nvPr/>
        </p:nvSpPr>
        <p:spPr bwMode="gray">
          <a:xfrm>
            <a:off x="8716343" y="3310685"/>
            <a:ext cx="648338" cy="648338"/>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 name="椭圆 17">
            <a:extLst>
              <a:ext uri="{FF2B5EF4-FFF2-40B4-BE49-F238E27FC236}">
                <a16:creationId xmlns:a16="http://schemas.microsoft.com/office/drawing/2014/main" xmlns="" id="{010BE4E8-0E94-4197-8F8A-5B726CF32A0A}"/>
              </a:ext>
            </a:extLst>
          </p:cNvPr>
          <p:cNvSpPr>
            <a:spLocks noChangeAspect="1"/>
          </p:cNvSpPr>
          <p:nvPr/>
        </p:nvSpPr>
        <p:spPr bwMode="gray">
          <a:xfrm>
            <a:off x="8720273" y="4175288"/>
            <a:ext cx="679351" cy="679351"/>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 name="矩形 18">
            <a:extLst>
              <a:ext uri="{FF2B5EF4-FFF2-40B4-BE49-F238E27FC236}">
                <a16:creationId xmlns:a16="http://schemas.microsoft.com/office/drawing/2014/main" xmlns="" id="{71D593B0-BA5C-46C2-8544-317106C41B3B}"/>
              </a:ext>
            </a:extLst>
          </p:cNvPr>
          <p:cNvSpPr/>
          <p:nvPr/>
        </p:nvSpPr>
        <p:spPr bwMode="gray">
          <a:xfrm>
            <a:off x="9399624" y="5257529"/>
            <a:ext cx="1966907" cy="307777"/>
          </a:xfrm>
          <a:prstGeom prst="rect">
            <a:avLst/>
          </a:prstGeom>
        </p:spPr>
        <p:txBody>
          <a:bodyPr wrap="square">
            <a:spAutoFit/>
          </a:bodyPr>
          <a:lstStyle/>
          <a:p>
            <a:pPr algn="ct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提升客户购物体验</a:t>
            </a:r>
          </a:p>
        </p:txBody>
      </p:sp>
      <p:sp>
        <p:nvSpPr>
          <p:cNvPr id="20" name="椭圆 19">
            <a:extLst>
              <a:ext uri="{FF2B5EF4-FFF2-40B4-BE49-F238E27FC236}">
                <a16:creationId xmlns:a16="http://schemas.microsoft.com/office/drawing/2014/main" xmlns="" id="{C9417A2E-1BCC-46E6-8ADA-592393374272}"/>
              </a:ext>
            </a:extLst>
          </p:cNvPr>
          <p:cNvSpPr/>
          <p:nvPr/>
        </p:nvSpPr>
        <p:spPr bwMode="gray">
          <a:xfrm>
            <a:off x="8872191" y="5222119"/>
            <a:ext cx="362687" cy="336067"/>
          </a:xfrm>
          <a:prstGeom prst="ellipse">
            <a:avLst/>
          </a:prstGeom>
          <a:ln w="38100">
            <a:noFill/>
          </a:ln>
        </p:spPr>
        <p:txBody>
          <a:bodyPr wrap="none" anchor="ctr">
            <a:noAutofit/>
          </a:bodyPr>
          <a:lstStyle/>
          <a:p>
            <a:pPr algn="ctr" defTabSz="1219444">
              <a:buClr>
                <a:srgbClr val="CC9900"/>
              </a:buCl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室内导航</a:t>
            </a:r>
          </a:p>
        </p:txBody>
      </p:sp>
      <p:sp>
        <p:nvSpPr>
          <p:cNvPr id="21" name="椭圆 20">
            <a:extLst>
              <a:ext uri="{FF2B5EF4-FFF2-40B4-BE49-F238E27FC236}">
                <a16:creationId xmlns:a16="http://schemas.microsoft.com/office/drawing/2014/main" xmlns="" id="{93EC7544-6CEC-49CA-9CE6-CF65E8A7C2CF}"/>
              </a:ext>
            </a:extLst>
          </p:cNvPr>
          <p:cNvSpPr>
            <a:spLocks noChangeAspect="1"/>
          </p:cNvSpPr>
          <p:nvPr/>
        </p:nvSpPr>
        <p:spPr bwMode="gray">
          <a:xfrm>
            <a:off x="8717714" y="5054017"/>
            <a:ext cx="684422" cy="679351"/>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3" name="圆角矩形 33">
            <a:extLst>
              <a:ext uri="{FF2B5EF4-FFF2-40B4-BE49-F238E27FC236}">
                <a16:creationId xmlns:a16="http://schemas.microsoft.com/office/drawing/2014/main" xmlns="" id="{54D8C1C0-AC02-452F-AE25-31554537EB60}"/>
              </a:ext>
            </a:extLst>
          </p:cNvPr>
          <p:cNvSpPr/>
          <p:nvPr/>
        </p:nvSpPr>
        <p:spPr bwMode="gray">
          <a:xfrm>
            <a:off x="686879" y="2902220"/>
            <a:ext cx="1180312" cy="1053344"/>
          </a:xfrm>
          <a:prstGeom prst="roundRect">
            <a:avLst>
              <a:gd name="adj" fmla="val 11180"/>
            </a:avLst>
          </a:prstGeom>
          <a:solidFill>
            <a:srgbClr val="00B0F0">
              <a:alpha val="0"/>
            </a:srgbClr>
          </a:solidFill>
          <a:ln>
            <a:solidFill>
              <a:schemeClr val="bg1">
                <a:lumMod val="75000"/>
              </a:schemeClr>
            </a:solidFill>
          </a:ln>
          <a:effectLst/>
        </p:spPr>
        <p:txBody>
          <a:bodyPr vert="horz" wrap="square" lIns="91438" tIns="45719" rIns="91438" bIns="45719" numCol="1" rtlCol="0"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defRPr/>
            </a:pPr>
            <a:endParaRPr lang="zh-CN" altLang="en-US" sz="105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Line 66">
            <a:extLst>
              <a:ext uri="{FF2B5EF4-FFF2-40B4-BE49-F238E27FC236}">
                <a16:creationId xmlns:a16="http://schemas.microsoft.com/office/drawing/2014/main" xmlns="" id="{BA3379C3-1B19-46A0-9B03-C683921A640E}"/>
              </a:ext>
            </a:extLst>
          </p:cNvPr>
          <p:cNvSpPr>
            <a:spLocks noChangeShapeType="1"/>
          </p:cNvSpPr>
          <p:nvPr/>
        </p:nvSpPr>
        <p:spPr bwMode="gray">
          <a:xfrm flipH="1" flipV="1">
            <a:off x="2547108" y="3569192"/>
            <a:ext cx="343877" cy="35453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Rectangle 47">
            <a:extLst>
              <a:ext uri="{FF2B5EF4-FFF2-40B4-BE49-F238E27FC236}">
                <a16:creationId xmlns:a16="http://schemas.microsoft.com/office/drawing/2014/main" xmlns="" id="{49A4B6A7-5EC7-43EF-AC9F-0FEEC01A9C71}"/>
              </a:ext>
            </a:extLst>
          </p:cNvPr>
          <p:cNvSpPr>
            <a:spLocks noChangeArrowheads="1"/>
          </p:cNvSpPr>
          <p:nvPr/>
        </p:nvSpPr>
        <p:spPr bwMode="gray">
          <a:xfrm>
            <a:off x="760118" y="3051270"/>
            <a:ext cx="995569" cy="184667"/>
          </a:xfrm>
          <a:prstGeom prst="rect">
            <a:avLst/>
          </a:prstGeom>
          <a:noFill/>
          <a:ln w="9525">
            <a:solidFill>
              <a:srgbClr val="56C4D2"/>
            </a:solidFill>
            <a:miter lim="800000"/>
            <a:headEnd/>
            <a:tailEnd/>
          </a:ln>
        </p:spPr>
        <p:txBody>
          <a:bodyPr vert="horz" wrap="square" lIns="0" tIns="0" rIns="0" bIns="0" numCol="1" anchor="t" anchorCtr="0" compatLnSpc="1">
            <a:prstTxWarp prst="textNoShape">
              <a:avLst/>
            </a:prstTxWarp>
            <a:spAutoFit/>
          </a:bodyPr>
          <a:lstStyle/>
          <a:p>
            <a:pPr algn="ctr" defTabSz="914400" fontAlgn="base">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认证服务器</a:t>
            </a:r>
          </a:p>
        </p:txBody>
      </p:sp>
      <p:sp>
        <p:nvSpPr>
          <p:cNvPr id="27" name="Line 74">
            <a:extLst>
              <a:ext uri="{FF2B5EF4-FFF2-40B4-BE49-F238E27FC236}">
                <a16:creationId xmlns:a16="http://schemas.microsoft.com/office/drawing/2014/main" xmlns="" id="{6A3D1421-462E-425D-A0F9-14C8B9FE16FD}"/>
              </a:ext>
            </a:extLst>
          </p:cNvPr>
          <p:cNvSpPr>
            <a:spLocks noChangeShapeType="1"/>
          </p:cNvSpPr>
          <p:nvPr/>
        </p:nvSpPr>
        <p:spPr bwMode="gray">
          <a:xfrm flipV="1">
            <a:off x="2129470" y="3541733"/>
            <a:ext cx="348053" cy="38199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Line 74">
            <a:extLst>
              <a:ext uri="{FF2B5EF4-FFF2-40B4-BE49-F238E27FC236}">
                <a16:creationId xmlns:a16="http://schemas.microsoft.com/office/drawing/2014/main" xmlns="" id="{DA418019-C403-41AB-A617-8598A3FB1A74}"/>
              </a:ext>
            </a:extLst>
          </p:cNvPr>
          <p:cNvSpPr>
            <a:spLocks noChangeShapeType="1"/>
          </p:cNvSpPr>
          <p:nvPr/>
        </p:nvSpPr>
        <p:spPr bwMode="gray">
          <a:xfrm flipV="1">
            <a:off x="1715394" y="4105925"/>
            <a:ext cx="348053" cy="38199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Line 66">
            <a:extLst>
              <a:ext uri="{FF2B5EF4-FFF2-40B4-BE49-F238E27FC236}">
                <a16:creationId xmlns:a16="http://schemas.microsoft.com/office/drawing/2014/main" xmlns="" id="{E1DA6C7F-EE03-46DB-93D0-4EE1B56E3CBD}"/>
              </a:ext>
            </a:extLst>
          </p:cNvPr>
          <p:cNvSpPr>
            <a:spLocks noChangeShapeType="1"/>
          </p:cNvSpPr>
          <p:nvPr/>
        </p:nvSpPr>
        <p:spPr bwMode="gray">
          <a:xfrm flipH="1" flipV="1">
            <a:off x="2021302" y="4108358"/>
            <a:ext cx="343877" cy="35453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Line 74">
            <a:extLst>
              <a:ext uri="{FF2B5EF4-FFF2-40B4-BE49-F238E27FC236}">
                <a16:creationId xmlns:a16="http://schemas.microsoft.com/office/drawing/2014/main" xmlns="" id="{859AB721-78CD-4093-A12B-C7029CEFCDC1}"/>
              </a:ext>
            </a:extLst>
          </p:cNvPr>
          <p:cNvSpPr>
            <a:spLocks noChangeShapeType="1"/>
          </p:cNvSpPr>
          <p:nvPr/>
        </p:nvSpPr>
        <p:spPr bwMode="gray">
          <a:xfrm flipV="1">
            <a:off x="2586440" y="4152147"/>
            <a:ext cx="348053" cy="38199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Line 66">
            <a:extLst>
              <a:ext uri="{FF2B5EF4-FFF2-40B4-BE49-F238E27FC236}">
                <a16:creationId xmlns:a16="http://schemas.microsoft.com/office/drawing/2014/main" xmlns="" id="{816AD6AE-FE06-4C27-AEBC-889C94D3DADC}"/>
              </a:ext>
            </a:extLst>
          </p:cNvPr>
          <p:cNvSpPr>
            <a:spLocks noChangeShapeType="1"/>
          </p:cNvSpPr>
          <p:nvPr/>
        </p:nvSpPr>
        <p:spPr bwMode="gray">
          <a:xfrm flipH="1" flipV="1">
            <a:off x="3002089" y="4144414"/>
            <a:ext cx="343877" cy="35453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Line 74">
            <a:extLst>
              <a:ext uri="{FF2B5EF4-FFF2-40B4-BE49-F238E27FC236}">
                <a16:creationId xmlns:a16="http://schemas.microsoft.com/office/drawing/2014/main" xmlns="" id="{AC769D53-FB5F-4235-87A9-90D5866C7815}"/>
              </a:ext>
            </a:extLst>
          </p:cNvPr>
          <p:cNvSpPr>
            <a:spLocks noChangeShapeType="1"/>
          </p:cNvSpPr>
          <p:nvPr/>
        </p:nvSpPr>
        <p:spPr bwMode="gray">
          <a:xfrm flipV="1">
            <a:off x="1289171" y="4642017"/>
            <a:ext cx="348053" cy="38199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Line 74">
            <a:extLst>
              <a:ext uri="{FF2B5EF4-FFF2-40B4-BE49-F238E27FC236}">
                <a16:creationId xmlns:a16="http://schemas.microsoft.com/office/drawing/2014/main" xmlns="" id="{FE858EE9-7597-4245-B439-42E5ED6ACDA9}"/>
              </a:ext>
            </a:extLst>
          </p:cNvPr>
          <p:cNvSpPr>
            <a:spLocks noChangeShapeType="1"/>
          </p:cNvSpPr>
          <p:nvPr/>
        </p:nvSpPr>
        <p:spPr bwMode="gray">
          <a:xfrm flipV="1">
            <a:off x="2306594" y="4612231"/>
            <a:ext cx="348053" cy="38199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Line 74">
            <a:extLst>
              <a:ext uri="{FF2B5EF4-FFF2-40B4-BE49-F238E27FC236}">
                <a16:creationId xmlns:a16="http://schemas.microsoft.com/office/drawing/2014/main" xmlns="" id="{ECB7E146-DF11-46B6-B278-16D2B032556B}"/>
              </a:ext>
            </a:extLst>
          </p:cNvPr>
          <p:cNvSpPr>
            <a:spLocks noChangeShapeType="1"/>
          </p:cNvSpPr>
          <p:nvPr/>
        </p:nvSpPr>
        <p:spPr bwMode="gray">
          <a:xfrm flipV="1">
            <a:off x="3182001" y="4671804"/>
            <a:ext cx="98732" cy="322419"/>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Line 66">
            <a:extLst>
              <a:ext uri="{FF2B5EF4-FFF2-40B4-BE49-F238E27FC236}">
                <a16:creationId xmlns:a16="http://schemas.microsoft.com/office/drawing/2014/main" xmlns="" id="{B302C3D9-7B31-44F1-B9E2-70238B3E777A}"/>
              </a:ext>
            </a:extLst>
          </p:cNvPr>
          <p:cNvSpPr>
            <a:spLocks noChangeShapeType="1"/>
          </p:cNvSpPr>
          <p:nvPr/>
        </p:nvSpPr>
        <p:spPr bwMode="gray">
          <a:xfrm flipH="1" flipV="1">
            <a:off x="1678892" y="4650591"/>
            <a:ext cx="163217" cy="34363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Line 66">
            <a:extLst>
              <a:ext uri="{FF2B5EF4-FFF2-40B4-BE49-F238E27FC236}">
                <a16:creationId xmlns:a16="http://schemas.microsoft.com/office/drawing/2014/main" xmlns="" id="{0F28E5DE-69EC-408E-A2EC-39A3CB594948}"/>
              </a:ext>
            </a:extLst>
          </p:cNvPr>
          <p:cNvSpPr>
            <a:spLocks noChangeShapeType="1"/>
          </p:cNvSpPr>
          <p:nvPr/>
        </p:nvSpPr>
        <p:spPr bwMode="gray">
          <a:xfrm flipH="1" flipV="1">
            <a:off x="2669032" y="4650591"/>
            <a:ext cx="163217" cy="34363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Line 66">
            <a:extLst>
              <a:ext uri="{FF2B5EF4-FFF2-40B4-BE49-F238E27FC236}">
                <a16:creationId xmlns:a16="http://schemas.microsoft.com/office/drawing/2014/main" xmlns="" id="{3B20CE9C-3334-4978-8CC7-78CE66917C36}"/>
              </a:ext>
            </a:extLst>
          </p:cNvPr>
          <p:cNvSpPr>
            <a:spLocks noChangeShapeType="1"/>
          </p:cNvSpPr>
          <p:nvPr/>
        </p:nvSpPr>
        <p:spPr bwMode="gray">
          <a:xfrm flipH="1" flipV="1">
            <a:off x="3406170" y="4642017"/>
            <a:ext cx="163217" cy="343632"/>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Line 74">
            <a:extLst>
              <a:ext uri="{FF2B5EF4-FFF2-40B4-BE49-F238E27FC236}">
                <a16:creationId xmlns:a16="http://schemas.microsoft.com/office/drawing/2014/main" xmlns="" id="{EF82503D-67C1-479A-8648-B752D6F3E946}"/>
              </a:ext>
            </a:extLst>
          </p:cNvPr>
          <p:cNvSpPr>
            <a:spLocks noChangeShapeType="1"/>
          </p:cNvSpPr>
          <p:nvPr/>
        </p:nvSpPr>
        <p:spPr bwMode="gray">
          <a:xfrm flipV="1">
            <a:off x="1766690" y="3459843"/>
            <a:ext cx="539904" cy="0"/>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50" descr="internet-蓝.png">
            <a:extLst>
              <a:ext uri="{FF2B5EF4-FFF2-40B4-BE49-F238E27FC236}">
                <a16:creationId xmlns:a16="http://schemas.microsoft.com/office/drawing/2014/main" xmlns="" id="{F46E577A-5465-4109-B06F-3A939B6DBADD}"/>
              </a:ext>
            </a:extLst>
          </p:cNvPr>
          <p:cNvPicPr>
            <a:picLocks noChangeAspect="1"/>
          </p:cNvPicPr>
          <p:nvPr/>
        </p:nvPicPr>
        <p:blipFill>
          <a:blip r:embed="rId3" cstate="print"/>
          <a:stretch>
            <a:fillRect/>
          </a:stretch>
        </p:blipFill>
        <p:spPr bwMode="gray">
          <a:xfrm>
            <a:off x="2135602" y="2709167"/>
            <a:ext cx="880893" cy="408433"/>
          </a:xfrm>
          <a:prstGeom prst="rect">
            <a:avLst/>
          </a:prstGeom>
        </p:spPr>
      </p:pic>
      <p:sp>
        <p:nvSpPr>
          <p:cNvPr id="52" name="Line 74">
            <a:extLst>
              <a:ext uri="{FF2B5EF4-FFF2-40B4-BE49-F238E27FC236}">
                <a16:creationId xmlns:a16="http://schemas.microsoft.com/office/drawing/2014/main" xmlns="" id="{EF6A69F5-38AF-453C-96E7-09DC8221A2E4}"/>
              </a:ext>
            </a:extLst>
          </p:cNvPr>
          <p:cNvSpPr>
            <a:spLocks noChangeShapeType="1"/>
          </p:cNvSpPr>
          <p:nvPr/>
        </p:nvSpPr>
        <p:spPr bwMode="gray">
          <a:xfrm flipV="1">
            <a:off x="2536577" y="3052824"/>
            <a:ext cx="36261" cy="257861"/>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Line 66">
            <a:extLst>
              <a:ext uri="{FF2B5EF4-FFF2-40B4-BE49-F238E27FC236}">
                <a16:creationId xmlns:a16="http://schemas.microsoft.com/office/drawing/2014/main" xmlns="" id="{CFAE6F2E-AB73-40EB-A136-7E69163EE609}"/>
              </a:ext>
            </a:extLst>
          </p:cNvPr>
          <p:cNvSpPr>
            <a:spLocks noChangeShapeType="1"/>
          </p:cNvSpPr>
          <p:nvPr/>
        </p:nvSpPr>
        <p:spPr bwMode="gray">
          <a:xfrm flipH="1" flipV="1">
            <a:off x="2588861" y="3458623"/>
            <a:ext cx="273265" cy="289214"/>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Rectangle 47">
            <a:extLst>
              <a:ext uri="{FF2B5EF4-FFF2-40B4-BE49-F238E27FC236}">
                <a16:creationId xmlns:a16="http://schemas.microsoft.com/office/drawing/2014/main" xmlns="" id="{46127EEB-7250-4473-8C73-B9037B5AA08C}"/>
              </a:ext>
            </a:extLst>
          </p:cNvPr>
          <p:cNvSpPr>
            <a:spLocks noChangeArrowheads="1"/>
          </p:cNvSpPr>
          <p:nvPr/>
        </p:nvSpPr>
        <p:spPr bwMode="gray">
          <a:xfrm>
            <a:off x="768095" y="3310434"/>
            <a:ext cx="995569" cy="184667"/>
          </a:xfrm>
          <a:prstGeom prst="rect">
            <a:avLst/>
          </a:prstGeom>
          <a:noFill/>
          <a:ln w="9525">
            <a:solidFill>
              <a:srgbClr val="56C4D2"/>
            </a:solidFill>
            <a:miter lim="800000"/>
            <a:headEnd/>
            <a:tailEnd/>
          </a:ln>
        </p:spPr>
        <p:txBody>
          <a:bodyPr vert="horz" wrap="square" lIns="0" tIns="0" rIns="0" bIns="0" numCol="1" anchor="t" anchorCtr="0" compatLnSpc="1">
            <a:prstTxWarp prst="textNoShape">
              <a:avLst/>
            </a:prstTxWarp>
            <a:spAutoFit/>
          </a:bodyPr>
          <a:lstStyle/>
          <a:p>
            <a:pPr algn="ctr" defTabSz="914400" fontAlgn="base">
              <a:spcBef>
                <a:spcPct val="0"/>
              </a:spcBef>
              <a:spcAft>
                <a:spcPct val="0"/>
              </a:spcAft>
            </a:pPr>
            <a:r>
              <a:rPr lang="en-US" altLang="zh-CN"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LADP</a:t>
            </a:r>
            <a:r>
              <a:rPr lang="zh-CN" altLang="en-US"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服务器</a:t>
            </a:r>
          </a:p>
        </p:txBody>
      </p:sp>
      <p:sp>
        <p:nvSpPr>
          <p:cNvPr id="56" name="Rectangle 47">
            <a:extLst>
              <a:ext uri="{FF2B5EF4-FFF2-40B4-BE49-F238E27FC236}">
                <a16:creationId xmlns:a16="http://schemas.microsoft.com/office/drawing/2014/main" xmlns="" id="{5B10F02A-07EA-4540-9D50-AFCEB3325A97}"/>
              </a:ext>
            </a:extLst>
          </p:cNvPr>
          <p:cNvSpPr>
            <a:spLocks noChangeArrowheads="1"/>
          </p:cNvSpPr>
          <p:nvPr/>
        </p:nvSpPr>
        <p:spPr bwMode="gray">
          <a:xfrm>
            <a:off x="768095" y="3598466"/>
            <a:ext cx="995569" cy="184667"/>
          </a:xfrm>
          <a:prstGeom prst="rect">
            <a:avLst/>
          </a:prstGeom>
          <a:noFill/>
          <a:ln w="9525">
            <a:solidFill>
              <a:srgbClr val="56C4D2"/>
            </a:solidFill>
            <a:miter lim="800000"/>
            <a:headEnd/>
            <a:tailEnd/>
          </a:ln>
        </p:spPr>
        <p:txBody>
          <a:bodyPr vert="horz" wrap="square" lIns="0" tIns="0" rIns="0" bIns="0" numCol="1" anchor="t" anchorCtr="0" compatLnSpc="1">
            <a:prstTxWarp prst="textNoShape">
              <a:avLst/>
            </a:prstTxWarp>
            <a:spAutoFit/>
          </a:bodyPr>
          <a:lstStyle/>
          <a:p>
            <a:pPr algn="ctr" defTabSz="914400" fontAlgn="base">
              <a:spcBef>
                <a:spcPct val="0"/>
              </a:spcBef>
              <a:spcAft>
                <a:spcPct val="0"/>
              </a:spcAft>
            </a:pPr>
            <a:r>
              <a:rPr lang="en-US" altLang="zh-CN"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DHCP</a:t>
            </a:r>
            <a:r>
              <a:rPr lang="zh-CN" altLang="en-US"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服务器</a:t>
            </a:r>
          </a:p>
        </p:txBody>
      </p:sp>
      <p:sp>
        <p:nvSpPr>
          <p:cNvPr id="57" name="圆角矩形 154">
            <a:extLst>
              <a:ext uri="{FF2B5EF4-FFF2-40B4-BE49-F238E27FC236}">
                <a16:creationId xmlns:a16="http://schemas.microsoft.com/office/drawing/2014/main" xmlns="" id="{D977491F-EDFA-4D8E-8BFF-321A73CF8A9D}"/>
              </a:ext>
            </a:extLst>
          </p:cNvPr>
          <p:cNvSpPr/>
          <p:nvPr/>
        </p:nvSpPr>
        <p:spPr bwMode="gray">
          <a:xfrm>
            <a:off x="3278774" y="2895326"/>
            <a:ext cx="1261461" cy="1043122"/>
          </a:xfrm>
          <a:prstGeom prst="roundRect">
            <a:avLst>
              <a:gd name="adj" fmla="val 11180"/>
            </a:avLst>
          </a:prstGeom>
          <a:solidFill>
            <a:srgbClr val="00B0F0">
              <a:alpha val="0"/>
            </a:srgbClr>
          </a:solidFill>
          <a:ln>
            <a:solidFill>
              <a:schemeClr val="bg1">
                <a:lumMod val="75000"/>
              </a:schemeClr>
            </a:solidFill>
          </a:ln>
          <a:effectLst/>
        </p:spPr>
        <p:txBody>
          <a:bodyPr vert="horz" wrap="square" lIns="91438" tIns="45719" rIns="91438" bIns="45719" numCol="1" rtlCol="0" anchor="t" anchorCtr="0" compatLnSpc="1">
            <a:prstTxWarp prst="textNoShape">
              <a:avLst/>
            </a:prstTxWarp>
          </a:bodyPr>
          <a:lstStyle/>
          <a:p>
            <a:pPr defTabSz="914400" fontAlgn="base">
              <a:spcBef>
                <a:spcPct val="0"/>
              </a:spcBef>
              <a:spcAft>
                <a:spcPct val="0"/>
              </a:spcAft>
              <a:buClr>
                <a:srgbClr val="CC9900"/>
              </a:buClr>
              <a:buFont typeface="Wingdings" pitchFamily="2" charset="2"/>
              <a:buChar char="n"/>
              <a:defRPr/>
            </a:pPr>
            <a:endParaRPr lang="zh-CN" altLang="en-US" sz="105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Rectangle 47">
            <a:extLst>
              <a:ext uri="{FF2B5EF4-FFF2-40B4-BE49-F238E27FC236}">
                <a16:creationId xmlns:a16="http://schemas.microsoft.com/office/drawing/2014/main" xmlns="" id="{D72922AC-EE22-4A6A-8199-48C6A63B3D89}"/>
              </a:ext>
            </a:extLst>
          </p:cNvPr>
          <p:cNvSpPr>
            <a:spLocks noChangeArrowheads="1"/>
          </p:cNvSpPr>
          <p:nvPr/>
        </p:nvSpPr>
        <p:spPr bwMode="gray">
          <a:xfrm>
            <a:off x="3374989" y="3036151"/>
            <a:ext cx="1042156" cy="184666"/>
          </a:xfrm>
          <a:prstGeom prst="rect">
            <a:avLst/>
          </a:prstGeom>
          <a:noFill/>
          <a:ln w="9525">
            <a:solidFill>
              <a:srgbClr val="56C4D2"/>
            </a:solidFill>
            <a:miter lim="800000"/>
            <a:headEnd/>
            <a:tailEnd/>
          </a:ln>
        </p:spPr>
        <p:txBody>
          <a:bodyPr vert="horz" wrap="square" lIns="0" tIns="0" rIns="0" bIns="0" numCol="1" anchor="t" anchorCtr="0" compatLnSpc="1">
            <a:prstTxWarp prst="textNoShape">
              <a:avLst/>
            </a:prstTxWarp>
            <a:spAutoFit/>
          </a:bodyPr>
          <a:lstStyle/>
          <a:p>
            <a:pPr defTabSz="914400" fontAlgn="base">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地图</a:t>
            </a:r>
            <a:r>
              <a:rPr lang="en-US" altLang="zh-CN"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BI</a:t>
            </a:r>
            <a:r>
              <a:rPr lang="zh-CN" altLang="en-US"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服务器</a:t>
            </a:r>
          </a:p>
        </p:txBody>
      </p:sp>
      <p:sp>
        <p:nvSpPr>
          <p:cNvPr id="59" name="Rectangle 47">
            <a:extLst>
              <a:ext uri="{FF2B5EF4-FFF2-40B4-BE49-F238E27FC236}">
                <a16:creationId xmlns:a16="http://schemas.microsoft.com/office/drawing/2014/main" xmlns="" id="{6E8B6956-4B9C-44E0-AC54-708587E801C3}"/>
              </a:ext>
            </a:extLst>
          </p:cNvPr>
          <p:cNvSpPr>
            <a:spLocks noChangeArrowheads="1"/>
          </p:cNvSpPr>
          <p:nvPr/>
        </p:nvSpPr>
        <p:spPr bwMode="gray">
          <a:xfrm>
            <a:off x="3356992" y="3310436"/>
            <a:ext cx="1120832" cy="184666"/>
          </a:xfrm>
          <a:prstGeom prst="rect">
            <a:avLst/>
          </a:prstGeom>
          <a:noFill/>
          <a:ln w="9525">
            <a:solidFill>
              <a:srgbClr val="56C4D2"/>
            </a:solidFill>
            <a:miter lim="800000"/>
            <a:headEnd/>
            <a:tailEnd/>
          </a:ln>
        </p:spPr>
        <p:txBody>
          <a:bodyPr vert="horz" wrap="square" lIns="0" tIns="0" rIns="0" bIns="0" numCol="1" anchor="t" anchorCtr="0" compatLnSpc="1">
            <a:prstTxWarp prst="textNoShape">
              <a:avLst/>
            </a:prstTxWarp>
            <a:spAutoFit/>
          </a:bodyPr>
          <a:lstStyle/>
          <a:p>
            <a:pPr defTabSz="914400" fontAlgn="base">
              <a:spcBef>
                <a:spcPct val="0"/>
              </a:spcBef>
              <a:spcAft>
                <a:spcPct val="0"/>
              </a:spcAft>
            </a:pPr>
            <a:r>
              <a:rPr lang="en-US" altLang="zh-CN"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TAG</a:t>
            </a:r>
            <a:r>
              <a:rPr lang="zh-CN" altLang="en-US"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定位服务器</a:t>
            </a:r>
          </a:p>
        </p:txBody>
      </p:sp>
      <p:sp>
        <p:nvSpPr>
          <p:cNvPr id="60" name="Rectangle 47">
            <a:extLst>
              <a:ext uri="{FF2B5EF4-FFF2-40B4-BE49-F238E27FC236}">
                <a16:creationId xmlns:a16="http://schemas.microsoft.com/office/drawing/2014/main" xmlns="" id="{2DC0172B-86E1-41CA-AC3C-29DC6328C466}"/>
              </a:ext>
            </a:extLst>
          </p:cNvPr>
          <p:cNvSpPr>
            <a:spLocks noChangeArrowheads="1"/>
          </p:cNvSpPr>
          <p:nvPr/>
        </p:nvSpPr>
        <p:spPr bwMode="gray">
          <a:xfrm>
            <a:off x="3340042" y="3598468"/>
            <a:ext cx="1120832" cy="184666"/>
          </a:xfrm>
          <a:prstGeom prst="rect">
            <a:avLst/>
          </a:prstGeom>
          <a:noFill/>
          <a:ln w="9525">
            <a:solidFill>
              <a:srgbClr val="56C4D2"/>
            </a:solidFill>
            <a:miter lim="800000"/>
            <a:headEnd/>
            <a:tailEnd/>
          </a:ln>
        </p:spPr>
        <p:txBody>
          <a:bodyPr vert="horz" wrap="square" lIns="0" tIns="0" rIns="0" bIns="0" numCol="1" anchor="t" anchorCtr="0" compatLnSpc="1">
            <a:prstTxWarp prst="textNoShape">
              <a:avLst/>
            </a:prstTxWarp>
            <a:spAutoFit/>
          </a:bodyPr>
          <a:lstStyle/>
          <a:p>
            <a:pPr defTabSz="914400" fontAlgn="base">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宋体" pitchFamily="2" charset="-122"/>
                <a:sym typeface="Huawei Sans" panose="020C0503030203020204" pitchFamily="34" charset="0"/>
              </a:rPr>
              <a:t>终端定位服务器</a:t>
            </a:r>
          </a:p>
        </p:txBody>
      </p:sp>
      <p:sp>
        <p:nvSpPr>
          <p:cNvPr id="61" name="文本框 60">
            <a:extLst>
              <a:ext uri="{FF2B5EF4-FFF2-40B4-BE49-F238E27FC236}">
                <a16:creationId xmlns:a16="http://schemas.microsoft.com/office/drawing/2014/main" xmlns="" id="{7649A9A4-358B-40E5-B19B-871373C603CE}"/>
              </a:ext>
            </a:extLst>
          </p:cNvPr>
          <p:cNvSpPr txBox="1"/>
          <p:nvPr/>
        </p:nvSpPr>
        <p:spPr bwMode="gray">
          <a:xfrm>
            <a:off x="1710602" y="4739604"/>
            <a:ext cx="807493" cy="461665"/>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AP4030TN</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62">
            <a:extLst>
              <a:ext uri="{FF2B5EF4-FFF2-40B4-BE49-F238E27FC236}">
                <a16:creationId xmlns:a16="http://schemas.microsoft.com/office/drawing/2014/main" xmlns="" id="{02993CE5-F974-445A-B2E6-BA9A1578C79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653805" y="5365455"/>
            <a:ext cx="293651" cy="399702"/>
          </a:xfrm>
          <a:prstGeom prst="rect">
            <a:avLst/>
          </a:prstGeom>
        </p:spPr>
      </p:pic>
      <p:pic>
        <p:nvPicPr>
          <p:cNvPr id="64" name="图片 63">
            <a:extLst>
              <a:ext uri="{FF2B5EF4-FFF2-40B4-BE49-F238E27FC236}">
                <a16:creationId xmlns:a16="http://schemas.microsoft.com/office/drawing/2014/main" xmlns="" id="{4B61CBAB-D0B7-44A3-ABE4-9AD00D975380}"/>
              </a:ext>
            </a:extLst>
          </p:cNvPr>
          <p:cNvPicPr>
            <a:picLocks noChangeAspect="1"/>
          </p:cNvPicPr>
          <p:nvPr/>
        </p:nvPicPr>
        <p:blipFill>
          <a:blip r:embed="rId5"/>
          <a:stretch>
            <a:fillRect/>
          </a:stretch>
        </p:blipFill>
        <p:spPr bwMode="gray">
          <a:xfrm>
            <a:off x="999822" y="5411417"/>
            <a:ext cx="159277" cy="218805"/>
          </a:xfrm>
          <a:prstGeom prst="rect">
            <a:avLst/>
          </a:prstGeom>
          <a:effectLst/>
        </p:spPr>
      </p:pic>
      <p:pic>
        <p:nvPicPr>
          <p:cNvPr id="65" name="图片 64">
            <a:extLst>
              <a:ext uri="{FF2B5EF4-FFF2-40B4-BE49-F238E27FC236}">
                <a16:creationId xmlns:a16="http://schemas.microsoft.com/office/drawing/2014/main" xmlns="" id="{CD94043E-7373-4B4E-B31B-C7220E34AFFB}"/>
              </a:ext>
            </a:extLst>
          </p:cNvPr>
          <p:cNvPicPr>
            <a:picLocks noChangeAspect="1"/>
          </p:cNvPicPr>
          <p:nvPr/>
        </p:nvPicPr>
        <p:blipFill>
          <a:blip r:embed="rId5"/>
          <a:stretch>
            <a:fillRect/>
          </a:stretch>
        </p:blipFill>
        <p:spPr bwMode="gray">
          <a:xfrm>
            <a:off x="3177361" y="5387948"/>
            <a:ext cx="183473" cy="252044"/>
          </a:xfrm>
          <a:prstGeom prst="rect">
            <a:avLst/>
          </a:prstGeom>
          <a:effectLst/>
        </p:spPr>
      </p:pic>
      <p:pic>
        <p:nvPicPr>
          <p:cNvPr id="66" name="图片 65">
            <a:extLst>
              <a:ext uri="{FF2B5EF4-FFF2-40B4-BE49-F238E27FC236}">
                <a16:creationId xmlns:a16="http://schemas.microsoft.com/office/drawing/2014/main" xmlns="" id="{15AA7CB0-6A3B-43B2-8FBE-B61C56BA547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502177" y="5364979"/>
            <a:ext cx="293651" cy="408160"/>
          </a:xfrm>
          <a:prstGeom prst="rect">
            <a:avLst/>
          </a:prstGeom>
        </p:spPr>
      </p:pic>
      <p:sp>
        <p:nvSpPr>
          <p:cNvPr id="67" name="矩形 66">
            <a:extLst>
              <a:ext uri="{FF2B5EF4-FFF2-40B4-BE49-F238E27FC236}">
                <a16:creationId xmlns:a16="http://schemas.microsoft.com/office/drawing/2014/main" xmlns="" id="{8A469DE8-115C-4C53-BC0D-FE83E067DED9}"/>
              </a:ext>
            </a:extLst>
          </p:cNvPr>
          <p:cNvSpPr/>
          <p:nvPr/>
        </p:nvSpPr>
        <p:spPr bwMode="gray">
          <a:xfrm>
            <a:off x="1394493" y="5757676"/>
            <a:ext cx="898003" cy="276999"/>
          </a:xfrm>
          <a:prstGeom prst="rect">
            <a:avLst/>
          </a:prstGeom>
        </p:spPr>
        <p:txBody>
          <a:bodyPr wrap="none">
            <a:spAutoFit/>
          </a:bodyPr>
          <a:lstStyle/>
          <a:p>
            <a:pPr>
              <a:spcBef>
                <a:spcPct val="50000"/>
              </a:spcBef>
            </a:pP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Wi-Fi TAG</a:t>
            </a:r>
          </a:p>
        </p:txBody>
      </p:sp>
      <p:sp>
        <p:nvSpPr>
          <p:cNvPr id="68" name="矩形 67">
            <a:extLst>
              <a:ext uri="{FF2B5EF4-FFF2-40B4-BE49-F238E27FC236}">
                <a16:creationId xmlns:a16="http://schemas.microsoft.com/office/drawing/2014/main" xmlns="" id="{EBF12627-E7B6-466E-9477-D14E040E001B}"/>
              </a:ext>
            </a:extLst>
          </p:cNvPr>
          <p:cNvSpPr/>
          <p:nvPr/>
        </p:nvSpPr>
        <p:spPr bwMode="gray">
          <a:xfrm>
            <a:off x="2306594" y="5774399"/>
            <a:ext cx="898003" cy="276999"/>
          </a:xfrm>
          <a:prstGeom prst="rect">
            <a:avLst/>
          </a:prstGeom>
        </p:spPr>
        <p:txBody>
          <a:bodyPr wrap="none">
            <a:spAutoFit/>
          </a:bodyPr>
          <a:lstStyle/>
          <a:p>
            <a:pPr>
              <a:spcBef>
                <a:spcPct val="50000"/>
              </a:spcBef>
            </a:pP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Wi-Fi TAG</a:t>
            </a:r>
          </a:p>
        </p:txBody>
      </p:sp>
      <p:sp>
        <p:nvSpPr>
          <p:cNvPr id="74" name="文本框 73">
            <a:extLst>
              <a:ext uri="{FF2B5EF4-FFF2-40B4-BE49-F238E27FC236}">
                <a16:creationId xmlns:a16="http://schemas.microsoft.com/office/drawing/2014/main" xmlns="" id="{26FF0F33-46E6-4480-A015-482EBFF54743}"/>
              </a:ext>
            </a:extLst>
          </p:cNvPr>
          <p:cNvSpPr txBox="1"/>
          <p:nvPr/>
        </p:nvSpPr>
        <p:spPr bwMode="gray">
          <a:xfrm>
            <a:off x="2634995" y="3435682"/>
            <a:ext cx="915450"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AC6605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Line 74">
            <a:extLst>
              <a:ext uri="{FF2B5EF4-FFF2-40B4-BE49-F238E27FC236}">
                <a16:creationId xmlns:a16="http://schemas.microsoft.com/office/drawing/2014/main" xmlns="" id="{628E392E-A598-4983-A4E8-7A86C12405FD}"/>
              </a:ext>
            </a:extLst>
          </p:cNvPr>
          <p:cNvSpPr>
            <a:spLocks noChangeShapeType="1"/>
          </p:cNvSpPr>
          <p:nvPr/>
        </p:nvSpPr>
        <p:spPr bwMode="gray">
          <a:xfrm flipV="1">
            <a:off x="2588862" y="3365229"/>
            <a:ext cx="689912" cy="66167"/>
          </a:xfrm>
          <a:prstGeom prst="line">
            <a:avLst/>
          </a:prstGeom>
          <a:noFill/>
          <a:ln w="10" cap="flat">
            <a:solidFill>
              <a:srgbClr val="18385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6" name="图片 75"/>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907208" y="3885633"/>
            <a:ext cx="319232" cy="262612"/>
          </a:xfrm>
          <a:prstGeom prst="rect">
            <a:avLst/>
          </a:prstGeom>
        </p:spPr>
      </p:pic>
      <p:pic>
        <p:nvPicPr>
          <p:cNvPr id="77" name="图片 76"/>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785704" y="3885633"/>
            <a:ext cx="319232" cy="262612"/>
          </a:xfrm>
          <a:prstGeom prst="rect">
            <a:avLst/>
          </a:prstGeom>
        </p:spPr>
      </p:pic>
      <p:pic>
        <p:nvPicPr>
          <p:cNvPr id="78" name="图片 77"/>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2333714" y="3291907"/>
            <a:ext cx="360669" cy="271695"/>
          </a:xfrm>
          <a:prstGeom prst="rect">
            <a:avLst/>
          </a:prstGeom>
        </p:spPr>
      </p:pic>
      <p:pic>
        <p:nvPicPr>
          <p:cNvPr id="81" name="图片 80"/>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1156106" y="4994223"/>
            <a:ext cx="253614" cy="227475"/>
          </a:xfrm>
          <a:prstGeom prst="rect">
            <a:avLst/>
          </a:prstGeom>
        </p:spPr>
      </p:pic>
      <p:pic>
        <p:nvPicPr>
          <p:cNvPr id="82" name="图片 81"/>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2172902" y="5000459"/>
            <a:ext cx="253614" cy="227475"/>
          </a:xfrm>
          <a:prstGeom prst="rect">
            <a:avLst/>
          </a:prstGeom>
        </p:spPr>
      </p:pic>
      <p:pic>
        <p:nvPicPr>
          <p:cNvPr id="83" name="图片 82"/>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1722118" y="4994223"/>
            <a:ext cx="253614" cy="227475"/>
          </a:xfrm>
          <a:prstGeom prst="rect">
            <a:avLst/>
          </a:prstGeom>
        </p:spPr>
      </p:pic>
      <p:pic>
        <p:nvPicPr>
          <p:cNvPr id="84" name="图片 83"/>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2703826" y="5005326"/>
            <a:ext cx="253614" cy="227475"/>
          </a:xfrm>
          <a:prstGeom prst="rect">
            <a:avLst/>
          </a:prstGeom>
        </p:spPr>
      </p:pic>
      <p:pic>
        <p:nvPicPr>
          <p:cNvPr id="85" name="图片 84"/>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3119132" y="4988643"/>
            <a:ext cx="253614" cy="227475"/>
          </a:xfrm>
          <a:prstGeom prst="rect">
            <a:avLst/>
          </a:prstGeom>
        </p:spPr>
      </p:pic>
      <p:pic>
        <p:nvPicPr>
          <p:cNvPr id="86" name="图片 85"/>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3503678" y="4988579"/>
            <a:ext cx="253614" cy="227475"/>
          </a:xfrm>
          <a:prstGeom prst="rect">
            <a:avLst/>
          </a:prstGeom>
        </p:spPr>
      </p:pic>
      <p:pic>
        <p:nvPicPr>
          <p:cNvPr id="89" name="图片 88"/>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1514571" y="4452902"/>
            <a:ext cx="318826" cy="242195"/>
          </a:xfrm>
          <a:prstGeom prst="rect">
            <a:avLst/>
          </a:prstGeom>
        </p:spPr>
      </p:pic>
      <p:pic>
        <p:nvPicPr>
          <p:cNvPr id="91" name="图片 90"/>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2502177" y="4434488"/>
            <a:ext cx="318826" cy="242195"/>
          </a:xfrm>
          <a:prstGeom prst="rect">
            <a:avLst/>
          </a:prstGeom>
        </p:spPr>
      </p:pic>
      <p:pic>
        <p:nvPicPr>
          <p:cNvPr id="92" name="图片 91"/>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3174027" y="4445611"/>
            <a:ext cx="318826" cy="242195"/>
          </a:xfrm>
          <a:prstGeom prst="rect">
            <a:avLst/>
          </a:prstGeom>
        </p:spPr>
      </p:pic>
      <p:pic>
        <p:nvPicPr>
          <p:cNvPr id="93" name="图片 92"/>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2166120" y="4441093"/>
            <a:ext cx="318826" cy="242195"/>
          </a:xfrm>
          <a:prstGeom prst="rect">
            <a:avLst/>
          </a:prstGeom>
        </p:spPr>
      </p:pic>
      <p:sp>
        <p:nvSpPr>
          <p:cNvPr id="88" name="矩形 87">
            <a:extLst>
              <a:ext uri="{FF2B5EF4-FFF2-40B4-BE49-F238E27FC236}">
                <a16:creationId xmlns:a16="http://schemas.microsoft.com/office/drawing/2014/main" xmlns="" id="{0C2DD8B0-1C38-4FE6-B4F1-C085AE4F01D8}"/>
              </a:ext>
            </a:extLst>
          </p:cNvPr>
          <p:cNvSpPr/>
          <p:nvPr/>
        </p:nvSpPr>
        <p:spPr bwMode="gray">
          <a:xfrm>
            <a:off x="6442512" y="1616125"/>
            <a:ext cx="598241" cy="338554"/>
          </a:xfrm>
          <a:prstGeom prst="rect">
            <a:avLst/>
          </a:prstGeom>
        </p:spPr>
        <p:txBody>
          <a:bodyPr wrap="none">
            <a:spAutoFit/>
          </a:bodyPr>
          <a:lstStyle/>
          <a:p>
            <a:r>
              <a:rPr lang="zh-CN" altLang="en-US" sz="1600" b="1" u="sng" dirty="0">
                <a:latin typeface="Huawei Sans" panose="020C0503030203020204" pitchFamily="34" charset="0"/>
                <a:ea typeface="方正兰亭黑简体" panose="02000000000000000000" pitchFamily="2" charset="-122"/>
                <a:sym typeface="Huawei Sans" panose="020C0503030203020204" pitchFamily="34" charset="0"/>
              </a:rPr>
              <a:t>挑战</a:t>
            </a:r>
            <a:endParaRPr lang="zh-CN" altLang="en-US" sz="1600" u="sng"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矩形 93">
            <a:extLst>
              <a:ext uri="{FF2B5EF4-FFF2-40B4-BE49-F238E27FC236}">
                <a16:creationId xmlns:a16="http://schemas.microsoft.com/office/drawing/2014/main" xmlns="" id="{E5F26979-4E6D-4ED3-8F93-B8A4F3B3C731}"/>
              </a:ext>
            </a:extLst>
          </p:cNvPr>
          <p:cNvSpPr/>
          <p:nvPr/>
        </p:nvSpPr>
        <p:spPr bwMode="gray">
          <a:xfrm>
            <a:off x="844266" y="1616123"/>
            <a:ext cx="598241" cy="338554"/>
          </a:xfrm>
          <a:prstGeom prst="rect">
            <a:avLst/>
          </a:prstGeom>
        </p:spPr>
        <p:txBody>
          <a:bodyPr wrap="none">
            <a:spAutoFit/>
          </a:bodyPr>
          <a:lstStyle/>
          <a:p>
            <a:r>
              <a:rPr lang="zh-CN" altLang="en-US" sz="1600" b="1" u="sng">
                <a:latin typeface="Huawei Sans" panose="020C0503030203020204" pitchFamily="34" charset="0"/>
                <a:ea typeface="方正兰亭黑简体" panose="02000000000000000000" pitchFamily="2" charset="-122"/>
                <a:sym typeface="Huawei Sans" panose="020C0503030203020204" pitchFamily="34" charset="0"/>
              </a:rPr>
              <a:t>背景</a:t>
            </a:r>
            <a:endParaRPr lang="zh-CN" altLang="en-US" sz="1600" u="sng"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9" name="图片 78"/>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2870442" y="3657630"/>
            <a:ext cx="196096" cy="148964"/>
          </a:xfrm>
          <a:prstGeom prst="rect">
            <a:avLst/>
          </a:prstGeom>
        </p:spPr>
      </p:pic>
    </p:spTree>
    <p:extLst>
      <p:ext uri="{BB962C8B-B14F-4D97-AF65-F5344CB8AC3E}">
        <p14:creationId xmlns:p14="http://schemas.microsoft.com/office/powerpoint/2010/main" val="11381409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Freeform 159"/>
          <p:cNvSpPr/>
          <p:nvPr/>
        </p:nvSpPr>
        <p:spPr bwMode="gray">
          <a:xfrm flipH="1">
            <a:off x="1112719" y="3085470"/>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a:extLst>
              <a:ext uri="{FF2B5EF4-FFF2-40B4-BE49-F238E27FC236}">
                <a16:creationId xmlns:a16="http://schemas.microsoft.com/office/drawing/2014/main" xmlns="" id="{FCC30910-F4BF-46A0-8F9A-0669A348B261}"/>
              </a:ext>
            </a:extLst>
          </p:cNvPr>
          <p:cNvSpPr/>
          <p:nvPr/>
        </p:nvSpPr>
        <p:spPr bwMode="gray">
          <a:xfrm>
            <a:off x="4423417" y="2715394"/>
            <a:ext cx="4184250" cy="3253198"/>
          </a:xfrm>
          <a:prstGeom prst="rect">
            <a:avLst/>
          </a:prstGeom>
        </p:spPr>
        <p:txBody>
          <a:bodyPr wrap="square">
            <a:spAutoFit/>
          </a:bodyPr>
          <a:lstStyle/>
          <a:p>
            <a:pPr>
              <a:lnSpc>
                <a:spcPct val="150000"/>
              </a:lnSpc>
              <a:buClr>
                <a:prstClr val="white"/>
              </a:buCl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双网融合</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buClr>
                <a:prstClr val="white"/>
              </a:buCl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通过物联网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AP4050DN-E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内置的物联网插槽实现</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IoT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的融合部署，统一规划。</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buClr>
                <a:prstClr val="white"/>
              </a:buCl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电子价签</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defTabSz="1180943" eaLnBrk="0" hangingPunct="0">
              <a:lnSpc>
                <a:spcPct val="120000"/>
              </a:lnSpc>
              <a:spcBef>
                <a:spcPct val="30000"/>
              </a:spcBef>
              <a:buClr>
                <a:srgbClr val="C00000"/>
              </a:buClr>
              <a:buSzPct val="80000"/>
              <a:tabLst>
                <a:tab pos="622218" algn="l"/>
              </a:tabLst>
              <a:defRP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电子价签对接超市管理和</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系统，动态显示并实现实时变价，并能扫码购、优惠券领取、缺货预警等等交互功能。</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buClr>
                <a:prstClr val="white"/>
              </a:buCl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无线上网</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buClr>
                <a:prstClr val="white"/>
              </a:buCl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AP4050DN-E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提供高品质的无线网络，方便顾客扫码购物或者</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娱乐。</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50000"/>
              </a:lnSpc>
              <a:spcAft>
                <a:spcPts val="600"/>
              </a:spcAft>
              <a:buClr>
                <a:prstClr val="white"/>
              </a:buCl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合作场景及接口</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a:spcAft>
                <a:spcPts val="600"/>
              </a:spcAft>
              <a:buClr>
                <a:prstClr val="white"/>
              </a:buCl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智慧物联：物联插</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卡</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标题 3">
            <a:extLst>
              <a:ext uri="{FF2B5EF4-FFF2-40B4-BE49-F238E27FC236}">
                <a16:creationId xmlns:a16="http://schemas.microsoft.com/office/drawing/2014/main" xmlns="" id="{EF62E03D-0233-4A0E-A234-47940B960A18}"/>
              </a:ext>
            </a:extLst>
          </p:cNvPr>
          <p:cNvSpPr>
            <a:spLocks noGrp="1"/>
          </p:cNvSpPr>
          <p:nvPr>
            <p:ph type="title"/>
          </p:nvPr>
        </p:nvSpPr>
        <p:spPr bwMode="gray"/>
        <p:txBody>
          <a:bodyPr/>
          <a:lstStyle/>
          <a:p>
            <a:r>
              <a:rPr lang="en-US" altLang="zh-CN" smtClean="0">
                <a:sym typeface="Huawei Sans" panose="020C0503030203020204" pitchFamily="34" charset="0"/>
              </a:rPr>
              <a:t>XX</a:t>
            </a:r>
            <a:r>
              <a:rPr lang="zh-CN" altLang="en-US" smtClean="0">
                <a:sym typeface="Huawei Sans" panose="020C0503030203020204" pitchFamily="34" charset="0"/>
              </a:rPr>
              <a:t>超市数字化商超转型</a:t>
            </a:r>
            <a:endParaRPr lang="zh-CN" altLang="en-US">
              <a:sym typeface="Huawei Sans" panose="020C0503030203020204" pitchFamily="34" charset="0"/>
            </a:endParaRPr>
          </a:p>
        </p:txBody>
      </p:sp>
      <p:sp>
        <p:nvSpPr>
          <p:cNvPr id="5" name="矩形 4">
            <a:extLst>
              <a:ext uri="{FF2B5EF4-FFF2-40B4-BE49-F238E27FC236}">
                <a16:creationId xmlns:a16="http://schemas.microsoft.com/office/drawing/2014/main" xmlns="" id="{ABCFAC76-D161-4BEB-A55B-1C7F2BC7BA34}"/>
              </a:ext>
            </a:extLst>
          </p:cNvPr>
          <p:cNvSpPr/>
          <p:nvPr/>
        </p:nvSpPr>
        <p:spPr bwMode="gray">
          <a:xfrm>
            <a:off x="550863" y="1017882"/>
            <a:ext cx="11090276" cy="1656184"/>
          </a:xfrm>
          <a:prstGeom prst="rect">
            <a:avLst/>
          </a:prstGeom>
          <a:noFill/>
          <a:ln w="3175" cap="flat" cmpd="sng" algn="ctr">
            <a:solidFill>
              <a:srgbClr val="56C4D2"/>
            </a:solidFill>
            <a:prstDash val="dash"/>
            <a:round/>
            <a:headEnd type="none" w="med" len="med"/>
            <a:tailEnd type="none" w="med" len="med"/>
          </a:ln>
          <a:effectLst/>
        </p:spPr>
        <p:txBody>
          <a:bodyPr vert="horz" wrap="square" lIns="91461" tIns="45731" rIns="91461" bIns="45731" numCol="1" rtlCol="0" anchor="t" anchorCtr="0" compatLnSpc="1">
            <a:prstTxWarp prst="textNoShape">
              <a:avLst/>
            </a:prstTxWarp>
          </a:bodyPr>
          <a:lstStyle/>
          <a:p>
            <a:pPr algn="ctr" defTabSz="801848"/>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a:extLst>
              <a:ext uri="{FF2B5EF4-FFF2-40B4-BE49-F238E27FC236}">
                <a16:creationId xmlns:a16="http://schemas.microsoft.com/office/drawing/2014/main" xmlns="" id="{A4E6B7C2-81F2-4A07-9524-DA81344E0380}"/>
              </a:ext>
            </a:extLst>
          </p:cNvPr>
          <p:cNvSpPr/>
          <p:nvPr/>
        </p:nvSpPr>
        <p:spPr bwMode="gray">
          <a:xfrm>
            <a:off x="550862" y="2696344"/>
            <a:ext cx="11090277" cy="3456806"/>
          </a:xfrm>
          <a:prstGeom prst="rect">
            <a:avLst/>
          </a:prstGeom>
          <a:noFill/>
          <a:ln w="3175" cap="flat" cmpd="sng" algn="ctr">
            <a:solidFill>
              <a:srgbClr val="56C4D2"/>
            </a:solidFill>
            <a:prstDash val="dash"/>
            <a:round/>
            <a:headEnd type="none" w="med" len="med"/>
            <a:tailEnd type="none" w="med" len="med"/>
          </a:ln>
          <a:effectLst/>
        </p:spPr>
        <p:txBody>
          <a:bodyPr vert="horz" wrap="square" lIns="91461" tIns="45731" rIns="91461" bIns="45731" numCol="1" rtlCol="0" anchor="t" anchorCtr="0" compatLnSpc="1">
            <a:prstTxWarp prst="textNoShape">
              <a:avLst/>
            </a:prstTxWarp>
          </a:bodyPr>
          <a:lstStyle/>
          <a:p>
            <a:pPr algn="ctr" defTabSz="801848"/>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a:extLst>
              <a:ext uri="{FF2B5EF4-FFF2-40B4-BE49-F238E27FC236}">
                <a16:creationId xmlns:a16="http://schemas.microsoft.com/office/drawing/2014/main" xmlns="" id="{D2F49724-B3E5-41D0-9ED5-469BEAA739A2}"/>
              </a:ext>
            </a:extLst>
          </p:cNvPr>
          <p:cNvSpPr/>
          <p:nvPr/>
        </p:nvSpPr>
        <p:spPr bwMode="gray">
          <a:xfrm>
            <a:off x="1677023" y="1284096"/>
            <a:ext cx="3152619" cy="846386"/>
          </a:xfrm>
          <a:prstGeom prst="rect">
            <a:avLst/>
          </a:prstGeom>
        </p:spPr>
        <p:txBody>
          <a:bodyPr wrap="square">
            <a:spAutoFit/>
          </a:bodyPr>
          <a:lstStyle/>
          <a:p>
            <a:pPr marL="177800" indent="-177800">
              <a:spcBef>
                <a:spcPct val="50000"/>
              </a:spcBef>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XX</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超市是国内知名的全国连锁超市</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spcBef>
                <a:spcPct val="50000"/>
              </a:spcBef>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中国企业</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500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强之一，是国家级“流通”及“农业产业化”双龙头企业。</a:t>
            </a:r>
          </a:p>
        </p:txBody>
      </p:sp>
      <p:cxnSp>
        <p:nvCxnSpPr>
          <p:cNvPr id="8" name="直接连接符 7">
            <a:extLst>
              <a:ext uri="{FF2B5EF4-FFF2-40B4-BE49-F238E27FC236}">
                <a16:creationId xmlns:a16="http://schemas.microsoft.com/office/drawing/2014/main" xmlns="" id="{2E490C63-56F2-44C3-94FE-C515B7E89938}"/>
              </a:ext>
            </a:extLst>
          </p:cNvPr>
          <p:cNvCxnSpPr/>
          <p:nvPr/>
        </p:nvCxnSpPr>
        <p:spPr bwMode="gray">
          <a:xfrm>
            <a:off x="6169595" y="1377839"/>
            <a:ext cx="0" cy="936104"/>
          </a:xfrm>
          <a:prstGeom prst="line">
            <a:avLst/>
          </a:prstGeom>
          <a:solidFill>
            <a:schemeClr val="accent1"/>
          </a:solidFill>
          <a:ln w="9525" cap="flat" cmpd="sng" algn="ctr">
            <a:solidFill>
              <a:schemeClr val="accent6">
                <a:lumMod val="60000"/>
                <a:lumOff val="40000"/>
              </a:schemeClr>
            </a:solidFill>
            <a:prstDash val="sysDash"/>
            <a:round/>
            <a:headEnd type="none" w="med" len="med"/>
            <a:tailEnd type="none" w="med" len="med"/>
          </a:ln>
          <a:effectLst/>
        </p:spPr>
      </p:cxnSp>
      <p:sp>
        <p:nvSpPr>
          <p:cNvPr id="9" name="矩形 8">
            <a:extLst>
              <a:ext uri="{FF2B5EF4-FFF2-40B4-BE49-F238E27FC236}">
                <a16:creationId xmlns:a16="http://schemas.microsoft.com/office/drawing/2014/main" xmlns="" id="{E5F26979-4E6D-4ED3-8F93-B8A4F3B3C731}"/>
              </a:ext>
            </a:extLst>
          </p:cNvPr>
          <p:cNvSpPr/>
          <p:nvPr/>
        </p:nvSpPr>
        <p:spPr bwMode="gray">
          <a:xfrm>
            <a:off x="6442512" y="1652380"/>
            <a:ext cx="598241" cy="338554"/>
          </a:xfrm>
          <a:prstGeom prst="rect">
            <a:avLst/>
          </a:prstGeom>
        </p:spPr>
        <p:txBody>
          <a:bodyPr wrap="none">
            <a:spAutoFit/>
          </a:bodyPr>
          <a:lstStyle/>
          <a:p>
            <a:r>
              <a:rPr lang="zh-CN" altLang="en-US" sz="1600" b="1" u="sng" dirty="0">
                <a:latin typeface="Huawei Sans" panose="020C0503030203020204" pitchFamily="34" charset="0"/>
                <a:ea typeface="方正兰亭黑简体" panose="02000000000000000000" pitchFamily="2" charset="-122"/>
                <a:sym typeface="Huawei Sans" panose="020C0503030203020204" pitchFamily="34" charset="0"/>
              </a:rPr>
              <a:t>挑战</a:t>
            </a:r>
            <a:endParaRPr lang="zh-CN" altLang="en-US" sz="1600" u="sng"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 name="直接连接符 9">
            <a:extLst>
              <a:ext uri="{FF2B5EF4-FFF2-40B4-BE49-F238E27FC236}">
                <a16:creationId xmlns:a16="http://schemas.microsoft.com/office/drawing/2014/main" xmlns="" id="{24BE7971-8A0F-4BC5-AE9D-4FB6D2BD0D32}"/>
              </a:ext>
            </a:extLst>
          </p:cNvPr>
          <p:cNvCxnSpPr/>
          <p:nvPr/>
        </p:nvCxnSpPr>
        <p:spPr bwMode="gray">
          <a:xfrm>
            <a:off x="8607667" y="3076087"/>
            <a:ext cx="0" cy="2448272"/>
          </a:xfrm>
          <a:prstGeom prst="line">
            <a:avLst/>
          </a:prstGeom>
          <a:solidFill>
            <a:schemeClr val="accent1"/>
          </a:solidFill>
          <a:ln w="9525" cap="flat" cmpd="sng" algn="ctr">
            <a:solidFill>
              <a:schemeClr val="accent6">
                <a:lumMod val="60000"/>
                <a:lumOff val="40000"/>
              </a:schemeClr>
            </a:solidFill>
            <a:prstDash val="sysDash"/>
            <a:round/>
            <a:headEnd type="none" w="med" len="med"/>
            <a:tailEnd type="none" w="med" len="med"/>
          </a:ln>
          <a:effectLst/>
        </p:spPr>
      </p:cxnSp>
      <p:sp>
        <p:nvSpPr>
          <p:cNvPr id="11" name="文本框 10">
            <a:extLst>
              <a:ext uri="{FF2B5EF4-FFF2-40B4-BE49-F238E27FC236}">
                <a16:creationId xmlns:a16="http://schemas.microsoft.com/office/drawing/2014/main" xmlns="" id="{FB239350-83AC-44A4-9D58-693EC003956D}"/>
              </a:ext>
            </a:extLst>
          </p:cNvPr>
          <p:cNvSpPr txBox="1"/>
          <p:nvPr/>
        </p:nvSpPr>
        <p:spPr bwMode="gray">
          <a:xfrm>
            <a:off x="9109758" y="2829633"/>
            <a:ext cx="1011815" cy="338554"/>
          </a:xfrm>
          <a:prstGeom prst="rect">
            <a:avLst/>
          </a:prstGeom>
          <a:noFill/>
        </p:spPr>
        <p:txBody>
          <a:bodyPr wrap="none" rtlCol="0">
            <a:spAutoFit/>
          </a:bodyPr>
          <a:lstStyle>
            <a:defPPr>
              <a:defRPr lang="zh-CN"/>
            </a:defPPr>
            <a:lvl1pPr>
              <a:defRPr b="1">
                <a:solidFill>
                  <a:schemeClr val="accent6">
                    <a:lumMod val="75000"/>
                  </a:schemeClr>
                </a:solidFill>
                <a:latin typeface="+mn-ea"/>
                <a:ea typeface="+mn-ea"/>
              </a:defRPr>
            </a:lvl1pPr>
          </a:lstStyle>
          <a:p>
            <a:r>
              <a:rPr lang="zh-CN" altLang="en-US" sz="1600" u="sng"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客户价值</a:t>
            </a:r>
            <a:endParaRPr lang="en-US" altLang="zh-CN" sz="1600" u="sng"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a:extLst>
              <a:ext uri="{FF2B5EF4-FFF2-40B4-BE49-F238E27FC236}">
                <a16:creationId xmlns:a16="http://schemas.microsoft.com/office/drawing/2014/main" xmlns="" id="{20FE6AD0-33EB-4463-9CB9-FD88F1E924FC}"/>
              </a:ext>
            </a:extLst>
          </p:cNvPr>
          <p:cNvSpPr/>
          <p:nvPr/>
        </p:nvSpPr>
        <p:spPr bwMode="gray">
          <a:xfrm>
            <a:off x="7354068" y="1124166"/>
            <a:ext cx="4030280" cy="1384995"/>
          </a:xfrm>
          <a:prstGeom prst="rect">
            <a:avLst/>
          </a:prstGeom>
          <a:noFill/>
        </p:spPr>
        <p:txBody>
          <a:bodyPr wrap="square" rtlCol="0">
            <a:spAutoFit/>
          </a:bodyP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marL="285750" indent="-285750" defTabSz="1218835">
              <a:lnSpc>
                <a:spcPct val="150000"/>
              </a:lnSpc>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购物体验</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，提供高质量的无线网络接入，提升客户</a:t>
            </a:r>
            <a:r>
              <a:rPr lang="zh-CN" altLang="en-US" sz="14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购物</a:t>
            </a:r>
            <a:r>
              <a:rPr lang="zh-CN" altLang="en-US" sz="140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体验。</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defTabSz="1218835">
              <a:lnSpc>
                <a:spcPct val="150000"/>
              </a:lnSpc>
              <a:buFont typeface="Arial" panose="020B0604020202020204" pitchFamily="34" charset="0"/>
              <a:buChar char="•"/>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减员增效</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，降低人力、运维等成本投入，提高超市</a:t>
            </a:r>
            <a:r>
              <a:rPr lang="zh-CN" altLang="en-US" sz="14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业务</a:t>
            </a:r>
            <a:r>
              <a:rPr lang="zh-CN" altLang="en-US" sz="140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准确率。</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4" name="直接连接符 13">
            <a:extLst>
              <a:ext uri="{FF2B5EF4-FFF2-40B4-BE49-F238E27FC236}">
                <a16:creationId xmlns:a16="http://schemas.microsoft.com/office/drawing/2014/main" xmlns="" id="{4EE2BE58-B7D8-428E-A1AF-50E30066E89D}"/>
              </a:ext>
            </a:extLst>
          </p:cNvPr>
          <p:cNvCxnSpPr/>
          <p:nvPr/>
        </p:nvCxnSpPr>
        <p:spPr bwMode="gray">
          <a:xfrm>
            <a:off x="4413082" y="3265051"/>
            <a:ext cx="0" cy="2448272"/>
          </a:xfrm>
          <a:prstGeom prst="line">
            <a:avLst/>
          </a:prstGeom>
          <a:solidFill>
            <a:schemeClr val="accent1"/>
          </a:solidFill>
          <a:ln w="9525" cap="flat" cmpd="sng" algn="ctr">
            <a:solidFill>
              <a:schemeClr val="accent6">
                <a:lumMod val="60000"/>
                <a:lumOff val="40000"/>
              </a:schemeClr>
            </a:solidFill>
            <a:prstDash val="sysDash"/>
            <a:round/>
            <a:headEnd type="none" w="med" len="med"/>
            <a:tailEnd type="none" w="med" len="med"/>
          </a:ln>
          <a:effectLst/>
        </p:spPr>
      </p:cxnSp>
      <p:sp>
        <p:nvSpPr>
          <p:cNvPr id="15" name="矩形 14">
            <a:extLst>
              <a:ext uri="{FF2B5EF4-FFF2-40B4-BE49-F238E27FC236}">
                <a16:creationId xmlns:a16="http://schemas.microsoft.com/office/drawing/2014/main" xmlns="" id="{3B352695-ADA0-48A3-AC9B-8DFE009999AB}"/>
              </a:ext>
            </a:extLst>
          </p:cNvPr>
          <p:cNvSpPr/>
          <p:nvPr/>
        </p:nvSpPr>
        <p:spPr bwMode="gray">
          <a:xfrm>
            <a:off x="9382257" y="3436268"/>
            <a:ext cx="1999265" cy="523220"/>
          </a:xfrm>
          <a:prstGeom prst="rect">
            <a:avLst/>
          </a:prstGeom>
        </p:spPr>
        <p:txBody>
          <a:bodyPr wrap="none">
            <a:spAutoFit/>
          </a:bodyPr>
          <a:lstStyle/>
          <a:p>
            <a:pP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融合高质量的</a:t>
            </a: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与物联网</a:t>
            </a:r>
          </a:p>
        </p:txBody>
      </p:sp>
      <p:sp>
        <p:nvSpPr>
          <p:cNvPr id="16" name="椭圆 15">
            <a:extLst>
              <a:ext uri="{FF2B5EF4-FFF2-40B4-BE49-F238E27FC236}">
                <a16:creationId xmlns:a16="http://schemas.microsoft.com/office/drawing/2014/main" xmlns="" id="{ECB9DF35-5C0C-4772-95BA-5A687B32FC59}"/>
              </a:ext>
            </a:extLst>
          </p:cNvPr>
          <p:cNvSpPr/>
          <p:nvPr/>
        </p:nvSpPr>
        <p:spPr bwMode="gray">
          <a:xfrm>
            <a:off x="8867284" y="3491111"/>
            <a:ext cx="360000" cy="360000"/>
          </a:xfrm>
          <a:prstGeom prst="ellipse">
            <a:avLst/>
          </a:prstGeom>
          <a:noFill/>
          <a:ln w="38100">
            <a:noFill/>
          </a:ln>
        </p:spPr>
        <p:txBody>
          <a:bodyPr wrap="none" anchor="ctr">
            <a:noAutofit/>
          </a:bodyPr>
          <a:lstStyle/>
          <a:p>
            <a:pPr algn="ctr" defTabSz="1219444">
              <a:buClr>
                <a:srgbClr val="CC9900"/>
              </a:buCl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融合管理</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a:extLst>
              <a:ext uri="{FF2B5EF4-FFF2-40B4-BE49-F238E27FC236}">
                <a16:creationId xmlns:a16="http://schemas.microsoft.com/office/drawing/2014/main" xmlns="" id="{4B4A848C-326E-407D-9183-55BEC32DCECF}"/>
              </a:ext>
            </a:extLst>
          </p:cNvPr>
          <p:cNvSpPr/>
          <p:nvPr/>
        </p:nvSpPr>
        <p:spPr bwMode="gray">
          <a:xfrm>
            <a:off x="9360515" y="4415057"/>
            <a:ext cx="2006016" cy="307777"/>
          </a:xfrm>
          <a:prstGeom prst="rect">
            <a:avLst/>
          </a:prstGeom>
        </p:spPr>
        <p:txBody>
          <a:bodyPr wrap="square">
            <a:spAutoFit/>
          </a:bodyPr>
          <a:lstStyle/>
          <a:p>
            <a:pP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电子价签智能运营超市</a:t>
            </a:r>
          </a:p>
        </p:txBody>
      </p:sp>
      <p:sp>
        <p:nvSpPr>
          <p:cNvPr id="18" name="椭圆 17">
            <a:extLst>
              <a:ext uri="{FF2B5EF4-FFF2-40B4-BE49-F238E27FC236}">
                <a16:creationId xmlns:a16="http://schemas.microsoft.com/office/drawing/2014/main" xmlns="" id="{229A5B06-42B7-4212-90A1-F5E74C648E63}"/>
              </a:ext>
            </a:extLst>
          </p:cNvPr>
          <p:cNvSpPr/>
          <p:nvPr/>
        </p:nvSpPr>
        <p:spPr bwMode="gray">
          <a:xfrm>
            <a:off x="8872367" y="4355715"/>
            <a:ext cx="360000" cy="360000"/>
          </a:xfrm>
          <a:prstGeom prst="ellipse">
            <a:avLst/>
          </a:prstGeom>
          <a:ln w="38100">
            <a:noFill/>
          </a:ln>
        </p:spPr>
        <p:txBody>
          <a:bodyPr wrap="none" anchor="ctr">
            <a:noAutofit/>
          </a:bodyPr>
          <a:lstStyle/>
          <a:p>
            <a:pPr algn="ctr" defTabSz="1219444">
              <a:buClr>
                <a:srgbClr val="CC9900"/>
              </a:buCl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智慧运营</a:t>
            </a:r>
          </a:p>
        </p:txBody>
      </p:sp>
      <p:sp>
        <p:nvSpPr>
          <p:cNvPr id="19" name="椭圆 18">
            <a:extLst>
              <a:ext uri="{FF2B5EF4-FFF2-40B4-BE49-F238E27FC236}">
                <a16:creationId xmlns:a16="http://schemas.microsoft.com/office/drawing/2014/main" xmlns="" id="{9294FB19-FBFF-464D-957E-1160BA39EC00}"/>
              </a:ext>
            </a:extLst>
          </p:cNvPr>
          <p:cNvSpPr>
            <a:spLocks noChangeAspect="1"/>
          </p:cNvSpPr>
          <p:nvPr/>
        </p:nvSpPr>
        <p:spPr bwMode="gray">
          <a:xfrm>
            <a:off x="8716343" y="3346942"/>
            <a:ext cx="648338" cy="648338"/>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 name="椭圆 19">
            <a:extLst>
              <a:ext uri="{FF2B5EF4-FFF2-40B4-BE49-F238E27FC236}">
                <a16:creationId xmlns:a16="http://schemas.microsoft.com/office/drawing/2014/main" xmlns="" id="{4293F342-5365-47A6-8EE5-122909D91AAA}"/>
              </a:ext>
            </a:extLst>
          </p:cNvPr>
          <p:cNvSpPr>
            <a:spLocks noChangeAspect="1"/>
          </p:cNvSpPr>
          <p:nvPr/>
        </p:nvSpPr>
        <p:spPr bwMode="gray">
          <a:xfrm>
            <a:off x="8720273" y="4211545"/>
            <a:ext cx="679351" cy="679351"/>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 name="矩形 20">
            <a:extLst>
              <a:ext uri="{FF2B5EF4-FFF2-40B4-BE49-F238E27FC236}">
                <a16:creationId xmlns:a16="http://schemas.microsoft.com/office/drawing/2014/main" xmlns="" id="{A70A88F1-F40C-4DA4-B060-5376954FD5BB}"/>
              </a:ext>
            </a:extLst>
          </p:cNvPr>
          <p:cNvSpPr/>
          <p:nvPr/>
        </p:nvSpPr>
        <p:spPr bwMode="gray">
          <a:xfrm>
            <a:off x="9399624" y="5293786"/>
            <a:ext cx="1966907" cy="307777"/>
          </a:xfrm>
          <a:prstGeom prst="rect">
            <a:avLst/>
          </a:prstGeom>
        </p:spPr>
        <p:txBody>
          <a:bodyPr wrap="square">
            <a:spAutoFit/>
          </a:bodyPr>
          <a:lstStyle/>
          <a:p>
            <a:pPr defTabSz="1219444">
              <a:buClr>
                <a:srgbClr val="CC9900"/>
              </a:buClr>
            </a:pP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提升客户购物体验</a:t>
            </a:r>
          </a:p>
        </p:txBody>
      </p:sp>
      <p:sp>
        <p:nvSpPr>
          <p:cNvPr id="22" name="椭圆 21">
            <a:extLst>
              <a:ext uri="{FF2B5EF4-FFF2-40B4-BE49-F238E27FC236}">
                <a16:creationId xmlns:a16="http://schemas.microsoft.com/office/drawing/2014/main" xmlns="" id="{9A4AE4EF-D6EC-425B-82A2-773C5E4763F4}"/>
              </a:ext>
            </a:extLst>
          </p:cNvPr>
          <p:cNvSpPr/>
          <p:nvPr/>
        </p:nvSpPr>
        <p:spPr bwMode="gray">
          <a:xfrm>
            <a:off x="8872191" y="5234444"/>
            <a:ext cx="362687" cy="360000"/>
          </a:xfrm>
          <a:prstGeom prst="ellipse">
            <a:avLst/>
          </a:prstGeom>
          <a:ln w="38100">
            <a:noFill/>
          </a:ln>
        </p:spPr>
        <p:txBody>
          <a:bodyPr wrap="none" anchor="ctr">
            <a:noAutofit/>
          </a:bodyPr>
          <a:lstStyle/>
          <a:p>
            <a:pPr algn="ctr" defTabSz="1219444">
              <a:buClr>
                <a:srgbClr val="CC9900"/>
              </a:buClr>
            </a:pP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无线上网</a:t>
            </a:r>
          </a:p>
        </p:txBody>
      </p:sp>
      <p:sp>
        <p:nvSpPr>
          <p:cNvPr id="23" name="椭圆 22">
            <a:extLst>
              <a:ext uri="{FF2B5EF4-FFF2-40B4-BE49-F238E27FC236}">
                <a16:creationId xmlns:a16="http://schemas.microsoft.com/office/drawing/2014/main" xmlns="" id="{6188F9BF-1B31-416A-B325-11F117A7FB59}"/>
              </a:ext>
            </a:extLst>
          </p:cNvPr>
          <p:cNvSpPr>
            <a:spLocks noChangeAspect="1"/>
          </p:cNvSpPr>
          <p:nvPr/>
        </p:nvSpPr>
        <p:spPr bwMode="gray">
          <a:xfrm>
            <a:off x="8717714" y="5090274"/>
            <a:ext cx="684422" cy="679351"/>
          </a:xfrm>
          <a:prstGeom prst="ellipse">
            <a:avLst/>
          </a:prstGeom>
          <a:noFill/>
          <a:ln w="190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buClr>
                <a:srgbClr val="CC9900"/>
              </a:buClr>
              <a:buFont typeface="Wingdings" pitchFamily="2" charset="2"/>
              <a:buChar char="n"/>
            </a:pPr>
            <a:endParaRPr lang="zh-CN" altLang="en-US"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26" name="图片 2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196633" y="4021187"/>
            <a:ext cx="325979" cy="265266"/>
          </a:xfrm>
          <a:prstGeom prst="rect">
            <a:avLst/>
          </a:prstGeom>
        </p:spPr>
      </p:pic>
      <p:pic>
        <p:nvPicPr>
          <p:cNvPr id="27" name="图片 2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34963" y="4785810"/>
            <a:ext cx="281386" cy="210171"/>
          </a:xfrm>
          <a:prstGeom prst="rect">
            <a:avLst/>
          </a:prstGeom>
        </p:spPr>
      </p:pic>
      <p:sp>
        <p:nvSpPr>
          <p:cNvPr id="29" name="矩形 28">
            <a:extLst>
              <a:ext uri="{FF2B5EF4-FFF2-40B4-BE49-F238E27FC236}">
                <a16:creationId xmlns:a16="http://schemas.microsoft.com/office/drawing/2014/main" xmlns="" id="{E5F26979-4E6D-4ED3-8F93-B8A4F3B3C731}"/>
              </a:ext>
            </a:extLst>
          </p:cNvPr>
          <p:cNvSpPr/>
          <p:nvPr/>
        </p:nvSpPr>
        <p:spPr bwMode="gray">
          <a:xfrm>
            <a:off x="844266" y="1652380"/>
            <a:ext cx="598241" cy="338554"/>
          </a:xfrm>
          <a:prstGeom prst="rect">
            <a:avLst/>
          </a:prstGeom>
        </p:spPr>
        <p:txBody>
          <a:bodyPr wrap="none">
            <a:spAutoFit/>
          </a:bodyPr>
          <a:lstStyle/>
          <a:p>
            <a:r>
              <a:rPr lang="zh-CN" altLang="en-US" sz="1600" b="1" u="sng">
                <a:latin typeface="Huawei Sans" panose="020C0503030203020204" pitchFamily="34" charset="0"/>
                <a:ea typeface="方正兰亭黑简体" panose="02000000000000000000" pitchFamily="2" charset="-122"/>
                <a:sym typeface="Huawei Sans" panose="020C0503030203020204" pitchFamily="34" charset="0"/>
              </a:rPr>
              <a:t>背景</a:t>
            </a:r>
            <a:endParaRPr lang="zh-CN" altLang="en-US" sz="1600" u="sng"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descr="AC-蓝.png"/>
          <p:cNvPicPr>
            <a:picLocks noChangeAspect="1"/>
          </p:cNvPicPr>
          <p:nvPr/>
        </p:nvPicPr>
        <p:blipFill>
          <a:blip r:embed="rId5" cstate="print"/>
          <a:stretch>
            <a:fillRect/>
          </a:stretch>
        </p:blipFill>
        <p:spPr bwMode="gray">
          <a:xfrm>
            <a:off x="1370204" y="4017960"/>
            <a:ext cx="340576" cy="278653"/>
          </a:xfrm>
          <a:prstGeom prst="rect">
            <a:avLst/>
          </a:prstGeom>
        </p:spPr>
      </p:pic>
      <p:sp>
        <p:nvSpPr>
          <p:cNvPr id="33" name="314623880">
            <a:extLst>
              <a:ext uri="{FF2B5EF4-FFF2-40B4-BE49-F238E27FC236}">
                <a16:creationId xmlns:a16="http://schemas.microsoft.com/office/drawing/2014/main" xmlns="" id="{7911C793-00AB-43A4-BD6D-499B7257D192}"/>
              </a:ext>
            </a:extLst>
          </p:cNvPr>
          <p:cNvSpPr/>
          <p:nvPr/>
        </p:nvSpPr>
        <p:spPr bwMode="gray">
          <a:xfrm>
            <a:off x="493793" y="4763126"/>
            <a:ext cx="1124314" cy="247892"/>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AP4050DN-E</a:t>
            </a:r>
          </a:p>
          <a:p>
            <a:pPr algn="ctr" defTabSz="1219078" fontAlgn="ctr">
              <a:spcBef>
                <a:spcPts val="0"/>
              </a:spcBef>
              <a:spcAft>
                <a:spcPts val="0"/>
              </a:spcAft>
              <a:buClr>
                <a:srgbClr val="CC9900"/>
              </a:buCl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IoT</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插卡</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314623880">
            <a:extLst>
              <a:ext uri="{FF2B5EF4-FFF2-40B4-BE49-F238E27FC236}">
                <a16:creationId xmlns:a16="http://schemas.microsoft.com/office/drawing/2014/main" xmlns="" id="{7911C793-00AB-43A4-BD6D-499B7257D192}"/>
              </a:ext>
            </a:extLst>
          </p:cNvPr>
          <p:cNvSpPr/>
          <p:nvPr/>
        </p:nvSpPr>
        <p:spPr bwMode="gray">
          <a:xfrm>
            <a:off x="2508030" y="5836406"/>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电子价签</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6" name="图片 35" descr="wifi信号蓝.png"/>
          <p:cNvPicPr>
            <a:picLocks noChangeAspect="1"/>
          </p:cNvPicPr>
          <p:nvPr/>
        </p:nvPicPr>
        <p:blipFill>
          <a:blip r:embed="rId6" cstate="print"/>
          <a:stretch>
            <a:fillRect/>
          </a:stretch>
        </p:blipFill>
        <p:spPr bwMode="gray">
          <a:xfrm rot="10800000">
            <a:off x="1523303" y="5071538"/>
            <a:ext cx="282617" cy="236649"/>
          </a:xfrm>
          <a:prstGeom prst="rect">
            <a:avLst/>
          </a:prstGeom>
        </p:spPr>
      </p:pic>
      <p:pic>
        <p:nvPicPr>
          <p:cNvPr id="38" name="图片 3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817624" y="4785810"/>
            <a:ext cx="281386" cy="210171"/>
          </a:xfrm>
          <a:prstGeom prst="rect">
            <a:avLst/>
          </a:prstGeom>
        </p:spPr>
      </p:pic>
      <p:pic>
        <p:nvPicPr>
          <p:cNvPr id="39" name="图片 38" descr="wifi信号蓝.png"/>
          <p:cNvPicPr>
            <a:picLocks noChangeAspect="1"/>
          </p:cNvPicPr>
          <p:nvPr/>
        </p:nvPicPr>
        <p:blipFill>
          <a:blip r:embed="rId6" cstate="print"/>
          <a:stretch>
            <a:fillRect/>
          </a:stretch>
        </p:blipFill>
        <p:spPr bwMode="gray">
          <a:xfrm rot="10800000">
            <a:off x="2805964" y="5071538"/>
            <a:ext cx="282617" cy="236649"/>
          </a:xfrm>
          <a:prstGeom prst="rect">
            <a:avLst/>
          </a:prstGeom>
        </p:spPr>
      </p:pic>
      <p:cxnSp>
        <p:nvCxnSpPr>
          <p:cNvPr id="3" name="直接连接符 2"/>
          <p:cNvCxnSpPr>
            <a:stCxn id="27" idx="0"/>
            <a:endCxn id="26" idx="2"/>
          </p:cNvCxnSpPr>
          <p:nvPr/>
        </p:nvCxnSpPr>
        <p:spPr bwMode="gray">
          <a:xfrm flipV="1">
            <a:off x="1675656" y="4286453"/>
            <a:ext cx="683967" cy="499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8" idx="0"/>
            <a:endCxn id="26" idx="2"/>
          </p:cNvCxnSpPr>
          <p:nvPr/>
        </p:nvCxnSpPr>
        <p:spPr bwMode="gray">
          <a:xfrm flipH="1" flipV="1">
            <a:off x="2359623" y="4286453"/>
            <a:ext cx="598694" cy="499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31" idx="3"/>
            <a:endCxn id="26" idx="1"/>
          </p:cNvCxnSpPr>
          <p:nvPr/>
        </p:nvCxnSpPr>
        <p:spPr bwMode="gray">
          <a:xfrm flipV="1">
            <a:off x="1710780" y="4153820"/>
            <a:ext cx="485853" cy="3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6" idx="0"/>
            <a:endCxn id="59" idx="3"/>
          </p:cNvCxnSpPr>
          <p:nvPr/>
        </p:nvCxnSpPr>
        <p:spPr bwMode="gray">
          <a:xfrm flipH="1" flipV="1">
            <a:off x="1655470" y="3527859"/>
            <a:ext cx="704153" cy="493328"/>
          </a:xfrm>
          <a:prstGeom prst="line">
            <a:avLst/>
          </a:prstGeom>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xmlns="" id="{C473C532-8F27-4126-B35B-45B1E87B7D24}"/>
              </a:ext>
            </a:extLst>
          </p:cNvPr>
          <p:cNvSpPr/>
          <p:nvPr/>
        </p:nvSpPr>
        <p:spPr bwMode="gray">
          <a:xfrm>
            <a:off x="1105346" y="3674318"/>
            <a:ext cx="800219" cy="276999"/>
          </a:xfrm>
          <a:prstGeom prst="rect">
            <a:avLst/>
          </a:prstGeom>
        </p:spPr>
        <p:txBody>
          <a:bodyPr wrap="none">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网管平台</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9" name="图片 58"/>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1292179" y="3378909"/>
            <a:ext cx="363291" cy="297899"/>
          </a:xfrm>
          <a:prstGeom prst="rect">
            <a:avLst/>
          </a:prstGeom>
        </p:spPr>
      </p:pic>
      <p:grpSp>
        <p:nvGrpSpPr>
          <p:cNvPr id="61" name="组合 120">
            <a:extLst>
              <a:ext uri="{FF2B5EF4-FFF2-40B4-BE49-F238E27FC236}">
                <a16:creationId xmlns:a16="http://schemas.microsoft.com/office/drawing/2014/main" xmlns="" id="{11D4021A-D445-4F69-B112-B59564640885}"/>
              </a:ext>
            </a:extLst>
          </p:cNvPr>
          <p:cNvGrpSpPr/>
          <p:nvPr/>
        </p:nvGrpSpPr>
        <p:grpSpPr bwMode="gray">
          <a:xfrm>
            <a:off x="2725281" y="3137643"/>
            <a:ext cx="330501" cy="270401"/>
            <a:chOff x="1814513" y="2640013"/>
            <a:chExt cx="933450" cy="731837"/>
          </a:xfrm>
          <a:solidFill>
            <a:srgbClr val="0070C0"/>
          </a:solidFill>
        </p:grpSpPr>
        <p:sp>
          <p:nvSpPr>
            <p:cNvPr id="62" name="Freeform 15">
              <a:extLst>
                <a:ext uri="{FF2B5EF4-FFF2-40B4-BE49-F238E27FC236}">
                  <a16:creationId xmlns:a16="http://schemas.microsoft.com/office/drawing/2014/main" xmlns="" id="{0E107082-9E45-4E23-A301-A9F1B5D0FE88}"/>
                </a:ext>
              </a:extLst>
            </p:cNvPr>
            <p:cNvSpPr>
              <a:spLocks noEditPoints="1"/>
            </p:cNvSpPr>
            <p:nvPr/>
          </p:nvSpPr>
          <p:spPr bwMode="gray">
            <a:xfrm>
              <a:off x="2289175" y="2824163"/>
              <a:ext cx="349250" cy="347663"/>
            </a:xfrm>
            <a:custGeom>
              <a:avLst/>
              <a:gdLst/>
              <a:ahLst/>
              <a:cxnLst>
                <a:cxn ang="0">
                  <a:pos x="336" y="2"/>
                </a:cxn>
                <a:cxn ang="0">
                  <a:pos x="316" y="63"/>
                </a:cxn>
                <a:cxn ang="0">
                  <a:pos x="288" y="86"/>
                </a:cxn>
                <a:cxn ang="0">
                  <a:pos x="245" y="42"/>
                </a:cxn>
                <a:cxn ang="0">
                  <a:pos x="156" y="68"/>
                </a:cxn>
                <a:cxn ang="0">
                  <a:pos x="169" y="131"/>
                </a:cxn>
                <a:cxn ang="0">
                  <a:pos x="156" y="165"/>
                </a:cxn>
                <a:cxn ang="0">
                  <a:pos x="97" y="151"/>
                </a:cxn>
                <a:cxn ang="0">
                  <a:pos x="33" y="217"/>
                </a:cxn>
                <a:cxn ang="0">
                  <a:pos x="75" y="264"/>
                </a:cxn>
                <a:cxn ang="0">
                  <a:pos x="83" y="300"/>
                </a:cxn>
                <a:cxn ang="0">
                  <a:pos x="23" y="316"/>
                </a:cxn>
                <a:cxn ang="0">
                  <a:pos x="0" y="371"/>
                </a:cxn>
                <a:cxn ang="0">
                  <a:pos x="23" y="426"/>
                </a:cxn>
                <a:cxn ang="0">
                  <a:pos x="83" y="442"/>
                </a:cxn>
                <a:cxn ang="0">
                  <a:pos x="75" y="478"/>
                </a:cxn>
                <a:cxn ang="0">
                  <a:pos x="33" y="524"/>
                </a:cxn>
                <a:cxn ang="0">
                  <a:pos x="97" y="591"/>
                </a:cxn>
                <a:cxn ang="0">
                  <a:pos x="156" y="576"/>
                </a:cxn>
                <a:cxn ang="0">
                  <a:pos x="169" y="611"/>
                </a:cxn>
                <a:cxn ang="0">
                  <a:pos x="156" y="673"/>
                </a:cxn>
                <a:cxn ang="0">
                  <a:pos x="245" y="699"/>
                </a:cxn>
                <a:cxn ang="0">
                  <a:pos x="288" y="656"/>
                </a:cxn>
                <a:cxn ang="0">
                  <a:pos x="316" y="679"/>
                </a:cxn>
                <a:cxn ang="0">
                  <a:pos x="336" y="740"/>
                </a:cxn>
                <a:cxn ang="0">
                  <a:pos x="405" y="740"/>
                </a:cxn>
                <a:cxn ang="0">
                  <a:pos x="426" y="679"/>
                </a:cxn>
                <a:cxn ang="0">
                  <a:pos x="453" y="656"/>
                </a:cxn>
                <a:cxn ang="0">
                  <a:pos x="497" y="699"/>
                </a:cxn>
                <a:cxn ang="0">
                  <a:pos x="585" y="673"/>
                </a:cxn>
                <a:cxn ang="0">
                  <a:pos x="572" y="611"/>
                </a:cxn>
                <a:cxn ang="0">
                  <a:pos x="585" y="576"/>
                </a:cxn>
                <a:cxn ang="0">
                  <a:pos x="644" y="591"/>
                </a:cxn>
                <a:cxn ang="0">
                  <a:pos x="708" y="524"/>
                </a:cxn>
                <a:cxn ang="0">
                  <a:pos x="666" y="478"/>
                </a:cxn>
                <a:cxn ang="0">
                  <a:pos x="659" y="442"/>
                </a:cxn>
                <a:cxn ang="0">
                  <a:pos x="718" y="426"/>
                </a:cxn>
                <a:cxn ang="0">
                  <a:pos x="741" y="371"/>
                </a:cxn>
                <a:cxn ang="0">
                  <a:pos x="718" y="316"/>
                </a:cxn>
                <a:cxn ang="0">
                  <a:pos x="659" y="300"/>
                </a:cxn>
                <a:cxn ang="0">
                  <a:pos x="666" y="264"/>
                </a:cxn>
                <a:cxn ang="0">
                  <a:pos x="708" y="217"/>
                </a:cxn>
                <a:cxn ang="0">
                  <a:pos x="644" y="151"/>
                </a:cxn>
                <a:cxn ang="0">
                  <a:pos x="585" y="165"/>
                </a:cxn>
                <a:cxn ang="0">
                  <a:pos x="572" y="131"/>
                </a:cxn>
                <a:cxn ang="0">
                  <a:pos x="585" y="68"/>
                </a:cxn>
                <a:cxn ang="0">
                  <a:pos x="497" y="42"/>
                </a:cxn>
                <a:cxn ang="0">
                  <a:pos x="453" y="86"/>
                </a:cxn>
                <a:cxn ang="0">
                  <a:pos x="426" y="63"/>
                </a:cxn>
                <a:cxn ang="0">
                  <a:pos x="405" y="2"/>
                </a:cxn>
                <a:cxn ang="0">
                  <a:pos x="371" y="174"/>
                </a:cxn>
                <a:cxn ang="0">
                  <a:pos x="371" y="568"/>
                </a:cxn>
                <a:cxn ang="0">
                  <a:pos x="371" y="174"/>
                </a:cxn>
              </a:cxnLst>
              <a:rect l="0" t="0" r="r" b="b"/>
              <a:pathLst>
                <a:path w="741" h="741">
                  <a:moveTo>
                    <a:pt x="371" y="0"/>
                  </a:moveTo>
                  <a:cubicBezTo>
                    <a:pt x="359" y="0"/>
                    <a:pt x="347" y="0"/>
                    <a:pt x="336" y="2"/>
                  </a:cubicBezTo>
                  <a:cubicBezTo>
                    <a:pt x="324" y="3"/>
                    <a:pt x="316" y="12"/>
                    <a:pt x="316" y="23"/>
                  </a:cubicBezTo>
                  <a:cubicBezTo>
                    <a:pt x="316" y="63"/>
                    <a:pt x="316" y="63"/>
                    <a:pt x="316" y="63"/>
                  </a:cubicBezTo>
                  <a:cubicBezTo>
                    <a:pt x="316" y="73"/>
                    <a:pt x="310" y="80"/>
                    <a:pt x="300" y="83"/>
                  </a:cubicBezTo>
                  <a:cubicBezTo>
                    <a:pt x="295" y="84"/>
                    <a:pt x="293" y="84"/>
                    <a:pt x="288" y="86"/>
                  </a:cubicBezTo>
                  <a:cubicBezTo>
                    <a:pt x="278" y="89"/>
                    <a:pt x="269" y="85"/>
                    <a:pt x="264" y="76"/>
                  </a:cubicBezTo>
                  <a:cubicBezTo>
                    <a:pt x="245" y="42"/>
                    <a:pt x="245" y="42"/>
                    <a:pt x="245" y="42"/>
                  </a:cubicBezTo>
                  <a:cubicBezTo>
                    <a:pt x="239" y="32"/>
                    <a:pt x="227" y="29"/>
                    <a:pt x="217" y="34"/>
                  </a:cubicBezTo>
                  <a:cubicBezTo>
                    <a:pt x="195" y="43"/>
                    <a:pt x="175" y="55"/>
                    <a:pt x="156" y="68"/>
                  </a:cubicBezTo>
                  <a:cubicBezTo>
                    <a:pt x="147" y="75"/>
                    <a:pt x="145" y="87"/>
                    <a:pt x="151" y="97"/>
                  </a:cubicBezTo>
                  <a:cubicBezTo>
                    <a:pt x="169" y="131"/>
                    <a:pt x="169" y="131"/>
                    <a:pt x="169" y="131"/>
                  </a:cubicBezTo>
                  <a:cubicBezTo>
                    <a:pt x="174" y="139"/>
                    <a:pt x="172" y="149"/>
                    <a:pt x="165" y="157"/>
                  </a:cubicBezTo>
                  <a:cubicBezTo>
                    <a:pt x="162" y="159"/>
                    <a:pt x="159" y="162"/>
                    <a:pt x="156" y="165"/>
                  </a:cubicBezTo>
                  <a:cubicBezTo>
                    <a:pt x="149" y="172"/>
                    <a:pt x="139" y="174"/>
                    <a:pt x="130" y="170"/>
                  </a:cubicBezTo>
                  <a:cubicBezTo>
                    <a:pt x="97" y="151"/>
                    <a:pt x="97" y="151"/>
                    <a:pt x="97" y="151"/>
                  </a:cubicBezTo>
                  <a:cubicBezTo>
                    <a:pt x="87" y="145"/>
                    <a:pt x="74" y="148"/>
                    <a:pt x="68" y="157"/>
                  </a:cubicBezTo>
                  <a:cubicBezTo>
                    <a:pt x="55" y="175"/>
                    <a:pt x="43" y="196"/>
                    <a:pt x="33" y="217"/>
                  </a:cubicBezTo>
                  <a:cubicBezTo>
                    <a:pt x="29" y="227"/>
                    <a:pt x="32" y="239"/>
                    <a:pt x="42" y="245"/>
                  </a:cubicBezTo>
                  <a:cubicBezTo>
                    <a:pt x="75" y="264"/>
                    <a:pt x="75" y="264"/>
                    <a:pt x="75" y="264"/>
                  </a:cubicBezTo>
                  <a:cubicBezTo>
                    <a:pt x="84" y="268"/>
                    <a:pt x="89" y="278"/>
                    <a:pt x="86" y="288"/>
                  </a:cubicBezTo>
                  <a:cubicBezTo>
                    <a:pt x="84" y="293"/>
                    <a:pt x="84" y="295"/>
                    <a:pt x="83" y="300"/>
                  </a:cubicBezTo>
                  <a:cubicBezTo>
                    <a:pt x="81" y="308"/>
                    <a:pt x="72" y="316"/>
                    <a:pt x="62" y="316"/>
                  </a:cubicBezTo>
                  <a:cubicBezTo>
                    <a:pt x="23" y="316"/>
                    <a:pt x="23" y="316"/>
                    <a:pt x="23" y="316"/>
                  </a:cubicBezTo>
                  <a:cubicBezTo>
                    <a:pt x="12" y="316"/>
                    <a:pt x="3" y="324"/>
                    <a:pt x="2" y="336"/>
                  </a:cubicBezTo>
                  <a:cubicBezTo>
                    <a:pt x="0" y="348"/>
                    <a:pt x="0" y="359"/>
                    <a:pt x="0" y="371"/>
                  </a:cubicBezTo>
                  <a:cubicBezTo>
                    <a:pt x="0" y="382"/>
                    <a:pt x="0" y="394"/>
                    <a:pt x="2" y="405"/>
                  </a:cubicBezTo>
                  <a:cubicBezTo>
                    <a:pt x="3" y="417"/>
                    <a:pt x="12" y="426"/>
                    <a:pt x="23" y="426"/>
                  </a:cubicBezTo>
                  <a:cubicBezTo>
                    <a:pt x="62" y="426"/>
                    <a:pt x="62" y="426"/>
                    <a:pt x="62" y="426"/>
                  </a:cubicBezTo>
                  <a:cubicBezTo>
                    <a:pt x="72" y="426"/>
                    <a:pt x="80" y="432"/>
                    <a:pt x="83" y="442"/>
                  </a:cubicBezTo>
                  <a:cubicBezTo>
                    <a:pt x="84" y="446"/>
                    <a:pt x="84" y="449"/>
                    <a:pt x="86" y="453"/>
                  </a:cubicBezTo>
                  <a:cubicBezTo>
                    <a:pt x="89" y="463"/>
                    <a:pt x="84" y="473"/>
                    <a:pt x="75" y="478"/>
                  </a:cubicBezTo>
                  <a:cubicBezTo>
                    <a:pt x="42" y="497"/>
                    <a:pt x="42" y="497"/>
                    <a:pt x="42" y="497"/>
                  </a:cubicBezTo>
                  <a:cubicBezTo>
                    <a:pt x="32" y="502"/>
                    <a:pt x="29" y="514"/>
                    <a:pt x="33" y="524"/>
                  </a:cubicBezTo>
                  <a:cubicBezTo>
                    <a:pt x="43" y="546"/>
                    <a:pt x="55" y="567"/>
                    <a:pt x="68" y="585"/>
                  </a:cubicBezTo>
                  <a:cubicBezTo>
                    <a:pt x="75" y="594"/>
                    <a:pt x="87" y="596"/>
                    <a:pt x="97" y="591"/>
                  </a:cubicBezTo>
                  <a:cubicBezTo>
                    <a:pt x="130" y="572"/>
                    <a:pt x="130" y="572"/>
                    <a:pt x="130" y="572"/>
                  </a:cubicBezTo>
                  <a:cubicBezTo>
                    <a:pt x="139" y="567"/>
                    <a:pt x="149" y="569"/>
                    <a:pt x="156" y="576"/>
                  </a:cubicBezTo>
                  <a:cubicBezTo>
                    <a:pt x="159" y="579"/>
                    <a:pt x="162" y="582"/>
                    <a:pt x="165" y="585"/>
                  </a:cubicBezTo>
                  <a:cubicBezTo>
                    <a:pt x="172" y="592"/>
                    <a:pt x="174" y="603"/>
                    <a:pt x="169" y="611"/>
                  </a:cubicBezTo>
                  <a:cubicBezTo>
                    <a:pt x="151" y="644"/>
                    <a:pt x="151" y="644"/>
                    <a:pt x="151" y="644"/>
                  </a:cubicBezTo>
                  <a:cubicBezTo>
                    <a:pt x="145" y="654"/>
                    <a:pt x="148" y="667"/>
                    <a:pt x="156" y="673"/>
                  </a:cubicBezTo>
                  <a:cubicBezTo>
                    <a:pt x="175" y="686"/>
                    <a:pt x="195" y="698"/>
                    <a:pt x="217" y="708"/>
                  </a:cubicBezTo>
                  <a:cubicBezTo>
                    <a:pt x="227" y="713"/>
                    <a:pt x="239" y="709"/>
                    <a:pt x="245" y="699"/>
                  </a:cubicBezTo>
                  <a:cubicBezTo>
                    <a:pt x="264" y="666"/>
                    <a:pt x="264" y="666"/>
                    <a:pt x="264" y="666"/>
                  </a:cubicBezTo>
                  <a:cubicBezTo>
                    <a:pt x="268" y="658"/>
                    <a:pt x="278" y="653"/>
                    <a:pt x="288" y="656"/>
                  </a:cubicBezTo>
                  <a:cubicBezTo>
                    <a:pt x="293" y="657"/>
                    <a:pt x="295" y="658"/>
                    <a:pt x="300" y="659"/>
                  </a:cubicBezTo>
                  <a:cubicBezTo>
                    <a:pt x="308" y="661"/>
                    <a:pt x="316" y="669"/>
                    <a:pt x="316" y="679"/>
                  </a:cubicBezTo>
                  <a:cubicBezTo>
                    <a:pt x="316" y="718"/>
                    <a:pt x="316" y="718"/>
                    <a:pt x="316" y="718"/>
                  </a:cubicBezTo>
                  <a:cubicBezTo>
                    <a:pt x="316" y="730"/>
                    <a:pt x="324" y="738"/>
                    <a:pt x="336" y="740"/>
                  </a:cubicBezTo>
                  <a:cubicBezTo>
                    <a:pt x="347" y="741"/>
                    <a:pt x="359" y="741"/>
                    <a:pt x="371" y="741"/>
                  </a:cubicBezTo>
                  <a:cubicBezTo>
                    <a:pt x="382" y="741"/>
                    <a:pt x="394" y="741"/>
                    <a:pt x="405" y="740"/>
                  </a:cubicBezTo>
                  <a:cubicBezTo>
                    <a:pt x="417" y="738"/>
                    <a:pt x="426" y="730"/>
                    <a:pt x="426" y="718"/>
                  </a:cubicBezTo>
                  <a:cubicBezTo>
                    <a:pt x="426" y="679"/>
                    <a:pt x="426" y="679"/>
                    <a:pt x="426" y="679"/>
                  </a:cubicBezTo>
                  <a:cubicBezTo>
                    <a:pt x="426" y="669"/>
                    <a:pt x="431" y="662"/>
                    <a:pt x="442" y="659"/>
                  </a:cubicBezTo>
                  <a:cubicBezTo>
                    <a:pt x="446" y="657"/>
                    <a:pt x="449" y="657"/>
                    <a:pt x="453" y="656"/>
                  </a:cubicBezTo>
                  <a:cubicBezTo>
                    <a:pt x="463" y="653"/>
                    <a:pt x="473" y="657"/>
                    <a:pt x="478" y="666"/>
                  </a:cubicBezTo>
                  <a:cubicBezTo>
                    <a:pt x="497" y="699"/>
                    <a:pt x="497" y="699"/>
                    <a:pt x="497" y="699"/>
                  </a:cubicBezTo>
                  <a:cubicBezTo>
                    <a:pt x="502" y="709"/>
                    <a:pt x="514" y="713"/>
                    <a:pt x="524" y="708"/>
                  </a:cubicBezTo>
                  <a:cubicBezTo>
                    <a:pt x="546" y="698"/>
                    <a:pt x="566" y="687"/>
                    <a:pt x="585" y="673"/>
                  </a:cubicBezTo>
                  <a:cubicBezTo>
                    <a:pt x="594" y="667"/>
                    <a:pt x="596" y="654"/>
                    <a:pt x="591" y="644"/>
                  </a:cubicBezTo>
                  <a:cubicBezTo>
                    <a:pt x="572" y="611"/>
                    <a:pt x="572" y="611"/>
                    <a:pt x="572" y="611"/>
                  </a:cubicBezTo>
                  <a:cubicBezTo>
                    <a:pt x="567" y="603"/>
                    <a:pt x="569" y="592"/>
                    <a:pt x="576" y="585"/>
                  </a:cubicBezTo>
                  <a:cubicBezTo>
                    <a:pt x="579" y="582"/>
                    <a:pt x="582" y="579"/>
                    <a:pt x="585" y="576"/>
                  </a:cubicBezTo>
                  <a:cubicBezTo>
                    <a:pt x="592" y="569"/>
                    <a:pt x="602" y="567"/>
                    <a:pt x="611" y="572"/>
                  </a:cubicBezTo>
                  <a:cubicBezTo>
                    <a:pt x="644" y="591"/>
                    <a:pt x="644" y="591"/>
                    <a:pt x="644" y="591"/>
                  </a:cubicBezTo>
                  <a:cubicBezTo>
                    <a:pt x="654" y="596"/>
                    <a:pt x="667" y="594"/>
                    <a:pt x="673" y="585"/>
                  </a:cubicBezTo>
                  <a:cubicBezTo>
                    <a:pt x="686" y="566"/>
                    <a:pt x="698" y="546"/>
                    <a:pt x="708" y="524"/>
                  </a:cubicBezTo>
                  <a:cubicBezTo>
                    <a:pt x="712" y="514"/>
                    <a:pt x="709" y="502"/>
                    <a:pt x="699" y="497"/>
                  </a:cubicBezTo>
                  <a:cubicBezTo>
                    <a:pt x="666" y="478"/>
                    <a:pt x="666" y="478"/>
                    <a:pt x="666" y="478"/>
                  </a:cubicBezTo>
                  <a:cubicBezTo>
                    <a:pt x="657" y="473"/>
                    <a:pt x="653" y="463"/>
                    <a:pt x="656" y="453"/>
                  </a:cubicBezTo>
                  <a:cubicBezTo>
                    <a:pt x="657" y="449"/>
                    <a:pt x="658" y="446"/>
                    <a:pt x="659" y="442"/>
                  </a:cubicBezTo>
                  <a:cubicBezTo>
                    <a:pt x="661" y="433"/>
                    <a:pt x="669" y="426"/>
                    <a:pt x="679" y="426"/>
                  </a:cubicBezTo>
                  <a:cubicBezTo>
                    <a:pt x="718" y="426"/>
                    <a:pt x="718" y="426"/>
                    <a:pt x="718" y="426"/>
                  </a:cubicBezTo>
                  <a:cubicBezTo>
                    <a:pt x="730" y="426"/>
                    <a:pt x="738" y="417"/>
                    <a:pt x="740" y="405"/>
                  </a:cubicBezTo>
                  <a:cubicBezTo>
                    <a:pt x="741" y="394"/>
                    <a:pt x="741" y="382"/>
                    <a:pt x="741" y="371"/>
                  </a:cubicBezTo>
                  <a:cubicBezTo>
                    <a:pt x="741" y="359"/>
                    <a:pt x="741" y="348"/>
                    <a:pt x="740" y="336"/>
                  </a:cubicBezTo>
                  <a:cubicBezTo>
                    <a:pt x="738" y="324"/>
                    <a:pt x="730" y="316"/>
                    <a:pt x="718" y="316"/>
                  </a:cubicBezTo>
                  <a:cubicBezTo>
                    <a:pt x="679" y="316"/>
                    <a:pt x="679" y="316"/>
                    <a:pt x="679" y="316"/>
                  </a:cubicBezTo>
                  <a:cubicBezTo>
                    <a:pt x="669" y="316"/>
                    <a:pt x="662" y="310"/>
                    <a:pt x="659" y="300"/>
                  </a:cubicBezTo>
                  <a:cubicBezTo>
                    <a:pt x="657" y="295"/>
                    <a:pt x="657" y="293"/>
                    <a:pt x="656" y="288"/>
                  </a:cubicBezTo>
                  <a:cubicBezTo>
                    <a:pt x="653" y="278"/>
                    <a:pt x="657" y="269"/>
                    <a:pt x="666" y="264"/>
                  </a:cubicBezTo>
                  <a:cubicBezTo>
                    <a:pt x="699" y="245"/>
                    <a:pt x="699" y="245"/>
                    <a:pt x="699" y="245"/>
                  </a:cubicBezTo>
                  <a:cubicBezTo>
                    <a:pt x="709" y="239"/>
                    <a:pt x="712" y="227"/>
                    <a:pt x="708" y="217"/>
                  </a:cubicBezTo>
                  <a:cubicBezTo>
                    <a:pt x="698" y="196"/>
                    <a:pt x="687" y="175"/>
                    <a:pt x="673" y="157"/>
                  </a:cubicBezTo>
                  <a:cubicBezTo>
                    <a:pt x="666" y="147"/>
                    <a:pt x="654" y="145"/>
                    <a:pt x="644" y="151"/>
                  </a:cubicBezTo>
                  <a:cubicBezTo>
                    <a:pt x="611" y="170"/>
                    <a:pt x="611" y="170"/>
                    <a:pt x="611" y="170"/>
                  </a:cubicBezTo>
                  <a:cubicBezTo>
                    <a:pt x="602" y="174"/>
                    <a:pt x="592" y="172"/>
                    <a:pt x="585" y="165"/>
                  </a:cubicBezTo>
                  <a:cubicBezTo>
                    <a:pt x="582" y="162"/>
                    <a:pt x="579" y="159"/>
                    <a:pt x="576" y="157"/>
                  </a:cubicBezTo>
                  <a:cubicBezTo>
                    <a:pt x="569" y="149"/>
                    <a:pt x="567" y="139"/>
                    <a:pt x="572" y="131"/>
                  </a:cubicBezTo>
                  <a:cubicBezTo>
                    <a:pt x="591" y="97"/>
                    <a:pt x="591" y="97"/>
                    <a:pt x="591" y="97"/>
                  </a:cubicBezTo>
                  <a:cubicBezTo>
                    <a:pt x="596" y="87"/>
                    <a:pt x="593" y="74"/>
                    <a:pt x="585" y="68"/>
                  </a:cubicBezTo>
                  <a:cubicBezTo>
                    <a:pt x="566" y="55"/>
                    <a:pt x="546" y="43"/>
                    <a:pt x="524" y="34"/>
                  </a:cubicBezTo>
                  <a:cubicBezTo>
                    <a:pt x="514" y="29"/>
                    <a:pt x="502" y="32"/>
                    <a:pt x="497" y="42"/>
                  </a:cubicBezTo>
                  <a:cubicBezTo>
                    <a:pt x="478" y="76"/>
                    <a:pt x="478" y="76"/>
                    <a:pt x="478" y="76"/>
                  </a:cubicBezTo>
                  <a:cubicBezTo>
                    <a:pt x="473" y="84"/>
                    <a:pt x="463" y="89"/>
                    <a:pt x="453" y="86"/>
                  </a:cubicBezTo>
                  <a:cubicBezTo>
                    <a:pt x="449" y="84"/>
                    <a:pt x="446" y="84"/>
                    <a:pt x="442" y="83"/>
                  </a:cubicBezTo>
                  <a:cubicBezTo>
                    <a:pt x="433" y="81"/>
                    <a:pt x="426" y="73"/>
                    <a:pt x="426" y="63"/>
                  </a:cubicBezTo>
                  <a:cubicBezTo>
                    <a:pt x="426" y="23"/>
                    <a:pt x="426" y="23"/>
                    <a:pt x="426" y="23"/>
                  </a:cubicBezTo>
                  <a:cubicBezTo>
                    <a:pt x="426" y="12"/>
                    <a:pt x="417" y="3"/>
                    <a:pt x="405" y="2"/>
                  </a:cubicBezTo>
                  <a:cubicBezTo>
                    <a:pt x="394" y="0"/>
                    <a:pt x="382" y="0"/>
                    <a:pt x="371" y="0"/>
                  </a:cubicBezTo>
                  <a:close/>
                  <a:moveTo>
                    <a:pt x="371" y="174"/>
                  </a:moveTo>
                  <a:cubicBezTo>
                    <a:pt x="479" y="174"/>
                    <a:pt x="567" y="262"/>
                    <a:pt x="567" y="371"/>
                  </a:cubicBezTo>
                  <a:cubicBezTo>
                    <a:pt x="567" y="479"/>
                    <a:pt x="479" y="568"/>
                    <a:pt x="371" y="568"/>
                  </a:cubicBezTo>
                  <a:cubicBezTo>
                    <a:pt x="262" y="568"/>
                    <a:pt x="174" y="479"/>
                    <a:pt x="174" y="371"/>
                  </a:cubicBezTo>
                  <a:cubicBezTo>
                    <a:pt x="174" y="262"/>
                    <a:pt x="262" y="174"/>
                    <a:pt x="371" y="174"/>
                  </a:cubicBez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16">
              <a:extLst>
                <a:ext uri="{FF2B5EF4-FFF2-40B4-BE49-F238E27FC236}">
                  <a16:creationId xmlns:a16="http://schemas.microsoft.com/office/drawing/2014/main" xmlns="" id="{2039FB0E-F435-46C0-9BE3-54BF63960AA2}"/>
                </a:ext>
              </a:extLst>
            </p:cNvPr>
            <p:cNvSpPr/>
            <p:nvPr/>
          </p:nvSpPr>
          <p:spPr bwMode="gray">
            <a:xfrm>
              <a:off x="2144713" y="3248025"/>
              <a:ext cx="273050" cy="93663"/>
            </a:xfrm>
            <a:custGeom>
              <a:avLst/>
              <a:gdLst/>
              <a:ahLst/>
              <a:cxnLst>
                <a:cxn ang="0">
                  <a:pos x="0" y="0"/>
                </a:cxn>
                <a:cxn ang="0">
                  <a:pos x="0" y="153"/>
                </a:cxn>
                <a:cxn ang="0">
                  <a:pos x="29" y="200"/>
                </a:cxn>
                <a:cxn ang="0">
                  <a:pos x="551" y="200"/>
                </a:cxn>
                <a:cxn ang="0">
                  <a:pos x="580" y="153"/>
                </a:cxn>
                <a:cxn ang="0">
                  <a:pos x="580" y="1"/>
                </a:cxn>
                <a:cxn ang="0">
                  <a:pos x="0" y="0"/>
                </a:cxn>
              </a:cxnLst>
              <a:rect l="0" t="0" r="r" b="b"/>
              <a:pathLst>
                <a:path w="580" h="200">
                  <a:moveTo>
                    <a:pt x="0" y="0"/>
                  </a:moveTo>
                  <a:cubicBezTo>
                    <a:pt x="0" y="153"/>
                    <a:pt x="0" y="153"/>
                    <a:pt x="0" y="153"/>
                  </a:cubicBezTo>
                  <a:cubicBezTo>
                    <a:pt x="0" y="179"/>
                    <a:pt x="13" y="200"/>
                    <a:pt x="29" y="200"/>
                  </a:cubicBezTo>
                  <a:cubicBezTo>
                    <a:pt x="551" y="200"/>
                    <a:pt x="551" y="200"/>
                    <a:pt x="551" y="200"/>
                  </a:cubicBezTo>
                  <a:cubicBezTo>
                    <a:pt x="567" y="200"/>
                    <a:pt x="580" y="179"/>
                    <a:pt x="580" y="153"/>
                  </a:cubicBezTo>
                  <a:cubicBezTo>
                    <a:pt x="580" y="1"/>
                    <a:pt x="580" y="1"/>
                    <a:pt x="580" y="1"/>
                  </a:cubicBezTo>
                  <a:cubicBezTo>
                    <a:pt x="387" y="1"/>
                    <a:pt x="193" y="1"/>
                    <a:pt x="0" y="0"/>
                  </a:cubicBez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17">
              <a:extLst>
                <a:ext uri="{FF2B5EF4-FFF2-40B4-BE49-F238E27FC236}">
                  <a16:creationId xmlns:a16="http://schemas.microsoft.com/office/drawing/2014/main" xmlns="" id="{0D46544C-0344-4C99-8E67-C68C9DC65833}"/>
                </a:ext>
              </a:extLst>
            </p:cNvPr>
            <p:cNvSpPr/>
            <p:nvPr/>
          </p:nvSpPr>
          <p:spPr bwMode="gray">
            <a:xfrm>
              <a:off x="2058988" y="3321050"/>
              <a:ext cx="444500" cy="50800"/>
            </a:xfrm>
            <a:custGeom>
              <a:avLst/>
              <a:gdLst/>
              <a:ahLst/>
              <a:cxnLst>
                <a:cxn ang="0">
                  <a:pos x="64" y="0"/>
                </a:cxn>
                <a:cxn ang="0">
                  <a:pos x="0" y="53"/>
                </a:cxn>
                <a:cxn ang="0">
                  <a:pos x="64" y="106"/>
                </a:cxn>
                <a:cxn ang="0">
                  <a:pos x="884" y="106"/>
                </a:cxn>
                <a:cxn ang="0">
                  <a:pos x="948" y="53"/>
                </a:cxn>
                <a:cxn ang="0">
                  <a:pos x="884" y="0"/>
                </a:cxn>
                <a:cxn ang="0">
                  <a:pos x="64" y="0"/>
                </a:cxn>
              </a:cxnLst>
              <a:rect l="0" t="0" r="r" b="b"/>
              <a:pathLst>
                <a:path w="948" h="106">
                  <a:moveTo>
                    <a:pt x="64" y="0"/>
                  </a:moveTo>
                  <a:cubicBezTo>
                    <a:pt x="29" y="0"/>
                    <a:pt x="0" y="24"/>
                    <a:pt x="0" y="53"/>
                  </a:cubicBezTo>
                  <a:cubicBezTo>
                    <a:pt x="0" y="82"/>
                    <a:pt x="29" y="106"/>
                    <a:pt x="64" y="106"/>
                  </a:cubicBezTo>
                  <a:cubicBezTo>
                    <a:pt x="884" y="106"/>
                    <a:pt x="884" y="106"/>
                    <a:pt x="884" y="106"/>
                  </a:cubicBezTo>
                  <a:cubicBezTo>
                    <a:pt x="920" y="106"/>
                    <a:pt x="948" y="82"/>
                    <a:pt x="948" y="53"/>
                  </a:cubicBezTo>
                  <a:cubicBezTo>
                    <a:pt x="948" y="24"/>
                    <a:pt x="920" y="0"/>
                    <a:pt x="884" y="0"/>
                  </a:cubicBezTo>
                  <a:lnTo>
                    <a:pt x="64"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Freeform 18">
              <a:extLst>
                <a:ext uri="{FF2B5EF4-FFF2-40B4-BE49-F238E27FC236}">
                  <a16:creationId xmlns:a16="http://schemas.microsoft.com/office/drawing/2014/main" xmlns="" id="{07C39856-B328-4925-9265-84EDE0930DF8}"/>
                </a:ext>
              </a:extLst>
            </p:cNvPr>
            <p:cNvSpPr>
              <a:spLocks noEditPoints="1"/>
            </p:cNvSpPr>
            <p:nvPr/>
          </p:nvSpPr>
          <p:spPr bwMode="gray">
            <a:xfrm>
              <a:off x="1814513" y="2640013"/>
              <a:ext cx="933450" cy="596900"/>
            </a:xfrm>
            <a:custGeom>
              <a:avLst/>
              <a:gdLst/>
              <a:ahLst/>
              <a:cxnLst>
                <a:cxn ang="0">
                  <a:pos x="131" y="0"/>
                </a:cxn>
                <a:cxn ang="0">
                  <a:pos x="0" y="130"/>
                </a:cxn>
                <a:cxn ang="0">
                  <a:pos x="0" y="1138"/>
                </a:cxn>
                <a:cxn ang="0">
                  <a:pos x="131" y="1269"/>
                </a:cxn>
                <a:cxn ang="0">
                  <a:pos x="1853" y="1269"/>
                </a:cxn>
                <a:cxn ang="0">
                  <a:pos x="1984" y="1138"/>
                </a:cxn>
                <a:cxn ang="0">
                  <a:pos x="1984" y="130"/>
                </a:cxn>
                <a:cxn ang="0">
                  <a:pos x="1853" y="0"/>
                </a:cxn>
                <a:cxn ang="0">
                  <a:pos x="131" y="0"/>
                </a:cxn>
                <a:cxn ang="0">
                  <a:pos x="131" y="63"/>
                </a:cxn>
                <a:cxn ang="0">
                  <a:pos x="1853" y="63"/>
                </a:cxn>
                <a:cxn ang="0">
                  <a:pos x="1921" y="130"/>
                </a:cxn>
                <a:cxn ang="0">
                  <a:pos x="1921" y="1138"/>
                </a:cxn>
                <a:cxn ang="0">
                  <a:pos x="1853" y="1206"/>
                </a:cxn>
                <a:cxn ang="0">
                  <a:pos x="131" y="1206"/>
                </a:cxn>
                <a:cxn ang="0">
                  <a:pos x="64" y="1138"/>
                </a:cxn>
                <a:cxn ang="0">
                  <a:pos x="64" y="130"/>
                </a:cxn>
                <a:cxn ang="0">
                  <a:pos x="131" y="63"/>
                </a:cxn>
              </a:cxnLst>
              <a:rect l="0" t="0" r="r" b="b"/>
              <a:pathLst>
                <a:path w="1984" h="1269">
                  <a:moveTo>
                    <a:pt x="131" y="0"/>
                  </a:moveTo>
                  <a:cubicBezTo>
                    <a:pt x="59" y="0"/>
                    <a:pt x="0" y="58"/>
                    <a:pt x="0" y="130"/>
                  </a:cubicBezTo>
                  <a:cubicBezTo>
                    <a:pt x="0" y="1138"/>
                    <a:pt x="0" y="1138"/>
                    <a:pt x="0" y="1138"/>
                  </a:cubicBezTo>
                  <a:cubicBezTo>
                    <a:pt x="0" y="1210"/>
                    <a:pt x="59" y="1269"/>
                    <a:pt x="131" y="1269"/>
                  </a:cubicBezTo>
                  <a:cubicBezTo>
                    <a:pt x="1853" y="1269"/>
                    <a:pt x="1853" y="1269"/>
                    <a:pt x="1853" y="1269"/>
                  </a:cubicBezTo>
                  <a:cubicBezTo>
                    <a:pt x="1925" y="1269"/>
                    <a:pt x="1984" y="1210"/>
                    <a:pt x="1984" y="1138"/>
                  </a:cubicBezTo>
                  <a:cubicBezTo>
                    <a:pt x="1984" y="130"/>
                    <a:pt x="1984" y="130"/>
                    <a:pt x="1984" y="130"/>
                  </a:cubicBezTo>
                  <a:cubicBezTo>
                    <a:pt x="1984" y="58"/>
                    <a:pt x="1925" y="0"/>
                    <a:pt x="1853" y="0"/>
                  </a:cubicBezTo>
                  <a:cubicBezTo>
                    <a:pt x="131" y="0"/>
                    <a:pt x="131" y="0"/>
                    <a:pt x="131" y="0"/>
                  </a:cubicBezTo>
                  <a:close/>
                  <a:moveTo>
                    <a:pt x="131" y="63"/>
                  </a:moveTo>
                  <a:cubicBezTo>
                    <a:pt x="1853" y="63"/>
                    <a:pt x="1853" y="63"/>
                    <a:pt x="1853" y="63"/>
                  </a:cubicBezTo>
                  <a:cubicBezTo>
                    <a:pt x="1891" y="63"/>
                    <a:pt x="1921" y="93"/>
                    <a:pt x="1921" y="130"/>
                  </a:cubicBezTo>
                  <a:cubicBezTo>
                    <a:pt x="1921" y="1138"/>
                    <a:pt x="1921" y="1138"/>
                    <a:pt x="1921" y="1138"/>
                  </a:cubicBezTo>
                  <a:cubicBezTo>
                    <a:pt x="1921" y="1176"/>
                    <a:pt x="1891" y="1206"/>
                    <a:pt x="1853" y="1206"/>
                  </a:cubicBezTo>
                  <a:cubicBezTo>
                    <a:pt x="131" y="1206"/>
                    <a:pt x="131" y="1206"/>
                    <a:pt x="131" y="1206"/>
                  </a:cubicBezTo>
                  <a:cubicBezTo>
                    <a:pt x="93" y="1206"/>
                    <a:pt x="64" y="1176"/>
                    <a:pt x="64" y="1138"/>
                  </a:cubicBezTo>
                  <a:cubicBezTo>
                    <a:pt x="64" y="130"/>
                    <a:pt x="64" y="130"/>
                    <a:pt x="64" y="130"/>
                  </a:cubicBezTo>
                  <a:cubicBezTo>
                    <a:pt x="64" y="93"/>
                    <a:pt x="93" y="63"/>
                    <a:pt x="131" y="63"/>
                  </a:cubicBez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19">
              <a:extLst>
                <a:ext uri="{FF2B5EF4-FFF2-40B4-BE49-F238E27FC236}">
                  <a16:creationId xmlns:a16="http://schemas.microsoft.com/office/drawing/2014/main" xmlns="" id="{36671134-225E-4B1C-A63A-6781D3EFB277}"/>
                </a:ext>
              </a:extLst>
            </p:cNvPr>
            <p:cNvSpPr/>
            <p:nvPr/>
          </p:nvSpPr>
          <p:spPr bwMode="gray">
            <a:xfrm>
              <a:off x="2052638" y="2743200"/>
              <a:ext cx="96838" cy="374650"/>
            </a:xfrm>
            <a:custGeom>
              <a:avLst/>
              <a:gdLst/>
              <a:ahLst/>
              <a:cxnLst>
                <a:cxn ang="0">
                  <a:pos x="32" y="0"/>
                </a:cxn>
                <a:cxn ang="0">
                  <a:pos x="0" y="32"/>
                </a:cxn>
                <a:cxn ang="0">
                  <a:pos x="0" y="765"/>
                </a:cxn>
                <a:cxn ang="0">
                  <a:pos x="32" y="797"/>
                </a:cxn>
                <a:cxn ang="0">
                  <a:pos x="175" y="797"/>
                </a:cxn>
                <a:cxn ang="0">
                  <a:pos x="206" y="765"/>
                </a:cxn>
                <a:cxn ang="0">
                  <a:pos x="206" y="32"/>
                </a:cxn>
                <a:cxn ang="0">
                  <a:pos x="175" y="0"/>
                </a:cxn>
                <a:cxn ang="0">
                  <a:pos x="32" y="0"/>
                </a:cxn>
              </a:cxnLst>
              <a:rect l="0" t="0" r="r" b="b"/>
              <a:pathLst>
                <a:path w="206" h="797">
                  <a:moveTo>
                    <a:pt x="32" y="0"/>
                  </a:moveTo>
                  <a:cubicBezTo>
                    <a:pt x="15" y="0"/>
                    <a:pt x="0" y="15"/>
                    <a:pt x="0" y="32"/>
                  </a:cubicBezTo>
                  <a:cubicBezTo>
                    <a:pt x="0" y="765"/>
                    <a:pt x="0" y="765"/>
                    <a:pt x="0" y="765"/>
                  </a:cubicBezTo>
                  <a:cubicBezTo>
                    <a:pt x="0" y="782"/>
                    <a:pt x="15" y="797"/>
                    <a:pt x="32" y="797"/>
                  </a:cubicBezTo>
                  <a:cubicBezTo>
                    <a:pt x="175" y="797"/>
                    <a:pt x="175" y="797"/>
                    <a:pt x="175" y="797"/>
                  </a:cubicBezTo>
                  <a:cubicBezTo>
                    <a:pt x="191" y="797"/>
                    <a:pt x="206" y="782"/>
                    <a:pt x="206" y="765"/>
                  </a:cubicBezTo>
                  <a:cubicBezTo>
                    <a:pt x="206" y="32"/>
                    <a:pt x="206" y="32"/>
                    <a:pt x="206" y="32"/>
                  </a:cubicBezTo>
                  <a:cubicBezTo>
                    <a:pt x="206" y="15"/>
                    <a:pt x="191" y="0"/>
                    <a:pt x="175" y="0"/>
                  </a:cubicBezTo>
                  <a:lnTo>
                    <a:pt x="32"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20">
              <a:extLst>
                <a:ext uri="{FF2B5EF4-FFF2-40B4-BE49-F238E27FC236}">
                  <a16:creationId xmlns:a16="http://schemas.microsoft.com/office/drawing/2014/main" xmlns="" id="{AE12DBE2-A481-421F-B6B0-83841C8EB8E0}"/>
                </a:ext>
              </a:extLst>
            </p:cNvPr>
            <p:cNvSpPr/>
            <p:nvPr/>
          </p:nvSpPr>
          <p:spPr bwMode="gray">
            <a:xfrm>
              <a:off x="2179638" y="2774950"/>
              <a:ext cx="96838" cy="342900"/>
            </a:xfrm>
            <a:custGeom>
              <a:avLst/>
              <a:gdLst/>
              <a:ahLst/>
              <a:cxnLst>
                <a:cxn ang="0">
                  <a:pos x="32" y="0"/>
                </a:cxn>
                <a:cxn ang="0">
                  <a:pos x="0" y="32"/>
                </a:cxn>
                <a:cxn ang="0">
                  <a:pos x="0" y="699"/>
                </a:cxn>
                <a:cxn ang="0">
                  <a:pos x="32" y="731"/>
                </a:cxn>
                <a:cxn ang="0">
                  <a:pos x="175" y="731"/>
                </a:cxn>
                <a:cxn ang="0">
                  <a:pos x="207" y="699"/>
                </a:cxn>
                <a:cxn ang="0">
                  <a:pos x="207" y="32"/>
                </a:cxn>
                <a:cxn ang="0">
                  <a:pos x="175" y="0"/>
                </a:cxn>
                <a:cxn ang="0">
                  <a:pos x="32" y="0"/>
                </a:cxn>
              </a:cxnLst>
              <a:rect l="0" t="0" r="r" b="b"/>
              <a:pathLst>
                <a:path w="207" h="731">
                  <a:moveTo>
                    <a:pt x="32" y="0"/>
                  </a:moveTo>
                  <a:cubicBezTo>
                    <a:pt x="15" y="0"/>
                    <a:pt x="0" y="16"/>
                    <a:pt x="0" y="32"/>
                  </a:cubicBezTo>
                  <a:cubicBezTo>
                    <a:pt x="0" y="699"/>
                    <a:pt x="0" y="699"/>
                    <a:pt x="0" y="699"/>
                  </a:cubicBezTo>
                  <a:cubicBezTo>
                    <a:pt x="0" y="716"/>
                    <a:pt x="15" y="731"/>
                    <a:pt x="32" y="731"/>
                  </a:cubicBezTo>
                  <a:cubicBezTo>
                    <a:pt x="175" y="731"/>
                    <a:pt x="175" y="731"/>
                    <a:pt x="175" y="731"/>
                  </a:cubicBezTo>
                  <a:cubicBezTo>
                    <a:pt x="191" y="731"/>
                    <a:pt x="207" y="716"/>
                    <a:pt x="207" y="699"/>
                  </a:cubicBezTo>
                  <a:cubicBezTo>
                    <a:pt x="207" y="32"/>
                    <a:pt x="207" y="32"/>
                    <a:pt x="207" y="32"/>
                  </a:cubicBezTo>
                  <a:cubicBezTo>
                    <a:pt x="207" y="16"/>
                    <a:pt x="191" y="0"/>
                    <a:pt x="175" y="0"/>
                  </a:cubicBezTo>
                  <a:lnTo>
                    <a:pt x="32"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21">
              <a:extLst>
                <a:ext uri="{FF2B5EF4-FFF2-40B4-BE49-F238E27FC236}">
                  <a16:creationId xmlns:a16="http://schemas.microsoft.com/office/drawing/2014/main" xmlns="" id="{88471F47-ECFE-4204-AE1F-5A489FDB87C4}"/>
                </a:ext>
              </a:extLst>
            </p:cNvPr>
            <p:cNvSpPr/>
            <p:nvPr/>
          </p:nvSpPr>
          <p:spPr bwMode="gray">
            <a:xfrm>
              <a:off x="2306638" y="2733675"/>
              <a:ext cx="96838" cy="158750"/>
            </a:xfrm>
            <a:custGeom>
              <a:avLst/>
              <a:gdLst/>
              <a:ahLst/>
              <a:cxnLst>
                <a:cxn ang="0">
                  <a:pos x="32" y="0"/>
                </a:cxn>
                <a:cxn ang="0">
                  <a:pos x="0" y="32"/>
                </a:cxn>
                <a:cxn ang="0">
                  <a:pos x="0" y="338"/>
                </a:cxn>
                <a:cxn ang="0">
                  <a:pos x="94" y="240"/>
                </a:cxn>
                <a:cxn ang="0">
                  <a:pos x="105" y="232"/>
                </a:cxn>
                <a:cxn ang="0">
                  <a:pos x="118" y="223"/>
                </a:cxn>
                <a:cxn ang="0">
                  <a:pos x="126" y="219"/>
                </a:cxn>
                <a:cxn ang="0">
                  <a:pos x="130" y="216"/>
                </a:cxn>
                <a:cxn ang="0">
                  <a:pos x="134" y="214"/>
                </a:cxn>
                <a:cxn ang="0">
                  <a:pos x="146" y="207"/>
                </a:cxn>
                <a:cxn ang="0">
                  <a:pos x="147" y="206"/>
                </a:cxn>
                <a:cxn ang="0">
                  <a:pos x="161" y="199"/>
                </a:cxn>
                <a:cxn ang="0">
                  <a:pos x="207" y="180"/>
                </a:cxn>
                <a:cxn ang="0">
                  <a:pos x="207" y="32"/>
                </a:cxn>
                <a:cxn ang="0">
                  <a:pos x="175" y="0"/>
                </a:cxn>
                <a:cxn ang="0">
                  <a:pos x="32" y="0"/>
                </a:cxn>
              </a:cxnLst>
              <a:rect l="0" t="0" r="r" b="b"/>
              <a:pathLst>
                <a:path w="207" h="338">
                  <a:moveTo>
                    <a:pt x="32" y="0"/>
                  </a:moveTo>
                  <a:cubicBezTo>
                    <a:pt x="16" y="0"/>
                    <a:pt x="0" y="15"/>
                    <a:pt x="0" y="32"/>
                  </a:cubicBezTo>
                  <a:cubicBezTo>
                    <a:pt x="0" y="338"/>
                    <a:pt x="0" y="338"/>
                    <a:pt x="0" y="338"/>
                  </a:cubicBezTo>
                  <a:cubicBezTo>
                    <a:pt x="26" y="301"/>
                    <a:pt x="58" y="268"/>
                    <a:pt x="94" y="240"/>
                  </a:cubicBezTo>
                  <a:cubicBezTo>
                    <a:pt x="98" y="238"/>
                    <a:pt x="102" y="235"/>
                    <a:pt x="105" y="232"/>
                  </a:cubicBezTo>
                  <a:cubicBezTo>
                    <a:pt x="110" y="229"/>
                    <a:pt x="114" y="226"/>
                    <a:pt x="118" y="223"/>
                  </a:cubicBezTo>
                  <a:cubicBezTo>
                    <a:pt x="121" y="222"/>
                    <a:pt x="123" y="220"/>
                    <a:pt x="126" y="219"/>
                  </a:cubicBezTo>
                  <a:cubicBezTo>
                    <a:pt x="127" y="218"/>
                    <a:pt x="129" y="217"/>
                    <a:pt x="130" y="216"/>
                  </a:cubicBezTo>
                  <a:cubicBezTo>
                    <a:pt x="132" y="215"/>
                    <a:pt x="133" y="214"/>
                    <a:pt x="134" y="214"/>
                  </a:cubicBezTo>
                  <a:cubicBezTo>
                    <a:pt x="138" y="211"/>
                    <a:pt x="142" y="209"/>
                    <a:pt x="146" y="207"/>
                  </a:cubicBezTo>
                  <a:cubicBezTo>
                    <a:pt x="146" y="207"/>
                    <a:pt x="147" y="206"/>
                    <a:pt x="147" y="206"/>
                  </a:cubicBezTo>
                  <a:cubicBezTo>
                    <a:pt x="151" y="204"/>
                    <a:pt x="156" y="201"/>
                    <a:pt x="161" y="199"/>
                  </a:cubicBezTo>
                  <a:cubicBezTo>
                    <a:pt x="176" y="192"/>
                    <a:pt x="191" y="185"/>
                    <a:pt x="207" y="180"/>
                  </a:cubicBezTo>
                  <a:cubicBezTo>
                    <a:pt x="207" y="32"/>
                    <a:pt x="207" y="32"/>
                    <a:pt x="207" y="32"/>
                  </a:cubicBezTo>
                  <a:cubicBezTo>
                    <a:pt x="207" y="15"/>
                    <a:pt x="192" y="0"/>
                    <a:pt x="175" y="0"/>
                  </a:cubicBezTo>
                  <a:lnTo>
                    <a:pt x="32"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22">
              <a:extLst>
                <a:ext uri="{FF2B5EF4-FFF2-40B4-BE49-F238E27FC236}">
                  <a16:creationId xmlns:a16="http://schemas.microsoft.com/office/drawing/2014/main" xmlns="" id="{B5455CEE-EE4D-4BE6-A71E-18A2ABC7735C}"/>
                </a:ext>
              </a:extLst>
            </p:cNvPr>
            <p:cNvSpPr/>
            <p:nvPr/>
          </p:nvSpPr>
          <p:spPr bwMode="gray">
            <a:xfrm>
              <a:off x="1924050" y="2868613"/>
              <a:ext cx="96838" cy="249238"/>
            </a:xfrm>
            <a:custGeom>
              <a:avLst/>
              <a:gdLst/>
              <a:ahLst/>
              <a:cxnLst>
                <a:cxn ang="0">
                  <a:pos x="32" y="0"/>
                </a:cxn>
                <a:cxn ang="0">
                  <a:pos x="0" y="32"/>
                </a:cxn>
                <a:cxn ang="0">
                  <a:pos x="0" y="498"/>
                </a:cxn>
                <a:cxn ang="0">
                  <a:pos x="32" y="530"/>
                </a:cxn>
                <a:cxn ang="0">
                  <a:pos x="175" y="530"/>
                </a:cxn>
                <a:cxn ang="0">
                  <a:pos x="206" y="498"/>
                </a:cxn>
                <a:cxn ang="0">
                  <a:pos x="206" y="32"/>
                </a:cxn>
                <a:cxn ang="0">
                  <a:pos x="175" y="0"/>
                </a:cxn>
                <a:cxn ang="0">
                  <a:pos x="32" y="0"/>
                </a:cxn>
              </a:cxnLst>
              <a:rect l="0" t="0" r="r" b="b"/>
              <a:pathLst>
                <a:path w="206" h="530">
                  <a:moveTo>
                    <a:pt x="32" y="0"/>
                  </a:moveTo>
                  <a:cubicBezTo>
                    <a:pt x="15" y="0"/>
                    <a:pt x="0" y="15"/>
                    <a:pt x="0" y="32"/>
                  </a:cubicBezTo>
                  <a:cubicBezTo>
                    <a:pt x="0" y="498"/>
                    <a:pt x="0" y="498"/>
                    <a:pt x="0" y="498"/>
                  </a:cubicBezTo>
                  <a:cubicBezTo>
                    <a:pt x="0" y="515"/>
                    <a:pt x="15" y="530"/>
                    <a:pt x="32" y="530"/>
                  </a:cubicBezTo>
                  <a:cubicBezTo>
                    <a:pt x="175" y="530"/>
                    <a:pt x="175" y="530"/>
                    <a:pt x="175" y="530"/>
                  </a:cubicBezTo>
                  <a:cubicBezTo>
                    <a:pt x="191" y="530"/>
                    <a:pt x="206" y="515"/>
                    <a:pt x="206" y="498"/>
                  </a:cubicBezTo>
                  <a:cubicBezTo>
                    <a:pt x="206" y="32"/>
                    <a:pt x="206" y="32"/>
                    <a:pt x="206" y="32"/>
                  </a:cubicBezTo>
                  <a:cubicBezTo>
                    <a:pt x="206" y="15"/>
                    <a:pt x="191" y="0"/>
                    <a:pt x="175" y="0"/>
                  </a:cubicBezTo>
                  <a:lnTo>
                    <a:pt x="32" y="0"/>
                  </a:ln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23">
              <a:extLst>
                <a:ext uri="{FF2B5EF4-FFF2-40B4-BE49-F238E27FC236}">
                  <a16:creationId xmlns:a16="http://schemas.microsoft.com/office/drawing/2014/main" xmlns="" id="{E7D2F0FE-7E34-4EF5-8D67-2AE4AA6D5CD8}"/>
                </a:ext>
              </a:extLst>
            </p:cNvPr>
            <p:cNvSpPr/>
            <p:nvPr/>
          </p:nvSpPr>
          <p:spPr bwMode="gray">
            <a:xfrm>
              <a:off x="2436813" y="2705100"/>
              <a:ext cx="96838" cy="117475"/>
            </a:xfrm>
            <a:custGeom>
              <a:avLst/>
              <a:gdLst/>
              <a:ahLst/>
              <a:cxnLst>
                <a:cxn ang="0">
                  <a:pos x="32" y="0"/>
                </a:cxn>
                <a:cxn ang="0">
                  <a:pos x="0" y="32"/>
                </a:cxn>
                <a:cxn ang="0">
                  <a:pos x="0" y="226"/>
                </a:cxn>
                <a:cxn ang="0">
                  <a:pos x="55" y="222"/>
                </a:cxn>
                <a:cxn ang="0">
                  <a:pos x="68" y="222"/>
                </a:cxn>
                <a:cxn ang="0">
                  <a:pos x="206" y="251"/>
                </a:cxn>
                <a:cxn ang="0">
                  <a:pos x="206" y="32"/>
                </a:cxn>
                <a:cxn ang="0">
                  <a:pos x="175" y="0"/>
                </a:cxn>
                <a:cxn ang="0">
                  <a:pos x="32" y="0"/>
                </a:cxn>
              </a:cxnLst>
              <a:rect l="0" t="0" r="r" b="b"/>
              <a:pathLst>
                <a:path w="206" h="251">
                  <a:moveTo>
                    <a:pt x="32" y="0"/>
                  </a:moveTo>
                  <a:cubicBezTo>
                    <a:pt x="15" y="0"/>
                    <a:pt x="0" y="15"/>
                    <a:pt x="0" y="32"/>
                  </a:cubicBezTo>
                  <a:cubicBezTo>
                    <a:pt x="0" y="226"/>
                    <a:pt x="0" y="226"/>
                    <a:pt x="0" y="226"/>
                  </a:cubicBezTo>
                  <a:cubicBezTo>
                    <a:pt x="18" y="223"/>
                    <a:pt x="37" y="222"/>
                    <a:pt x="55" y="222"/>
                  </a:cubicBezTo>
                  <a:cubicBezTo>
                    <a:pt x="59" y="222"/>
                    <a:pt x="63" y="222"/>
                    <a:pt x="68" y="222"/>
                  </a:cubicBezTo>
                  <a:cubicBezTo>
                    <a:pt x="115" y="223"/>
                    <a:pt x="163" y="233"/>
                    <a:pt x="206" y="251"/>
                  </a:cubicBezTo>
                  <a:cubicBezTo>
                    <a:pt x="206" y="32"/>
                    <a:pt x="206" y="32"/>
                    <a:pt x="206" y="32"/>
                  </a:cubicBezTo>
                  <a:cubicBezTo>
                    <a:pt x="206" y="15"/>
                    <a:pt x="191" y="0"/>
                    <a:pt x="175" y="0"/>
                  </a:cubicBezTo>
                  <a:cubicBezTo>
                    <a:pt x="32" y="0"/>
                    <a:pt x="32" y="0"/>
                    <a:pt x="32" y="0"/>
                  </a:cubicBezTo>
                  <a:close/>
                </a:path>
              </a:pathLst>
            </a:custGeom>
            <a:grpFill/>
            <a:ln>
              <a:noFill/>
            </a:ln>
            <a:effectLst/>
          </p:spPr>
          <p:txBody>
            <a:bodyPr vert="horz" wrap="square" lIns="91416" tIns="45708" rIns="91416" bIns="45708" numCol="1" rtlCol="0" anchor="t" anchorCtr="0" compatLnSpc="1"/>
            <a:lstStyle/>
            <a:p>
              <a:pPr>
                <a:buClr>
                  <a:srgbClr val="CC9900"/>
                </a:buClr>
                <a:buFont typeface="Wingdings" panose="05000000000000000000" pitchFamily="2" charset="2"/>
                <a:buChar char="n"/>
              </a:pP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1" name="弧形 70">
            <a:extLst>
              <a:ext uri="{FF2B5EF4-FFF2-40B4-BE49-F238E27FC236}">
                <a16:creationId xmlns:a16="http://schemas.microsoft.com/office/drawing/2014/main" xmlns="" id="{886006DC-FEC0-42C0-9375-40A3C653565C}"/>
              </a:ext>
            </a:extLst>
          </p:cNvPr>
          <p:cNvSpPr/>
          <p:nvPr/>
        </p:nvSpPr>
        <p:spPr bwMode="gray">
          <a:xfrm>
            <a:off x="2867033" y="3219330"/>
            <a:ext cx="598977" cy="578393"/>
          </a:xfrm>
          <a:prstGeom prst="arc">
            <a:avLst>
              <a:gd name="adj1" fmla="val 14445679"/>
              <a:gd name="adj2" fmla="val 10762572"/>
            </a:avLst>
          </a:prstGeom>
          <a:noFill/>
          <a:ln w="12700" cap="rnd" cmpd="sng" algn="ctr">
            <a:solidFill>
              <a:srgbClr val="0070C0"/>
            </a:solidFill>
            <a:prstDash val="solid"/>
            <a:miter lim="800000"/>
            <a:tailEnd type="oval" w="sm" len="sm"/>
          </a:ln>
          <a:effectLst/>
        </p:spPr>
        <p:txBody>
          <a:bodyPr rtlCol="0" anchor="ctr"/>
          <a:lstStyle/>
          <a:p>
            <a:pPr algn="ctr" defTabSz="456565"/>
            <a:endParaRPr lang="zh-CN" altLang="en-US" sz="105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225">
            <a:extLst>
              <a:ext uri="{FF2B5EF4-FFF2-40B4-BE49-F238E27FC236}">
                <a16:creationId xmlns:a16="http://schemas.microsoft.com/office/drawing/2014/main" xmlns="" id="{3038B91D-8FDD-483B-B389-68B517AD0D91}"/>
              </a:ext>
            </a:extLst>
          </p:cNvPr>
          <p:cNvSpPr txBox="1">
            <a:spLocks noChangeArrowheads="1"/>
          </p:cNvSpPr>
          <p:nvPr/>
        </p:nvSpPr>
        <p:spPr bwMode="gray">
          <a:xfrm>
            <a:off x="2842193" y="3314196"/>
            <a:ext cx="662638" cy="461665"/>
          </a:xfrm>
          <a:prstGeom prst="rect">
            <a:avLst/>
          </a:prstGeom>
          <a:noFill/>
          <a:ln w="9525">
            <a:noFill/>
            <a:miter lim="800000"/>
          </a:ln>
        </p:spPr>
        <p:txBody>
          <a:bodyPr wrap="square">
            <a:spAutoFit/>
          </a:bodyPr>
          <a:lstStyle/>
          <a:p>
            <a:pPr>
              <a:buSzPct val="100000"/>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店铺管理系统</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a:stCxn id="26" idx="0"/>
          </p:cNvCxnSpPr>
          <p:nvPr/>
        </p:nvCxnSpPr>
        <p:spPr bwMode="gray">
          <a:xfrm flipV="1">
            <a:off x="2359623" y="3696974"/>
            <a:ext cx="552424" cy="324213"/>
          </a:xfrm>
          <a:prstGeom prst="line">
            <a:avLst/>
          </a:prstGeom>
        </p:spPr>
        <p:style>
          <a:lnRef idx="1">
            <a:schemeClr val="accent1"/>
          </a:lnRef>
          <a:fillRef idx="0">
            <a:schemeClr val="accent1"/>
          </a:fillRef>
          <a:effectRef idx="0">
            <a:schemeClr val="accent1"/>
          </a:effectRef>
          <a:fontRef idx="minor">
            <a:schemeClr val="tx1"/>
          </a:fontRef>
        </p:style>
      </p:cxnSp>
      <p:sp>
        <p:nvSpPr>
          <p:cNvPr id="76" name="314623880">
            <a:extLst>
              <a:ext uri="{FF2B5EF4-FFF2-40B4-BE49-F238E27FC236}">
                <a16:creationId xmlns:a16="http://schemas.microsoft.com/office/drawing/2014/main" xmlns="" id="{7911C793-00AB-43A4-BD6D-499B7257D192}"/>
              </a:ext>
            </a:extLst>
          </p:cNvPr>
          <p:cNvSpPr/>
          <p:nvPr/>
        </p:nvSpPr>
        <p:spPr bwMode="gray">
          <a:xfrm>
            <a:off x="1141725" y="5830145"/>
            <a:ext cx="893792" cy="217494"/>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电子价签</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314623880">
            <a:extLst>
              <a:ext uri="{FF2B5EF4-FFF2-40B4-BE49-F238E27FC236}">
                <a16:creationId xmlns:a16="http://schemas.microsoft.com/office/drawing/2014/main" xmlns="" id="{7911C793-00AB-43A4-BD6D-499B7257D192}"/>
              </a:ext>
            </a:extLst>
          </p:cNvPr>
          <p:cNvSpPr/>
          <p:nvPr/>
        </p:nvSpPr>
        <p:spPr bwMode="gray">
          <a:xfrm>
            <a:off x="3148075" y="4743423"/>
            <a:ext cx="1124314" cy="247892"/>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en-US" altLang="zh-CN" sz="12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AP4050DN-E</a:t>
            </a:r>
          </a:p>
          <a:p>
            <a:pPr algn="ctr" defTabSz="1219078" fontAlgn="ctr">
              <a:spcBef>
                <a:spcPts val="0"/>
              </a:spcBef>
              <a:spcAft>
                <a:spcPts val="0"/>
              </a:spcAft>
              <a:buClr>
                <a:srgbClr val="CC9900"/>
              </a:buClr>
              <a:defRPr/>
            </a:pPr>
            <a:r>
              <a:rPr lang="en-US" altLang="zh-CN" sz="12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IoT</a:t>
            </a:r>
            <a:r>
              <a:rPr lang="zh-CN" altLang="en-US" sz="12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插卡</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314623880">
            <a:extLst>
              <a:ext uri="{FF2B5EF4-FFF2-40B4-BE49-F238E27FC236}">
                <a16:creationId xmlns:a16="http://schemas.microsoft.com/office/drawing/2014/main" xmlns="" id="{7911C793-00AB-43A4-BD6D-499B7257D192}"/>
              </a:ext>
            </a:extLst>
          </p:cNvPr>
          <p:cNvSpPr/>
          <p:nvPr/>
        </p:nvSpPr>
        <p:spPr bwMode="gray">
          <a:xfrm>
            <a:off x="2317961" y="4019289"/>
            <a:ext cx="1048464" cy="247892"/>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zh-CN" altLang="en-US" sz="1200"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交换机</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314623880">
            <a:extLst>
              <a:ext uri="{FF2B5EF4-FFF2-40B4-BE49-F238E27FC236}">
                <a16:creationId xmlns:a16="http://schemas.microsoft.com/office/drawing/2014/main" xmlns="" id="{7911C793-00AB-43A4-BD6D-499B7257D192}"/>
              </a:ext>
            </a:extLst>
          </p:cNvPr>
          <p:cNvSpPr/>
          <p:nvPr/>
        </p:nvSpPr>
        <p:spPr bwMode="gray">
          <a:xfrm>
            <a:off x="555955" y="4033341"/>
            <a:ext cx="1048464" cy="247892"/>
          </a:xfrm>
          <a:prstGeom prst="rect">
            <a:avLst/>
          </a:prstGeom>
        </p:spPr>
        <p:txBody>
          <a:bodyPr wrap="square" lIns="91386" tIns="45690" rIns="91386" bIns="45690">
            <a:noAutofit/>
          </a:bodyPr>
          <a:lstStyle/>
          <a:p>
            <a:pPr algn="ctr" defTabSz="1219078" fontAlgn="ctr">
              <a:spcBef>
                <a:spcPts val="0"/>
              </a:spcBef>
              <a:spcAft>
                <a:spcPts val="0"/>
              </a:spcAft>
              <a:buClr>
                <a:srgbClr val="CC9900"/>
              </a:buClr>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AC</a:t>
            </a:r>
          </a:p>
        </p:txBody>
      </p:sp>
      <p:grpSp>
        <p:nvGrpSpPr>
          <p:cNvPr id="57" name="组合 56"/>
          <p:cNvGrpSpPr/>
          <p:nvPr/>
        </p:nvGrpSpPr>
        <p:grpSpPr>
          <a:xfrm>
            <a:off x="1265485" y="5594312"/>
            <a:ext cx="640080" cy="205485"/>
            <a:chOff x="2309838" y="5520907"/>
            <a:chExt cx="640080" cy="205485"/>
          </a:xfrm>
        </p:grpSpPr>
        <p:sp>
          <p:nvSpPr>
            <p:cNvPr id="58" name="矩形 57"/>
            <p:cNvSpPr/>
            <p:nvPr/>
          </p:nvSpPr>
          <p:spPr>
            <a:xfrm>
              <a:off x="2309838" y="5524487"/>
              <a:ext cx="640080" cy="1983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2385235" y="5545526"/>
              <a:ext cx="525790" cy="146371"/>
            </a:xfrm>
            <a:prstGeom prst="rect">
              <a:avLst/>
            </a:prstGeom>
            <a:solidFill>
              <a:srgbClr val="8B8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30.0</a:t>
              </a:r>
              <a:endParaRPr lang="zh-CN" altLang="en-US" sz="1200" dirty="0"/>
            </a:p>
          </p:txBody>
        </p:sp>
        <p:cxnSp>
          <p:nvCxnSpPr>
            <p:cNvPr id="73" name="直接连接符 72"/>
            <p:cNvCxnSpPr/>
            <p:nvPr/>
          </p:nvCxnSpPr>
          <p:spPr>
            <a:xfrm>
              <a:off x="2331756" y="5526140"/>
              <a:ext cx="0" cy="2002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2331756" y="5520907"/>
              <a:ext cx="0" cy="2002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2360488" y="5520907"/>
              <a:ext cx="0" cy="2002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2659862" y="5594312"/>
            <a:ext cx="640080" cy="205485"/>
            <a:chOff x="2309838" y="5520907"/>
            <a:chExt cx="640080" cy="205485"/>
          </a:xfrm>
        </p:grpSpPr>
        <p:sp>
          <p:nvSpPr>
            <p:cNvPr id="83" name="矩形 82"/>
            <p:cNvSpPr/>
            <p:nvPr/>
          </p:nvSpPr>
          <p:spPr>
            <a:xfrm>
              <a:off x="2309838" y="5524487"/>
              <a:ext cx="640080" cy="1983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2385235" y="5545526"/>
              <a:ext cx="525790" cy="146371"/>
            </a:xfrm>
            <a:prstGeom prst="rect">
              <a:avLst/>
            </a:prstGeom>
            <a:solidFill>
              <a:srgbClr val="8B8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t>30.0</a:t>
              </a:r>
              <a:endParaRPr lang="zh-CN" altLang="en-US" sz="1200" dirty="0"/>
            </a:p>
          </p:txBody>
        </p:sp>
        <p:cxnSp>
          <p:nvCxnSpPr>
            <p:cNvPr id="85" name="直接连接符 84"/>
            <p:cNvCxnSpPr/>
            <p:nvPr/>
          </p:nvCxnSpPr>
          <p:spPr>
            <a:xfrm>
              <a:off x="2331756" y="5526140"/>
              <a:ext cx="0" cy="2002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2331756" y="5520907"/>
              <a:ext cx="0" cy="2002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2360488" y="5520907"/>
              <a:ext cx="0" cy="2002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29090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smtClean="0">
                <a:sym typeface="Huawei Sans" panose="020C0503030203020204" pitchFamily="34" charset="0"/>
              </a:rPr>
              <a:t>(</a:t>
            </a:r>
            <a:r>
              <a:rPr lang="zh-CN" altLang="en-US" dirty="0" smtClean="0">
                <a:sym typeface="Huawei Sans" panose="020C0503030203020204" pitchFamily="34" charset="0"/>
              </a:rPr>
              <a:t>多选题</a:t>
            </a:r>
            <a:r>
              <a:rPr lang="en-US" altLang="zh-CN" dirty="0" smtClean="0">
                <a:sym typeface="Huawei Sans" panose="020C0503030203020204" pitchFamily="34" charset="0"/>
              </a:rPr>
              <a:t>)</a:t>
            </a:r>
            <a:r>
              <a:rPr lang="zh-CN" altLang="en-US" dirty="0" smtClean="0">
                <a:sym typeface="Huawei Sans" panose="020C0503030203020204" pitchFamily="34" charset="0"/>
              </a:rPr>
              <a:t>智简园区开放支持哪几个层级？</a:t>
            </a:r>
            <a:r>
              <a:rPr lang="en-US" altLang="zh-CN" dirty="0" smtClean="0">
                <a:sym typeface="Huawei Sans" panose="020C0503030203020204" pitchFamily="34" charset="0"/>
              </a:rPr>
              <a:t>(     )</a:t>
            </a:r>
          </a:p>
          <a:p>
            <a:pPr lvl="1"/>
            <a:r>
              <a:rPr lang="zh-CN" altLang="en-US" dirty="0" smtClean="0">
                <a:sym typeface="Huawei Sans" panose="020C0503030203020204" pitchFamily="34" charset="0"/>
              </a:rPr>
              <a:t>应用层</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平台层</a:t>
            </a:r>
          </a:p>
          <a:p>
            <a:pPr lvl="1"/>
            <a:r>
              <a:rPr lang="zh-CN" altLang="en-US" dirty="0" smtClean="0">
                <a:sym typeface="Huawei Sans" panose="020C0503030203020204" pitchFamily="34" charset="0"/>
              </a:rPr>
              <a:t>网络层</a:t>
            </a:r>
          </a:p>
          <a:p>
            <a:pPr lvl="1"/>
            <a:r>
              <a:rPr lang="zh-CN" altLang="en-US" dirty="0" smtClean="0">
                <a:sym typeface="Huawei Sans" panose="020C0503030203020204" pitchFamily="34" charset="0"/>
              </a:rPr>
              <a:t>终端层</a:t>
            </a:r>
            <a:endParaRPr lang="en-US" altLang="zh-CN" dirty="0" smtClean="0">
              <a:sym typeface="Huawei Sans" panose="020C0503030203020204" pitchFamily="34" charset="0"/>
            </a:endParaRPr>
          </a:p>
          <a:p>
            <a:endParaRPr lang="en-US" altLang="zh-CN" dirty="0">
              <a:sym typeface="Huawei Sans" panose="020C0503030203020204" pitchFamily="34" charset="0"/>
            </a:endParaRPr>
          </a:p>
        </p:txBody>
      </p:sp>
    </p:spTree>
    <p:extLst>
      <p:ext uri="{BB962C8B-B14F-4D97-AF65-F5344CB8AC3E}">
        <p14:creationId xmlns:p14="http://schemas.microsoft.com/office/powerpoint/2010/main" val="14496579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p:txBody>
          <a:bodyPr/>
          <a:lstStyle/>
          <a:p>
            <a:r>
              <a:rPr lang="zh-CN" altLang="en-US" smtClean="0">
                <a:sym typeface="Huawei Sans" panose="020C0503030203020204" pitchFamily="34" charset="0"/>
              </a:rPr>
              <a:t>本章通过介绍华为智简园区生态开放的方案架构、合作场景、</a:t>
            </a:r>
            <a:r>
              <a:rPr lang="en-US" altLang="zh-CN" smtClean="0">
                <a:sym typeface="Huawei Sans" panose="020C0503030203020204" pitchFamily="34" charset="0"/>
              </a:rPr>
              <a:t>API</a:t>
            </a:r>
            <a:r>
              <a:rPr lang="zh-CN" altLang="en-US" smtClean="0">
                <a:sym typeface="Huawei Sans" panose="020C0503030203020204" pitchFamily="34" charset="0"/>
              </a:rPr>
              <a:t>报文结构等，让读者了解华为智简园区生态开放的基本能力，并指导用户进行生态开放对接和应用，助力</a:t>
            </a:r>
            <a:r>
              <a:rPr lang="en-US" altLang="zh-CN" smtClean="0">
                <a:sym typeface="Huawei Sans" panose="020C0503030203020204" pitchFamily="34" charset="0"/>
              </a:rPr>
              <a:t>MSP</a:t>
            </a:r>
            <a:r>
              <a:rPr lang="zh-CN" altLang="en-US" smtClean="0">
                <a:sym typeface="Huawei Sans" panose="020C0503030203020204" pitchFamily="34" charset="0"/>
              </a:rPr>
              <a:t>、增值应用伙伴、客户快速实现系统对接、业务融合，帮助客户和伙伴实现网络价值最大化。</a:t>
            </a:r>
            <a:endParaRPr lang="zh-CN" altLang="en-US" dirty="0">
              <a:sym typeface="Huawei Sans" panose="020C0503030203020204" pitchFamily="34" charset="0"/>
            </a:endParaRPr>
          </a:p>
        </p:txBody>
      </p:sp>
    </p:spTree>
    <p:extLst>
      <p:ext uri="{BB962C8B-B14F-4D97-AF65-F5344CB8AC3E}">
        <p14:creationId xmlns:p14="http://schemas.microsoft.com/office/powerpoint/2010/main" val="20288343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998978"/>
      </p:ext>
    </p:extLst>
  </p:cSld>
  <p:clrMapOvr>
    <a:masterClrMapping/>
  </p:clrMapOvr>
  <p:timing>
    <p:tnLst>
      <p:par>
        <p:cTn id="1" dur="indefinite" restart="never" nodeType="tmRoot"/>
      </p:par>
    </p:tnLst>
  </p:timing>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DEEB0E9-00EA-408C-ACF9-E196FC2B2D38}"/>
</file>

<file path=customXml/itemProps2.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3.xml><?xml version="1.0" encoding="utf-8"?>
<ds:datastoreItem xmlns:ds="http://schemas.openxmlformats.org/officeDocument/2006/customXml" ds:itemID="{DA5960F2-6186-408B-A0DC-5CA5E58B604F}">
  <ds:schemaRefs>
    <ds:schemaRef ds:uri="http://schemas.microsoft.com/office/2006/metadata/properties"/>
    <ds:schemaRef ds:uri="http://purl.org/dc/elements/1.1/"/>
    <ds:schemaRef ds:uri="http://www.w3.org/XML/1998/namespace"/>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475f1e55-3009-46d8-9566-5d569a2b3a98"/>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13865</TotalTime>
  <Words>3907</Words>
  <Application>Microsoft Office PowerPoint</Application>
  <PresentationFormat>宽屏</PresentationFormat>
  <Paragraphs>637</Paragraphs>
  <Slides>35</Slides>
  <Notes>35</Notes>
  <HiddenSlides>1</HiddenSlides>
  <MMClips>0</MMClips>
  <ScaleCrop>false</ScaleCrop>
  <HeadingPairs>
    <vt:vector size="8" baseType="variant">
      <vt:variant>
        <vt:lpstr>已用的字体</vt:lpstr>
      </vt:variant>
      <vt:variant>
        <vt:i4>11</vt:i4>
      </vt:variant>
      <vt:variant>
        <vt:lpstr>主题</vt:lpstr>
      </vt:variant>
      <vt:variant>
        <vt:i4>4</vt:i4>
      </vt:variant>
      <vt:variant>
        <vt:lpstr>嵌入 OLE 服务器</vt:lpstr>
      </vt:variant>
      <vt:variant>
        <vt:i4>1</vt:i4>
      </vt:variant>
      <vt:variant>
        <vt:lpstr>幻灯片标题</vt:lpstr>
      </vt:variant>
      <vt:variant>
        <vt:i4>35</vt:i4>
      </vt:variant>
    </vt:vector>
  </HeadingPairs>
  <TitlesOfParts>
    <vt:vector size="51" baseType="lpstr">
      <vt:lpstr>FZLanTingHei-L-GBK-M</vt:lpstr>
      <vt:lpstr>方正兰亭黑简体</vt:lpstr>
      <vt:lpstr>方正兰亭细黑_GBK</vt:lpstr>
      <vt:lpstr>宋体</vt:lpstr>
      <vt:lpstr>Microsoft YaHei</vt:lpstr>
      <vt:lpstr>Microsoft YaHei</vt:lpstr>
      <vt:lpstr>Arial</vt:lpstr>
      <vt:lpstr>Calibri</vt:lpstr>
      <vt:lpstr>Courier New</vt:lpstr>
      <vt:lpstr>Huawei Sans</vt:lpstr>
      <vt:lpstr>Wingdings</vt:lpstr>
      <vt:lpstr>2_标题页模板</vt:lpstr>
      <vt:lpstr>3_功能页模板</vt:lpstr>
      <vt:lpstr>4_内容页模板</vt:lpstr>
      <vt:lpstr>5_感谢页模板</vt:lpstr>
      <vt:lpstr>Visio</vt:lpstr>
      <vt:lpstr>PowerPoint 演示文稿</vt:lpstr>
      <vt:lpstr>iMaster NCE-Campus开放API介绍</vt:lpstr>
      <vt:lpstr>PowerPoint 演示文稿</vt:lpstr>
      <vt:lpstr>PowerPoint 演示文稿</vt:lpstr>
      <vt:lpstr>PowerPoint 演示文稿</vt:lpstr>
      <vt:lpstr>CloudCampus解决方案</vt:lpstr>
      <vt:lpstr>智简园区能力开放全景图</vt:lpstr>
      <vt:lpstr>典型合作场景与开放接口</vt:lpstr>
      <vt:lpstr>PowerPoint 演示文稿</vt:lpstr>
      <vt:lpstr>认证授权场景介绍</vt:lpstr>
      <vt:lpstr>基于Authorization API对接流程</vt:lpstr>
      <vt:lpstr>Authorization API对接示例</vt:lpstr>
      <vt:lpstr>基于Portal+RADIUS对接流程</vt:lpstr>
      <vt:lpstr>PowerPoint 演示文稿</vt:lpstr>
      <vt:lpstr>位置服务场景介绍</vt:lpstr>
      <vt:lpstr>HTTP+JSON数据上报流程</vt:lpstr>
      <vt:lpstr>HTTP+JSON数据上报示例</vt:lpstr>
      <vt:lpstr>AP RSSI API数据上报流程</vt:lpstr>
      <vt:lpstr>蓝牙API数据上报流程</vt:lpstr>
      <vt:lpstr>PowerPoint 演示文稿</vt:lpstr>
      <vt:lpstr>人群画像场景介绍</vt:lpstr>
      <vt:lpstr>增值业务API调用</vt:lpstr>
      <vt:lpstr>PowerPoint 演示文稿</vt:lpstr>
      <vt:lpstr>网络运维场景介绍</vt:lpstr>
      <vt:lpstr>网络管理监控对接流程</vt:lpstr>
      <vt:lpstr>PowerPoint 演示文稿</vt:lpstr>
      <vt:lpstr>智慧物联场景介绍</vt:lpstr>
      <vt:lpstr>智慧物联 (开放插卡)</vt:lpstr>
      <vt:lpstr>PowerPoint 演示文稿</vt:lpstr>
      <vt:lpstr>XX城市WIFI统一云化管理</vt:lpstr>
      <vt:lpstr>XX建筑群打造未来商业</vt:lpstr>
      <vt:lpstr>XX超市数字化商超转型</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hejunjianzjhw</cp:lastModifiedBy>
  <cp:revision>638</cp:revision>
  <cp:lastPrinted>2020-07-31T09:33:18Z</cp:lastPrinted>
  <dcterms:created xsi:type="dcterms:W3CDTF">2018-11-29T10:16:29Z</dcterms:created>
  <dcterms:modified xsi:type="dcterms:W3CDTF">2021-11-15T00:45:22Z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(3)VayKXuMGpGaBXBIRet2eOVC8SgkT9ZO9fvd+sHGofl5MvVu+lvaSGUDlPbzGYoW0bgujsR/x
yQhpiVi76ZkNQCKcAd+eVXKwp4Geseh5rBeKnFU5euPfXGukY3loAdLqklTXFjPKeh8F0G+q
NbNxd08EOv0s0qEjOrJTB7XMEysIvjQPHsmphD0Lptx4VBgzywilFYHJq7zcsbf0+QnN1ILw
w9deSwY1zZUyU0+tT/</vt:lpwstr>
  </property>
  <property fmtid="{D5CDD505-2E9C-101B-9397-08002B2CF9AE}" pid="3" name="_2015_ms_pID_7253431">
    <vt:lpwstr>PVPUgQtx4HcjKr9DpeCJvOIQyXCdKUlg2WoaQL6YwpOuTbW2TsgcTE
C4eU8XJHfUv1F7CHxN6fLdke4aD+r1sasEd3L4Vs12snMidG7HDEtaLnvPRhBPVeqM7nsoDt
T54JPSYf+MilhCQb+mmlmy07b/16Tksnzg50kPY6qJxiASRgiaFYuuOtGzCvurJJJlwaj1tx
gXcTGYSflizpgRJ8lYJNe+w65/Nv0qn3y/Kj</vt:lpwstr>
  </property>
  <property fmtid="{D5CDD505-2E9C-101B-9397-08002B2CF9AE}" pid="4" name="_2015_ms_pID_7253432">
    <vt:lpwstr>qg==</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1636935772</vt:lpwstr>
  </property>
</Properties>
</file>