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ink/ink1.xml" ContentType="application/inkml+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notesSlides/notesSlide34.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ags/tag2.xml" ContentType="application/vnd.openxmlformats-officedocument.presentationml.tags+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3.xml" ContentType="application/vnd.openxmlformats-officedocument.presentationml.tags+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104"/>
  </p:notesMasterIdLst>
  <p:handoutMasterIdLst>
    <p:handoutMasterId r:id="rId105"/>
  </p:handoutMasterIdLst>
  <p:sldIdLst>
    <p:sldId id="1571" r:id="rId8"/>
    <p:sldId id="1437" r:id="rId9"/>
    <p:sldId id="1438" r:id="rId10"/>
    <p:sldId id="1439" r:id="rId11"/>
    <p:sldId id="1528" r:id="rId12"/>
    <p:sldId id="1573" r:id="rId13"/>
    <p:sldId id="1574" r:id="rId14"/>
    <p:sldId id="1575" r:id="rId15"/>
    <p:sldId id="1576" r:id="rId16"/>
    <p:sldId id="1577" r:id="rId17"/>
    <p:sldId id="1579" r:id="rId18"/>
    <p:sldId id="1580" r:id="rId19"/>
    <p:sldId id="1581" r:id="rId20"/>
    <p:sldId id="1583" r:id="rId21"/>
    <p:sldId id="1584" r:id="rId22"/>
    <p:sldId id="1586" r:id="rId23"/>
    <p:sldId id="1587" r:id="rId24"/>
    <p:sldId id="1588" r:id="rId25"/>
    <p:sldId id="1659" r:id="rId26"/>
    <p:sldId id="1660" r:id="rId27"/>
    <p:sldId id="1675" r:id="rId28"/>
    <p:sldId id="1661" r:id="rId29"/>
    <p:sldId id="1662" r:id="rId30"/>
    <p:sldId id="1663" r:id="rId31"/>
    <p:sldId id="1664" r:id="rId32"/>
    <p:sldId id="1665" r:id="rId33"/>
    <p:sldId id="1590" r:id="rId34"/>
    <p:sldId id="1593" r:id="rId35"/>
    <p:sldId id="1594" r:id="rId36"/>
    <p:sldId id="1595" r:id="rId37"/>
    <p:sldId id="1596" r:id="rId38"/>
    <p:sldId id="1597" r:id="rId39"/>
    <p:sldId id="1599" r:id="rId40"/>
    <p:sldId id="1600" r:id="rId41"/>
    <p:sldId id="1601" r:id="rId42"/>
    <p:sldId id="1602" r:id="rId43"/>
    <p:sldId id="1603" r:id="rId44"/>
    <p:sldId id="1604" r:id="rId45"/>
    <p:sldId id="1605" r:id="rId46"/>
    <p:sldId id="1606" r:id="rId47"/>
    <p:sldId id="1607" r:id="rId48"/>
    <p:sldId id="1608" r:id="rId49"/>
    <p:sldId id="1609" r:id="rId50"/>
    <p:sldId id="1610" r:id="rId51"/>
    <p:sldId id="1611" r:id="rId52"/>
    <p:sldId id="1612" r:id="rId53"/>
    <p:sldId id="1613" r:id="rId54"/>
    <p:sldId id="1614" r:id="rId55"/>
    <p:sldId id="1616" r:id="rId56"/>
    <p:sldId id="1617" r:id="rId57"/>
    <p:sldId id="1667" r:id="rId58"/>
    <p:sldId id="1668" r:id="rId59"/>
    <p:sldId id="1669" r:id="rId60"/>
    <p:sldId id="1670" r:id="rId61"/>
    <p:sldId id="1671" r:id="rId62"/>
    <p:sldId id="1672" r:id="rId63"/>
    <p:sldId id="1673" r:id="rId64"/>
    <p:sldId id="1674" r:id="rId65"/>
    <p:sldId id="1618" r:id="rId66"/>
    <p:sldId id="1620" r:id="rId67"/>
    <p:sldId id="1621" r:id="rId68"/>
    <p:sldId id="1622" r:id="rId69"/>
    <p:sldId id="1623" r:id="rId70"/>
    <p:sldId id="1624" r:id="rId71"/>
    <p:sldId id="1625" r:id="rId72"/>
    <p:sldId id="1627" r:id="rId73"/>
    <p:sldId id="1628" r:id="rId74"/>
    <p:sldId id="1629" r:id="rId75"/>
    <p:sldId id="1630" r:id="rId76"/>
    <p:sldId id="1631" r:id="rId77"/>
    <p:sldId id="1632" r:id="rId78"/>
    <p:sldId id="1633" r:id="rId79"/>
    <p:sldId id="1635" r:id="rId80"/>
    <p:sldId id="1636" r:id="rId81"/>
    <p:sldId id="1637" r:id="rId82"/>
    <p:sldId id="1638" r:id="rId83"/>
    <p:sldId id="1639" r:id="rId84"/>
    <p:sldId id="1640" r:id="rId85"/>
    <p:sldId id="1641" r:id="rId86"/>
    <p:sldId id="1642" r:id="rId87"/>
    <p:sldId id="1643" r:id="rId88"/>
    <p:sldId id="1646" r:id="rId89"/>
    <p:sldId id="1647" r:id="rId90"/>
    <p:sldId id="1648" r:id="rId91"/>
    <p:sldId id="1649" r:id="rId92"/>
    <p:sldId id="1650" r:id="rId93"/>
    <p:sldId id="1651" r:id="rId94"/>
    <p:sldId id="1652" r:id="rId95"/>
    <p:sldId id="1654" r:id="rId96"/>
    <p:sldId id="1655" r:id="rId97"/>
    <p:sldId id="1656" r:id="rId98"/>
    <p:sldId id="1657" r:id="rId99"/>
    <p:sldId id="1658" r:id="rId100"/>
    <p:sldId id="1460" r:id="rId101"/>
    <p:sldId id="1462" r:id="rId102"/>
    <p:sldId id="1465" r:id="rId103"/>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59" clrIdx="0">
    <p:extLst>
      <p:ext uri="{19B8F6BF-5375-455C-9EA6-DF929625EA0E}">
        <p15:presenceInfo xmlns:p15="http://schemas.microsoft.com/office/powerpoint/2012/main" userId="S-1-5-21-147214757-305610072-1517763936-4736116" providerId="AD"/>
      </p:ext>
    </p:extLst>
  </p:cmAuthor>
  <p:cmAuthor id="2" name="Wu Monk" initials="WM" lastIdx="41" clrIdx="1">
    <p:extLst>
      <p:ext uri="{19B8F6BF-5375-455C-9EA6-DF929625EA0E}">
        <p15:presenceInfo xmlns:p15="http://schemas.microsoft.com/office/powerpoint/2012/main" userId="cd7b699acb0cb86b" providerId="Windows Live"/>
      </p:ext>
    </p:extLst>
  </p:cmAuthor>
  <p:cmAuthor id="3" name="Wuyuezjhw (Monk)" initials="W(" lastIdx="1" clrIdx="2">
    <p:extLst>
      <p:ext uri="{19B8F6BF-5375-455C-9EA6-DF929625EA0E}">
        <p15:presenceInfo xmlns:p15="http://schemas.microsoft.com/office/powerpoint/2012/main" userId="S-1-5-21-147214757-305610072-1517763936-319361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7000B"/>
    <a:srgbClr val="E28189"/>
    <a:srgbClr val="56C4D2"/>
    <a:srgbClr val="BEE9EE"/>
    <a:srgbClr val="FDD351"/>
    <a:srgbClr val="FDE397"/>
    <a:srgbClr val="F5AC3C"/>
    <a:srgbClr val="151515"/>
    <a:srgbClr val="FFFFFF"/>
    <a:srgbClr val="81C1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18" autoAdjust="0"/>
    <p:restoredTop sz="93416" autoAdjust="0"/>
  </p:normalViewPr>
  <p:slideViewPr>
    <p:cSldViewPr snapToGrid="0" snapToObjects="1">
      <p:cViewPr varScale="1">
        <p:scale>
          <a:sx n="85" d="100"/>
          <a:sy n="85" d="100"/>
        </p:scale>
        <p:origin x="40" y="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3" d="100"/>
          <a:sy n="83" d="100"/>
        </p:scale>
        <p:origin x="2982"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6" Type="http://schemas.openxmlformats.org/officeDocument/2006/relationships/slide" Target="slides/slide9.xml"/><Relationship Id="rId107" Type="http://schemas.openxmlformats.org/officeDocument/2006/relationships/presProps" Target="presProps.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viewProps" Target="viewProps.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commentAuthors" Target="commentAuthor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theme" Target="theme/theme1.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notesMaster" Target="notesMasters/notesMaster1.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tableStyles" Target="tableStyles.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handoutMaster" Target="handoutMasters/handout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C198DB-AFBD-584A-8986-364FF2B03F46}"/>
              </a:ext>
            </a:extLst>
          </p:cNvPr>
          <p:cNvSpPr>
            <a:spLocks noGrp="1"/>
          </p:cNvSpPr>
          <p:nvPr>
            <p:ph type="hdr" sz="quarter"/>
          </p:nvPr>
        </p:nvSpPr>
        <p:spPr>
          <a:xfrm>
            <a:off x="0" y="1"/>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a16="http://schemas.microsoft.com/office/drawing/2014/main" id="{AD01315C-523F-A043-8029-B9921497126E}"/>
              </a:ext>
            </a:extLst>
          </p:cNvPr>
          <p:cNvSpPr>
            <a:spLocks noGrp="1"/>
          </p:cNvSpPr>
          <p:nvPr>
            <p:ph type="dt" sz="quarter" idx="1"/>
          </p:nvPr>
        </p:nvSpPr>
        <p:spPr>
          <a:xfrm>
            <a:off x="3970938" y="1"/>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11/19/2023</a:t>
            </a:fld>
            <a:endParaRPr lang="en-US" dirty="0">
              <a:latin typeface="Huawei Sans" panose="020C0503030203020204" pitchFamily="34" charset="0"/>
            </a:endParaRPr>
          </a:p>
        </p:txBody>
      </p:sp>
      <p:sp>
        <p:nvSpPr>
          <p:cNvPr id="4" name="Footer Placeholder 3">
            <a:extLst>
              <a:ext uri="{FF2B5EF4-FFF2-40B4-BE49-F238E27FC236}">
                <a16:creationId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f sldNum="0" hdr="0" ft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28:19.272"/>
    </inkml:context>
    <inkml:brush xml:id="br0">
      <inkml:brushProperty name="width" value="0.05" units="cm"/>
      <inkml:brushProperty name="height" value="0.05" units="cm"/>
      <inkml:brushProperty name="color" value="#E71224"/>
    </inkml:brush>
  </inkml:definitions>
  <inkml:trace contextRef="#ctx0" brushRef="#br0">4 0 24575,'-3'0'0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30:54.122"/>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35:35.688"/>
    </inkml:context>
    <inkml:brush xml:id="br0">
      <inkml:brushProperty name="width" value="0.05" units="cm"/>
      <inkml:brushProperty name="height" value="0.05" units="cm"/>
      <inkml:brushProperty name="color" value="#E71224"/>
    </inkml:brush>
  </inkml:definitions>
  <inkml:trace contextRef="#ctx0" brushRef="#br0">1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35:42.676"/>
    </inkml:context>
    <inkml:brush xml:id="br0">
      <inkml:brushProperty name="width" value="0.05" units="cm"/>
      <inkml:brushProperty name="height" value="0.05" units="cm"/>
      <inkml:brushProperty name="color" value="#E71224"/>
    </inkml:brush>
  </inkml:definitions>
  <inkml:trace contextRef="#ctx0" brushRef="#br0">0 1 24575,'0'11'0,"0"10"0,4 12 0,8 19 0,9 14 0,5 3 0,1 1 0,7-2 0,1-8 0,-6-11 0,-4-10 0,-2-12 0,1-14 0,19-27 0,26-36 0,16-27 0,-7 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36:02.147"/>
    </inkml:context>
    <inkml:brush xml:id="br0">
      <inkml:brushProperty name="width" value="0.05" units="cm"/>
      <inkml:brushProperty name="height" value="0.05" units="cm"/>
      <inkml:brushProperty name="color" value="#E71224"/>
    </inkml:brush>
  </inkml:definitions>
  <inkml:trace contextRef="#ctx0" brushRef="#br0">1 43 24575,'1668'0'0,"-1648"-1"0,0-1 0,22-5 0,29-3 0,52 0 0,34-2 0,1029 11 0,-572 3 0,-334 10 0,14 29 0,176 21 0,674-8 0,-1004-54 0,639-19 0,-518 1 0,774-32 0,591 52-576,-813 44 461,-193-7 105,1-39-4,-346-2 12,5136 0-638,-2903 3 573,-2116 10 936,-52-1-314,-203-8-555,385-4 0,-263-30 328,-184 19-893,1 4 1,104-1 0,-164 11-6262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36:16.086"/>
    </inkml:context>
    <inkml:brush xml:id="br0">
      <inkml:brushProperty name="width" value="0.05" units="cm"/>
      <inkml:brushProperty name="height" value="0.05" units="cm"/>
      <inkml:brushProperty name="color" value="#E71224"/>
    </inkml:brush>
  </inkml:definitions>
  <inkml:trace contextRef="#ctx0" brushRef="#br0">0 247 24575,'265'-107'0,"-231"95"0,377-110 0,-405 120 0,1 1 0,-1 0 0,0 0 0,0 1 0,1-1 0,-1 1 0,0 1 0,1-1 0,-1 1 0,8 2 0,-9-1 0,0 1 0,1-1 0,-1 1 0,0 0 0,-1 0 0,1 1 0,0 0 0,-1-1 0,0 2 0,0-1 0,6 8 0,81 115 0,16 19 0,-64-94 0,82 72 0,-99-102 0,0-2 0,1 0 0,1-2 0,1-1 0,38 17 0,-41-25 0,1 0 0,0-2 0,0-1 0,0-1 0,1-1 0,0-1 0,0-2 0,-1-1 0,35-4 0,-1-4 0,-1-2 0,-1-3 0,67-24 0,419-195 0,-468 195 0,-65 31 0,-1 1 0,0 0 0,21-6 0,-29 10 0,0 0 0,0 0 0,0 1 0,0 0 0,0 0 0,1 0 0,-1 0 0,0 0 0,0 0 0,0 1 0,0 0 0,0-1 0,0 1 0,0 0 0,4 2 0,21 11 0,2-1 0,-1-2 0,1-1 0,1-1 0,40 6 0,161 8 0,-86-20-111,0-6 0,152-23 0,288-68-314,-464 72 404,-106 19 20,5-1-7,-1 0 1,1 2-1,31 0 0,-46 2 18,1 1 0,-1 0-1,0 0 1,0 0-1,0 1 1,0 0-1,0 0 1,-1 1-1,1-1 1,-1 1-1,1 0 1,-1 1-1,0-1 1,0 1-1,-1 0 1,5 5-1,67 83 377,-49-56-254,38 37-1,-37-46-131,38 29 0,-55-48 0,0 0 0,1-1 0,0-1 0,0 0 0,0 0 0,0-1 0,20 4 0,-4-4 43,0-1 0,1-2-1,-1-1 1,1-1 0,0-1-1,-1-2 1,48-10 0,185-64-1682,-257 76 1571,115-42-6758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4-22T03:37:39.999"/>
    </inkml:context>
    <inkml:brush xml:id="br0">
      <inkml:brushProperty name="width" value="0.05" units="cm"/>
      <inkml:brushProperty name="height" value="0.05" units="cm"/>
      <inkml:brushProperty name="color" value="#E71224"/>
    </inkml:brush>
  </inkml:definitions>
  <inkml:trace contextRef="#ctx0" brushRef="#br0">506 254 24575,'-1'2'0,"1"1"0,-1-1 0,0 0 0,0 1 0,0-1 0,-1 0 0,1 0 0,-1 0 0,1 0 0,-1 0 0,1 0 0,-1-1 0,0 1 0,-4 2 0,0 2 0,-447 409 0,453-415 0,-21 23 0,21-23 0,0 0 0,0 1 0,0-1 0,-1 0 0,1 1 0,0-1 0,0 0 0,0 1 0,0-1 0,0 0 0,0 1 0,0-1 0,-1 0 0,1 1 0,0-1 0,0 1 0,0-1 0,1 0 0,-1 1 0,0-1 0,0 0 0,0 1 0,0-1 0,0 1 0,0-1 0,1 1 0,0-1 0,-1 0 0,1 1 0,0-1 0,-1 0 0,1 1 0,0-1 0,0 0 0,-1 0 0,1 1 0,0-1 0,0 0 0,-1 0 0,1 0 0,0 0 0,0 0 0,-1 0 0,2-1 0,19-1 0,-1-1 0,39-12 0,3-1 0,218-23 0,2 22 0,-217 14 0,-59 3 0,8 0 0,-1-1 0,1-1 0,-1 1 0,24-8 0,-37 9 0,1 0 0,0 0 0,0 0 0,-1-1 0,1 1 0,0 0 0,-1-1 0,1 1 0,-1 0 0,1-1 0,0 1 0,-1 0 0,1-1 0,-1 1 0,1-1 0,-1 1 0,1-1 0,-1 0 0,1 1 0,-1-1 0,0 1 0,1-1 0,-1 0 0,0 1 0,0-1 0,1 0 0,-1 1 0,0-1 0,0 0 0,0 0 0,0 1 0,0-1 0,0 0 0,0 1 0,0-1 0,0 0 0,0 0 0,0 1 0,0-1 0,-1 0 0,1 1 0,0-1 0,0 0 0,-1 1 0,1-1 0,-1 0 0,0 0 0,-2-4 0,-1 0 0,0 1 0,-1-1 0,-7-5 0,8 7 0,-178-140 0,32 26 0,-173-170-1365,296 258-5461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42950" y="717550"/>
            <a:ext cx="5557838"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hf sldNum="0" hdr="0" ftr="0" dt="0"/>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6390BCC-85B4-4B49-B668-816270B2AC39}"/>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C4F45888-18E2-4071-B66A-5586938C6AE7}"/>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9037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5B0E0-DDC6-4A91-945C-68BFA0A0AA12}"/>
              </a:ext>
            </a:extLst>
          </p:cNvPr>
          <p:cNvSpPr>
            <a:spLocks noGrp="1" noRot="1" noChangeAspect="1"/>
          </p:cNvSpPr>
          <p:nvPr>
            <p:ph type="sldImg"/>
          </p:nvPr>
        </p:nvSpPr>
        <p:spPr>
          <a:xfrm>
            <a:off x="744538" y="717550"/>
            <a:ext cx="5556250" cy="3125788"/>
          </a:xfrm>
        </p:spPr>
      </p:sp>
      <p:sp>
        <p:nvSpPr>
          <p:cNvPr id="3" name="Notes Placeholder 2">
            <a:extLst>
              <a:ext uri="{FF2B5EF4-FFF2-40B4-BE49-F238E27FC236}">
                <a16:creationId xmlns:a16="http://schemas.microsoft.com/office/drawing/2014/main" id="{7F6A46F0-7C33-45D1-9207-230F5240217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7695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3A798DA-20EE-420A-B065-C50E7F0D3403}"/>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CCC4650-6EE6-4764-BB37-2C3F7C9910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142007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AA0F3F1-2863-4DE1-9EE2-07227DD1F9DF}"/>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49CC2A3F-A061-4FD8-AC2B-5E93F7A7C0A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95824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431365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D4A88-2624-4F26-8778-004FA7A88F43}"/>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4AFDF60B-B9FB-4555-92E6-C8AA1FC3135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11780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EEBC0-555D-426A-B2FA-182B746365B3}"/>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60235157-D1B6-470C-ABFA-C87029AEB3C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1142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GRE</a:t>
            </a:r>
            <a:r>
              <a:rPr lang="zh-CN" altLang="en-US" dirty="0"/>
              <a:t>头的各字段解释：</a:t>
            </a:r>
            <a:endParaRPr lang="en-US" dirty="0"/>
          </a:p>
        </p:txBody>
      </p:sp>
      <p:graphicFrame>
        <p:nvGraphicFramePr>
          <p:cNvPr id="4" name="Table 4">
            <a:extLst>
              <a:ext uri="{FF2B5EF4-FFF2-40B4-BE49-F238E27FC236}">
                <a16:creationId xmlns:a16="http://schemas.microsoft.com/office/drawing/2014/main" id="{EF79E7BA-4168-43B2-8FBC-A9CE034CF5B3}"/>
              </a:ext>
            </a:extLst>
          </p:cNvPr>
          <p:cNvGraphicFramePr>
            <a:graphicFrameLocks noGrp="1"/>
          </p:cNvGraphicFramePr>
          <p:nvPr/>
        </p:nvGraphicFramePr>
        <p:xfrm>
          <a:off x="1315303" y="4648200"/>
          <a:ext cx="4680111" cy="4246880"/>
        </p:xfrm>
        <a:graphic>
          <a:graphicData uri="http://schemas.openxmlformats.org/drawingml/2006/table">
            <a:tbl>
              <a:tblPr firstRow="1" bandRow="1">
                <a:tableStyleId>{5C22544A-7EE6-4342-B048-85BDC9FD1C3A}</a:tableStyleId>
              </a:tblPr>
              <a:tblGrid>
                <a:gridCol w="1179490">
                  <a:extLst>
                    <a:ext uri="{9D8B030D-6E8A-4147-A177-3AD203B41FA5}">
                      <a16:colId xmlns:a16="http://schemas.microsoft.com/office/drawing/2014/main" val="1997467779"/>
                    </a:ext>
                  </a:extLst>
                </a:gridCol>
                <a:gridCol w="3500621">
                  <a:extLst>
                    <a:ext uri="{9D8B030D-6E8A-4147-A177-3AD203B41FA5}">
                      <a16:colId xmlns:a16="http://schemas.microsoft.com/office/drawing/2014/main" val="1318467302"/>
                    </a:ext>
                  </a:extLst>
                </a:gridCol>
              </a:tblGrid>
              <a:tr h="370840">
                <a:tc>
                  <a:txBody>
                    <a:bodyPr/>
                    <a:lstStyle/>
                    <a:p>
                      <a:pPr algn="l"/>
                      <a:r>
                        <a:rPr lang="en-US" sz="1100" b="1" baseline="0" dirty="0">
                          <a:solidFill>
                            <a:sysClr val="windowText" lastClr="000000"/>
                          </a:solidFill>
                          <a:effectLst/>
                          <a:latin typeface="Huawei Sans" panose="020C0503030203020204" pitchFamily="34" charset="0"/>
                          <a:ea typeface="方正兰亭黑简体" panose="02000000000000000000" pitchFamily="2" charset="-122"/>
                        </a:rPr>
                        <a:t>GRE</a:t>
                      </a:r>
                      <a:r>
                        <a:rPr lang="zh-CN" altLang="en-US" sz="1100" b="1" baseline="0" dirty="0">
                          <a:solidFill>
                            <a:sysClr val="windowText" lastClr="000000"/>
                          </a:solidFill>
                          <a:effectLst/>
                          <a:latin typeface="Huawei Sans" panose="020C0503030203020204" pitchFamily="34" charset="0"/>
                          <a:ea typeface="方正兰亭黑简体" panose="02000000000000000000" pitchFamily="2" charset="-122"/>
                        </a:rPr>
                        <a:t>头字段</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l"/>
                      <a:r>
                        <a:rPr lang="zh-CN" altLang="en-US" sz="1100" b="1" baseline="0" dirty="0">
                          <a:solidFill>
                            <a:sysClr val="windowText" lastClr="000000"/>
                          </a:solidFill>
                          <a:effectLst/>
                          <a:latin typeface="Huawei Sans" panose="020C0503030203020204" pitchFamily="34" charset="0"/>
                          <a:ea typeface="方正兰亭黑简体" panose="02000000000000000000" pitchFamily="2" charset="-122"/>
                        </a:rPr>
                        <a:t>字段解释</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37290383"/>
                  </a:ext>
                </a:extLst>
              </a:tr>
              <a:tr h="370840">
                <a:tc>
                  <a:txBody>
                    <a:bodyPr/>
                    <a:lstStyle/>
                    <a:p>
                      <a:r>
                        <a:rPr lang="en-US" sz="1100" baseline="0" dirty="0">
                          <a:effectLst/>
                          <a:latin typeface="Huawei Sans" panose="020C0503030203020204" pitchFamily="34" charset="0"/>
                          <a:ea typeface="方正兰亭黑简体" panose="02000000000000000000" pitchFamily="2" charset="-122"/>
                        </a:rPr>
                        <a:t>C</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Font typeface="Arial" panose="020B0604020202020204" pitchFamily="34" charset="0"/>
                        <a:buNone/>
                      </a:pPr>
                      <a:r>
                        <a:rPr lang="zh-CN" altLang="en-US" sz="1100" baseline="0" dirty="0">
                          <a:effectLst/>
                          <a:latin typeface="Huawei Sans" panose="020C0503030203020204" pitchFamily="34" charset="0"/>
                          <a:ea typeface="方正兰亭黑简体" panose="02000000000000000000" pitchFamily="2" charset="-122"/>
                        </a:rPr>
                        <a:t>校验和验证位。</a:t>
                      </a:r>
                      <a:endParaRPr lang="en-US" altLang="zh-CN" sz="1100" baseline="0" dirty="0">
                        <a:effectLst/>
                        <a:latin typeface="Huawei Sans" panose="020C0503030203020204" pitchFamily="34" charset="0"/>
                        <a:ea typeface="方正兰亭黑简体" panose="02000000000000000000" pitchFamily="2" charset="-122"/>
                      </a:endParaRPr>
                    </a:p>
                    <a:p>
                      <a:pPr>
                        <a:buFont typeface="Arial" panose="020B0604020202020204" pitchFamily="34" charset="0"/>
                        <a:buNone/>
                      </a:pPr>
                      <a:r>
                        <a:rPr lang="zh-CN" altLang="en-US" sz="1100" baseline="0" dirty="0">
                          <a:effectLst/>
                          <a:latin typeface="Huawei Sans" panose="020C0503030203020204" pitchFamily="34" charset="0"/>
                          <a:ea typeface="方正兰亭黑简体" panose="02000000000000000000" pitchFamily="2" charset="-122"/>
                        </a:rPr>
                        <a:t>该位置</a:t>
                      </a:r>
                      <a:r>
                        <a:rPr lang="en-US" altLang="zh-CN" sz="1100" baseline="0" dirty="0">
                          <a:effectLst/>
                          <a:latin typeface="Huawei Sans" panose="020C0503030203020204" pitchFamily="34" charset="0"/>
                          <a:ea typeface="方正兰亭黑简体" panose="02000000000000000000" pitchFamily="2" charset="-122"/>
                        </a:rPr>
                        <a:t>1</a:t>
                      </a:r>
                      <a:r>
                        <a:rPr lang="zh-CN" altLang="en-US" sz="1100" baseline="0" dirty="0">
                          <a:effectLst/>
                          <a:latin typeface="Huawei Sans" panose="020C0503030203020204" pitchFamily="34" charset="0"/>
                          <a:ea typeface="方正兰亭黑简体" panose="02000000000000000000" pitchFamily="2" charset="-122"/>
                        </a:rPr>
                        <a:t>，表示</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头插入了校验和（</a:t>
                      </a:r>
                      <a:r>
                        <a:rPr lang="en-US" altLang="zh-CN" sz="1100" baseline="0" dirty="0">
                          <a:effectLst/>
                          <a:latin typeface="Huawei Sans" panose="020C0503030203020204" pitchFamily="34" charset="0"/>
                          <a:ea typeface="方正兰亭黑简体" panose="02000000000000000000" pitchFamily="2" charset="-122"/>
                        </a:rPr>
                        <a:t>Checksum</a:t>
                      </a:r>
                      <a:r>
                        <a:rPr lang="zh-CN" altLang="en-US" sz="1100" baseline="0" dirty="0">
                          <a:effectLst/>
                          <a:latin typeface="Huawei Sans" panose="020C0503030203020204" pitchFamily="34" charset="0"/>
                          <a:ea typeface="方正兰亭黑简体" panose="02000000000000000000" pitchFamily="2" charset="-122"/>
                        </a:rPr>
                        <a:t>）字段。</a:t>
                      </a:r>
                    </a:p>
                    <a:p>
                      <a:pPr>
                        <a:buFont typeface="Arial" panose="020B0604020202020204" pitchFamily="34" charset="0"/>
                        <a:buNone/>
                      </a:pPr>
                      <a:r>
                        <a:rPr lang="zh-CN" altLang="en-US" sz="1100" baseline="0" dirty="0">
                          <a:effectLst/>
                          <a:latin typeface="Huawei Sans" panose="020C0503030203020204" pitchFamily="34" charset="0"/>
                          <a:ea typeface="方正兰亭黑简体" panose="02000000000000000000" pitchFamily="2" charset="-122"/>
                        </a:rPr>
                        <a:t>该位置</a:t>
                      </a:r>
                      <a:r>
                        <a:rPr lang="en-US" altLang="zh-CN" sz="1100" baseline="0" dirty="0">
                          <a:effectLst/>
                          <a:latin typeface="Huawei Sans" panose="020C0503030203020204" pitchFamily="34" charset="0"/>
                          <a:ea typeface="方正兰亭黑简体" panose="02000000000000000000" pitchFamily="2" charset="-122"/>
                        </a:rPr>
                        <a:t>0</a:t>
                      </a:r>
                      <a:r>
                        <a:rPr lang="zh-CN" altLang="en-US" sz="1100" baseline="0" dirty="0">
                          <a:effectLst/>
                          <a:latin typeface="Huawei Sans" panose="020C0503030203020204" pitchFamily="34" charset="0"/>
                          <a:ea typeface="方正兰亭黑简体" panose="02000000000000000000" pitchFamily="2" charset="-122"/>
                        </a:rPr>
                        <a:t>，表示</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头不包含校验和字段。</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8712740"/>
                  </a:ext>
                </a:extLst>
              </a:tr>
              <a:tr h="370840">
                <a:tc>
                  <a:txBody>
                    <a:bodyPr/>
                    <a:lstStyle/>
                    <a:p>
                      <a:r>
                        <a:rPr lang="en-US" sz="1100" baseline="0" dirty="0">
                          <a:effectLst/>
                          <a:latin typeface="Huawei Sans" panose="020C0503030203020204" pitchFamily="34" charset="0"/>
                          <a:ea typeface="方正兰亭黑简体" panose="02000000000000000000" pitchFamily="2" charset="-122"/>
                        </a:rPr>
                        <a:t>K</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Font typeface="Arial" panose="020B0604020202020204" pitchFamily="34" charset="0"/>
                        <a:buNone/>
                      </a:pPr>
                      <a:r>
                        <a:rPr lang="zh-CN" altLang="en-US" sz="1100" baseline="0" dirty="0">
                          <a:effectLst/>
                          <a:latin typeface="Huawei Sans" panose="020C0503030203020204" pitchFamily="34" charset="0"/>
                          <a:ea typeface="方正兰亭黑简体" panose="02000000000000000000" pitchFamily="2" charset="-122"/>
                        </a:rPr>
                        <a:t>关键字位。</a:t>
                      </a:r>
                      <a:endParaRPr lang="en-US" altLang="zh-CN" sz="1100" baseline="0" dirty="0">
                        <a:effectLst/>
                        <a:latin typeface="Huawei Sans" panose="020C0503030203020204" pitchFamily="34" charset="0"/>
                        <a:ea typeface="方正兰亭黑简体" panose="02000000000000000000" pitchFamily="2" charset="-122"/>
                      </a:endParaRPr>
                    </a:p>
                    <a:p>
                      <a:pPr>
                        <a:buFont typeface="Arial" panose="020B0604020202020204" pitchFamily="34" charset="0"/>
                        <a:buNone/>
                      </a:pPr>
                      <a:r>
                        <a:rPr lang="zh-CN" altLang="en-US" sz="1100" baseline="0" dirty="0">
                          <a:effectLst/>
                          <a:latin typeface="Huawei Sans" panose="020C0503030203020204" pitchFamily="34" charset="0"/>
                          <a:ea typeface="方正兰亭黑简体" panose="02000000000000000000" pitchFamily="2" charset="-122"/>
                        </a:rPr>
                        <a:t>该位置</a:t>
                      </a:r>
                      <a:r>
                        <a:rPr lang="en-US" altLang="zh-CN" sz="1100" baseline="0" dirty="0">
                          <a:effectLst/>
                          <a:latin typeface="Huawei Sans" panose="020C0503030203020204" pitchFamily="34" charset="0"/>
                          <a:ea typeface="方正兰亭黑简体" panose="02000000000000000000" pitchFamily="2" charset="-122"/>
                        </a:rPr>
                        <a:t>1</a:t>
                      </a:r>
                      <a:r>
                        <a:rPr lang="zh-CN" altLang="en-US" sz="1100" baseline="0" dirty="0">
                          <a:effectLst/>
                          <a:latin typeface="Huawei Sans" panose="020C0503030203020204" pitchFamily="34" charset="0"/>
                          <a:ea typeface="方正兰亭黑简体" panose="02000000000000000000" pitchFamily="2" charset="-122"/>
                        </a:rPr>
                        <a:t>，表示</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头插入了关键字（</a:t>
                      </a:r>
                      <a:r>
                        <a:rPr lang="en-US" altLang="zh-CN" sz="1100" baseline="0" dirty="0">
                          <a:effectLst/>
                          <a:latin typeface="Huawei Sans" panose="020C0503030203020204" pitchFamily="34" charset="0"/>
                          <a:ea typeface="方正兰亭黑简体" panose="02000000000000000000" pitchFamily="2" charset="-122"/>
                        </a:rPr>
                        <a:t>Key</a:t>
                      </a:r>
                      <a:r>
                        <a:rPr lang="zh-CN" altLang="en-US" sz="1100" baseline="0" dirty="0">
                          <a:effectLst/>
                          <a:latin typeface="Huawei Sans" panose="020C0503030203020204" pitchFamily="34" charset="0"/>
                          <a:ea typeface="方正兰亭黑简体" panose="02000000000000000000" pitchFamily="2" charset="-122"/>
                        </a:rPr>
                        <a:t>）字段。</a:t>
                      </a:r>
                    </a:p>
                    <a:p>
                      <a:pPr>
                        <a:buFont typeface="Arial" panose="020B0604020202020204" pitchFamily="34" charset="0"/>
                        <a:buNone/>
                      </a:pPr>
                      <a:r>
                        <a:rPr lang="zh-CN" altLang="en-US" sz="1100" baseline="0" dirty="0">
                          <a:effectLst/>
                          <a:latin typeface="Huawei Sans" panose="020C0503030203020204" pitchFamily="34" charset="0"/>
                          <a:ea typeface="方正兰亭黑简体" panose="02000000000000000000" pitchFamily="2" charset="-122"/>
                        </a:rPr>
                        <a:t>该位置</a:t>
                      </a:r>
                      <a:r>
                        <a:rPr lang="en-US" altLang="zh-CN" sz="1100" baseline="0" dirty="0">
                          <a:effectLst/>
                          <a:latin typeface="Huawei Sans" panose="020C0503030203020204" pitchFamily="34" charset="0"/>
                          <a:ea typeface="方正兰亭黑简体" panose="02000000000000000000" pitchFamily="2" charset="-122"/>
                        </a:rPr>
                        <a:t>0</a:t>
                      </a:r>
                      <a:r>
                        <a:rPr lang="zh-CN" altLang="en-US" sz="1100" baseline="0" dirty="0">
                          <a:effectLst/>
                          <a:latin typeface="Huawei Sans" panose="020C0503030203020204" pitchFamily="34" charset="0"/>
                          <a:ea typeface="方正兰亭黑简体" panose="02000000000000000000" pitchFamily="2" charset="-122"/>
                        </a:rPr>
                        <a:t>，表示</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头不包含关键字字段。</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6086674"/>
                  </a:ext>
                </a:extLst>
              </a:tr>
              <a:tr h="370840">
                <a:tc>
                  <a:txBody>
                    <a:bodyPr/>
                    <a:lstStyle/>
                    <a:p>
                      <a:r>
                        <a:rPr lang="en-US" sz="1100" baseline="0">
                          <a:effectLst/>
                          <a:latin typeface="Huawei Sans" panose="020C0503030203020204" pitchFamily="34" charset="0"/>
                          <a:ea typeface="方正兰亭黑简体" panose="02000000000000000000" pitchFamily="2" charset="-122"/>
                        </a:rPr>
                        <a:t>Recursion</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baseline="0" dirty="0">
                          <a:effectLst/>
                          <a:latin typeface="Huawei Sans" panose="020C0503030203020204" pitchFamily="34" charset="0"/>
                          <a:ea typeface="方正兰亭黑简体" panose="02000000000000000000" pitchFamily="2" charset="-122"/>
                        </a:rPr>
                        <a:t>表示</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报文被封装的层数。完成一次</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封装后将该字段加</a:t>
                      </a:r>
                      <a:r>
                        <a:rPr lang="en-US" altLang="zh-CN" sz="1100" baseline="0" dirty="0">
                          <a:effectLst/>
                          <a:latin typeface="Huawei Sans" panose="020C0503030203020204" pitchFamily="34" charset="0"/>
                          <a:ea typeface="方正兰亭黑简体" panose="02000000000000000000" pitchFamily="2" charset="-122"/>
                        </a:rPr>
                        <a:t>1</a:t>
                      </a:r>
                      <a:r>
                        <a:rPr lang="zh-CN" altLang="en-US" sz="1100" baseline="0" dirty="0">
                          <a:effectLst/>
                          <a:latin typeface="Huawei Sans" panose="020C0503030203020204" pitchFamily="34" charset="0"/>
                          <a:ea typeface="方正兰亭黑简体" panose="02000000000000000000" pitchFamily="2" charset="-122"/>
                        </a:rPr>
                        <a:t>。如果封装层数大于</a:t>
                      </a:r>
                      <a:r>
                        <a:rPr lang="en-US" altLang="zh-CN" sz="1100" baseline="0" dirty="0">
                          <a:effectLst/>
                          <a:latin typeface="Huawei Sans" panose="020C0503030203020204" pitchFamily="34" charset="0"/>
                          <a:ea typeface="方正兰亭黑简体" panose="02000000000000000000" pitchFamily="2" charset="-122"/>
                        </a:rPr>
                        <a:t>3</a:t>
                      </a:r>
                      <a:r>
                        <a:rPr lang="zh-CN" altLang="en-US" sz="1100" baseline="0" dirty="0">
                          <a:effectLst/>
                          <a:latin typeface="Huawei Sans" panose="020C0503030203020204" pitchFamily="34" charset="0"/>
                          <a:ea typeface="方正兰亭黑简体" panose="02000000000000000000" pitchFamily="2" charset="-122"/>
                        </a:rPr>
                        <a:t>，则丢弃该报文。该字段的作用是防止报文被无限次的封装。</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6932799"/>
                  </a:ext>
                </a:extLst>
              </a:tr>
              <a:tr h="370840">
                <a:tc>
                  <a:txBody>
                    <a:bodyPr/>
                    <a:lstStyle/>
                    <a:p>
                      <a:r>
                        <a:rPr lang="en-US" sz="1100" baseline="0">
                          <a:effectLst/>
                          <a:latin typeface="Huawei Sans" panose="020C0503030203020204" pitchFamily="34" charset="0"/>
                          <a:ea typeface="方正兰亭黑简体" panose="02000000000000000000" pitchFamily="2" charset="-122"/>
                        </a:rPr>
                        <a:t>Flags</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baseline="0" dirty="0">
                          <a:effectLst/>
                          <a:latin typeface="Huawei Sans" panose="020C0503030203020204" pitchFamily="34" charset="0"/>
                          <a:ea typeface="方正兰亭黑简体" panose="02000000000000000000" pitchFamily="2" charset="-122"/>
                        </a:rPr>
                        <a:t>预留字段。当前必须置为</a:t>
                      </a:r>
                      <a:r>
                        <a:rPr lang="en-US" altLang="zh-CN" sz="1100" baseline="0" dirty="0">
                          <a:effectLst/>
                          <a:latin typeface="Huawei Sans" panose="020C0503030203020204" pitchFamily="34" charset="0"/>
                          <a:ea typeface="方正兰亭黑简体" panose="02000000000000000000" pitchFamily="2" charset="-122"/>
                        </a:rPr>
                        <a:t>0</a:t>
                      </a:r>
                      <a:r>
                        <a:rPr lang="zh-CN" altLang="en-US" sz="1100" baseline="0" dirty="0">
                          <a:effectLst/>
                          <a:latin typeface="Huawei Sans" panose="020C0503030203020204" pitchFamily="34" charset="0"/>
                          <a:ea typeface="方正兰亭黑简体" panose="02000000000000000000" pitchFamily="2" charset="-122"/>
                        </a:rPr>
                        <a:t>。</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1498786"/>
                  </a:ext>
                </a:extLst>
              </a:tr>
              <a:tr h="370840">
                <a:tc>
                  <a:txBody>
                    <a:bodyPr/>
                    <a:lstStyle/>
                    <a:p>
                      <a:r>
                        <a:rPr lang="en-US" sz="1100" baseline="0">
                          <a:effectLst/>
                          <a:latin typeface="Huawei Sans" panose="020C0503030203020204" pitchFamily="34" charset="0"/>
                          <a:ea typeface="方正兰亭黑简体" panose="02000000000000000000" pitchFamily="2" charset="-122"/>
                        </a:rPr>
                        <a:t>Version</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baseline="0" dirty="0">
                          <a:effectLst/>
                          <a:latin typeface="Huawei Sans" panose="020C0503030203020204" pitchFamily="34" charset="0"/>
                          <a:ea typeface="方正兰亭黑简体" panose="02000000000000000000" pitchFamily="2" charset="-122"/>
                        </a:rPr>
                        <a:t>版本字段。必须置为</a:t>
                      </a:r>
                      <a:r>
                        <a:rPr lang="en-US" altLang="zh-CN" sz="1100" baseline="0" dirty="0">
                          <a:effectLst/>
                          <a:latin typeface="Huawei Sans" panose="020C0503030203020204" pitchFamily="34" charset="0"/>
                          <a:ea typeface="方正兰亭黑简体" panose="02000000000000000000" pitchFamily="2" charset="-122"/>
                        </a:rPr>
                        <a:t>0</a:t>
                      </a:r>
                      <a:r>
                        <a:rPr lang="zh-CN" altLang="en-US" sz="1100" baseline="0" dirty="0">
                          <a:effectLst/>
                          <a:latin typeface="Huawei Sans" panose="020C0503030203020204" pitchFamily="34" charset="0"/>
                          <a:ea typeface="方正兰亭黑简体" panose="02000000000000000000" pitchFamily="2" charset="-122"/>
                        </a:rPr>
                        <a:t>。</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1351297"/>
                  </a:ext>
                </a:extLst>
              </a:tr>
              <a:tr h="370840">
                <a:tc>
                  <a:txBody>
                    <a:bodyPr/>
                    <a:lstStyle/>
                    <a:p>
                      <a:r>
                        <a:rPr lang="en-US" sz="1100" baseline="0">
                          <a:effectLst/>
                          <a:latin typeface="Huawei Sans" panose="020C0503030203020204" pitchFamily="34" charset="0"/>
                          <a:ea typeface="方正兰亭黑简体" panose="02000000000000000000" pitchFamily="2" charset="-122"/>
                        </a:rPr>
                        <a:t>Protocol Type</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baseline="0" dirty="0">
                          <a:effectLst/>
                          <a:latin typeface="Huawei Sans" panose="020C0503030203020204" pitchFamily="34" charset="0"/>
                          <a:ea typeface="方正兰亭黑简体" panose="02000000000000000000" pitchFamily="2" charset="-122"/>
                        </a:rPr>
                        <a:t>标识乘客协议的协议类型。常见的乘客协议为</a:t>
                      </a:r>
                      <a:r>
                        <a:rPr lang="en-US" altLang="zh-CN" sz="1100" baseline="0" dirty="0">
                          <a:effectLst/>
                          <a:latin typeface="Huawei Sans" panose="020C0503030203020204" pitchFamily="34" charset="0"/>
                          <a:ea typeface="方正兰亭黑简体" panose="02000000000000000000" pitchFamily="2" charset="-122"/>
                        </a:rPr>
                        <a:t>IPv4</a:t>
                      </a:r>
                      <a:r>
                        <a:rPr lang="zh-CN" altLang="en-US" sz="1100" baseline="0" dirty="0">
                          <a:effectLst/>
                          <a:latin typeface="Huawei Sans" panose="020C0503030203020204" pitchFamily="34" charset="0"/>
                          <a:ea typeface="方正兰亭黑简体" panose="02000000000000000000" pitchFamily="2" charset="-122"/>
                        </a:rPr>
                        <a:t>协议，协议代码为</a:t>
                      </a:r>
                      <a:r>
                        <a:rPr lang="en-US" altLang="zh-CN" sz="1100" baseline="0" dirty="0">
                          <a:effectLst/>
                          <a:latin typeface="Huawei Sans" panose="020C0503030203020204" pitchFamily="34" charset="0"/>
                          <a:ea typeface="方正兰亭黑简体" panose="02000000000000000000" pitchFamily="2" charset="-122"/>
                        </a:rPr>
                        <a:t>0800</a:t>
                      </a:r>
                      <a:r>
                        <a:rPr lang="zh-CN" altLang="en-US" sz="1100" baseline="0" dirty="0">
                          <a:effectLst/>
                          <a:latin typeface="Huawei Sans" panose="020C0503030203020204" pitchFamily="34" charset="0"/>
                          <a:ea typeface="方正兰亭黑简体" panose="02000000000000000000" pitchFamily="2" charset="-122"/>
                        </a:rPr>
                        <a:t>。</a:t>
                      </a:r>
                    </a:p>
                    <a:p>
                      <a:r>
                        <a:rPr lang="en-US" altLang="zh-CN" sz="1100" baseline="0" dirty="0">
                          <a:effectLst/>
                          <a:latin typeface="Huawei Sans" panose="020C0503030203020204" pitchFamily="34" charset="0"/>
                          <a:ea typeface="方正兰亭黑简体" panose="02000000000000000000" pitchFamily="2" charset="-122"/>
                        </a:rPr>
                        <a:t>Ethernet over GRE</a:t>
                      </a:r>
                      <a:r>
                        <a:rPr lang="zh-CN" altLang="en-US" sz="1100" baseline="0" dirty="0">
                          <a:effectLst/>
                          <a:latin typeface="Huawei Sans" panose="020C0503030203020204" pitchFamily="34" charset="0"/>
                          <a:ea typeface="方正兰亭黑简体" panose="02000000000000000000" pitchFamily="2" charset="-122"/>
                        </a:rPr>
                        <a:t>协议的协议代码为</a:t>
                      </a:r>
                      <a:r>
                        <a:rPr lang="en-US" altLang="zh-CN" sz="1100" baseline="0" dirty="0">
                          <a:effectLst/>
                          <a:latin typeface="Huawei Sans" panose="020C0503030203020204" pitchFamily="34" charset="0"/>
                          <a:ea typeface="方正兰亭黑简体" panose="02000000000000000000" pitchFamily="2" charset="-122"/>
                        </a:rPr>
                        <a:t>0x6558</a:t>
                      </a:r>
                      <a:r>
                        <a:rPr lang="zh-CN" altLang="en-US" sz="1100" baseline="0" dirty="0">
                          <a:effectLst/>
                          <a:latin typeface="Huawei Sans" panose="020C0503030203020204" pitchFamily="34" charset="0"/>
                          <a:ea typeface="方正兰亭黑简体" panose="02000000000000000000" pitchFamily="2" charset="-122"/>
                        </a:rPr>
                        <a:t>。</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6036857"/>
                  </a:ext>
                </a:extLst>
              </a:tr>
              <a:tr h="370840">
                <a:tc>
                  <a:txBody>
                    <a:bodyPr/>
                    <a:lstStyle/>
                    <a:p>
                      <a:r>
                        <a:rPr lang="en-US" sz="1100" baseline="0">
                          <a:effectLst/>
                          <a:latin typeface="Huawei Sans" panose="020C0503030203020204" pitchFamily="34" charset="0"/>
                          <a:ea typeface="方正兰亭黑简体" panose="02000000000000000000" pitchFamily="2" charset="-122"/>
                        </a:rPr>
                        <a:t>Checksum</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baseline="0" dirty="0">
                          <a:effectLst/>
                          <a:latin typeface="Huawei Sans" panose="020C0503030203020204" pitchFamily="34" charset="0"/>
                          <a:ea typeface="方正兰亭黑简体" panose="02000000000000000000" pitchFamily="2" charset="-122"/>
                        </a:rPr>
                        <a:t>对</a:t>
                      </a:r>
                      <a:r>
                        <a:rPr lang="en-US" altLang="zh-CN" sz="1100" baseline="0" dirty="0">
                          <a:effectLst/>
                          <a:latin typeface="Huawei Sans" panose="020C0503030203020204" pitchFamily="34" charset="0"/>
                          <a:ea typeface="方正兰亭黑简体" panose="02000000000000000000" pitchFamily="2" charset="-122"/>
                        </a:rPr>
                        <a:t>GRE</a:t>
                      </a:r>
                      <a:r>
                        <a:rPr lang="zh-CN" altLang="en-US" sz="1100" baseline="0" dirty="0">
                          <a:effectLst/>
                          <a:latin typeface="Huawei Sans" panose="020C0503030203020204" pitchFamily="34" charset="0"/>
                          <a:ea typeface="方正兰亭黑简体" panose="02000000000000000000" pitchFamily="2" charset="-122"/>
                        </a:rPr>
                        <a:t>头及其负载的校验和字段。</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1142423"/>
                  </a:ext>
                </a:extLst>
              </a:tr>
              <a:tr h="370840">
                <a:tc>
                  <a:txBody>
                    <a:bodyPr/>
                    <a:lstStyle/>
                    <a:p>
                      <a:r>
                        <a:rPr lang="en-US" sz="1100" baseline="0">
                          <a:effectLst/>
                          <a:latin typeface="Huawei Sans" panose="020C0503030203020204" pitchFamily="34" charset="0"/>
                          <a:ea typeface="方正兰亭黑简体" panose="02000000000000000000" pitchFamily="2" charset="-122"/>
                        </a:rPr>
                        <a:t>Key</a:t>
                      </a:r>
                    </a:p>
                  </a:txBody>
                  <a:tcPr marL="47625" marR="47625" marT="47625" marB="47625"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r>
                        <a:rPr lang="zh-CN" altLang="en-US" sz="1100" baseline="0" dirty="0">
                          <a:effectLst/>
                          <a:latin typeface="Huawei Sans" panose="020C0503030203020204" pitchFamily="34" charset="0"/>
                          <a:ea typeface="方正兰亭黑简体" panose="02000000000000000000" pitchFamily="2" charset="-122"/>
                        </a:rPr>
                        <a:t>关键字字段，隧道接收端用于对收到的报文进行验证。</a:t>
                      </a:r>
                    </a:p>
                  </a:txBody>
                  <a:tcPr marL="47625" marR="47625" marT="47625" marB="47625"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2445654"/>
                  </a:ext>
                </a:extLst>
              </a:tr>
            </a:tbl>
          </a:graphicData>
        </a:graphic>
      </p:graphicFrame>
      <p:sp>
        <p:nvSpPr>
          <p:cNvPr id="5" name="Slide Image Placeholder 4">
            <a:extLst>
              <a:ext uri="{FF2B5EF4-FFF2-40B4-BE49-F238E27FC236}">
                <a16:creationId xmlns:a16="http://schemas.microsoft.com/office/drawing/2014/main" id="{209CB66D-0C63-4941-8343-A9A5398D516B}"/>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32155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DECBB-392C-4CC0-8AF9-0028BC706688}"/>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BBDA31A7-6CB0-4D96-AC07-6830108A71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30448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err="1"/>
              <a:t>Keepalive</a:t>
            </a:r>
            <a:r>
              <a:rPr lang="zh-CN" altLang="en-US" dirty="0"/>
              <a:t>检测功能的实现过程如下：</a:t>
            </a:r>
          </a:p>
          <a:p>
            <a:pPr lvl="1"/>
            <a:r>
              <a:rPr lang="zh-CN" altLang="en-US" dirty="0"/>
              <a:t>当</a:t>
            </a:r>
            <a:r>
              <a:rPr lang="en-US" altLang="zh-CN" dirty="0"/>
              <a:t>GRE</a:t>
            </a:r>
            <a:r>
              <a:rPr lang="zh-CN" altLang="en-US" dirty="0"/>
              <a:t>隧道的源端使能</a:t>
            </a:r>
            <a:r>
              <a:rPr lang="en-US" altLang="zh-CN" dirty="0" err="1"/>
              <a:t>Keepalive</a:t>
            </a:r>
            <a:r>
              <a:rPr lang="zh-CN" altLang="en-US" dirty="0"/>
              <a:t>检测功能后，就创建一个定时器，周期地发送</a:t>
            </a:r>
            <a:r>
              <a:rPr lang="en-US" altLang="zh-CN" dirty="0" err="1"/>
              <a:t>Keepalive</a:t>
            </a:r>
            <a:r>
              <a:rPr lang="zh-CN" altLang="en-US" dirty="0"/>
              <a:t>探测报文，同时通过计数器进行不可达计数。每发送一个探测报文，不可达计数加</a:t>
            </a:r>
            <a:r>
              <a:rPr lang="en-US" altLang="zh-CN" dirty="0"/>
              <a:t>1</a:t>
            </a:r>
            <a:r>
              <a:rPr lang="zh-CN" altLang="en-US" dirty="0"/>
              <a:t>。</a:t>
            </a:r>
          </a:p>
          <a:p>
            <a:pPr lvl="1"/>
            <a:r>
              <a:rPr lang="zh-CN" altLang="en-US" dirty="0"/>
              <a:t>对端每收到一个探测报文，就给源端发送一个回应报文。</a:t>
            </a:r>
          </a:p>
          <a:p>
            <a:pPr lvl="1"/>
            <a:r>
              <a:rPr lang="zh-CN" altLang="en-US" dirty="0"/>
              <a:t>如果源端的计数器值未达到预先设置的值就收到回应报文，就表明对端可达。如果源端的计数器值到达预先设置的值</a:t>
            </a:r>
            <a:r>
              <a:rPr lang="en-US" altLang="zh-CN" dirty="0"/>
              <a:t>——</a:t>
            </a:r>
            <a:r>
              <a:rPr lang="zh-CN" altLang="en-US" dirty="0"/>
              <a:t>重试次数（</a:t>
            </a:r>
            <a:r>
              <a:rPr lang="en-US" altLang="zh-CN" dirty="0"/>
              <a:t>Retry Times</a:t>
            </a:r>
            <a:r>
              <a:rPr lang="zh-CN" altLang="en-US" dirty="0"/>
              <a:t>）时，还没收到回送报文，就认为对端不可达。此时，源端将关闭隧道连接。但是源端口仍会继续发送</a:t>
            </a:r>
            <a:r>
              <a:rPr lang="en-US" altLang="zh-CN" dirty="0" err="1"/>
              <a:t>Keepalive</a:t>
            </a:r>
            <a:r>
              <a:rPr lang="zh-CN" altLang="en-US" dirty="0"/>
              <a:t>报文，若对端</a:t>
            </a:r>
            <a:r>
              <a:rPr lang="en-US" altLang="zh-CN" dirty="0"/>
              <a:t>Up</a:t>
            </a:r>
            <a:r>
              <a:rPr lang="zh-CN" altLang="en-US" dirty="0"/>
              <a:t>，则源端口也会</a:t>
            </a:r>
            <a:r>
              <a:rPr lang="en-US" altLang="zh-CN" dirty="0"/>
              <a:t>Up</a:t>
            </a:r>
            <a:r>
              <a:rPr lang="zh-CN" altLang="en-US" dirty="0"/>
              <a:t>，建立隧道链接。</a:t>
            </a:r>
            <a:endParaRPr lang="en-US" dirty="0"/>
          </a:p>
        </p:txBody>
      </p:sp>
      <p:sp>
        <p:nvSpPr>
          <p:cNvPr id="4" name="Slide Image Placeholder 3">
            <a:extLst>
              <a:ext uri="{FF2B5EF4-FFF2-40B4-BE49-F238E27FC236}">
                <a16:creationId xmlns:a16="http://schemas.microsoft.com/office/drawing/2014/main" id="{4B6D3DA6-13E0-416D-BAFA-9C0928FFF64B}"/>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516689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CB0535CE-B459-4E97-985E-47C75BCAA09F}"/>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996C30BB-4F53-4C21-AA65-278AE49226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844690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隧道两端可以根据实际应用的需要决定配置校验和或禁止校验和。如果本端配置了校验和而对端没有配置，则本端将不会对接收到的报文进行校验和检查，但对发送的报文计算校验和；相反，如果本端没有配置校验和而对端已配置，则本端将对从对端发来的报文进行校验和检查，但对发送的报文不计算校验和。</a:t>
            </a:r>
            <a:endParaRPr lang="en-US" dirty="0"/>
          </a:p>
        </p:txBody>
      </p:sp>
      <p:sp>
        <p:nvSpPr>
          <p:cNvPr id="5" name="Slide Image Placeholder 4">
            <a:extLst>
              <a:ext uri="{FF2B5EF4-FFF2-40B4-BE49-F238E27FC236}">
                <a16:creationId xmlns:a16="http://schemas.microsoft.com/office/drawing/2014/main" id="{FCDD2682-FABF-41F8-B322-12AD33543AA7}"/>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181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关键字的作用是标志隧道中的流量，属于同一流量的报文使用相同的关键字。在报文解封装时，</a:t>
            </a:r>
            <a:r>
              <a:rPr lang="en-US" altLang="zh-CN" dirty="0"/>
              <a:t>GRE</a:t>
            </a:r>
            <a:r>
              <a:rPr lang="zh-CN" altLang="en-US" dirty="0"/>
              <a:t>将基于关键字来识别属于相同流量的数据报文。只有</a:t>
            </a:r>
            <a:r>
              <a:rPr lang="en-US" altLang="zh-CN" dirty="0"/>
              <a:t>Tunnel</a:t>
            </a:r>
            <a:r>
              <a:rPr lang="zh-CN" altLang="en-US" dirty="0"/>
              <a:t>两端设置的识别关键字完全一致时才能通过验证，否则将报文丢弃。这里的“完全一致”是指两端都不设置识别关键字，或者两端都设置相同的关键字。</a:t>
            </a:r>
            <a:endParaRPr lang="en-US" dirty="0"/>
          </a:p>
        </p:txBody>
      </p:sp>
      <p:sp>
        <p:nvSpPr>
          <p:cNvPr id="5" name="Slide Image Placeholder 4">
            <a:extLst>
              <a:ext uri="{FF2B5EF4-FFF2-40B4-BE49-F238E27FC236}">
                <a16:creationId xmlns:a16="http://schemas.microsoft.com/office/drawing/2014/main" id="{B5F11D79-709E-435F-917B-9CAFF113CF2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9808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1C1F4456-A74D-44C3-9CF6-751B68E2D109}"/>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4687A2C1-38C4-44B6-B04D-001418BB23E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96512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F6F035D7-EE7E-48D6-8B91-A458685718C5}"/>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51C43C4-E762-4ED8-AF90-A5AE8A248CE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592278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11067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96042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36979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212380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NAS</a:t>
            </a:r>
          </a:p>
          <a:p>
            <a:r>
              <a:rPr lang="en-US" altLang="zh-CN" dirty="0"/>
              <a:t>NAS</a:t>
            </a:r>
            <a:r>
              <a:rPr lang="zh-CN" altLang="en-US" dirty="0"/>
              <a:t>网络接入服务器（</a:t>
            </a:r>
            <a:r>
              <a:rPr lang="en-US" altLang="zh-CN" dirty="0"/>
              <a:t>Network Access Server</a:t>
            </a:r>
            <a:r>
              <a:rPr lang="zh-CN" altLang="en-US" dirty="0"/>
              <a:t>）主要由</a:t>
            </a:r>
            <a:r>
              <a:rPr lang="en-US" altLang="zh-CN" dirty="0"/>
              <a:t>ISP</a:t>
            </a:r>
            <a:r>
              <a:rPr lang="zh-CN" altLang="en-US" dirty="0"/>
              <a:t>维护，连接拨号网络，是距离</a:t>
            </a:r>
            <a:r>
              <a:rPr lang="en-US" altLang="zh-CN" dirty="0"/>
              <a:t>PPP</a:t>
            </a:r>
            <a:r>
              <a:rPr lang="zh-CN" altLang="en-US" dirty="0"/>
              <a:t>终端地理位置最近的接入点。</a:t>
            </a:r>
            <a:r>
              <a:rPr lang="en-US" altLang="zh-CN" dirty="0"/>
              <a:t>NAS</a:t>
            </a:r>
            <a:r>
              <a:rPr lang="zh-CN" altLang="en-US" dirty="0"/>
              <a:t>用于传统的拨号网络中，</a:t>
            </a:r>
            <a:r>
              <a:rPr lang="en-US" altLang="zh-CN" dirty="0"/>
              <a:t>ISP</a:t>
            </a:r>
            <a:r>
              <a:rPr lang="zh-CN" altLang="en-US" dirty="0"/>
              <a:t>在</a:t>
            </a:r>
            <a:r>
              <a:rPr lang="en-US" altLang="zh-CN" dirty="0"/>
              <a:t>NAS</a:t>
            </a:r>
            <a:r>
              <a:rPr lang="zh-CN" altLang="en-US" dirty="0"/>
              <a:t>上部署</a:t>
            </a:r>
            <a:r>
              <a:rPr lang="en-US" altLang="zh-CN" dirty="0"/>
              <a:t>LAC</a:t>
            </a:r>
            <a:r>
              <a:rPr lang="zh-CN" altLang="en-US" dirty="0"/>
              <a:t>，可为远程拨号用户提供</a:t>
            </a:r>
            <a:r>
              <a:rPr lang="en-US" altLang="zh-CN" dirty="0"/>
              <a:t>L2TP</a:t>
            </a:r>
            <a:r>
              <a:rPr lang="zh-CN" altLang="en-US" dirty="0"/>
              <a:t>服务，和企业总部建立隧道连接。</a:t>
            </a:r>
            <a:endParaRPr lang="en-US" altLang="zh-CN" dirty="0"/>
          </a:p>
          <a:p>
            <a:r>
              <a:rPr lang="en-US" altLang="zh-CN" dirty="0"/>
              <a:t>LAC</a:t>
            </a:r>
          </a:p>
          <a:p>
            <a:r>
              <a:rPr lang="en-US" altLang="zh-CN" dirty="0"/>
              <a:t>L2TP</a:t>
            </a:r>
            <a:r>
              <a:rPr lang="zh-CN" altLang="en-US" dirty="0"/>
              <a:t>访问集中器</a:t>
            </a:r>
            <a:r>
              <a:rPr lang="en-US" altLang="zh-CN" dirty="0"/>
              <a:t>LAC</a:t>
            </a:r>
            <a:r>
              <a:rPr lang="zh-CN" altLang="en-US" dirty="0"/>
              <a:t>是交换网络上具有</a:t>
            </a:r>
            <a:r>
              <a:rPr lang="en-US" altLang="zh-CN" dirty="0"/>
              <a:t>PPP</a:t>
            </a:r>
            <a:r>
              <a:rPr lang="zh-CN" altLang="en-US" dirty="0"/>
              <a:t>和</a:t>
            </a:r>
            <a:r>
              <a:rPr lang="en-US" altLang="zh-CN" dirty="0"/>
              <a:t>L2TP</a:t>
            </a:r>
            <a:r>
              <a:rPr lang="zh-CN" altLang="en-US" dirty="0"/>
              <a:t>协议处理能力的设备。</a:t>
            </a:r>
            <a:r>
              <a:rPr lang="en-US" altLang="zh-CN" dirty="0"/>
              <a:t>LAC</a:t>
            </a:r>
            <a:r>
              <a:rPr lang="zh-CN" altLang="en-US" dirty="0"/>
              <a:t>根据</a:t>
            </a:r>
            <a:r>
              <a:rPr lang="en-US" altLang="zh-CN" dirty="0"/>
              <a:t>PPP</a:t>
            </a:r>
            <a:r>
              <a:rPr lang="zh-CN" altLang="en-US" dirty="0"/>
              <a:t>报文中所携带的用户名或者域名信息，和</a:t>
            </a:r>
            <a:r>
              <a:rPr lang="en-US" altLang="zh-CN" dirty="0"/>
              <a:t>LNS</a:t>
            </a:r>
            <a:r>
              <a:rPr lang="zh-CN" altLang="en-US" dirty="0"/>
              <a:t>建立</a:t>
            </a:r>
            <a:r>
              <a:rPr lang="en-US" altLang="zh-CN" dirty="0"/>
              <a:t>L2TP</a:t>
            </a:r>
            <a:r>
              <a:rPr lang="zh-CN" altLang="en-US" dirty="0"/>
              <a:t>隧道连接，将</a:t>
            </a:r>
            <a:r>
              <a:rPr lang="en-US" altLang="zh-CN" dirty="0"/>
              <a:t>PPP</a:t>
            </a:r>
            <a:r>
              <a:rPr lang="zh-CN" altLang="en-US" dirty="0"/>
              <a:t>协商延展到</a:t>
            </a:r>
            <a:r>
              <a:rPr lang="en-US" altLang="zh-CN" dirty="0"/>
              <a:t>LNS</a:t>
            </a:r>
            <a:r>
              <a:rPr lang="zh-CN" altLang="en-US" dirty="0"/>
              <a:t>。</a:t>
            </a:r>
          </a:p>
          <a:p>
            <a:pPr lvl="1"/>
            <a:r>
              <a:rPr lang="zh-CN" altLang="en-US" dirty="0"/>
              <a:t>在不同的组网环境中，</a:t>
            </a:r>
            <a:r>
              <a:rPr lang="en-US" altLang="zh-CN" dirty="0"/>
              <a:t>LAC</a:t>
            </a:r>
            <a:r>
              <a:rPr lang="zh-CN" altLang="en-US" dirty="0"/>
              <a:t>可以是不同的设备： </a:t>
            </a:r>
            <a:r>
              <a:rPr lang="en-US" altLang="zh-CN" dirty="0"/>
              <a:t>NAS-Initiated</a:t>
            </a:r>
            <a:r>
              <a:rPr lang="zh-CN" altLang="en-US" dirty="0"/>
              <a:t>场景：在传统的拨号网络中，</a:t>
            </a:r>
            <a:r>
              <a:rPr lang="en-US" altLang="zh-CN" dirty="0"/>
              <a:t>ISP</a:t>
            </a:r>
            <a:r>
              <a:rPr lang="zh-CN" altLang="en-US" dirty="0"/>
              <a:t>在</a:t>
            </a:r>
            <a:r>
              <a:rPr lang="en-US" altLang="zh-CN" dirty="0"/>
              <a:t>NAS</a:t>
            </a:r>
            <a:r>
              <a:rPr lang="zh-CN" altLang="en-US" dirty="0"/>
              <a:t>上部署</a:t>
            </a:r>
            <a:r>
              <a:rPr lang="en-US" altLang="zh-CN" dirty="0"/>
              <a:t>LAC</a:t>
            </a:r>
            <a:r>
              <a:rPr lang="zh-CN" altLang="en-US" dirty="0"/>
              <a:t>，或在企业分支的以太网络中，为</a:t>
            </a:r>
            <a:r>
              <a:rPr lang="en-US" altLang="zh-CN" dirty="0"/>
              <a:t>PPP</a:t>
            </a:r>
            <a:r>
              <a:rPr lang="zh-CN" altLang="en-US" dirty="0"/>
              <a:t>终端配备网关设备，网关作为</a:t>
            </a:r>
            <a:r>
              <a:rPr lang="en-US" altLang="zh-CN" dirty="0" err="1"/>
              <a:t>PPPoE</a:t>
            </a:r>
            <a:r>
              <a:rPr lang="zh-CN" altLang="en-US" dirty="0"/>
              <a:t>服务器，同时部署为</a:t>
            </a:r>
            <a:r>
              <a:rPr lang="en-US" altLang="zh-CN" dirty="0"/>
              <a:t>LAC</a:t>
            </a:r>
            <a:r>
              <a:rPr lang="zh-CN" altLang="en-US" dirty="0"/>
              <a:t>。</a:t>
            </a:r>
          </a:p>
          <a:p>
            <a:pPr lvl="1"/>
            <a:r>
              <a:rPr lang="en-US" altLang="zh-CN" dirty="0"/>
              <a:t>L2TP Client-Initiated</a:t>
            </a:r>
            <a:r>
              <a:rPr lang="zh-CN" altLang="en-US" dirty="0"/>
              <a:t>场景：企业分支在网关设备配置可以主动向</a:t>
            </a:r>
            <a:r>
              <a:rPr lang="en-US" altLang="zh-CN" dirty="0"/>
              <a:t>LNS</a:t>
            </a:r>
            <a:r>
              <a:rPr lang="zh-CN" altLang="en-US" dirty="0"/>
              <a:t>发起</a:t>
            </a:r>
            <a:r>
              <a:rPr lang="en-US" altLang="zh-CN" dirty="0"/>
              <a:t>L2TP</a:t>
            </a:r>
            <a:r>
              <a:rPr lang="zh-CN" altLang="en-US" dirty="0"/>
              <a:t>隧道连接请求的</a:t>
            </a:r>
            <a:r>
              <a:rPr lang="en-US" altLang="zh-CN" dirty="0"/>
              <a:t>L2TP Client</a:t>
            </a:r>
            <a:r>
              <a:rPr lang="zh-CN" altLang="en-US" dirty="0"/>
              <a:t>，不需要远端系统拨号触发，</a:t>
            </a:r>
            <a:r>
              <a:rPr lang="en-US" altLang="zh-CN" dirty="0"/>
              <a:t>L2TP Client</a:t>
            </a:r>
            <a:r>
              <a:rPr lang="zh-CN" altLang="en-US" dirty="0"/>
              <a:t>为</a:t>
            </a:r>
            <a:r>
              <a:rPr lang="en-US" altLang="zh-CN" dirty="0"/>
              <a:t>LAC</a:t>
            </a:r>
            <a:r>
              <a:rPr lang="zh-CN" altLang="en-US" dirty="0"/>
              <a:t>。</a:t>
            </a:r>
          </a:p>
          <a:p>
            <a:pPr lvl="1"/>
            <a:r>
              <a:rPr lang="en-US" altLang="zh-CN" dirty="0"/>
              <a:t>Client-Initiated</a:t>
            </a:r>
            <a:r>
              <a:rPr lang="zh-CN" altLang="en-US" dirty="0"/>
              <a:t>场景：出差人员使用</a:t>
            </a:r>
            <a:r>
              <a:rPr lang="en-US" altLang="zh-CN" dirty="0"/>
              <a:t>PC</a:t>
            </a:r>
            <a:r>
              <a:rPr lang="zh-CN" altLang="en-US" dirty="0"/>
              <a:t>或移动终端接入</a:t>
            </a:r>
            <a:r>
              <a:rPr lang="en-US" altLang="zh-CN" dirty="0"/>
              <a:t>Internet</a:t>
            </a:r>
            <a:r>
              <a:rPr lang="zh-CN" altLang="en-US" dirty="0"/>
              <a:t>，在</a:t>
            </a:r>
            <a:r>
              <a:rPr lang="en-US" altLang="zh-CN" dirty="0"/>
              <a:t>PC</a:t>
            </a:r>
            <a:r>
              <a:rPr lang="zh-CN" altLang="en-US" dirty="0"/>
              <a:t>或移动终端上使用</a:t>
            </a:r>
            <a:r>
              <a:rPr lang="en-US" altLang="zh-CN" dirty="0"/>
              <a:t>L2TP</a:t>
            </a:r>
            <a:r>
              <a:rPr lang="zh-CN" altLang="en-US" dirty="0"/>
              <a:t>拨号软件，则</a:t>
            </a:r>
            <a:r>
              <a:rPr lang="en-US" altLang="zh-CN" dirty="0"/>
              <a:t>PC</a:t>
            </a:r>
            <a:r>
              <a:rPr lang="zh-CN" altLang="en-US" dirty="0"/>
              <a:t>或移动终端终端为</a:t>
            </a:r>
            <a:r>
              <a:rPr lang="en-US" altLang="zh-CN" dirty="0"/>
              <a:t>LAC</a:t>
            </a:r>
            <a:r>
              <a:rPr lang="zh-CN" altLang="en-US" dirty="0"/>
              <a:t>。</a:t>
            </a:r>
          </a:p>
          <a:p>
            <a:r>
              <a:rPr lang="en-US" altLang="zh-CN" dirty="0"/>
              <a:t>LAC</a:t>
            </a:r>
            <a:r>
              <a:rPr lang="zh-CN" altLang="en-US" dirty="0"/>
              <a:t>可以发起建立多条</a:t>
            </a:r>
            <a:r>
              <a:rPr lang="en-US" altLang="zh-CN" dirty="0"/>
              <a:t>L2TP</a:t>
            </a:r>
            <a:r>
              <a:rPr lang="zh-CN" altLang="en-US" dirty="0"/>
              <a:t>隧道使数据流之间相互隔离，即</a:t>
            </a:r>
            <a:r>
              <a:rPr lang="en-US" altLang="zh-CN" dirty="0"/>
              <a:t>LAC</a:t>
            </a:r>
            <a:r>
              <a:rPr lang="zh-CN" altLang="en-US" dirty="0"/>
              <a:t>可以承载多条</a:t>
            </a:r>
            <a:r>
              <a:rPr lang="en-US" altLang="zh-CN" dirty="0"/>
              <a:t>L2TP</a:t>
            </a:r>
            <a:r>
              <a:rPr lang="zh-CN" altLang="en-US" dirty="0"/>
              <a:t>连接。</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4013033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31838" y="728663"/>
            <a:ext cx="5580062" cy="8366172"/>
          </a:xfrm>
        </p:spPr>
        <p:txBody>
          <a:bodyPr/>
          <a:lstStyle/>
          <a:p>
            <a:r>
              <a:rPr lang="en-US" altLang="zh-CN" dirty="0"/>
              <a:t>LNS</a:t>
            </a:r>
          </a:p>
          <a:p>
            <a:r>
              <a:rPr lang="en-US" altLang="zh-CN" dirty="0"/>
              <a:t>L2TP</a:t>
            </a:r>
            <a:r>
              <a:rPr lang="zh-CN" altLang="en-US" dirty="0"/>
              <a:t>网络服务器</a:t>
            </a:r>
            <a:r>
              <a:rPr lang="en-US" altLang="zh-CN" dirty="0"/>
              <a:t>LNS</a:t>
            </a:r>
            <a:r>
              <a:rPr lang="zh-CN" altLang="en-US" dirty="0"/>
              <a:t>是终止</a:t>
            </a:r>
            <a:r>
              <a:rPr lang="en-US" altLang="zh-CN" dirty="0"/>
              <a:t>PPP</a:t>
            </a:r>
            <a:r>
              <a:rPr lang="zh-CN" altLang="en-US" dirty="0"/>
              <a:t>会话的一端，通过</a:t>
            </a:r>
            <a:r>
              <a:rPr lang="en-US" altLang="zh-CN" dirty="0"/>
              <a:t>LNS</a:t>
            </a:r>
            <a:r>
              <a:rPr lang="zh-CN" altLang="en-US" dirty="0"/>
              <a:t>的认证，</a:t>
            </a:r>
            <a:r>
              <a:rPr lang="en-US" altLang="zh-CN" dirty="0"/>
              <a:t>PPP</a:t>
            </a:r>
            <a:r>
              <a:rPr lang="zh-CN" altLang="en-US" dirty="0"/>
              <a:t>会话协商成功，远程用户可以访问企业总部的资源。对</a:t>
            </a:r>
            <a:r>
              <a:rPr lang="en-US" altLang="zh-CN" dirty="0"/>
              <a:t>L2TP</a:t>
            </a:r>
            <a:r>
              <a:rPr lang="zh-CN" altLang="en-US" dirty="0"/>
              <a:t>协商，</a:t>
            </a:r>
            <a:r>
              <a:rPr lang="en-US" altLang="zh-CN" dirty="0"/>
              <a:t>LNS</a:t>
            </a:r>
            <a:r>
              <a:rPr lang="zh-CN" altLang="en-US" dirty="0"/>
              <a:t>是</a:t>
            </a:r>
            <a:r>
              <a:rPr lang="en-US" altLang="zh-CN" dirty="0"/>
              <a:t>LAC</a:t>
            </a:r>
            <a:r>
              <a:rPr lang="zh-CN" altLang="en-US" dirty="0"/>
              <a:t>的对端设备，即</a:t>
            </a:r>
            <a:r>
              <a:rPr lang="en-US" altLang="zh-CN" dirty="0"/>
              <a:t>LAC</a:t>
            </a:r>
            <a:r>
              <a:rPr lang="zh-CN" altLang="en-US" dirty="0"/>
              <a:t>和</a:t>
            </a:r>
            <a:r>
              <a:rPr lang="en-US" altLang="zh-CN" dirty="0"/>
              <a:t>LNS</a:t>
            </a:r>
            <a:r>
              <a:rPr lang="zh-CN" altLang="en-US" dirty="0"/>
              <a:t>建立了</a:t>
            </a:r>
            <a:r>
              <a:rPr lang="en-US" altLang="zh-CN" dirty="0"/>
              <a:t>L2TP</a:t>
            </a:r>
            <a:r>
              <a:rPr lang="zh-CN" altLang="en-US" dirty="0"/>
              <a:t>隧道；对</a:t>
            </a:r>
            <a:r>
              <a:rPr lang="en-US" altLang="zh-CN" dirty="0"/>
              <a:t>PPP</a:t>
            </a:r>
            <a:r>
              <a:rPr lang="zh-CN" altLang="en-US" dirty="0"/>
              <a:t>，</a:t>
            </a:r>
            <a:r>
              <a:rPr lang="en-US" altLang="zh-CN" dirty="0"/>
              <a:t>LNS</a:t>
            </a:r>
            <a:r>
              <a:rPr lang="zh-CN" altLang="en-US" dirty="0"/>
              <a:t>是</a:t>
            </a:r>
            <a:r>
              <a:rPr lang="en-US" altLang="zh-CN" dirty="0"/>
              <a:t>PPP</a:t>
            </a:r>
            <a:r>
              <a:rPr lang="zh-CN" altLang="en-US" dirty="0"/>
              <a:t>会话的逻辑终止端点，即</a:t>
            </a:r>
            <a:r>
              <a:rPr lang="en-US" altLang="zh-CN" dirty="0"/>
              <a:t>PPP</a:t>
            </a:r>
            <a:r>
              <a:rPr lang="zh-CN" altLang="en-US" dirty="0"/>
              <a:t>终端和</a:t>
            </a:r>
            <a:r>
              <a:rPr lang="en-US" altLang="zh-CN" dirty="0"/>
              <a:t>LNS</a:t>
            </a:r>
            <a:r>
              <a:rPr lang="zh-CN" altLang="en-US" dirty="0"/>
              <a:t>建立了一条点到点的虚拟链路。</a:t>
            </a:r>
          </a:p>
          <a:p>
            <a:r>
              <a:rPr lang="en-US" altLang="zh-CN" dirty="0"/>
              <a:t>LNS</a:t>
            </a:r>
            <a:r>
              <a:rPr lang="zh-CN" altLang="en-US" dirty="0"/>
              <a:t>位于企业总部私网与公网边界，通常是企业总部的网关设备。必要时，</a:t>
            </a:r>
            <a:r>
              <a:rPr lang="en-US" altLang="zh-CN" dirty="0"/>
              <a:t>LNS</a:t>
            </a:r>
            <a:r>
              <a:rPr lang="zh-CN" altLang="en-US" dirty="0"/>
              <a:t>还兼有网络地址转换（</a:t>
            </a:r>
            <a:r>
              <a:rPr lang="en-US" altLang="zh-CN" dirty="0"/>
              <a:t>NAT</a:t>
            </a:r>
            <a:r>
              <a:rPr lang="zh-CN" altLang="en-US" dirty="0"/>
              <a:t>）功能，对企业总部网络内的私有</a:t>
            </a:r>
            <a:r>
              <a:rPr lang="en-US" altLang="zh-CN" dirty="0"/>
              <a:t>IP</a:t>
            </a:r>
            <a:r>
              <a:rPr lang="zh-CN" altLang="en-US" dirty="0"/>
              <a:t>地址与公共</a:t>
            </a:r>
            <a:r>
              <a:rPr lang="en-US" altLang="zh-CN" dirty="0"/>
              <a:t>IP</a:t>
            </a:r>
            <a:r>
              <a:rPr lang="zh-CN" altLang="en-US" dirty="0"/>
              <a:t>地址进行转换。</a:t>
            </a:r>
          </a:p>
        </p:txBody>
      </p:sp>
    </p:spTree>
    <p:extLst>
      <p:ext uri="{BB962C8B-B14F-4D97-AF65-F5344CB8AC3E}">
        <p14:creationId xmlns:p14="http://schemas.microsoft.com/office/powerpoint/2010/main" val="21394130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a:t>控制消息</a:t>
            </a:r>
          </a:p>
          <a:p>
            <a:pPr lvl="1"/>
            <a:r>
              <a:rPr lang="zh-CN" altLang="en-US"/>
              <a:t>用于</a:t>
            </a:r>
            <a:r>
              <a:rPr lang="en-US" altLang="zh-CN"/>
              <a:t>L2TP</a:t>
            </a:r>
            <a:r>
              <a:rPr lang="zh-CN" altLang="en-US"/>
              <a:t>隧道和会话连接的建立、维护和拆除。在控制消息的传输过程中，使用消息丢失重传和定时检测隧道连通性等机制来保证控制消息传输的可靠性，支持对控制消息的流量控制和拥塞控制。</a:t>
            </a:r>
            <a:endParaRPr lang="en-US" altLang="zh-CN"/>
          </a:p>
          <a:p>
            <a:pPr lvl="1"/>
            <a:r>
              <a:rPr lang="zh-CN" altLang="en-US"/>
              <a:t>控制消息承载在</a:t>
            </a:r>
            <a:r>
              <a:rPr lang="en-US" altLang="zh-CN"/>
              <a:t>L2TP</a:t>
            </a:r>
            <a:r>
              <a:rPr lang="zh-CN" altLang="en-US"/>
              <a:t>控制通道上，控制通道实现了控制消息的可靠传输，将控制消息封装在</a:t>
            </a:r>
            <a:r>
              <a:rPr lang="en-US" altLang="zh-CN"/>
              <a:t>L2TP</a:t>
            </a:r>
            <a:r>
              <a:rPr lang="zh-CN" altLang="en-US"/>
              <a:t>报头内，再经过</a:t>
            </a:r>
            <a:r>
              <a:rPr lang="en-US" altLang="zh-CN"/>
              <a:t>IP</a:t>
            </a:r>
            <a:r>
              <a:rPr lang="zh-CN" altLang="en-US"/>
              <a:t>网络传输。</a:t>
            </a:r>
          </a:p>
          <a:p>
            <a:r>
              <a:rPr lang="zh-CN" altLang="en-US"/>
              <a:t>数据消息</a:t>
            </a:r>
          </a:p>
          <a:p>
            <a:pPr lvl="1"/>
            <a:r>
              <a:rPr lang="zh-CN" altLang="en-US"/>
              <a:t>用于封装</a:t>
            </a:r>
            <a:r>
              <a:rPr lang="en-US" altLang="zh-CN"/>
              <a:t>PPP</a:t>
            </a:r>
            <a:r>
              <a:rPr lang="zh-CN" altLang="en-US"/>
              <a:t>数据帧并在隧道上传输。数据消息是不可靠的传输，不重传丢失的数据报文，不支持对数据消息的流量控制和拥塞控制。</a:t>
            </a:r>
            <a:endParaRPr lang="en-US" altLang="zh-CN"/>
          </a:p>
          <a:p>
            <a:pPr lvl="1"/>
            <a:r>
              <a:rPr lang="zh-CN" altLang="en-US"/>
              <a:t>数据消息携带</a:t>
            </a:r>
            <a:r>
              <a:rPr lang="en-US" altLang="zh-CN"/>
              <a:t>PPP</a:t>
            </a:r>
            <a:r>
              <a:rPr lang="zh-CN" altLang="en-US"/>
              <a:t>帧承载在不可靠的数据通道上，对</a:t>
            </a:r>
            <a:r>
              <a:rPr lang="en-US" altLang="zh-CN"/>
              <a:t>PPP</a:t>
            </a:r>
            <a:r>
              <a:rPr lang="zh-CN" altLang="en-US"/>
              <a:t>帧进行</a:t>
            </a:r>
            <a:r>
              <a:rPr lang="en-US" altLang="zh-CN"/>
              <a:t>L2TP</a:t>
            </a:r>
            <a:r>
              <a:rPr lang="zh-CN" altLang="en-US"/>
              <a:t>封装，再经过</a:t>
            </a:r>
            <a:r>
              <a:rPr lang="en-US" altLang="zh-CN"/>
              <a:t>IP</a:t>
            </a:r>
            <a:r>
              <a:rPr lang="zh-CN" altLang="en-US"/>
              <a:t>网络传输。</a:t>
            </a:r>
            <a:endParaRPr lang="zh-CN" alt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6943593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建立</a:t>
            </a:r>
            <a:r>
              <a:rPr lang="en-US" altLang="zh-CN" dirty="0"/>
              <a:t>L2TP</a:t>
            </a:r>
            <a:r>
              <a:rPr lang="zh-CN" altLang="en-US" dirty="0"/>
              <a:t>隧道连接</a:t>
            </a:r>
          </a:p>
          <a:p>
            <a:pPr lvl="1"/>
            <a:r>
              <a:rPr lang="en-US" altLang="zh-CN" dirty="0"/>
              <a:t>LAC</a:t>
            </a:r>
            <a:r>
              <a:rPr lang="zh-CN" altLang="en-US" dirty="0"/>
              <a:t>收到远程用户的</a:t>
            </a:r>
            <a:r>
              <a:rPr lang="en-US" altLang="zh-CN" dirty="0"/>
              <a:t>PPP</a:t>
            </a:r>
            <a:r>
              <a:rPr lang="zh-CN" altLang="en-US" dirty="0"/>
              <a:t>协商请求时，</a:t>
            </a:r>
            <a:r>
              <a:rPr lang="en-US" altLang="zh-CN" dirty="0"/>
              <a:t>LAC</a:t>
            </a:r>
            <a:r>
              <a:rPr lang="zh-CN" altLang="en-US" dirty="0"/>
              <a:t>向</a:t>
            </a:r>
            <a:r>
              <a:rPr lang="en-US" altLang="zh-CN" dirty="0"/>
              <a:t>LNS</a:t>
            </a:r>
            <a:r>
              <a:rPr lang="zh-CN" altLang="en-US" dirty="0"/>
              <a:t>发起</a:t>
            </a:r>
            <a:r>
              <a:rPr lang="en-US" altLang="zh-CN" dirty="0"/>
              <a:t>L2TP</a:t>
            </a:r>
            <a:r>
              <a:rPr lang="zh-CN" altLang="en-US" dirty="0"/>
              <a:t>隧道请求。</a:t>
            </a:r>
            <a:r>
              <a:rPr lang="en-US" altLang="zh-CN" dirty="0"/>
              <a:t>LAC</a:t>
            </a:r>
            <a:r>
              <a:rPr lang="zh-CN" altLang="en-US" dirty="0"/>
              <a:t>和</a:t>
            </a:r>
            <a:r>
              <a:rPr lang="en-US" altLang="zh-CN" dirty="0"/>
              <a:t>LNS</a:t>
            </a:r>
            <a:r>
              <a:rPr lang="zh-CN" altLang="en-US" dirty="0"/>
              <a:t>之间通过</a:t>
            </a:r>
            <a:r>
              <a:rPr lang="en-US" altLang="zh-CN" dirty="0"/>
              <a:t>L2TP</a:t>
            </a:r>
            <a:r>
              <a:rPr lang="zh-CN" altLang="en-US" dirty="0"/>
              <a:t>的控制消息，协商隧道</a:t>
            </a:r>
            <a:r>
              <a:rPr lang="en-US" altLang="zh-CN" dirty="0"/>
              <a:t>ID</a:t>
            </a:r>
            <a:r>
              <a:rPr lang="zh-CN" altLang="en-US" dirty="0"/>
              <a:t>、隧道认证等内容，协商成功后则建立起一条</a:t>
            </a:r>
            <a:r>
              <a:rPr lang="en-US" altLang="zh-CN" dirty="0"/>
              <a:t>L2TP</a:t>
            </a:r>
            <a:r>
              <a:rPr lang="zh-CN" altLang="en-US" dirty="0"/>
              <a:t>隧道，由隧道</a:t>
            </a:r>
            <a:r>
              <a:rPr lang="en-US" altLang="zh-CN" dirty="0"/>
              <a:t>ID</a:t>
            </a:r>
            <a:r>
              <a:rPr lang="zh-CN" altLang="en-US" dirty="0"/>
              <a:t>进行标识。</a:t>
            </a:r>
          </a:p>
          <a:p>
            <a:r>
              <a:rPr lang="zh-CN" altLang="en-US" dirty="0"/>
              <a:t>建立</a:t>
            </a:r>
            <a:r>
              <a:rPr lang="en-US" altLang="zh-CN" dirty="0"/>
              <a:t>L2TP</a:t>
            </a:r>
            <a:r>
              <a:rPr lang="zh-CN" altLang="en-US" dirty="0"/>
              <a:t>会话连接</a:t>
            </a:r>
          </a:p>
          <a:p>
            <a:pPr lvl="1"/>
            <a:r>
              <a:rPr lang="zh-CN" altLang="en-US" dirty="0"/>
              <a:t>如果</a:t>
            </a:r>
            <a:r>
              <a:rPr lang="en-US" altLang="zh-CN" dirty="0"/>
              <a:t>L2TP</a:t>
            </a:r>
            <a:r>
              <a:rPr lang="zh-CN" altLang="en-US" dirty="0"/>
              <a:t>隧道已存在，则在</a:t>
            </a:r>
            <a:r>
              <a:rPr lang="en-US" altLang="zh-CN" dirty="0"/>
              <a:t>LAC</a:t>
            </a:r>
            <a:r>
              <a:rPr lang="zh-CN" altLang="en-US" dirty="0"/>
              <a:t>和</a:t>
            </a:r>
            <a:r>
              <a:rPr lang="en-US" altLang="zh-CN" dirty="0"/>
              <a:t>LNS</a:t>
            </a:r>
            <a:r>
              <a:rPr lang="zh-CN" altLang="en-US" dirty="0"/>
              <a:t>之间通过</a:t>
            </a:r>
            <a:r>
              <a:rPr lang="en-US" altLang="zh-CN" dirty="0"/>
              <a:t>L2TP</a:t>
            </a:r>
            <a:r>
              <a:rPr lang="zh-CN" altLang="en-US" dirty="0"/>
              <a:t>的控制消息，协商会话</a:t>
            </a:r>
            <a:r>
              <a:rPr lang="en-US" altLang="zh-CN" dirty="0"/>
              <a:t>ID</a:t>
            </a:r>
            <a:r>
              <a:rPr lang="zh-CN" altLang="en-US" dirty="0"/>
              <a:t>等内容，否则先建立</a:t>
            </a:r>
            <a:r>
              <a:rPr lang="en-US" altLang="zh-CN" dirty="0"/>
              <a:t>L2TP</a:t>
            </a:r>
            <a:r>
              <a:rPr lang="zh-CN" altLang="en-US" dirty="0"/>
              <a:t>隧道连接。会话中携带了</a:t>
            </a:r>
            <a:r>
              <a:rPr lang="en-US" altLang="zh-CN" dirty="0"/>
              <a:t>LAC</a:t>
            </a:r>
            <a:r>
              <a:rPr lang="zh-CN" altLang="en-US" dirty="0"/>
              <a:t>的</a:t>
            </a:r>
            <a:r>
              <a:rPr lang="en-US" altLang="zh-CN" dirty="0"/>
              <a:t>LCP</a:t>
            </a:r>
            <a:r>
              <a:rPr lang="zh-CN" altLang="en-US" dirty="0"/>
              <a:t>协商信息和用户认证信息，</a:t>
            </a:r>
            <a:r>
              <a:rPr lang="en-US" altLang="zh-CN" dirty="0"/>
              <a:t>LNS</a:t>
            </a:r>
            <a:r>
              <a:rPr lang="zh-CN" altLang="en-US" dirty="0"/>
              <a:t>对收到的信息认证通过后，则通知</a:t>
            </a:r>
            <a:r>
              <a:rPr lang="en-US" altLang="zh-CN" dirty="0"/>
              <a:t>LAC</a:t>
            </a:r>
            <a:r>
              <a:rPr lang="zh-CN" altLang="en-US" dirty="0"/>
              <a:t>会话建立成功。</a:t>
            </a:r>
            <a:r>
              <a:rPr lang="en-US" altLang="zh-CN" dirty="0"/>
              <a:t>L2TP</a:t>
            </a:r>
            <a:r>
              <a:rPr lang="zh-CN" altLang="en-US" dirty="0"/>
              <a:t>会话连接由会话</a:t>
            </a:r>
            <a:r>
              <a:rPr lang="en-US" altLang="zh-CN" dirty="0"/>
              <a:t>ID</a:t>
            </a:r>
            <a:r>
              <a:rPr lang="zh-CN" altLang="en-US" dirty="0"/>
              <a:t>进行标识。</a:t>
            </a:r>
          </a:p>
          <a:p>
            <a:r>
              <a:rPr lang="zh-CN" altLang="en-US" dirty="0"/>
              <a:t>传输</a:t>
            </a:r>
            <a:r>
              <a:rPr lang="en-US" altLang="zh-CN" dirty="0"/>
              <a:t>PPP</a:t>
            </a:r>
            <a:r>
              <a:rPr lang="zh-CN" altLang="en-US" dirty="0"/>
              <a:t>报文</a:t>
            </a:r>
          </a:p>
          <a:p>
            <a:pPr lvl="1"/>
            <a:r>
              <a:rPr lang="en-US" altLang="zh-CN" dirty="0"/>
              <a:t>L2TP</a:t>
            </a:r>
            <a:r>
              <a:rPr lang="zh-CN" altLang="en-US" dirty="0"/>
              <a:t>会话建立成功后，</a:t>
            </a:r>
            <a:r>
              <a:rPr lang="en-US" altLang="zh-CN" dirty="0"/>
              <a:t>PPP</a:t>
            </a:r>
            <a:r>
              <a:rPr lang="zh-CN" altLang="en-US" dirty="0"/>
              <a:t>终端将数据报文发送至</a:t>
            </a:r>
            <a:r>
              <a:rPr lang="en-US" altLang="zh-CN" dirty="0"/>
              <a:t>LAC</a:t>
            </a:r>
            <a:r>
              <a:rPr lang="zh-CN" altLang="en-US" dirty="0"/>
              <a:t>，</a:t>
            </a:r>
            <a:r>
              <a:rPr lang="en-US" altLang="zh-CN" dirty="0"/>
              <a:t>LAC</a:t>
            </a:r>
            <a:r>
              <a:rPr lang="zh-CN" altLang="en-US" dirty="0"/>
              <a:t>根据</a:t>
            </a:r>
            <a:r>
              <a:rPr lang="en-US" altLang="zh-CN" dirty="0"/>
              <a:t>L2TP</a:t>
            </a:r>
            <a:r>
              <a:rPr lang="zh-CN" altLang="en-US" dirty="0"/>
              <a:t>隧道和会话</a:t>
            </a:r>
            <a:r>
              <a:rPr lang="en-US" altLang="zh-CN" dirty="0"/>
              <a:t>ID</a:t>
            </a:r>
            <a:r>
              <a:rPr lang="zh-CN" altLang="en-US" dirty="0"/>
              <a:t>等信息，进行</a:t>
            </a:r>
            <a:r>
              <a:rPr lang="en-US" altLang="zh-CN" dirty="0"/>
              <a:t>L2TP</a:t>
            </a:r>
            <a:r>
              <a:rPr lang="zh-CN" altLang="en-US" dirty="0"/>
              <a:t>报文封装，并发送到</a:t>
            </a:r>
            <a:r>
              <a:rPr lang="en-US" altLang="zh-CN" dirty="0"/>
              <a:t>LNS</a:t>
            </a:r>
            <a:r>
              <a:rPr lang="zh-CN" altLang="en-US" dirty="0"/>
              <a:t>，</a:t>
            </a:r>
            <a:r>
              <a:rPr lang="en-US" altLang="zh-CN" dirty="0"/>
              <a:t>LNS</a:t>
            </a:r>
            <a:r>
              <a:rPr lang="zh-CN" altLang="en-US" dirty="0"/>
              <a:t>进行</a:t>
            </a:r>
            <a:r>
              <a:rPr lang="en-US" altLang="zh-CN" dirty="0"/>
              <a:t>L2TP</a:t>
            </a:r>
            <a:r>
              <a:rPr lang="zh-CN" altLang="en-US" dirty="0"/>
              <a:t>解封装处理，根据路由转发表发送至目的主机，完成报文的传输。</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16146565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a:t>企业出差员工的地理位置经常发生移动，并且随时需要和总部通信和访问总部内网资源，直接通过</a:t>
            </a:r>
            <a:r>
              <a:rPr lang="en-US" altLang="zh-CN"/>
              <a:t>Internet</a:t>
            </a:r>
            <a:r>
              <a:rPr lang="zh-CN" altLang="en-US"/>
              <a:t>网络虽然可以访问总部网关，但总部网关无法对接入的用户进行辨别和管理，这时将总部网关部署为</a:t>
            </a:r>
            <a:r>
              <a:rPr lang="en-US" altLang="zh-CN"/>
              <a:t>LNS</a:t>
            </a:r>
            <a:r>
              <a:rPr lang="zh-CN" altLang="en-US"/>
              <a:t>，出差员工在</a:t>
            </a:r>
            <a:r>
              <a:rPr lang="en-US" altLang="zh-CN"/>
              <a:t>PC</a:t>
            </a:r>
            <a:r>
              <a:rPr lang="zh-CN" altLang="en-US"/>
              <a:t>终端上使用</a:t>
            </a:r>
            <a:r>
              <a:rPr lang="en-US" altLang="zh-CN"/>
              <a:t>L2TP</a:t>
            </a:r>
            <a:r>
              <a:rPr lang="zh-CN" altLang="en-US"/>
              <a:t>拨号软件，则可以在出差员工和总部网关之间建立虚拟的点到点连接。</a:t>
            </a:r>
            <a:endParaRPr lang="zh-CN" alt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3675516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a:t>企业总部在其他城市设有分支机构，分支机构部署为以太网络，并配备网关设备接入</a:t>
            </a:r>
            <a:r>
              <a:rPr lang="en-US" altLang="zh-CN"/>
              <a:t>Internet</a:t>
            </a:r>
            <a:r>
              <a:rPr lang="zh-CN" altLang="en-US"/>
              <a:t>。总部为分支用户提供接入服务，需要在分支和总部网关之间建立</a:t>
            </a:r>
            <a:r>
              <a:rPr lang="en-US" altLang="zh-CN"/>
              <a:t>VPDN</a:t>
            </a:r>
            <a:r>
              <a:rPr lang="zh-CN" altLang="en-US"/>
              <a:t>连接。总部允许分支的任意用户接入，则只对分支网关认证，此时总部网关部署为</a:t>
            </a:r>
            <a:r>
              <a:rPr lang="en-US" altLang="zh-CN"/>
              <a:t>LNS</a:t>
            </a:r>
            <a:r>
              <a:rPr lang="zh-CN" altLang="en-US"/>
              <a:t>，分支网关部署为</a:t>
            </a:r>
            <a:r>
              <a:rPr lang="en-US" altLang="zh-CN"/>
              <a:t>L2TP Client</a:t>
            </a:r>
            <a:r>
              <a:rPr lang="zh-CN" altLang="en-US"/>
              <a:t>，并在分支网关创建虚拟拨号，触发到总部的</a:t>
            </a:r>
            <a:r>
              <a:rPr lang="en-US" altLang="zh-CN"/>
              <a:t>L2TP</a:t>
            </a:r>
            <a:r>
              <a:rPr lang="zh-CN" altLang="en-US"/>
              <a:t>隧道连接。通过</a:t>
            </a:r>
            <a:r>
              <a:rPr lang="en-US" altLang="zh-CN"/>
              <a:t>L2TP Client</a:t>
            </a:r>
            <a:r>
              <a:rPr lang="zh-CN" altLang="en-US"/>
              <a:t>的方式，在</a:t>
            </a:r>
            <a:r>
              <a:rPr lang="en-US" altLang="zh-CN"/>
              <a:t>L2TP Client</a:t>
            </a:r>
            <a:r>
              <a:rPr lang="zh-CN" altLang="en-US"/>
              <a:t>和</a:t>
            </a:r>
            <a:r>
              <a:rPr lang="en-US" altLang="zh-CN"/>
              <a:t>LNS</a:t>
            </a:r>
            <a:r>
              <a:rPr lang="zh-CN" altLang="en-US"/>
              <a:t>之间建立虚拟的点到点连接，分支用户的</a:t>
            </a:r>
            <a:r>
              <a:rPr lang="en-US" altLang="zh-CN"/>
              <a:t>IP</a:t>
            </a:r>
            <a:r>
              <a:rPr lang="zh-CN" altLang="en-US"/>
              <a:t>报文到达</a:t>
            </a:r>
            <a:r>
              <a:rPr lang="en-US" altLang="zh-CN"/>
              <a:t>L2TP Client</a:t>
            </a:r>
            <a:r>
              <a:rPr lang="zh-CN" altLang="en-US"/>
              <a:t>后路由转发到虚拟拨号接口，报文送至</a:t>
            </a:r>
            <a:r>
              <a:rPr lang="en-US" altLang="zh-CN"/>
              <a:t>LNS</a:t>
            </a:r>
            <a:r>
              <a:rPr lang="zh-CN" altLang="en-US"/>
              <a:t>后经路由转发到达目的主机。</a:t>
            </a:r>
            <a:endParaRPr lang="zh-CN" alt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6025401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a:t>企业总部在其他城市设有分支机构，分支机构部署为以太网络，并配备网关设备接入</a:t>
            </a:r>
            <a:r>
              <a:rPr lang="en-US" altLang="zh-CN"/>
              <a:t>Internet</a:t>
            </a:r>
            <a:r>
              <a:rPr lang="zh-CN" altLang="en-US"/>
              <a:t>。总部用户需要和分支用户通信，由总部统一管理分支用户的接入，于是使用</a:t>
            </a:r>
            <a:r>
              <a:rPr lang="en-US" altLang="zh-CN"/>
              <a:t>L2TP</a:t>
            </a:r>
            <a:r>
              <a:rPr lang="zh-CN" altLang="en-US"/>
              <a:t>功能将总部网关部署为</a:t>
            </a:r>
            <a:r>
              <a:rPr lang="en-US" altLang="zh-CN"/>
              <a:t>LNS</a:t>
            </a:r>
            <a:r>
              <a:rPr lang="zh-CN" altLang="en-US"/>
              <a:t>。分支用户的拨号报文无法直接在以太网络中传输，需要使用</a:t>
            </a:r>
            <a:r>
              <a:rPr lang="en-US" altLang="zh-CN"/>
              <a:t>PPPoE</a:t>
            </a:r>
            <a:r>
              <a:rPr lang="zh-CN" altLang="en-US"/>
              <a:t>拨号软件部署为</a:t>
            </a:r>
            <a:r>
              <a:rPr lang="en-US" altLang="zh-CN"/>
              <a:t>PPPoE</a:t>
            </a:r>
            <a:r>
              <a:rPr lang="zh-CN" altLang="en-US"/>
              <a:t>客户端，而分支网关则作为</a:t>
            </a:r>
            <a:r>
              <a:rPr lang="en-US" altLang="zh-CN"/>
              <a:t>PPPoE</a:t>
            </a:r>
            <a:r>
              <a:rPr lang="zh-CN" altLang="en-US"/>
              <a:t>服务器和</a:t>
            </a:r>
            <a:r>
              <a:rPr lang="en-US" altLang="zh-CN"/>
              <a:t>LAC</a:t>
            </a:r>
            <a:r>
              <a:rPr lang="zh-CN" altLang="en-US"/>
              <a:t>，使分支用户的呼叫请求到达总部。</a:t>
            </a:r>
            <a:endParaRPr lang="zh-CN" alt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158903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587871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146B8526-E924-4FA8-A032-1AC95D729177}"/>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6102D11E-5394-42BB-A98E-8D0F4AD74F6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059714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4D6F6-B154-4F0E-9533-5537E08188F6}"/>
              </a:ext>
            </a:extLst>
          </p:cNvPr>
          <p:cNvSpPr>
            <a:spLocks noGrp="1" noRot="1" noChangeAspect="1"/>
          </p:cNvSpPr>
          <p:nvPr>
            <p:ph type="sldImg"/>
          </p:nvPr>
        </p:nvSpPr>
        <p:spPr>
          <a:xfrm>
            <a:off x="742950" y="717550"/>
            <a:ext cx="5557838" cy="3125788"/>
          </a:xfrm>
        </p:spPr>
      </p:sp>
      <p:sp>
        <p:nvSpPr>
          <p:cNvPr id="3" name="Notes Placeholder 2">
            <a:extLst>
              <a:ext uri="{FF2B5EF4-FFF2-40B4-BE49-F238E27FC236}">
                <a16:creationId xmlns:a16="http://schemas.microsoft.com/office/drawing/2014/main" id="{E4A251FC-AB2A-47AE-BD20-1887D2E1D59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25427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对称加密算法也叫传统密码算法，加密密钥能从解密密钥中推算出来。发件人和收件人共同拥有同一个密钥，既用于加密也用于解密。对称密钥加密是加密大量数据的一种行之有效的方法。对称密钥加密有许多种算法，但所有这些算法都有一个共同的目的：以可以还原的方式将明文（未加密的数据）转换为暗文。由于对称密钥加密在加密和解密时使用相同的密钥，所以这种加密过程的安全性取决于是否有未经授权的人获得了对称密钥。特别注意：希望使用对称密钥加密通信的双方，在交换加密数据之前必须先安全地交换密钥。</a:t>
            </a:r>
          </a:p>
          <a:p>
            <a:r>
              <a:rPr lang="zh-CN" altLang="en-US" dirty="0"/>
              <a:t>非对称算法也叫公钥加密，使用两个密钥：一个公钥和一个私钥，这两个密钥在数学上是相关的。在公钥加密中，公钥可在通信双方之间公开传递，或在公用储备库中发布，但相关的私钥是保密的。只有使用私钥才能解密用公钥加密的数据。使用私钥加密的数据只能用公钥解密。</a:t>
            </a:r>
          </a:p>
        </p:txBody>
      </p:sp>
      <p:sp>
        <p:nvSpPr>
          <p:cNvPr id="5" name="Slide Image Placeholder 4">
            <a:extLst>
              <a:ext uri="{FF2B5EF4-FFF2-40B4-BE49-F238E27FC236}">
                <a16:creationId xmlns:a16="http://schemas.microsoft.com/office/drawing/2014/main" id="{B8F490FE-B56A-4FE4-8C4E-88515297E4F5}"/>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9830831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743945B-1D3C-4EB5-A703-6B8C77CA5BE9}"/>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7B1F701D-D798-4E23-89A7-578DD990715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389531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333801D-3B7D-445D-9FDF-CF50436986BD}"/>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529C8270-A0EB-4729-B2BA-F2E971001AA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966154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altLang="zh-CN" dirty="0"/>
              <a:t>IPsec</a:t>
            </a:r>
            <a:r>
              <a:rPr lang="zh-CN" altLang="en-US" dirty="0"/>
              <a:t>技术在数据加密，数据验证，数据封装等方面有多种实现方式或算法，两端的设备使用</a:t>
            </a:r>
            <a:r>
              <a:rPr lang="en-US" altLang="zh-CN" dirty="0"/>
              <a:t>IPsec</a:t>
            </a:r>
            <a:r>
              <a:rPr lang="zh-CN" altLang="en-US" dirty="0"/>
              <a:t>进行通信时需要保证一致的加密算法，验证算法等。因此需要一种机制帮助两端设备协商这些参数。</a:t>
            </a:r>
            <a:endParaRPr lang="en-US" altLang="zh-CN" dirty="0"/>
          </a:p>
          <a:p>
            <a:r>
              <a:rPr lang="zh-CN" altLang="en-US" dirty="0"/>
              <a:t>建立</a:t>
            </a:r>
            <a:r>
              <a:rPr lang="en-US" altLang="zh-CN" dirty="0"/>
              <a:t>IPsec SA</a:t>
            </a:r>
            <a:r>
              <a:rPr lang="zh-CN" altLang="en-US" dirty="0"/>
              <a:t>一般有两种方式：</a:t>
            </a:r>
            <a:endParaRPr lang="en-US" altLang="zh-CN" dirty="0"/>
          </a:p>
          <a:p>
            <a:pPr lvl="1"/>
            <a:r>
              <a:rPr lang="zh-CN" altLang="en-US" dirty="0"/>
              <a:t>手工方式：手工方式建立</a:t>
            </a:r>
            <a:r>
              <a:rPr lang="en-US" altLang="zh-CN" dirty="0"/>
              <a:t>IPsec SA</a:t>
            </a:r>
            <a:r>
              <a:rPr lang="zh-CN" altLang="en-US" dirty="0"/>
              <a:t>管理成本很高，加密验证方式需要手工配置，手工刷新</a:t>
            </a:r>
            <a:r>
              <a:rPr lang="en-US" altLang="zh-CN" dirty="0"/>
              <a:t>SA</a:t>
            </a:r>
            <a:r>
              <a:rPr lang="zh-CN" altLang="en-US" dirty="0"/>
              <a:t>，且</a:t>
            </a:r>
            <a:r>
              <a:rPr lang="en-US" altLang="zh-CN" dirty="0"/>
              <a:t>SA</a:t>
            </a:r>
            <a:r>
              <a:rPr lang="zh-CN" altLang="en-US" dirty="0"/>
              <a:t>信息永久存在安全性较低，适用于小型网络。</a:t>
            </a:r>
            <a:endParaRPr lang="en-US" altLang="zh-CN" dirty="0"/>
          </a:p>
          <a:p>
            <a:pPr lvl="1"/>
            <a:r>
              <a:rPr lang="en-US" altLang="zh-CN" dirty="0"/>
              <a:t>IKE</a:t>
            </a:r>
            <a:r>
              <a:rPr lang="zh-CN" altLang="en-US" dirty="0"/>
              <a:t>方式：</a:t>
            </a:r>
            <a:r>
              <a:rPr lang="en-US" altLang="zh-CN" dirty="0"/>
              <a:t>IKE</a:t>
            </a:r>
            <a:r>
              <a:rPr lang="zh-CN" altLang="en-US" dirty="0"/>
              <a:t>方式建立</a:t>
            </a:r>
            <a:r>
              <a:rPr lang="en-US" altLang="zh-CN" dirty="0"/>
              <a:t>IPsec SA</a:t>
            </a:r>
            <a:r>
              <a:rPr lang="zh-CN" altLang="en-US" dirty="0"/>
              <a:t>管理成本比较低，加密验证方式通过</a:t>
            </a:r>
            <a:r>
              <a:rPr lang="en-US" altLang="zh-CN" dirty="0"/>
              <a:t>DH</a:t>
            </a:r>
            <a:r>
              <a:rPr lang="zh-CN" altLang="en-US" dirty="0"/>
              <a:t>算法生成，</a:t>
            </a:r>
            <a:r>
              <a:rPr lang="en-US" altLang="zh-CN" dirty="0"/>
              <a:t>SA</a:t>
            </a:r>
            <a:r>
              <a:rPr lang="zh-CN" altLang="en-US" dirty="0"/>
              <a:t>信息有生成周期，且</a:t>
            </a:r>
            <a:r>
              <a:rPr lang="en-US" altLang="zh-CN" dirty="0"/>
              <a:t>SA</a:t>
            </a:r>
            <a:r>
              <a:rPr lang="zh-CN" altLang="en-US" dirty="0"/>
              <a:t>动态刷新，适用于小型，中大型网络。</a:t>
            </a:r>
          </a:p>
          <a:p>
            <a:pPr lvl="0"/>
            <a:r>
              <a:rPr lang="en-US" altLang="zh-CN" dirty="0"/>
              <a:t>IPsec SA</a:t>
            </a:r>
            <a:r>
              <a:rPr lang="zh-CN" altLang="en-US" dirty="0"/>
              <a:t>，由一个三元组来唯一标识，这个三元组包括安全参数索引</a:t>
            </a:r>
            <a:r>
              <a:rPr lang="en-US" altLang="zh-CN" dirty="0"/>
              <a:t>SPI</a:t>
            </a:r>
            <a:r>
              <a:rPr lang="zh-CN" altLang="en-US" dirty="0"/>
              <a:t>（</a:t>
            </a:r>
            <a:r>
              <a:rPr lang="en-US" altLang="zh-CN" dirty="0"/>
              <a:t>Security Parameter Index</a:t>
            </a:r>
            <a:r>
              <a:rPr lang="zh-CN" altLang="en-US" dirty="0"/>
              <a:t>）、目的</a:t>
            </a:r>
            <a:r>
              <a:rPr lang="en-US" altLang="zh-CN" dirty="0"/>
              <a:t>IP</a:t>
            </a:r>
            <a:r>
              <a:rPr lang="zh-CN" altLang="en-US" dirty="0"/>
              <a:t>地址和使用的安全协议号（</a:t>
            </a:r>
            <a:r>
              <a:rPr lang="en-US" altLang="zh-CN" dirty="0"/>
              <a:t>AH</a:t>
            </a:r>
            <a:r>
              <a:rPr lang="zh-CN" altLang="en-US" dirty="0"/>
              <a:t>或</a:t>
            </a:r>
            <a:r>
              <a:rPr lang="en-US" altLang="zh-CN" dirty="0"/>
              <a:t>ESP</a:t>
            </a:r>
            <a:r>
              <a:rPr lang="zh-CN" altLang="en-US" dirty="0"/>
              <a:t>）。</a:t>
            </a:r>
            <a:endParaRPr lang="en-US" altLang="zh-CN" dirty="0"/>
          </a:p>
          <a:p>
            <a:pPr lvl="0"/>
            <a:r>
              <a:rPr lang="en-US" altLang="zh-CN" dirty="0"/>
              <a:t>IKE SA</a:t>
            </a:r>
            <a:r>
              <a:rPr lang="zh-CN" altLang="en-US" dirty="0"/>
              <a:t>的主要作用是构建一条安全的通道，用于交互</a:t>
            </a:r>
            <a:r>
              <a:rPr lang="en-US" altLang="zh-CN" dirty="0"/>
              <a:t>IPsec SA</a:t>
            </a:r>
            <a:r>
              <a:rPr lang="zh-CN" altLang="en-US" dirty="0"/>
              <a:t>。</a:t>
            </a:r>
            <a:endParaRPr lang="en-US" altLang="zh-CN" dirty="0"/>
          </a:p>
        </p:txBody>
      </p:sp>
      <p:sp>
        <p:nvSpPr>
          <p:cNvPr id="5" name="Slide Image Placeholder 4">
            <a:extLst>
              <a:ext uri="{FF2B5EF4-FFF2-40B4-BE49-F238E27FC236}">
                <a16:creationId xmlns:a16="http://schemas.microsoft.com/office/drawing/2014/main" id="{42395070-DD86-432F-8DC1-1B0440539E8E}"/>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86806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IKE</a:t>
            </a:r>
            <a:r>
              <a:rPr lang="zh-CN" altLang="en-US" dirty="0"/>
              <a:t>支持的认证算法有：</a:t>
            </a:r>
            <a:r>
              <a:rPr lang="en-US" altLang="zh-CN" dirty="0"/>
              <a:t>MD5</a:t>
            </a:r>
            <a:r>
              <a:rPr lang="zh-CN" altLang="en-US" dirty="0"/>
              <a:t>、</a:t>
            </a:r>
            <a:r>
              <a:rPr lang="en-US" altLang="zh-CN" dirty="0"/>
              <a:t>SHA1</a:t>
            </a:r>
            <a:r>
              <a:rPr lang="zh-CN" altLang="en-US" dirty="0"/>
              <a:t>、</a:t>
            </a:r>
            <a:r>
              <a:rPr lang="en-US" altLang="zh-CN" dirty="0"/>
              <a:t>SHA2-256</a:t>
            </a:r>
            <a:r>
              <a:rPr lang="zh-CN" altLang="en-US" dirty="0"/>
              <a:t>、</a:t>
            </a:r>
            <a:r>
              <a:rPr lang="en-US" altLang="zh-CN" dirty="0"/>
              <a:t>SHA2-384</a:t>
            </a:r>
            <a:r>
              <a:rPr lang="zh-CN" altLang="en-US" dirty="0"/>
              <a:t>、</a:t>
            </a:r>
            <a:r>
              <a:rPr lang="en-US" altLang="zh-CN" dirty="0"/>
              <a:t>SHA2-512</a:t>
            </a:r>
            <a:r>
              <a:rPr lang="zh-CN" altLang="en-US" dirty="0"/>
              <a:t>、</a:t>
            </a:r>
            <a:r>
              <a:rPr lang="en-US" altLang="zh-CN" dirty="0"/>
              <a:t>SM3</a:t>
            </a:r>
            <a:r>
              <a:rPr lang="zh-CN" altLang="en-US" dirty="0"/>
              <a:t>。</a:t>
            </a:r>
            <a:endParaRPr lang="en-US" altLang="zh-CN" dirty="0"/>
          </a:p>
          <a:p>
            <a:r>
              <a:rPr lang="en-US" altLang="zh-CN" dirty="0"/>
              <a:t>IKE</a:t>
            </a:r>
            <a:r>
              <a:rPr lang="zh-CN" altLang="en-US" dirty="0"/>
              <a:t>支持的加密算法有：</a:t>
            </a:r>
            <a:r>
              <a:rPr lang="en-US" altLang="zh-CN" dirty="0"/>
              <a:t>DES</a:t>
            </a:r>
            <a:r>
              <a:rPr lang="zh-CN" altLang="en-US" dirty="0"/>
              <a:t>、</a:t>
            </a:r>
            <a:r>
              <a:rPr lang="en-US" altLang="zh-CN" dirty="0"/>
              <a:t>3DES</a:t>
            </a:r>
            <a:r>
              <a:rPr lang="zh-CN" altLang="en-US" dirty="0"/>
              <a:t>、</a:t>
            </a:r>
            <a:r>
              <a:rPr lang="en-US" altLang="zh-CN" dirty="0"/>
              <a:t>AES-128</a:t>
            </a:r>
            <a:r>
              <a:rPr lang="zh-CN" altLang="en-US" dirty="0"/>
              <a:t>、</a:t>
            </a:r>
            <a:r>
              <a:rPr lang="en-US" altLang="zh-CN" dirty="0"/>
              <a:t>AES-192</a:t>
            </a:r>
            <a:r>
              <a:rPr lang="zh-CN" altLang="en-US" dirty="0"/>
              <a:t>、</a:t>
            </a:r>
            <a:r>
              <a:rPr lang="en-US" altLang="zh-CN" dirty="0"/>
              <a:t>AES-256</a:t>
            </a:r>
            <a:r>
              <a:rPr lang="zh-CN" altLang="en-US" dirty="0"/>
              <a:t>、</a:t>
            </a:r>
            <a:r>
              <a:rPr lang="en-US" altLang="zh-CN" dirty="0"/>
              <a:t>SM1</a:t>
            </a:r>
            <a:r>
              <a:rPr lang="zh-CN" altLang="en-US" dirty="0"/>
              <a:t>和</a:t>
            </a:r>
            <a:r>
              <a:rPr lang="en-US" altLang="zh-CN" dirty="0"/>
              <a:t>SM4</a:t>
            </a:r>
            <a:r>
              <a:rPr lang="zh-CN" altLang="en-US" dirty="0"/>
              <a:t>。</a:t>
            </a:r>
            <a:endParaRPr lang="en-US" altLang="zh-CN" dirty="0"/>
          </a:p>
          <a:p>
            <a:r>
              <a:rPr lang="en-US" altLang="zh-CN" dirty="0"/>
              <a:t>ISAKMP</a:t>
            </a:r>
            <a:r>
              <a:rPr lang="zh-CN" altLang="en-US" dirty="0"/>
              <a:t>由</a:t>
            </a:r>
            <a:r>
              <a:rPr lang="en-US" altLang="zh-CN" dirty="0"/>
              <a:t>RFC2408</a:t>
            </a:r>
            <a:r>
              <a:rPr lang="zh-CN" altLang="en-US" dirty="0"/>
              <a:t>定义，定义了协商、建立、修改和删除</a:t>
            </a:r>
            <a:r>
              <a:rPr lang="en-US" altLang="zh-CN" dirty="0"/>
              <a:t>SA</a:t>
            </a:r>
            <a:r>
              <a:rPr lang="zh-CN" altLang="en-US" dirty="0"/>
              <a:t>的过程和包格式。</a:t>
            </a:r>
            <a:r>
              <a:rPr lang="en-US" altLang="zh-CN" dirty="0"/>
              <a:t>ISAKMP</a:t>
            </a:r>
            <a:r>
              <a:rPr lang="zh-CN" altLang="en-US" dirty="0"/>
              <a:t>只是为</a:t>
            </a:r>
            <a:r>
              <a:rPr lang="en-US" altLang="zh-CN" dirty="0"/>
              <a:t>SA</a:t>
            </a:r>
            <a:r>
              <a:rPr lang="zh-CN" altLang="en-US" dirty="0"/>
              <a:t>的属性和协商、修改、删除</a:t>
            </a:r>
            <a:r>
              <a:rPr lang="en-US" altLang="zh-CN" dirty="0"/>
              <a:t>SA</a:t>
            </a:r>
            <a:r>
              <a:rPr lang="zh-CN" altLang="en-US" dirty="0"/>
              <a:t>的方法提供了一个通用的框架，并没有定义具体的</a:t>
            </a:r>
            <a:r>
              <a:rPr lang="en-US" altLang="zh-CN" dirty="0"/>
              <a:t>SA</a:t>
            </a:r>
            <a:r>
              <a:rPr lang="zh-CN" altLang="en-US" dirty="0"/>
              <a:t>格式。</a:t>
            </a:r>
            <a:endParaRPr lang="en-US" altLang="zh-CN" dirty="0"/>
          </a:p>
          <a:p>
            <a:r>
              <a:rPr lang="en-US" altLang="zh-CN" dirty="0"/>
              <a:t>ISAKMP</a:t>
            </a:r>
            <a:r>
              <a:rPr lang="zh-CN" altLang="en-US" dirty="0"/>
              <a:t>报文可以利用</a:t>
            </a:r>
            <a:r>
              <a:rPr lang="en-US" altLang="zh-CN" dirty="0"/>
              <a:t>UDP</a:t>
            </a:r>
            <a:r>
              <a:rPr lang="zh-CN" altLang="en-US" dirty="0"/>
              <a:t>或者</a:t>
            </a:r>
            <a:r>
              <a:rPr lang="en-US" altLang="zh-CN" dirty="0"/>
              <a:t>TCP</a:t>
            </a:r>
            <a:r>
              <a:rPr lang="zh-CN" altLang="en-US" dirty="0"/>
              <a:t>，端口都是</a:t>
            </a:r>
            <a:r>
              <a:rPr lang="en-US" altLang="zh-CN" dirty="0"/>
              <a:t>500</a:t>
            </a:r>
            <a:r>
              <a:rPr lang="zh-CN" altLang="en-US" dirty="0"/>
              <a:t>，一般情况下常用</a:t>
            </a:r>
            <a:r>
              <a:rPr lang="en-US" altLang="zh-CN" dirty="0"/>
              <a:t>UDP</a:t>
            </a:r>
            <a:r>
              <a:rPr lang="zh-CN" altLang="en-US" dirty="0"/>
              <a:t>协议。</a:t>
            </a:r>
          </a:p>
        </p:txBody>
      </p:sp>
      <p:sp>
        <p:nvSpPr>
          <p:cNvPr id="5" name="Slide Image Placeholder 4">
            <a:extLst>
              <a:ext uri="{FF2B5EF4-FFF2-40B4-BE49-F238E27FC236}">
                <a16:creationId xmlns:a16="http://schemas.microsoft.com/office/drawing/2014/main" id="{17C57206-2B78-4D01-A847-E15BB814ECE9}"/>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587384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ICV</a:t>
            </a:r>
            <a:r>
              <a:rPr lang="zh-CN" altLang="en-US" dirty="0"/>
              <a:t>（</a:t>
            </a:r>
            <a:r>
              <a:rPr lang="en-US" altLang="zh-CN" dirty="0"/>
              <a:t>Integrity Check Value</a:t>
            </a:r>
            <a:r>
              <a:rPr lang="zh-CN" altLang="en-US" dirty="0"/>
              <a:t>）用于接收方进行完整性校验。可选择的认证算法有</a:t>
            </a:r>
            <a:r>
              <a:rPr lang="en-US" altLang="zh-CN" dirty="0"/>
              <a:t>MD5</a:t>
            </a:r>
            <a:r>
              <a:rPr lang="zh-CN" altLang="en-US" dirty="0"/>
              <a:t>、</a:t>
            </a:r>
            <a:r>
              <a:rPr lang="en-US" altLang="zh-CN" dirty="0"/>
              <a:t>SHA1</a:t>
            </a:r>
            <a:r>
              <a:rPr lang="zh-CN" altLang="en-US" dirty="0"/>
              <a:t>、</a:t>
            </a:r>
            <a:r>
              <a:rPr lang="en-US" altLang="zh-CN" dirty="0"/>
              <a:t>SHA2</a:t>
            </a:r>
            <a:r>
              <a:rPr lang="zh-CN" altLang="en-US" dirty="0"/>
              <a:t>、</a:t>
            </a:r>
            <a:r>
              <a:rPr lang="en-US" altLang="zh-CN" dirty="0"/>
              <a:t>SM3</a:t>
            </a:r>
            <a:r>
              <a:rPr lang="zh-CN" altLang="en-US" dirty="0"/>
              <a:t>。</a:t>
            </a:r>
            <a:endParaRPr lang="en-US" altLang="zh-CN" dirty="0"/>
          </a:p>
          <a:p>
            <a:r>
              <a:rPr lang="en-US" altLang="zh-CN" dirty="0"/>
              <a:t>IPsec</a:t>
            </a:r>
            <a:r>
              <a:rPr lang="zh-CN" altLang="en-US" dirty="0"/>
              <a:t>常用的对称加密算法包括：数据加密标准</a:t>
            </a:r>
            <a:r>
              <a:rPr lang="en-US" altLang="zh-CN" dirty="0"/>
              <a:t>DES</a:t>
            </a:r>
            <a:r>
              <a:rPr lang="zh-CN" altLang="en-US" dirty="0"/>
              <a:t>（</a:t>
            </a:r>
            <a:r>
              <a:rPr lang="en-US" altLang="zh-CN" dirty="0"/>
              <a:t>Data Encryption Standard</a:t>
            </a:r>
            <a:r>
              <a:rPr lang="zh-CN" altLang="en-US" dirty="0"/>
              <a:t>）、</a:t>
            </a:r>
            <a:r>
              <a:rPr lang="en-US" altLang="zh-CN" dirty="0"/>
              <a:t>3DES</a:t>
            </a:r>
            <a:r>
              <a:rPr lang="zh-CN" altLang="en-US" dirty="0"/>
              <a:t>（</a:t>
            </a:r>
            <a:r>
              <a:rPr lang="en-US" altLang="zh-CN" dirty="0"/>
              <a:t>Triple Data Encryption Standard</a:t>
            </a:r>
            <a:r>
              <a:rPr lang="zh-CN" altLang="en-US" dirty="0"/>
              <a:t>）、先进加密标准</a:t>
            </a:r>
            <a:r>
              <a:rPr lang="en-US" altLang="zh-CN" dirty="0"/>
              <a:t>AES</a:t>
            </a:r>
            <a:r>
              <a:rPr lang="zh-CN" altLang="en-US" dirty="0"/>
              <a:t>（</a:t>
            </a:r>
            <a:r>
              <a:rPr lang="en-US" altLang="zh-CN" dirty="0"/>
              <a:t>Advanced Encryption Standard</a:t>
            </a:r>
            <a:r>
              <a:rPr lang="zh-CN" altLang="en-US" dirty="0"/>
              <a:t>）国密算法（</a:t>
            </a:r>
            <a:r>
              <a:rPr lang="en-US" altLang="zh-CN" dirty="0"/>
              <a:t>SM1</a:t>
            </a:r>
            <a:r>
              <a:rPr lang="zh-CN" altLang="en-US" dirty="0"/>
              <a:t>和</a:t>
            </a:r>
            <a:r>
              <a:rPr lang="en-US" altLang="zh-CN" dirty="0"/>
              <a:t>SM4</a:t>
            </a:r>
            <a:r>
              <a:rPr lang="zh-CN" altLang="en-US" dirty="0"/>
              <a:t>）。其中，</a:t>
            </a:r>
            <a:r>
              <a:rPr lang="en-US" altLang="zh-CN" dirty="0"/>
              <a:t>DES</a:t>
            </a:r>
            <a:r>
              <a:rPr lang="zh-CN" altLang="en-US" dirty="0"/>
              <a:t>和</a:t>
            </a:r>
            <a:r>
              <a:rPr lang="en-US" altLang="zh-CN" dirty="0"/>
              <a:t>3DES</a:t>
            </a:r>
            <a:r>
              <a:rPr lang="zh-CN" altLang="en-US" dirty="0"/>
              <a:t>算法安全性低，存在安全风险，不推荐使用。</a:t>
            </a:r>
            <a:endParaRPr lang="en-US" altLang="zh-CN" dirty="0"/>
          </a:p>
          <a:p>
            <a:r>
              <a:rPr lang="en-US" altLang="zh-CN" dirty="0"/>
              <a:t>IPsec</a:t>
            </a:r>
            <a:r>
              <a:rPr lang="zh-CN" altLang="en-US" dirty="0"/>
              <a:t>常用的验证算法包括：消息摘要</a:t>
            </a:r>
            <a:r>
              <a:rPr lang="en-US" altLang="zh-CN" dirty="0"/>
              <a:t>MD5</a:t>
            </a:r>
            <a:r>
              <a:rPr lang="zh-CN" altLang="en-US" dirty="0"/>
              <a:t>（</a:t>
            </a:r>
            <a:r>
              <a:rPr lang="en-US" altLang="zh-CN" dirty="0"/>
              <a:t>Message Digest 5</a:t>
            </a:r>
            <a:r>
              <a:rPr lang="zh-CN" altLang="en-US" dirty="0"/>
              <a:t>）、安全散列算法</a:t>
            </a:r>
            <a:r>
              <a:rPr lang="en-US" altLang="zh-CN" dirty="0"/>
              <a:t>SHA1</a:t>
            </a:r>
            <a:r>
              <a:rPr lang="zh-CN" altLang="en-US" dirty="0"/>
              <a:t>（</a:t>
            </a:r>
            <a:r>
              <a:rPr lang="en-US" altLang="zh-CN" dirty="0"/>
              <a:t>Secure Hash Algorithm 1</a:t>
            </a:r>
            <a:r>
              <a:rPr lang="zh-CN" altLang="en-US" dirty="0"/>
              <a:t>）、</a:t>
            </a:r>
            <a:r>
              <a:rPr lang="en-US" altLang="zh-CN" dirty="0"/>
              <a:t>SHA2</a:t>
            </a:r>
            <a:r>
              <a:rPr lang="zh-CN" altLang="en-US" dirty="0"/>
              <a:t>、国密算法</a:t>
            </a:r>
            <a:r>
              <a:rPr lang="en-US" altLang="zh-CN" dirty="0"/>
              <a:t>SM3</a:t>
            </a:r>
            <a:r>
              <a:rPr lang="zh-CN" altLang="en-US" dirty="0"/>
              <a:t>（</a:t>
            </a:r>
            <a:r>
              <a:rPr lang="en-US" altLang="zh-CN" dirty="0"/>
              <a:t>Senior Middle 3</a:t>
            </a:r>
            <a:r>
              <a:rPr lang="zh-CN" altLang="en-US" dirty="0"/>
              <a:t>）。其中，</a:t>
            </a:r>
            <a:r>
              <a:rPr lang="en-US" altLang="zh-CN" dirty="0"/>
              <a:t>MD5</a:t>
            </a:r>
            <a:r>
              <a:rPr lang="zh-CN" altLang="en-US" dirty="0"/>
              <a:t>、</a:t>
            </a:r>
            <a:r>
              <a:rPr lang="en-US" altLang="zh-CN" dirty="0"/>
              <a:t>SHA1</a:t>
            </a:r>
            <a:r>
              <a:rPr lang="zh-CN" altLang="en-US" dirty="0"/>
              <a:t>算法安全性低，存在安全风险，不推荐使用。</a:t>
            </a:r>
            <a:endParaRPr lang="en-US" altLang="zh-CN" dirty="0"/>
          </a:p>
          <a:p>
            <a:r>
              <a:rPr lang="en-US" altLang="zh-CN" dirty="0"/>
              <a:t>IPsec</a:t>
            </a:r>
            <a:r>
              <a:rPr lang="zh-CN" altLang="en-US" dirty="0"/>
              <a:t>的加密功能，无法验证解密后的信息是否是原始发送的信息或完整。</a:t>
            </a:r>
            <a:r>
              <a:rPr lang="en-US" altLang="zh-CN" dirty="0"/>
              <a:t>IPsec</a:t>
            </a:r>
            <a:r>
              <a:rPr lang="zh-CN" altLang="en-US" dirty="0"/>
              <a:t>采用</a:t>
            </a:r>
            <a:r>
              <a:rPr lang="en-US" altLang="zh-CN" dirty="0"/>
              <a:t>HMAC</a:t>
            </a:r>
            <a:r>
              <a:rPr lang="zh-CN" altLang="en-US" dirty="0"/>
              <a:t>（</a:t>
            </a:r>
            <a:r>
              <a:rPr lang="en-US" altLang="zh-CN" dirty="0"/>
              <a:t>Keyed-Hash Message Authentication Code</a:t>
            </a:r>
            <a:r>
              <a:rPr lang="zh-CN" altLang="en-US" dirty="0"/>
              <a:t>）功能，比较数字签名进行数据包完整性和真实性验证。通常情况下，加密和验证通常配合使用。在</a:t>
            </a:r>
            <a:r>
              <a:rPr lang="en-US" altLang="zh-CN" dirty="0"/>
              <a:t>IPsec</a:t>
            </a:r>
            <a:r>
              <a:rPr lang="zh-CN" altLang="en-US" dirty="0"/>
              <a:t>发送方，加密后的报文通过验证算法和对称密钥生成数字签名，</a:t>
            </a:r>
            <a:r>
              <a:rPr lang="en-US" altLang="zh-CN" dirty="0"/>
              <a:t>IP</a:t>
            </a:r>
            <a:r>
              <a:rPr lang="zh-CN" altLang="en-US" dirty="0"/>
              <a:t>报文和数字签名同时发给对端；在</a:t>
            </a:r>
            <a:r>
              <a:rPr lang="en-US" altLang="zh-CN" dirty="0"/>
              <a:t>IPsec</a:t>
            </a:r>
            <a:r>
              <a:rPr lang="zh-CN" altLang="en-US" dirty="0"/>
              <a:t>接收方，使用相同的验证算法和对称密钥对加密报文进行处理，同样得到签名，然后比较数字签名进行数据完整性和真实性验证，验证不通过的报文直接丢弃，验证通过的报文再进行解密。</a:t>
            </a:r>
          </a:p>
        </p:txBody>
      </p:sp>
      <p:sp>
        <p:nvSpPr>
          <p:cNvPr id="5" name="Slide Image Placeholder 4">
            <a:extLst>
              <a:ext uri="{FF2B5EF4-FFF2-40B4-BE49-F238E27FC236}">
                <a16:creationId xmlns:a16="http://schemas.microsoft.com/office/drawing/2014/main" id="{B28A9583-2CB7-4F38-9D36-80E23D7B4DA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36424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AH</a:t>
            </a:r>
            <a:r>
              <a:rPr lang="zh-CN" altLang="en-US" dirty="0"/>
              <a:t>仅支持认证功能，不支持加密功能。</a:t>
            </a:r>
            <a:r>
              <a:rPr lang="en-US" altLang="zh-CN" dirty="0"/>
              <a:t>AH</a:t>
            </a:r>
            <a:r>
              <a:rPr lang="zh-CN" altLang="en-US" dirty="0"/>
              <a:t>在每一个数据包的标准</a:t>
            </a:r>
            <a:r>
              <a:rPr lang="en-US" altLang="zh-CN" dirty="0"/>
              <a:t>IP</a:t>
            </a:r>
            <a:r>
              <a:rPr lang="zh-CN" altLang="en-US" dirty="0"/>
              <a:t>报头后面添加一个</a:t>
            </a:r>
            <a:r>
              <a:rPr lang="en-US" altLang="zh-CN" dirty="0"/>
              <a:t>AH</a:t>
            </a:r>
            <a:r>
              <a:rPr lang="zh-CN" altLang="en-US" dirty="0"/>
              <a:t>报文头。</a:t>
            </a:r>
            <a:r>
              <a:rPr lang="en-US" altLang="zh-CN" dirty="0"/>
              <a:t>AH</a:t>
            </a:r>
            <a:r>
              <a:rPr lang="zh-CN" altLang="en-US" dirty="0"/>
              <a:t>对数据包和认证密钥进行</a:t>
            </a:r>
            <a:r>
              <a:rPr lang="en-US" altLang="zh-CN" dirty="0"/>
              <a:t>Hash</a:t>
            </a:r>
            <a:r>
              <a:rPr lang="zh-CN" altLang="en-US" dirty="0"/>
              <a:t>计算，接收方收到带有计算结果的数据包后，执行同样的</a:t>
            </a:r>
            <a:r>
              <a:rPr lang="en-US" altLang="zh-CN" dirty="0"/>
              <a:t>Hash</a:t>
            </a:r>
            <a:r>
              <a:rPr lang="zh-CN" altLang="en-US" dirty="0"/>
              <a:t>计算并与原计算结果比较，传输过程中对数据的任何更改将使计算结果无效，这样就提供了数据来源认证和数据完整性校验。</a:t>
            </a:r>
            <a:r>
              <a:rPr lang="en-US" altLang="zh-CN" dirty="0"/>
              <a:t>AH</a:t>
            </a:r>
            <a:r>
              <a:rPr lang="zh-CN" altLang="en-US" dirty="0"/>
              <a:t>协议的完整性验证范围为整个</a:t>
            </a:r>
            <a:r>
              <a:rPr lang="en-US" altLang="zh-CN" dirty="0"/>
              <a:t>IP</a:t>
            </a:r>
            <a:r>
              <a:rPr lang="zh-CN" altLang="en-US" dirty="0"/>
              <a:t>报文。</a:t>
            </a:r>
            <a:endParaRPr lang="en-US" altLang="zh-CN" dirty="0"/>
          </a:p>
          <a:p>
            <a:r>
              <a:rPr lang="en-US" altLang="zh-CN" dirty="0"/>
              <a:t>ESP</a:t>
            </a:r>
            <a:r>
              <a:rPr lang="zh-CN" altLang="en-US" dirty="0"/>
              <a:t>支持认证和加密功能。</a:t>
            </a:r>
            <a:r>
              <a:rPr lang="en-US" altLang="zh-CN" dirty="0"/>
              <a:t>ESP</a:t>
            </a:r>
            <a:r>
              <a:rPr lang="zh-CN" altLang="en-US" dirty="0"/>
              <a:t>在每一个数据包的标准</a:t>
            </a:r>
            <a:r>
              <a:rPr lang="en-US" altLang="zh-CN" dirty="0"/>
              <a:t>IP</a:t>
            </a:r>
            <a:r>
              <a:rPr lang="zh-CN" altLang="en-US" dirty="0"/>
              <a:t>报头后面添加一个</a:t>
            </a:r>
            <a:r>
              <a:rPr lang="en-US" altLang="zh-CN" dirty="0"/>
              <a:t>ESP</a:t>
            </a:r>
            <a:r>
              <a:rPr lang="zh-CN" altLang="en-US" dirty="0"/>
              <a:t>报文头，并在数据包后面追加一个</a:t>
            </a:r>
            <a:r>
              <a:rPr lang="en-US" altLang="zh-CN" dirty="0"/>
              <a:t>ESP</a:t>
            </a:r>
            <a:r>
              <a:rPr lang="zh-CN" altLang="en-US" dirty="0"/>
              <a:t>尾（</a:t>
            </a:r>
            <a:r>
              <a:rPr lang="en-US" altLang="zh-CN" dirty="0"/>
              <a:t>ESP Trailer</a:t>
            </a:r>
            <a:r>
              <a:rPr lang="zh-CN" altLang="en-US" dirty="0"/>
              <a:t>和</a:t>
            </a:r>
            <a:r>
              <a:rPr lang="en-US" altLang="zh-CN" dirty="0"/>
              <a:t>ESP Auth data</a:t>
            </a:r>
            <a:r>
              <a:rPr lang="zh-CN" altLang="en-US" dirty="0"/>
              <a:t>）。与</a:t>
            </a:r>
            <a:r>
              <a:rPr lang="en-US" altLang="zh-CN" dirty="0"/>
              <a:t>AH</a:t>
            </a:r>
            <a:r>
              <a:rPr lang="zh-CN" altLang="en-US" dirty="0"/>
              <a:t>不同的是，</a:t>
            </a:r>
            <a:r>
              <a:rPr lang="en-US" altLang="zh-CN" dirty="0"/>
              <a:t>ESP</a:t>
            </a:r>
            <a:r>
              <a:rPr lang="zh-CN" altLang="en-US" dirty="0"/>
              <a:t>将数据中的有效载荷进行加密后再封装到数据包中，以保证数据的机密性，但</a:t>
            </a:r>
            <a:r>
              <a:rPr lang="en-US" altLang="zh-CN" dirty="0"/>
              <a:t>ESP</a:t>
            </a:r>
            <a:r>
              <a:rPr lang="zh-CN" altLang="en-US" dirty="0"/>
              <a:t>没有对</a:t>
            </a:r>
            <a:r>
              <a:rPr lang="en-US" altLang="zh-CN" dirty="0"/>
              <a:t>IP</a:t>
            </a:r>
            <a:r>
              <a:rPr lang="zh-CN" altLang="en-US" dirty="0"/>
              <a:t>头的内容进行保护，除非</a:t>
            </a:r>
            <a:r>
              <a:rPr lang="en-US" altLang="zh-CN" dirty="0"/>
              <a:t>IP</a:t>
            </a:r>
            <a:r>
              <a:rPr lang="zh-CN" altLang="en-US" dirty="0"/>
              <a:t>头被封装在</a:t>
            </a:r>
            <a:r>
              <a:rPr lang="en-US" altLang="zh-CN" dirty="0"/>
              <a:t>ESP</a:t>
            </a:r>
            <a:r>
              <a:rPr lang="zh-CN" altLang="en-US" dirty="0"/>
              <a:t>内部（采用隧道模式）。</a:t>
            </a:r>
            <a:endParaRPr lang="en-US" altLang="zh-CN" dirty="0"/>
          </a:p>
          <a:p>
            <a:r>
              <a:rPr lang="zh-CN" altLang="en-US" dirty="0"/>
              <a:t>关键字段含义：</a:t>
            </a:r>
            <a:endParaRPr lang="en-US" altLang="zh-CN" dirty="0"/>
          </a:p>
          <a:p>
            <a:pPr lvl="1"/>
            <a:r>
              <a:rPr lang="en-US" altLang="zh-CN" dirty="0"/>
              <a:t>Sequence Number</a:t>
            </a:r>
            <a:r>
              <a:rPr lang="zh-CN" altLang="en-US" dirty="0"/>
              <a:t>：是一个从</a:t>
            </a:r>
            <a:r>
              <a:rPr lang="en-US" altLang="zh-CN" dirty="0"/>
              <a:t>1</a:t>
            </a:r>
            <a:r>
              <a:rPr lang="zh-CN" altLang="en-US" dirty="0"/>
              <a:t>开始的单项递增的计数器，唯一地标识每一个数据包，用于防止重放攻击。</a:t>
            </a:r>
            <a:endParaRPr lang="en-US" altLang="zh-CN" dirty="0"/>
          </a:p>
          <a:p>
            <a:pPr lvl="1"/>
            <a:r>
              <a:rPr lang="en-US" altLang="zh-CN" dirty="0"/>
              <a:t>SPI</a:t>
            </a:r>
            <a:r>
              <a:rPr lang="zh-CN" altLang="en-US" dirty="0"/>
              <a:t>：</a:t>
            </a:r>
            <a:r>
              <a:rPr lang="en-US" altLang="zh-CN" dirty="0"/>
              <a:t>IPsec</a:t>
            </a:r>
            <a:r>
              <a:rPr lang="zh-CN" altLang="en-US" dirty="0"/>
              <a:t>安全参数索引，用于唯一标识</a:t>
            </a:r>
            <a:r>
              <a:rPr lang="en-US" altLang="zh-CN" dirty="0"/>
              <a:t>IPsec</a:t>
            </a:r>
            <a:r>
              <a:rPr lang="zh-CN" altLang="en-US" dirty="0"/>
              <a:t>安全联盟。</a:t>
            </a:r>
          </a:p>
          <a:p>
            <a:pPr lvl="1"/>
            <a:r>
              <a:rPr lang="en-US" altLang="zh-CN" dirty="0"/>
              <a:t>Authentication Data</a:t>
            </a:r>
            <a:r>
              <a:rPr lang="zh-CN" altLang="en-US" dirty="0"/>
              <a:t>：该字段包含数据完整性校验值 </a:t>
            </a:r>
            <a:r>
              <a:rPr lang="en-US" altLang="zh-CN" dirty="0"/>
              <a:t>ICV</a:t>
            </a:r>
            <a:r>
              <a:rPr lang="zh-CN" altLang="en-US" dirty="0"/>
              <a:t>（</a:t>
            </a:r>
            <a:r>
              <a:rPr lang="en-US" altLang="zh-CN" dirty="0"/>
              <a:t>Integrity Check Value</a:t>
            </a:r>
            <a:r>
              <a:rPr lang="zh-CN" altLang="en-US" dirty="0"/>
              <a:t>），用于接收方进行完整性校验。可选择的认证算法有</a:t>
            </a:r>
            <a:r>
              <a:rPr lang="en-US" altLang="zh-CN" dirty="0"/>
              <a:t>MD5</a:t>
            </a:r>
            <a:r>
              <a:rPr lang="zh-CN" altLang="en-US" dirty="0"/>
              <a:t>、</a:t>
            </a:r>
            <a:r>
              <a:rPr lang="en-US" altLang="zh-CN" dirty="0"/>
              <a:t>SHA1</a:t>
            </a:r>
            <a:r>
              <a:rPr lang="zh-CN" altLang="en-US" dirty="0"/>
              <a:t>、</a:t>
            </a:r>
            <a:r>
              <a:rPr lang="en-US" altLang="zh-CN" dirty="0"/>
              <a:t>SHA2</a:t>
            </a:r>
            <a:r>
              <a:rPr lang="zh-CN" altLang="en-US" dirty="0"/>
              <a:t>、</a:t>
            </a:r>
            <a:r>
              <a:rPr lang="en-US" altLang="zh-CN" dirty="0"/>
              <a:t>SM3</a:t>
            </a:r>
            <a:r>
              <a:rPr lang="zh-CN" altLang="en-US" dirty="0"/>
              <a:t>。</a:t>
            </a:r>
          </a:p>
        </p:txBody>
      </p:sp>
      <p:sp>
        <p:nvSpPr>
          <p:cNvPr id="5" name="Slide Image Placeholder 4">
            <a:extLst>
              <a:ext uri="{FF2B5EF4-FFF2-40B4-BE49-F238E27FC236}">
                <a16:creationId xmlns:a16="http://schemas.microsoft.com/office/drawing/2014/main" id="{51095A82-834B-4707-A843-7E67EB076BB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574148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在传输模式中，</a:t>
            </a:r>
            <a:r>
              <a:rPr lang="en-US" altLang="zh-CN" dirty="0"/>
              <a:t>AH</a:t>
            </a:r>
            <a:r>
              <a:rPr lang="zh-CN" altLang="en-US" dirty="0"/>
              <a:t>头或</a:t>
            </a:r>
            <a:r>
              <a:rPr lang="en-US" altLang="zh-CN" dirty="0"/>
              <a:t>ESP</a:t>
            </a:r>
            <a:r>
              <a:rPr lang="zh-CN" altLang="en-US" dirty="0"/>
              <a:t>头被插入到</a:t>
            </a:r>
            <a:r>
              <a:rPr lang="en-US" altLang="zh-CN" dirty="0"/>
              <a:t>IP</a:t>
            </a:r>
            <a:r>
              <a:rPr lang="zh-CN" altLang="en-US" dirty="0"/>
              <a:t>头与传输层协议头之间，保护</a:t>
            </a:r>
            <a:r>
              <a:rPr lang="en-US" altLang="zh-CN" dirty="0"/>
              <a:t>TCP/UDP/ICMP</a:t>
            </a:r>
            <a:r>
              <a:rPr lang="zh-CN" altLang="en-US" dirty="0"/>
              <a:t>负载。由于传输模式未添加额外的</a:t>
            </a:r>
            <a:r>
              <a:rPr lang="en-US" altLang="zh-CN" dirty="0"/>
              <a:t>IP</a:t>
            </a:r>
            <a:r>
              <a:rPr lang="zh-CN" altLang="en-US" dirty="0"/>
              <a:t>头，所以原始报文中的</a:t>
            </a:r>
            <a:r>
              <a:rPr lang="en-US" altLang="zh-CN" dirty="0"/>
              <a:t>IP</a:t>
            </a:r>
            <a:r>
              <a:rPr lang="zh-CN" altLang="en-US" dirty="0"/>
              <a:t>地址在加密后报文的</a:t>
            </a:r>
            <a:r>
              <a:rPr lang="en-US" altLang="zh-CN" dirty="0"/>
              <a:t>IP</a:t>
            </a:r>
            <a:r>
              <a:rPr lang="zh-CN" altLang="en-US" dirty="0"/>
              <a:t>头中可见。</a:t>
            </a:r>
            <a:endParaRPr lang="en-US" altLang="zh-CN" dirty="0"/>
          </a:p>
          <a:p>
            <a:r>
              <a:rPr lang="zh-CN" altLang="en-US" dirty="0"/>
              <a:t>在隧道模式下，</a:t>
            </a:r>
            <a:r>
              <a:rPr lang="en-US" altLang="zh-CN" dirty="0"/>
              <a:t>AH</a:t>
            </a:r>
            <a:r>
              <a:rPr lang="zh-CN" altLang="en-US" dirty="0"/>
              <a:t>头或</a:t>
            </a:r>
            <a:r>
              <a:rPr lang="en-US" altLang="zh-CN" dirty="0"/>
              <a:t>ESP</a:t>
            </a:r>
            <a:r>
              <a:rPr lang="zh-CN" altLang="en-US" dirty="0"/>
              <a:t>头被插到原始</a:t>
            </a:r>
            <a:r>
              <a:rPr lang="en-US" altLang="zh-CN" dirty="0"/>
              <a:t>IP</a:t>
            </a:r>
            <a:r>
              <a:rPr lang="zh-CN" altLang="en-US" dirty="0"/>
              <a:t>头之前，另外生成一个新的报文头放到</a:t>
            </a:r>
            <a:r>
              <a:rPr lang="en-US" altLang="zh-CN" dirty="0"/>
              <a:t>AH</a:t>
            </a:r>
            <a:r>
              <a:rPr lang="zh-CN" altLang="en-US" dirty="0"/>
              <a:t>头或</a:t>
            </a:r>
            <a:r>
              <a:rPr lang="en-US" altLang="zh-CN" dirty="0"/>
              <a:t>ESP</a:t>
            </a:r>
            <a:r>
              <a:rPr lang="zh-CN" altLang="en-US" dirty="0"/>
              <a:t>头之前，保护</a:t>
            </a:r>
            <a:r>
              <a:rPr lang="en-US" altLang="zh-CN" dirty="0"/>
              <a:t>IP</a:t>
            </a:r>
            <a:r>
              <a:rPr lang="zh-CN" altLang="en-US" dirty="0"/>
              <a:t>头和负载。</a:t>
            </a:r>
          </a:p>
        </p:txBody>
      </p:sp>
      <p:sp>
        <p:nvSpPr>
          <p:cNvPr id="5" name="Slide Image Placeholder 4">
            <a:extLst>
              <a:ext uri="{FF2B5EF4-FFF2-40B4-BE49-F238E27FC236}">
                <a16:creationId xmlns:a16="http://schemas.microsoft.com/office/drawing/2014/main" id="{FA3B5528-FBF8-4B71-A2FC-28692EA460E2}"/>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8969945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664749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IPsec</a:t>
            </a:r>
            <a:r>
              <a:rPr lang="zh-CN" altLang="en-US" dirty="0"/>
              <a:t>的基本工作流程如下：</a:t>
            </a:r>
            <a:endParaRPr lang="en-US" altLang="zh-CN" dirty="0"/>
          </a:p>
          <a:p>
            <a:pPr lvl="1"/>
            <a:r>
              <a:rPr lang="zh-CN" altLang="en-US" dirty="0"/>
              <a:t>通过</a:t>
            </a:r>
            <a:r>
              <a:rPr lang="en-US" altLang="zh-CN" dirty="0"/>
              <a:t>IKE</a:t>
            </a:r>
            <a:r>
              <a:rPr lang="zh-CN" altLang="en-US" dirty="0"/>
              <a:t>协商第一阶段协商出</a:t>
            </a:r>
            <a:r>
              <a:rPr lang="en-US" altLang="zh-CN" dirty="0"/>
              <a:t>IKE SA</a:t>
            </a:r>
            <a:r>
              <a:rPr lang="zh-CN" altLang="en-US" dirty="0"/>
              <a:t>。</a:t>
            </a:r>
            <a:endParaRPr lang="en-US" altLang="zh-CN" dirty="0"/>
          </a:p>
          <a:p>
            <a:pPr lvl="1"/>
            <a:r>
              <a:rPr lang="zh-CN" altLang="en-US" dirty="0"/>
              <a:t>使用</a:t>
            </a:r>
            <a:r>
              <a:rPr lang="en-US" altLang="zh-CN" dirty="0"/>
              <a:t>IKE SA</a:t>
            </a:r>
            <a:r>
              <a:rPr lang="zh-CN" altLang="en-US" dirty="0"/>
              <a:t>加密</a:t>
            </a:r>
            <a:r>
              <a:rPr lang="en-US" altLang="zh-CN" dirty="0"/>
              <a:t>IKE</a:t>
            </a:r>
            <a:r>
              <a:rPr lang="zh-CN" altLang="en-US" dirty="0"/>
              <a:t>协商第二阶段的报文，即</a:t>
            </a:r>
            <a:r>
              <a:rPr lang="en-US" altLang="zh-CN" dirty="0"/>
              <a:t>IPsec SA</a:t>
            </a:r>
            <a:r>
              <a:rPr lang="zh-CN" altLang="en-US" dirty="0"/>
              <a:t>。</a:t>
            </a:r>
            <a:endParaRPr lang="en-US" altLang="zh-CN" dirty="0"/>
          </a:p>
          <a:p>
            <a:pPr lvl="1"/>
            <a:r>
              <a:rPr lang="zh-CN" altLang="en-US" dirty="0"/>
              <a:t>使用</a:t>
            </a:r>
            <a:r>
              <a:rPr lang="en-US" altLang="zh-CN" dirty="0"/>
              <a:t>IPsec SA</a:t>
            </a:r>
            <a:r>
              <a:rPr lang="zh-CN" altLang="en-US" dirty="0"/>
              <a:t>加密数据。</a:t>
            </a:r>
            <a:endParaRPr lang="en-US" dirty="0"/>
          </a:p>
        </p:txBody>
      </p:sp>
      <p:sp>
        <p:nvSpPr>
          <p:cNvPr id="5" name="Slide Image Placeholder 4">
            <a:extLst>
              <a:ext uri="{FF2B5EF4-FFF2-40B4-BE49-F238E27FC236}">
                <a16:creationId xmlns:a16="http://schemas.microsoft.com/office/drawing/2014/main" id="{04779F64-50A4-49B0-B3D5-00BC563230A1}"/>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147986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F98D55DE-B3ED-4BBE-9D9C-127D2BF62B54}"/>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B76F88BB-59C4-44A5-A98F-B4A186D72A2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023307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主模式包含三次双向交换，用到了六条</a:t>
            </a:r>
            <a:r>
              <a:rPr lang="en-US" altLang="zh-CN" dirty="0"/>
              <a:t>ISAKMP</a:t>
            </a:r>
            <a:r>
              <a:rPr lang="zh-CN" altLang="en-US" dirty="0"/>
              <a:t>信息，协商过程如图</a:t>
            </a:r>
            <a:r>
              <a:rPr lang="en-US" altLang="zh-CN" dirty="0"/>
              <a:t>1</a:t>
            </a:r>
            <a:r>
              <a:rPr lang="zh-CN" altLang="en-US" dirty="0"/>
              <a:t>所示。这三次交换分别是：</a:t>
            </a:r>
          </a:p>
          <a:p>
            <a:pPr lvl="1"/>
            <a:r>
              <a:rPr lang="zh-CN" altLang="en-US" dirty="0"/>
              <a:t>消息①和②用于提议交换</a:t>
            </a:r>
          </a:p>
          <a:p>
            <a:pPr lvl="2"/>
            <a:r>
              <a:rPr lang="zh-CN" altLang="en-US" dirty="0"/>
              <a:t>发起方发送一个或多个</a:t>
            </a:r>
            <a:r>
              <a:rPr lang="en-US" altLang="zh-CN" dirty="0"/>
              <a:t>IKE</a:t>
            </a:r>
            <a:r>
              <a:rPr lang="zh-CN" altLang="en-US" dirty="0"/>
              <a:t>安全提议，响应方查找最先匹配的</a:t>
            </a:r>
            <a:r>
              <a:rPr lang="en-US" altLang="zh-CN" dirty="0"/>
              <a:t>IKE</a:t>
            </a:r>
            <a:r>
              <a:rPr lang="zh-CN" altLang="en-US" dirty="0"/>
              <a:t>安全提议，并将这个</a:t>
            </a:r>
            <a:r>
              <a:rPr lang="en-US" altLang="zh-CN" dirty="0"/>
              <a:t>IKE</a:t>
            </a:r>
            <a:r>
              <a:rPr lang="zh-CN" altLang="en-US" dirty="0"/>
              <a:t>安全提议回应给发起方。匹配的原则为协商双方具有相同的加密算法、认证算法、认证方法和</a:t>
            </a:r>
            <a:r>
              <a:rPr lang="en-US" altLang="zh-CN" dirty="0" err="1"/>
              <a:t>Diffie</a:t>
            </a:r>
            <a:r>
              <a:rPr lang="en-US" altLang="zh-CN" dirty="0"/>
              <a:t>-Hellman</a:t>
            </a:r>
            <a:r>
              <a:rPr lang="zh-CN" altLang="en-US" dirty="0"/>
              <a:t>组标识。</a:t>
            </a:r>
          </a:p>
          <a:p>
            <a:pPr lvl="1"/>
            <a:r>
              <a:rPr lang="zh-CN" altLang="en-US" dirty="0"/>
              <a:t>消息③和④用于密钥信息交换</a:t>
            </a:r>
          </a:p>
          <a:p>
            <a:pPr lvl="2"/>
            <a:r>
              <a:rPr lang="zh-CN" altLang="en-US" dirty="0"/>
              <a:t>双方交换</a:t>
            </a:r>
            <a:r>
              <a:rPr lang="en-US" altLang="zh-CN" dirty="0" err="1"/>
              <a:t>Diffie</a:t>
            </a:r>
            <a:r>
              <a:rPr lang="en-US" altLang="zh-CN" dirty="0"/>
              <a:t>-Hellman</a:t>
            </a:r>
            <a:r>
              <a:rPr lang="zh-CN" altLang="en-US" dirty="0"/>
              <a:t>公共值和</a:t>
            </a:r>
            <a:r>
              <a:rPr lang="en-US" altLang="zh-CN" dirty="0"/>
              <a:t>nonce</a:t>
            </a:r>
            <a:r>
              <a:rPr lang="zh-CN" altLang="en-US" dirty="0"/>
              <a:t>值，用于</a:t>
            </a:r>
            <a:r>
              <a:rPr lang="en-US" altLang="zh-CN" dirty="0"/>
              <a:t>IKE SA</a:t>
            </a:r>
            <a:r>
              <a:rPr lang="zh-CN" altLang="en-US" dirty="0"/>
              <a:t>的认证和加密密钥在这个阶段产生。</a:t>
            </a:r>
          </a:p>
          <a:p>
            <a:pPr lvl="1"/>
            <a:r>
              <a:rPr lang="zh-CN" altLang="en-US" dirty="0"/>
              <a:t>消息⑤和⑥用于身份和认证信息交换（双方使用生成的密钥发送信息）</a:t>
            </a:r>
            <a:endParaRPr lang="en-US" altLang="zh-CN" dirty="0"/>
          </a:p>
          <a:p>
            <a:pPr lvl="2"/>
            <a:r>
              <a:rPr lang="zh-CN" altLang="en-US" dirty="0"/>
              <a:t>双方进行身份认证和对整个主模式交换内容的认证。</a:t>
            </a:r>
            <a:endParaRPr lang="en-US" altLang="zh-CN" dirty="0"/>
          </a:p>
          <a:p>
            <a:r>
              <a:rPr lang="zh-CN" altLang="en-US" dirty="0"/>
              <a:t>野蛮模式只用到三条信息，前两条消息①和②用于协商</a:t>
            </a:r>
            <a:r>
              <a:rPr lang="en-US" altLang="zh-CN" dirty="0"/>
              <a:t>IKE</a:t>
            </a:r>
            <a:r>
              <a:rPr lang="zh-CN" altLang="en-US" dirty="0"/>
              <a:t>安全提议，交换</a:t>
            </a:r>
            <a:r>
              <a:rPr lang="en-US" altLang="zh-CN" dirty="0" err="1"/>
              <a:t>Diffie</a:t>
            </a:r>
            <a:r>
              <a:rPr lang="en-US" altLang="zh-CN" dirty="0"/>
              <a:t>-Hellman</a:t>
            </a:r>
            <a:r>
              <a:rPr lang="zh-CN" altLang="en-US" dirty="0"/>
              <a:t>公共值、必需的辅助信息以及身份信息，并且消息②中还包括响应方发送身份信息供发起方认证，消息③用于响应方认证发起方。</a:t>
            </a:r>
            <a:endParaRPr lang="en-US" altLang="zh-CN" dirty="0"/>
          </a:p>
          <a:p>
            <a:r>
              <a:rPr lang="zh-CN" altLang="en-US" dirty="0"/>
              <a:t>与主模式相比，野蛮模式减少了交换信息的数目，提高了协商的速度，但是没有对身份信息进行加密保护。</a:t>
            </a:r>
          </a:p>
        </p:txBody>
      </p:sp>
      <p:sp>
        <p:nvSpPr>
          <p:cNvPr id="5" name="Slide Image Placeholder 4">
            <a:extLst>
              <a:ext uri="{FF2B5EF4-FFF2-40B4-BE49-F238E27FC236}">
                <a16:creationId xmlns:a16="http://schemas.microsoft.com/office/drawing/2014/main" id="{9F628E6C-2961-4701-A5E5-E244378ACB8E}"/>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321946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IKEv1</a:t>
            </a:r>
            <a:r>
              <a:rPr lang="zh-CN" altLang="en-US" dirty="0"/>
              <a:t>协商阶段</a:t>
            </a:r>
            <a:r>
              <a:rPr lang="en-US" altLang="zh-CN" dirty="0"/>
              <a:t>2</a:t>
            </a:r>
            <a:r>
              <a:rPr lang="zh-CN" altLang="en-US" dirty="0"/>
              <a:t>通过三条</a:t>
            </a:r>
            <a:r>
              <a:rPr lang="en-US" altLang="zh-CN" dirty="0"/>
              <a:t>ISAKMP</a:t>
            </a:r>
            <a:r>
              <a:rPr lang="zh-CN" altLang="en-US" dirty="0"/>
              <a:t>消息完成双方</a:t>
            </a:r>
            <a:r>
              <a:rPr lang="en-US" altLang="zh-CN" dirty="0"/>
              <a:t>IPsec SA</a:t>
            </a:r>
            <a:r>
              <a:rPr lang="zh-CN" altLang="en-US" dirty="0"/>
              <a:t>的建立：</a:t>
            </a:r>
          </a:p>
          <a:p>
            <a:pPr lvl="1"/>
            <a:r>
              <a:rPr lang="zh-CN" altLang="en-US" dirty="0"/>
              <a:t>协商发起方发送本端的安全参数和身份认证信息。</a:t>
            </a:r>
          </a:p>
          <a:p>
            <a:pPr lvl="2"/>
            <a:r>
              <a:rPr lang="zh-CN" altLang="en-US" dirty="0"/>
              <a:t>安全参数包括被保护的数据流和</a:t>
            </a:r>
            <a:r>
              <a:rPr lang="en-US" altLang="zh-CN" dirty="0"/>
              <a:t>IPsec</a:t>
            </a:r>
            <a:r>
              <a:rPr lang="zh-CN" altLang="en-US" dirty="0"/>
              <a:t>安全提议等需要协商的参数。身份认证信息包括第一阶段计算出的密钥和第二阶段产生的密钥材料等，可以再次认证对等体。</a:t>
            </a:r>
            <a:endParaRPr lang="en-US" altLang="zh-CN" dirty="0"/>
          </a:p>
          <a:p>
            <a:pPr lvl="1"/>
            <a:r>
              <a:rPr lang="zh-CN" altLang="en-US" dirty="0"/>
              <a:t>协商响应方发送确认的安全参数和身份认证信息并生成新的密钥。</a:t>
            </a:r>
          </a:p>
          <a:p>
            <a:pPr lvl="2"/>
            <a:r>
              <a:rPr lang="en-US" altLang="zh-CN" dirty="0"/>
              <a:t>IPsec SA</a:t>
            </a:r>
            <a:r>
              <a:rPr lang="zh-CN" altLang="en-US" dirty="0"/>
              <a:t>数据传输需要的加密、验证密钥由第一阶段产生的密钥、</a:t>
            </a:r>
            <a:r>
              <a:rPr lang="en-US" altLang="zh-CN" dirty="0"/>
              <a:t>SPI</a:t>
            </a:r>
            <a:r>
              <a:rPr lang="zh-CN" altLang="en-US" dirty="0"/>
              <a:t>、协议等参数衍生得出，以保证每个</a:t>
            </a:r>
            <a:r>
              <a:rPr lang="en-US" altLang="zh-CN" dirty="0"/>
              <a:t>IPsec SA</a:t>
            </a:r>
            <a:r>
              <a:rPr lang="zh-CN" altLang="en-US" dirty="0"/>
              <a:t>都有自己独一无二的密钥。</a:t>
            </a:r>
          </a:p>
          <a:p>
            <a:pPr lvl="1"/>
            <a:r>
              <a:rPr lang="zh-CN" altLang="en-US" dirty="0"/>
              <a:t>发送方发送确认信息，确认与响应方可以通信，协商结束。</a:t>
            </a:r>
          </a:p>
        </p:txBody>
      </p:sp>
      <p:sp>
        <p:nvSpPr>
          <p:cNvPr id="5" name="Slide Image Placeholder 4">
            <a:extLst>
              <a:ext uri="{FF2B5EF4-FFF2-40B4-BE49-F238E27FC236}">
                <a16:creationId xmlns:a16="http://schemas.microsoft.com/office/drawing/2014/main" id="{E9E618DF-3318-492D-BCF7-AD921664E402}"/>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38301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316323-B87B-4636-A3D9-1EEC7DC11249}"/>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122227B1-8249-4BE1-B2ED-CC67E5896A9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555770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消息①和②属于第一次交换（称为</a:t>
            </a:r>
            <a:r>
              <a:rPr lang="en-US" altLang="zh-CN" dirty="0"/>
              <a:t>IKE_SA_INIT</a:t>
            </a:r>
            <a:r>
              <a:rPr lang="zh-CN" altLang="en-US" dirty="0"/>
              <a:t>交换），以明文方式完成</a:t>
            </a:r>
            <a:r>
              <a:rPr lang="en-US" altLang="zh-CN" dirty="0"/>
              <a:t>IKE SA</a:t>
            </a:r>
            <a:r>
              <a:rPr lang="zh-CN" altLang="en-US" dirty="0"/>
              <a:t>的参数协商，包括协商加密和验证算法，交换临时随机数和</a:t>
            </a:r>
            <a:r>
              <a:rPr lang="en-US" altLang="zh-CN" dirty="0"/>
              <a:t>DH</a:t>
            </a:r>
            <a:r>
              <a:rPr lang="zh-CN" altLang="en-US" dirty="0"/>
              <a:t>交换。</a:t>
            </a:r>
            <a:r>
              <a:rPr lang="en-US" altLang="zh-CN" dirty="0"/>
              <a:t>IKE_SA_INIT</a:t>
            </a:r>
            <a:r>
              <a:rPr lang="zh-CN" altLang="en-US" dirty="0"/>
              <a:t>交换后生成一个共享密钥材料，通过这个共享密钥材料可以衍生出</a:t>
            </a:r>
            <a:r>
              <a:rPr lang="en-US" altLang="zh-CN" dirty="0"/>
              <a:t>IPsec SA</a:t>
            </a:r>
            <a:r>
              <a:rPr lang="zh-CN" altLang="en-US" dirty="0"/>
              <a:t>的所有密钥。</a:t>
            </a:r>
          </a:p>
          <a:p>
            <a:r>
              <a:rPr lang="zh-CN" altLang="en-US" dirty="0"/>
              <a:t>消息③和④属于第二次交换（称为</a:t>
            </a:r>
            <a:r>
              <a:rPr lang="en-US" altLang="zh-CN" dirty="0"/>
              <a:t>IKE_AUTH</a:t>
            </a:r>
            <a:r>
              <a:rPr lang="zh-CN" altLang="en-US" dirty="0"/>
              <a:t>交换），以加密方式完成身份认证、对前两条信息的认证和</a:t>
            </a:r>
            <a:r>
              <a:rPr lang="en-US" altLang="zh-CN" dirty="0"/>
              <a:t>IPsec SA</a:t>
            </a:r>
            <a:r>
              <a:rPr lang="zh-CN" altLang="en-US" dirty="0"/>
              <a:t>的参数协商。</a:t>
            </a:r>
            <a:r>
              <a:rPr lang="en-US" altLang="zh-CN" dirty="0"/>
              <a:t>IKEv2</a:t>
            </a:r>
            <a:r>
              <a:rPr lang="zh-CN" altLang="en-US" dirty="0"/>
              <a:t>支持</a:t>
            </a:r>
            <a:r>
              <a:rPr lang="en-US" altLang="zh-CN" dirty="0"/>
              <a:t>RSA</a:t>
            </a:r>
            <a:r>
              <a:rPr lang="zh-CN" altLang="en-US" dirty="0"/>
              <a:t>签名认证、预共享密钥认证以及扩展认证方法</a:t>
            </a:r>
            <a:r>
              <a:rPr lang="en-US" altLang="zh-CN" dirty="0"/>
              <a:t>EAP</a:t>
            </a:r>
            <a:r>
              <a:rPr lang="zh-CN" altLang="en-US" dirty="0"/>
              <a:t>（</a:t>
            </a:r>
            <a:r>
              <a:rPr lang="en-US" altLang="zh-CN" dirty="0"/>
              <a:t>Extensible Authentication Protocol</a:t>
            </a:r>
            <a:r>
              <a:rPr lang="zh-CN" altLang="en-US" dirty="0"/>
              <a:t>）。发起者通过在消息</a:t>
            </a:r>
            <a:r>
              <a:rPr lang="en-US" altLang="zh-CN" dirty="0"/>
              <a:t>3</a:t>
            </a:r>
            <a:r>
              <a:rPr lang="zh-CN" altLang="en-US" dirty="0"/>
              <a:t>中省去认证载荷来表明需要使用</a:t>
            </a:r>
            <a:r>
              <a:rPr lang="en-US" altLang="zh-CN" dirty="0"/>
              <a:t>EAP</a:t>
            </a:r>
            <a:r>
              <a:rPr lang="zh-CN" altLang="en-US" dirty="0"/>
              <a:t>认证。</a:t>
            </a:r>
          </a:p>
        </p:txBody>
      </p:sp>
      <p:sp>
        <p:nvSpPr>
          <p:cNvPr id="5" name="Slide Image Placeholder 4">
            <a:extLst>
              <a:ext uri="{FF2B5EF4-FFF2-40B4-BE49-F238E27FC236}">
                <a16:creationId xmlns:a16="http://schemas.microsoft.com/office/drawing/2014/main" id="{7AA8F62F-B35B-4AC8-8ED4-95CA4408E5B0}"/>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547703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4335FCF4-9478-43ED-829B-4DDDF2F04897}"/>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51449840-D7EC-4F04-A3EC-55DA34A4E61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857909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E53C5925-CB1A-4A99-B6F2-C79CBB4440E3}"/>
              </a:ext>
            </a:extLst>
          </p:cNvPr>
          <p:cNvSpPr>
            <a:spLocks noGrp="1" noRot="1" noChangeAspect="1"/>
          </p:cNvSpPr>
          <p:nvPr>
            <p:ph type="sldImg"/>
          </p:nvPr>
        </p:nvSpPr>
        <p:spPr>
          <a:xfrm>
            <a:off x="742950" y="717550"/>
            <a:ext cx="5557838" cy="3125788"/>
          </a:xfrm>
        </p:spPr>
      </p:sp>
      <p:sp>
        <p:nvSpPr>
          <p:cNvPr id="5" name="Notes Placeholder 4">
            <a:extLst>
              <a:ext uri="{FF2B5EF4-FFF2-40B4-BE49-F238E27FC236}">
                <a16:creationId xmlns:a16="http://schemas.microsoft.com/office/drawing/2014/main" id="{01AC2238-B484-4289-877D-2820DD71AA9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624453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路由方式具有以下优点：</a:t>
            </a:r>
          </a:p>
          <a:p>
            <a:pPr lvl="1"/>
            <a:r>
              <a:rPr lang="zh-CN" altLang="en-US" dirty="0"/>
              <a:t>通过路由将需要</a:t>
            </a:r>
            <a:r>
              <a:rPr lang="en-US" altLang="zh-CN" dirty="0"/>
              <a:t>IPsec</a:t>
            </a:r>
            <a:r>
              <a:rPr lang="zh-CN" altLang="en-US" dirty="0"/>
              <a:t>保护的数据流引到虚拟隧道接口，不需使用</a:t>
            </a:r>
            <a:r>
              <a:rPr lang="en-US" altLang="zh-CN" dirty="0"/>
              <a:t>ACL</a:t>
            </a:r>
            <a:r>
              <a:rPr lang="zh-CN" altLang="en-US" dirty="0"/>
              <a:t>定义待加</a:t>
            </a:r>
            <a:r>
              <a:rPr lang="en-US" altLang="zh-CN" dirty="0"/>
              <a:t>/</a:t>
            </a:r>
            <a:r>
              <a:rPr lang="zh-CN" altLang="en-US" dirty="0"/>
              <a:t>解密的流量特征，简化了</a:t>
            </a:r>
            <a:r>
              <a:rPr lang="en-US" altLang="zh-CN" dirty="0"/>
              <a:t>IPsec</a:t>
            </a:r>
            <a:r>
              <a:rPr lang="zh-CN" altLang="en-US" dirty="0"/>
              <a:t>配置的复杂性。</a:t>
            </a:r>
          </a:p>
          <a:p>
            <a:pPr lvl="1"/>
            <a:r>
              <a:rPr lang="zh-CN" altLang="en-US" dirty="0"/>
              <a:t>支持动态路由协议。</a:t>
            </a:r>
          </a:p>
          <a:p>
            <a:pPr lvl="1"/>
            <a:r>
              <a:rPr lang="zh-CN" altLang="en-US" dirty="0"/>
              <a:t>通过</a:t>
            </a:r>
            <a:r>
              <a:rPr lang="en-US" altLang="zh-CN" dirty="0"/>
              <a:t>GRE over IPsec</a:t>
            </a:r>
            <a:r>
              <a:rPr lang="zh-CN" altLang="en-US" dirty="0"/>
              <a:t>支持对组播流量的保护。</a:t>
            </a:r>
          </a:p>
        </p:txBody>
      </p:sp>
      <p:sp>
        <p:nvSpPr>
          <p:cNvPr id="5" name="Slide Image Placeholder 4">
            <a:extLst>
              <a:ext uri="{FF2B5EF4-FFF2-40B4-BE49-F238E27FC236}">
                <a16:creationId xmlns:a16="http://schemas.microsoft.com/office/drawing/2014/main" id="{04E8B7F7-165A-46CC-B6E0-E270EBD0A572}"/>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348732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296498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GRE over IPsec</a:t>
            </a:r>
            <a:r>
              <a:rPr lang="zh-CN" altLang="en-US" dirty="0"/>
              <a:t>使用的封装模式为可以是隧道模式也可以是传输模式。因为隧道模式跟传输模式相比增加了</a:t>
            </a:r>
            <a:r>
              <a:rPr lang="en-US" altLang="zh-CN" dirty="0"/>
              <a:t>IPsec</a:t>
            </a:r>
            <a:r>
              <a:rPr lang="zh-CN" altLang="en-US" dirty="0"/>
              <a:t>头，导致报文长度更长，更容易导致分片，所以</a:t>
            </a:r>
            <a:r>
              <a:rPr lang="en-US" altLang="zh-CN" dirty="0"/>
              <a:t>GRE over IPsec</a:t>
            </a:r>
            <a:r>
              <a:rPr lang="zh-CN" altLang="en-US" dirty="0"/>
              <a:t>推荐采用传输模式。</a:t>
            </a:r>
          </a:p>
          <a:p>
            <a:r>
              <a:rPr lang="en-US" altLang="zh-CN" dirty="0"/>
              <a:t>IPsec</a:t>
            </a:r>
            <a:r>
              <a:rPr lang="zh-CN" altLang="en-US" dirty="0"/>
              <a:t>封装过程中增加的</a:t>
            </a:r>
            <a:r>
              <a:rPr lang="en-US" altLang="zh-CN" dirty="0"/>
              <a:t>IP</a:t>
            </a:r>
            <a:r>
              <a:rPr lang="zh-CN" altLang="en-US" dirty="0"/>
              <a:t>头即源地址为</a:t>
            </a:r>
            <a:r>
              <a:rPr lang="en-US" altLang="zh-CN" dirty="0"/>
              <a:t>IPsec</a:t>
            </a:r>
            <a:r>
              <a:rPr lang="zh-CN" altLang="en-US" dirty="0"/>
              <a:t>网关应用</a:t>
            </a:r>
            <a:r>
              <a:rPr lang="en-US" altLang="zh-CN" dirty="0"/>
              <a:t>IPsec</a:t>
            </a:r>
            <a:r>
              <a:rPr lang="zh-CN" altLang="en-US" dirty="0"/>
              <a:t>安全策略的接口地址，目的地址即</a:t>
            </a:r>
            <a:r>
              <a:rPr lang="en-US" altLang="zh-CN" dirty="0"/>
              <a:t>IPsec</a:t>
            </a:r>
            <a:r>
              <a:rPr lang="zh-CN" altLang="en-US" dirty="0"/>
              <a:t>对等体中应用</a:t>
            </a:r>
            <a:r>
              <a:rPr lang="en-US" altLang="zh-CN" dirty="0"/>
              <a:t>IPsec</a:t>
            </a:r>
            <a:r>
              <a:rPr lang="zh-CN" altLang="en-US" dirty="0"/>
              <a:t>安全策略的接口地址。</a:t>
            </a:r>
          </a:p>
          <a:p>
            <a:r>
              <a:rPr lang="en-US" altLang="zh-CN" dirty="0"/>
              <a:t>IPsec</a:t>
            </a:r>
            <a:r>
              <a:rPr lang="zh-CN" altLang="en-US" dirty="0"/>
              <a:t>需要保护的数据流为从</a:t>
            </a:r>
            <a:r>
              <a:rPr lang="en-US" altLang="zh-CN" dirty="0"/>
              <a:t>GRE</a:t>
            </a:r>
            <a:r>
              <a:rPr lang="zh-CN" altLang="en-US" dirty="0"/>
              <a:t>起点到</a:t>
            </a:r>
            <a:r>
              <a:rPr lang="en-US" altLang="zh-CN" dirty="0"/>
              <a:t>GRE</a:t>
            </a:r>
            <a:r>
              <a:rPr lang="zh-CN" altLang="en-US" dirty="0"/>
              <a:t>终点的数据流。</a:t>
            </a:r>
            <a:r>
              <a:rPr lang="en-US" altLang="zh-CN" dirty="0"/>
              <a:t>GRE</a:t>
            </a:r>
            <a:r>
              <a:rPr lang="zh-CN" altLang="en-US" dirty="0"/>
              <a:t>封装过程中增加的</a:t>
            </a:r>
            <a:r>
              <a:rPr lang="en-US" altLang="zh-CN" dirty="0"/>
              <a:t>IP</a:t>
            </a:r>
            <a:r>
              <a:rPr lang="zh-CN" altLang="en-US" dirty="0"/>
              <a:t>头即源地址为</a:t>
            </a:r>
            <a:r>
              <a:rPr lang="en-US" altLang="zh-CN" dirty="0"/>
              <a:t>GRE</a:t>
            </a:r>
            <a:r>
              <a:rPr lang="zh-CN" altLang="en-US" dirty="0"/>
              <a:t>隧道的源端地址，目的地址为</a:t>
            </a:r>
            <a:r>
              <a:rPr lang="en-US" altLang="zh-CN" dirty="0"/>
              <a:t>GRE</a:t>
            </a:r>
            <a:r>
              <a:rPr lang="zh-CN" altLang="en-US" dirty="0"/>
              <a:t>隧道的目的端地址。</a:t>
            </a:r>
          </a:p>
        </p:txBody>
      </p:sp>
      <p:sp>
        <p:nvSpPr>
          <p:cNvPr id="5" name="Slide Image Placeholder 4">
            <a:extLst>
              <a:ext uri="{FF2B5EF4-FFF2-40B4-BE49-F238E27FC236}">
                <a16:creationId xmlns:a16="http://schemas.microsoft.com/office/drawing/2014/main" id="{CCF17126-D3B5-4EB3-9319-B839B27F5ACA}"/>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965074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zh-CN" altLang="en-US" dirty="0"/>
              <a:t>报文在隧道中传输时先进行</a:t>
            </a:r>
            <a:r>
              <a:rPr lang="en-US" altLang="zh-CN" dirty="0"/>
              <a:t>L2TP</a:t>
            </a:r>
            <a:r>
              <a:rPr lang="zh-CN" altLang="en-US" dirty="0"/>
              <a:t>封装再进行</a:t>
            </a:r>
            <a:r>
              <a:rPr lang="en-US" altLang="zh-CN" dirty="0"/>
              <a:t>IPsec</a:t>
            </a:r>
            <a:r>
              <a:rPr lang="zh-CN" altLang="en-US" dirty="0"/>
              <a:t>封装。</a:t>
            </a:r>
            <a:r>
              <a:rPr lang="en-US" altLang="zh-CN" dirty="0"/>
              <a:t>IPsec</a:t>
            </a:r>
            <a:r>
              <a:rPr lang="zh-CN" altLang="en-US" dirty="0"/>
              <a:t>封装过程中增加的</a:t>
            </a:r>
            <a:r>
              <a:rPr lang="en-US" altLang="zh-CN" dirty="0"/>
              <a:t>IP</a:t>
            </a:r>
            <a:r>
              <a:rPr lang="zh-CN" altLang="en-US" dirty="0"/>
              <a:t>头即源地址为</a:t>
            </a:r>
            <a:r>
              <a:rPr lang="en-US" altLang="zh-CN" dirty="0"/>
              <a:t>IPsec</a:t>
            </a:r>
            <a:r>
              <a:rPr lang="zh-CN" altLang="en-US" dirty="0"/>
              <a:t>网关应用</a:t>
            </a:r>
            <a:r>
              <a:rPr lang="en-US" altLang="zh-CN" dirty="0"/>
              <a:t>IPsec</a:t>
            </a:r>
            <a:r>
              <a:rPr lang="zh-CN" altLang="en-US" dirty="0"/>
              <a:t>安全策略的接口</a:t>
            </a:r>
            <a:r>
              <a:rPr lang="en-US" altLang="zh-CN" dirty="0"/>
              <a:t>IP</a:t>
            </a:r>
            <a:r>
              <a:rPr lang="zh-CN" altLang="en-US" dirty="0"/>
              <a:t>地址，目的地址即</a:t>
            </a:r>
            <a:r>
              <a:rPr lang="en-US" altLang="zh-CN" dirty="0"/>
              <a:t>IPsec</a:t>
            </a:r>
            <a:r>
              <a:rPr lang="zh-CN" altLang="en-US" dirty="0"/>
              <a:t>对等体中应用</a:t>
            </a:r>
            <a:r>
              <a:rPr lang="en-US" altLang="zh-CN" dirty="0"/>
              <a:t>IPsec</a:t>
            </a:r>
            <a:r>
              <a:rPr lang="zh-CN" altLang="en-US" dirty="0"/>
              <a:t>安全策略的接口</a:t>
            </a:r>
            <a:r>
              <a:rPr lang="en-US" altLang="zh-CN" dirty="0"/>
              <a:t>IP</a:t>
            </a:r>
            <a:r>
              <a:rPr lang="zh-CN" altLang="en-US" dirty="0"/>
              <a:t>地址。</a:t>
            </a:r>
          </a:p>
          <a:p>
            <a:r>
              <a:rPr lang="en-US" altLang="zh-CN" dirty="0"/>
              <a:t>IPsec</a:t>
            </a:r>
            <a:r>
              <a:rPr lang="zh-CN" altLang="en-US" dirty="0"/>
              <a:t>需要保护的是从</a:t>
            </a:r>
            <a:r>
              <a:rPr lang="en-US" altLang="zh-CN" dirty="0"/>
              <a:t>L2TP</a:t>
            </a:r>
            <a:r>
              <a:rPr lang="zh-CN" altLang="en-US" dirty="0"/>
              <a:t>的起点到</a:t>
            </a:r>
            <a:r>
              <a:rPr lang="en-US" altLang="zh-CN" dirty="0"/>
              <a:t>L2TP</a:t>
            </a:r>
            <a:r>
              <a:rPr lang="zh-CN" altLang="en-US" dirty="0"/>
              <a:t>的终点数据流。</a:t>
            </a:r>
            <a:r>
              <a:rPr lang="en-US" altLang="zh-CN" dirty="0"/>
              <a:t>L2TP</a:t>
            </a:r>
            <a:r>
              <a:rPr lang="zh-CN" altLang="en-US" dirty="0"/>
              <a:t>封装过程中增加的</a:t>
            </a:r>
            <a:r>
              <a:rPr lang="en-US" altLang="zh-CN" dirty="0"/>
              <a:t>IP</a:t>
            </a:r>
            <a:r>
              <a:rPr lang="zh-CN" altLang="en-US" dirty="0"/>
              <a:t>头即源</a:t>
            </a:r>
            <a:r>
              <a:rPr lang="en-US" altLang="zh-CN" dirty="0"/>
              <a:t>IP</a:t>
            </a:r>
            <a:r>
              <a:rPr lang="zh-CN" altLang="en-US" dirty="0"/>
              <a:t>地址为</a:t>
            </a:r>
            <a:r>
              <a:rPr lang="en-US" altLang="zh-CN" dirty="0"/>
              <a:t>L2TP</a:t>
            </a:r>
            <a:r>
              <a:rPr lang="zh-CN" altLang="en-US" dirty="0"/>
              <a:t>起点地址，目的</a:t>
            </a:r>
            <a:r>
              <a:rPr lang="en-US" altLang="zh-CN" dirty="0"/>
              <a:t>IP</a:t>
            </a:r>
            <a:r>
              <a:rPr lang="zh-CN" altLang="en-US" dirty="0"/>
              <a:t>地址为</a:t>
            </a:r>
            <a:r>
              <a:rPr lang="en-US" altLang="zh-CN" dirty="0"/>
              <a:t>L2TP</a:t>
            </a:r>
            <a:r>
              <a:rPr lang="zh-CN" altLang="en-US" dirty="0"/>
              <a:t>终点的地址。分支接入总部组网中</a:t>
            </a:r>
            <a:r>
              <a:rPr lang="en-US" altLang="zh-CN" dirty="0"/>
              <a:t>L2TP</a:t>
            </a:r>
            <a:r>
              <a:rPr lang="zh-CN" altLang="en-US" dirty="0"/>
              <a:t>起点地址为</a:t>
            </a:r>
            <a:r>
              <a:rPr lang="en-US" altLang="zh-CN" dirty="0"/>
              <a:t>LAC</a:t>
            </a:r>
            <a:r>
              <a:rPr lang="zh-CN" altLang="en-US" dirty="0"/>
              <a:t>出接口的</a:t>
            </a:r>
            <a:r>
              <a:rPr lang="en-US" altLang="zh-CN" dirty="0"/>
              <a:t>IP</a:t>
            </a:r>
            <a:r>
              <a:rPr lang="zh-CN" altLang="en-US" dirty="0"/>
              <a:t>地址，</a:t>
            </a:r>
            <a:r>
              <a:rPr lang="en-US" altLang="zh-CN" dirty="0"/>
              <a:t>L2TP</a:t>
            </a:r>
            <a:r>
              <a:rPr lang="zh-CN" altLang="en-US" dirty="0"/>
              <a:t>终点的地址为</a:t>
            </a:r>
            <a:r>
              <a:rPr lang="en-US" altLang="zh-CN" dirty="0"/>
              <a:t>LNS</a:t>
            </a:r>
            <a:r>
              <a:rPr lang="zh-CN" altLang="en-US" dirty="0"/>
              <a:t>入接口的</a:t>
            </a:r>
            <a:r>
              <a:rPr lang="en-US" altLang="zh-CN" dirty="0"/>
              <a:t>IP</a:t>
            </a:r>
            <a:r>
              <a:rPr lang="zh-CN" altLang="en-US" dirty="0"/>
              <a:t>地址。</a:t>
            </a:r>
          </a:p>
          <a:p>
            <a:r>
              <a:rPr lang="zh-CN" altLang="en-US" dirty="0"/>
              <a:t>由于</a:t>
            </a:r>
            <a:r>
              <a:rPr lang="en-US" altLang="zh-CN" dirty="0"/>
              <a:t>L2TP</a:t>
            </a:r>
            <a:r>
              <a:rPr lang="zh-CN" altLang="en-US" dirty="0"/>
              <a:t>封装时已经增加了一个公网</a:t>
            </a:r>
            <a:r>
              <a:rPr lang="en-US" altLang="zh-CN" dirty="0"/>
              <a:t>IP</a:t>
            </a:r>
            <a:r>
              <a:rPr lang="zh-CN" altLang="en-US" dirty="0"/>
              <a:t>头，而隧道模式跟传输模式相比又多增加了一个公网</a:t>
            </a:r>
            <a:r>
              <a:rPr lang="en-US" altLang="zh-CN" dirty="0"/>
              <a:t>IP</a:t>
            </a:r>
            <a:r>
              <a:rPr lang="zh-CN" altLang="en-US" dirty="0"/>
              <a:t>头，导致报文长度更长，更容易导致分片。所以推荐采用传输模式</a:t>
            </a:r>
            <a:r>
              <a:rPr lang="en-US" altLang="zh-CN" dirty="0"/>
              <a:t>L2TP over IPsec</a:t>
            </a:r>
            <a:r>
              <a:rPr lang="zh-CN" altLang="en-US" dirty="0"/>
              <a:t>。</a:t>
            </a:r>
          </a:p>
          <a:p>
            <a:r>
              <a:rPr lang="zh-CN" altLang="en-US" dirty="0"/>
              <a:t>出差用户远程接入总部网络的组网中</a:t>
            </a:r>
            <a:r>
              <a:rPr lang="en-US" altLang="zh-CN" dirty="0"/>
              <a:t>L2TP over IPsec</a:t>
            </a:r>
            <a:r>
              <a:rPr lang="zh-CN" altLang="en-US" dirty="0"/>
              <a:t>的协商顺序和报文封装顺序跟分支接入总部网络的组网中的协商顺序和报文封装顺序是一样的。所不同的是出差用户远程接入总部网络的组网中，用户侧的</a:t>
            </a:r>
            <a:r>
              <a:rPr lang="en-US" altLang="zh-CN" dirty="0"/>
              <a:t>L2TP</a:t>
            </a:r>
            <a:r>
              <a:rPr lang="zh-CN" altLang="en-US" dirty="0"/>
              <a:t>和</a:t>
            </a:r>
            <a:r>
              <a:rPr lang="en-US" altLang="zh-CN" dirty="0"/>
              <a:t>IPsec</a:t>
            </a:r>
            <a:r>
              <a:rPr lang="zh-CN" altLang="en-US" dirty="0"/>
              <a:t>封装是在客户端上完成的。</a:t>
            </a:r>
            <a:r>
              <a:rPr lang="en-US" altLang="zh-CN" dirty="0"/>
              <a:t>L2TP</a:t>
            </a:r>
            <a:r>
              <a:rPr lang="zh-CN" altLang="en-US" dirty="0"/>
              <a:t>起点的地址为客户端将要获取的内网地址，此地址可以是</a:t>
            </a:r>
            <a:r>
              <a:rPr lang="en-US" altLang="zh-CN" dirty="0"/>
              <a:t>LNS</a:t>
            </a:r>
            <a:r>
              <a:rPr lang="zh-CN" altLang="en-US" dirty="0"/>
              <a:t>上配置的</a:t>
            </a:r>
            <a:r>
              <a:rPr lang="en-US" altLang="zh-CN" dirty="0"/>
              <a:t>IP</a:t>
            </a:r>
            <a:r>
              <a:rPr lang="zh-CN" altLang="en-US" dirty="0"/>
              <a:t>地址池中的任意地址。</a:t>
            </a:r>
            <a:r>
              <a:rPr lang="en-US" altLang="zh-CN" dirty="0"/>
              <a:t>L2TP</a:t>
            </a:r>
            <a:r>
              <a:rPr lang="zh-CN" altLang="en-US" dirty="0"/>
              <a:t>终点地址为</a:t>
            </a:r>
            <a:r>
              <a:rPr lang="en-US" altLang="zh-CN" dirty="0"/>
              <a:t>LNS</a:t>
            </a:r>
            <a:r>
              <a:rPr lang="zh-CN" altLang="en-US" dirty="0"/>
              <a:t>入接口的地址。</a:t>
            </a:r>
          </a:p>
        </p:txBody>
      </p:sp>
      <p:sp>
        <p:nvSpPr>
          <p:cNvPr id="5" name="Slide Image Placeholder 4">
            <a:extLst>
              <a:ext uri="{FF2B5EF4-FFF2-40B4-BE49-F238E27FC236}">
                <a16:creationId xmlns:a16="http://schemas.microsoft.com/office/drawing/2014/main" id="{AE8D402F-452C-42CF-A2B2-00BB1985034D}"/>
              </a:ext>
            </a:extLst>
          </p:cNvPr>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5338784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t>SA</a:t>
            </a:r>
            <a:r>
              <a:rPr lang="zh-CN" altLang="en-US"/>
              <a:t>：</a:t>
            </a:r>
            <a:r>
              <a:rPr lang="en-US" altLang="zh-CN"/>
              <a:t>Source Address</a:t>
            </a:r>
          </a:p>
          <a:p>
            <a:r>
              <a:rPr lang="en-US" altLang="zh-CN"/>
              <a:t>DA</a:t>
            </a:r>
            <a:r>
              <a:rPr lang="zh-CN" altLang="en-US"/>
              <a:t>：</a:t>
            </a:r>
            <a:r>
              <a:rPr lang="en-US" altLang="zh-CN"/>
              <a:t>Destination Address</a:t>
            </a:r>
          </a:p>
          <a:p>
            <a:r>
              <a:rPr lang="en-US" altLang="zh-CN"/>
              <a:t>SP</a:t>
            </a:r>
            <a:r>
              <a:rPr lang="zh-CN" altLang="en-US"/>
              <a:t>：</a:t>
            </a:r>
            <a:r>
              <a:rPr lang="en-US" altLang="zh-CN"/>
              <a:t>Source Port</a:t>
            </a:r>
          </a:p>
          <a:p>
            <a:r>
              <a:rPr lang="en-US" altLang="zh-CN"/>
              <a:t>DP</a:t>
            </a:r>
            <a:r>
              <a:rPr lang="zh-CN" altLang="en-US"/>
              <a:t>：</a:t>
            </a:r>
            <a:r>
              <a:rPr lang="en-US" altLang="zh-CN"/>
              <a:t>Destination Port</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3178602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9614168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开启</a:t>
            </a:r>
            <a:r>
              <a:rPr lang="en-US" altLang="zh-CN" dirty="0"/>
              <a:t>NAT</a:t>
            </a:r>
            <a:r>
              <a:rPr lang="zh-CN" altLang="en-US" dirty="0"/>
              <a:t>穿越时，</a:t>
            </a:r>
            <a:r>
              <a:rPr lang="en-US" altLang="zh-CN" dirty="0"/>
              <a:t>IKEv1</a:t>
            </a:r>
            <a:r>
              <a:rPr lang="zh-CN" altLang="en-US" dirty="0"/>
              <a:t>协商第一阶段的前两个消息会发送标识</a:t>
            </a:r>
            <a:r>
              <a:rPr lang="en-US" altLang="zh-CN" dirty="0"/>
              <a:t>NAT</a:t>
            </a:r>
            <a:r>
              <a:rPr lang="zh-CN" altLang="en-US" dirty="0"/>
              <a:t>穿越（</a:t>
            </a:r>
            <a:r>
              <a:rPr lang="en-US" altLang="zh-CN" dirty="0"/>
              <a:t>NAT Traversal</a:t>
            </a:r>
            <a:r>
              <a:rPr lang="zh-CN" altLang="en-US" dirty="0"/>
              <a:t>，简称</a:t>
            </a:r>
            <a:r>
              <a:rPr lang="en-US" altLang="zh-CN" dirty="0"/>
              <a:t>NAT-T</a:t>
            </a:r>
            <a:r>
              <a:rPr lang="zh-CN" altLang="en-US" dirty="0"/>
              <a:t>）能力的</a:t>
            </a:r>
            <a:r>
              <a:rPr lang="en-US" altLang="zh-CN" dirty="0"/>
              <a:t>Vendor ID</a:t>
            </a:r>
            <a:r>
              <a:rPr lang="zh-CN" altLang="en-US" dirty="0"/>
              <a:t>载荷（主模式和野蛮模式都是）。用于检查通信双方是否支持</a:t>
            </a:r>
            <a:r>
              <a:rPr lang="en-US" altLang="zh-CN" dirty="0"/>
              <a:t>NAT-T</a:t>
            </a:r>
            <a:r>
              <a:rPr lang="zh-CN" altLang="en-US" dirty="0"/>
              <a:t>，当双方都在各自的消息中包含了该载荷时，才会进行相关的</a:t>
            </a:r>
            <a:r>
              <a:rPr lang="en-US" altLang="zh-CN" dirty="0"/>
              <a:t>NAT-T</a:t>
            </a:r>
            <a:r>
              <a:rPr lang="zh-CN" altLang="en-US" dirty="0"/>
              <a:t>协商。</a:t>
            </a:r>
            <a:endParaRPr lang="en-US" altLang="zh-CN" dirty="0"/>
          </a:p>
          <a:p>
            <a:r>
              <a:rPr lang="zh-CN" altLang="en-US" dirty="0"/>
              <a:t>主模式消息</a:t>
            </a:r>
            <a:r>
              <a:rPr lang="en-US" altLang="zh-CN" dirty="0"/>
              <a:t>3</a:t>
            </a:r>
            <a:r>
              <a:rPr lang="zh-CN" altLang="en-US" dirty="0"/>
              <a:t>和消息</a:t>
            </a:r>
            <a:r>
              <a:rPr lang="en-US" altLang="zh-CN" dirty="0"/>
              <a:t>4</a:t>
            </a:r>
            <a:r>
              <a:rPr lang="zh-CN" altLang="en-US" dirty="0"/>
              <a:t>（野蛮模式消息</a:t>
            </a:r>
            <a:r>
              <a:rPr lang="en-US" altLang="zh-CN" dirty="0"/>
              <a:t>2</a:t>
            </a:r>
            <a:r>
              <a:rPr lang="zh-CN" altLang="en-US" dirty="0"/>
              <a:t>和消息</a:t>
            </a:r>
            <a:r>
              <a:rPr lang="en-US" altLang="zh-CN" dirty="0"/>
              <a:t>3</a:t>
            </a:r>
            <a:r>
              <a:rPr lang="zh-CN" altLang="en-US" dirty="0"/>
              <a:t>）中发送</a:t>
            </a:r>
            <a:r>
              <a:rPr lang="en-US" altLang="zh-CN" dirty="0"/>
              <a:t>NAT-D</a:t>
            </a:r>
            <a:r>
              <a:rPr lang="zh-CN" altLang="en-US" dirty="0"/>
              <a:t>（</a:t>
            </a:r>
            <a:r>
              <a:rPr lang="en-US" altLang="zh-CN" dirty="0"/>
              <a:t>NAT Discovery</a:t>
            </a:r>
            <a:r>
              <a:rPr lang="zh-CN" altLang="en-US" dirty="0"/>
              <a:t>）载荷。</a:t>
            </a:r>
            <a:r>
              <a:rPr lang="en-US" altLang="zh-CN" dirty="0"/>
              <a:t>NAT-D</a:t>
            </a:r>
            <a:r>
              <a:rPr lang="zh-CN" altLang="en-US" dirty="0"/>
              <a:t>载荷用于探测两个要建立</a:t>
            </a:r>
            <a:r>
              <a:rPr lang="en-US" altLang="zh-CN" dirty="0"/>
              <a:t>IPsec</a:t>
            </a:r>
            <a:r>
              <a:rPr lang="zh-CN" altLang="en-US" dirty="0"/>
              <a:t>隧道的网关之间是否存在</a:t>
            </a:r>
            <a:r>
              <a:rPr lang="en-US" altLang="zh-CN" dirty="0"/>
              <a:t>NAT</a:t>
            </a:r>
            <a:r>
              <a:rPr lang="zh-CN" altLang="en-US" dirty="0"/>
              <a:t>网关以及</a:t>
            </a:r>
            <a:r>
              <a:rPr lang="en-US" altLang="zh-CN" dirty="0"/>
              <a:t>NAT</a:t>
            </a:r>
            <a:r>
              <a:rPr lang="zh-CN" altLang="en-US" dirty="0"/>
              <a:t>网关的位置。通过协商双方向对端发送源和目的的</a:t>
            </a:r>
            <a:r>
              <a:rPr lang="en-US" altLang="zh-CN" dirty="0"/>
              <a:t>IP</a:t>
            </a:r>
            <a:r>
              <a:rPr lang="zh-CN" altLang="en-US" dirty="0"/>
              <a:t>地址与端口的</a:t>
            </a:r>
            <a:r>
              <a:rPr lang="en-US" altLang="zh-CN" dirty="0"/>
              <a:t>Hash</a:t>
            </a:r>
            <a:r>
              <a:rPr lang="zh-CN" altLang="en-US" dirty="0"/>
              <a:t>值，就可以检测到地址和端口在传输过程中是否发生变化。如果协商双方计算出来的</a:t>
            </a:r>
            <a:r>
              <a:rPr lang="en-US" altLang="zh-CN" dirty="0"/>
              <a:t>Hash</a:t>
            </a:r>
            <a:r>
              <a:rPr lang="zh-CN" altLang="en-US" dirty="0"/>
              <a:t>值与它收到的</a:t>
            </a:r>
            <a:r>
              <a:rPr lang="en-US" altLang="zh-CN" dirty="0"/>
              <a:t>Hash</a:t>
            </a:r>
            <a:r>
              <a:rPr lang="zh-CN" altLang="en-US" dirty="0"/>
              <a:t>值一样，则表示它们之间没有</a:t>
            </a:r>
            <a:r>
              <a:rPr lang="en-US" altLang="zh-CN" dirty="0"/>
              <a:t>NAT</a:t>
            </a:r>
            <a:r>
              <a:rPr lang="zh-CN" altLang="en-US" dirty="0"/>
              <a:t>。否则，说明传输过程中对</a:t>
            </a:r>
            <a:r>
              <a:rPr lang="en-US" altLang="zh-CN" dirty="0"/>
              <a:t>IP</a:t>
            </a:r>
            <a:r>
              <a:rPr lang="zh-CN" altLang="en-US" dirty="0"/>
              <a:t>或端口进行了</a:t>
            </a:r>
            <a:r>
              <a:rPr lang="en-US" altLang="zh-CN" dirty="0"/>
              <a:t>NAT</a:t>
            </a:r>
            <a:r>
              <a:rPr lang="zh-CN" altLang="en-US" dirty="0"/>
              <a:t>转换。</a:t>
            </a:r>
            <a:endParaRPr lang="en-US" altLang="zh-CN" dirty="0"/>
          </a:p>
          <a:p>
            <a:r>
              <a:rPr lang="zh-CN" altLang="en-US" dirty="0"/>
              <a:t>发现</a:t>
            </a:r>
            <a:r>
              <a:rPr lang="en-US" altLang="zh-CN" dirty="0"/>
              <a:t>NAT</a:t>
            </a:r>
            <a:r>
              <a:rPr lang="zh-CN" altLang="en-US" dirty="0"/>
              <a:t>网关后，后续</a:t>
            </a:r>
            <a:r>
              <a:rPr lang="en-US" altLang="zh-CN" dirty="0"/>
              <a:t>ISAKMP</a:t>
            </a:r>
            <a:r>
              <a:rPr lang="zh-CN" altLang="en-US" dirty="0"/>
              <a:t>消息（主模式从消息</a:t>
            </a:r>
            <a:r>
              <a:rPr lang="en-US" altLang="zh-CN" dirty="0"/>
              <a:t>5</a:t>
            </a:r>
            <a:r>
              <a:rPr lang="zh-CN" altLang="en-US" dirty="0"/>
              <a:t>、野蛮模式从消息</a:t>
            </a:r>
            <a:r>
              <a:rPr lang="en-US" altLang="zh-CN" dirty="0"/>
              <a:t>3</a:t>
            </a:r>
            <a:r>
              <a:rPr lang="zh-CN" altLang="en-US" dirty="0"/>
              <a:t>开始）的端口号转换为</a:t>
            </a:r>
            <a:r>
              <a:rPr lang="en-US" altLang="zh-CN" dirty="0"/>
              <a:t>4500</a:t>
            </a:r>
            <a:r>
              <a:rPr lang="zh-CN" altLang="en-US" dirty="0"/>
              <a:t>。</a:t>
            </a:r>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2460671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425503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392797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1949422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025719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a:sym typeface="+mn-lt"/>
              </a:rPr>
              <a:t>NAT Keepalive</a:t>
            </a:r>
            <a:r>
              <a:rPr lang="zh-CN" altLang="en-US">
                <a:sym typeface="+mn-lt"/>
              </a:rPr>
              <a:t>报文格式非常简单，在</a:t>
            </a:r>
            <a:r>
              <a:rPr lang="en-US" altLang="zh-CN">
                <a:sym typeface="+mn-lt"/>
              </a:rPr>
              <a:t>UDP</a:t>
            </a:r>
            <a:r>
              <a:rPr lang="zh-CN" altLang="en-US">
                <a:sym typeface="+mn-lt"/>
              </a:rPr>
              <a:t>头部之后为两个十六进制</a:t>
            </a:r>
            <a:r>
              <a:rPr lang="en-US" altLang="zh-CN">
                <a:sym typeface="+mn-lt"/>
              </a:rPr>
              <a:t>F</a:t>
            </a:r>
            <a:r>
              <a:rPr lang="zh-CN" altLang="en-US">
                <a:sym typeface="+mn-lt"/>
              </a:rPr>
              <a:t>，用于刷新</a:t>
            </a:r>
            <a:r>
              <a:rPr lang="en-US" altLang="zh-CN">
                <a:sym typeface="+mn-lt"/>
              </a:rPr>
              <a:t>NAT</a:t>
            </a:r>
            <a:r>
              <a:rPr lang="zh-CN" altLang="en-US">
                <a:sym typeface="+mn-lt"/>
              </a:rPr>
              <a:t>设备会话表项。</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7180366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253318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7406696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a:sym typeface="Huawei Sans" panose="020C0503030203020204" pitchFamily="34" charset="0"/>
              </a:rPr>
              <a:t>NAPT</a:t>
            </a:r>
            <a:r>
              <a:rPr lang="zh-CN" altLang="en-US">
                <a:sym typeface="Huawei Sans" panose="020C0503030203020204" pitchFamily="34" charset="0"/>
              </a:rPr>
              <a:t>借助端口可以实现一个公有地址同时对应多个私有地址。该模式同时对</a:t>
            </a:r>
            <a:r>
              <a:rPr lang="en-US" altLang="zh-CN">
                <a:sym typeface="Huawei Sans" panose="020C0503030203020204" pitchFamily="34" charset="0"/>
              </a:rPr>
              <a:t>IP</a:t>
            </a:r>
            <a:r>
              <a:rPr lang="zh-CN" altLang="en-US">
                <a:sym typeface="Huawei Sans" panose="020C0503030203020204" pitchFamily="34" charset="0"/>
              </a:rPr>
              <a:t>地址和传输层端口进行转换</a:t>
            </a:r>
            <a:r>
              <a:rPr lang="en-US" altLang="zh-CN">
                <a:sym typeface="Huawei Sans" panose="020C0503030203020204" pitchFamily="34" charset="0"/>
              </a:rPr>
              <a:t>,</a:t>
            </a:r>
            <a:r>
              <a:rPr lang="zh-CN" altLang="en-US">
                <a:sym typeface="Huawei Sans" panose="020C0503030203020204" pitchFamily="34" charset="0"/>
              </a:rPr>
              <a:t>实现不同私有</a:t>
            </a:r>
            <a:r>
              <a:rPr lang="en-US" altLang="zh-CN">
                <a:sym typeface="Huawei Sans" panose="020C0503030203020204" pitchFamily="34" charset="0"/>
              </a:rPr>
              <a:t>[</a:t>
            </a:r>
            <a:r>
              <a:rPr lang="zh-CN" altLang="en-US">
                <a:sym typeface="Huawei Sans" panose="020C0503030203020204" pitchFamily="34" charset="0"/>
              </a:rPr>
              <a:t>源</a:t>
            </a:r>
            <a:r>
              <a:rPr lang="en-US" altLang="zh-CN">
                <a:sym typeface="Huawei Sans" panose="020C0503030203020204" pitchFamily="34" charset="0"/>
              </a:rPr>
              <a:t>IP</a:t>
            </a:r>
            <a:r>
              <a:rPr lang="zh-CN" altLang="en-US">
                <a:sym typeface="Huawei Sans" panose="020C0503030203020204" pitchFamily="34" charset="0"/>
              </a:rPr>
              <a:t>、端口</a:t>
            </a:r>
            <a:r>
              <a:rPr lang="en-US" altLang="zh-CN">
                <a:sym typeface="Huawei Sans" panose="020C0503030203020204" pitchFamily="34" charset="0"/>
              </a:rPr>
              <a:t>]</a:t>
            </a:r>
            <a:r>
              <a:rPr lang="zh-CN" altLang="en-US">
                <a:sym typeface="Huawei Sans" panose="020C0503030203020204" pitchFamily="34" charset="0"/>
              </a:rPr>
              <a:t>映射到同一个</a:t>
            </a:r>
            <a:r>
              <a:rPr lang="en-US" altLang="zh-CN">
                <a:sym typeface="Huawei Sans" panose="020C0503030203020204" pitchFamily="34" charset="0"/>
              </a:rPr>
              <a:t>[</a:t>
            </a:r>
            <a:r>
              <a:rPr lang="zh-CN" altLang="en-US">
                <a:sym typeface="Huawei Sans" panose="020C0503030203020204" pitchFamily="34" charset="0"/>
              </a:rPr>
              <a:t>公有地址、不同源端口</a:t>
            </a:r>
            <a:r>
              <a:rPr lang="en-US" altLang="zh-CN">
                <a:sym typeface="Huawei Sans" panose="020C0503030203020204" pitchFamily="34" charset="0"/>
              </a:rPr>
              <a:t>]</a:t>
            </a:r>
            <a:r>
              <a:rPr lang="zh-CN" altLang="en-US">
                <a:sym typeface="Huawei Sans" panose="020C0503030203020204" pitchFamily="34" charset="0"/>
              </a:rPr>
              <a:t>上。</a:t>
            </a:r>
            <a:endParaRPr lang="en-US" altLang="zh-CN">
              <a:sym typeface="Huawei Sans" panose="020C0503030203020204" pitchFamily="34" charset="0"/>
            </a:endParaRPr>
          </a:p>
          <a:p>
            <a:pPr lvl="0"/>
            <a:r>
              <a:rPr lang="zh-CN" altLang="en-US">
                <a:sym typeface="Huawei Sans" panose="020C0503030203020204" pitchFamily="34" charset="0"/>
              </a:rPr>
              <a:t>由于</a:t>
            </a:r>
            <a:r>
              <a:rPr lang="en-US" altLang="zh-CN">
                <a:sym typeface="Huawei Sans" panose="020C0503030203020204" pitchFamily="34" charset="0"/>
              </a:rPr>
              <a:t>TCP/UDP</a:t>
            </a:r>
            <a:r>
              <a:rPr lang="zh-CN" altLang="en-US">
                <a:sym typeface="Huawei Sans" panose="020C0503030203020204" pitchFamily="34" charset="0"/>
              </a:rPr>
              <a:t>的端口数量有限（</a:t>
            </a:r>
            <a:r>
              <a:rPr lang="en-US" altLang="zh-CN">
                <a:sym typeface="Huawei Sans" panose="020C0503030203020204" pitchFamily="34" charset="0"/>
              </a:rPr>
              <a:t>0~65535</a:t>
            </a:r>
            <a:r>
              <a:rPr lang="zh-CN" altLang="en-US">
                <a:sym typeface="Huawei Sans" panose="020C0503030203020204" pitchFamily="34" charset="0"/>
              </a:rPr>
              <a:t>），一个地址能够映射的私网会话有限，基于</a:t>
            </a:r>
            <a:r>
              <a:rPr lang="en-US" altLang="zh-CN">
                <a:sym typeface="Huawei Sans" panose="020C0503030203020204" pitchFamily="34" charset="0"/>
              </a:rPr>
              <a:t>NAT</a:t>
            </a:r>
            <a:r>
              <a:rPr lang="zh-CN" altLang="en-US">
                <a:sym typeface="Huawei Sans" panose="020C0503030203020204" pitchFamily="34" charset="0"/>
              </a:rPr>
              <a:t>地址池，</a:t>
            </a:r>
            <a:r>
              <a:rPr lang="en-US" altLang="zh-CN">
                <a:sym typeface="Huawei Sans" panose="020C0503030203020204" pitchFamily="34" charset="0"/>
              </a:rPr>
              <a:t>NAPT</a:t>
            </a:r>
            <a:r>
              <a:rPr lang="zh-CN" altLang="en-US">
                <a:sym typeface="Huawei Sans" panose="020C0503030203020204" pitchFamily="34" charset="0"/>
              </a:rPr>
              <a:t>可以将私网会话随机映射到地址池中的一个地址，缓解私网会话过多的问题。</a:t>
            </a:r>
            <a:endParaRPr lang="en-US" altLang="zh-CN">
              <a:sym typeface="Huawei Sans" panose="020C0503030203020204" pitchFamily="34" charset="0"/>
            </a:endParaRPr>
          </a:p>
          <a:p>
            <a:pPr lvl="0"/>
            <a:r>
              <a:rPr lang="en-US" altLang="zh-CN">
                <a:sym typeface="Huawei Sans" panose="020C0503030203020204" pitchFamily="34" charset="0"/>
              </a:rPr>
              <a:t>NAT</a:t>
            </a:r>
            <a:r>
              <a:rPr lang="zh-CN" altLang="en-US">
                <a:sym typeface="Huawei Sans" panose="020C0503030203020204" pitchFamily="34" charset="0"/>
              </a:rPr>
              <a:t>映射条目由首包触发，当一段时间没有流量时，为了安全考虑</a:t>
            </a:r>
            <a:r>
              <a:rPr lang="en-US" altLang="zh-CN">
                <a:sym typeface="Huawei Sans" panose="020C0503030203020204" pitchFamily="34" charset="0"/>
              </a:rPr>
              <a:t>NAT</a:t>
            </a:r>
            <a:r>
              <a:rPr lang="zh-CN" altLang="en-US">
                <a:sym typeface="Huawei Sans" panose="020C0503030203020204" pitchFamily="34" charset="0"/>
              </a:rPr>
              <a:t>映射条目自动删除。</a:t>
            </a:r>
            <a:endParaRPr lang="en-US" altLang="zh-CN">
              <a:sym typeface="Huawei Sans" panose="020C0503030203020204" pitchFamily="34" charset="0"/>
            </a:endParaRPr>
          </a:p>
          <a:p>
            <a:pPr lvl="0"/>
            <a:r>
              <a:rPr lang="zh-CN" altLang="en-US">
                <a:sym typeface="Huawei Sans" panose="020C0503030203020204" pitchFamily="34" charset="0"/>
              </a:rPr>
              <a:t>由于</a:t>
            </a:r>
            <a:r>
              <a:rPr lang="en-US" altLang="zh-CN">
                <a:sym typeface="Huawei Sans" panose="020C0503030203020204" pitchFamily="34" charset="0"/>
              </a:rPr>
              <a:t>NAPT/Easy-IP</a:t>
            </a:r>
            <a:r>
              <a:rPr lang="zh-CN" altLang="en-US">
                <a:sym typeface="Huawei Sans" panose="020C0503030203020204" pitchFamily="34" charset="0"/>
              </a:rPr>
              <a:t>只改变数据包源地址和端口，所以也被称为源</a:t>
            </a:r>
            <a:r>
              <a:rPr lang="en-US" altLang="zh-CN">
                <a:sym typeface="Huawei Sans" panose="020C0503030203020204" pitchFamily="34" charset="0"/>
              </a:rPr>
              <a:t>NAT</a:t>
            </a:r>
            <a:r>
              <a:rPr lang="zh-CN" altLang="en-US">
                <a:sym typeface="Huawei Sans" panose="020C0503030203020204" pitchFamily="34" charset="0"/>
              </a:rPr>
              <a:t>。</a:t>
            </a:r>
            <a:endParaRPr lang="en-US" altLang="zh-CN">
              <a:sym typeface="Huawei Sans" panose="020C0503030203020204" pitchFamily="34" charset="0"/>
            </a:endParaRPr>
          </a:p>
          <a:p>
            <a:endParaRPr lang="zh-CN" altLang="en-US" dirty="0"/>
          </a:p>
        </p:txBody>
      </p:sp>
      <p:sp>
        <p:nvSpPr>
          <p:cNvPr id="6" name="Slide Image Placeholder 5"/>
          <p:cNvSpPr>
            <a:spLocks noGrp="1" noRot="1" noChangeAspect="1"/>
          </p:cNvSpPr>
          <p:nvPr>
            <p:ph type="sldImg"/>
          </p:nvPr>
        </p:nvSpPr>
        <p:spPr/>
      </p:sp>
    </p:spTree>
    <p:extLst>
      <p:ext uri="{BB962C8B-B14F-4D97-AF65-F5344CB8AC3E}">
        <p14:creationId xmlns:p14="http://schemas.microsoft.com/office/powerpoint/2010/main" val="171890141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Image Placeholder 4"/>
          <p:cNvSpPr>
            <a:spLocks noGrp="1" noRot="1" noChangeAspect="1"/>
          </p:cNvSpPr>
          <p:nvPr>
            <p:ph type="sldImg"/>
          </p:nvPr>
        </p:nvSpPr>
        <p:spPr/>
      </p:sp>
      <p:sp>
        <p:nvSpPr>
          <p:cNvPr id="6" name="Notes Placeholder 5"/>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8027301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8535077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a:t>NAT</a:t>
            </a:r>
            <a:r>
              <a:rPr lang="zh-CN" altLang="en-US"/>
              <a:t>有</a:t>
            </a:r>
            <a:r>
              <a:rPr lang="en-US" altLang="zh-CN"/>
              <a:t>4</a:t>
            </a:r>
            <a:r>
              <a:rPr lang="zh-CN" altLang="en-US"/>
              <a:t>种不同的类型：</a:t>
            </a:r>
            <a:endParaRPr lang="en-US" altLang="zh-CN"/>
          </a:p>
          <a:p>
            <a:pPr lvl="1"/>
            <a:r>
              <a:rPr lang="en-US" altLang="zh-CN"/>
              <a:t>Full Cone NAT</a:t>
            </a:r>
          </a:p>
          <a:p>
            <a:pPr lvl="1"/>
            <a:r>
              <a:rPr lang="en-US" altLang="zh-CN"/>
              <a:t>Restricted Cone NAT</a:t>
            </a:r>
          </a:p>
          <a:p>
            <a:pPr lvl="1"/>
            <a:r>
              <a:rPr lang="en-US" altLang="zh-CN"/>
              <a:t>Port Restricted Cone NAT</a:t>
            </a:r>
          </a:p>
          <a:p>
            <a:pPr lvl="1"/>
            <a:r>
              <a:rPr lang="en-US" altLang="zh-CN"/>
              <a:t>Symmetric NAT</a:t>
            </a:r>
            <a:endParaRPr lang="zh-CN" alt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99932112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8100814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zh-CN" altLang="en-US">
                <a:sym typeface="Huawei Sans" panose="020C0503030203020204" pitchFamily="34" charset="0"/>
              </a:rPr>
              <a:t>由于</a:t>
            </a:r>
            <a:r>
              <a:rPr lang="en-US" altLang="zh-CN">
                <a:sym typeface="Huawei Sans" panose="020C0503030203020204" pitchFamily="34" charset="0"/>
              </a:rPr>
              <a:t>NAPT/Easy-IP</a:t>
            </a:r>
            <a:r>
              <a:rPr lang="zh-CN" altLang="en-US">
                <a:sym typeface="Huawei Sans" panose="020C0503030203020204" pitchFamily="34" charset="0"/>
              </a:rPr>
              <a:t>只改变数据包源地址和端口，所以也被称为源</a:t>
            </a:r>
            <a:r>
              <a:rPr lang="en-US" altLang="zh-CN">
                <a:sym typeface="Huawei Sans" panose="020C0503030203020204" pitchFamily="34" charset="0"/>
              </a:rPr>
              <a:t>NAT</a:t>
            </a:r>
            <a:r>
              <a:rPr lang="zh-CN" altLang="en-US">
                <a:sym typeface="Huawei Sans" panose="020C0503030203020204" pitchFamily="34" charset="0"/>
              </a:rPr>
              <a:t>。</a:t>
            </a:r>
            <a:endParaRPr lang="en-US" altLang="zh-CN" dirty="0">
              <a:sym typeface="Huawei Sans" panose="020C0503030203020204" pitchFamily="34" charset="0"/>
            </a:endParaRP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33229241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8441725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2875138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9140907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72181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9763623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5287768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1950814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086896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0352903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144813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40222248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a:t>STUN</a:t>
            </a:r>
            <a:r>
              <a:rPr lang="zh-CN" altLang="en-US"/>
              <a:t>，在</a:t>
            </a:r>
            <a:r>
              <a:rPr lang="en-US" altLang="zh-CN"/>
              <a:t>RFC3489</a:t>
            </a:r>
            <a:r>
              <a:rPr lang="zh-CN" altLang="en-US"/>
              <a:t>中定义，作为一个完整的</a:t>
            </a:r>
            <a:r>
              <a:rPr lang="en-US" altLang="zh-CN"/>
              <a:t>NAT</a:t>
            </a:r>
            <a:r>
              <a:rPr lang="zh-CN" altLang="en-US"/>
              <a:t>穿透解决方案，英文全称是</a:t>
            </a:r>
            <a:r>
              <a:rPr lang="en-US" altLang="zh-CN"/>
              <a:t>Simple Traversal of UDP Through NATs</a:t>
            </a:r>
            <a:r>
              <a:rPr lang="zh-CN" altLang="en-US"/>
              <a:t>，即简单的用</a:t>
            </a:r>
            <a:r>
              <a:rPr lang="en-US" altLang="zh-CN"/>
              <a:t>UDP</a:t>
            </a:r>
            <a:r>
              <a:rPr lang="zh-CN" altLang="en-US"/>
              <a:t>穿透</a:t>
            </a:r>
            <a:r>
              <a:rPr lang="en-US" altLang="zh-CN"/>
              <a:t>NAT</a:t>
            </a:r>
            <a:r>
              <a:rPr lang="zh-CN" altLang="en-US"/>
              <a:t>。</a:t>
            </a:r>
          </a:p>
          <a:p>
            <a:r>
              <a:rPr lang="zh-CN" altLang="en-US"/>
              <a:t>在新的</a:t>
            </a:r>
            <a:r>
              <a:rPr lang="en-US" altLang="zh-CN"/>
              <a:t>RFC5389</a:t>
            </a:r>
            <a:r>
              <a:rPr lang="zh-CN" altLang="en-US"/>
              <a:t>修订中把</a:t>
            </a:r>
            <a:r>
              <a:rPr lang="en-US" altLang="zh-CN"/>
              <a:t>STUN</a:t>
            </a:r>
            <a:r>
              <a:rPr lang="zh-CN" altLang="en-US"/>
              <a:t>协议定位于为穿透</a:t>
            </a:r>
            <a:r>
              <a:rPr lang="en-US" altLang="zh-CN"/>
              <a:t>NAT</a:t>
            </a:r>
            <a:r>
              <a:rPr lang="zh-CN" altLang="en-US"/>
              <a:t>提供工具，而不是一个完整的解决方案，英文全称是</a:t>
            </a:r>
            <a:r>
              <a:rPr lang="en-US" altLang="zh-CN"/>
              <a:t>Session Traversal Utilities for NAT</a:t>
            </a:r>
            <a:r>
              <a:rPr lang="zh-CN" altLang="en-US"/>
              <a:t>，即</a:t>
            </a:r>
            <a:r>
              <a:rPr lang="en-US" altLang="zh-CN"/>
              <a:t>NAT</a:t>
            </a:r>
            <a:r>
              <a:rPr lang="zh-CN" altLang="en-US"/>
              <a:t>会话穿透效用。</a:t>
            </a:r>
            <a:r>
              <a:rPr lang="en-US" altLang="zh-CN"/>
              <a:t>RFC5389</a:t>
            </a:r>
            <a:r>
              <a:rPr lang="zh-CN" altLang="en-US"/>
              <a:t>与</a:t>
            </a:r>
            <a:r>
              <a:rPr lang="en-US" altLang="zh-CN"/>
              <a:t>RFC3489</a:t>
            </a:r>
            <a:r>
              <a:rPr lang="zh-CN" altLang="en-US"/>
              <a:t>除了名称变化外，最大的区别是支持</a:t>
            </a:r>
            <a:r>
              <a:rPr lang="en-US" altLang="zh-CN"/>
              <a:t>TCP</a:t>
            </a:r>
            <a:r>
              <a:rPr lang="zh-CN" altLang="en-US"/>
              <a:t>穿透。</a:t>
            </a:r>
            <a:endParaRPr lang="zh-CN" alt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348260287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p:cNvSpPr>
            <a:spLocks noGrp="1" noRot="1" noChangeAspect="1"/>
          </p:cNvSpPr>
          <p:nvPr>
            <p:ph type="sldImg"/>
          </p:nvPr>
        </p:nvSpPr>
        <p:spPr/>
      </p:sp>
      <p:sp>
        <p:nvSpPr>
          <p:cNvPr id="5" name="Notes Placeholder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3960963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STUN</a:t>
            </a:r>
            <a:r>
              <a:rPr lang="zh-CN" altLang="en-US" dirty="0"/>
              <a:t>客户端向</a:t>
            </a:r>
            <a:r>
              <a:rPr lang="en-US" altLang="zh-CN" dirty="0"/>
              <a:t>STUN</a:t>
            </a:r>
            <a:r>
              <a:rPr lang="zh-CN" altLang="en-US" dirty="0"/>
              <a:t>服务器发送</a:t>
            </a:r>
            <a:r>
              <a:rPr lang="en-US" altLang="zh-CN" dirty="0"/>
              <a:t>STUN</a:t>
            </a:r>
            <a:r>
              <a:rPr lang="zh-CN" altLang="en-US" dirty="0"/>
              <a:t>绑定请求报文（</a:t>
            </a:r>
            <a:r>
              <a:rPr lang="en-US" altLang="zh-CN" dirty="0"/>
              <a:t>Binding Request</a:t>
            </a:r>
            <a:r>
              <a:rPr lang="zh-CN" altLang="en-US" dirty="0"/>
              <a:t>）。</a:t>
            </a:r>
          </a:p>
          <a:p>
            <a:r>
              <a:rPr lang="en-US" altLang="zh-CN" dirty="0"/>
              <a:t>STUN</a:t>
            </a:r>
            <a:r>
              <a:rPr lang="zh-CN" altLang="en-US" dirty="0"/>
              <a:t>服务器收到</a:t>
            </a:r>
            <a:r>
              <a:rPr lang="en-US" altLang="zh-CN" dirty="0"/>
              <a:t>STUN</a:t>
            </a:r>
            <a:r>
              <a:rPr lang="zh-CN" altLang="en-US" dirty="0"/>
              <a:t>绑定请求报文后，获取该报文中的源</a:t>
            </a:r>
            <a:r>
              <a:rPr lang="en-US" altLang="zh-CN" dirty="0"/>
              <a:t>IP</a:t>
            </a:r>
            <a:r>
              <a:rPr lang="zh-CN" altLang="en-US" dirty="0"/>
              <a:t>地址和源端口；并构建</a:t>
            </a:r>
            <a:r>
              <a:rPr lang="en-US" altLang="zh-CN" dirty="0"/>
              <a:t>STUN</a:t>
            </a:r>
            <a:r>
              <a:rPr lang="zh-CN" altLang="en-US" dirty="0"/>
              <a:t>绑定响应报文（</a:t>
            </a:r>
            <a:r>
              <a:rPr lang="en-US" altLang="zh-CN" dirty="0"/>
              <a:t>Binding Response</a:t>
            </a:r>
            <a:r>
              <a:rPr lang="zh-CN" altLang="en-US" dirty="0"/>
              <a:t>）发送给客户端。</a:t>
            </a:r>
          </a:p>
          <a:p>
            <a:r>
              <a:rPr lang="en-US" altLang="zh-CN" dirty="0"/>
              <a:t>STUN</a:t>
            </a:r>
            <a:r>
              <a:rPr lang="zh-CN" altLang="en-US" dirty="0"/>
              <a:t>客户端收到</a:t>
            </a:r>
            <a:r>
              <a:rPr lang="en-US" altLang="zh-CN" dirty="0"/>
              <a:t>STUN</a:t>
            </a:r>
            <a:r>
              <a:rPr lang="zh-CN" altLang="en-US" dirty="0"/>
              <a:t>绑定响应报文后，根据该报文获取</a:t>
            </a:r>
            <a:r>
              <a:rPr lang="en-US" altLang="zh-CN" dirty="0"/>
              <a:t>IP</a:t>
            </a:r>
            <a:r>
              <a:rPr lang="zh-CN" altLang="en-US" dirty="0"/>
              <a:t>地址和端口，与之前发送的</a:t>
            </a:r>
            <a:r>
              <a:rPr lang="en-US" altLang="zh-CN" dirty="0"/>
              <a:t>STUN</a:t>
            </a:r>
            <a:r>
              <a:rPr lang="zh-CN" altLang="en-US" dirty="0"/>
              <a:t>绑定请求报文中的源</a:t>
            </a:r>
            <a:r>
              <a:rPr lang="en-US" altLang="zh-CN" dirty="0"/>
              <a:t>IP</a:t>
            </a:r>
            <a:r>
              <a:rPr lang="zh-CN" altLang="en-US" dirty="0"/>
              <a:t>地址和源端口比较，如果不一致，则</a:t>
            </a:r>
            <a:r>
              <a:rPr lang="en-US" altLang="zh-CN" dirty="0"/>
              <a:t>STUN</a:t>
            </a:r>
            <a:r>
              <a:rPr lang="zh-CN" altLang="en-US" dirty="0"/>
              <a:t>客户端前面存在</a:t>
            </a:r>
            <a:r>
              <a:rPr lang="en-US" altLang="zh-CN" dirty="0"/>
              <a:t>NAT</a:t>
            </a:r>
            <a:r>
              <a:rPr lang="zh-CN" altLang="en-US" dirty="0"/>
              <a:t>设备。</a:t>
            </a:r>
          </a:p>
          <a:p>
            <a:r>
              <a:rPr lang="en-US" altLang="zh-CN" dirty="0"/>
              <a:t>STUN</a:t>
            </a:r>
            <a:r>
              <a:rPr lang="zh-CN" altLang="en-US" dirty="0"/>
              <a:t>客户端之间通过</a:t>
            </a:r>
            <a:r>
              <a:rPr lang="en-US" altLang="zh-CN" dirty="0"/>
              <a:t>BGP</a:t>
            </a:r>
            <a:r>
              <a:rPr lang="zh-CN" altLang="en-US" dirty="0"/>
              <a:t>学习对端的</a:t>
            </a:r>
            <a:r>
              <a:rPr lang="en-US" altLang="zh-CN" dirty="0"/>
              <a:t>NAT</a:t>
            </a:r>
            <a:r>
              <a:rPr lang="zh-CN" altLang="en-US" dirty="0"/>
              <a:t>信息（</a:t>
            </a:r>
            <a:r>
              <a:rPr lang="en-US" altLang="zh-CN" dirty="0"/>
              <a:t>NAT</a:t>
            </a:r>
            <a:r>
              <a:rPr lang="zh-CN" altLang="en-US" dirty="0"/>
              <a:t>前的</a:t>
            </a:r>
            <a:r>
              <a:rPr lang="en-US" altLang="zh-CN" dirty="0"/>
              <a:t>IP</a:t>
            </a:r>
            <a:r>
              <a:rPr lang="zh-CN" altLang="en-US" dirty="0"/>
              <a:t>地址和端口、</a:t>
            </a:r>
            <a:r>
              <a:rPr lang="en-US" altLang="zh-CN" dirty="0"/>
              <a:t>NAT</a:t>
            </a:r>
            <a:r>
              <a:rPr lang="zh-CN" altLang="en-US" dirty="0"/>
              <a:t>后的</a:t>
            </a:r>
            <a:r>
              <a:rPr lang="en-US" altLang="zh-CN" dirty="0"/>
              <a:t>IP</a:t>
            </a:r>
            <a:r>
              <a:rPr lang="zh-CN" altLang="en-US" dirty="0"/>
              <a:t>地址和端口）。</a:t>
            </a:r>
          </a:p>
          <a:p>
            <a:r>
              <a:rPr lang="en-US" altLang="zh-CN" dirty="0"/>
              <a:t>STUN</a:t>
            </a:r>
            <a:r>
              <a:rPr lang="zh-CN" altLang="en-US" dirty="0"/>
              <a:t>客户端使用本端</a:t>
            </a:r>
            <a:r>
              <a:rPr lang="en-US" altLang="zh-CN" dirty="0"/>
              <a:t>NAT</a:t>
            </a:r>
            <a:r>
              <a:rPr lang="zh-CN" altLang="en-US" dirty="0"/>
              <a:t>前的</a:t>
            </a:r>
            <a:r>
              <a:rPr lang="en-US" altLang="zh-CN" dirty="0"/>
              <a:t>IP</a:t>
            </a:r>
            <a:r>
              <a:rPr lang="zh-CN" altLang="en-US" dirty="0"/>
              <a:t>地址和端口与对端</a:t>
            </a:r>
            <a:r>
              <a:rPr lang="en-US" altLang="zh-CN" dirty="0"/>
              <a:t>NAT</a:t>
            </a:r>
            <a:r>
              <a:rPr lang="zh-CN" altLang="en-US" dirty="0"/>
              <a:t>前的</a:t>
            </a:r>
            <a:r>
              <a:rPr lang="en-US" altLang="zh-CN" dirty="0"/>
              <a:t>IP</a:t>
            </a:r>
            <a:r>
              <a:rPr lang="zh-CN" altLang="en-US" dirty="0"/>
              <a:t>地址和端口，构建</a:t>
            </a:r>
            <a:r>
              <a:rPr lang="en-US" altLang="zh-CN" dirty="0"/>
              <a:t>STUN</a:t>
            </a:r>
            <a:r>
              <a:rPr lang="zh-CN" altLang="en-US" dirty="0"/>
              <a:t>绑定请求报文发送给对端；同时</a:t>
            </a:r>
            <a:r>
              <a:rPr lang="en-US" altLang="zh-CN" dirty="0"/>
              <a:t>STUN</a:t>
            </a:r>
            <a:r>
              <a:rPr lang="zh-CN" altLang="en-US" dirty="0"/>
              <a:t>客户端使用本端</a:t>
            </a:r>
            <a:r>
              <a:rPr lang="en-US" altLang="zh-CN" dirty="0"/>
              <a:t>NAT</a:t>
            </a:r>
            <a:r>
              <a:rPr lang="zh-CN" altLang="en-US" dirty="0"/>
              <a:t>前的</a:t>
            </a:r>
            <a:r>
              <a:rPr lang="en-US" altLang="zh-CN" dirty="0"/>
              <a:t>IP</a:t>
            </a:r>
            <a:r>
              <a:rPr lang="zh-CN" altLang="en-US" dirty="0"/>
              <a:t>地址和端口与对端</a:t>
            </a:r>
            <a:r>
              <a:rPr lang="en-US" altLang="zh-CN" dirty="0"/>
              <a:t>NAT</a:t>
            </a:r>
            <a:r>
              <a:rPr lang="zh-CN" altLang="en-US" dirty="0"/>
              <a:t>后的</a:t>
            </a:r>
            <a:r>
              <a:rPr lang="en-US" altLang="zh-CN" dirty="0"/>
              <a:t>IP</a:t>
            </a:r>
            <a:r>
              <a:rPr lang="zh-CN" altLang="en-US" dirty="0"/>
              <a:t>地址和端口，构建</a:t>
            </a:r>
            <a:r>
              <a:rPr lang="en-US" altLang="zh-CN" dirty="0"/>
              <a:t>STUN</a:t>
            </a:r>
            <a:r>
              <a:rPr lang="zh-CN" altLang="en-US" dirty="0"/>
              <a:t>绑定请求报文发送给对端。对端</a:t>
            </a:r>
            <a:r>
              <a:rPr lang="en-US" altLang="zh-CN" dirty="0"/>
              <a:t>STUN</a:t>
            </a:r>
            <a:r>
              <a:rPr lang="zh-CN" altLang="en-US" dirty="0"/>
              <a:t>客户端也同样进行相应的操作。</a:t>
            </a:r>
          </a:p>
          <a:p>
            <a:r>
              <a:rPr lang="zh-CN" altLang="en-US" dirty="0"/>
              <a:t>对端</a:t>
            </a:r>
            <a:r>
              <a:rPr lang="en-US" altLang="zh-CN" dirty="0"/>
              <a:t>STUN</a:t>
            </a:r>
            <a:r>
              <a:rPr lang="zh-CN" altLang="en-US" dirty="0"/>
              <a:t>客户端收到</a:t>
            </a:r>
            <a:r>
              <a:rPr lang="en-US" altLang="zh-CN" dirty="0"/>
              <a:t>STUN</a:t>
            </a:r>
            <a:r>
              <a:rPr lang="zh-CN" altLang="en-US" dirty="0"/>
              <a:t>绑定请求报文后，向本端</a:t>
            </a:r>
            <a:r>
              <a:rPr lang="en-US" altLang="zh-CN" dirty="0"/>
              <a:t>STUN</a:t>
            </a:r>
            <a:r>
              <a:rPr lang="zh-CN" altLang="en-US" dirty="0"/>
              <a:t>客户端发送</a:t>
            </a:r>
            <a:r>
              <a:rPr lang="en-US" altLang="zh-CN" dirty="0"/>
              <a:t>STUN</a:t>
            </a:r>
            <a:r>
              <a:rPr lang="zh-CN" altLang="en-US" dirty="0"/>
              <a:t>绑定响应报文。本端</a:t>
            </a:r>
            <a:r>
              <a:rPr lang="en-US" altLang="zh-CN" dirty="0"/>
              <a:t>STUN</a:t>
            </a:r>
            <a:r>
              <a:rPr lang="zh-CN" altLang="en-US" dirty="0"/>
              <a:t>客户端也同样进行相应的操作。</a:t>
            </a:r>
          </a:p>
          <a:p>
            <a:r>
              <a:rPr lang="zh-CN" altLang="en-US" dirty="0"/>
              <a:t>完成以上报文交互后，</a:t>
            </a:r>
            <a:r>
              <a:rPr lang="en-US" altLang="zh-CN" dirty="0"/>
              <a:t>STUN</a:t>
            </a:r>
            <a:r>
              <a:rPr lang="zh-CN" altLang="en-US" dirty="0"/>
              <a:t>客户端之间成功建立可</a:t>
            </a:r>
            <a:r>
              <a:rPr lang="en-US" altLang="zh-CN" dirty="0"/>
              <a:t>NAT</a:t>
            </a:r>
            <a:r>
              <a:rPr lang="zh-CN" altLang="en-US" dirty="0"/>
              <a:t>穿越的数据通道。</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81866214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51638363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4904857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2895868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a:t>SAC</a:t>
            </a:r>
            <a:r>
              <a:rPr lang="zh-CN" altLang="en-US"/>
              <a:t>特征库文件只能以升级的方式进行更新，不可以手动修改。</a:t>
            </a:r>
            <a:endParaRPr lang="en-US" altLang="zh-CN"/>
          </a:p>
          <a:p>
            <a:r>
              <a:rPr lang="en-US" altLang="zh-CN"/>
              <a:t>SAC</a:t>
            </a:r>
            <a:r>
              <a:rPr lang="zh-CN" altLang="en-US"/>
              <a:t>特征库的升级方式有：</a:t>
            </a:r>
            <a:endParaRPr lang="en-US" altLang="zh-CN"/>
          </a:p>
          <a:p>
            <a:pPr lvl="1"/>
            <a:r>
              <a:rPr lang="zh-CN" altLang="en-US"/>
              <a:t>在线升级：可通过安全中心平台或者内网升级服务器升级</a:t>
            </a:r>
            <a:r>
              <a:rPr lang="en-US" altLang="zh-CN"/>
              <a:t>SAC</a:t>
            </a:r>
            <a:r>
              <a:rPr lang="zh-CN" altLang="en-US"/>
              <a:t>特征库</a:t>
            </a:r>
            <a:endParaRPr lang="en-US" altLang="zh-CN"/>
          </a:p>
          <a:p>
            <a:pPr lvl="1"/>
            <a:r>
              <a:rPr lang="zh-CN" altLang="en-US"/>
              <a:t>本地升级：通过安全中心平台下载升级包，通过</a:t>
            </a:r>
            <a:r>
              <a:rPr lang="en-US" altLang="zh-CN"/>
              <a:t>FTP</a:t>
            </a:r>
            <a:r>
              <a:rPr lang="zh-CN" altLang="en-US"/>
              <a:t>上传到设备本地，并进行升级。</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922573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zh-CN" altLang="en-US"/>
              <a:t>一条流量的报文进入设备之后，设备首先根据报文中携带的五元组信息，判断该报文是否已经识别过应用。如果识别过，则不需要重复识别，直接将报文送入三层转发；如果没有识别过，则送入</a:t>
            </a:r>
            <a:r>
              <a:rPr lang="en-US" altLang="zh-CN"/>
              <a:t>SAC</a:t>
            </a:r>
            <a:r>
              <a:rPr lang="zh-CN" altLang="en-US"/>
              <a:t>进行应用识别。</a:t>
            </a:r>
            <a:r>
              <a:rPr lang="en-US" altLang="zh-CN"/>
              <a:t>SAC</a:t>
            </a:r>
            <a:r>
              <a:rPr lang="zh-CN" altLang="en-US"/>
              <a:t>识别结束后，报文根据</a:t>
            </a:r>
            <a:r>
              <a:rPr lang="en-US" altLang="zh-CN"/>
              <a:t>SAC</a:t>
            </a:r>
            <a:r>
              <a:rPr lang="zh-CN" altLang="en-US"/>
              <a:t>的识别结果进行业务处理，处理结束后送入三层转发。其中，</a:t>
            </a:r>
            <a:r>
              <a:rPr lang="en-US" altLang="zh-CN"/>
              <a:t>SAC</a:t>
            </a:r>
            <a:r>
              <a:rPr lang="zh-CN" altLang="en-US"/>
              <a:t>的识别流程为：先根据</a:t>
            </a:r>
            <a:r>
              <a:rPr lang="en-US" altLang="zh-CN"/>
              <a:t>FPI</a:t>
            </a:r>
            <a:r>
              <a:rPr lang="zh-CN" altLang="en-US"/>
              <a:t>中的</a:t>
            </a:r>
            <a:r>
              <a:rPr lang="en-US" altLang="zh-CN"/>
              <a:t>ACL</a:t>
            </a:r>
            <a:r>
              <a:rPr lang="zh-CN" altLang="en-US"/>
              <a:t>规则来识别应用，如果识别失败，再根据</a:t>
            </a:r>
            <a:r>
              <a:rPr lang="en-US" altLang="zh-CN"/>
              <a:t>FPI</a:t>
            </a:r>
            <a:r>
              <a:rPr lang="zh-CN" altLang="en-US"/>
              <a:t>中的</a:t>
            </a:r>
            <a:r>
              <a:rPr lang="en-US" altLang="zh-CN"/>
              <a:t>DNS</a:t>
            </a:r>
            <a:r>
              <a:rPr lang="zh-CN" altLang="en-US"/>
              <a:t>关联表来识别应用，如果识别失败，再根据</a:t>
            </a:r>
            <a:r>
              <a:rPr lang="en-US" altLang="zh-CN"/>
              <a:t>FPI</a:t>
            </a:r>
            <a:r>
              <a:rPr lang="zh-CN" altLang="en-US"/>
              <a:t>中的协议端口表来识别应用，如果三者都没有识别出应用，再送入</a:t>
            </a:r>
            <a:r>
              <a:rPr lang="en-US" altLang="zh-CN"/>
              <a:t>SA</a:t>
            </a:r>
            <a:r>
              <a:rPr lang="zh-CN" altLang="en-US"/>
              <a:t>继续识别。</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13962587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79911057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ltLang="zh-CN" dirty="0"/>
              <a:t>FPI</a:t>
            </a:r>
            <a:r>
              <a:rPr lang="zh-CN" altLang="en-US" dirty="0"/>
              <a:t>应用分为：</a:t>
            </a:r>
          </a:p>
          <a:p>
            <a:pPr lvl="1"/>
            <a:r>
              <a:rPr lang="zh-CN" altLang="en-US" dirty="0"/>
              <a:t>基于协议</a:t>
            </a:r>
            <a:r>
              <a:rPr lang="en-US" altLang="zh-CN" dirty="0"/>
              <a:t>+</a:t>
            </a:r>
            <a:r>
              <a:rPr lang="zh-CN" altLang="en-US" dirty="0"/>
              <a:t>端口的预定义</a:t>
            </a:r>
            <a:r>
              <a:rPr lang="en-US" altLang="zh-CN" dirty="0"/>
              <a:t>FPI</a:t>
            </a:r>
            <a:r>
              <a:rPr lang="zh-CN" altLang="en-US" dirty="0"/>
              <a:t>应用和自定义</a:t>
            </a:r>
            <a:r>
              <a:rPr lang="en-US" altLang="zh-CN" dirty="0"/>
              <a:t>FPI</a:t>
            </a:r>
            <a:r>
              <a:rPr lang="zh-CN" altLang="en-US" dirty="0"/>
              <a:t>应用，这两种应用是通过报文中携带的协议和端口信息，生成对应的协议端口表项来识别。不同的是，预定义</a:t>
            </a:r>
            <a:r>
              <a:rPr lang="en-US" altLang="zh-CN" dirty="0"/>
              <a:t>FPI</a:t>
            </a:r>
            <a:r>
              <a:rPr lang="zh-CN" altLang="en-US" dirty="0"/>
              <a:t>应用中自带了常用的协议和端口信息，而自定义</a:t>
            </a:r>
            <a:r>
              <a:rPr lang="en-US" altLang="zh-CN" dirty="0"/>
              <a:t>FPI</a:t>
            </a:r>
            <a:r>
              <a:rPr lang="zh-CN" altLang="en-US" dirty="0"/>
              <a:t>应用需要用户自己定义协议</a:t>
            </a:r>
            <a:r>
              <a:rPr lang="en-US" altLang="zh-CN" dirty="0"/>
              <a:t>+</a:t>
            </a:r>
            <a:r>
              <a:rPr lang="zh-CN" altLang="en-US" dirty="0"/>
              <a:t>端口规则。</a:t>
            </a:r>
          </a:p>
          <a:p>
            <a:pPr lvl="1"/>
            <a:r>
              <a:rPr lang="zh-CN" altLang="en-US" dirty="0"/>
              <a:t>基于</a:t>
            </a:r>
            <a:r>
              <a:rPr lang="en-US" altLang="zh-CN" dirty="0"/>
              <a:t>DNS</a:t>
            </a:r>
            <a:r>
              <a:rPr lang="zh-CN" altLang="en-US" dirty="0"/>
              <a:t>域名的预定义</a:t>
            </a:r>
            <a:r>
              <a:rPr lang="en-US" altLang="zh-CN" dirty="0"/>
              <a:t>FPI</a:t>
            </a:r>
            <a:r>
              <a:rPr lang="zh-CN" altLang="en-US" dirty="0"/>
              <a:t>应用和自定义</a:t>
            </a:r>
            <a:r>
              <a:rPr lang="en-US" altLang="zh-CN" dirty="0"/>
              <a:t>FPI</a:t>
            </a:r>
            <a:r>
              <a:rPr lang="zh-CN" altLang="en-US" dirty="0"/>
              <a:t>应用，这两种应用是通过</a:t>
            </a:r>
            <a:r>
              <a:rPr lang="en-US" altLang="zh-CN" dirty="0"/>
              <a:t>FPI</a:t>
            </a:r>
            <a:r>
              <a:rPr lang="zh-CN" altLang="en-US" dirty="0"/>
              <a:t>功能和</a:t>
            </a:r>
            <a:r>
              <a:rPr lang="en-US" altLang="zh-CN" dirty="0"/>
              <a:t>DNS</a:t>
            </a:r>
            <a:r>
              <a:rPr lang="zh-CN" altLang="en-US" dirty="0"/>
              <a:t>功能联动，生成对应的</a:t>
            </a:r>
            <a:r>
              <a:rPr lang="en-US" altLang="zh-CN" dirty="0"/>
              <a:t>DNS</a:t>
            </a:r>
            <a:r>
              <a:rPr lang="zh-CN" altLang="en-US" dirty="0"/>
              <a:t>关联应用的表项来识别。不同的是，预定义</a:t>
            </a:r>
            <a:r>
              <a:rPr lang="en-US" altLang="zh-CN" dirty="0"/>
              <a:t>FPI</a:t>
            </a:r>
            <a:r>
              <a:rPr lang="zh-CN" altLang="en-US" dirty="0"/>
              <a:t>应用中自带了常用的</a:t>
            </a:r>
            <a:r>
              <a:rPr lang="en-US" altLang="zh-CN" dirty="0"/>
              <a:t>DNS</a:t>
            </a:r>
            <a:r>
              <a:rPr lang="zh-CN" altLang="en-US" dirty="0"/>
              <a:t>域名信息，而自定义</a:t>
            </a:r>
            <a:r>
              <a:rPr lang="en-US" altLang="zh-CN" dirty="0"/>
              <a:t>FPI</a:t>
            </a:r>
            <a:r>
              <a:rPr lang="zh-CN" altLang="en-US" dirty="0"/>
              <a:t>应用需要用户自己定义</a:t>
            </a:r>
            <a:r>
              <a:rPr lang="en-US" altLang="zh-CN" dirty="0"/>
              <a:t>DNS</a:t>
            </a:r>
            <a:r>
              <a:rPr lang="zh-CN" altLang="en-US" dirty="0"/>
              <a:t>域名规则。</a:t>
            </a:r>
          </a:p>
          <a:p>
            <a:pPr lvl="1"/>
            <a:r>
              <a:rPr lang="zh-CN" altLang="en-US" dirty="0"/>
              <a:t>基于五元组</a:t>
            </a:r>
            <a:r>
              <a:rPr lang="en-US" altLang="zh-CN" dirty="0"/>
              <a:t>+DSCP</a:t>
            </a:r>
            <a:r>
              <a:rPr lang="zh-CN" altLang="en-US" dirty="0"/>
              <a:t>的自定义</a:t>
            </a:r>
            <a:r>
              <a:rPr lang="en-US" altLang="zh-CN" dirty="0"/>
              <a:t>FPI</a:t>
            </a:r>
            <a:r>
              <a:rPr lang="zh-CN" altLang="en-US" dirty="0"/>
              <a:t>应用，这种应用根据用户自己定义的五元组</a:t>
            </a:r>
            <a:r>
              <a:rPr lang="en-US" altLang="zh-CN" dirty="0"/>
              <a:t>+DSCP</a:t>
            </a:r>
            <a:r>
              <a:rPr lang="zh-CN" altLang="en-US" dirty="0"/>
              <a:t>信息，通过高级</a:t>
            </a:r>
            <a:r>
              <a:rPr lang="en-US" altLang="zh-CN" dirty="0"/>
              <a:t>ACL</a:t>
            </a:r>
            <a:r>
              <a:rPr lang="zh-CN" altLang="en-US" dirty="0"/>
              <a:t>规则来识别。</a:t>
            </a:r>
            <a:endParaRPr lang="en-US" altLang="zh-CN" dirty="0"/>
          </a:p>
          <a:p>
            <a:pPr lvl="0"/>
            <a:r>
              <a:rPr lang="zh-CN" altLang="en-US" dirty="0"/>
              <a:t>基于</a:t>
            </a:r>
            <a:r>
              <a:rPr lang="en-US" altLang="zh-CN" dirty="0"/>
              <a:t>DNS</a:t>
            </a:r>
            <a:r>
              <a:rPr lang="zh-CN" altLang="en-US" dirty="0"/>
              <a:t>域名的</a:t>
            </a:r>
            <a:r>
              <a:rPr lang="en-US" altLang="zh-CN" dirty="0"/>
              <a:t>FPI</a:t>
            </a:r>
            <a:r>
              <a:rPr lang="zh-CN" altLang="en-US" dirty="0"/>
              <a:t>应用识别</a:t>
            </a:r>
            <a:endParaRPr lang="en-US" altLang="zh-CN" dirty="0"/>
          </a:p>
          <a:p>
            <a:pPr lvl="1"/>
            <a:r>
              <a:rPr lang="zh-CN" altLang="en-US" dirty="0"/>
              <a:t>基于</a:t>
            </a:r>
            <a:r>
              <a:rPr lang="en-US" altLang="zh-CN" dirty="0"/>
              <a:t>DNS</a:t>
            </a:r>
            <a:r>
              <a:rPr lang="zh-CN" altLang="en-US" dirty="0"/>
              <a:t>域名的</a:t>
            </a:r>
            <a:r>
              <a:rPr lang="en-US" altLang="zh-CN" dirty="0"/>
              <a:t>FPI</a:t>
            </a:r>
            <a:r>
              <a:rPr lang="zh-CN" altLang="en-US" dirty="0"/>
              <a:t>应用识别是通过</a:t>
            </a:r>
            <a:r>
              <a:rPr lang="en-US" altLang="zh-CN" dirty="0"/>
              <a:t>FPI</a:t>
            </a:r>
            <a:r>
              <a:rPr lang="zh-CN" altLang="en-US" dirty="0"/>
              <a:t>功能和</a:t>
            </a:r>
            <a:r>
              <a:rPr lang="en-US" altLang="zh-CN" dirty="0"/>
              <a:t>DNS</a:t>
            </a:r>
            <a:r>
              <a:rPr lang="zh-CN" altLang="en-US" dirty="0"/>
              <a:t>功能联动，生成</a:t>
            </a:r>
            <a:r>
              <a:rPr lang="en-US" altLang="zh-CN" dirty="0"/>
              <a:t>DNS</a:t>
            </a:r>
            <a:r>
              <a:rPr lang="zh-CN" altLang="en-US" dirty="0"/>
              <a:t>关联应用的表项实现的。</a:t>
            </a:r>
            <a:r>
              <a:rPr lang="en-US" altLang="zh-CN" dirty="0"/>
              <a:t>FPI</a:t>
            </a:r>
            <a:r>
              <a:rPr lang="zh-CN" altLang="en-US" dirty="0"/>
              <a:t>特征库里包含了域名和应用的对应关系，</a:t>
            </a:r>
            <a:r>
              <a:rPr lang="en-US" altLang="zh-CN" dirty="0"/>
              <a:t>DNS</a:t>
            </a:r>
            <a:r>
              <a:rPr lang="zh-CN" altLang="en-US" dirty="0"/>
              <a:t>应答报文中携带了域名和</a:t>
            </a:r>
            <a:r>
              <a:rPr lang="en-US" altLang="zh-CN" dirty="0"/>
              <a:t>IP</a:t>
            </a:r>
            <a:r>
              <a:rPr lang="zh-CN" altLang="en-US" dirty="0"/>
              <a:t>地址的对应关系，设备据此建立</a:t>
            </a:r>
            <a:r>
              <a:rPr lang="en-US" altLang="zh-CN" dirty="0"/>
              <a:t>DNS</a:t>
            </a:r>
            <a:r>
              <a:rPr lang="zh-CN" altLang="en-US" dirty="0"/>
              <a:t>关联应用的表项，表项里记录了</a:t>
            </a:r>
            <a:r>
              <a:rPr lang="en-US" altLang="zh-CN" dirty="0"/>
              <a:t>IP</a:t>
            </a:r>
            <a:r>
              <a:rPr lang="zh-CN" altLang="en-US" dirty="0"/>
              <a:t>地址和应用的对应关系。设备根据应用协议报文里携带的</a:t>
            </a:r>
            <a:r>
              <a:rPr lang="en-US" altLang="zh-CN" dirty="0"/>
              <a:t>IP</a:t>
            </a:r>
            <a:r>
              <a:rPr lang="zh-CN" altLang="en-US" dirty="0"/>
              <a:t>地址信息，查找</a:t>
            </a:r>
            <a:r>
              <a:rPr lang="en-US" altLang="zh-CN" dirty="0"/>
              <a:t>DNS</a:t>
            </a:r>
            <a:r>
              <a:rPr lang="zh-CN" altLang="en-US" dirty="0"/>
              <a:t>关联表项识别出对应的应用。</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6501597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BD1DCD3E-5333-4FA5-85DA-BA97E517EBC5}"/>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D65ED8B4-87B8-429B-9ADB-A54B80B7DEC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6525269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7740058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SPR</a:t>
            </a:r>
            <a:r>
              <a:rPr lang="zh-CN" altLang="en-US" dirty="0"/>
              <a:t>支持通过以下属性对业务进行区分：</a:t>
            </a:r>
          </a:p>
          <a:p>
            <a:pPr lvl="1"/>
            <a:r>
              <a:rPr lang="zh-CN" altLang="en-US" dirty="0"/>
              <a:t>根据协议类型区分：</a:t>
            </a:r>
            <a:r>
              <a:rPr lang="en-US" dirty="0"/>
              <a:t>IP，TCP，UDP，GRE，IGMP，IPINIP，OSPF，ICMP。</a:t>
            </a:r>
          </a:p>
          <a:p>
            <a:pPr lvl="1"/>
            <a:r>
              <a:rPr lang="zh-CN" altLang="en-US" dirty="0"/>
              <a:t>根据报文应用区分：</a:t>
            </a:r>
            <a:r>
              <a:rPr lang="en-US" dirty="0"/>
              <a:t>DSCP，TOS，IP </a:t>
            </a:r>
            <a:r>
              <a:rPr lang="en-US" dirty="0" err="1"/>
              <a:t>Precedence，Fragment，VPN，TCP-flag</a:t>
            </a:r>
            <a:r>
              <a:rPr lang="en-US" dirty="0"/>
              <a:t>。</a:t>
            </a:r>
          </a:p>
          <a:p>
            <a:pPr lvl="1"/>
            <a:r>
              <a:rPr lang="zh-CN" altLang="en-US" dirty="0"/>
              <a:t>根据报文信息区分：</a:t>
            </a:r>
            <a:r>
              <a:rPr lang="en-US" dirty="0"/>
              <a:t>Source IP </a:t>
            </a:r>
            <a:r>
              <a:rPr lang="en-US" dirty="0" err="1"/>
              <a:t>Address，Destination</a:t>
            </a:r>
            <a:r>
              <a:rPr lang="en-US" dirty="0"/>
              <a:t> IP </a:t>
            </a:r>
            <a:r>
              <a:rPr lang="en-US" dirty="0" err="1"/>
              <a:t>Address，Protocol，Source</a:t>
            </a:r>
            <a:r>
              <a:rPr lang="en-US" dirty="0"/>
              <a:t> </a:t>
            </a:r>
            <a:r>
              <a:rPr lang="en-US" dirty="0" err="1"/>
              <a:t>Port，Destination</a:t>
            </a:r>
            <a:r>
              <a:rPr lang="en-US" dirty="0"/>
              <a:t> </a:t>
            </a:r>
            <a:r>
              <a:rPr lang="en-US" dirty="0" err="1"/>
              <a:t>Port，Source</a:t>
            </a:r>
            <a:r>
              <a:rPr lang="en-US" dirty="0"/>
              <a:t> IP </a:t>
            </a:r>
            <a:r>
              <a:rPr lang="en-US" dirty="0" err="1"/>
              <a:t>Prefix，Destination</a:t>
            </a:r>
            <a:r>
              <a:rPr lang="en-US" dirty="0"/>
              <a:t> IP Prefix。</a:t>
            </a:r>
          </a:p>
          <a:p>
            <a:pPr lvl="0"/>
            <a:r>
              <a:rPr lang="en-US" altLang="zh-CN" dirty="0"/>
              <a:t>SPR</a:t>
            </a:r>
            <a:r>
              <a:rPr lang="zh-CN" altLang="en-US" dirty="0"/>
              <a:t>根据</a:t>
            </a:r>
            <a:r>
              <a:rPr lang="en-US" altLang="zh-CN" dirty="0"/>
              <a:t>NQA</a:t>
            </a:r>
            <a:r>
              <a:rPr lang="zh-CN" altLang="en-US" dirty="0"/>
              <a:t>探测结果进行业务选路时，</a:t>
            </a:r>
            <a:r>
              <a:rPr lang="en-US" altLang="zh-CN" dirty="0"/>
              <a:t>CMI</a:t>
            </a:r>
            <a:r>
              <a:rPr lang="zh-CN" altLang="en-US" dirty="0"/>
              <a:t>值的计算如下：</a:t>
            </a:r>
            <a:endParaRPr lang="en-US" altLang="zh-CN" dirty="0"/>
          </a:p>
          <a:p>
            <a:pPr lvl="1"/>
            <a:r>
              <a:rPr lang="en-US" dirty="0"/>
              <a:t>CMI=9000–cmi-method ，</a:t>
            </a:r>
            <a:r>
              <a:rPr lang="zh-CN" altLang="en-US" dirty="0"/>
              <a:t>其中</a:t>
            </a:r>
            <a:r>
              <a:rPr lang="en-US" dirty="0"/>
              <a:t>cmi-method </a:t>
            </a:r>
            <a:r>
              <a:rPr lang="zh-CN" altLang="en-US" dirty="0"/>
              <a:t>缺省定义为：</a:t>
            </a:r>
            <a:r>
              <a:rPr lang="en-US" dirty="0"/>
              <a:t>D+J+L</a:t>
            </a:r>
          </a:p>
          <a:p>
            <a:pPr lvl="1"/>
            <a:r>
              <a:rPr lang="zh-CN" altLang="en-US" dirty="0"/>
              <a:t>使用</a:t>
            </a:r>
            <a:r>
              <a:rPr lang="en-US" altLang="zh-CN" dirty="0"/>
              <a:t>NQA</a:t>
            </a:r>
            <a:r>
              <a:rPr lang="zh-CN" altLang="en-US" dirty="0"/>
              <a:t>探测，</a:t>
            </a:r>
            <a:r>
              <a:rPr lang="en-US" altLang="zh-CN" dirty="0"/>
              <a:t>CMI</a:t>
            </a:r>
            <a:r>
              <a:rPr lang="zh-CN" altLang="en-US" dirty="0"/>
              <a:t>值越大越优</a:t>
            </a:r>
            <a:endParaRPr lang="en-US" dirty="0"/>
          </a:p>
          <a:p>
            <a:pPr lvl="0"/>
            <a:r>
              <a:rPr lang="en-US" altLang="zh-CN" dirty="0"/>
              <a:t>SPR</a:t>
            </a:r>
            <a:r>
              <a:rPr lang="zh-CN" altLang="en-US" dirty="0"/>
              <a:t>根据</a:t>
            </a:r>
            <a:r>
              <a:rPr lang="en-US" altLang="zh-CN" dirty="0"/>
              <a:t>IP FPM</a:t>
            </a:r>
            <a:r>
              <a:rPr lang="zh-CN" altLang="en-US" dirty="0"/>
              <a:t>探测结果进行业务选路时，</a:t>
            </a:r>
            <a:r>
              <a:rPr lang="en-US" altLang="zh-CN" dirty="0"/>
              <a:t>CMI</a:t>
            </a:r>
            <a:r>
              <a:rPr lang="zh-CN" altLang="en-US" dirty="0"/>
              <a:t>值的计算如下：</a:t>
            </a:r>
            <a:endParaRPr lang="en-US" altLang="zh-CN" dirty="0"/>
          </a:p>
          <a:p>
            <a:pPr lvl="1"/>
            <a:r>
              <a:rPr lang="en-US" dirty="0"/>
              <a:t>CMI=D+J+L</a:t>
            </a:r>
          </a:p>
          <a:p>
            <a:pPr lvl="1"/>
            <a:r>
              <a:rPr lang="zh-CN" altLang="en-US" dirty="0"/>
              <a:t>使用</a:t>
            </a:r>
            <a:r>
              <a:rPr lang="en-US" altLang="zh-CN" dirty="0"/>
              <a:t>IP FPM</a:t>
            </a:r>
            <a:r>
              <a:rPr lang="zh-CN" altLang="en-US" dirty="0"/>
              <a:t>探测，</a:t>
            </a:r>
            <a:r>
              <a:rPr lang="en-US" altLang="zh-CN" dirty="0"/>
              <a:t>CMI</a:t>
            </a:r>
            <a:r>
              <a:rPr lang="zh-CN" altLang="en-US" dirty="0"/>
              <a:t>值越小越优</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2437120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6318355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zh-CN" altLang="en-US"/>
              <a:t>某些情况下，网络会出现时好时坏的情况，从而导致</a:t>
            </a:r>
            <a:r>
              <a:rPr lang="en-US" altLang="zh-CN"/>
              <a:t>SPR</a:t>
            </a:r>
            <a:r>
              <a:rPr lang="zh-CN" altLang="en-US"/>
              <a:t>频繁切换链路，严重影响业务体验。</a:t>
            </a:r>
            <a:r>
              <a:rPr lang="en-US" altLang="zh-CN"/>
              <a:t>SPR</a:t>
            </a:r>
            <a:r>
              <a:rPr lang="zh-CN" altLang="en-US"/>
              <a:t>的抑制振荡功能可以有效的避免此类情况产生。</a:t>
            </a:r>
          </a:p>
          <a:p>
            <a:pPr lvl="0"/>
            <a:r>
              <a:rPr lang="zh-CN" altLang="en-US"/>
              <a:t>振荡抑制周期默认情况下不生效，周期值由用户自己配置。</a:t>
            </a:r>
            <a:r>
              <a:rPr lang="en-US" altLang="zh-CN"/>
              <a:t>SPR</a:t>
            </a:r>
            <a:r>
              <a:rPr lang="zh-CN" altLang="en-US"/>
              <a:t>切换链路后，振荡抑制周期计时器开始计时，如果业务驻留链路的时间没有达到振荡抑制周期的时间，则</a:t>
            </a:r>
            <a:r>
              <a:rPr lang="en-US" altLang="zh-CN"/>
              <a:t>SPR</a:t>
            </a:r>
            <a:r>
              <a:rPr lang="zh-CN" altLang="en-US"/>
              <a:t>不会执行链路切换。振荡抑制周期超时后，如果在一个切换周期内链路还是不满足业务需求，则</a:t>
            </a:r>
            <a:r>
              <a:rPr lang="en-US" altLang="zh-CN"/>
              <a:t>SPR</a:t>
            </a:r>
            <a:r>
              <a:rPr lang="zh-CN" altLang="en-US"/>
              <a:t>将切换链路；如果在一个切换周期内链路质量变好，满足业务需求，则</a:t>
            </a:r>
            <a:r>
              <a:rPr lang="en-US" altLang="zh-CN"/>
              <a:t>SPR</a:t>
            </a:r>
            <a:r>
              <a:rPr lang="zh-CN" altLang="en-US"/>
              <a:t>不会切换链路。</a:t>
            </a:r>
            <a:endParaRPr 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57262373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3597561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dirty="0"/>
              <a:t>AC</a:t>
            </a:r>
          </a:p>
          <a:p>
            <a:pPr marL="228600" indent="-228600">
              <a:buFont typeface="+mj-lt"/>
              <a:buAutoNum type="arabicPeriod"/>
            </a:pPr>
            <a:r>
              <a:rPr lang="en-US" altLang="zh-CN"/>
              <a:t>A</a:t>
            </a:r>
            <a:endParaRPr lang="zh-CN" altLang="en-US" dirty="0"/>
          </a:p>
        </p:txBody>
      </p:sp>
      <p:sp>
        <p:nvSpPr>
          <p:cNvPr id="5" name="Slide Image Placeholder 4">
            <a:extLst>
              <a:ext uri="{FF2B5EF4-FFF2-40B4-BE49-F238E27FC236}">
                <a16:creationId xmlns:a16="http://schemas.microsoft.com/office/drawing/2014/main" id="{900590B1-AF2C-4E33-ABC1-D7A56C527936}"/>
              </a:ext>
            </a:extLst>
          </p:cNvPr>
          <p:cNvSpPr>
            <a:spLocks noGrp="1" noRot="1" noChangeAspect="1"/>
          </p:cNvSpPr>
          <p:nvPr>
            <p:ph type="sldImg"/>
          </p:nvPr>
        </p:nvSpPr>
        <p:spPr>
          <a:xfrm>
            <a:off x="744538" y="717550"/>
            <a:ext cx="5556250" cy="3125788"/>
          </a:xfrm>
        </p:spPr>
      </p:sp>
    </p:spTree>
    <p:extLst>
      <p:ext uri="{BB962C8B-B14F-4D97-AF65-F5344CB8AC3E}">
        <p14:creationId xmlns:p14="http://schemas.microsoft.com/office/powerpoint/2010/main" val="393477802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CDE2B25-26DF-4019-A67D-9F92FC94E059}"/>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270DAFB0-D4EE-4B2F-9755-78C3BB912B2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848059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B8E41D0-FB16-48B7-83FB-4CE226F52FB1}"/>
              </a:ext>
            </a:extLst>
          </p:cNvPr>
          <p:cNvSpPr>
            <a:spLocks noGrp="1" noRot="1" noChangeAspect="1"/>
          </p:cNvSpPr>
          <p:nvPr>
            <p:ph type="sldImg"/>
          </p:nvPr>
        </p:nvSpPr>
        <p:spPr>
          <a:xfrm>
            <a:off x="744538" y="717550"/>
            <a:ext cx="5556250" cy="3125788"/>
          </a:xfrm>
        </p:spPr>
      </p:sp>
      <p:sp>
        <p:nvSpPr>
          <p:cNvPr id="5" name="Notes Placeholder 4">
            <a:extLst>
              <a:ext uri="{FF2B5EF4-FFF2-40B4-BE49-F238E27FC236}">
                <a16:creationId xmlns:a16="http://schemas.microsoft.com/office/drawing/2014/main" id="{A4AC83F1-46B4-4EBD-BFB9-62536FE71DE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498846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a:t>单击此处添加文本</a:t>
            </a:r>
            <a:endParaRPr lang="en-US" dirty="0"/>
          </a:p>
        </p:txBody>
      </p:sp>
    </p:spTree>
    <p:extLst>
      <p:ext uri="{BB962C8B-B14F-4D97-AF65-F5344CB8AC3E}">
        <p14:creationId xmlns:p14="http://schemas.microsoft.com/office/powerpoint/2010/main" val="1391813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84624">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4" name="Group 21"/>
          <p:cNvGraphicFramePr>
            <a:graphicFrameLocks noGrp="1"/>
          </p:cNvGraphicFramePr>
          <p:nvPr userDrawn="1"/>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val="20000"/>
                    </a:ext>
                  </a:extLst>
                </a:gridCol>
                <a:gridCol w="1967450">
                  <a:extLst>
                    <a:ext uri="{9D8B030D-6E8A-4147-A177-3AD203B41FA5}">
                      <a16:colId xmlns:a16="http://schemas.microsoft.com/office/drawing/2014/main" val="20001"/>
                    </a:ext>
                  </a:extLst>
                </a:gridCol>
                <a:gridCol w="3023155">
                  <a:extLst>
                    <a:ext uri="{9D8B030D-6E8A-4147-A177-3AD203B41FA5}">
                      <a16:colId xmlns:a16="http://schemas.microsoft.com/office/drawing/2014/main" val="20002"/>
                    </a:ext>
                  </a:extLst>
                </a:gridCol>
                <a:gridCol w="2067692">
                  <a:extLst>
                    <a:ext uri="{9D8B030D-6E8A-4147-A177-3AD203B41FA5}">
                      <a16:colId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前言</a:t>
            </a:r>
          </a:p>
        </p:txBody>
      </p:sp>
    </p:spTree>
    <p:extLst>
      <p:ext uri="{BB962C8B-B14F-4D97-AF65-F5344CB8AC3E}">
        <p14:creationId xmlns:p14="http://schemas.microsoft.com/office/powerpoint/2010/main" val="4191700454"/>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ctr"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ctr">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ctr">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ctr">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ctr">
              <a:defRPr baseline="0">
                <a:latin typeface="Huawei Sans" panose="020C0503030203020204" pitchFamily="34" charset="0"/>
                <a:ea typeface="方正兰亭黑简体" panose="02000000000000000000" pitchFamily="2" charset="-122"/>
              </a:defRPr>
            </a:lvl4pPr>
            <a:lvl5pPr marL="1802879" indent="-201519" fontAlgn="ctr">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p>
        </p:txBody>
      </p:sp>
    </p:spTree>
    <p:extLst>
      <p:ext uri="{BB962C8B-B14F-4D97-AF65-F5344CB8AC3E}">
        <p14:creationId xmlns:p14="http://schemas.microsoft.com/office/powerpoint/2010/main" val="10367870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ctr"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a:p>
            <a:pPr lvl="1"/>
            <a:endParaRPr lang="en-US" altLang="zh-CN" dirty="0"/>
          </a:p>
        </p:txBody>
      </p:sp>
      <p:cxnSp>
        <p:nvCxnSpPr>
          <p:cNvPr id="2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思考题</a:t>
            </a:r>
          </a:p>
        </p:txBody>
      </p:sp>
    </p:spTree>
    <p:extLst>
      <p:ext uri="{BB962C8B-B14F-4D97-AF65-F5344CB8AC3E}">
        <p14:creationId xmlns:p14="http://schemas.microsoft.com/office/powerpoint/2010/main" val="3557104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本节小结</a:t>
            </a:r>
          </a:p>
        </p:txBody>
      </p:sp>
    </p:spTree>
    <p:extLst>
      <p:ext uri="{BB962C8B-B14F-4D97-AF65-F5344CB8AC3E}">
        <p14:creationId xmlns:p14="http://schemas.microsoft.com/office/powerpoint/2010/main" val="329529313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本章总结</a:t>
            </a:r>
          </a:p>
        </p:txBody>
      </p:sp>
    </p:spTree>
    <p:extLst>
      <p:ext uri="{BB962C8B-B14F-4D97-AF65-F5344CB8AC3E}">
        <p14:creationId xmlns:p14="http://schemas.microsoft.com/office/powerpoint/2010/main" val="1733786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更多信息</a:t>
            </a:r>
          </a:p>
        </p:txBody>
      </p:sp>
    </p:spTree>
    <p:extLst>
      <p:ext uri="{BB962C8B-B14F-4D97-AF65-F5344CB8AC3E}">
        <p14:creationId xmlns:p14="http://schemas.microsoft.com/office/powerpoint/2010/main" val="1051668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rPr>
              <a:t>学习推荐</a:t>
            </a:r>
          </a:p>
        </p:txBody>
      </p:sp>
    </p:spTree>
    <p:extLst>
      <p:ext uri="{BB962C8B-B14F-4D97-AF65-F5344CB8AC3E}">
        <p14:creationId xmlns:p14="http://schemas.microsoft.com/office/powerpoint/2010/main" val="4259767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extLst>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38519249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Tree>
    <p:extLst>
      <p:ext uri="{BB962C8B-B14F-4D97-AF65-F5344CB8AC3E}">
        <p14:creationId xmlns:p14="http://schemas.microsoft.com/office/powerpoint/2010/main" val="99998166"/>
      </p:ext>
    </p:extLst>
  </p:cSld>
  <p:clrMapOvr>
    <a:masterClrMapping/>
  </p:clrMapOvr>
  <p:extLst>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5#目录">
    <p:bg>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2004893655"/>
      </p:ext>
    </p:extLst>
  </p:cSld>
  <p:clrMapOvr>
    <a:masterClrMapping/>
  </p:clrMapOvr>
  <p:extLst>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pPr defTabSz="914478" fontAlgn="auto">
              <a:spcBef>
                <a:spcPts val="0"/>
              </a:spcBef>
              <a:spcAft>
                <a:spcPts val="0"/>
              </a:spcAft>
            </a:pPr>
            <a:endParaRPr lang="zh-CN" altLang="en-US" sz="1799">
              <a:solidFill>
                <a:prstClr val="black"/>
              </a:solidFill>
              <a:latin typeface="Huawei Sans"/>
              <a:ea typeface="方正兰亭黑简体"/>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pPr defTabSz="914478" fontAlgn="auto">
              <a:spcBef>
                <a:spcPts val="0"/>
              </a:spcBef>
              <a:spcAft>
                <a:spcPts val="0"/>
              </a:spcAft>
            </a:pPr>
            <a:endParaRPr lang="zh-CN" altLang="en-US" sz="1799">
              <a:solidFill>
                <a:prstClr val="black"/>
              </a:solidFill>
              <a:latin typeface="Huawei Sans"/>
              <a:ea typeface="方正兰亭黑简体"/>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78" fontAlgn="auto">
                <a:spcBef>
                  <a:spcPts val="0"/>
                </a:spcBef>
                <a:spcAft>
                  <a:spcPts val="0"/>
                </a:spcAft>
              </a:pPr>
              <a:endParaRPr lang="zh-CN" altLang="en-US" sz="1799">
                <a:solidFill>
                  <a:prstClr val="black"/>
                </a:solidFill>
                <a:latin typeface="Huawei Sans"/>
                <a:ea typeface="方正兰亭黑简体"/>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78" fontAlgn="auto">
                <a:spcBef>
                  <a:spcPts val="0"/>
                </a:spcBef>
                <a:spcAft>
                  <a:spcPts val="0"/>
                </a:spcAft>
              </a:pPr>
              <a:endParaRPr lang="zh-CN" altLang="en-US" sz="1799">
                <a:solidFill>
                  <a:prstClr val="black"/>
                </a:solidFill>
                <a:latin typeface="Huawei Sans"/>
                <a:ea typeface="方正兰亭黑简体"/>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26015313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a:solidFill>
                  <a:schemeClr val="tx1"/>
                </a:solidFill>
              </a:rPr>
              <a:t>Thank you.</a:t>
            </a:r>
          </a:p>
        </p:txBody>
      </p:sp>
    </p:spTree>
    <p:extLst>
      <p:ext uri="{BB962C8B-B14F-4D97-AF65-F5344CB8AC3E}">
        <p14:creationId xmlns:p14="http://schemas.microsoft.com/office/powerpoint/2010/main" val="1028299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guide id="7" orient="horz" pos="36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42">
          <p15:clr>
            <a:srgbClr val="F26B43"/>
          </p15:clr>
        </p15:guide>
        <p15:guide id="2" pos="7038">
          <p15:clr>
            <a:srgbClr val="F26B43"/>
          </p15:clr>
        </p15:guide>
        <p15:guide id="3" orient="horz" pos="3680">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3" r:id="rId6"/>
    <p:sldLayoutId id="2147483894" r:id="rId7"/>
  </p:sldLayoutIdLst>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guide id="9" orient="horz" pos="368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a:solidFill>
                  <a:srgbClr val="1D1D1B"/>
                </a:solidFill>
                <a:latin typeface="+mj-lt"/>
              </a:rPr>
              <a:t>Copyright©2021 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br>
              <a:rPr kumimoji="1" lang="en-US" altLang="zh-CN" sz="779" dirty="0">
                <a:solidFill>
                  <a:srgbClr val="1D1D1B"/>
                </a:solidFill>
                <a:latin typeface="+mn-lt"/>
              </a:rPr>
            </a:b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20.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13.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22.png"/><Relationship Id="rId5" Type="http://schemas.openxmlformats.org/officeDocument/2006/relationships/image" Target="../media/image13.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notesSlide" Target="../notesSlides/notesSlide28.xml"/><Relationship Id="rId1" Type="http://schemas.openxmlformats.org/officeDocument/2006/relationships/slideLayout" Target="../slideLayouts/slideLayout13.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1.xml"/><Relationship Id="rId1" Type="http://schemas.openxmlformats.org/officeDocument/2006/relationships/slideLayout" Target="../slideLayouts/slideLayout13.xml"/><Relationship Id="rId81" Type="http://schemas.openxmlformats.org/officeDocument/2006/relationships/image" Target="../media/image64.png"/><Relationship Id="rId4" Type="http://schemas.openxmlformats.org/officeDocument/2006/relationships/customXml" Target="../ink/ink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customXml" Target="../ink/ink2.xml"/><Relationship Id="rId25" Type="http://schemas.openxmlformats.org/officeDocument/2006/relationships/image" Target="../media/image75.png"/><Relationship Id="rId2" Type="http://schemas.openxmlformats.org/officeDocument/2006/relationships/notesSlide" Target="../notesSlides/notesSlide33.xml"/><Relationship Id="rId1" Type="http://schemas.openxmlformats.org/officeDocument/2006/relationships/slideLayout" Target="../slideLayouts/slideLayout13.xml"/><Relationship Id="rId10" Type="http://schemas.openxmlformats.org/officeDocument/2006/relationships/customXml" Target="../ink/ink4.xml"/><Relationship Id="rId9" Type="http://schemas.openxmlformats.org/officeDocument/2006/relationships/customXml" Target="../ink/ink3.xml"/></Relationships>
</file>

<file path=ppt/slides/_rels/slide34.xml.rels><?xml version="1.0" encoding="UTF-8" standalone="yes"?>
<Relationships xmlns="http://schemas.openxmlformats.org/package/2006/relationships"><Relationship Id="rId8" Type="http://schemas.openxmlformats.org/officeDocument/2006/relationships/image" Target="../media/image77.png"/><Relationship Id="rId13" Type="http://schemas.openxmlformats.org/officeDocument/2006/relationships/customXml" Target="../ink/ink7.xml"/><Relationship Id="rId3" Type="http://schemas.openxmlformats.org/officeDocument/2006/relationships/image" Target="../media/image6.png"/><Relationship Id="rId12" Type="http://schemas.openxmlformats.org/officeDocument/2006/relationships/image" Target="../media/image79.png"/><Relationship Id="rId2" Type="http://schemas.openxmlformats.org/officeDocument/2006/relationships/notesSlide" Target="../notesSlides/notesSlide34.xml"/><Relationship Id="rId1" Type="http://schemas.openxmlformats.org/officeDocument/2006/relationships/slideLayout" Target="../slideLayouts/slideLayout13.xml"/><Relationship Id="rId40" Type="http://schemas.openxmlformats.org/officeDocument/2006/relationships/image" Target="../media/image93.png"/><Relationship Id="rId5" Type="http://schemas.openxmlformats.org/officeDocument/2006/relationships/customXml" Target="../ink/ink5.xml"/><Relationship Id="rId4" Type="http://schemas.openxmlformats.org/officeDocument/2006/relationships/image" Target="../media/image14.png"/><Relationship Id="rId9" Type="http://schemas.openxmlformats.org/officeDocument/2006/relationships/customXml" Target="../ink/ink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49.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15.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4.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0.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13.png"/><Relationship Id="rId4" Type="http://schemas.openxmlformats.org/officeDocument/2006/relationships/image" Target="../media/image28.png"/></Relationships>
</file>

<file path=ppt/slides/_rels/slide6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1.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29.png"/><Relationship Id="rId4" Type="http://schemas.openxmlformats.org/officeDocument/2006/relationships/image" Target="../media/image28.png"/></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2.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3.png"/></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3.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29.png"/><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7" Type="http://schemas.openxmlformats.org/officeDocument/2006/relationships/image" Target="../media/image13.png"/><Relationship Id="rId2" Type="http://schemas.openxmlformats.org/officeDocument/2006/relationships/slideLayout" Target="../slideLayouts/slideLayout13.xml"/><Relationship Id="rId1" Type="http://schemas.openxmlformats.org/officeDocument/2006/relationships/tags" Target="../tags/tag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7" Type="http://schemas.openxmlformats.org/officeDocument/2006/relationships/image" Target="../media/image13.png"/><Relationship Id="rId2" Type="http://schemas.openxmlformats.org/officeDocument/2006/relationships/slideLayout" Target="../slideLayouts/slideLayout13.xml"/><Relationship Id="rId1" Type="http://schemas.openxmlformats.org/officeDocument/2006/relationships/tags" Target="../tags/tag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6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29.png"/><Relationship Id="rId4" Type="http://schemas.openxmlformats.org/officeDocument/2006/relationships/image" Target="../media/image28.png"/></Relationships>
</file>

<file path=ppt/slides/_rels/slide6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29.png"/><Relationship Id="rId4" Type="http://schemas.openxmlformats.org/officeDocument/2006/relationships/image" Target="../media/image28.png"/></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29.png"/><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3.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5.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13.png"/></Relationships>
</file>

<file path=ppt/slides/_rels/slide7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6.xml"/><Relationship Id="rId1" Type="http://schemas.openxmlformats.org/officeDocument/2006/relationships/slideLayout" Target="../slideLayouts/slideLayout13.xml"/><Relationship Id="rId5" Type="http://schemas.openxmlformats.org/officeDocument/2006/relationships/image" Target="../media/image30.png"/><Relationship Id="rId4" Type="http://schemas.openxmlformats.org/officeDocument/2006/relationships/image" Target="../media/image1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8.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9.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0.xml"/><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F2C88F47-5933-4596-B955-05653B38AADB}"/>
              </a:ext>
            </a:extLst>
          </p:cNvPr>
          <p:cNvSpPr>
            <a:spLocks noGrp="1"/>
          </p:cNvSpPr>
          <p:nvPr>
            <p:ph type="body" sz="quarter" idx="17"/>
          </p:nvPr>
        </p:nvSpPr>
        <p:spPr bwMode="gray"/>
        <p:txBody>
          <a:bodyPr/>
          <a:lstStyle/>
          <a:p>
            <a:endParaRPr lang="en-US"/>
          </a:p>
        </p:txBody>
      </p:sp>
      <p:sp>
        <p:nvSpPr>
          <p:cNvPr id="25" name="Text Placeholder 24">
            <a:extLst>
              <a:ext uri="{FF2B5EF4-FFF2-40B4-BE49-F238E27FC236}">
                <a16:creationId xmlns:a16="http://schemas.microsoft.com/office/drawing/2014/main" id="{7B06EC5D-D783-4221-8EB6-01DB326247D4}"/>
              </a:ext>
            </a:extLst>
          </p:cNvPr>
          <p:cNvSpPr>
            <a:spLocks noGrp="1"/>
          </p:cNvSpPr>
          <p:nvPr>
            <p:ph type="body" sz="quarter" idx="18"/>
          </p:nvPr>
        </p:nvSpPr>
        <p:spPr bwMode="gray"/>
        <p:txBody>
          <a:bodyPr/>
          <a:lstStyle/>
          <a:p>
            <a:r>
              <a:rPr lang="en-US" altLang="zh-CN" dirty="0" err="1"/>
              <a:t>Datacom</a:t>
            </a:r>
            <a:endParaRPr lang="en-US" dirty="0"/>
          </a:p>
        </p:txBody>
      </p:sp>
      <p:sp>
        <p:nvSpPr>
          <p:cNvPr id="26" name="Text Placeholder 25">
            <a:extLst>
              <a:ext uri="{FF2B5EF4-FFF2-40B4-BE49-F238E27FC236}">
                <a16:creationId xmlns:a16="http://schemas.microsoft.com/office/drawing/2014/main" id="{756762E2-6BAC-4C4E-87B9-76FAB549EAE7}"/>
              </a:ext>
            </a:extLst>
          </p:cNvPr>
          <p:cNvSpPr>
            <a:spLocks noGrp="1"/>
          </p:cNvSpPr>
          <p:nvPr>
            <p:ph type="body" sz="quarter" idx="19"/>
          </p:nvPr>
        </p:nvSpPr>
        <p:spPr bwMode="gray"/>
        <p:txBody>
          <a:bodyPr/>
          <a:lstStyle/>
          <a:p>
            <a:r>
              <a:rPr lang="zh-CN" altLang="en-US" dirty="0"/>
              <a:t>通用</a:t>
            </a:r>
            <a:endParaRPr lang="en-US" dirty="0"/>
          </a:p>
        </p:txBody>
      </p:sp>
      <p:sp>
        <p:nvSpPr>
          <p:cNvPr id="27" name="Text Placeholder 26">
            <a:extLst>
              <a:ext uri="{FF2B5EF4-FFF2-40B4-BE49-F238E27FC236}">
                <a16:creationId xmlns:a16="http://schemas.microsoft.com/office/drawing/2014/main" id="{449001E1-15D0-4065-8401-08BC90DEF28A}"/>
              </a:ext>
            </a:extLst>
          </p:cNvPr>
          <p:cNvSpPr>
            <a:spLocks noGrp="1"/>
          </p:cNvSpPr>
          <p:nvPr>
            <p:ph type="body" sz="quarter" idx="20"/>
          </p:nvPr>
        </p:nvSpPr>
        <p:spPr bwMode="gray"/>
        <p:txBody>
          <a:bodyPr/>
          <a:lstStyle/>
          <a:p>
            <a:r>
              <a:rPr lang="en-US" altLang="zh-CN" dirty="0"/>
              <a:t>V1.0</a:t>
            </a:r>
            <a:endParaRPr lang="en-US" dirty="0"/>
          </a:p>
        </p:txBody>
      </p:sp>
      <p:sp>
        <p:nvSpPr>
          <p:cNvPr id="4" name="文本占位符 3"/>
          <p:cNvSpPr>
            <a:spLocks noGrp="1"/>
          </p:cNvSpPr>
          <p:nvPr>
            <p:ph type="body" sz="quarter" idx="13"/>
          </p:nvPr>
        </p:nvSpPr>
        <p:spPr bwMode="gray"/>
        <p:txBody>
          <a:bodyPr/>
          <a:lstStyle/>
          <a:p>
            <a:r>
              <a:rPr lang="zh-CN" altLang="en-US" dirty="0"/>
              <a:t>吴越</a:t>
            </a:r>
            <a:r>
              <a:rPr lang="en-US" altLang="zh-CN" dirty="0"/>
              <a:t>/WX291773</a:t>
            </a:r>
            <a:endParaRPr lang="zh-CN" altLang="en-US" dirty="0"/>
          </a:p>
        </p:txBody>
      </p:sp>
      <p:sp>
        <p:nvSpPr>
          <p:cNvPr id="5" name="文本占位符 4"/>
          <p:cNvSpPr>
            <a:spLocks noGrp="1"/>
          </p:cNvSpPr>
          <p:nvPr>
            <p:ph type="body" sz="quarter" idx="14"/>
          </p:nvPr>
        </p:nvSpPr>
        <p:spPr bwMode="gray"/>
        <p:txBody>
          <a:bodyPr/>
          <a:lstStyle/>
          <a:p>
            <a:r>
              <a:rPr lang="en-US" altLang="zh-CN" dirty="0"/>
              <a:t>2021.3.19</a:t>
            </a:r>
            <a:endParaRPr lang="zh-CN" altLang="en-US" dirty="0"/>
          </a:p>
        </p:txBody>
      </p:sp>
      <p:sp>
        <p:nvSpPr>
          <p:cNvPr id="2" name="Text Placeholder 1">
            <a:extLst>
              <a:ext uri="{FF2B5EF4-FFF2-40B4-BE49-F238E27FC236}">
                <a16:creationId xmlns:a16="http://schemas.microsoft.com/office/drawing/2014/main" id="{34B4909A-B291-44CA-A6B5-D4D547B7E3C0}"/>
              </a:ext>
            </a:extLst>
          </p:cNvPr>
          <p:cNvSpPr>
            <a:spLocks noGrp="1"/>
          </p:cNvSpPr>
          <p:nvPr>
            <p:ph type="body" sz="quarter" idx="15"/>
          </p:nvPr>
        </p:nvSpPr>
        <p:spPr bwMode="gray"/>
        <p:txBody>
          <a:bodyPr/>
          <a:lstStyle/>
          <a:p>
            <a:r>
              <a:rPr lang="zh-CN" altLang="en-US" dirty="0"/>
              <a:t>朱仕耿</a:t>
            </a:r>
            <a:r>
              <a:rPr lang="en-US" altLang="zh-CN" dirty="0"/>
              <a:t>/00261992</a:t>
            </a:r>
            <a:endParaRPr lang="en-US" dirty="0"/>
          </a:p>
        </p:txBody>
      </p:sp>
      <p:sp>
        <p:nvSpPr>
          <p:cNvPr id="3" name="Text Placeholder 2">
            <a:extLst>
              <a:ext uri="{FF2B5EF4-FFF2-40B4-BE49-F238E27FC236}">
                <a16:creationId xmlns:a16="http://schemas.microsoft.com/office/drawing/2014/main" id="{8A933400-E872-4E0D-987E-C69AA187A425}"/>
              </a:ext>
            </a:extLst>
          </p:cNvPr>
          <p:cNvSpPr>
            <a:spLocks noGrp="1"/>
          </p:cNvSpPr>
          <p:nvPr>
            <p:ph type="body" sz="quarter" idx="16"/>
          </p:nvPr>
        </p:nvSpPr>
        <p:spPr bwMode="gray"/>
        <p:txBody>
          <a:bodyPr/>
          <a:lstStyle/>
          <a:p>
            <a:r>
              <a:rPr lang="zh-CN" altLang="en-US" dirty="0"/>
              <a:t>新开发</a:t>
            </a:r>
            <a:endParaRPr lang="en-US" dirty="0"/>
          </a:p>
        </p:txBody>
      </p:sp>
      <p:sp>
        <p:nvSpPr>
          <p:cNvPr id="28" name="Text Placeholder 27">
            <a:extLst>
              <a:ext uri="{FF2B5EF4-FFF2-40B4-BE49-F238E27FC236}">
                <a16:creationId xmlns:a16="http://schemas.microsoft.com/office/drawing/2014/main" id="{6165DD10-94AF-472B-9A60-140518D6ED0B}"/>
              </a:ext>
            </a:extLst>
          </p:cNvPr>
          <p:cNvSpPr>
            <a:spLocks noGrp="1"/>
          </p:cNvSpPr>
          <p:nvPr>
            <p:ph type="body" sz="quarter" idx="21"/>
          </p:nvPr>
        </p:nvSpPr>
        <p:spPr bwMode="gray"/>
        <p:txBody>
          <a:bodyPr/>
          <a:lstStyle/>
          <a:p>
            <a:r>
              <a:rPr lang="zh-CN" altLang="en-US" dirty="0"/>
              <a:t>吴越</a:t>
            </a:r>
            <a:r>
              <a:rPr lang="en-US" altLang="zh-CN" dirty="0"/>
              <a:t>/WX291773</a:t>
            </a:r>
            <a:endParaRPr lang="zh-CN" altLang="en-US" dirty="0"/>
          </a:p>
        </p:txBody>
      </p:sp>
      <p:sp>
        <p:nvSpPr>
          <p:cNvPr id="29" name="Text Placeholder 28">
            <a:extLst>
              <a:ext uri="{FF2B5EF4-FFF2-40B4-BE49-F238E27FC236}">
                <a16:creationId xmlns:a16="http://schemas.microsoft.com/office/drawing/2014/main" id="{1BBF2FB1-7331-4174-ACEB-4A62F40599D5}"/>
              </a:ext>
            </a:extLst>
          </p:cNvPr>
          <p:cNvSpPr>
            <a:spLocks noGrp="1"/>
          </p:cNvSpPr>
          <p:nvPr>
            <p:ph type="body" sz="quarter" idx="22"/>
          </p:nvPr>
        </p:nvSpPr>
        <p:spPr bwMode="gray"/>
        <p:txBody>
          <a:bodyPr/>
          <a:lstStyle/>
          <a:p>
            <a:r>
              <a:rPr lang="en-US" dirty="0"/>
              <a:t>2021.9.16</a:t>
            </a:r>
          </a:p>
        </p:txBody>
      </p:sp>
      <p:sp>
        <p:nvSpPr>
          <p:cNvPr id="30" name="Text Placeholder 29">
            <a:extLst>
              <a:ext uri="{FF2B5EF4-FFF2-40B4-BE49-F238E27FC236}">
                <a16:creationId xmlns:a16="http://schemas.microsoft.com/office/drawing/2014/main" id="{49B9669C-E7EF-4D7E-ACF7-7C76D9E793A8}"/>
              </a:ext>
            </a:extLst>
          </p:cNvPr>
          <p:cNvSpPr>
            <a:spLocks noGrp="1"/>
          </p:cNvSpPr>
          <p:nvPr>
            <p:ph type="body" sz="quarter" idx="23"/>
          </p:nvPr>
        </p:nvSpPr>
        <p:spPr bwMode="gray"/>
        <p:txBody>
          <a:bodyPr/>
          <a:lstStyle/>
          <a:p>
            <a:r>
              <a:rPr lang="zh-CN" altLang="en-US" dirty="0"/>
              <a:t>卢玥玥</a:t>
            </a:r>
            <a:r>
              <a:rPr lang="en-US" altLang="zh-CN" dirty="0"/>
              <a:t>/WX445705</a:t>
            </a:r>
          </a:p>
        </p:txBody>
      </p:sp>
      <p:sp>
        <p:nvSpPr>
          <p:cNvPr id="31" name="Text Placeholder 30">
            <a:extLst>
              <a:ext uri="{FF2B5EF4-FFF2-40B4-BE49-F238E27FC236}">
                <a16:creationId xmlns:a16="http://schemas.microsoft.com/office/drawing/2014/main" id="{15EB1099-D14F-4736-BF3A-80DEFDF9C8D7}"/>
              </a:ext>
            </a:extLst>
          </p:cNvPr>
          <p:cNvSpPr>
            <a:spLocks noGrp="1"/>
          </p:cNvSpPr>
          <p:nvPr>
            <p:ph type="body" sz="quarter" idx="24"/>
          </p:nvPr>
        </p:nvSpPr>
        <p:spPr bwMode="gray"/>
        <p:txBody>
          <a:bodyPr/>
          <a:lstStyle/>
          <a:p>
            <a:r>
              <a:rPr lang="zh-CN" altLang="en-US" dirty="0"/>
              <a:t>优化</a:t>
            </a:r>
            <a:endParaRPr lang="en-US" dirty="0"/>
          </a:p>
        </p:txBody>
      </p:sp>
      <p:sp>
        <p:nvSpPr>
          <p:cNvPr id="32" name="Text Placeholder 31">
            <a:extLst>
              <a:ext uri="{FF2B5EF4-FFF2-40B4-BE49-F238E27FC236}">
                <a16:creationId xmlns:a16="http://schemas.microsoft.com/office/drawing/2014/main" id="{66B42C3D-8853-451A-B5DB-9ABC2C865BE2}"/>
              </a:ext>
            </a:extLst>
          </p:cNvPr>
          <p:cNvSpPr>
            <a:spLocks noGrp="1"/>
          </p:cNvSpPr>
          <p:nvPr>
            <p:ph type="body" sz="quarter" idx="25"/>
          </p:nvPr>
        </p:nvSpPr>
        <p:spPr bwMode="gray"/>
        <p:txBody>
          <a:bodyPr/>
          <a:lstStyle/>
          <a:p>
            <a:endParaRPr lang="en-US"/>
          </a:p>
        </p:txBody>
      </p:sp>
      <p:sp>
        <p:nvSpPr>
          <p:cNvPr id="33" name="Text Placeholder 32">
            <a:extLst>
              <a:ext uri="{FF2B5EF4-FFF2-40B4-BE49-F238E27FC236}">
                <a16:creationId xmlns:a16="http://schemas.microsoft.com/office/drawing/2014/main" id="{BE9C96D1-56F9-4974-808E-7ED996EEE985}"/>
              </a:ext>
            </a:extLst>
          </p:cNvPr>
          <p:cNvSpPr>
            <a:spLocks noGrp="1"/>
          </p:cNvSpPr>
          <p:nvPr>
            <p:ph type="body" sz="quarter" idx="26"/>
          </p:nvPr>
        </p:nvSpPr>
        <p:spPr bwMode="gray"/>
        <p:txBody>
          <a:bodyPr/>
          <a:lstStyle/>
          <a:p>
            <a:endParaRPr lang="en-US"/>
          </a:p>
        </p:txBody>
      </p:sp>
      <p:sp>
        <p:nvSpPr>
          <p:cNvPr id="34" name="Text Placeholder 33">
            <a:extLst>
              <a:ext uri="{FF2B5EF4-FFF2-40B4-BE49-F238E27FC236}">
                <a16:creationId xmlns:a16="http://schemas.microsoft.com/office/drawing/2014/main" id="{EF022463-3819-41A4-B24D-F8004AC42D5A}"/>
              </a:ext>
            </a:extLst>
          </p:cNvPr>
          <p:cNvSpPr>
            <a:spLocks noGrp="1"/>
          </p:cNvSpPr>
          <p:nvPr>
            <p:ph type="body" sz="quarter" idx="27"/>
          </p:nvPr>
        </p:nvSpPr>
        <p:spPr bwMode="gray"/>
        <p:txBody>
          <a:bodyPr/>
          <a:lstStyle/>
          <a:p>
            <a:endParaRPr lang="en-US"/>
          </a:p>
        </p:txBody>
      </p:sp>
      <p:sp>
        <p:nvSpPr>
          <p:cNvPr id="35" name="Text Placeholder 34">
            <a:extLst>
              <a:ext uri="{FF2B5EF4-FFF2-40B4-BE49-F238E27FC236}">
                <a16:creationId xmlns:a16="http://schemas.microsoft.com/office/drawing/2014/main" id="{A74FEA81-573E-4137-ADB5-F067292319D0}"/>
              </a:ext>
            </a:extLst>
          </p:cNvPr>
          <p:cNvSpPr>
            <a:spLocks noGrp="1"/>
          </p:cNvSpPr>
          <p:nvPr>
            <p:ph type="body" sz="quarter" idx="28"/>
          </p:nvPr>
        </p:nvSpPr>
        <p:spPr bwMode="gray"/>
        <p:txBody>
          <a:bodyPr/>
          <a:lstStyle/>
          <a:p>
            <a:endParaRPr lang="en-US"/>
          </a:p>
        </p:txBody>
      </p:sp>
      <p:sp>
        <p:nvSpPr>
          <p:cNvPr id="36" name="Text Placeholder 35">
            <a:extLst>
              <a:ext uri="{FF2B5EF4-FFF2-40B4-BE49-F238E27FC236}">
                <a16:creationId xmlns:a16="http://schemas.microsoft.com/office/drawing/2014/main" id="{BF0BD31C-B3AC-4D6E-AB26-084EBFCC83D0}"/>
              </a:ext>
            </a:extLst>
          </p:cNvPr>
          <p:cNvSpPr>
            <a:spLocks noGrp="1"/>
          </p:cNvSpPr>
          <p:nvPr>
            <p:ph type="body" sz="quarter" idx="29"/>
          </p:nvPr>
        </p:nvSpPr>
        <p:spPr bwMode="gray"/>
        <p:txBody>
          <a:bodyPr/>
          <a:lstStyle/>
          <a:p>
            <a:endParaRPr lang="en-US"/>
          </a:p>
        </p:txBody>
      </p:sp>
      <p:sp>
        <p:nvSpPr>
          <p:cNvPr id="37" name="Text Placeholder 36">
            <a:extLst>
              <a:ext uri="{FF2B5EF4-FFF2-40B4-BE49-F238E27FC236}">
                <a16:creationId xmlns:a16="http://schemas.microsoft.com/office/drawing/2014/main" id="{041DD49B-8FA9-4D89-92E3-3A0212A9FD6D}"/>
              </a:ext>
            </a:extLst>
          </p:cNvPr>
          <p:cNvSpPr>
            <a:spLocks noGrp="1"/>
          </p:cNvSpPr>
          <p:nvPr>
            <p:ph type="body" sz="quarter" idx="30"/>
          </p:nvPr>
        </p:nvSpPr>
        <p:spPr bwMode="gray"/>
        <p:txBody>
          <a:bodyPr/>
          <a:lstStyle/>
          <a:p>
            <a:endParaRPr lang="en-US"/>
          </a:p>
        </p:txBody>
      </p:sp>
      <p:sp>
        <p:nvSpPr>
          <p:cNvPr id="38" name="Text Placeholder 37">
            <a:extLst>
              <a:ext uri="{FF2B5EF4-FFF2-40B4-BE49-F238E27FC236}">
                <a16:creationId xmlns:a16="http://schemas.microsoft.com/office/drawing/2014/main" id="{D92098F8-E86F-472D-BE2F-9108A922FA4B}"/>
              </a:ext>
            </a:extLst>
          </p:cNvPr>
          <p:cNvSpPr>
            <a:spLocks noGrp="1"/>
          </p:cNvSpPr>
          <p:nvPr>
            <p:ph type="body" sz="quarter" idx="31"/>
          </p:nvPr>
        </p:nvSpPr>
        <p:spPr bwMode="gray"/>
        <p:txBody>
          <a:bodyPr/>
          <a:lstStyle/>
          <a:p>
            <a:endParaRPr lang="en-US"/>
          </a:p>
        </p:txBody>
      </p:sp>
      <p:sp>
        <p:nvSpPr>
          <p:cNvPr id="39" name="Text Placeholder 38">
            <a:extLst>
              <a:ext uri="{FF2B5EF4-FFF2-40B4-BE49-F238E27FC236}">
                <a16:creationId xmlns:a16="http://schemas.microsoft.com/office/drawing/2014/main" id="{CC7534E6-3AED-4335-98BD-66CC583CD1AD}"/>
              </a:ext>
            </a:extLst>
          </p:cNvPr>
          <p:cNvSpPr>
            <a:spLocks noGrp="1"/>
          </p:cNvSpPr>
          <p:nvPr>
            <p:ph type="body" sz="quarter" idx="32"/>
          </p:nvPr>
        </p:nvSpPr>
        <p:spPr bwMode="gray"/>
        <p:txBody>
          <a:bodyPr/>
          <a:lstStyle/>
          <a:p>
            <a:endParaRPr lang="en-US"/>
          </a:p>
        </p:txBody>
      </p:sp>
    </p:spTree>
    <p:extLst>
      <p:ext uri="{BB962C8B-B14F-4D97-AF65-F5344CB8AC3E}">
        <p14:creationId xmlns:p14="http://schemas.microsoft.com/office/powerpoint/2010/main" val="2665902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tsShapeName" descr="8CE5295821885C70CB254E5500C4G505083E@F83E@PB26513!!!!!!BIHO@]b26513!!!!@5E19B011306188854E31!籽吓纪撑泞变/qqu!!!!!!!!!!!!!!!!!!!!!!!!!!!!!!!!!!!!!!!!!!!!!!!!!!!!!!!!!!!!!!!!!!!!!!!!!!!!!!!!!!!!!!!!!!!!!!!!!!!!!!!!!!!!!!!!!!!!!!!!!!!!!!!!!!!!!!!!!!!!!!!!!!!!!!!!!!!!!!!!!!!!!!!!!!!!!!!!!!!!!!!!!!!!!!!!!!!!!!!!!!!!!!!!!!!!!!!!!!!!!!!!!!!!!!!!!!!!!!!!!!!!!!!!!!!!!!!!!!!!!!!!!!!!!!!!!!!!!!!!!!!!!!!!!!!!!!!!!!!!!!!!!!!!!!!!!!!!!!!!!!!!!!!!!!!!!!!!!!!!!!!!!!!!!!!!!!!!!!!!!!!!!!!!!!!!!!!!!!!!!!!!!!!!!!!!!!!!!!!!!!!!!!!!!!!!!!!!!!!!!!!!!!!!!!!!!!!!!!!!!!!!!!!!!!!!!!!!!!!!!!!!!!!!!!!!!!!!!!!!!!!!!!!!!!!!!!!!!!!!!!!!!!!!!!!!!!!!!!!!!!!!!!!!!!!!!!!!!!!!!!!!!!!!!!!!!!!!!!!!!!!!!!!!!!!!!!!!!!!!!!!!!!!!!!!!!!!!!!!!!!!!!!!!!!!!!!!!!!!!!!!!!!!!!!!!!!!!!!!!!!!!!!!!!!!!!!!!!!!!!!!!!!!!!!!!!!!!!!!!!!!!!!!!!!!!!!!!!!!!!!!!!!!!!!!!!!!!!!!!!!!!!!!!!!!!!!!!!!!!!!!!!!!!!!!!!!!!!!!!!!!!!!!!!!!!!!!!!!!!!!!!!!!!!!!!!!!!!!!!!!!!!!!!!!!!!!!!!!!!!!!!!!!!!!!!!!!!!!!!!!!!!!!!!!!!!!!!!!!!!!!!!!!!!!!!!!!!!!!!!!!!!!!!!!!!!!!!!!!!!!!!!!!!!!!!!!!!!!!!!!!!!!!!!!!!!!!!!!!!!!!!!!!!!!!!!!!!!!!!!!!!!!!!!!!!!!!!!!!!!!!!!!!!!!!!!!!!!!!!!!!!!!!!!!!!!!!!!!!!!!!!!!!!!!!!!!!!!!!!!!!!!!!!!!!!!!!!!!!!!!!!!!!!!!!!!!!!!!!!!!!!!!!!!!!!!!!!!!!!!!!!!!!!!!!!!!!!!!!!!!!!!!!!!!!!!!!!!!!!!!!!!!!!!!!!!!!!!!!!!!!!!!!!!!!!!!!!!!!!!!!!!!!!!!!!!!!!!!!!!!!!!!!!!!!!!!!!!!!!!!!!!!!!!!!!!!!!!!!!!!!!!!!!!!!!!!!!!!!!!!!!!!!!!!!!!!!!!!!!!!!!!!!!!!!!!!!!!!!!!!!!!!!!!!!!!!!!!!!!!!!!!!!!!!!!!!!!!!!!!!!!!!!!!!!!!!!!!!!!!!!!!!!!!!!!!!!!!!!!!!!!!!!!!!!!!!!!!!!!!!!!!!!!!!!!!!!!!!!!!!!!!!!!!!!!!!!!!!!!!!!!!!!!!!!!!!!!!!!!!!!!!!!!!!!!!!!!!!!!!!!!!!!!!!!!!!!!!!!!!!!!!!!!!!!!!!!!!!!!!!!!!!!!!!!!!!!!!!!!!!!!!!!!!!!!!!!!!!!!!!!!!!!!!!!!!!!!!!!!!!!!!!!!!!!!!!!!!!!!!!!!!!!!!!!!!!!!!!!!!!!!!!!!!!!!!!!!!!!!!!!!!!!!!!!!!!!!!!!!!!!!!!!!!!!!!!!!!!!!!!!!!!!!!!!!!!!!!!!!!!!!!!!!!!!!!!!!!!!!!!!!!!!!!!!!!!!!!!!!!!!!!!!!!!!!!!!!!!!!!!!!!!!!!!!!!!!!!!!!!!!!!!!!!!!!!!!!!!!!!!!!!!!!!!!!!!!!!!!!!!!!!!!!!!!!!!!!!!!!!!!!!!!!!!!!!!!!!!!!!!!!!!!!!!!!!!!!!!!!!!!!!!!!!!!!!!!!!!!!!!!!!!!!!!!!!!!!!!!!!!!!!!!!!!!!!!!!!!!!!!!!!!!!!!!!!!!!!!!!!!!!!!!!!!!!!!!!!!!!!!!!!!!!!!!!!!!!!!!!!!!!!!!!!!!!!!!!!!!!!!!!!!!!!!!!!!!!!!!!!!!!!!!!!!!!!!!!!!!!!!!!!!!!!!!!!!!!!!!!!!!!!!!!!!!!!!!!!!!!!!!!!!!!!!!!!!!!!!!!!!!!!!!!!!!!!!!!!!!!!!!!!!!!!!!!!!!!!!!!!!!!!!!!!!!!!!!!!!!!!!!!!!!!!!!!!!!!!!!!!!!!!!!!!!!!!!!!!!!!!!!!!!!!!!!!!!!!!!!!!!!!!!!!!!!!!!!!!!!!!!!!!!!!!!!!!!!!!!!!!!!!!!!!!!!!!!!!!!!!!!!!!!!!!!!!!!!!!!!!!!!!!!!!!!!!!!!!!!!!!!!!1!1" hidden="1"/>
          <p:cNvSpPr>
            <a:spLocks noChangeArrowheads="1"/>
          </p:cNvSpPr>
          <p:nvPr/>
        </p:nvSpPr>
        <p:spPr bwMode="auto">
          <a:xfrm>
            <a:off x="1524000" y="0"/>
            <a:ext cx="1588" cy="1588"/>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5033 w 21600"/>
              <a:gd name="T13" fmla="*/ 2272 h 21600"/>
              <a:gd name="T14" fmla="*/ 16554 w 21600"/>
              <a:gd name="T15" fmla="*/ 13684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p:spPr>
        <p:txBody>
          <a:bodyPr wrap="none" anchor="ctr"/>
          <a:lstStyle/>
          <a:p>
            <a:endParaRPr lang="zh-CN" altLang="en-US"/>
          </a:p>
        </p:txBody>
      </p:sp>
      <p:sp>
        <p:nvSpPr>
          <p:cNvPr id="14" name="标题 13"/>
          <p:cNvSpPr>
            <a:spLocks noGrp="1"/>
          </p:cNvSpPr>
          <p:nvPr>
            <p:ph type="ctrTitle"/>
          </p:nvPr>
        </p:nvSpPr>
        <p:spPr bwMode="gray"/>
        <p:txBody>
          <a:bodyPr/>
          <a:lstStyle/>
          <a:p>
            <a:r>
              <a:rPr lang="zh-CN" altLang="en-US" dirty="0"/>
              <a:t>广域互联关键技术详解</a:t>
            </a:r>
          </a:p>
        </p:txBody>
      </p:sp>
    </p:spTree>
    <p:extLst>
      <p:ext uri="{BB962C8B-B14F-4D97-AF65-F5344CB8AC3E}">
        <p14:creationId xmlns:p14="http://schemas.microsoft.com/office/powerpoint/2010/main" val="2992108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2000" dirty="0"/>
              <a:t>广域互联技术纷杂多样，不同的技术有不同的使用场景和产生背景。</a:t>
            </a:r>
            <a:endParaRPr lang="en-US" altLang="zh-CN" sz="2000" dirty="0"/>
          </a:p>
          <a:p>
            <a:r>
              <a:rPr lang="zh-CN" altLang="en-US" sz="2000" dirty="0"/>
              <a:t>现网中广域互联组网技术主要使用了</a:t>
            </a:r>
            <a:r>
              <a:rPr lang="en-US" altLang="zh-CN" sz="2000" dirty="0"/>
              <a:t>GRE</a:t>
            </a:r>
            <a:r>
              <a:rPr lang="zh-CN" altLang="en-US" sz="2000" dirty="0"/>
              <a:t>与</a:t>
            </a:r>
            <a:r>
              <a:rPr lang="en-US" altLang="zh-CN" sz="2000" dirty="0"/>
              <a:t>L2TP</a:t>
            </a:r>
            <a:r>
              <a:rPr lang="zh-CN" altLang="en-US" sz="2000" dirty="0"/>
              <a:t>技术，同时为了保障</a:t>
            </a:r>
            <a:r>
              <a:rPr lang="en-US" altLang="zh-CN" sz="2000" dirty="0"/>
              <a:t>GRE</a:t>
            </a:r>
            <a:r>
              <a:rPr lang="zh-CN" altLang="en-US" sz="2000" dirty="0"/>
              <a:t>与</a:t>
            </a:r>
            <a:r>
              <a:rPr lang="en-US" altLang="zh-CN" sz="2000" dirty="0"/>
              <a:t>L2TP</a:t>
            </a:r>
            <a:r>
              <a:rPr lang="zh-CN" altLang="en-US" sz="2000" dirty="0"/>
              <a:t>隧道的安全，一般会辅助使用</a:t>
            </a:r>
            <a:r>
              <a:rPr lang="en-US" altLang="zh-CN" sz="2000" dirty="0"/>
              <a:t>IPsec</a:t>
            </a:r>
            <a:r>
              <a:rPr lang="zh-CN" altLang="en-US" sz="2000" dirty="0"/>
              <a:t>技术。</a:t>
            </a:r>
            <a:endParaRPr lang="en-US" altLang="zh-CN" sz="2000" dirty="0"/>
          </a:p>
          <a:p>
            <a:r>
              <a:rPr lang="zh-CN" altLang="en-US" sz="2000" dirty="0"/>
              <a:t>在现网中部分广域互联设备位于</a:t>
            </a:r>
            <a:r>
              <a:rPr lang="en-US" altLang="zh-CN" sz="2000" dirty="0"/>
              <a:t>NAT</a:t>
            </a:r>
            <a:r>
              <a:rPr lang="zh-CN" altLang="en-US" sz="2000" dirty="0"/>
              <a:t>设备之后，因此</a:t>
            </a:r>
            <a:r>
              <a:rPr lang="en-US" altLang="zh-CN" sz="2000" dirty="0"/>
              <a:t>NAT</a:t>
            </a:r>
            <a:r>
              <a:rPr lang="zh-CN" altLang="en-US" sz="2000" dirty="0"/>
              <a:t>穿越技术在广域互联中也有很多应用场景。</a:t>
            </a:r>
            <a:endParaRPr lang="en-US" altLang="zh-CN" sz="2000" dirty="0"/>
          </a:p>
          <a:p>
            <a:r>
              <a:rPr lang="zh-CN" altLang="en-US" sz="2000" dirty="0"/>
              <a:t>为了保障广域互联的可靠性，一般上行会部署多链路，多链路选路也是广域互联的重要技术。</a:t>
            </a:r>
            <a:endParaRPr lang="en-US" altLang="zh-CN" sz="2000" dirty="0"/>
          </a:p>
          <a:p>
            <a:r>
              <a:rPr lang="zh-CN" altLang="en-US" sz="2000" dirty="0"/>
              <a:t>本课程将对广域互联场景中用到的常用技术做详细介绍。</a:t>
            </a:r>
          </a:p>
        </p:txBody>
      </p:sp>
    </p:spTree>
    <p:extLst>
      <p:ext uri="{BB962C8B-B14F-4D97-AF65-F5344CB8AC3E}">
        <p14:creationId xmlns:p14="http://schemas.microsoft.com/office/powerpoint/2010/main" val="548368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bwMode="gray"/>
        <p:txBody>
          <a:bodyPr/>
          <a:lstStyle/>
          <a:p>
            <a:r>
              <a:rPr lang="zh-CN" altLang="en-US" dirty="0"/>
              <a:t>学完本课程后，您将能够：</a:t>
            </a:r>
          </a:p>
          <a:p>
            <a:pPr lvl="1"/>
            <a:r>
              <a:rPr lang="zh-CN" altLang="en-US" dirty="0"/>
              <a:t>描述常用广域互联组网技术的工作原理</a:t>
            </a:r>
            <a:endParaRPr lang="en-US" altLang="zh-CN" dirty="0"/>
          </a:p>
          <a:p>
            <a:pPr lvl="1"/>
            <a:r>
              <a:rPr lang="zh-CN" altLang="en-US" dirty="0"/>
              <a:t>描述</a:t>
            </a:r>
            <a:r>
              <a:rPr lang="en-US" altLang="zh-CN" dirty="0"/>
              <a:t>IPsec</a:t>
            </a:r>
            <a:r>
              <a:rPr lang="zh-CN" altLang="en-US" dirty="0"/>
              <a:t>的工作原理</a:t>
            </a:r>
            <a:endParaRPr lang="en-US" altLang="zh-CN" dirty="0"/>
          </a:p>
          <a:p>
            <a:pPr lvl="1"/>
            <a:r>
              <a:rPr lang="zh-CN" altLang="en-US" dirty="0"/>
              <a:t>描述</a:t>
            </a:r>
            <a:r>
              <a:rPr lang="en-US" altLang="zh-CN" dirty="0"/>
              <a:t>NAT</a:t>
            </a:r>
            <a:r>
              <a:rPr lang="zh-CN" altLang="en-US" dirty="0"/>
              <a:t>穿越的常用方案与基本原理</a:t>
            </a:r>
            <a:endParaRPr lang="en-US" altLang="zh-CN" dirty="0"/>
          </a:p>
          <a:p>
            <a:pPr lvl="1"/>
            <a:r>
              <a:rPr lang="zh-CN" altLang="en-US" dirty="0"/>
              <a:t>描述广域互联智能选路的工作原理</a:t>
            </a:r>
            <a:endParaRPr lang="en-US" altLang="zh-CN" dirty="0"/>
          </a:p>
        </p:txBody>
      </p:sp>
    </p:spTree>
    <p:extLst>
      <p:ext uri="{BB962C8B-B14F-4D97-AF65-F5344CB8AC3E}">
        <p14:creationId xmlns:p14="http://schemas.microsoft.com/office/powerpoint/2010/main" val="234952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t>广域互联常用组网技术</a:t>
            </a:r>
            <a:endParaRPr lang="en-US" altLang="zh-CN" b="1" dirty="0"/>
          </a:p>
          <a:p>
            <a:pPr lvl="1">
              <a:buSzPct val="60000"/>
              <a:buFont typeface="Wingdings" panose="05000000000000000000" pitchFamily="2" charset="2"/>
              <a:buChar char="n"/>
            </a:pPr>
            <a:r>
              <a:rPr lang="en-US" altLang="zh-CN" dirty="0"/>
              <a:t>GRE</a:t>
            </a:r>
            <a:r>
              <a:rPr lang="zh-CN" altLang="en-US" dirty="0"/>
              <a:t>原理与应用场景</a:t>
            </a:r>
            <a:endParaRPr lang="en-US" altLang="zh-CN" dirty="0"/>
          </a:p>
          <a:p>
            <a:pPr lvl="1"/>
            <a:r>
              <a:rPr lang="en-US" altLang="zh-CN" dirty="0">
                <a:solidFill>
                  <a:schemeClr val="bg1">
                    <a:lumMod val="50000"/>
                  </a:schemeClr>
                </a:solidFill>
              </a:rPr>
              <a:t>L2TP</a:t>
            </a:r>
            <a:r>
              <a:rPr lang="zh-CN" altLang="en-US" dirty="0">
                <a:solidFill>
                  <a:schemeClr val="bg1">
                    <a:lumMod val="50000"/>
                  </a:schemeClr>
                </a:solidFill>
              </a:rPr>
              <a:t>原理与应用场景</a:t>
            </a:r>
            <a:endParaRPr lang="en-US" altLang="zh-CN" dirty="0">
              <a:solidFill>
                <a:schemeClr val="bg1">
                  <a:lumMod val="50000"/>
                </a:schemeClr>
              </a:solidFill>
            </a:endParaRPr>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3370858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189A7C-3463-41FD-AB59-B6FE1E101D37}"/>
              </a:ext>
            </a:extLst>
          </p:cNvPr>
          <p:cNvSpPr>
            <a:spLocks noGrp="1"/>
          </p:cNvSpPr>
          <p:nvPr>
            <p:ph type="title"/>
          </p:nvPr>
        </p:nvSpPr>
        <p:spPr bwMode="gray"/>
        <p:txBody>
          <a:bodyPr/>
          <a:lstStyle/>
          <a:p>
            <a:r>
              <a:rPr lang="en-US" dirty="0"/>
              <a:t>GRE</a:t>
            </a:r>
            <a:r>
              <a:rPr lang="zh-CN" altLang="en-US" dirty="0"/>
              <a:t>产生背景</a:t>
            </a:r>
            <a:endParaRPr lang="en-US" dirty="0"/>
          </a:p>
        </p:txBody>
      </p:sp>
      <p:sp>
        <p:nvSpPr>
          <p:cNvPr id="4" name="Text Placeholder 3">
            <a:extLst>
              <a:ext uri="{FF2B5EF4-FFF2-40B4-BE49-F238E27FC236}">
                <a16:creationId xmlns:a16="http://schemas.microsoft.com/office/drawing/2014/main" id="{BC7BFAC4-D81E-4A6C-8F5D-6526B2B790C6}"/>
              </a:ext>
            </a:extLst>
          </p:cNvPr>
          <p:cNvSpPr>
            <a:spLocks noGrp="1"/>
          </p:cNvSpPr>
          <p:nvPr>
            <p:ph type="body" sz="quarter" idx="10"/>
          </p:nvPr>
        </p:nvSpPr>
        <p:spPr bwMode="gray">
          <a:xfrm>
            <a:off x="455612" y="1055633"/>
            <a:ext cx="11293475" cy="4879805"/>
          </a:xfrm>
        </p:spPr>
        <p:txBody>
          <a:bodyPr/>
          <a:lstStyle/>
          <a:p>
            <a:r>
              <a:rPr lang="zh-CN" altLang="en-US" sz="1600" dirty="0"/>
              <a:t>随着企业的发展，越来越多的企业需要在分支</a:t>
            </a:r>
            <a:r>
              <a:rPr lang="en-US" altLang="zh-CN" sz="1600" dirty="0"/>
              <a:t>-</a:t>
            </a:r>
            <a:r>
              <a:rPr lang="zh-CN" altLang="en-US" sz="1600" dirty="0"/>
              <a:t>总部之间进行内网通信。传统分支</a:t>
            </a:r>
            <a:r>
              <a:rPr lang="en-US" altLang="zh-CN" sz="1600" dirty="0"/>
              <a:t>-</a:t>
            </a:r>
            <a:r>
              <a:rPr lang="zh-CN" altLang="en-US" sz="1600" dirty="0"/>
              <a:t>总部之间内网通信需要租用专线（比如</a:t>
            </a:r>
            <a:r>
              <a:rPr lang="en-US" altLang="zh-CN" sz="1600" dirty="0"/>
              <a:t>MPLS</a:t>
            </a:r>
            <a:r>
              <a:rPr lang="zh-CN" altLang="en-US" sz="1600" dirty="0"/>
              <a:t>，传输专线等）。但是专线价格昂贵，对于中小型企业，或者跨国公司来说，成本较高。</a:t>
            </a:r>
            <a:endParaRPr lang="en-US" altLang="zh-CN" sz="1600" dirty="0"/>
          </a:p>
          <a:p>
            <a:r>
              <a:rPr lang="zh-CN" altLang="en-US" sz="1600" dirty="0"/>
              <a:t>由于</a:t>
            </a:r>
            <a:r>
              <a:rPr lang="en-US" altLang="zh-CN" sz="1600" dirty="0"/>
              <a:t>Internet</a:t>
            </a:r>
            <a:r>
              <a:rPr lang="zh-CN" altLang="en-US" sz="1600" dirty="0"/>
              <a:t>的发展，</a:t>
            </a:r>
            <a:r>
              <a:rPr lang="en-US" altLang="zh-CN" sz="1600" dirty="0"/>
              <a:t>Internet</a:t>
            </a:r>
            <a:r>
              <a:rPr lang="zh-CN" altLang="en-US" sz="1600" dirty="0"/>
              <a:t>网有了足够的带宽和覆盖，通过</a:t>
            </a:r>
            <a:r>
              <a:rPr lang="en-US" altLang="zh-CN" sz="1600" dirty="0"/>
              <a:t>Internet</a:t>
            </a:r>
            <a:r>
              <a:rPr lang="zh-CN" altLang="en-US" sz="1600" dirty="0"/>
              <a:t>建立分支</a:t>
            </a:r>
            <a:r>
              <a:rPr lang="en-US" altLang="zh-CN" sz="1600" dirty="0"/>
              <a:t>-</a:t>
            </a:r>
            <a:r>
              <a:rPr lang="zh-CN" altLang="en-US" sz="1600" dirty="0"/>
              <a:t>总部内网通信的可行性越来越高，</a:t>
            </a:r>
            <a:r>
              <a:rPr lang="en-US" altLang="zh-CN" sz="1600" dirty="0"/>
              <a:t>GRE</a:t>
            </a:r>
            <a:r>
              <a:rPr lang="zh-CN" altLang="en-US" sz="1600" dirty="0"/>
              <a:t>（</a:t>
            </a:r>
            <a:r>
              <a:rPr lang="en-US" altLang="zh-CN" sz="1600" dirty="0"/>
              <a:t>Generic Routing Encapsulation</a:t>
            </a:r>
            <a:r>
              <a:rPr lang="zh-CN" altLang="en-US" sz="1600" dirty="0"/>
              <a:t>，通用路由封装协议）就是在这种背景下被提出的。</a:t>
            </a:r>
            <a:endParaRPr lang="en-US" altLang="zh-CN" sz="1600" dirty="0"/>
          </a:p>
          <a:p>
            <a:r>
              <a:rPr lang="zh-CN" altLang="en-US" sz="1600" dirty="0"/>
              <a:t>通过</a:t>
            </a:r>
            <a:r>
              <a:rPr lang="en-US" altLang="zh-CN" sz="1600" dirty="0"/>
              <a:t>GRE</a:t>
            </a:r>
            <a:r>
              <a:rPr lang="zh-CN" altLang="en-US" sz="1600" dirty="0"/>
              <a:t>隧道，分支和总部之间可以基于</a:t>
            </a:r>
            <a:r>
              <a:rPr lang="en-US" altLang="zh-CN" sz="1600" dirty="0"/>
              <a:t>Internet</a:t>
            </a:r>
            <a:r>
              <a:rPr lang="zh-CN" altLang="en-US" sz="1600" dirty="0"/>
              <a:t>建立企业网络。</a:t>
            </a:r>
            <a:endParaRPr lang="en-US" sz="1600" dirty="0"/>
          </a:p>
        </p:txBody>
      </p:sp>
      <p:grpSp>
        <p:nvGrpSpPr>
          <p:cNvPr id="53" name="Group 52">
            <a:extLst>
              <a:ext uri="{FF2B5EF4-FFF2-40B4-BE49-F238E27FC236}">
                <a16:creationId xmlns:a16="http://schemas.microsoft.com/office/drawing/2014/main" id="{10BEAF44-6DBF-4740-89C9-827656CA522C}"/>
              </a:ext>
            </a:extLst>
          </p:cNvPr>
          <p:cNvGrpSpPr/>
          <p:nvPr/>
        </p:nvGrpSpPr>
        <p:grpSpPr bwMode="gray">
          <a:xfrm>
            <a:off x="4927307" y="2774959"/>
            <a:ext cx="6532856" cy="3385530"/>
            <a:chOff x="2963652" y="2903982"/>
            <a:chExt cx="6532856" cy="3385530"/>
          </a:xfrm>
        </p:grpSpPr>
        <p:sp>
          <p:nvSpPr>
            <p:cNvPr id="5" name="梯形 41">
              <a:extLst>
                <a:ext uri="{FF2B5EF4-FFF2-40B4-BE49-F238E27FC236}">
                  <a16:creationId xmlns:a16="http://schemas.microsoft.com/office/drawing/2014/main" id="{77EA1B3D-1ECD-4A87-BB66-D82C7EC89F56}"/>
                </a:ext>
              </a:extLst>
            </p:cNvPr>
            <p:cNvSpPr/>
            <p:nvPr/>
          </p:nvSpPr>
          <p:spPr bwMode="gray">
            <a:xfrm>
              <a:off x="2963652" y="4185084"/>
              <a:ext cx="6532856" cy="2095302"/>
            </a:xfrm>
            <a:prstGeom prst="trapezoid">
              <a:avLst>
                <a:gd name="adj" fmla="val 75739"/>
              </a:avLst>
            </a:prstGeom>
            <a:gradFill>
              <a:gsLst>
                <a:gs pos="0">
                  <a:schemeClr val="accent1">
                    <a:lumMod val="5000"/>
                    <a:lumOff val="95000"/>
                  </a:schemeClr>
                </a:gs>
                <a:gs pos="100000">
                  <a:srgbClr val="94DAE2">
                    <a:alpha val="50000"/>
                  </a:srgbClr>
                </a:gs>
              </a:gsLst>
              <a:lin ang="5400000" scaled="1"/>
            </a:gra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31">
              <a:extLst>
                <a:ext uri="{FF2B5EF4-FFF2-40B4-BE49-F238E27FC236}">
                  <a16:creationId xmlns:a16="http://schemas.microsoft.com/office/drawing/2014/main" id="{BDCD49D3-8C88-4438-8027-4DCA3886B6CE}"/>
                </a:ext>
              </a:extLst>
            </p:cNvPr>
            <p:cNvPicPr>
              <a:picLocks noChangeAspect="1"/>
            </p:cNvPicPr>
            <p:nvPr/>
          </p:nvPicPr>
          <p:blipFill>
            <a:blip r:embed="rId3">
              <a:duotone>
                <a:schemeClr val="accent3">
                  <a:shade val="45000"/>
                  <a:satMod val="135000"/>
                </a:schemeClr>
                <a:prstClr val="white"/>
              </a:duotone>
            </a:blip>
            <a:stretch>
              <a:fillRect/>
            </a:stretch>
          </p:blipFill>
          <p:spPr bwMode="gray">
            <a:xfrm>
              <a:off x="4997285" y="4928228"/>
              <a:ext cx="466668" cy="389308"/>
            </a:xfrm>
            <a:prstGeom prst="rect">
              <a:avLst/>
            </a:prstGeom>
          </p:spPr>
        </p:pic>
        <p:pic>
          <p:nvPicPr>
            <p:cNvPr id="7" name="图片 31">
              <a:extLst>
                <a:ext uri="{FF2B5EF4-FFF2-40B4-BE49-F238E27FC236}">
                  <a16:creationId xmlns:a16="http://schemas.microsoft.com/office/drawing/2014/main" id="{50B96E5A-71C0-47B8-AC29-227B18E76FD3}"/>
                </a:ext>
              </a:extLst>
            </p:cNvPr>
            <p:cNvPicPr>
              <a:picLocks noChangeAspect="1"/>
            </p:cNvPicPr>
            <p:nvPr/>
          </p:nvPicPr>
          <p:blipFill>
            <a:blip r:embed="rId3">
              <a:duotone>
                <a:schemeClr val="accent3">
                  <a:shade val="45000"/>
                  <a:satMod val="135000"/>
                </a:schemeClr>
                <a:prstClr val="white"/>
              </a:duotone>
            </a:blip>
            <a:stretch>
              <a:fillRect/>
            </a:stretch>
          </p:blipFill>
          <p:spPr bwMode="gray">
            <a:xfrm>
              <a:off x="4250368" y="5788239"/>
              <a:ext cx="466668" cy="389308"/>
            </a:xfrm>
            <a:prstGeom prst="rect">
              <a:avLst/>
            </a:prstGeom>
          </p:spPr>
        </p:pic>
        <p:pic>
          <p:nvPicPr>
            <p:cNvPr id="8" name="图片 25">
              <a:extLst>
                <a:ext uri="{FF2B5EF4-FFF2-40B4-BE49-F238E27FC236}">
                  <a16:creationId xmlns:a16="http://schemas.microsoft.com/office/drawing/2014/main" id="{45321924-D742-4FAC-B176-F1B07A9E91FD}"/>
                </a:ext>
              </a:extLst>
            </p:cNvPr>
            <p:cNvPicPr>
              <a:picLocks noChangeAspect="1"/>
            </p:cNvPicPr>
            <p:nvPr/>
          </p:nvPicPr>
          <p:blipFill>
            <a:blip r:embed="rId3">
              <a:duotone>
                <a:schemeClr val="accent3">
                  <a:shade val="45000"/>
                  <a:satMod val="135000"/>
                </a:schemeClr>
                <a:prstClr val="white"/>
              </a:duotone>
            </a:blip>
            <a:stretch>
              <a:fillRect/>
            </a:stretch>
          </p:blipFill>
          <p:spPr bwMode="gray">
            <a:xfrm>
              <a:off x="7243832" y="5320622"/>
              <a:ext cx="466668" cy="389308"/>
            </a:xfrm>
            <a:prstGeom prst="rect">
              <a:avLst/>
            </a:prstGeom>
          </p:spPr>
        </p:pic>
        <p:pic>
          <p:nvPicPr>
            <p:cNvPr id="9" name="图片 31">
              <a:extLst>
                <a:ext uri="{FF2B5EF4-FFF2-40B4-BE49-F238E27FC236}">
                  <a16:creationId xmlns:a16="http://schemas.microsoft.com/office/drawing/2014/main" id="{5C321492-0D12-4A2C-924B-4B20E76A4BB8}"/>
                </a:ext>
              </a:extLst>
            </p:cNvPr>
            <p:cNvPicPr>
              <a:picLocks noChangeAspect="1"/>
            </p:cNvPicPr>
            <p:nvPr/>
          </p:nvPicPr>
          <p:blipFill>
            <a:blip r:embed="rId3">
              <a:duotone>
                <a:schemeClr val="accent3">
                  <a:shade val="45000"/>
                  <a:satMod val="135000"/>
                </a:schemeClr>
                <a:prstClr val="white"/>
              </a:duotone>
            </a:blip>
            <a:stretch>
              <a:fillRect/>
            </a:stretch>
          </p:blipFill>
          <p:spPr bwMode="gray">
            <a:xfrm>
              <a:off x="6385815" y="4473116"/>
              <a:ext cx="466668" cy="389308"/>
            </a:xfrm>
            <a:prstGeom prst="rect">
              <a:avLst/>
            </a:prstGeom>
          </p:spPr>
        </p:pic>
        <p:sp>
          <p:nvSpPr>
            <p:cNvPr id="10" name="Freeform 159">
              <a:extLst>
                <a:ext uri="{FF2B5EF4-FFF2-40B4-BE49-F238E27FC236}">
                  <a16:creationId xmlns:a16="http://schemas.microsoft.com/office/drawing/2014/main" id="{CCD5315C-80AE-4210-B801-6B527AD9F5AA}"/>
                </a:ext>
              </a:extLst>
            </p:cNvPr>
            <p:cNvSpPr/>
            <p:nvPr/>
          </p:nvSpPr>
          <p:spPr bwMode="gray">
            <a:xfrm flipH="1">
              <a:off x="5237675" y="5139968"/>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rgbClr val="C7000B"/>
                  </a:solidFill>
                </a:rPr>
                <a:t>Internet</a:t>
              </a:r>
              <a:endParaRPr lang="en-US" sz="1400" dirty="0">
                <a:solidFill>
                  <a:srgbClr val="C7000B"/>
                </a:solidFill>
              </a:endParaRPr>
            </a:p>
          </p:txBody>
        </p:sp>
        <p:pic>
          <p:nvPicPr>
            <p:cNvPr id="11" name="图片 86">
              <a:extLst>
                <a:ext uri="{FF2B5EF4-FFF2-40B4-BE49-F238E27FC236}">
                  <a16:creationId xmlns:a16="http://schemas.microsoft.com/office/drawing/2014/main" id="{C3E2DC51-07B4-440C-96A8-C6A2BD82A66C}"/>
                </a:ext>
              </a:extLst>
            </p:cNvPr>
            <p:cNvPicPr>
              <a:picLocks/>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745960" y="5153790"/>
              <a:ext cx="391752" cy="321237"/>
            </a:xfrm>
            <a:prstGeom prst="rect">
              <a:avLst/>
            </a:prstGeom>
          </p:spPr>
        </p:pic>
        <p:pic>
          <p:nvPicPr>
            <p:cNvPr id="12" name="Picture 12" descr="E:\2016.01\1.12 扁平化图标\蓝色\AR-蓝色最新-40.png">
              <a:extLst>
                <a:ext uri="{FF2B5EF4-FFF2-40B4-BE49-F238E27FC236}">
                  <a16:creationId xmlns:a16="http://schemas.microsoft.com/office/drawing/2014/main" id="{3CFB30E3-3FF0-47F1-92A0-7F476A688CCE}"/>
                </a:ext>
              </a:extLst>
            </p:cNvPr>
            <p:cNvPicPr>
              <a:picLocks noChangeAspect="1" noChangeArrowheads="1"/>
            </p:cNvPicPr>
            <p:nvPr/>
          </p:nvPicPr>
          <p:blipFill>
            <a:blip r:embed="rId5" cstate="print">
              <a:duotone>
                <a:schemeClr val="accent3">
                  <a:shade val="45000"/>
                  <a:satMod val="135000"/>
                </a:schemeClr>
                <a:prstClr val="white"/>
              </a:duotone>
            </a:blip>
            <a:srcRect/>
            <a:stretch>
              <a:fillRect/>
            </a:stretch>
          </p:blipFill>
          <p:spPr bwMode="gray">
            <a:xfrm>
              <a:off x="5966260" y="5762393"/>
              <a:ext cx="392039" cy="320760"/>
            </a:xfrm>
            <a:prstGeom prst="rect">
              <a:avLst/>
            </a:prstGeom>
            <a:noFill/>
          </p:spPr>
        </p:pic>
        <p:pic>
          <p:nvPicPr>
            <p:cNvPr id="13" name="图片 8" descr="DSLAM-蓝.png">
              <a:extLst>
                <a:ext uri="{FF2B5EF4-FFF2-40B4-BE49-F238E27FC236}">
                  <a16:creationId xmlns:a16="http://schemas.microsoft.com/office/drawing/2014/main" id="{C3072614-01D0-437B-B009-D00B4E17B0E7}"/>
                </a:ext>
              </a:extLst>
            </p:cNvPr>
            <p:cNvPicPr>
              <a:picLocks noChangeAspect="1"/>
            </p:cNvPicPr>
            <p:nvPr/>
          </p:nvPicPr>
          <p:blipFill>
            <a:blip r:embed="rId6" cstate="print">
              <a:duotone>
                <a:schemeClr val="accent3">
                  <a:shade val="45000"/>
                  <a:satMod val="135000"/>
                </a:schemeClr>
                <a:prstClr val="white"/>
              </a:duotone>
            </a:blip>
            <a:stretch>
              <a:fillRect/>
            </a:stretch>
          </p:blipFill>
          <p:spPr bwMode="gray">
            <a:xfrm>
              <a:off x="5363021" y="5762393"/>
              <a:ext cx="392042" cy="320760"/>
            </a:xfrm>
            <a:prstGeom prst="rect">
              <a:avLst/>
            </a:prstGeom>
          </p:spPr>
        </p:pic>
        <p:pic>
          <p:nvPicPr>
            <p:cNvPr id="14" name="图片 1118">
              <a:extLst>
                <a:ext uri="{FF2B5EF4-FFF2-40B4-BE49-F238E27FC236}">
                  <a16:creationId xmlns:a16="http://schemas.microsoft.com/office/drawing/2014/main" id="{2D7276A7-2A70-4ACD-8BFC-2A25EBB3E260}"/>
                </a:ext>
              </a:extLst>
            </p:cNvPr>
            <p:cNvPicPr>
              <a:picLocks noChangeAspect="1"/>
            </p:cNvPicPr>
            <p:nvPr/>
          </p:nvPicPr>
          <p:blipFill>
            <a:blip r:embed="rId7">
              <a:duotone>
                <a:schemeClr val="accent3">
                  <a:shade val="45000"/>
                  <a:satMod val="135000"/>
                </a:schemeClr>
                <a:prstClr val="white"/>
              </a:duotone>
            </a:blip>
            <a:stretch>
              <a:fillRect/>
            </a:stretch>
          </p:blipFill>
          <p:spPr bwMode="gray">
            <a:xfrm>
              <a:off x="6591034" y="5741901"/>
              <a:ext cx="450745" cy="361743"/>
            </a:xfrm>
            <a:prstGeom prst="rect">
              <a:avLst/>
            </a:prstGeom>
          </p:spPr>
        </p:pic>
        <p:cxnSp>
          <p:nvCxnSpPr>
            <p:cNvPr id="15" name="直接连接符 133">
              <a:extLst>
                <a:ext uri="{FF2B5EF4-FFF2-40B4-BE49-F238E27FC236}">
                  <a16:creationId xmlns:a16="http://schemas.microsoft.com/office/drawing/2014/main" id="{A4FBB5CE-9A65-42F8-BC5F-15ED84476097}"/>
                </a:ext>
              </a:extLst>
            </p:cNvPr>
            <p:cNvCxnSpPr>
              <a:stCxn id="7" idx="3"/>
              <a:endCxn id="10" idx="21"/>
            </p:cNvCxnSpPr>
            <p:nvPr/>
          </p:nvCxnSpPr>
          <p:spPr bwMode="gray">
            <a:xfrm flipV="1">
              <a:off x="4717036" y="5841684"/>
              <a:ext cx="520639" cy="141209"/>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6" name="直接连接符 133">
              <a:extLst>
                <a:ext uri="{FF2B5EF4-FFF2-40B4-BE49-F238E27FC236}">
                  <a16:creationId xmlns:a16="http://schemas.microsoft.com/office/drawing/2014/main" id="{B222B669-5CAA-4D9B-871E-A8EB9E9D6B95}"/>
                </a:ext>
              </a:extLst>
            </p:cNvPr>
            <p:cNvCxnSpPr>
              <a:stCxn id="6" idx="3"/>
              <a:endCxn id="10" idx="24"/>
            </p:cNvCxnSpPr>
            <p:nvPr/>
          </p:nvCxnSpPr>
          <p:spPr bwMode="gray">
            <a:xfrm>
              <a:off x="5463953" y="5122882"/>
              <a:ext cx="60111" cy="398904"/>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17" name="直接连接符 133">
              <a:extLst>
                <a:ext uri="{FF2B5EF4-FFF2-40B4-BE49-F238E27FC236}">
                  <a16:creationId xmlns:a16="http://schemas.microsoft.com/office/drawing/2014/main" id="{2E1D334D-D304-4AE8-9426-F36859F63066}"/>
                </a:ext>
              </a:extLst>
            </p:cNvPr>
            <p:cNvCxnSpPr>
              <a:stCxn id="9" idx="2"/>
              <a:endCxn id="10" idx="1"/>
            </p:cNvCxnSpPr>
            <p:nvPr/>
          </p:nvCxnSpPr>
          <p:spPr bwMode="gray">
            <a:xfrm flipH="1">
              <a:off x="6323602" y="4862424"/>
              <a:ext cx="295547" cy="417603"/>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pic>
          <p:nvPicPr>
            <p:cNvPr id="18" name="图片 13" descr="开放网络-蓝.png">
              <a:extLst>
                <a:ext uri="{FF2B5EF4-FFF2-40B4-BE49-F238E27FC236}">
                  <a16:creationId xmlns:a16="http://schemas.microsoft.com/office/drawing/2014/main" id="{EAB068B9-C3B7-4C73-9BB3-4E4E21AC0A2C}"/>
                </a:ext>
              </a:extLst>
            </p:cNvPr>
            <p:cNvPicPr>
              <a:picLocks noChangeAspect="1"/>
            </p:cNvPicPr>
            <p:nvPr/>
          </p:nvPicPr>
          <p:blipFill>
            <a:blip r:embed="rId8" cstate="print">
              <a:duotone>
                <a:schemeClr val="accent3">
                  <a:shade val="45000"/>
                  <a:satMod val="135000"/>
                </a:schemeClr>
                <a:prstClr val="white"/>
              </a:duotone>
            </a:blip>
            <a:stretch>
              <a:fillRect/>
            </a:stretch>
          </p:blipFill>
          <p:spPr bwMode="gray">
            <a:xfrm>
              <a:off x="6351211" y="5150188"/>
              <a:ext cx="391752" cy="320760"/>
            </a:xfrm>
            <a:prstGeom prst="rect">
              <a:avLst/>
            </a:prstGeom>
          </p:spPr>
        </p:pic>
        <p:cxnSp>
          <p:nvCxnSpPr>
            <p:cNvPr id="19" name="直接连接符 133">
              <a:extLst>
                <a:ext uri="{FF2B5EF4-FFF2-40B4-BE49-F238E27FC236}">
                  <a16:creationId xmlns:a16="http://schemas.microsoft.com/office/drawing/2014/main" id="{A556CBDF-A617-4250-9258-69386C623BFC}"/>
                </a:ext>
              </a:extLst>
            </p:cNvPr>
            <p:cNvCxnSpPr>
              <a:stCxn id="8" idx="1"/>
              <a:endCxn id="10" idx="7"/>
            </p:cNvCxnSpPr>
            <p:nvPr/>
          </p:nvCxnSpPr>
          <p:spPr bwMode="gray">
            <a:xfrm flipH="1">
              <a:off x="6960257" y="5515276"/>
              <a:ext cx="283575" cy="15748"/>
            </a:xfrm>
            <a:prstGeom prst="line">
              <a:avLst/>
            </a:prstGeom>
            <a:ln w="19050">
              <a:solidFill>
                <a:schemeClr val="bg1">
                  <a:lumMod val="50000"/>
                </a:schemeClr>
              </a:solidFill>
            </a:ln>
          </p:spPr>
          <p:style>
            <a:lnRef idx="3">
              <a:schemeClr val="dk1"/>
            </a:lnRef>
            <a:fillRef idx="0">
              <a:schemeClr val="dk1"/>
            </a:fillRef>
            <a:effectRef idx="2">
              <a:schemeClr val="dk1"/>
            </a:effectRef>
            <a:fontRef idx="minor">
              <a:schemeClr val="tx1"/>
            </a:fontRef>
          </p:style>
        </p:cxnSp>
        <p:cxnSp>
          <p:nvCxnSpPr>
            <p:cNvPr id="20" name="直接连接符 133">
              <a:extLst>
                <a:ext uri="{FF2B5EF4-FFF2-40B4-BE49-F238E27FC236}">
                  <a16:creationId xmlns:a16="http://schemas.microsoft.com/office/drawing/2014/main" id="{A1CB8B64-EA89-4E92-B539-E1CF17150F59}"/>
                </a:ext>
              </a:extLst>
            </p:cNvPr>
            <p:cNvCxnSpPr>
              <a:cxnSpLocks/>
              <a:stCxn id="7" idx="0"/>
              <a:endCxn id="29" idx="2"/>
            </p:cNvCxnSpPr>
            <p:nvPr/>
          </p:nvCxnSpPr>
          <p:spPr bwMode="gray">
            <a:xfrm flipV="1">
              <a:off x="4483702" y="4949727"/>
              <a:ext cx="0" cy="838512"/>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1" name="直接连接符 133">
              <a:extLst>
                <a:ext uri="{FF2B5EF4-FFF2-40B4-BE49-F238E27FC236}">
                  <a16:creationId xmlns:a16="http://schemas.microsoft.com/office/drawing/2014/main" id="{C512D527-77D7-4F2F-831D-5BE88FF22840}"/>
                </a:ext>
              </a:extLst>
            </p:cNvPr>
            <p:cNvCxnSpPr>
              <a:stCxn id="6" idx="0"/>
              <a:endCxn id="26" idx="2"/>
            </p:cNvCxnSpPr>
            <p:nvPr/>
          </p:nvCxnSpPr>
          <p:spPr bwMode="gray">
            <a:xfrm flipV="1">
              <a:off x="5230619" y="4089716"/>
              <a:ext cx="0" cy="838512"/>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2" name="直接连接符 133">
              <a:extLst>
                <a:ext uri="{FF2B5EF4-FFF2-40B4-BE49-F238E27FC236}">
                  <a16:creationId xmlns:a16="http://schemas.microsoft.com/office/drawing/2014/main" id="{8307802C-D6C1-41A2-93AE-DD4FD28112E5}"/>
                </a:ext>
              </a:extLst>
            </p:cNvPr>
            <p:cNvCxnSpPr>
              <a:stCxn id="9" idx="0"/>
              <a:endCxn id="36" idx="2"/>
            </p:cNvCxnSpPr>
            <p:nvPr/>
          </p:nvCxnSpPr>
          <p:spPr bwMode="gray">
            <a:xfrm flipV="1">
              <a:off x="6619149" y="3634604"/>
              <a:ext cx="0" cy="838512"/>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3" name="直接连接符 133">
              <a:extLst>
                <a:ext uri="{FF2B5EF4-FFF2-40B4-BE49-F238E27FC236}">
                  <a16:creationId xmlns:a16="http://schemas.microsoft.com/office/drawing/2014/main" id="{D5BB64E2-1A5B-4626-B9FB-0079BE165670}"/>
                </a:ext>
              </a:extLst>
            </p:cNvPr>
            <p:cNvCxnSpPr>
              <a:stCxn id="8" idx="0"/>
              <a:endCxn id="32" idx="2"/>
            </p:cNvCxnSpPr>
            <p:nvPr/>
          </p:nvCxnSpPr>
          <p:spPr bwMode="gray">
            <a:xfrm flipV="1">
              <a:off x="7477166" y="4482110"/>
              <a:ext cx="0" cy="838512"/>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24" name="梯形 41">
              <a:extLst>
                <a:ext uri="{FF2B5EF4-FFF2-40B4-BE49-F238E27FC236}">
                  <a16:creationId xmlns:a16="http://schemas.microsoft.com/office/drawing/2014/main" id="{B72A3630-58FD-4C86-906C-5D2172B45AB1}"/>
                </a:ext>
              </a:extLst>
            </p:cNvPr>
            <p:cNvSpPr/>
            <p:nvPr/>
          </p:nvSpPr>
          <p:spPr bwMode="gray">
            <a:xfrm>
              <a:off x="2963652" y="3366762"/>
              <a:ext cx="6532856" cy="1774451"/>
            </a:xfrm>
            <a:prstGeom prst="trapezoid">
              <a:avLst>
                <a:gd name="adj" fmla="val 75739"/>
              </a:avLst>
            </a:prstGeom>
            <a:gradFill>
              <a:gsLst>
                <a:gs pos="0">
                  <a:schemeClr val="accent1">
                    <a:lumMod val="5000"/>
                    <a:lumOff val="95000"/>
                  </a:schemeClr>
                </a:gs>
                <a:gs pos="100000">
                  <a:srgbClr val="94DAE2">
                    <a:alpha val="50000"/>
                  </a:srgbClr>
                </a:gs>
              </a:gsLst>
              <a:lin ang="5400000" scaled="1"/>
            </a:gra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159">
              <a:extLst>
                <a:ext uri="{FF2B5EF4-FFF2-40B4-BE49-F238E27FC236}">
                  <a16:creationId xmlns:a16="http://schemas.microsoft.com/office/drawing/2014/main" id="{5FD9B57C-CFAF-4A2A-8464-DFBB73F5F776}"/>
                </a:ext>
              </a:extLst>
            </p:cNvPr>
            <p:cNvSpPr/>
            <p:nvPr/>
          </p:nvSpPr>
          <p:spPr bwMode="gray">
            <a:xfrm flipH="1">
              <a:off x="4247459" y="3577164"/>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26" name="图片 31">
              <a:extLst>
                <a:ext uri="{FF2B5EF4-FFF2-40B4-BE49-F238E27FC236}">
                  <a16:creationId xmlns:a16="http://schemas.microsoft.com/office/drawing/2014/main" id="{14E42D21-19D3-4FC6-AB46-C07730436459}"/>
                </a:ext>
              </a:extLst>
            </p:cNvPr>
            <p:cNvPicPr>
              <a:picLocks noChangeAspect="1"/>
            </p:cNvPicPr>
            <p:nvPr/>
          </p:nvPicPr>
          <p:blipFill>
            <a:blip r:embed="rId3"/>
            <a:stretch>
              <a:fillRect/>
            </a:stretch>
          </p:blipFill>
          <p:spPr bwMode="gray">
            <a:xfrm>
              <a:off x="4997285" y="3700408"/>
              <a:ext cx="466668" cy="389308"/>
            </a:xfrm>
            <a:prstGeom prst="rect">
              <a:avLst/>
            </a:prstGeom>
          </p:spPr>
        </p:pic>
        <p:pic>
          <p:nvPicPr>
            <p:cNvPr id="27" name="图片 51" descr="交换机.png">
              <a:extLst>
                <a:ext uri="{FF2B5EF4-FFF2-40B4-BE49-F238E27FC236}">
                  <a16:creationId xmlns:a16="http://schemas.microsoft.com/office/drawing/2014/main" id="{76FD2991-3A76-443E-BCA0-90C7A41B82F7}"/>
                </a:ext>
              </a:extLst>
            </p:cNvPr>
            <p:cNvPicPr>
              <a:picLocks noChangeAspect="1"/>
            </p:cNvPicPr>
            <p:nvPr/>
          </p:nvPicPr>
          <p:blipFill>
            <a:blip r:embed="rId9" cstate="print"/>
            <a:stretch>
              <a:fillRect/>
            </a:stretch>
          </p:blipFill>
          <p:spPr bwMode="gray">
            <a:xfrm>
              <a:off x="4492346" y="3359094"/>
              <a:ext cx="417163" cy="341314"/>
            </a:xfrm>
            <a:prstGeom prst="rect">
              <a:avLst/>
            </a:prstGeom>
          </p:spPr>
        </p:pic>
        <p:sp>
          <p:nvSpPr>
            <p:cNvPr id="28" name="Freeform 159">
              <a:extLst>
                <a:ext uri="{FF2B5EF4-FFF2-40B4-BE49-F238E27FC236}">
                  <a16:creationId xmlns:a16="http://schemas.microsoft.com/office/drawing/2014/main" id="{5EF90E09-6D2D-40F7-9075-CD7F5871A21C}"/>
                </a:ext>
              </a:extLst>
            </p:cNvPr>
            <p:cNvSpPr/>
            <p:nvPr/>
          </p:nvSpPr>
          <p:spPr bwMode="gray">
            <a:xfrm flipH="1">
              <a:off x="3500542" y="4437175"/>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29" name="图片 31">
              <a:extLst>
                <a:ext uri="{FF2B5EF4-FFF2-40B4-BE49-F238E27FC236}">
                  <a16:creationId xmlns:a16="http://schemas.microsoft.com/office/drawing/2014/main" id="{9AB25B28-5DCC-4C25-82AF-3EAA4FAC4AEE}"/>
                </a:ext>
              </a:extLst>
            </p:cNvPr>
            <p:cNvPicPr>
              <a:picLocks noChangeAspect="1"/>
            </p:cNvPicPr>
            <p:nvPr/>
          </p:nvPicPr>
          <p:blipFill>
            <a:blip r:embed="rId3"/>
            <a:stretch>
              <a:fillRect/>
            </a:stretch>
          </p:blipFill>
          <p:spPr bwMode="gray">
            <a:xfrm>
              <a:off x="4250368" y="4560419"/>
              <a:ext cx="466668" cy="389308"/>
            </a:xfrm>
            <a:prstGeom prst="rect">
              <a:avLst/>
            </a:prstGeom>
          </p:spPr>
        </p:pic>
        <p:pic>
          <p:nvPicPr>
            <p:cNvPr id="30" name="图片 51" descr="交换机.png">
              <a:extLst>
                <a:ext uri="{FF2B5EF4-FFF2-40B4-BE49-F238E27FC236}">
                  <a16:creationId xmlns:a16="http://schemas.microsoft.com/office/drawing/2014/main" id="{89DBE1DA-41FA-4DF6-994C-C84C387E886C}"/>
                </a:ext>
              </a:extLst>
            </p:cNvPr>
            <p:cNvPicPr>
              <a:picLocks noChangeAspect="1"/>
            </p:cNvPicPr>
            <p:nvPr/>
          </p:nvPicPr>
          <p:blipFill>
            <a:blip r:embed="rId9" cstate="print"/>
            <a:stretch>
              <a:fillRect/>
            </a:stretch>
          </p:blipFill>
          <p:spPr bwMode="gray">
            <a:xfrm>
              <a:off x="3745429" y="4219105"/>
              <a:ext cx="417163" cy="341314"/>
            </a:xfrm>
            <a:prstGeom prst="rect">
              <a:avLst/>
            </a:prstGeom>
          </p:spPr>
        </p:pic>
        <p:sp>
          <p:nvSpPr>
            <p:cNvPr id="31" name="Freeform 159">
              <a:extLst>
                <a:ext uri="{FF2B5EF4-FFF2-40B4-BE49-F238E27FC236}">
                  <a16:creationId xmlns:a16="http://schemas.microsoft.com/office/drawing/2014/main" id="{E8A9402F-90FD-4AE8-BD8D-2D1D05195859}"/>
                </a:ext>
              </a:extLst>
            </p:cNvPr>
            <p:cNvSpPr/>
            <p:nvPr/>
          </p:nvSpPr>
          <p:spPr bwMode="gray">
            <a:xfrm flipH="1">
              <a:off x="7496411" y="3972716"/>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企业总部</a:t>
              </a:r>
              <a:endParaRPr lang="en-US" sz="1400" dirty="0">
                <a:solidFill>
                  <a:schemeClr val="tx1"/>
                </a:solidFill>
              </a:endParaRPr>
            </a:p>
          </p:txBody>
        </p:sp>
        <p:pic>
          <p:nvPicPr>
            <p:cNvPr id="32" name="图片 25">
              <a:extLst>
                <a:ext uri="{FF2B5EF4-FFF2-40B4-BE49-F238E27FC236}">
                  <a16:creationId xmlns:a16="http://schemas.microsoft.com/office/drawing/2014/main" id="{B111A276-0D69-4E7E-B057-50148D252A9E}"/>
                </a:ext>
              </a:extLst>
            </p:cNvPr>
            <p:cNvPicPr>
              <a:picLocks noChangeAspect="1"/>
            </p:cNvPicPr>
            <p:nvPr/>
          </p:nvPicPr>
          <p:blipFill>
            <a:blip r:embed="rId3"/>
            <a:stretch>
              <a:fillRect/>
            </a:stretch>
          </p:blipFill>
          <p:spPr bwMode="gray">
            <a:xfrm>
              <a:off x="7243832" y="4092802"/>
              <a:ext cx="466668" cy="389308"/>
            </a:xfrm>
            <a:prstGeom prst="rect">
              <a:avLst/>
            </a:prstGeom>
          </p:spPr>
        </p:pic>
        <p:pic>
          <p:nvPicPr>
            <p:cNvPr id="33" name="图片 67">
              <a:extLst>
                <a:ext uri="{FF2B5EF4-FFF2-40B4-BE49-F238E27FC236}">
                  <a16:creationId xmlns:a16="http://schemas.microsoft.com/office/drawing/2014/main" id="{E893FF82-1829-4264-AC56-023359D5FF23}"/>
                </a:ext>
              </a:extLst>
            </p:cNvPr>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8412126" y="4257177"/>
              <a:ext cx="417163" cy="342074"/>
            </a:xfrm>
            <a:prstGeom prst="rect">
              <a:avLst/>
            </a:prstGeom>
          </p:spPr>
        </p:pic>
        <p:pic>
          <p:nvPicPr>
            <p:cNvPr id="34" name="图片 14" descr="交换机.png">
              <a:extLst>
                <a:ext uri="{FF2B5EF4-FFF2-40B4-BE49-F238E27FC236}">
                  <a16:creationId xmlns:a16="http://schemas.microsoft.com/office/drawing/2014/main" id="{460F23EA-C2F3-46C4-90E6-DDFD9894CE8E}"/>
                </a:ext>
              </a:extLst>
            </p:cNvPr>
            <p:cNvPicPr>
              <a:picLocks noChangeAspect="1"/>
            </p:cNvPicPr>
            <p:nvPr/>
          </p:nvPicPr>
          <p:blipFill>
            <a:blip r:embed="rId11" cstate="print"/>
            <a:stretch>
              <a:fillRect/>
            </a:stretch>
          </p:blipFill>
          <p:spPr bwMode="gray">
            <a:xfrm>
              <a:off x="8133821" y="3792998"/>
              <a:ext cx="420077" cy="343698"/>
            </a:xfrm>
            <a:prstGeom prst="rect">
              <a:avLst/>
            </a:prstGeom>
          </p:spPr>
        </p:pic>
        <p:sp>
          <p:nvSpPr>
            <p:cNvPr id="35" name="Freeform 159">
              <a:extLst>
                <a:ext uri="{FF2B5EF4-FFF2-40B4-BE49-F238E27FC236}">
                  <a16:creationId xmlns:a16="http://schemas.microsoft.com/office/drawing/2014/main" id="{1B2E5E70-19CE-4CC0-9D22-626C06CCBEF6}"/>
                </a:ext>
              </a:extLst>
            </p:cNvPr>
            <p:cNvSpPr/>
            <p:nvPr/>
          </p:nvSpPr>
          <p:spPr bwMode="gray">
            <a:xfrm flipH="1">
              <a:off x="5635989" y="312205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36" name="图片 31">
              <a:extLst>
                <a:ext uri="{FF2B5EF4-FFF2-40B4-BE49-F238E27FC236}">
                  <a16:creationId xmlns:a16="http://schemas.microsoft.com/office/drawing/2014/main" id="{DC35D375-964A-4FF4-AB0D-F5FF411C3E1C}"/>
                </a:ext>
              </a:extLst>
            </p:cNvPr>
            <p:cNvPicPr>
              <a:picLocks noChangeAspect="1"/>
            </p:cNvPicPr>
            <p:nvPr/>
          </p:nvPicPr>
          <p:blipFill>
            <a:blip r:embed="rId3"/>
            <a:stretch>
              <a:fillRect/>
            </a:stretch>
          </p:blipFill>
          <p:spPr bwMode="gray">
            <a:xfrm>
              <a:off x="6385815" y="3245296"/>
              <a:ext cx="466668" cy="389308"/>
            </a:xfrm>
            <a:prstGeom prst="rect">
              <a:avLst/>
            </a:prstGeom>
          </p:spPr>
        </p:pic>
        <p:pic>
          <p:nvPicPr>
            <p:cNvPr id="37" name="图片 51" descr="交换机.png">
              <a:extLst>
                <a:ext uri="{FF2B5EF4-FFF2-40B4-BE49-F238E27FC236}">
                  <a16:creationId xmlns:a16="http://schemas.microsoft.com/office/drawing/2014/main" id="{E9765411-4038-4A19-9F6D-BE7E8288614D}"/>
                </a:ext>
              </a:extLst>
            </p:cNvPr>
            <p:cNvPicPr>
              <a:picLocks noChangeAspect="1"/>
            </p:cNvPicPr>
            <p:nvPr/>
          </p:nvPicPr>
          <p:blipFill>
            <a:blip r:embed="rId9" cstate="print"/>
            <a:stretch>
              <a:fillRect/>
            </a:stretch>
          </p:blipFill>
          <p:spPr bwMode="gray">
            <a:xfrm>
              <a:off x="5880876" y="2903982"/>
              <a:ext cx="417163" cy="341314"/>
            </a:xfrm>
            <a:prstGeom prst="rect">
              <a:avLst/>
            </a:prstGeom>
          </p:spPr>
        </p:pic>
        <p:cxnSp>
          <p:nvCxnSpPr>
            <p:cNvPr id="38" name="直接连接符 133">
              <a:extLst>
                <a:ext uri="{FF2B5EF4-FFF2-40B4-BE49-F238E27FC236}">
                  <a16:creationId xmlns:a16="http://schemas.microsoft.com/office/drawing/2014/main" id="{6C2E3109-541A-4A95-B2A9-1642BCB26E93}"/>
                </a:ext>
              </a:extLst>
            </p:cNvPr>
            <p:cNvCxnSpPr>
              <a:stCxn id="29" idx="3"/>
              <a:endCxn id="32" idx="1"/>
            </p:cNvCxnSpPr>
            <p:nvPr/>
          </p:nvCxnSpPr>
          <p:spPr bwMode="gray">
            <a:xfrm flipV="1">
              <a:off x="4717036" y="4287456"/>
              <a:ext cx="2526796" cy="467617"/>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39" name="直接连接符 133">
              <a:extLst>
                <a:ext uri="{FF2B5EF4-FFF2-40B4-BE49-F238E27FC236}">
                  <a16:creationId xmlns:a16="http://schemas.microsoft.com/office/drawing/2014/main" id="{BD0CC64E-3B36-4736-9E07-4DBE4E6ABCA6}"/>
                </a:ext>
              </a:extLst>
            </p:cNvPr>
            <p:cNvCxnSpPr>
              <a:stCxn id="26" idx="3"/>
              <a:endCxn id="32" idx="1"/>
            </p:cNvCxnSpPr>
            <p:nvPr/>
          </p:nvCxnSpPr>
          <p:spPr bwMode="gray">
            <a:xfrm>
              <a:off x="5463953" y="3895062"/>
              <a:ext cx="1779879" cy="392394"/>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40" name="直接连接符 133">
              <a:extLst>
                <a:ext uri="{FF2B5EF4-FFF2-40B4-BE49-F238E27FC236}">
                  <a16:creationId xmlns:a16="http://schemas.microsoft.com/office/drawing/2014/main" id="{DEF349D8-6C09-42D3-9401-D661DDD34034}"/>
                </a:ext>
              </a:extLst>
            </p:cNvPr>
            <p:cNvCxnSpPr>
              <a:stCxn id="36" idx="2"/>
              <a:endCxn id="32" idx="1"/>
            </p:cNvCxnSpPr>
            <p:nvPr/>
          </p:nvCxnSpPr>
          <p:spPr bwMode="gray">
            <a:xfrm>
              <a:off x="6619149" y="3634604"/>
              <a:ext cx="624683" cy="652852"/>
            </a:xfrm>
            <a:prstGeom prst="line">
              <a:avLst/>
            </a:prstGeom>
            <a:ln w="1905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41" name="TextBox 40">
              <a:extLst>
                <a:ext uri="{FF2B5EF4-FFF2-40B4-BE49-F238E27FC236}">
                  <a16:creationId xmlns:a16="http://schemas.microsoft.com/office/drawing/2014/main" id="{79D0E4E2-EF24-4B9F-957D-88B79F389467}"/>
                </a:ext>
              </a:extLst>
            </p:cNvPr>
            <p:cNvSpPr txBox="1"/>
            <p:nvPr/>
          </p:nvSpPr>
          <p:spPr bwMode="gray">
            <a:xfrm>
              <a:off x="7860196" y="4835631"/>
              <a:ext cx="1382110" cy="307777"/>
            </a:xfrm>
            <a:prstGeom prst="rect">
              <a:avLst/>
            </a:prstGeom>
            <a:noFill/>
          </p:spPr>
          <p:txBody>
            <a:bodyPr wrap="none" rtlCol="0">
              <a:spAutoFit/>
            </a:bodyPr>
            <a:lstStyle/>
            <a:p>
              <a:r>
                <a:rPr lang="zh-CN" altLang="en-US" sz="1400" b="1" dirty="0">
                  <a:latin typeface="+mn-ea"/>
                  <a:ea typeface="+mn-ea"/>
                </a:rPr>
                <a:t>分支</a:t>
              </a:r>
              <a:r>
                <a:rPr lang="en-US" altLang="zh-CN" sz="1400" b="1" dirty="0">
                  <a:latin typeface="+mn-ea"/>
                  <a:ea typeface="+mn-ea"/>
                </a:rPr>
                <a:t>-</a:t>
              </a:r>
              <a:r>
                <a:rPr lang="zh-CN" altLang="en-US" sz="1400" b="1" dirty="0">
                  <a:latin typeface="+mn-ea"/>
                  <a:ea typeface="+mn-ea"/>
                </a:rPr>
                <a:t>总部互联</a:t>
              </a:r>
            </a:p>
          </p:txBody>
        </p:sp>
        <p:sp>
          <p:nvSpPr>
            <p:cNvPr id="42" name="TextBox 41">
              <a:extLst>
                <a:ext uri="{FF2B5EF4-FFF2-40B4-BE49-F238E27FC236}">
                  <a16:creationId xmlns:a16="http://schemas.microsoft.com/office/drawing/2014/main" id="{31FBAF6C-16F8-4637-8E8E-2CA045B473EE}"/>
                </a:ext>
              </a:extLst>
            </p:cNvPr>
            <p:cNvSpPr txBox="1"/>
            <p:nvPr/>
          </p:nvSpPr>
          <p:spPr bwMode="gray">
            <a:xfrm>
              <a:off x="8141868" y="5981735"/>
              <a:ext cx="1075936" cy="307777"/>
            </a:xfrm>
            <a:prstGeom prst="rect">
              <a:avLst/>
            </a:prstGeom>
            <a:noFill/>
          </p:spPr>
          <p:txBody>
            <a:bodyPr wrap="none" rtlCol="0">
              <a:spAutoFit/>
            </a:bodyPr>
            <a:lstStyle/>
            <a:p>
              <a:r>
                <a:rPr lang="en-US" altLang="zh-CN" sz="1400" b="1" dirty="0">
                  <a:solidFill>
                    <a:schemeClr val="bg1">
                      <a:lumMod val="50000"/>
                    </a:schemeClr>
                  </a:solidFill>
                  <a:latin typeface="+mn-ea"/>
                  <a:ea typeface="+mn-ea"/>
                </a:rPr>
                <a:t>Internet</a:t>
              </a:r>
              <a:r>
                <a:rPr lang="zh-CN" altLang="en-US" sz="1400" b="1" dirty="0">
                  <a:solidFill>
                    <a:schemeClr val="bg1">
                      <a:lumMod val="50000"/>
                    </a:schemeClr>
                  </a:solidFill>
                  <a:latin typeface="+mn-ea"/>
                  <a:ea typeface="+mn-ea"/>
                </a:rPr>
                <a:t>网</a:t>
              </a:r>
            </a:p>
          </p:txBody>
        </p:sp>
        <p:grpSp>
          <p:nvGrpSpPr>
            <p:cNvPr id="44" name="Group 43">
              <a:extLst>
                <a:ext uri="{FF2B5EF4-FFF2-40B4-BE49-F238E27FC236}">
                  <a16:creationId xmlns:a16="http://schemas.microsoft.com/office/drawing/2014/main" id="{FBAA835C-C008-45E2-AD94-8131A46EA1D1}"/>
                </a:ext>
              </a:extLst>
            </p:cNvPr>
            <p:cNvGrpSpPr/>
            <p:nvPr/>
          </p:nvGrpSpPr>
          <p:grpSpPr bwMode="gray">
            <a:xfrm rot="732870">
              <a:off x="5474054" y="3910866"/>
              <a:ext cx="1587382" cy="276999"/>
              <a:chOff x="5445271" y="3897052"/>
              <a:chExt cx="1587382" cy="276999"/>
            </a:xfrm>
          </p:grpSpPr>
          <p:sp>
            <p:nvSpPr>
              <p:cNvPr id="43" name="Can 41">
                <a:extLst>
                  <a:ext uri="{FF2B5EF4-FFF2-40B4-BE49-F238E27FC236}">
                    <a16:creationId xmlns:a16="http://schemas.microsoft.com/office/drawing/2014/main" id="{7CF0AA72-439E-4CBA-8D41-A5BAC7773794}"/>
                  </a:ext>
                </a:extLst>
              </p:cNvPr>
              <p:cNvSpPr/>
              <p:nvPr/>
            </p:nvSpPr>
            <p:spPr bwMode="gray">
              <a:xfrm rot="5400000">
                <a:off x="6141721" y="3236605"/>
                <a:ext cx="194481" cy="1587382"/>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extBox 1">
                <a:extLst>
                  <a:ext uri="{FF2B5EF4-FFF2-40B4-BE49-F238E27FC236}">
                    <a16:creationId xmlns:a16="http://schemas.microsoft.com/office/drawing/2014/main" id="{41A67A81-BF9D-4124-AB6F-DC60A9A20DD8}"/>
                  </a:ext>
                </a:extLst>
              </p:cNvPr>
              <p:cNvSpPr txBox="1"/>
              <p:nvPr/>
            </p:nvSpPr>
            <p:spPr bwMode="gray">
              <a:xfrm>
                <a:off x="5798489" y="3897052"/>
                <a:ext cx="78098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endParaRPr lang="en-US" sz="1200" dirty="0">
                  <a:latin typeface="Huawei Sans" panose="020C0503030203020204" pitchFamily="34" charset="0"/>
                  <a:ea typeface="方正兰亭黑简体" panose="02000000000000000000" pitchFamily="2" charset="-122"/>
                </a:endParaRPr>
              </a:p>
            </p:txBody>
          </p:sp>
        </p:grpSp>
        <p:grpSp>
          <p:nvGrpSpPr>
            <p:cNvPr id="45" name="Group 44">
              <a:extLst>
                <a:ext uri="{FF2B5EF4-FFF2-40B4-BE49-F238E27FC236}">
                  <a16:creationId xmlns:a16="http://schemas.microsoft.com/office/drawing/2014/main" id="{3D8760A6-72FA-4D4F-B5F5-FE72660C938F}"/>
                </a:ext>
              </a:extLst>
            </p:cNvPr>
            <p:cNvGrpSpPr/>
            <p:nvPr/>
          </p:nvGrpSpPr>
          <p:grpSpPr bwMode="gray">
            <a:xfrm rot="20974172">
              <a:off x="4761492" y="4415582"/>
              <a:ext cx="2136079" cy="276999"/>
              <a:chOff x="5206640" y="3888186"/>
              <a:chExt cx="2136079" cy="276999"/>
            </a:xfrm>
          </p:grpSpPr>
          <p:sp>
            <p:nvSpPr>
              <p:cNvPr id="46" name="Can 41">
                <a:extLst>
                  <a:ext uri="{FF2B5EF4-FFF2-40B4-BE49-F238E27FC236}">
                    <a16:creationId xmlns:a16="http://schemas.microsoft.com/office/drawing/2014/main" id="{AA49031A-9333-4509-9232-82CD5A734674}"/>
                  </a:ext>
                </a:extLst>
              </p:cNvPr>
              <p:cNvSpPr/>
              <p:nvPr/>
            </p:nvSpPr>
            <p:spPr bwMode="gray">
              <a:xfrm rot="5400000">
                <a:off x="6177439" y="2962256"/>
                <a:ext cx="194481" cy="2136079"/>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46">
                <a:extLst>
                  <a:ext uri="{FF2B5EF4-FFF2-40B4-BE49-F238E27FC236}">
                    <a16:creationId xmlns:a16="http://schemas.microsoft.com/office/drawing/2014/main" id="{5E6749D5-79C6-4186-BE64-0CAA56A352C6}"/>
                  </a:ext>
                </a:extLst>
              </p:cNvPr>
              <p:cNvSpPr txBox="1"/>
              <p:nvPr/>
            </p:nvSpPr>
            <p:spPr bwMode="gray">
              <a:xfrm>
                <a:off x="5914907" y="3888186"/>
                <a:ext cx="78098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endParaRPr lang="en-US" sz="1200" dirty="0">
                  <a:latin typeface="Huawei Sans" panose="020C0503030203020204" pitchFamily="34" charset="0"/>
                  <a:ea typeface="方正兰亭黑简体" panose="02000000000000000000" pitchFamily="2" charset="-122"/>
                </a:endParaRPr>
              </a:p>
            </p:txBody>
          </p:sp>
        </p:grpSp>
        <p:grpSp>
          <p:nvGrpSpPr>
            <p:cNvPr id="48" name="Group 47">
              <a:extLst>
                <a:ext uri="{FF2B5EF4-FFF2-40B4-BE49-F238E27FC236}">
                  <a16:creationId xmlns:a16="http://schemas.microsoft.com/office/drawing/2014/main" id="{96C0781B-7BEB-4C9D-9C28-D9098BF173BB}"/>
                </a:ext>
              </a:extLst>
            </p:cNvPr>
            <p:cNvGrpSpPr/>
            <p:nvPr/>
          </p:nvGrpSpPr>
          <p:grpSpPr bwMode="gray">
            <a:xfrm rot="2772449">
              <a:off x="6547344" y="3795732"/>
              <a:ext cx="818858" cy="276999"/>
              <a:chOff x="5917644" y="3897921"/>
              <a:chExt cx="818858" cy="276999"/>
            </a:xfrm>
          </p:grpSpPr>
          <p:sp>
            <p:nvSpPr>
              <p:cNvPr id="49" name="Can 41">
                <a:extLst>
                  <a:ext uri="{FF2B5EF4-FFF2-40B4-BE49-F238E27FC236}">
                    <a16:creationId xmlns:a16="http://schemas.microsoft.com/office/drawing/2014/main" id="{DF3E238C-4611-4FBF-BDF7-067209EAEFF7}"/>
                  </a:ext>
                </a:extLst>
              </p:cNvPr>
              <p:cNvSpPr/>
              <p:nvPr/>
            </p:nvSpPr>
            <p:spPr bwMode="gray">
              <a:xfrm rot="5400000">
                <a:off x="6235232" y="3626267"/>
                <a:ext cx="194481" cy="808059"/>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49">
                <a:extLst>
                  <a:ext uri="{FF2B5EF4-FFF2-40B4-BE49-F238E27FC236}">
                    <a16:creationId xmlns:a16="http://schemas.microsoft.com/office/drawing/2014/main" id="{ADB769DE-FCF3-4994-AFDD-F3FF19B84823}"/>
                  </a:ext>
                </a:extLst>
              </p:cNvPr>
              <p:cNvSpPr txBox="1"/>
              <p:nvPr/>
            </p:nvSpPr>
            <p:spPr bwMode="gray">
              <a:xfrm>
                <a:off x="5917644" y="3897921"/>
                <a:ext cx="780983" cy="276999"/>
              </a:xfrm>
              <a:prstGeom prst="rect">
                <a:avLst/>
              </a:prstGeom>
              <a:noFill/>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endParaRPr lang="en-US" sz="1200" dirty="0">
                  <a:latin typeface="Huawei Sans" panose="020C0503030203020204" pitchFamily="34" charset="0"/>
                  <a:ea typeface="方正兰亭黑简体" panose="02000000000000000000" pitchFamily="2" charset="-122"/>
                </a:endParaRPr>
              </a:p>
            </p:txBody>
          </p:sp>
        </p:grpSp>
      </p:grpSp>
      <p:sp>
        <p:nvSpPr>
          <p:cNvPr id="54"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55"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56"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509397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12F2C-794E-4166-A246-A6AEFB3F495C}"/>
              </a:ext>
            </a:extLst>
          </p:cNvPr>
          <p:cNvSpPr>
            <a:spLocks noGrp="1"/>
          </p:cNvSpPr>
          <p:nvPr>
            <p:ph type="title"/>
          </p:nvPr>
        </p:nvSpPr>
        <p:spPr bwMode="gray"/>
        <p:txBody>
          <a:bodyPr/>
          <a:lstStyle/>
          <a:p>
            <a:r>
              <a:rPr lang="zh-CN" altLang="en-US" dirty="0"/>
              <a:t>隧道技术简介</a:t>
            </a:r>
            <a:endParaRPr lang="en-US" dirty="0"/>
          </a:p>
        </p:txBody>
      </p:sp>
      <p:sp>
        <p:nvSpPr>
          <p:cNvPr id="3" name="Text Placeholder 2">
            <a:extLst>
              <a:ext uri="{FF2B5EF4-FFF2-40B4-BE49-F238E27FC236}">
                <a16:creationId xmlns:a16="http://schemas.microsoft.com/office/drawing/2014/main" id="{27EC9306-30B2-4B3F-B1F4-4ADD352ED9AE}"/>
              </a:ext>
            </a:extLst>
          </p:cNvPr>
          <p:cNvSpPr>
            <a:spLocks noGrp="1"/>
          </p:cNvSpPr>
          <p:nvPr>
            <p:ph type="body" sz="quarter" idx="10"/>
          </p:nvPr>
        </p:nvSpPr>
        <p:spPr bwMode="gray"/>
        <p:txBody>
          <a:bodyPr/>
          <a:lstStyle/>
          <a:p>
            <a:r>
              <a:rPr lang="en-US" sz="1800" dirty="0"/>
              <a:t>GRE</a:t>
            </a:r>
            <a:r>
              <a:rPr lang="zh-CN" altLang="en-US" sz="1800" dirty="0"/>
              <a:t>技术本质上是一种隧道技术。隧道技术类似于一座桥，可以在底层网络（比如：</a:t>
            </a:r>
            <a:r>
              <a:rPr lang="en-US" altLang="zh-CN" sz="1800" dirty="0"/>
              <a:t>Internet</a:t>
            </a:r>
            <a:r>
              <a:rPr lang="zh-CN" altLang="en-US" sz="1800" dirty="0"/>
              <a:t>）之上构建转发通道，用户可以自行构建隧道网络，不需要底层网络的管理者（比如：</a:t>
            </a:r>
            <a:r>
              <a:rPr lang="en-US" altLang="zh-CN" sz="1800" dirty="0"/>
              <a:t>ISP</a:t>
            </a:r>
            <a:r>
              <a:rPr lang="zh-CN" altLang="en-US" sz="1800" dirty="0"/>
              <a:t>）介入。</a:t>
            </a:r>
            <a:endParaRPr lang="en-US" altLang="zh-CN" sz="1800" dirty="0"/>
          </a:p>
          <a:p>
            <a:r>
              <a:rPr lang="zh-CN" altLang="en-US" sz="1800" dirty="0"/>
              <a:t>隧道技术的方案很多，常见的隧道技术有：</a:t>
            </a:r>
            <a:r>
              <a:rPr lang="en-US" altLang="zh-CN" sz="1800" dirty="0"/>
              <a:t>MPLS</a:t>
            </a:r>
            <a:r>
              <a:rPr lang="zh-CN" altLang="en-US" sz="1800" dirty="0"/>
              <a:t>，</a:t>
            </a:r>
            <a:r>
              <a:rPr lang="en-US" altLang="zh-CN" sz="1800" dirty="0"/>
              <a:t>GRE</a:t>
            </a:r>
            <a:r>
              <a:rPr lang="zh-CN" altLang="en-US" sz="1800" dirty="0"/>
              <a:t>，</a:t>
            </a:r>
            <a:r>
              <a:rPr lang="en-US" altLang="zh-CN" sz="1800" dirty="0"/>
              <a:t>L2TP</a:t>
            </a:r>
            <a:r>
              <a:rPr lang="zh-CN" altLang="en-US" sz="1800" dirty="0"/>
              <a:t>，</a:t>
            </a:r>
            <a:r>
              <a:rPr lang="en-US" altLang="zh-CN" sz="1800" dirty="0"/>
              <a:t>VXLAN</a:t>
            </a:r>
            <a:r>
              <a:rPr lang="zh-CN" altLang="en-US" sz="1800" dirty="0"/>
              <a:t>等，隧道基本原理如下：</a:t>
            </a:r>
            <a:endParaRPr lang="en-US" altLang="zh-CN" sz="1800" dirty="0"/>
          </a:p>
          <a:p>
            <a:endParaRPr lang="en-US" sz="1800" dirty="0"/>
          </a:p>
        </p:txBody>
      </p:sp>
      <p:grpSp>
        <p:nvGrpSpPr>
          <p:cNvPr id="7" name="Group 6">
            <a:extLst>
              <a:ext uri="{FF2B5EF4-FFF2-40B4-BE49-F238E27FC236}">
                <a16:creationId xmlns:a16="http://schemas.microsoft.com/office/drawing/2014/main" id="{C140B4E0-7E30-4999-82E6-DF734D9E6B3A}"/>
              </a:ext>
            </a:extLst>
          </p:cNvPr>
          <p:cNvGrpSpPr/>
          <p:nvPr/>
        </p:nvGrpSpPr>
        <p:grpSpPr bwMode="gray">
          <a:xfrm>
            <a:off x="551384" y="2672916"/>
            <a:ext cx="11060234" cy="3312368"/>
            <a:chOff x="551384" y="2996952"/>
            <a:chExt cx="11060234" cy="3312368"/>
          </a:xfrm>
        </p:grpSpPr>
        <p:sp>
          <p:nvSpPr>
            <p:cNvPr id="43" name="Freeform 159">
              <a:extLst>
                <a:ext uri="{FF2B5EF4-FFF2-40B4-BE49-F238E27FC236}">
                  <a16:creationId xmlns:a16="http://schemas.microsoft.com/office/drawing/2014/main" id="{E8908A8F-49B4-47AD-B273-F42DC851E060}"/>
                </a:ext>
              </a:extLst>
            </p:cNvPr>
            <p:cNvSpPr/>
            <p:nvPr/>
          </p:nvSpPr>
          <p:spPr bwMode="gray">
            <a:xfrm flipH="1">
              <a:off x="2253880" y="3248980"/>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sp>
          <p:nvSpPr>
            <p:cNvPr id="44" name="Freeform 159">
              <a:extLst>
                <a:ext uri="{FF2B5EF4-FFF2-40B4-BE49-F238E27FC236}">
                  <a16:creationId xmlns:a16="http://schemas.microsoft.com/office/drawing/2014/main" id="{706602A8-D5BC-46A8-98F0-E0BEE8CD2676}"/>
                </a:ext>
              </a:extLst>
            </p:cNvPr>
            <p:cNvSpPr/>
            <p:nvPr/>
          </p:nvSpPr>
          <p:spPr bwMode="gray">
            <a:xfrm flipH="1">
              <a:off x="8840768" y="3273693"/>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sz="1400" dirty="0">
                <a:solidFill>
                  <a:schemeClr val="tx1"/>
                </a:solidFill>
              </a:endParaRPr>
            </a:p>
          </p:txBody>
        </p:sp>
        <p:pic>
          <p:nvPicPr>
            <p:cNvPr id="4" name="图片 31">
              <a:extLst>
                <a:ext uri="{FF2B5EF4-FFF2-40B4-BE49-F238E27FC236}">
                  <a16:creationId xmlns:a16="http://schemas.microsoft.com/office/drawing/2014/main" id="{E3EBD9B4-27F6-4F79-AAB3-28C50AD09EAD}"/>
                </a:ext>
              </a:extLst>
            </p:cNvPr>
            <p:cNvPicPr>
              <a:picLocks noChangeAspect="1"/>
            </p:cNvPicPr>
            <p:nvPr/>
          </p:nvPicPr>
          <p:blipFill>
            <a:blip r:embed="rId3"/>
            <a:stretch>
              <a:fillRect/>
            </a:stretch>
          </p:blipFill>
          <p:spPr bwMode="gray">
            <a:xfrm>
              <a:off x="3217064" y="3311987"/>
              <a:ext cx="466668" cy="389308"/>
            </a:xfrm>
            <a:prstGeom prst="rect">
              <a:avLst/>
            </a:prstGeom>
          </p:spPr>
        </p:pic>
        <p:sp>
          <p:nvSpPr>
            <p:cNvPr id="5" name="Freeform 159">
              <a:extLst>
                <a:ext uri="{FF2B5EF4-FFF2-40B4-BE49-F238E27FC236}">
                  <a16:creationId xmlns:a16="http://schemas.microsoft.com/office/drawing/2014/main" id="{AA7F1ED8-744E-41EB-8729-75FF851F3A15}"/>
                </a:ext>
              </a:extLst>
            </p:cNvPr>
            <p:cNvSpPr/>
            <p:nvPr/>
          </p:nvSpPr>
          <p:spPr bwMode="gray">
            <a:xfrm flipH="1">
              <a:off x="5586517" y="3111365"/>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a:p>
              <a:pPr algn="ctr"/>
              <a:r>
                <a:rPr lang="en-US" sz="1400" dirty="0">
                  <a:solidFill>
                    <a:schemeClr val="tx1"/>
                  </a:solidFill>
                </a:rPr>
                <a:t>Internet</a:t>
              </a:r>
            </a:p>
          </p:txBody>
        </p:sp>
        <p:pic>
          <p:nvPicPr>
            <p:cNvPr id="6" name="图片 31">
              <a:extLst>
                <a:ext uri="{FF2B5EF4-FFF2-40B4-BE49-F238E27FC236}">
                  <a16:creationId xmlns:a16="http://schemas.microsoft.com/office/drawing/2014/main" id="{FEEAFB5B-92E7-41A1-9A16-F4A1D249CB0D}"/>
                </a:ext>
              </a:extLst>
            </p:cNvPr>
            <p:cNvPicPr>
              <a:picLocks noChangeAspect="1"/>
            </p:cNvPicPr>
            <p:nvPr/>
          </p:nvPicPr>
          <p:blipFill>
            <a:blip r:embed="rId3"/>
            <a:stretch>
              <a:fillRect/>
            </a:stretch>
          </p:blipFill>
          <p:spPr bwMode="gray">
            <a:xfrm>
              <a:off x="8508267" y="3311987"/>
              <a:ext cx="466668" cy="389308"/>
            </a:xfrm>
            <a:prstGeom prst="rect">
              <a:avLst/>
            </a:prstGeom>
          </p:spPr>
        </p:pic>
        <p:cxnSp>
          <p:nvCxnSpPr>
            <p:cNvPr id="8" name="Straight Connector 7">
              <a:extLst>
                <a:ext uri="{FF2B5EF4-FFF2-40B4-BE49-F238E27FC236}">
                  <a16:creationId xmlns:a16="http://schemas.microsoft.com/office/drawing/2014/main" id="{5C37A1D6-64A3-4F88-A40F-B2123EE64906}"/>
                </a:ext>
              </a:extLst>
            </p:cNvPr>
            <p:cNvCxnSpPr>
              <a:cxnSpLocks/>
              <a:stCxn id="4" idx="3"/>
              <a:endCxn id="5" idx="21"/>
            </p:cNvCxnSpPr>
            <p:nvPr/>
          </p:nvCxnSpPr>
          <p:spPr bwMode="gray">
            <a:xfrm flipV="1">
              <a:off x="3683732" y="3497009"/>
              <a:ext cx="1902785" cy="9632"/>
            </a:xfrm>
            <a:prstGeom prst="line">
              <a:avLst/>
            </a:prstGeom>
            <a:solidFill>
              <a:srgbClr val="56C4D2"/>
            </a:solidFill>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3D1F479-120A-4EE1-8DF6-A977BBE55691}"/>
                </a:ext>
              </a:extLst>
            </p:cNvPr>
            <p:cNvCxnSpPr>
              <a:cxnSpLocks/>
              <a:stCxn id="6" idx="1"/>
              <a:endCxn id="5" idx="8"/>
            </p:cNvCxnSpPr>
            <p:nvPr/>
          </p:nvCxnSpPr>
          <p:spPr bwMode="gray">
            <a:xfrm flipH="1" flipV="1">
              <a:off x="6638798" y="3486997"/>
              <a:ext cx="1869469" cy="19644"/>
            </a:xfrm>
            <a:prstGeom prst="line">
              <a:avLst/>
            </a:prstGeom>
            <a:solidFill>
              <a:srgbClr val="56C4D2"/>
            </a:solidFill>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3" name="TextBox 120">
              <a:extLst>
                <a:ext uri="{FF2B5EF4-FFF2-40B4-BE49-F238E27FC236}">
                  <a16:creationId xmlns:a16="http://schemas.microsoft.com/office/drawing/2014/main" id="{9F122B6A-ADCF-4338-B0EA-ECB575079060}"/>
                </a:ext>
              </a:extLst>
            </p:cNvPr>
            <p:cNvSpPr txBox="1"/>
            <p:nvPr/>
          </p:nvSpPr>
          <p:spPr bwMode="gray">
            <a:xfrm>
              <a:off x="4716830" y="4436795"/>
              <a:ext cx="1126805" cy="287715"/>
            </a:xfrm>
            <a:prstGeom prst="roundRect">
              <a:avLst>
                <a:gd name="adj" fmla="val 6721"/>
              </a:avLst>
            </a:prstGeom>
            <a:solidFill>
              <a:srgbClr val="56C4D2"/>
            </a:solidFill>
            <a:ln w="12700">
              <a:solidFill>
                <a:srgbClr val="56C4D2"/>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Inner Header</a:t>
              </a:r>
            </a:p>
          </p:txBody>
        </p:sp>
        <p:sp>
          <p:nvSpPr>
            <p:cNvPr id="14" name="TextBox 120">
              <a:extLst>
                <a:ext uri="{FF2B5EF4-FFF2-40B4-BE49-F238E27FC236}">
                  <a16:creationId xmlns:a16="http://schemas.microsoft.com/office/drawing/2014/main" id="{91ACDCB2-ED1A-4744-AB72-6191CDB4ECBA}"/>
                </a:ext>
              </a:extLst>
            </p:cNvPr>
            <p:cNvSpPr txBox="1"/>
            <p:nvPr/>
          </p:nvSpPr>
          <p:spPr bwMode="gray">
            <a:xfrm>
              <a:off x="5844194" y="4436795"/>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15" name="TextBox 120">
              <a:extLst>
                <a:ext uri="{FF2B5EF4-FFF2-40B4-BE49-F238E27FC236}">
                  <a16:creationId xmlns:a16="http://schemas.microsoft.com/office/drawing/2014/main" id="{A6E73018-5B70-45EA-B79E-7133F1314BCA}"/>
                </a:ext>
              </a:extLst>
            </p:cNvPr>
            <p:cNvSpPr txBox="1"/>
            <p:nvPr/>
          </p:nvSpPr>
          <p:spPr bwMode="gray">
            <a:xfrm>
              <a:off x="3492695" y="4436795"/>
              <a:ext cx="1223576" cy="287715"/>
            </a:xfrm>
            <a:prstGeom prst="roundRect">
              <a:avLst>
                <a:gd name="adj" fmla="val 6721"/>
              </a:avLst>
            </a:prstGeom>
            <a:solidFill>
              <a:srgbClr val="AFD89C"/>
            </a:solidFill>
            <a:ln w="12700">
              <a:solidFill>
                <a:srgbClr val="AFD89C"/>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Outer Header</a:t>
              </a:r>
            </a:p>
          </p:txBody>
        </p:sp>
        <p:sp>
          <p:nvSpPr>
            <p:cNvPr id="16" name="TextBox 120">
              <a:extLst>
                <a:ext uri="{FF2B5EF4-FFF2-40B4-BE49-F238E27FC236}">
                  <a16:creationId xmlns:a16="http://schemas.microsoft.com/office/drawing/2014/main" id="{B11B4E7F-CBF4-44C8-A7BE-C2804241DBA7}"/>
                </a:ext>
              </a:extLst>
            </p:cNvPr>
            <p:cNvSpPr txBox="1"/>
            <p:nvPr/>
          </p:nvSpPr>
          <p:spPr bwMode="gray">
            <a:xfrm>
              <a:off x="1668893" y="3853749"/>
              <a:ext cx="1126805" cy="287715"/>
            </a:xfrm>
            <a:prstGeom prst="roundRect">
              <a:avLst>
                <a:gd name="adj" fmla="val 6721"/>
              </a:avLst>
            </a:prstGeom>
            <a:solidFill>
              <a:srgbClr val="56C4D2"/>
            </a:solidFill>
            <a:ln w="12700">
              <a:solidFill>
                <a:srgbClr val="56C4D2"/>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Inner Header</a:t>
              </a:r>
            </a:p>
          </p:txBody>
        </p:sp>
        <p:sp>
          <p:nvSpPr>
            <p:cNvPr id="17" name="TextBox 120">
              <a:extLst>
                <a:ext uri="{FF2B5EF4-FFF2-40B4-BE49-F238E27FC236}">
                  <a16:creationId xmlns:a16="http://schemas.microsoft.com/office/drawing/2014/main" id="{5032799E-5208-47A7-97E3-A9C392EF1C1A}"/>
                </a:ext>
              </a:extLst>
            </p:cNvPr>
            <p:cNvSpPr txBox="1"/>
            <p:nvPr/>
          </p:nvSpPr>
          <p:spPr bwMode="gray">
            <a:xfrm>
              <a:off x="2796257" y="3853749"/>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cxnSp>
          <p:nvCxnSpPr>
            <p:cNvPr id="18" name="直接连接符 133">
              <a:extLst>
                <a:ext uri="{FF2B5EF4-FFF2-40B4-BE49-F238E27FC236}">
                  <a16:creationId xmlns:a16="http://schemas.microsoft.com/office/drawing/2014/main" id="{C7E4EF63-60FD-476D-9B9B-BAF8443C94DA}"/>
                </a:ext>
              </a:extLst>
            </p:cNvPr>
            <p:cNvCxnSpPr>
              <a:cxnSpLocks/>
              <a:endCxn id="4" idx="2"/>
            </p:cNvCxnSpPr>
            <p:nvPr/>
          </p:nvCxnSpPr>
          <p:spPr bwMode="gray">
            <a:xfrm flipV="1">
              <a:off x="3450398" y="3701295"/>
              <a:ext cx="0" cy="2608025"/>
            </a:xfrm>
            <a:prstGeom prst="line">
              <a:avLst/>
            </a:prstGeom>
            <a:ln w="19050">
              <a:prstDash val="dash"/>
            </a:ln>
          </p:spPr>
          <p:style>
            <a:lnRef idx="3">
              <a:schemeClr val="dk1"/>
            </a:lnRef>
            <a:fillRef idx="0">
              <a:schemeClr val="dk1"/>
            </a:fillRef>
            <a:effectRef idx="2">
              <a:schemeClr val="dk1"/>
            </a:effectRef>
            <a:fontRef idx="minor">
              <a:schemeClr val="tx1"/>
            </a:fontRef>
          </p:style>
        </p:cxnSp>
        <p:cxnSp>
          <p:nvCxnSpPr>
            <p:cNvPr id="21" name="直接连接符 133">
              <a:extLst>
                <a:ext uri="{FF2B5EF4-FFF2-40B4-BE49-F238E27FC236}">
                  <a16:creationId xmlns:a16="http://schemas.microsoft.com/office/drawing/2014/main" id="{BE686D6C-B916-4D27-A5AF-C5D7A8A6C0F4}"/>
                </a:ext>
              </a:extLst>
            </p:cNvPr>
            <p:cNvCxnSpPr>
              <a:cxnSpLocks/>
              <a:endCxn id="6" idx="2"/>
            </p:cNvCxnSpPr>
            <p:nvPr/>
          </p:nvCxnSpPr>
          <p:spPr bwMode="gray">
            <a:xfrm flipV="1">
              <a:off x="8741601" y="3701295"/>
              <a:ext cx="0" cy="2608025"/>
            </a:xfrm>
            <a:prstGeom prst="line">
              <a:avLst/>
            </a:prstGeom>
            <a:ln w="19050">
              <a:prstDash val="dash"/>
            </a:ln>
          </p:spPr>
          <p:style>
            <a:lnRef idx="3">
              <a:schemeClr val="dk1"/>
            </a:lnRef>
            <a:fillRef idx="0">
              <a:schemeClr val="dk1"/>
            </a:fillRef>
            <a:effectRef idx="2">
              <a:schemeClr val="dk1"/>
            </a:effectRef>
            <a:fontRef idx="minor">
              <a:schemeClr val="tx1"/>
            </a:fontRef>
          </p:style>
        </p:cxnSp>
        <p:sp>
          <p:nvSpPr>
            <p:cNvPr id="24" name="TextBox 120">
              <a:extLst>
                <a:ext uri="{FF2B5EF4-FFF2-40B4-BE49-F238E27FC236}">
                  <a16:creationId xmlns:a16="http://schemas.microsoft.com/office/drawing/2014/main" id="{ADD880FB-7FFD-4B8E-83EC-2F1A57D038DE}"/>
                </a:ext>
              </a:extLst>
            </p:cNvPr>
            <p:cNvSpPr txBox="1"/>
            <p:nvPr/>
          </p:nvSpPr>
          <p:spPr bwMode="gray">
            <a:xfrm>
              <a:off x="8833554" y="5588818"/>
              <a:ext cx="1126805" cy="287715"/>
            </a:xfrm>
            <a:prstGeom prst="roundRect">
              <a:avLst>
                <a:gd name="adj" fmla="val 6721"/>
              </a:avLst>
            </a:prstGeom>
            <a:solidFill>
              <a:srgbClr val="56C4D2"/>
            </a:solidFill>
            <a:ln w="12700">
              <a:solidFill>
                <a:srgbClr val="56C4D2"/>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Inner Header</a:t>
              </a:r>
            </a:p>
          </p:txBody>
        </p:sp>
        <p:sp>
          <p:nvSpPr>
            <p:cNvPr id="25" name="TextBox 120">
              <a:extLst>
                <a:ext uri="{FF2B5EF4-FFF2-40B4-BE49-F238E27FC236}">
                  <a16:creationId xmlns:a16="http://schemas.microsoft.com/office/drawing/2014/main" id="{DBFD47F2-4E14-405F-9C10-2011E9C68EAF}"/>
                </a:ext>
              </a:extLst>
            </p:cNvPr>
            <p:cNvSpPr txBox="1"/>
            <p:nvPr/>
          </p:nvSpPr>
          <p:spPr bwMode="gray">
            <a:xfrm>
              <a:off x="9960918" y="5588818"/>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cxnSp>
          <p:nvCxnSpPr>
            <p:cNvPr id="36" name="Connector: Elbow 35">
              <a:extLst>
                <a:ext uri="{FF2B5EF4-FFF2-40B4-BE49-F238E27FC236}">
                  <a16:creationId xmlns:a16="http://schemas.microsoft.com/office/drawing/2014/main" id="{D1BB4BB7-4278-4D7F-91E3-5451E80EC191}"/>
                </a:ext>
              </a:extLst>
            </p:cNvPr>
            <p:cNvCxnSpPr>
              <a:cxnSpLocks/>
              <a:stCxn id="17" idx="3"/>
              <a:endCxn id="15" idx="0"/>
            </p:cNvCxnSpPr>
            <p:nvPr/>
          </p:nvCxnSpPr>
          <p:spPr bwMode="gray">
            <a:xfrm>
              <a:off x="3361081" y="3997607"/>
              <a:ext cx="743402" cy="439188"/>
            </a:xfrm>
            <a:prstGeom prst="bentConnector2">
              <a:avLst/>
            </a:prstGeom>
            <a:solidFill>
              <a:srgbClr val="56C4D2"/>
            </a:solid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38" name="Rectangular Callout 75">
              <a:extLst>
                <a:ext uri="{FF2B5EF4-FFF2-40B4-BE49-F238E27FC236}">
                  <a16:creationId xmlns:a16="http://schemas.microsoft.com/office/drawing/2014/main" id="{6804C34D-69E0-4962-8299-A5D7060EC217}"/>
                </a:ext>
              </a:extLst>
            </p:cNvPr>
            <p:cNvSpPr/>
            <p:nvPr/>
          </p:nvSpPr>
          <p:spPr bwMode="gray">
            <a:xfrm>
              <a:off x="4337817" y="3955168"/>
              <a:ext cx="1126806" cy="297170"/>
            </a:xfrm>
            <a:prstGeom prst="wedgeRectCallout">
              <a:avLst>
                <a:gd name="adj1" fmla="val -64533"/>
                <a:gd name="adj2" fmla="val 216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封装外层头部</a:t>
              </a:r>
            </a:p>
          </p:txBody>
        </p:sp>
        <p:sp>
          <p:nvSpPr>
            <p:cNvPr id="39" name="TextBox 120">
              <a:extLst>
                <a:ext uri="{FF2B5EF4-FFF2-40B4-BE49-F238E27FC236}">
                  <a16:creationId xmlns:a16="http://schemas.microsoft.com/office/drawing/2014/main" id="{87DC65EA-D86A-436B-8806-283AFB955624}"/>
                </a:ext>
              </a:extLst>
            </p:cNvPr>
            <p:cNvSpPr txBox="1"/>
            <p:nvPr/>
          </p:nvSpPr>
          <p:spPr bwMode="gray">
            <a:xfrm>
              <a:off x="6956064" y="5106465"/>
              <a:ext cx="1126805" cy="287715"/>
            </a:xfrm>
            <a:prstGeom prst="roundRect">
              <a:avLst>
                <a:gd name="adj" fmla="val 6721"/>
              </a:avLst>
            </a:prstGeom>
            <a:solidFill>
              <a:srgbClr val="56C4D2"/>
            </a:solidFill>
            <a:ln w="12700">
              <a:solidFill>
                <a:srgbClr val="56C4D2"/>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Inner Header</a:t>
              </a:r>
            </a:p>
          </p:txBody>
        </p:sp>
        <p:sp>
          <p:nvSpPr>
            <p:cNvPr id="40" name="TextBox 120">
              <a:extLst>
                <a:ext uri="{FF2B5EF4-FFF2-40B4-BE49-F238E27FC236}">
                  <a16:creationId xmlns:a16="http://schemas.microsoft.com/office/drawing/2014/main" id="{4C09ECD3-0592-4B02-BA40-D37587ADC2F5}"/>
                </a:ext>
              </a:extLst>
            </p:cNvPr>
            <p:cNvSpPr txBox="1"/>
            <p:nvPr/>
          </p:nvSpPr>
          <p:spPr bwMode="gray">
            <a:xfrm>
              <a:off x="8083428" y="5106465"/>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1" name="TextBox 120">
              <a:extLst>
                <a:ext uri="{FF2B5EF4-FFF2-40B4-BE49-F238E27FC236}">
                  <a16:creationId xmlns:a16="http://schemas.microsoft.com/office/drawing/2014/main" id="{1539564B-4546-4DAB-A8F7-2ECFBB0BF2A7}"/>
                </a:ext>
              </a:extLst>
            </p:cNvPr>
            <p:cNvSpPr txBox="1"/>
            <p:nvPr/>
          </p:nvSpPr>
          <p:spPr bwMode="gray">
            <a:xfrm>
              <a:off x="5731929" y="5106465"/>
              <a:ext cx="1223576" cy="287715"/>
            </a:xfrm>
            <a:prstGeom prst="roundRect">
              <a:avLst>
                <a:gd name="adj" fmla="val 6721"/>
              </a:avLst>
            </a:prstGeom>
            <a:solidFill>
              <a:srgbClr val="AFD89C"/>
            </a:solidFill>
            <a:ln w="12700">
              <a:solidFill>
                <a:srgbClr val="AFD89C"/>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Outer Header</a:t>
              </a:r>
            </a:p>
          </p:txBody>
        </p:sp>
        <p:cxnSp>
          <p:nvCxnSpPr>
            <p:cNvPr id="42" name="Connector: Elbow 41">
              <a:extLst>
                <a:ext uri="{FF2B5EF4-FFF2-40B4-BE49-F238E27FC236}">
                  <a16:creationId xmlns:a16="http://schemas.microsoft.com/office/drawing/2014/main" id="{30B58C68-6C4B-4B3E-84FC-E5A8F7B69218}"/>
                </a:ext>
              </a:extLst>
            </p:cNvPr>
            <p:cNvCxnSpPr>
              <a:cxnSpLocks/>
              <a:stCxn id="14" idx="3"/>
              <a:endCxn id="41" idx="1"/>
            </p:cNvCxnSpPr>
            <p:nvPr/>
          </p:nvCxnSpPr>
          <p:spPr bwMode="gray">
            <a:xfrm flipH="1">
              <a:off x="5731929" y="4580653"/>
              <a:ext cx="677089" cy="669670"/>
            </a:xfrm>
            <a:prstGeom prst="bentConnector5">
              <a:avLst>
                <a:gd name="adj1" fmla="val -33762"/>
                <a:gd name="adj2" fmla="val 50000"/>
                <a:gd name="adj3" fmla="val 133762"/>
              </a:avLst>
            </a:prstGeom>
            <a:solidFill>
              <a:srgbClr val="56C4D2"/>
            </a:solid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5" name="Rectangular Callout 75">
              <a:extLst>
                <a:ext uri="{FF2B5EF4-FFF2-40B4-BE49-F238E27FC236}">
                  <a16:creationId xmlns:a16="http://schemas.microsoft.com/office/drawing/2014/main" id="{904B923B-1420-449E-A02B-A37CF21E4493}"/>
                </a:ext>
              </a:extLst>
            </p:cNvPr>
            <p:cNvSpPr/>
            <p:nvPr/>
          </p:nvSpPr>
          <p:spPr bwMode="gray">
            <a:xfrm>
              <a:off x="6875579" y="4183570"/>
              <a:ext cx="1426111" cy="774628"/>
            </a:xfrm>
            <a:prstGeom prst="wedgeRectCallout">
              <a:avLst>
                <a:gd name="adj1" fmla="val -64533"/>
                <a:gd name="adj2" fmla="val 216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设备根据外层头部在底层网络上转发，底层网络对内层数据不感知</a:t>
              </a:r>
            </a:p>
          </p:txBody>
        </p:sp>
        <p:cxnSp>
          <p:nvCxnSpPr>
            <p:cNvPr id="46" name="Connector: Elbow 45">
              <a:extLst>
                <a:ext uri="{FF2B5EF4-FFF2-40B4-BE49-F238E27FC236}">
                  <a16:creationId xmlns:a16="http://schemas.microsoft.com/office/drawing/2014/main" id="{AD9A6AF1-8C15-42B9-99C7-FDB9F69C6A58}"/>
                </a:ext>
              </a:extLst>
            </p:cNvPr>
            <p:cNvCxnSpPr>
              <a:cxnSpLocks/>
              <a:stCxn id="41" idx="2"/>
              <a:endCxn id="24" idx="1"/>
            </p:cNvCxnSpPr>
            <p:nvPr/>
          </p:nvCxnSpPr>
          <p:spPr bwMode="gray">
            <a:xfrm rot="16200000" flipH="1">
              <a:off x="7419387" y="4318509"/>
              <a:ext cx="338496" cy="2489837"/>
            </a:xfrm>
            <a:prstGeom prst="bentConnector2">
              <a:avLst/>
            </a:prstGeom>
            <a:solidFill>
              <a:srgbClr val="56C4D2"/>
            </a:solid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49" name="Rectangular Callout 75">
              <a:extLst>
                <a:ext uri="{FF2B5EF4-FFF2-40B4-BE49-F238E27FC236}">
                  <a16:creationId xmlns:a16="http://schemas.microsoft.com/office/drawing/2014/main" id="{E3FC3F71-996B-4194-9FB8-CC999FF7D5F7}"/>
                </a:ext>
              </a:extLst>
            </p:cNvPr>
            <p:cNvSpPr/>
            <p:nvPr/>
          </p:nvSpPr>
          <p:spPr bwMode="gray">
            <a:xfrm>
              <a:off x="7212125" y="5912854"/>
              <a:ext cx="1296142" cy="297170"/>
            </a:xfrm>
            <a:prstGeom prst="wedgeRectCallout">
              <a:avLst>
                <a:gd name="adj1" fmla="val -21909"/>
                <a:gd name="adj2" fmla="val -902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解封装外层头部</a:t>
              </a:r>
            </a:p>
          </p:txBody>
        </p:sp>
        <p:sp>
          <p:nvSpPr>
            <p:cNvPr id="52" name="TextBox 120">
              <a:extLst>
                <a:ext uri="{FF2B5EF4-FFF2-40B4-BE49-F238E27FC236}">
                  <a16:creationId xmlns:a16="http://schemas.microsoft.com/office/drawing/2014/main" id="{14E72280-A62C-4059-8DA2-D9C004CD1552}"/>
                </a:ext>
              </a:extLst>
            </p:cNvPr>
            <p:cNvSpPr txBox="1"/>
            <p:nvPr/>
          </p:nvSpPr>
          <p:spPr bwMode="gray">
            <a:xfrm>
              <a:off x="1668893" y="3086191"/>
              <a:ext cx="1126805" cy="287715"/>
            </a:xfrm>
            <a:prstGeom prst="roundRect">
              <a:avLst>
                <a:gd name="adj" fmla="val 6721"/>
              </a:avLst>
            </a:prstGeom>
            <a:solidFill>
              <a:srgbClr val="56C4D2"/>
            </a:solidFill>
            <a:ln w="12700">
              <a:solidFill>
                <a:srgbClr val="56C4D2"/>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Inner Header</a:t>
              </a:r>
            </a:p>
          </p:txBody>
        </p:sp>
        <p:sp>
          <p:nvSpPr>
            <p:cNvPr id="53" name="TextBox 120">
              <a:extLst>
                <a:ext uri="{FF2B5EF4-FFF2-40B4-BE49-F238E27FC236}">
                  <a16:creationId xmlns:a16="http://schemas.microsoft.com/office/drawing/2014/main" id="{92855C2C-0524-43B9-9456-38D804932289}"/>
                </a:ext>
              </a:extLst>
            </p:cNvPr>
            <p:cNvSpPr txBox="1"/>
            <p:nvPr/>
          </p:nvSpPr>
          <p:spPr bwMode="gray">
            <a:xfrm>
              <a:off x="2796257" y="3086191"/>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55" name="TextBox 120">
              <a:extLst>
                <a:ext uri="{FF2B5EF4-FFF2-40B4-BE49-F238E27FC236}">
                  <a16:creationId xmlns:a16="http://schemas.microsoft.com/office/drawing/2014/main" id="{5F08E4CC-902B-46F3-8C39-057F38E92394}"/>
                </a:ext>
              </a:extLst>
            </p:cNvPr>
            <p:cNvSpPr txBox="1"/>
            <p:nvPr/>
          </p:nvSpPr>
          <p:spPr bwMode="gray">
            <a:xfrm>
              <a:off x="8832995" y="3086191"/>
              <a:ext cx="1126805" cy="287715"/>
            </a:xfrm>
            <a:prstGeom prst="roundRect">
              <a:avLst>
                <a:gd name="adj" fmla="val 6721"/>
              </a:avLst>
            </a:prstGeom>
            <a:solidFill>
              <a:srgbClr val="56C4D2"/>
            </a:solidFill>
            <a:ln w="12700">
              <a:solidFill>
                <a:srgbClr val="56C4D2"/>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Inner Header</a:t>
              </a:r>
            </a:p>
          </p:txBody>
        </p:sp>
        <p:sp>
          <p:nvSpPr>
            <p:cNvPr id="56" name="TextBox 120">
              <a:extLst>
                <a:ext uri="{FF2B5EF4-FFF2-40B4-BE49-F238E27FC236}">
                  <a16:creationId xmlns:a16="http://schemas.microsoft.com/office/drawing/2014/main" id="{D2F311D7-6815-447A-8C5F-1C176CDCDC85}"/>
                </a:ext>
              </a:extLst>
            </p:cNvPr>
            <p:cNvSpPr txBox="1"/>
            <p:nvPr/>
          </p:nvSpPr>
          <p:spPr bwMode="gray">
            <a:xfrm>
              <a:off x="9960359" y="3086191"/>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cxnSp>
          <p:nvCxnSpPr>
            <p:cNvPr id="67" name="Straight Connector 66">
              <a:extLst>
                <a:ext uri="{FF2B5EF4-FFF2-40B4-BE49-F238E27FC236}">
                  <a16:creationId xmlns:a16="http://schemas.microsoft.com/office/drawing/2014/main" id="{6654B61E-6EAD-4549-9B1F-ADC5796A5A9D}"/>
                </a:ext>
              </a:extLst>
            </p:cNvPr>
            <p:cNvCxnSpPr>
              <a:cxnSpLocks/>
            </p:cNvCxnSpPr>
            <p:nvPr/>
          </p:nvCxnSpPr>
          <p:spPr bwMode="gray">
            <a:xfrm>
              <a:off x="3473197" y="3227785"/>
              <a:ext cx="436563" cy="323"/>
            </a:xfrm>
            <a:prstGeom prst="line">
              <a:avLst/>
            </a:prstGeom>
            <a:solidFill>
              <a:srgbClr val="56C4D2"/>
            </a:solidFill>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8" name="Can 41">
              <a:extLst>
                <a:ext uri="{FF2B5EF4-FFF2-40B4-BE49-F238E27FC236}">
                  <a16:creationId xmlns:a16="http://schemas.microsoft.com/office/drawing/2014/main" id="{56C8C6ED-95DE-43C4-A0EE-0461B2423B13}"/>
                </a:ext>
              </a:extLst>
            </p:cNvPr>
            <p:cNvSpPr/>
            <p:nvPr/>
          </p:nvSpPr>
          <p:spPr bwMode="gray">
            <a:xfrm rot="5400000">
              <a:off x="5966163" y="876529"/>
              <a:ext cx="236717" cy="470348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9" name="Straight Connector 58">
              <a:extLst>
                <a:ext uri="{FF2B5EF4-FFF2-40B4-BE49-F238E27FC236}">
                  <a16:creationId xmlns:a16="http://schemas.microsoft.com/office/drawing/2014/main" id="{DC95A0AB-4D32-4721-B464-CC380B7C96D9}"/>
                </a:ext>
              </a:extLst>
            </p:cNvPr>
            <p:cNvCxnSpPr>
              <a:cxnSpLocks/>
            </p:cNvCxnSpPr>
            <p:nvPr/>
          </p:nvCxnSpPr>
          <p:spPr bwMode="gray">
            <a:xfrm>
              <a:off x="8359737" y="3229726"/>
              <a:ext cx="436563" cy="323"/>
            </a:xfrm>
            <a:prstGeom prst="line">
              <a:avLst/>
            </a:prstGeom>
            <a:solidFill>
              <a:srgbClr val="56C4D2"/>
            </a:solidFill>
            <a:ln w="3810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B43934AC-E689-4FAD-A7C0-5DC36E64D955}"/>
                </a:ext>
              </a:extLst>
            </p:cNvPr>
            <p:cNvSpPr txBox="1"/>
            <p:nvPr/>
          </p:nvSpPr>
          <p:spPr bwMode="gray">
            <a:xfrm flipH="1">
              <a:off x="5802109" y="3096907"/>
              <a:ext cx="564823" cy="276999"/>
            </a:xfrm>
            <a:prstGeom prst="rect">
              <a:avLst/>
            </a:prstGeom>
            <a:noFill/>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隧道</a:t>
              </a:r>
            </a:p>
          </p:txBody>
        </p:sp>
        <p:cxnSp>
          <p:nvCxnSpPr>
            <p:cNvPr id="68" name="直接连接符 133">
              <a:extLst>
                <a:ext uri="{FF2B5EF4-FFF2-40B4-BE49-F238E27FC236}">
                  <a16:creationId xmlns:a16="http://schemas.microsoft.com/office/drawing/2014/main" id="{3C07B6CE-64FC-4B2E-89EB-B37D1405F6CF}"/>
                </a:ext>
              </a:extLst>
            </p:cNvPr>
            <p:cNvCxnSpPr>
              <a:cxnSpLocks/>
            </p:cNvCxnSpPr>
            <p:nvPr/>
          </p:nvCxnSpPr>
          <p:spPr bwMode="gray">
            <a:xfrm>
              <a:off x="551384" y="3505969"/>
              <a:ext cx="2527286" cy="0"/>
            </a:xfrm>
            <a:prstGeom prst="line">
              <a:avLst/>
            </a:prstGeom>
            <a:ln w="12700">
              <a:solidFill>
                <a:srgbClr val="00B0F0"/>
              </a:solidFill>
              <a:prstDash val="dash"/>
            </a:ln>
          </p:spPr>
          <p:style>
            <a:lnRef idx="3">
              <a:schemeClr val="dk1"/>
            </a:lnRef>
            <a:fillRef idx="0">
              <a:schemeClr val="dk1"/>
            </a:fillRef>
            <a:effectRef idx="2">
              <a:schemeClr val="dk1"/>
            </a:effectRef>
            <a:fontRef idx="minor">
              <a:schemeClr val="tx1"/>
            </a:fontRef>
          </p:style>
        </p:cxnSp>
        <p:cxnSp>
          <p:nvCxnSpPr>
            <p:cNvPr id="72" name="直接连接符 133">
              <a:extLst>
                <a:ext uri="{FF2B5EF4-FFF2-40B4-BE49-F238E27FC236}">
                  <a16:creationId xmlns:a16="http://schemas.microsoft.com/office/drawing/2014/main" id="{DB227AB7-0FF2-4FC7-9761-E9691FFC802A}"/>
                </a:ext>
              </a:extLst>
            </p:cNvPr>
            <p:cNvCxnSpPr>
              <a:cxnSpLocks/>
            </p:cNvCxnSpPr>
            <p:nvPr/>
          </p:nvCxnSpPr>
          <p:spPr bwMode="gray">
            <a:xfrm>
              <a:off x="9084332" y="3505968"/>
              <a:ext cx="2527286" cy="0"/>
            </a:xfrm>
            <a:prstGeom prst="line">
              <a:avLst/>
            </a:prstGeom>
            <a:ln w="12700">
              <a:solidFill>
                <a:srgbClr val="00B0F0"/>
              </a:solidFill>
              <a:prstDash val="dash"/>
            </a:ln>
          </p:spPr>
          <p:style>
            <a:lnRef idx="3">
              <a:schemeClr val="dk1"/>
            </a:lnRef>
            <a:fillRef idx="0">
              <a:schemeClr val="dk1"/>
            </a:fillRef>
            <a:effectRef idx="2">
              <a:schemeClr val="dk1"/>
            </a:effectRef>
            <a:fontRef idx="minor">
              <a:schemeClr val="tx1"/>
            </a:fontRef>
          </p:style>
        </p:cxnSp>
        <p:sp>
          <p:nvSpPr>
            <p:cNvPr id="73" name="TextBox 72">
              <a:extLst>
                <a:ext uri="{FF2B5EF4-FFF2-40B4-BE49-F238E27FC236}">
                  <a16:creationId xmlns:a16="http://schemas.microsoft.com/office/drawing/2014/main" id="{23A590A8-7A5A-4C33-A31A-FD8C1F110A59}"/>
                </a:ext>
              </a:extLst>
            </p:cNvPr>
            <p:cNvSpPr txBox="1"/>
            <p:nvPr/>
          </p:nvSpPr>
          <p:spPr bwMode="gray">
            <a:xfrm flipH="1">
              <a:off x="679939" y="4774474"/>
              <a:ext cx="1096048" cy="523220"/>
            </a:xfrm>
            <a:prstGeom prst="rect">
              <a:avLst/>
            </a:prstGeom>
            <a:noFill/>
          </p:spPr>
          <p:txBody>
            <a:bodyPr wrap="square" rtlCol="0">
              <a:spAutoFit/>
            </a:bodyPr>
            <a:lstStyle/>
            <a:p>
              <a:pPr algn="ctr"/>
              <a:r>
                <a:rPr lang="zh-CN" altLang="en-US" sz="1400" dirty="0">
                  <a:latin typeface="Huawei Sans" panose="020C0503030203020204" pitchFamily="34" charset="0"/>
                  <a:ea typeface="方正兰亭黑简体" panose="02000000000000000000" pitchFamily="2" charset="-122"/>
                </a:rPr>
                <a:t>隧道数据转发基本原理</a:t>
              </a:r>
            </a:p>
          </p:txBody>
        </p:sp>
        <p:sp>
          <p:nvSpPr>
            <p:cNvPr id="74" name="TextBox 73">
              <a:extLst>
                <a:ext uri="{FF2B5EF4-FFF2-40B4-BE49-F238E27FC236}">
                  <a16:creationId xmlns:a16="http://schemas.microsoft.com/office/drawing/2014/main" id="{5F66C60E-E272-49F1-9ACD-11FD5007FEC1}"/>
                </a:ext>
              </a:extLst>
            </p:cNvPr>
            <p:cNvSpPr txBox="1"/>
            <p:nvPr/>
          </p:nvSpPr>
          <p:spPr bwMode="gray">
            <a:xfrm flipH="1">
              <a:off x="715991" y="2996952"/>
              <a:ext cx="840786" cy="523220"/>
            </a:xfrm>
            <a:prstGeom prst="rect">
              <a:avLst/>
            </a:prstGeom>
            <a:noFill/>
          </p:spPr>
          <p:txBody>
            <a:bodyPr wrap="square" rtlCol="0">
              <a:spAutoFit/>
            </a:bodyPr>
            <a:lstStyle/>
            <a:p>
              <a:pPr algn="ctr"/>
              <a:r>
                <a:rPr lang="zh-CN" altLang="en-US" sz="1400" dirty="0">
                  <a:latin typeface="Huawei Sans" panose="020C0503030203020204" pitchFamily="34" charset="0"/>
                  <a:ea typeface="方正兰亭黑简体" panose="02000000000000000000" pitchFamily="2" charset="-122"/>
                </a:rPr>
                <a:t>隧道数据转发</a:t>
              </a:r>
            </a:p>
          </p:txBody>
        </p:sp>
      </p:grpSp>
      <p:sp>
        <p:nvSpPr>
          <p:cNvPr id="47"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48"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50"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896298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A1B0A-F8A8-4E85-832A-C7253332549E}"/>
              </a:ext>
            </a:extLst>
          </p:cNvPr>
          <p:cNvSpPr>
            <a:spLocks noGrp="1"/>
          </p:cNvSpPr>
          <p:nvPr>
            <p:ph type="title"/>
          </p:nvPr>
        </p:nvSpPr>
        <p:spPr bwMode="gray"/>
        <p:txBody>
          <a:bodyPr/>
          <a:lstStyle/>
          <a:p>
            <a:r>
              <a:rPr lang="en-US" dirty="0"/>
              <a:t>GRE</a:t>
            </a:r>
            <a:r>
              <a:rPr lang="zh-CN" altLang="en-US" dirty="0"/>
              <a:t>基本概念</a:t>
            </a:r>
            <a:endParaRPr lang="en-US" dirty="0"/>
          </a:p>
        </p:txBody>
      </p:sp>
      <p:sp>
        <p:nvSpPr>
          <p:cNvPr id="3" name="Text Placeholder 2">
            <a:extLst>
              <a:ext uri="{FF2B5EF4-FFF2-40B4-BE49-F238E27FC236}">
                <a16:creationId xmlns:a16="http://schemas.microsoft.com/office/drawing/2014/main" id="{9EBED232-C552-47A1-B8DB-9A3AF0FC3E67}"/>
              </a:ext>
            </a:extLst>
          </p:cNvPr>
          <p:cNvSpPr>
            <a:spLocks noGrp="1"/>
          </p:cNvSpPr>
          <p:nvPr>
            <p:ph type="body" sz="quarter" idx="10"/>
          </p:nvPr>
        </p:nvSpPr>
        <p:spPr bwMode="gray"/>
        <p:txBody>
          <a:bodyPr/>
          <a:lstStyle/>
          <a:p>
            <a:r>
              <a:rPr lang="en-US" altLang="zh-CN" sz="1800" dirty="0"/>
              <a:t>GRE</a:t>
            </a:r>
            <a:r>
              <a:rPr lang="zh-CN" altLang="en-US" sz="1800" dirty="0"/>
              <a:t>提供了将一种协议的报文封装在另一种协议报文中的机制，是一种三层隧道封装技术，使报文可以通过</a:t>
            </a:r>
            <a:r>
              <a:rPr lang="en-US" altLang="zh-CN" sz="1800" dirty="0"/>
              <a:t>GRE</a:t>
            </a:r>
            <a:r>
              <a:rPr lang="zh-CN" altLang="en-US" sz="1800" dirty="0"/>
              <a:t>隧道透明的传输，解决了企业分支与总部互联的问题。</a:t>
            </a:r>
            <a:endParaRPr lang="en-US" altLang="zh-CN" sz="1800" dirty="0"/>
          </a:p>
          <a:p>
            <a:r>
              <a:rPr lang="en-US" altLang="zh-CN" sz="1800" dirty="0"/>
              <a:t>GRE</a:t>
            </a:r>
            <a:r>
              <a:rPr lang="zh-CN" altLang="en-US" sz="1800" dirty="0"/>
              <a:t>隧道能够承载</a:t>
            </a:r>
            <a:r>
              <a:rPr lang="en-US" altLang="zh-CN" sz="1800" dirty="0"/>
              <a:t>IPv4/IPv6</a:t>
            </a:r>
            <a:r>
              <a:rPr lang="zh-CN" altLang="en-US" sz="1800" dirty="0"/>
              <a:t>的单播、组播、广播报文。</a:t>
            </a:r>
            <a:endParaRPr lang="en-US" altLang="zh-CN" sz="1800" dirty="0"/>
          </a:p>
          <a:p>
            <a:r>
              <a:rPr lang="en-US" sz="1800" dirty="0"/>
              <a:t>GRE</a:t>
            </a:r>
            <a:r>
              <a:rPr lang="zh-CN" altLang="en-US" sz="1800" dirty="0"/>
              <a:t>报文的格式如下：</a:t>
            </a:r>
            <a:endParaRPr lang="en-US" altLang="zh-CN" sz="1800" dirty="0"/>
          </a:p>
        </p:txBody>
      </p:sp>
      <p:graphicFrame>
        <p:nvGraphicFramePr>
          <p:cNvPr id="4" name="Table 4">
            <a:extLst>
              <a:ext uri="{FF2B5EF4-FFF2-40B4-BE49-F238E27FC236}">
                <a16:creationId xmlns:a16="http://schemas.microsoft.com/office/drawing/2014/main" id="{2CA23AF6-428C-4074-BF35-4CB756AE093D}"/>
              </a:ext>
            </a:extLst>
          </p:cNvPr>
          <p:cNvGraphicFramePr>
            <a:graphicFrameLocks noGrp="1"/>
          </p:cNvGraphicFramePr>
          <p:nvPr/>
        </p:nvGraphicFramePr>
        <p:xfrm>
          <a:off x="3048000" y="3007421"/>
          <a:ext cx="6096000" cy="37084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966538011"/>
                    </a:ext>
                  </a:extLst>
                </a:gridCol>
                <a:gridCol w="1453416">
                  <a:extLst>
                    <a:ext uri="{9D8B030D-6E8A-4147-A177-3AD203B41FA5}">
                      <a16:colId xmlns:a16="http://schemas.microsoft.com/office/drawing/2014/main" val="1471157918"/>
                    </a:ext>
                  </a:extLst>
                </a:gridCol>
                <a:gridCol w="1152128">
                  <a:extLst>
                    <a:ext uri="{9D8B030D-6E8A-4147-A177-3AD203B41FA5}">
                      <a16:colId xmlns:a16="http://schemas.microsoft.com/office/drawing/2014/main" val="996290401"/>
                    </a:ext>
                  </a:extLst>
                </a:gridCol>
                <a:gridCol w="1458456">
                  <a:extLst>
                    <a:ext uri="{9D8B030D-6E8A-4147-A177-3AD203B41FA5}">
                      <a16:colId xmlns:a16="http://schemas.microsoft.com/office/drawing/2014/main" val="2856764314"/>
                    </a:ext>
                  </a:extLst>
                </a:gridCol>
                <a:gridCol w="1016000">
                  <a:extLst>
                    <a:ext uri="{9D8B030D-6E8A-4147-A177-3AD203B41FA5}">
                      <a16:colId xmlns:a16="http://schemas.microsoft.com/office/drawing/2014/main" val="1129061569"/>
                    </a:ext>
                  </a:extLst>
                </a:gridCol>
              </a:tblGrid>
              <a:tr h="370840">
                <a:tc>
                  <a:txBody>
                    <a:bodyPr/>
                    <a:lstStyle/>
                    <a:p>
                      <a:pPr algn="ctr"/>
                      <a:r>
                        <a:rPr lang="en-US" sz="1200" dirty="0"/>
                        <a:t>L2 H</a:t>
                      </a:r>
                      <a:r>
                        <a:rPr lang="en-US" altLang="zh-CN" sz="1200" dirty="0"/>
                        <a:t>eader</a:t>
                      </a:r>
                      <a:endParaRPr lang="en-US" sz="1200" dirty="0"/>
                    </a:p>
                  </a:txBody>
                  <a:tcPr anchor="ctr">
                    <a:solidFill>
                      <a:srgbClr val="AFD89C"/>
                    </a:solidFill>
                  </a:tcPr>
                </a:tc>
                <a:tc>
                  <a:txBody>
                    <a:bodyPr/>
                    <a:lstStyle/>
                    <a:p>
                      <a:pPr algn="ctr"/>
                      <a:r>
                        <a:rPr lang="en-US" sz="1200" dirty="0"/>
                        <a:t>New IP Header</a:t>
                      </a:r>
                    </a:p>
                  </a:txBody>
                  <a:tcPr anchor="ctr">
                    <a:solidFill>
                      <a:srgbClr val="AFD89C"/>
                    </a:solidFill>
                  </a:tcPr>
                </a:tc>
                <a:tc>
                  <a:txBody>
                    <a:bodyPr/>
                    <a:lstStyle/>
                    <a:p>
                      <a:pPr algn="ctr"/>
                      <a:r>
                        <a:rPr lang="en-US" sz="1200" dirty="0"/>
                        <a:t>GRE Header</a:t>
                      </a:r>
                    </a:p>
                  </a:txBody>
                  <a:tcPr anchor="ctr">
                    <a:solidFill>
                      <a:srgbClr val="EEB3B8"/>
                    </a:solidFill>
                  </a:tcPr>
                </a:tc>
                <a:tc>
                  <a:txBody>
                    <a:bodyPr/>
                    <a:lstStyle/>
                    <a:p>
                      <a:pPr algn="ctr"/>
                      <a:r>
                        <a:rPr lang="en-US" sz="1200" dirty="0"/>
                        <a:t>Raw IP Header</a:t>
                      </a:r>
                    </a:p>
                  </a:txBody>
                  <a:tcPr anchor="ctr">
                    <a:solidFill>
                      <a:srgbClr val="56C4D2"/>
                    </a:solidFill>
                  </a:tcPr>
                </a:tc>
                <a:tc>
                  <a:txBody>
                    <a:bodyPr/>
                    <a:lstStyle/>
                    <a:p>
                      <a:pPr algn="ctr"/>
                      <a:r>
                        <a:rPr lang="en-US" sz="1200" dirty="0"/>
                        <a:t>Payload</a:t>
                      </a:r>
                    </a:p>
                  </a:txBody>
                  <a:tcPr anchor="ctr">
                    <a:solidFill>
                      <a:srgbClr val="56C4D2"/>
                    </a:solidFill>
                  </a:tcPr>
                </a:tc>
                <a:extLst>
                  <a:ext uri="{0D108BD9-81ED-4DB2-BD59-A6C34878D82A}">
                    <a16:rowId xmlns:a16="http://schemas.microsoft.com/office/drawing/2014/main" val="2196966323"/>
                  </a:ext>
                </a:extLst>
              </a:tr>
            </a:tbl>
          </a:graphicData>
        </a:graphic>
      </p:graphicFrame>
      <p:graphicFrame>
        <p:nvGraphicFramePr>
          <p:cNvPr id="5" name="Table 5">
            <a:extLst>
              <a:ext uri="{FF2B5EF4-FFF2-40B4-BE49-F238E27FC236}">
                <a16:creationId xmlns:a16="http://schemas.microsoft.com/office/drawing/2014/main" id="{4FE02A9D-0041-44F2-BE2A-6B8C5FC78907}"/>
              </a:ext>
            </a:extLst>
          </p:cNvPr>
          <p:cNvGraphicFramePr>
            <a:graphicFrameLocks noGrp="1"/>
          </p:cNvGraphicFramePr>
          <p:nvPr/>
        </p:nvGraphicFramePr>
        <p:xfrm>
          <a:off x="2042408" y="4519589"/>
          <a:ext cx="8128000" cy="1112520"/>
        </p:xfrm>
        <a:graphic>
          <a:graphicData uri="http://schemas.openxmlformats.org/drawingml/2006/table">
            <a:tbl>
              <a:tblPr firstRow="1" bandRow="1">
                <a:tableStyleId>{5C22544A-7EE6-4342-B048-85BDC9FD1C3A}</a:tableStyleId>
              </a:tblPr>
              <a:tblGrid>
                <a:gridCol w="254000">
                  <a:extLst>
                    <a:ext uri="{9D8B030D-6E8A-4147-A177-3AD203B41FA5}">
                      <a16:colId xmlns:a16="http://schemas.microsoft.com/office/drawing/2014/main" val="1767511075"/>
                    </a:ext>
                  </a:extLst>
                </a:gridCol>
                <a:gridCol w="254000">
                  <a:extLst>
                    <a:ext uri="{9D8B030D-6E8A-4147-A177-3AD203B41FA5}">
                      <a16:colId xmlns:a16="http://schemas.microsoft.com/office/drawing/2014/main" val="2259974812"/>
                    </a:ext>
                  </a:extLst>
                </a:gridCol>
                <a:gridCol w="254000">
                  <a:extLst>
                    <a:ext uri="{9D8B030D-6E8A-4147-A177-3AD203B41FA5}">
                      <a16:colId xmlns:a16="http://schemas.microsoft.com/office/drawing/2014/main" val="1441333613"/>
                    </a:ext>
                  </a:extLst>
                </a:gridCol>
                <a:gridCol w="254000">
                  <a:extLst>
                    <a:ext uri="{9D8B030D-6E8A-4147-A177-3AD203B41FA5}">
                      <a16:colId xmlns:a16="http://schemas.microsoft.com/office/drawing/2014/main" val="2189801884"/>
                    </a:ext>
                  </a:extLst>
                </a:gridCol>
                <a:gridCol w="254000">
                  <a:extLst>
                    <a:ext uri="{9D8B030D-6E8A-4147-A177-3AD203B41FA5}">
                      <a16:colId xmlns:a16="http://schemas.microsoft.com/office/drawing/2014/main" val="201189597"/>
                    </a:ext>
                  </a:extLst>
                </a:gridCol>
                <a:gridCol w="911384">
                  <a:extLst>
                    <a:ext uri="{9D8B030D-6E8A-4147-A177-3AD203B41FA5}">
                      <a16:colId xmlns:a16="http://schemas.microsoft.com/office/drawing/2014/main" val="2963173565"/>
                    </a:ext>
                  </a:extLst>
                </a:gridCol>
                <a:gridCol w="1120616">
                  <a:extLst>
                    <a:ext uri="{9D8B030D-6E8A-4147-A177-3AD203B41FA5}">
                      <a16:colId xmlns:a16="http://schemas.microsoft.com/office/drawing/2014/main" val="2109686950"/>
                    </a:ext>
                  </a:extLst>
                </a:gridCol>
                <a:gridCol w="762000">
                  <a:extLst>
                    <a:ext uri="{9D8B030D-6E8A-4147-A177-3AD203B41FA5}">
                      <a16:colId xmlns:a16="http://schemas.microsoft.com/office/drawing/2014/main" val="421368371"/>
                    </a:ext>
                  </a:extLst>
                </a:gridCol>
                <a:gridCol w="4064000">
                  <a:extLst>
                    <a:ext uri="{9D8B030D-6E8A-4147-A177-3AD203B41FA5}">
                      <a16:colId xmlns:a16="http://schemas.microsoft.com/office/drawing/2014/main" val="1049193376"/>
                    </a:ext>
                  </a:extLst>
                </a:gridCol>
              </a:tblGrid>
              <a:tr h="370840">
                <a:tc>
                  <a:txBody>
                    <a:bodyPr/>
                    <a:lstStyle/>
                    <a:p>
                      <a:pPr algn="ctr"/>
                      <a:r>
                        <a:rPr lang="en-US" sz="1200" b="0" dirty="0">
                          <a:solidFill>
                            <a:sysClr val="windowText" lastClr="000000"/>
                          </a:solidFill>
                        </a:rPr>
                        <a:t>C</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sz="1200" b="0" dirty="0">
                          <a:solidFill>
                            <a:sysClr val="windowText" lastClr="000000"/>
                          </a:solidFill>
                        </a:rPr>
                        <a:t>K</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sz="1200" b="0" dirty="0">
                          <a:solidFill>
                            <a:sysClr val="windowText" lastClr="000000"/>
                          </a:solidFill>
                        </a:rPr>
                        <a:t>Recursion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sz="1200" b="0" dirty="0">
                          <a:solidFill>
                            <a:sysClr val="windowText" lastClr="000000"/>
                          </a:solidFill>
                        </a:rPr>
                        <a:t>Flags</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sz="1200" b="0" dirty="0">
                          <a:solidFill>
                            <a:sysClr val="windowText" lastClr="000000"/>
                          </a:solidFill>
                        </a:rPr>
                        <a:t>Version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tc>
                  <a:txBody>
                    <a:bodyPr/>
                    <a:lstStyle/>
                    <a:p>
                      <a:pPr algn="ctr"/>
                      <a:r>
                        <a:rPr lang="en-US" sz="1200" b="0" dirty="0">
                          <a:solidFill>
                            <a:sysClr val="windowText" lastClr="000000"/>
                          </a:solidFill>
                        </a:rPr>
                        <a:t>Protocol Type</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extLst>
                  <a:ext uri="{0D108BD9-81ED-4DB2-BD59-A6C34878D82A}">
                    <a16:rowId xmlns:a16="http://schemas.microsoft.com/office/drawing/2014/main" val="3176659461"/>
                  </a:ext>
                </a:extLst>
              </a:tr>
              <a:tr h="370840">
                <a:tc gridSpan="8">
                  <a:txBody>
                    <a:bodyPr/>
                    <a:lstStyle/>
                    <a:p>
                      <a:pPr algn="ctr"/>
                      <a:r>
                        <a:rPr lang="en-US" sz="1200" b="0" dirty="0">
                          <a:solidFill>
                            <a:sysClr val="windowText" lastClr="000000"/>
                          </a:solidFill>
                        </a:rPr>
                        <a:t>Checksum (Option)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FFFFF"/>
                    </a:solidFill>
                  </a:tcPr>
                </a:tc>
                <a:extLst>
                  <a:ext uri="{0D108BD9-81ED-4DB2-BD59-A6C34878D82A}">
                    <a16:rowId xmlns:a16="http://schemas.microsoft.com/office/drawing/2014/main" val="3262138141"/>
                  </a:ext>
                </a:extLst>
              </a:tr>
              <a:tr h="370840">
                <a:tc gridSpan="9">
                  <a:txBody>
                    <a:bodyPr/>
                    <a:lstStyle/>
                    <a:p>
                      <a:pPr algn="ctr"/>
                      <a:r>
                        <a:rPr lang="en-US" sz="1200" b="0" dirty="0">
                          <a:solidFill>
                            <a:sysClr val="windowText" lastClr="000000"/>
                          </a:solidFill>
                        </a:rPr>
                        <a:t>Key (O</a:t>
                      </a:r>
                      <a:r>
                        <a:rPr lang="en-US" altLang="zh-CN" sz="1200" b="0" dirty="0">
                          <a:solidFill>
                            <a:sysClr val="windowText" lastClr="000000"/>
                          </a:solidFill>
                        </a:rPr>
                        <a:t>ption</a:t>
                      </a:r>
                      <a:r>
                        <a:rPr lang="en-US" sz="1200" b="0" dirty="0">
                          <a:solidFill>
                            <a:sysClr val="windowText" lastClr="000000"/>
                          </a:solidFill>
                        </a:rPr>
                        <a:t>)</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dirty="0"/>
                    </a:p>
                  </a:txBody>
                  <a:tcPr anchor="ctr"/>
                </a:tc>
                <a:extLst>
                  <a:ext uri="{0D108BD9-81ED-4DB2-BD59-A6C34878D82A}">
                    <a16:rowId xmlns:a16="http://schemas.microsoft.com/office/drawing/2014/main" val="1626608722"/>
                  </a:ext>
                </a:extLst>
              </a:tr>
            </a:tbl>
          </a:graphicData>
        </a:graphic>
      </p:graphicFrame>
      <p:sp>
        <p:nvSpPr>
          <p:cNvPr id="7" name="Trapezoid 6">
            <a:extLst>
              <a:ext uri="{FF2B5EF4-FFF2-40B4-BE49-F238E27FC236}">
                <a16:creationId xmlns:a16="http://schemas.microsoft.com/office/drawing/2014/main" id="{D9BBF139-C373-4798-919C-FFEAF834F526}"/>
              </a:ext>
            </a:extLst>
          </p:cNvPr>
          <p:cNvSpPr/>
          <p:nvPr/>
        </p:nvSpPr>
        <p:spPr bwMode="gray">
          <a:xfrm>
            <a:off x="2042408" y="3378261"/>
            <a:ext cx="8128000" cy="1112520"/>
          </a:xfrm>
          <a:prstGeom prst="trapezoid">
            <a:avLst>
              <a:gd name="adj" fmla="val 314384"/>
            </a:avLst>
          </a:prstGeom>
          <a:gradFill>
            <a:gsLst>
              <a:gs pos="0">
                <a:schemeClr val="accent1">
                  <a:lumMod val="5000"/>
                  <a:lumOff val="95000"/>
                  <a:alpha val="50000"/>
                </a:schemeClr>
              </a:gs>
              <a:gs pos="100000">
                <a:srgbClr val="BEE9EE"/>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0CD5B4E2-9949-4216-A77F-F59D52C82273}"/>
              </a:ext>
            </a:extLst>
          </p:cNvPr>
          <p:cNvCxnSpPr/>
          <p:nvPr/>
        </p:nvCxnSpPr>
        <p:spPr bwMode="gray">
          <a:xfrm>
            <a:off x="2042408" y="5668113"/>
            <a:ext cx="0" cy="32764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712729E-17D6-4773-B889-C688D720AE26}"/>
              </a:ext>
            </a:extLst>
          </p:cNvPr>
          <p:cNvCxnSpPr/>
          <p:nvPr/>
        </p:nvCxnSpPr>
        <p:spPr bwMode="gray">
          <a:xfrm>
            <a:off x="10170408" y="5668113"/>
            <a:ext cx="0" cy="32764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1ECEEE-F2D3-425B-8037-30C2C2F48A09}"/>
              </a:ext>
            </a:extLst>
          </p:cNvPr>
          <p:cNvCxnSpPr>
            <a:cxnSpLocks/>
          </p:cNvCxnSpPr>
          <p:nvPr/>
        </p:nvCxnSpPr>
        <p:spPr bwMode="gray">
          <a:xfrm flipH="1">
            <a:off x="2042408" y="5820513"/>
            <a:ext cx="8128000" cy="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A58F72E-5C8D-465C-8B99-9A9135FD184E}"/>
              </a:ext>
            </a:extLst>
          </p:cNvPr>
          <p:cNvSpPr txBox="1"/>
          <p:nvPr/>
        </p:nvSpPr>
        <p:spPr bwMode="gray">
          <a:xfrm>
            <a:off x="5834019" y="5789175"/>
            <a:ext cx="540533"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32bit</a:t>
            </a:r>
            <a:endParaRPr lang="zh-CN" altLang="en-US" sz="1200" dirty="0">
              <a:latin typeface="Huawei Sans" panose="020C0503030203020204" pitchFamily="34" charset="0"/>
              <a:ea typeface="方正兰亭黑简体" panose="02000000000000000000" pitchFamily="2" charset="-122"/>
            </a:endParaRPr>
          </a:p>
        </p:txBody>
      </p:sp>
      <p:sp>
        <p:nvSpPr>
          <p:cNvPr id="12"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13"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15"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01664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9F06-D0B5-41C5-8864-AC1A246E2A34}"/>
              </a:ext>
            </a:extLst>
          </p:cNvPr>
          <p:cNvSpPr>
            <a:spLocks noGrp="1"/>
          </p:cNvSpPr>
          <p:nvPr>
            <p:ph type="title"/>
          </p:nvPr>
        </p:nvSpPr>
        <p:spPr bwMode="gray"/>
        <p:txBody>
          <a:bodyPr/>
          <a:lstStyle/>
          <a:p>
            <a:r>
              <a:rPr lang="en-US" dirty="0"/>
              <a:t>GRE</a:t>
            </a:r>
            <a:r>
              <a:rPr lang="zh-CN" altLang="en-US" dirty="0"/>
              <a:t>基本工作原理</a:t>
            </a:r>
            <a:endParaRPr lang="en-US" dirty="0"/>
          </a:p>
        </p:txBody>
      </p:sp>
      <p:sp>
        <p:nvSpPr>
          <p:cNvPr id="3" name="Text Placeholder 2">
            <a:extLst>
              <a:ext uri="{FF2B5EF4-FFF2-40B4-BE49-F238E27FC236}">
                <a16:creationId xmlns:a16="http://schemas.microsoft.com/office/drawing/2014/main" id="{E28E963C-93BF-48B2-ADC3-23E1F720963C}"/>
              </a:ext>
            </a:extLst>
          </p:cNvPr>
          <p:cNvSpPr>
            <a:spLocks noGrp="1"/>
          </p:cNvSpPr>
          <p:nvPr>
            <p:ph type="body" sz="quarter" idx="10"/>
          </p:nvPr>
        </p:nvSpPr>
        <p:spPr bwMode="gray"/>
        <p:txBody>
          <a:bodyPr/>
          <a:lstStyle/>
          <a:p>
            <a:r>
              <a:rPr lang="en-US" sz="1800" dirty="0"/>
              <a:t>GRE</a:t>
            </a:r>
            <a:r>
              <a:rPr lang="zh-CN" altLang="en-US" sz="1800" dirty="0"/>
              <a:t>隧道是三层隧道，主要承载</a:t>
            </a:r>
            <a:r>
              <a:rPr lang="en-US" altLang="zh-CN" sz="1800" dirty="0"/>
              <a:t>IPv4/IPv6</a:t>
            </a:r>
            <a:r>
              <a:rPr lang="zh-CN" altLang="en-US" sz="1800" dirty="0"/>
              <a:t>报文。</a:t>
            </a:r>
            <a:r>
              <a:rPr lang="en-US" altLang="zh-CN" sz="1800" dirty="0"/>
              <a:t>GRE</a:t>
            </a:r>
            <a:r>
              <a:rPr lang="zh-CN" altLang="en-US" sz="1800" dirty="0"/>
              <a:t>通过封装外层</a:t>
            </a:r>
            <a:r>
              <a:rPr lang="en-US" altLang="zh-CN" sz="1800" dirty="0"/>
              <a:t>IP</a:t>
            </a:r>
            <a:r>
              <a:rPr lang="zh-CN" altLang="en-US" sz="1800" dirty="0"/>
              <a:t>头部，使得数据可在公网上传递，达到企业分支</a:t>
            </a:r>
            <a:r>
              <a:rPr lang="en-US" altLang="zh-CN" sz="1800" dirty="0"/>
              <a:t>-</a:t>
            </a:r>
            <a:r>
              <a:rPr lang="zh-CN" altLang="en-US" sz="1800" dirty="0"/>
              <a:t>总部之间的内网互通的目的。</a:t>
            </a:r>
            <a:endParaRPr lang="en-US" altLang="zh-CN" sz="1800" dirty="0"/>
          </a:p>
          <a:p>
            <a:r>
              <a:rPr lang="en-US" altLang="zh-CN" sz="1800" dirty="0"/>
              <a:t>GRE</a:t>
            </a:r>
            <a:r>
              <a:rPr lang="zh-CN" altLang="en-US" sz="1800" dirty="0"/>
              <a:t>隧道数据转发过程如下：</a:t>
            </a:r>
            <a:endParaRPr lang="en-US" sz="1800" dirty="0"/>
          </a:p>
        </p:txBody>
      </p:sp>
      <p:grpSp>
        <p:nvGrpSpPr>
          <p:cNvPr id="13" name="Group 12">
            <a:extLst>
              <a:ext uri="{FF2B5EF4-FFF2-40B4-BE49-F238E27FC236}">
                <a16:creationId xmlns:a16="http://schemas.microsoft.com/office/drawing/2014/main" id="{49C4C706-001F-4B75-96A1-95AFC7390B77}"/>
              </a:ext>
            </a:extLst>
          </p:cNvPr>
          <p:cNvGrpSpPr/>
          <p:nvPr/>
        </p:nvGrpSpPr>
        <p:grpSpPr bwMode="gray">
          <a:xfrm>
            <a:off x="1443693" y="2672916"/>
            <a:ext cx="9394044" cy="3178984"/>
            <a:chOff x="1443693" y="2806300"/>
            <a:chExt cx="9394044" cy="3178984"/>
          </a:xfrm>
        </p:grpSpPr>
        <p:sp>
          <p:nvSpPr>
            <p:cNvPr id="52" name="Freeform 159">
              <a:extLst>
                <a:ext uri="{FF2B5EF4-FFF2-40B4-BE49-F238E27FC236}">
                  <a16:creationId xmlns:a16="http://schemas.microsoft.com/office/drawing/2014/main" id="{E5BE33B8-45E2-487F-AECE-14788155FB42}"/>
                </a:ext>
              </a:extLst>
            </p:cNvPr>
            <p:cNvSpPr/>
            <p:nvPr/>
          </p:nvSpPr>
          <p:spPr bwMode="gray">
            <a:xfrm flipH="1">
              <a:off x="2246544" y="2857161"/>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sp>
          <p:nvSpPr>
            <p:cNvPr id="57" name="Freeform 159">
              <a:extLst>
                <a:ext uri="{FF2B5EF4-FFF2-40B4-BE49-F238E27FC236}">
                  <a16:creationId xmlns:a16="http://schemas.microsoft.com/office/drawing/2014/main" id="{675DCA1B-25EB-4482-9761-9A85004A96EB}"/>
                </a:ext>
              </a:extLst>
            </p:cNvPr>
            <p:cNvSpPr/>
            <p:nvPr/>
          </p:nvSpPr>
          <p:spPr bwMode="gray">
            <a:xfrm flipH="1">
              <a:off x="8807778" y="2854505"/>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sz="1400" dirty="0">
                <a:solidFill>
                  <a:schemeClr val="tx1"/>
                </a:solidFill>
              </a:endParaRPr>
            </a:p>
          </p:txBody>
        </p:sp>
        <p:pic>
          <p:nvPicPr>
            <p:cNvPr id="4" name="图片 31">
              <a:extLst>
                <a:ext uri="{FF2B5EF4-FFF2-40B4-BE49-F238E27FC236}">
                  <a16:creationId xmlns:a16="http://schemas.microsoft.com/office/drawing/2014/main" id="{CA782363-70E6-4DD4-8903-3AA2B6D3E0A4}"/>
                </a:ext>
              </a:extLst>
            </p:cNvPr>
            <p:cNvPicPr>
              <a:picLocks noChangeAspect="1"/>
            </p:cNvPicPr>
            <p:nvPr/>
          </p:nvPicPr>
          <p:blipFill>
            <a:blip r:embed="rId3"/>
            <a:stretch>
              <a:fillRect/>
            </a:stretch>
          </p:blipFill>
          <p:spPr bwMode="gray">
            <a:xfrm>
              <a:off x="3228542" y="2987951"/>
              <a:ext cx="466668" cy="389308"/>
            </a:xfrm>
            <a:prstGeom prst="rect">
              <a:avLst/>
            </a:prstGeom>
          </p:spPr>
        </p:pic>
        <p:sp>
          <p:nvSpPr>
            <p:cNvPr id="5" name="Freeform 159">
              <a:extLst>
                <a:ext uri="{FF2B5EF4-FFF2-40B4-BE49-F238E27FC236}">
                  <a16:creationId xmlns:a16="http://schemas.microsoft.com/office/drawing/2014/main" id="{9848D4BA-5F39-4079-90D4-E187F416956E}"/>
                </a:ext>
              </a:extLst>
            </p:cNvPr>
            <p:cNvSpPr/>
            <p:nvPr/>
          </p:nvSpPr>
          <p:spPr bwMode="gray">
            <a:xfrm flipH="1">
              <a:off x="5581337" y="2806300"/>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6" name="图片 31">
              <a:extLst>
                <a:ext uri="{FF2B5EF4-FFF2-40B4-BE49-F238E27FC236}">
                  <a16:creationId xmlns:a16="http://schemas.microsoft.com/office/drawing/2014/main" id="{D3DE8C0D-8201-491B-83CF-1A3FB17868E7}"/>
                </a:ext>
              </a:extLst>
            </p:cNvPr>
            <p:cNvPicPr>
              <a:picLocks noChangeAspect="1"/>
            </p:cNvPicPr>
            <p:nvPr/>
          </p:nvPicPr>
          <p:blipFill>
            <a:blip r:embed="rId3"/>
            <a:stretch>
              <a:fillRect/>
            </a:stretch>
          </p:blipFill>
          <p:spPr bwMode="gray">
            <a:xfrm>
              <a:off x="8519745" y="2987951"/>
              <a:ext cx="466668" cy="389308"/>
            </a:xfrm>
            <a:prstGeom prst="rect">
              <a:avLst/>
            </a:prstGeom>
          </p:spPr>
        </p:pic>
        <p:cxnSp>
          <p:nvCxnSpPr>
            <p:cNvPr id="7" name="Straight Connector 6">
              <a:extLst>
                <a:ext uri="{FF2B5EF4-FFF2-40B4-BE49-F238E27FC236}">
                  <a16:creationId xmlns:a16="http://schemas.microsoft.com/office/drawing/2014/main" id="{F2222A8F-00B0-41A3-9508-4EC14DB0192F}"/>
                </a:ext>
              </a:extLst>
            </p:cNvPr>
            <p:cNvCxnSpPr>
              <a:cxnSpLocks/>
              <a:stCxn id="4" idx="3"/>
              <a:endCxn id="5" idx="21"/>
            </p:cNvCxnSpPr>
            <p:nvPr/>
          </p:nvCxnSpPr>
          <p:spPr bwMode="gray">
            <a:xfrm>
              <a:off x="3695210" y="3182605"/>
              <a:ext cx="1886127" cy="9339"/>
            </a:xfrm>
            <a:prstGeom prst="line">
              <a:avLst/>
            </a:prstGeom>
            <a:solidFill>
              <a:srgbClr val="56C4D2"/>
            </a:solidFill>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C766590-6816-4C4A-A665-47482B3C75F1}"/>
                </a:ext>
              </a:extLst>
            </p:cNvPr>
            <p:cNvCxnSpPr>
              <a:cxnSpLocks/>
              <a:stCxn id="6" idx="1"/>
              <a:endCxn id="5" idx="8"/>
            </p:cNvCxnSpPr>
            <p:nvPr/>
          </p:nvCxnSpPr>
          <p:spPr bwMode="gray">
            <a:xfrm flipH="1" flipV="1">
              <a:off x="6633618" y="3181932"/>
              <a:ext cx="1886127" cy="673"/>
            </a:xfrm>
            <a:prstGeom prst="line">
              <a:avLst/>
            </a:prstGeom>
            <a:solidFill>
              <a:srgbClr val="56C4D2"/>
            </a:solidFill>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4" name="直接连接符 133">
              <a:extLst>
                <a:ext uri="{FF2B5EF4-FFF2-40B4-BE49-F238E27FC236}">
                  <a16:creationId xmlns:a16="http://schemas.microsoft.com/office/drawing/2014/main" id="{89D13829-D1A4-49CD-B6EA-2F3B5CC32824}"/>
                </a:ext>
              </a:extLst>
            </p:cNvPr>
            <p:cNvCxnSpPr>
              <a:cxnSpLocks/>
              <a:endCxn id="4" idx="2"/>
            </p:cNvCxnSpPr>
            <p:nvPr/>
          </p:nvCxnSpPr>
          <p:spPr bwMode="gray">
            <a:xfrm flipV="1">
              <a:off x="3461876" y="3377259"/>
              <a:ext cx="0" cy="2608025"/>
            </a:xfrm>
            <a:prstGeom prst="line">
              <a:avLst/>
            </a:prstGeom>
            <a:ln w="19050">
              <a:prstDash val="dash"/>
            </a:ln>
          </p:spPr>
          <p:style>
            <a:lnRef idx="3">
              <a:schemeClr val="dk1"/>
            </a:lnRef>
            <a:fillRef idx="0">
              <a:schemeClr val="dk1"/>
            </a:fillRef>
            <a:effectRef idx="2">
              <a:schemeClr val="dk1"/>
            </a:effectRef>
            <a:fontRef idx="minor">
              <a:schemeClr val="tx1"/>
            </a:fontRef>
          </p:style>
        </p:cxnSp>
        <p:cxnSp>
          <p:nvCxnSpPr>
            <p:cNvPr id="15" name="直接连接符 133">
              <a:extLst>
                <a:ext uri="{FF2B5EF4-FFF2-40B4-BE49-F238E27FC236}">
                  <a16:creationId xmlns:a16="http://schemas.microsoft.com/office/drawing/2014/main" id="{5AE17EC4-B5F7-4EE2-A8AB-7D038FE7C7E0}"/>
                </a:ext>
              </a:extLst>
            </p:cNvPr>
            <p:cNvCxnSpPr>
              <a:cxnSpLocks/>
              <a:endCxn id="6" idx="2"/>
            </p:cNvCxnSpPr>
            <p:nvPr/>
          </p:nvCxnSpPr>
          <p:spPr bwMode="gray">
            <a:xfrm flipV="1">
              <a:off x="8753079" y="3377259"/>
              <a:ext cx="0" cy="2608025"/>
            </a:xfrm>
            <a:prstGeom prst="line">
              <a:avLst/>
            </a:prstGeom>
            <a:ln w="19050">
              <a:prstDash val="dash"/>
            </a:ln>
          </p:spPr>
          <p:style>
            <a:lnRef idx="3">
              <a:schemeClr val="dk1"/>
            </a:lnRef>
            <a:fillRef idx="0">
              <a:schemeClr val="dk1"/>
            </a:fillRef>
            <a:effectRef idx="2">
              <a:schemeClr val="dk1"/>
            </a:effectRef>
            <a:fontRef idx="minor">
              <a:schemeClr val="tx1"/>
            </a:fontRef>
          </p:style>
        </p:cxnSp>
        <p:sp>
          <p:nvSpPr>
            <p:cNvPr id="19" name="Rectangular Callout 75">
              <a:extLst>
                <a:ext uri="{FF2B5EF4-FFF2-40B4-BE49-F238E27FC236}">
                  <a16:creationId xmlns:a16="http://schemas.microsoft.com/office/drawing/2014/main" id="{8B0A34C6-D494-48C3-9C47-5C2FC67FB6B8}"/>
                </a:ext>
              </a:extLst>
            </p:cNvPr>
            <p:cNvSpPr/>
            <p:nvPr/>
          </p:nvSpPr>
          <p:spPr bwMode="gray">
            <a:xfrm>
              <a:off x="4290638" y="3573488"/>
              <a:ext cx="1126806" cy="297170"/>
            </a:xfrm>
            <a:prstGeom prst="wedgeRectCallout">
              <a:avLst>
                <a:gd name="adj1" fmla="val -64533"/>
                <a:gd name="adj2" fmla="val 216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封装外层头部</a:t>
              </a:r>
            </a:p>
          </p:txBody>
        </p:sp>
        <p:cxnSp>
          <p:nvCxnSpPr>
            <p:cNvPr id="23" name="Connector: Elbow 22">
              <a:extLst>
                <a:ext uri="{FF2B5EF4-FFF2-40B4-BE49-F238E27FC236}">
                  <a16:creationId xmlns:a16="http://schemas.microsoft.com/office/drawing/2014/main" id="{37C4622A-F15F-4545-BA5D-1E87C22E8F98}"/>
                </a:ext>
              </a:extLst>
            </p:cNvPr>
            <p:cNvCxnSpPr>
              <a:cxnSpLocks/>
              <a:stCxn id="48" idx="3"/>
              <a:endCxn id="73" idx="1"/>
            </p:cNvCxnSpPr>
            <p:nvPr/>
          </p:nvCxnSpPr>
          <p:spPr bwMode="gray">
            <a:xfrm flipH="1">
              <a:off x="5470495" y="4245091"/>
              <a:ext cx="1309581" cy="724155"/>
            </a:xfrm>
            <a:prstGeom prst="bentConnector5">
              <a:avLst>
                <a:gd name="adj1" fmla="val -17456"/>
                <a:gd name="adj2" fmla="val 50000"/>
                <a:gd name="adj3" fmla="val 117456"/>
              </a:avLst>
            </a:prstGeom>
            <a:solidFill>
              <a:srgbClr val="56C4D2"/>
            </a:solid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ular Callout 75">
              <a:extLst>
                <a:ext uri="{FF2B5EF4-FFF2-40B4-BE49-F238E27FC236}">
                  <a16:creationId xmlns:a16="http://schemas.microsoft.com/office/drawing/2014/main" id="{CCBED65A-826F-4421-B25B-7FDA34B2C817}"/>
                </a:ext>
              </a:extLst>
            </p:cNvPr>
            <p:cNvSpPr/>
            <p:nvPr/>
          </p:nvSpPr>
          <p:spPr bwMode="gray">
            <a:xfrm>
              <a:off x="7232346" y="3952161"/>
              <a:ext cx="1177190" cy="587261"/>
            </a:xfrm>
            <a:prstGeom prst="wedgeRectCallout">
              <a:avLst>
                <a:gd name="adj1" fmla="val -64533"/>
                <a:gd name="adj2" fmla="val 216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设备根据外层</a:t>
              </a:r>
              <a:r>
                <a:rPr lang="en-US" altLang="zh-CN" sz="1200" dirty="0">
                  <a:solidFill>
                    <a:schemeClr val="tx1"/>
                  </a:solidFill>
                  <a:latin typeface="Huawei Sans" panose="020C0503030203020204" pitchFamily="34" charset="0"/>
                  <a:ea typeface="方正兰亭黑简体" panose="02000000000000000000" pitchFamily="2" charset="-122"/>
                </a:rPr>
                <a:t>IP</a:t>
              </a:r>
              <a:r>
                <a:rPr lang="zh-CN" altLang="en-US" sz="1200" dirty="0">
                  <a:solidFill>
                    <a:schemeClr val="tx1"/>
                  </a:solidFill>
                  <a:latin typeface="Huawei Sans" panose="020C0503030203020204" pitchFamily="34" charset="0"/>
                  <a:ea typeface="方正兰亭黑简体" panose="02000000000000000000" pitchFamily="2" charset="-122"/>
                </a:rPr>
                <a:t>头部在底层网络上转发</a:t>
              </a:r>
            </a:p>
          </p:txBody>
        </p:sp>
        <p:cxnSp>
          <p:nvCxnSpPr>
            <p:cNvPr id="25" name="Connector: Elbow 24">
              <a:extLst>
                <a:ext uri="{FF2B5EF4-FFF2-40B4-BE49-F238E27FC236}">
                  <a16:creationId xmlns:a16="http://schemas.microsoft.com/office/drawing/2014/main" id="{739A67FE-995A-4942-95CC-E9986B4FCCCD}"/>
                </a:ext>
              </a:extLst>
            </p:cNvPr>
            <p:cNvCxnSpPr>
              <a:cxnSpLocks/>
              <a:endCxn id="82" idx="3"/>
            </p:cNvCxnSpPr>
            <p:nvPr/>
          </p:nvCxnSpPr>
          <p:spPr bwMode="gray">
            <a:xfrm rot="16200000" flipH="1">
              <a:off x="7216142" y="3987728"/>
              <a:ext cx="317251" cy="2491823"/>
            </a:xfrm>
            <a:prstGeom prst="bentConnector2">
              <a:avLst/>
            </a:prstGeom>
            <a:solidFill>
              <a:srgbClr val="56C4D2"/>
            </a:solidFill>
            <a:ln w="19050">
              <a:solidFill>
                <a:srgbClr val="56C4D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Rectangular Callout 75">
              <a:extLst>
                <a:ext uri="{FF2B5EF4-FFF2-40B4-BE49-F238E27FC236}">
                  <a16:creationId xmlns:a16="http://schemas.microsoft.com/office/drawing/2014/main" id="{07B06530-7ABB-447E-AA98-302B9C6150CC}"/>
                </a:ext>
              </a:extLst>
            </p:cNvPr>
            <p:cNvSpPr/>
            <p:nvPr/>
          </p:nvSpPr>
          <p:spPr bwMode="gray">
            <a:xfrm>
              <a:off x="7223603" y="5588818"/>
              <a:ext cx="1296142" cy="297170"/>
            </a:xfrm>
            <a:prstGeom prst="wedgeRectCallout">
              <a:avLst>
                <a:gd name="adj1" fmla="val -21909"/>
                <a:gd name="adj2" fmla="val -902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解封装外层头部</a:t>
              </a:r>
            </a:p>
          </p:txBody>
        </p:sp>
        <p:sp>
          <p:nvSpPr>
            <p:cNvPr id="32" name="Can 41">
              <a:extLst>
                <a:ext uri="{FF2B5EF4-FFF2-40B4-BE49-F238E27FC236}">
                  <a16:creationId xmlns:a16="http://schemas.microsoft.com/office/drawing/2014/main" id="{63190FE9-1364-4C3E-8BF6-D587AA345E80}"/>
                </a:ext>
              </a:extLst>
            </p:cNvPr>
            <p:cNvSpPr/>
            <p:nvPr/>
          </p:nvSpPr>
          <p:spPr bwMode="gray">
            <a:xfrm rot="5400000">
              <a:off x="5977642" y="1093558"/>
              <a:ext cx="236717" cy="4166505"/>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33">
              <a:extLst>
                <a:ext uri="{FF2B5EF4-FFF2-40B4-BE49-F238E27FC236}">
                  <a16:creationId xmlns:a16="http://schemas.microsoft.com/office/drawing/2014/main" id="{336DA8CB-C8CA-41E7-9327-4B9298BA418C}"/>
                </a:ext>
              </a:extLst>
            </p:cNvPr>
            <p:cNvSpPr txBox="1"/>
            <p:nvPr/>
          </p:nvSpPr>
          <p:spPr bwMode="gray">
            <a:xfrm flipH="1">
              <a:off x="5635893" y="3043989"/>
              <a:ext cx="840786"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43" name="TextBox 120">
              <a:extLst>
                <a:ext uri="{FF2B5EF4-FFF2-40B4-BE49-F238E27FC236}">
                  <a16:creationId xmlns:a16="http://schemas.microsoft.com/office/drawing/2014/main" id="{9943A3E3-B30C-4E9C-BC15-698FCC05C5FD}"/>
                </a:ext>
              </a:extLst>
            </p:cNvPr>
            <p:cNvSpPr txBox="1"/>
            <p:nvPr/>
          </p:nvSpPr>
          <p:spPr bwMode="gray">
            <a:xfrm>
              <a:off x="1443693" y="3527643"/>
              <a:ext cx="1057875" cy="287715"/>
            </a:xfrm>
            <a:prstGeom prst="roundRect">
              <a:avLst>
                <a:gd name="adj" fmla="val 6721"/>
              </a:avLst>
            </a:prstGeom>
            <a:solidFill>
              <a:srgbClr val="56C4D2"/>
            </a:solidFill>
            <a:ln w="12700">
              <a:solidFill>
                <a:srgbClr val="56C4D2"/>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S:IP1</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D:IP2</a:t>
              </a:r>
            </a:p>
          </p:txBody>
        </p:sp>
        <p:sp>
          <p:nvSpPr>
            <p:cNvPr id="44" name="TextBox 120">
              <a:extLst>
                <a:ext uri="{FF2B5EF4-FFF2-40B4-BE49-F238E27FC236}">
                  <a16:creationId xmlns:a16="http://schemas.microsoft.com/office/drawing/2014/main" id="{FB9C2C1D-C08C-41C0-962C-54AF7C16D96E}"/>
                </a:ext>
              </a:extLst>
            </p:cNvPr>
            <p:cNvSpPr txBox="1"/>
            <p:nvPr/>
          </p:nvSpPr>
          <p:spPr bwMode="gray">
            <a:xfrm>
              <a:off x="2502127" y="3527643"/>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7" name="TextBox 120">
              <a:extLst>
                <a:ext uri="{FF2B5EF4-FFF2-40B4-BE49-F238E27FC236}">
                  <a16:creationId xmlns:a16="http://schemas.microsoft.com/office/drawing/2014/main" id="{6D2E8CEF-5858-4CC8-A3DC-B029297F0C3D}"/>
                </a:ext>
              </a:extLst>
            </p:cNvPr>
            <p:cNvSpPr txBox="1"/>
            <p:nvPr/>
          </p:nvSpPr>
          <p:spPr bwMode="gray">
            <a:xfrm>
              <a:off x="5162730" y="4101233"/>
              <a:ext cx="1052280" cy="287715"/>
            </a:xfrm>
            <a:prstGeom prst="roundRect">
              <a:avLst>
                <a:gd name="adj" fmla="val 6721"/>
              </a:avLst>
            </a:prstGeom>
            <a:solidFill>
              <a:srgbClr val="56C4D2"/>
            </a:solidFill>
            <a:ln w="12700">
              <a:solidFill>
                <a:srgbClr val="56C4D2"/>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S:IP1</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D:IP2</a:t>
              </a:r>
            </a:p>
          </p:txBody>
        </p:sp>
        <p:sp>
          <p:nvSpPr>
            <p:cNvPr id="48" name="TextBox 120">
              <a:extLst>
                <a:ext uri="{FF2B5EF4-FFF2-40B4-BE49-F238E27FC236}">
                  <a16:creationId xmlns:a16="http://schemas.microsoft.com/office/drawing/2014/main" id="{BB39D7AB-E8CA-4435-8401-B4384B21057F}"/>
                </a:ext>
              </a:extLst>
            </p:cNvPr>
            <p:cNvSpPr txBox="1"/>
            <p:nvPr/>
          </p:nvSpPr>
          <p:spPr bwMode="gray">
            <a:xfrm>
              <a:off x="6215252" y="4101233"/>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9" name="TextBox 120">
              <a:extLst>
                <a:ext uri="{FF2B5EF4-FFF2-40B4-BE49-F238E27FC236}">
                  <a16:creationId xmlns:a16="http://schemas.microsoft.com/office/drawing/2014/main" id="{54945C05-8A67-48A5-8EF4-DB2BECD7D4A9}"/>
                </a:ext>
              </a:extLst>
            </p:cNvPr>
            <p:cNvSpPr txBox="1"/>
            <p:nvPr/>
          </p:nvSpPr>
          <p:spPr bwMode="gray">
            <a:xfrm>
              <a:off x="4639563" y="4101233"/>
              <a:ext cx="522607" cy="287715"/>
            </a:xfrm>
            <a:prstGeom prst="roundRect">
              <a:avLst>
                <a:gd name="adj" fmla="val 6721"/>
              </a:avLst>
            </a:prstGeom>
            <a:solidFill>
              <a:srgbClr val="EEB3B8"/>
            </a:solidFill>
            <a:ln w="12700">
              <a:solidFill>
                <a:srgbClr val="EEB3B8"/>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p>
          </p:txBody>
        </p:sp>
        <p:sp>
          <p:nvSpPr>
            <p:cNvPr id="50" name="TextBox 120">
              <a:extLst>
                <a:ext uri="{FF2B5EF4-FFF2-40B4-BE49-F238E27FC236}">
                  <a16:creationId xmlns:a16="http://schemas.microsoft.com/office/drawing/2014/main" id="{7031278B-C172-43DD-9FFE-EFF703F3935F}"/>
                </a:ext>
              </a:extLst>
            </p:cNvPr>
            <p:cNvSpPr txBox="1"/>
            <p:nvPr/>
          </p:nvSpPr>
          <p:spPr bwMode="gray">
            <a:xfrm>
              <a:off x="3537401" y="4101233"/>
              <a:ext cx="1096048" cy="287715"/>
            </a:xfrm>
            <a:prstGeom prst="roundRect">
              <a:avLst>
                <a:gd name="adj" fmla="val 6721"/>
              </a:avLst>
            </a:prstGeom>
            <a:solidFill>
              <a:srgbClr val="AFD89C"/>
            </a:solidFill>
            <a:ln w="12700">
              <a:solidFill>
                <a:srgbClr val="AFD89C"/>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D:IPB</a:t>
              </a:r>
            </a:p>
          </p:txBody>
        </p:sp>
        <p:sp>
          <p:nvSpPr>
            <p:cNvPr id="64" name="Oval 41">
              <a:extLst>
                <a:ext uri="{FF2B5EF4-FFF2-40B4-BE49-F238E27FC236}">
                  <a16:creationId xmlns:a16="http://schemas.microsoft.com/office/drawing/2014/main" id="{1F5B20F1-9C8B-4E2F-B52F-39F5F318D990}"/>
                </a:ext>
              </a:extLst>
            </p:cNvPr>
            <p:cNvSpPr>
              <a:spLocks noChangeAspect="1"/>
            </p:cNvSpPr>
            <p:nvPr/>
          </p:nvSpPr>
          <p:spPr bwMode="gray">
            <a:xfrm>
              <a:off x="3579441" y="3099170"/>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5" name="Oval 41">
              <a:extLst>
                <a:ext uri="{FF2B5EF4-FFF2-40B4-BE49-F238E27FC236}">
                  <a16:creationId xmlns:a16="http://schemas.microsoft.com/office/drawing/2014/main" id="{C17F1603-B162-415A-AD6F-00759F367AA6}"/>
                </a:ext>
              </a:extLst>
            </p:cNvPr>
            <p:cNvSpPr>
              <a:spLocks noChangeAspect="1"/>
            </p:cNvSpPr>
            <p:nvPr/>
          </p:nvSpPr>
          <p:spPr bwMode="gray">
            <a:xfrm>
              <a:off x="8461417" y="3100299"/>
              <a:ext cx="159261" cy="159261"/>
            </a:xfrm>
            <a:prstGeom prst="ellipse">
              <a:avLst/>
            </a:prstGeom>
            <a:solidFill>
              <a:srgbClr val="FFC000"/>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spcBef>
                  <a:spcPts val="0"/>
                </a:spcBef>
                <a:spcAft>
                  <a:spcPts val="0"/>
                </a:spcAft>
              </a:pPr>
              <a:endParaRPr lang="en-US" altLang="zh-CN" sz="1400" b="1" dirty="0">
                <a:solidFill>
                  <a:prstClr val="black"/>
                </a:solidFill>
              </a:endParaRPr>
            </a:p>
          </p:txBody>
        </p:sp>
        <p:sp>
          <p:nvSpPr>
            <p:cNvPr id="67" name="Can 41">
              <a:extLst>
                <a:ext uri="{FF2B5EF4-FFF2-40B4-BE49-F238E27FC236}">
                  <a16:creationId xmlns:a16="http://schemas.microsoft.com/office/drawing/2014/main" id="{7E741746-6864-4BE0-9156-473B8B869831}"/>
                </a:ext>
              </a:extLst>
            </p:cNvPr>
            <p:cNvSpPr/>
            <p:nvPr/>
          </p:nvSpPr>
          <p:spPr bwMode="gray">
            <a:xfrm rot="5400000">
              <a:off x="3359236" y="3517598"/>
              <a:ext cx="236717" cy="307804"/>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8" name="Connector: Elbow 17">
              <a:extLst>
                <a:ext uri="{FF2B5EF4-FFF2-40B4-BE49-F238E27FC236}">
                  <a16:creationId xmlns:a16="http://schemas.microsoft.com/office/drawing/2014/main" id="{BF6DC473-4320-4DB1-BDA9-838D8FCEA88D}"/>
                </a:ext>
              </a:extLst>
            </p:cNvPr>
            <p:cNvCxnSpPr>
              <a:cxnSpLocks/>
            </p:cNvCxnSpPr>
            <p:nvPr/>
          </p:nvCxnSpPr>
          <p:spPr bwMode="gray">
            <a:xfrm>
              <a:off x="3575720" y="3671501"/>
              <a:ext cx="486154" cy="429732"/>
            </a:xfrm>
            <a:prstGeom prst="bentConnector2">
              <a:avLst/>
            </a:prstGeom>
            <a:solidFill>
              <a:srgbClr val="56C4D2"/>
            </a:solidFill>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FF2B6B7F-0507-4C90-9DD6-9ED959DFAFE1}"/>
                </a:ext>
              </a:extLst>
            </p:cNvPr>
            <p:cNvCxnSpPr>
              <a:cxnSpLocks/>
              <a:stCxn id="44" idx="3"/>
              <a:endCxn id="67" idx="3"/>
            </p:cNvCxnSpPr>
            <p:nvPr/>
          </p:nvCxnSpPr>
          <p:spPr bwMode="gray">
            <a:xfrm>
              <a:off x="3066951" y="3671501"/>
              <a:ext cx="256742" cy="0"/>
            </a:xfrm>
            <a:prstGeom prst="line">
              <a:avLst/>
            </a:prstGeom>
            <a:solidFill>
              <a:srgbClr val="56C4D2"/>
            </a:solidFill>
            <a:ln w="19050">
              <a:solidFill>
                <a:srgbClr val="56C4D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5" name="Rectangular Callout 75">
              <a:extLst>
                <a:ext uri="{FF2B5EF4-FFF2-40B4-BE49-F238E27FC236}">
                  <a16:creationId xmlns:a16="http://schemas.microsoft.com/office/drawing/2014/main" id="{BA2944BB-596C-4EC9-A1FC-3E799D389314}"/>
                </a:ext>
              </a:extLst>
            </p:cNvPr>
            <p:cNvSpPr/>
            <p:nvPr/>
          </p:nvSpPr>
          <p:spPr bwMode="gray">
            <a:xfrm>
              <a:off x="2291876" y="3982874"/>
              <a:ext cx="1146953" cy="236717"/>
            </a:xfrm>
            <a:prstGeom prst="wedgeRectCallout">
              <a:avLst>
                <a:gd name="adj1" fmla="val 39562"/>
                <a:gd name="adj2" fmla="val -12461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隧道接口</a:t>
              </a:r>
            </a:p>
          </p:txBody>
        </p:sp>
        <p:sp>
          <p:nvSpPr>
            <p:cNvPr id="82" name="Can 41">
              <a:extLst>
                <a:ext uri="{FF2B5EF4-FFF2-40B4-BE49-F238E27FC236}">
                  <a16:creationId xmlns:a16="http://schemas.microsoft.com/office/drawing/2014/main" id="{14990FBB-1C22-4496-BC21-44FE12C7632E}"/>
                </a:ext>
              </a:extLst>
            </p:cNvPr>
            <p:cNvSpPr/>
            <p:nvPr/>
          </p:nvSpPr>
          <p:spPr bwMode="gray">
            <a:xfrm rot="5400000">
              <a:off x="8656222" y="5238363"/>
              <a:ext cx="236717" cy="307804"/>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4" name="Straight Arrow Connector 83">
              <a:extLst>
                <a:ext uri="{FF2B5EF4-FFF2-40B4-BE49-F238E27FC236}">
                  <a16:creationId xmlns:a16="http://schemas.microsoft.com/office/drawing/2014/main" id="{D230CE4A-A0E9-4644-A7CA-1F91B8881F23}"/>
                </a:ext>
              </a:extLst>
            </p:cNvPr>
            <p:cNvCxnSpPr>
              <a:cxnSpLocks/>
              <a:endCxn id="74" idx="1"/>
            </p:cNvCxnSpPr>
            <p:nvPr/>
          </p:nvCxnSpPr>
          <p:spPr bwMode="gray">
            <a:xfrm>
              <a:off x="8873934" y="5392265"/>
              <a:ext cx="340545"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92" name="Rectangular Callout 75">
              <a:extLst>
                <a:ext uri="{FF2B5EF4-FFF2-40B4-BE49-F238E27FC236}">
                  <a16:creationId xmlns:a16="http://schemas.microsoft.com/office/drawing/2014/main" id="{A81C0F52-E8AD-4DAB-A8F2-431F869A1482}"/>
                </a:ext>
              </a:extLst>
            </p:cNvPr>
            <p:cNvSpPr/>
            <p:nvPr/>
          </p:nvSpPr>
          <p:spPr bwMode="gray">
            <a:xfrm>
              <a:off x="8820353" y="4828511"/>
              <a:ext cx="1146953" cy="236717"/>
            </a:xfrm>
            <a:prstGeom prst="wedgeRectCallout">
              <a:avLst>
                <a:gd name="adj1" fmla="val -40011"/>
                <a:gd name="adj2" fmla="val 12998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隧道接口</a:t>
              </a:r>
            </a:p>
          </p:txBody>
        </p:sp>
        <p:pic>
          <p:nvPicPr>
            <p:cNvPr id="58" name="图片 79" descr="PC.png">
              <a:extLst>
                <a:ext uri="{FF2B5EF4-FFF2-40B4-BE49-F238E27FC236}">
                  <a16:creationId xmlns:a16="http://schemas.microsoft.com/office/drawing/2014/main" id="{4666702E-823D-4236-BF2F-880359158C83}"/>
                </a:ext>
              </a:extLst>
            </p:cNvPr>
            <p:cNvPicPr>
              <a:picLocks noChangeAspect="1"/>
            </p:cNvPicPr>
            <p:nvPr/>
          </p:nvPicPr>
          <p:blipFill>
            <a:blip r:embed="rId4" cstate="print"/>
            <a:stretch>
              <a:fillRect/>
            </a:stretch>
          </p:blipFill>
          <p:spPr bwMode="gray">
            <a:xfrm>
              <a:off x="9697775" y="2942358"/>
              <a:ext cx="539063" cy="414000"/>
            </a:xfrm>
            <a:prstGeom prst="rect">
              <a:avLst/>
            </a:prstGeom>
          </p:spPr>
        </p:pic>
        <p:pic>
          <p:nvPicPr>
            <p:cNvPr id="59" name="图片 79" descr="PC.png">
              <a:extLst>
                <a:ext uri="{FF2B5EF4-FFF2-40B4-BE49-F238E27FC236}">
                  <a16:creationId xmlns:a16="http://schemas.microsoft.com/office/drawing/2014/main" id="{FEE376A9-D156-435D-ABFF-693395881C13}"/>
                </a:ext>
              </a:extLst>
            </p:cNvPr>
            <p:cNvPicPr>
              <a:picLocks noChangeAspect="1"/>
            </p:cNvPicPr>
            <p:nvPr/>
          </p:nvPicPr>
          <p:blipFill>
            <a:blip r:embed="rId4" cstate="print"/>
            <a:stretch>
              <a:fillRect/>
            </a:stretch>
          </p:blipFill>
          <p:spPr bwMode="gray">
            <a:xfrm>
              <a:off x="1907921" y="2971800"/>
              <a:ext cx="539063" cy="414000"/>
            </a:xfrm>
            <a:prstGeom prst="rect">
              <a:avLst/>
            </a:prstGeom>
          </p:spPr>
        </p:pic>
        <p:sp>
          <p:nvSpPr>
            <p:cNvPr id="60" name="TextBox 59">
              <a:extLst>
                <a:ext uri="{FF2B5EF4-FFF2-40B4-BE49-F238E27FC236}">
                  <a16:creationId xmlns:a16="http://schemas.microsoft.com/office/drawing/2014/main" id="{4B93E841-D27F-42FC-AB5C-767F3FE211CA}"/>
                </a:ext>
              </a:extLst>
            </p:cNvPr>
            <p:cNvSpPr txBox="1"/>
            <p:nvPr/>
          </p:nvSpPr>
          <p:spPr bwMode="gray">
            <a:xfrm flipH="1">
              <a:off x="1510977" y="3016606"/>
              <a:ext cx="46877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IP1</a:t>
              </a:r>
              <a:endParaRPr lang="zh-CN" altLang="en-US" sz="1200" dirty="0">
                <a:latin typeface="Huawei Sans" panose="020C0503030203020204" pitchFamily="34" charset="0"/>
                <a:ea typeface="方正兰亭黑简体" panose="02000000000000000000" pitchFamily="2" charset="-122"/>
              </a:endParaRPr>
            </a:p>
          </p:txBody>
        </p:sp>
        <p:sp>
          <p:nvSpPr>
            <p:cNvPr id="63" name="TextBox 62">
              <a:extLst>
                <a:ext uri="{FF2B5EF4-FFF2-40B4-BE49-F238E27FC236}">
                  <a16:creationId xmlns:a16="http://schemas.microsoft.com/office/drawing/2014/main" id="{EB11FAEE-3241-47DB-B529-0797209DC643}"/>
                </a:ext>
              </a:extLst>
            </p:cNvPr>
            <p:cNvSpPr txBox="1"/>
            <p:nvPr/>
          </p:nvSpPr>
          <p:spPr bwMode="gray">
            <a:xfrm flipH="1">
              <a:off x="10214375" y="2991037"/>
              <a:ext cx="46877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IP2</a:t>
              </a:r>
              <a:endParaRPr lang="zh-CN" altLang="en-US" sz="1200" dirty="0">
                <a:latin typeface="Huawei Sans" panose="020C0503030203020204" pitchFamily="34" charset="0"/>
                <a:ea typeface="方正兰亭黑简体" panose="02000000000000000000" pitchFamily="2" charset="-122"/>
              </a:endParaRPr>
            </a:p>
          </p:txBody>
        </p:sp>
        <p:sp>
          <p:nvSpPr>
            <p:cNvPr id="66" name="TextBox 65">
              <a:extLst>
                <a:ext uri="{FF2B5EF4-FFF2-40B4-BE49-F238E27FC236}">
                  <a16:creationId xmlns:a16="http://schemas.microsoft.com/office/drawing/2014/main" id="{2156F713-CF07-4053-8B28-828106E5F7F0}"/>
                </a:ext>
              </a:extLst>
            </p:cNvPr>
            <p:cNvSpPr txBox="1"/>
            <p:nvPr/>
          </p:nvSpPr>
          <p:spPr bwMode="gray">
            <a:xfrm flipH="1">
              <a:off x="3579441" y="2886135"/>
              <a:ext cx="46877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IPA</a:t>
              </a:r>
              <a:endParaRPr lang="zh-CN" altLang="en-US" sz="1200" dirty="0">
                <a:latin typeface="Huawei Sans" panose="020C0503030203020204" pitchFamily="34" charset="0"/>
                <a:ea typeface="方正兰亭黑简体" panose="02000000000000000000" pitchFamily="2" charset="-122"/>
              </a:endParaRPr>
            </a:p>
          </p:txBody>
        </p:sp>
        <p:sp>
          <p:nvSpPr>
            <p:cNvPr id="68" name="TextBox 67">
              <a:extLst>
                <a:ext uri="{FF2B5EF4-FFF2-40B4-BE49-F238E27FC236}">
                  <a16:creationId xmlns:a16="http://schemas.microsoft.com/office/drawing/2014/main" id="{1AF38176-B896-489D-9254-788CCF788F94}"/>
                </a:ext>
              </a:extLst>
            </p:cNvPr>
            <p:cNvSpPr txBox="1"/>
            <p:nvPr/>
          </p:nvSpPr>
          <p:spPr bwMode="gray">
            <a:xfrm flipH="1">
              <a:off x="8179253" y="2881764"/>
              <a:ext cx="46877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IPB</a:t>
              </a:r>
              <a:endParaRPr lang="zh-CN" altLang="en-US" sz="1200" dirty="0">
                <a:latin typeface="Huawei Sans" panose="020C0503030203020204" pitchFamily="34" charset="0"/>
                <a:ea typeface="方正兰亭黑简体" panose="02000000000000000000" pitchFamily="2" charset="-122"/>
              </a:endParaRPr>
            </a:p>
          </p:txBody>
        </p:sp>
        <p:sp>
          <p:nvSpPr>
            <p:cNvPr id="70" name="TextBox 120">
              <a:extLst>
                <a:ext uri="{FF2B5EF4-FFF2-40B4-BE49-F238E27FC236}">
                  <a16:creationId xmlns:a16="http://schemas.microsoft.com/office/drawing/2014/main" id="{577829D0-1D93-47BD-80BC-B96B2EB619D8}"/>
                </a:ext>
              </a:extLst>
            </p:cNvPr>
            <p:cNvSpPr txBox="1"/>
            <p:nvPr/>
          </p:nvSpPr>
          <p:spPr bwMode="gray">
            <a:xfrm>
              <a:off x="7095824" y="4825388"/>
              <a:ext cx="1052280" cy="287715"/>
            </a:xfrm>
            <a:prstGeom prst="roundRect">
              <a:avLst>
                <a:gd name="adj" fmla="val 6721"/>
              </a:avLst>
            </a:prstGeom>
            <a:solidFill>
              <a:srgbClr val="56C4D2"/>
            </a:solidFill>
            <a:ln w="12700">
              <a:solidFill>
                <a:srgbClr val="56C4D2"/>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S:IP1</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D:IP2</a:t>
              </a:r>
            </a:p>
          </p:txBody>
        </p:sp>
        <p:sp>
          <p:nvSpPr>
            <p:cNvPr id="71" name="TextBox 120">
              <a:extLst>
                <a:ext uri="{FF2B5EF4-FFF2-40B4-BE49-F238E27FC236}">
                  <a16:creationId xmlns:a16="http://schemas.microsoft.com/office/drawing/2014/main" id="{97CA8C33-26A6-42DE-954A-FFF11611092E}"/>
                </a:ext>
              </a:extLst>
            </p:cNvPr>
            <p:cNvSpPr txBox="1"/>
            <p:nvPr/>
          </p:nvSpPr>
          <p:spPr bwMode="gray">
            <a:xfrm>
              <a:off x="8148346" y="4825388"/>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72" name="TextBox 120">
              <a:extLst>
                <a:ext uri="{FF2B5EF4-FFF2-40B4-BE49-F238E27FC236}">
                  <a16:creationId xmlns:a16="http://schemas.microsoft.com/office/drawing/2014/main" id="{E615B1C0-1EA4-43BC-891E-20DBC7E61CE9}"/>
                </a:ext>
              </a:extLst>
            </p:cNvPr>
            <p:cNvSpPr txBox="1"/>
            <p:nvPr/>
          </p:nvSpPr>
          <p:spPr bwMode="gray">
            <a:xfrm>
              <a:off x="6572657" y="4825388"/>
              <a:ext cx="522607" cy="287715"/>
            </a:xfrm>
            <a:prstGeom prst="roundRect">
              <a:avLst>
                <a:gd name="adj" fmla="val 6721"/>
              </a:avLst>
            </a:prstGeom>
            <a:solidFill>
              <a:srgbClr val="EEB3B8"/>
            </a:solidFill>
            <a:ln w="12700">
              <a:solidFill>
                <a:srgbClr val="EEB3B8"/>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p>
          </p:txBody>
        </p:sp>
        <p:sp>
          <p:nvSpPr>
            <p:cNvPr id="73" name="TextBox 120">
              <a:extLst>
                <a:ext uri="{FF2B5EF4-FFF2-40B4-BE49-F238E27FC236}">
                  <a16:creationId xmlns:a16="http://schemas.microsoft.com/office/drawing/2014/main" id="{6CEF16F5-744B-450A-9916-CB309A6D3494}"/>
                </a:ext>
              </a:extLst>
            </p:cNvPr>
            <p:cNvSpPr txBox="1"/>
            <p:nvPr/>
          </p:nvSpPr>
          <p:spPr bwMode="gray">
            <a:xfrm>
              <a:off x="5470495" y="4825388"/>
              <a:ext cx="1096048" cy="287715"/>
            </a:xfrm>
            <a:prstGeom prst="roundRect">
              <a:avLst>
                <a:gd name="adj" fmla="val 6721"/>
              </a:avLst>
            </a:prstGeom>
            <a:solidFill>
              <a:srgbClr val="AFD89C"/>
            </a:solidFill>
            <a:ln w="12700">
              <a:solidFill>
                <a:srgbClr val="AFD89C"/>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S:IPA</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D:IPB</a:t>
              </a:r>
            </a:p>
          </p:txBody>
        </p:sp>
        <p:sp>
          <p:nvSpPr>
            <p:cNvPr id="74" name="TextBox 120">
              <a:extLst>
                <a:ext uri="{FF2B5EF4-FFF2-40B4-BE49-F238E27FC236}">
                  <a16:creationId xmlns:a16="http://schemas.microsoft.com/office/drawing/2014/main" id="{8A11DEC1-DA2D-4EAA-AC86-31AC011AC119}"/>
                </a:ext>
              </a:extLst>
            </p:cNvPr>
            <p:cNvSpPr txBox="1"/>
            <p:nvPr/>
          </p:nvSpPr>
          <p:spPr bwMode="gray">
            <a:xfrm>
              <a:off x="9214479" y="5248407"/>
              <a:ext cx="1057875" cy="287715"/>
            </a:xfrm>
            <a:prstGeom prst="roundRect">
              <a:avLst>
                <a:gd name="adj" fmla="val 6721"/>
              </a:avLst>
            </a:prstGeom>
            <a:solidFill>
              <a:srgbClr val="56C4D2"/>
            </a:solidFill>
            <a:ln w="12700">
              <a:solidFill>
                <a:srgbClr val="56C4D2"/>
              </a:solidFill>
            </a:ln>
          </p:spPr>
          <p:txBody>
            <a:bodyPr wrap="square" rtlCol="0" anchor="ctr">
              <a:spAutoFit/>
            </a:bodyPr>
            <a:lstStyle/>
            <a:p>
              <a:pPr fontAlgn="auto"/>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S:IP1</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D:IP2</a:t>
              </a:r>
            </a:p>
          </p:txBody>
        </p:sp>
        <p:sp>
          <p:nvSpPr>
            <p:cNvPr id="76" name="TextBox 120">
              <a:extLst>
                <a:ext uri="{FF2B5EF4-FFF2-40B4-BE49-F238E27FC236}">
                  <a16:creationId xmlns:a16="http://schemas.microsoft.com/office/drawing/2014/main" id="{8D35DE0D-EDD1-4386-A757-627DE013D1C4}"/>
                </a:ext>
              </a:extLst>
            </p:cNvPr>
            <p:cNvSpPr txBox="1"/>
            <p:nvPr/>
          </p:nvSpPr>
          <p:spPr bwMode="gray">
            <a:xfrm>
              <a:off x="10272913" y="5248407"/>
              <a:ext cx="564824" cy="287715"/>
            </a:xfrm>
            <a:prstGeom prst="roundRect">
              <a:avLst>
                <a:gd name="adj" fmla="val 6721"/>
              </a:avLst>
            </a:prstGeom>
            <a:solidFill>
              <a:srgbClr val="FDE397"/>
            </a:solidFill>
            <a:ln w="12700">
              <a:solidFill>
                <a:srgbClr val="FDE397"/>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grpSp>
      <p:sp>
        <p:nvSpPr>
          <p:cNvPr id="51"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53"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54"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700107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764B-E1F5-4797-88D5-EEF8B6F896E3}"/>
              </a:ext>
            </a:extLst>
          </p:cNvPr>
          <p:cNvSpPr>
            <a:spLocks noGrp="1"/>
          </p:cNvSpPr>
          <p:nvPr>
            <p:ph type="title"/>
          </p:nvPr>
        </p:nvSpPr>
        <p:spPr bwMode="gray"/>
        <p:txBody>
          <a:bodyPr/>
          <a:lstStyle/>
          <a:p>
            <a:r>
              <a:rPr lang="en-US" dirty="0"/>
              <a:t>GRE K</a:t>
            </a:r>
            <a:r>
              <a:rPr lang="en-US" altLang="zh-CN" dirty="0"/>
              <a:t>eepalive</a:t>
            </a:r>
            <a:r>
              <a:rPr lang="zh-CN" altLang="en-US" dirty="0"/>
              <a:t>检测</a:t>
            </a:r>
            <a:endParaRPr lang="en-US" dirty="0"/>
          </a:p>
        </p:txBody>
      </p:sp>
      <p:sp>
        <p:nvSpPr>
          <p:cNvPr id="3" name="Text Placeholder 2">
            <a:extLst>
              <a:ext uri="{FF2B5EF4-FFF2-40B4-BE49-F238E27FC236}">
                <a16:creationId xmlns:a16="http://schemas.microsoft.com/office/drawing/2014/main" id="{B93BBA1A-5D7B-4C5F-B653-0F0FC31B1A86}"/>
              </a:ext>
            </a:extLst>
          </p:cNvPr>
          <p:cNvSpPr>
            <a:spLocks noGrp="1"/>
          </p:cNvSpPr>
          <p:nvPr>
            <p:ph type="body" sz="quarter" idx="10"/>
          </p:nvPr>
        </p:nvSpPr>
        <p:spPr bwMode="gray"/>
        <p:txBody>
          <a:bodyPr/>
          <a:lstStyle/>
          <a:p>
            <a:r>
              <a:rPr lang="zh-CN" altLang="en-US" sz="1600" dirty="0"/>
              <a:t>由于</a:t>
            </a:r>
            <a:r>
              <a:rPr lang="en-US" altLang="zh-CN" sz="1600" dirty="0"/>
              <a:t>GRE</a:t>
            </a:r>
            <a:r>
              <a:rPr lang="zh-CN" altLang="en-US" sz="1600" dirty="0"/>
              <a:t>协议并不具备检测链路状态的功能，如果对端接口不可达，隧道并不能及时关闭该</a:t>
            </a:r>
            <a:r>
              <a:rPr lang="en-US" altLang="zh-CN" sz="1600" dirty="0"/>
              <a:t>Tunnel</a:t>
            </a:r>
            <a:r>
              <a:rPr lang="zh-CN" altLang="en-US" sz="1600" dirty="0"/>
              <a:t>连接，这样会造成源端会不断的向对端转发数据，而对端却因隧道不通接收不到报文，由此就会形成流量中断。</a:t>
            </a:r>
            <a:endParaRPr lang="en-US" altLang="zh-CN" sz="1600" dirty="0"/>
          </a:p>
          <a:p>
            <a:r>
              <a:rPr lang="en-US" altLang="zh-CN" sz="1600" dirty="0"/>
              <a:t>GRE</a:t>
            </a:r>
            <a:r>
              <a:rPr lang="zh-CN" altLang="en-US" sz="1600" dirty="0"/>
              <a:t>的</a:t>
            </a:r>
            <a:r>
              <a:rPr lang="en-US" altLang="zh-CN" sz="1600" dirty="0"/>
              <a:t>Keepalive</a:t>
            </a:r>
            <a:r>
              <a:rPr lang="zh-CN" altLang="en-US" sz="1600" dirty="0"/>
              <a:t>检测功能可以检测隧道状态，即检测隧道对端是否可达。</a:t>
            </a:r>
            <a:endParaRPr lang="en-US" altLang="zh-CN" sz="1600" dirty="0"/>
          </a:p>
          <a:p>
            <a:r>
              <a:rPr lang="en-US" sz="1600" dirty="0"/>
              <a:t>K</a:t>
            </a:r>
            <a:r>
              <a:rPr lang="en-US" altLang="zh-CN" sz="1600" dirty="0"/>
              <a:t>eepalive</a:t>
            </a:r>
            <a:r>
              <a:rPr lang="zh-CN" altLang="en-US" sz="1600" dirty="0"/>
              <a:t>超时时间</a:t>
            </a:r>
            <a:r>
              <a:rPr lang="en-US" altLang="zh-CN" sz="1600" dirty="0"/>
              <a:t>=</a:t>
            </a:r>
            <a:r>
              <a:rPr lang="zh-CN" altLang="en-US" sz="1600" dirty="0"/>
              <a:t>发送周期（默认</a:t>
            </a:r>
            <a:r>
              <a:rPr lang="en-US" altLang="zh-CN" sz="1600" dirty="0"/>
              <a:t>5 s</a:t>
            </a:r>
            <a:r>
              <a:rPr lang="zh-CN" altLang="en-US" sz="1600" dirty="0"/>
              <a:t>）*重试次数（默认</a:t>
            </a:r>
            <a:r>
              <a:rPr lang="en-US" altLang="zh-CN" sz="1600" dirty="0"/>
              <a:t>3</a:t>
            </a:r>
            <a:r>
              <a:rPr lang="zh-CN" altLang="en-US" sz="1600" dirty="0"/>
              <a:t>次）</a:t>
            </a:r>
            <a:endParaRPr lang="en-US" sz="1600" dirty="0"/>
          </a:p>
        </p:txBody>
      </p:sp>
      <p:grpSp>
        <p:nvGrpSpPr>
          <p:cNvPr id="9" name="Group 8">
            <a:extLst>
              <a:ext uri="{FF2B5EF4-FFF2-40B4-BE49-F238E27FC236}">
                <a16:creationId xmlns:a16="http://schemas.microsoft.com/office/drawing/2014/main" id="{909187A6-90C5-48AD-9F06-195804D9BA10}"/>
              </a:ext>
            </a:extLst>
          </p:cNvPr>
          <p:cNvGrpSpPr/>
          <p:nvPr/>
        </p:nvGrpSpPr>
        <p:grpSpPr>
          <a:xfrm>
            <a:off x="2747628" y="2744924"/>
            <a:ext cx="6261927" cy="3158083"/>
            <a:chOff x="2747628" y="2744924"/>
            <a:chExt cx="6261927" cy="3158083"/>
          </a:xfrm>
        </p:grpSpPr>
        <p:pic>
          <p:nvPicPr>
            <p:cNvPr id="4" name="图片 31">
              <a:extLst>
                <a:ext uri="{FF2B5EF4-FFF2-40B4-BE49-F238E27FC236}">
                  <a16:creationId xmlns:a16="http://schemas.microsoft.com/office/drawing/2014/main" id="{A8C63789-1511-483F-93B3-557DF98B5D1A}"/>
                </a:ext>
              </a:extLst>
            </p:cNvPr>
            <p:cNvPicPr>
              <a:picLocks noChangeAspect="1"/>
            </p:cNvPicPr>
            <p:nvPr/>
          </p:nvPicPr>
          <p:blipFill>
            <a:blip r:embed="rId3"/>
            <a:stretch>
              <a:fillRect/>
            </a:stretch>
          </p:blipFill>
          <p:spPr bwMode="gray">
            <a:xfrm>
              <a:off x="3251684" y="2926575"/>
              <a:ext cx="466668" cy="389308"/>
            </a:xfrm>
            <a:prstGeom prst="rect">
              <a:avLst/>
            </a:prstGeom>
          </p:spPr>
        </p:pic>
        <p:sp>
          <p:nvSpPr>
            <p:cNvPr id="5" name="Freeform 159">
              <a:extLst>
                <a:ext uri="{FF2B5EF4-FFF2-40B4-BE49-F238E27FC236}">
                  <a16:creationId xmlns:a16="http://schemas.microsoft.com/office/drawing/2014/main" id="{28B8FC2B-7253-4CDD-A9AE-727486A34CC3}"/>
                </a:ext>
              </a:extLst>
            </p:cNvPr>
            <p:cNvSpPr/>
            <p:nvPr/>
          </p:nvSpPr>
          <p:spPr bwMode="gray">
            <a:xfrm flipH="1">
              <a:off x="5604479" y="2744924"/>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6" name="图片 31">
              <a:extLst>
                <a:ext uri="{FF2B5EF4-FFF2-40B4-BE49-F238E27FC236}">
                  <a16:creationId xmlns:a16="http://schemas.microsoft.com/office/drawing/2014/main" id="{44E5BCC7-9B27-4AE5-97A2-90F1CF644C1F}"/>
                </a:ext>
              </a:extLst>
            </p:cNvPr>
            <p:cNvPicPr>
              <a:picLocks noChangeAspect="1"/>
            </p:cNvPicPr>
            <p:nvPr/>
          </p:nvPicPr>
          <p:blipFill>
            <a:blip r:embed="rId3"/>
            <a:stretch>
              <a:fillRect/>
            </a:stretch>
          </p:blipFill>
          <p:spPr bwMode="gray">
            <a:xfrm>
              <a:off x="8542887" y="2926575"/>
              <a:ext cx="466668" cy="389308"/>
            </a:xfrm>
            <a:prstGeom prst="rect">
              <a:avLst/>
            </a:prstGeom>
          </p:spPr>
        </p:pic>
        <p:cxnSp>
          <p:nvCxnSpPr>
            <p:cNvPr id="7" name="Straight Connector 6">
              <a:extLst>
                <a:ext uri="{FF2B5EF4-FFF2-40B4-BE49-F238E27FC236}">
                  <a16:creationId xmlns:a16="http://schemas.microsoft.com/office/drawing/2014/main" id="{6F1C99BE-54F5-458F-A8F5-EEA9F29C82D0}"/>
                </a:ext>
              </a:extLst>
            </p:cNvPr>
            <p:cNvCxnSpPr>
              <a:cxnSpLocks/>
              <a:stCxn id="4" idx="3"/>
              <a:endCxn id="5" idx="21"/>
            </p:cNvCxnSpPr>
            <p:nvPr/>
          </p:nvCxnSpPr>
          <p:spPr bwMode="gray">
            <a:xfrm>
              <a:off x="3718352" y="3121229"/>
              <a:ext cx="1886127" cy="933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F272A61-4EBD-46AD-8BED-7CECFA22946D}"/>
                </a:ext>
              </a:extLst>
            </p:cNvPr>
            <p:cNvCxnSpPr>
              <a:cxnSpLocks/>
              <a:stCxn id="6" idx="1"/>
              <a:endCxn id="5" idx="8"/>
            </p:cNvCxnSpPr>
            <p:nvPr/>
          </p:nvCxnSpPr>
          <p:spPr bwMode="gray">
            <a:xfrm flipH="1" flipV="1">
              <a:off x="6656760" y="3120556"/>
              <a:ext cx="1886127" cy="67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Can 41">
              <a:extLst>
                <a:ext uri="{FF2B5EF4-FFF2-40B4-BE49-F238E27FC236}">
                  <a16:creationId xmlns:a16="http://schemas.microsoft.com/office/drawing/2014/main" id="{3F5F21B0-6712-4C4C-93FF-7ED56B606DBF}"/>
                </a:ext>
              </a:extLst>
            </p:cNvPr>
            <p:cNvSpPr/>
            <p:nvPr/>
          </p:nvSpPr>
          <p:spPr bwMode="gray">
            <a:xfrm rot="5400000">
              <a:off x="6000783" y="763455"/>
              <a:ext cx="236717" cy="470348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15">
              <a:extLst>
                <a:ext uri="{FF2B5EF4-FFF2-40B4-BE49-F238E27FC236}">
                  <a16:creationId xmlns:a16="http://schemas.microsoft.com/office/drawing/2014/main" id="{C8473D6E-6BBE-4DE9-B585-9FE78405340F}"/>
                </a:ext>
              </a:extLst>
            </p:cNvPr>
            <p:cNvSpPr txBox="1"/>
            <p:nvPr/>
          </p:nvSpPr>
          <p:spPr bwMode="gray">
            <a:xfrm flipH="1">
              <a:off x="5701155" y="2982377"/>
              <a:ext cx="820031"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cxnSp>
          <p:nvCxnSpPr>
            <p:cNvPr id="22" name="直接连接符 133">
              <a:extLst>
                <a:ext uri="{FF2B5EF4-FFF2-40B4-BE49-F238E27FC236}">
                  <a16:creationId xmlns:a16="http://schemas.microsoft.com/office/drawing/2014/main" id="{034FAB26-1463-474E-AC60-087B70B22276}"/>
                </a:ext>
              </a:extLst>
            </p:cNvPr>
            <p:cNvCxnSpPr>
              <a:cxnSpLocks/>
            </p:cNvCxnSpPr>
            <p:nvPr/>
          </p:nvCxnSpPr>
          <p:spPr bwMode="gray">
            <a:xfrm flipV="1">
              <a:off x="3490850" y="3294982"/>
              <a:ext cx="0" cy="2608025"/>
            </a:xfrm>
            <a:prstGeom prst="line">
              <a:avLst/>
            </a:prstGeom>
            <a:ln w="19050">
              <a:prstDash val="dash"/>
            </a:ln>
          </p:spPr>
          <p:style>
            <a:lnRef idx="3">
              <a:schemeClr val="dk1"/>
            </a:lnRef>
            <a:fillRef idx="0">
              <a:schemeClr val="dk1"/>
            </a:fillRef>
            <a:effectRef idx="2">
              <a:schemeClr val="dk1"/>
            </a:effectRef>
            <a:fontRef idx="minor">
              <a:schemeClr val="tx1"/>
            </a:fontRef>
          </p:style>
        </p:cxnSp>
        <p:cxnSp>
          <p:nvCxnSpPr>
            <p:cNvPr id="23" name="直接连接符 133">
              <a:extLst>
                <a:ext uri="{FF2B5EF4-FFF2-40B4-BE49-F238E27FC236}">
                  <a16:creationId xmlns:a16="http://schemas.microsoft.com/office/drawing/2014/main" id="{ECFDE5E8-EB3F-4D06-AA10-142B2A2B60BD}"/>
                </a:ext>
              </a:extLst>
            </p:cNvPr>
            <p:cNvCxnSpPr>
              <a:cxnSpLocks/>
            </p:cNvCxnSpPr>
            <p:nvPr/>
          </p:nvCxnSpPr>
          <p:spPr bwMode="gray">
            <a:xfrm flipV="1">
              <a:off x="8782053" y="3294982"/>
              <a:ext cx="0" cy="2608025"/>
            </a:xfrm>
            <a:prstGeom prst="line">
              <a:avLst/>
            </a:prstGeom>
            <a:ln w="19050">
              <a:prstDash val="dash"/>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5103B7C7-1C8A-4A89-8398-38F804DF9F98}"/>
                </a:ext>
              </a:extLst>
            </p:cNvPr>
            <p:cNvCxnSpPr>
              <a:cxnSpLocks/>
              <a:stCxn id="27" idx="3"/>
            </p:cNvCxnSpPr>
            <p:nvPr/>
          </p:nvCxnSpPr>
          <p:spPr bwMode="gray">
            <a:xfrm>
              <a:off x="5027541" y="3694691"/>
              <a:ext cx="3330533" cy="0"/>
            </a:xfrm>
            <a:prstGeom prst="straightConnector1">
              <a:avLst/>
            </a:prstGeom>
            <a:ln w="19050">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7" name="TextBox 120">
              <a:extLst>
                <a:ext uri="{FF2B5EF4-FFF2-40B4-BE49-F238E27FC236}">
                  <a16:creationId xmlns:a16="http://schemas.microsoft.com/office/drawing/2014/main" id="{9A3161FC-1573-4A29-8699-546E1522BE73}"/>
                </a:ext>
              </a:extLst>
            </p:cNvPr>
            <p:cNvSpPr txBox="1"/>
            <p:nvPr/>
          </p:nvSpPr>
          <p:spPr bwMode="gray">
            <a:xfrm>
              <a:off x="3767401" y="3550833"/>
              <a:ext cx="1260140" cy="287715"/>
            </a:xfrm>
            <a:prstGeom prst="roundRect">
              <a:avLst>
                <a:gd name="adj" fmla="val 6721"/>
              </a:avLst>
            </a:prstGeom>
            <a:solidFill>
              <a:srgbClr val="FDE397"/>
            </a:solidFill>
            <a:ln w="12700">
              <a:solidFill>
                <a:srgbClr val="FDE397"/>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GRE Keepalive</a:t>
              </a:r>
            </a:p>
          </p:txBody>
        </p:sp>
        <p:cxnSp>
          <p:nvCxnSpPr>
            <p:cNvPr id="29" name="直接连接符 133">
              <a:extLst>
                <a:ext uri="{FF2B5EF4-FFF2-40B4-BE49-F238E27FC236}">
                  <a16:creationId xmlns:a16="http://schemas.microsoft.com/office/drawing/2014/main" id="{180FF3C9-62A1-4CB7-8B22-E7E27F23D809}"/>
                </a:ext>
              </a:extLst>
            </p:cNvPr>
            <p:cNvCxnSpPr>
              <a:cxnSpLocks/>
            </p:cNvCxnSpPr>
            <p:nvPr/>
          </p:nvCxnSpPr>
          <p:spPr bwMode="gray">
            <a:xfrm>
              <a:off x="2747628" y="3694691"/>
              <a:ext cx="655078" cy="0"/>
            </a:xfrm>
            <a:prstGeom prst="line">
              <a:avLst/>
            </a:prstGeom>
            <a:ln w="12700">
              <a:solidFill>
                <a:srgbClr val="56C4D2"/>
              </a:solidFill>
              <a:prstDash val="dash"/>
            </a:ln>
          </p:spPr>
          <p:style>
            <a:lnRef idx="3">
              <a:schemeClr val="dk1"/>
            </a:lnRef>
            <a:fillRef idx="0">
              <a:schemeClr val="dk1"/>
            </a:fillRef>
            <a:effectRef idx="2">
              <a:schemeClr val="dk1"/>
            </a:effectRef>
            <a:fontRef idx="minor">
              <a:schemeClr val="tx1"/>
            </a:fontRef>
          </p:style>
        </p:cxnSp>
        <p:cxnSp>
          <p:nvCxnSpPr>
            <p:cNvPr id="31" name="直接连接符 133">
              <a:extLst>
                <a:ext uri="{FF2B5EF4-FFF2-40B4-BE49-F238E27FC236}">
                  <a16:creationId xmlns:a16="http://schemas.microsoft.com/office/drawing/2014/main" id="{812E15DA-3CE1-4214-96B4-29B7CCE548D7}"/>
                </a:ext>
              </a:extLst>
            </p:cNvPr>
            <p:cNvCxnSpPr>
              <a:cxnSpLocks/>
            </p:cNvCxnSpPr>
            <p:nvPr/>
          </p:nvCxnSpPr>
          <p:spPr bwMode="gray">
            <a:xfrm>
              <a:off x="2747628" y="5063125"/>
              <a:ext cx="655078" cy="0"/>
            </a:xfrm>
            <a:prstGeom prst="line">
              <a:avLst/>
            </a:prstGeom>
            <a:ln w="12700">
              <a:solidFill>
                <a:srgbClr val="56C4D2"/>
              </a:solidFill>
              <a:prstDash val="dash"/>
            </a:ln>
          </p:spPr>
          <p:style>
            <a:lnRef idx="3">
              <a:schemeClr val="dk1"/>
            </a:lnRef>
            <a:fillRef idx="0">
              <a:schemeClr val="dk1"/>
            </a:fillRef>
            <a:effectRef idx="2">
              <a:schemeClr val="dk1"/>
            </a:effectRef>
            <a:fontRef idx="minor">
              <a:schemeClr val="tx1"/>
            </a:fontRef>
          </p:style>
        </p:cxnSp>
        <p:cxnSp>
          <p:nvCxnSpPr>
            <p:cNvPr id="32" name="直接连接符 133">
              <a:extLst>
                <a:ext uri="{FF2B5EF4-FFF2-40B4-BE49-F238E27FC236}">
                  <a16:creationId xmlns:a16="http://schemas.microsoft.com/office/drawing/2014/main" id="{CEA8F504-887D-4D87-96B0-97D0B161E945}"/>
                </a:ext>
              </a:extLst>
            </p:cNvPr>
            <p:cNvCxnSpPr>
              <a:cxnSpLocks/>
            </p:cNvCxnSpPr>
            <p:nvPr/>
          </p:nvCxnSpPr>
          <p:spPr bwMode="gray">
            <a:xfrm>
              <a:off x="3107668" y="3694691"/>
              <a:ext cx="0" cy="1368434"/>
            </a:xfrm>
            <a:prstGeom prst="line">
              <a:avLst/>
            </a:prstGeom>
            <a:ln w="12700">
              <a:solidFill>
                <a:srgbClr val="56C4D2"/>
              </a:solidFill>
              <a:prstDash val="solid"/>
              <a:headEnd type="triangle" w="med" len="med"/>
              <a:tailEnd type="triangle" w="med" len="med"/>
            </a:ln>
          </p:spPr>
          <p:style>
            <a:lnRef idx="3">
              <a:schemeClr val="dk1"/>
            </a:lnRef>
            <a:fillRef idx="0">
              <a:schemeClr val="dk1"/>
            </a:fillRef>
            <a:effectRef idx="2">
              <a:schemeClr val="dk1"/>
            </a:effectRef>
            <a:fontRef idx="minor">
              <a:schemeClr val="tx1"/>
            </a:fontRef>
          </p:style>
        </p:cxnSp>
        <p:sp>
          <p:nvSpPr>
            <p:cNvPr id="35" name="TextBox 34">
              <a:extLst>
                <a:ext uri="{FF2B5EF4-FFF2-40B4-BE49-F238E27FC236}">
                  <a16:creationId xmlns:a16="http://schemas.microsoft.com/office/drawing/2014/main" id="{34DF39BC-3D44-41CD-9C98-90BF6159783A}"/>
                </a:ext>
              </a:extLst>
            </p:cNvPr>
            <p:cNvSpPr txBox="1"/>
            <p:nvPr/>
          </p:nvSpPr>
          <p:spPr bwMode="gray">
            <a:xfrm rot="16200000" flipH="1">
              <a:off x="2307577" y="4240409"/>
              <a:ext cx="1287306" cy="276999"/>
            </a:xfrm>
            <a:prstGeom prst="rect">
              <a:avLst/>
            </a:prstGeom>
            <a:noFill/>
          </p:spPr>
          <p:txBody>
            <a:bodyPr wrap="square" rtlCol="0">
              <a:spAutoFit/>
            </a:bodyPr>
            <a:lstStyle/>
            <a:p>
              <a:pPr algn="ctr" fontAlgn="auto"/>
              <a:r>
                <a:rPr lang="zh-CN" altLang="en-US" sz="1200" dirty="0">
                  <a:latin typeface="Huawei Sans" panose="020C0503030203020204" pitchFamily="34" charset="0"/>
                  <a:ea typeface="方正兰亭黑简体" panose="02000000000000000000" pitchFamily="2" charset="-122"/>
                </a:rPr>
                <a:t>超时计时器</a:t>
              </a:r>
            </a:p>
          </p:txBody>
        </p:sp>
        <p:cxnSp>
          <p:nvCxnSpPr>
            <p:cNvPr id="36" name="Straight Arrow Connector 35">
              <a:extLst>
                <a:ext uri="{FF2B5EF4-FFF2-40B4-BE49-F238E27FC236}">
                  <a16:creationId xmlns:a16="http://schemas.microsoft.com/office/drawing/2014/main" id="{986BD46A-9DB5-484F-AB5E-3176873D4A75}"/>
                </a:ext>
              </a:extLst>
            </p:cNvPr>
            <p:cNvCxnSpPr>
              <a:cxnSpLocks/>
              <a:stCxn id="37" idx="1"/>
            </p:cNvCxnSpPr>
            <p:nvPr/>
          </p:nvCxnSpPr>
          <p:spPr bwMode="gray">
            <a:xfrm flipH="1">
              <a:off x="3863752" y="4378891"/>
              <a:ext cx="3247810" cy="0"/>
            </a:xfrm>
            <a:prstGeom prst="straightConnector1">
              <a:avLst/>
            </a:prstGeom>
            <a:ln w="19050">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37" name="TextBox 120">
              <a:extLst>
                <a:ext uri="{FF2B5EF4-FFF2-40B4-BE49-F238E27FC236}">
                  <a16:creationId xmlns:a16="http://schemas.microsoft.com/office/drawing/2014/main" id="{264034D2-BC3E-47B0-8310-CAC7DC673599}"/>
                </a:ext>
              </a:extLst>
            </p:cNvPr>
            <p:cNvSpPr txBox="1"/>
            <p:nvPr/>
          </p:nvSpPr>
          <p:spPr bwMode="gray">
            <a:xfrm>
              <a:off x="7111562" y="4235033"/>
              <a:ext cx="1260140" cy="287715"/>
            </a:xfrm>
            <a:prstGeom prst="roundRect">
              <a:avLst>
                <a:gd name="adj" fmla="val 6721"/>
              </a:avLst>
            </a:prstGeom>
            <a:solidFill>
              <a:srgbClr val="FDE397"/>
            </a:solidFill>
            <a:ln w="12700">
              <a:solidFill>
                <a:srgbClr val="FDE397"/>
              </a:solidFill>
            </a:ln>
          </p:spPr>
          <p:txBody>
            <a:bodyPr wrap="square" rtlCol="0" anchor="ctr">
              <a:spAutoFit/>
            </a:bodyPr>
            <a:lstStyle/>
            <a:p>
              <a:pPr fontAlgn="auto"/>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GRE Keepalive</a:t>
              </a:r>
            </a:p>
          </p:txBody>
        </p:sp>
        <p:sp>
          <p:nvSpPr>
            <p:cNvPr id="40" name="Rectangular Callout 75">
              <a:extLst>
                <a:ext uri="{FF2B5EF4-FFF2-40B4-BE49-F238E27FC236}">
                  <a16:creationId xmlns:a16="http://schemas.microsoft.com/office/drawing/2014/main" id="{61F88EAC-61E0-4A2B-9175-DC9E3D87FF88}"/>
                </a:ext>
              </a:extLst>
            </p:cNvPr>
            <p:cNvSpPr/>
            <p:nvPr/>
          </p:nvSpPr>
          <p:spPr bwMode="gray">
            <a:xfrm>
              <a:off x="3771071" y="4598994"/>
              <a:ext cx="1388825" cy="464095"/>
            </a:xfrm>
            <a:prstGeom prst="wedgeRectCallout">
              <a:avLst>
                <a:gd name="adj1" fmla="val 21292"/>
                <a:gd name="adj2" fmla="val -9382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在超时时间内回复</a:t>
              </a:r>
              <a:r>
                <a:rPr lang="en-US" altLang="zh-CN" sz="1200" dirty="0">
                  <a:solidFill>
                    <a:schemeClr val="tx1"/>
                  </a:solidFill>
                  <a:latin typeface="Huawei Sans" panose="020C0503030203020204" pitchFamily="34" charset="0"/>
                  <a:ea typeface="方正兰亭黑简体" panose="02000000000000000000" pitchFamily="2" charset="-122"/>
                </a:rPr>
                <a:t>Keepalive</a:t>
              </a:r>
              <a:endParaRPr lang="zh-CN" altLang="en-US" sz="1200" dirty="0">
                <a:solidFill>
                  <a:schemeClr val="tx1"/>
                </a:solidFill>
                <a:latin typeface="Huawei Sans" panose="020C0503030203020204" pitchFamily="34" charset="0"/>
                <a:ea typeface="方正兰亭黑简体" panose="02000000000000000000" pitchFamily="2" charset="-122"/>
              </a:endParaRPr>
            </a:p>
          </p:txBody>
        </p:sp>
        <p:grpSp>
          <p:nvGrpSpPr>
            <p:cNvPr id="41" name="组合 20">
              <a:extLst>
                <a:ext uri="{FF2B5EF4-FFF2-40B4-BE49-F238E27FC236}">
                  <a16:creationId xmlns:a16="http://schemas.microsoft.com/office/drawing/2014/main" id="{A0222D95-7732-40D2-9C4F-FEF59A0C5B25}"/>
                </a:ext>
              </a:extLst>
            </p:cNvPr>
            <p:cNvGrpSpPr/>
            <p:nvPr/>
          </p:nvGrpSpPr>
          <p:grpSpPr bwMode="gray">
            <a:xfrm>
              <a:off x="3350822" y="5431533"/>
              <a:ext cx="268392" cy="268392"/>
              <a:chOff x="10441958" y="5633212"/>
              <a:chExt cx="264000" cy="264000"/>
            </a:xfrm>
            <a:solidFill>
              <a:srgbClr val="AFD89C"/>
            </a:solidFill>
          </p:grpSpPr>
          <p:sp>
            <p:nvSpPr>
              <p:cNvPr id="42" name="椭圆 21">
                <a:extLst>
                  <a:ext uri="{FF2B5EF4-FFF2-40B4-BE49-F238E27FC236}">
                    <a16:creationId xmlns:a16="http://schemas.microsoft.com/office/drawing/2014/main" id="{C1D7DF3F-0311-4EC0-ACE4-C2253F93059A}"/>
                  </a:ext>
                </a:extLst>
              </p:cNvPr>
              <p:cNvSpPr>
                <a:spLocks noChangeAspect="1"/>
              </p:cNvSpPr>
              <p:nvPr/>
            </p:nvSpPr>
            <p:spPr bwMode="gray">
              <a:xfrm>
                <a:off x="10441958" y="5633212"/>
                <a:ext cx="264000" cy="26400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endParaRPr>
              </a:p>
            </p:txBody>
          </p:sp>
          <p:sp>
            <p:nvSpPr>
              <p:cNvPr id="43" name="任意多边形 22">
                <a:extLst>
                  <a:ext uri="{FF2B5EF4-FFF2-40B4-BE49-F238E27FC236}">
                    <a16:creationId xmlns:a16="http://schemas.microsoft.com/office/drawing/2014/main" id="{35E16491-480D-44C4-972B-B6F72A5BD2FA}"/>
                  </a:ext>
                </a:extLst>
              </p:cNvPr>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endParaRPr>
              </a:p>
            </p:txBody>
          </p:sp>
        </p:grpSp>
        <p:sp>
          <p:nvSpPr>
            <p:cNvPr id="44" name="Rectangular Callout 75">
              <a:extLst>
                <a:ext uri="{FF2B5EF4-FFF2-40B4-BE49-F238E27FC236}">
                  <a16:creationId xmlns:a16="http://schemas.microsoft.com/office/drawing/2014/main" id="{B80249E3-E9F3-4035-99E4-197EA70A000C}"/>
                </a:ext>
              </a:extLst>
            </p:cNvPr>
            <p:cNvSpPr/>
            <p:nvPr/>
          </p:nvSpPr>
          <p:spPr bwMode="gray">
            <a:xfrm>
              <a:off x="3858380" y="5386040"/>
              <a:ext cx="1388825" cy="464095"/>
            </a:xfrm>
            <a:prstGeom prst="wedgeRectCallout">
              <a:avLst>
                <a:gd name="adj1" fmla="val -60322"/>
                <a:gd name="adj2" fmla="val -158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Keepalive</a:t>
              </a:r>
              <a:r>
                <a:rPr lang="zh-CN" altLang="en-US" sz="1200" dirty="0">
                  <a:solidFill>
                    <a:schemeClr val="tx1"/>
                  </a:solidFill>
                  <a:latin typeface="Huawei Sans" panose="020C0503030203020204" pitchFamily="34" charset="0"/>
                  <a:ea typeface="方正兰亭黑简体" panose="02000000000000000000" pitchFamily="2" charset="-122"/>
                </a:rPr>
                <a:t>未超时，隧道状态正常</a:t>
              </a:r>
            </a:p>
          </p:txBody>
        </p:sp>
      </p:grpSp>
      <p:sp>
        <p:nvSpPr>
          <p:cNvPr id="28"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30"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33"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260445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B6F971-C1B3-4B91-8F8B-5DD63DA30893}"/>
              </a:ext>
            </a:extLst>
          </p:cNvPr>
          <p:cNvSpPr>
            <a:spLocks noGrp="1"/>
          </p:cNvSpPr>
          <p:nvPr>
            <p:ph type="title"/>
          </p:nvPr>
        </p:nvSpPr>
        <p:spPr bwMode="gray"/>
        <p:txBody>
          <a:bodyPr/>
          <a:lstStyle/>
          <a:p>
            <a:r>
              <a:rPr lang="en-US" dirty="0"/>
              <a:t>GRE</a:t>
            </a:r>
            <a:r>
              <a:rPr lang="zh-CN" altLang="en-US" dirty="0"/>
              <a:t>隧道安全威胁</a:t>
            </a:r>
            <a:endParaRPr lang="en-US" dirty="0"/>
          </a:p>
        </p:txBody>
      </p:sp>
      <p:sp>
        <p:nvSpPr>
          <p:cNvPr id="4" name="Text Placeholder 3">
            <a:extLst>
              <a:ext uri="{FF2B5EF4-FFF2-40B4-BE49-F238E27FC236}">
                <a16:creationId xmlns:a16="http://schemas.microsoft.com/office/drawing/2014/main" id="{4EDF639A-4FE9-4BBF-8F3F-A6A12568EF6F}"/>
              </a:ext>
            </a:extLst>
          </p:cNvPr>
          <p:cNvSpPr>
            <a:spLocks noGrp="1"/>
          </p:cNvSpPr>
          <p:nvPr>
            <p:ph type="body" sz="quarter" idx="10"/>
          </p:nvPr>
        </p:nvSpPr>
        <p:spPr bwMode="gray"/>
        <p:txBody>
          <a:bodyPr/>
          <a:lstStyle/>
          <a:p>
            <a:r>
              <a:rPr lang="en-US" sz="1800" dirty="0"/>
              <a:t>GRE</a:t>
            </a:r>
            <a:r>
              <a:rPr lang="zh-CN" altLang="en-US" sz="1800" dirty="0"/>
              <a:t>隧道的主要作用是将数据在分支</a:t>
            </a:r>
            <a:r>
              <a:rPr lang="en-US" altLang="zh-CN" sz="1800" dirty="0"/>
              <a:t>-</a:t>
            </a:r>
            <a:r>
              <a:rPr lang="zh-CN" altLang="en-US" sz="1800" dirty="0"/>
              <a:t>总部之间传递，数据并不加密，有被篡改的风险。</a:t>
            </a:r>
            <a:endParaRPr lang="en-US" altLang="zh-CN" sz="1800" dirty="0"/>
          </a:p>
          <a:p>
            <a:r>
              <a:rPr lang="en-US" sz="1800" dirty="0"/>
              <a:t>GRE</a:t>
            </a:r>
            <a:r>
              <a:rPr lang="zh-CN" altLang="en-US" sz="1800" dirty="0"/>
              <a:t>隧道建立也有一定风险，通过伪造</a:t>
            </a:r>
            <a:r>
              <a:rPr lang="en-US" altLang="zh-CN" sz="1800" dirty="0"/>
              <a:t>IP</a:t>
            </a:r>
            <a:r>
              <a:rPr lang="zh-CN" altLang="en-US" sz="1800" dirty="0"/>
              <a:t>地址，可以使得非法设备与合法设备之间建立</a:t>
            </a:r>
            <a:r>
              <a:rPr lang="en-US" altLang="zh-CN" sz="1800" dirty="0"/>
              <a:t>GRE</a:t>
            </a:r>
            <a:r>
              <a:rPr lang="zh-CN" altLang="en-US" sz="1800" dirty="0"/>
              <a:t>隧道。</a:t>
            </a:r>
            <a:endParaRPr lang="en-US" sz="1800" dirty="0"/>
          </a:p>
        </p:txBody>
      </p:sp>
      <p:sp>
        <p:nvSpPr>
          <p:cNvPr id="5" name="圆角矩形 75">
            <a:extLst>
              <a:ext uri="{FF2B5EF4-FFF2-40B4-BE49-F238E27FC236}">
                <a16:creationId xmlns:a16="http://schemas.microsoft.com/office/drawing/2014/main" id="{06C65B61-9BDF-44B5-8235-CAB242213B1D}"/>
              </a:ext>
            </a:extLst>
          </p:cNvPr>
          <p:cNvSpPr/>
          <p:nvPr/>
        </p:nvSpPr>
        <p:spPr bwMode="gray">
          <a:xfrm>
            <a:off x="803412" y="2327560"/>
            <a:ext cx="514857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a:solidFill>
                  <a:srgbClr val="30B5C5"/>
                </a:solidFill>
                <a:latin typeface="Huawei Sans" panose="020C0503030203020204" pitchFamily="34" charset="0"/>
                <a:ea typeface="方正兰亭黑简体" panose="02000000000000000000" pitchFamily="2" charset="-122"/>
              </a:rPr>
              <a:t>GRE</a:t>
            </a:r>
            <a:r>
              <a:rPr lang="zh-CN" altLang="en-US" sz="1600" dirty="0">
                <a:solidFill>
                  <a:srgbClr val="30B5C5"/>
                </a:solidFill>
                <a:latin typeface="Huawei Sans" panose="020C0503030203020204" pitchFamily="34" charset="0"/>
                <a:ea typeface="方正兰亭黑简体" panose="02000000000000000000" pitchFamily="2" charset="-122"/>
              </a:rPr>
              <a:t>数据篡改</a:t>
            </a:r>
          </a:p>
        </p:txBody>
      </p:sp>
      <p:sp>
        <p:nvSpPr>
          <p:cNvPr id="6" name="圆角矩形 75">
            <a:extLst>
              <a:ext uri="{FF2B5EF4-FFF2-40B4-BE49-F238E27FC236}">
                <a16:creationId xmlns:a16="http://schemas.microsoft.com/office/drawing/2014/main" id="{2E500D88-3E03-4306-BC19-264048437FE7}"/>
              </a:ext>
            </a:extLst>
          </p:cNvPr>
          <p:cNvSpPr/>
          <p:nvPr/>
        </p:nvSpPr>
        <p:spPr bwMode="gray">
          <a:xfrm>
            <a:off x="803412" y="2761847"/>
            <a:ext cx="5148572" cy="334613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 name="图片 31">
            <a:extLst>
              <a:ext uri="{FF2B5EF4-FFF2-40B4-BE49-F238E27FC236}">
                <a16:creationId xmlns:a16="http://schemas.microsoft.com/office/drawing/2014/main" id="{E8A3DCDE-5FC4-433A-BEB1-78D79B07E22E}"/>
              </a:ext>
            </a:extLst>
          </p:cNvPr>
          <p:cNvPicPr>
            <a:picLocks noChangeAspect="1"/>
          </p:cNvPicPr>
          <p:nvPr/>
        </p:nvPicPr>
        <p:blipFill>
          <a:blip r:embed="rId4"/>
          <a:stretch>
            <a:fillRect/>
          </a:stretch>
        </p:blipFill>
        <p:spPr bwMode="gray">
          <a:xfrm>
            <a:off x="1020820" y="3415927"/>
            <a:ext cx="466668" cy="389308"/>
          </a:xfrm>
          <a:prstGeom prst="rect">
            <a:avLst/>
          </a:prstGeom>
        </p:spPr>
      </p:pic>
      <p:sp>
        <p:nvSpPr>
          <p:cNvPr id="8" name="Freeform 159">
            <a:extLst>
              <a:ext uri="{FF2B5EF4-FFF2-40B4-BE49-F238E27FC236}">
                <a16:creationId xmlns:a16="http://schemas.microsoft.com/office/drawing/2014/main" id="{62C809B5-E769-4498-BF00-8E42128CEF4E}"/>
              </a:ext>
            </a:extLst>
          </p:cNvPr>
          <p:cNvSpPr/>
          <p:nvPr/>
        </p:nvSpPr>
        <p:spPr bwMode="gray">
          <a:xfrm flipH="1">
            <a:off x="2811471" y="3234276"/>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9" name="图片 31">
            <a:extLst>
              <a:ext uri="{FF2B5EF4-FFF2-40B4-BE49-F238E27FC236}">
                <a16:creationId xmlns:a16="http://schemas.microsoft.com/office/drawing/2014/main" id="{368421CC-A0BD-4566-9DCA-0D4814260675}"/>
              </a:ext>
            </a:extLst>
          </p:cNvPr>
          <p:cNvPicPr>
            <a:picLocks noChangeAspect="1"/>
          </p:cNvPicPr>
          <p:nvPr/>
        </p:nvPicPr>
        <p:blipFill>
          <a:blip r:embed="rId4"/>
          <a:stretch>
            <a:fillRect/>
          </a:stretch>
        </p:blipFill>
        <p:spPr bwMode="gray">
          <a:xfrm>
            <a:off x="5267908" y="3415927"/>
            <a:ext cx="466668" cy="389308"/>
          </a:xfrm>
          <a:prstGeom prst="rect">
            <a:avLst/>
          </a:prstGeom>
        </p:spPr>
      </p:pic>
      <p:cxnSp>
        <p:nvCxnSpPr>
          <p:cNvPr id="10" name="Straight Connector 9">
            <a:extLst>
              <a:ext uri="{FF2B5EF4-FFF2-40B4-BE49-F238E27FC236}">
                <a16:creationId xmlns:a16="http://schemas.microsoft.com/office/drawing/2014/main" id="{37245923-012A-4CAC-BE23-955495ACCFC1}"/>
              </a:ext>
            </a:extLst>
          </p:cNvPr>
          <p:cNvCxnSpPr>
            <a:cxnSpLocks/>
            <a:stCxn id="7" idx="3"/>
            <a:endCxn id="8" idx="21"/>
          </p:cNvCxnSpPr>
          <p:nvPr/>
        </p:nvCxnSpPr>
        <p:spPr bwMode="gray">
          <a:xfrm>
            <a:off x="1487488" y="3610581"/>
            <a:ext cx="1323983" cy="933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953D3EB-3C4B-423B-BF49-D51699C8969B}"/>
              </a:ext>
            </a:extLst>
          </p:cNvPr>
          <p:cNvCxnSpPr>
            <a:cxnSpLocks/>
            <a:stCxn id="9" idx="1"/>
            <a:endCxn id="8" idx="8"/>
          </p:cNvCxnSpPr>
          <p:nvPr/>
        </p:nvCxnSpPr>
        <p:spPr bwMode="gray">
          <a:xfrm flipH="1" flipV="1">
            <a:off x="3863752" y="3609908"/>
            <a:ext cx="1404156" cy="67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Can 41">
            <a:extLst>
              <a:ext uri="{FF2B5EF4-FFF2-40B4-BE49-F238E27FC236}">
                <a16:creationId xmlns:a16="http://schemas.microsoft.com/office/drawing/2014/main" id="{621B04C6-0C5C-4DF7-B0CD-CD83405CC19D}"/>
              </a:ext>
            </a:extLst>
          </p:cNvPr>
          <p:cNvSpPr/>
          <p:nvPr/>
        </p:nvSpPr>
        <p:spPr bwMode="gray">
          <a:xfrm rot="5400000">
            <a:off x="3247743" y="1792869"/>
            <a:ext cx="236717" cy="3623358"/>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14">
            <a:extLst>
              <a:ext uri="{FF2B5EF4-FFF2-40B4-BE49-F238E27FC236}">
                <a16:creationId xmlns:a16="http://schemas.microsoft.com/office/drawing/2014/main" id="{A73BF9B4-D375-49F7-B584-2AD66151F586}"/>
              </a:ext>
            </a:extLst>
          </p:cNvPr>
          <p:cNvSpPr txBox="1"/>
          <p:nvPr/>
        </p:nvSpPr>
        <p:spPr bwMode="gray">
          <a:xfrm flipH="1">
            <a:off x="2975190" y="3450184"/>
            <a:ext cx="840786"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cxnSp>
        <p:nvCxnSpPr>
          <p:cNvPr id="18" name="Connector: Elbow 17">
            <a:extLst>
              <a:ext uri="{FF2B5EF4-FFF2-40B4-BE49-F238E27FC236}">
                <a16:creationId xmlns:a16="http://schemas.microsoft.com/office/drawing/2014/main" id="{0FA0EA68-29DF-4902-B6F4-5F2998584795}"/>
              </a:ext>
            </a:extLst>
          </p:cNvPr>
          <p:cNvCxnSpPr>
            <a:cxnSpLocks/>
            <a:stCxn id="46" idx="3"/>
            <a:endCxn id="43" idx="1"/>
          </p:cNvCxnSpPr>
          <p:nvPr/>
        </p:nvCxnSpPr>
        <p:spPr bwMode="gray">
          <a:xfrm flipH="1">
            <a:off x="3146323" y="4159305"/>
            <a:ext cx="423734" cy="993519"/>
          </a:xfrm>
          <a:prstGeom prst="bentConnector5">
            <a:avLst>
              <a:gd name="adj1" fmla="val -53949"/>
              <a:gd name="adj2" fmla="val 50000"/>
              <a:gd name="adj3" fmla="val 153949"/>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ular Callout 75">
            <a:extLst>
              <a:ext uri="{FF2B5EF4-FFF2-40B4-BE49-F238E27FC236}">
                <a16:creationId xmlns:a16="http://schemas.microsoft.com/office/drawing/2014/main" id="{AEBB6B31-D9EC-4F2E-A642-F870BDA65F2B}"/>
              </a:ext>
            </a:extLst>
          </p:cNvPr>
          <p:cNvSpPr/>
          <p:nvPr/>
        </p:nvSpPr>
        <p:spPr bwMode="gray">
          <a:xfrm>
            <a:off x="3745614" y="4451439"/>
            <a:ext cx="1126806" cy="297170"/>
          </a:xfrm>
          <a:prstGeom prst="wedgeRectCallout">
            <a:avLst>
              <a:gd name="adj1" fmla="val -64533"/>
              <a:gd name="adj2" fmla="val 2165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数据被篡改</a:t>
            </a:r>
          </a:p>
        </p:txBody>
      </p:sp>
      <p:sp>
        <p:nvSpPr>
          <p:cNvPr id="24" name="圆角矩形 75">
            <a:extLst>
              <a:ext uri="{FF2B5EF4-FFF2-40B4-BE49-F238E27FC236}">
                <a16:creationId xmlns:a16="http://schemas.microsoft.com/office/drawing/2014/main" id="{FBE9FB4B-A353-401D-8EF2-CEA39F2D3302}"/>
              </a:ext>
            </a:extLst>
          </p:cNvPr>
          <p:cNvSpPr/>
          <p:nvPr/>
        </p:nvSpPr>
        <p:spPr bwMode="gray">
          <a:xfrm>
            <a:off x="6324645" y="2327560"/>
            <a:ext cx="514857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建立</a:t>
            </a:r>
            <a:r>
              <a:rPr lang="zh-CN" altLang="en-US" sz="1600">
                <a:solidFill>
                  <a:srgbClr val="30B5C5"/>
                </a:solidFill>
                <a:latin typeface="Huawei Sans" panose="020C0503030203020204" pitchFamily="34" charset="0"/>
                <a:ea typeface="方正兰亭黑简体" panose="02000000000000000000" pitchFamily="2" charset="-122"/>
              </a:rPr>
              <a:t>非法</a:t>
            </a:r>
            <a:r>
              <a:rPr lang="en-US" altLang="zh-CN" sz="1600">
                <a:solidFill>
                  <a:srgbClr val="30B5C5"/>
                </a:solidFill>
                <a:latin typeface="Huawei Sans" panose="020C0503030203020204" pitchFamily="34" charset="0"/>
                <a:ea typeface="方正兰亭黑简体" panose="02000000000000000000" pitchFamily="2" charset="-122"/>
              </a:rPr>
              <a:t>GRE</a:t>
            </a:r>
            <a:r>
              <a:rPr lang="zh-CN" altLang="en-US" sz="1600" dirty="0">
                <a:solidFill>
                  <a:srgbClr val="30B5C5"/>
                </a:solidFill>
                <a:latin typeface="Huawei Sans" panose="020C0503030203020204" pitchFamily="34" charset="0"/>
                <a:ea typeface="方正兰亭黑简体" panose="02000000000000000000" pitchFamily="2" charset="-122"/>
              </a:rPr>
              <a:t>隧道</a:t>
            </a:r>
          </a:p>
        </p:txBody>
      </p:sp>
      <p:sp>
        <p:nvSpPr>
          <p:cNvPr id="25" name="圆角矩形 75">
            <a:extLst>
              <a:ext uri="{FF2B5EF4-FFF2-40B4-BE49-F238E27FC236}">
                <a16:creationId xmlns:a16="http://schemas.microsoft.com/office/drawing/2014/main" id="{A30769BE-F3AC-4106-9E98-726051BFA692}"/>
              </a:ext>
            </a:extLst>
          </p:cNvPr>
          <p:cNvSpPr/>
          <p:nvPr/>
        </p:nvSpPr>
        <p:spPr bwMode="gray">
          <a:xfrm>
            <a:off x="6324645" y="2761847"/>
            <a:ext cx="5148572" cy="334613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6" name="图片 31">
            <a:extLst>
              <a:ext uri="{FF2B5EF4-FFF2-40B4-BE49-F238E27FC236}">
                <a16:creationId xmlns:a16="http://schemas.microsoft.com/office/drawing/2014/main" id="{7020C013-DE14-4F31-887F-E252C25910EB}"/>
              </a:ext>
            </a:extLst>
          </p:cNvPr>
          <p:cNvPicPr>
            <a:picLocks noChangeAspect="1"/>
          </p:cNvPicPr>
          <p:nvPr/>
        </p:nvPicPr>
        <p:blipFill>
          <a:blip r:embed="rId4"/>
          <a:stretch>
            <a:fillRect/>
          </a:stretch>
        </p:blipFill>
        <p:spPr bwMode="gray">
          <a:xfrm>
            <a:off x="6542053" y="3415927"/>
            <a:ext cx="466668" cy="389308"/>
          </a:xfrm>
          <a:prstGeom prst="rect">
            <a:avLst/>
          </a:prstGeom>
        </p:spPr>
      </p:pic>
      <p:sp>
        <p:nvSpPr>
          <p:cNvPr id="27" name="Freeform 159">
            <a:extLst>
              <a:ext uri="{FF2B5EF4-FFF2-40B4-BE49-F238E27FC236}">
                <a16:creationId xmlns:a16="http://schemas.microsoft.com/office/drawing/2014/main" id="{3EDCB2C3-039C-4E86-9D89-B1C4CF71E0D6}"/>
              </a:ext>
            </a:extLst>
          </p:cNvPr>
          <p:cNvSpPr/>
          <p:nvPr/>
        </p:nvSpPr>
        <p:spPr bwMode="gray">
          <a:xfrm flipH="1">
            <a:off x="8332704" y="3234276"/>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28" name="图片 31">
            <a:extLst>
              <a:ext uri="{FF2B5EF4-FFF2-40B4-BE49-F238E27FC236}">
                <a16:creationId xmlns:a16="http://schemas.microsoft.com/office/drawing/2014/main" id="{D844C066-E7E4-43DC-ACBA-C6CDB2811C1B}"/>
              </a:ext>
            </a:extLst>
          </p:cNvPr>
          <p:cNvPicPr>
            <a:picLocks noChangeAspect="1"/>
          </p:cNvPicPr>
          <p:nvPr/>
        </p:nvPicPr>
        <p:blipFill>
          <a:blip r:embed="rId4"/>
          <a:stretch>
            <a:fillRect/>
          </a:stretch>
        </p:blipFill>
        <p:spPr bwMode="gray">
          <a:xfrm>
            <a:off x="10789141" y="3415927"/>
            <a:ext cx="466668" cy="389308"/>
          </a:xfrm>
          <a:prstGeom prst="rect">
            <a:avLst/>
          </a:prstGeom>
        </p:spPr>
      </p:pic>
      <p:cxnSp>
        <p:nvCxnSpPr>
          <p:cNvPr id="29" name="Straight Connector 28">
            <a:extLst>
              <a:ext uri="{FF2B5EF4-FFF2-40B4-BE49-F238E27FC236}">
                <a16:creationId xmlns:a16="http://schemas.microsoft.com/office/drawing/2014/main" id="{714FF899-B3C2-4C2B-A18C-1D7BC3F019A8}"/>
              </a:ext>
            </a:extLst>
          </p:cNvPr>
          <p:cNvCxnSpPr>
            <a:cxnSpLocks/>
            <a:stCxn id="26" idx="3"/>
            <a:endCxn id="27" idx="21"/>
          </p:cNvCxnSpPr>
          <p:nvPr/>
        </p:nvCxnSpPr>
        <p:spPr bwMode="gray">
          <a:xfrm>
            <a:off x="7008721" y="3610581"/>
            <a:ext cx="1323983" cy="933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6C2992A5-5930-4C76-9919-991C267C35DE}"/>
              </a:ext>
            </a:extLst>
          </p:cNvPr>
          <p:cNvCxnSpPr>
            <a:cxnSpLocks/>
            <a:stCxn id="28" idx="1"/>
            <a:endCxn id="27" idx="8"/>
          </p:cNvCxnSpPr>
          <p:nvPr/>
        </p:nvCxnSpPr>
        <p:spPr bwMode="gray">
          <a:xfrm flipH="1" flipV="1">
            <a:off x="9384985" y="3609908"/>
            <a:ext cx="1404156" cy="67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3" name="Can 41">
            <a:extLst>
              <a:ext uri="{FF2B5EF4-FFF2-40B4-BE49-F238E27FC236}">
                <a16:creationId xmlns:a16="http://schemas.microsoft.com/office/drawing/2014/main" id="{EB7481C6-276B-4B08-8E0F-B6EAF621A65A}"/>
              </a:ext>
            </a:extLst>
          </p:cNvPr>
          <p:cNvSpPr/>
          <p:nvPr/>
        </p:nvSpPr>
        <p:spPr bwMode="gray">
          <a:xfrm rot="5400000">
            <a:off x="8768976" y="1792869"/>
            <a:ext cx="236717" cy="3623358"/>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33">
            <a:extLst>
              <a:ext uri="{FF2B5EF4-FFF2-40B4-BE49-F238E27FC236}">
                <a16:creationId xmlns:a16="http://schemas.microsoft.com/office/drawing/2014/main" id="{10112FBB-127A-461F-8CC9-F884689D6733}"/>
              </a:ext>
            </a:extLst>
          </p:cNvPr>
          <p:cNvSpPr txBox="1"/>
          <p:nvPr/>
        </p:nvSpPr>
        <p:spPr bwMode="gray">
          <a:xfrm flipH="1">
            <a:off x="8496423" y="3465004"/>
            <a:ext cx="840786"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pic>
        <p:nvPicPr>
          <p:cNvPr id="40" name="图片 31">
            <a:extLst>
              <a:ext uri="{FF2B5EF4-FFF2-40B4-BE49-F238E27FC236}">
                <a16:creationId xmlns:a16="http://schemas.microsoft.com/office/drawing/2014/main" id="{44C16D9C-C32C-4433-9609-CBABE4C43B02}"/>
              </a:ext>
            </a:extLst>
          </p:cNvPr>
          <p:cNvPicPr>
            <a:picLocks noChangeAspect="1"/>
          </p:cNvPicPr>
          <p:nvPr/>
        </p:nvPicPr>
        <p:blipFill>
          <a:blip r:embed="rId4">
            <a:duotone>
              <a:schemeClr val="accent2">
                <a:shade val="45000"/>
                <a:satMod val="135000"/>
              </a:schemeClr>
              <a:prstClr val="white"/>
            </a:duotone>
          </a:blip>
          <a:stretch>
            <a:fillRect/>
          </a:stretch>
        </p:blipFill>
        <p:spPr bwMode="gray">
          <a:xfrm>
            <a:off x="7179011" y="5272748"/>
            <a:ext cx="466668" cy="389308"/>
          </a:xfrm>
          <a:prstGeom prst="rect">
            <a:avLst/>
          </a:prstGeom>
        </p:spPr>
      </p:pic>
      <p:sp>
        <p:nvSpPr>
          <p:cNvPr id="41" name="Freeform 159">
            <a:extLst>
              <a:ext uri="{FF2B5EF4-FFF2-40B4-BE49-F238E27FC236}">
                <a16:creationId xmlns:a16="http://schemas.microsoft.com/office/drawing/2014/main" id="{9B07324E-8F75-43A0-86A3-D9DD8608F452}"/>
              </a:ext>
            </a:extLst>
          </p:cNvPr>
          <p:cNvSpPr/>
          <p:nvPr/>
        </p:nvSpPr>
        <p:spPr bwMode="gray">
          <a:xfrm rot="20419631" flipH="1">
            <a:off x="8698598" y="4324302"/>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cxnSp>
        <p:nvCxnSpPr>
          <p:cNvPr id="42" name="Straight Connector 41">
            <a:extLst>
              <a:ext uri="{FF2B5EF4-FFF2-40B4-BE49-F238E27FC236}">
                <a16:creationId xmlns:a16="http://schemas.microsoft.com/office/drawing/2014/main" id="{05CD3682-9E8E-487B-A964-ADD3DA1962FF}"/>
              </a:ext>
            </a:extLst>
          </p:cNvPr>
          <p:cNvCxnSpPr>
            <a:cxnSpLocks/>
            <a:stCxn id="28" idx="2"/>
            <a:endCxn id="41" idx="8"/>
          </p:cNvCxnSpPr>
          <p:nvPr/>
        </p:nvCxnSpPr>
        <p:spPr bwMode="gray">
          <a:xfrm flipH="1">
            <a:off x="9754036" y="3805235"/>
            <a:ext cx="1268439" cy="71170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0664AAFC-AA0C-4F5E-9292-F9E6BD6F5715}"/>
              </a:ext>
            </a:extLst>
          </p:cNvPr>
          <p:cNvCxnSpPr>
            <a:cxnSpLocks/>
            <a:stCxn id="41" idx="21"/>
            <a:endCxn id="40" idx="3"/>
          </p:cNvCxnSpPr>
          <p:nvPr/>
        </p:nvCxnSpPr>
        <p:spPr bwMode="gray">
          <a:xfrm flipH="1">
            <a:off x="7645679" y="4880614"/>
            <a:ext cx="1120868" cy="5867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9" name="Can 41">
            <a:extLst>
              <a:ext uri="{FF2B5EF4-FFF2-40B4-BE49-F238E27FC236}">
                <a16:creationId xmlns:a16="http://schemas.microsoft.com/office/drawing/2014/main" id="{7606A67D-5061-4B3B-AFC1-2B59D6F064F3}"/>
              </a:ext>
            </a:extLst>
          </p:cNvPr>
          <p:cNvSpPr/>
          <p:nvPr/>
        </p:nvSpPr>
        <p:spPr bwMode="gray">
          <a:xfrm rot="3834284">
            <a:off x="9194726" y="2888535"/>
            <a:ext cx="236717" cy="3520403"/>
          </a:xfrm>
          <a:prstGeom prst="can">
            <a:avLst>
              <a:gd name="adj" fmla="val 55435"/>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TextBox 49">
            <a:extLst>
              <a:ext uri="{FF2B5EF4-FFF2-40B4-BE49-F238E27FC236}">
                <a16:creationId xmlns:a16="http://schemas.microsoft.com/office/drawing/2014/main" id="{B5965E55-32D4-4BE1-A3D9-4EFAD858EA78}"/>
              </a:ext>
            </a:extLst>
          </p:cNvPr>
          <p:cNvSpPr txBox="1"/>
          <p:nvPr/>
        </p:nvSpPr>
        <p:spPr bwMode="gray">
          <a:xfrm rot="19973691" flipH="1">
            <a:off x="8791776" y="4510236"/>
            <a:ext cx="1090865" cy="276999"/>
          </a:xfrm>
          <a:prstGeom prst="rect">
            <a:avLst/>
          </a:prstGeom>
          <a:noFill/>
        </p:spPr>
        <p:txBody>
          <a:bodyPr wrap="square" rtlCol="0">
            <a:spAutoFit/>
          </a:bodyPr>
          <a:lstStyle/>
          <a:p>
            <a:pPr algn="ctr" fontAlgn="auto"/>
            <a:r>
              <a:rPr lang="zh-CN" altLang="en-US" sz="1200" dirty="0">
                <a:latin typeface="Huawei Sans" panose="020C0503030203020204" pitchFamily="34" charset="0"/>
                <a:ea typeface="方正兰亭黑简体" panose="02000000000000000000" pitchFamily="2" charset="-122"/>
              </a:rPr>
              <a:t>非法</a:t>
            </a:r>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59" name="TextBox 120">
            <a:extLst>
              <a:ext uri="{FF2B5EF4-FFF2-40B4-BE49-F238E27FC236}">
                <a16:creationId xmlns:a16="http://schemas.microsoft.com/office/drawing/2014/main" id="{F44038FA-2261-48D3-B9A9-A8D5F807A910}"/>
              </a:ext>
            </a:extLst>
          </p:cNvPr>
          <p:cNvSpPr txBox="1"/>
          <p:nvPr/>
        </p:nvSpPr>
        <p:spPr bwMode="gray">
          <a:xfrm>
            <a:off x="2315580" y="4015448"/>
            <a:ext cx="485362" cy="287715"/>
          </a:xfrm>
          <a:prstGeom prst="roundRect">
            <a:avLst>
              <a:gd name="adj" fmla="val 6721"/>
            </a:avLst>
          </a:prstGeom>
          <a:solidFill>
            <a:srgbClr val="BEE9EE"/>
          </a:solidFill>
          <a:ln w="12700">
            <a:solidFill>
              <a:srgbClr val="BEE9EE"/>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p>
        </p:txBody>
      </p:sp>
      <p:sp>
        <p:nvSpPr>
          <p:cNvPr id="60" name="TextBox 120">
            <a:extLst>
              <a:ext uri="{FF2B5EF4-FFF2-40B4-BE49-F238E27FC236}">
                <a16:creationId xmlns:a16="http://schemas.microsoft.com/office/drawing/2014/main" id="{EB6A8F93-13EA-4849-B6A7-8D33F091558A}"/>
              </a:ext>
            </a:extLst>
          </p:cNvPr>
          <p:cNvSpPr txBox="1"/>
          <p:nvPr/>
        </p:nvSpPr>
        <p:spPr bwMode="gray">
          <a:xfrm>
            <a:off x="1152886" y="4015449"/>
            <a:ext cx="1153273" cy="287715"/>
          </a:xfrm>
          <a:prstGeom prst="roundRect">
            <a:avLst>
              <a:gd name="adj" fmla="val 6721"/>
            </a:avLst>
          </a:prstGeom>
          <a:solidFill>
            <a:srgbClr val="AFD89C"/>
          </a:solidFill>
          <a:ln w="12700">
            <a:solidFill>
              <a:srgbClr val="AFD89C"/>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Outer Header</a:t>
            </a:r>
          </a:p>
        </p:txBody>
      </p:sp>
      <p:sp>
        <p:nvSpPr>
          <p:cNvPr id="22" name="settings_159654">
            <a:extLst>
              <a:ext uri="{FF2B5EF4-FFF2-40B4-BE49-F238E27FC236}">
                <a16:creationId xmlns:a16="http://schemas.microsoft.com/office/drawing/2014/main" id="{6F423C05-C832-43EF-A822-F7FB20098324}"/>
              </a:ext>
            </a:extLst>
          </p:cNvPr>
          <p:cNvSpPr>
            <a:spLocks noChangeAspect="1"/>
          </p:cNvSpPr>
          <p:nvPr/>
        </p:nvSpPr>
        <p:spPr bwMode="gray">
          <a:xfrm>
            <a:off x="3206170" y="4477247"/>
            <a:ext cx="343055" cy="342975"/>
          </a:xfrm>
          <a:custGeom>
            <a:avLst/>
            <a:gdLst>
              <a:gd name="connsiteX0" fmla="*/ 385615 w 606086"/>
              <a:gd name="connsiteY0" fmla="*/ 371718 h 605945"/>
              <a:gd name="connsiteX1" fmla="*/ 395686 w 606086"/>
              <a:gd name="connsiteY1" fmla="*/ 375889 h 605945"/>
              <a:gd name="connsiteX2" fmla="*/ 527123 w 606086"/>
              <a:gd name="connsiteY2" fmla="*/ 507241 h 605945"/>
              <a:gd name="connsiteX3" fmla="*/ 518398 w 606086"/>
              <a:gd name="connsiteY3" fmla="*/ 516048 h 605945"/>
              <a:gd name="connsiteX4" fmla="*/ 507073 w 606086"/>
              <a:gd name="connsiteY4" fmla="*/ 527264 h 605945"/>
              <a:gd name="connsiteX5" fmla="*/ 375543 w 606086"/>
              <a:gd name="connsiteY5" fmla="*/ 395912 h 605945"/>
              <a:gd name="connsiteX6" fmla="*/ 375543 w 606086"/>
              <a:gd name="connsiteY6" fmla="*/ 375889 h 605945"/>
              <a:gd name="connsiteX7" fmla="*/ 385615 w 606086"/>
              <a:gd name="connsiteY7" fmla="*/ 371718 h 605945"/>
              <a:gd name="connsiteX8" fmla="*/ 274076 w 606086"/>
              <a:gd name="connsiteY8" fmla="*/ 0 h 605945"/>
              <a:gd name="connsiteX9" fmla="*/ 302393 w 606086"/>
              <a:gd name="connsiteY9" fmla="*/ 0 h 605945"/>
              <a:gd name="connsiteX10" fmla="*/ 330711 w 606086"/>
              <a:gd name="connsiteY10" fmla="*/ 0 h 605945"/>
              <a:gd name="connsiteX11" fmla="*/ 352158 w 606086"/>
              <a:gd name="connsiteY11" fmla="*/ 18076 h 605945"/>
              <a:gd name="connsiteX12" fmla="*/ 361721 w 606086"/>
              <a:gd name="connsiteY12" fmla="*/ 74434 h 605945"/>
              <a:gd name="connsiteX13" fmla="*/ 422719 w 606086"/>
              <a:gd name="connsiteY13" fmla="*/ 99647 h 605945"/>
              <a:gd name="connsiteX14" fmla="*/ 469420 w 606086"/>
              <a:gd name="connsiteY14" fmla="*/ 66462 h 605945"/>
              <a:gd name="connsiteX15" fmla="*/ 497273 w 606086"/>
              <a:gd name="connsiteY15" fmla="*/ 68687 h 605945"/>
              <a:gd name="connsiteX16" fmla="*/ 517141 w 606086"/>
              <a:gd name="connsiteY16" fmla="*/ 88616 h 605945"/>
              <a:gd name="connsiteX17" fmla="*/ 537103 w 606086"/>
              <a:gd name="connsiteY17" fmla="*/ 108546 h 605945"/>
              <a:gd name="connsiteX18" fmla="*/ 539424 w 606086"/>
              <a:gd name="connsiteY18" fmla="*/ 136354 h 605945"/>
              <a:gd name="connsiteX19" fmla="*/ 506279 w 606086"/>
              <a:gd name="connsiteY19" fmla="*/ 182887 h 605945"/>
              <a:gd name="connsiteX20" fmla="*/ 531532 w 606086"/>
              <a:gd name="connsiteY20" fmla="*/ 243880 h 605945"/>
              <a:gd name="connsiteX21" fmla="*/ 587982 w 606086"/>
              <a:gd name="connsiteY21" fmla="*/ 253242 h 605945"/>
              <a:gd name="connsiteX22" fmla="*/ 606086 w 606086"/>
              <a:gd name="connsiteY22" fmla="*/ 274654 h 605945"/>
              <a:gd name="connsiteX23" fmla="*/ 606086 w 606086"/>
              <a:gd name="connsiteY23" fmla="*/ 302926 h 605945"/>
              <a:gd name="connsiteX24" fmla="*/ 606086 w 606086"/>
              <a:gd name="connsiteY24" fmla="*/ 331198 h 605945"/>
              <a:gd name="connsiteX25" fmla="*/ 587982 w 606086"/>
              <a:gd name="connsiteY25" fmla="*/ 352611 h 605945"/>
              <a:gd name="connsiteX26" fmla="*/ 531532 w 606086"/>
              <a:gd name="connsiteY26" fmla="*/ 362158 h 605945"/>
              <a:gd name="connsiteX27" fmla="*/ 527540 w 606086"/>
              <a:gd name="connsiteY27" fmla="*/ 375321 h 605945"/>
              <a:gd name="connsiteX28" fmla="*/ 524105 w 606086"/>
              <a:gd name="connsiteY28" fmla="*/ 385146 h 605945"/>
              <a:gd name="connsiteX29" fmla="*/ 522341 w 606086"/>
              <a:gd name="connsiteY29" fmla="*/ 389781 h 605945"/>
              <a:gd name="connsiteX30" fmla="*/ 519555 w 606086"/>
              <a:gd name="connsiteY30" fmla="*/ 396641 h 605945"/>
              <a:gd name="connsiteX31" fmla="*/ 515563 w 606086"/>
              <a:gd name="connsiteY31" fmla="*/ 405261 h 605945"/>
              <a:gd name="connsiteX32" fmla="*/ 513706 w 606086"/>
              <a:gd name="connsiteY32" fmla="*/ 408969 h 605945"/>
              <a:gd name="connsiteX33" fmla="*/ 507021 w 606086"/>
              <a:gd name="connsiteY33" fmla="*/ 421297 h 605945"/>
              <a:gd name="connsiteX34" fmla="*/ 500615 w 606086"/>
              <a:gd name="connsiteY34" fmla="*/ 431679 h 605945"/>
              <a:gd name="connsiteX35" fmla="*/ 431632 w 606086"/>
              <a:gd name="connsiteY35" fmla="*/ 362900 h 605945"/>
              <a:gd name="connsiteX36" fmla="*/ 413528 w 606086"/>
              <a:gd name="connsiteY36" fmla="*/ 310249 h 605945"/>
              <a:gd name="connsiteX37" fmla="*/ 381496 w 606086"/>
              <a:gd name="connsiteY37" fmla="*/ 218760 h 605945"/>
              <a:gd name="connsiteX38" fmla="*/ 267855 w 606086"/>
              <a:gd name="connsiteY38" fmla="*/ 191415 h 605945"/>
              <a:gd name="connsiteX39" fmla="*/ 266463 w 606086"/>
              <a:gd name="connsiteY39" fmla="*/ 197347 h 605945"/>
              <a:gd name="connsiteX40" fmla="*/ 314277 w 606086"/>
              <a:gd name="connsiteY40" fmla="*/ 245085 h 605945"/>
              <a:gd name="connsiteX41" fmla="*/ 314184 w 606086"/>
              <a:gd name="connsiteY41" fmla="*/ 294306 h 605945"/>
              <a:gd name="connsiteX42" fmla="*/ 293480 w 606086"/>
              <a:gd name="connsiteY42" fmla="*/ 314884 h 605945"/>
              <a:gd name="connsiteX43" fmla="*/ 244180 w 606086"/>
              <a:gd name="connsiteY43" fmla="*/ 315069 h 605945"/>
              <a:gd name="connsiteX44" fmla="*/ 198779 w 606086"/>
              <a:gd name="connsiteY44" fmla="*/ 269649 h 605945"/>
              <a:gd name="connsiteX45" fmla="*/ 192837 w 606086"/>
              <a:gd name="connsiteY45" fmla="*/ 271317 h 605945"/>
              <a:gd name="connsiteX46" fmla="*/ 222176 w 606086"/>
              <a:gd name="connsiteY46" fmla="*/ 377824 h 605945"/>
              <a:gd name="connsiteX47" fmla="*/ 309078 w 606086"/>
              <a:gd name="connsiteY47" fmla="*/ 410359 h 605945"/>
              <a:gd name="connsiteX48" fmla="*/ 358564 w 606086"/>
              <a:gd name="connsiteY48" fmla="*/ 428342 h 605945"/>
              <a:gd name="connsiteX49" fmla="*/ 431354 w 606086"/>
              <a:gd name="connsiteY49" fmla="*/ 501015 h 605945"/>
              <a:gd name="connsiteX50" fmla="*/ 423369 w 606086"/>
              <a:gd name="connsiteY50" fmla="*/ 506113 h 605945"/>
              <a:gd name="connsiteX51" fmla="*/ 410185 w 606086"/>
              <a:gd name="connsiteY51" fmla="*/ 513250 h 605945"/>
              <a:gd name="connsiteX52" fmla="*/ 409814 w 606086"/>
              <a:gd name="connsiteY52" fmla="*/ 513529 h 605945"/>
              <a:gd name="connsiteX53" fmla="*/ 396351 w 606086"/>
              <a:gd name="connsiteY53" fmla="*/ 519832 h 605945"/>
              <a:gd name="connsiteX54" fmla="*/ 393752 w 606086"/>
              <a:gd name="connsiteY54" fmla="*/ 520944 h 605945"/>
              <a:gd name="connsiteX55" fmla="*/ 382146 w 606086"/>
              <a:gd name="connsiteY55" fmla="*/ 525393 h 605945"/>
              <a:gd name="connsiteX56" fmla="*/ 378247 w 606086"/>
              <a:gd name="connsiteY56" fmla="*/ 526784 h 605945"/>
              <a:gd name="connsiteX57" fmla="*/ 363763 w 606086"/>
              <a:gd name="connsiteY57" fmla="*/ 531048 h 605945"/>
              <a:gd name="connsiteX58" fmla="*/ 354107 w 606086"/>
              <a:gd name="connsiteY58" fmla="*/ 587962 h 605945"/>
              <a:gd name="connsiteX59" fmla="*/ 332753 w 606086"/>
              <a:gd name="connsiteY59" fmla="*/ 605945 h 605945"/>
              <a:gd name="connsiteX60" fmla="*/ 304343 w 606086"/>
              <a:gd name="connsiteY60" fmla="*/ 605945 h 605945"/>
              <a:gd name="connsiteX61" fmla="*/ 276025 w 606086"/>
              <a:gd name="connsiteY61" fmla="*/ 605945 h 605945"/>
              <a:gd name="connsiteX62" fmla="*/ 254578 w 606086"/>
              <a:gd name="connsiteY62" fmla="*/ 587962 h 605945"/>
              <a:gd name="connsiteX63" fmla="*/ 245108 w 606086"/>
              <a:gd name="connsiteY63" fmla="*/ 532160 h 605945"/>
              <a:gd name="connsiteX64" fmla="*/ 184017 w 606086"/>
              <a:gd name="connsiteY64" fmla="*/ 507503 h 605945"/>
              <a:gd name="connsiteX65" fmla="*/ 137131 w 606086"/>
              <a:gd name="connsiteY65" fmla="*/ 540874 h 605945"/>
              <a:gd name="connsiteX66" fmla="*/ 109278 w 606086"/>
              <a:gd name="connsiteY66" fmla="*/ 538649 h 605945"/>
              <a:gd name="connsiteX67" fmla="*/ 89316 w 606086"/>
              <a:gd name="connsiteY67" fmla="*/ 518719 h 605945"/>
              <a:gd name="connsiteX68" fmla="*/ 69447 w 606086"/>
              <a:gd name="connsiteY68" fmla="*/ 498790 h 605945"/>
              <a:gd name="connsiteX69" fmla="*/ 67033 w 606086"/>
              <a:gd name="connsiteY69" fmla="*/ 470982 h 605945"/>
              <a:gd name="connsiteX70" fmla="*/ 100457 w 606086"/>
              <a:gd name="connsiteY70" fmla="*/ 425191 h 605945"/>
              <a:gd name="connsiteX71" fmla="*/ 75018 w 606086"/>
              <a:gd name="connsiteY71" fmla="*/ 364568 h 605945"/>
              <a:gd name="connsiteX72" fmla="*/ 18012 w 606086"/>
              <a:gd name="connsiteY72" fmla="*/ 354928 h 605945"/>
              <a:gd name="connsiteX73" fmla="*/ 0 w 606086"/>
              <a:gd name="connsiteY73" fmla="*/ 333608 h 605945"/>
              <a:gd name="connsiteX74" fmla="*/ 0 w 606086"/>
              <a:gd name="connsiteY74" fmla="*/ 305244 h 605945"/>
              <a:gd name="connsiteX75" fmla="*/ 0 w 606086"/>
              <a:gd name="connsiteY75" fmla="*/ 276972 h 605945"/>
              <a:gd name="connsiteX76" fmla="*/ 18012 w 606086"/>
              <a:gd name="connsiteY76" fmla="*/ 255559 h 605945"/>
              <a:gd name="connsiteX77" fmla="*/ 73904 w 606086"/>
              <a:gd name="connsiteY77" fmla="*/ 246104 h 605945"/>
              <a:gd name="connsiteX78" fmla="*/ 99343 w 606086"/>
              <a:gd name="connsiteY78" fmla="*/ 183628 h 605945"/>
              <a:gd name="connsiteX79" fmla="*/ 66198 w 606086"/>
              <a:gd name="connsiteY79" fmla="*/ 137096 h 605945"/>
              <a:gd name="connsiteX80" fmla="*/ 68426 w 606086"/>
              <a:gd name="connsiteY80" fmla="*/ 109287 h 605945"/>
              <a:gd name="connsiteX81" fmla="*/ 88388 w 606086"/>
              <a:gd name="connsiteY81" fmla="*/ 89358 h 605945"/>
              <a:gd name="connsiteX82" fmla="*/ 108163 w 606086"/>
              <a:gd name="connsiteY82" fmla="*/ 69243 h 605945"/>
              <a:gd name="connsiteX83" fmla="*/ 136017 w 606086"/>
              <a:gd name="connsiteY83" fmla="*/ 66833 h 605945"/>
              <a:gd name="connsiteX84" fmla="*/ 182717 w 606086"/>
              <a:gd name="connsiteY84" fmla="*/ 100018 h 605945"/>
              <a:gd name="connsiteX85" fmla="*/ 243716 w 606086"/>
              <a:gd name="connsiteY85" fmla="*/ 74805 h 605945"/>
              <a:gd name="connsiteX86" fmla="*/ 253093 w 606086"/>
              <a:gd name="connsiteY86" fmla="*/ 18446 h 605945"/>
              <a:gd name="connsiteX87" fmla="*/ 274076 w 606086"/>
              <a:gd name="connsiteY87" fmla="*/ 0 h 60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6086" h="605945">
                <a:moveTo>
                  <a:pt x="385615" y="371718"/>
                </a:moveTo>
                <a:cubicBezTo>
                  <a:pt x="389258" y="371718"/>
                  <a:pt x="392901" y="373108"/>
                  <a:pt x="395686" y="375889"/>
                </a:cubicBezTo>
                <a:lnTo>
                  <a:pt x="527123" y="507241"/>
                </a:lnTo>
                <a:lnTo>
                  <a:pt x="518398" y="516048"/>
                </a:lnTo>
                <a:lnTo>
                  <a:pt x="507073" y="527264"/>
                </a:lnTo>
                <a:lnTo>
                  <a:pt x="375543" y="395912"/>
                </a:lnTo>
                <a:cubicBezTo>
                  <a:pt x="369974" y="390443"/>
                  <a:pt x="369974" y="381451"/>
                  <a:pt x="375543" y="375889"/>
                </a:cubicBezTo>
                <a:cubicBezTo>
                  <a:pt x="378328" y="373108"/>
                  <a:pt x="381971" y="371718"/>
                  <a:pt x="385615" y="371718"/>
                </a:cubicBezTo>
                <a:close/>
                <a:moveTo>
                  <a:pt x="274076" y="0"/>
                </a:moveTo>
                <a:lnTo>
                  <a:pt x="302393" y="0"/>
                </a:lnTo>
                <a:lnTo>
                  <a:pt x="330711" y="0"/>
                </a:lnTo>
                <a:cubicBezTo>
                  <a:pt x="341388" y="0"/>
                  <a:pt x="350394" y="7508"/>
                  <a:pt x="352158" y="18076"/>
                </a:cubicBezTo>
                <a:lnTo>
                  <a:pt x="361721" y="74434"/>
                </a:lnTo>
                <a:cubicBezTo>
                  <a:pt x="383353" y="80088"/>
                  <a:pt x="403779" y="88338"/>
                  <a:pt x="422719" y="99647"/>
                </a:cubicBezTo>
                <a:lnTo>
                  <a:pt x="469420" y="66462"/>
                </a:lnTo>
                <a:cubicBezTo>
                  <a:pt x="478054" y="60344"/>
                  <a:pt x="489845" y="61271"/>
                  <a:pt x="497273" y="68687"/>
                </a:cubicBezTo>
                <a:lnTo>
                  <a:pt x="517141" y="88616"/>
                </a:lnTo>
                <a:lnTo>
                  <a:pt x="537103" y="108546"/>
                </a:lnTo>
                <a:cubicBezTo>
                  <a:pt x="544530" y="115961"/>
                  <a:pt x="545552" y="127641"/>
                  <a:pt x="539424" y="136354"/>
                </a:cubicBezTo>
                <a:lnTo>
                  <a:pt x="506279" y="182887"/>
                </a:lnTo>
                <a:cubicBezTo>
                  <a:pt x="517420" y="201796"/>
                  <a:pt x="525962" y="222189"/>
                  <a:pt x="531532" y="243880"/>
                </a:cubicBezTo>
                <a:lnTo>
                  <a:pt x="587982" y="253242"/>
                </a:lnTo>
                <a:cubicBezTo>
                  <a:pt x="598380" y="255003"/>
                  <a:pt x="606086" y="264087"/>
                  <a:pt x="606086" y="274654"/>
                </a:cubicBezTo>
                <a:lnTo>
                  <a:pt x="606086" y="302926"/>
                </a:lnTo>
                <a:lnTo>
                  <a:pt x="606086" y="331198"/>
                </a:lnTo>
                <a:cubicBezTo>
                  <a:pt x="606086" y="341858"/>
                  <a:pt x="598473" y="350849"/>
                  <a:pt x="587982" y="352611"/>
                </a:cubicBezTo>
                <a:lnTo>
                  <a:pt x="531532" y="362158"/>
                </a:lnTo>
                <a:cubicBezTo>
                  <a:pt x="530325" y="366608"/>
                  <a:pt x="528933" y="370871"/>
                  <a:pt x="527540" y="375321"/>
                </a:cubicBezTo>
                <a:cubicBezTo>
                  <a:pt x="526426" y="378658"/>
                  <a:pt x="525312" y="381902"/>
                  <a:pt x="524105" y="385146"/>
                </a:cubicBezTo>
                <a:cubicBezTo>
                  <a:pt x="523455" y="386722"/>
                  <a:pt x="522991" y="388298"/>
                  <a:pt x="522341" y="389781"/>
                </a:cubicBezTo>
                <a:cubicBezTo>
                  <a:pt x="521505" y="392006"/>
                  <a:pt x="520484" y="394416"/>
                  <a:pt x="519555" y="396641"/>
                </a:cubicBezTo>
                <a:cubicBezTo>
                  <a:pt x="518163" y="399607"/>
                  <a:pt x="516956" y="402388"/>
                  <a:pt x="515563" y="405261"/>
                </a:cubicBezTo>
                <a:lnTo>
                  <a:pt x="513706" y="408969"/>
                </a:lnTo>
                <a:cubicBezTo>
                  <a:pt x="511571" y="413140"/>
                  <a:pt x="509343" y="417219"/>
                  <a:pt x="507021" y="421297"/>
                </a:cubicBezTo>
                <a:cubicBezTo>
                  <a:pt x="504886" y="424820"/>
                  <a:pt x="502843" y="428249"/>
                  <a:pt x="500615" y="431679"/>
                </a:cubicBezTo>
                <a:lnTo>
                  <a:pt x="431632" y="362900"/>
                </a:lnTo>
                <a:cubicBezTo>
                  <a:pt x="417798" y="348996"/>
                  <a:pt x="411485" y="329622"/>
                  <a:pt x="413528" y="310249"/>
                </a:cubicBezTo>
                <a:cubicBezTo>
                  <a:pt x="417148" y="277621"/>
                  <a:pt x="406471" y="243694"/>
                  <a:pt x="381496" y="218760"/>
                </a:cubicBezTo>
                <a:cubicBezTo>
                  <a:pt x="350765" y="188078"/>
                  <a:pt x="306571" y="179086"/>
                  <a:pt x="267855" y="191415"/>
                </a:cubicBezTo>
                <a:cubicBezTo>
                  <a:pt x="265348" y="192342"/>
                  <a:pt x="264606" y="195493"/>
                  <a:pt x="266463" y="197347"/>
                </a:cubicBezTo>
                <a:lnTo>
                  <a:pt x="314277" y="245085"/>
                </a:lnTo>
                <a:cubicBezTo>
                  <a:pt x="327740" y="258526"/>
                  <a:pt x="327740" y="280680"/>
                  <a:pt x="314184" y="294306"/>
                </a:cubicBezTo>
                <a:lnTo>
                  <a:pt x="293480" y="314884"/>
                </a:lnTo>
                <a:cubicBezTo>
                  <a:pt x="280018" y="328510"/>
                  <a:pt x="257735" y="328510"/>
                  <a:pt x="244180" y="315069"/>
                </a:cubicBezTo>
                <a:lnTo>
                  <a:pt x="198779" y="269649"/>
                </a:lnTo>
                <a:cubicBezTo>
                  <a:pt x="196922" y="267702"/>
                  <a:pt x="193487" y="268537"/>
                  <a:pt x="192837" y="271317"/>
                </a:cubicBezTo>
                <a:cubicBezTo>
                  <a:pt x="183553" y="308210"/>
                  <a:pt x="193301" y="348996"/>
                  <a:pt x="222176" y="377824"/>
                </a:cubicBezTo>
                <a:cubicBezTo>
                  <a:pt x="245944" y="401646"/>
                  <a:pt x="277882" y="412399"/>
                  <a:pt x="309078" y="410359"/>
                </a:cubicBezTo>
                <a:cubicBezTo>
                  <a:pt x="327554" y="409062"/>
                  <a:pt x="345566" y="415365"/>
                  <a:pt x="358564" y="428342"/>
                </a:cubicBezTo>
                <a:lnTo>
                  <a:pt x="431354" y="501015"/>
                </a:lnTo>
                <a:cubicBezTo>
                  <a:pt x="428754" y="502776"/>
                  <a:pt x="426061" y="504537"/>
                  <a:pt x="423369" y="506113"/>
                </a:cubicBezTo>
                <a:cubicBezTo>
                  <a:pt x="419098" y="508616"/>
                  <a:pt x="414642" y="511026"/>
                  <a:pt x="410185" y="513250"/>
                </a:cubicBezTo>
                <a:cubicBezTo>
                  <a:pt x="410092" y="513436"/>
                  <a:pt x="409999" y="513436"/>
                  <a:pt x="409814" y="513529"/>
                </a:cubicBezTo>
                <a:cubicBezTo>
                  <a:pt x="405357" y="515753"/>
                  <a:pt x="400901" y="517885"/>
                  <a:pt x="396351" y="519832"/>
                </a:cubicBezTo>
                <a:lnTo>
                  <a:pt x="393752" y="520944"/>
                </a:lnTo>
                <a:cubicBezTo>
                  <a:pt x="389945" y="522520"/>
                  <a:pt x="386046" y="524003"/>
                  <a:pt x="382146" y="525393"/>
                </a:cubicBezTo>
                <a:cubicBezTo>
                  <a:pt x="380846" y="525857"/>
                  <a:pt x="379547" y="526413"/>
                  <a:pt x="378247" y="526784"/>
                </a:cubicBezTo>
                <a:cubicBezTo>
                  <a:pt x="373605" y="528360"/>
                  <a:pt x="368777" y="529843"/>
                  <a:pt x="363763" y="531048"/>
                </a:cubicBezTo>
                <a:lnTo>
                  <a:pt x="354107" y="587962"/>
                </a:lnTo>
                <a:cubicBezTo>
                  <a:pt x="352436" y="598344"/>
                  <a:pt x="343245" y="605945"/>
                  <a:pt x="332753" y="605945"/>
                </a:cubicBezTo>
                <a:lnTo>
                  <a:pt x="304343" y="605945"/>
                </a:lnTo>
                <a:lnTo>
                  <a:pt x="276025" y="605945"/>
                </a:lnTo>
                <a:cubicBezTo>
                  <a:pt x="265348" y="605945"/>
                  <a:pt x="256435" y="598437"/>
                  <a:pt x="254578" y="587962"/>
                </a:cubicBezTo>
                <a:lnTo>
                  <a:pt x="245108" y="532160"/>
                </a:lnTo>
                <a:cubicBezTo>
                  <a:pt x="223383" y="526784"/>
                  <a:pt x="202957" y="518441"/>
                  <a:pt x="184017" y="507503"/>
                </a:cubicBezTo>
                <a:lnTo>
                  <a:pt x="137131" y="540874"/>
                </a:lnTo>
                <a:cubicBezTo>
                  <a:pt x="128496" y="546991"/>
                  <a:pt x="116705" y="546064"/>
                  <a:pt x="109278" y="538649"/>
                </a:cubicBezTo>
                <a:lnTo>
                  <a:pt x="89316" y="518719"/>
                </a:lnTo>
                <a:lnTo>
                  <a:pt x="69447" y="498790"/>
                </a:lnTo>
                <a:cubicBezTo>
                  <a:pt x="62020" y="491375"/>
                  <a:pt x="60999" y="479695"/>
                  <a:pt x="67033" y="470982"/>
                </a:cubicBezTo>
                <a:lnTo>
                  <a:pt x="100457" y="425191"/>
                </a:lnTo>
                <a:cubicBezTo>
                  <a:pt x="89595" y="406652"/>
                  <a:pt x="80589" y="386259"/>
                  <a:pt x="75018" y="364568"/>
                </a:cubicBezTo>
                <a:lnTo>
                  <a:pt x="18012" y="354928"/>
                </a:lnTo>
                <a:cubicBezTo>
                  <a:pt x="7613" y="353259"/>
                  <a:pt x="0" y="344083"/>
                  <a:pt x="0" y="333608"/>
                </a:cubicBezTo>
                <a:lnTo>
                  <a:pt x="0" y="305244"/>
                </a:lnTo>
                <a:lnTo>
                  <a:pt x="0" y="276972"/>
                </a:lnTo>
                <a:cubicBezTo>
                  <a:pt x="0" y="266312"/>
                  <a:pt x="7613" y="257321"/>
                  <a:pt x="18012" y="255559"/>
                </a:cubicBezTo>
                <a:lnTo>
                  <a:pt x="73904" y="246104"/>
                </a:lnTo>
                <a:cubicBezTo>
                  <a:pt x="79196" y="223672"/>
                  <a:pt x="87831" y="202816"/>
                  <a:pt x="99343" y="183628"/>
                </a:cubicBezTo>
                <a:lnTo>
                  <a:pt x="66198" y="137096"/>
                </a:lnTo>
                <a:cubicBezTo>
                  <a:pt x="59977" y="128382"/>
                  <a:pt x="60999" y="116703"/>
                  <a:pt x="68426" y="109287"/>
                </a:cubicBezTo>
                <a:lnTo>
                  <a:pt x="88388" y="89358"/>
                </a:lnTo>
                <a:lnTo>
                  <a:pt x="108163" y="69243"/>
                </a:lnTo>
                <a:cubicBezTo>
                  <a:pt x="115591" y="61827"/>
                  <a:pt x="127382" y="60808"/>
                  <a:pt x="136017" y="66833"/>
                </a:cubicBezTo>
                <a:lnTo>
                  <a:pt x="182717" y="100018"/>
                </a:lnTo>
                <a:cubicBezTo>
                  <a:pt x="201657" y="88894"/>
                  <a:pt x="222083" y="80366"/>
                  <a:pt x="243716" y="74805"/>
                </a:cubicBezTo>
                <a:lnTo>
                  <a:pt x="253093" y="18446"/>
                </a:lnTo>
                <a:cubicBezTo>
                  <a:pt x="254857" y="8157"/>
                  <a:pt x="263863" y="464"/>
                  <a:pt x="274076" y="0"/>
                </a:cubicBezTo>
                <a:close/>
              </a:path>
            </a:pathLst>
          </a:custGeom>
          <a:solidFill>
            <a:srgbClr val="56C4D2"/>
          </a:solidFill>
          <a:ln>
            <a:solidFill>
              <a:srgbClr val="56C4D2"/>
            </a:solidFill>
          </a:ln>
        </p:spPr>
      </p:sp>
      <p:sp>
        <p:nvSpPr>
          <p:cNvPr id="38" name="TextBox 120">
            <a:extLst>
              <a:ext uri="{FF2B5EF4-FFF2-40B4-BE49-F238E27FC236}">
                <a16:creationId xmlns:a16="http://schemas.microsoft.com/office/drawing/2014/main" id="{D4710F7A-9295-460E-A649-335F236A718B}"/>
              </a:ext>
            </a:extLst>
          </p:cNvPr>
          <p:cNvSpPr txBox="1"/>
          <p:nvPr/>
        </p:nvSpPr>
        <p:spPr bwMode="gray">
          <a:xfrm>
            <a:off x="4794380" y="5008965"/>
            <a:ext cx="797564" cy="287715"/>
          </a:xfrm>
          <a:prstGeom prst="roundRect">
            <a:avLst>
              <a:gd name="adj" fmla="val 6721"/>
            </a:avLst>
          </a:prstGeom>
          <a:solidFill>
            <a:srgbClr val="EEB3B8"/>
          </a:solidFill>
          <a:ln w="12700">
            <a:solidFill>
              <a:srgbClr val="D8B3B3"/>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Payload</a:t>
            </a:r>
          </a:p>
        </p:txBody>
      </p:sp>
      <p:sp>
        <p:nvSpPr>
          <p:cNvPr id="39" name="TextBox 120">
            <a:extLst>
              <a:ext uri="{FF2B5EF4-FFF2-40B4-BE49-F238E27FC236}">
                <a16:creationId xmlns:a16="http://schemas.microsoft.com/office/drawing/2014/main" id="{B1322526-B8F6-46FF-A864-7036BD6521B8}"/>
              </a:ext>
            </a:extLst>
          </p:cNvPr>
          <p:cNvSpPr txBox="1"/>
          <p:nvPr/>
        </p:nvSpPr>
        <p:spPr bwMode="gray">
          <a:xfrm>
            <a:off x="4309017" y="5008965"/>
            <a:ext cx="485362" cy="287715"/>
          </a:xfrm>
          <a:prstGeom prst="roundRect">
            <a:avLst>
              <a:gd name="adj" fmla="val 6721"/>
            </a:avLst>
          </a:prstGeom>
          <a:solidFill>
            <a:srgbClr val="BEE9EE"/>
          </a:solidFill>
          <a:ln w="12700">
            <a:solidFill>
              <a:srgbClr val="BEE9EE"/>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p>
        </p:txBody>
      </p:sp>
      <p:sp>
        <p:nvSpPr>
          <p:cNvPr id="43" name="TextBox 120">
            <a:extLst>
              <a:ext uri="{FF2B5EF4-FFF2-40B4-BE49-F238E27FC236}">
                <a16:creationId xmlns:a16="http://schemas.microsoft.com/office/drawing/2014/main" id="{6F9E91DB-A3CD-4C56-A655-7B064FB04777}"/>
              </a:ext>
            </a:extLst>
          </p:cNvPr>
          <p:cNvSpPr txBox="1"/>
          <p:nvPr/>
        </p:nvSpPr>
        <p:spPr bwMode="gray">
          <a:xfrm>
            <a:off x="3146323" y="5008966"/>
            <a:ext cx="1153273" cy="287715"/>
          </a:xfrm>
          <a:prstGeom prst="roundRect">
            <a:avLst>
              <a:gd name="adj" fmla="val 6721"/>
            </a:avLst>
          </a:prstGeom>
          <a:solidFill>
            <a:srgbClr val="AFD89C"/>
          </a:solidFill>
          <a:ln w="12700">
            <a:solidFill>
              <a:srgbClr val="AFD89C"/>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Outer Header</a:t>
            </a:r>
          </a:p>
        </p:txBody>
      </p:sp>
      <p:sp>
        <p:nvSpPr>
          <p:cNvPr id="46" name="TextBox 120">
            <a:extLst>
              <a:ext uri="{FF2B5EF4-FFF2-40B4-BE49-F238E27FC236}">
                <a16:creationId xmlns:a16="http://schemas.microsoft.com/office/drawing/2014/main" id="{E5C31195-9BE1-4218-AE32-E5B2162F3867}"/>
              </a:ext>
            </a:extLst>
          </p:cNvPr>
          <p:cNvSpPr txBox="1"/>
          <p:nvPr/>
        </p:nvSpPr>
        <p:spPr bwMode="gray">
          <a:xfrm>
            <a:off x="2810364" y="4015447"/>
            <a:ext cx="759693"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Payload</a:t>
            </a:r>
          </a:p>
        </p:txBody>
      </p:sp>
      <p:sp>
        <p:nvSpPr>
          <p:cNvPr id="37"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44"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安全机制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47"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custDataLst>
      <p:tags r:id="rId1"/>
    </p:custDataLst>
    <p:extLst>
      <p:ext uri="{BB962C8B-B14F-4D97-AF65-F5344CB8AC3E}">
        <p14:creationId xmlns:p14="http://schemas.microsoft.com/office/powerpoint/2010/main" val="2537763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155AA-B897-40BD-A304-2E74483772B7}"/>
              </a:ext>
            </a:extLst>
          </p:cNvPr>
          <p:cNvSpPr>
            <a:spLocks noGrp="1"/>
          </p:cNvSpPr>
          <p:nvPr>
            <p:ph type="title"/>
          </p:nvPr>
        </p:nvSpPr>
        <p:spPr bwMode="gray"/>
        <p:txBody>
          <a:bodyPr/>
          <a:lstStyle/>
          <a:p>
            <a:r>
              <a:rPr lang="en-US" dirty="0"/>
              <a:t>GRE</a:t>
            </a:r>
            <a:r>
              <a:rPr lang="zh-CN" altLang="en-US" dirty="0"/>
              <a:t>数据校验和验证</a:t>
            </a:r>
            <a:endParaRPr lang="en-US" dirty="0"/>
          </a:p>
        </p:txBody>
      </p:sp>
      <p:sp>
        <p:nvSpPr>
          <p:cNvPr id="3" name="Text Placeholder 2">
            <a:extLst>
              <a:ext uri="{FF2B5EF4-FFF2-40B4-BE49-F238E27FC236}">
                <a16:creationId xmlns:a16="http://schemas.microsoft.com/office/drawing/2014/main" id="{07809FB2-4865-4E1B-ABDE-63D071FD7866}"/>
              </a:ext>
            </a:extLst>
          </p:cNvPr>
          <p:cNvSpPr>
            <a:spLocks noGrp="1"/>
          </p:cNvSpPr>
          <p:nvPr>
            <p:ph type="body" sz="quarter" idx="10"/>
          </p:nvPr>
        </p:nvSpPr>
        <p:spPr bwMode="gray"/>
        <p:txBody>
          <a:bodyPr/>
          <a:lstStyle/>
          <a:p>
            <a:r>
              <a:rPr lang="zh-CN" altLang="en-US" sz="1800" dirty="0"/>
              <a:t>校验和验证是指对封装的报文进行端到端校验。</a:t>
            </a:r>
          </a:p>
          <a:p>
            <a:r>
              <a:rPr lang="zh-CN" altLang="en-US" sz="1800" dirty="0"/>
              <a:t>若</a:t>
            </a:r>
            <a:r>
              <a:rPr lang="en-US" altLang="zh-CN" sz="1800" dirty="0"/>
              <a:t>GRE</a:t>
            </a:r>
            <a:r>
              <a:rPr lang="zh-CN" altLang="en-US" sz="1800" dirty="0"/>
              <a:t>报文头中的</a:t>
            </a:r>
            <a:r>
              <a:rPr lang="en-US" altLang="zh-CN" sz="1800" dirty="0"/>
              <a:t>C</a:t>
            </a:r>
            <a:r>
              <a:rPr lang="zh-CN" altLang="en-US" sz="1800" dirty="0"/>
              <a:t>位标识位置</a:t>
            </a:r>
            <a:r>
              <a:rPr lang="en-US" altLang="zh-CN" sz="1800" dirty="0"/>
              <a:t>1</a:t>
            </a:r>
            <a:r>
              <a:rPr lang="zh-CN" altLang="en-US" sz="1800" dirty="0"/>
              <a:t>，则校验和有效。发送方将根据</a:t>
            </a:r>
            <a:r>
              <a:rPr lang="en-US" altLang="zh-CN" sz="1800" dirty="0"/>
              <a:t>GRE</a:t>
            </a:r>
            <a:r>
              <a:rPr lang="zh-CN" altLang="en-US" sz="1800" dirty="0"/>
              <a:t>头及</a:t>
            </a:r>
            <a:r>
              <a:rPr lang="en-US" altLang="zh-CN" sz="1800" dirty="0"/>
              <a:t>Payload</a:t>
            </a:r>
            <a:r>
              <a:rPr lang="zh-CN" altLang="en-US" sz="1800" dirty="0"/>
              <a:t>信息计算校验和，并将包含校验和的报文发送给对端。接收方对接收到的报文计算校验和，并与报文中的校验和比较，如果一致则对报文进一步处理，否则丢弃。</a:t>
            </a:r>
            <a:endParaRPr lang="en-US" sz="1800" dirty="0"/>
          </a:p>
        </p:txBody>
      </p:sp>
      <p:graphicFrame>
        <p:nvGraphicFramePr>
          <p:cNvPr id="7" name="Table 4">
            <a:extLst>
              <a:ext uri="{FF2B5EF4-FFF2-40B4-BE49-F238E27FC236}">
                <a16:creationId xmlns:a16="http://schemas.microsoft.com/office/drawing/2014/main" id="{D167451F-8446-4418-9653-44D258168A37}"/>
              </a:ext>
            </a:extLst>
          </p:cNvPr>
          <p:cNvGraphicFramePr>
            <a:graphicFrameLocks noGrp="1"/>
          </p:cNvGraphicFramePr>
          <p:nvPr/>
        </p:nvGraphicFramePr>
        <p:xfrm>
          <a:off x="853199" y="3189992"/>
          <a:ext cx="5702187" cy="370840"/>
        </p:xfrm>
        <a:graphic>
          <a:graphicData uri="http://schemas.openxmlformats.org/drawingml/2006/table">
            <a:tbl>
              <a:tblPr firstRow="1" bandRow="1">
                <a:tableStyleId>{5C22544A-7EE6-4342-B048-85BDC9FD1C3A}</a:tableStyleId>
              </a:tblPr>
              <a:tblGrid>
                <a:gridCol w="1414479">
                  <a:extLst>
                    <a:ext uri="{9D8B030D-6E8A-4147-A177-3AD203B41FA5}">
                      <a16:colId xmlns:a16="http://schemas.microsoft.com/office/drawing/2014/main" val="2966538011"/>
                    </a:ext>
                  </a:extLst>
                </a:gridCol>
                <a:gridCol w="1279767">
                  <a:extLst>
                    <a:ext uri="{9D8B030D-6E8A-4147-A177-3AD203B41FA5}">
                      <a16:colId xmlns:a16="http://schemas.microsoft.com/office/drawing/2014/main" val="996290401"/>
                    </a:ext>
                  </a:extLst>
                </a:gridCol>
                <a:gridCol w="1414479">
                  <a:extLst>
                    <a:ext uri="{9D8B030D-6E8A-4147-A177-3AD203B41FA5}">
                      <a16:colId xmlns:a16="http://schemas.microsoft.com/office/drawing/2014/main" val="2856764314"/>
                    </a:ext>
                  </a:extLst>
                </a:gridCol>
                <a:gridCol w="1593462">
                  <a:extLst>
                    <a:ext uri="{9D8B030D-6E8A-4147-A177-3AD203B41FA5}">
                      <a16:colId xmlns:a16="http://schemas.microsoft.com/office/drawing/2014/main" val="2646952038"/>
                    </a:ext>
                  </a:extLst>
                </a:gridCol>
              </a:tblGrid>
              <a:tr h="370840">
                <a:tc>
                  <a:txBody>
                    <a:bodyPr/>
                    <a:lstStyle/>
                    <a:p>
                      <a:pPr algn="ctr"/>
                      <a:r>
                        <a:rPr lang="en-US" sz="1200" dirty="0"/>
                        <a:t>O</a:t>
                      </a:r>
                      <a:r>
                        <a:rPr lang="en-US" altLang="zh-CN" sz="1200" dirty="0"/>
                        <a:t>uter </a:t>
                      </a:r>
                      <a:r>
                        <a:rPr lang="en-US" sz="1200" dirty="0"/>
                        <a:t>Header</a:t>
                      </a:r>
                    </a:p>
                  </a:txBody>
                  <a:tcPr anchor="ctr">
                    <a:solidFill>
                      <a:srgbClr val="AFD89C"/>
                    </a:solidFill>
                  </a:tcPr>
                </a:tc>
                <a:tc>
                  <a:txBody>
                    <a:bodyPr/>
                    <a:lstStyle/>
                    <a:p>
                      <a:pPr algn="ctr"/>
                      <a:r>
                        <a:rPr lang="en-US" sz="1200" dirty="0"/>
                        <a:t>GRE Header</a:t>
                      </a:r>
                    </a:p>
                  </a:txBody>
                  <a:tcPr anchor="ctr">
                    <a:solidFill>
                      <a:srgbClr val="EEB3B8"/>
                    </a:solidFill>
                  </a:tcPr>
                </a:tc>
                <a:tc>
                  <a:txBody>
                    <a:bodyPr/>
                    <a:lstStyle/>
                    <a:p>
                      <a:pPr algn="ctr"/>
                      <a:r>
                        <a:rPr lang="en-US" sz="1200" dirty="0"/>
                        <a:t>Inner Header</a:t>
                      </a:r>
                    </a:p>
                  </a:txBody>
                  <a:tcPr anchor="ctr">
                    <a:solidFill>
                      <a:srgbClr val="56C4D2"/>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sz="1200" dirty="0"/>
                        <a:t>Payload</a:t>
                      </a:r>
                    </a:p>
                  </a:txBody>
                  <a:tcPr anchor="ctr">
                    <a:solidFill>
                      <a:srgbClr val="FDE397"/>
                    </a:solidFill>
                  </a:tcPr>
                </a:tc>
                <a:extLst>
                  <a:ext uri="{0D108BD9-81ED-4DB2-BD59-A6C34878D82A}">
                    <a16:rowId xmlns:a16="http://schemas.microsoft.com/office/drawing/2014/main" val="2196966323"/>
                  </a:ext>
                </a:extLst>
              </a:tr>
            </a:tbl>
          </a:graphicData>
        </a:graphic>
      </p:graphicFrame>
      <p:graphicFrame>
        <p:nvGraphicFramePr>
          <p:cNvPr id="8" name="Table 5">
            <a:extLst>
              <a:ext uri="{FF2B5EF4-FFF2-40B4-BE49-F238E27FC236}">
                <a16:creationId xmlns:a16="http://schemas.microsoft.com/office/drawing/2014/main" id="{CBF71B36-B903-4252-A942-065E06C02A22}"/>
              </a:ext>
            </a:extLst>
          </p:cNvPr>
          <p:cNvGraphicFramePr>
            <a:graphicFrameLocks noGrp="1"/>
          </p:cNvGraphicFramePr>
          <p:nvPr>
            <p:extLst>
              <p:ext uri="{D42A27DB-BD31-4B8C-83A1-F6EECF244321}">
                <p14:modId xmlns:p14="http://schemas.microsoft.com/office/powerpoint/2010/main" val="3209410909"/>
              </p:ext>
            </p:extLst>
          </p:nvPr>
        </p:nvGraphicFramePr>
        <p:xfrm>
          <a:off x="731191" y="4723606"/>
          <a:ext cx="6002018" cy="11125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767511075"/>
                    </a:ext>
                  </a:extLst>
                </a:gridCol>
                <a:gridCol w="208280">
                  <a:extLst>
                    <a:ext uri="{9D8B030D-6E8A-4147-A177-3AD203B41FA5}">
                      <a16:colId xmlns:a16="http://schemas.microsoft.com/office/drawing/2014/main" val="2259974812"/>
                    </a:ext>
                  </a:extLst>
                </a:gridCol>
                <a:gridCol w="208280">
                  <a:extLst>
                    <a:ext uri="{9D8B030D-6E8A-4147-A177-3AD203B41FA5}">
                      <a16:colId xmlns:a16="http://schemas.microsoft.com/office/drawing/2014/main" val="1441333613"/>
                    </a:ext>
                  </a:extLst>
                </a:gridCol>
                <a:gridCol w="208280">
                  <a:extLst>
                    <a:ext uri="{9D8B030D-6E8A-4147-A177-3AD203B41FA5}">
                      <a16:colId xmlns:a16="http://schemas.microsoft.com/office/drawing/2014/main" val="2189801884"/>
                    </a:ext>
                  </a:extLst>
                </a:gridCol>
                <a:gridCol w="208280">
                  <a:extLst>
                    <a:ext uri="{9D8B030D-6E8A-4147-A177-3AD203B41FA5}">
                      <a16:colId xmlns:a16="http://schemas.microsoft.com/office/drawing/2014/main" val="201189597"/>
                    </a:ext>
                  </a:extLst>
                </a:gridCol>
                <a:gridCol w="858058">
                  <a:extLst>
                    <a:ext uri="{9D8B030D-6E8A-4147-A177-3AD203B41FA5}">
                      <a16:colId xmlns:a16="http://schemas.microsoft.com/office/drawing/2014/main" val="2963173565"/>
                    </a:ext>
                  </a:extLst>
                </a:gridCol>
                <a:gridCol w="658080">
                  <a:extLst>
                    <a:ext uri="{9D8B030D-6E8A-4147-A177-3AD203B41FA5}">
                      <a16:colId xmlns:a16="http://schemas.microsoft.com/office/drawing/2014/main" val="2109686950"/>
                    </a:ext>
                  </a:extLst>
                </a:gridCol>
                <a:gridCol w="761987">
                  <a:extLst>
                    <a:ext uri="{9D8B030D-6E8A-4147-A177-3AD203B41FA5}">
                      <a16:colId xmlns:a16="http://schemas.microsoft.com/office/drawing/2014/main" val="421368371"/>
                    </a:ext>
                  </a:extLst>
                </a:gridCol>
                <a:gridCol w="2682493">
                  <a:extLst>
                    <a:ext uri="{9D8B030D-6E8A-4147-A177-3AD203B41FA5}">
                      <a16:colId xmlns:a16="http://schemas.microsoft.com/office/drawing/2014/main" val="1049193376"/>
                    </a:ext>
                  </a:extLst>
                </a:gridCol>
              </a:tblGrid>
              <a:tr h="370840">
                <a:tc>
                  <a:txBody>
                    <a:bodyPr/>
                    <a:lstStyle/>
                    <a:p>
                      <a:pPr algn="ctr"/>
                      <a:r>
                        <a:rPr lang="en-US" sz="1200" b="0" dirty="0">
                          <a:solidFill>
                            <a:sysClr val="windowText" lastClr="000000"/>
                          </a:solidFill>
                        </a:rPr>
                        <a:t>C</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K</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Recursion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Flags</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Version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Protocol Type</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3176659461"/>
                  </a:ext>
                </a:extLst>
              </a:tr>
              <a:tr h="370840">
                <a:tc gridSpan="8">
                  <a:txBody>
                    <a:bodyPr/>
                    <a:lstStyle/>
                    <a:p>
                      <a:pPr algn="ctr"/>
                      <a:r>
                        <a:rPr lang="en-US" sz="1200" b="0" dirty="0">
                          <a:solidFill>
                            <a:sysClr val="windowText" lastClr="000000"/>
                          </a:solidFill>
                        </a:rPr>
                        <a:t>Checksum</a:t>
                      </a:r>
                      <a:r>
                        <a:rPr lang="zh-CN" altLang="en-US" sz="1200" b="0" dirty="0">
                          <a:solidFill>
                            <a:sysClr val="windowText" lastClr="000000"/>
                          </a:solidFill>
                        </a:rPr>
                        <a:t>（</a:t>
                      </a:r>
                      <a:r>
                        <a:rPr lang="en-US" sz="1200" b="0" dirty="0">
                          <a:solidFill>
                            <a:sysClr val="windowText" lastClr="000000"/>
                          </a:solidFill>
                        </a:rPr>
                        <a:t>Option</a:t>
                      </a:r>
                      <a:r>
                        <a:rPr lang="zh-CN" altLang="en-US" sz="1200" b="0" dirty="0">
                          <a:solidFill>
                            <a:sysClr val="windowText" lastClr="000000"/>
                          </a:solidFill>
                        </a:rPr>
                        <a:t>）</a:t>
                      </a:r>
                      <a:endParaRPr lang="en-US" sz="1200" b="0" dirty="0">
                        <a:solidFill>
                          <a:sysClr val="windowText" lastClr="000000"/>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3262138141"/>
                  </a:ext>
                </a:extLst>
              </a:tr>
              <a:tr h="370840">
                <a:tc gridSpan="9">
                  <a:txBody>
                    <a:bodyPr/>
                    <a:lstStyle/>
                    <a:p>
                      <a:pPr algn="ctr"/>
                      <a:r>
                        <a:rPr lang="en-US" sz="1200" b="0" dirty="0">
                          <a:solidFill>
                            <a:sysClr val="windowText" lastClr="000000"/>
                          </a:solidFill>
                        </a:rPr>
                        <a:t>Key</a:t>
                      </a:r>
                      <a:r>
                        <a:rPr lang="zh-CN" altLang="en-US" sz="1200" b="0" dirty="0">
                          <a:solidFill>
                            <a:sysClr val="windowText" lastClr="000000"/>
                          </a:solidFill>
                        </a:rPr>
                        <a:t>（</a:t>
                      </a:r>
                      <a:r>
                        <a:rPr lang="en-US" sz="1200" b="0" dirty="0">
                          <a:solidFill>
                            <a:sysClr val="windowText" lastClr="000000"/>
                          </a:solidFill>
                        </a:rPr>
                        <a:t>O</a:t>
                      </a:r>
                      <a:r>
                        <a:rPr lang="en-US" altLang="zh-CN" sz="1200" b="0" dirty="0">
                          <a:solidFill>
                            <a:sysClr val="windowText" lastClr="000000"/>
                          </a:solidFill>
                        </a:rPr>
                        <a:t>ption</a:t>
                      </a:r>
                      <a:r>
                        <a:rPr lang="zh-CN" altLang="en-US" sz="1200" b="0" dirty="0">
                          <a:solidFill>
                            <a:sysClr val="windowText" lastClr="000000"/>
                          </a:solidFill>
                        </a:rPr>
                        <a:t>）</a:t>
                      </a:r>
                      <a:endParaRPr lang="en-US" sz="1200" b="0" dirty="0">
                        <a:solidFill>
                          <a:sysClr val="windowText" lastClr="000000"/>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dirty="0"/>
                    </a:p>
                  </a:txBody>
                  <a:tcPr anchor="ctr"/>
                </a:tc>
                <a:extLst>
                  <a:ext uri="{0D108BD9-81ED-4DB2-BD59-A6C34878D82A}">
                    <a16:rowId xmlns:a16="http://schemas.microsoft.com/office/drawing/2014/main" val="1626608722"/>
                  </a:ext>
                </a:extLst>
              </a:tr>
            </a:tbl>
          </a:graphicData>
        </a:graphic>
      </p:graphicFrame>
      <p:sp>
        <p:nvSpPr>
          <p:cNvPr id="9" name="Trapezoid 8">
            <a:extLst>
              <a:ext uri="{FF2B5EF4-FFF2-40B4-BE49-F238E27FC236}">
                <a16:creationId xmlns:a16="http://schemas.microsoft.com/office/drawing/2014/main" id="{88E650C7-8FCD-4B60-A0E5-2C9D6D22C77A}"/>
              </a:ext>
            </a:extLst>
          </p:cNvPr>
          <p:cNvSpPr/>
          <p:nvPr/>
        </p:nvSpPr>
        <p:spPr bwMode="gray">
          <a:xfrm>
            <a:off x="738112" y="3560832"/>
            <a:ext cx="5995097" cy="1120140"/>
          </a:xfrm>
          <a:custGeom>
            <a:avLst/>
            <a:gdLst>
              <a:gd name="connsiteX0" fmla="*/ 0 w 6315794"/>
              <a:gd name="connsiteY0" fmla="*/ 1112520 h 1112520"/>
              <a:gd name="connsiteX1" fmla="*/ 2629597 w 6315794"/>
              <a:gd name="connsiteY1" fmla="*/ 0 h 1112520"/>
              <a:gd name="connsiteX2" fmla="*/ 3686197 w 6315794"/>
              <a:gd name="connsiteY2" fmla="*/ 0 h 1112520"/>
              <a:gd name="connsiteX3" fmla="*/ 6315794 w 6315794"/>
              <a:gd name="connsiteY3" fmla="*/ 1112520 h 1112520"/>
              <a:gd name="connsiteX4" fmla="*/ 0 w 6315794"/>
              <a:gd name="connsiteY4" fmla="*/ 1112520 h 1112520"/>
              <a:gd name="connsiteX0" fmla="*/ 0 w 6315794"/>
              <a:gd name="connsiteY0" fmla="*/ 1120140 h 1120140"/>
              <a:gd name="connsiteX1" fmla="*/ 1593277 w 6315794"/>
              <a:gd name="connsiteY1" fmla="*/ 0 h 1120140"/>
              <a:gd name="connsiteX2" fmla="*/ 3686197 w 6315794"/>
              <a:gd name="connsiteY2" fmla="*/ 7620 h 1120140"/>
              <a:gd name="connsiteX3" fmla="*/ 6315794 w 6315794"/>
              <a:gd name="connsiteY3" fmla="*/ 1120140 h 1120140"/>
              <a:gd name="connsiteX4" fmla="*/ 0 w 6315794"/>
              <a:gd name="connsiteY4" fmla="*/ 1120140 h 1120140"/>
              <a:gd name="connsiteX0" fmla="*/ 0 w 6315794"/>
              <a:gd name="connsiteY0" fmla="*/ 1120140 h 1120140"/>
              <a:gd name="connsiteX1" fmla="*/ 1593277 w 6315794"/>
              <a:gd name="connsiteY1" fmla="*/ 0 h 1120140"/>
              <a:gd name="connsiteX2" fmla="*/ 2954677 w 6315794"/>
              <a:gd name="connsiteY2" fmla="*/ 0 h 1120140"/>
              <a:gd name="connsiteX3" fmla="*/ 6315794 w 6315794"/>
              <a:gd name="connsiteY3" fmla="*/ 1120140 h 1120140"/>
              <a:gd name="connsiteX4" fmla="*/ 0 w 6315794"/>
              <a:gd name="connsiteY4" fmla="*/ 1120140 h 1120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5794" h="1120140">
                <a:moveTo>
                  <a:pt x="0" y="1120140"/>
                </a:moveTo>
                <a:lnTo>
                  <a:pt x="1593277" y="0"/>
                </a:lnTo>
                <a:lnTo>
                  <a:pt x="2954677" y="0"/>
                </a:lnTo>
                <a:lnTo>
                  <a:pt x="6315794" y="1120140"/>
                </a:lnTo>
                <a:lnTo>
                  <a:pt x="0" y="1120140"/>
                </a:lnTo>
                <a:close/>
              </a:path>
            </a:pathLst>
          </a:custGeom>
          <a:gradFill>
            <a:gsLst>
              <a:gs pos="0">
                <a:schemeClr val="accent1">
                  <a:lumMod val="5000"/>
                  <a:lumOff val="95000"/>
                  <a:alpha val="50000"/>
                </a:schemeClr>
              </a:gs>
              <a:gs pos="100000">
                <a:srgbClr val="BEE9EE"/>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圆角矩形 75">
            <a:extLst>
              <a:ext uri="{FF2B5EF4-FFF2-40B4-BE49-F238E27FC236}">
                <a16:creationId xmlns:a16="http://schemas.microsoft.com/office/drawing/2014/main" id="{6F67F70E-8F31-4F7E-8154-00F6CB9CB880}"/>
              </a:ext>
            </a:extLst>
          </p:cNvPr>
          <p:cNvSpPr/>
          <p:nvPr/>
        </p:nvSpPr>
        <p:spPr bwMode="gray">
          <a:xfrm>
            <a:off x="6803435" y="2384884"/>
            <a:ext cx="4621157"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通过数据校验防止数据被篡改</a:t>
            </a:r>
          </a:p>
        </p:txBody>
      </p:sp>
      <p:sp>
        <p:nvSpPr>
          <p:cNvPr id="11" name="圆角矩形 75">
            <a:extLst>
              <a:ext uri="{FF2B5EF4-FFF2-40B4-BE49-F238E27FC236}">
                <a16:creationId xmlns:a16="http://schemas.microsoft.com/office/drawing/2014/main" id="{4D24CE0F-2ACC-4658-85C6-9EC22C56901F}"/>
              </a:ext>
            </a:extLst>
          </p:cNvPr>
          <p:cNvSpPr/>
          <p:nvPr/>
        </p:nvSpPr>
        <p:spPr bwMode="gray">
          <a:xfrm>
            <a:off x="6803435" y="2819171"/>
            <a:ext cx="4621157" cy="334613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31">
            <a:extLst>
              <a:ext uri="{FF2B5EF4-FFF2-40B4-BE49-F238E27FC236}">
                <a16:creationId xmlns:a16="http://schemas.microsoft.com/office/drawing/2014/main" id="{C4D75514-A3A5-4724-A3AB-E9D5D7D03704}"/>
              </a:ext>
            </a:extLst>
          </p:cNvPr>
          <p:cNvPicPr>
            <a:picLocks noChangeAspect="1"/>
          </p:cNvPicPr>
          <p:nvPr/>
        </p:nvPicPr>
        <p:blipFill>
          <a:blip r:embed="rId3"/>
          <a:stretch>
            <a:fillRect/>
          </a:stretch>
        </p:blipFill>
        <p:spPr bwMode="gray">
          <a:xfrm>
            <a:off x="6991340" y="3111700"/>
            <a:ext cx="466668" cy="389308"/>
          </a:xfrm>
          <a:prstGeom prst="rect">
            <a:avLst/>
          </a:prstGeom>
        </p:spPr>
      </p:pic>
      <p:sp>
        <p:nvSpPr>
          <p:cNvPr id="13" name="Freeform 159">
            <a:extLst>
              <a:ext uri="{FF2B5EF4-FFF2-40B4-BE49-F238E27FC236}">
                <a16:creationId xmlns:a16="http://schemas.microsoft.com/office/drawing/2014/main" id="{E8FD2C14-4AB3-410A-9194-9DA9F62E4652}"/>
              </a:ext>
            </a:extLst>
          </p:cNvPr>
          <p:cNvSpPr/>
          <p:nvPr/>
        </p:nvSpPr>
        <p:spPr bwMode="gray">
          <a:xfrm flipH="1">
            <a:off x="8637975" y="2930049"/>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14" name="图片 31">
            <a:extLst>
              <a:ext uri="{FF2B5EF4-FFF2-40B4-BE49-F238E27FC236}">
                <a16:creationId xmlns:a16="http://schemas.microsoft.com/office/drawing/2014/main" id="{CB69B94A-87A1-448F-9662-650433F49131}"/>
              </a:ext>
            </a:extLst>
          </p:cNvPr>
          <p:cNvPicPr>
            <a:picLocks noChangeAspect="1"/>
          </p:cNvPicPr>
          <p:nvPr/>
        </p:nvPicPr>
        <p:blipFill>
          <a:blip r:embed="rId3"/>
          <a:stretch>
            <a:fillRect/>
          </a:stretch>
        </p:blipFill>
        <p:spPr bwMode="gray">
          <a:xfrm>
            <a:off x="10846303" y="3111700"/>
            <a:ext cx="466668" cy="389308"/>
          </a:xfrm>
          <a:prstGeom prst="rect">
            <a:avLst/>
          </a:prstGeom>
        </p:spPr>
      </p:pic>
      <p:cxnSp>
        <p:nvCxnSpPr>
          <p:cNvPr id="15" name="Straight Connector 14">
            <a:extLst>
              <a:ext uri="{FF2B5EF4-FFF2-40B4-BE49-F238E27FC236}">
                <a16:creationId xmlns:a16="http://schemas.microsoft.com/office/drawing/2014/main" id="{5297C625-6C90-4A32-97F0-EDCF3747C5DC}"/>
              </a:ext>
            </a:extLst>
          </p:cNvPr>
          <p:cNvCxnSpPr>
            <a:cxnSpLocks/>
            <a:stCxn id="12" idx="3"/>
            <a:endCxn id="13" idx="21"/>
          </p:cNvCxnSpPr>
          <p:nvPr/>
        </p:nvCxnSpPr>
        <p:spPr bwMode="gray">
          <a:xfrm>
            <a:off x="7458008" y="3306354"/>
            <a:ext cx="1179967" cy="933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8F7D96E-C575-4728-A688-E1E195E8ACAD}"/>
              </a:ext>
            </a:extLst>
          </p:cNvPr>
          <p:cNvCxnSpPr>
            <a:cxnSpLocks/>
            <a:stCxn id="14" idx="1"/>
            <a:endCxn id="13" idx="8"/>
          </p:cNvCxnSpPr>
          <p:nvPr/>
        </p:nvCxnSpPr>
        <p:spPr bwMode="gray">
          <a:xfrm flipH="1" flipV="1">
            <a:off x="9690256" y="3305681"/>
            <a:ext cx="1156047" cy="67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9" name="Can 41">
            <a:extLst>
              <a:ext uri="{FF2B5EF4-FFF2-40B4-BE49-F238E27FC236}">
                <a16:creationId xmlns:a16="http://schemas.microsoft.com/office/drawing/2014/main" id="{FFFF8026-400B-4414-9973-9988213F8679}"/>
              </a:ext>
            </a:extLst>
          </p:cNvPr>
          <p:cNvSpPr/>
          <p:nvPr/>
        </p:nvSpPr>
        <p:spPr bwMode="gray">
          <a:xfrm rot="5400000">
            <a:off x="9042739" y="1705244"/>
            <a:ext cx="236717" cy="3190156"/>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9">
            <a:extLst>
              <a:ext uri="{FF2B5EF4-FFF2-40B4-BE49-F238E27FC236}">
                <a16:creationId xmlns:a16="http://schemas.microsoft.com/office/drawing/2014/main" id="{F7A24698-8607-44E6-97E9-796A8054ACDD}"/>
              </a:ext>
            </a:extLst>
          </p:cNvPr>
          <p:cNvSpPr txBox="1"/>
          <p:nvPr/>
        </p:nvSpPr>
        <p:spPr bwMode="gray">
          <a:xfrm flipH="1">
            <a:off x="8741458" y="3145957"/>
            <a:ext cx="840786"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26" name="TextBox 120">
            <a:extLst>
              <a:ext uri="{FF2B5EF4-FFF2-40B4-BE49-F238E27FC236}">
                <a16:creationId xmlns:a16="http://schemas.microsoft.com/office/drawing/2014/main" id="{815EA42D-97DC-4BF7-BA07-390D0AACBA98}"/>
              </a:ext>
            </a:extLst>
          </p:cNvPr>
          <p:cNvSpPr txBox="1"/>
          <p:nvPr/>
        </p:nvSpPr>
        <p:spPr bwMode="gray">
          <a:xfrm>
            <a:off x="8508268" y="4063104"/>
            <a:ext cx="759693" cy="287715"/>
          </a:xfrm>
          <a:prstGeom prst="roundRect">
            <a:avLst>
              <a:gd name="adj" fmla="val 6721"/>
            </a:avLst>
          </a:prstGeom>
          <a:solidFill>
            <a:srgbClr val="FDE397"/>
          </a:solidFill>
          <a:ln w="12700">
            <a:solidFill>
              <a:srgbClr val="FDE397"/>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Payload</a:t>
            </a:r>
          </a:p>
        </p:txBody>
      </p:sp>
      <p:cxnSp>
        <p:nvCxnSpPr>
          <p:cNvPr id="27" name="Connector: Elbow 26">
            <a:extLst>
              <a:ext uri="{FF2B5EF4-FFF2-40B4-BE49-F238E27FC236}">
                <a16:creationId xmlns:a16="http://schemas.microsoft.com/office/drawing/2014/main" id="{3A709547-B457-4515-B4D7-9AF308950A50}"/>
              </a:ext>
            </a:extLst>
          </p:cNvPr>
          <p:cNvCxnSpPr>
            <a:cxnSpLocks/>
            <a:stCxn id="26" idx="3"/>
            <a:endCxn id="33" idx="1"/>
          </p:cNvCxnSpPr>
          <p:nvPr/>
        </p:nvCxnSpPr>
        <p:spPr bwMode="gray">
          <a:xfrm flipH="1">
            <a:off x="8940316" y="4206962"/>
            <a:ext cx="327645" cy="994366"/>
          </a:xfrm>
          <a:prstGeom prst="bentConnector5">
            <a:avLst>
              <a:gd name="adj1" fmla="val -69771"/>
              <a:gd name="adj2" fmla="val 50000"/>
              <a:gd name="adj3" fmla="val 16977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ular Callout 75">
            <a:extLst>
              <a:ext uri="{FF2B5EF4-FFF2-40B4-BE49-F238E27FC236}">
                <a16:creationId xmlns:a16="http://schemas.microsoft.com/office/drawing/2014/main" id="{0D56352C-33F8-454D-947D-9CE7F0610426}"/>
              </a:ext>
            </a:extLst>
          </p:cNvPr>
          <p:cNvSpPr/>
          <p:nvPr/>
        </p:nvSpPr>
        <p:spPr bwMode="gray">
          <a:xfrm>
            <a:off x="7716171" y="4547012"/>
            <a:ext cx="1126806" cy="279543"/>
          </a:xfrm>
          <a:prstGeom prst="wedgeRectCallout">
            <a:avLst>
              <a:gd name="adj1" fmla="val 68012"/>
              <a:gd name="adj2" fmla="val -1911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数据被篡改</a:t>
            </a:r>
          </a:p>
        </p:txBody>
      </p:sp>
      <p:sp>
        <p:nvSpPr>
          <p:cNvPr id="29" name="TextBox 120">
            <a:extLst>
              <a:ext uri="{FF2B5EF4-FFF2-40B4-BE49-F238E27FC236}">
                <a16:creationId xmlns:a16="http://schemas.microsoft.com/office/drawing/2014/main" id="{711F0025-D416-4B16-AF66-42F9522AEBF1}"/>
              </a:ext>
            </a:extLst>
          </p:cNvPr>
          <p:cNvSpPr txBox="1"/>
          <p:nvPr/>
        </p:nvSpPr>
        <p:spPr bwMode="gray">
          <a:xfrm>
            <a:off x="8004212" y="4063104"/>
            <a:ext cx="504056" cy="287715"/>
          </a:xfrm>
          <a:prstGeom prst="roundRect">
            <a:avLst>
              <a:gd name="adj" fmla="val 6721"/>
            </a:avLst>
          </a:prstGeom>
          <a:solidFill>
            <a:srgbClr val="99DFF9"/>
          </a:solidFill>
          <a:ln w="12700">
            <a:solidFill>
              <a:srgbClr val="99DFF9"/>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p>
        </p:txBody>
      </p:sp>
      <p:sp>
        <p:nvSpPr>
          <p:cNvPr id="31" name="TextBox 120">
            <a:extLst>
              <a:ext uri="{FF2B5EF4-FFF2-40B4-BE49-F238E27FC236}">
                <a16:creationId xmlns:a16="http://schemas.microsoft.com/office/drawing/2014/main" id="{332104AA-952D-4F9E-8FBB-BA6BF8FD1DBE}"/>
              </a:ext>
            </a:extLst>
          </p:cNvPr>
          <p:cNvSpPr txBox="1"/>
          <p:nvPr/>
        </p:nvSpPr>
        <p:spPr bwMode="gray">
          <a:xfrm>
            <a:off x="10592891" y="5057469"/>
            <a:ext cx="759693" cy="287715"/>
          </a:xfrm>
          <a:prstGeom prst="roundRect">
            <a:avLst>
              <a:gd name="adj" fmla="val 6721"/>
            </a:avLst>
          </a:prstGeom>
          <a:solidFill>
            <a:srgbClr val="EEB3B8"/>
          </a:solidFill>
          <a:ln w="12700">
            <a:solidFill>
              <a:srgbClr val="EEB3B8"/>
            </a:solidFill>
          </a:ln>
        </p:spPr>
        <p:txBody>
          <a:bodyPr wrap="square" rtlCol="0" anchor="ctr">
            <a:spAutoFit/>
          </a:bodyPr>
          <a:lstStyle/>
          <a:p>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Payload</a:t>
            </a:r>
          </a:p>
        </p:txBody>
      </p:sp>
      <p:sp>
        <p:nvSpPr>
          <p:cNvPr id="32" name="TextBox 120">
            <a:extLst>
              <a:ext uri="{FF2B5EF4-FFF2-40B4-BE49-F238E27FC236}">
                <a16:creationId xmlns:a16="http://schemas.microsoft.com/office/drawing/2014/main" id="{B3B6D4C1-DE95-4C24-95FE-B7D4829EDE46}"/>
              </a:ext>
            </a:extLst>
          </p:cNvPr>
          <p:cNvSpPr txBox="1"/>
          <p:nvPr/>
        </p:nvSpPr>
        <p:spPr bwMode="gray">
          <a:xfrm>
            <a:off x="10092444" y="5057469"/>
            <a:ext cx="504056" cy="287715"/>
          </a:xfrm>
          <a:prstGeom prst="roundRect">
            <a:avLst>
              <a:gd name="adj" fmla="val 6721"/>
            </a:avLst>
          </a:prstGeom>
          <a:solidFill>
            <a:srgbClr val="99DFF9"/>
          </a:solidFill>
          <a:ln w="12700">
            <a:solidFill>
              <a:srgbClr val="99DFF9"/>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a:t>
            </a:r>
          </a:p>
        </p:txBody>
      </p:sp>
      <p:sp>
        <p:nvSpPr>
          <p:cNvPr id="33" name="TextBox 120">
            <a:extLst>
              <a:ext uri="{FF2B5EF4-FFF2-40B4-BE49-F238E27FC236}">
                <a16:creationId xmlns:a16="http://schemas.microsoft.com/office/drawing/2014/main" id="{4848E0F2-FAE4-4D72-9EF0-755605FE36A2}"/>
              </a:ext>
            </a:extLst>
          </p:cNvPr>
          <p:cNvSpPr txBox="1"/>
          <p:nvPr/>
        </p:nvSpPr>
        <p:spPr bwMode="gray">
          <a:xfrm>
            <a:off x="8940316" y="5057470"/>
            <a:ext cx="1156171" cy="287715"/>
          </a:xfrm>
          <a:prstGeom prst="roundRect">
            <a:avLst>
              <a:gd name="adj" fmla="val 6721"/>
            </a:avLst>
          </a:prstGeom>
          <a:solidFill>
            <a:srgbClr val="AFD89C"/>
          </a:solidFill>
          <a:ln w="12700">
            <a:solidFill>
              <a:srgbClr val="AFD89C"/>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Outer Header</a:t>
            </a:r>
          </a:p>
        </p:txBody>
      </p:sp>
      <p:sp>
        <p:nvSpPr>
          <p:cNvPr id="34" name="settings_159654">
            <a:extLst>
              <a:ext uri="{FF2B5EF4-FFF2-40B4-BE49-F238E27FC236}">
                <a16:creationId xmlns:a16="http://schemas.microsoft.com/office/drawing/2014/main" id="{1AFAC610-68C2-4B7A-83F0-675FAF7D0ED1}"/>
              </a:ext>
            </a:extLst>
          </p:cNvPr>
          <p:cNvSpPr>
            <a:spLocks noChangeAspect="1"/>
          </p:cNvSpPr>
          <p:nvPr/>
        </p:nvSpPr>
        <p:spPr bwMode="gray">
          <a:xfrm>
            <a:off x="9068862" y="4532591"/>
            <a:ext cx="343055" cy="342975"/>
          </a:xfrm>
          <a:custGeom>
            <a:avLst/>
            <a:gdLst>
              <a:gd name="connsiteX0" fmla="*/ 385615 w 606086"/>
              <a:gd name="connsiteY0" fmla="*/ 371718 h 605945"/>
              <a:gd name="connsiteX1" fmla="*/ 395686 w 606086"/>
              <a:gd name="connsiteY1" fmla="*/ 375889 h 605945"/>
              <a:gd name="connsiteX2" fmla="*/ 527123 w 606086"/>
              <a:gd name="connsiteY2" fmla="*/ 507241 h 605945"/>
              <a:gd name="connsiteX3" fmla="*/ 518398 w 606086"/>
              <a:gd name="connsiteY3" fmla="*/ 516048 h 605945"/>
              <a:gd name="connsiteX4" fmla="*/ 507073 w 606086"/>
              <a:gd name="connsiteY4" fmla="*/ 527264 h 605945"/>
              <a:gd name="connsiteX5" fmla="*/ 375543 w 606086"/>
              <a:gd name="connsiteY5" fmla="*/ 395912 h 605945"/>
              <a:gd name="connsiteX6" fmla="*/ 375543 w 606086"/>
              <a:gd name="connsiteY6" fmla="*/ 375889 h 605945"/>
              <a:gd name="connsiteX7" fmla="*/ 385615 w 606086"/>
              <a:gd name="connsiteY7" fmla="*/ 371718 h 605945"/>
              <a:gd name="connsiteX8" fmla="*/ 274076 w 606086"/>
              <a:gd name="connsiteY8" fmla="*/ 0 h 605945"/>
              <a:gd name="connsiteX9" fmla="*/ 302393 w 606086"/>
              <a:gd name="connsiteY9" fmla="*/ 0 h 605945"/>
              <a:gd name="connsiteX10" fmla="*/ 330711 w 606086"/>
              <a:gd name="connsiteY10" fmla="*/ 0 h 605945"/>
              <a:gd name="connsiteX11" fmla="*/ 352158 w 606086"/>
              <a:gd name="connsiteY11" fmla="*/ 18076 h 605945"/>
              <a:gd name="connsiteX12" fmla="*/ 361721 w 606086"/>
              <a:gd name="connsiteY12" fmla="*/ 74434 h 605945"/>
              <a:gd name="connsiteX13" fmla="*/ 422719 w 606086"/>
              <a:gd name="connsiteY13" fmla="*/ 99647 h 605945"/>
              <a:gd name="connsiteX14" fmla="*/ 469420 w 606086"/>
              <a:gd name="connsiteY14" fmla="*/ 66462 h 605945"/>
              <a:gd name="connsiteX15" fmla="*/ 497273 w 606086"/>
              <a:gd name="connsiteY15" fmla="*/ 68687 h 605945"/>
              <a:gd name="connsiteX16" fmla="*/ 517141 w 606086"/>
              <a:gd name="connsiteY16" fmla="*/ 88616 h 605945"/>
              <a:gd name="connsiteX17" fmla="*/ 537103 w 606086"/>
              <a:gd name="connsiteY17" fmla="*/ 108546 h 605945"/>
              <a:gd name="connsiteX18" fmla="*/ 539424 w 606086"/>
              <a:gd name="connsiteY18" fmla="*/ 136354 h 605945"/>
              <a:gd name="connsiteX19" fmla="*/ 506279 w 606086"/>
              <a:gd name="connsiteY19" fmla="*/ 182887 h 605945"/>
              <a:gd name="connsiteX20" fmla="*/ 531532 w 606086"/>
              <a:gd name="connsiteY20" fmla="*/ 243880 h 605945"/>
              <a:gd name="connsiteX21" fmla="*/ 587982 w 606086"/>
              <a:gd name="connsiteY21" fmla="*/ 253242 h 605945"/>
              <a:gd name="connsiteX22" fmla="*/ 606086 w 606086"/>
              <a:gd name="connsiteY22" fmla="*/ 274654 h 605945"/>
              <a:gd name="connsiteX23" fmla="*/ 606086 w 606086"/>
              <a:gd name="connsiteY23" fmla="*/ 302926 h 605945"/>
              <a:gd name="connsiteX24" fmla="*/ 606086 w 606086"/>
              <a:gd name="connsiteY24" fmla="*/ 331198 h 605945"/>
              <a:gd name="connsiteX25" fmla="*/ 587982 w 606086"/>
              <a:gd name="connsiteY25" fmla="*/ 352611 h 605945"/>
              <a:gd name="connsiteX26" fmla="*/ 531532 w 606086"/>
              <a:gd name="connsiteY26" fmla="*/ 362158 h 605945"/>
              <a:gd name="connsiteX27" fmla="*/ 527540 w 606086"/>
              <a:gd name="connsiteY27" fmla="*/ 375321 h 605945"/>
              <a:gd name="connsiteX28" fmla="*/ 524105 w 606086"/>
              <a:gd name="connsiteY28" fmla="*/ 385146 h 605945"/>
              <a:gd name="connsiteX29" fmla="*/ 522341 w 606086"/>
              <a:gd name="connsiteY29" fmla="*/ 389781 h 605945"/>
              <a:gd name="connsiteX30" fmla="*/ 519555 w 606086"/>
              <a:gd name="connsiteY30" fmla="*/ 396641 h 605945"/>
              <a:gd name="connsiteX31" fmla="*/ 515563 w 606086"/>
              <a:gd name="connsiteY31" fmla="*/ 405261 h 605945"/>
              <a:gd name="connsiteX32" fmla="*/ 513706 w 606086"/>
              <a:gd name="connsiteY32" fmla="*/ 408969 h 605945"/>
              <a:gd name="connsiteX33" fmla="*/ 507021 w 606086"/>
              <a:gd name="connsiteY33" fmla="*/ 421297 h 605945"/>
              <a:gd name="connsiteX34" fmla="*/ 500615 w 606086"/>
              <a:gd name="connsiteY34" fmla="*/ 431679 h 605945"/>
              <a:gd name="connsiteX35" fmla="*/ 431632 w 606086"/>
              <a:gd name="connsiteY35" fmla="*/ 362900 h 605945"/>
              <a:gd name="connsiteX36" fmla="*/ 413528 w 606086"/>
              <a:gd name="connsiteY36" fmla="*/ 310249 h 605945"/>
              <a:gd name="connsiteX37" fmla="*/ 381496 w 606086"/>
              <a:gd name="connsiteY37" fmla="*/ 218760 h 605945"/>
              <a:gd name="connsiteX38" fmla="*/ 267855 w 606086"/>
              <a:gd name="connsiteY38" fmla="*/ 191415 h 605945"/>
              <a:gd name="connsiteX39" fmla="*/ 266463 w 606086"/>
              <a:gd name="connsiteY39" fmla="*/ 197347 h 605945"/>
              <a:gd name="connsiteX40" fmla="*/ 314277 w 606086"/>
              <a:gd name="connsiteY40" fmla="*/ 245085 h 605945"/>
              <a:gd name="connsiteX41" fmla="*/ 314184 w 606086"/>
              <a:gd name="connsiteY41" fmla="*/ 294306 h 605945"/>
              <a:gd name="connsiteX42" fmla="*/ 293480 w 606086"/>
              <a:gd name="connsiteY42" fmla="*/ 314884 h 605945"/>
              <a:gd name="connsiteX43" fmla="*/ 244180 w 606086"/>
              <a:gd name="connsiteY43" fmla="*/ 315069 h 605945"/>
              <a:gd name="connsiteX44" fmla="*/ 198779 w 606086"/>
              <a:gd name="connsiteY44" fmla="*/ 269649 h 605945"/>
              <a:gd name="connsiteX45" fmla="*/ 192837 w 606086"/>
              <a:gd name="connsiteY45" fmla="*/ 271317 h 605945"/>
              <a:gd name="connsiteX46" fmla="*/ 222176 w 606086"/>
              <a:gd name="connsiteY46" fmla="*/ 377824 h 605945"/>
              <a:gd name="connsiteX47" fmla="*/ 309078 w 606086"/>
              <a:gd name="connsiteY47" fmla="*/ 410359 h 605945"/>
              <a:gd name="connsiteX48" fmla="*/ 358564 w 606086"/>
              <a:gd name="connsiteY48" fmla="*/ 428342 h 605945"/>
              <a:gd name="connsiteX49" fmla="*/ 431354 w 606086"/>
              <a:gd name="connsiteY49" fmla="*/ 501015 h 605945"/>
              <a:gd name="connsiteX50" fmla="*/ 423369 w 606086"/>
              <a:gd name="connsiteY50" fmla="*/ 506113 h 605945"/>
              <a:gd name="connsiteX51" fmla="*/ 410185 w 606086"/>
              <a:gd name="connsiteY51" fmla="*/ 513250 h 605945"/>
              <a:gd name="connsiteX52" fmla="*/ 409814 w 606086"/>
              <a:gd name="connsiteY52" fmla="*/ 513529 h 605945"/>
              <a:gd name="connsiteX53" fmla="*/ 396351 w 606086"/>
              <a:gd name="connsiteY53" fmla="*/ 519832 h 605945"/>
              <a:gd name="connsiteX54" fmla="*/ 393752 w 606086"/>
              <a:gd name="connsiteY54" fmla="*/ 520944 h 605945"/>
              <a:gd name="connsiteX55" fmla="*/ 382146 w 606086"/>
              <a:gd name="connsiteY55" fmla="*/ 525393 h 605945"/>
              <a:gd name="connsiteX56" fmla="*/ 378247 w 606086"/>
              <a:gd name="connsiteY56" fmla="*/ 526784 h 605945"/>
              <a:gd name="connsiteX57" fmla="*/ 363763 w 606086"/>
              <a:gd name="connsiteY57" fmla="*/ 531048 h 605945"/>
              <a:gd name="connsiteX58" fmla="*/ 354107 w 606086"/>
              <a:gd name="connsiteY58" fmla="*/ 587962 h 605945"/>
              <a:gd name="connsiteX59" fmla="*/ 332753 w 606086"/>
              <a:gd name="connsiteY59" fmla="*/ 605945 h 605945"/>
              <a:gd name="connsiteX60" fmla="*/ 304343 w 606086"/>
              <a:gd name="connsiteY60" fmla="*/ 605945 h 605945"/>
              <a:gd name="connsiteX61" fmla="*/ 276025 w 606086"/>
              <a:gd name="connsiteY61" fmla="*/ 605945 h 605945"/>
              <a:gd name="connsiteX62" fmla="*/ 254578 w 606086"/>
              <a:gd name="connsiteY62" fmla="*/ 587962 h 605945"/>
              <a:gd name="connsiteX63" fmla="*/ 245108 w 606086"/>
              <a:gd name="connsiteY63" fmla="*/ 532160 h 605945"/>
              <a:gd name="connsiteX64" fmla="*/ 184017 w 606086"/>
              <a:gd name="connsiteY64" fmla="*/ 507503 h 605945"/>
              <a:gd name="connsiteX65" fmla="*/ 137131 w 606086"/>
              <a:gd name="connsiteY65" fmla="*/ 540874 h 605945"/>
              <a:gd name="connsiteX66" fmla="*/ 109278 w 606086"/>
              <a:gd name="connsiteY66" fmla="*/ 538649 h 605945"/>
              <a:gd name="connsiteX67" fmla="*/ 89316 w 606086"/>
              <a:gd name="connsiteY67" fmla="*/ 518719 h 605945"/>
              <a:gd name="connsiteX68" fmla="*/ 69447 w 606086"/>
              <a:gd name="connsiteY68" fmla="*/ 498790 h 605945"/>
              <a:gd name="connsiteX69" fmla="*/ 67033 w 606086"/>
              <a:gd name="connsiteY69" fmla="*/ 470982 h 605945"/>
              <a:gd name="connsiteX70" fmla="*/ 100457 w 606086"/>
              <a:gd name="connsiteY70" fmla="*/ 425191 h 605945"/>
              <a:gd name="connsiteX71" fmla="*/ 75018 w 606086"/>
              <a:gd name="connsiteY71" fmla="*/ 364568 h 605945"/>
              <a:gd name="connsiteX72" fmla="*/ 18012 w 606086"/>
              <a:gd name="connsiteY72" fmla="*/ 354928 h 605945"/>
              <a:gd name="connsiteX73" fmla="*/ 0 w 606086"/>
              <a:gd name="connsiteY73" fmla="*/ 333608 h 605945"/>
              <a:gd name="connsiteX74" fmla="*/ 0 w 606086"/>
              <a:gd name="connsiteY74" fmla="*/ 305244 h 605945"/>
              <a:gd name="connsiteX75" fmla="*/ 0 w 606086"/>
              <a:gd name="connsiteY75" fmla="*/ 276972 h 605945"/>
              <a:gd name="connsiteX76" fmla="*/ 18012 w 606086"/>
              <a:gd name="connsiteY76" fmla="*/ 255559 h 605945"/>
              <a:gd name="connsiteX77" fmla="*/ 73904 w 606086"/>
              <a:gd name="connsiteY77" fmla="*/ 246104 h 605945"/>
              <a:gd name="connsiteX78" fmla="*/ 99343 w 606086"/>
              <a:gd name="connsiteY78" fmla="*/ 183628 h 605945"/>
              <a:gd name="connsiteX79" fmla="*/ 66198 w 606086"/>
              <a:gd name="connsiteY79" fmla="*/ 137096 h 605945"/>
              <a:gd name="connsiteX80" fmla="*/ 68426 w 606086"/>
              <a:gd name="connsiteY80" fmla="*/ 109287 h 605945"/>
              <a:gd name="connsiteX81" fmla="*/ 88388 w 606086"/>
              <a:gd name="connsiteY81" fmla="*/ 89358 h 605945"/>
              <a:gd name="connsiteX82" fmla="*/ 108163 w 606086"/>
              <a:gd name="connsiteY82" fmla="*/ 69243 h 605945"/>
              <a:gd name="connsiteX83" fmla="*/ 136017 w 606086"/>
              <a:gd name="connsiteY83" fmla="*/ 66833 h 605945"/>
              <a:gd name="connsiteX84" fmla="*/ 182717 w 606086"/>
              <a:gd name="connsiteY84" fmla="*/ 100018 h 605945"/>
              <a:gd name="connsiteX85" fmla="*/ 243716 w 606086"/>
              <a:gd name="connsiteY85" fmla="*/ 74805 h 605945"/>
              <a:gd name="connsiteX86" fmla="*/ 253093 w 606086"/>
              <a:gd name="connsiteY86" fmla="*/ 18446 h 605945"/>
              <a:gd name="connsiteX87" fmla="*/ 274076 w 606086"/>
              <a:gd name="connsiteY87" fmla="*/ 0 h 605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606086" h="605945">
                <a:moveTo>
                  <a:pt x="385615" y="371718"/>
                </a:moveTo>
                <a:cubicBezTo>
                  <a:pt x="389258" y="371718"/>
                  <a:pt x="392901" y="373108"/>
                  <a:pt x="395686" y="375889"/>
                </a:cubicBezTo>
                <a:lnTo>
                  <a:pt x="527123" y="507241"/>
                </a:lnTo>
                <a:lnTo>
                  <a:pt x="518398" y="516048"/>
                </a:lnTo>
                <a:lnTo>
                  <a:pt x="507073" y="527264"/>
                </a:lnTo>
                <a:lnTo>
                  <a:pt x="375543" y="395912"/>
                </a:lnTo>
                <a:cubicBezTo>
                  <a:pt x="369974" y="390443"/>
                  <a:pt x="369974" y="381451"/>
                  <a:pt x="375543" y="375889"/>
                </a:cubicBezTo>
                <a:cubicBezTo>
                  <a:pt x="378328" y="373108"/>
                  <a:pt x="381971" y="371718"/>
                  <a:pt x="385615" y="371718"/>
                </a:cubicBezTo>
                <a:close/>
                <a:moveTo>
                  <a:pt x="274076" y="0"/>
                </a:moveTo>
                <a:lnTo>
                  <a:pt x="302393" y="0"/>
                </a:lnTo>
                <a:lnTo>
                  <a:pt x="330711" y="0"/>
                </a:lnTo>
                <a:cubicBezTo>
                  <a:pt x="341388" y="0"/>
                  <a:pt x="350394" y="7508"/>
                  <a:pt x="352158" y="18076"/>
                </a:cubicBezTo>
                <a:lnTo>
                  <a:pt x="361721" y="74434"/>
                </a:lnTo>
                <a:cubicBezTo>
                  <a:pt x="383353" y="80088"/>
                  <a:pt x="403779" y="88338"/>
                  <a:pt x="422719" y="99647"/>
                </a:cubicBezTo>
                <a:lnTo>
                  <a:pt x="469420" y="66462"/>
                </a:lnTo>
                <a:cubicBezTo>
                  <a:pt x="478054" y="60344"/>
                  <a:pt x="489845" y="61271"/>
                  <a:pt x="497273" y="68687"/>
                </a:cubicBezTo>
                <a:lnTo>
                  <a:pt x="517141" y="88616"/>
                </a:lnTo>
                <a:lnTo>
                  <a:pt x="537103" y="108546"/>
                </a:lnTo>
                <a:cubicBezTo>
                  <a:pt x="544530" y="115961"/>
                  <a:pt x="545552" y="127641"/>
                  <a:pt x="539424" y="136354"/>
                </a:cubicBezTo>
                <a:lnTo>
                  <a:pt x="506279" y="182887"/>
                </a:lnTo>
                <a:cubicBezTo>
                  <a:pt x="517420" y="201796"/>
                  <a:pt x="525962" y="222189"/>
                  <a:pt x="531532" y="243880"/>
                </a:cubicBezTo>
                <a:lnTo>
                  <a:pt x="587982" y="253242"/>
                </a:lnTo>
                <a:cubicBezTo>
                  <a:pt x="598380" y="255003"/>
                  <a:pt x="606086" y="264087"/>
                  <a:pt x="606086" y="274654"/>
                </a:cubicBezTo>
                <a:lnTo>
                  <a:pt x="606086" y="302926"/>
                </a:lnTo>
                <a:lnTo>
                  <a:pt x="606086" y="331198"/>
                </a:lnTo>
                <a:cubicBezTo>
                  <a:pt x="606086" y="341858"/>
                  <a:pt x="598473" y="350849"/>
                  <a:pt x="587982" y="352611"/>
                </a:cubicBezTo>
                <a:lnTo>
                  <a:pt x="531532" y="362158"/>
                </a:lnTo>
                <a:cubicBezTo>
                  <a:pt x="530325" y="366608"/>
                  <a:pt x="528933" y="370871"/>
                  <a:pt x="527540" y="375321"/>
                </a:cubicBezTo>
                <a:cubicBezTo>
                  <a:pt x="526426" y="378658"/>
                  <a:pt x="525312" y="381902"/>
                  <a:pt x="524105" y="385146"/>
                </a:cubicBezTo>
                <a:cubicBezTo>
                  <a:pt x="523455" y="386722"/>
                  <a:pt x="522991" y="388298"/>
                  <a:pt x="522341" y="389781"/>
                </a:cubicBezTo>
                <a:cubicBezTo>
                  <a:pt x="521505" y="392006"/>
                  <a:pt x="520484" y="394416"/>
                  <a:pt x="519555" y="396641"/>
                </a:cubicBezTo>
                <a:cubicBezTo>
                  <a:pt x="518163" y="399607"/>
                  <a:pt x="516956" y="402388"/>
                  <a:pt x="515563" y="405261"/>
                </a:cubicBezTo>
                <a:lnTo>
                  <a:pt x="513706" y="408969"/>
                </a:lnTo>
                <a:cubicBezTo>
                  <a:pt x="511571" y="413140"/>
                  <a:pt x="509343" y="417219"/>
                  <a:pt x="507021" y="421297"/>
                </a:cubicBezTo>
                <a:cubicBezTo>
                  <a:pt x="504886" y="424820"/>
                  <a:pt x="502843" y="428249"/>
                  <a:pt x="500615" y="431679"/>
                </a:cubicBezTo>
                <a:lnTo>
                  <a:pt x="431632" y="362900"/>
                </a:lnTo>
                <a:cubicBezTo>
                  <a:pt x="417798" y="348996"/>
                  <a:pt x="411485" y="329622"/>
                  <a:pt x="413528" y="310249"/>
                </a:cubicBezTo>
                <a:cubicBezTo>
                  <a:pt x="417148" y="277621"/>
                  <a:pt x="406471" y="243694"/>
                  <a:pt x="381496" y="218760"/>
                </a:cubicBezTo>
                <a:cubicBezTo>
                  <a:pt x="350765" y="188078"/>
                  <a:pt x="306571" y="179086"/>
                  <a:pt x="267855" y="191415"/>
                </a:cubicBezTo>
                <a:cubicBezTo>
                  <a:pt x="265348" y="192342"/>
                  <a:pt x="264606" y="195493"/>
                  <a:pt x="266463" y="197347"/>
                </a:cubicBezTo>
                <a:lnTo>
                  <a:pt x="314277" y="245085"/>
                </a:lnTo>
                <a:cubicBezTo>
                  <a:pt x="327740" y="258526"/>
                  <a:pt x="327740" y="280680"/>
                  <a:pt x="314184" y="294306"/>
                </a:cubicBezTo>
                <a:lnTo>
                  <a:pt x="293480" y="314884"/>
                </a:lnTo>
                <a:cubicBezTo>
                  <a:pt x="280018" y="328510"/>
                  <a:pt x="257735" y="328510"/>
                  <a:pt x="244180" y="315069"/>
                </a:cubicBezTo>
                <a:lnTo>
                  <a:pt x="198779" y="269649"/>
                </a:lnTo>
                <a:cubicBezTo>
                  <a:pt x="196922" y="267702"/>
                  <a:pt x="193487" y="268537"/>
                  <a:pt x="192837" y="271317"/>
                </a:cubicBezTo>
                <a:cubicBezTo>
                  <a:pt x="183553" y="308210"/>
                  <a:pt x="193301" y="348996"/>
                  <a:pt x="222176" y="377824"/>
                </a:cubicBezTo>
                <a:cubicBezTo>
                  <a:pt x="245944" y="401646"/>
                  <a:pt x="277882" y="412399"/>
                  <a:pt x="309078" y="410359"/>
                </a:cubicBezTo>
                <a:cubicBezTo>
                  <a:pt x="327554" y="409062"/>
                  <a:pt x="345566" y="415365"/>
                  <a:pt x="358564" y="428342"/>
                </a:cubicBezTo>
                <a:lnTo>
                  <a:pt x="431354" y="501015"/>
                </a:lnTo>
                <a:cubicBezTo>
                  <a:pt x="428754" y="502776"/>
                  <a:pt x="426061" y="504537"/>
                  <a:pt x="423369" y="506113"/>
                </a:cubicBezTo>
                <a:cubicBezTo>
                  <a:pt x="419098" y="508616"/>
                  <a:pt x="414642" y="511026"/>
                  <a:pt x="410185" y="513250"/>
                </a:cubicBezTo>
                <a:cubicBezTo>
                  <a:pt x="410092" y="513436"/>
                  <a:pt x="409999" y="513436"/>
                  <a:pt x="409814" y="513529"/>
                </a:cubicBezTo>
                <a:cubicBezTo>
                  <a:pt x="405357" y="515753"/>
                  <a:pt x="400901" y="517885"/>
                  <a:pt x="396351" y="519832"/>
                </a:cubicBezTo>
                <a:lnTo>
                  <a:pt x="393752" y="520944"/>
                </a:lnTo>
                <a:cubicBezTo>
                  <a:pt x="389945" y="522520"/>
                  <a:pt x="386046" y="524003"/>
                  <a:pt x="382146" y="525393"/>
                </a:cubicBezTo>
                <a:cubicBezTo>
                  <a:pt x="380846" y="525857"/>
                  <a:pt x="379547" y="526413"/>
                  <a:pt x="378247" y="526784"/>
                </a:cubicBezTo>
                <a:cubicBezTo>
                  <a:pt x="373605" y="528360"/>
                  <a:pt x="368777" y="529843"/>
                  <a:pt x="363763" y="531048"/>
                </a:cubicBezTo>
                <a:lnTo>
                  <a:pt x="354107" y="587962"/>
                </a:lnTo>
                <a:cubicBezTo>
                  <a:pt x="352436" y="598344"/>
                  <a:pt x="343245" y="605945"/>
                  <a:pt x="332753" y="605945"/>
                </a:cubicBezTo>
                <a:lnTo>
                  <a:pt x="304343" y="605945"/>
                </a:lnTo>
                <a:lnTo>
                  <a:pt x="276025" y="605945"/>
                </a:lnTo>
                <a:cubicBezTo>
                  <a:pt x="265348" y="605945"/>
                  <a:pt x="256435" y="598437"/>
                  <a:pt x="254578" y="587962"/>
                </a:cubicBezTo>
                <a:lnTo>
                  <a:pt x="245108" y="532160"/>
                </a:lnTo>
                <a:cubicBezTo>
                  <a:pt x="223383" y="526784"/>
                  <a:pt x="202957" y="518441"/>
                  <a:pt x="184017" y="507503"/>
                </a:cubicBezTo>
                <a:lnTo>
                  <a:pt x="137131" y="540874"/>
                </a:lnTo>
                <a:cubicBezTo>
                  <a:pt x="128496" y="546991"/>
                  <a:pt x="116705" y="546064"/>
                  <a:pt x="109278" y="538649"/>
                </a:cubicBezTo>
                <a:lnTo>
                  <a:pt x="89316" y="518719"/>
                </a:lnTo>
                <a:lnTo>
                  <a:pt x="69447" y="498790"/>
                </a:lnTo>
                <a:cubicBezTo>
                  <a:pt x="62020" y="491375"/>
                  <a:pt x="60999" y="479695"/>
                  <a:pt x="67033" y="470982"/>
                </a:cubicBezTo>
                <a:lnTo>
                  <a:pt x="100457" y="425191"/>
                </a:lnTo>
                <a:cubicBezTo>
                  <a:pt x="89595" y="406652"/>
                  <a:pt x="80589" y="386259"/>
                  <a:pt x="75018" y="364568"/>
                </a:cubicBezTo>
                <a:lnTo>
                  <a:pt x="18012" y="354928"/>
                </a:lnTo>
                <a:cubicBezTo>
                  <a:pt x="7613" y="353259"/>
                  <a:pt x="0" y="344083"/>
                  <a:pt x="0" y="333608"/>
                </a:cubicBezTo>
                <a:lnTo>
                  <a:pt x="0" y="305244"/>
                </a:lnTo>
                <a:lnTo>
                  <a:pt x="0" y="276972"/>
                </a:lnTo>
                <a:cubicBezTo>
                  <a:pt x="0" y="266312"/>
                  <a:pt x="7613" y="257321"/>
                  <a:pt x="18012" y="255559"/>
                </a:cubicBezTo>
                <a:lnTo>
                  <a:pt x="73904" y="246104"/>
                </a:lnTo>
                <a:cubicBezTo>
                  <a:pt x="79196" y="223672"/>
                  <a:pt x="87831" y="202816"/>
                  <a:pt x="99343" y="183628"/>
                </a:cubicBezTo>
                <a:lnTo>
                  <a:pt x="66198" y="137096"/>
                </a:lnTo>
                <a:cubicBezTo>
                  <a:pt x="59977" y="128382"/>
                  <a:pt x="60999" y="116703"/>
                  <a:pt x="68426" y="109287"/>
                </a:cubicBezTo>
                <a:lnTo>
                  <a:pt x="88388" y="89358"/>
                </a:lnTo>
                <a:lnTo>
                  <a:pt x="108163" y="69243"/>
                </a:lnTo>
                <a:cubicBezTo>
                  <a:pt x="115591" y="61827"/>
                  <a:pt x="127382" y="60808"/>
                  <a:pt x="136017" y="66833"/>
                </a:cubicBezTo>
                <a:lnTo>
                  <a:pt x="182717" y="100018"/>
                </a:lnTo>
                <a:cubicBezTo>
                  <a:pt x="201657" y="88894"/>
                  <a:pt x="222083" y="80366"/>
                  <a:pt x="243716" y="74805"/>
                </a:cubicBezTo>
                <a:lnTo>
                  <a:pt x="253093" y="18446"/>
                </a:lnTo>
                <a:cubicBezTo>
                  <a:pt x="254857" y="8157"/>
                  <a:pt x="263863" y="464"/>
                  <a:pt x="274076" y="0"/>
                </a:cubicBezTo>
                <a:close/>
              </a:path>
            </a:pathLst>
          </a:custGeom>
          <a:solidFill>
            <a:srgbClr val="56C4D2"/>
          </a:solidFill>
          <a:ln>
            <a:solidFill>
              <a:srgbClr val="56C4D2"/>
            </a:solidFill>
          </a:ln>
        </p:spPr>
      </p:sp>
      <p:sp>
        <p:nvSpPr>
          <p:cNvPr id="35" name="Rectangular Callout 75">
            <a:extLst>
              <a:ext uri="{FF2B5EF4-FFF2-40B4-BE49-F238E27FC236}">
                <a16:creationId xmlns:a16="http://schemas.microsoft.com/office/drawing/2014/main" id="{4D71216E-1DC7-4DE4-8E10-8E500F51817F}"/>
              </a:ext>
            </a:extLst>
          </p:cNvPr>
          <p:cNvSpPr/>
          <p:nvPr/>
        </p:nvSpPr>
        <p:spPr bwMode="gray">
          <a:xfrm>
            <a:off x="7241261" y="3681028"/>
            <a:ext cx="1500197" cy="297170"/>
          </a:xfrm>
          <a:prstGeom prst="wedgeRectCallout">
            <a:avLst>
              <a:gd name="adj1" fmla="val 23709"/>
              <a:gd name="adj2" fmla="val 7806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Huawei Sans" panose="020C0503030203020204" pitchFamily="34" charset="0"/>
                <a:ea typeface="方正兰亭黑简体" panose="02000000000000000000" pitchFamily="2" charset="-122"/>
              </a:rPr>
              <a:t>C=1, </a:t>
            </a:r>
            <a:r>
              <a:rPr lang="en-US" altLang="zh-CN" sz="1200" dirty="0">
                <a:solidFill>
                  <a:srgbClr val="C7000B"/>
                </a:solidFill>
                <a:latin typeface="Huawei Sans" panose="020C0503030203020204" pitchFamily="34" charset="0"/>
                <a:ea typeface="方正兰亭黑简体" panose="02000000000000000000" pitchFamily="2" charset="-122"/>
              </a:rPr>
              <a:t>Checksum=A</a:t>
            </a:r>
            <a:endParaRPr lang="zh-CN" altLang="en-US" sz="1200" dirty="0">
              <a:solidFill>
                <a:srgbClr val="C7000B"/>
              </a:solidFill>
              <a:latin typeface="Huawei Sans" panose="020C0503030203020204" pitchFamily="34" charset="0"/>
              <a:ea typeface="方正兰亭黑简体" panose="02000000000000000000" pitchFamily="2" charset="-122"/>
            </a:endParaRPr>
          </a:p>
        </p:txBody>
      </p:sp>
      <p:sp>
        <p:nvSpPr>
          <p:cNvPr id="36" name="Rectangular Callout 75">
            <a:extLst>
              <a:ext uri="{FF2B5EF4-FFF2-40B4-BE49-F238E27FC236}">
                <a16:creationId xmlns:a16="http://schemas.microsoft.com/office/drawing/2014/main" id="{93F8C93E-C5A4-4726-B08A-1001D77D6A31}"/>
              </a:ext>
            </a:extLst>
          </p:cNvPr>
          <p:cNvSpPr/>
          <p:nvPr/>
        </p:nvSpPr>
        <p:spPr bwMode="gray">
          <a:xfrm>
            <a:off x="9326552" y="5433632"/>
            <a:ext cx="1429624" cy="297170"/>
          </a:xfrm>
          <a:prstGeom prst="wedgeRectCallout">
            <a:avLst>
              <a:gd name="adj1" fmla="val 21008"/>
              <a:gd name="adj2" fmla="val -10655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Huawei Sans" panose="020C0503030203020204" pitchFamily="34" charset="0"/>
                <a:ea typeface="方正兰亭黑简体" panose="02000000000000000000" pitchFamily="2" charset="-122"/>
              </a:rPr>
              <a:t>C=1, </a:t>
            </a:r>
            <a:r>
              <a:rPr lang="en-US" altLang="zh-CN" sz="1200" dirty="0">
                <a:solidFill>
                  <a:srgbClr val="C7000B"/>
                </a:solidFill>
                <a:latin typeface="Huawei Sans" panose="020C0503030203020204" pitchFamily="34" charset="0"/>
                <a:ea typeface="方正兰亭黑简体" panose="02000000000000000000" pitchFamily="2" charset="-122"/>
              </a:rPr>
              <a:t>Checksum=B</a:t>
            </a:r>
            <a:endParaRPr lang="zh-CN" altLang="en-US" sz="1200" dirty="0">
              <a:solidFill>
                <a:srgbClr val="C7000B"/>
              </a:solidFill>
              <a:latin typeface="Huawei Sans" panose="020C0503030203020204" pitchFamily="34" charset="0"/>
              <a:ea typeface="方正兰亭黑简体" panose="02000000000000000000" pitchFamily="2" charset="-122"/>
            </a:endParaRPr>
          </a:p>
        </p:txBody>
      </p:sp>
      <p:sp>
        <p:nvSpPr>
          <p:cNvPr id="37" name="十字形 19">
            <a:extLst>
              <a:ext uri="{FF2B5EF4-FFF2-40B4-BE49-F238E27FC236}">
                <a16:creationId xmlns:a16="http://schemas.microsoft.com/office/drawing/2014/main" id="{5169088F-047D-42BF-98D0-9A65C4F4B730}"/>
              </a:ext>
            </a:extLst>
          </p:cNvPr>
          <p:cNvSpPr/>
          <p:nvPr/>
        </p:nvSpPr>
        <p:spPr bwMode="gray">
          <a:xfrm rot="2785165">
            <a:off x="10935963" y="4890526"/>
            <a:ext cx="254683" cy="254683"/>
          </a:xfrm>
          <a:prstGeom prst="plus">
            <a:avLst>
              <a:gd name="adj" fmla="val 39697"/>
            </a:avLst>
          </a:prstGeom>
          <a:solidFill>
            <a:srgbClr val="D33941"/>
          </a:solidFill>
          <a:ln>
            <a:solidFill>
              <a:srgbClr val="D339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dirty="0">
              <a:solidFill>
                <a:prstClr val="white"/>
              </a:solidFill>
            </a:endParaRPr>
          </a:p>
        </p:txBody>
      </p:sp>
      <p:sp>
        <p:nvSpPr>
          <p:cNvPr id="38" name="Rectangular Callout 75">
            <a:extLst>
              <a:ext uri="{FF2B5EF4-FFF2-40B4-BE49-F238E27FC236}">
                <a16:creationId xmlns:a16="http://schemas.microsoft.com/office/drawing/2014/main" id="{CF0206ED-DCE6-4AC9-B50B-0DDF510F98CF}"/>
              </a:ext>
            </a:extLst>
          </p:cNvPr>
          <p:cNvSpPr/>
          <p:nvPr/>
        </p:nvSpPr>
        <p:spPr bwMode="gray">
          <a:xfrm>
            <a:off x="10087021" y="4358247"/>
            <a:ext cx="1126806" cy="440976"/>
          </a:xfrm>
          <a:prstGeom prst="wedgeRectCallout">
            <a:avLst>
              <a:gd name="adj1" fmla="val 26317"/>
              <a:gd name="adj2" fmla="val 8038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Huawei Sans" panose="020C0503030203020204" pitchFamily="34" charset="0"/>
                <a:ea typeface="方正兰亭黑简体" panose="02000000000000000000" pitchFamily="2" charset="-122"/>
              </a:rPr>
              <a:t>校验失败，丢弃数据</a:t>
            </a:r>
          </a:p>
        </p:txBody>
      </p:sp>
      <p:cxnSp>
        <p:nvCxnSpPr>
          <p:cNvPr id="5" name="Connector: Elbow 4">
            <a:extLst>
              <a:ext uri="{FF2B5EF4-FFF2-40B4-BE49-F238E27FC236}">
                <a16:creationId xmlns:a16="http://schemas.microsoft.com/office/drawing/2014/main" id="{AA2029A2-93BA-4170-A500-5FEC1626552F}"/>
              </a:ext>
            </a:extLst>
          </p:cNvPr>
          <p:cNvCxnSpPr>
            <a:cxnSpLocks/>
            <a:stCxn id="35" idx="1"/>
            <a:endCxn id="36" idx="2"/>
          </p:cNvCxnSpPr>
          <p:nvPr/>
        </p:nvCxnSpPr>
        <p:spPr bwMode="gray">
          <a:xfrm rot="10800000" flipH="1" flipV="1">
            <a:off x="7241260" y="3829612"/>
            <a:ext cx="2800103" cy="1901189"/>
          </a:xfrm>
          <a:prstGeom prst="bentConnector4">
            <a:avLst>
              <a:gd name="adj1" fmla="val -8164"/>
              <a:gd name="adj2" fmla="val 112024"/>
            </a:avLst>
          </a:prstGeom>
          <a:ln w="19050">
            <a:solidFill>
              <a:srgbClr val="E28189"/>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76D88D1-22F9-47AE-B9A2-835DB7AAB593}"/>
              </a:ext>
            </a:extLst>
          </p:cNvPr>
          <p:cNvSpPr txBox="1"/>
          <p:nvPr/>
        </p:nvSpPr>
        <p:spPr bwMode="gray">
          <a:xfrm>
            <a:off x="7631617" y="5774837"/>
            <a:ext cx="1359668" cy="276999"/>
          </a:xfrm>
          <a:prstGeom prst="rect">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txBody>
          <a:bodyPr wrap="none" rtlCol="0">
            <a:spAutoFit/>
          </a:bodyPr>
          <a:lstStyle/>
          <a:p>
            <a:pPr fontAlgn="auto"/>
            <a:r>
              <a:rPr lang="en-US" sz="1200" dirty="0">
                <a:latin typeface="Huawei Sans" panose="020C0503030203020204" pitchFamily="34" charset="0"/>
                <a:ea typeface="方正兰亭黑简体" panose="02000000000000000000" pitchFamily="2" charset="-122"/>
              </a:rPr>
              <a:t>Checksum</a:t>
            </a:r>
            <a:r>
              <a:rPr lang="zh-CN" altLang="en-US" sz="1200" dirty="0">
                <a:latin typeface="Huawei Sans" panose="020C0503030203020204" pitchFamily="34" charset="0"/>
                <a:ea typeface="方正兰亭黑简体" panose="02000000000000000000" pitchFamily="2" charset="-122"/>
              </a:rPr>
              <a:t>不一致</a:t>
            </a:r>
            <a:endParaRPr lang="en-US" sz="1200" dirty="0">
              <a:latin typeface="Huawei Sans" panose="020C0503030203020204" pitchFamily="34" charset="0"/>
              <a:ea typeface="方正兰亭黑简体" panose="02000000000000000000" pitchFamily="2" charset="-122"/>
            </a:endParaRPr>
          </a:p>
        </p:txBody>
      </p:sp>
      <p:sp>
        <p:nvSpPr>
          <p:cNvPr id="30" name="TextBox 120">
            <a:extLst>
              <a:ext uri="{FF2B5EF4-FFF2-40B4-BE49-F238E27FC236}">
                <a16:creationId xmlns:a16="http://schemas.microsoft.com/office/drawing/2014/main" id="{0C5F2C8F-4D7B-4BA3-9F70-017C56294E4C}"/>
              </a:ext>
            </a:extLst>
          </p:cNvPr>
          <p:cNvSpPr txBox="1"/>
          <p:nvPr/>
        </p:nvSpPr>
        <p:spPr bwMode="gray">
          <a:xfrm>
            <a:off x="6851612" y="4063105"/>
            <a:ext cx="1179968" cy="287715"/>
          </a:xfrm>
          <a:prstGeom prst="roundRect">
            <a:avLst>
              <a:gd name="adj" fmla="val 6721"/>
            </a:avLst>
          </a:prstGeom>
          <a:solidFill>
            <a:srgbClr val="AFD89C"/>
          </a:solidFill>
          <a:ln w="12700">
            <a:solidFill>
              <a:srgbClr val="AFD89C"/>
            </a:solidFill>
          </a:ln>
        </p:spPr>
        <p:txBody>
          <a:bodyPr wrap="square" rtlCol="0" anchor="ctr">
            <a:spAutoFit/>
          </a:bodyPr>
          <a:lstStyle/>
          <a:p>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Outer Header</a:t>
            </a:r>
          </a:p>
        </p:txBody>
      </p:sp>
      <p:sp>
        <p:nvSpPr>
          <p:cNvPr id="39"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40"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安全机制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41"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06870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A5EEA-87A6-46F3-B854-CE91FB0B3FBE}"/>
              </a:ext>
            </a:extLst>
          </p:cNvPr>
          <p:cNvSpPr>
            <a:spLocks noGrp="1"/>
          </p:cNvSpPr>
          <p:nvPr>
            <p:ph type="title"/>
          </p:nvPr>
        </p:nvSpPr>
        <p:spPr bwMode="gray"/>
        <p:txBody>
          <a:bodyPr/>
          <a:lstStyle/>
          <a:p>
            <a:r>
              <a:rPr lang="en-US" dirty="0"/>
              <a:t>GRE</a:t>
            </a:r>
            <a:r>
              <a:rPr lang="zh-CN" altLang="en-US" dirty="0"/>
              <a:t>识别关键字</a:t>
            </a:r>
            <a:endParaRPr lang="en-US" dirty="0"/>
          </a:p>
        </p:txBody>
      </p:sp>
      <p:sp>
        <p:nvSpPr>
          <p:cNvPr id="3" name="Text Placeholder 2">
            <a:extLst>
              <a:ext uri="{FF2B5EF4-FFF2-40B4-BE49-F238E27FC236}">
                <a16:creationId xmlns:a16="http://schemas.microsoft.com/office/drawing/2014/main" id="{728E1B0E-7C8C-4697-B5A0-FE000AB7E006}"/>
              </a:ext>
            </a:extLst>
          </p:cNvPr>
          <p:cNvSpPr>
            <a:spLocks noGrp="1"/>
          </p:cNvSpPr>
          <p:nvPr>
            <p:ph type="body" sz="quarter" idx="10"/>
          </p:nvPr>
        </p:nvSpPr>
        <p:spPr bwMode="gray"/>
        <p:txBody>
          <a:bodyPr/>
          <a:lstStyle/>
          <a:p>
            <a:r>
              <a:rPr lang="zh-CN" altLang="en-US" sz="1800" dirty="0"/>
              <a:t>识别关键字（</a:t>
            </a:r>
            <a:r>
              <a:rPr lang="en-US" altLang="zh-CN" sz="1800" dirty="0"/>
              <a:t>Key</a:t>
            </a:r>
            <a:r>
              <a:rPr lang="zh-CN" altLang="en-US" sz="1800" dirty="0"/>
              <a:t>）验证是指对</a:t>
            </a:r>
            <a:r>
              <a:rPr lang="en-US" altLang="zh-CN" sz="1800" dirty="0"/>
              <a:t>Tunnel</a:t>
            </a:r>
            <a:r>
              <a:rPr lang="zh-CN" altLang="en-US" sz="1800" dirty="0"/>
              <a:t>接口进行校验。通过这种弱安全机制，可以防止错误识别、接收其它地方来的报文。</a:t>
            </a:r>
          </a:p>
          <a:p>
            <a:r>
              <a:rPr lang="zh-CN" altLang="en-US" sz="1800" dirty="0"/>
              <a:t>若</a:t>
            </a:r>
            <a:r>
              <a:rPr lang="en-US" altLang="zh-CN" sz="1800" dirty="0"/>
              <a:t>GRE</a:t>
            </a:r>
            <a:r>
              <a:rPr lang="zh-CN" altLang="en-US" sz="1800" dirty="0"/>
              <a:t>报文头中的</a:t>
            </a:r>
            <a:r>
              <a:rPr lang="en-US" altLang="zh-CN" sz="1800" dirty="0"/>
              <a:t>K</a:t>
            </a:r>
            <a:r>
              <a:rPr lang="zh-CN" altLang="en-US" sz="1800" dirty="0"/>
              <a:t>位为</a:t>
            </a:r>
            <a:r>
              <a:rPr lang="en-US" altLang="zh-CN" sz="1800" dirty="0"/>
              <a:t>1</a:t>
            </a:r>
            <a:r>
              <a:rPr lang="zh-CN" altLang="en-US" sz="1800" dirty="0"/>
              <a:t>，则在</a:t>
            </a:r>
            <a:r>
              <a:rPr lang="en-US" altLang="zh-CN" sz="1800" dirty="0"/>
              <a:t>GRE</a:t>
            </a:r>
            <a:r>
              <a:rPr lang="zh-CN" altLang="en-US" sz="1800" dirty="0"/>
              <a:t>头中插入一个四字节长关键字字段，收发双方将进行识别关键字的验证。</a:t>
            </a:r>
            <a:endParaRPr lang="en-US" sz="1800" dirty="0"/>
          </a:p>
        </p:txBody>
      </p:sp>
      <p:pic>
        <p:nvPicPr>
          <p:cNvPr id="10" name="图片 31">
            <a:extLst>
              <a:ext uri="{FF2B5EF4-FFF2-40B4-BE49-F238E27FC236}">
                <a16:creationId xmlns:a16="http://schemas.microsoft.com/office/drawing/2014/main" id="{BB8EC528-81FE-4013-8265-9352EF4BB875}"/>
              </a:ext>
            </a:extLst>
          </p:cNvPr>
          <p:cNvPicPr>
            <a:picLocks noChangeAspect="1"/>
          </p:cNvPicPr>
          <p:nvPr/>
        </p:nvPicPr>
        <p:blipFill>
          <a:blip r:embed="rId3"/>
          <a:stretch>
            <a:fillRect/>
          </a:stretch>
        </p:blipFill>
        <p:spPr bwMode="gray">
          <a:xfrm>
            <a:off x="7145938" y="3320378"/>
            <a:ext cx="466668" cy="389308"/>
          </a:xfrm>
          <a:prstGeom prst="rect">
            <a:avLst/>
          </a:prstGeom>
        </p:spPr>
      </p:pic>
      <p:sp>
        <p:nvSpPr>
          <p:cNvPr id="11" name="Freeform 159">
            <a:extLst>
              <a:ext uri="{FF2B5EF4-FFF2-40B4-BE49-F238E27FC236}">
                <a16:creationId xmlns:a16="http://schemas.microsoft.com/office/drawing/2014/main" id="{C10859A6-3238-4E43-8733-8B12B183EC11}"/>
              </a:ext>
            </a:extLst>
          </p:cNvPr>
          <p:cNvSpPr/>
          <p:nvPr/>
        </p:nvSpPr>
        <p:spPr bwMode="gray">
          <a:xfrm flipH="1">
            <a:off x="8648557" y="3138727"/>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12" name="图片 31">
            <a:extLst>
              <a:ext uri="{FF2B5EF4-FFF2-40B4-BE49-F238E27FC236}">
                <a16:creationId xmlns:a16="http://schemas.microsoft.com/office/drawing/2014/main" id="{8A6EC1CB-EACE-438D-A236-B348FD420844}"/>
              </a:ext>
            </a:extLst>
          </p:cNvPr>
          <p:cNvPicPr>
            <a:picLocks noChangeAspect="1"/>
          </p:cNvPicPr>
          <p:nvPr/>
        </p:nvPicPr>
        <p:blipFill>
          <a:blip r:embed="rId3"/>
          <a:stretch>
            <a:fillRect/>
          </a:stretch>
        </p:blipFill>
        <p:spPr bwMode="gray">
          <a:xfrm>
            <a:off x="10783448" y="3320378"/>
            <a:ext cx="466668" cy="389308"/>
          </a:xfrm>
          <a:prstGeom prst="rect">
            <a:avLst/>
          </a:prstGeom>
        </p:spPr>
      </p:pic>
      <p:cxnSp>
        <p:nvCxnSpPr>
          <p:cNvPr id="13" name="Straight Connector 12">
            <a:extLst>
              <a:ext uri="{FF2B5EF4-FFF2-40B4-BE49-F238E27FC236}">
                <a16:creationId xmlns:a16="http://schemas.microsoft.com/office/drawing/2014/main" id="{1B38C770-12C7-454B-BD87-364BF2190BAC}"/>
              </a:ext>
            </a:extLst>
          </p:cNvPr>
          <p:cNvCxnSpPr>
            <a:cxnSpLocks/>
            <a:stCxn id="10" idx="3"/>
            <a:endCxn id="11" idx="21"/>
          </p:cNvCxnSpPr>
          <p:nvPr/>
        </p:nvCxnSpPr>
        <p:spPr bwMode="gray">
          <a:xfrm>
            <a:off x="7612606" y="3515032"/>
            <a:ext cx="1035951" cy="933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B4CA50-7BBD-4666-BADD-1C65F7F73108}"/>
              </a:ext>
            </a:extLst>
          </p:cNvPr>
          <p:cNvCxnSpPr>
            <a:cxnSpLocks/>
            <a:stCxn id="12" idx="1"/>
            <a:endCxn id="11" idx="8"/>
          </p:cNvCxnSpPr>
          <p:nvPr/>
        </p:nvCxnSpPr>
        <p:spPr bwMode="gray">
          <a:xfrm flipH="1" flipV="1">
            <a:off x="9700838" y="3514359"/>
            <a:ext cx="1082610" cy="67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5" name="Can 41">
            <a:extLst>
              <a:ext uri="{FF2B5EF4-FFF2-40B4-BE49-F238E27FC236}">
                <a16:creationId xmlns:a16="http://schemas.microsoft.com/office/drawing/2014/main" id="{09F8D89F-4F53-4850-8889-0AED54464C1B}"/>
              </a:ext>
            </a:extLst>
          </p:cNvPr>
          <p:cNvSpPr/>
          <p:nvPr/>
        </p:nvSpPr>
        <p:spPr bwMode="gray">
          <a:xfrm rot="5400000">
            <a:off x="9065579" y="1999618"/>
            <a:ext cx="236717" cy="3018765"/>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15">
            <a:extLst>
              <a:ext uri="{FF2B5EF4-FFF2-40B4-BE49-F238E27FC236}">
                <a16:creationId xmlns:a16="http://schemas.microsoft.com/office/drawing/2014/main" id="{DAE262AE-3E0F-4EED-8FF5-4DEDBC51304F}"/>
              </a:ext>
            </a:extLst>
          </p:cNvPr>
          <p:cNvSpPr txBox="1"/>
          <p:nvPr/>
        </p:nvSpPr>
        <p:spPr bwMode="gray">
          <a:xfrm flipH="1">
            <a:off x="8752040" y="3354635"/>
            <a:ext cx="840786"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pic>
        <p:nvPicPr>
          <p:cNvPr id="17" name="图片 31">
            <a:extLst>
              <a:ext uri="{FF2B5EF4-FFF2-40B4-BE49-F238E27FC236}">
                <a16:creationId xmlns:a16="http://schemas.microsoft.com/office/drawing/2014/main" id="{4520DB05-1F80-4C58-A0CA-FB5F8448D498}"/>
              </a:ext>
            </a:extLst>
          </p:cNvPr>
          <p:cNvPicPr>
            <a:picLocks noChangeAspect="1"/>
          </p:cNvPicPr>
          <p:nvPr/>
        </p:nvPicPr>
        <p:blipFill>
          <a:blip r:embed="rId3">
            <a:duotone>
              <a:schemeClr val="accent2">
                <a:shade val="45000"/>
                <a:satMod val="135000"/>
              </a:schemeClr>
              <a:prstClr val="white"/>
            </a:duotone>
          </a:blip>
          <a:stretch>
            <a:fillRect/>
          </a:stretch>
        </p:blipFill>
        <p:spPr bwMode="gray">
          <a:xfrm>
            <a:off x="7173318" y="5177199"/>
            <a:ext cx="466668" cy="389308"/>
          </a:xfrm>
          <a:prstGeom prst="rect">
            <a:avLst/>
          </a:prstGeom>
        </p:spPr>
      </p:pic>
      <p:sp>
        <p:nvSpPr>
          <p:cNvPr id="18" name="Freeform 159">
            <a:extLst>
              <a:ext uri="{FF2B5EF4-FFF2-40B4-BE49-F238E27FC236}">
                <a16:creationId xmlns:a16="http://schemas.microsoft.com/office/drawing/2014/main" id="{4A46B824-5FBA-4BAA-B597-C33308887CDD}"/>
              </a:ext>
            </a:extLst>
          </p:cNvPr>
          <p:cNvSpPr/>
          <p:nvPr/>
        </p:nvSpPr>
        <p:spPr bwMode="gray">
          <a:xfrm rot="20419631" flipH="1">
            <a:off x="8692905" y="4228753"/>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cxnSp>
        <p:nvCxnSpPr>
          <p:cNvPr id="19" name="Straight Connector 18">
            <a:extLst>
              <a:ext uri="{FF2B5EF4-FFF2-40B4-BE49-F238E27FC236}">
                <a16:creationId xmlns:a16="http://schemas.microsoft.com/office/drawing/2014/main" id="{E6C9A855-6043-448C-AD8D-DD99B29A824B}"/>
              </a:ext>
            </a:extLst>
          </p:cNvPr>
          <p:cNvCxnSpPr>
            <a:cxnSpLocks/>
            <a:stCxn id="12" idx="2"/>
            <a:endCxn id="18" idx="8"/>
          </p:cNvCxnSpPr>
          <p:nvPr/>
        </p:nvCxnSpPr>
        <p:spPr bwMode="gray">
          <a:xfrm flipH="1">
            <a:off x="9748343" y="3709686"/>
            <a:ext cx="1268439" cy="711702"/>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0717E29-C839-4C24-9ECE-B74C2242C6A5}"/>
              </a:ext>
            </a:extLst>
          </p:cNvPr>
          <p:cNvCxnSpPr>
            <a:cxnSpLocks/>
            <a:stCxn id="18" idx="21"/>
            <a:endCxn id="17" idx="3"/>
          </p:cNvCxnSpPr>
          <p:nvPr/>
        </p:nvCxnSpPr>
        <p:spPr bwMode="gray">
          <a:xfrm flipH="1">
            <a:off x="7639986" y="4785065"/>
            <a:ext cx="1120868" cy="586788"/>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21" name="Can 41">
            <a:extLst>
              <a:ext uri="{FF2B5EF4-FFF2-40B4-BE49-F238E27FC236}">
                <a16:creationId xmlns:a16="http://schemas.microsoft.com/office/drawing/2014/main" id="{6649E804-AC07-4158-B246-385092278C2C}"/>
              </a:ext>
            </a:extLst>
          </p:cNvPr>
          <p:cNvSpPr/>
          <p:nvPr/>
        </p:nvSpPr>
        <p:spPr bwMode="gray">
          <a:xfrm rot="3834284">
            <a:off x="9189033" y="2792986"/>
            <a:ext cx="236717" cy="3520403"/>
          </a:xfrm>
          <a:prstGeom prst="can">
            <a:avLst>
              <a:gd name="adj" fmla="val 55435"/>
            </a:avLst>
          </a:prstGeom>
          <a:solidFill>
            <a:srgbClr val="EEB3B8"/>
          </a:solidFill>
          <a:ln w="12700">
            <a:solidFill>
              <a:srgbClr val="E2818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21">
            <a:extLst>
              <a:ext uri="{FF2B5EF4-FFF2-40B4-BE49-F238E27FC236}">
                <a16:creationId xmlns:a16="http://schemas.microsoft.com/office/drawing/2014/main" id="{8EAE353F-31FB-495D-B6D2-1E5EA8E82A80}"/>
              </a:ext>
            </a:extLst>
          </p:cNvPr>
          <p:cNvSpPr txBox="1"/>
          <p:nvPr/>
        </p:nvSpPr>
        <p:spPr bwMode="gray">
          <a:xfrm rot="19973691" flipH="1">
            <a:off x="8786083" y="4414687"/>
            <a:ext cx="1090865" cy="276999"/>
          </a:xfrm>
          <a:prstGeom prst="rect">
            <a:avLst/>
          </a:prstGeom>
          <a:noFill/>
        </p:spPr>
        <p:txBody>
          <a:bodyPr wrap="square" rtlCol="0">
            <a:spAutoFit/>
          </a:bodyPr>
          <a:lstStyle/>
          <a:p>
            <a:pPr algn="ctr" fontAlgn="auto"/>
            <a:r>
              <a:rPr lang="zh-CN" altLang="en-US" sz="1200" dirty="0">
                <a:latin typeface="Huawei Sans" panose="020C0503030203020204" pitchFamily="34" charset="0"/>
                <a:ea typeface="方正兰亭黑简体" panose="02000000000000000000" pitchFamily="2" charset="-122"/>
              </a:rPr>
              <a:t>非法</a:t>
            </a:r>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23" name="TextBox 22">
            <a:extLst>
              <a:ext uri="{FF2B5EF4-FFF2-40B4-BE49-F238E27FC236}">
                <a16:creationId xmlns:a16="http://schemas.microsoft.com/office/drawing/2014/main" id="{32E40295-84C6-4FF3-BD23-1A55740E998F}"/>
              </a:ext>
            </a:extLst>
          </p:cNvPr>
          <p:cNvSpPr txBox="1"/>
          <p:nvPr/>
        </p:nvSpPr>
        <p:spPr bwMode="gray">
          <a:xfrm flipH="1">
            <a:off x="6852672" y="3046140"/>
            <a:ext cx="110795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 </a:t>
            </a:r>
            <a:r>
              <a:rPr lang="en-US" altLang="zh-CN" sz="1200" dirty="0">
                <a:latin typeface="Huawei Sans" panose="020C0503030203020204" pitchFamily="34" charset="0"/>
                <a:ea typeface="方正兰亭黑简体" panose="02000000000000000000" pitchFamily="2" charset="-122"/>
              </a:rPr>
              <a:t>Key=10</a:t>
            </a:r>
            <a:endParaRPr lang="zh-CN" altLang="en-US" sz="1200" dirty="0">
              <a:latin typeface="Huawei Sans" panose="020C0503030203020204" pitchFamily="34" charset="0"/>
              <a:ea typeface="方正兰亭黑简体" panose="02000000000000000000" pitchFamily="2" charset="-122"/>
            </a:endParaRPr>
          </a:p>
        </p:txBody>
      </p:sp>
      <p:sp>
        <p:nvSpPr>
          <p:cNvPr id="24" name="TextBox 23">
            <a:extLst>
              <a:ext uri="{FF2B5EF4-FFF2-40B4-BE49-F238E27FC236}">
                <a16:creationId xmlns:a16="http://schemas.microsoft.com/office/drawing/2014/main" id="{4AAD48E3-C8AA-44AA-A236-4F719FE7489B}"/>
              </a:ext>
            </a:extLst>
          </p:cNvPr>
          <p:cNvSpPr txBox="1"/>
          <p:nvPr/>
        </p:nvSpPr>
        <p:spPr bwMode="gray">
          <a:xfrm flipH="1">
            <a:off x="10462802" y="3037002"/>
            <a:ext cx="110795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 </a:t>
            </a:r>
            <a:r>
              <a:rPr lang="en-US" altLang="zh-CN" sz="1200" dirty="0">
                <a:latin typeface="Huawei Sans" panose="020C0503030203020204" pitchFamily="34" charset="0"/>
                <a:ea typeface="方正兰亭黑简体" panose="02000000000000000000" pitchFamily="2" charset="-122"/>
              </a:rPr>
              <a:t>Key=10</a:t>
            </a:r>
            <a:endParaRPr lang="zh-CN" altLang="en-US" sz="1200" dirty="0">
              <a:latin typeface="Huawei Sans" panose="020C0503030203020204" pitchFamily="34" charset="0"/>
              <a:ea typeface="方正兰亭黑简体" panose="02000000000000000000" pitchFamily="2" charset="-122"/>
            </a:endParaRPr>
          </a:p>
        </p:txBody>
      </p:sp>
      <p:sp>
        <p:nvSpPr>
          <p:cNvPr id="25" name="TextBox 24">
            <a:extLst>
              <a:ext uri="{FF2B5EF4-FFF2-40B4-BE49-F238E27FC236}">
                <a16:creationId xmlns:a16="http://schemas.microsoft.com/office/drawing/2014/main" id="{A2F56922-E18E-4B3B-B959-85C174D84471}"/>
              </a:ext>
            </a:extLst>
          </p:cNvPr>
          <p:cNvSpPr txBox="1"/>
          <p:nvPr/>
        </p:nvSpPr>
        <p:spPr bwMode="gray">
          <a:xfrm flipH="1">
            <a:off x="6825292" y="5529605"/>
            <a:ext cx="1107959"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 </a:t>
            </a:r>
            <a:r>
              <a:rPr lang="en-US" altLang="zh-CN" sz="1200" dirty="0">
                <a:latin typeface="Huawei Sans" panose="020C0503030203020204" pitchFamily="34" charset="0"/>
                <a:ea typeface="方正兰亭黑简体" panose="02000000000000000000" pitchFamily="2" charset="-122"/>
              </a:rPr>
              <a:t>Key=20</a:t>
            </a:r>
            <a:endParaRPr lang="zh-CN" altLang="en-US" sz="1200" dirty="0">
              <a:latin typeface="Huawei Sans" panose="020C0503030203020204" pitchFamily="34" charset="0"/>
              <a:ea typeface="方正兰亭黑简体" panose="02000000000000000000" pitchFamily="2" charset="-122"/>
            </a:endParaRPr>
          </a:p>
        </p:txBody>
      </p:sp>
      <p:sp>
        <p:nvSpPr>
          <p:cNvPr id="26" name="十字形 19">
            <a:extLst>
              <a:ext uri="{FF2B5EF4-FFF2-40B4-BE49-F238E27FC236}">
                <a16:creationId xmlns:a16="http://schemas.microsoft.com/office/drawing/2014/main" id="{755D8B9F-12C8-4D11-8A0F-77780D591222}"/>
              </a:ext>
            </a:extLst>
          </p:cNvPr>
          <p:cNvSpPr/>
          <p:nvPr/>
        </p:nvSpPr>
        <p:spPr bwMode="gray">
          <a:xfrm rot="2785165">
            <a:off x="10164130" y="4024633"/>
            <a:ext cx="345945" cy="345945"/>
          </a:xfrm>
          <a:prstGeom prst="plus">
            <a:avLst>
              <a:gd name="adj" fmla="val 39697"/>
            </a:avLst>
          </a:prstGeom>
          <a:solidFill>
            <a:srgbClr val="D33941"/>
          </a:solidFill>
          <a:ln>
            <a:solidFill>
              <a:srgbClr val="D339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dirty="0">
              <a:solidFill>
                <a:prstClr val="white"/>
              </a:solidFill>
            </a:endParaRPr>
          </a:p>
        </p:txBody>
      </p:sp>
      <p:sp>
        <p:nvSpPr>
          <p:cNvPr id="27" name="Rectangular Callout 75">
            <a:extLst>
              <a:ext uri="{FF2B5EF4-FFF2-40B4-BE49-F238E27FC236}">
                <a16:creationId xmlns:a16="http://schemas.microsoft.com/office/drawing/2014/main" id="{2CA57F39-42CD-4C4F-B064-D790785B303D}"/>
              </a:ext>
            </a:extLst>
          </p:cNvPr>
          <p:cNvSpPr/>
          <p:nvPr/>
        </p:nvSpPr>
        <p:spPr bwMode="gray">
          <a:xfrm>
            <a:off x="9973604" y="4535681"/>
            <a:ext cx="1126806" cy="389307"/>
          </a:xfrm>
          <a:prstGeom prst="wedgeRectCallout">
            <a:avLst>
              <a:gd name="adj1" fmla="val -23113"/>
              <a:gd name="adj2" fmla="val -9322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Huawei Sans" panose="020C0503030203020204" pitchFamily="34" charset="0"/>
                <a:ea typeface="方正兰亭黑简体" panose="02000000000000000000" pitchFamily="2" charset="-122"/>
              </a:rPr>
              <a:t>Key</a:t>
            </a:r>
            <a:r>
              <a:rPr lang="zh-CN" altLang="en-US" sz="1200" dirty="0">
                <a:solidFill>
                  <a:schemeClr val="tx1"/>
                </a:solidFill>
                <a:latin typeface="Huawei Sans" panose="020C0503030203020204" pitchFamily="34" charset="0"/>
                <a:ea typeface="方正兰亭黑简体" panose="02000000000000000000" pitchFamily="2" charset="-122"/>
              </a:rPr>
              <a:t>不一致，不能建立隧道</a:t>
            </a:r>
          </a:p>
        </p:txBody>
      </p:sp>
      <p:sp>
        <p:nvSpPr>
          <p:cNvPr id="28" name="圆角矩形 75">
            <a:extLst>
              <a:ext uri="{FF2B5EF4-FFF2-40B4-BE49-F238E27FC236}">
                <a16:creationId xmlns:a16="http://schemas.microsoft.com/office/drawing/2014/main" id="{6588FDBA-F1A7-4DDC-9E07-AE12500315C2}"/>
              </a:ext>
            </a:extLst>
          </p:cNvPr>
          <p:cNvSpPr/>
          <p:nvPr/>
        </p:nvSpPr>
        <p:spPr bwMode="gray">
          <a:xfrm>
            <a:off x="6867723" y="2384884"/>
            <a:ext cx="463803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a:solidFill>
                  <a:srgbClr val="30B5C5"/>
                </a:solidFill>
                <a:latin typeface="Huawei Sans" panose="020C0503030203020204" pitchFamily="34" charset="0"/>
                <a:ea typeface="方正兰亭黑简体" panose="02000000000000000000" pitchFamily="2" charset="-122"/>
              </a:rPr>
              <a:t>GRE Key</a:t>
            </a:r>
            <a:r>
              <a:rPr lang="zh-CN" altLang="en-US" sz="1600" dirty="0">
                <a:solidFill>
                  <a:srgbClr val="30B5C5"/>
                </a:solidFill>
                <a:latin typeface="Huawei Sans" panose="020C0503030203020204" pitchFamily="34" charset="0"/>
                <a:ea typeface="方正兰亭黑简体" panose="02000000000000000000" pitchFamily="2" charset="-122"/>
              </a:rPr>
              <a:t>防止非法</a:t>
            </a:r>
            <a:r>
              <a:rPr lang="zh-CN" altLang="en-US" sz="1600">
                <a:solidFill>
                  <a:srgbClr val="30B5C5"/>
                </a:solidFill>
                <a:latin typeface="Huawei Sans" panose="020C0503030203020204" pitchFamily="34" charset="0"/>
                <a:ea typeface="方正兰亭黑简体" panose="02000000000000000000" pitchFamily="2" charset="-122"/>
              </a:rPr>
              <a:t>建立</a:t>
            </a:r>
            <a:r>
              <a:rPr lang="en-US" altLang="zh-CN" sz="1600">
                <a:solidFill>
                  <a:srgbClr val="30B5C5"/>
                </a:solidFill>
                <a:latin typeface="Huawei Sans" panose="020C0503030203020204" pitchFamily="34" charset="0"/>
                <a:ea typeface="方正兰亭黑简体" panose="02000000000000000000" pitchFamily="2" charset="-122"/>
              </a:rPr>
              <a:t>GRE</a:t>
            </a:r>
            <a:r>
              <a:rPr lang="zh-CN" altLang="en-US" sz="1600" dirty="0">
                <a:solidFill>
                  <a:srgbClr val="30B5C5"/>
                </a:solidFill>
                <a:latin typeface="Huawei Sans" panose="020C0503030203020204" pitchFamily="34" charset="0"/>
                <a:ea typeface="方正兰亭黑简体" panose="02000000000000000000" pitchFamily="2" charset="-122"/>
              </a:rPr>
              <a:t>隧道</a:t>
            </a:r>
          </a:p>
        </p:txBody>
      </p:sp>
      <p:sp>
        <p:nvSpPr>
          <p:cNvPr id="29" name="圆角矩形 75">
            <a:extLst>
              <a:ext uri="{FF2B5EF4-FFF2-40B4-BE49-F238E27FC236}">
                <a16:creationId xmlns:a16="http://schemas.microsoft.com/office/drawing/2014/main" id="{3782E660-F6FA-48CB-A2C4-3FEB57B872B9}"/>
              </a:ext>
            </a:extLst>
          </p:cNvPr>
          <p:cNvSpPr/>
          <p:nvPr/>
        </p:nvSpPr>
        <p:spPr bwMode="gray">
          <a:xfrm>
            <a:off x="6867723" y="2819172"/>
            <a:ext cx="4638036" cy="322268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0" name="Table 4">
            <a:extLst>
              <a:ext uri="{FF2B5EF4-FFF2-40B4-BE49-F238E27FC236}">
                <a16:creationId xmlns:a16="http://schemas.microsoft.com/office/drawing/2014/main" id="{BA905498-192E-4D3A-B60D-07E5F91C397E}"/>
              </a:ext>
            </a:extLst>
          </p:cNvPr>
          <p:cNvGraphicFramePr>
            <a:graphicFrameLocks noGrp="1"/>
          </p:cNvGraphicFramePr>
          <p:nvPr/>
        </p:nvGraphicFramePr>
        <p:xfrm>
          <a:off x="803413" y="3260992"/>
          <a:ext cx="5868651" cy="370840"/>
        </p:xfrm>
        <a:graphic>
          <a:graphicData uri="http://schemas.openxmlformats.org/drawingml/2006/table">
            <a:tbl>
              <a:tblPr firstRow="1" bandRow="1">
                <a:tableStyleId>{5C22544A-7EE6-4342-B048-85BDC9FD1C3A}</a:tableStyleId>
              </a:tblPr>
              <a:tblGrid>
                <a:gridCol w="1455772">
                  <a:extLst>
                    <a:ext uri="{9D8B030D-6E8A-4147-A177-3AD203B41FA5}">
                      <a16:colId xmlns:a16="http://schemas.microsoft.com/office/drawing/2014/main" val="2966538011"/>
                    </a:ext>
                  </a:extLst>
                </a:gridCol>
                <a:gridCol w="1317127">
                  <a:extLst>
                    <a:ext uri="{9D8B030D-6E8A-4147-A177-3AD203B41FA5}">
                      <a16:colId xmlns:a16="http://schemas.microsoft.com/office/drawing/2014/main" val="996290401"/>
                    </a:ext>
                  </a:extLst>
                </a:gridCol>
                <a:gridCol w="1455772">
                  <a:extLst>
                    <a:ext uri="{9D8B030D-6E8A-4147-A177-3AD203B41FA5}">
                      <a16:colId xmlns:a16="http://schemas.microsoft.com/office/drawing/2014/main" val="2856764314"/>
                    </a:ext>
                  </a:extLst>
                </a:gridCol>
                <a:gridCol w="1639980">
                  <a:extLst>
                    <a:ext uri="{9D8B030D-6E8A-4147-A177-3AD203B41FA5}">
                      <a16:colId xmlns:a16="http://schemas.microsoft.com/office/drawing/2014/main" val="2646952038"/>
                    </a:ext>
                  </a:extLst>
                </a:gridCol>
              </a:tblGrid>
              <a:tr h="370840">
                <a:tc>
                  <a:txBody>
                    <a:bodyPr/>
                    <a:lstStyle/>
                    <a:p>
                      <a:pPr algn="ctr"/>
                      <a:r>
                        <a:rPr lang="en-US" sz="1200" dirty="0"/>
                        <a:t>O</a:t>
                      </a:r>
                      <a:r>
                        <a:rPr lang="en-US" altLang="zh-CN" sz="1200" dirty="0"/>
                        <a:t>uter </a:t>
                      </a:r>
                      <a:r>
                        <a:rPr lang="en-US" sz="1200" dirty="0"/>
                        <a:t>Header</a:t>
                      </a:r>
                    </a:p>
                  </a:txBody>
                  <a:tcPr anchor="ctr">
                    <a:solidFill>
                      <a:srgbClr val="AFD89C"/>
                    </a:solidFill>
                  </a:tcPr>
                </a:tc>
                <a:tc>
                  <a:txBody>
                    <a:bodyPr/>
                    <a:lstStyle/>
                    <a:p>
                      <a:pPr algn="ctr"/>
                      <a:r>
                        <a:rPr lang="en-US" sz="1200" dirty="0"/>
                        <a:t>GRE Header</a:t>
                      </a:r>
                    </a:p>
                  </a:txBody>
                  <a:tcPr anchor="ctr">
                    <a:solidFill>
                      <a:srgbClr val="EEB3B8"/>
                    </a:solidFill>
                  </a:tcPr>
                </a:tc>
                <a:tc>
                  <a:txBody>
                    <a:bodyPr/>
                    <a:lstStyle/>
                    <a:p>
                      <a:pPr algn="ctr"/>
                      <a:r>
                        <a:rPr lang="en-US" sz="1200" dirty="0"/>
                        <a:t>Inner Header</a:t>
                      </a:r>
                    </a:p>
                  </a:txBody>
                  <a:tcPr anchor="ctr">
                    <a:solidFill>
                      <a:srgbClr val="56C4D2"/>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sz="1200" dirty="0"/>
                        <a:t>Payload</a:t>
                      </a:r>
                    </a:p>
                  </a:txBody>
                  <a:tcPr anchor="ctr">
                    <a:solidFill>
                      <a:srgbClr val="FDE397"/>
                    </a:solidFill>
                  </a:tcPr>
                </a:tc>
                <a:extLst>
                  <a:ext uri="{0D108BD9-81ED-4DB2-BD59-A6C34878D82A}">
                    <a16:rowId xmlns:a16="http://schemas.microsoft.com/office/drawing/2014/main" val="2196966323"/>
                  </a:ext>
                </a:extLst>
              </a:tr>
            </a:tbl>
          </a:graphicData>
        </a:graphic>
      </p:graphicFrame>
      <p:graphicFrame>
        <p:nvGraphicFramePr>
          <p:cNvPr id="31" name="Table 5">
            <a:extLst>
              <a:ext uri="{FF2B5EF4-FFF2-40B4-BE49-F238E27FC236}">
                <a16:creationId xmlns:a16="http://schemas.microsoft.com/office/drawing/2014/main" id="{085198DD-A364-40F3-812F-BF46BF68D57C}"/>
              </a:ext>
            </a:extLst>
          </p:cNvPr>
          <p:cNvGraphicFramePr>
            <a:graphicFrameLocks noGrp="1"/>
          </p:cNvGraphicFramePr>
          <p:nvPr>
            <p:extLst>
              <p:ext uri="{D42A27DB-BD31-4B8C-83A1-F6EECF244321}">
                <p14:modId xmlns:p14="http://schemas.microsoft.com/office/powerpoint/2010/main" val="169794064"/>
              </p:ext>
            </p:extLst>
          </p:nvPr>
        </p:nvGraphicFramePr>
        <p:xfrm>
          <a:off x="744954" y="4761148"/>
          <a:ext cx="6074615" cy="1112520"/>
        </p:xfrm>
        <a:graphic>
          <a:graphicData uri="http://schemas.openxmlformats.org/drawingml/2006/table">
            <a:tbl>
              <a:tblPr firstRow="1" bandRow="1">
                <a:tableStyleId>{5C22544A-7EE6-4342-B048-85BDC9FD1C3A}</a:tableStyleId>
              </a:tblPr>
              <a:tblGrid>
                <a:gridCol w="208280">
                  <a:extLst>
                    <a:ext uri="{9D8B030D-6E8A-4147-A177-3AD203B41FA5}">
                      <a16:colId xmlns:a16="http://schemas.microsoft.com/office/drawing/2014/main" val="1767511075"/>
                    </a:ext>
                  </a:extLst>
                </a:gridCol>
                <a:gridCol w="208280">
                  <a:extLst>
                    <a:ext uri="{9D8B030D-6E8A-4147-A177-3AD203B41FA5}">
                      <a16:colId xmlns:a16="http://schemas.microsoft.com/office/drawing/2014/main" val="2259974812"/>
                    </a:ext>
                  </a:extLst>
                </a:gridCol>
                <a:gridCol w="208280">
                  <a:extLst>
                    <a:ext uri="{9D8B030D-6E8A-4147-A177-3AD203B41FA5}">
                      <a16:colId xmlns:a16="http://schemas.microsoft.com/office/drawing/2014/main" val="1441333613"/>
                    </a:ext>
                  </a:extLst>
                </a:gridCol>
                <a:gridCol w="208280">
                  <a:extLst>
                    <a:ext uri="{9D8B030D-6E8A-4147-A177-3AD203B41FA5}">
                      <a16:colId xmlns:a16="http://schemas.microsoft.com/office/drawing/2014/main" val="2189801884"/>
                    </a:ext>
                  </a:extLst>
                </a:gridCol>
                <a:gridCol w="208280">
                  <a:extLst>
                    <a:ext uri="{9D8B030D-6E8A-4147-A177-3AD203B41FA5}">
                      <a16:colId xmlns:a16="http://schemas.microsoft.com/office/drawing/2014/main" val="201189597"/>
                    </a:ext>
                  </a:extLst>
                </a:gridCol>
                <a:gridCol w="853216">
                  <a:extLst>
                    <a:ext uri="{9D8B030D-6E8A-4147-A177-3AD203B41FA5}">
                      <a16:colId xmlns:a16="http://schemas.microsoft.com/office/drawing/2014/main" val="2963173565"/>
                    </a:ext>
                  </a:extLst>
                </a:gridCol>
                <a:gridCol w="645827">
                  <a:extLst>
                    <a:ext uri="{9D8B030D-6E8A-4147-A177-3AD203B41FA5}">
                      <a16:colId xmlns:a16="http://schemas.microsoft.com/office/drawing/2014/main" val="2109686950"/>
                    </a:ext>
                  </a:extLst>
                </a:gridCol>
                <a:gridCol w="720080">
                  <a:extLst>
                    <a:ext uri="{9D8B030D-6E8A-4147-A177-3AD203B41FA5}">
                      <a16:colId xmlns:a16="http://schemas.microsoft.com/office/drawing/2014/main" val="421368371"/>
                    </a:ext>
                  </a:extLst>
                </a:gridCol>
                <a:gridCol w="2814092">
                  <a:extLst>
                    <a:ext uri="{9D8B030D-6E8A-4147-A177-3AD203B41FA5}">
                      <a16:colId xmlns:a16="http://schemas.microsoft.com/office/drawing/2014/main" val="1049193376"/>
                    </a:ext>
                  </a:extLst>
                </a:gridCol>
              </a:tblGrid>
              <a:tr h="370840">
                <a:tc>
                  <a:txBody>
                    <a:bodyPr/>
                    <a:lstStyle/>
                    <a:p>
                      <a:pPr algn="ctr"/>
                      <a:r>
                        <a:rPr lang="en-US" sz="1200" b="0" dirty="0">
                          <a:solidFill>
                            <a:sysClr val="windowText" lastClr="000000"/>
                          </a:solidFill>
                        </a:rPr>
                        <a:t>C</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K</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Recursion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Flags</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Version</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sz="1200" b="0" dirty="0">
                          <a:solidFill>
                            <a:sysClr val="windowText" lastClr="000000"/>
                          </a:solidFill>
                        </a:rPr>
                        <a:t>Protocol Type</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3176659461"/>
                  </a:ext>
                </a:extLst>
              </a:tr>
              <a:tr h="370840">
                <a:tc gridSpan="8">
                  <a:txBody>
                    <a:bodyPr/>
                    <a:lstStyle/>
                    <a:p>
                      <a:pPr algn="ctr"/>
                      <a:r>
                        <a:rPr lang="en-US" sz="1200" b="0" dirty="0">
                          <a:solidFill>
                            <a:sysClr val="windowText" lastClr="000000"/>
                          </a:solidFill>
                        </a:rPr>
                        <a:t>Checksum</a:t>
                      </a:r>
                      <a:r>
                        <a:rPr lang="zh-CN" altLang="en-US" sz="1200" b="0" dirty="0">
                          <a:solidFill>
                            <a:sysClr val="windowText" lastClr="000000"/>
                          </a:solidFill>
                        </a:rPr>
                        <a:t>（</a:t>
                      </a:r>
                      <a:r>
                        <a:rPr lang="en-US" sz="1200" b="0" dirty="0">
                          <a:solidFill>
                            <a:sysClr val="windowText" lastClr="000000"/>
                          </a:solidFill>
                        </a:rPr>
                        <a:t>Option</a:t>
                      </a:r>
                      <a:r>
                        <a:rPr lang="zh-CN" altLang="en-US" sz="1200" b="0" dirty="0">
                          <a:solidFill>
                            <a:sysClr val="windowText" lastClr="000000"/>
                          </a:solidFill>
                        </a:rPr>
                        <a:t>）</a:t>
                      </a:r>
                      <a:endParaRPr lang="en-US" sz="1200" b="0" dirty="0">
                        <a:solidFill>
                          <a:sysClr val="windowText" lastClr="000000"/>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ctr"/>
                      <a:r>
                        <a:rPr lang="en-US" sz="1200" b="0" dirty="0">
                          <a:solidFill>
                            <a:sysClr val="windowText" lastClr="000000"/>
                          </a:solidFill>
                        </a:rPr>
                        <a:t>0</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3262138141"/>
                  </a:ext>
                </a:extLst>
              </a:tr>
              <a:tr h="370840">
                <a:tc gridSpan="9">
                  <a:txBody>
                    <a:bodyPr/>
                    <a:lstStyle/>
                    <a:p>
                      <a:pPr algn="ctr"/>
                      <a:r>
                        <a:rPr lang="en-US" sz="1200" b="0" dirty="0">
                          <a:solidFill>
                            <a:sysClr val="windowText" lastClr="000000"/>
                          </a:solidFill>
                        </a:rPr>
                        <a:t>Key</a:t>
                      </a:r>
                      <a:r>
                        <a:rPr lang="zh-CN" altLang="en-US" sz="1200" b="0" dirty="0">
                          <a:solidFill>
                            <a:sysClr val="windowText" lastClr="000000"/>
                          </a:solidFill>
                        </a:rPr>
                        <a:t>（</a:t>
                      </a:r>
                      <a:r>
                        <a:rPr lang="en-US" sz="1200" b="0" dirty="0">
                          <a:solidFill>
                            <a:sysClr val="windowText" lastClr="000000"/>
                          </a:solidFill>
                        </a:rPr>
                        <a:t>O</a:t>
                      </a:r>
                      <a:r>
                        <a:rPr lang="en-US" altLang="zh-CN" sz="1200" b="0" dirty="0">
                          <a:solidFill>
                            <a:sysClr val="windowText" lastClr="000000"/>
                          </a:solidFill>
                        </a:rPr>
                        <a:t>ption</a:t>
                      </a:r>
                      <a:r>
                        <a:rPr lang="zh-CN" altLang="en-US" sz="1200" b="0" dirty="0">
                          <a:solidFill>
                            <a:sysClr val="windowText" lastClr="000000"/>
                          </a:solidFill>
                        </a:rPr>
                        <a:t>）</a:t>
                      </a:r>
                      <a:endParaRPr lang="en-US" sz="1200" b="0" dirty="0">
                        <a:solidFill>
                          <a:sysClr val="windowText" lastClr="000000"/>
                        </a:solidFill>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BEE9EE"/>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ctr"/>
                      <a:endParaRPr lang="en-US" sz="1200" dirty="0"/>
                    </a:p>
                  </a:txBody>
                  <a:tcPr anchor="ctr"/>
                </a:tc>
                <a:extLst>
                  <a:ext uri="{0D108BD9-81ED-4DB2-BD59-A6C34878D82A}">
                    <a16:rowId xmlns:a16="http://schemas.microsoft.com/office/drawing/2014/main" val="1626608722"/>
                  </a:ext>
                </a:extLst>
              </a:tr>
            </a:tbl>
          </a:graphicData>
        </a:graphic>
      </p:graphicFrame>
      <p:sp>
        <p:nvSpPr>
          <p:cNvPr id="32" name="Trapezoid 8">
            <a:extLst>
              <a:ext uri="{FF2B5EF4-FFF2-40B4-BE49-F238E27FC236}">
                <a16:creationId xmlns:a16="http://schemas.microsoft.com/office/drawing/2014/main" id="{5A0180A6-4C28-43C2-B60D-98B34C57D756}"/>
              </a:ext>
            </a:extLst>
          </p:cNvPr>
          <p:cNvSpPr/>
          <p:nvPr/>
        </p:nvSpPr>
        <p:spPr bwMode="gray">
          <a:xfrm>
            <a:off x="731836" y="3634002"/>
            <a:ext cx="6087734" cy="1120140"/>
          </a:xfrm>
          <a:custGeom>
            <a:avLst/>
            <a:gdLst>
              <a:gd name="connsiteX0" fmla="*/ 0 w 6315794"/>
              <a:gd name="connsiteY0" fmla="*/ 1112520 h 1112520"/>
              <a:gd name="connsiteX1" fmla="*/ 2629597 w 6315794"/>
              <a:gd name="connsiteY1" fmla="*/ 0 h 1112520"/>
              <a:gd name="connsiteX2" fmla="*/ 3686197 w 6315794"/>
              <a:gd name="connsiteY2" fmla="*/ 0 h 1112520"/>
              <a:gd name="connsiteX3" fmla="*/ 6315794 w 6315794"/>
              <a:gd name="connsiteY3" fmla="*/ 1112520 h 1112520"/>
              <a:gd name="connsiteX4" fmla="*/ 0 w 6315794"/>
              <a:gd name="connsiteY4" fmla="*/ 1112520 h 1112520"/>
              <a:gd name="connsiteX0" fmla="*/ 0 w 6315794"/>
              <a:gd name="connsiteY0" fmla="*/ 1120140 h 1120140"/>
              <a:gd name="connsiteX1" fmla="*/ 1593277 w 6315794"/>
              <a:gd name="connsiteY1" fmla="*/ 0 h 1120140"/>
              <a:gd name="connsiteX2" fmla="*/ 3686197 w 6315794"/>
              <a:gd name="connsiteY2" fmla="*/ 7620 h 1120140"/>
              <a:gd name="connsiteX3" fmla="*/ 6315794 w 6315794"/>
              <a:gd name="connsiteY3" fmla="*/ 1120140 h 1120140"/>
              <a:gd name="connsiteX4" fmla="*/ 0 w 6315794"/>
              <a:gd name="connsiteY4" fmla="*/ 1120140 h 1120140"/>
              <a:gd name="connsiteX0" fmla="*/ 0 w 6315794"/>
              <a:gd name="connsiteY0" fmla="*/ 1120140 h 1120140"/>
              <a:gd name="connsiteX1" fmla="*/ 1593277 w 6315794"/>
              <a:gd name="connsiteY1" fmla="*/ 0 h 1120140"/>
              <a:gd name="connsiteX2" fmla="*/ 2954677 w 6315794"/>
              <a:gd name="connsiteY2" fmla="*/ 0 h 1120140"/>
              <a:gd name="connsiteX3" fmla="*/ 6315794 w 6315794"/>
              <a:gd name="connsiteY3" fmla="*/ 1120140 h 1120140"/>
              <a:gd name="connsiteX4" fmla="*/ 0 w 6315794"/>
              <a:gd name="connsiteY4" fmla="*/ 1120140 h 1120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5794" h="1120140">
                <a:moveTo>
                  <a:pt x="0" y="1120140"/>
                </a:moveTo>
                <a:lnTo>
                  <a:pt x="1593277" y="0"/>
                </a:lnTo>
                <a:lnTo>
                  <a:pt x="2954677" y="0"/>
                </a:lnTo>
                <a:lnTo>
                  <a:pt x="6315794" y="1120140"/>
                </a:lnTo>
                <a:lnTo>
                  <a:pt x="0" y="1120140"/>
                </a:lnTo>
                <a:close/>
              </a:path>
            </a:pathLst>
          </a:custGeom>
          <a:gradFill>
            <a:gsLst>
              <a:gs pos="0">
                <a:schemeClr val="accent1">
                  <a:lumMod val="5000"/>
                  <a:lumOff val="95000"/>
                  <a:alpha val="50000"/>
                </a:schemeClr>
              </a:gs>
              <a:gs pos="100000">
                <a:srgbClr val="BEE9EE"/>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34"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安全机制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35"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38545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E72DE-7A70-4B28-8938-E53E8E1EFDC0}"/>
              </a:ext>
            </a:extLst>
          </p:cNvPr>
          <p:cNvSpPr>
            <a:spLocks noGrp="1"/>
          </p:cNvSpPr>
          <p:nvPr>
            <p:ph type="title"/>
          </p:nvPr>
        </p:nvSpPr>
        <p:spPr bwMode="gray"/>
        <p:txBody>
          <a:bodyPr/>
          <a:lstStyle/>
          <a:p>
            <a:r>
              <a:rPr lang="en-US" dirty="0"/>
              <a:t>GRE</a:t>
            </a:r>
            <a:r>
              <a:rPr lang="zh-CN" altLang="en-US" dirty="0"/>
              <a:t>构建分支</a:t>
            </a:r>
            <a:r>
              <a:rPr lang="en-US" altLang="zh-CN" dirty="0"/>
              <a:t>-</a:t>
            </a:r>
            <a:r>
              <a:rPr lang="zh-CN" altLang="en-US" dirty="0"/>
              <a:t>总部内网</a:t>
            </a:r>
            <a:endParaRPr lang="en-US" dirty="0"/>
          </a:p>
        </p:txBody>
      </p:sp>
      <p:sp>
        <p:nvSpPr>
          <p:cNvPr id="3" name="Text Placeholder 2">
            <a:extLst>
              <a:ext uri="{FF2B5EF4-FFF2-40B4-BE49-F238E27FC236}">
                <a16:creationId xmlns:a16="http://schemas.microsoft.com/office/drawing/2014/main" id="{BDD291F3-CD85-43D3-97E1-12802F3CD315}"/>
              </a:ext>
            </a:extLst>
          </p:cNvPr>
          <p:cNvSpPr>
            <a:spLocks noGrp="1"/>
          </p:cNvSpPr>
          <p:nvPr>
            <p:ph type="body" sz="quarter" idx="10"/>
          </p:nvPr>
        </p:nvSpPr>
        <p:spPr bwMode="gray"/>
        <p:txBody>
          <a:bodyPr/>
          <a:lstStyle/>
          <a:p>
            <a:r>
              <a:rPr lang="en-US" sz="1800" dirty="0"/>
              <a:t>GRE</a:t>
            </a:r>
            <a:r>
              <a:rPr lang="zh-CN" altLang="en-US" sz="1800" dirty="0"/>
              <a:t>隧道能承载</a:t>
            </a:r>
            <a:r>
              <a:rPr lang="en-US" altLang="zh-CN" sz="1800" dirty="0"/>
              <a:t>IPv4/IPv6</a:t>
            </a:r>
            <a:r>
              <a:rPr lang="zh-CN" altLang="en-US" sz="1800" dirty="0"/>
              <a:t>单播、组播、广播报文，分支</a:t>
            </a:r>
            <a:r>
              <a:rPr lang="en-US" altLang="zh-CN" sz="1800" dirty="0"/>
              <a:t>-</a:t>
            </a:r>
            <a:r>
              <a:rPr lang="zh-CN" altLang="en-US" sz="1800" dirty="0"/>
              <a:t>总部之间可以通过</a:t>
            </a:r>
            <a:r>
              <a:rPr lang="en-US" altLang="zh-CN" sz="1800" dirty="0"/>
              <a:t>GRE</a:t>
            </a:r>
            <a:r>
              <a:rPr lang="zh-CN" altLang="en-US" sz="1800" dirty="0"/>
              <a:t>隧道建立内网之间的动态路由协议邻居，使得分支</a:t>
            </a:r>
            <a:r>
              <a:rPr lang="en-US" altLang="zh-CN" sz="1800" dirty="0"/>
              <a:t>-</a:t>
            </a:r>
            <a:r>
              <a:rPr lang="zh-CN" altLang="en-US" sz="1800" dirty="0"/>
              <a:t>总部之间内网互联更加方便。</a:t>
            </a:r>
            <a:endParaRPr lang="en-US" sz="1800" dirty="0"/>
          </a:p>
        </p:txBody>
      </p:sp>
      <p:sp>
        <p:nvSpPr>
          <p:cNvPr id="5" name="Freeform 159">
            <a:extLst>
              <a:ext uri="{FF2B5EF4-FFF2-40B4-BE49-F238E27FC236}">
                <a16:creationId xmlns:a16="http://schemas.microsoft.com/office/drawing/2014/main" id="{E4DDE7C7-5066-4639-90EB-D70E75C7175F}"/>
              </a:ext>
            </a:extLst>
          </p:cNvPr>
          <p:cNvSpPr/>
          <p:nvPr/>
        </p:nvSpPr>
        <p:spPr bwMode="gray">
          <a:xfrm flipH="1">
            <a:off x="5581337" y="2743561"/>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cxnSp>
        <p:nvCxnSpPr>
          <p:cNvPr id="7" name="Straight Connector 6">
            <a:extLst>
              <a:ext uri="{FF2B5EF4-FFF2-40B4-BE49-F238E27FC236}">
                <a16:creationId xmlns:a16="http://schemas.microsoft.com/office/drawing/2014/main" id="{0BF82749-9EC7-4F97-A30C-0AF0B872FB52}"/>
              </a:ext>
            </a:extLst>
          </p:cNvPr>
          <p:cNvCxnSpPr>
            <a:cxnSpLocks/>
            <a:stCxn id="4" idx="3"/>
            <a:endCxn id="5" idx="21"/>
          </p:cNvCxnSpPr>
          <p:nvPr/>
        </p:nvCxnSpPr>
        <p:spPr bwMode="gray">
          <a:xfrm>
            <a:off x="3695210" y="3119866"/>
            <a:ext cx="1886127" cy="933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E9F35F4-2B76-4D16-84C4-9FEFF08403F3}"/>
              </a:ext>
            </a:extLst>
          </p:cNvPr>
          <p:cNvCxnSpPr>
            <a:cxnSpLocks/>
            <a:stCxn id="6" idx="1"/>
            <a:endCxn id="5" idx="8"/>
          </p:cNvCxnSpPr>
          <p:nvPr/>
        </p:nvCxnSpPr>
        <p:spPr bwMode="gray">
          <a:xfrm flipH="1" flipV="1">
            <a:off x="6633618" y="3119193"/>
            <a:ext cx="1886127" cy="67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9" name="Can 41">
            <a:extLst>
              <a:ext uri="{FF2B5EF4-FFF2-40B4-BE49-F238E27FC236}">
                <a16:creationId xmlns:a16="http://schemas.microsoft.com/office/drawing/2014/main" id="{BB2038F4-59B7-42D1-AE46-CDA00E0F4CAE}"/>
              </a:ext>
            </a:extLst>
          </p:cNvPr>
          <p:cNvSpPr/>
          <p:nvPr/>
        </p:nvSpPr>
        <p:spPr bwMode="gray">
          <a:xfrm rot="5400000">
            <a:off x="5977641" y="762092"/>
            <a:ext cx="236717" cy="470348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9">
            <a:extLst>
              <a:ext uri="{FF2B5EF4-FFF2-40B4-BE49-F238E27FC236}">
                <a16:creationId xmlns:a16="http://schemas.microsoft.com/office/drawing/2014/main" id="{9CE5D482-AEBE-4DA0-B8B1-83D3B61E5124}"/>
              </a:ext>
            </a:extLst>
          </p:cNvPr>
          <p:cNvSpPr txBox="1"/>
          <p:nvPr/>
        </p:nvSpPr>
        <p:spPr bwMode="gray">
          <a:xfrm flipH="1">
            <a:off x="5678013" y="2981014"/>
            <a:ext cx="820031"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11" name="Freeform 159">
            <a:extLst>
              <a:ext uri="{FF2B5EF4-FFF2-40B4-BE49-F238E27FC236}">
                <a16:creationId xmlns:a16="http://schemas.microsoft.com/office/drawing/2014/main" id="{CB42C320-F440-4F98-9A3E-28A57D7208ED}"/>
              </a:ext>
            </a:extLst>
          </p:cNvPr>
          <p:cNvSpPr/>
          <p:nvPr/>
        </p:nvSpPr>
        <p:spPr bwMode="gray">
          <a:xfrm flipH="1">
            <a:off x="2275055" y="2743561"/>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r>
              <a:rPr lang="en-US" altLang="zh-CN" sz="1400" dirty="0">
                <a:solidFill>
                  <a:schemeClr val="tx1"/>
                </a:solidFill>
              </a:rPr>
              <a:t>1</a:t>
            </a:r>
            <a:endParaRPr lang="en-US" sz="1400" dirty="0">
              <a:solidFill>
                <a:schemeClr val="tx1"/>
              </a:solidFill>
            </a:endParaRPr>
          </a:p>
        </p:txBody>
      </p:sp>
      <p:sp>
        <p:nvSpPr>
          <p:cNvPr id="12" name="Freeform 159">
            <a:extLst>
              <a:ext uri="{FF2B5EF4-FFF2-40B4-BE49-F238E27FC236}">
                <a16:creationId xmlns:a16="http://schemas.microsoft.com/office/drawing/2014/main" id="{A9C9F576-F915-478A-BE6B-80CB6BC74CF9}"/>
              </a:ext>
            </a:extLst>
          </p:cNvPr>
          <p:cNvSpPr/>
          <p:nvPr/>
        </p:nvSpPr>
        <p:spPr bwMode="gray">
          <a:xfrm flipH="1">
            <a:off x="8826003" y="2764462"/>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sz="1400" dirty="0">
              <a:solidFill>
                <a:schemeClr val="tx1"/>
              </a:solidFill>
            </a:endParaRPr>
          </a:p>
        </p:txBody>
      </p:sp>
      <p:pic>
        <p:nvPicPr>
          <p:cNvPr id="4" name="图片 31">
            <a:extLst>
              <a:ext uri="{FF2B5EF4-FFF2-40B4-BE49-F238E27FC236}">
                <a16:creationId xmlns:a16="http://schemas.microsoft.com/office/drawing/2014/main" id="{F08EB6A7-C7DD-4312-BFA2-34750BEE8B52}"/>
              </a:ext>
            </a:extLst>
          </p:cNvPr>
          <p:cNvPicPr>
            <a:picLocks noChangeAspect="1"/>
          </p:cNvPicPr>
          <p:nvPr/>
        </p:nvPicPr>
        <p:blipFill>
          <a:blip r:embed="rId3"/>
          <a:stretch>
            <a:fillRect/>
          </a:stretch>
        </p:blipFill>
        <p:spPr bwMode="gray">
          <a:xfrm>
            <a:off x="3228542" y="2925212"/>
            <a:ext cx="466668" cy="389308"/>
          </a:xfrm>
          <a:prstGeom prst="rect">
            <a:avLst/>
          </a:prstGeom>
        </p:spPr>
      </p:pic>
      <p:pic>
        <p:nvPicPr>
          <p:cNvPr id="6" name="图片 31">
            <a:extLst>
              <a:ext uri="{FF2B5EF4-FFF2-40B4-BE49-F238E27FC236}">
                <a16:creationId xmlns:a16="http://schemas.microsoft.com/office/drawing/2014/main" id="{F6638B1E-2866-4347-9C91-F3EE1E1E83E4}"/>
              </a:ext>
            </a:extLst>
          </p:cNvPr>
          <p:cNvPicPr>
            <a:picLocks noChangeAspect="1"/>
          </p:cNvPicPr>
          <p:nvPr/>
        </p:nvPicPr>
        <p:blipFill>
          <a:blip r:embed="rId3"/>
          <a:stretch>
            <a:fillRect/>
          </a:stretch>
        </p:blipFill>
        <p:spPr bwMode="gray">
          <a:xfrm>
            <a:off x="8519745" y="2925212"/>
            <a:ext cx="466668" cy="389308"/>
          </a:xfrm>
          <a:prstGeom prst="rect">
            <a:avLst/>
          </a:prstGeom>
        </p:spPr>
      </p:pic>
      <p:sp>
        <p:nvSpPr>
          <p:cNvPr id="13" name="Oval 12">
            <a:extLst>
              <a:ext uri="{FF2B5EF4-FFF2-40B4-BE49-F238E27FC236}">
                <a16:creationId xmlns:a16="http://schemas.microsoft.com/office/drawing/2014/main" id="{06232530-838C-40F0-8DA6-981856E62443}"/>
              </a:ext>
            </a:extLst>
          </p:cNvPr>
          <p:cNvSpPr/>
          <p:nvPr/>
        </p:nvSpPr>
        <p:spPr bwMode="gray">
          <a:xfrm>
            <a:off x="1582767" y="2504733"/>
            <a:ext cx="7231826" cy="1086755"/>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19D92F29-4287-40D1-9216-F3A91DD1F417}"/>
              </a:ext>
            </a:extLst>
          </p:cNvPr>
          <p:cNvSpPr/>
          <p:nvPr/>
        </p:nvSpPr>
        <p:spPr bwMode="gray">
          <a:xfrm>
            <a:off x="8826003" y="2539928"/>
            <a:ext cx="2268253" cy="1169213"/>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59">
            <a:extLst>
              <a:ext uri="{FF2B5EF4-FFF2-40B4-BE49-F238E27FC236}">
                <a16:creationId xmlns:a16="http://schemas.microsoft.com/office/drawing/2014/main" id="{4BBFE932-0F10-4833-83D7-51A42B3040DC}"/>
              </a:ext>
            </a:extLst>
          </p:cNvPr>
          <p:cNvSpPr/>
          <p:nvPr/>
        </p:nvSpPr>
        <p:spPr bwMode="gray">
          <a:xfrm flipH="1">
            <a:off x="2790772" y="4845370"/>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r>
              <a:rPr lang="en-US" altLang="zh-CN" sz="1400" dirty="0">
                <a:solidFill>
                  <a:schemeClr val="tx1"/>
                </a:solidFill>
              </a:rPr>
              <a:t>2</a:t>
            </a:r>
            <a:endParaRPr lang="en-US" sz="1400" dirty="0">
              <a:solidFill>
                <a:schemeClr val="tx1"/>
              </a:solidFill>
            </a:endParaRPr>
          </a:p>
        </p:txBody>
      </p:sp>
      <p:pic>
        <p:nvPicPr>
          <p:cNvPr id="16" name="图片 31">
            <a:extLst>
              <a:ext uri="{FF2B5EF4-FFF2-40B4-BE49-F238E27FC236}">
                <a16:creationId xmlns:a16="http://schemas.microsoft.com/office/drawing/2014/main" id="{56D11DB8-B99D-4ABE-8521-4765B5E9C401}"/>
              </a:ext>
            </a:extLst>
          </p:cNvPr>
          <p:cNvPicPr>
            <a:picLocks noChangeAspect="1"/>
          </p:cNvPicPr>
          <p:nvPr/>
        </p:nvPicPr>
        <p:blipFill>
          <a:blip r:embed="rId3"/>
          <a:stretch>
            <a:fillRect/>
          </a:stretch>
        </p:blipFill>
        <p:spPr bwMode="gray">
          <a:xfrm>
            <a:off x="3744259" y="5027021"/>
            <a:ext cx="466668" cy="389308"/>
          </a:xfrm>
          <a:prstGeom prst="rect">
            <a:avLst/>
          </a:prstGeom>
        </p:spPr>
      </p:pic>
      <p:sp>
        <p:nvSpPr>
          <p:cNvPr id="17" name="Freeform 159">
            <a:extLst>
              <a:ext uri="{FF2B5EF4-FFF2-40B4-BE49-F238E27FC236}">
                <a16:creationId xmlns:a16="http://schemas.microsoft.com/office/drawing/2014/main" id="{D75FBA53-76F0-4030-9BEA-99AC3B7A86CD}"/>
              </a:ext>
            </a:extLst>
          </p:cNvPr>
          <p:cNvSpPr/>
          <p:nvPr/>
        </p:nvSpPr>
        <p:spPr bwMode="gray">
          <a:xfrm rot="20497245" flipH="1">
            <a:off x="5981916" y="3881189"/>
            <a:ext cx="1052281" cy="5500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cxnSp>
        <p:nvCxnSpPr>
          <p:cNvPr id="18" name="Straight Connector 17">
            <a:extLst>
              <a:ext uri="{FF2B5EF4-FFF2-40B4-BE49-F238E27FC236}">
                <a16:creationId xmlns:a16="http://schemas.microsoft.com/office/drawing/2014/main" id="{0FED0972-8889-4392-9DC6-2664D922849B}"/>
              </a:ext>
            </a:extLst>
          </p:cNvPr>
          <p:cNvCxnSpPr>
            <a:cxnSpLocks/>
            <a:stCxn id="17" idx="21"/>
            <a:endCxn id="16" idx="3"/>
          </p:cNvCxnSpPr>
          <p:nvPr/>
        </p:nvCxnSpPr>
        <p:spPr bwMode="gray">
          <a:xfrm flipH="1">
            <a:off x="4210927" y="4427085"/>
            <a:ext cx="1832705" cy="79459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81A182E-D5ED-4819-8800-23B436F66F92}"/>
              </a:ext>
            </a:extLst>
          </p:cNvPr>
          <p:cNvCxnSpPr>
            <a:cxnSpLocks/>
            <a:stCxn id="6" idx="2"/>
            <a:endCxn id="17" idx="8"/>
          </p:cNvCxnSpPr>
          <p:nvPr/>
        </p:nvCxnSpPr>
        <p:spPr bwMode="gray">
          <a:xfrm flipH="1">
            <a:off x="7039079" y="3314520"/>
            <a:ext cx="1714000" cy="771274"/>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30" name="Can 41">
            <a:extLst>
              <a:ext uri="{FF2B5EF4-FFF2-40B4-BE49-F238E27FC236}">
                <a16:creationId xmlns:a16="http://schemas.microsoft.com/office/drawing/2014/main" id="{3B2A4703-EE50-4C89-82B9-F670E5E88B36}"/>
              </a:ext>
            </a:extLst>
          </p:cNvPr>
          <p:cNvSpPr/>
          <p:nvPr/>
        </p:nvSpPr>
        <p:spPr bwMode="gray">
          <a:xfrm rot="4042348">
            <a:off x="6314281" y="1934250"/>
            <a:ext cx="236717" cy="470348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30">
            <a:extLst>
              <a:ext uri="{FF2B5EF4-FFF2-40B4-BE49-F238E27FC236}">
                <a16:creationId xmlns:a16="http://schemas.microsoft.com/office/drawing/2014/main" id="{5EE21069-0291-47AA-A996-4B672FE25CB1}"/>
              </a:ext>
            </a:extLst>
          </p:cNvPr>
          <p:cNvSpPr txBox="1"/>
          <p:nvPr/>
        </p:nvSpPr>
        <p:spPr bwMode="gray">
          <a:xfrm rot="20257207" flipH="1">
            <a:off x="6001491" y="4153886"/>
            <a:ext cx="820031" cy="276999"/>
          </a:xfrm>
          <a:prstGeom prst="rect">
            <a:avLst/>
          </a:prstGeom>
          <a:noFill/>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GRE</a:t>
            </a:r>
            <a:r>
              <a:rPr lang="zh-CN" altLang="en-US" sz="1200" dirty="0">
                <a:latin typeface="Huawei Sans" panose="020C0503030203020204" pitchFamily="34" charset="0"/>
                <a:ea typeface="方正兰亭黑简体" panose="02000000000000000000" pitchFamily="2" charset="-122"/>
              </a:rPr>
              <a:t>隧道</a:t>
            </a:r>
          </a:p>
        </p:txBody>
      </p:sp>
      <p:sp>
        <p:nvSpPr>
          <p:cNvPr id="32" name="Oval 31">
            <a:extLst>
              <a:ext uri="{FF2B5EF4-FFF2-40B4-BE49-F238E27FC236}">
                <a16:creationId xmlns:a16="http://schemas.microsoft.com/office/drawing/2014/main" id="{837F0B0A-9A2A-4AF8-9D5D-84736DE2985C}"/>
              </a:ext>
            </a:extLst>
          </p:cNvPr>
          <p:cNvSpPr/>
          <p:nvPr/>
        </p:nvSpPr>
        <p:spPr bwMode="gray">
          <a:xfrm rot="20466948">
            <a:off x="1885852" y="3765735"/>
            <a:ext cx="7231826" cy="1338860"/>
          </a:xfrm>
          <a:prstGeom prst="ellipse">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935E0A4-7848-43D2-97F2-BF36E9D771ED}"/>
              </a:ext>
            </a:extLst>
          </p:cNvPr>
          <p:cNvSpPr txBox="1"/>
          <p:nvPr/>
        </p:nvSpPr>
        <p:spPr bwMode="gray">
          <a:xfrm flipH="1">
            <a:off x="4514870" y="2543715"/>
            <a:ext cx="1224817" cy="307777"/>
          </a:xfrm>
          <a:prstGeom prst="rect">
            <a:avLst/>
          </a:prstGeom>
          <a:noFill/>
        </p:spPr>
        <p:txBody>
          <a:bodyPr wrap="square" rtlCol="0">
            <a:spAutoFit/>
          </a:bodyPr>
          <a:lstStyle/>
          <a:p>
            <a:pPr algn="ctr" fontAlgn="auto"/>
            <a:r>
              <a:rPr lang="en-US" altLang="zh-CN" sz="1400" dirty="0">
                <a:latin typeface="Huawei Sans" panose="020C0503030203020204" pitchFamily="34" charset="0"/>
                <a:ea typeface="方正兰亭黑简体" panose="02000000000000000000" pitchFamily="2" charset="-122"/>
              </a:rPr>
              <a:t>OSPF Area 1</a:t>
            </a:r>
            <a:endParaRPr lang="zh-CN" altLang="en-US" sz="1400" dirty="0">
              <a:latin typeface="Huawei Sans" panose="020C0503030203020204" pitchFamily="34" charset="0"/>
              <a:ea typeface="方正兰亭黑简体" panose="02000000000000000000" pitchFamily="2" charset="-122"/>
            </a:endParaRPr>
          </a:p>
        </p:txBody>
      </p:sp>
      <p:sp>
        <p:nvSpPr>
          <p:cNvPr id="34" name="TextBox 33">
            <a:extLst>
              <a:ext uri="{FF2B5EF4-FFF2-40B4-BE49-F238E27FC236}">
                <a16:creationId xmlns:a16="http://schemas.microsoft.com/office/drawing/2014/main" id="{24D67869-6B1F-4944-8FD0-0B78900E64C6}"/>
              </a:ext>
            </a:extLst>
          </p:cNvPr>
          <p:cNvSpPr txBox="1"/>
          <p:nvPr/>
        </p:nvSpPr>
        <p:spPr bwMode="gray">
          <a:xfrm rot="20413703" flipH="1">
            <a:off x="4598348" y="3874980"/>
            <a:ext cx="1224817" cy="307777"/>
          </a:xfrm>
          <a:prstGeom prst="rect">
            <a:avLst/>
          </a:prstGeom>
          <a:noFill/>
        </p:spPr>
        <p:txBody>
          <a:bodyPr wrap="square" rtlCol="0">
            <a:spAutoFit/>
          </a:bodyPr>
          <a:lstStyle/>
          <a:p>
            <a:pPr algn="ctr" fontAlgn="auto"/>
            <a:r>
              <a:rPr lang="en-US" altLang="zh-CN" sz="1400" dirty="0">
                <a:latin typeface="Huawei Sans" panose="020C0503030203020204" pitchFamily="34" charset="0"/>
                <a:ea typeface="方正兰亭黑简体" panose="02000000000000000000" pitchFamily="2" charset="-122"/>
              </a:rPr>
              <a:t>OSPF Area 2</a:t>
            </a:r>
            <a:endParaRPr lang="zh-CN" altLang="en-US" sz="1400" dirty="0">
              <a:latin typeface="Huawei Sans" panose="020C0503030203020204" pitchFamily="34" charset="0"/>
              <a:ea typeface="方正兰亭黑简体" panose="02000000000000000000" pitchFamily="2" charset="-122"/>
            </a:endParaRPr>
          </a:p>
        </p:txBody>
      </p:sp>
      <p:sp>
        <p:nvSpPr>
          <p:cNvPr id="35" name="TextBox 34">
            <a:extLst>
              <a:ext uri="{FF2B5EF4-FFF2-40B4-BE49-F238E27FC236}">
                <a16:creationId xmlns:a16="http://schemas.microsoft.com/office/drawing/2014/main" id="{8D32BE71-F830-4478-BFF4-A2E785C0A6E8}"/>
              </a:ext>
            </a:extLst>
          </p:cNvPr>
          <p:cNvSpPr txBox="1"/>
          <p:nvPr/>
        </p:nvSpPr>
        <p:spPr bwMode="gray">
          <a:xfrm flipH="1">
            <a:off x="9793463" y="2925212"/>
            <a:ext cx="1224817" cy="307777"/>
          </a:xfrm>
          <a:prstGeom prst="rect">
            <a:avLst/>
          </a:prstGeom>
          <a:noFill/>
        </p:spPr>
        <p:txBody>
          <a:bodyPr wrap="square" rtlCol="0">
            <a:spAutoFit/>
          </a:bodyPr>
          <a:lstStyle/>
          <a:p>
            <a:pPr algn="ctr" fontAlgn="auto"/>
            <a:r>
              <a:rPr lang="en-US" altLang="zh-CN" sz="1400" dirty="0">
                <a:latin typeface="Huawei Sans" panose="020C0503030203020204" pitchFamily="34" charset="0"/>
                <a:ea typeface="方正兰亭黑简体" panose="02000000000000000000" pitchFamily="2" charset="-122"/>
              </a:rPr>
              <a:t>OSPF Area 0</a:t>
            </a:r>
            <a:endParaRPr lang="zh-CN" altLang="en-US" sz="1400" dirty="0">
              <a:latin typeface="Huawei Sans" panose="020C0503030203020204" pitchFamily="34" charset="0"/>
              <a:ea typeface="方正兰亭黑简体" panose="02000000000000000000" pitchFamily="2" charset="-122"/>
            </a:endParaRPr>
          </a:p>
        </p:txBody>
      </p:sp>
      <p:sp>
        <p:nvSpPr>
          <p:cNvPr id="26"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27"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28"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628225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0DEE905-F230-48E0-9162-7AAAA173E941}"/>
              </a:ext>
            </a:extLst>
          </p:cNvPr>
          <p:cNvSpPr>
            <a:spLocks noGrp="1"/>
          </p:cNvSpPr>
          <p:nvPr>
            <p:ph type="title"/>
          </p:nvPr>
        </p:nvSpPr>
        <p:spPr bwMode="gray"/>
        <p:txBody>
          <a:bodyPr/>
          <a:lstStyle/>
          <a:p>
            <a:r>
              <a:rPr lang="en-US" dirty="0"/>
              <a:t>GRE O</a:t>
            </a:r>
            <a:r>
              <a:rPr lang="en-US" altLang="zh-CN" dirty="0"/>
              <a:t>ver IPsec</a:t>
            </a:r>
            <a:endParaRPr lang="en-US" dirty="0"/>
          </a:p>
        </p:txBody>
      </p:sp>
      <p:sp>
        <p:nvSpPr>
          <p:cNvPr id="4" name="Text Placeholder 3">
            <a:extLst>
              <a:ext uri="{FF2B5EF4-FFF2-40B4-BE49-F238E27FC236}">
                <a16:creationId xmlns:a16="http://schemas.microsoft.com/office/drawing/2014/main" id="{A2936B8D-5391-4B75-AB0B-2AAE0DD84A9E}"/>
              </a:ext>
            </a:extLst>
          </p:cNvPr>
          <p:cNvSpPr>
            <a:spLocks noGrp="1"/>
          </p:cNvSpPr>
          <p:nvPr>
            <p:ph type="body" sz="quarter" idx="10"/>
          </p:nvPr>
        </p:nvSpPr>
        <p:spPr bwMode="gray"/>
        <p:txBody>
          <a:bodyPr/>
          <a:lstStyle/>
          <a:p>
            <a:r>
              <a:rPr lang="en-US" sz="1800" dirty="0"/>
              <a:t>GRE</a:t>
            </a:r>
            <a:r>
              <a:rPr lang="zh-CN" altLang="en-US" sz="1800" dirty="0"/>
              <a:t>技术简单，但是使用</a:t>
            </a:r>
            <a:r>
              <a:rPr lang="en-US" altLang="zh-CN" sz="1800" dirty="0"/>
              <a:t>GRE</a:t>
            </a:r>
            <a:r>
              <a:rPr lang="zh-CN" altLang="en-US" sz="1800" dirty="0"/>
              <a:t>隧道传递的数据以明文方式传递的，数据容易被窃取。现网中一般与</a:t>
            </a:r>
            <a:r>
              <a:rPr lang="en-US" altLang="zh-CN" sz="1800" dirty="0"/>
              <a:t>IPsec</a:t>
            </a:r>
            <a:r>
              <a:rPr lang="zh-CN" altLang="en-US" sz="1800" dirty="0"/>
              <a:t>技术结合使用。</a:t>
            </a:r>
            <a:r>
              <a:rPr lang="en-US" altLang="zh-CN" sz="1800" dirty="0"/>
              <a:t>GRE</a:t>
            </a:r>
            <a:r>
              <a:rPr lang="zh-CN" altLang="en-US" sz="1800" dirty="0"/>
              <a:t>技术构建分支</a:t>
            </a:r>
            <a:r>
              <a:rPr lang="en-US" altLang="zh-CN" sz="1800" dirty="0"/>
              <a:t>-</a:t>
            </a:r>
            <a:r>
              <a:rPr lang="zh-CN" altLang="en-US" sz="1800" dirty="0"/>
              <a:t>总部之间的内部网络互联，</a:t>
            </a:r>
            <a:r>
              <a:rPr lang="en-US" altLang="zh-CN" sz="1800" dirty="0"/>
              <a:t>IPSec</a:t>
            </a:r>
            <a:r>
              <a:rPr lang="zh-CN" altLang="en-US" sz="1800" dirty="0"/>
              <a:t>技术加密</a:t>
            </a:r>
            <a:r>
              <a:rPr lang="en-US" altLang="zh-CN" sz="1800" dirty="0"/>
              <a:t>GRE</a:t>
            </a:r>
            <a:r>
              <a:rPr lang="zh-CN" altLang="en-US" sz="1800" dirty="0"/>
              <a:t>隧道报文。</a:t>
            </a:r>
            <a:endParaRPr lang="en-US" sz="1800" dirty="0"/>
          </a:p>
        </p:txBody>
      </p:sp>
      <p:sp>
        <p:nvSpPr>
          <p:cNvPr id="5" name="圆角矩形 75">
            <a:extLst>
              <a:ext uri="{FF2B5EF4-FFF2-40B4-BE49-F238E27FC236}">
                <a16:creationId xmlns:a16="http://schemas.microsoft.com/office/drawing/2014/main" id="{DB17F1AB-18D1-4DA6-8CA4-B6E16B2A99CF}"/>
              </a:ext>
            </a:extLst>
          </p:cNvPr>
          <p:cNvSpPr/>
          <p:nvPr/>
        </p:nvSpPr>
        <p:spPr bwMode="gray">
          <a:xfrm>
            <a:off x="1487488" y="2582627"/>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GRE </a:t>
            </a:r>
            <a:r>
              <a:rPr lang="en-US" altLang="zh-CN" sz="1600">
                <a:solidFill>
                  <a:srgbClr val="30B5C5"/>
                </a:solidFill>
                <a:latin typeface="Huawei Sans" panose="020C0503030203020204" pitchFamily="34" charset="0"/>
                <a:ea typeface="方正兰亭黑简体" panose="02000000000000000000" pitchFamily="2" charset="-122"/>
              </a:rPr>
              <a:t>Over IPSec</a:t>
            </a:r>
            <a:r>
              <a:rPr lang="zh-CN" altLang="en-US" sz="1600" dirty="0">
                <a:solidFill>
                  <a:srgbClr val="30B5C5"/>
                </a:solidFill>
                <a:latin typeface="Huawei Sans" panose="020C0503030203020204" pitchFamily="34" charset="0"/>
                <a:ea typeface="方正兰亭黑简体" panose="02000000000000000000" pitchFamily="2" charset="-122"/>
              </a:rPr>
              <a:t>数据封装</a:t>
            </a:r>
          </a:p>
        </p:txBody>
      </p:sp>
      <p:sp>
        <p:nvSpPr>
          <p:cNvPr id="6" name="圆角矩形 75">
            <a:extLst>
              <a:ext uri="{FF2B5EF4-FFF2-40B4-BE49-F238E27FC236}">
                <a16:creationId xmlns:a16="http://schemas.microsoft.com/office/drawing/2014/main" id="{CC77A3EF-784B-4BBC-B892-93194FBCA3E2}"/>
              </a:ext>
            </a:extLst>
          </p:cNvPr>
          <p:cNvSpPr/>
          <p:nvPr/>
        </p:nvSpPr>
        <p:spPr bwMode="gray">
          <a:xfrm>
            <a:off x="1487488" y="3016914"/>
            <a:ext cx="9394410" cy="260759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pic>
        <p:nvPicPr>
          <p:cNvPr id="7" name="图片 31">
            <a:extLst>
              <a:ext uri="{FF2B5EF4-FFF2-40B4-BE49-F238E27FC236}">
                <a16:creationId xmlns:a16="http://schemas.microsoft.com/office/drawing/2014/main" id="{363E6FEA-CF55-4457-992B-3EC12E0DC92D}"/>
              </a:ext>
            </a:extLst>
          </p:cNvPr>
          <p:cNvPicPr>
            <a:picLocks noChangeAspect="1"/>
          </p:cNvPicPr>
          <p:nvPr/>
        </p:nvPicPr>
        <p:blipFill>
          <a:blip r:embed="rId3"/>
          <a:stretch>
            <a:fillRect/>
          </a:stretch>
        </p:blipFill>
        <p:spPr bwMode="gray">
          <a:xfrm>
            <a:off x="4222587" y="4029767"/>
            <a:ext cx="466668" cy="389308"/>
          </a:xfrm>
          <a:prstGeom prst="rect">
            <a:avLst/>
          </a:prstGeom>
        </p:spPr>
      </p:pic>
      <p:pic>
        <p:nvPicPr>
          <p:cNvPr id="8" name="图片 31">
            <a:extLst>
              <a:ext uri="{FF2B5EF4-FFF2-40B4-BE49-F238E27FC236}">
                <a16:creationId xmlns:a16="http://schemas.microsoft.com/office/drawing/2014/main" id="{90ADEC5D-90AC-4EBF-BFA5-EC56DCCF9DA5}"/>
              </a:ext>
            </a:extLst>
          </p:cNvPr>
          <p:cNvPicPr>
            <a:picLocks noChangeAspect="1"/>
          </p:cNvPicPr>
          <p:nvPr/>
        </p:nvPicPr>
        <p:blipFill>
          <a:blip r:embed="rId3"/>
          <a:stretch>
            <a:fillRect/>
          </a:stretch>
        </p:blipFill>
        <p:spPr bwMode="gray">
          <a:xfrm>
            <a:off x="7500156" y="4029767"/>
            <a:ext cx="466668" cy="389308"/>
          </a:xfrm>
          <a:prstGeom prst="rect">
            <a:avLst/>
          </a:prstGeom>
        </p:spPr>
      </p:pic>
      <p:pic>
        <p:nvPicPr>
          <p:cNvPr id="9" name="图片 8">
            <a:extLst>
              <a:ext uri="{FF2B5EF4-FFF2-40B4-BE49-F238E27FC236}">
                <a16:creationId xmlns:a16="http://schemas.microsoft.com/office/drawing/2014/main" id="{803B68C1-8CB7-4498-903F-0645C9D1F274}"/>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27997" y="4047306"/>
            <a:ext cx="431988" cy="354230"/>
          </a:xfrm>
          <a:prstGeom prst="rect">
            <a:avLst/>
          </a:prstGeom>
        </p:spPr>
      </p:pic>
      <p:pic>
        <p:nvPicPr>
          <p:cNvPr id="10" name="图片 8">
            <a:extLst>
              <a:ext uri="{FF2B5EF4-FFF2-40B4-BE49-F238E27FC236}">
                <a16:creationId xmlns:a16="http://schemas.microsoft.com/office/drawing/2014/main" id="{6FBF261C-43D4-4050-9D2E-F4DD4550D6AF}"/>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826838" y="4047306"/>
            <a:ext cx="431988" cy="354230"/>
          </a:xfrm>
          <a:prstGeom prst="rect">
            <a:avLst/>
          </a:prstGeom>
        </p:spPr>
      </p:pic>
      <p:cxnSp>
        <p:nvCxnSpPr>
          <p:cNvPr id="11" name="Straight Connector 10">
            <a:extLst>
              <a:ext uri="{FF2B5EF4-FFF2-40B4-BE49-F238E27FC236}">
                <a16:creationId xmlns:a16="http://schemas.microsoft.com/office/drawing/2014/main" id="{6B458007-AE32-4A48-BA2A-9AC96439317F}"/>
              </a:ext>
            </a:extLst>
          </p:cNvPr>
          <p:cNvCxnSpPr>
            <a:stCxn id="9" idx="3"/>
            <a:endCxn id="7" idx="1"/>
          </p:cNvCxnSpPr>
          <p:nvPr/>
        </p:nvCxnSpPr>
        <p:spPr bwMode="gray">
          <a:xfrm>
            <a:off x="3359985" y="4224421"/>
            <a:ext cx="862602" cy="0"/>
          </a:xfrm>
          <a:prstGeom prst="line">
            <a:avLst/>
          </a:prstGeom>
          <a:solidFill>
            <a:schemeClr val="accent1"/>
          </a:solidFill>
          <a:ln w="19050" cap="flat" cmpd="sng" algn="ctr">
            <a:solidFill>
              <a:srgbClr val="56C4D2"/>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2C233AB9-A763-4084-9A3A-41E55B6CEA03}"/>
              </a:ext>
            </a:extLst>
          </p:cNvPr>
          <p:cNvCxnSpPr>
            <a:stCxn id="8" idx="3"/>
            <a:endCxn id="10" idx="1"/>
          </p:cNvCxnSpPr>
          <p:nvPr/>
        </p:nvCxnSpPr>
        <p:spPr bwMode="gray">
          <a:xfrm>
            <a:off x="7966824" y="4224421"/>
            <a:ext cx="860014" cy="0"/>
          </a:xfrm>
          <a:prstGeom prst="line">
            <a:avLst/>
          </a:prstGeom>
          <a:solidFill>
            <a:schemeClr val="accent1"/>
          </a:solidFill>
          <a:ln w="19050" cap="flat" cmpd="sng" algn="ctr">
            <a:solidFill>
              <a:srgbClr val="56C4D2"/>
            </a:solidFill>
            <a:prstDash val="solid"/>
            <a:round/>
            <a:headEnd type="none" w="med" len="med"/>
            <a:tailEnd type="none" w="med" len="med"/>
          </a:ln>
          <a:effectLst/>
        </p:spPr>
      </p:cxnSp>
      <p:cxnSp>
        <p:nvCxnSpPr>
          <p:cNvPr id="13" name="Straight Connector 12">
            <a:extLst>
              <a:ext uri="{FF2B5EF4-FFF2-40B4-BE49-F238E27FC236}">
                <a16:creationId xmlns:a16="http://schemas.microsoft.com/office/drawing/2014/main" id="{0850479F-2374-48E1-9F3A-22972CC41AFA}"/>
              </a:ext>
            </a:extLst>
          </p:cNvPr>
          <p:cNvCxnSpPr>
            <a:stCxn id="7" idx="3"/>
            <a:endCxn id="8" idx="1"/>
          </p:cNvCxnSpPr>
          <p:nvPr/>
        </p:nvCxnSpPr>
        <p:spPr bwMode="gray">
          <a:xfrm>
            <a:off x="4689255" y="4224421"/>
            <a:ext cx="2810901"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4" name="Freeform 159">
            <a:extLst>
              <a:ext uri="{FF2B5EF4-FFF2-40B4-BE49-F238E27FC236}">
                <a16:creationId xmlns:a16="http://schemas.microsoft.com/office/drawing/2014/main" id="{655A0C13-880F-434F-8FD1-3C580E57638C}"/>
              </a:ext>
            </a:extLst>
          </p:cNvPr>
          <p:cNvSpPr/>
          <p:nvPr/>
        </p:nvSpPr>
        <p:spPr bwMode="gray">
          <a:xfrm flipH="1">
            <a:off x="5551857" y="3939982"/>
            <a:ext cx="1088285" cy="5688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15" name="Can 225">
            <a:extLst>
              <a:ext uri="{FF2B5EF4-FFF2-40B4-BE49-F238E27FC236}">
                <a16:creationId xmlns:a16="http://schemas.microsoft.com/office/drawing/2014/main" id="{F9E4D923-3B80-4B3D-A6AC-67152AC88CC8}"/>
              </a:ext>
            </a:extLst>
          </p:cNvPr>
          <p:cNvSpPr/>
          <p:nvPr/>
        </p:nvSpPr>
        <p:spPr bwMode="gray">
          <a:xfrm rot="5400000" flipH="1">
            <a:off x="4900184" y="3924326"/>
            <a:ext cx="182222" cy="614657"/>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Can 41">
            <a:extLst>
              <a:ext uri="{FF2B5EF4-FFF2-40B4-BE49-F238E27FC236}">
                <a16:creationId xmlns:a16="http://schemas.microsoft.com/office/drawing/2014/main" id="{4E720F06-B739-40CD-867B-60230A3FCF45}"/>
              </a:ext>
            </a:extLst>
          </p:cNvPr>
          <p:cNvSpPr/>
          <p:nvPr/>
        </p:nvSpPr>
        <p:spPr bwMode="gray">
          <a:xfrm rot="5400000">
            <a:off x="5929802" y="2988452"/>
            <a:ext cx="236717" cy="247194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TextBox 16">
            <a:extLst>
              <a:ext uri="{FF2B5EF4-FFF2-40B4-BE49-F238E27FC236}">
                <a16:creationId xmlns:a16="http://schemas.microsoft.com/office/drawing/2014/main" id="{1C6D562F-69B2-4A26-A621-29F5458912B0}"/>
              </a:ext>
            </a:extLst>
          </p:cNvPr>
          <p:cNvSpPr txBox="1"/>
          <p:nvPr/>
        </p:nvSpPr>
        <p:spPr bwMode="gray">
          <a:xfrm flipH="1">
            <a:off x="5719820" y="4093155"/>
            <a:ext cx="880591" cy="276999"/>
          </a:xfrm>
          <a:prstGeom prst="rect">
            <a:avLst/>
          </a:prstGeom>
          <a:noFill/>
        </p:spPr>
        <p:txBody>
          <a:bodyPr wrap="square" rtlCol="0">
            <a:spAutoFit/>
          </a:bodyPr>
          <a:lstStyle/>
          <a:p>
            <a:pPr fontAlgn="auto"/>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18" name="Rectangular Callout 26">
            <a:extLst>
              <a:ext uri="{FF2B5EF4-FFF2-40B4-BE49-F238E27FC236}">
                <a16:creationId xmlns:a16="http://schemas.microsoft.com/office/drawing/2014/main" id="{517ABDF9-A9F0-4727-8BBE-52110BB5BEA6}"/>
              </a:ext>
            </a:extLst>
          </p:cNvPr>
          <p:cNvSpPr/>
          <p:nvPr/>
        </p:nvSpPr>
        <p:spPr bwMode="gray">
          <a:xfrm>
            <a:off x="4553839" y="3645200"/>
            <a:ext cx="1165981" cy="388952"/>
          </a:xfrm>
          <a:prstGeom prst="wedgeRectCallout">
            <a:avLst>
              <a:gd name="adj1" fmla="val 22628"/>
              <a:gd name="adj2" fmla="val 905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IPSec</a:t>
            </a:r>
            <a:r>
              <a:rPr lang="zh-CN" altLang="en-US" sz="1200" dirty="0">
                <a:solidFill>
                  <a:schemeClr val="tx1"/>
                </a:solidFill>
                <a:latin typeface="Huawei Sans" panose="020C0503030203020204" pitchFamily="34" charset="0"/>
                <a:ea typeface="方正兰亭黑简体" panose="02000000000000000000" pitchFamily="2" charset="-122"/>
              </a:rPr>
              <a:t>隧道（外）</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19" name="Can 225">
            <a:extLst>
              <a:ext uri="{FF2B5EF4-FFF2-40B4-BE49-F238E27FC236}">
                <a16:creationId xmlns:a16="http://schemas.microsoft.com/office/drawing/2014/main" id="{30D0A019-AFE4-4E0D-AACA-484A4DF6239A}"/>
              </a:ext>
            </a:extLst>
          </p:cNvPr>
          <p:cNvSpPr/>
          <p:nvPr/>
        </p:nvSpPr>
        <p:spPr bwMode="gray">
          <a:xfrm rot="5400000" flipH="1">
            <a:off x="7244383" y="4065044"/>
            <a:ext cx="182222" cy="318748"/>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Rectangular Callout 28">
            <a:extLst>
              <a:ext uri="{FF2B5EF4-FFF2-40B4-BE49-F238E27FC236}">
                <a16:creationId xmlns:a16="http://schemas.microsoft.com/office/drawing/2014/main" id="{F0B14F6E-C184-4BEB-A612-4D67925DED4E}"/>
              </a:ext>
            </a:extLst>
          </p:cNvPr>
          <p:cNvSpPr/>
          <p:nvPr/>
        </p:nvSpPr>
        <p:spPr bwMode="gray">
          <a:xfrm>
            <a:off x="6515511" y="3608782"/>
            <a:ext cx="1145501" cy="388952"/>
          </a:xfrm>
          <a:prstGeom prst="wedgeRectCallout">
            <a:avLst>
              <a:gd name="adj1" fmla="val 23538"/>
              <a:gd name="adj2" fmla="val 9401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隧道（内）</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21" name="TextBox 120">
            <a:extLst>
              <a:ext uri="{FF2B5EF4-FFF2-40B4-BE49-F238E27FC236}">
                <a16:creationId xmlns:a16="http://schemas.microsoft.com/office/drawing/2014/main" id="{341D2A1F-C5F6-4563-A474-16B0D0A8D26F}"/>
              </a:ext>
            </a:extLst>
          </p:cNvPr>
          <p:cNvSpPr txBox="1"/>
          <p:nvPr/>
        </p:nvSpPr>
        <p:spPr bwMode="gray">
          <a:xfrm>
            <a:off x="3449407" y="4433923"/>
            <a:ext cx="683757"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0">
            <a:extLst>
              <a:ext uri="{FF2B5EF4-FFF2-40B4-BE49-F238E27FC236}">
                <a16:creationId xmlns:a16="http://schemas.microsoft.com/office/drawing/2014/main" id="{36277B53-72E3-4222-9A61-3392CAA4D9D7}"/>
              </a:ext>
            </a:extLst>
          </p:cNvPr>
          <p:cNvSpPr txBox="1"/>
          <p:nvPr/>
        </p:nvSpPr>
        <p:spPr bwMode="gray">
          <a:xfrm>
            <a:off x="5570220" y="4433923"/>
            <a:ext cx="1029836" cy="287715"/>
          </a:xfrm>
          <a:prstGeom prst="roundRect">
            <a:avLst>
              <a:gd name="adj" fmla="val 6721"/>
            </a:avLst>
          </a:prstGeom>
          <a:solidFill>
            <a:srgbClr val="AFD89C"/>
          </a:solidFill>
          <a:ln w="12700">
            <a:solidFill>
              <a:srgbClr val="AFD89C"/>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IPSec </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20">
            <a:extLst>
              <a:ext uri="{FF2B5EF4-FFF2-40B4-BE49-F238E27FC236}">
                <a16:creationId xmlns:a16="http://schemas.microsoft.com/office/drawing/2014/main" id="{9CA77153-9056-433C-8B20-F3AB02831C6C}"/>
              </a:ext>
            </a:extLst>
          </p:cNvPr>
          <p:cNvSpPr txBox="1"/>
          <p:nvPr/>
        </p:nvSpPr>
        <p:spPr bwMode="gray">
          <a:xfrm>
            <a:off x="8020084" y="4433923"/>
            <a:ext cx="683757"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25"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26"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290582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p:txBody>
          <a:bodyPr/>
          <a:lstStyle/>
          <a:p>
            <a:r>
              <a:rPr lang="zh-CN" altLang="en-US" sz="1800" dirty="0"/>
              <a:t>在</a:t>
            </a:r>
            <a:r>
              <a:rPr lang="en-US" altLang="zh-CN" sz="1800" dirty="0"/>
              <a:t>MPLS VPN</a:t>
            </a:r>
            <a:r>
              <a:rPr lang="zh-CN" altLang="en-US" sz="1800" dirty="0"/>
              <a:t>中，为了让</a:t>
            </a:r>
            <a:r>
              <a:rPr lang="en-US" altLang="zh-CN" sz="1800" dirty="0"/>
              <a:t>CE</a:t>
            </a:r>
            <a:r>
              <a:rPr lang="zh-CN" altLang="en-US" sz="1800" dirty="0"/>
              <a:t>设备接入</a:t>
            </a:r>
            <a:r>
              <a:rPr lang="en-US" altLang="zh-CN" sz="1800" dirty="0"/>
              <a:t>VPN</a:t>
            </a:r>
            <a:r>
              <a:rPr lang="zh-CN" altLang="en-US" sz="1800" dirty="0"/>
              <a:t>中往往需要</a:t>
            </a:r>
            <a:r>
              <a:rPr lang="en-US" altLang="zh-CN" sz="1800" dirty="0"/>
              <a:t>CE</a:t>
            </a:r>
            <a:r>
              <a:rPr lang="zh-CN" altLang="en-US" sz="1800" dirty="0"/>
              <a:t>与</a:t>
            </a:r>
            <a:r>
              <a:rPr lang="en-US" altLang="zh-CN" sz="1800" dirty="0"/>
              <a:t>MPLS</a:t>
            </a:r>
            <a:r>
              <a:rPr lang="zh-CN" altLang="en-US" sz="1800" dirty="0"/>
              <a:t>骨干网的</a:t>
            </a:r>
            <a:r>
              <a:rPr lang="en-US" altLang="zh-CN" sz="1800" dirty="0"/>
              <a:t>PE</a:t>
            </a:r>
            <a:r>
              <a:rPr lang="zh-CN" altLang="en-US" sz="1800" dirty="0"/>
              <a:t>设备之间有直接的物理链路。</a:t>
            </a:r>
            <a:endParaRPr lang="en-US" altLang="zh-CN" sz="1800" dirty="0"/>
          </a:p>
          <a:p>
            <a:r>
              <a:rPr lang="zh-CN" altLang="en-US" sz="1800" dirty="0"/>
              <a:t>在实际组网中，并非所有的</a:t>
            </a:r>
            <a:r>
              <a:rPr lang="en-US" altLang="zh-CN" sz="1800" dirty="0"/>
              <a:t>CE</a:t>
            </a:r>
            <a:r>
              <a:rPr lang="zh-CN" altLang="en-US" sz="1800" dirty="0"/>
              <a:t>和</a:t>
            </a:r>
            <a:r>
              <a:rPr lang="en-US" altLang="zh-CN" sz="1800" dirty="0"/>
              <a:t>PE</a:t>
            </a:r>
            <a:r>
              <a:rPr lang="zh-CN" altLang="en-US" sz="1800" dirty="0"/>
              <a:t>都能用物理链路直接相连。例如，很多已经连接到</a:t>
            </a:r>
            <a:r>
              <a:rPr lang="en-US" altLang="zh-CN" sz="1800" dirty="0"/>
              <a:t>Internet</a:t>
            </a:r>
            <a:r>
              <a:rPr lang="zh-CN" altLang="en-US" sz="1800" dirty="0"/>
              <a:t>或基于</a:t>
            </a:r>
            <a:r>
              <a:rPr lang="en-US" altLang="zh-CN" sz="1800" dirty="0"/>
              <a:t>IP</a:t>
            </a:r>
            <a:r>
              <a:rPr lang="zh-CN" altLang="en-US" sz="1800" dirty="0"/>
              <a:t>技术的骨干网上的机构，其</a:t>
            </a:r>
            <a:r>
              <a:rPr lang="en-US" altLang="zh-CN" sz="1800" dirty="0"/>
              <a:t>CE</a:t>
            </a:r>
            <a:r>
              <a:rPr lang="zh-CN" altLang="en-US" sz="1800" dirty="0"/>
              <a:t>和</a:t>
            </a:r>
            <a:r>
              <a:rPr lang="en-US" altLang="zh-CN" sz="1800" dirty="0"/>
              <a:t>PE</a:t>
            </a:r>
            <a:r>
              <a:rPr lang="zh-CN" altLang="en-US" sz="1800" dirty="0"/>
              <a:t>设备之间地理位置上相距甚远，不可能直接接入到</a:t>
            </a:r>
            <a:r>
              <a:rPr lang="en-US" altLang="zh-CN" sz="1800" dirty="0"/>
              <a:t>MPLS</a:t>
            </a:r>
            <a:r>
              <a:rPr lang="zh-CN" altLang="en-US" sz="1800" dirty="0"/>
              <a:t>骨干网的</a:t>
            </a:r>
            <a:r>
              <a:rPr lang="en-US" altLang="zh-CN" sz="1800" dirty="0"/>
              <a:t>PE</a:t>
            </a:r>
            <a:r>
              <a:rPr lang="zh-CN" altLang="en-US" sz="1800" dirty="0"/>
              <a:t>设备上。这样就无法通过</a:t>
            </a:r>
            <a:r>
              <a:rPr lang="en-US" altLang="zh-CN" sz="1800" dirty="0"/>
              <a:t>Internet</a:t>
            </a:r>
            <a:r>
              <a:rPr lang="zh-CN" altLang="en-US" sz="1800" dirty="0"/>
              <a:t>或者是</a:t>
            </a:r>
            <a:r>
              <a:rPr lang="en-US" altLang="zh-CN" sz="1800" dirty="0"/>
              <a:t>IP</a:t>
            </a:r>
            <a:r>
              <a:rPr lang="zh-CN" altLang="en-US" sz="1800" dirty="0"/>
              <a:t>骨干网直接访问</a:t>
            </a:r>
            <a:r>
              <a:rPr lang="en-US" altLang="zh-CN" sz="1800" dirty="0"/>
              <a:t>MPLS VPN</a:t>
            </a:r>
            <a:r>
              <a:rPr lang="zh-CN" altLang="en-US" sz="1800" dirty="0"/>
              <a:t>内部的站点。</a:t>
            </a:r>
          </a:p>
        </p:txBody>
      </p:sp>
      <p:sp>
        <p:nvSpPr>
          <p:cNvPr id="10" name="Freeform 159">
            <a:extLst>
              <a:ext uri="{FF2B5EF4-FFF2-40B4-BE49-F238E27FC236}">
                <a16:creationId xmlns:a16="http://schemas.microsoft.com/office/drawing/2014/main" id="{2FCD4AB1-58E9-4243-AABE-418421B61D62}"/>
              </a:ext>
            </a:extLst>
          </p:cNvPr>
          <p:cNvSpPr/>
          <p:nvPr/>
        </p:nvSpPr>
        <p:spPr bwMode="gray">
          <a:xfrm flipH="1">
            <a:off x="3694490" y="3714007"/>
            <a:ext cx="2290485" cy="12454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9" name="Freeform 159">
            <a:extLst>
              <a:ext uri="{FF2B5EF4-FFF2-40B4-BE49-F238E27FC236}">
                <a16:creationId xmlns:a16="http://schemas.microsoft.com/office/drawing/2014/main" id="{2FCD4AB1-58E9-4243-AABE-418421B61D62}"/>
              </a:ext>
            </a:extLst>
          </p:cNvPr>
          <p:cNvSpPr/>
          <p:nvPr/>
        </p:nvSpPr>
        <p:spPr bwMode="gray">
          <a:xfrm flipH="1">
            <a:off x="6229254" y="3714007"/>
            <a:ext cx="2347786" cy="12454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sp>
        <p:nvSpPr>
          <p:cNvPr id="3" name="Title 2"/>
          <p:cNvSpPr>
            <a:spLocks noGrp="1"/>
          </p:cNvSpPr>
          <p:nvPr>
            <p:ph type="title"/>
          </p:nvPr>
        </p:nvSpPr>
        <p:spPr bwMode="gray"/>
        <p:txBody>
          <a:bodyPr/>
          <a:lstStyle/>
          <a:p>
            <a:r>
              <a:rPr lang="en-US" altLang="zh-CN" dirty="0"/>
              <a:t>MPLS VPN</a:t>
            </a:r>
            <a:r>
              <a:rPr lang="zh-CN" altLang="en-US" dirty="0"/>
              <a:t>的组网局限</a:t>
            </a:r>
          </a:p>
        </p:txBody>
      </p:sp>
      <p:pic>
        <p:nvPicPr>
          <p:cNvPr id="6"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5863854" y="4527832"/>
            <a:ext cx="440049" cy="360040"/>
          </a:xfrm>
          <a:prstGeom prst="rect">
            <a:avLst/>
          </a:prstGeom>
          <a:noFill/>
        </p:spPr>
      </p:pic>
      <p:sp>
        <p:nvSpPr>
          <p:cNvPr id="11" name="Freeform 159">
            <a:extLst>
              <a:ext uri="{FF2B5EF4-FFF2-40B4-BE49-F238E27FC236}">
                <a16:creationId xmlns:a16="http://schemas.microsoft.com/office/drawing/2014/main" id="{2FCD4AB1-58E9-4243-AABE-418421B61D62}"/>
              </a:ext>
            </a:extLst>
          </p:cNvPr>
          <p:cNvSpPr/>
          <p:nvPr/>
        </p:nvSpPr>
        <p:spPr bwMode="gray">
          <a:xfrm flipH="1">
            <a:off x="3169712" y="3453252"/>
            <a:ext cx="896504" cy="46862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Branch1</a:t>
            </a:r>
          </a:p>
        </p:txBody>
      </p:sp>
      <p:pic>
        <p:nvPicPr>
          <p:cNvPr id="5"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3917822" y="3741860"/>
            <a:ext cx="440049" cy="360040"/>
          </a:xfrm>
          <a:prstGeom prst="rect">
            <a:avLst/>
          </a:prstGeom>
          <a:noFill/>
        </p:spPr>
      </p:pic>
      <p:sp>
        <p:nvSpPr>
          <p:cNvPr id="13" name="Freeform 159">
            <a:extLst>
              <a:ext uri="{FF2B5EF4-FFF2-40B4-BE49-F238E27FC236}">
                <a16:creationId xmlns:a16="http://schemas.microsoft.com/office/drawing/2014/main" id="{2FCD4AB1-58E9-4243-AABE-418421B61D62}"/>
              </a:ext>
            </a:extLst>
          </p:cNvPr>
          <p:cNvSpPr/>
          <p:nvPr/>
        </p:nvSpPr>
        <p:spPr bwMode="gray">
          <a:xfrm flipH="1">
            <a:off x="8229455" y="3433693"/>
            <a:ext cx="926221" cy="48416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VPN1</a:t>
            </a:r>
          </a:p>
        </p:txBody>
      </p:sp>
      <p:pic>
        <p:nvPicPr>
          <p:cNvPr id="7"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7869991" y="3682468"/>
            <a:ext cx="440049" cy="360040"/>
          </a:xfrm>
          <a:prstGeom prst="rect">
            <a:avLst/>
          </a:prstGeom>
          <a:noFill/>
        </p:spPr>
      </p:pic>
      <p:sp>
        <p:nvSpPr>
          <p:cNvPr id="14" name="Freeform 159">
            <a:extLst>
              <a:ext uri="{FF2B5EF4-FFF2-40B4-BE49-F238E27FC236}">
                <a16:creationId xmlns:a16="http://schemas.microsoft.com/office/drawing/2014/main" id="{2FCD4AB1-58E9-4243-AABE-418421B61D62}"/>
              </a:ext>
            </a:extLst>
          </p:cNvPr>
          <p:cNvSpPr/>
          <p:nvPr/>
        </p:nvSpPr>
        <p:spPr bwMode="gray">
          <a:xfrm flipH="1">
            <a:off x="8608561" y="4802977"/>
            <a:ext cx="926221" cy="48416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VPN2</a:t>
            </a:r>
          </a:p>
        </p:txBody>
      </p:sp>
      <p:pic>
        <p:nvPicPr>
          <p:cNvPr id="15"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8294480" y="4776607"/>
            <a:ext cx="440049" cy="360040"/>
          </a:xfrm>
          <a:prstGeom prst="rect">
            <a:avLst/>
          </a:prstGeom>
          <a:noFill/>
        </p:spPr>
      </p:pic>
      <p:sp>
        <p:nvSpPr>
          <p:cNvPr id="16" name="Freeform 159">
            <a:extLst>
              <a:ext uri="{FF2B5EF4-FFF2-40B4-BE49-F238E27FC236}">
                <a16:creationId xmlns:a16="http://schemas.microsoft.com/office/drawing/2014/main" id="{2FCD4AB1-58E9-4243-AABE-418421B61D62}"/>
              </a:ext>
            </a:extLst>
          </p:cNvPr>
          <p:cNvSpPr/>
          <p:nvPr/>
        </p:nvSpPr>
        <p:spPr bwMode="gray">
          <a:xfrm flipH="1">
            <a:off x="2770571" y="4702310"/>
            <a:ext cx="896504" cy="46862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Branch2</a:t>
            </a:r>
          </a:p>
        </p:txBody>
      </p:sp>
      <p:pic>
        <p:nvPicPr>
          <p:cNvPr id="17"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3562765" y="4702310"/>
            <a:ext cx="440049" cy="360040"/>
          </a:xfrm>
          <a:prstGeom prst="rect">
            <a:avLst/>
          </a:prstGeom>
          <a:noFill/>
        </p:spPr>
      </p:pic>
      <p:pic>
        <p:nvPicPr>
          <p:cNvPr id="18" name="图片 6" descr="PC.png">
            <a:extLst>
              <a:ext uri="{FF2B5EF4-FFF2-40B4-BE49-F238E27FC236}">
                <a16:creationId xmlns:a16="http://schemas.microsoft.com/office/drawing/2014/main" id="{C09410A1-5434-49CB-9E60-FD465D4A5346}"/>
              </a:ext>
            </a:extLst>
          </p:cNvPr>
          <p:cNvPicPr>
            <a:picLocks noChangeAspect="1"/>
          </p:cNvPicPr>
          <p:nvPr/>
        </p:nvPicPr>
        <p:blipFill>
          <a:blip r:embed="rId4" cstate="print"/>
          <a:stretch>
            <a:fillRect/>
          </a:stretch>
        </p:blipFill>
        <p:spPr bwMode="gray">
          <a:xfrm>
            <a:off x="3286562" y="3260071"/>
            <a:ext cx="404217" cy="310438"/>
          </a:xfrm>
          <a:prstGeom prst="rect">
            <a:avLst/>
          </a:prstGeom>
        </p:spPr>
      </p:pic>
      <p:pic>
        <p:nvPicPr>
          <p:cNvPr id="19" name="图片 6" descr="PC.png">
            <a:extLst>
              <a:ext uri="{FF2B5EF4-FFF2-40B4-BE49-F238E27FC236}">
                <a16:creationId xmlns:a16="http://schemas.microsoft.com/office/drawing/2014/main" id="{C09410A1-5434-49CB-9E60-FD465D4A5346}"/>
              </a:ext>
            </a:extLst>
          </p:cNvPr>
          <p:cNvPicPr>
            <a:picLocks noChangeAspect="1"/>
          </p:cNvPicPr>
          <p:nvPr/>
        </p:nvPicPr>
        <p:blipFill>
          <a:blip r:embed="rId4" cstate="print"/>
          <a:stretch>
            <a:fillRect/>
          </a:stretch>
        </p:blipFill>
        <p:spPr bwMode="gray">
          <a:xfrm>
            <a:off x="2910172" y="4522318"/>
            <a:ext cx="404217" cy="310438"/>
          </a:xfrm>
          <a:prstGeom prst="rect">
            <a:avLst/>
          </a:prstGeom>
        </p:spPr>
      </p:pic>
      <p:pic>
        <p:nvPicPr>
          <p:cNvPr id="20" name="图片 76">
            <a:extLst>
              <a:ext uri="{FF2B5EF4-FFF2-40B4-BE49-F238E27FC236}">
                <a16:creationId xmlns:a16="http://schemas.microsoft.com/office/drawing/2014/main" id="{5DEC4BD3-9E90-49E1-B48B-42E475A9D5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928765" y="3387276"/>
            <a:ext cx="364492" cy="304347"/>
          </a:xfrm>
          <a:prstGeom prst="rect">
            <a:avLst/>
          </a:prstGeom>
        </p:spPr>
      </p:pic>
      <p:pic>
        <p:nvPicPr>
          <p:cNvPr id="21" name="图片 76">
            <a:extLst>
              <a:ext uri="{FF2B5EF4-FFF2-40B4-BE49-F238E27FC236}">
                <a16:creationId xmlns:a16="http://schemas.microsoft.com/office/drawing/2014/main" id="{5DEC4BD3-9E90-49E1-B48B-42E475A9D5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9277873" y="5063391"/>
            <a:ext cx="364492" cy="304347"/>
          </a:xfrm>
          <a:prstGeom prst="rect">
            <a:avLst/>
          </a:prstGeom>
        </p:spPr>
      </p:pic>
      <p:sp>
        <p:nvSpPr>
          <p:cNvPr id="22" name="TextBox 21">
            <a:extLst>
              <a:ext uri="{FF2B5EF4-FFF2-40B4-BE49-F238E27FC236}">
                <a16:creationId xmlns:a16="http://schemas.microsoft.com/office/drawing/2014/main" id="{A9C32E27-6748-4988-982D-F879F6B8E77E}"/>
              </a:ext>
            </a:extLst>
          </p:cNvPr>
          <p:cNvSpPr txBox="1"/>
          <p:nvPr/>
        </p:nvSpPr>
        <p:spPr bwMode="gray">
          <a:xfrm>
            <a:off x="3975469" y="3503441"/>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分支出口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22">
            <a:extLst>
              <a:ext uri="{FF2B5EF4-FFF2-40B4-BE49-F238E27FC236}">
                <a16:creationId xmlns:a16="http://schemas.microsoft.com/office/drawing/2014/main" id="{A9C32E27-6748-4988-982D-F879F6B8E77E}"/>
              </a:ext>
            </a:extLst>
          </p:cNvPr>
          <p:cNvSpPr txBox="1"/>
          <p:nvPr/>
        </p:nvSpPr>
        <p:spPr bwMode="gray">
          <a:xfrm>
            <a:off x="3607615" y="5026901"/>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分支出口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3">
            <a:extLst>
              <a:ext uri="{FF2B5EF4-FFF2-40B4-BE49-F238E27FC236}">
                <a16:creationId xmlns:a16="http://schemas.microsoft.com/office/drawing/2014/main" id="{A9C32E27-6748-4988-982D-F879F6B8E77E}"/>
              </a:ext>
            </a:extLst>
          </p:cNvPr>
          <p:cNvSpPr txBox="1"/>
          <p:nvPr/>
        </p:nvSpPr>
        <p:spPr bwMode="gray">
          <a:xfrm>
            <a:off x="7597902" y="3443056"/>
            <a:ext cx="78579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DC1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24">
            <a:extLst>
              <a:ext uri="{FF2B5EF4-FFF2-40B4-BE49-F238E27FC236}">
                <a16:creationId xmlns:a16="http://schemas.microsoft.com/office/drawing/2014/main" id="{A9C32E27-6748-4988-982D-F879F6B8E77E}"/>
              </a:ext>
            </a:extLst>
          </p:cNvPr>
          <p:cNvSpPr txBox="1"/>
          <p:nvPr/>
        </p:nvSpPr>
        <p:spPr bwMode="gray">
          <a:xfrm>
            <a:off x="7907779" y="5092798"/>
            <a:ext cx="78579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DC2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5">
            <a:extLst>
              <a:ext uri="{FF2B5EF4-FFF2-40B4-BE49-F238E27FC236}">
                <a16:creationId xmlns:a16="http://schemas.microsoft.com/office/drawing/2014/main" id="{A9C32E27-6748-4988-982D-F879F6B8E77E}"/>
              </a:ext>
            </a:extLst>
          </p:cNvPr>
          <p:cNvSpPr txBox="1"/>
          <p:nvPr/>
        </p:nvSpPr>
        <p:spPr bwMode="gray">
          <a:xfrm>
            <a:off x="5694120" y="4276699"/>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分支汇聚</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TextBox 28">
            <a:extLst>
              <a:ext uri="{FF2B5EF4-FFF2-40B4-BE49-F238E27FC236}">
                <a16:creationId xmlns:a16="http://schemas.microsoft.com/office/drawing/2014/main" id="{A9C32E27-6748-4988-982D-F879F6B8E77E}"/>
              </a:ext>
            </a:extLst>
          </p:cNvPr>
          <p:cNvSpPr txBox="1"/>
          <p:nvPr/>
        </p:nvSpPr>
        <p:spPr bwMode="gray">
          <a:xfrm>
            <a:off x="5897259" y="4868979"/>
            <a:ext cx="364202"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TextBox 29">
            <a:extLst>
              <a:ext uri="{FF2B5EF4-FFF2-40B4-BE49-F238E27FC236}">
                <a16:creationId xmlns:a16="http://schemas.microsoft.com/office/drawing/2014/main" id="{A9C32E27-6748-4988-982D-F879F6B8E77E}"/>
              </a:ext>
            </a:extLst>
          </p:cNvPr>
          <p:cNvSpPr txBox="1"/>
          <p:nvPr/>
        </p:nvSpPr>
        <p:spPr bwMode="gray">
          <a:xfrm>
            <a:off x="8240690" y="3882918"/>
            <a:ext cx="364202"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30">
            <a:extLst>
              <a:ext uri="{FF2B5EF4-FFF2-40B4-BE49-F238E27FC236}">
                <a16:creationId xmlns:a16="http://schemas.microsoft.com/office/drawing/2014/main" id="{A9C32E27-6748-4988-982D-F879F6B8E77E}"/>
              </a:ext>
            </a:extLst>
          </p:cNvPr>
          <p:cNvSpPr txBox="1"/>
          <p:nvPr/>
        </p:nvSpPr>
        <p:spPr bwMode="gray">
          <a:xfrm>
            <a:off x="8523045" y="4555449"/>
            <a:ext cx="364202"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Rectangular Callout 26">
            <a:extLst>
              <a:ext uri="{FF2B5EF4-FFF2-40B4-BE49-F238E27FC236}">
                <a16:creationId xmlns:a16="http://schemas.microsoft.com/office/drawing/2014/main" id="{5FB5A660-32D7-4AD1-AE6D-6CE751FBEC08}"/>
              </a:ext>
            </a:extLst>
          </p:cNvPr>
          <p:cNvSpPr/>
          <p:nvPr/>
        </p:nvSpPr>
        <p:spPr bwMode="gray">
          <a:xfrm>
            <a:off x="4890310" y="3775987"/>
            <a:ext cx="945223" cy="291018"/>
          </a:xfrm>
          <a:prstGeom prst="wedgeRectCallout">
            <a:avLst>
              <a:gd name="adj1" fmla="val -35793"/>
              <a:gd name="adj2" fmla="val 9832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非直连链路</a:t>
            </a:r>
            <a:endPar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33" name="Straight Connector 32">
            <a:extLst>
              <a:ext uri="{FF2B5EF4-FFF2-40B4-BE49-F238E27FC236}">
                <a16:creationId xmlns:a16="http://schemas.microsoft.com/office/drawing/2014/main" id="{F2F9EE92-CB13-4FF8-B7E0-3EE95233A1D3}"/>
              </a:ext>
            </a:extLst>
          </p:cNvPr>
          <p:cNvCxnSpPr>
            <a:cxnSpLocks/>
            <a:stCxn id="5" idx="3"/>
            <a:endCxn id="6" idx="1"/>
          </p:cNvCxnSpPr>
          <p:nvPr/>
        </p:nvCxnSpPr>
        <p:spPr bwMode="gray">
          <a:xfrm>
            <a:off x="4357871" y="3921880"/>
            <a:ext cx="1505983" cy="785972"/>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2F9EE92-CB13-4FF8-B7E0-3EE95233A1D3}"/>
              </a:ext>
            </a:extLst>
          </p:cNvPr>
          <p:cNvCxnSpPr>
            <a:cxnSpLocks/>
            <a:stCxn id="17" idx="3"/>
            <a:endCxn id="6" idx="1"/>
          </p:cNvCxnSpPr>
          <p:nvPr/>
        </p:nvCxnSpPr>
        <p:spPr bwMode="gray">
          <a:xfrm flipV="1">
            <a:off x="4002814" y="4707852"/>
            <a:ext cx="1861040" cy="174478"/>
          </a:xfrm>
          <a:prstGeom prst="line">
            <a:avLst/>
          </a:prstGeom>
          <a:ln w="19050">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0" name="Freeform 39"/>
          <p:cNvSpPr/>
          <p:nvPr/>
        </p:nvSpPr>
        <p:spPr bwMode="gray">
          <a:xfrm>
            <a:off x="3704253" y="3825551"/>
            <a:ext cx="2827176" cy="794350"/>
          </a:xfrm>
          <a:custGeom>
            <a:avLst/>
            <a:gdLst>
              <a:gd name="connsiteX0" fmla="*/ 0 w 2827176"/>
              <a:gd name="connsiteY0" fmla="*/ 0 h 794350"/>
              <a:gd name="connsiteX1" fmla="*/ 681135 w 2827176"/>
              <a:gd name="connsiteY1" fmla="*/ 167951 h 794350"/>
              <a:gd name="connsiteX2" fmla="*/ 1791478 w 2827176"/>
              <a:gd name="connsiteY2" fmla="*/ 727788 h 794350"/>
              <a:gd name="connsiteX3" fmla="*/ 2827176 w 2827176"/>
              <a:gd name="connsiteY3" fmla="*/ 783771 h 794350"/>
            </a:gdLst>
            <a:ahLst/>
            <a:cxnLst>
              <a:cxn ang="0">
                <a:pos x="connsiteX0" y="connsiteY0"/>
              </a:cxn>
              <a:cxn ang="0">
                <a:pos x="connsiteX1" y="connsiteY1"/>
              </a:cxn>
              <a:cxn ang="0">
                <a:pos x="connsiteX2" y="connsiteY2"/>
              </a:cxn>
              <a:cxn ang="0">
                <a:pos x="connsiteX3" y="connsiteY3"/>
              </a:cxn>
            </a:cxnLst>
            <a:rect l="l" t="t" r="r" b="b"/>
            <a:pathLst>
              <a:path w="2827176" h="794350">
                <a:moveTo>
                  <a:pt x="0" y="0"/>
                </a:moveTo>
                <a:cubicBezTo>
                  <a:pt x="191277" y="23326"/>
                  <a:pt x="382555" y="46653"/>
                  <a:pt x="681135" y="167951"/>
                </a:cubicBezTo>
                <a:cubicBezTo>
                  <a:pt x="979715" y="289249"/>
                  <a:pt x="1433804" y="625151"/>
                  <a:pt x="1791478" y="727788"/>
                </a:cubicBezTo>
                <a:cubicBezTo>
                  <a:pt x="2149152" y="830425"/>
                  <a:pt x="2827176" y="783771"/>
                  <a:pt x="2827176" y="783771"/>
                </a:cubicBezTo>
              </a:path>
            </a:pathLst>
          </a:custGeom>
          <a:noFill/>
          <a:ln w="28575">
            <a:solidFill>
              <a:srgbClr val="F5AC3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Freeform 40"/>
          <p:cNvSpPr/>
          <p:nvPr/>
        </p:nvSpPr>
        <p:spPr bwMode="gray">
          <a:xfrm>
            <a:off x="3453991" y="4763650"/>
            <a:ext cx="3077438" cy="293542"/>
          </a:xfrm>
          <a:custGeom>
            <a:avLst/>
            <a:gdLst>
              <a:gd name="connsiteX0" fmla="*/ 0 w 2929812"/>
              <a:gd name="connsiteY0" fmla="*/ 293542 h 293542"/>
              <a:gd name="connsiteX1" fmla="*/ 653143 w 2929812"/>
              <a:gd name="connsiteY1" fmla="*/ 181574 h 293542"/>
              <a:gd name="connsiteX2" fmla="*/ 2183363 w 2929812"/>
              <a:gd name="connsiteY2" fmla="*/ 22954 h 293542"/>
              <a:gd name="connsiteX3" fmla="*/ 2929812 w 2929812"/>
              <a:gd name="connsiteY3" fmla="*/ 4293 h 293542"/>
            </a:gdLst>
            <a:ahLst/>
            <a:cxnLst>
              <a:cxn ang="0">
                <a:pos x="connsiteX0" y="connsiteY0"/>
              </a:cxn>
              <a:cxn ang="0">
                <a:pos x="connsiteX1" y="connsiteY1"/>
              </a:cxn>
              <a:cxn ang="0">
                <a:pos x="connsiteX2" y="connsiteY2"/>
              </a:cxn>
              <a:cxn ang="0">
                <a:pos x="connsiteX3" y="connsiteY3"/>
              </a:cxn>
            </a:cxnLst>
            <a:rect l="l" t="t" r="r" b="b"/>
            <a:pathLst>
              <a:path w="2929812" h="293542">
                <a:moveTo>
                  <a:pt x="0" y="293542"/>
                </a:moveTo>
                <a:cubicBezTo>
                  <a:pt x="144624" y="260107"/>
                  <a:pt x="289249" y="226672"/>
                  <a:pt x="653143" y="181574"/>
                </a:cubicBezTo>
                <a:cubicBezTo>
                  <a:pt x="1017037" y="136476"/>
                  <a:pt x="1803918" y="52501"/>
                  <a:pt x="2183363" y="22954"/>
                </a:cubicBezTo>
                <a:cubicBezTo>
                  <a:pt x="2562808" y="-6593"/>
                  <a:pt x="2746310" y="-1150"/>
                  <a:pt x="2929812" y="4293"/>
                </a:cubicBezTo>
              </a:path>
            </a:pathLst>
          </a:custGeom>
          <a:noFill/>
          <a:ln w="28575">
            <a:solidFill>
              <a:srgbClr val="F5AC3C"/>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Rectangular Callout 26">
            <a:extLst>
              <a:ext uri="{FF2B5EF4-FFF2-40B4-BE49-F238E27FC236}">
                <a16:creationId xmlns:a16="http://schemas.microsoft.com/office/drawing/2014/main" id="{5FB5A660-32D7-4AD1-AE6D-6CE751FBEC08}"/>
              </a:ext>
            </a:extLst>
          </p:cNvPr>
          <p:cNvSpPr/>
          <p:nvPr/>
        </p:nvSpPr>
        <p:spPr bwMode="gray">
          <a:xfrm>
            <a:off x="6205544" y="5002982"/>
            <a:ext cx="1170497" cy="411662"/>
          </a:xfrm>
          <a:prstGeom prst="wedgeRectCallout">
            <a:avLst>
              <a:gd name="adj1" fmla="val -29870"/>
              <a:gd name="adj2" fmla="val -9084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无法区分流量属于哪个</a:t>
            </a:r>
            <a:r>
              <a:rPr lang="en-US" altLang="zh-CN" sz="1200"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VPN</a:t>
            </a:r>
          </a:p>
        </p:txBody>
      </p:sp>
      <p:sp>
        <p:nvSpPr>
          <p:cNvPr id="34"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35"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37"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723656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通过</a:t>
            </a:r>
            <a:r>
              <a:rPr lang="en-US" altLang="zh-CN" dirty="0"/>
              <a:t>GRE</a:t>
            </a:r>
            <a:r>
              <a:rPr lang="zh-CN" altLang="en-US" dirty="0"/>
              <a:t>接入</a:t>
            </a:r>
            <a:r>
              <a:rPr lang="en-US" altLang="zh-CN" dirty="0"/>
              <a:t>MPLS VPN</a:t>
            </a:r>
            <a:r>
              <a:rPr lang="zh-CN" altLang="en-US" dirty="0"/>
              <a:t>网络</a:t>
            </a:r>
          </a:p>
        </p:txBody>
      </p:sp>
      <p:sp>
        <p:nvSpPr>
          <p:cNvPr id="3" name="Text Placeholder 2"/>
          <p:cNvSpPr>
            <a:spLocks noGrp="1"/>
          </p:cNvSpPr>
          <p:nvPr>
            <p:ph type="body" sz="quarter" idx="10"/>
          </p:nvPr>
        </p:nvSpPr>
        <p:spPr bwMode="gray"/>
        <p:txBody>
          <a:bodyPr/>
          <a:lstStyle/>
          <a:p>
            <a:r>
              <a:rPr lang="zh-CN" altLang="en-US" sz="1800" dirty="0"/>
              <a:t>为了让</a:t>
            </a:r>
            <a:r>
              <a:rPr lang="en-US" altLang="zh-CN" sz="1800" dirty="0"/>
              <a:t>CE</a:t>
            </a:r>
            <a:r>
              <a:rPr lang="zh-CN" altLang="en-US" sz="1800" dirty="0"/>
              <a:t>能接入到</a:t>
            </a:r>
            <a:r>
              <a:rPr lang="en-US" altLang="zh-CN" sz="1800" dirty="0"/>
              <a:t>MPLS VPN</a:t>
            </a:r>
            <a:r>
              <a:rPr lang="zh-CN" altLang="en-US" sz="1800" dirty="0"/>
              <a:t>且可以保证数据传输的安全性，可以在</a:t>
            </a:r>
            <a:r>
              <a:rPr lang="en-US" altLang="zh-CN" sz="1800" dirty="0"/>
              <a:t>CE</a:t>
            </a:r>
            <a:r>
              <a:rPr lang="zh-CN" altLang="en-US" sz="1800" dirty="0"/>
              <a:t>和</a:t>
            </a:r>
            <a:r>
              <a:rPr lang="en-US" altLang="zh-CN" sz="1800" dirty="0"/>
              <a:t>PE</a:t>
            </a:r>
            <a:r>
              <a:rPr lang="zh-CN" altLang="en-US" sz="1800" dirty="0"/>
              <a:t>间利用公共网络或某私有网络相连，并在</a:t>
            </a:r>
            <a:r>
              <a:rPr lang="en-US" altLang="zh-CN" sz="1800" dirty="0"/>
              <a:t>CE</a:t>
            </a:r>
            <a:r>
              <a:rPr lang="zh-CN" altLang="en-US" sz="1800" dirty="0"/>
              <a:t>与</a:t>
            </a:r>
            <a:r>
              <a:rPr lang="en-US" altLang="zh-CN" sz="1800" dirty="0"/>
              <a:t>PE</a:t>
            </a:r>
            <a:r>
              <a:rPr lang="zh-CN" altLang="en-US" sz="1800" dirty="0"/>
              <a:t>之间创建</a:t>
            </a:r>
            <a:r>
              <a:rPr lang="en-US" altLang="zh-CN" sz="1800" dirty="0"/>
              <a:t>GRE</a:t>
            </a:r>
            <a:r>
              <a:rPr lang="zh-CN" altLang="en-US" sz="1800" dirty="0"/>
              <a:t>隧道，在</a:t>
            </a:r>
            <a:r>
              <a:rPr lang="en-US" altLang="zh-CN" sz="1800" dirty="0"/>
              <a:t>PE</a:t>
            </a:r>
            <a:r>
              <a:rPr lang="zh-CN" altLang="en-US" sz="1800" dirty="0"/>
              <a:t>上将</a:t>
            </a:r>
            <a:r>
              <a:rPr lang="en-US" altLang="zh-CN" sz="1800" dirty="0"/>
              <a:t>VPN</a:t>
            </a:r>
            <a:r>
              <a:rPr lang="zh-CN" altLang="en-US" sz="1800" dirty="0"/>
              <a:t>与</a:t>
            </a:r>
            <a:r>
              <a:rPr lang="en-US" altLang="zh-CN" sz="1800" dirty="0"/>
              <a:t>GRE</a:t>
            </a:r>
            <a:r>
              <a:rPr lang="zh-CN" altLang="en-US" sz="1800" dirty="0"/>
              <a:t>隧道接口进行关联。</a:t>
            </a:r>
            <a:endParaRPr lang="en-US" altLang="zh-CN" sz="1800" dirty="0"/>
          </a:p>
        </p:txBody>
      </p:sp>
      <p:sp>
        <p:nvSpPr>
          <p:cNvPr id="4" name="Freeform 159">
            <a:extLst>
              <a:ext uri="{FF2B5EF4-FFF2-40B4-BE49-F238E27FC236}">
                <a16:creationId xmlns:a16="http://schemas.microsoft.com/office/drawing/2014/main" id="{2FCD4AB1-58E9-4243-AABE-418421B61D62}"/>
              </a:ext>
            </a:extLst>
          </p:cNvPr>
          <p:cNvSpPr/>
          <p:nvPr/>
        </p:nvSpPr>
        <p:spPr bwMode="gray">
          <a:xfrm flipH="1">
            <a:off x="3685902" y="2888436"/>
            <a:ext cx="2290485" cy="12454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no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5" name="Freeform 159">
            <a:extLst>
              <a:ext uri="{FF2B5EF4-FFF2-40B4-BE49-F238E27FC236}">
                <a16:creationId xmlns:a16="http://schemas.microsoft.com/office/drawing/2014/main" id="{2FCD4AB1-58E9-4243-AABE-418421B61D62}"/>
              </a:ext>
            </a:extLst>
          </p:cNvPr>
          <p:cNvSpPr/>
          <p:nvPr/>
        </p:nvSpPr>
        <p:spPr bwMode="gray">
          <a:xfrm flipH="1">
            <a:off x="6220666" y="2888436"/>
            <a:ext cx="2347786" cy="12454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b="1"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MPLS</a:t>
            </a:r>
          </a:p>
        </p:txBody>
      </p:sp>
      <p:pic>
        <p:nvPicPr>
          <p:cNvPr id="6"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5855266" y="3702261"/>
            <a:ext cx="440049" cy="360040"/>
          </a:xfrm>
          <a:prstGeom prst="rect">
            <a:avLst/>
          </a:prstGeom>
          <a:noFill/>
        </p:spPr>
      </p:pic>
      <p:sp>
        <p:nvSpPr>
          <p:cNvPr id="7" name="Freeform 159">
            <a:extLst>
              <a:ext uri="{FF2B5EF4-FFF2-40B4-BE49-F238E27FC236}">
                <a16:creationId xmlns:a16="http://schemas.microsoft.com/office/drawing/2014/main" id="{2FCD4AB1-58E9-4243-AABE-418421B61D62}"/>
              </a:ext>
            </a:extLst>
          </p:cNvPr>
          <p:cNvSpPr/>
          <p:nvPr/>
        </p:nvSpPr>
        <p:spPr bwMode="gray">
          <a:xfrm flipH="1">
            <a:off x="3161124" y="2627681"/>
            <a:ext cx="896504" cy="46862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Branch1</a:t>
            </a:r>
          </a:p>
        </p:txBody>
      </p:sp>
      <p:pic>
        <p:nvPicPr>
          <p:cNvPr id="8"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3909234" y="2916289"/>
            <a:ext cx="440049" cy="360040"/>
          </a:xfrm>
          <a:prstGeom prst="rect">
            <a:avLst/>
          </a:prstGeom>
          <a:noFill/>
        </p:spPr>
      </p:pic>
      <p:sp>
        <p:nvSpPr>
          <p:cNvPr id="9" name="Freeform 159">
            <a:extLst>
              <a:ext uri="{FF2B5EF4-FFF2-40B4-BE49-F238E27FC236}">
                <a16:creationId xmlns:a16="http://schemas.microsoft.com/office/drawing/2014/main" id="{2FCD4AB1-58E9-4243-AABE-418421B61D62}"/>
              </a:ext>
            </a:extLst>
          </p:cNvPr>
          <p:cNvSpPr/>
          <p:nvPr/>
        </p:nvSpPr>
        <p:spPr bwMode="gray">
          <a:xfrm flipH="1">
            <a:off x="8220867" y="2608122"/>
            <a:ext cx="926221" cy="48416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VPN1</a:t>
            </a:r>
          </a:p>
        </p:txBody>
      </p:sp>
      <p:pic>
        <p:nvPicPr>
          <p:cNvPr id="10"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7861403" y="2856897"/>
            <a:ext cx="440049" cy="360040"/>
          </a:xfrm>
          <a:prstGeom prst="rect">
            <a:avLst/>
          </a:prstGeom>
          <a:noFill/>
        </p:spPr>
      </p:pic>
      <p:sp>
        <p:nvSpPr>
          <p:cNvPr id="11" name="Freeform 159">
            <a:extLst>
              <a:ext uri="{FF2B5EF4-FFF2-40B4-BE49-F238E27FC236}">
                <a16:creationId xmlns:a16="http://schemas.microsoft.com/office/drawing/2014/main" id="{2FCD4AB1-58E9-4243-AABE-418421B61D62}"/>
              </a:ext>
            </a:extLst>
          </p:cNvPr>
          <p:cNvSpPr/>
          <p:nvPr/>
        </p:nvSpPr>
        <p:spPr bwMode="gray">
          <a:xfrm flipH="1">
            <a:off x="8599973" y="3977406"/>
            <a:ext cx="926221" cy="48416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VPN2</a:t>
            </a:r>
          </a:p>
        </p:txBody>
      </p:sp>
      <p:pic>
        <p:nvPicPr>
          <p:cNvPr id="12"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8285892" y="3951036"/>
            <a:ext cx="440049" cy="360040"/>
          </a:xfrm>
          <a:prstGeom prst="rect">
            <a:avLst/>
          </a:prstGeom>
          <a:noFill/>
        </p:spPr>
      </p:pic>
      <p:sp>
        <p:nvSpPr>
          <p:cNvPr id="13" name="Freeform 159">
            <a:extLst>
              <a:ext uri="{FF2B5EF4-FFF2-40B4-BE49-F238E27FC236}">
                <a16:creationId xmlns:a16="http://schemas.microsoft.com/office/drawing/2014/main" id="{2FCD4AB1-58E9-4243-AABE-418421B61D62}"/>
              </a:ext>
            </a:extLst>
          </p:cNvPr>
          <p:cNvSpPr/>
          <p:nvPr/>
        </p:nvSpPr>
        <p:spPr bwMode="gray">
          <a:xfrm flipH="1">
            <a:off x="2761983" y="3876739"/>
            <a:ext cx="896504" cy="46862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Branch2</a:t>
            </a:r>
          </a:p>
        </p:txBody>
      </p:sp>
      <p:pic>
        <p:nvPicPr>
          <p:cNvPr id="14" name="Picture 12" descr="E:\2016.01\1.12 扁平化图标\蓝色\AR-蓝色最新-40.png">
            <a:extLst>
              <a:ext uri="{FF2B5EF4-FFF2-40B4-BE49-F238E27FC236}">
                <a16:creationId xmlns:a16="http://schemas.microsoft.com/office/drawing/2014/main" id="{1B2B6E4A-22E8-4855-B767-E01CC90AEB12}"/>
              </a:ext>
            </a:extLst>
          </p:cNvPr>
          <p:cNvPicPr>
            <a:picLocks noChangeAspect="1" noChangeArrowheads="1"/>
          </p:cNvPicPr>
          <p:nvPr/>
        </p:nvPicPr>
        <p:blipFill>
          <a:blip r:embed="rId3" cstate="print"/>
          <a:srcRect/>
          <a:stretch>
            <a:fillRect/>
          </a:stretch>
        </p:blipFill>
        <p:spPr bwMode="gray">
          <a:xfrm>
            <a:off x="3554177" y="3876739"/>
            <a:ext cx="440049" cy="360040"/>
          </a:xfrm>
          <a:prstGeom prst="rect">
            <a:avLst/>
          </a:prstGeom>
          <a:noFill/>
        </p:spPr>
      </p:pic>
      <p:pic>
        <p:nvPicPr>
          <p:cNvPr id="15" name="图片 6" descr="PC.png">
            <a:extLst>
              <a:ext uri="{FF2B5EF4-FFF2-40B4-BE49-F238E27FC236}">
                <a16:creationId xmlns:a16="http://schemas.microsoft.com/office/drawing/2014/main" id="{C09410A1-5434-49CB-9E60-FD465D4A5346}"/>
              </a:ext>
            </a:extLst>
          </p:cNvPr>
          <p:cNvPicPr>
            <a:picLocks noChangeAspect="1"/>
          </p:cNvPicPr>
          <p:nvPr/>
        </p:nvPicPr>
        <p:blipFill>
          <a:blip r:embed="rId4" cstate="print"/>
          <a:stretch>
            <a:fillRect/>
          </a:stretch>
        </p:blipFill>
        <p:spPr bwMode="gray">
          <a:xfrm>
            <a:off x="3277974" y="2434500"/>
            <a:ext cx="404217" cy="310438"/>
          </a:xfrm>
          <a:prstGeom prst="rect">
            <a:avLst/>
          </a:prstGeom>
        </p:spPr>
      </p:pic>
      <p:pic>
        <p:nvPicPr>
          <p:cNvPr id="16" name="图片 6" descr="PC.png">
            <a:extLst>
              <a:ext uri="{FF2B5EF4-FFF2-40B4-BE49-F238E27FC236}">
                <a16:creationId xmlns:a16="http://schemas.microsoft.com/office/drawing/2014/main" id="{C09410A1-5434-49CB-9E60-FD465D4A5346}"/>
              </a:ext>
            </a:extLst>
          </p:cNvPr>
          <p:cNvPicPr>
            <a:picLocks noChangeAspect="1"/>
          </p:cNvPicPr>
          <p:nvPr/>
        </p:nvPicPr>
        <p:blipFill>
          <a:blip r:embed="rId4" cstate="print"/>
          <a:stretch>
            <a:fillRect/>
          </a:stretch>
        </p:blipFill>
        <p:spPr bwMode="gray">
          <a:xfrm>
            <a:off x="2901584" y="3696747"/>
            <a:ext cx="404217" cy="310438"/>
          </a:xfrm>
          <a:prstGeom prst="rect">
            <a:avLst/>
          </a:prstGeom>
        </p:spPr>
      </p:pic>
      <p:pic>
        <p:nvPicPr>
          <p:cNvPr id="17" name="图片 76">
            <a:extLst>
              <a:ext uri="{FF2B5EF4-FFF2-40B4-BE49-F238E27FC236}">
                <a16:creationId xmlns:a16="http://schemas.microsoft.com/office/drawing/2014/main" id="{5DEC4BD3-9E90-49E1-B48B-42E475A9D5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8920177" y="2561705"/>
            <a:ext cx="364492" cy="304347"/>
          </a:xfrm>
          <a:prstGeom prst="rect">
            <a:avLst/>
          </a:prstGeom>
        </p:spPr>
      </p:pic>
      <p:pic>
        <p:nvPicPr>
          <p:cNvPr id="18" name="图片 76">
            <a:extLst>
              <a:ext uri="{FF2B5EF4-FFF2-40B4-BE49-F238E27FC236}">
                <a16:creationId xmlns:a16="http://schemas.microsoft.com/office/drawing/2014/main" id="{5DEC4BD3-9E90-49E1-B48B-42E475A9D5E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9269285" y="4237820"/>
            <a:ext cx="364492" cy="304347"/>
          </a:xfrm>
          <a:prstGeom prst="rect">
            <a:avLst/>
          </a:prstGeom>
        </p:spPr>
      </p:pic>
      <p:sp>
        <p:nvSpPr>
          <p:cNvPr id="19" name="TextBox 18">
            <a:extLst>
              <a:ext uri="{FF2B5EF4-FFF2-40B4-BE49-F238E27FC236}">
                <a16:creationId xmlns:a16="http://schemas.microsoft.com/office/drawing/2014/main" id="{A9C32E27-6748-4988-982D-F879F6B8E77E}"/>
              </a:ext>
            </a:extLst>
          </p:cNvPr>
          <p:cNvSpPr txBox="1"/>
          <p:nvPr/>
        </p:nvSpPr>
        <p:spPr bwMode="gray">
          <a:xfrm>
            <a:off x="3966881" y="2677870"/>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分支出口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19">
            <a:extLst>
              <a:ext uri="{FF2B5EF4-FFF2-40B4-BE49-F238E27FC236}">
                <a16:creationId xmlns:a16="http://schemas.microsoft.com/office/drawing/2014/main" id="{A9C32E27-6748-4988-982D-F879F6B8E77E}"/>
              </a:ext>
            </a:extLst>
          </p:cNvPr>
          <p:cNvSpPr txBox="1"/>
          <p:nvPr/>
        </p:nvSpPr>
        <p:spPr bwMode="gray">
          <a:xfrm>
            <a:off x="3599027" y="4201330"/>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分支出口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20">
            <a:extLst>
              <a:ext uri="{FF2B5EF4-FFF2-40B4-BE49-F238E27FC236}">
                <a16:creationId xmlns:a16="http://schemas.microsoft.com/office/drawing/2014/main" id="{A9C32E27-6748-4988-982D-F879F6B8E77E}"/>
              </a:ext>
            </a:extLst>
          </p:cNvPr>
          <p:cNvSpPr txBox="1"/>
          <p:nvPr/>
        </p:nvSpPr>
        <p:spPr bwMode="gray">
          <a:xfrm>
            <a:off x="7589314" y="2617485"/>
            <a:ext cx="78579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DC1</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21">
            <a:extLst>
              <a:ext uri="{FF2B5EF4-FFF2-40B4-BE49-F238E27FC236}">
                <a16:creationId xmlns:a16="http://schemas.microsoft.com/office/drawing/2014/main" id="{A9C32E27-6748-4988-982D-F879F6B8E77E}"/>
              </a:ext>
            </a:extLst>
          </p:cNvPr>
          <p:cNvSpPr txBox="1"/>
          <p:nvPr/>
        </p:nvSpPr>
        <p:spPr bwMode="gray">
          <a:xfrm>
            <a:off x="7899191" y="4267227"/>
            <a:ext cx="78579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DC2</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出口</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22">
            <a:extLst>
              <a:ext uri="{FF2B5EF4-FFF2-40B4-BE49-F238E27FC236}">
                <a16:creationId xmlns:a16="http://schemas.microsoft.com/office/drawing/2014/main" id="{A9C32E27-6748-4988-982D-F879F6B8E77E}"/>
              </a:ext>
            </a:extLst>
          </p:cNvPr>
          <p:cNvSpPr txBox="1"/>
          <p:nvPr/>
        </p:nvSpPr>
        <p:spPr bwMode="gray">
          <a:xfrm>
            <a:off x="5685532" y="3451128"/>
            <a:ext cx="800219"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分支汇聚</a:t>
            </a:r>
            <a:endParaRPr 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5">
            <a:extLst>
              <a:ext uri="{FF2B5EF4-FFF2-40B4-BE49-F238E27FC236}">
                <a16:creationId xmlns:a16="http://schemas.microsoft.com/office/drawing/2014/main" id="{A9C32E27-6748-4988-982D-F879F6B8E77E}"/>
              </a:ext>
            </a:extLst>
          </p:cNvPr>
          <p:cNvSpPr txBox="1"/>
          <p:nvPr/>
        </p:nvSpPr>
        <p:spPr bwMode="gray">
          <a:xfrm>
            <a:off x="8232102" y="3057347"/>
            <a:ext cx="364202"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6">
            <a:extLst>
              <a:ext uri="{FF2B5EF4-FFF2-40B4-BE49-F238E27FC236}">
                <a16:creationId xmlns:a16="http://schemas.microsoft.com/office/drawing/2014/main" id="{A9C32E27-6748-4988-982D-F879F6B8E77E}"/>
              </a:ext>
            </a:extLst>
          </p:cNvPr>
          <p:cNvSpPr txBox="1"/>
          <p:nvPr/>
        </p:nvSpPr>
        <p:spPr bwMode="gray">
          <a:xfrm>
            <a:off x="8514457" y="3729878"/>
            <a:ext cx="364202"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Can 41"/>
          <p:cNvSpPr/>
          <p:nvPr/>
        </p:nvSpPr>
        <p:spPr bwMode="gray">
          <a:xfrm rot="7046274">
            <a:off x="5032004" y="2649694"/>
            <a:ext cx="159327" cy="1586973"/>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Can 41"/>
          <p:cNvSpPr/>
          <p:nvPr/>
        </p:nvSpPr>
        <p:spPr bwMode="gray">
          <a:xfrm rot="5077885">
            <a:off x="4836321" y="3132868"/>
            <a:ext cx="159327" cy="1797860"/>
          </a:xfrm>
          <a:prstGeom prst="can">
            <a:avLst>
              <a:gd name="adj" fmla="val 55435"/>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Can 41"/>
          <p:cNvSpPr/>
          <p:nvPr/>
        </p:nvSpPr>
        <p:spPr bwMode="gray">
          <a:xfrm rot="4023725">
            <a:off x="6989194" y="2610090"/>
            <a:ext cx="159327" cy="1665561"/>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Can 41"/>
          <p:cNvSpPr/>
          <p:nvPr/>
        </p:nvSpPr>
        <p:spPr bwMode="gray">
          <a:xfrm rot="5723267">
            <a:off x="7205801" y="3056602"/>
            <a:ext cx="159327" cy="1963043"/>
          </a:xfrm>
          <a:prstGeom prst="can">
            <a:avLst>
              <a:gd name="adj" fmla="val 55435"/>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37"/>
          <p:cNvSpPr txBox="1"/>
          <p:nvPr/>
        </p:nvSpPr>
        <p:spPr bwMode="gray">
          <a:xfrm rot="1653718">
            <a:off x="4643621" y="3273123"/>
            <a:ext cx="780983" cy="276999"/>
          </a:xfrm>
          <a:prstGeom prst="rect">
            <a:avLst/>
          </a:prstGeom>
          <a:noFill/>
        </p:spPr>
        <p:txBody>
          <a:bodyPr wrap="none" rtlCol="0">
            <a:spAutoFit/>
          </a:bodyPr>
          <a:lstStyle/>
          <a:p>
            <a:r>
              <a:rPr lang="en-US" altLang="zh-CN" sz="1200" dirty="0"/>
              <a:t>GRE</a:t>
            </a:r>
            <a:r>
              <a:rPr lang="zh-CN" altLang="en-US" sz="1200" dirty="0"/>
              <a:t>隧道</a:t>
            </a:r>
          </a:p>
        </p:txBody>
      </p:sp>
      <p:sp>
        <p:nvSpPr>
          <p:cNvPr id="39" name="TextBox 38"/>
          <p:cNvSpPr txBox="1"/>
          <p:nvPr/>
        </p:nvSpPr>
        <p:spPr bwMode="gray">
          <a:xfrm rot="21339068">
            <a:off x="4432074" y="3903244"/>
            <a:ext cx="780983" cy="276999"/>
          </a:xfrm>
          <a:prstGeom prst="rect">
            <a:avLst/>
          </a:prstGeom>
          <a:noFill/>
        </p:spPr>
        <p:txBody>
          <a:bodyPr wrap="none" rtlCol="0">
            <a:spAutoFit/>
          </a:bodyPr>
          <a:lstStyle/>
          <a:p>
            <a:r>
              <a:rPr lang="en-US" altLang="zh-CN" sz="1200" dirty="0"/>
              <a:t>GRE</a:t>
            </a:r>
            <a:r>
              <a:rPr lang="zh-CN" altLang="en-US" sz="1200" dirty="0"/>
              <a:t>隧道</a:t>
            </a:r>
          </a:p>
        </p:txBody>
      </p:sp>
      <p:sp>
        <p:nvSpPr>
          <p:cNvPr id="40" name="TextBox 39"/>
          <p:cNvSpPr txBox="1"/>
          <p:nvPr/>
        </p:nvSpPr>
        <p:spPr bwMode="gray">
          <a:xfrm rot="20193588">
            <a:off x="6451542" y="3305007"/>
            <a:ext cx="1234633" cy="276999"/>
          </a:xfrm>
          <a:prstGeom prst="rect">
            <a:avLst/>
          </a:prstGeom>
          <a:noFill/>
        </p:spPr>
        <p:txBody>
          <a:bodyPr wrap="none" rtlCol="0">
            <a:spAutoFit/>
          </a:bodyPr>
          <a:lstStyle/>
          <a:p>
            <a:r>
              <a:rPr lang="en-US" altLang="zh-CN" sz="1200" dirty="0"/>
              <a:t>MPLS VPN</a:t>
            </a:r>
            <a:r>
              <a:rPr lang="zh-CN" altLang="en-US" sz="1200" dirty="0"/>
              <a:t>隧道</a:t>
            </a:r>
          </a:p>
        </p:txBody>
      </p:sp>
      <p:sp>
        <p:nvSpPr>
          <p:cNvPr id="41" name="TextBox 40"/>
          <p:cNvSpPr txBox="1"/>
          <p:nvPr/>
        </p:nvSpPr>
        <p:spPr bwMode="gray">
          <a:xfrm rot="336046">
            <a:off x="6650144" y="3904908"/>
            <a:ext cx="1234633" cy="276999"/>
          </a:xfrm>
          <a:prstGeom prst="rect">
            <a:avLst/>
          </a:prstGeom>
          <a:noFill/>
        </p:spPr>
        <p:txBody>
          <a:bodyPr wrap="none" rtlCol="0">
            <a:spAutoFit/>
          </a:bodyPr>
          <a:lstStyle/>
          <a:p>
            <a:r>
              <a:rPr lang="en-US" altLang="zh-CN" sz="1200" dirty="0"/>
              <a:t>MPLS VPN</a:t>
            </a:r>
            <a:r>
              <a:rPr lang="zh-CN" altLang="en-US" sz="1200" dirty="0"/>
              <a:t>隧道</a:t>
            </a:r>
          </a:p>
        </p:txBody>
      </p:sp>
      <p:sp>
        <p:nvSpPr>
          <p:cNvPr id="42" name="Rounded Rectangle 41"/>
          <p:cNvSpPr/>
          <p:nvPr/>
        </p:nvSpPr>
        <p:spPr bwMode="gray">
          <a:xfrm>
            <a:off x="5238444" y="4576615"/>
            <a:ext cx="1694393" cy="833620"/>
          </a:xfrm>
          <a:prstGeom prst="roundRect">
            <a:avLst>
              <a:gd name="adj" fmla="val 6322"/>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Can 41"/>
          <p:cNvSpPr/>
          <p:nvPr/>
        </p:nvSpPr>
        <p:spPr bwMode="gray">
          <a:xfrm rot="5400000">
            <a:off x="5084167" y="4408797"/>
            <a:ext cx="159327" cy="779018"/>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Can 41"/>
          <p:cNvSpPr/>
          <p:nvPr/>
        </p:nvSpPr>
        <p:spPr bwMode="gray">
          <a:xfrm rot="5400000">
            <a:off x="5080557" y="4803527"/>
            <a:ext cx="159327" cy="786241"/>
          </a:xfrm>
          <a:prstGeom prst="can">
            <a:avLst>
              <a:gd name="adj" fmla="val 55435"/>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Rounded Rectangle 45"/>
          <p:cNvSpPr/>
          <p:nvPr/>
        </p:nvSpPr>
        <p:spPr bwMode="gray">
          <a:xfrm>
            <a:off x="5742853" y="4672782"/>
            <a:ext cx="664873" cy="251046"/>
          </a:xfrm>
          <a:prstGeom prst="roundRect">
            <a:avLst>
              <a:gd name="adj" fmla="val 6322"/>
            </a:avLst>
          </a:prstGeom>
          <a:noFill/>
          <a:ln>
            <a:solidFill>
              <a:srgbClr val="FDD35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VRF1</a:t>
            </a:r>
            <a:endParaRPr lang="zh-CN" altLang="en-US" sz="1400" dirty="0">
              <a:solidFill>
                <a:schemeClr val="tx1"/>
              </a:solidFill>
            </a:endParaRPr>
          </a:p>
        </p:txBody>
      </p:sp>
      <p:sp>
        <p:nvSpPr>
          <p:cNvPr id="47" name="Rounded Rectangle 46"/>
          <p:cNvSpPr/>
          <p:nvPr/>
        </p:nvSpPr>
        <p:spPr bwMode="gray">
          <a:xfrm>
            <a:off x="5737048" y="5071124"/>
            <a:ext cx="664873" cy="251046"/>
          </a:xfrm>
          <a:prstGeom prst="roundRect">
            <a:avLst>
              <a:gd name="adj" fmla="val 6322"/>
            </a:avLst>
          </a:prstGeom>
          <a:noFill/>
          <a:ln>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rPr>
              <a:t>VRF2</a:t>
            </a:r>
            <a:endParaRPr lang="zh-CN" altLang="en-US" sz="1400" dirty="0">
              <a:solidFill>
                <a:schemeClr val="tx1"/>
              </a:solidFill>
            </a:endParaRPr>
          </a:p>
        </p:txBody>
      </p:sp>
      <p:sp>
        <p:nvSpPr>
          <p:cNvPr id="48" name="Can 41"/>
          <p:cNvSpPr/>
          <p:nvPr/>
        </p:nvSpPr>
        <p:spPr bwMode="gray">
          <a:xfrm rot="5400000">
            <a:off x="7154634" y="4209407"/>
            <a:ext cx="159327" cy="1177797"/>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Can 41"/>
          <p:cNvSpPr/>
          <p:nvPr/>
        </p:nvSpPr>
        <p:spPr bwMode="gray">
          <a:xfrm rot="5400000">
            <a:off x="7154635" y="4607747"/>
            <a:ext cx="159327" cy="1177802"/>
          </a:xfrm>
          <a:prstGeom prst="can">
            <a:avLst>
              <a:gd name="adj" fmla="val 55435"/>
            </a:avLst>
          </a:prstGeom>
          <a:solidFill>
            <a:srgbClr val="56C4D2"/>
          </a:solidFill>
          <a:ln w="12700">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Straight Connector 50"/>
          <p:cNvCxnSpPr>
            <a:stCxn id="44" idx="1"/>
            <a:endCxn id="46" idx="1"/>
          </p:cNvCxnSpPr>
          <p:nvPr/>
        </p:nvCxnSpPr>
        <p:spPr bwMode="gray">
          <a:xfrm flipV="1">
            <a:off x="5553340" y="4798305"/>
            <a:ext cx="189513" cy="2"/>
          </a:xfrm>
          <a:prstGeom prst="line">
            <a:avLst/>
          </a:prstGeom>
          <a:ln w="19050">
            <a:solidFill>
              <a:srgbClr val="FDD35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6" idx="3"/>
            <a:endCxn id="48" idx="3"/>
          </p:cNvCxnSpPr>
          <p:nvPr/>
        </p:nvCxnSpPr>
        <p:spPr bwMode="gray">
          <a:xfrm>
            <a:off x="6407726" y="4798305"/>
            <a:ext cx="237673" cy="1"/>
          </a:xfrm>
          <a:prstGeom prst="line">
            <a:avLst/>
          </a:prstGeom>
          <a:ln w="19050">
            <a:solidFill>
              <a:srgbClr val="FDD35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45" idx="1"/>
            <a:endCxn id="47" idx="1"/>
          </p:cNvCxnSpPr>
          <p:nvPr/>
        </p:nvCxnSpPr>
        <p:spPr bwMode="gray">
          <a:xfrm flipV="1">
            <a:off x="5553341" y="5196647"/>
            <a:ext cx="183707" cy="1"/>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47" idx="3"/>
            <a:endCxn id="49" idx="3"/>
          </p:cNvCxnSpPr>
          <p:nvPr/>
        </p:nvCxnSpPr>
        <p:spPr bwMode="gray">
          <a:xfrm>
            <a:off x="6401921" y="5196647"/>
            <a:ext cx="243477" cy="2"/>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bwMode="gray">
          <a:xfrm>
            <a:off x="4734187" y="4667108"/>
            <a:ext cx="780983" cy="276999"/>
          </a:xfrm>
          <a:prstGeom prst="rect">
            <a:avLst/>
          </a:prstGeom>
          <a:noFill/>
        </p:spPr>
        <p:txBody>
          <a:bodyPr wrap="none" rtlCol="0">
            <a:spAutoFit/>
          </a:bodyPr>
          <a:lstStyle/>
          <a:p>
            <a:r>
              <a:rPr lang="en-US" altLang="zh-CN" sz="1200" dirty="0"/>
              <a:t>GRE</a:t>
            </a:r>
            <a:r>
              <a:rPr lang="zh-CN" altLang="en-US" sz="1200" dirty="0"/>
              <a:t>隧道</a:t>
            </a:r>
          </a:p>
        </p:txBody>
      </p:sp>
      <p:sp>
        <p:nvSpPr>
          <p:cNvPr id="66" name="TextBox 65"/>
          <p:cNvSpPr txBox="1"/>
          <p:nvPr/>
        </p:nvSpPr>
        <p:spPr bwMode="gray">
          <a:xfrm>
            <a:off x="4734187" y="5067379"/>
            <a:ext cx="780983" cy="276999"/>
          </a:xfrm>
          <a:prstGeom prst="rect">
            <a:avLst/>
          </a:prstGeom>
          <a:noFill/>
        </p:spPr>
        <p:txBody>
          <a:bodyPr wrap="none" rtlCol="0">
            <a:spAutoFit/>
          </a:bodyPr>
          <a:lstStyle/>
          <a:p>
            <a:r>
              <a:rPr lang="en-US" altLang="zh-CN" sz="1200" dirty="0"/>
              <a:t>GRE</a:t>
            </a:r>
            <a:r>
              <a:rPr lang="zh-CN" altLang="en-US" sz="1200" dirty="0"/>
              <a:t>隧道</a:t>
            </a:r>
          </a:p>
        </p:txBody>
      </p:sp>
      <p:sp>
        <p:nvSpPr>
          <p:cNvPr id="67" name="TextBox 66"/>
          <p:cNvSpPr txBox="1"/>
          <p:nvPr/>
        </p:nvSpPr>
        <p:spPr bwMode="gray">
          <a:xfrm>
            <a:off x="6570912" y="4665912"/>
            <a:ext cx="1234633" cy="276999"/>
          </a:xfrm>
          <a:prstGeom prst="rect">
            <a:avLst/>
          </a:prstGeom>
          <a:noFill/>
        </p:spPr>
        <p:txBody>
          <a:bodyPr wrap="none" rtlCol="0">
            <a:spAutoFit/>
          </a:bodyPr>
          <a:lstStyle/>
          <a:p>
            <a:r>
              <a:rPr lang="en-US" altLang="zh-CN" sz="1200" dirty="0"/>
              <a:t>MPLS VPN</a:t>
            </a:r>
            <a:r>
              <a:rPr lang="zh-CN" altLang="en-US" sz="1200" dirty="0"/>
              <a:t>隧道</a:t>
            </a:r>
          </a:p>
        </p:txBody>
      </p:sp>
      <p:sp>
        <p:nvSpPr>
          <p:cNvPr id="70" name="TextBox 69"/>
          <p:cNvSpPr txBox="1"/>
          <p:nvPr/>
        </p:nvSpPr>
        <p:spPr bwMode="gray">
          <a:xfrm>
            <a:off x="6580433" y="5056745"/>
            <a:ext cx="1234633" cy="276999"/>
          </a:xfrm>
          <a:prstGeom prst="rect">
            <a:avLst/>
          </a:prstGeom>
          <a:noFill/>
        </p:spPr>
        <p:txBody>
          <a:bodyPr wrap="none" rtlCol="0">
            <a:spAutoFit/>
          </a:bodyPr>
          <a:lstStyle/>
          <a:p>
            <a:r>
              <a:rPr lang="en-US" altLang="zh-CN" sz="1200" dirty="0"/>
              <a:t>MPLS VPN</a:t>
            </a:r>
            <a:r>
              <a:rPr lang="zh-CN" altLang="en-US" sz="1200" dirty="0"/>
              <a:t>隧道</a:t>
            </a:r>
          </a:p>
        </p:txBody>
      </p:sp>
      <p:sp>
        <p:nvSpPr>
          <p:cNvPr id="71" name="Trapezoid 70"/>
          <p:cNvSpPr/>
          <p:nvPr/>
        </p:nvSpPr>
        <p:spPr bwMode="gray">
          <a:xfrm>
            <a:off x="5274400" y="4055524"/>
            <a:ext cx="1614377" cy="514314"/>
          </a:xfrm>
          <a:prstGeom prst="trapezoid">
            <a:avLst>
              <a:gd name="adj" fmla="val 118340"/>
            </a:avLst>
          </a:prstGeom>
          <a:gradFill>
            <a:gsLst>
              <a:gs pos="0">
                <a:schemeClr val="accent1">
                  <a:lumMod val="5000"/>
                  <a:lumOff val="95000"/>
                  <a:alpha val="50000"/>
                </a:schemeClr>
              </a:gs>
              <a:gs pos="100000">
                <a:schemeClr val="bg1">
                  <a:lumMod val="5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a:extLst>
              <a:ext uri="{FF2B5EF4-FFF2-40B4-BE49-F238E27FC236}">
                <a16:creationId xmlns:a16="http://schemas.microsoft.com/office/drawing/2014/main" id="{A9C32E27-6748-4988-982D-F879F6B8E77E}"/>
              </a:ext>
            </a:extLst>
          </p:cNvPr>
          <p:cNvSpPr txBox="1"/>
          <p:nvPr/>
        </p:nvSpPr>
        <p:spPr bwMode="gray">
          <a:xfrm>
            <a:off x="5901240" y="4013820"/>
            <a:ext cx="364202" cy="276999"/>
          </a:xfrm>
          <a:prstGeom prst="rect">
            <a:avLst/>
          </a:prstGeom>
          <a:noFill/>
        </p:spPr>
        <p:txBody>
          <a:bodyPr wrap="none" rtlCol="0">
            <a:spAutoFit/>
          </a:bodyPr>
          <a:lstStyle/>
          <a:p>
            <a:r>
              <a:rPr lang="en-US" altLang="zh-CN" sz="1200" b="1" dirty="0">
                <a:latin typeface="Huawei Sans" panose="020C0503030203020204" pitchFamily="34" charset="0"/>
                <a:ea typeface="方正兰亭黑简体" panose="02000000000000000000" pitchFamily="2" charset="-122"/>
                <a:sym typeface="Huawei Sans" panose="020C0503030203020204" pitchFamily="34" charset="0"/>
              </a:rPr>
              <a:t>PE</a:t>
            </a:r>
            <a:endParaRPr lang="en-US" sz="12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五边形 24">
            <a:extLst>
              <a:ext uri="{FF2B5EF4-FFF2-40B4-BE49-F238E27FC236}">
                <a16:creationId xmlns:a16="http://schemas.microsoft.com/office/drawing/2014/main" id="{DEB3E90E-FBE4-4D82-BBCB-4E27EA5EE4A2}"/>
              </a:ext>
            </a:extLst>
          </p:cNvPr>
          <p:cNvSpPr/>
          <p:nvPr/>
        </p:nvSpPr>
        <p:spPr bwMode="gray">
          <a:xfrm>
            <a:off x="79707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54" name="燕尾形 25">
            <a:extLst>
              <a:ext uri="{FF2B5EF4-FFF2-40B4-BE49-F238E27FC236}">
                <a16:creationId xmlns:a16="http://schemas.microsoft.com/office/drawing/2014/main" id="{FFA491A7-B77E-4BC6-8E58-672C67021F9D}"/>
              </a:ext>
            </a:extLst>
          </p:cNvPr>
          <p:cNvSpPr/>
          <p:nvPr/>
        </p:nvSpPr>
        <p:spPr bwMode="gray">
          <a:xfrm>
            <a:off x="91362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安全机制</a:t>
            </a:r>
            <a:endParaRPr lang="en-US" altLang="zh-CN" sz="1200" kern="0" dirty="0">
              <a:latin typeface="Huawei Sans" panose="020C0503030203020204" pitchFamily="34" charset="0"/>
              <a:ea typeface="方正兰亭黑简体" panose="02000000000000000000" pitchFamily="2" charset="-122"/>
            </a:endParaRPr>
          </a:p>
        </p:txBody>
      </p:sp>
      <p:sp>
        <p:nvSpPr>
          <p:cNvPr id="55" name="燕尾形 26">
            <a:extLst>
              <a:ext uri="{FF2B5EF4-FFF2-40B4-BE49-F238E27FC236}">
                <a16:creationId xmlns:a16="http://schemas.microsoft.com/office/drawing/2014/main" id="{A4540EA4-29E5-463C-989C-0D9C2F80E747}"/>
              </a:ext>
            </a:extLst>
          </p:cNvPr>
          <p:cNvSpPr/>
          <p:nvPr/>
        </p:nvSpPr>
        <p:spPr bwMode="gray">
          <a:xfrm>
            <a:off x="10384197" y="100775"/>
            <a:ext cx="1354271" cy="21851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851318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b="1" dirty="0"/>
              <a:t>广域互联常用组网技术</a:t>
            </a:r>
            <a:endParaRPr lang="en-US" altLang="zh-CN" b="1" dirty="0"/>
          </a:p>
          <a:p>
            <a:pPr lvl="1"/>
            <a:r>
              <a:rPr lang="en-US" altLang="zh-CN" dirty="0">
                <a:solidFill>
                  <a:schemeClr val="bg1">
                    <a:lumMod val="50000"/>
                  </a:schemeClr>
                </a:solidFill>
              </a:rPr>
              <a:t>GRE</a:t>
            </a:r>
            <a:r>
              <a:rPr lang="zh-CN" altLang="en-US" dirty="0">
                <a:solidFill>
                  <a:schemeClr val="bg1">
                    <a:lumMod val="50000"/>
                  </a:schemeClr>
                </a:solidFill>
              </a:rPr>
              <a:t>原理与应用场景</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L2TP</a:t>
            </a:r>
            <a:r>
              <a:rPr lang="zh-CN" altLang="en-US" dirty="0"/>
              <a:t>原理与应用场景</a:t>
            </a:r>
            <a:endParaRPr lang="en-US" altLang="zh-CN" dirty="0"/>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1679909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bwMode="gray"/>
        <p:txBody>
          <a:bodyPr/>
          <a:lstStyle/>
          <a:p>
            <a:r>
              <a:rPr lang="en-US" altLang="zh-CN" dirty="0"/>
              <a:t>L2TP</a:t>
            </a:r>
            <a:r>
              <a:rPr lang="zh-CN" altLang="en-US" dirty="0"/>
              <a:t>概述</a:t>
            </a:r>
          </a:p>
        </p:txBody>
      </p:sp>
      <p:sp>
        <p:nvSpPr>
          <p:cNvPr id="2" name="Text Placeholder 1"/>
          <p:cNvSpPr>
            <a:spLocks noGrp="1"/>
          </p:cNvSpPr>
          <p:nvPr>
            <p:ph type="body" sz="quarter" idx="10"/>
          </p:nvPr>
        </p:nvSpPr>
        <p:spPr bwMode="gray"/>
        <p:txBody>
          <a:bodyPr/>
          <a:lstStyle/>
          <a:p>
            <a:r>
              <a:rPr lang="en-US" altLang="zh-CN" dirty="0"/>
              <a:t>L2TP</a:t>
            </a:r>
            <a:r>
              <a:rPr lang="zh-CN" altLang="en-US" dirty="0"/>
              <a:t>（</a:t>
            </a:r>
            <a:r>
              <a:rPr lang="en-US" altLang="zh-CN" dirty="0"/>
              <a:t>Layer 2 Tunneling Protocol</a:t>
            </a:r>
            <a:r>
              <a:rPr lang="zh-CN" altLang="en-US" dirty="0"/>
              <a:t>）协议结合了</a:t>
            </a:r>
            <a:r>
              <a:rPr lang="en-US" altLang="zh-CN" dirty="0"/>
              <a:t>L2F</a:t>
            </a:r>
            <a:r>
              <a:rPr lang="zh-CN" altLang="en-US" dirty="0"/>
              <a:t>协议和</a:t>
            </a:r>
            <a:r>
              <a:rPr lang="en-US" altLang="zh-CN" dirty="0"/>
              <a:t>PPTP</a:t>
            </a:r>
            <a:r>
              <a:rPr lang="zh-CN" altLang="en-US" dirty="0"/>
              <a:t>协议的优点，是</a:t>
            </a:r>
            <a:r>
              <a:rPr lang="en-US" altLang="zh-CN" dirty="0"/>
              <a:t>IETF</a:t>
            </a:r>
            <a:r>
              <a:rPr lang="zh-CN" altLang="en-US" dirty="0"/>
              <a:t>有关二层隧道协议的工业标准。</a:t>
            </a:r>
            <a:r>
              <a:rPr lang="en-US" altLang="zh-CN" dirty="0"/>
              <a:t>L2TP</a:t>
            </a:r>
            <a:r>
              <a:rPr lang="zh-CN" altLang="en-US" dirty="0"/>
              <a:t>是</a:t>
            </a:r>
            <a:r>
              <a:rPr lang="zh-CN" altLang="en-US" dirty="0">
                <a:solidFill>
                  <a:srgbClr val="FF0000"/>
                </a:solidFill>
              </a:rPr>
              <a:t>虚拟私有拨号网</a:t>
            </a:r>
            <a:r>
              <a:rPr lang="en-US" altLang="zh-CN" dirty="0">
                <a:solidFill>
                  <a:srgbClr val="FF0000"/>
                </a:solidFill>
              </a:rPr>
              <a:t>VPDN</a:t>
            </a:r>
            <a:r>
              <a:rPr lang="zh-CN" altLang="en-US" dirty="0">
                <a:solidFill>
                  <a:srgbClr val="FF0000"/>
                </a:solidFill>
              </a:rPr>
              <a:t>（</a:t>
            </a:r>
            <a:r>
              <a:rPr lang="en-US" altLang="zh-CN" dirty="0">
                <a:solidFill>
                  <a:srgbClr val="FF0000"/>
                </a:solidFill>
              </a:rPr>
              <a:t>Virtual Private Dial-up Network</a:t>
            </a:r>
            <a:r>
              <a:rPr lang="zh-CN" altLang="en-US" dirty="0">
                <a:solidFill>
                  <a:srgbClr val="FF0000"/>
                </a:solidFill>
              </a:rPr>
              <a:t>）隧道协议的一种</a:t>
            </a:r>
            <a:r>
              <a:rPr lang="zh-CN" altLang="en-US" dirty="0"/>
              <a:t>，它扩展了点到点协议</a:t>
            </a:r>
            <a:r>
              <a:rPr lang="en-US" altLang="zh-CN" dirty="0"/>
              <a:t>PPP</a:t>
            </a:r>
            <a:r>
              <a:rPr lang="zh-CN" altLang="en-US" dirty="0"/>
              <a:t>（</a:t>
            </a:r>
            <a:r>
              <a:rPr lang="en-US" altLang="zh-CN" dirty="0"/>
              <a:t>Point-to-Point Protocol</a:t>
            </a:r>
            <a:r>
              <a:rPr lang="zh-CN" altLang="en-US" dirty="0"/>
              <a:t>）的应用，是应用于远程办公场景中为出差员工远程访问企业内网资源提供接入服务的一种重要</a:t>
            </a:r>
            <a:r>
              <a:rPr lang="en-US" altLang="zh-CN" dirty="0"/>
              <a:t>VPN</a:t>
            </a:r>
            <a:r>
              <a:rPr lang="zh-CN" altLang="en-US" dirty="0"/>
              <a:t>技术。</a:t>
            </a:r>
          </a:p>
        </p:txBody>
      </p:sp>
      <p:sp>
        <p:nvSpPr>
          <p:cNvPr id="4"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5"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957549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L2TP</a:t>
            </a:r>
            <a:r>
              <a:rPr lang="zh-CN" altLang="en-US" dirty="0"/>
              <a:t>基本架构</a:t>
            </a:r>
          </a:p>
        </p:txBody>
      </p:sp>
      <p:sp>
        <p:nvSpPr>
          <p:cNvPr id="3" name="Text Placeholder 2"/>
          <p:cNvSpPr>
            <a:spLocks noGrp="1"/>
          </p:cNvSpPr>
          <p:nvPr>
            <p:ph type="body" sz="quarter" idx="10"/>
          </p:nvPr>
        </p:nvSpPr>
        <p:spPr bwMode="gray">
          <a:xfrm>
            <a:off x="455613" y="1047750"/>
            <a:ext cx="5633516" cy="4879805"/>
          </a:xfrm>
        </p:spPr>
        <p:txBody>
          <a:bodyPr/>
          <a:lstStyle/>
          <a:p>
            <a:r>
              <a:rPr lang="en-US" altLang="zh-CN" sz="1600" b="1" dirty="0"/>
              <a:t>NAS</a:t>
            </a:r>
          </a:p>
          <a:p>
            <a:pPr lvl="1"/>
            <a:r>
              <a:rPr lang="en-US" altLang="zh-CN" sz="1400" dirty="0"/>
              <a:t>NAS</a:t>
            </a:r>
            <a:r>
              <a:rPr lang="zh-CN" altLang="en-US" sz="1400" dirty="0"/>
              <a:t>网络接入服务器（</a:t>
            </a:r>
            <a:r>
              <a:rPr lang="en-US" altLang="zh-CN" sz="1400" dirty="0"/>
              <a:t>Network Access Server</a:t>
            </a:r>
            <a:r>
              <a:rPr lang="zh-CN" altLang="en-US" sz="1400" dirty="0"/>
              <a:t>）主要由</a:t>
            </a:r>
            <a:r>
              <a:rPr lang="en-US" altLang="zh-CN" sz="1400" dirty="0"/>
              <a:t>ISP</a:t>
            </a:r>
            <a:r>
              <a:rPr lang="zh-CN" altLang="en-US" sz="1400" dirty="0"/>
              <a:t>维护，连接拨号网络（如：</a:t>
            </a:r>
            <a:r>
              <a:rPr lang="en-US" altLang="zh-CN" sz="1400" dirty="0" err="1"/>
              <a:t>PPPoE</a:t>
            </a:r>
            <a:r>
              <a:rPr lang="en-US" altLang="zh-CN" sz="1400" dirty="0"/>
              <a:t> </a:t>
            </a:r>
            <a:r>
              <a:rPr lang="zh-CN" altLang="en-US" sz="1400" dirty="0"/>
              <a:t>服务器）</a:t>
            </a:r>
            <a:endParaRPr lang="en-US" altLang="zh-CN" sz="1400" dirty="0"/>
          </a:p>
          <a:p>
            <a:r>
              <a:rPr lang="en-US" altLang="zh-CN" sz="1600" b="1" dirty="0"/>
              <a:t>LAC</a:t>
            </a:r>
          </a:p>
          <a:p>
            <a:pPr lvl="1"/>
            <a:r>
              <a:rPr lang="en-US" altLang="zh-CN" sz="1400" dirty="0"/>
              <a:t>L2TP</a:t>
            </a:r>
            <a:r>
              <a:rPr lang="zh-CN" altLang="en-US" sz="1400" dirty="0"/>
              <a:t>访问集中器</a:t>
            </a:r>
            <a:r>
              <a:rPr lang="en-US" altLang="zh-CN" sz="1400" dirty="0"/>
              <a:t>LAC</a:t>
            </a:r>
            <a:r>
              <a:rPr lang="zh-CN" altLang="en-US" sz="1400" dirty="0"/>
              <a:t>是交换网络上具有</a:t>
            </a:r>
            <a:r>
              <a:rPr lang="en-US" altLang="zh-CN" sz="1400" dirty="0"/>
              <a:t>PPP</a:t>
            </a:r>
            <a:r>
              <a:rPr lang="zh-CN" altLang="en-US" sz="1400" dirty="0"/>
              <a:t>和</a:t>
            </a:r>
            <a:r>
              <a:rPr lang="en-US" altLang="zh-CN" sz="1400" dirty="0"/>
              <a:t>L2TP</a:t>
            </a:r>
            <a:r>
              <a:rPr lang="zh-CN" altLang="en-US" sz="1400" dirty="0"/>
              <a:t>协议处理能力的设备</a:t>
            </a:r>
            <a:endParaRPr lang="en-US" altLang="zh-CN" sz="1400" dirty="0"/>
          </a:p>
          <a:p>
            <a:r>
              <a:rPr lang="en-US" altLang="zh-CN" sz="1600" b="1" dirty="0"/>
              <a:t>LNS</a:t>
            </a:r>
          </a:p>
          <a:p>
            <a:pPr lvl="1"/>
            <a:r>
              <a:rPr lang="en-US" altLang="zh-CN" sz="1400" dirty="0"/>
              <a:t>LNS</a:t>
            </a:r>
            <a:r>
              <a:rPr lang="zh-CN" altLang="en-US" sz="1400" dirty="0"/>
              <a:t>是</a:t>
            </a:r>
            <a:r>
              <a:rPr lang="en-US" altLang="zh-CN" sz="1400" dirty="0"/>
              <a:t>LAC</a:t>
            </a:r>
            <a:r>
              <a:rPr lang="zh-CN" altLang="en-US" sz="1400" dirty="0"/>
              <a:t>的对端设备，即</a:t>
            </a:r>
            <a:r>
              <a:rPr lang="en-US" altLang="zh-CN" sz="1400" dirty="0"/>
              <a:t>LAC</a:t>
            </a:r>
            <a:r>
              <a:rPr lang="zh-CN" altLang="en-US" sz="1400" dirty="0"/>
              <a:t>和</a:t>
            </a:r>
            <a:r>
              <a:rPr lang="en-US" altLang="zh-CN" sz="1400" dirty="0"/>
              <a:t>LNS</a:t>
            </a:r>
            <a:r>
              <a:rPr lang="zh-CN" altLang="en-US" sz="1400" dirty="0"/>
              <a:t>建立了</a:t>
            </a:r>
            <a:r>
              <a:rPr lang="en-US" altLang="zh-CN" sz="1400" dirty="0"/>
              <a:t>L2TP</a:t>
            </a:r>
            <a:r>
              <a:rPr lang="zh-CN" altLang="en-US" sz="1400" dirty="0"/>
              <a:t>隧道</a:t>
            </a:r>
            <a:endParaRPr lang="en-US" altLang="zh-CN" sz="1400" dirty="0"/>
          </a:p>
          <a:p>
            <a:r>
              <a:rPr lang="zh-CN" altLang="en-US" sz="1600" b="1" dirty="0"/>
              <a:t>隧道和会话</a:t>
            </a:r>
            <a:endParaRPr lang="en-US" altLang="zh-CN" sz="1600" b="1" dirty="0"/>
          </a:p>
          <a:p>
            <a:pPr lvl="1"/>
            <a:r>
              <a:rPr lang="en-US" altLang="zh-CN" sz="1400" dirty="0"/>
              <a:t>L2TP</a:t>
            </a:r>
            <a:r>
              <a:rPr lang="zh-CN" altLang="en-US" sz="1400" dirty="0"/>
              <a:t>隧道在</a:t>
            </a:r>
            <a:r>
              <a:rPr lang="en-US" altLang="zh-CN" sz="1400" dirty="0"/>
              <a:t>LAC</a:t>
            </a:r>
            <a:r>
              <a:rPr lang="zh-CN" altLang="en-US" sz="1400" dirty="0"/>
              <a:t>和</a:t>
            </a:r>
            <a:r>
              <a:rPr lang="en-US" altLang="zh-CN" sz="1400" dirty="0"/>
              <a:t>LNS</a:t>
            </a:r>
            <a:r>
              <a:rPr lang="zh-CN" altLang="en-US" sz="1400" dirty="0"/>
              <a:t>之间建立，一对</a:t>
            </a:r>
            <a:r>
              <a:rPr lang="en-US" altLang="zh-CN" sz="1400" dirty="0"/>
              <a:t>LAC</a:t>
            </a:r>
            <a:r>
              <a:rPr lang="zh-CN" altLang="en-US" sz="1400" dirty="0"/>
              <a:t>和</a:t>
            </a:r>
            <a:r>
              <a:rPr lang="en-US" altLang="zh-CN" sz="1400" dirty="0"/>
              <a:t>LNS</a:t>
            </a:r>
            <a:r>
              <a:rPr lang="zh-CN" altLang="en-US" sz="1400" dirty="0"/>
              <a:t>可以建立多个</a:t>
            </a:r>
            <a:r>
              <a:rPr lang="en-US" altLang="zh-CN" sz="1400" dirty="0"/>
              <a:t>L2TP</a:t>
            </a:r>
            <a:r>
              <a:rPr lang="zh-CN" altLang="en-US" sz="1400" dirty="0"/>
              <a:t>隧道，一个</a:t>
            </a:r>
            <a:r>
              <a:rPr lang="en-US" altLang="zh-CN" sz="1400" dirty="0"/>
              <a:t>L2TP</a:t>
            </a:r>
            <a:r>
              <a:rPr lang="zh-CN" altLang="en-US" sz="1400" dirty="0"/>
              <a:t>隧道可以包含多个</a:t>
            </a:r>
            <a:r>
              <a:rPr lang="en-US" altLang="zh-CN" sz="1400" dirty="0"/>
              <a:t>L2TP</a:t>
            </a:r>
            <a:r>
              <a:rPr lang="zh-CN" altLang="en-US" sz="1400" dirty="0"/>
              <a:t>会话。</a:t>
            </a:r>
          </a:p>
        </p:txBody>
      </p:sp>
      <p:sp>
        <p:nvSpPr>
          <p:cNvPr id="4" name="Freeform 159"/>
          <p:cNvSpPr/>
          <p:nvPr/>
        </p:nvSpPr>
        <p:spPr bwMode="gray">
          <a:xfrm flipH="1">
            <a:off x="8434433" y="5200159"/>
            <a:ext cx="799663" cy="4756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chemeClr val="tx1"/>
                </a:solidFill>
              </a:rPr>
              <a:t>企业分支</a:t>
            </a:r>
            <a:endParaRPr lang="en-US" sz="1200" dirty="0">
              <a:solidFill>
                <a:schemeClr val="tx1"/>
              </a:solidFill>
            </a:endParaRPr>
          </a:p>
        </p:txBody>
      </p:sp>
      <p:pic>
        <p:nvPicPr>
          <p:cNvPr id="5"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81539" y="3390029"/>
            <a:ext cx="1513364" cy="774010"/>
          </a:xfrm>
          <a:prstGeom prst="rect">
            <a:avLst/>
          </a:prstGeom>
        </p:spPr>
      </p:pic>
      <p:pic>
        <p:nvPicPr>
          <p:cNvPr id="6"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565161" y="4853232"/>
            <a:ext cx="540000" cy="442800"/>
          </a:xfrm>
          <a:prstGeom prst="rect">
            <a:avLst/>
          </a:prstGeom>
        </p:spPr>
      </p:pic>
      <p:pic>
        <p:nvPicPr>
          <p:cNvPr id="7" name="图片 7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0482336" y="3995391"/>
            <a:ext cx="540000" cy="442800"/>
          </a:xfrm>
          <a:prstGeom prst="rect">
            <a:avLst/>
          </a:prstGeom>
        </p:spPr>
      </p:pic>
      <p:pic>
        <p:nvPicPr>
          <p:cNvPr id="8" name="图片 8"/>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6651062" y="5307561"/>
            <a:ext cx="532973" cy="406094"/>
          </a:xfrm>
          <a:prstGeom prst="rect">
            <a:avLst/>
          </a:prstGeom>
        </p:spPr>
      </p:pic>
      <p:sp>
        <p:nvSpPr>
          <p:cNvPr id="9" name="Freeform 159"/>
          <p:cNvSpPr/>
          <p:nvPr/>
        </p:nvSpPr>
        <p:spPr bwMode="gray">
          <a:xfrm flipH="1">
            <a:off x="6482624" y="4340045"/>
            <a:ext cx="826267" cy="4970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chemeClr val="tx1"/>
                </a:solidFill>
              </a:rPr>
              <a:t>拨号网络</a:t>
            </a:r>
            <a:endParaRPr lang="en-US" sz="1200" dirty="0">
              <a:solidFill>
                <a:schemeClr val="tx1"/>
              </a:solidFill>
            </a:endParaRPr>
          </a:p>
        </p:txBody>
      </p:sp>
      <p:pic>
        <p:nvPicPr>
          <p:cNvPr id="10" name="图片 54" descr="交换机.png"/>
          <p:cNvPicPr>
            <a:picLocks noChangeAspect="1"/>
          </p:cNvPicPr>
          <p:nvPr/>
        </p:nvPicPr>
        <p:blipFill>
          <a:blip r:embed="rId7" cstate="print"/>
          <a:stretch>
            <a:fillRect/>
          </a:stretch>
        </p:blipFill>
        <p:spPr bwMode="gray">
          <a:xfrm>
            <a:off x="6651062" y="4020057"/>
            <a:ext cx="538213" cy="441816"/>
          </a:xfrm>
          <a:prstGeom prst="rect">
            <a:avLst/>
          </a:prstGeom>
        </p:spPr>
      </p:pic>
      <p:cxnSp>
        <p:nvCxnSpPr>
          <p:cNvPr id="11" name="Straight Connector 10"/>
          <p:cNvCxnSpPr>
            <a:stCxn id="8" idx="0"/>
            <a:endCxn id="10" idx="2"/>
          </p:cNvCxnSpPr>
          <p:nvPr/>
        </p:nvCxnSpPr>
        <p:spPr bwMode="gray">
          <a:xfrm flipV="1">
            <a:off x="6917549" y="4461873"/>
            <a:ext cx="2620" cy="845688"/>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2" name="Straight Connector 11"/>
          <p:cNvCxnSpPr>
            <a:stCxn id="5" idx="1"/>
            <a:endCxn id="10" idx="0"/>
          </p:cNvCxnSpPr>
          <p:nvPr/>
        </p:nvCxnSpPr>
        <p:spPr bwMode="gray">
          <a:xfrm flipH="1">
            <a:off x="6920169" y="3777034"/>
            <a:ext cx="1161370" cy="243023"/>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3" name="Straight Connector 12"/>
          <p:cNvCxnSpPr>
            <a:stCxn id="6" idx="0"/>
            <a:endCxn id="5" idx="2"/>
          </p:cNvCxnSpPr>
          <p:nvPr/>
        </p:nvCxnSpPr>
        <p:spPr bwMode="gray">
          <a:xfrm flipV="1">
            <a:off x="8835161" y="4164039"/>
            <a:ext cx="3060" cy="689193"/>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4" name="Straight Connector 13"/>
          <p:cNvCxnSpPr>
            <a:stCxn id="7" idx="0"/>
            <a:endCxn id="5" idx="3"/>
          </p:cNvCxnSpPr>
          <p:nvPr/>
        </p:nvCxnSpPr>
        <p:spPr bwMode="gray">
          <a:xfrm flipH="1" flipV="1">
            <a:off x="9594903" y="3777034"/>
            <a:ext cx="1157433" cy="218357"/>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5" name="Straight Connector 14"/>
          <p:cNvCxnSpPr>
            <a:stCxn id="5" idx="0"/>
            <a:endCxn id="17" idx="2"/>
          </p:cNvCxnSpPr>
          <p:nvPr/>
        </p:nvCxnSpPr>
        <p:spPr bwMode="gray">
          <a:xfrm flipH="1" flipV="1">
            <a:off x="8835161" y="2658458"/>
            <a:ext cx="3060" cy="731571"/>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6" name="Freeform 159"/>
          <p:cNvSpPr/>
          <p:nvPr/>
        </p:nvSpPr>
        <p:spPr bwMode="gray">
          <a:xfrm flipH="1">
            <a:off x="8084318" y="1559239"/>
            <a:ext cx="1499897" cy="78404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565161" y="2215658"/>
            <a:ext cx="540000" cy="442800"/>
          </a:xfrm>
          <a:prstGeom prst="rect">
            <a:avLst/>
          </a:prstGeom>
        </p:spPr>
      </p:pic>
      <p:pic>
        <p:nvPicPr>
          <p:cNvPr id="18" name="图片 42" descr="大型网管-蓝.png"/>
          <p:cNvPicPr>
            <a:picLocks noChangeAspect="1"/>
          </p:cNvPicPr>
          <p:nvPr/>
        </p:nvPicPr>
        <p:blipFill>
          <a:blip r:embed="rId8" cstate="print"/>
          <a:stretch>
            <a:fillRect/>
          </a:stretch>
        </p:blipFill>
        <p:spPr bwMode="gray">
          <a:xfrm>
            <a:off x="8565554" y="1654473"/>
            <a:ext cx="539607" cy="441817"/>
          </a:xfrm>
          <a:prstGeom prst="rect">
            <a:avLst/>
          </a:prstGeom>
        </p:spPr>
      </p:pic>
      <p:sp>
        <p:nvSpPr>
          <p:cNvPr id="19" name="TextBox 18"/>
          <p:cNvSpPr txBox="1"/>
          <p:nvPr/>
        </p:nvSpPr>
        <p:spPr bwMode="gray">
          <a:xfrm>
            <a:off x="9028403" y="2106725"/>
            <a:ext cx="475477"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LNS</a:t>
            </a:r>
            <a:endParaRPr lang="zh-CN" altLang="en-US" sz="1200" dirty="0">
              <a:latin typeface="+mj-lt"/>
              <a:ea typeface="+mn-ea"/>
            </a:endParaRPr>
          </a:p>
        </p:txBody>
      </p:sp>
      <p:sp>
        <p:nvSpPr>
          <p:cNvPr id="20" name="TextBox 19"/>
          <p:cNvSpPr txBox="1"/>
          <p:nvPr/>
        </p:nvSpPr>
        <p:spPr bwMode="gray">
          <a:xfrm>
            <a:off x="6005431" y="3995391"/>
            <a:ext cx="759209"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NAS</a:t>
            </a:r>
          </a:p>
          <a:p>
            <a:pPr algn="ctr" fontAlgn="auto"/>
            <a:r>
              <a:rPr lang="zh-CN" altLang="en-US" sz="1200" dirty="0">
                <a:latin typeface="+mj-lt"/>
                <a:ea typeface="+mn-ea"/>
              </a:rPr>
              <a:t>（</a:t>
            </a:r>
            <a:r>
              <a:rPr lang="en-US" altLang="zh-CN" sz="1200" dirty="0">
                <a:latin typeface="+mj-lt"/>
                <a:ea typeface="+mn-ea"/>
              </a:rPr>
              <a:t>LAC</a:t>
            </a:r>
            <a:r>
              <a:rPr lang="zh-CN" altLang="en-US" sz="1200" dirty="0">
                <a:latin typeface="+mj-lt"/>
                <a:ea typeface="+mn-ea"/>
              </a:rPr>
              <a:t>）</a:t>
            </a:r>
          </a:p>
        </p:txBody>
      </p:sp>
      <p:sp>
        <p:nvSpPr>
          <p:cNvPr id="21" name="TextBox 20"/>
          <p:cNvSpPr txBox="1"/>
          <p:nvPr/>
        </p:nvSpPr>
        <p:spPr bwMode="gray">
          <a:xfrm>
            <a:off x="10895435" y="3936057"/>
            <a:ext cx="759209"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Client</a:t>
            </a:r>
          </a:p>
          <a:p>
            <a:pPr algn="ctr" fontAlgn="auto"/>
            <a:r>
              <a:rPr lang="zh-CN" altLang="en-US" sz="1200" dirty="0">
                <a:latin typeface="+mj-lt"/>
                <a:ea typeface="+mn-ea"/>
              </a:rPr>
              <a:t>（</a:t>
            </a:r>
            <a:r>
              <a:rPr lang="en-US" altLang="zh-CN" sz="1200" dirty="0">
                <a:latin typeface="+mj-lt"/>
                <a:ea typeface="+mn-ea"/>
              </a:rPr>
              <a:t>LAC</a:t>
            </a:r>
            <a:r>
              <a:rPr lang="zh-CN" altLang="en-US" sz="1200" dirty="0">
                <a:latin typeface="+mj-lt"/>
                <a:ea typeface="+mn-ea"/>
              </a:rPr>
              <a:t>）</a:t>
            </a:r>
          </a:p>
        </p:txBody>
      </p:sp>
      <p:sp>
        <p:nvSpPr>
          <p:cNvPr id="22" name="TextBox 21"/>
          <p:cNvSpPr txBox="1"/>
          <p:nvPr/>
        </p:nvSpPr>
        <p:spPr bwMode="gray">
          <a:xfrm>
            <a:off x="7616745" y="4811561"/>
            <a:ext cx="976064"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L2TP Client</a:t>
            </a:r>
          </a:p>
          <a:p>
            <a:pPr algn="ctr" fontAlgn="auto"/>
            <a:r>
              <a:rPr lang="zh-CN" altLang="en-US" sz="1200" dirty="0">
                <a:latin typeface="+mj-lt"/>
                <a:ea typeface="+mn-ea"/>
              </a:rPr>
              <a:t>（</a:t>
            </a:r>
            <a:r>
              <a:rPr lang="en-US" altLang="zh-CN" sz="1200" dirty="0">
                <a:latin typeface="+mj-lt"/>
                <a:ea typeface="+mn-ea"/>
              </a:rPr>
              <a:t>LAC</a:t>
            </a:r>
            <a:r>
              <a:rPr lang="zh-CN" altLang="en-US" sz="1200" dirty="0">
                <a:latin typeface="+mj-lt"/>
                <a:ea typeface="+mn-ea"/>
              </a:rPr>
              <a:t>）</a:t>
            </a:r>
          </a:p>
        </p:txBody>
      </p:sp>
      <p:sp>
        <p:nvSpPr>
          <p:cNvPr id="23" name="TextBox 22"/>
          <p:cNvSpPr txBox="1"/>
          <p:nvPr/>
        </p:nvSpPr>
        <p:spPr bwMode="gray">
          <a:xfrm>
            <a:off x="8591718" y="1363242"/>
            <a:ext cx="48509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zh-CN" altLang="en-US" sz="1200" dirty="0">
                <a:latin typeface="+mj-lt"/>
                <a:ea typeface="+mn-ea"/>
              </a:rPr>
              <a:t>总部</a:t>
            </a:r>
          </a:p>
        </p:txBody>
      </p:sp>
      <p:sp>
        <p:nvSpPr>
          <p:cNvPr id="24" name="TextBox 23"/>
          <p:cNvSpPr txBox="1"/>
          <p:nvPr/>
        </p:nvSpPr>
        <p:spPr bwMode="gray">
          <a:xfrm>
            <a:off x="9897570" y="5372728"/>
            <a:ext cx="8521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L2TP</a:t>
            </a:r>
            <a:r>
              <a:rPr lang="zh-CN" altLang="en-US" sz="1200" dirty="0">
                <a:latin typeface="+mj-lt"/>
                <a:ea typeface="+mn-ea"/>
              </a:rPr>
              <a:t>隧道</a:t>
            </a:r>
            <a:endParaRPr lang="en-US" altLang="zh-CN" sz="1200" dirty="0">
              <a:latin typeface="+mj-lt"/>
              <a:ea typeface="+mn-ea"/>
            </a:endParaRPr>
          </a:p>
        </p:txBody>
      </p:sp>
      <p:sp>
        <p:nvSpPr>
          <p:cNvPr id="25" name="TextBox 24"/>
          <p:cNvSpPr txBox="1"/>
          <p:nvPr/>
        </p:nvSpPr>
        <p:spPr bwMode="gray">
          <a:xfrm>
            <a:off x="6508987" y="5796109"/>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PPP</a:t>
            </a:r>
            <a:r>
              <a:rPr lang="zh-CN" altLang="en-US" sz="1200" dirty="0">
                <a:latin typeface="+mj-lt"/>
                <a:ea typeface="+mn-ea"/>
              </a:rPr>
              <a:t>终端</a:t>
            </a:r>
          </a:p>
        </p:txBody>
      </p:sp>
      <p:sp>
        <p:nvSpPr>
          <p:cNvPr id="34" name="TextBox 33"/>
          <p:cNvSpPr txBox="1"/>
          <p:nvPr/>
        </p:nvSpPr>
        <p:spPr bwMode="gray">
          <a:xfrm>
            <a:off x="9903307" y="5705592"/>
            <a:ext cx="85218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L2TP</a:t>
            </a:r>
            <a:r>
              <a:rPr lang="zh-CN" altLang="en-US" sz="1200" dirty="0">
                <a:latin typeface="+mj-lt"/>
                <a:ea typeface="+mn-ea"/>
              </a:rPr>
              <a:t>会话</a:t>
            </a:r>
          </a:p>
        </p:txBody>
      </p:sp>
      <p:sp>
        <p:nvSpPr>
          <p:cNvPr id="38" name="Freeform 37"/>
          <p:cNvSpPr/>
          <p:nvPr/>
        </p:nvSpPr>
        <p:spPr bwMode="gray">
          <a:xfrm flipH="1">
            <a:off x="10791258" y="5838004"/>
            <a:ext cx="373882" cy="0"/>
          </a:xfrm>
          <a:custGeom>
            <a:avLst/>
            <a:gdLst>
              <a:gd name="connsiteX0" fmla="*/ 0 w 8964"/>
              <a:gd name="connsiteY0" fmla="*/ 0 h 2070847"/>
              <a:gd name="connsiteX1" fmla="*/ 8964 w 8964"/>
              <a:gd name="connsiteY1" fmla="*/ 2070847 h 2070847"/>
            </a:gdLst>
            <a:ahLst/>
            <a:cxnLst>
              <a:cxn ang="0">
                <a:pos x="connsiteX0" y="connsiteY0"/>
              </a:cxn>
              <a:cxn ang="0">
                <a:pos x="connsiteX1" y="connsiteY1"/>
              </a:cxn>
            </a:cxnLst>
            <a:rect l="l" t="t" r="r" b="b"/>
            <a:pathLst>
              <a:path w="8964" h="2070847">
                <a:moveTo>
                  <a:pt x="0" y="0"/>
                </a:moveTo>
                <a:lnTo>
                  <a:pt x="8964" y="2070847"/>
                </a:lnTo>
              </a:path>
            </a:pathLst>
          </a:custGeom>
          <a:noFill/>
          <a:ln w="19050">
            <a:solidFill>
              <a:srgbClr val="EC7061"/>
            </a:solidFill>
            <a:prstDash val="dash"/>
            <a:headEnd type="triangle" w="med" len="med"/>
            <a:tailEnd type="triangle" w="med" len="med"/>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0" name="Can 225">
            <a:extLst>
              <a:ext uri="{FF2B5EF4-FFF2-40B4-BE49-F238E27FC236}">
                <a16:creationId xmlns:a16="http://schemas.microsoft.com/office/drawing/2014/main" id="{0F9F92DE-B994-4518-ABA9-B92A0FB3C38D}"/>
              </a:ext>
            </a:extLst>
          </p:cNvPr>
          <p:cNvSpPr/>
          <p:nvPr/>
        </p:nvSpPr>
        <p:spPr bwMode="gray">
          <a:xfrm rot="2995340">
            <a:off x="7598055" y="2137268"/>
            <a:ext cx="253196" cy="2173959"/>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Freeform 35"/>
          <p:cNvSpPr/>
          <p:nvPr/>
        </p:nvSpPr>
        <p:spPr bwMode="gray">
          <a:xfrm flipH="1">
            <a:off x="6924106" y="2612348"/>
            <a:ext cx="1529762" cy="1263727"/>
          </a:xfrm>
          <a:custGeom>
            <a:avLst/>
            <a:gdLst>
              <a:gd name="connsiteX0" fmla="*/ 0 w 8964"/>
              <a:gd name="connsiteY0" fmla="*/ 0 h 2070847"/>
              <a:gd name="connsiteX1" fmla="*/ 8964 w 8964"/>
              <a:gd name="connsiteY1" fmla="*/ 2070847 h 2070847"/>
            </a:gdLst>
            <a:ahLst/>
            <a:cxnLst>
              <a:cxn ang="0">
                <a:pos x="connsiteX0" y="connsiteY0"/>
              </a:cxn>
              <a:cxn ang="0">
                <a:pos x="connsiteX1" y="connsiteY1"/>
              </a:cxn>
            </a:cxnLst>
            <a:rect l="l" t="t" r="r" b="b"/>
            <a:pathLst>
              <a:path w="8964" h="2070847">
                <a:moveTo>
                  <a:pt x="0" y="0"/>
                </a:moveTo>
                <a:lnTo>
                  <a:pt x="8964" y="2070847"/>
                </a:lnTo>
              </a:path>
            </a:pathLst>
          </a:custGeom>
          <a:noFill/>
          <a:ln w="19050">
            <a:solidFill>
              <a:srgbClr val="EC7061"/>
            </a:solidFill>
            <a:prstDash val="dash"/>
            <a:headEnd type="triangle" w="med" len="med"/>
            <a:tailEnd type="triangle" w="med" len="med"/>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1" name="Can 225">
            <a:extLst>
              <a:ext uri="{FF2B5EF4-FFF2-40B4-BE49-F238E27FC236}">
                <a16:creationId xmlns:a16="http://schemas.microsoft.com/office/drawing/2014/main" id="{5A40D3E0-183A-4163-A716-F0AA062BF9A0}"/>
              </a:ext>
            </a:extLst>
          </p:cNvPr>
          <p:cNvSpPr/>
          <p:nvPr/>
        </p:nvSpPr>
        <p:spPr bwMode="gray">
          <a:xfrm>
            <a:off x="8845093" y="2623193"/>
            <a:ext cx="253196" cy="2173959"/>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32"/>
          <p:cNvSpPr/>
          <p:nvPr/>
        </p:nvSpPr>
        <p:spPr bwMode="gray">
          <a:xfrm>
            <a:off x="8973803" y="2719629"/>
            <a:ext cx="8964" cy="2070847"/>
          </a:xfrm>
          <a:custGeom>
            <a:avLst/>
            <a:gdLst>
              <a:gd name="connsiteX0" fmla="*/ 0 w 8964"/>
              <a:gd name="connsiteY0" fmla="*/ 0 h 2070847"/>
              <a:gd name="connsiteX1" fmla="*/ 8964 w 8964"/>
              <a:gd name="connsiteY1" fmla="*/ 2070847 h 2070847"/>
            </a:gdLst>
            <a:ahLst/>
            <a:cxnLst>
              <a:cxn ang="0">
                <a:pos x="connsiteX0" y="connsiteY0"/>
              </a:cxn>
              <a:cxn ang="0">
                <a:pos x="connsiteX1" y="connsiteY1"/>
              </a:cxn>
            </a:cxnLst>
            <a:rect l="l" t="t" r="r" b="b"/>
            <a:pathLst>
              <a:path w="8964" h="2070847">
                <a:moveTo>
                  <a:pt x="0" y="0"/>
                </a:moveTo>
                <a:lnTo>
                  <a:pt x="8964" y="2070847"/>
                </a:lnTo>
              </a:path>
            </a:pathLst>
          </a:custGeom>
          <a:noFill/>
          <a:ln w="19050">
            <a:solidFill>
              <a:srgbClr val="EC7061"/>
            </a:solidFill>
            <a:prstDash val="dash"/>
            <a:headEnd type="triangle" w="med" len="med"/>
            <a:tailEnd type="triangle" w="med" len="med"/>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2" name="Can 225">
            <a:extLst>
              <a:ext uri="{FF2B5EF4-FFF2-40B4-BE49-F238E27FC236}">
                <a16:creationId xmlns:a16="http://schemas.microsoft.com/office/drawing/2014/main" id="{A24360B3-03A3-41E5-AF3C-BB8F13317984}"/>
              </a:ext>
            </a:extLst>
          </p:cNvPr>
          <p:cNvSpPr/>
          <p:nvPr/>
        </p:nvSpPr>
        <p:spPr bwMode="gray">
          <a:xfrm rot="18593679">
            <a:off x="9844406" y="2137268"/>
            <a:ext cx="253196" cy="2173959"/>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Freeform 34"/>
          <p:cNvSpPr/>
          <p:nvPr/>
        </p:nvSpPr>
        <p:spPr bwMode="gray">
          <a:xfrm>
            <a:off x="9215750" y="2584317"/>
            <a:ext cx="1593045" cy="1334903"/>
          </a:xfrm>
          <a:custGeom>
            <a:avLst/>
            <a:gdLst>
              <a:gd name="connsiteX0" fmla="*/ 0 w 8964"/>
              <a:gd name="connsiteY0" fmla="*/ 0 h 2070847"/>
              <a:gd name="connsiteX1" fmla="*/ 8964 w 8964"/>
              <a:gd name="connsiteY1" fmla="*/ 2070847 h 2070847"/>
            </a:gdLst>
            <a:ahLst/>
            <a:cxnLst>
              <a:cxn ang="0">
                <a:pos x="connsiteX0" y="connsiteY0"/>
              </a:cxn>
              <a:cxn ang="0">
                <a:pos x="connsiteX1" y="connsiteY1"/>
              </a:cxn>
            </a:cxnLst>
            <a:rect l="l" t="t" r="r" b="b"/>
            <a:pathLst>
              <a:path w="8964" h="2070847">
                <a:moveTo>
                  <a:pt x="0" y="0"/>
                </a:moveTo>
                <a:lnTo>
                  <a:pt x="8964" y="2070847"/>
                </a:lnTo>
              </a:path>
            </a:pathLst>
          </a:custGeom>
          <a:noFill/>
          <a:ln w="19050">
            <a:solidFill>
              <a:srgbClr val="EC7061"/>
            </a:solidFill>
            <a:prstDash val="dash"/>
            <a:headEnd type="triangle" w="med" len="med"/>
            <a:tailEnd type="triangle" w="med" len="med"/>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43" name="Can 225">
            <a:extLst>
              <a:ext uri="{FF2B5EF4-FFF2-40B4-BE49-F238E27FC236}">
                <a16:creationId xmlns:a16="http://schemas.microsoft.com/office/drawing/2014/main" id="{353C6638-57F5-44E0-9A7D-73034D8864AC}"/>
              </a:ext>
            </a:extLst>
          </p:cNvPr>
          <p:cNvSpPr/>
          <p:nvPr/>
        </p:nvSpPr>
        <p:spPr bwMode="gray">
          <a:xfrm rot="5400000">
            <a:off x="10851601" y="5197674"/>
            <a:ext cx="253196" cy="584200"/>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39"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707387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Title 25"/>
          <p:cNvSpPr>
            <a:spLocks noGrp="1"/>
          </p:cNvSpPr>
          <p:nvPr>
            <p:ph type="title"/>
          </p:nvPr>
        </p:nvSpPr>
        <p:spPr/>
        <p:txBody>
          <a:bodyPr/>
          <a:lstStyle/>
          <a:p>
            <a:endParaRPr lang="zh-CN" altLang="en-US"/>
          </a:p>
        </p:txBody>
      </p:sp>
      <p:sp>
        <p:nvSpPr>
          <p:cNvPr id="27" name="Text Placeholder 26"/>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766186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bwMode="gray">
          <a:xfrm>
            <a:off x="2243572" y="5647667"/>
            <a:ext cx="7380820" cy="0"/>
          </a:xfrm>
          <a:prstGeom prst="line">
            <a:avLst/>
          </a:prstGeom>
          <a:solidFill>
            <a:schemeClr val="accent1"/>
          </a:solidFill>
          <a:ln w="38100" cap="flat" cmpd="sng" algn="ctr">
            <a:solidFill>
              <a:srgbClr val="007AC7"/>
            </a:solidFill>
            <a:prstDash val="solid"/>
            <a:round/>
            <a:headEnd type="none" w="med" len="med"/>
            <a:tailEnd type="triangle" w="med" len="med"/>
          </a:ln>
          <a:effectLst/>
        </p:spPr>
      </p:cxnSp>
      <p:sp>
        <p:nvSpPr>
          <p:cNvPr id="2" name="Title 1"/>
          <p:cNvSpPr>
            <a:spLocks noGrp="1"/>
          </p:cNvSpPr>
          <p:nvPr>
            <p:ph type="title"/>
          </p:nvPr>
        </p:nvSpPr>
        <p:spPr bwMode="gray"/>
        <p:txBody>
          <a:bodyPr/>
          <a:lstStyle/>
          <a:p>
            <a:r>
              <a:rPr lang="en-US" altLang="zh-CN" dirty="0"/>
              <a:t>L2TP</a:t>
            </a:r>
            <a:r>
              <a:rPr lang="zh-CN" altLang="en-US" dirty="0"/>
              <a:t>数据包架构</a:t>
            </a:r>
          </a:p>
        </p:txBody>
      </p:sp>
      <p:sp>
        <p:nvSpPr>
          <p:cNvPr id="3" name="Text Placeholder 2"/>
          <p:cNvSpPr>
            <a:spLocks noGrp="1"/>
          </p:cNvSpPr>
          <p:nvPr>
            <p:ph type="body" sz="quarter" idx="10"/>
          </p:nvPr>
        </p:nvSpPr>
        <p:spPr bwMode="gray"/>
        <p:txBody>
          <a:bodyPr/>
          <a:lstStyle/>
          <a:p>
            <a:r>
              <a:rPr lang="en-US" altLang="zh-CN" sz="2000" dirty="0"/>
              <a:t>L2TP</a:t>
            </a:r>
            <a:r>
              <a:rPr lang="zh-CN" altLang="en-US" sz="2000" dirty="0"/>
              <a:t>协议包含两种类型的消息，控制消息和数据消息。</a:t>
            </a:r>
            <a:endParaRPr lang="en-US" altLang="zh-CN" sz="2000" dirty="0"/>
          </a:p>
          <a:p>
            <a:pPr lvl="1"/>
            <a:r>
              <a:rPr lang="zh-CN" altLang="en-US" sz="1800" dirty="0">
                <a:highlight>
                  <a:srgbClr val="FFFF00"/>
                </a:highlight>
              </a:rPr>
              <a:t>控制消息</a:t>
            </a:r>
            <a:r>
              <a:rPr lang="zh-CN" altLang="en-US" sz="1800" dirty="0"/>
              <a:t>用于</a:t>
            </a:r>
            <a:r>
              <a:rPr lang="en-US" altLang="zh-CN" sz="1800" dirty="0"/>
              <a:t>L2TP</a:t>
            </a:r>
            <a:r>
              <a:rPr lang="zh-CN" altLang="en-US" sz="1800" dirty="0"/>
              <a:t>隧道和</a:t>
            </a:r>
            <a:r>
              <a:rPr lang="zh-CN" altLang="en-US" sz="1800" dirty="0">
                <a:highlight>
                  <a:srgbClr val="FFFF00"/>
                </a:highlight>
              </a:rPr>
              <a:t>会话连接的建立、维护和拆除</a:t>
            </a:r>
            <a:r>
              <a:rPr lang="zh-CN" altLang="en-US" sz="1800" dirty="0"/>
              <a:t>。</a:t>
            </a:r>
            <a:endParaRPr lang="en-US" altLang="zh-CN" sz="1800" dirty="0"/>
          </a:p>
          <a:p>
            <a:pPr lvl="1"/>
            <a:r>
              <a:rPr lang="zh-CN" altLang="en-US" sz="1800" dirty="0"/>
              <a:t>数据消息封装</a:t>
            </a:r>
            <a:r>
              <a:rPr lang="en-US" altLang="zh-CN" sz="1800" dirty="0"/>
              <a:t>PPP</a:t>
            </a:r>
            <a:r>
              <a:rPr lang="zh-CN" altLang="en-US" sz="1800" dirty="0"/>
              <a:t>数据帧并在</a:t>
            </a:r>
            <a:r>
              <a:rPr lang="en-US" altLang="zh-CN" sz="1800" dirty="0"/>
              <a:t>L2TP</a:t>
            </a:r>
            <a:r>
              <a:rPr lang="zh-CN" altLang="en-US" sz="1800" dirty="0"/>
              <a:t>隧道上传输。</a:t>
            </a:r>
          </a:p>
        </p:txBody>
      </p:sp>
      <p:sp>
        <p:nvSpPr>
          <p:cNvPr id="18" name="TextBox 17"/>
          <p:cNvSpPr txBox="1"/>
          <p:nvPr/>
        </p:nvSpPr>
        <p:spPr bwMode="gray">
          <a:xfrm>
            <a:off x="1587024" y="2933313"/>
            <a:ext cx="1408425"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600" dirty="0">
                <a:latin typeface="+mj-lt"/>
                <a:ea typeface="+mn-ea"/>
              </a:rPr>
              <a:t>控制报文结构</a:t>
            </a:r>
          </a:p>
        </p:txBody>
      </p:sp>
      <p:sp>
        <p:nvSpPr>
          <p:cNvPr id="23" name="TextBox 22"/>
          <p:cNvSpPr txBox="1"/>
          <p:nvPr/>
        </p:nvSpPr>
        <p:spPr bwMode="gray">
          <a:xfrm>
            <a:off x="1594800" y="3626742"/>
            <a:ext cx="1408425" cy="33488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600" dirty="0">
                <a:latin typeface="+mj-lt"/>
                <a:ea typeface="+mn-ea"/>
              </a:rPr>
              <a:t>数据报文结构</a:t>
            </a:r>
          </a:p>
        </p:txBody>
      </p:sp>
      <p:grpSp>
        <p:nvGrpSpPr>
          <p:cNvPr id="9" name="Group 8"/>
          <p:cNvGrpSpPr/>
          <p:nvPr/>
        </p:nvGrpSpPr>
        <p:grpSpPr bwMode="gray">
          <a:xfrm>
            <a:off x="1883767" y="4543903"/>
            <a:ext cx="7976836" cy="780844"/>
            <a:chOff x="1883767" y="4809724"/>
            <a:chExt cx="7976836" cy="780844"/>
          </a:xfrm>
        </p:grpSpPr>
        <p:sp>
          <p:nvSpPr>
            <p:cNvPr id="81" name="Freeform 159"/>
            <p:cNvSpPr/>
            <p:nvPr/>
          </p:nvSpPr>
          <p:spPr bwMode="gray">
            <a:xfrm flipH="1">
              <a:off x="8999461" y="5003263"/>
              <a:ext cx="861142" cy="45014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159"/>
            <p:cNvSpPr/>
            <p:nvPr/>
          </p:nvSpPr>
          <p:spPr bwMode="gray">
            <a:xfrm flipH="1">
              <a:off x="1893524" y="4952951"/>
              <a:ext cx="861142" cy="45014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5" name="图片 42" descr="大型网管-蓝.png"/>
            <p:cNvPicPr>
              <a:picLocks noChangeAspect="1"/>
            </p:cNvPicPr>
            <p:nvPr/>
          </p:nvPicPr>
          <p:blipFill>
            <a:blip r:embed="rId3" cstate="print"/>
            <a:stretch>
              <a:fillRect/>
            </a:stretch>
          </p:blipFill>
          <p:spPr bwMode="gray">
            <a:xfrm>
              <a:off x="2598223" y="5069282"/>
              <a:ext cx="539607" cy="441817"/>
            </a:xfrm>
            <a:prstGeom prst="rect">
              <a:avLst/>
            </a:prstGeom>
          </p:spPr>
        </p:pic>
        <p:pic>
          <p:nvPicPr>
            <p:cNvPr id="36"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679260" y="5069282"/>
              <a:ext cx="541201" cy="442800"/>
            </a:xfrm>
            <a:prstGeom prst="rect">
              <a:avLst/>
            </a:prstGeom>
          </p:spPr>
        </p:pic>
        <p:pic>
          <p:nvPicPr>
            <p:cNvPr id="37" name="图片 3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6819243" y="4989808"/>
              <a:ext cx="1192554" cy="600760"/>
            </a:xfrm>
            <a:prstGeom prst="rect">
              <a:avLst/>
            </a:prstGeom>
          </p:spPr>
        </p:pic>
        <p:pic>
          <p:nvPicPr>
            <p:cNvPr id="38" name="图片 56" descr="交换机.png"/>
            <p:cNvPicPr>
              <a:picLocks noChangeAspect="1"/>
            </p:cNvPicPr>
            <p:nvPr/>
          </p:nvPicPr>
          <p:blipFill>
            <a:blip r:embed="rId6" cstate="print"/>
            <a:stretch>
              <a:fillRect/>
            </a:stretch>
          </p:blipFill>
          <p:spPr bwMode="gray">
            <a:xfrm>
              <a:off x="5748619" y="5074333"/>
              <a:ext cx="524116" cy="436764"/>
            </a:xfrm>
            <a:prstGeom prst="rect">
              <a:avLst/>
            </a:prstGeom>
          </p:spPr>
        </p:pic>
        <p:pic>
          <p:nvPicPr>
            <p:cNvPr id="39" name="图片 3"/>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8557895" y="5069282"/>
              <a:ext cx="540000" cy="442800"/>
            </a:xfrm>
            <a:prstGeom prst="rect">
              <a:avLst/>
            </a:prstGeom>
          </p:spPr>
        </p:pic>
        <p:sp>
          <p:nvSpPr>
            <p:cNvPr id="41" name="Freeform 159"/>
            <p:cNvSpPr/>
            <p:nvPr/>
          </p:nvSpPr>
          <p:spPr bwMode="gray">
            <a:xfrm flipH="1">
              <a:off x="4511824" y="4953045"/>
              <a:ext cx="922457" cy="48219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46" name="Straight Connector 45"/>
            <p:cNvCxnSpPr>
              <a:stCxn id="35" idx="3"/>
              <a:endCxn id="36" idx="1"/>
            </p:cNvCxnSpPr>
            <p:nvPr/>
          </p:nvCxnSpPr>
          <p:spPr bwMode="gray">
            <a:xfrm>
              <a:off x="3137830" y="5290191"/>
              <a:ext cx="541430"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47" name="Straight Connector 46"/>
            <p:cNvCxnSpPr>
              <a:stCxn id="36" idx="3"/>
              <a:endCxn id="41" idx="21"/>
            </p:cNvCxnSpPr>
            <p:nvPr/>
          </p:nvCxnSpPr>
          <p:spPr bwMode="gray">
            <a:xfrm>
              <a:off x="4220461" y="5290682"/>
              <a:ext cx="291363" cy="428"/>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48" name="Straight Connector 47"/>
            <p:cNvCxnSpPr>
              <a:stCxn id="41" idx="8"/>
              <a:endCxn id="38" idx="1"/>
            </p:cNvCxnSpPr>
            <p:nvPr/>
          </p:nvCxnSpPr>
          <p:spPr bwMode="gray">
            <a:xfrm>
              <a:off x="5434281" y="5282334"/>
              <a:ext cx="314338" cy="1038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49" name="Straight Connector 48"/>
            <p:cNvCxnSpPr>
              <a:stCxn id="38" idx="3"/>
              <a:endCxn id="37" idx="1"/>
            </p:cNvCxnSpPr>
            <p:nvPr/>
          </p:nvCxnSpPr>
          <p:spPr bwMode="gray">
            <a:xfrm flipV="1">
              <a:off x="6272735" y="5290188"/>
              <a:ext cx="546508" cy="2527"/>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50" name="Straight Connector 49"/>
            <p:cNvCxnSpPr>
              <a:stCxn id="37" idx="3"/>
              <a:endCxn id="39" idx="1"/>
            </p:cNvCxnSpPr>
            <p:nvPr/>
          </p:nvCxnSpPr>
          <p:spPr bwMode="gray">
            <a:xfrm>
              <a:off x="8011797" y="5290188"/>
              <a:ext cx="546098" cy="494"/>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69" name="TextBox 68"/>
            <p:cNvSpPr txBox="1"/>
            <p:nvPr/>
          </p:nvSpPr>
          <p:spPr bwMode="gray">
            <a:xfrm>
              <a:off x="1883767" y="5133975"/>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企业分支</a:t>
              </a:r>
              <a:endParaRPr lang="zh-CN" altLang="en-US" sz="1400" dirty="0">
                <a:latin typeface="+mj-lt"/>
                <a:ea typeface="+mn-ea"/>
              </a:endParaRPr>
            </a:p>
          </p:txBody>
        </p:sp>
        <p:sp>
          <p:nvSpPr>
            <p:cNvPr id="70" name="TextBox 69"/>
            <p:cNvSpPr txBox="1"/>
            <p:nvPr/>
          </p:nvSpPr>
          <p:spPr bwMode="gray">
            <a:xfrm>
              <a:off x="9061579" y="5141724"/>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endParaRPr lang="zh-CN" altLang="en-US" sz="1400" dirty="0">
                <a:latin typeface="+mj-lt"/>
                <a:ea typeface="+mn-ea"/>
              </a:endParaRPr>
            </a:p>
          </p:txBody>
        </p:sp>
        <p:sp>
          <p:nvSpPr>
            <p:cNvPr id="72" name="TextBox 71"/>
            <p:cNvSpPr txBox="1"/>
            <p:nvPr/>
          </p:nvSpPr>
          <p:spPr bwMode="gray">
            <a:xfrm>
              <a:off x="4614598" y="5127140"/>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拨号网络</a:t>
              </a:r>
              <a:endParaRPr lang="zh-CN" altLang="en-US" sz="1400" dirty="0">
                <a:latin typeface="+mj-lt"/>
                <a:ea typeface="+mn-ea"/>
              </a:endParaRPr>
            </a:p>
          </p:txBody>
        </p:sp>
        <p:sp>
          <p:nvSpPr>
            <p:cNvPr id="73" name="TextBox 72"/>
            <p:cNvSpPr txBox="1"/>
            <p:nvPr/>
          </p:nvSpPr>
          <p:spPr bwMode="gray">
            <a:xfrm>
              <a:off x="5587700" y="4818182"/>
              <a:ext cx="898266"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NAS</a:t>
              </a:r>
              <a:r>
                <a:rPr lang="zh-CN" altLang="en-US" sz="1200" dirty="0">
                  <a:latin typeface="+mj-lt"/>
                  <a:ea typeface="+mn-ea"/>
                </a:rPr>
                <a:t>（</a:t>
              </a:r>
              <a:r>
                <a:rPr lang="en-US" altLang="zh-CN" sz="1200" dirty="0">
                  <a:latin typeface="+mj-lt"/>
                  <a:ea typeface="+mn-ea"/>
                </a:rPr>
                <a:t>LAC</a:t>
              </a:r>
              <a:r>
                <a:rPr lang="zh-CN" altLang="en-US" sz="1200" dirty="0">
                  <a:latin typeface="+mj-lt"/>
                  <a:ea typeface="+mn-ea"/>
                </a:rPr>
                <a:t>）</a:t>
              </a:r>
              <a:endParaRPr lang="zh-CN" altLang="en-US" sz="1400" dirty="0">
                <a:latin typeface="+mj-lt"/>
                <a:ea typeface="+mn-ea"/>
              </a:endParaRPr>
            </a:p>
          </p:txBody>
        </p:sp>
        <p:sp>
          <p:nvSpPr>
            <p:cNvPr id="74" name="TextBox 73"/>
            <p:cNvSpPr txBox="1"/>
            <p:nvPr/>
          </p:nvSpPr>
          <p:spPr bwMode="gray">
            <a:xfrm>
              <a:off x="8594389" y="4809724"/>
              <a:ext cx="47547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LNS</a:t>
              </a:r>
              <a:endParaRPr lang="zh-CN" altLang="en-US" sz="1400" dirty="0">
                <a:latin typeface="+mj-lt"/>
                <a:ea typeface="+mn-ea"/>
              </a:endParaRPr>
            </a:p>
          </p:txBody>
        </p:sp>
      </p:grpSp>
      <p:sp>
        <p:nvSpPr>
          <p:cNvPr id="8" name="TextBox 7"/>
          <p:cNvSpPr txBox="1"/>
          <p:nvPr/>
        </p:nvSpPr>
        <p:spPr bwMode="gray">
          <a:xfrm>
            <a:off x="1911810" y="5626446"/>
            <a:ext cx="706310"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IP</a:t>
            </a:r>
            <a:r>
              <a:rPr lang="zh-CN" altLang="en-US" sz="1400" dirty="0">
                <a:latin typeface="+mj-lt"/>
                <a:ea typeface="+mn-ea"/>
              </a:rPr>
              <a:t>报文</a:t>
            </a:r>
          </a:p>
        </p:txBody>
      </p:sp>
      <p:graphicFrame>
        <p:nvGraphicFramePr>
          <p:cNvPr id="54" name="Table 4">
            <a:extLst>
              <a:ext uri="{FF2B5EF4-FFF2-40B4-BE49-F238E27FC236}">
                <a16:creationId xmlns:a16="http://schemas.microsoft.com/office/drawing/2014/main" id="{72C60DF7-04DA-42C6-9A3A-7A01027FAEF6}"/>
              </a:ext>
            </a:extLst>
          </p:cNvPr>
          <p:cNvGraphicFramePr>
            <a:graphicFrameLocks noGrp="1"/>
          </p:cNvGraphicFramePr>
          <p:nvPr>
            <p:extLst>
              <p:ext uri="{D42A27DB-BD31-4B8C-83A1-F6EECF244321}">
                <p14:modId xmlns:p14="http://schemas.microsoft.com/office/powerpoint/2010/main" val="753702081"/>
              </p:ext>
            </p:extLst>
          </p:nvPr>
        </p:nvGraphicFramePr>
        <p:xfrm>
          <a:off x="3093758" y="2839276"/>
          <a:ext cx="4104457" cy="457200"/>
        </p:xfrm>
        <a:graphic>
          <a:graphicData uri="http://schemas.openxmlformats.org/drawingml/2006/table">
            <a:tbl>
              <a:tblPr firstRow="1" bandRow="1">
                <a:tableStyleId>{5C22544A-7EE6-4342-B048-85BDC9FD1C3A}</a:tableStyleId>
              </a:tblPr>
              <a:tblGrid>
                <a:gridCol w="972108">
                  <a:extLst>
                    <a:ext uri="{9D8B030D-6E8A-4147-A177-3AD203B41FA5}">
                      <a16:colId xmlns:a16="http://schemas.microsoft.com/office/drawing/2014/main" val="2966538011"/>
                    </a:ext>
                  </a:extLst>
                </a:gridCol>
                <a:gridCol w="786394">
                  <a:extLst>
                    <a:ext uri="{9D8B030D-6E8A-4147-A177-3AD203B41FA5}">
                      <a16:colId xmlns:a16="http://schemas.microsoft.com/office/drawing/2014/main" val="1471157918"/>
                    </a:ext>
                  </a:extLst>
                </a:gridCol>
                <a:gridCol w="1022596">
                  <a:extLst>
                    <a:ext uri="{9D8B030D-6E8A-4147-A177-3AD203B41FA5}">
                      <a16:colId xmlns:a16="http://schemas.microsoft.com/office/drawing/2014/main" val="996290401"/>
                    </a:ext>
                  </a:extLst>
                </a:gridCol>
                <a:gridCol w="1323359">
                  <a:extLst>
                    <a:ext uri="{9D8B030D-6E8A-4147-A177-3AD203B41FA5}">
                      <a16:colId xmlns:a16="http://schemas.microsoft.com/office/drawing/2014/main" val="2856764314"/>
                    </a:ext>
                  </a:extLst>
                </a:gridCol>
              </a:tblGrid>
              <a:tr h="370840">
                <a:tc>
                  <a:txBody>
                    <a:bodyPr/>
                    <a:lstStyle/>
                    <a:p>
                      <a:pPr algn="ctr"/>
                      <a:r>
                        <a:rPr lang="en-US" sz="1200" dirty="0"/>
                        <a:t>Original IP</a:t>
                      </a:r>
                    </a:p>
                    <a:p>
                      <a:pPr algn="ctr"/>
                      <a:r>
                        <a:rPr lang="en-US" sz="1200" dirty="0"/>
                        <a:t>Header</a:t>
                      </a:r>
                    </a:p>
                  </a:txBody>
                  <a:tcPr anchor="ctr">
                    <a:solidFill>
                      <a:srgbClr val="56C4D2"/>
                    </a:solidFill>
                  </a:tcPr>
                </a:tc>
                <a:tc>
                  <a:txBody>
                    <a:bodyPr/>
                    <a:lstStyle/>
                    <a:p>
                      <a:pPr algn="ctr"/>
                      <a:r>
                        <a:rPr lang="en-US" sz="1200" dirty="0"/>
                        <a:t>UDP</a:t>
                      </a:r>
                    </a:p>
                    <a:p>
                      <a:pPr algn="ctr"/>
                      <a:r>
                        <a:rPr lang="en-US" sz="1200" dirty="0"/>
                        <a:t>Header</a:t>
                      </a:r>
                    </a:p>
                  </a:txBody>
                  <a:tcPr anchor="ctr">
                    <a:solidFill>
                      <a:srgbClr val="56C4D2"/>
                    </a:solidFill>
                  </a:tcPr>
                </a:tc>
                <a:tc>
                  <a:txBody>
                    <a:bodyPr/>
                    <a:lstStyle/>
                    <a:p>
                      <a:pPr algn="ctr"/>
                      <a:r>
                        <a:rPr lang="en-US" sz="1200" dirty="0"/>
                        <a:t>L2TP</a:t>
                      </a:r>
                    </a:p>
                    <a:p>
                      <a:pPr algn="ctr"/>
                      <a:r>
                        <a:rPr lang="en-US" sz="1200" dirty="0"/>
                        <a:t>Header</a:t>
                      </a:r>
                    </a:p>
                  </a:txBody>
                  <a:tcPr anchor="ctr">
                    <a:solidFill>
                      <a:srgbClr val="56C4D2"/>
                    </a:solidFill>
                  </a:tcPr>
                </a:tc>
                <a:tc>
                  <a:txBody>
                    <a:bodyPr/>
                    <a:lstStyle/>
                    <a:p>
                      <a:pPr algn="ctr"/>
                      <a:r>
                        <a:rPr lang="en-US" sz="1200" dirty="0">
                          <a:solidFill>
                            <a:schemeClr val="bg1">
                              <a:lumMod val="50000"/>
                            </a:schemeClr>
                          </a:solidFill>
                        </a:rPr>
                        <a:t>L2TP</a:t>
                      </a:r>
                    </a:p>
                    <a:p>
                      <a:pPr algn="ctr"/>
                      <a:r>
                        <a:rPr lang="en-US" sz="1200" dirty="0">
                          <a:solidFill>
                            <a:schemeClr val="bg1">
                              <a:lumMod val="50000"/>
                            </a:schemeClr>
                          </a:solidFill>
                        </a:rPr>
                        <a:t>Control Data</a:t>
                      </a:r>
                    </a:p>
                  </a:txBody>
                  <a:tcPr anchor="ctr">
                    <a:solidFill>
                      <a:srgbClr val="FFD17D"/>
                    </a:solidFill>
                  </a:tcPr>
                </a:tc>
                <a:extLst>
                  <a:ext uri="{0D108BD9-81ED-4DB2-BD59-A6C34878D82A}">
                    <a16:rowId xmlns:a16="http://schemas.microsoft.com/office/drawing/2014/main" val="2196966323"/>
                  </a:ext>
                </a:extLst>
              </a:tr>
            </a:tbl>
          </a:graphicData>
        </a:graphic>
      </p:graphicFrame>
      <p:graphicFrame>
        <p:nvGraphicFramePr>
          <p:cNvPr id="55" name="Table 4">
            <a:extLst>
              <a:ext uri="{FF2B5EF4-FFF2-40B4-BE49-F238E27FC236}">
                <a16:creationId xmlns:a16="http://schemas.microsoft.com/office/drawing/2014/main" id="{7EE3EDF2-E646-498D-9867-63E278B793FD}"/>
              </a:ext>
            </a:extLst>
          </p:cNvPr>
          <p:cNvGraphicFramePr>
            <a:graphicFrameLocks noGrp="1"/>
          </p:cNvGraphicFramePr>
          <p:nvPr>
            <p:extLst>
              <p:ext uri="{D42A27DB-BD31-4B8C-83A1-F6EECF244321}">
                <p14:modId xmlns:p14="http://schemas.microsoft.com/office/powerpoint/2010/main" val="728853898"/>
              </p:ext>
            </p:extLst>
          </p:nvPr>
        </p:nvGraphicFramePr>
        <p:xfrm>
          <a:off x="3093758" y="3559223"/>
          <a:ext cx="5905704" cy="457200"/>
        </p:xfrm>
        <a:graphic>
          <a:graphicData uri="http://schemas.openxmlformats.org/drawingml/2006/table">
            <a:tbl>
              <a:tblPr firstRow="1" bandRow="1">
                <a:tableStyleId>{5C22544A-7EE6-4342-B048-85BDC9FD1C3A}</a:tableStyleId>
              </a:tblPr>
              <a:tblGrid>
                <a:gridCol w="850598">
                  <a:extLst>
                    <a:ext uri="{9D8B030D-6E8A-4147-A177-3AD203B41FA5}">
                      <a16:colId xmlns:a16="http://schemas.microsoft.com/office/drawing/2014/main" val="2966538011"/>
                    </a:ext>
                  </a:extLst>
                </a:gridCol>
                <a:gridCol w="767362">
                  <a:extLst>
                    <a:ext uri="{9D8B030D-6E8A-4147-A177-3AD203B41FA5}">
                      <a16:colId xmlns:a16="http://schemas.microsoft.com/office/drawing/2014/main" val="1471157918"/>
                    </a:ext>
                  </a:extLst>
                </a:gridCol>
                <a:gridCol w="774370">
                  <a:extLst>
                    <a:ext uri="{9D8B030D-6E8A-4147-A177-3AD203B41FA5}">
                      <a16:colId xmlns:a16="http://schemas.microsoft.com/office/drawing/2014/main" val="2540138851"/>
                    </a:ext>
                  </a:extLst>
                </a:gridCol>
                <a:gridCol w="864994">
                  <a:extLst>
                    <a:ext uri="{9D8B030D-6E8A-4147-A177-3AD203B41FA5}">
                      <a16:colId xmlns:a16="http://schemas.microsoft.com/office/drawing/2014/main" val="996290401"/>
                    </a:ext>
                  </a:extLst>
                </a:gridCol>
                <a:gridCol w="1081282">
                  <a:extLst>
                    <a:ext uri="{9D8B030D-6E8A-4147-A177-3AD203B41FA5}">
                      <a16:colId xmlns:a16="http://schemas.microsoft.com/office/drawing/2014/main" val="2856764314"/>
                    </a:ext>
                  </a:extLst>
                </a:gridCol>
                <a:gridCol w="1567098">
                  <a:extLst>
                    <a:ext uri="{9D8B030D-6E8A-4147-A177-3AD203B41FA5}">
                      <a16:colId xmlns:a16="http://schemas.microsoft.com/office/drawing/2014/main" val="3803133443"/>
                    </a:ext>
                  </a:extLst>
                </a:gridCol>
              </a:tblGrid>
              <a:tr h="370840">
                <a:tc>
                  <a:txBody>
                    <a:bodyPr/>
                    <a:lstStyle/>
                    <a:p>
                      <a:pPr algn="ctr" fontAlgn="auto"/>
                      <a:r>
                        <a:rPr lang="en-US" altLang="zh-CN" sz="1200" b="1" kern="1200" dirty="0">
                          <a:solidFill>
                            <a:schemeClr val="bg1"/>
                          </a:solidFill>
                          <a:latin typeface="+mn-lt"/>
                          <a:ea typeface="+mn-ea"/>
                          <a:cs typeface="Courier New" panose="02070309020205020404" pitchFamily="49" charset="0"/>
                        </a:rPr>
                        <a:t>New IP </a:t>
                      </a:r>
                    </a:p>
                    <a:p>
                      <a:pPr algn="ctr" fontAlgn="auto"/>
                      <a:r>
                        <a:rPr lang="en-US" altLang="zh-CN" sz="1200" b="1" kern="1200" dirty="0">
                          <a:solidFill>
                            <a:schemeClr val="bg1"/>
                          </a:solidFill>
                          <a:latin typeface="+mn-lt"/>
                          <a:ea typeface="+mn-ea"/>
                          <a:cs typeface="Courier New" panose="02070309020205020404" pitchFamily="49" charset="0"/>
                        </a:rPr>
                        <a:t>Header</a:t>
                      </a:r>
                      <a:endParaRPr lang="zh-CN" altLang="en-US" sz="1200" b="1" kern="1200" dirty="0">
                        <a:solidFill>
                          <a:schemeClr val="bg1"/>
                        </a:solidFill>
                        <a:latin typeface="+mn-lt"/>
                        <a:ea typeface="+mn-ea"/>
                        <a:cs typeface="Courier New" panose="02070309020205020404" pitchFamily="49" charset="0"/>
                      </a:endParaRPr>
                    </a:p>
                  </a:txBody>
                  <a:tcPr anchor="ctr">
                    <a:solidFill>
                      <a:srgbClr val="56C4D2"/>
                    </a:solidFill>
                  </a:tcPr>
                </a:tc>
                <a:tc>
                  <a:txBody>
                    <a:bodyPr/>
                    <a:lstStyle/>
                    <a:p>
                      <a:pPr algn="ctr" fontAlgn="auto"/>
                      <a:r>
                        <a:rPr lang="en-US" altLang="zh-CN" sz="1200" b="1" kern="1200" dirty="0">
                          <a:solidFill>
                            <a:schemeClr val="bg1"/>
                          </a:solidFill>
                          <a:latin typeface="+mn-lt"/>
                          <a:ea typeface="+mn-ea"/>
                          <a:cs typeface="Courier New" panose="02070309020205020404" pitchFamily="49" charset="0"/>
                        </a:rPr>
                        <a:t>UDP</a:t>
                      </a:r>
                    </a:p>
                    <a:p>
                      <a:pPr algn="ctr" fontAlgn="auto"/>
                      <a:r>
                        <a:rPr lang="en-US" altLang="zh-CN" sz="1200" b="1" kern="1200" dirty="0">
                          <a:solidFill>
                            <a:schemeClr val="bg1"/>
                          </a:solidFill>
                          <a:latin typeface="+mn-lt"/>
                          <a:ea typeface="+mn-ea"/>
                          <a:cs typeface="Courier New" panose="02070309020205020404" pitchFamily="49" charset="0"/>
                        </a:rPr>
                        <a:t>Header</a:t>
                      </a:r>
                      <a:endParaRPr lang="zh-CN" altLang="en-US" sz="1200" b="1" kern="1200" dirty="0">
                        <a:solidFill>
                          <a:schemeClr val="bg1"/>
                        </a:solidFill>
                        <a:latin typeface="+mn-lt"/>
                        <a:ea typeface="+mn-ea"/>
                        <a:cs typeface="Courier New" panose="02070309020205020404" pitchFamily="49" charset="0"/>
                      </a:endParaRPr>
                    </a:p>
                  </a:txBody>
                  <a:tcPr anchor="ctr">
                    <a:solidFill>
                      <a:srgbClr val="56C4D2"/>
                    </a:solidFill>
                  </a:tcPr>
                </a:tc>
                <a:tc>
                  <a:txBody>
                    <a:bodyPr/>
                    <a:lstStyle/>
                    <a:p>
                      <a:pPr algn="ctr" fontAlgn="auto"/>
                      <a:r>
                        <a:rPr lang="en-US" altLang="zh-CN" sz="1200" b="1" kern="1200" dirty="0">
                          <a:solidFill>
                            <a:schemeClr val="bg1"/>
                          </a:solidFill>
                          <a:latin typeface="+mn-lt"/>
                          <a:ea typeface="+mn-ea"/>
                          <a:cs typeface="Courier New" panose="02070309020205020404" pitchFamily="49" charset="0"/>
                        </a:rPr>
                        <a:t>L2TP</a:t>
                      </a:r>
                    </a:p>
                    <a:p>
                      <a:pPr algn="ctr" fontAlgn="auto"/>
                      <a:r>
                        <a:rPr lang="en-US" altLang="zh-CN" sz="1200" b="1" kern="1200" dirty="0">
                          <a:solidFill>
                            <a:schemeClr val="bg1"/>
                          </a:solidFill>
                          <a:latin typeface="+mn-lt"/>
                          <a:ea typeface="+mn-ea"/>
                          <a:cs typeface="Courier New" panose="02070309020205020404" pitchFamily="49" charset="0"/>
                        </a:rPr>
                        <a:t>Header</a:t>
                      </a:r>
                      <a:endParaRPr lang="en-US" sz="1200" dirty="0"/>
                    </a:p>
                  </a:txBody>
                  <a:tcPr anchor="ctr">
                    <a:solidFill>
                      <a:srgbClr val="56C4D2"/>
                    </a:solidFill>
                  </a:tcPr>
                </a:tc>
                <a:tc>
                  <a:txBody>
                    <a:bodyPr/>
                    <a:lstStyle/>
                    <a:p>
                      <a:pPr algn="ctr" fontAlgn="auto"/>
                      <a:r>
                        <a:rPr lang="en-US" altLang="zh-CN" sz="1200" b="1" kern="1200" dirty="0">
                          <a:solidFill>
                            <a:schemeClr val="bg1"/>
                          </a:solidFill>
                          <a:latin typeface="+mn-lt"/>
                          <a:ea typeface="+mn-ea"/>
                          <a:cs typeface="Courier New" panose="02070309020205020404" pitchFamily="49" charset="0"/>
                        </a:rPr>
                        <a:t>PPP</a:t>
                      </a:r>
                    </a:p>
                    <a:p>
                      <a:pPr algn="ctr" fontAlgn="auto"/>
                      <a:r>
                        <a:rPr lang="en-US" altLang="zh-CN" sz="1200" b="1" kern="1200" dirty="0">
                          <a:solidFill>
                            <a:schemeClr val="bg1"/>
                          </a:solidFill>
                          <a:latin typeface="+mn-lt"/>
                          <a:ea typeface="+mn-ea"/>
                          <a:cs typeface="Courier New" panose="02070309020205020404" pitchFamily="49" charset="0"/>
                        </a:rPr>
                        <a:t>Header</a:t>
                      </a:r>
                      <a:endParaRPr lang="zh-CN" altLang="en-US" sz="1200" b="1" kern="1200" dirty="0">
                        <a:solidFill>
                          <a:schemeClr val="bg1"/>
                        </a:solidFill>
                        <a:latin typeface="+mn-lt"/>
                        <a:ea typeface="+mn-ea"/>
                        <a:cs typeface="Courier New" panose="02070309020205020404" pitchFamily="49" charset="0"/>
                      </a:endParaRPr>
                    </a:p>
                  </a:txBody>
                  <a:tcPr anchor="ctr">
                    <a:solidFill>
                      <a:srgbClr val="8BC9A0"/>
                    </a:solidFill>
                  </a:tcPr>
                </a:tc>
                <a:tc>
                  <a:txBody>
                    <a:bodyPr/>
                    <a:lstStyle/>
                    <a:p>
                      <a:pPr algn="ctr" fontAlgn="auto"/>
                      <a:r>
                        <a:rPr lang="en-US" altLang="zh-CN" sz="1200" b="1" kern="1200" dirty="0">
                          <a:solidFill>
                            <a:schemeClr val="bg1"/>
                          </a:solidFill>
                          <a:latin typeface="+mn-lt"/>
                          <a:ea typeface="+mn-ea"/>
                          <a:cs typeface="Courier New" panose="02070309020205020404" pitchFamily="49" charset="0"/>
                        </a:rPr>
                        <a:t>Original IP</a:t>
                      </a:r>
                    </a:p>
                    <a:p>
                      <a:pPr algn="ctr" fontAlgn="auto"/>
                      <a:r>
                        <a:rPr lang="en-US" altLang="zh-CN" sz="1200" b="1" kern="1200" dirty="0">
                          <a:solidFill>
                            <a:schemeClr val="bg1"/>
                          </a:solidFill>
                          <a:latin typeface="+mn-lt"/>
                          <a:ea typeface="+mn-ea"/>
                          <a:cs typeface="Courier New" panose="02070309020205020404" pitchFamily="49" charset="0"/>
                        </a:rPr>
                        <a:t>Header</a:t>
                      </a:r>
                      <a:endParaRPr lang="zh-CN" altLang="en-US" sz="1200" b="1" kern="1200" dirty="0">
                        <a:solidFill>
                          <a:schemeClr val="bg1"/>
                        </a:solidFill>
                        <a:latin typeface="+mn-lt"/>
                        <a:ea typeface="+mn-ea"/>
                        <a:cs typeface="Courier New" panose="02070309020205020404" pitchFamily="49" charset="0"/>
                      </a:endParaRPr>
                    </a:p>
                  </a:txBody>
                  <a:tcPr anchor="ctr">
                    <a:solidFill>
                      <a:srgbClr val="8BC9A0"/>
                    </a:solidFill>
                  </a:tcPr>
                </a:tc>
                <a:tc>
                  <a:txBody>
                    <a:bodyPr/>
                    <a:lstStyle/>
                    <a:p>
                      <a:pPr algn="ctr" fontAlgn="auto"/>
                      <a:r>
                        <a:rPr lang="en-US" altLang="zh-CN" sz="1200" b="1" kern="1200" dirty="0">
                          <a:solidFill>
                            <a:schemeClr val="bg1">
                              <a:lumMod val="50000"/>
                            </a:schemeClr>
                          </a:solidFill>
                          <a:latin typeface="+mn-lt"/>
                          <a:ea typeface="+mn-ea"/>
                          <a:cs typeface="Courier New" panose="02070309020205020404" pitchFamily="49" charset="0"/>
                        </a:rPr>
                        <a:t>Traffic</a:t>
                      </a:r>
                    </a:p>
                    <a:p>
                      <a:pPr algn="ctr" fontAlgn="auto"/>
                      <a:r>
                        <a:rPr lang="en-US" altLang="zh-CN" sz="1200" b="1" kern="1200" dirty="0">
                          <a:solidFill>
                            <a:schemeClr val="bg1">
                              <a:lumMod val="50000"/>
                            </a:schemeClr>
                          </a:solidFill>
                          <a:latin typeface="+mn-lt"/>
                          <a:ea typeface="+mn-ea"/>
                          <a:cs typeface="Courier New" panose="02070309020205020404" pitchFamily="49" charset="0"/>
                        </a:rPr>
                        <a:t>Data</a:t>
                      </a:r>
                      <a:endParaRPr lang="zh-CN" altLang="en-US" sz="1200" b="1" kern="1200" dirty="0">
                        <a:solidFill>
                          <a:schemeClr val="bg1">
                            <a:lumMod val="50000"/>
                          </a:schemeClr>
                        </a:solidFill>
                        <a:latin typeface="+mn-lt"/>
                        <a:ea typeface="+mn-ea"/>
                        <a:cs typeface="Courier New" panose="02070309020205020404" pitchFamily="49" charset="0"/>
                      </a:endParaRPr>
                    </a:p>
                  </a:txBody>
                  <a:tcPr anchor="ctr">
                    <a:solidFill>
                      <a:srgbClr val="FFD17D"/>
                    </a:solidFill>
                  </a:tcPr>
                </a:tc>
                <a:extLst>
                  <a:ext uri="{0D108BD9-81ED-4DB2-BD59-A6C34878D82A}">
                    <a16:rowId xmlns:a16="http://schemas.microsoft.com/office/drawing/2014/main" val="2196966323"/>
                  </a:ext>
                </a:extLst>
              </a:tr>
            </a:tbl>
          </a:graphicData>
        </a:graphic>
      </p:graphicFrame>
      <p:sp>
        <p:nvSpPr>
          <p:cNvPr id="57" name="Can 9">
            <a:extLst>
              <a:ext uri="{FF2B5EF4-FFF2-40B4-BE49-F238E27FC236}">
                <a16:creationId xmlns:a16="http://schemas.microsoft.com/office/drawing/2014/main" id="{9E821FE8-6816-4451-B842-4089FF4B96A3}"/>
              </a:ext>
            </a:extLst>
          </p:cNvPr>
          <p:cNvSpPr/>
          <p:nvPr/>
        </p:nvSpPr>
        <p:spPr bwMode="gray">
          <a:xfrm rot="5400000">
            <a:off x="4272234" y="3876477"/>
            <a:ext cx="189352" cy="3531204"/>
          </a:xfrm>
          <a:prstGeom prst="can">
            <a:avLst>
              <a:gd name="adj" fmla="val 40000"/>
            </a:avLst>
          </a:prstGeom>
          <a:solidFill>
            <a:srgbClr val="8BC9A0"/>
          </a:solid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6"/>
          <p:cNvSpPr txBox="1"/>
          <p:nvPr/>
        </p:nvSpPr>
        <p:spPr bwMode="gray">
          <a:xfrm>
            <a:off x="4018542" y="5516509"/>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b="1" dirty="0">
                <a:solidFill>
                  <a:schemeClr val="bg1"/>
                </a:solidFill>
                <a:latin typeface="+mj-lt"/>
                <a:ea typeface="+mn-ea"/>
              </a:rPr>
              <a:t>PPP</a:t>
            </a:r>
            <a:r>
              <a:rPr lang="zh-CN" altLang="en-US" sz="1200" b="1" dirty="0">
                <a:solidFill>
                  <a:schemeClr val="bg1"/>
                </a:solidFill>
                <a:latin typeface="+mj-lt"/>
                <a:ea typeface="+mn-ea"/>
              </a:rPr>
              <a:t>封装</a:t>
            </a:r>
          </a:p>
        </p:txBody>
      </p:sp>
      <p:sp>
        <p:nvSpPr>
          <p:cNvPr id="43" name="Can 225">
            <a:extLst>
              <a:ext uri="{FF2B5EF4-FFF2-40B4-BE49-F238E27FC236}">
                <a16:creationId xmlns:a16="http://schemas.microsoft.com/office/drawing/2014/main" id="{952A5A26-6BFD-4898-954B-B17CAF1788E5}"/>
              </a:ext>
            </a:extLst>
          </p:cNvPr>
          <p:cNvSpPr/>
          <p:nvPr/>
        </p:nvSpPr>
        <p:spPr bwMode="gray">
          <a:xfrm rot="5400000">
            <a:off x="7283227" y="4251703"/>
            <a:ext cx="292021" cy="2787514"/>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44"/>
          <p:cNvSpPr txBox="1"/>
          <p:nvPr/>
        </p:nvSpPr>
        <p:spPr bwMode="gray">
          <a:xfrm>
            <a:off x="7004709" y="5512978"/>
            <a:ext cx="86180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b="1" dirty="0">
                <a:solidFill>
                  <a:schemeClr val="bg1"/>
                </a:solidFill>
                <a:latin typeface="+mj-lt"/>
                <a:ea typeface="+mn-ea"/>
              </a:rPr>
              <a:t>L2TP</a:t>
            </a:r>
            <a:r>
              <a:rPr lang="zh-CN" altLang="en-US" sz="1200" b="1" dirty="0">
                <a:solidFill>
                  <a:schemeClr val="bg1"/>
                </a:solidFill>
                <a:latin typeface="+mj-lt"/>
                <a:ea typeface="+mn-ea"/>
              </a:rPr>
              <a:t>封装</a:t>
            </a:r>
          </a:p>
        </p:txBody>
      </p:sp>
      <p:sp>
        <p:nvSpPr>
          <p:cNvPr id="58" name="Can 9">
            <a:extLst>
              <a:ext uri="{FF2B5EF4-FFF2-40B4-BE49-F238E27FC236}">
                <a16:creationId xmlns:a16="http://schemas.microsoft.com/office/drawing/2014/main" id="{57C24CA9-4479-47E9-8E59-13ED1ACAE9D5}"/>
              </a:ext>
            </a:extLst>
          </p:cNvPr>
          <p:cNvSpPr/>
          <p:nvPr/>
        </p:nvSpPr>
        <p:spPr bwMode="gray">
          <a:xfrm rot="5400000">
            <a:off x="8875786" y="5420198"/>
            <a:ext cx="189352" cy="443764"/>
          </a:xfrm>
          <a:prstGeom prst="can">
            <a:avLst>
              <a:gd name="adj" fmla="val 40000"/>
            </a:avLst>
          </a:prstGeom>
          <a:solidFill>
            <a:srgbClr val="8BC9A0"/>
          </a:solid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40"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
        <p:nvSpPr>
          <p:cNvPr id="4" name="文本框 3">
            <a:extLst>
              <a:ext uri="{FF2B5EF4-FFF2-40B4-BE49-F238E27FC236}">
                <a16:creationId xmlns:a16="http://schemas.microsoft.com/office/drawing/2014/main" id="{99512D92-FD95-507B-E8F1-F164F9D124B2}"/>
              </a:ext>
            </a:extLst>
          </p:cNvPr>
          <p:cNvSpPr txBox="1"/>
          <p:nvPr/>
        </p:nvSpPr>
        <p:spPr>
          <a:xfrm>
            <a:off x="2899370" y="5902780"/>
            <a:ext cx="7380820" cy="646331"/>
          </a:xfrm>
          <a:prstGeom prst="rect">
            <a:avLst/>
          </a:prstGeom>
          <a:noFill/>
        </p:spPr>
        <p:txBody>
          <a:bodyPr wrap="square" rtlCol="0">
            <a:spAutoFit/>
          </a:bodyPr>
          <a:lstStyle/>
          <a:p>
            <a:r>
              <a:rPr lang="en-US" altLang="zh-CN" dirty="0"/>
              <a:t>LCP</a:t>
            </a:r>
            <a:r>
              <a:rPr lang="zh-CN" altLang="en-US" dirty="0"/>
              <a:t>（认证类型、魔术字、</a:t>
            </a:r>
            <a:r>
              <a:rPr lang="en-US" altLang="zh-CN" dirty="0"/>
              <a:t>MRU </a:t>
            </a:r>
            <a:r>
              <a:rPr lang="zh-CN" altLang="en-US" dirty="0"/>
              <a:t>等）链路的建立、维护拆除等功能</a:t>
            </a:r>
            <a:endParaRPr lang="en-US" altLang="zh-CN" dirty="0"/>
          </a:p>
          <a:p>
            <a:r>
              <a:rPr lang="en-US" altLang="zh-CN" dirty="0"/>
              <a:t>NCP</a:t>
            </a:r>
            <a:r>
              <a:rPr lang="zh-CN" altLang="en-US" dirty="0"/>
              <a:t>（</a:t>
            </a:r>
            <a:r>
              <a:rPr lang="en-US" altLang="zh-CN" dirty="0"/>
              <a:t>IPCP</a:t>
            </a:r>
            <a:r>
              <a:rPr lang="zh-CN" altLang="en-US" dirty="0"/>
              <a:t>、</a:t>
            </a:r>
            <a:r>
              <a:rPr lang="en-US" altLang="zh-CN" dirty="0"/>
              <a:t>IPv6CP</a:t>
            </a:r>
            <a:r>
              <a:rPr lang="zh-CN" altLang="en-US" dirty="0"/>
              <a:t>）</a:t>
            </a:r>
            <a:r>
              <a:rPr lang="en-US" altLang="zh-CN" dirty="0"/>
              <a:t>IP</a:t>
            </a:r>
            <a:r>
              <a:rPr lang="zh-CN" altLang="en-US" dirty="0"/>
              <a:t>地址冲突检测、地址分配等</a:t>
            </a:r>
          </a:p>
        </p:txBody>
      </p:sp>
    </p:spTree>
    <p:extLst>
      <p:ext uri="{BB962C8B-B14F-4D97-AF65-F5344CB8AC3E}">
        <p14:creationId xmlns:p14="http://schemas.microsoft.com/office/powerpoint/2010/main" val="1453457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L2TP</a:t>
            </a:r>
            <a:r>
              <a:rPr lang="zh-CN" altLang="en-US" dirty="0"/>
              <a:t>工作过程</a:t>
            </a:r>
          </a:p>
        </p:txBody>
      </p:sp>
      <p:sp>
        <p:nvSpPr>
          <p:cNvPr id="3" name="Text Placeholder 2"/>
          <p:cNvSpPr>
            <a:spLocks noGrp="1"/>
          </p:cNvSpPr>
          <p:nvPr>
            <p:ph type="body" sz="quarter" idx="10"/>
          </p:nvPr>
        </p:nvSpPr>
        <p:spPr bwMode="gray"/>
        <p:txBody>
          <a:bodyPr/>
          <a:lstStyle/>
          <a:p>
            <a:r>
              <a:rPr lang="en-US" altLang="zh-CN" sz="1800" dirty="0"/>
              <a:t>L2TP</a:t>
            </a:r>
            <a:r>
              <a:rPr lang="zh-CN" altLang="en-US" sz="1800" dirty="0"/>
              <a:t>能够传输数据，工作过程基本需要</a:t>
            </a:r>
            <a:r>
              <a:rPr lang="en-US" altLang="zh-CN" sz="1800" dirty="0"/>
              <a:t>3</a:t>
            </a:r>
            <a:r>
              <a:rPr lang="zh-CN" altLang="en-US" sz="1800" dirty="0"/>
              <a:t>步：</a:t>
            </a:r>
            <a:endParaRPr lang="en-US" altLang="zh-CN" sz="1800" dirty="0"/>
          </a:p>
          <a:p>
            <a:pPr lvl="1"/>
            <a:r>
              <a:rPr lang="zh-CN" altLang="en-US" sz="1600" dirty="0"/>
              <a:t>建立</a:t>
            </a:r>
            <a:r>
              <a:rPr lang="en-US" altLang="zh-CN" sz="1600" dirty="0"/>
              <a:t>L2TP</a:t>
            </a:r>
            <a:r>
              <a:rPr lang="zh-CN" altLang="en-US" sz="1600" dirty="0"/>
              <a:t>隧道</a:t>
            </a:r>
            <a:endParaRPr lang="en-US" altLang="zh-CN" sz="1600" dirty="0"/>
          </a:p>
          <a:p>
            <a:pPr lvl="1"/>
            <a:r>
              <a:rPr lang="zh-CN" altLang="en-US" sz="1600" dirty="0"/>
              <a:t>建立</a:t>
            </a:r>
            <a:r>
              <a:rPr lang="en-US" altLang="zh-CN" sz="1600" dirty="0"/>
              <a:t>L2TP</a:t>
            </a:r>
            <a:r>
              <a:rPr lang="zh-CN" altLang="en-US" sz="1600" dirty="0"/>
              <a:t>会话连接</a:t>
            </a:r>
            <a:endParaRPr lang="en-US" altLang="zh-CN" sz="1600" dirty="0"/>
          </a:p>
          <a:p>
            <a:pPr lvl="1"/>
            <a:r>
              <a:rPr lang="zh-CN" altLang="en-US" sz="1600" dirty="0"/>
              <a:t>传输</a:t>
            </a:r>
            <a:r>
              <a:rPr lang="en-US" altLang="zh-CN" sz="1600" dirty="0"/>
              <a:t>PPP</a:t>
            </a:r>
            <a:r>
              <a:rPr lang="zh-CN" altLang="en-US" sz="1600" dirty="0"/>
              <a:t>报文</a:t>
            </a:r>
          </a:p>
        </p:txBody>
      </p:sp>
      <p:grpSp>
        <p:nvGrpSpPr>
          <p:cNvPr id="81" name="Group 80"/>
          <p:cNvGrpSpPr/>
          <p:nvPr/>
        </p:nvGrpSpPr>
        <p:grpSpPr bwMode="gray">
          <a:xfrm>
            <a:off x="3992848" y="1284595"/>
            <a:ext cx="7477474" cy="4825124"/>
            <a:chOff x="3992848" y="1412188"/>
            <a:chExt cx="7477474" cy="4825124"/>
          </a:xfrm>
        </p:grpSpPr>
        <p:sp>
          <p:nvSpPr>
            <p:cNvPr id="5" name="Freeform 159"/>
            <p:cNvSpPr/>
            <p:nvPr/>
          </p:nvSpPr>
          <p:spPr bwMode="gray">
            <a:xfrm flipH="1">
              <a:off x="10046128" y="2224674"/>
              <a:ext cx="1424194" cy="7444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159"/>
            <p:cNvSpPr/>
            <p:nvPr/>
          </p:nvSpPr>
          <p:spPr bwMode="gray">
            <a:xfrm flipH="1">
              <a:off x="4002605" y="2416991"/>
              <a:ext cx="861142" cy="45014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图片 42" descr="大型网管-蓝.png"/>
            <p:cNvPicPr>
              <a:picLocks noChangeAspect="1"/>
            </p:cNvPicPr>
            <p:nvPr/>
          </p:nvPicPr>
          <p:blipFill>
            <a:blip r:embed="rId3" cstate="print"/>
            <a:stretch>
              <a:fillRect/>
            </a:stretch>
          </p:blipFill>
          <p:spPr bwMode="gray">
            <a:xfrm>
              <a:off x="4707304" y="2533322"/>
              <a:ext cx="539607" cy="441817"/>
            </a:xfrm>
            <a:prstGeom prst="rect">
              <a:avLst/>
            </a:prstGeom>
          </p:spPr>
        </p:pic>
        <p:pic>
          <p:nvPicPr>
            <p:cNvPr id="9"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880531" y="2453848"/>
              <a:ext cx="1192554" cy="600760"/>
            </a:xfrm>
            <a:prstGeom prst="rect">
              <a:avLst/>
            </a:prstGeom>
          </p:spPr>
        </p:pic>
        <p:pic>
          <p:nvPicPr>
            <p:cNvPr id="10" name="图片 56" descr="交换机.png"/>
            <p:cNvPicPr>
              <a:picLocks noChangeAspect="1"/>
            </p:cNvPicPr>
            <p:nvPr/>
          </p:nvPicPr>
          <p:blipFill>
            <a:blip r:embed="rId5" cstate="print"/>
            <a:stretch>
              <a:fillRect/>
            </a:stretch>
          </p:blipFill>
          <p:spPr bwMode="gray">
            <a:xfrm>
              <a:off x="6809907" y="2538373"/>
              <a:ext cx="524116" cy="436764"/>
            </a:xfrm>
            <a:prstGeom prst="rect">
              <a:avLst/>
            </a:prstGeom>
          </p:spPr>
        </p:pic>
        <p:pic>
          <p:nvPicPr>
            <p:cNvPr id="11" name="图片 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9619183" y="2533322"/>
              <a:ext cx="540000" cy="442800"/>
            </a:xfrm>
            <a:prstGeom prst="rect">
              <a:avLst/>
            </a:prstGeom>
          </p:spPr>
        </p:pic>
        <p:sp>
          <p:nvSpPr>
            <p:cNvPr id="12" name="Freeform 159"/>
            <p:cNvSpPr/>
            <p:nvPr/>
          </p:nvSpPr>
          <p:spPr bwMode="gray">
            <a:xfrm flipH="1">
              <a:off x="5573112" y="2417085"/>
              <a:ext cx="922457" cy="482195"/>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4" name="Straight Connector 13"/>
            <p:cNvCxnSpPr>
              <a:stCxn id="7" idx="3"/>
              <a:endCxn id="12" idx="21"/>
            </p:cNvCxnSpPr>
            <p:nvPr/>
          </p:nvCxnSpPr>
          <p:spPr bwMode="gray">
            <a:xfrm>
              <a:off x="5246911" y="2754231"/>
              <a:ext cx="326201" cy="919"/>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5" name="Straight Connector 14"/>
            <p:cNvCxnSpPr>
              <a:stCxn id="12" idx="8"/>
              <a:endCxn id="10" idx="1"/>
            </p:cNvCxnSpPr>
            <p:nvPr/>
          </p:nvCxnSpPr>
          <p:spPr bwMode="gray">
            <a:xfrm>
              <a:off x="6495569" y="2746374"/>
              <a:ext cx="314338" cy="1038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6" name="Straight Connector 15"/>
            <p:cNvCxnSpPr>
              <a:stCxn id="10" idx="3"/>
              <a:endCxn id="9" idx="1"/>
            </p:cNvCxnSpPr>
            <p:nvPr/>
          </p:nvCxnSpPr>
          <p:spPr bwMode="gray">
            <a:xfrm flipV="1">
              <a:off x="7334023" y="2754228"/>
              <a:ext cx="546508" cy="2527"/>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7" name="Straight Connector 16"/>
            <p:cNvCxnSpPr>
              <a:stCxn id="9" idx="3"/>
              <a:endCxn id="11" idx="1"/>
            </p:cNvCxnSpPr>
            <p:nvPr/>
          </p:nvCxnSpPr>
          <p:spPr bwMode="gray">
            <a:xfrm>
              <a:off x="9073085" y="2754228"/>
              <a:ext cx="546098" cy="494"/>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8" name="TextBox 17"/>
            <p:cNvSpPr txBox="1"/>
            <p:nvPr/>
          </p:nvSpPr>
          <p:spPr bwMode="gray">
            <a:xfrm>
              <a:off x="3992848" y="2598015"/>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企业分支</a:t>
              </a:r>
              <a:endParaRPr lang="zh-CN" altLang="en-US" sz="1400" dirty="0">
                <a:latin typeface="+mj-lt"/>
                <a:ea typeface="+mn-ea"/>
              </a:endParaRPr>
            </a:p>
          </p:txBody>
        </p:sp>
        <p:sp>
          <p:nvSpPr>
            <p:cNvPr id="19" name="TextBox 18"/>
            <p:cNvSpPr txBox="1"/>
            <p:nvPr/>
          </p:nvSpPr>
          <p:spPr bwMode="gray">
            <a:xfrm>
              <a:off x="10308907" y="2266345"/>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endParaRPr lang="zh-CN" altLang="en-US" sz="1400" dirty="0">
                <a:latin typeface="+mj-lt"/>
                <a:ea typeface="+mn-ea"/>
              </a:endParaRPr>
            </a:p>
          </p:txBody>
        </p:sp>
        <p:sp>
          <p:nvSpPr>
            <p:cNvPr id="20" name="TextBox 19"/>
            <p:cNvSpPr txBox="1"/>
            <p:nvPr/>
          </p:nvSpPr>
          <p:spPr bwMode="gray">
            <a:xfrm>
              <a:off x="5675886" y="2591180"/>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拨号网络</a:t>
              </a:r>
              <a:endParaRPr lang="zh-CN" altLang="en-US" sz="1400" dirty="0">
                <a:latin typeface="+mj-lt"/>
                <a:ea typeface="+mn-ea"/>
              </a:endParaRPr>
            </a:p>
          </p:txBody>
        </p:sp>
        <p:sp>
          <p:nvSpPr>
            <p:cNvPr id="21" name="TextBox 20"/>
            <p:cNvSpPr txBox="1"/>
            <p:nvPr/>
          </p:nvSpPr>
          <p:spPr bwMode="gray">
            <a:xfrm>
              <a:off x="6622832" y="2982212"/>
              <a:ext cx="898266" cy="273325"/>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NAS</a:t>
              </a:r>
              <a:r>
                <a:rPr lang="zh-CN" altLang="en-US" sz="1200" dirty="0">
                  <a:latin typeface="+mj-lt"/>
                  <a:ea typeface="+mn-ea"/>
                </a:rPr>
                <a:t>（</a:t>
              </a:r>
              <a:r>
                <a:rPr lang="en-US" altLang="zh-CN" sz="1200" dirty="0">
                  <a:latin typeface="+mj-lt"/>
                  <a:ea typeface="+mn-ea"/>
                </a:rPr>
                <a:t>LAC</a:t>
              </a:r>
              <a:r>
                <a:rPr lang="zh-CN" altLang="en-US" sz="1200" dirty="0">
                  <a:latin typeface="+mj-lt"/>
                  <a:ea typeface="+mn-ea"/>
                </a:rPr>
                <a:t>）</a:t>
              </a:r>
              <a:endParaRPr lang="zh-CN" altLang="en-US" sz="1400" dirty="0">
                <a:latin typeface="+mj-lt"/>
                <a:ea typeface="+mn-ea"/>
              </a:endParaRPr>
            </a:p>
          </p:txBody>
        </p:sp>
        <p:sp>
          <p:nvSpPr>
            <p:cNvPr id="22" name="TextBox 21"/>
            <p:cNvSpPr txBox="1"/>
            <p:nvPr/>
          </p:nvSpPr>
          <p:spPr bwMode="gray">
            <a:xfrm>
              <a:off x="9651444" y="2969142"/>
              <a:ext cx="47547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LNS</a:t>
              </a:r>
              <a:endParaRPr lang="zh-CN" altLang="en-US" sz="1400" dirty="0">
                <a:latin typeface="+mj-lt"/>
                <a:ea typeface="+mn-ea"/>
              </a:endParaRPr>
            </a:p>
          </p:txBody>
        </p:sp>
        <p:pic>
          <p:nvPicPr>
            <p:cNvPr id="24" name="图片 42" descr="大型网管-蓝.png"/>
            <p:cNvPicPr>
              <a:picLocks noChangeAspect="1"/>
            </p:cNvPicPr>
            <p:nvPr/>
          </p:nvPicPr>
          <p:blipFill>
            <a:blip r:embed="rId3" cstate="print"/>
            <a:stretch>
              <a:fillRect/>
            </a:stretch>
          </p:blipFill>
          <p:spPr bwMode="gray">
            <a:xfrm>
              <a:off x="10641901" y="2533319"/>
              <a:ext cx="539607" cy="441817"/>
            </a:xfrm>
            <a:prstGeom prst="rect">
              <a:avLst/>
            </a:prstGeom>
          </p:spPr>
        </p:pic>
        <p:pic>
          <p:nvPicPr>
            <p:cNvPr id="26" name="图片 2" descr="交换机.png"/>
            <p:cNvPicPr>
              <a:picLocks noChangeAspect="1"/>
            </p:cNvPicPr>
            <p:nvPr/>
          </p:nvPicPr>
          <p:blipFill>
            <a:blip r:embed="rId7" cstate="print"/>
            <a:stretch>
              <a:fillRect/>
            </a:stretch>
          </p:blipFill>
          <p:spPr bwMode="gray">
            <a:xfrm>
              <a:off x="9619183" y="1677847"/>
              <a:ext cx="542039" cy="443486"/>
            </a:xfrm>
            <a:prstGeom prst="rect">
              <a:avLst/>
            </a:prstGeom>
          </p:spPr>
        </p:pic>
        <p:pic>
          <p:nvPicPr>
            <p:cNvPr id="27" name="图片 2" descr="交换机.png"/>
            <p:cNvPicPr>
              <a:picLocks noChangeAspect="1"/>
            </p:cNvPicPr>
            <p:nvPr/>
          </p:nvPicPr>
          <p:blipFill>
            <a:blip r:embed="rId7" cstate="print"/>
            <a:stretch>
              <a:fillRect/>
            </a:stretch>
          </p:blipFill>
          <p:spPr bwMode="gray">
            <a:xfrm>
              <a:off x="6809907" y="1692511"/>
              <a:ext cx="524116" cy="428822"/>
            </a:xfrm>
            <a:prstGeom prst="rect">
              <a:avLst/>
            </a:prstGeom>
          </p:spPr>
        </p:pic>
        <p:cxnSp>
          <p:nvCxnSpPr>
            <p:cNvPr id="28" name="Straight Connector 27"/>
            <p:cNvCxnSpPr>
              <a:stCxn id="27" idx="2"/>
              <a:endCxn id="10" idx="0"/>
            </p:cNvCxnSpPr>
            <p:nvPr/>
          </p:nvCxnSpPr>
          <p:spPr bwMode="gray">
            <a:xfrm>
              <a:off x="7071965" y="2121333"/>
              <a:ext cx="0" cy="41704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31" name="Straight Connector 30"/>
            <p:cNvCxnSpPr>
              <a:stCxn id="26" idx="2"/>
              <a:endCxn id="11" idx="0"/>
            </p:cNvCxnSpPr>
            <p:nvPr/>
          </p:nvCxnSpPr>
          <p:spPr bwMode="gray">
            <a:xfrm flipH="1">
              <a:off x="9889183" y="2121333"/>
              <a:ext cx="1020" cy="411989"/>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34" name="图片 44" descr="交换机.png"/>
            <p:cNvPicPr>
              <a:picLocks noChangeAspect="1"/>
            </p:cNvPicPr>
            <p:nvPr/>
          </p:nvPicPr>
          <p:blipFill>
            <a:blip r:embed="rId8" cstate="print"/>
            <a:stretch>
              <a:fillRect/>
            </a:stretch>
          </p:blipFill>
          <p:spPr bwMode="gray">
            <a:xfrm>
              <a:off x="8208701" y="1679517"/>
              <a:ext cx="539999" cy="441816"/>
            </a:xfrm>
            <a:prstGeom prst="rect">
              <a:avLst/>
            </a:prstGeom>
          </p:spPr>
        </p:pic>
        <p:cxnSp>
          <p:nvCxnSpPr>
            <p:cNvPr id="35" name="Straight Connector 34"/>
            <p:cNvCxnSpPr>
              <a:stCxn id="34" idx="2"/>
              <a:endCxn id="9" idx="0"/>
            </p:cNvCxnSpPr>
            <p:nvPr/>
          </p:nvCxnSpPr>
          <p:spPr bwMode="gray">
            <a:xfrm flipH="1">
              <a:off x="8476808" y="2121333"/>
              <a:ext cx="1893" cy="332515"/>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38" name="Straight Connector 37"/>
            <p:cNvCxnSpPr/>
            <p:nvPr/>
          </p:nvCxnSpPr>
          <p:spPr bwMode="gray">
            <a:xfrm>
              <a:off x="4977335" y="3242467"/>
              <a:ext cx="0" cy="2994845"/>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40" name="Straight Connector 39"/>
            <p:cNvCxnSpPr/>
            <p:nvPr/>
          </p:nvCxnSpPr>
          <p:spPr bwMode="gray">
            <a:xfrm>
              <a:off x="7071965" y="3242467"/>
              <a:ext cx="0" cy="2994845"/>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41" name="Straight Connector 40"/>
            <p:cNvCxnSpPr/>
            <p:nvPr/>
          </p:nvCxnSpPr>
          <p:spPr bwMode="gray">
            <a:xfrm>
              <a:off x="9889183" y="3242467"/>
              <a:ext cx="0" cy="2994845"/>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42" name="Straight Connector 41"/>
            <p:cNvCxnSpPr/>
            <p:nvPr/>
          </p:nvCxnSpPr>
          <p:spPr bwMode="gray">
            <a:xfrm>
              <a:off x="10917995" y="3242467"/>
              <a:ext cx="0" cy="2994845"/>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44" name="Straight Arrow Connector 43"/>
            <p:cNvCxnSpPr/>
            <p:nvPr/>
          </p:nvCxnSpPr>
          <p:spPr bwMode="gray">
            <a:xfrm>
              <a:off x="4977335" y="3509998"/>
              <a:ext cx="2094630"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45" name="TextBox 44"/>
            <p:cNvSpPr txBox="1"/>
            <p:nvPr/>
          </p:nvSpPr>
          <p:spPr bwMode="gray">
            <a:xfrm>
              <a:off x="5398255" y="3232786"/>
              <a:ext cx="1272170"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1. </a:t>
              </a:r>
              <a:r>
                <a:rPr lang="zh-CN" altLang="en-US" sz="1200" dirty="0">
                  <a:latin typeface="+mj-lt"/>
                  <a:ea typeface="+mn-ea"/>
                </a:rPr>
                <a:t>建立呼叫连接</a:t>
              </a:r>
            </a:p>
          </p:txBody>
        </p:sp>
        <p:cxnSp>
          <p:nvCxnSpPr>
            <p:cNvPr id="46" name="Straight Arrow Connector 45"/>
            <p:cNvCxnSpPr/>
            <p:nvPr/>
          </p:nvCxnSpPr>
          <p:spPr bwMode="gray">
            <a:xfrm>
              <a:off x="4977335" y="3817687"/>
              <a:ext cx="2094630"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47" name="TextBox 46"/>
            <p:cNvSpPr txBox="1"/>
            <p:nvPr/>
          </p:nvSpPr>
          <p:spPr bwMode="gray">
            <a:xfrm>
              <a:off x="5398255" y="3540475"/>
              <a:ext cx="129666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2. PPP LCP</a:t>
              </a:r>
              <a:r>
                <a:rPr lang="zh-CN" altLang="en-US" sz="1200" dirty="0">
                  <a:latin typeface="+mj-lt"/>
                  <a:ea typeface="+mn-ea"/>
                </a:rPr>
                <a:t>协商</a:t>
              </a:r>
            </a:p>
          </p:txBody>
        </p:sp>
        <p:cxnSp>
          <p:nvCxnSpPr>
            <p:cNvPr id="48" name="Straight Arrow Connector 47"/>
            <p:cNvCxnSpPr/>
            <p:nvPr/>
          </p:nvCxnSpPr>
          <p:spPr bwMode="gray">
            <a:xfrm>
              <a:off x="4984867" y="4101252"/>
              <a:ext cx="2094630"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49" name="TextBox 48"/>
            <p:cNvSpPr txBox="1"/>
            <p:nvPr/>
          </p:nvSpPr>
          <p:spPr bwMode="gray">
            <a:xfrm>
              <a:off x="5405787" y="3824040"/>
              <a:ext cx="1441896"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3. PAP/CHAP</a:t>
              </a:r>
              <a:r>
                <a:rPr lang="zh-CN" altLang="en-US" sz="1200" dirty="0">
                  <a:latin typeface="+mj-lt"/>
                  <a:ea typeface="+mn-ea"/>
                </a:rPr>
                <a:t>认证</a:t>
              </a:r>
            </a:p>
          </p:txBody>
        </p:sp>
        <p:cxnSp>
          <p:nvCxnSpPr>
            <p:cNvPr id="50" name="Straight Arrow Connector 49"/>
            <p:cNvCxnSpPr/>
            <p:nvPr/>
          </p:nvCxnSpPr>
          <p:spPr bwMode="gray">
            <a:xfrm>
              <a:off x="6957555" y="2121333"/>
              <a:ext cx="0" cy="41704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53" name="TextBox 52"/>
            <p:cNvSpPr txBox="1"/>
            <p:nvPr/>
          </p:nvSpPr>
          <p:spPr bwMode="gray">
            <a:xfrm>
              <a:off x="6043533" y="2189485"/>
              <a:ext cx="96439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4. </a:t>
              </a:r>
              <a:r>
                <a:rPr lang="zh-CN" altLang="en-US" sz="1200" dirty="0">
                  <a:latin typeface="+mj-lt"/>
                  <a:ea typeface="+mn-ea"/>
                </a:rPr>
                <a:t>认证结果</a:t>
              </a:r>
            </a:p>
          </p:txBody>
        </p:sp>
        <p:sp>
          <p:nvSpPr>
            <p:cNvPr id="54" name="TextBox 53"/>
            <p:cNvSpPr txBox="1"/>
            <p:nvPr/>
          </p:nvSpPr>
          <p:spPr bwMode="gray">
            <a:xfrm>
              <a:off x="6453729" y="1473406"/>
              <a:ext cx="115354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Radius</a:t>
              </a:r>
              <a:r>
                <a:rPr lang="zh-CN" altLang="en-US" sz="1200" dirty="0">
                  <a:latin typeface="+mj-lt"/>
                  <a:ea typeface="+mn-ea"/>
                </a:rPr>
                <a:t>服务器</a:t>
              </a:r>
              <a:endParaRPr lang="zh-CN" altLang="en-US" sz="1400" dirty="0">
                <a:latin typeface="+mj-lt"/>
                <a:ea typeface="+mn-ea"/>
              </a:endParaRPr>
            </a:p>
          </p:txBody>
        </p:sp>
        <p:sp>
          <p:nvSpPr>
            <p:cNvPr id="55" name="TextBox 54"/>
            <p:cNvSpPr txBox="1"/>
            <p:nvPr/>
          </p:nvSpPr>
          <p:spPr bwMode="gray">
            <a:xfrm>
              <a:off x="9339823" y="1412188"/>
              <a:ext cx="115354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Radius</a:t>
              </a:r>
              <a:r>
                <a:rPr lang="zh-CN" altLang="en-US" sz="1200" dirty="0">
                  <a:latin typeface="+mj-lt"/>
                  <a:ea typeface="+mn-ea"/>
                </a:rPr>
                <a:t>服务器</a:t>
              </a:r>
              <a:endParaRPr lang="zh-CN" altLang="en-US" sz="1400" dirty="0">
                <a:latin typeface="+mj-lt"/>
                <a:ea typeface="+mn-ea"/>
              </a:endParaRPr>
            </a:p>
          </p:txBody>
        </p:sp>
        <p:sp>
          <p:nvSpPr>
            <p:cNvPr id="56" name="TextBox 55"/>
            <p:cNvSpPr txBox="1"/>
            <p:nvPr/>
          </p:nvSpPr>
          <p:spPr bwMode="gray">
            <a:xfrm>
              <a:off x="7995412" y="1434595"/>
              <a:ext cx="96279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DNS</a:t>
              </a:r>
              <a:r>
                <a:rPr lang="zh-CN" altLang="en-US" sz="1200" dirty="0">
                  <a:latin typeface="+mj-lt"/>
                  <a:ea typeface="+mn-ea"/>
                </a:rPr>
                <a:t>服务器</a:t>
              </a:r>
              <a:endParaRPr lang="zh-CN" altLang="en-US" sz="1400" dirty="0">
                <a:latin typeface="+mj-lt"/>
                <a:ea typeface="+mn-ea"/>
              </a:endParaRPr>
            </a:p>
          </p:txBody>
        </p:sp>
        <p:sp>
          <p:nvSpPr>
            <p:cNvPr id="58" name="Freeform 57"/>
            <p:cNvSpPr/>
            <p:nvPr/>
          </p:nvSpPr>
          <p:spPr bwMode="gray">
            <a:xfrm>
              <a:off x="7333441" y="2130354"/>
              <a:ext cx="1049482" cy="519545"/>
            </a:xfrm>
            <a:custGeom>
              <a:avLst/>
              <a:gdLst>
                <a:gd name="connsiteX0" fmla="*/ 0 w 1049482"/>
                <a:gd name="connsiteY0" fmla="*/ 519545 h 519545"/>
                <a:gd name="connsiteX1" fmla="*/ 675409 w 1049482"/>
                <a:gd name="connsiteY1" fmla="*/ 363682 h 519545"/>
                <a:gd name="connsiteX2" fmla="*/ 1049482 w 1049482"/>
                <a:gd name="connsiteY2" fmla="*/ 0 h 519545"/>
              </a:gdLst>
              <a:ahLst/>
              <a:cxnLst>
                <a:cxn ang="0">
                  <a:pos x="connsiteX0" y="connsiteY0"/>
                </a:cxn>
                <a:cxn ang="0">
                  <a:pos x="connsiteX1" y="connsiteY1"/>
                </a:cxn>
                <a:cxn ang="0">
                  <a:pos x="connsiteX2" y="connsiteY2"/>
                </a:cxn>
              </a:cxnLst>
              <a:rect l="l" t="t" r="r" b="b"/>
              <a:pathLst>
                <a:path w="1049482" h="519545">
                  <a:moveTo>
                    <a:pt x="0" y="519545"/>
                  </a:moveTo>
                  <a:cubicBezTo>
                    <a:pt x="250247" y="484909"/>
                    <a:pt x="500495" y="450273"/>
                    <a:pt x="675409" y="363682"/>
                  </a:cubicBezTo>
                  <a:cubicBezTo>
                    <a:pt x="850323" y="277091"/>
                    <a:pt x="949902" y="138545"/>
                    <a:pt x="1049482" y="0"/>
                  </a:cubicBezTo>
                </a:path>
              </a:pathLst>
            </a:custGeom>
            <a:noFill/>
            <a:ln w="19050">
              <a:solidFill>
                <a:schemeClr val="bg1">
                  <a:lumMod val="50000"/>
                </a:schemeClr>
              </a:solidFill>
              <a:headEnd type="triangle" w="med" len="med"/>
              <a:tailEnd type="triangle" w="med" len="med"/>
            </a:ln>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59" name="TextBox 58"/>
            <p:cNvSpPr txBox="1"/>
            <p:nvPr/>
          </p:nvSpPr>
          <p:spPr bwMode="gray">
            <a:xfrm>
              <a:off x="7101812" y="2196896"/>
              <a:ext cx="1143930"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5. </a:t>
              </a:r>
              <a:r>
                <a:rPr lang="zh-CN" altLang="en-US" sz="1200" dirty="0">
                  <a:latin typeface="+mj-lt"/>
                  <a:ea typeface="+mn-ea"/>
                </a:rPr>
                <a:t>解析</a:t>
              </a:r>
              <a:r>
                <a:rPr lang="en-US" altLang="zh-CN" sz="1200" dirty="0">
                  <a:latin typeface="+mj-lt"/>
                  <a:ea typeface="+mn-ea"/>
                </a:rPr>
                <a:t>LNS IP</a:t>
              </a:r>
              <a:endParaRPr lang="zh-CN" altLang="en-US" sz="1200" dirty="0">
                <a:latin typeface="+mj-lt"/>
                <a:ea typeface="+mn-ea"/>
              </a:endParaRPr>
            </a:p>
          </p:txBody>
        </p:sp>
        <p:cxnSp>
          <p:nvCxnSpPr>
            <p:cNvPr id="60" name="Straight Arrow Connector 59"/>
            <p:cNvCxnSpPr/>
            <p:nvPr/>
          </p:nvCxnSpPr>
          <p:spPr bwMode="gray">
            <a:xfrm>
              <a:off x="7101812" y="4406218"/>
              <a:ext cx="2787371"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61" name="TextBox 60"/>
            <p:cNvSpPr txBox="1"/>
            <p:nvPr/>
          </p:nvSpPr>
          <p:spPr bwMode="gray">
            <a:xfrm>
              <a:off x="7880531" y="4128585"/>
              <a:ext cx="133148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6. </a:t>
              </a:r>
              <a:r>
                <a:rPr lang="zh-CN" altLang="en-US" sz="1200" dirty="0">
                  <a:latin typeface="+mj-lt"/>
                  <a:ea typeface="+mn-ea"/>
                </a:rPr>
                <a:t>建立</a:t>
              </a:r>
              <a:r>
                <a:rPr lang="en-US" altLang="zh-CN" sz="1200" dirty="0">
                  <a:latin typeface="+mj-lt"/>
                  <a:ea typeface="+mn-ea"/>
                </a:rPr>
                <a:t>L2TP</a:t>
              </a:r>
              <a:r>
                <a:rPr lang="zh-CN" altLang="en-US" sz="1200" dirty="0">
                  <a:latin typeface="+mj-lt"/>
                  <a:ea typeface="+mn-ea"/>
                </a:rPr>
                <a:t>隧道</a:t>
              </a:r>
            </a:p>
          </p:txBody>
        </p:sp>
        <p:cxnSp>
          <p:nvCxnSpPr>
            <p:cNvPr id="63" name="Straight Arrow Connector 62"/>
            <p:cNvCxnSpPr/>
            <p:nvPr/>
          </p:nvCxnSpPr>
          <p:spPr bwMode="gray">
            <a:xfrm>
              <a:off x="7122270" y="4711486"/>
              <a:ext cx="2787371"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64" name="TextBox 63"/>
            <p:cNvSpPr txBox="1"/>
            <p:nvPr/>
          </p:nvSpPr>
          <p:spPr bwMode="gray">
            <a:xfrm>
              <a:off x="7900989" y="4433853"/>
              <a:ext cx="1331481"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7. </a:t>
              </a:r>
              <a:r>
                <a:rPr lang="zh-CN" altLang="en-US" sz="1200" dirty="0">
                  <a:latin typeface="+mj-lt"/>
                  <a:ea typeface="+mn-ea"/>
                </a:rPr>
                <a:t>建立</a:t>
              </a:r>
              <a:r>
                <a:rPr lang="en-US" altLang="zh-CN" sz="1200" dirty="0">
                  <a:latin typeface="+mj-lt"/>
                  <a:ea typeface="+mn-ea"/>
                </a:rPr>
                <a:t>L2TP</a:t>
              </a:r>
              <a:r>
                <a:rPr lang="zh-CN" altLang="en-US" sz="1200" dirty="0">
                  <a:latin typeface="+mj-lt"/>
                  <a:ea typeface="+mn-ea"/>
                </a:rPr>
                <a:t>会话</a:t>
              </a:r>
            </a:p>
          </p:txBody>
        </p:sp>
        <p:cxnSp>
          <p:nvCxnSpPr>
            <p:cNvPr id="65" name="Straight Arrow Connector 64"/>
            <p:cNvCxnSpPr/>
            <p:nvPr/>
          </p:nvCxnSpPr>
          <p:spPr bwMode="gray">
            <a:xfrm>
              <a:off x="7132403" y="5012445"/>
              <a:ext cx="2787371"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66" name="TextBox 65"/>
            <p:cNvSpPr txBox="1"/>
            <p:nvPr/>
          </p:nvSpPr>
          <p:spPr bwMode="gray">
            <a:xfrm>
              <a:off x="7911122" y="4734812"/>
              <a:ext cx="1272170"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8. PPP</a:t>
              </a:r>
              <a:r>
                <a:rPr lang="zh-CN" altLang="en-US" sz="1200" dirty="0">
                  <a:latin typeface="+mj-lt"/>
                  <a:ea typeface="+mn-ea"/>
                </a:rPr>
                <a:t>协商消息</a:t>
              </a:r>
            </a:p>
          </p:txBody>
        </p:sp>
        <p:cxnSp>
          <p:nvCxnSpPr>
            <p:cNvPr id="67" name="Straight Arrow Connector 66"/>
            <p:cNvCxnSpPr/>
            <p:nvPr/>
          </p:nvCxnSpPr>
          <p:spPr bwMode="gray">
            <a:xfrm>
              <a:off x="4984867" y="5302058"/>
              <a:ext cx="4924774"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68" name="TextBox 67"/>
            <p:cNvSpPr txBox="1"/>
            <p:nvPr/>
          </p:nvSpPr>
          <p:spPr bwMode="gray">
            <a:xfrm>
              <a:off x="6206866" y="5024845"/>
              <a:ext cx="1825206"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9. CHAP</a:t>
              </a:r>
              <a:r>
                <a:rPr lang="zh-CN" altLang="en-US" sz="1200" dirty="0">
                  <a:latin typeface="+mj-lt"/>
                  <a:ea typeface="+mn-ea"/>
                </a:rPr>
                <a:t>重认证（可选）</a:t>
              </a:r>
            </a:p>
          </p:txBody>
        </p:sp>
        <p:cxnSp>
          <p:nvCxnSpPr>
            <p:cNvPr id="70" name="Straight Arrow Connector 69"/>
            <p:cNvCxnSpPr/>
            <p:nvPr/>
          </p:nvCxnSpPr>
          <p:spPr bwMode="gray">
            <a:xfrm>
              <a:off x="9802102" y="2128744"/>
              <a:ext cx="0" cy="41704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71" name="TextBox 70"/>
            <p:cNvSpPr txBox="1"/>
            <p:nvPr/>
          </p:nvSpPr>
          <p:spPr bwMode="gray">
            <a:xfrm>
              <a:off x="8792434" y="2196896"/>
              <a:ext cx="104935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10. </a:t>
              </a:r>
              <a:r>
                <a:rPr lang="zh-CN" altLang="en-US" sz="1200" dirty="0">
                  <a:latin typeface="+mj-lt"/>
                  <a:ea typeface="+mn-ea"/>
                </a:rPr>
                <a:t>认证结果</a:t>
              </a:r>
            </a:p>
          </p:txBody>
        </p:sp>
        <p:cxnSp>
          <p:nvCxnSpPr>
            <p:cNvPr id="72" name="Straight Arrow Connector 71"/>
            <p:cNvCxnSpPr/>
            <p:nvPr/>
          </p:nvCxnSpPr>
          <p:spPr bwMode="gray">
            <a:xfrm>
              <a:off x="4992398" y="5596254"/>
              <a:ext cx="4924774"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73" name="TextBox 72"/>
            <p:cNvSpPr txBox="1"/>
            <p:nvPr/>
          </p:nvSpPr>
          <p:spPr bwMode="gray">
            <a:xfrm>
              <a:off x="6196136" y="5318346"/>
              <a:ext cx="201256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11. L2TP</a:t>
              </a:r>
              <a:r>
                <a:rPr lang="zh-CN" altLang="en-US" sz="1200" dirty="0">
                  <a:latin typeface="+mj-lt"/>
                  <a:ea typeface="+mn-ea"/>
                </a:rPr>
                <a:t>连接成功，分配</a:t>
              </a:r>
              <a:r>
                <a:rPr lang="en-US" altLang="zh-CN" sz="1200" dirty="0">
                  <a:latin typeface="+mj-lt"/>
                  <a:ea typeface="+mn-ea"/>
                </a:rPr>
                <a:t>IP</a:t>
              </a:r>
              <a:endParaRPr lang="zh-CN" altLang="en-US" sz="1200" dirty="0">
                <a:latin typeface="+mj-lt"/>
                <a:ea typeface="+mn-ea"/>
              </a:endParaRPr>
            </a:p>
          </p:txBody>
        </p:sp>
        <p:cxnSp>
          <p:nvCxnSpPr>
            <p:cNvPr id="74" name="Straight Arrow Connector 73"/>
            <p:cNvCxnSpPr/>
            <p:nvPr/>
          </p:nvCxnSpPr>
          <p:spPr bwMode="gray">
            <a:xfrm>
              <a:off x="4992398" y="5931729"/>
              <a:ext cx="5925597" cy="0"/>
            </a:xfrm>
            <a:prstGeom prst="straightConnector1">
              <a:avLst/>
            </a:prstGeom>
            <a:solidFill>
              <a:schemeClr val="accent1"/>
            </a:solidFill>
            <a:ln w="19050" cap="flat" cmpd="sng" algn="ctr">
              <a:solidFill>
                <a:schemeClr val="bg1">
                  <a:lumMod val="50000"/>
                </a:schemeClr>
              </a:solidFill>
              <a:prstDash val="solid"/>
              <a:round/>
              <a:headEnd type="triangle"/>
              <a:tailEnd type="triangle"/>
            </a:ln>
            <a:effectLst/>
          </p:spPr>
        </p:cxnSp>
        <p:sp>
          <p:nvSpPr>
            <p:cNvPr id="75" name="TextBox 74"/>
            <p:cNvSpPr txBox="1"/>
            <p:nvPr/>
          </p:nvSpPr>
          <p:spPr bwMode="gray">
            <a:xfrm>
              <a:off x="7566212" y="5644607"/>
              <a:ext cx="181879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12. </a:t>
              </a:r>
              <a:r>
                <a:rPr lang="zh-CN" altLang="en-US" sz="1200" dirty="0">
                  <a:latin typeface="+mj-lt"/>
                  <a:ea typeface="+mn-ea"/>
                </a:rPr>
                <a:t>企业分支与总部通信</a:t>
              </a:r>
            </a:p>
          </p:txBody>
        </p:sp>
      </p:grpSp>
      <p:sp>
        <p:nvSpPr>
          <p:cNvPr id="62"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工作原理</a:t>
            </a:r>
          </a:p>
        </p:txBody>
      </p:sp>
      <p:sp>
        <p:nvSpPr>
          <p:cNvPr id="69"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应用场景</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781980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an 225">
            <a:extLst>
              <a:ext uri="{FF2B5EF4-FFF2-40B4-BE49-F238E27FC236}">
                <a16:creationId xmlns:a16="http://schemas.microsoft.com/office/drawing/2014/main" id="{1B60F183-46FC-40A7-839B-9816D258FC85}"/>
              </a:ext>
            </a:extLst>
          </p:cNvPr>
          <p:cNvSpPr/>
          <p:nvPr/>
        </p:nvSpPr>
        <p:spPr bwMode="gray">
          <a:xfrm rot="5400000">
            <a:off x="5275708" y="3101899"/>
            <a:ext cx="292021" cy="2997242"/>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Title 2"/>
          <p:cNvSpPr>
            <a:spLocks noGrp="1"/>
          </p:cNvSpPr>
          <p:nvPr>
            <p:ph type="title"/>
          </p:nvPr>
        </p:nvSpPr>
        <p:spPr bwMode="gray"/>
        <p:txBody>
          <a:bodyPr/>
          <a:lstStyle/>
          <a:p>
            <a:r>
              <a:rPr lang="zh-CN" altLang="en-US" dirty="0"/>
              <a:t>移动办公场景</a:t>
            </a:r>
          </a:p>
        </p:txBody>
      </p:sp>
      <p:sp>
        <p:nvSpPr>
          <p:cNvPr id="4" name="Text Placeholder 3"/>
          <p:cNvSpPr>
            <a:spLocks noGrp="1"/>
          </p:cNvSpPr>
          <p:nvPr>
            <p:ph type="body" sz="quarter" idx="10"/>
          </p:nvPr>
        </p:nvSpPr>
        <p:spPr bwMode="gray"/>
        <p:txBody>
          <a:bodyPr/>
          <a:lstStyle/>
          <a:p>
            <a:r>
              <a:rPr lang="zh-CN" altLang="en-US" dirty="0"/>
              <a:t>出差人员通过</a:t>
            </a:r>
            <a:r>
              <a:rPr lang="en-US" altLang="zh-CN" dirty="0"/>
              <a:t>L2TP</a:t>
            </a:r>
            <a:r>
              <a:rPr lang="zh-CN" altLang="en-US" dirty="0"/>
              <a:t>连接公司内网，</a:t>
            </a:r>
            <a:r>
              <a:rPr lang="en-US" altLang="zh-CN" dirty="0"/>
              <a:t>LNS</a:t>
            </a:r>
            <a:r>
              <a:rPr lang="zh-CN" altLang="en-US" dirty="0"/>
              <a:t>可以对接入用户进行身份验证，分配私网地址，如果部署</a:t>
            </a:r>
            <a:r>
              <a:rPr lang="en-US" altLang="zh-CN" dirty="0"/>
              <a:t>ACL</a:t>
            </a:r>
            <a:r>
              <a:rPr lang="zh-CN" altLang="en-US" dirty="0"/>
              <a:t>还可以管理接入用户的访问权限。</a:t>
            </a:r>
          </a:p>
        </p:txBody>
      </p:sp>
      <p:sp>
        <p:nvSpPr>
          <p:cNvPr id="11" name="Freeform 159"/>
          <p:cNvSpPr/>
          <p:nvPr/>
        </p:nvSpPr>
        <p:spPr bwMode="gray">
          <a:xfrm flipH="1">
            <a:off x="7276138" y="3386383"/>
            <a:ext cx="1670873" cy="8734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图片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891030" y="3682524"/>
            <a:ext cx="1192554" cy="600760"/>
          </a:xfrm>
          <a:prstGeom prst="rect">
            <a:avLst/>
          </a:prstGeom>
        </p:spPr>
      </p:pic>
      <p:pic>
        <p:nvPicPr>
          <p:cNvPr id="7"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920342" y="3761504"/>
            <a:ext cx="540000" cy="442800"/>
          </a:xfrm>
          <a:prstGeom prst="rect">
            <a:avLst/>
          </a:prstGeom>
        </p:spPr>
      </p:pic>
      <p:pic>
        <p:nvPicPr>
          <p:cNvPr id="8" name="图片 42" descr="大型网管-蓝.png"/>
          <p:cNvPicPr>
            <a:picLocks noChangeAspect="1"/>
          </p:cNvPicPr>
          <p:nvPr/>
        </p:nvPicPr>
        <p:blipFill>
          <a:blip r:embed="rId5" cstate="print"/>
          <a:stretch>
            <a:fillRect/>
          </a:stretch>
        </p:blipFill>
        <p:spPr bwMode="gray">
          <a:xfrm>
            <a:off x="7747993" y="3919379"/>
            <a:ext cx="539607" cy="441817"/>
          </a:xfrm>
          <a:prstGeom prst="rect">
            <a:avLst/>
          </a:prstGeom>
        </p:spPr>
      </p:pic>
      <p:pic>
        <p:nvPicPr>
          <p:cNvPr id="10" name="图片 73" descr="PC.png"/>
          <p:cNvPicPr>
            <a:picLocks noChangeAspect="1"/>
          </p:cNvPicPr>
          <p:nvPr/>
        </p:nvPicPr>
        <p:blipFill>
          <a:blip r:embed="rId6" cstate="print"/>
          <a:stretch>
            <a:fillRect/>
          </a:stretch>
        </p:blipFill>
        <p:spPr bwMode="gray">
          <a:xfrm>
            <a:off x="8287600" y="3284984"/>
            <a:ext cx="539063" cy="414000"/>
          </a:xfrm>
          <a:prstGeom prst="rect">
            <a:avLst/>
          </a:prstGeom>
        </p:spPr>
      </p:pic>
      <p:cxnSp>
        <p:nvCxnSpPr>
          <p:cNvPr id="12" name="Straight Connector 11"/>
          <p:cNvCxnSpPr>
            <a:stCxn id="6" idx="1"/>
            <a:endCxn id="20" idx="3"/>
          </p:cNvCxnSpPr>
          <p:nvPr/>
        </p:nvCxnSpPr>
        <p:spPr bwMode="gray">
          <a:xfrm flipH="1">
            <a:off x="3956717" y="3982904"/>
            <a:ext cx="934313"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5" name="Straight Connector 14"/>
          <p:cNvCxnSpPr>
            <a:stCxn id="7" idx="1"/>
            <a:endCxn id="6" idx="3"/>
          </p:cNvCxnSpPr>
          <p:nvPr/>
        </p:nvCxnSpPr>
        <p:spPr bwMode="gray">
          <a:xfrm flipH="1">
            <a:off x="6083584" y="3982904"/>
            <a:ext cx="836758"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9" name="TextBox 18"/>
          <p:cNvSpPr txBox="1"/>
          <p:nvPr/>
        </p:nvSpPr>
        <p:spPr bwMode="gray">
          <a:xfrm>
            <a:off x="3187689" y="3291357"/>
            <a:ext cx="954776"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zh-CN" altLang="en-US" sz="1200" dirty="0">
                <a:latin typeface="+mj-lt"/>
                <a:ea typeface="+mn-ea"/>
              </a:rPr>
              <a:t>出差人员</a:t>
            </a:r>
            <a:endParaRPr lang="en-US" altLang="zh-CN" sz="1200" dirty="0">
              <a:latin typeface="+mj-lt"/>
              <a:ea typeface="+mn-ea"/>
            </a:endParaRPr>
          </a:p>
          <a:p>
            <a:pPr algn="ctr" fontAlgn="auto"/>
            <a:r>
              <a:rPr lang="en-US" altLang="zh-CN" sz="1200" dirty="0">
                <a:latin typeface="+mj-lt"/>
                <a:ea typeface="+mn-ea"/>
              </a:rPr>
              <a:t>(L2TP</a:t>
            </a:r>
            <a:r>
              <a:rPr lang="zh-CN" altLang="en-US" sz="1200" dirty="0">
                <a:latin typeface="+mj-lt"/>
                <a:ea typeface="+mn-ea"/>
              </a:rPr>
              <a:t>软件</a:t>
            </a:r>
            <a:r>
              <a:rPr lang="en-US" altLang="zh-CN" sz="1200" dirty="0">
                <a:latin typeface="+mj-lt"/>
                <a:ea typeface="+mn-ea"/>
              </a:rPr>
              <a:t>)</a:t>
            </a:r>
            <a:endParaRPr lang="zh-CN" altLang="en-US" sz="1200" dirty="0">
              <a:latin typeface="+mj-lt"/>
              <a:ea typeface="+mn-ea"/>
            </a:endParaRPr>
          </a:p>
        </p:txBody>
      </p:sp>
      <p:pic>
        <p:nvPicPr>
          <p:cNvPr id="20" name="图片 70"/>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3416717" y="3761504"/>
            <a:ext cx="540000" cy="442800"/>
          </a:xfrm>
          <a:prstGeom prst="rect">
            <a:avLst/>
          </a:prstGeom>
        </p:spPr>
      </p:pic>
      <p:sp>
        <p:nvSpPr>
          <p:cNvPr id="22" name="TextBox 21"/>
          <p:cNvSpPr txBox="1"/>
          <p:nvPr/>
        </p:nvSpPr>
        <p:spPr bwMode="gray">
          <a:xfrm>
            <a:off x="6952603" y="3476023"/>
            <a:ext cx="475478"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LNS</a:t>
            </a:r>
            <a:endParaRPr lang="zh-CN" altLang="en-US" sz="1200" dirty="0">
              <a:latin typeface="+mj-lt"/>
              <a:ea typeface="+mn-ea"/>
            </a:endParaRPr>
          </a:p>
        </p:txBody>
      </p:sp>
      <p:sp>
        <p:nvSpPr>
          <p:cNvPr id="23" name="TextBox 22"/>
          <p:cNvSpPr txBox="1"/>
          <p:nvPr/>
        </p:nvSpPr>
        <p:spPr bwMode="gray">
          <a:xfrm>
            <a:off x="8806410" y="335532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PC</a:t>
            </a:r>
            <a:endParaRPr lang="zh-CN" altLang="en-US" sz="1200" dirty="0">
              <a:latin typeface="+mj-lt"/>
              <a:ea typeface="+mn-ea"/>
            </a:endParaRPr>
          </a:p>
        </p:txBody>
      </p:sp>
      <p:sp>
        <p:nvSpPr>
          <p:cNvPr id="24" name="TextBox 23"/>
          <p:cNvSpPr txBox="1"/>
          <p:nvPr/>
        </p:nvSpPr>
        <p:spPr bwMode="gray">
          <a:xfrm>
            <a:off x="7616113" y="3672519"/>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zh-CN" altLang="en-US" sz="1200" dirty="0">
                <a:latin typeface="+mj-lt"/>
                <a:ea typeface="+mn-ea"/>
              </a:rPr>
              <a:t>企业总部</a:t>
            </a:r>
          </a:p>
        </p:txBody>
      </p:sp>
      <p:sp>
        <p:nvSpPr>
          <p:cNvPr id="26" name="TextBox 25"/>
          <p:cNvSpPr txBox="1"/>
          <p:nvPr/>
        </p:nvSpPr>
        <p:spPr bwMode="gray">
          <a:xfrm>
            <a:off x="5043859" y="4485730"/>
            <a:ext cx="1672110"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auto"/>
            <a:r>
              <a:rPr lang="zh-CN" altLang="en-US" sz="1400" b="1" dirty="0">
                <a:solidFill>
                  <a:schemeClr val="bg1"/>
                </a:solidFill>
                <a:latin typeface="+mj-lt"/>
                <a:ea typeface="+mn-ea"/>
              </a:rPr>
              <a:t>（</a:t>
            </a:r>
            <a:r>
              <a:rPr lang="en-US" altLang="zh-CN" sz="1400" b="1" dirty="0">
                <a:solidFill>
                  <a:schemeClr val="bg1"/>
                </a:solidFill>
                <a:latin typeface="+mj-lt"/>
                <a:ea typeface="+mn-ea"/>
              </a:rPr>
              <a:t>PPP</a:t>
            </a:r>
            <a:r>
              <a:rPr lang="zh-CN" altLang="en-US" sz="1400" b="1" dirty="0">
                <a:solidFill>
                  <a:schemeClr val="bg1"/>
                </a:solidFill>
                <a:latin typeface="+mj-lt"/>
                <a:ea typeface="+mn-ea"/>
              </a:rPr>
              <a:t>）</a:t>
            </a:r>
            <a:r>
              <a:rPr lang="en-US" altLang="zh-CN" sz="1400" b="1" dirty="0">
                <a:solidFill>
                  <a:schemeClr val="bg1"/>
                </a:solidFill>
                <a:latin typeface="+mj-lt"/>
                <a:ea typeface="+mn-ea"/>
              </a:rPr>
              <a:t>L2TP</a:t>
            </a:r>
            <a:r>
              <a:rPr lang="zh-CN" altLang="en-US" sz="1400" b="1" dirty="0">
                <a:solidFill>
                  <a:schemeClr val="bg1"/>
                </a:solidFill>
                <a:latin typeface="+mj-lt"/>
                <a:ea typeface="+mn-ea"/>
              </a:rPr>
              <a:t>封装</a:t>
            </a:r>
          </a:p>
        </p:txBody>
      </p:sp>
      <p:cxnSp>
        <p:nvCxnSpPr>
          <p:cNvPr id="27" name="Straight Connector 26"/>
          <p:cNvCxnSpPr/>
          <p:nvPr/>
        </p:nvCxnSpPr>
        <p:spPr bwMode="gray">
          <a:xfrm>
            <a:off x="3823998" y="4283284"/>
            <a:ext cx="0" cy="558661"/>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30" name="Straight Connector 29"/>
          <p:cNvCxnSpPr/>
          <p:nvPr/>
        </p:nvCxnSpPr>
        <p:spPr bwMode="gray">
          <a:xfrm>
            <a:off x="6996053" y="4259797"/>
            <a:ext cx="0" cy="558661"/>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5"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28"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6921132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Can 225">
            <a:extLst>
              <a:ext uri="{FF2B5EF4-FFF2-40B4-BE49-F238E27FC236}">
                <a16:creationId xmlns:a16="http://schemas.microsoft.com/office/drawing/2014/main" id="{B394DD6A-05C0-4808-9479-B4512CBE4150}"/>
              </a:ext>
            </a:extLst>
          </p:cNvPr>
          <p:cNvSpPr/>
          <p:nvPr/>
        </p:nvSpPr>
        <p:spPr bwMode="gray">
          <a:xfrm rot="5400000">
            <a:off x="6026447" y="3277626"/>
            <a:ext cx="292021" cy="3179079"/>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p:cNvSpPr>
            <a:spLocks noGrp="1"/>
          </p:cNvSpPr>
          <p:nvPr>
            <p:ph type="title"/>
          </p:nvPr>
        </p:nvSpPr>
        <p:spPr bwMode="gray"/>
        <p:txBody>
          <a:bodyPr/>
          <a:lstStyle/>
          <a:p>
            <a:r>
              <a:rPr lang="zh-CN" altLang="en-US" dirty="0"/>
              <a:t>分公司与总部互联场景</a:t>
            </a:r>
          </a:p>
        </p:txBody>
      </p:sp>
      <p:sp>
        <p:nvSpPr>
          <p:cNvPr id="3" name="Text Placeholder 2"/>
          <p:cNvSpPr>
            <a:spLocks noGrp="1"/>
          </p:cNvSpPr>
          <p:nvPr>
            <p:ph type="body" sz="quarter" idx="10"/>
          </p:nvPr>
        </p:nvSpPr>
        <p:spPr bwMode="gray"/>
        <p:txBody>
          <a:bodyPr/>
          <a:lstStyle/>
          <a:p>
            <a:r>
              <a:rPr lang="zh-CN" altLang="en-US" dirty="0"/>
              <a:t>企业内部自建</a:t>
            </a:r>
            <a:r>
              <a:rPr lang="en-US" altLang="zh-CN" dirty="0"/>
              <a:t>VPN</a:t>
            </a:r>
            <a:r>
              <a:rPr lang="zh-CN" altLang="en-US" dirty="0"/>
              <a:t>，连接分公司网络和总部网络，分支用户的</a:t>
            </a:r>
            <a:r>
              <a:rPr lang="en-US" altLang="zh-CN" dirty="0"/>
              <a:t>IP</a:t>
            </a:r>
            <a:r>
              <a:rPr lang="zh-CN" altLang="en-US" dirty="0"/>
              <a:t>报文到达</a:t>
            </a:r>
            <a:r>
              <a:rPr lang="en-US" altLang="zh-CN" dirty="0"/>
              <a:t>L2TP Client</a:t>
            </a:r>
            <a:r>
              <a:rPr lang="zh-CN" altLang="en-US" dirty="0"/>
              <a:t>后路由转发到虚拟拨号接口，报文送至</a:t>
            </a:r>
            <a:r>
              <a:rPr lang="en-US" altLang="zh-CN" dirty="0"/>
              <a:t>LNS</a:t>
            </a:r>
            <a:r>
              <a:rPr lang="zh-CN" altLang="en-US" dirty="0"/>
              <a:t>后经路由转发到达目的主机。</a:t>
            </a:r>
          </a:p>
        </p:txBody>
      </p:sp>
      <p:sp>
        <p:nvSpPr>
          <p:cNvPr id="4" name="Freeform 159"/>
          <p:cNvSpPr/>
          <p:nvPr/>
        </p:nvSpPr>
        <p:spPr bwMode="gray">
          <a:xfrm flipH="1">
            <a:off x="7894538" y="3592891"/>
            <a:ext cx="1855042" cy="9696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750547" y="3918636"/>
            <a:ext cx="540000" cy="442800"/>
          </a:xfrm>
          <a:prstGeom prst="rect">
            <a:avLst/>
          </a:prstGeom>
        </p:spPr>
      </p:pic>
      <p:pic>
        <p:nvPicPr>
          <p:cNvPr id="6" name="图片 42" descr="大型网管-蓝.png"/>
          <p:cNvPicPr>
            <a:picLocks noChangeAspect="1"/>
          </p:cNvPicPr>
          <p:nvPr/>
        </p:nvPicPr>
        <p:blipFill>
          <a:blip r:embed="rId4" cstate="print"/>
          <a:stretch>
            <a:fillRect/>
          </a:stretch>
        </p:blipFill>
        <p:spPr bwMode="gray">
          <a:xfrm>
            <a:off x="8740239" y="4185930"/>
            <a:ext cx="539607" cy="441817"/>
          </a:xfrm>
          <a:prstGeom prst="rect">
            <a:avLst/>
          </a:prstGeom>
        </p:spPr>
      </p:pic>
      <p:pic>
        <p:nvPicPr>
          <p:cNvPr id="7" name="图片 73" descr="PC.png"/>
          <p:cNvPicPr>
            <a:picLocks noChangeAspect="1"/>
          </p:cNvPicPr>
          <p:nvPr/>
        </p:nvPicPr>
        <p:blipFill>
          <a:blip r:embed="rId5" cstate="print"/>
          <a:stretch>
            <a:fillRect/>
          </a:stretch>
        </p:blipFill>
        <p:spPr bwMode="gray">
          <a:xfrm>
            <a:off x="9164779" y="3573488"/>
            <a:ext cx="539063" cy="414000"/>
          </a:xfrm>
          <a:prstGeom prst="rect">
            <a:avLst/>
          </a:prstGeom>
        </p:spPr>
      </p:pic>
      <p:sp>
        <p:nvSpPr>
          <p:cNvPr id="8" name="Freeform 159"/>
          <p:cNvSpPr/>
          <p:nvPr/>
        </p:nvSpPr>
        <p:spPr bwMode="gray">
          <a:xfrm flipH="1">
            <a:off x="2613656" y="3599053"/>
            <a:ext cx="1843253" cy="9635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9"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42919" y="3918636"/>
            <a:ext cx="540000" cy="442800"/>
          </a:xfrm>
          <a:prstGeom prst="rect">
            <a:avLst/>
          </a:prstGeom>
        </p:spPr>
      </p:pic>
      <p:pic>
        <p:nvPicPr>
          <p:cNvPr id="10" name="图片 42" descr="大型网管-蓝.png"/>
          <p:cNvPicPr>
            <a:picLocks noChangeAspect="1"/>
          </p:cNvPicPr>
          <p:nvPr/>
        </p:nvPicPr>
        <p:blipFill>
          <a:blip r:embed="rId4" cstate="print"/>
          <a:stretch>
            <a:fillRect/>
          </a:stretch>
        </p:blipFill>
        <p:spPr bwMode="gray">
          <a:xfrm>
            <a:off x="3140029" y="4180435"/>
            <a:ext cx="539607" cy="441817"/>
          </a:xfrm>
          <a:prstGeom prst="rect">
            <a:avLst/>
          </a:prstGeom>
        </p:spPr>
      </p:pic>
      <p:pic>
        <p:nvPicPr>
          <p:cNvPr id="11" name="图片 73" descr="PC.png"/>
          <p:cNvPicPr>
            <a:picLocks noChangeAspect="1"/>
          </p:cNvPicPr>
          <p:nvPr/>
        </p:nvPicPr>
        <p:blipFill>
          <a:blip r:embed="rId5" cstate="print"/>
          <a:stretch>
            <a:fillRect/>
          </a:stretch>
        </p:blipFill>
        <p:spPr bwMode="gray">
          <a:xfrm>
            <a:off x="2491776" y="3599053"/>
            <a:ext cx="539063" cy="414000"/>
          </a:xfrm>
          <a:prstGeom prst="rect">
            <a:avLst/>
          </a:prstGeom>
        </p:spPr>
      </p:pic>
      <p:pic>
        <p:nvPicPr>
          <p:cNvPr id="13" name="图片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568694" y="3839656"/>
            <a:ext cx="1192554" cy="600760"/>
          </a:xfrm>
          <a:prstGeom prst="rect">
            <a:avLst/>
          </a:prstGeom>
        </p:spPr>
      </p:pic>
      <p:cxnSp>
        <p:nvCxnSpPr>
          <p:cNvPr id="14" name="Straight Connector 13"/>
          <p:cNvCxnSpPr>
            <a:stCxn id="13" idx="1"/>
            <a:endCxn id="9" idx="3"/>
          </p:cNvCxnSpPr>
          <p:nvPr/>
        </p:nvCxnSpPr>
        <p:spPr bwMode="gray">
          <a:xfrm flipH="1">
            <a:off x="4582919" y="4140036"/>
            <a:ext cx="98577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7" name="Straight Connector 16"/>
          <p:cNvCxnSpPr>
            <a:stCxn id="5" idx="1"/>
            <a:endCxn id="13" idx="3"/>
          </p:cNvCxnSpPr>
          <p:nvPr/>
        </p:nvCxnSpPr>
        <p:spPr bwMode="gray">
          <a:xfrm flipH="1">
            <a:off x="6761248" y="4140036"/>
            <a:ext cx="98929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20" name="TextBox 19"/>
          <p:cNvSpPr txBox="1"/>
          <p:nvPr/>
        </p:nvSpPr>
        <p:spPr bwMode="gray">
          <a:xfrm>
            <a:off x="2132523" y="3669390"/>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2400" dirty="0">
              <a:latin typeface="+mj-lt"/>
              <a:ea typeface="+mn-ea"/>
            </a:endParaRPr>
          </a:p>
        </p:txBody>
      </p:sp>
      <p:sp>
        <p:nvSpPr>
          <p:cNvPr id="21" name="TextBox 20"/>
          <p:cNvSpPr txBox="1"/>
          <p:nvPr/>
        </p:nvSpPr>
        <p:spPr bwMode="gray">
          <a:xfrm>
            <a:off x="3146223" y="3819550"/>
            <a:ext cx="80409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企业分支</a:t>
            </a:r>
            <a:endParaRPr lang="zh-CN" altLang="en-US" sz="2400" dirty="0">
              <a:latin typeface="+mj-lt"/>
              <a:ea typeface="+mn-ea"/>
            </a:endParaRPr>
          </a:p>
        </p:txBody>
      </p:sp>
      <p:sp>
        <p:nvSpPr>
          <p:cNvPr id="22" name="TextBox 21"/>
          <p:cNvSpPr txBox="1"/>
          <p:nvPr/>
        </p:nvSpPr>
        <p:spPr bwMode="gray">
          <a:xfrm>
            <a:off x="8405184" y="3821461"/>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endParaRPr lang="zh-CN" altLang="en-US" sz="2400" dirty="0">
              <a:latin typeface="+mj-lt"/>
              <a:ea typeface="+mn-ea"/>
            </a:endParaRPr>
          </a:p>
        </p:txBody>
      </p:sp>
      <p:sp>
        <p:nvSpPr>
          <p:cNvPr id="23" name="TextBox 22"/>
          <p:cNvSpPr txBox="1"/>
          <p:nvPr/>
        </p:nvSpPr>
        <p:spPr bwMode="gray">
          <a:xfrm>
            <a:off x="9668957" y="365321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2400" dirty="0">
              <a:latin typeface="+mj-lt"/>
              <a:ea typeface="+mn-ea"/>
            </a:endParaRPr>
          </a:p>
        </p:txBody>
      </p:sp>
      <p:sp>
        <p:nvSpPr>
          <p:cNvPr id="25" name="TextBox 24"/>
          <p:cNvSpPr txBox="1"/>
          <p:nvPr/>
        </p:nvSpPr>
        <p:spPr bwMode="gray">
          <a:xfrm>
            <a:off x="5722726" y="4722496"/>
            <a:ext cx="1038522"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auto"/>
            <a:r>
              <a:rPr lang="en-US" altLang="zh-CN" sz="1400" b="1" dirty="0">
                <a:solidFill>
                  <a:schemeClr val="bg1"/>
                </a:solidFill>
                <a:latin typeface="+mj-lt"/>
                <a:ea typeface="+mn-ea"/>
              </a:rPr>
              <a:t>L2TP</a:t>
            </a:r>
            <a:r>
              <a:rPr lang="zh-CN" altLang="en-US" sz="1400" b="1" dirty="0">
                <a:solidFill>
                  <a:schemeClr val="bg1"/>
                </a:solidFill>
                <a:latin typeface="+mj-lt"/>
                <a:ea typeface="+mn-ea"/>
              </a:rPr>
              <a:t>封装</a:t>
            </a:r>
          </a:p>
        </p:txBody>
      </p:sp>
      <p:cxnSp>
        <p:nvCxnSpPr>
          <p:cNvPr id="26" name="Straight Connector 25"/>
          <p:cNvCxnSpPr/>
          <p:nvPr/>
        </p:nvCxnSpPr>
        <p:spPr bwMode="gray">
          <a:xfrm>
            <a:off x="4447644" y="4558508"/>
            <a:ext cx="0" cy="558661"/>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7" name="Straight Connector 26"/>
          <p:cNvCxnSpPr/>
          <p:nvPr/>
        </p:nvCxnSpPr>
        <p:spPr bwMode="gray">
          <a:xfrm>
            <a:off x="7894538" y="4518831"/>
            <a:ext cx="0" cy="558661"/>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8" name="TextBox 27"/>
          <p:cNvSpPr txBox="1"/>
          <p:nvPr/>
        </p:nvSpPr>
        <p:spPr bwMode="gray">
          <a:xfrm>
            <a:off x="3825889" y="3628436"/>
            <a:ext cx="111020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L2TP Client</a:t>
            </a:r>
            <a:endParaRPr lang="zh-CN" altLang="en-US" sz="1400" dirty="0">
              <a:latin typeface="+mj-lt"/>
              <a:ea typeface="+mn-ea"/>
            </a:endParaRPr>
          </a:p>
        </p:txBody>
      </p:sp>
      <p:sp>
        <p:nvSpPr>
          <p:cNvPr id="29" name="TextBox 28"/>
          <p:cNvSpPr txBox="1"/>
          <p:nvPr/>
        </p:nvSpPr>
        <p:spPr bwMode="gray">
          <a:xfrm>
            <a:off x="7762000" y="3654000"/>
            <a:ext cx="52677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LNS</a:t>
            </a:r>
            <a:endParaRPr lang="zh-CN" altLang="en-US" sz="1400" dirty="0">
              <a:latin typeface="+mj-lt"/>
              <a:ea typeface="+mn-ea"/>
            </a:endParaRPr>
          </a:p>
        </p:txBody>
      </p:sp>
      <p:sp>
        <p:nvSpPr>
          <p:cNvPr id="30"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32"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4780452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an 225">
            <a:extLst>
              <a:ext uri="{FF2B5EF4-FFF2-40B4-BE49-F238E27FC236}">
                <a16:creationId xmlns:a16="http://schemas.microsoft.com/office/drawing/2014/main" id="{45E7B06F-CE1F-4512-9791-DAC75B16F98E}"/>
              </a:ext>
            </a:extLst>
          </p:cNvPr>
          <p:cNvSpPr/>
          <p:nvPr/>
        </p:nvSpPr>
        <p:spPr bwMode="gray">
          <a:xfrm rot="5400000">
            <a:off x="6026445" y="3300852"/>
            <a:ext cx="292021" cy="3179075"/>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Title 1"/>
          <p:cNvSpPr>
            <a:spLocks noGrp="1"/>
          </p:cNvSpPr>
          <p:nvPr>
            <p:ph type="title"/>
          </p:nvPr>
        </p:nvSpPr>
        <p:spPr bwMode="gray"/>
        <p:txBody>
          <a:bodyPr/>
          <a:lstStyle/>
          <a:p>
            <a:r>
              <a:rPr lang="zh-CN" altLang="en-US" dirty="0"/>
              <a:t>分公司员工与总部互联场景</a:t>
            </a:r>
          </a:p>
        </p:txBody>
      </p:sp>
      <p:sp>
        <p:nvSpPr>
          <p:cNvPr id="3" name="Text Placeholder 2"/>
          <p:cNvSpPr>
            <a:spLocks noGrp="1"/>
          </p:cNvSpPr>
          <p:nvPr>
            <p:ph type="body" sz="quarter" idx="10"/>
          </p:nvPr>
        </p:nvSpPr>
        <p:spPr bwMode="gray"/>
        <p:txBody>
          <a:bodyPr/>
          <a:lstStyle/>
          <a:p>
            <a:r>
              <a:rPr lang="zh-CN" altLang="en-US" dirty="0"/>
              <a:t>分公司内部员工使用</a:t>
            </a:r>
            <a:r>
              <a:rPr lang="en-US" altLang="zh-CN" dirty="0" err="1"/>
              <a:t>PPPoE</a:t>
            </a:r>
            <a:r>
              <a:rPr lang="zh-CN" altLang="en-US" dirty="0"/>
              <a:t>拨号软件连接总公司网络，而分支网关则作为</a:t>
            </a:r>
            <a:r>
              <a:rPr lang="en-US" altLang="zh-CN" dirty="0" err="1"/>
              <a:t>PPPoE</a:t>
            </a:r>
            <a:r>
              <a:rPr lang="zh-CN" altLang="en-US" dirty="0"/>
              <a:t>服务器和</a:t>
            </a:r>
            <a:r>
              <a:rPr lang="en-US" altLang="zh-CN" dirty="0"/>
              <a:t>LAC</a:t>
            </a:r>
            <a:r>
              <a:rPr lang="zh-CN" altLang="en-US" dirty="0"/>
              <a:t>，使分支用户的呼叫请求到达总部。</a:t>
            </a:r>
          </a:p>
        </p:txBody>
      </p:sp>
      <p:sp>
        <p:nvSpPr>
          <p:cNvPr id="5" name="Freeform 159"/>
          <p:cNvSpPr/>
          <p:nvPr/>
        </p:nvSpPr>
        <p:spPr bwMode="gray">
          <a:xfrm flipH="1">
            <a:off x="7894538" y="3592891"/>
            <a:ext cx="1855042" cy="9696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750547" y="3918636"/>
            <a:ext cx="540000" cy="442800"/>
          </a:xfrm>
          <a:prstGeom prst="rect">
            <a:avLst/>
          </a:prstGeom>
        </p:spPr>
      </p:pic>
      <p:pic>
        <p:nvPicPr>
          <p:cNvPr id="7" name="图片 42" descr="大型网管-蓝.png"/>
          <p:cNvPicPr>
            <a:picLocks noChangeAspect="1"/>
          </p:cNvPicPr>
          <p:nvPr/>
        </p:nvPicPr>
        <p:blipFill>
          <a:blip r:embed="rId4" cstate="print"/>
          <a:stretch>
            <a:fillRect/>
          </a:stretch>
        </p:blipFill>
        <p:spPr bwMode="gray">
          <a:xfrm>
            <a:off x="8740239" y="4185930"/>
            <a:ext cx="539607" cy="441817"/>
          </a:xfrm>
          <a:prstGeom prst="rect">
            <a:avLst/>
          </a:prstGeom>
        </p:spPr>
      </p:pic>
      <p:pic>
        <p:nvPicPr>
          <p:cNvPr id="8" name="图片 73" descr="PC.png"/>
          <p:cNvPicPr>
            <a:picLocks noChangeAspect="1"/>
          </p:cNvPicPr>
          <p:nvPr/>
        </p:nvPicPr>
        <p:blipFill>
          <a:blip r:embed="rId5" cstate="print"/>
          <a:stretch>
            <a:fillRect/>
          </a:stretch>
        </p:blipFill>
        <p:spPr bwMode="gray">
          <a:xfrm>
            <a:off x="9164779" y="3573488"/>
            <a:ext cx="539063" cy="414000"/>
          </a:xfrm>
          <a:prstGeom prst="rect">
            <a:avLst/>
          </a:prstGeom>
        </p:spPr>
      </p:pic>
      <p:sp>
        <p:nvSpPr>
          <p:cNvPr id="9" name="Freeform 159"/>
          <p:cNvSpPr/>
          <p:nvPr/>
        </p:nvSpPr>
        <p:spPr bwMode="gray">
          <a:xfrm flipH="1">
            <a:off x="2613656" y="3599053"/>
            <a:ext cx="1843253" cy="96352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042919" y="3918636"/>
            <a:ext cx="540000" cy="442800"/>
          </a:xfrm>
          <a:prstGeom prst="rect">
            <a:avLst/>
          </a:prstGeom>
        </p:spPr>
      </p:pic>
      <p:pic>
        <p:nvPicPr>
          <p:cNvPr id="11" name="图片 42" descr="大型网管-蓝.png"/>
          <p:cNvPicPr>
            <a:picLocks noChangeAspect="1"/>
          </p:cNvPicPr>
          <p:nvPr/>
        </p:nvPicPr>
        <p:blipFill>
          <a:blip r:embed="rId4" cstate="print"/>
          <a:stretch>
            <a:fillRect/>
          </a:stretch>
        </p:blipFill>
        <p:spPr bwMode="gray">
          <a:xfrm>
            <a:off x="2588343" y="3695473"/>
            <a:ext cx="539607" cy="441817"/>
          </a:xfrm>
          <a:prstGeom prst="rect">
            <a:avLst/>
          </a:prstGeom>
        </p:spPr>
      </p:pic>
      <p:pic>
        <p:nvPicPr>
          <p:cNvPr id="12" name="图片 73" descr="PC.png"/>
          <p:cNvPicPr>
            <a:picLocks noChangeAspect="1"/>
          </p:cNvPicPr>
          <p:nvPr/>
        </p:nvPicPr>
        <p:blipFill>
          <a:blip r:embed="rId5" cstate="print"/>
          <a:stretch>
            <a:fillRect/>
          </a:stretch>
        </p:blipFill>
        <p:spPr bwMode="gray">
          <a:xfrm>
            <a:off x="2703682" y="4282860"/>
            <a:ext cx="601938" cy="414000"/>
          </a:xfrm>
          <a:prstGeom prst="rect">
            <a:avLst/>
          </a:prstGeom>
        </p:spPr>
      </p:pic>
      <p:pic>
        <p:nvPicPr>
          <p:cNvPr id="13" name="图片 3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5568694" y="3839656"/>
            <a:ext cx="1192554" cy="600760"/>
          </a:xfrm>
          <a:prstGeom prst="rect">
            <a:avLst/>
          </a:prstGeom>
        </p:spPr>
      </p:pic>
      <p:cxnSp>
        <p:nvCxnSpPr>
          <p:cNvPr id="14" name="Straight Connector 13"/>
          <p:cNvCxnSpPr>
            <a:stCxn id="13" idx="1"/>
            <a:endCxn id="10" idx="3"/>
          </p:cNvCxnSpPr>
          <p:nvPr/>
        </p:nvCxnSpPr>
        <p:spPr bwMode="gray">
          <a:xfrm flipH="1">
            <a:off x="4582919" y="4140036"/>
            <a:ext cx="985775"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5" name="Straight Connector 14"/>
          <p:cNvCxnSpPr>
            <a:stCxn id="6" idx="1"/>
            <a:endCxn id="13" idx="3"/>
          </p:cNvCxnSpPr>
          <p:nvPr/>
        </p:nvCxnSpPr>
        <p:spPr bwMode="gray">
          <a:xfrm flipH="1">
            <a:off x="6761248" y="4140036"/>
            <a:ext cx="989299"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16" name="TextBox 15"/>
          <p:cNvSpPr txBox="1"/>
          <p:nvPr/>
        </p:nvSpPr>
        <p:spPr bwMode="gray">
          <a:xfrm>
            <a:off x="1755105" y="4500683"/>
            <a:ext cx="1236904" cy="457991"/>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algn="ctr" fontAlgn="auto"/>
            <a:r>
              <a:rPr lang="en-US" altLang="zh-CN" sz="1200" dirty="0">
                <a:latin typeface="+mj-lt"/>
                <a:ea typeface="+mn-ea"/>
              </a:rPr>
              <a:t>PPP</a:t>
            </a:r>
            <a:r>
              <a:rPr lang="zh-CN" altLang="en-US" sz="1200" dirty="0">
                <a:latin typeface="+mj-lt"/>
                <a:ea typeface="+mn-ea"/>
              </a:rPr>
              <a:t>终端</a:t>
            </a:r>
            <a:endParaRPr lang="en-US" altLang="zh-CN" sz="1200" dirty="0">
              <a:latin typeface="+mj-lt"/>
              <a:ea typeface="+mn-ea"/>
            </a:endParaRPr>
          </a:p>
          <a:p>
            <a:pPr algn="ctr" fontAlgn="auto"/>
            <a:r>
              <a:rPr lang="en-US" altLang="zh-CN" sz="1200" dirty="0">
                <a:latin typeface="+mj-lt"/>
                <a:ea typeface="+mn-ea"/>
              </a:rPr>
              <a:t>(</a:t>
            </a:r>
            <a:r>
              <a:rPr lang="en-US" altLang="zh-CN" sz="1200" dirty="0" err="1">
                <a:latin typeface="+mj-lt"/>
                <a:ea typeface="+mn-ea"/>
              </a:rPr>
              <a:t>PPPoE</a:t>
            </a:r>
            <a:r>
              <a:rPr lang="zh-CN" altLang="en-US" sz="1200" dirty="0">
                <a:latin typeface="+mj-lt"/>
                <a:ea typeface="+mn-ea"/>
              </a:rPr>
              <a:t>客户端</a:t>
            </a:r>
            <a:r>
              <a:rPr lang="en-US" altLang="zh-CN" sz="1200" dirty="0">
                <a:latin typeface="+mj-lt"/>
                <a:ea typeface="+mn-ea"/>
              </a:rPr>
              <a:t>)</a:t>
            </a:r>
            <a:endParaRPr lang="zh-CN" altLang="en-US" sz="2400" dirty="0">
              <a:latin typeface="+mj-lt"/>
              <a:ea typeface="+mn-ea"/>
            </a:endParaRPr>
          </a:p>
        </p:txBody>
      </p:sp>
      <p:sp>
        <p:nvSpPr>
          <p:cNvPr id="17" name="TextBox 16"/>
          <p:cNvSpPr txBox="1"/>
          <p:nvPr/>
        </p:nvSpPr>
        <p:spPr bwMode="gray">
          <a:xfrm>
            <a:off x="3146223" y="3819550"/>
            <a:ext cx="804094"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企业分支</a:t>
            </a:r>
            <a:endParaRPr lang="zh-CN" altLang="en-US" sz="2400" dirty="0">
              <a:latin typeface="+mj-lt"/>
              <a:ea typeface="+mn-ea"/>
            </a:endParaRPr>
          </a:p>
        </p:txBody>
      </p:sp>
      <p:sp>
        <p:nvSpPr>
          <p:cNvPr id="18" name="TextBox 17"/>
          <p:cNvSpPr txBox="1"/>
          <p:nvPr/>
        </p:nvSpPr>
        <p:spPr bwMode="gray">
          <a:xfrm>
            <a:off x="8405184" y="3821461"/>
            <a:ext cx="792872"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zh-CN" altLang="en-US" sz="1200" dirty="0">
                <a:latin typeface="+mj-lt"/>
                <a:ea typeface="+mn-ea"/>
              </a:rPr>
              <a:t>企业总部</a:t>
            </a:r>
            <a:endParaRPr lang="zh-CN" altLang="en-US" sz="2400" dirty="0">
              <a:latin typeface="+mj-lt"/>
              <a:ea typeface="+mn-ea"/>
            </a:endParaRPr>
          </a:p>
        </p:txBody>
      </p:sp>
      <p:sp>
        <p:nvSpPr>
          <p:cNvPr id="19" name="TextBox 18"/>
          <p:cNvSpPr txBox="1"/>
          <p:nvPr/>
        </p:nvSpPr>
        <p:spPr bwMode="gray">
          <a:xfrm>
            <a:off x="9668957" y="3653211"/>
            <a:ext cx="390519"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dirty="0">
                <a:latin typeface="+mj-lt"/>
                <a:ea typeface="+mn-ea"/>
              </a:rPr>
              <a:t>PC</a:t>
            </a:r>
            <a:endParaRPr lang="zh-CN" altLang="en-US" sz="2400" dirty="0">
              <a:latin typeface="+mj-lt"/>
              <a:ea typeface="+mn-ea"/>
            </a:endParaRPr>
          </a:p>
        </p:txBody>
      </p:sp>
      <p:sp>
        <p:nvSpPr>
          <p:cNvPr id="21" name="TextBox 20"/>
          <p:cNvSpPr txBox="1"/>
          <p:nvPr/>
        </p:nvSpPr>
        <p:spPr bwMode="gray">
          <a:xfrm>
            <a:off x="5659154" y="4745077"/>
            <a:ext cx="1026601" cy="30410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fontAlgn="auto"/>
            <a:r>
              <a:rPr lang="en-US" altLang="zh-CN" sz="1400" b="1" dirty="0">
                <a:solidFill>
                  <a:schemeClr val="bg1"/>
                </a:solidFill>
                <a:latin typeface="+mj-lt"/>
                <a:ea typeface="+mn-ea"/>
              </a:rPr>
              <a:t>L2TP</a:t>
            </a:r>
            <a:r>
              <a:rPr lang="zh-CN" altLang="en-US" sz="1400" b="1" dirty="0">
                <a:solidFill>
                  <a:schemeClr val="bg1"/>
                </a:solidFill>
                <a:latin typeface="+mj-lt"/>
                <a:ea typeface="+mn-ea"/>
              </a:rPr>
              <a:t>封装</a:t>
            </a:r>
          </a:p>
        </p:txBody>
      </p:sp>
      <p:cxnSp>
        <p:nvCxnSpPr>
          <p:cNvPr id="22" name="Straight Connector 21"/>
          <p:cNvCxnSpPr/>
          <p:nvPr/>
        </p:nvCxnSpPr>
        <p:spPr bwMode="gray">
          <a:xfrm>
            <a:off x="4447644" y="4558508"/>
            <a:ext cx="0" cy="558661"/>
          </a:xfrm>
          <a:prstGeom prst="line">
            <a:avLst/>
          </a:prstGeom>
          <a:solidFill>
            <a:schemeClr val="accent1"/>
          </a:solidFill>
          <a:ln w="9525" cap="flat" cmpd="sng" algn="ctr">
            <a:solidFill>
              <a:schemeClr val="tx1"/>
            </a:solidFill>
            <a:prstDash val="dash"/>
            <a:round/>
            <a:headEnd type="none" w="med" len="med"/>
            <a:tailEnd type="none" w="med" len="med"/>
          </a:ln>
          <a:effectLst/>
        </p:spPr>
      </p:cxnSp>
      <p:cxnSp>
        <p:nvCxnSpPr>
          <p:cNvPr id="23" name="Straight Connector 22"/>
          <p:cNvCxnSpPr/>
          <p:nvPr/>
        </p:nvCxnSpPr>
        <p:spPr bwMode="gray">
          <a:xfrm>
            <a:off x="7894538" y="4518831"/>
            <a:ext cx="0" cy="558661"/>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24" name="TextBox 23"/>
          <p:cNvSpPr txBox="1"/>
          <p:nvPr/>
        </p:nvSpPr>
        <p:spPr bwMode="gray">
          <a:xfrm>
            <a:off x="3825889" y="3628436"/>
            <a:ext cx="1110203"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L2TP Client</a:t>
            </a:r>
            <a:endParaRPr lang="zh-CN" altLang="en-US" sz="1400" dirty="0">
              <a:latin typeface="+mj-lt"/>
              <a:ea typeface="+mn-ea"/>
            </a:endParaRPr>
          </a:p>
        </p:txBody>
      </p:sp>
      <p:sp>
        <p:nvSpPr>
          <p:cNvPr id="25" name="TextBox 24"/>
          <p:cNvSpPr txBox="1"/>
          <p:nvPr/>
        </p:nvSpPr>
        <p:spPr bwMode="gray">
          <a:xfrm>
            <a:off x="7762000" y="3654000"/>
            <a:ext cx="526774" cy="304103"/>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400" dirty="0">
                <a:latin typeface="+mj-lt"/>
                <a:ea typeface="+mn-ea"/>
              </a:rPr>
              <a:t>LNS</a:t>
            </a:r>
            <a:endParaRPr lang="zh-CN" altLang="en-US" sz="1400" dirty="0">
              <a:latin typeface="+mj-lt"/>
              <a:ea typeface="+mn-ea"/>
            </a:endParaRPr>
          </a:p>
        </p:txBody>
      </p:sp>
      <p:sp>
        <p:nvSpPr>
          <p:cNvPr id="30" name="Can 9">
            <a:extLst>
              <a:ext uri="{FF2B5EF4-FFF2-40B4-BE49-F238E27FC236}">
                <a16:creationId xmlns:a16="http://schemas.microsoft.com/office/drawing/2014/main" id="{3EC72A9C-0BF3-4CE4-ADD2-9CE39C7918D2}"/>
              </a:ext>
            </a:extLst>
          </p:cNvPr>
          <p:cNvSpPr/>
          <p:nvPr/>
        </p:nvSpPr>
        <p:spPr bwMode="gray">
          <a:xfrm rot="5400000">
            <a:off x="3655638" y="4204917"/>
            <a:ext cx="189352" cy="704415"/>
          </a:xfrm>
          <a:prstGeom prst="can">
            <a:avLst>
              <a:gd name="adj" fmla="val 40000"/>
            </a:avLst>
          </a:prstGeom>
          <a:solidFill>
            <a:srgbClr val="8BC9A0"/>
          </a:solid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26"/>
          <p:cNvSpPr txBox="1"/>
          <p:nvPr/>
        </p:nvSpPr>
        <p:spPr bwMode="gray">
          <a:xfrm>
            <a:off x="3420257" y="4410851"/>
            <a:ext cx="634175" cy="273325"/>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auto"/>
            <a:r>
              <a:rPr lang="en-US" altLang="zh-CN" sz="1200" b="1" dirty="0" err="1">
                <a:solidFill>
                  <a:schemeClr val="bg1"/>
                </a:solidFill>
                <a:latin typeface="+mj-lt"/>
                <a:ea typeface="+mn-ea"/>
              </a:rPr>
              <a:t>PPPoE</a:t>
            </a:r>
            <a:endParaRPr lang="zh-CN" altLang="en-US" sz="1200" b="1" dirty="0">
              <a:solidFill>
                <a:schemeClr val="bg1"/>
              </a:solidFill>
              <a:latin typeface="+mj-lt"/>
              <a:ea typeface="+mn-ea"/>
            </a:endParaRPr>
          </a:p>
        </p:txBody>
      </p:sp>
      <p:sp>
        <p:nvSpPr>
          <p:cNvPr id="28"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工作原理</a:t>
            </a:r>
          </a:p>
        </p:txBody>
      </p:sp>
      <p:sp>
        <p:nvSpPr>
          <p:cNvPr id="31"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应用场景</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699389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b="1" dirty="0"/>
              <a:t>广域互联安全技术</a:t>
            </a:r>
            <a:endParaRPr lang="en-US" altLang="zh-CN" b="1" dirty="0"/>
          </a:p>
          <a:p>
            <a:pPr lvl="1">
              <a:buSzPct val="60000"/>
              <a:buFont typeface="Wingdings" panose="05000000000000000000" pitchFamily="2" charset="2"/>
              <a:buChar char="n"/>
            </a:pPr>
            <a:r>
              <a:rPr lang="en-US" altLang="zh-CN" dirty="0"/>
              <a:t>IPsec</a:t>
            </a:r>
            <a:r>
              <a:rPr lang="zh-CN" altLang="en-US" dirty="0"/>
              <a:t>基本概念</a:t>
            </a:r>
            <a:endParaRPr lang="en-US" altLang="zh-CN" dirty="0"/>
          </a:p>
          <a:p>
            <a:pPr lvl="1"/>
            <a:r>
              <a:rPr lang="en-US" altLang="zh-CN" dirty="0">
                <a:solidFill>
                  <a:schemeClr val="bg1">
                    <a:lumMod val="50000"/>
                  </a:schemeClr>
                </a:solidFill>
              </a:rPr>
              <a:t>IPsec</a:t>
            </a:r>
            <a:r>
              <a:rPr lang="zh-CN" altLang="en-US" dirty="0">
                <a:solidFill>
                  <a:schemeClr val="bg1">
                    <a:lumMod val="50000"/>
                  </a:schemeClr>
                </a:solidFill>
              </a:rPr>
              <a:t>基本工作原理</a:t>
            </a:r>
          </a:p>
          <a:p>
            <a:pPr lvl="1"/>
            <a:r>
              <a:rPr lang="en-US" altLang="zh-CN" dirty="0">
                <a:solidFill>
                  <a:schemeClr val="bg1">
                    <a:lumMod val="50000"/>
                  </a:schemeClr>
                </a:solidFill>
              </a:rPr>
              <a:t>IPsec</a:t>
            </a:r>
            <a:r>
              <a:rPr lang="zh-CN" altLang="en-US" dirty="0">
                <a:solidFill>
                  <a:schemeClr val="bg1">
                    <a:lumMod val="50000"/>
                  </a:schemeClr>
                </a:solidFill>
              </a:rPr>
              <a:t>应用场景</a:t>
            </a:r>
            <a:endParaRPr lang="en-US" altLang="zh-CN" dirty="0">
              <a:solidFill>
                <a:schemeClr val="bg1">
                  <a:lumMod val="50000"/>
                </a:schemeClr>
              </a:solidFill>
            </a:endParaRPr>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3219071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bwMode="gray"/>
        <p:txBody>
          <a:bodyPr/>
          <a:lstStyle/>
          <a:p>
            <a:r>
              <a:rPr lang="en-US" altLang="zh-CN" dirty="0"/>
              <a:t>IPsec</a:t>
            </a:r>
            <a:r>
              <a:rPr lang="zh-CN" altLang="en-US" dirty="0"/>
              <a:t>产生背景</a:t>
            </a:r>
          </a:p>
        </p:txBody>
      </p:sp>
      <p:sp>
        <p:nvSpPr>
          <p:cNvPr id="6" name="Text Placeholder 5"/>
          <p:cNvSpPr>
            <a:spLocks noGrp="1"/>
          </p:cNvSpPr>
          <p:nvPr>
            <p:ph type="body" sz="quarter" idx="10"/>
          </p:nvPr>
        </p:nvSpPr>
        <p:spPr bwMode="gray"/>
        <p:txBody>
          <a:bodyPr/>
          <a:lstStyle/>
          <a:p>
            <a:r>
              <a:rPr lang="zh-CN" altLang="en-US" sz="1800" dirty="0"/>
              <a:t>企业分支之间经常有互联的需求，企业互联的方式很多，可以使用专线线路</a:t>
            </a:r>
            <a:r>
              <a:rPr lang="zh-CN" altLang="en-US" sz="1800" dirty="0">
                <a:solidFill>
                  <a:srgbClr val="FF0000"/>
                </a:solidFill>
              </a:rPr>
              <a:t>或者 </a:t>
            </a:r>
            <a:r>
              <a:rPr lang="en-US" altLang="zh-CN" sz="1800" dirty="0">
                <a:solidFill>
                  <a:srgbClr val="FF0000"/>
                </a:solidFill>
              </a:rPr>
              <a:t>Internet </a:t>
            </a:r>
            <a:r>
              <a:rPr lang="zh-CN" altLang="en-US" sz="1800" dirty="0">
                <a:solidFill>
                  <a:srgbClr val="FF0000"/>
                </a:solidFill>
              </a:rPr>
              <a:t>线路</a:t>
            </a:r>
            <a:r>
              <a:rPr lang="zh-CN" altLang="en-US" sz="1800" dirty="0"/>
              <a:t>。</a:t>
            </a:r>
            <a:endParaRPr lang="en-US" altLang="zh-CN" sz="1800" dirty="0"/>
          </a:p>
          <a:p>
            <a:r>
              <a:rPr lang="zh-CN" altLang="en-US" sz="1800" dirty="0"/>
              <a:t>部分企业从成本和需求出发会选择使用</a:t>
            </a:r>
            <a:r>
              <a:rPr lang="en-US" altLang="zh-CN" sz="1800" dirty="0"/>
              <a:t>Internet</a:t>
            </a:r>
            <a:r>
              <a:rPr lang="zh-CN" altLang="en-US" sz="1800" dirty="0"/>
              <a:t>线路进行互联，但是使用</a:t>
            </a:r>
            <a:r>
              <a:rPr lang="en-US" altLang="zh-CN" sz="1800" dirty="0"/>
              <a:t>Internet</a:t>
            </a:r>
            <a:r>
              <a:rPr lang="zh-CN" altLang="en-US" sz="1800" dirty="0"/>
              <a:t>线路存在安全风险，如何保障数据在传输时不会被窃取？</a:t>
            </a:r>
            <a:endParaRPr lang="en-US" altLang="zh-CN" sz="1800" dirty="0"/>
          </a:p>
          <a:p>
            <a:r>
              <a:rPr lang="en-US" altLang="zh-CN" sz="1800" dirty="0"/>
              <a:t>IPsec</a:t>
            </a:r>
            <a:r>
              <a:rPr lang="zh-CN" altLang="en-US" sz="1800" dirty="0"/>
              <a:t>技术通过将数据报文加密传输，达到保障企业互联安全性的目的。</a:t>
            </a:r>
          </a:p>
        </p:txBody>
      </p:sp>
      <p:sp>
        <p:nvSpPr>
          <p:cNvPr id="7" name="梯形 41"/>
          <p:cNvSpPr/>
          <p:nvPr/>
        </p:nvSpPr>
        <p:spPr bwMode="gray">
          <a:xfrm>
            <a:off x="2839980" y="3991560"/>
            <a:ext cx="6532856" cy="2197150"/>
          </a:xfrm>
          <a:prstGeom prst="trapezoid">
            <a:avLst>
              <a:gd name="adj" fmla="val 75739"/>
            </a:avLst>
          </a:prstGeom>
          <a:gradFill>
            <a:gsLst>
              <a:gs pos="0">
                <a:schemeClr val="accent1">
                  <a:lumMod val="5000"/>
                  <a:lumOff val="95000"/>
                </a:schemeClr>
              </a:gs>
              <a:gs pos="100000">
                <a:srgbClr val="94DAE2">
                  <a:alpha val="50000"/>
                </a:srgbClr>
              </a:gs>
            </a:gsLst>
            <a:lin ang="5400000" scaled="1"/>
          </a:gra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 name="图片 31"/>
          <p:cNvPicPr>
            <a:picLocks noChangeAspect="1"/>
          </p:cNvPicPr>
          <p:nvPr/>
        </p:nvPicPr>
        <p:blipFill>
          <a:blip r:embed="rId3">
            <a:duotone>
              <a:schemeClr val="accent5">
                <a:shade val="45000"/>
                <a:satMod val="135000"/>
              </a:schemeClr>
              <a:prstClr val="white"/>
            </a:duotone>
          </a:blip>
          <a:stretch>
            <a:fillRect/>
          </a:stretch>
        </p:blipFill>
        <p:spPr bwMode="gray">
          <a:xfrm>
            <a:off x="4873613" y="4795622"/>
            <a:ext cx="466668" cy="389308"/>
          </a:xfrm>
          <a:prstGeom prst="rect">
            <a:avLst/>
          </a:prstGeom>
        </p:spPr>
      </p:pic>
      <p:pic>
        <p:nvPicPr>
          <p:cNvPr id="9" name="图片 31"/>
          <p:cNvPicPr>
            <a:picLocks noChangeAspect="1"/>
          </p:cNvPicPr>
          <p:nvPr/>
        </p:nvPicPr>
        <p:blipFill>
          <a:blip r:embed="rId3">
            <a:duotone>
              <a:schemeClr val="accent5">
                <a:shade val="45000"/>
                <a:satMod val="135000"/>
              </a:schemeClr>
              <a:prstClr val="white"/>
            </a:duotone>
          </a:blip>
          <a:stretch>
            <a:fillRect/>
          </a:stretch>
        </p:blipFill>
        <p:spPr bwMode="gray">
          <a:xfrm>
            <a:off x="4126696" y="5655633"/>
            <a:ext cx="466668" cy="389308"/>
          </a:xfrm>
          <a:prstGeom prst="rect">
            <a:avLst/>
          </a:prstGeom>
        </p:spPr>
      </p:pic>
      <p:pic>
        <p:nvPicPr>
          <p:cNvPr id="10" name="图片 25"/>
          <p:cNvPicPr>
            <a:picLocks noChangeAspect="1"/>
          </p:cNvPicPr>
          <p:nvPr/>
        </p:nvPicPr>
        <p:blipFill>
          <a:blip r:embed="rId3">
            <a:duotone>
              <a:schemeClr val="accent5">
                <a:shade val="45000"/>
                <a:satMod val="135000"/>
              </a:schemeClr>
              <a:prstClr val="white"/>
            </a:duotone>
          </a:blip>
          <a:stretch>
            <a:fillRect/>
          </a:stretch>
        </p:blipFill>
        <p:spPr bwMode="gray">
          <a:xfrm>
            <a:off x="7120160" y="5188016"/>
            <a:ext cx="466668" cy="389308"/>
          </a:xfrm>
          <a:prstGeom prst="rect">
            <a:avLst/>
          </a:prstGeom>
        </p:spPr>
      </p:pic>
      <p:pic>
        <p:nvPicPr>
          <p:cNvPr id="11" name="图片 31"/>
          <p:cNvPicPr>
            <a:picLocks noChangeAspect="1"/>
          </p:cNvPicPr>
          <p:nvPr/>
        </p:nvPicPr>
        <p:blipFill>
          <a:blip r:embed="rId3">
            <a:duotone>
              <a:schemeClr val="accent5">
                <a:shade val="45000"/>
                <a:satMod val="135000"/>
              </a:schemeClr>
              <a:prstClr val="white"/>
            </a:duotone>
          </a:blip>
          <a:stretch>
            <a:fillRect/>
          </a:stretch>
        </p:blipFill>
        <p:spPr bwMode="gray">
          <a:xfrm>
            <a:off x="6262143" y="4340510"/>
            <a:ext cx="466668" cy="389308"/>
          </a:xfrm>
          <a:prstGeom prst="rect">
            <a:avLst/>
          </a:prstGeom>
        </p:spPr>
      </p:pic>
      <p:sp>
        <p:nvSpPr>
          <p:cNvPr id="12" name="Freeform 159"/>
          <p:cNvSpPr/>
          <p:nvPr/>
        </p:nvSpPr>
        <p:spPr bwMode="gray">
          <a:xfrm flipH="1">
            <a:off x="5114003" y="5007362"/>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运营商网络</a:t>
            </a:r>
            <a:endParaRPr lang="en-US" sz="1400" dirty="0">
              <a:solidFill>
                <a:schemeClr val="tx1"/>
              </a:solidFill>
            </a:endParaRPr>
          </a:p>
        </p:txBody>
      </p:sp>
      <p:pic>
        <p:nvPicPr>
          <p:cNvPr id="13" name="图片 86"/>
          <p:cNvPicPr>
            <a:picLocks/>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bwMode="gray">
          <a:xfrm>
            <a:off x="5622288" y="5021184"/>
            <a:ext cx="391752" cy="321237"/>
          </a:xfrm>
          <a:prstGeom prst="rect">
            <a:avLst/>
          </a:prstGeom>
        </p:spPr>
      </p:pic>
      <p:pic>
        <p:nvPicPr>
          <p:cNvPr id="14" name="Picture 12" descr="E:\2016.01\1.12 扁平化图标\蓝色\AR-蓝色最新-40.png">
            <a:extLst>
              <a:ext uri="{FF2B5EF4-FFF2-40B4-BE49-F238E27FC236}">
                <a16:creationId xmlns:a16="http://schemas.microsoft.com/office/drawing/2014/main" id="{3A92A8EE-6625-41D1-B9EE-F4280D7211F3}"/>
              </a:ext>
            </a:extLst>
          </p:cNvPr>
          <p:cNvPicPr>
            <a:picLocks noChangeAspect="1" noChangeArrowheads="1"/>
          </p:cNvPicPr>
          <p:nvPr/>
        </p:nvPicPr>
        <p:blipFill>
          <a:blip r:embed="rId5" cstate="print">
            <a:duotone>
              <a:schemeClr val="accent5">
                <a:shade val="45000"/>
                <a:satMod val="135000"/>
              </a:schemeClr>
              <a:prstClr val="white"/>
            </a:duotone>
          </a:blip>
          <a:srcRect/>
          <a:stretch>
            <a:fillRect/>
          </a:stretch>
        </p:blipFill>
        <p:spPr bwMode="gray">
          <a:xfrm>
            <a:off x="5842588" y="5629787"/>
            <a:ext cx="392039" cy="320760"/>
          </a:xfrm>
          <a:prstGeom prst="rect">
            <a:avLst/>
          </a:prstGeom>
          <a:noFill/>
        </p:spPr>
      </p:pic>
      <p:pic>
        <p:nvPicPr>
          <p:cNvPr id="15" name="图片 8" descr="DSLAM-蓝.png"/>
          <p:cNvPicPr>
            <a:picLocks noChangeAspect="1"/>
          </p:cNvPicPr>
          <p:nvPr/>
        </p:nvPicPr>
        <p:blipFill>
          <a:blip r:embed="rId6" cstate="print">
            <a:duotone>
              <a:schemeClr val="accent5">
                <a:shade val="45000"/>
                <a:satMod val="135000"/>
              </a:schemeClr>
              <a:prstClr val="white"/>
            </a:duotone>
          </a:blip>
          <a:stretch>
            <a:fillRect/>
          </a:stretch>
        </p:blipFill>
        <p:spPr bwMode="gray">
          <a:xfrm>
            <a:off x="5239349" y="5629787"/>
            <a:ext cx="392042" cy="320760"/>
          </a:xfrm>
          <a:prstGeom prst="rect">
            <a:avLst/>
          </a:prstGeom>
        </p:spPr>
      </p:pic>
      <p:pic>
        <p:nvPicPr>
          <p:cNvPr id="16" name="图片 1118"/>
          <p:cNvPicPr>
            <a:picLocks noChangeAspect="1"/>
          </p:cNvPicPr>
          <p:nvPr/>
        </p:nvPicPr>
        <p:blipFill>
          <a:blip r:embed="rId7">
            <a:duotone>
              <a:schemeClr val="accent5">
                <a:shade val="45000"/>
                <a:satMod val="135000"/>
              </a:schemeClr>
              <a:prstClr val="white"/>
            </a:duotone>
          </a:blip>
          <a:stretch>
            <a:fillRect/>
          </a:stretch>
        </p:blipFill>
        <p:spPr bwMode="gray">
          <a:xfrm>
            <a:off x="6467362" y="5609295"/>
            <a:ext cx="450745" cy="361743"/>
          </a:xfrm>
          <a:prstGeom prst="rect">
            <a:avLst/>
          </a:prstGeom>
        </p:spPr>
      </p:pic>
      <p:cxnSp>
        <p:nvCxnSpPr>
          <p:cNvPr id="17" name="直接连接符 133"/>
          <p:cNvCxnSpPr>
            <a:stCxn id="9" idx="3"/>
            <a:endCxn id="12" idx="21"/>
          </p:cNvCxnSpPr>
          <p:nvPr/>
        </p:nvCxnSpPr>
        <p:spPr bwMode="gray">
          <a:xfrm flipV="1">
            <a:off x="4593364" y="5709078"/>
            <a:ext cx="520639" cy="141209"/>
          </a:xfrm>
          <a:prstGeom prst="line">
            <a:avLst/>
          </a:prstGeom>
          <a:ln w="19050"/>
        </p:spPr>
        <p:style>
          <a:lnRef idx="3">
            <a:schemeClr val="dk1"/>
          </a:lnRef>
          <a:fillRef idx="0">
            <a:schemeClr val="dk1"/>
          </a:fillRef>
          <a:effectRef idx="2">
            <a:schemeClr val="dk1"/>
          </a:effectRef>
          <a:fontRef idx="minor">
            <a:schemeClr val="tx1"/>
          </a:fontRef>
        </p:style>
      </p:cxnSp>
      <p:cxnSp>
        <p:nvCxnSpPr>
          <p:cNvPr id="18" name="直接连接符 133"/>
          <p:cNvCxnSpPr>
            <a:stCxn id="8" idx="3"/>
            <a:endCxn id="12" idx="24"/>
          </p:cNvCxnSpPr>
          <p:nvPr/>
        </p:nvCxnSpPr>
        <p:spPr bwMode="gray">
          <a:xfrm>
            <a:off x="5340281" y="4990276"/>
            <a:ext cx="60111" cy="398904"/>
          </a:xfrm>
          <a:prstGeom prst="line">
            <a:avLst/>
          </a:prstGeom>
          <a:ln w="19050"/>
        </p:spPr>
        <p:style>
          <a:lnRef idx="3">
            <a:schemeClr val="dk1"/>
          </a:lnRef>
          <a:fillRef idx="0">
            <a:schemeClr val="dk1"/>
          </a:fillRef>
          <a:effectRef idx="2">
            <a:schemeClr val="dk1"/>
          </a:effectRef>
          <a:fontRef idx="minor">
            <a:schemeClr val="tx1"/>
          </a:fontRef>
        </p:style>
      </p:cxnSp>
      <p:cxnSp>
        <p:nvCxnSpPr>
          <p:cNvPr id="19" name="直接连接符 133"/>
          <p:cNvCxnSpPr>
            <a:stCxn id="11" idx="2"/>
            <a:endCxn id="12" idx="1"/>
          </p:cNvCxnSpPr>
          <p:nvPr/>
        </p:nvCxnSpPr>
        <p:spPr bwMode="gray">
          <a:xfrm flipH="1">
            <a:off x="6199930" y="4729818"/>
            <a:ext cx="295547" cy="417603"/>
          </a:xfrm>
          <a:prstGeom prst="line">
            <a:avLst/>
          </a:prstGeom>
          <a:ln w="19050"/>
        </p:spPr>
        <p:style>
          <a:lnRef idx="3">
            <a:schemeClr val="dk1"/>
          </a:lnRef>
          <a:fillRef idx="0">
            <a:schemeClr val="dk1"/>
          </a:fillRef>
          <a:effectRef idx="2">
            <a:schemeClr val="dk1"/>
          </a:effectRef>
          <a:fontRef idx="minor">
            <a:schemeClr val="tx1"/>
          </a:fontRef>
        </p:style>
      </p:cxnSp>
      <p:pic>
        <p:nvPicPr>
          <p:cNvPr id="20" name="图片 13" descr="开放网络-蓝.png"/>
          <p:cNvPicPr>
            <a:picLocks noChangeAspect="1"/>
          </p:cNvPicPr>
          <p:nvPr/>
        </p:nvPicPr>
        <p:blipFill>
          <a:blip r:embed="rId8" cstate="print">
            <a:duotone>
              <a:schemeClr val="accent5">
                <a:shade val="45000"/>
                <a:satMod val="135000"/>
              </a:schemeClr>
              <a:prstClr val="white"/>
            </a:duotone>
          </a:blip>
          <a:stretch>
            <a:fillRect/>
          </a:stretch>
        </p:blipFill>
        <p:spPr bwMode="gray">
          <a:xfrm>
            <a:off x="6227539" y="5017582"/>
            <a:ext cx="391752" cy="320760"/>
          </a:xfrm>
          <a:prstGeom prst="rect">
            <a:avLst/>
          </a:prstGeom>
        </p:spPr>
      </p:pic>
      <p:cxnSp>
        <p:nvCxnSpPr>
          <p:cNvPr id="21" name="直接连接符 133"/>
          <p:cNvCxnSpPr>
            <a:stCxn id="10" idx="1"/>
            <a:endCxn id="12" idx="7"/>
          </p:cNvCxnSpPr>
          <p:nvPr/>
        </p:nvCxnSpPr>
        <p:spPr bwMode="gray">
          <a:xfrm flipH="1">
            <a:off x="6836585" y="5382670"/>
            <a:ext cx="283575" cy="15748"/>
          </a:xfrm>
          <a:prstGeom prst="line">
            <a:avLst/>
          </a:prstGeom>
          <a:ln w="19050"/>
        </p:spPr>
        <p:style>
          <a:lnRef idx="3">
            <a:schemeClr val="dk1"/>
          </a:lnRef>
          <a:fillRef idx="0">
            <a:schemeClr val="dk1"/>
          </a:fillRef>
          <a:effectRef idx="2">
            <a:schemeClr val="dk1"/>
          </a:effectRef>
          <a:fontRef idx="minor">
            <a:schemeClr val="tx1"/>
          </a:fontRef>
        </p:style>
      </p:cxnSp>
      <p:cxnSp>
        <p:nvCxnSpPr>
          <p:cNvPr id="22" name="直接连接符 133"/>
          <p:cNvCxnSpPr>
            <a:stCxn id="9" idx="0"/>
            <a:endCxn id="31" idx="2"/>
          </p:cNvCxnSpPr>
          <p:nvPr/>
        </p:nvCxnSpPr>
        <p:spPr bwMode="gray">
          <a:xfrm flipV="1">
            <a:off x="4360030" y="4882435"/>
            <a:ext cx="0" cy="773198"/>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3" name="直接连接符 133"/>
          <p:cNvCxnSpPr>
            <a:stCxn id="8" idx="0"/>
            <a:endCxn id="28" idx="2"/>
          </p:cNvCxnSpPr>
          <p:nvPr/>
        </p:nvCxnSpPr>
        <p:spPr bwMode="gray">
          <a:xfrm flipV="1">
            <a:off x="5106947" y="4022424"/>
            <a:ext cx="0" cy="773198"/>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4" name="直接连接符 133"/>
          <p:cNvCxnSpPr>
            <a:endCxn id="38" idx="2"/>
          </p:cNvCxnSpPr>
          <p:nvPr/>
        </p:nvCxnSpPr>
        <p:spPr bwMode="gray">
          <a:xfrm flipV="1">
            <a:off x="6495477" y="3567312"/>
            <a:ext cx="0" cy="1413651"/>
          </a:xfrm>
          <a:prstGeom prst="line">
            <a:avLst/>
          </a:prstGeom>
          <a:ln w="12700">
            <a:prstDash val="dash"/>
          </a:ln>
        </p:spPr>
        <p:style>
          <a:lnRef idx="3">
            <a:schemeClr val="dk1"/>
          </a:lnRef>
          <a:fillRef idx="0">
            <a:schemeClr val="dk1"/>
          </a:fillRef>
          <a:effectRef idx="2">
            <a:schemeClr val="dk1"/>
          </a:effectRef>
          <a:fontRef idx="minor">
            <a:schemeClr val="tx1"/>
          </a:fontRef>
        </p:style>
      </p:cxnSp>
      <p:cxnSp>
        <p:nvCxnSpPr>
          <p:cNvPr id="25" name="直接连接符 133"/>
          <p:cNvCxnSpPr>
            <a:stCxn id="10" idx="0"/>
            <a:endCxn id="34" idx="2"/>
          </p:cNvCxnSpPr>
          <p:nvPr/>
        </p:nvCxnSpPr>
        <p:spPr bwMode="gray">
          <a:xfrm flipV="1">
            <a:off x="7353494" y="4414818"/>
            <a:ext cx="0" cy="773198"/>
          </a:xfrm>
          <a:prstGeom prst="line">
            <a:avLst/>
          </a:prstGeom>
          <a:ln w="12700">
            <a:prstDash val="dash"/>
          </a:ln>
        </p:spPr>
        <p:style>
          <a:lnRef idx="3">
            <a:schemeClr val="dk1"/>
          </a:lnRef>
          <a:fillRef idx="0">
            <a:schemeClr val="dk1"/>
          </a:fillRef>
          <a:effectRef idx="2">
            <a:schemeClr val="dk1"/>
          </a:effectRef>
          <a:fontRef idx="minor">
            <a:schemeClr val="tx1"/>
          </a:fontRef>
        </p:style>
      </p:cxnSp>
      <p:sp>
        <p:nvSpPr>
          <p:cNvPr id="26" name="梯形 41"/>
          <p:cNvSpPr/>
          <p:nvPr/>
        </p:nvSpPr>
        <p:spPr bwMode="gray">
          <a:xfrm>
            <a:off x="2839980" y="2843008"/>
            <a:ext cx="6532856" cy="2197150"/>
          </a:xfrm>
          <a:prstGeom prst="trapezoid">
            <a:avLst>
              <a:gd name="adj" fmla="val 75739"/>
            </a:avLst>
          </a:prstGeom>
          <a:gradFill>
            <a:gsLst>
              <a:gs pos="0">
                <a:schemeClr val="accent1">
                  <a:lumMod val="5000"/>
                  <a:lumOff val="95000"/>
                </a:schemeClr>
              </a:gs>
              <a:gs pos="100000">
                <a:srgbClr val="94DAE2">
                  <a:alpha val="50000"/>
                </a:srgbClr>
              </a:gs>
            </a:gsLst>
            <a:lin ang="5400000" scaled="1"/>
          </a:gra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Freeform 159"/>
          <p:cNvSpPr/>
          <p:nvPr/>
        </p:nvSpPr>
        <p:spPr bwMode="gray">
          <a:xfrm flipH="1">
            <a:off x="4123787" y="3509872"/>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28" name="图片 31"/>
          <p:cNvPicPr>
            <a:picLocks noChangeAspect="1"/>
          </p:cNvPicPr>
          <p:nvPr/>
        </p:nvPicPr>
        <p:blipFill>
          <a:blip r:embed="rId3"/>
          <a:stretch>
            <a:fillRect/>
          </a:stretch>
        </p:blipFill>
        <p:spPr bwMode="gray">
          <a:xfrm>
            <a:off x="4873613" y="3633116"/>
            <a:ext cx="466668" cy="389308"/>
          </a:xfrm>
          <a:prstGeom prst="rect">
            <a:avLst/>
          </a:prstGeom>
        </p:spPr>
      </p:pic>
      <p:pic>
        <p:nvPicPr>
          <p:cNvPr id="29" name="图片 51" descr="交换机.png"/>
          <p:cNvPicPr>
            <a:picLocks noChangeAspect="1"/>
          </p:cNvPicPr>
          <p:nvPr/>
        </p:nvPicPr>
        <p:blipFill>
          <a:blip r:embed="rId9" cstate="print"/>
          <a:stretch>
            <a:fillRect/>
          </a:stretch>
        </p:blipFill>
        <p:spPr bwMode="gray">
          <a:xfrm>
            <a:off x="4368674" y="3291802"/>
            <a:ext cx="417163" cy="341314"/>
          </a:xfrm>
          <a:prstGeom prst="rect">
            <a:avLst/>
          </a:prstGeom>
        </p:spPr>
      </p:pic>
      <p:sp>
        <p:nvSpPr>
          <p:cNvPr id="30" name="Freeform 159"/>
          <p:cNvSpPr/>
          <p:nvPr/>
        </p:nvSpPr>
        <p:spPr bwMode="gray">
          <a:xfrm flipH="1">
            <a:off x="3376870" y="4369883"/>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31" name="图片 31"/>
          <p:cNvPicPr>
            <a:picLocks noChangeAspect="1"/>
          </p:cNvPicPr>
          <p:nvPr/>
        </p:nvPicPr>
        <p:blipFill>
          <a:blip r:embed="rId3"/>
          <a:stretch>
            <a:fillRect/>
          </a:stretch>
        </p:blipFill>
        <p:spPr bwMode="gray">
          <a:xfrm>
            <a:off x="4126696" y="4493127"/>
            <a:ext cx="466668" cy="389308"/>
          </a:xfrm>
          <a:prstGeom prst="rect">
            <a:avLst/>
          </a:prstGeom>
        </p:spPr>
      </p:pic>
      <p:pic>
        <p:nvPicPr>
          <p:cNvPr id="32" name="图片 51" descr="交换机.png"/>
          <p:cNvPicPr>
            <a:picLocks noChangeAspect="1"/>
          </p:cNvPicPr>
          <p:nvPr/>
        </p:nvPicPr>
        <p:blipFill>
          <a:blip r:embed="rId9" cstate="print"/>
          <a:stretch>
            <a:fillRect/>
          </a:stretch>
        </p:blipFill>
        <p:spPr bwMode="gray">
          <a:xfrm>
            <a:off x="3621757" y="4151813"/>
            <a:ext cx="417163" cy="341314"/>
          </a:xfrm>
          <a:prstGeom prst="rect">
            <a:avLst/>
          </a:prstGeom>
        </p:spPr>
      </p:pic>
      <p:sp>
        <p:nvSpPr>
          <p:cNvPr id="33" name="Freeform 159"/>
          <p:cNvSpPr/>
          <p:nvPr/>
        </p:nvSpPr>
        <p:spPr bwMode="gray">
          <a:xfrm flipH="1">
            <a:off x="7372739" y="3905424"/>
            <a:ext cx="1124297" cy="5877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企业总部</a:t>
            </a:r>
            <a:endParaRPr lang="en-US" sz="1400" dirty="0">
              <a:solidFill>
                <a:schemeClr val="tx1"/>
              </a:solidFill>
            </a:endParaRPr>
          </a:p>
        </p:txBody>
      </p:sp>
      <p:pic>
        <p:nvPicPr>
          <p:cNvPr id="34" name="图片 25"/>
          <p:cNvPicPr>
            <a:picLocks noChangeAspect="1"/>
          </p:cNvPicPr>
          <p:nvPr/>
        </p:nvPicPr>
        <p:blipFill>
          <a:blip r:embed="rId3"/>
          <a:stretch>
            <a:fillRect/>
          </a:stretch>
        </p:blipFill>
        <p:spPr bwMode="gray">
          <a:xfrm>
            <a:off x="7120160" y="4025510"/>
            <a:ext cx="466668" cy="389308"/>
          </a:xfrm>
          <a:prstGeom prst="rect">
            <a:avLst/>
          </a:prstGeom>
        </p:spPr>
      </p:pic>
      <p:pic>
        <p:nvPicPr>
          <p:cNvPr id="35" name="图片 67"/>
          <p:cNvPicPr>
            <a:picLocks/>
          </p:cNvPicPr>
          <p:nvPr/>
        </p:nvPicPr>
        <p:blipFill>
          <a:blip r:embed="rId10" cstate="print">
            <a:extLst>
              <a:ext uri="{28A0092B-C50C-407E-A947-70E740481C1C}">
                <a14:useLocalDpi xmlns:a14="http://schemas.microsoft.com/office/drawing/2010/main" val="0"/>
              </a:ext>
            </a:extLst>
          </a:blip>
          <a:stretch>
            <a:fillRect/>
          </a:stretch>
        </p:blipFill>
        <p:spPr bwMode="gray">
          <a:xfrm>
            <a:off x="8288454" y="4189885"/>
            <a:ext cx="417163" cy="342074"/>
          </a:xfrm>
          <a:prstGeom prst="rect">
            <a:avLst/>
          </a:prstGeom>
        </p:spPr>
      </p:pic>
      <p:pic>
        <p:nvPicPr>
          <p:cNvPr id="36" name="图片 14" descr="交换机.png"/>
          <p:cNvPicPr>
            <a:picLocks noChangeAspect="1"/>
          </p:cNvPicPr>
          <p:nvPr/>
        </p:nvPicPr>
        <p:blipFill>
          <a:blip r:embed="rId11" cstate="print"/>
          <a:stretch>
            <a:fillRect/>
          </a:stretch>
        </p:blipFill>
        <p:spPr bwMode="gray">
          <a:xfrm>
            <a:off x="8010149" y="3725706"/>
            <a:ext cx="420077" cy="343698"/>
          </a:xfrm>
          <a:prstGeom prst="rect">
            <a:avLst/>
          </a:prstGeom>
        </p:spPr>
      </p:pic>
      <p:sp>
        <p:nvSpPr>
          <p:cNvPr id="37" name="Freeform 159"/>
          <p:cNvSpPr/>
          <p:nvPr/>
        </p:nvSpPr>
        <p:spPr bwMode="gray">
          <a:xfrm flipH="1">
            <a:off x="5512317" y="3054760"/>
            <a:ext cx="906938" cy="47408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200" dirty="0">
                <a:solidFill>
                  <a:srgbClr val="000000"/>
                </a:solidFill>
                <a:latin typeface="Huawei Sans" panose="020C0503030203020204" pitchFamily="34" charset="0"/>
                <a:ea typeface="方正兰亭黑简体" panose="02000000000000000000" pitchFamily="2" charset="-122"/>
              </a:rPr>
              <a:t>分支站点</a:t>
            </a:r>
          </a:p>
        </p:txBody>
      </p:sp>
      <p:pic>
        <p:nvPicPr>
          <p:cNvPr id="38" name="图片 31"/>
          <p:cNvPicPr>
            <a:picLocks noChangeAspect="1"/>
          </p:cNvPicPr>
          <p:nvPr/>
        </p:nvPicPr>
        <p:blipFill>
          <a:blip r:embed="rId3"/>
          <a:stretch>
            <a:fillRect/>
          </a:stretch>
        </p:blipFill>
        <p:spPr bwMode="gray">
          <a:xfrm>
            <a:off x="6262143" y="3178004"/>
            <a:ext cx="466668" cy="389308"/>
          </a:xfrm>
          <a:prstGeom prst="rect">
            <a:avLst/>
          </a:prstGeom>
        </p:spPr>
      </p:pic>
      <p:pic>
        <p:nvPicPr>
          <p:cNvPr id="39" name="图片 51" descr="交换机.png"/>
          <p:cNvPicPr>
            <a:picLocks noChangeAspect="1"/>
          </p:cNvPicPr>
          <p:nvPr/>
        </p:nvPicPr>
        <p:blipFill>
          <a:blip r:embed="rId9" cstate="print"/>
          <a:stretch>
            <a:fillRect/>
          </a:stretch>
        </p:blipFill>
        <p:spPr bwMode="gray">
          <a:xfrm>
            <a:off x="5757204" y="2836690"/>
            <a:ext cx="417163" cy="341314"/>
          </a:xfrm>
          <a:prstGeom prst="rect">
            <a:avLst/>
          </a:prstGeom>
        </p:spPr>
      </p:pic>
      <p:cxnSp>
        <p:nvCxnSpPr>
          <p:cNvPr id="40" name="直接连接符 133"/>
          <p:cNvCxnSpPr>
            <a:stCxn id="31" idx="3"/>
            <a:endCxn id="34" idx="1"/>
          </p:cNvCxnSpPr>
          <p:nvPr/>
        </p:nvCxnSpPr>
        <p:spPr bwMode="gray">
          <a:xfrm flipV="1">
            <a:off x="4593364" y="4220164"/>
            <a:ext cx="2526796" cy="467617"/>
          </a:xfrm>
          <a:prstGeom prst="line">
            <a:avLst/>
          </a:prstGeom>
          <a:ln w="19050">
            <a:solidFill>
              <a:srgbClr val="7F7F7F"/>
            </a:solidFill>
          </a:ln>
        </p:spPr>
        <p:style>
          <a:lnRef idx="3">
            <a:schemeClr val="dk1"/>
          </a:lnRef>
          <a:fillRef idx="0">
            <a:schemeClr val="dk1"/>
          </a:fillRef>
          <a:effectRef idx="2">
            <a:schemeClr val="dk1"/>
          </a:effectRef>
          <a:fontRef idx="minor">
            <a:schemeClr val="tx1"/>
          </a:fontRef>
        </p:style>
      </p:cxnSp>
      <p:cxnSp>
        <p:nvCxnSpPr>
          <p:cNvPr id="41" name="直接连接符 133"/>
          <p:cNvCxnSpPr>
            <a:stCxn id="28" idx="3"/>
            <a:endCxn id="34" idx="1"/>
          </p:cNvCxnSpPr>
          <p:nvPr/>
        </p:nvCxnSpPr>
        <p:spPr bwMode="gray">
          <a:xfrm>
            <a:off x="5340281" y="3827770"/>
            <a:ext cx="1779879" cy="392394"/>
          </a:xfrm>
          <a:prstGeom prst="line">
            <a:avLst/>
          </a:prstGeom>
          <a:ln w="19050">
            <a:solidFill>
              <a:srgbClr val="7F7F7F"/>
            </a:solidFill>
          </a:ln>
        </p:spPr>
        <p:style>
          <a:lnRef idx="3">
            <a:schemeClr val="dk1"/>
          </a:lnRef>
          <a:fillRef idx="0">
            <a:schemeClr val="dk1"/>
          </a:fillRef>
          <a:effectRef idx="2">
            <a:schemeClr val="dk1"/>
          </a:effectRef>
          <a:fontRef idx="minor">
            <a:schemeClr val="tx1"/>
          </a:fontRef>
        </p:style>
      </p:cxnSp>
      <p:cxnSp>
        <p:nvCxnSpPr>
          <p:cNvPr id="42" name="直接连接符 133"/>
          <p:cNvCxnSpPr>
            <a:stCxn id="38" idx="2"/>
            <a:endCxn id="34" idx="1"/>
          </p:cNvCxnSpPr>
          <p:nvPr/>
        </p:nvCxnSpPr>
        <p:spPr bwMode="gray">
          <a:xfrm>
            <a:off x="6495477" y="3567312"/>
            <a:ext cx="624683" cy="652852"/>
          </a:xfrm>
          <a:prstGeom prst="line">
            <a:avLst/>
          </a:prstGeom>
          <a:ln w="19050">
            <a:solidFill>
              <a:srgbClr val="7F7F7F"/>
            </a:solidFill>
          </a:ln>
        </p:spPr>
        <p:style>
          <a:lnRef idx="3">
            <a:schemeClr val="dk1"/>
          </a:lnRef>
          <a:fillRef idx="0">
            <a:schemeClr val="dk1"/>
          </a:fillRef>
          <a:effectRef idx="2">
            <a:schemeClr val="dk1"/>
          </a:effectRef>
          <a:fontRef idx="minor">
            <a:schemeClr val="tx1"/>
          </a:fontRef>
        </p:style>
      </p:cxnSp>
      <p:sp>
        <p:nvSpPr>
          <p:cNvPr id="43" name="TextBox 42"/>
          <p:cNvSpPr txBox="1"/>
          <p:nvPr/>
        </p:nvSpPr>
        <p:spPr bwMode="gray">
          <a:xfrm>
            <a:off x="7921703" y="4769285"/>
            <a:ext cx="1261884" cy="307777"/>
          </a:xfrm>
          <a:prstGeom prst="rect">
            <a:avLst/>
          </a:prstGeom>
          <a:noFill/>
        </p:spPr>
        <p:txBody>
          <a:bodyPr wrap="none" rtlCol="0">
            <a:spAutoFit/>
          </a:bodyPr>
          <a:lstStyle/>
          <a:p>
            <a:r>
              <a:rPr lang="zh-CN" altLang="en-US" sz="1400" b="1" dirty="0">
                <a:latin typeface="+mn-ea"/>
                <a:ea typeface="+mn-ea"/>
              </a:rPr>
              <a:t>企业广域互联</a:t>
            </a:r>
          </a:p>
        </p:txBody>
      </p:sp>
      <p:sp>
        <p:nvSpPr>
          <p:cNvPr id="44" name="TextBox 43"/>
          <p:cNvSpPr txBox="1"/>
          <p:nvPr/>
        </p:nvSpPr>
        <p:spPr bwMode="gray">
          <a:xfrm>
            <a:off x="8018196" y="5849129"/>
            <a:ext cx="723275" cy="307777"/>
          </a:xfrm>
          <a:prstGeom prst="rect">
            <a:avLst/>
          </a:prstGeom>
          <a:noFill/>
        </p:spPr>
        <p:txBody>
          <a:bodyPr wrap="none" rtlCol="0">
            <a:spAutoFit/>
          </a:bodyPr>
          <a:lstStyle/>
          <a:p>
            <a:r>
              <a:rPr lang="zh-CN" altLang="en-US" sz="1400" dirty="0">
                <a:solidFill>
                  <a:schemeClr val="bg1">
                    <a:lumMod val="50000"/>
                  </a:schemeClr>
                </a:solidFill>
                <a:latin typeface="+mn-ea"/>
                <a:ea typeface="+mn-ea"/>
              </a:rPr>
              <a:t>广域网</a:t>
            </a:r>
          </a:p>
        </p:txBody>
      </p:sp>
      <p:grpSp>
        <p:nvGrpSpPr>
          <p:cNvPr id="49" name="Group 48"/>
          <p:cNvGrpSpPr/>
          <p:nvPr/>
        </p:nvGrpSpPr>
        <p:grpSpPr bwMode="gray">
          <a:xfrm rot="20979076">
            <a:off x="4604842" y="4344634"/>
            <a:ext cx="2463605" cy="246221"/>
            <a:chOff x="6750476" y="4327505"/>
            <a:chExt cx="2463605" cy="246221"/>
          </a:xfrm>
        </p:grpSpPr>
        <p:sp>
          <p:nvSpPr>
            <p:cNvPr id="47" name="Can 41"/>
            <p:cNvSpPr/>
            <p:nvPr/>
          </p:nvSpPr>
          <p:spPr bwMode="gray">
            <a:xfrm rot="5400000">
              <a:off x="7907362" y="3212142"/>
              <a:ext cx="149834" cy="2463605"/>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TextBox 47"/>
            <p:cNvSpPr txBox="1"/>
            <p:nvPr/>
          </p:nvSpPr>
          <p:spPr bwMode="gray">
            <a:xfrm flipH="1">
              <a:off x="7643588" y="4327505"/>
              <a:ext cx="768096" cy="246221"/>
            </a:xfrm>
            <a:prstGeom prst="rect">
              <a:avLst/>
            </a:prstGeom>
            <a:noFill/>
          </p:spPr>
          <p:txBody>
            <a:bodyPr wrap="square" rtlCol="0">
              <a:spAutoFit/>
            </a:bodyPr>
            <a:lstStyle/>
            <a:p>
              <a:r>
                <a:rPr lang="en-US" altLang="zh-CN" sz="1000" dirty="0">
                  <a:latin typeface="Huawei Sans" panose="020C0503030203020204" pitchFamily="34" charset="0"/>
                  <a:ea typeface="方正兰亭黑简体" panose="02000000000000000000" pitchFamily="2" charset="-122"/>
                </a:rPr>
                <a:t>IPsec</a:t>
              </a:r>
              <a:r>
                <a:rPr lang="zh-CN" altLang="en-US" sz="1000" dirty="0">
                  <a:latin typeface="Huawei Sans" panose="020C0503030203020204" pitchFamily="34" charset="0"/>
                  <a:ea typeface="方正兰亭黑简体" panose="02000000000000000000" pitchFamily="2" charset="-122"/>
                </a:rPr>
                <a:t>隧道</a:t>
              </a:r>
            </a:p>
          </p:txBody>
        </p:sp>
      </p:grpSp>
      <p:grpSp>
        <p:nvGrpSpPr>
          <p:cNvPr id="50" name="Group 49"/>
          <p:cNvGrpSpPr/>
          <p:nvPr/>
        </p:nvGrpSpPr>
        <p:grpSpPr bwMode="gray">
          <a:xfrm rot="770181">
            <a:off x="5356484" y="3886459"/>
            <a:ext cx="1691654" cy="246221"/>
            <a:chOff x="7456429" y="4327723"/>
            <a:chExt cx="1691654" cy="246221"/>
          </a:xfrm>
        </p:grpSpPr>
        <p:sp>
          <p:nvSpPr>
            <p:cNvPr id="51" name="Can 41"/>
            <p:cNvSpPr/>
            <p:nvPr/>
          </p:nvSpPr>
          <p:spPr bwMode="gray">
            <a:xfrm rot="5400000">
              <a:off x="8227339" y="3598118"/>
              <a:ext cx="149834" cy="1691654"/>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TextBox 51"/>
            <p:cNvSpPr txBox="1"/>
            <p:nvPr/>
          </p:nvSpPr>
          <p:spPr bwMode="gray">
            <a:xfrm flipH="1">
              <a:off x="7928989" y="4327723"/>
              <a:ext cx="768096" cy="246221"/>
            </a:xfrm>
            <a:prstGeom prst="rect">
              <a:avLst/>
            </a:prstGeom>
            <a:noFill/>
          </p:spPr>
          <p:txBody>
            <a:bodyPr wrap="square" rtlCol="0">
              <a:spAutoFit/>
            </a:bodyPr>
            <a:lstStyle/>
            <a:p>
              <a:r>
                <a:rPr lang="en-US" altLang="zh-CN" sz="1000" dirty="0">
                  <a:latin typeface="Huawei Sans" panose="020C0503030203020204" pitchFamily="34" charset="0"/>
                  <a:ea typeface="方正兰亭黑简体" panose="02000000000000000000" pitchFamily="2" charset="-122"/>
                </a:rPr>
                <a:t>IPsec</a:t>
              </a:r>
              <a:r>
                <a:rPr lang="zh-CN" altLang="en-US" sz="1000" dirty="0">
                  <a:latin typeface="Huawei Sans" panose="020C0503030203020204" pitchFamily="34" charset="0"/>
                  <a:ea typeface="方正兰亭黑简体" panose="02000000000000000000" pitchFamily="2" charset="-122"/>
                </a:rPr>
                <a:t>隧道</a:t>
              </a:r>
            </a:p>
          </p:txBody>
        </p:sp>
      </p:grpSp>
      <p:grpSp>
        <p:nvGrpSpPr>
          <p:cNvPr id="53" name="Group 52"/>
          <p:cNvGrpSpPr/>
          <p:nvPr/>
        </p:nvGrpSpPr>
        <p:grpSpPr bwMode="gray">
          <a:xfrm rot="2721740">
            <a:off x="6384539" y="3745940"/>
            <a:ext cx="820331" cy="246221"/>
            <a:chOff x="8327751" y="4327282"/>
            <a:chExt cx="820331" cy="246221"/>
          </a:xfrm>
        </p:grpSpPr>
        <p:sp>
          <p:nvSpPr>
            <p:cNvPr id="54" name="Can 41"/>
            <p:cNvSpPr/>
            <p:nvPr/>
          </p:nvSpPr>
          <p:spPr bwMode="gray">
            <a:xfrm rot="5400000">
              <a:off x="8663000" y="4033778"/>
              <a:ext cx="149834" cy="820331"/>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TextBox 54"/>
            <p:cNvSpPr txBox="1"/>
            <p:nvPr/>
          </p:nvSpPr>
          <p:spPr bwMode="gray">
            <a:xfrm flipH="1">
              <a:off x="8352793" y="4327282"/>
              <a:ext cx="768096" cy="246221"/>
            </a:xfrm>
            <a:prstGeom prst="rect">
              <a:avLst/>
            </a:prstGeom>
            <a:noFill/>
          </p:spPr>
          <p:txBody>
            <a:bodyPr wrap="square" rtlCol="0">
              <a:spAutoFit/>
            </a:bodyPr>
            <a:lstStyle/>
            <a:p>
              <a:r>
                <a:rPr lang="en-US" altLang="zh-CN" sz="1000" dirty="0">
                  <a:latin typeface="Huawei Sans" panose="020C0503030203020204" pitchFamily="34" charset="0"/>
                  <a:ea typeface="方正兰亭黑简体" panose="02000000000000000000" pitchFamily="2" charset="-122"/>
                </a:rPr>
                <a:t>IPsec</a:t>
              </a:r>
              <a:r>
                <a:rPr lang="zh-CN" altLang="en-US" sz="1000" dirty="0">
                  <a:latin typeface="Huawei Sans" panose="020C0503030203020204" pitchFamily="34" charset="0"/>
                  <a:ea typeface="方正兰亭黑简体" panose="02000000000000000000" pitchFamily="2" charset="-122"/>
                </a:rPr>
                <a:t>隧道</a:t>
              </a:r>
            </a:p>
          </p:txBody>
        </p:sp>
      </p:grpSp>
      <p:sp>
        <p:nvSpPr>
          <p:cNvPr id="56"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简介</a:t>
            </a:r>
          </a:p>
        </p:txBody>
      </p:sp>
      <p:sp>
        <p:nvSpPr>
          <p:cNvPr id="57"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协议框架</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4702406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圆角矩形 75"/>
          <p:cNvSpPr/>
          <p:nvPr/>
        </p:nvSpPr>
        <p:spPr bwMode="gray">
          <a:xfrm>
            <a:off x="1415480" y="3575255"/>
            <a:ext cx="9577064" cy="252052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r>
              <a:rPr lang="zh-CN" altLang="en-US" sz="1400" dirty="0">
                <a:solidFill>
                  <a:prstClr val="black"/>
                </a:solidFill>
                <a:latin typeface="Huawei Sans" panose="020C0503030203020204" pitchFamily="34" charset="0"/>
                <a:ea typeface="方正兰亭黑简体" panose="02000000000000000000" pitchFamily="2" charset="-122"/>
              </a:rPr>
              <a:t>现网中分支站点互联多使用</a:t>
            </a:r>
            <a:r>
              <a:rPr lang="en-US" altLang="zh-CN" sz="1400" dirty="0">
                <a:solidFill>
                  <a:srgbClr val="FF0000"/>
                </a:solidFill>
                <a:latin typeface="Huawei Sans" panose="020C0503030203020204" pitchFamily="34" charset="0"/>
                <a:ea typeface="方正兰亭黑简体" panose="02000000000000000000" pitchFamily="2" charset="-122"/>
              </a:rPr>
              <a:t>GRE Over IPsec</a:t>
            </a:r>
            <a:r>
              <a:rPr lang="zh-CN" altLang="en-US" sz="1400" dirty="0">
                <a:solidFill>
                  <a:prstClr val="black"/>
                </a:solidFill>
                <a:latin typeface="Huawei Sans" panose="020C0503030203020204" pitchFamily="34" charset="0"/>
                <a:ea typeface="方正兰亭黑简体" panose="02000000000000000000" pitchFamily="2" charset="-122"/>
              </a:rPr>
              <a:t>技术，</a:t>
            </a:r>
            <a:r>
              <a:rPr lang="en-US" altLang="zh-CN" sz="1400" dirty="0">
                <a:solidFill>
                  <a:prstClr val="black"/>
                </a:solidFill>
                <a:latin typeface="Huawei Sans" panose="020C0503030203020204" pitchFamily="34" charset="0"/>
                <a:ea typeface="方正兰亭黑简体" panose="02000000000000000000" pitchFamily="2" charset="-122"/>
              </a:rPr>
              <a:t>IPsec</a:t>
            </a:r>
            <a:r>
              <a:rPr lang="zh-CN" altLang="en-US" sz="1400" dirty="0">
                <a:solidFill>
                  <a:prstClr val="black"/>
                </a:solidFill>
                <a:latin typeface="Huawei Sans" panose="020C0503030203020204" pitchFamily="34" charset="0"/>
                <a:ea typeface="方正兰亭黑简体" panose="02000000000000000000" pitchFamily="2" charset="-122"/>
              </a:rPr>
              <a:t>技术保障数据安全传输，</a:t>
            </a:r>
            <a:r>
              <a:rPr lang="en-US" altLang="zh-CN" sz="1400" dirty="0">
                <a:solidFill>
                  <a:prstClr val="black"/>
                </a:solidFill>
                <a:latin typeface="Huawei Sans" panose="020C0503030203020204" pitchFamily="34" charset="0"/>
                <a:ea typeface="方正兰亭黑简体" panose="02000000000000000000" pitchFamily="2" charset="-122"/>
              </a:rPr>
              <a:t>GRE</a:t>
            </a:r>
            <a:r>
              <a:rPr lang="zh-CN" altLang="en-US" sz="1400" dirty="0">
                <a:solidFill>
                  <a:prstClr val="black"/>
                </a:solidFill>
                <a:latin typeface="Huawei Sans" panose="020C0503030203020204" pitchFamily="34" charset="0"/>
                <a:ea typeface="方正兰亭黑简体" panose="02000000000000000000" pitchFamily="2" charset="-122"/>
              </a:rPr>
              <a:t>技术保障企业内网之间能够互联。</a:t>
            </a:r>
          </a:p>
        </p:txBody>
      </p:sp>
      <p:sp>
        <p:nvSpPr>
          <p:cNvPr id="52226" name="Rectangle 2"/>
          <p:cNvSpPr>
            <a:spLocks noGrp="1" noChangeArrowheads="1"/>
          </p:cNvSpPr>
          <p:nvPr>
            <p:ph type="title"/>
          </p:nvPr>
        </p:nvSpPr>
        <p:spPr bwMode="gray"/>
        <p:txBody>
          <a:bodyPr/>
          <a:lstStyle/>
          <a:p>
            <a:pPr eaLnBrk="1" hangingPunct="1"/>
            <a:r>
              <a:rPr lang="en-US" altLang="zh-CN" dirty="0"/>
              <a:t>IPsec</a:t>
            </a:r>
            <a:r>
              <a:rPr lang="zh-CN" altLang="en-US" dirty="0"/>
              <a:t>简介</a:t>
            </a:r>
            <a:endParaRPr lang="en-US" altLang="zh-CN" dirty="0"/>
          </a:p>
        </p:txBody>
      </p:sp>
      <p:sp>
        <p:nvSpPr>
          <p:cNvPr id="2" name="Text Placeholder 1"/>
          <p:cNvSpPr>
            <a:spLocks noGrp="1"/>
          </p:cNvSpPr>
          <p:nvPr>
            <p:ph type="body" sz="quarter" idx="10"/>
          </p:nvPr>
        </p:nvSpPr>
        <p:spPr bwMode="gray"/>
        <p:txBody>
          <a:bodyPr/>
          <a:lstStyle/>
          <a:p>
            <a:r>
              <a:rPr lang="en-US" altLang="zh-CN" sz="1800" dirty="0"/>
              <a:t>IPsec</a:t>
            </a:r>
            <a:r>
              <a:rPr lang="zh-CN" altLang="en-US" sz="1800" dirty="0"/>
              <a:t>（</a:t>
            </a:r>
            <a:r>
              <a:rPr lang="en-US" altLang="zh-CN" sz="1800" dirty="0"/>
              <a:t>IP Security</a:t>
            </a:r>
            <a:r>
              <a:rPr lang="zh-CN" altLang="en-US" sz="1800" dirty="0"/>
              <a:t>）协议族是</a:t>
            </a:r>
            <a:r>
              <a:rPr lang="en-US" altLang="zh-CN" sz="1800" dirty="0"/>
              <a:t>IETF</a:t>
            </a:r>
            <a:r>
              <a:rPr lang="zh-CN" altLang="en-US" sz="1800" dirty="0"/>
              <a:t>制定的一系列安全协议，它为端到端</a:t>
            </a:r>
            <a:r>
              <a:rPr lang="en-US" altLang="zh-CN" sz="1800" dirty="0"/>
              <a:t>IP</a:t>
            </a:r>
            <a:r>
              <a:rPr lang="zh-CN" altLang="en-US" sz="1800" dirty="0"/>
              <a:t>报文交互提供了基于密码学的、可互操作的、高质量的安全保护机制。</a:t>
            </a:r>
            <a:endParaRPr lang="en-US" altLang="zh-CN" sz="1800" dirty="0"/>
          </a:p>
          <a:p>
            <a:r>
              <a:rPr lang="zh-CN" altLang="en-US" sz="1800" dirty="0"/>
              <a:t>通过对数据加密、认证，</a:t>
            </a:r>
            <a:r>
              <a:rPr lang="en-US" altLang="zh-CN" sz="1800" dirty="0"/>
              <a:t>IPsec</a:t>
            </a:r>
            <a:r>
              <a:rPr lang="zh-CN" altLang="en-US" sz="1800" dirty="0"/>
              <a:t>使得数据能够在</a:t>
            </a:r>
            <a:r>
              <a:rPr lang="en-US" altLang="zh-CN" sz="1800" dirty="0"/>
              <a:t>Internet</a:t>
            </a:r>
            <a:r>
              <a:rPr lang="zh-CN" altLang="en-US" sz="1800" dirty="0"/>
              <a:t>网络上安全的传输。</a:t>
            </a:r>
            <a:endParaRPr lang="en-US" altLang="zh-CN" sz="1800" dirty="0"/>
          </a:p>
          <a:p>
            <a:r>
              <a:rPr lang="en-US" altLang="zh-CN" sz="1800" dirty="0"/>
              <a:t>IPsec VPN</a:t>
            </a:r>
            <a:r>
              <a:rPr lang="zh-CN" altLang="en-US" sz="1800" dirty="0"/>
              <a:t>技术可以和多种</a:t>
            </a:r>
            <a:r>
              <a:rPr lang="en-US" altLang="zh-CN" sz="1800" dirty="0"/>
              <a:t>VPN</a:t>
            </a:r>
            <a:r>
              <a:rPr lang="zh-CN" altLang="en-US" sz="1800" dirty="0"/>
              <a:t>技术结合使用，使得企业互联更加灵活安全。</a:t>
            </a:r>
          </a:p>
        </p:txBody>
      </p:sp>
      <p:cxnSp>
        <p:nvCxnSpPr>
          <p:cNvPr id="6" name="直接连接符 5"/>
          <p:cNvCxnSpPr/>
          <p:nvPr/>
        </p:nvCxnSpPr>
        <p:spPr bwMode="gray">
          <a:xfrm>
            <a:off x="8570329" y="4603992"/>
            <a:ext cx="0"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0" name="Text Box 26"/>
          <p:cNvSpPr txBox="1">
            <a:spLocks noChangeArrowheads="1"/>
          </p:cNvSpPr>
          <p:nvPr/>
        </p:nvSpPr>
        <p:spPr bwMode="gray">
          <a:xfrm>
            <a:off x="3057951" y="4770767"/>
            <a:ext cx="902688"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zh-CN" altLang="en-US" sz="1400" dirty="0">
                <a:latin typeface="+mn-ea"/>
                <a:ea typeface="+mn-ea"/>
              </a:rPr>
              <a:t>企业出口</a:t>
            </a:r>
          </a:p>
        </p:txBody>
      </p:sp>
      <p:sp>
        <p:nvSpPr>
          <p:cNvPr id="17" name="Right Arrow 16"/>
          <p:cNvSpPr/>
          <p:nvPr/>
        </p:nvSpPr>
        <p:spPr bwMode="gray">
          <a:xfrm>
            <a:off x="4761702" y="4476599"/>
            <a:ext cx="2005337" cy="621227"/>
          </a:xfrm>
          <a:prstGeom prst="rightArrow">
            <a:avLst/>
          </a:prstGeom>
        </p:spPr>
        <p:txBody>
          <a:bodyPr wrap="none" rtlCol="0" anchor="ctr">
            <a:spAutoFit/>
          </a:bodyPr>
          <a:lstStyle/>
          <a:p>
            <a:pPr marL="342900" indent="-342900" algn="ctr" fontAlgn="auto">
              <a:buFont typeface="+mj-lt"/>
              <a:buAutoNum type="arabicPeriod"/>
            </a:pPr>
            <a:endParaRPr lang="zh-CN" altLang="en-US" sz="1800">
              <a:latin typeface="+mj-lt"/>
              <a:ea typeface="+mn-ea"/>
              <a:cs typeface="Courier New" panose="02070309020205020404" pitchFamily="49" charset="0"/>
            </a:endParaRPr>
          </a:p>
        </p:txBody>
      </p:sp>
      <p:sp>
        <p:nvSpPr>
          <p:cNvPr id="35" name="Freeform 159"/>
          <p:cNvSpPr/>
          <p:nvPr/>
        </p:nvSpPr>
        <p:spPr bwMode="gray">
          <a:xfrm flipH="1">
            <a:off x="8330864" y="4081760"/>
            <a:ext cx="1383886" cy="7233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企业总部</a:t>
            </a:r>
            <a:endParaRPr lang="en-US" sz="1400" dirty="0">
              <a:solidFill>
                <a:schemeClr val="tx1"/>
              </a:solidFill>
            </a:endParaRPr>
          </a:p>
        </p:txBody>
      </p:sp>
      <p:sp>
        <p:nvSpPr>
          <p:cNvPr id="36" name="Freeform 159"/>
          <p:cNvSpPr/>
          <p:nvPr/>
        </p:nvSpPr>
        <p:spPr bwMode="gray">
          <a:xfrm flipH="1">
            <a:off x="2063552" y="4081760"/>
            <a:ext cx="1383886" cy="72339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企业分支</a:t>
            </a:r>
            <a:endParaRPr lang="en-US" sz="1400" dirty="0">
              <a:solidFill>
                <a:schemeClr val="tx1"/>
              </a:solidFill>
            </a:endParaRPr>
          </a:p>
        </p:txBody>
      </p:sp>
      <p:pic>
        <p:nvPicPr>
          <p:cNvPr id="32" name="Picture 12" descr="E:\2016.01\1.12 扁平化图标\蓝色\AR-蓝色最新-40.png"/>
          <p:cNvPicPr>
            <a:picLocks noChangeAspect="1" noChangeArrowheads="1"/>
          </p:cNvPicPr>
          <p:nvPr/>
        </p:nvPicPr>
        <p:blipFill>
          <a:blip r:embed="rId3" cstate="print"/>
          <a:srcRect/>
          <a:stretch>
            <a:fillRect/>
          </a:stretch>
        </p:blipFill>
        <p:spPr bwMode="gray">
          <a:xfrm>
            <a:off x="3336540" y="4357771"/>
            <a:ext cx="540000" cy="441818"/>
          </a:xfrm>
          <a:prstGeom prst="rect">
            <a:avLst/>
          </a:prstGeom>
          <a:noFill/>
        </p:spPr>
      </p:pic>
      <p:pic>
        <p:nvPicPr>
          <p:cNvPr id="34" name="Picture 12" descr="E:\2016.01\1.12 扁平化图标\蓝色\AR-蓝色最新-40.png"/>
          <p:cNvPicPr>
            <a:picLocks noChangeAspect="1" noChangeArrowheads="1"/>
          </p:cNvPicPr>
          <p:nvPr/>
        </p:nvPicPr>
        <p:blipFill>
          <a:blip r:embed="rId3" cstate="print"/>
          <a:srcRect/>
          <a:stretch>
            <a:fillRect/>
          </a:stretch>
        </p:blipFill>
        <p:spPr bwMode="gray">
          <a:xfrm>
            <a:off x="7932324" y="4357771"/>
            <a:ext cx="540000" cy="441818"/>
          </a:xfrm>
          <a:prstGeom prst="rect">
            <a:avLst/>
          </a:prstGeom>
          <a:noFill/>
        </p:spPr>
      </p:pic>
      <p:cxnSp>
        <p:nvCxnSpPr>
          <p:cNvPr id="37" name="Straight Connector 36"/>
          <p:cNvCxnSpPr>
            <a:stCxn id="32" idx="3"/>
          </p:cNvCxnSpPr>
          <p:nvPr/>
        </p:nvCxnSpPr>
        <p:spPr bwMode="gray">
          <a:xfrm>
            <a:off x="3876540" y="4578680"/>
            <a:ext cx="339264"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40" name="Straight Connector 39"/>
          <p:cNvCxnSpPr>
            <a:endCxn id="34" idx="1"/>
          </p:cNvCxnSpPr>
          <p:nvPr/>
        </p:nvCxnSpPr>
        <p:spPr bwMode="gray">
          <a:xfrm>
            <a:off x="7593060" y="4578680"/>
            <a:ext cx="339264"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30" name="Freeform 159"/>
          <p:cNvSpPr/>
          <p:nvPr/>
        </p:nvSpPr>
        <p:spPr bwMode="gray">
          <a:xfrm flipH="1">
            <a:off x="4937056" y="3825044"/>
            <a:ext cx="1914727" cy="100088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运营商网络</a:t>
            </a:r>
            <a:endParaRPr lang="en-US" sz="1400" dirty="0">
              <a:solidFill>
                <a:schemeClr val="tx1"/>
              </a:solidFill>
            </a:endParaRPr>
          </a:p>
        </p:txBody>
      </p:sp>
      <p:sp>
        <p:nvSpPr>
          <p:cNvPr id="44" name="Text Box 26"/>
          <p:cNvSpPr txBox="1">
            <a:spLocks noChangeArrowheads="1"/>
          </p:cNvSpPr>
          <p:nvPr/>
        </p:nvSpPr>
        <p:spPr bwMode="gray">
          <a:xfrm>
            <a:off x="7912241" y="4770767"/>
            <a:ext cx="902688"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zh-CN" altLang="en-US" sz="1400" dirty="0">
                <a:latin typeface="+mn-ea"/>
                <a:ea typeface="+mn-ea"/>
              </a:rPr>
              <a:t>企业出口</a:t>
            </a:r>
          </a:p>
        </p:txBody>
      </p:sp>
      <p:sp>
        <p:nvSpPr>
          <p:cNvPr id="46" name="Rectangular Callout 45"/>
          <p:cNvSpPr/>
          <p:nvPr/>
        </p:nvSpPr>
        <p:spPr bwMode="gray">
          <a:xfrm>
            <a:off x="7975582" y="3773809"/>
            <a:ext cx="839347" cy="482918"/>
          </a:xfrm>
          <a:prstGeom prst="wedgeRectCallout">
            <a:avLst>
              <a:gd name="adj1" fmla="val -21663"/>
              <a:gd name="adj2" fmla="val 8231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数据加密、认证</a:t>
            </a:r>
          </a:p>
        </p:txBody>
      </p:sp>
      <p:sp>
        <p:nvSpPr>
          <p:cNvPr id="47" name="Rectangular Callout 46"/>
          <p:cNvSpPr/>
          <p:nvPr/>
        </p:nvSpPr>
        <p:spPr bwMode="gray">
          <a:xfrm>
            <a:off x="3009534" y="3787532"/>
            <a:ext cx="827253" cy="482918"/>
          </a:xfrm>
          <a:prstGeom prst="wedgeRectCallout">
            <a:avLst>
              <a:gd name="adj1" fmla="val 22724"/>
              <a:gd name="adj2" fmla="val 8429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数据加密、认证</a:t>
            </a:r>
          </a:p>
        </p:txBody>
      </p:sp>
      <p:pic>
        <p:nvPicPr>
          <p:cNvPr id="33"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100359" y="3899472"/>
            <a:ext cx="540000" cy="442800"/>
          </a:xfrm>
          <a:prstGeom prst="rect">
            <a:avLst/>
          </a:prstGeom>
        </p:spPr>
      </p:pic>
      <p:pic>
        <p:nvPicPr>
          <p:cNvPr id="4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192404" y="3899472"/>
            <a:ext cx="540000" cy="442800"/>
          </a:xfrm>
          <a:prstGeom prst="rect">
            <a:avLst/>
          </a:prstGeom>
        </p:spPr>
      </p:pic>
      <p:sp>
        <p:nvSpPr>
          <p:cNvPr id="10" name="Freeform 9"/>
          <p:cNvSpPr/>
          <p:nvPr/>
        </p:nvSpPr>
        <p:spPr bwMode="gray">
          <a:xfrm>
            <a:off x="2661762" y="4188575"/>
            <a:ext cx="1191100" cy="376780"/>
          </a:xfrm>
          <a:custGeom>
            <a:avLst/>
            <a:gdLst>
              <a:gd name="connsiteX0" fmla="*/ 0 w 1123950"/>
              <a:gd name="connsiteY0" fmla="*/ 0 h 361950"/>
              <a:gd name="connsiteX1" fmla="*/ 266700 w 1123950"/>
              <a:gd name="connsiteY1" fmla="*/ 219075 h 361950"/>
              <a:gd name="connsiteX2" fmla="*/ 1123950 w 1123950"/>
              <a:gd name="connsiteY2" fmla="*/ 361950 h 361950"/>
            </a:gdLst>
            <a:ahLst/>
            <a:cxnLst>
              <a:cxn ang="0">
                <a:pos x="connsiteX0" y="connsiteY0"/>
              </a:cxn>
              <a:cxn ang="0">
                <a:pos x="connsiteX1" y="connsiteY1"/>
              </a:cxn>
              <a:cxn ang="0">
                <a:pos x="connsiteX2" y="connsiteY2"/>
              </a:cxn>
            </a:cxnLst>
            <a:rect l="l" t="t" r="r" b="b"/>
            <a:pathLst>
              <a:path w="1123950" h="361950">
                <a:moveTo>
                  <a:pt x="0" y="0"/>
                </a:moveTo>
                <a:cubicBezTo>
                  <a:pt x="39687" y="79375"/>
                  <a:pt x="79375" y="158750"/>
                  <a:pt x="266700" y="219075"/>
                </a:cubicBezTo>
                <a:cubicBezTo>
                  <a:pt x="454025" y="279400"/>
                  <a:pt x="1123950" y="361950"/>
                  <a:pt x="1123950" y="36195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13"/>
          <p:cNvSpPr/>
          <p:nvPr/>
        </p:nvSpPr>
        <p:spPr bwMode="gray">
          <a:xfrm>
            <a:off x="7945232" y="4166143"/>
            <a:ext cx="1226820" cy="403860"/>
          </a:xfrm>
          <a:custGeom>
            <a:avLst/>
            <a:gdLst>
              <a:gd name="connsiteX0" fmla="*/ 0 w 1226820"/>
              <a:gd name="connsiteY0" fmla="*/ 403860 h 403860"/>
              <a:gd name="connsiteX1" fmla="*/ 777240 w 1226820"/>
              <a:gd name="connsiteY1" fmla="*/ 304800 h 403860"/>
              <a:gd name="connsiteX2" fmla="*/ 1226820 w 1226820"/>
              <a:gd name="connsiteY2" fmla="*/ 0 h 403860"/>
            </a:gdLst>
            <a:ahLst/>
            <a:cxnLst>
              <a:cxn ang="0">
                <a:pos x="connsiteX0" y="connsiteY0"/>
              </a:cxn>
              <a:cxn ang="0">
                <a:pos x="connsiteX1" y="connsiteY1"/>
              </a:cxn>
              <a:cxn ang="0">
                <a:pos x="connsiteX2" y="connsiteY2"/>
              </a:cxn>
            </a:cxnLst>
            <a:rect l="l" t="t" r="r" b="b"/>
            <a:pathLst>
              <a:path w="1226820" h="403860">
                <a:moveTo>
                  <a:pt x="0" y="403860"/>
                </a:moveTo>
                <a:cubicBezTo>
                  <a:pt x="286385" y="387985"/>
                  <a:pt x="572770" y="372110"/>
                  <a:pt x="777240" y="304800"/>
                </a:cubicBezTo>
                <a:cubicBezTo>
                  <a:pt x="981710" y="237490"/>
                  <a:pt x="1104265" y="118745"/>
                  <a:pt x="1226820" y="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Straight Connector 15"/>
          <p:cNvCxnSpPr/>
          <p:nvPr/>
        </p:nvCxnSpPr>
        <p:spPr bwMode="gray">
          <a:xfrm>
            <a:off x="3863752" y="4844142"/>
            <a:ext cx="0" cy="69572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gray">
          <a:xfrm>
            <a:off x="7912241" y="4844142"/>
            <a:ext cx="0" cy="69572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bwMode="gray">
          <a:xfrm>
            <a:off x="3863752" y="5310827"/>
            <a:ext cx="4048487" cy="229042"/>
          </a:xfrm>
          <a:prstGeom prst="rect">
            <a:avLst/>
          </a:prstGeom>
          <a:solidFill>
            <a:srgbClr val="8BC9A0"/>
          </a:solidFill>
          <a:ln>
            <a:solidFill>
              <a:srgbClr val="8BC9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t>数据被</a:t>
            </a:r>
            <a:r>
              <a:rPr lang="zh-CN" altLang="en-US" sz="1200" b="1" dirty="0">
                <a:solidFill>
                  <a:srgbClr val="C7000B"/>
                </a:solidFill>
              </a:rPr>
              <a:t>加密</a:t>
            </a:r>
          </a:p>
        </p:txBody>
      </p:sp>
      <p:sp>
        <p:nvSpPr>
          <p:cNvPr id="64" name="Can 225"/>
          <p:cNvSpPr/>
          <p:nvPr/>
        </p:nvSpPr>
        <p:spPr bwMode="gray">
          <a:xfrm rot="5400000" flipH="1">
            <a:off x="4032534" y="4367406"/>
            <a:ext cx="182222" cy="416319"/>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Can 41"/>
          <p:cNvSpPr/>
          <p:nvPr/>
        </p:nvSpPr>
        <p:spPr bwMode="gray">
          <a:xfrm rot="5400000">
            <a:off x="5707610" y="2966155"/>
            <a:ext cx="236717" cy="3204356"/>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Rectangular Callout 66"/>
          <p:cNvSpPr/>
          <p:nvPr/>
        </p:nvSpPr>
        <p:spPr bwMode="gray">
          <a:xfrm>
            <a:off x="4211387" y="3895561"/>
            <a:ext cx="1145501" cy="388952"/>
          </a:xfrm>
          <a:prstGeom prst="wedgeRectCallout">
            <a:avLst>
              <a:gd name="adj1" fmla="val -23272"/>
              <a:gd name="adj2" fmla="val 10672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IPsec</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68" name="Can 225"/>
          <p:cNvSpPr/>
          <p:nvPr/>
        </p:nvSpPr>
        <p:spPr bwMode="gray">
          <a:xfrm rot="5400000" flipH="1">
            <a:off x="7473952" y="4330638"/>
            <a:ext cx="182222" cy="489854"/>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Rectangular Callout 68"/>
          <p:cNvSpPr/>
          <p:nvPr/>
        </p:nvSpPr>
        <p:spPr bwMode="gray">
          <a:xfrm>
            <a:off x="6813315" y="3855980"/>
            <a:ext cx="1070318" cy="388952"/>
          </a:xfrm>
          <a:prstGeom prst="wedgeRectCallout">
            <a:avLst>
              <a:gd name="adj1" fmla="val 24203"/>
              <a:gd name="adj2" fmla="val 11850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cxnSp>
        <p:nvCxnSpPr>
          <p:cNvPr id="12" name="Straight Arrow Connector 11"/>
          <p:cNvCxnSpPr>
            <a:cxnSpLocks/>
            <a:stCxn id="32" idx="3"/>
            <a:endCxn id="34" idx="1"/>
          </p:cNvCxnSpPr>
          <p:nvPr/>
        </p:nvCxnSpPr>
        <p:spPr bwMode="gray">
          <a:xfrm>
            <a:off x="3876540" y="4578680"/>
            <a:ext cx="4055784" cy="0"/>
          </a:xfrm>
          <a:prstGeom prst="straightConnector1">
            <a:avLst/>
          </a:prstGeom>
          <a:ln w="28575">
            <a:solidFill>
              <a:srgbClr val="8BC9A0"/>
            </a:solidFill>
            <a:tailEnd type="triangle"/>
          </a:ln>
        </p:spPr>
        <p:style>
          <a:lnRef idx="1">
            <a:schemeClr val="accent1"/>
          </a:lnRef>
          <a:fillRef idx="0">
            <a:schemeClr val="accent1"/>
          </a:fillRef>
          <a:effectRef idx="0">
            <a:schemeClr val="accent1"/>
          </a:effectRef>
          <a:fontRef idx="minor">
            <a:schemeClr val="tx1"/>
          </a:fontRef>
        </p:style>
      </p:cxnSp>
      <p:sp>
        <p:nvSpPr>
          <p:cNvPr id="72" name="圆角矩形 75"/>
          <p:cNvSpPr/>
          <p:nvPr/>
        </p:nvSpPr>
        <p:spPr bwMode="gray">
          <a:xfrm>
            <a:off x="1415480" y="3140968"/>
            <a:ext cx="957706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GRE Over IPsec</a:t>
            </a:r>
            <a:r>
              <a:rPr lang="zh-CN" altLang="en-US" sz="1600" dirty="0">
                <a:solidFill>
                  <a:srgbClr val="30B5C5"/>
                </a:solidFill>
                <a:latin typeface="Huawei Sans" panose="020C0503030203020204" pitchFamily="34" charset="0"/>
                <a:ea typeface="方正兰亭黑简体" panose="02000000000000000000" pitchFamily="2" charset="-122"/>
              </a:rPr>
              <a:t>应用</a:t>
            </a:r>
          </a:p>
        </p:txBody>
      </p:sp>
      <p:sp>
        <p:nvSpPr>
          <p:cNvPr id="66" name="TextBox 65"/>
          <p:cNvSpPr txBox="1"/>
          <p:nvPr/>
        </p:nvSpPr>
        <p:spPr bwMode="gray">
          <a:xfrm flipH="1">
            <a:off x="5417207" y="4421384"/>
            <a:ext cx="880591" cy="276999"/>
          </a:xfrm>
          <a:prstGeom prst="rect">
            <a:avLst/>
          </a:prstGeom>
          <a:noFill/>
        </p:spPr>
        <p:txBody>
          <a:bodyPr wrap="square" rtlCol="0">
            <a:spAutoFit/>
          </a:bodyPr>
          <a:lstStyle/>
          <a:p>
            <a:pPr fontAlgn="auto"/>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38"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简介</a:t>
            </a:r>
          </a:p>
        </p:txBody>
      </p:sp>
      <p:sp>
        <p:nvSpPr>
          <p:cNvPr id="39"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协议框架</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9887783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3C20-B1AA-4183-B45E-4C8081F69E9A}"/>
              </a:ext>
            </a:extLst>
          </p:cNvPr>
          <p:cNvSpPr>
            <a:spLocks noGrp="1"/>
          </p:cNvSpPr>
          <p:nvPr>
            <p:ph type="title"/>
          </p:nvPr>
        </p:nvSpPr>
        <p:spPr bwMode="gray"/>
        <p:txBody>
          <a:bodyPr/>
          <a:lstStyle/>
          <a:p>
            <a:r>
              <a:rPr lang="zh-CN" altLang="en-US" dirty="0"/>
              <a:t>数据加密方式简介</a:t>
            </a:r>
            <a:endParaRPr lang="en-US" dirty="0"/>
          </a:p>
        </p:txBody>
      </p:sp>
      <p:sp>
        <p:nvSpPr>
          <p:cNvPr id="3" name="Text Placeholder 2">
            <a:extLst>
              <a:ext uri="{FF2B5EF4-FFF2-40B4-BE49-F238E27FC236}">
                <a16:creationId xmlns:a16="http://schemas.microsoft.com/office/drawing/2014/main" id="{D04E234C-2CEB-4DF3-AC94-2D6E68C25C1B}"/>
              </a:ext>
            </a:extLst>
          </p:cNvPr>
          <p:cNvSpPr>
            <a:spLocks noGrp="1"/>
          </p:cNvSpPr>
          <p:nvPr>
            <p:ph type="body" sz="quarter" idx="10"/>
          </p:nvPr>
        </p:nvSpPr>
        <p:spPr bwMode="gray"/>
        <p:txBody>
          <a:bodyPr/>
          <a:lstStyle/>
          <a:p>
            <a:r>
              <a:rPr lang="zh-CN" altLang="en-US" sz="1800" dirty="0"/>
              <a:t>数据加密可以避免数据转发时被读取。数据加密一般有两种方案：</a:t>
            </a:r>
            <a:endParaRPr lang="en-US" altLang="zh-CN" sz="1800" dirty="0"/>
          </a:p>
          <a:p>
            <a:pPr lvl="1"/>
            <a:r>
              <a:rPr lang="zh-CN" altLang="en-US" sz="1600" dirty="0"/>
              <a:t>对称加密：使用同一个密码加密</a:t>
            </a:r>
            <a:r>
              <a:rPr lang="en-US" altLang="zh-CN" sz="1600" dirty="0"/>
              <a:t>/</a:t>
            </a:r>
            <a:r>
              <a:rPr lang="zh-CN" altLang="en-US" sz="1600" dirty="0"/>
              <a:t>解密，效率很高，但是对称加密在互相交互密钥时存在密钥被截取的风险。</a:t>
            </a:r>
          </a:p>
          <a:p>
            <a:pPr lvl="1"/>
            <a:r>
              <a:rPr lang="zh-CN" altLang="en-US" sz="1600" dirty="0"/>
              <a:t>非对称加密：使用公钥加密，私钥解密，安全性很高但是加解密效率很低。</a:t>
            </a:r>
            <a:endParaRPr lang="en-US" altLang="zh-CN" sz="1600" dirty="0"/>
          </a:p>
        </p:txBody>
      </p:sp>
      <p:sp>
        <p:nvSpPr>
          <p:cNvPr id="7" name="圆角矩形 75">
            <a:extLst>
              <a:ext uri="{FF2B5EF4-FFF2-40B4-BE49-F238E27FC236}">
                <a16:creationId xmlns:a16="http://schemas.microsoft.com/office/drawing/2014/main" id="{2FE3E2F3-0FB9-4720-BD65-00A20497CECC}"/>
              </a:ext>
            </a:extLst>
          </p:cNvPr>
          <p:cNvSpPr/>
          <p:nvPr/>
        </p:nvSpPr>
        <p:spPr bwMode="gray">
          <a:xfrm>
            <a:off x="817376" y="2855174"/>
            <a:ext cx="5170612" cy="327361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200" dirty="0">
              <a:solidFill>
                <a:prstClr val="black"/>
              </a:solidFill>
              <a:latin typeface="Huawei Sans" panose="020C0503030203020204" pitchFamily="34" charset="0"/>
              <a:ea typeface="方正兰亭黑简体" panose="02000000000000000000" pitchFamily="2" charset="-122"/>
            </a:endParaRPr>
          </a:p>
        </p:txBody>
      </p:sp>
      <p:sp>
        <p:nvSpPr>
          <p:cNvPr id="8" name="圆角矩形 75">
            <a:extLst>
              <a:ext uri="{FF2B5EF4-FFF2-40B4-BE49-F238E27FC236}">
                <a16:creationId xmlns:a16="http://schemas.microsoft.com/office/drawing/2014/main" id="{ABAB75A6-3BCB-4F85-96C7-2870ABDE4483}"/>
              </a:ext>
            </a:extLst>
          </p:cNvPr>
          <p:cNvSpPr/>
          <p:nvPr/>
        </p:nvSpPr>
        <p:spPr bwMode="gray">
          <a:xfrm>
            <a:off x="817376" y="2420888"/>
            <a:ext cx="517061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对称加密</a:t>
            </a:r>
          </a:p>
        </p:txBody>
      </p:sp>
      <p:sp>
        <p:nvSpPr>
          <p:cNvPr id="9" name="Text Box 26">
            <a:extLst>
              <a:ext uri="{FF2B5EF4-FFF2-40B4-BE49-F238E27FC236}">
                <a16:creationId xmlns:a16="http://schemas.microsoft.com/office/drawing/2014/main" id="{7F9F8CBC-6AF8-41F1-A437-909144774CE4}"/>
              </a:ext>
            </a:extLst>
          </p:cNvPr>
          <p:cNvSpPr txBox="1">
            <a:spLocks noChangeArrowheads="1"/>
          </p:cNvSpPr>
          <p:nvPr/>
        </p:nvSpPr>
        <p:spPr bwMode="gray">
          <a:xfrm>
            <a:off x="885395" y="4372496"/>
            <a:ext cx="543615" cy="307712"/>
          </a:xfrm>
          <a:prstGeom prst="rect">
            <a:avLst/>
          </a:prstGeom>
          <a:solidFill>
            <a:srgbClr val="FFD17D"/>
          </a:solidFill>
          <a:ln w="9525">
            <a:solidFill>
              <a:srgbClr val="FFD17D"/>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数据</a:t>
            </a:r>
          </a:p>
        </p:txBody>
      </p:sp>
      <p:sp>
        <p:nvSpPr>
          <p:cNvPr id="10" name="Text Box 26">
            <a:extLst>
              <a:ext uri="{FF2B5EF4-FFF2-40B4-BE49-F238E27FC236}">
                <a16:creationId xmlns:a16="http://schemas.microsoft.com/office/drawing/2014/main" id="{5CF7F5AC-8DE9-4BF4-A7B0-32B7B3293876}"/>
              </a:ext>
            </a:extLst>
          </p:cNvPr>
          <p:cNvSpPr txBox="1">
            <a:spLocks noChangeArrowheads="1"/>
          </p:cNvSpPr>
          <p:nvPr/>
        </p:nvSpPr>
        <p:spPr bwMode="gray">
          <a:xfrm>
            <a:off x="5317442" y="4372496"/>
            <a:ext cx="543615" cy="307712"/>
          </a:xfrm>
          <a:prstGeom prst="rect">
            <a:avLst/>
          </a:prstGeom>
          <a:solidFill>
            <a:srgbClr val="FFD17D"/>
          </a:solidFill>
          <a:ln w="9525">
            <a:solidFill>
              <a:srgbClr val="FFD17D"/>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数据</a:t>
            </a:r>
          </a:p>
        </p:txBody>
      </p:sp>
      <p:cxnSp>
        <p:nvCxnSpPr>
          <p:cNvPr id="13" name="Straight Arrow Connector 12">
            <a:extLst>
              <a:ext uri="{FF2B5EF4-FFF2-40B4-BE49-F238E27FC236}">
                <a16:creationId xmlns:a16="http://schemas.microsoft.com/office/drawing/2014/main" id="{0A7CCAA6-FC57-40AE-8B6C-274006A7F168}"/>
              </a:ext>
            </a:extLst>
          </p:cNvPr>
          <p:cNvCxnSpPr>
            <a:cxnSpLocks/>
            <a:stCxn id="9" idx="3"/>
            <a:endCxn id="18" idx="1"/>
          </p:cNvCxnSpPr>
          <p:nvPr/>
        </p:nvCxnSpPr>
        <p:spPr bwMode="gray">
          <a:xfrm>
            <a:off x="1429010" y="4526352"/>
            <a:ext cx="579619" cy="2523"/>
          </a:xfrm>
          <a:prstGeom prst="straightConnector1">
            <a:avLst/>
          </a:prstGeom>
          <a:ln w="28575">
            <a:solidFill>
              <a:srgbClr val="FFD17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8139D59-D323-4612-98A6-1639CA202D6C}"/>
              </a:ext>
            </a:extLst>
          </p:cNvPr>
          <p:cNvCxnSpPr>
            <a:cxnSpLocks/>
            <a:stCxn id="19" idx="3"/>
            <a:endCxn id="10" idx="1"/>
          </p:cNvCxnSpPr>
          <p:nvPr/>
        </p:nvCxnSpPr>
        <p:spPr bwMode="gray">
          <a:xfrm flipV="1">
            <a:off x="4774387" y="4526352"/>
            <a:ext cx="543055" cy="2523"/>
          </a:xfrm>
          <a:prstGeom prst="straightConnector1">
            <a:avLst/>
          </a:prstGeom>
          <a:ln w="28575">
            <a:solidFill>
              <a:srgbClr val="FFD17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2D2A434-A7E9-412E-BE7F-681D7F95F34C}"/>
              </a:ext>
            </a:extLst>
          </p:cNvPr>
          <p:cNvCxnSpPr>
            <a:cxnSpLocks/>
            <a:stCxn id="18" idx="2"/>
            <a:endCxn id="55" idx="0"/>
          </p:cNvCxnSpPr>
          <p:nvPr/>
        </p:nvCxnSpPr>
        <p:spPr bwMode="gray">
          <a:xfrm>
            <a:off x="2329390" y="4667374"/>
            <a:ext cx="0" cy="506142"/>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AE45BCF-DA3C-46FD-8035-6DAEE5087962}"/>
              </a:ext>
            </a:extLst>
          </p:cNvPr>
          <p:cNvSpPr txBox="1"/>
          <p:nvPr/>
        </p:nvSpPr>
        <p:spPr bwMode="gray">
          <a:xfrm>
            <a:off x="2008629" y="4390375"/>
            <a:ext cx="641522" cy="276999"/>
          </a:xfrm>
          <a:prstGeom prst="rect">
            <a:avLst/>
          </a:prstGeom>
          <a:solidFill>
            <a:srgbClr val="BEE9EE"/>
          </a:solidFill>
          <a:ln>
            <a:solidFill>
              <a:srgbClr val="56C4D2"/>
            </a:solid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rPr>
              <a:t>密钥 </a:t>
            </a:r>
            <a:r>
              <a:rPr lang="en-US" altLang="zh-CN" sz="1200" dirty="0">
                <a:latin typeface="Huawei Sans" panose="020C0503030203020204" pitchFamily="34" charset="0"/>
                <a:ea typeface="方正兰亭黑简体" panose="02000000000000000000" pitchFamily="2" charset="-122"/>
              </a:rPr>
              <a:t>A</a:t>
            </a:r>
            <a:endParaRPr lang="en-US" sz="1200" dirty="0">
              <a:latin typeface="Huawei Sans" panose="020C0503030203020204" pitchFamily="34" charset="0"/>
              <a:ea typeface="方正兰亭黑简体" panose="02000000000000000000" pitchFamily="2" charset="-122"/>
            </a:endParaRPr>
          </a:p>
        </p:txBody>
      </p:sp>
      <p:sp>
        <p:nvSpPr>
          <p:cNvPr id="19" name="TextBox 18">
            <a:extLst>
              <a:ext uri="{FF2B5EF4-FFF2-40B4-BE49-F238E27FC236}">
                <a16:creationId xmlns:a16="http://schemas.microsoft.com/office/drawing/2014/main" id="{47504D1C-F6CB-4559-B684-DC17E045EB05}"/>
              </a:ext>
            </a:extLst>
          </p:cNvPr>
          <p:cNvSpPr txBox="1"/>
          <p:nvPr/>
        </p:nvSpPr>
        <p:spPr bwMode="gray">
          <a:xfrm>
            <a:off x="4132865" y="4390375"/>
            <a:ext cx="641522" cy="276999"/>
          </a:xfrm>
          <a:prstGeom prst="rect">
            <a:avLst/>
          </a:prstGeom>
          <a:solidFill>
            <a:srgbClr val="BEE9EE"/>
          </a:solidFill>
          <a:ln>
            <a:solidFill>
              <a:srgbClr val="56C4D2"/>
            </a:solid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rPr>
              <a:t>密钥 </a:t>
            </a:r>
            <a:r>
              <a:rPr lang="en-US" altLang="zh-CN" sz="1200" dirty="0">
                <a:latin typeface="Huawei Sans" panose="020C0503030203020204" pitchFamily="34" charset="0"/>
                <a:ea typeface="方正兰亭黑简体" panose="02000000000000000000" pitchFamily="2" charset="-122"/>
              </a:rPr>
              <a:t>A</a:t>
            </a:r>
            <a:endParaRPr lang="en-US" sz="1200" dirty="0">
              <a:latin typeface="Huawei Sans" panose="020C0503030203020204" pitchFamily="34" charset="0"/>
              <a:ea typeface="方正兰亭黑简体" panose="02000000000000000000" pitchFamily="2" charset="-122"/>
            </a:endParaRPr>
          </a:p>
        </p:txBody>
      </p:sp>
      <p:pic>
        <p:nvPicPr>
          <p:cNvPr id="32" name="Picture 12" descr="E:\2016.01\1.12 扁平化图标\蓝色\AR-蓝色最新-40.png">
            <a:extLst>
              <a:ext uri="{FF2B5EF4-FFF2-40B4-BE49-F238E27FC236}">
                <a16:creationId xmlns:a16="http://schemas.microsoft.com/office/drawing/2014/main" id="{A0A70575-BCB7-4ED7-8682-9CF4E78B999E}"/>
              </a:ext>
            </a:extLst>
          </p:cNvPr>
          <p:cNvPicPr>
            <a:picLocks noChangeAspect="1" noChangeArrowheads="1"/>
          </p:cNvPicPr>
          <p:nvPr/>
        </p:nvPicPr>
        <p:blipFill>
          <a:blip r:embed="rId3" cstate="print"/>
          <a:srcRect/>
          <a:stretch>
            <a:fillRect/>
          </a:stretch>
        </p:blipFill>
        <p:spPr bwMode="gray">
          <a:xfrm>
            <a:off x="2059390" y="3482306"/>
            <a:ext cx="540000" cy="441818"/>
          </a:xfrm>
          <a:prstGeom prst="rect">
            <a:avLst/>
          </a:prstGeom>
          <a:noFill/>
        </p:spPr>
      </p:pic>
      <p:pic>
        <p:nvPicPr>
          <p:cNvPr id="33" name="Picture 12" descr="E:\2016.01\1.12 扁平化图标\蓝色\AR-蓝色最新-40.png">
            <a:extLst>
              <a:ext uri="{FF2B5EF4-FFF2-40B4-BE49-F238E27FC236}">
                <a16:creationId xmlns:a16="http://schemas.microsoft.com/office/drawing/2014/main" id="{36635841-3922-4546-8EE8-324A5730550B}"/>
              </a:ext>
            </a:extLst>
          </p:cNvPr>
          <p:cNvPicPr>
            <a:picLocks noChangeAspect="1" noChangeArrowheads="1"/>
          </p:cNvPicPr>
          <p:nvPr/>
        </p:nvPicPr>
        <p:blipFill>
          <a:blip r:embed="rId3" cstate="print"/>
          <a:srcRect/>
          <a:stretch>
            <a:fillRect/>
          </a:stretch>
        </p:blipFill>
        <p:spPr bwMode="gray">
          <a:xfrm>
            <a:off x="4183626" y="3482306"/>
            <a:ext cx="540000" cy="441818"/>
          </a:xfrm>
          <a:prstGeom prst="rect">
            <a:avLst/>
          </a:prstGeom>
          <a:noFill/>
        </p:spPr>
      </p:pic>
      <p:cxnSp>
        <p:nvCxnSpPr>
          <p:cNvPr id="34" name="Straight Connector 33">
            <a:extLst>
              <a:ext uri="{FF2B5EF4-FFF2-40B4-BE49-F238E27FC236}">
                <a16:creationId xmlns:a16="http://schemas.microsoft.com/office/drawing/2014/main" id="{04F2F586-E307-453E-9352-091FBC5EDF5E}"/>
              </a:ext>
            </a:extLst>
          </p:cNvPr>
          <p:cNvCxnSpPr>
            <a:cxnSpLocks/>
            <a:stCxn id="32" idx="3"/>
            <a:endCxn id="33" idx="1"/>
          </p:cNvCxnSpPr>
          <p:nvPr/>
        </p:nvCxnSpPr>
        <p:spPr bwMode="gray">
          <a:xfrm>
            <a:off x="2599390" y="3703215"/>
            <a:ext cx="1584236"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3" name="Straight Arrow Connector 42">
            <a:extLst>
              <a:ext uri="{FF2B5EF4-FFF2-40B4-BE49-F238E27FC236}">
                <a16:creationId xmlns:a16="http://schemas.microsoft.com/office/drawing/2014/main" id="{D6AAD35B-7A51-46D9-9844-513CA6EB8493}"/>
              </a:ext>
            </a:extLst>
          </p:cNvPr>
          <p:cNvCxnSpPr>
            <a:cxnSpLocks/>
            <a:stCxn id="32" idx="2"/>
            <a:endCxn id="18" idx="0"/>
          </p:cNvCxnSpPr>
          <p:nvPr/>
        </p:nvCxnSpPr>
        <p:spPr bwMode="gray">
          <a:xfrm>
            <a:off x="2329390" y="3924124"/>
            <a:ext cx="0" cy="466251"/>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FCF1737-0AFA-46DD-A451-1FCA00AC7B7F}"/>
              </a:ext>
            </a:extLst>
          </p:cNvPr>
          <p:cNvCxnSpPr>
            <a:cxnSpLocks/>
            <a:stCxn id="33" idx="2"/>
            <a:endCxn id="19" idx="0"/>
          </p:cNvCxnSpPr>
          <p:nvPr/>
        </p:nvCxnSpPr>
        <p:spPr bwMode="gray">
          <a:xfrm>
            <a:off x="4453626" y="3924124"/>
            <a:ext cx="0" cy="466251"/>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3403C68-F9D6-4E8C-B300-678A44BAFA5D}"/>
              </a:ext>
            </a:extLst>
          </p:cNvPr>
          <p:cNvSpPr txBox="1"/>
          <p:nvPr/>
        </p:nvSpPr>
        <p:spPr bwMode="gray">
          <a:xfrm>
            <a:off x="2224654" y="3988743"/>
            <a:ext cx="2340260" cy="276999"/>
          </a:xfrm>
          <a:prstGeom prst="rect">
            <a:avLst/>
          </a:prstGeom>
          <a:solidFill>
            <a:schemeClr val="bg1"/>
          </a:solidFill>
          <a:effectLst>
            <a:outerShdw blurRad="50800" dist="38100" dir="2700000" algn="tl" rotWithShape="0">
              <a:prstClr val="black">
                <a:alpha val="40000"/>
              </a:prstClr>
            </a:outerShdw>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预先配置或传递相同密钥</a:t>
            </a:r>
            <a:endParaRPr lang="en-US" sz="1200" dirty="0">
              <a:latin typeface="Huawei Sans" panose="020C0503030203020204" pitchFamily="34" charset="0"/>
              <a:ea typeface="方正兰亭黑简体" panose="02000000000000000000" pitchFamily="2" charset="-122"/>
            </a:endParaRPr>
          </a:p>
        </p:txBody>
      </p:sp>
      <p:cxnSp>
        <p:nvCxnSpPr>
          <p:cNvPr id="53" name="Straight Arrow Connector 52">
            <a:extLst>
              <a:ext uri="{FF2B5EF4-FFF2-40B4-BE49-F238E27FC236}">
                <a16:creationId xmlns:a16="http://schemas.microsoft.com/office/drawing/2014/main" id="{C87388AF-4A5B-49A8-8D1C-EDE4F72C2E44}"/>
              </a:ext>
            </a:extLst>
          </p:cNvPr>
          <p:cNvCxnSpPr>
            <a:cxnSpLocks/>
            <a:stCxn id="19" idx="2"/>
            <a:endCxn id="56" idx="0"/>
          </p:cNvCxnSpPr>
          <p:nvPr/>
        </p:nvCxnSpPr>
        <p:spPr bwMode="gray">
          <a:xfrm>
            <a:off x="4453626" y="4667374"/>
            <a:ext cx="0" cy="506142"/>
          </a:xfrm>
          <a:prstGeom prst="straightConnector1">
            <a:avLst/>
          </a:prstGeom>
          <a:ln w="28575">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Text Box 26">
            <a:extLst>
              <a:ext uri="{FF2B5EF4-FFF2-40B4-BE49-F238E27FC236}">
                <a16:creationId xmlns:a16="http://schemas.microsoft.com/office/drawing/2014/main" id="{222B610E-8D10-4232-967F-FB0D1E323079}"/>
              </a:ext>
            </a:extLst>
          </p:cNvPr>
          <p:cNvSpPr txBox="1">
            <a:spLocks noChangeArrowheads="1"/>
          </p:cNvSpPr>
          <p:nvPr/>
        </p:nvSpPr>
        <p:spPr bwMode="gray">
          <a:xfrm>
            <a:off x="1789120" y="5173516"/>
            <a:ext cx="1080540" cy="307712"/>
          </a:xfrm>
          <a:prstGeom prst="rect">
            <a:avLst/>
          </a:prstGeom>
          <a:solidFill>
            <a:srgbClr val="EC7061"/>
          </a:solidFill>
          <a:ln w="9525">
            <a:solidFill>
              <a:srgbClr val="EC7061"/>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被加密数据</a:t>
            </a:r>
          </a:p>
        </p:txBody>
      </p:sp>
      <p:sp>
        <p:nvSpPr>
          <p:cNvPr id="56" name="Text Box 26">
            <a:extLst>
              <a:ext uri="{FF2B5EF4-FFF2-40B4-BE49-F238E27FC236}">
                <a16:creationId xmlns:a16="http://schemas.microsoft.com/office/drawing/2014/main" id="{2A075CAB-1E3A-41D8-A636-63851268D794}"/>
              </a:ext>
            </a:extLst>
          </p:cNvPr>
          <p:cNvSpPr txBox="1">
            <a:spLocks noChangeArrowheads="1"/>
          </p:cNvSpPr>
          <p:nvPr/>
        </p:nvSpPr>
        <p:spPr bwMode="gray">
          <a:xfrm>
            <a:off x="3913356" y="5173516"/>
            <a:ext cx="1080540" cy="307712"/>
          </a:xfrm>
          <a:prstGeom prst="rect">
            <a:avLst/>
          </a:prstGeom>
          <a:solidFill>
            <a:srgbClr val="EC7061"/>
          </a:solidFill>
          <a:ln w="9525">
            <a:solidFill>
              <a:srgbClr val="EC7061"/>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被加密数据</a:t>
            </a:r>
          </a:p>
        </p:txBody>
      </p:sp>
      <p:cxnSp>
        <p:nvCxnSpPr>
          <p:cNvPr id="60" name="Straight Arrow Connector 59">
            <a:extLst>
              <a:ext uri="{FF2B5EF4-FFF2-40B4-BE49-F238E27FC236}">
                <a16:creationId xmlns:a16="http://schemas.microsoft.com/office/drawing/2014/main" id="{56B35308-56AE-4DDC-A8BF-1D19C17C309B}"/>
              </a:ext>
            </a:extLst>
          </p:cNvPr>
          <p:cNvCxnSpPr>
            <a:cxnSpLocks/>
            <a:stCxn id="56" idx="1"/>
            <a:endCxn id="55" idx="3"/>
          </p:cNvCxnSpPr>
          <p:nvPr/>
        </p:nvCxnSpPr>
        <p:spPr bwMode="gray">
          <a:xfrm flipH="1">
            <a:off x="2869660" y="5327372"/>
            <a:ext cx="1043696" cy="0"/>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2758CDF-EA4E-4012-AF64-1EE7AFDCC73F}"/>
              </a:ext>
            </a:extLst>
          </p:cNvPr>
          <p:cNvSpPr txBox="1"/>
          <p:nvPr/>
        </p:nvSpPr>
        <p:spPr bwMode="gray">
          <a:xfrm>
            <a:off x="2991331" y="5050373"/>
            <a:ext cx="807054"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数据转发</a:t>
            </a:r>
            <a:endParaRPr lang="en-US" sz="1200" dirty="0">
              <a:latin typeface="Huawei Sans" panose="020C0503030203020204" pitchFamily="34" charset="0"/>
              <a:ea typeface="方正兰亭黑简体" panose="02000000000000000000" pitchFamily="2" charset="-122"/>
            </a:endParaRPr>
          </a:p>
        </p:txBody>
      </p:sp>
      <p:sp>
        <p:nvSpPr>
          <p:cNvPr id="64" name="TextBox 63">
            <a:extLst>
              <a:ext uri="{FF2B5EF4-FFF2-40B4-BE49-F238E27FC236}">
                <a16:creationId xmlns:a16="http://schemas.microsoft.com/office/drawing/2014/main" id="{83573FB6-1F1E-4C2D-A82C-68A9DD733ECA}"/>
              </a:ext>
            </a:extLst>
          </p:cNvPr>
          <p:cNvSpPr txBox="1"/>
          <p:nvPr/>
        </p:nvSpPr>
        <p:spPr bwMode="gray">
          <a:xfrm>
            <a:off x="1925863" y="3227872"/>
            <a:ext cx="807054" cy="276999"/>
          </a:xfrm>
          <a:prstGeom prst="rect">
            <a:avLst/>
          </a:prstGeom>
          <a:noFill/>
          <a:effectLst/>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rPr>
              <a:t>RT1</a:t>
            </a:r>
            <a:endParaRPr lang="en-US" sz="1200" dirty="0">
              <a:latin typeface="Huawei Sans" panose="020C0503030203020204" pitchFamily="34" charset="0"/>
              <a:ea typeface="方正兰亭黑简体" panose="02000000000000000000" pitchFamily="2" charset="-122"/>
            </a:endParaRPr>
          </a:p>
        </p:txBody>
      </p:sp>
      <p:sp>
        <p:nvSpPr>
          <p:cNvPr id="65" name="TextBox 64">
            <a:extLst>
              <a:ext uri="{FF2B5EF4-FFF2-40B4-BE49-F238E27FC236}">
                <a16:creationId xmlns:a16="http://schemas.microsoft.com/office/drawing/2014/main" id="{1FE0BF2F-C3A6-4448-AF7F-5158F7C443C9}"/>
              </a:ext>
            </a:extLst>
          </p:cNvPr>
          <p:cNvSpPr txBox="1"/>
          <p:nvPr/>
        </p:nvSpPr>
        <p:spPr bwMode="gray">
          <a:xfrm>
            <a:off x="4047837" y="3237481"/>
            <a:ext cx="807054" cy="276999"/>
          </a:xfrm>
          <a:prstGeom prst="rect">
            <a:avLst/>
          </a:prstGeom>
          <a:noFill/>
          <a:effectLst/>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rPr>
              <a:t>RT2</a:t>
            </a:r>
            <a:endParaRPr lang="en-US" sz="1200" dirty="0">
              <a:latin typeface="Huawei Sans" panose="020C0503030203020204" pitchFamily="34" charset="0"/>
              <a:ea typeface="方正兰亭黑简体" panose="02000000000000000000" pitchFamily="2" charset="-122"/>
            </a:endParaRPr>
          </a:p>
        </p:txBody>
      </p:sp>
      <p:sp>
        <p:nvSpPr>
          <p:cNvPr id="72" name="圆角矩形 75">
            <a:extLst>
              <a:ext uri="{FF2B5EF4-FFF2-40B4-BE49-F238E27FC236}">
                <a16:creationId xmlns:a16="http://schemas.microsoft.com/office/drawing/2014/main" id="{E4E53598-67B3-4FA2-8D67-B20EA44FECE0}"/>
              </a:ext>
            </a:extLst>
          </p:cNvPr>
          <p:cNvSpPr/>
          <p:nvPr/>
        </p:nvSpPr>
        <p:spPr bwMode="gray">
          <a:xfrm>
            <a:off x="6178480" y="2855174"/>
            <a:ext cx="5238632" cy="327361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200" dirty="0">
              <a:solidFill>
                <a:prstClr val="black"/>
              </a:solidFill>
              <a:latin typeface="Huawei Sans" panose="020C0503030203020204" pitchFamily="34" charset="0"/>
              <a:ea typeface="方正兰亭黑简体" panose="02000000000000000000" pitchFamily="2" charset="-122"/>
            </a:endParaRPr>
          </a:p>
        </p:txBody>
      </p:sp>
      <p:sp>
        <p:nvSpPr>
          <p:cNvPr id="73" name="圆角矩形 75">
            <a:extLst>
              <a:ext uri="{FF2B5EF4-FFF2-40B4-BE49-F238E27FC236}">
                <a16:creationId xmlns:a16="http://schemas.microsoft.com/office/drawing/2014/main" id="{936F0C25-9E0C-469B-9447-771697938AC5}"/>
              </a:ext>
            </a:extLst>
          </p:cNvPr>
          <p:cNvSpPr/>
          <p:nvPr/>
        </p:nvSpPr>
        <p:spPr bwMode="gray">
          <a:xfrm>
            <a:off x="6178480" y="2420888"/>
            <a:ext cx="523863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非对称加密</a:t>
            </a:r>
          </a:p>
        </p:txBody>
      </p:sp>
      <p:sp>
        <p:nvSpPr>
          <p:cNvPr id="74" name="Text Box 26">
            <a:extLst>
              <a:ext uri="{FF2B5EF4-FFF2-40B4-BE49-F238E27FC236}">
                <a16:creationId xmlns:a16="http://schemas.microsoft.com/office/drawing/2014/main" id="{B07BEAF1-EEA4-43BB-8F45-DE49A66BD0CB}"/>
              </a:ext>
            </a:extLst>
          </p:cNvPr>
          <p:cNvSpPr txBox="1">
            <a:spLocks noChangeArrowheads="1"/>
          </p:cNvSpPr>
          <p:nvPr/>
        </p:nvSpPr>
        <p:spPr bwMode="gray">
          <a:xfrm>
            <a:off x="6305409" y="4948560"/>
            <a:ext cx="543615" cy="307712"/>
          </a:xfrm>
          <a:prstGeom prst="rect">
            <a:avLst/>
          </a:prstGeom>
          <a:solidFill>
            <a:srgbClr val="FFD17D"/>
          </a:solidFill>
          <a:ln w="9525">
            <a:solidFill>
              <a:srgbClr val="FFD17D"/>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数据</a:t>
            </a:r>
          </a:p>
        </p:txBody>
      </p:sp>
      <p:sp>
        <p:nvSpPr>
          <p:cNvPr id="75" name="Text Box 26">
            <a:extLst>
              <a:ext uri="{FF2B5EF4-FFF2-40B4-BE49-F238E27FC236}">
                <a16:creationId xmlns:a16="http://schemas.microsoft.com/office/drawing/2014/main" id="{236111E3-38DA-4FE2-9F55-A54B4654DFB8}"/>
              </a:ext>
            </a:extLst>
          </p:cNvPr>
          <p:cNvSpPr txBox="1">
            <a:spLocks noChangeArrowheads="1"/>
          </p:cNvSpPr>
          <p:nvPr/>
        </p:nvSpPr>
        <p:spPr bwMode="gray">
          <a:xfrm>
            <a:off x="10845468" y="4948560"/>
            <a:ext cx="543615" cy="307712"/>
          </a:xfrm>
          <a:prstGeom prst="rect">
            <a:avLst/>
          </a:prstGeom>
          <a:solidFill>
            <a:srgbClr val="FFD17D"/>
          </a:solidFill>
          <a:ln w="9525">
            <a:solidFill>
              <a:srgbClr val="FFD17D"/>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数据</a:t>
            </a:r>
          </a:p>
        </p:txBody>
      </p:sp>
      <p:cxnSp>
        <p:nvCxnSpPr>
          <p:cNvPr id="76" name="Straight Arrow Connector 75">
            <a:extLst>
              <a:ext uri="{FF2B5EF4-FFF2-40B4-BE49-F238E27FC236}">
                <a16:creationId xmlns:a16="http://schemas.microsoft.com/office/drawing/2014/main" id="{77DAC84F-02EB-4C43-BF6A-271CC22AAF0E}"/>
              </a:ext>
            </a:extLst>
          </p:cNvPr>
          <p:cNvCxnSpPr>
            <a:cxnSpLocks/>
            <a:stCxn id="74" idx="3"/>
            <a:endCxn id="79" idx="1"/>
          </p:cNvCxnSpPr>
          <p:nvPr/>
        </p:nvCxnSpPr>
        <p:spPr bwMode="gray">
          <a:xfrm>
            <a:off x="6849024" y="5102416"/>
            <a:ext cx="610309" cy="2523"/>
          </a:xfrm>
          <a:prstGeom prst="straightConnector1">
            <a:avLst/>
          </a:prstGeom>
          <a:ln w="28575">
            <a:solidFill>
              <a:srgbClr val="FFD17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76B0A96-2AF4-425C-BC7D-48DB34E09CCC}"/>
              </a:ext>
            </a:extLst>
          </p:cNvPr>
          <p:cNvCxnSpPr>
            <a:cxnSpLocks/>
            <a:stCxn id="80" idx="3"/>
            <a:endCxn id="75" idx="1"/>
          </p:cNvCxnSpPr>
          <p:nvPr/>
        </p:nvCxnSpPr>
        <p:spPr bwMode="gray">
          <a:xfrm flipV="1">
            <a:off x="10217076" y="5102416"/>
            <a:ext cx="628392" cy="2523"/>
          </a:xfrm>
          <a:prstGeom prst="straightConnector1">
            <a:avLst/>
          </a:prstGeom>
          <a:ln w="28575">
            <a:solidFill>
              <a:srgbClr val="FFD17D"/>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BE6496BE-05A7-4759-B3C2-20EFD4435C5F}"/>
              </a:ext>
            </a:extLst>
          </p:cNvPr>
          <p:cNvCxnSpPr>
            <a:cxnSpLocks/>
            <a:stCxn id="79" idx="2"/>
            <a:endCxn id="88" idx="0"/>
          </p:cNvCxnSpPr>
          <p:nvPr/>
        </p:nvCxnSpPr>
        <p:spPr bwMode="gray">
          <a:xfrm>
            <a:off x="7780094" y="5243438"/>
            <a:ext cx="0" cy="506142"/>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756EC2AD-7501-416F-B209-93CC08515CE2}"/>
              </a:ext>
            </a:extLst>
          </p:cNvPr>
          <p:cNvSpPr txBox="1"/>
          <p:nvPr/>
        </p:nvSpPr>
        <p:spPr bwMode="gray">
          <a:xfrm>
            <a:off x="7459333" y="4966439"/>
            <a:ext cx="641522" cy="276999"/>
          </a:xfrm>
          <a:prstGeom prst="rect">
            <a:avLst/>
          </a:prstGeom>
          <a:solidFill>
            <a:srgbClr val="BEE9EE"/>
          </a:solidFill>
          <a:ln>
            <a:solidFill>
              <a:srgbClr val="56C4D2"/>
            </a:solid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rPr>
              <a:t>公钥 </a:t>
            </a:r>
            <a:r>
              <a:rPr lang="en-US" altLang="zh-CN" sz="1200" dirty="0">
                <a:latin typeface="Huawei Sans" panose="020C0503030203020204" pitchFamily="34" charset="0"/>
                <a:ea typeface="方正兰亭黑简体" panose="02000000000000000000" pitchFamily="2" charset="-122"/>
              </a:rPr>
              <a:t>B</a:t>
            </a:r>
            <a:endParaRPr lang="en-US" sz="1200" dirty="0">
              <a:latin typeface="Huawei Sans" panose="020C0503030203020204" pitchFamily="34" charset="0"/>
              <a:ea typeface="方正兰亭黑简体" panose="02000000000000000000" pitchFamily="2" charset="-122"/>
            </a:endParaRPr>
          </a:p>
        </p:txBody>
      </p:sp>
      <p:sp>
        <p:nvSpPr>
          <p:cNvPr id="80" name="TextBox 79">
            <a:extLst>
              <a:ext uri="{FF2B5EF4-FFF2-40B4-BE49-F238E27FC236}">
                <a16:creationId xmlns:a16="http://schemas.microsoft.com/office/drawing/2014/main" id="{F4E345ED-089F-416B-BA4B-5AD2756708A5}"/>
              </a:ext>
            </a:extLst>
          </p:cNvPr>
          <p:cNvSpPr txBox="1"/>
          <p:nvPr/>
        </p:nvSpPr>
        <p:spPr bwMode="gray">
          <a:xfrm>
            <a:off x="9583569" y="4966439"/>
            <a:ext cx="633507" cy="276999"/>
          </a:xfrm>
          <a:prstGeom prst="rect">
            <a:avLst/>
          </a:prstGeom>
          <a:solidFill>
            <a:srgbClr val="BEE9EE"/>
          </a:solidFill>
          <a:ln>
            <a:solidFill>
              <a:srgbClr val="56C4D2"/>
            </a:solid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rPr>
              <a:t>私钥 </a:t>
            </a:r>
            <a:r>
              <a:rPr lang="en-US" altLang="zh-CN" sz="1200" dirty="0">
                <a:latin typeface="Huawei Sans" panose="020C0503030203020204" pitchFamily="34" charset="0"/>
                <a:ea typeface="方正兰亭黑简体" panose="02000000000000000000" pitchFamily="2" charset="-122"/>
              </a:rPr>
              <a:t>B</a:t>
            </a:r>
            <a:endParaRPr lang="en-US" sz="1200" dirty="0">
              <a:latin typeface="Huawei Sans" panose="020C0503030203020204" pitchFamily="34" charset="0"/>
              <a:ea typeface="方正兰亭黑简体" panose="02000000000000000000" pitchFamily="2" charset="-122"/>
            </a:endParaRPr>
          </a:p>
        </p:txBody>
      </p:sp>
      <p:pic>
        <p:nvPicPr>
          <p:cNvPr id="81" name="Picture 12" descr="E:\2016.01\1.12 扁平化图标\蓝色\AR-蓝色最新-40.png">
            <a:extLst>
              <a:ext uri="{FF2B5EF4-FFF2-40B4-BE49-F238E27FC236}">
                <a16:creationId xmlns:a16="http://schemas.microsoft.com/office/drawing/2014/main" id="{66FA289E-2084-4E61-B5B5-F76A197B07F9}"/>
              </a:ext>
            </a:extLst>
          </p:cNvPr>
          <p:cNvPicPr>
            <a:picLocks noChangeAspect="1" noChangeArrowheads="1"/>
          </p:cNvPicPr>
          <p:nvPr/>
        </p:nvPicPr>
        <p:blipFill>
          <a:blip r:embed="rId3" cstate="print"/>
          <a:srcRect/>
          <a:stretch>
            <a:fillRect/>
          </a:stretch>
        </p:blipFill>
        <p:spPr bwMode="gray">
          <a:xfrm>
            <a:off x="7510094" y="3086262"/>
            <a:ext cx="540000" cy="441818"/>
          </a:xfrm>
          <a:prstGeom prst="rect">
            <a:avLst/>
          </a:prstGeom>
          <a:noFill/>
        </p:spPr>
      </p:pic>
      <p:pic>
        <p:nvPicPr>
          <p:cNvPr id="82" name="Picture 12" descr="E:\2016.01\1.12 扁平化图标\蓝色\AR-蓝色最新-40.png">
            <a:extLst>
              <a:ext uri="{FF2B5EF4-FFF2-40B4-BE49-F238E27FC236}">
                <a16:creationId xmlns:a16="http://schemas.microsoft.com/office/drawing/2014/main" id="{128B19B2-DC17-48AA-BDA8-65105FC56B1B}"/>
              </a:ext>
            </a:extLst>
          </p:cNvPr>
          <p:cNvPicPr>
            <a:picLocks noChangeAspect="1" noChangeArrowheads="1"/>
          </p:cNvPicPr>
          <p:nvPr/>
        </p:nvPicPr>
        <p:blipFill>
          <a:blip r:embed="rId3" cstate="print"/>
          <a:srcRect/>
          <a:stretch>
            <a:fillRect/>
          </a:stretch>
        </p:blipFill>
        <p:spPr bwMode="gray">
          <a:xfrm>
            <a:off x="9634330" y="3086262"/>
            <a:ext cx="540000" cy="441818"/>
          </a:xfrm>
          <a:prstGeom prst="rect">
            <a:avLst/>
          </a:prstGeom>
          <a:noFill/>
        </p:spPr>
      </p:pic>
      <p:cxnSp>
        <p:nvCxnSpPr>
          <p:cNvPr id="83" name="Straight Connector 82">
            <a:extLst>
              <a:ext uri="{FF2B5EF4-FFF2-40B4-BE49-F238E27FC236}">
                <a16:creationId xmlns:a16="http://schemas.microsoft.com/office/drawing/2014/main" id="{392009BB-BFC9-47FE-8A3E-721244D12787}"/>
              </a:ext>
            </a:extLst>
          </p:cNvPr>
          <p:cNvCxnSpPr>
            <a:cxnSpLocks/>
            <a:stCxn id="81" idx="3"/>
            <a:endCxn id="82" idx="1"/>
          </p:cNvCxnSpPr>
          <p:nvPr/>
        </p:nvCxnSpPr>
        <p:spPr bwMode="gray">
          <a:xfrm>
            <a:off x="8050094" y="3307171"/>
            <a:ext cx="1584236"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87" name="Straight Arrow Connector 86">
            <a:extLst>
              <a:ext uri="{FF2B5EF4-FFF2-40B4-BE49-F238E27FC236}">
                <a16:creationId xmlns:a16="http://schemas.microsoft.com/office/drawing/2014/main" id="{DB19FF4C-1012-4A05-9B6F-3272DB636F4A}"/>
              </a:ext>
            </a:extLst>
          </p:cNvPr>
          <p:cNvCxnSpPr>
            <a:cxnSpLocks/>
            <a:stCxn id="80" idx="2"/>
            <a:endCxn id="89" idx="0"/>
          </p:cNvCxnSpPr>
          <p:nvPr/>
        </p:nvCxnSpPr>
        <p:spPr bwMode="gray">
          <a:xfrm>
            <a:off x="9900323" y="5243438"/>
            <a:ext cx="4007" cy="506142"/>
          </a:xfrm>
          <a:prstGeom prst="straightConnector1">
            <a:avLst/>
          </a:prstGeom>
          <a:ln w="28575">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Text Box 26">
            <a:extLst>
              <a:ext uri="{FF2B5EF4-FFF2-40B4-BE49-F238E27FC236}">
                <a16:creationId xmlns:a16="http://schemas.microsoft.com/office/drawing/2014/main" id="{0926A81E-B486-49C8-9BFA-77EC475D66E5}"/>
              </a:ext>
            </a:extLst>
          </p:cNvPr>
          <p:cNvSpPr txBox="1">
            <a:spLocks noChangeArrowheads="1"/>
          </p:cNvSpPr>
          <p:nvPr/>
        </p:nvSpPr>
        <p:spPr bwMode="gray">
          <a:xfrm>
            <a:off x="7239824" y="5749580"/>
            <a:ext cx="1080540" cy="307712"/>
          </a:xfrm>
          <a:prstGeom prst="rect">
            <a:avLst/>
          </a:prstGeom>
          <a:solidFill>
            <a:srgbClr val="EC7061"/>
          </a:solidFill>
          <a:ln w="9525">
            <a:solidFill>
              <a:srgbClr val="EC7061"/>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被加密数据</a:t>
            </a:r>
          </a:p>
        </p:txBody>
      </p:sp>
      <p:sp>
        <p:nvSpPr>
          <p:cNvPr id="89" name="Text Box 26">
            <a:extLst>
              <a:ext uri="{FF2B5EF4-FFF2-40B4-BE49-F238E27FC236}">
                <a16:creationId xmlns:a16="http://schemas.microsoft.com/office/drawing/2014/main" id="{B654F188-674C-4BB6-A687-370CF471C95C}"/>
              </a:ext>
            </a:extLst>
          </p:cNvPr>
          <p:cNvSpPr txBox="1">
            <a:spLocks noChangeArrowheads="1"/>
          </p:cNvSpPr>
          <p:nvPr/>
        </p:nvSpPr>
        <p:spPr bwMode="gray">
          <a:xfrm>
            <a:off x="9364060" y="5749580"/>
            <a:ext cx="1080540" cy="307712"/>
          </a:xfrm>
          <a:prstGeom prst="rect">
            <a:avLst/>
          </a:prstGeom>
          <a:solidFill>
            <a:srgbClr val="EC7061"/>
          </a:solidFill>
          <a:ln w="9525">
            <a:solidFill>
              <a:srgbClr val="EC7061"/>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被加密数据</a:t>
            </a:r>
          </a:p>
        </p:txBody>
      </p:sp>
      <p:cxnSp>
        <p:nvCxnSpPr>
          <p:cNvPr id="90" name="Straight Arrow Connector 89">
            <a:extLst>
              <a:ext uri="{FF2B5EF4-FFF2-40B4-BE49-F238E27FC236}">
                <a16:creationId xmlns:a16="http://schemas.microsoft.com/office/drawing/2014/main" id="{0551461E-8D89-431B-9F86-0A41854B3EB7}"/>
              </a:ext>
            </a:extLst>
          </p:cNvPr>
          <p:cNvCxnSpPr>
            <a:cxnSpLocks/>
            <a:stCxn id="89" idx="1"/>
            <a:endCxn id="88" idx="3"/>
          </p:cNvCxnSpPr>
          <p:nvPr/>
        </p:nvCxnSpPr>
        <p:spPr bwMode="gray">
          <a:xfrm flipH="1">
            <a:off x="8320364" y="5903436"/>
            <a:ext cx="1043696" cy="0"/>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D469963B-0234-4FCD-AC9F-DFE1A400093F}"/>
              </a:ext>
            </a:extLst>
          </p:cNvPr>
          <p:cNvSpPr txBox="1"/>
          <p:nvPr/>
        </p:nvSpPr>
        <p:spPr bwMode="gray">
          <a:xfrm>
            <a:off x="8442035" y="5626437"/>
            <a:ext cx="807054"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数据转发</a:t>
            </a:r>
            <a:endParaRPr lang="en-US" sz="1200" dirty="0">
              <a:latin typeface="Huawei Sans" panose="020C0503030203020204" pitchFamily="34" charset="0"/>
              <a:ea typeface="方正兰亭黑简体" panose="02000000000000000000" pitchFamily="2" charset="-122"/>
            </a:endParaRPr>
          </a:p>
        </p:txBody>
      </p:sp>
      <p:sp>
        <p:nvSpPr>
          <p:cNvPr id="92" name="TextBox 91">
            <a:extLst>
              <a:ext uri="{FF2B5EF4-FFF2-40B4-BE49-F238E27FC236}">
                <a16:creationId xmlns:a16="http://schemas.microsoft.com/office/drawing/2014/main" id="{B30B5453-1E17-4939-835E-F214C39B9EF0}"/>
              </a:ext>
            </a:extLst>
          </p:cNvPr>
          <p:cNvSpPr txBox="1"/>
          <p:nvPr/>
        </p:nvSpPr>
        <p:spPr bwMode="gray">
          <a:xfrm>
            <a:off x="7376567" y="2831828"/>
            <a:ext cx="807054" cy="276999"/>
          </a:xfrm>
          <a:prstGeom prst="rect">
            <a:avLst/>
          </a:prstGeom>
          <a:noFill/>
          <a:effectLst/>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rPr>
              <a:t>RT1</a:t>
            </a:r>
            <a:endParaRPr lang="en-US" sz="1200" dirty="0">
              <a:latin typeface="Huawei Sans" panose="020C0503030203020204" pitchFamily="34" charset="0"/>
              <a:ea typeface="方正兰亭黑简体" panose="02000000000000000000" pitchFamily="2" charset="-122"/>
            </a:endParaRPr>
          </a:p>
        </p:txBody>
      </p:sp>
      <p:sp>
        <p:nvSpPr>
          <p:cNvPr id="93" name="TextBox 92">
            <a:extLst>
              <a:ext uri="{FF2B5EF4-FFF2-40B4-BE49-F238E27FC236}">
                <a16:creationId xmlns:a16="http://schemas.microsoft.com/office/drawing/2014/main" id="{BCE0476C-DC34-43D1-A90B-EFBA292ABFDD}"/>
              </a:ext>
            </a:extLst>
          </p:cNvPr>
          <p:cNvSpPr txBox="1"/>
          <p:nvPr/>
        </p:nvSpPr>
        <p:spPr bwMode="gray">
          <a:xfrm>
            <a:off x="9498541" y="2841437"/>
            <a:ext cx="807054" cy="276999"/>
          </a:xfrm>
          <a:prstGeom prst="rect">
            <a:avLst/>
          </a:prstGeom>
          <a:noFill/>
          <a:effectLst/>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rPr>
              <a:t>RT2</a:t>
            </a:r>
            <a:endParaRPr lang="en-US" sz="1200" dirty="0">
              <a:latin typeface="Huawei Sans" panose="020C0503030203020204" pitchFamily="34" charset="0"/>
              <a:ea typeface="方正兰亭黑简体" panose="02000000000000000000" pitchFamily="2" charset="-122"/>
            </a:endParaRPr>
          </a:p>
        </p:txBody>
      </p:sp>
      <p:sp>
        <p:nvSpPr>
          <p:cNvPr id="94" name="TextBox 93">
            <a:extLst>
              <a:ext uri="{FF2B5EF4-FFF2-40B4-BE49-F238E27FC236}">
                <a16:creationId xmlns:a16="http://schemas.microsoft.com/office/drawing/2014/main" id="{63FC6670-F731-4B6E-8372-05FDCF2CB465}"/>
              </a:ext>
            </a:extLst>
          </p:cNvPr>
          <p:cNvSpPr txBox="1"/>
          <p:nvPr/>
        </p:nvSpPr>
        <p:spPr bwMode="gray">
          <a:xfrm>
            <a:off x="1815416" y="4781945"/>
            <a:ext cx="557818"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加密</a:t>
            </a:r>
            <a:endParaRPr lang="en-US" sz="1200" dirty="0">
              <a:latin typeface="Huawei Sans" panose="020C0503030203020204" pitchFamily="34" charset="0"/>
              <a:ea typeface="方正兰亭黑简体" panose="02000000000000000000" pitchFamily="2" charset="-122"/>
            </a:endParaRPr>
          </a:p>
        </p:txBody>
      </p:sp>
      <p:sp>
        <p:nvSpPr>
          <p:cNvPr id="95" name="TextBox 94">
            <a:extLst>
              <a:ext uri="{FF2B5EF4-FFF2-40B4-BE49-F238E27FC236}">
                <a16:creationId xmlns:a16="http://schemas.microsoft.com/office/drawing/2014/main" id="{E8EE96FC-4446-49FA-B31A-C0E71D6497D6}"/>
              </a:ext>
            </a:extLst>
          </p:cNvPr>
          <p:cNvSpPr txBox="1"/>
          <p:nvPr/>
        </p:nvSpPr>
        <p:spPr bwMode="gray">
          <a:xfrm>
            <a:off x="4410506" y="4808185"/>
            <a:ext cx="557818"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解密</a:t>
            </a:r>
            <a:endParaRPr lang="en-US" sz="1200" dirty="0">
              <a:latin typeface="Huawei Sans" panose="020C0503030203020204" pitchFamily="34" charset="0"/>
              <a:ea typeface="方正兰亭黑简体" panose="02000000000000000000" pitchFamily="2" charset="-122"/>
            </a:endParaRPr>
          </a:p>
        </p:txBody>
      </p:sp>
      <p:sp>
        <p:nvSpPr>
          <p:cNvPr id="96" name="TextBox 95">
            <a:extLst>
              <a:ext uri="{FF2B5EF4-FFF2-40B4-BE49-F238E27FC236}">
                <a16:creationId xmlns:a16="http://schemas.microsoft.com/office/drawing/2014/main" id="{D7C750D8-A61B-4E82-8392-A4922EF78568}"/>
              </a:ext>
            </a:extLst>
          </p:cNvPr>
          <p:cNvSpPr txBox="1"/>
          <p:nvPr/>
        </p:nvSpPr>
        <p:spPr bwMode="gray">
          <a:xfrm>
            <a:off x="7016897" y="5354203"/>
            <a:ext cx="814659"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公钥加密</a:t>
            </a:r>
            <a:endParaRPr lang="en-US" sz="1200" dirty="0">
              <a:latin typeface="Huawei Sans" panose="020C0503030203020204" pitchFamily="34" charset="0"/>
              <a:ea typeface="方正兰亭黑简体" panose="02000000000000000000" pitchFamily="2" charset="-122"/>
            </a:endParaRPr>
          </a:p>
        </p:txBody>
      </p:sp>
      <p:sp>
        <p:nvSpPr>
          <p:cNvPr id="97" name="TextBox 96">
            <a:extLst>
              <a:ext uri="{FF2B5EF4-FFF2-40B4-BE49-F238E27FC236}">
                <a16:creationId xmlns:a16="http://schemas.microsoft.com/office/drawing/2014/main" id="{4C5B7737-BAE0-4B2D-AB80-B6364417D595}"/>
              </a:ext>
            </a:extLst>
          </p:cNvPr>
          <p:cNvSpPr txBox="1"/>
          <p:nvPr/>
        </p:nvSpPr>
        <p:spPr bwMode="gray">
          <a:xfrm>
            <a:off x="9868828" y="5380443"/>
            <a:ext cx="807054"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私钥解密</a:t>
            </a:r>
            <a:endParaRPr lang="en-US" sz="1200" dirty="0">
              <a:latin typeface="Huawei Sans" panose="020C0503030203020204" pitchFamily="34" charset="0"/>
              <a:ea typeface="方正兰亭黑简体" panose="02000000000000000000" pitchFamily="2" charset="-122"/>
            </a:endParaRPr>
          </a:p>
        </p:txBody>
      </p:sp>
      <p:sp>
        <p:nvSpPr>
          <p:cNvPr id="98" name="TextBox 97">
            <a:extLst>
              <a:ext uri="{FF2B5EF4-FFF2-40B4-BE49-F238E27FC236}">
                <a16:creationId xmlns:a16="http://schemas.microsoft.com/office/drawing/2014/main" id="{550F8A26-1FCC-43E6-A069-E7AD948884E9}"/>
              </a:ext>
            </a:extLst>
          </p:cNvPr>
          <p:cNvSpPr txBox="1"/>
          <p:nvPr/>
        </p:nvSpPr>
        <p:spPr bwMode="gray">
          <a:xfrm>
            <a:off x="9202532" y="4304177"/>
            <a:ext cx="641522" cy="276999"/>
          </a:xfrm>
          <a:prstGeom prst="rect">
            <a:avLst/>
          </a:prstGeom>
          <a:solidFill>
            <a:srgbClr val="BEE9EE"/>
          </a:solidFill>
          <a:ln>
            <a:solidFill>
              <a:srgbClr val="56C4D2"/>
            </a:solid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rPr>
              <a:t>公钥 </a:t>
            </a:r>
            <a:r>
              <a:rPr lang="en-US" altLang="zh-CN" sz="1200" dirty="0">
                <a:latin typeface="Huawei Sans" panose="020C0503030203020204" pitchFamily="34" charset="0"/>
                <a:ea typeface="方正兰亭黑简体" panose="02000000000000000000" pitchFamily="2" charset="-122"/>
              </a:rPr>
              <a:t>B</a:t>
            </a:r>
            <a:endParaRPr lang="en-US" sz="1200" dirty="0">
              <a:latin typeface="Huawei Sans" panose="020C0503030203020204" pitchFamily="34" charset="0"/>
              <a:ea typeface="方正兰亭黑简体" panose="02000000000000000000" pitchFamily="2" charset="-122"/>
            </a:endParaRPr>
          </a:p>
        </p:txBody>
      </p:sp>
      <p:sp>
        <p:nvSpPr>
          <p:cNvPr id="99" name="TextBox 98">
            <a:extLst>
              <a:ext uri="{FF2B5EF4-FFF2-40B4-BE49-F238E27FC236}">
                <a16:creationId xmlns:a16="http://schemas.microsoft.com/office/drawing/2014/main" id="{61A1ADBF-E199-4CF9-AB90-858BC632B69E}"/>
              </a:ext>
            </a:extLst>
          </p:cNvPr>
          <p:cNvSpPr txBox="1"/>
          <p:nvPr/>
        </p:nvSpPr>
        <p:spPr bwMode="gray">
          <a:xfrm>
            <a:off x="9959873" y="4304177"/>
            <a:ext cx="633507" cy="276999"/>
          </a:xfrm>
          <a:prstGeom prst="rect">
            <a:avLst/>
          </a:prstGeom>
          <a:solidFill>
            <a:srgbClr val="BEE9EE"/>
          </a:solidFill>
          <a:ln>
            <a:solidFill>
              <a:srgbClr val="56C4D2"/>
            </a:solid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rPr>
              <a:t>私钥 </a:t>
            </a:r>
            <a:r>
              <a:rPr lang="en-US" altLang="zh-CN" sz="1200" dirty="0">
                <a:latin typeface="Huawei Sans" panose="020C0503030203020204" pitchFamily="34" charset="0"/>
                <a:ea typeface="方正兰亭黑简体" panose="02000000000000000000" pitchFamily="2" charset="-122"/>
              </a:rPr>
              <a:t>B</a:t>
            </a:r>
            <a:endParaRPr lang="en-US" sz="1200" dirty="0">
              <a:latin typeface="Huawei Sans" panose="020C0503030203020204" pitchFamily="34" charset="0"/>
              <a:ea typeface="方正兰亭黑简体" panose="02000000000000000000" pitchFamily="2" charset="-122"/>
            </a:endParaRPr>
          </a:p>
        </p:txBody>
      </p:sp>
      <p:sp>
        <p:nvSpPr>
          <p:cNvPr id="100" name="Rectangle 99">
            <a:extLst>
              <a:ext uri="{FF2B5EF4-FFF2-40B4-BE49-F238E27FC236}">
                <a16:creationId xmlns:a16="http://schemas.microsoft.com/office/drawing/2014/main" id="{BD956518-036C-4EFF-A649-58B4784F9FB2}"/>
              </a:ext>
            </a:extLst>
          </p:cNvPr>
          <p:cNvSpPr/>
          <p:nvPr/>
        </p:nvSpPr>
        <p:spPr bwMode="gray">
          <a:xfrm>
            <a:off x="9117216" y="4041115"/>
            <a:ext cx="1584236" cy="612021"/>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200" dirty="0">
                <a:solidFill>
                  <a:schemeClr val="bg1">
                    <a:lumMod val="50000"/>
                  </a:schemeClr>
                </a:solidFill>
              </a:rPr>
              <a:t>密钥对</a:t>
            </a:r>
            <a:endParaRPr lang="en-US" sz="1200" dirty="0">
              <a:solidFill>
                <a:schemeClr val="bg1">
                  <a:lumMod val="50000"/>
                </a:schemeClr>
              </a:solidFill>
            </a:endParaRPr>
          </a:p>
        </p:txBody>
      </p:sp>
      <p:cxnSp>
        <p:nvCxnSpPr>
          <p:cNvPr id="101" name="Straight Arrow Connector 100">
            <a:extLst>
              <a:ext uri="{FF2B5EF4-FFF2-40B4-BE49-F238E27FC236}">
                <a16:creationId xmlns:a16="http://schemas.microsoft.com/office/drawing/2014/main" id="{2619F2A0-2F2F-4BFE-9A6E-4831FF6F0388}"/>
              </a:ext>
            </a:extLst>
          </p:cNvPr>
          <p:cNvCxnSpPr>
            <a:cxnSpLocks/>
            <a:stCxn id="82" idx="2"/>
            <a:endCxn id="100" idx="0"/>
          </p:cNvCxnSpPr>
          <p:nvPr/>
        </p:nvCxnSpPr>
        <p:spPr bwMode="gray">
          <a:xfrm>
            <a:off x="9904330" y="3528080"/>
            <a:ext cx="5004" cy="513035"/>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80B6ADCA-9A6F-40F0-9AD6-0095C36523D0}"/>
              </a:ext>
            </a:extLst>
          </p:cNvPr>
          <p:cNvSpPr txBox="1"/>
          <p:nvPr/>
        </p:nvSpPr>
        <p:spPr bwMode="gray">
          <a:xfrm>
            <a:off x="8937276" y="3633673"/>
            <a:ext cx="1939112" cy="276999"/>
          </a:xfrm>
          <a:prstGeom prst="rect">
            <a:avLst/>
          </a:prstGeom>
          <a:solidFill>
            <a:schemeClr val="bg1"/>
          </a:solidFill>
          <a:effectLst>
            <a:outerShdw blurRad="50800" dist="38100" dir="2700000" algn="tl" rotWithShape="0">
              <a:prstClr val="black">
                <a:alpha val="40000"/>
              </a:prstClr>
            </a:outerShdw>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设备自动生成公钥与私钥</a:t>
            </a:r>
            <a:endParaRPr lang="en-US" sz="1200" dirty="0">
              <a:latin typeface="Huawei Sans" panose="020C0503030203020204" pitchFamily="34" charset="0"/>
              <a:ea typeface="方正兰亭黑简体" panose="02000000000000000000" pitchFamily="2" charset="-122"/>
            </a:endParaRPr>
          </a:p>
        </p:txBody>
      </p:sp>
      <p:cxnSp>
        <p:nvCxnSpPr>
          <p:cNvPr id="107" name="Connector: Elbow 106">
            <a:extLst>
              <a:ext uri="{FF2B5EF4-FFF2-40B4-BE49-F238E27FC236}">
                <a16:creationId xmlns:a16="http://schemas.microsoft.com/office/drawing/2014/main" id="{AA9597A9-76A4-41F1-831A-CE8FD300020F}"/>
              </a:ext>
            </a:extLst>
          </p:cNvPr>
          <p:cNvCxnSpPr>
            <a:cxnSpLocks/>
            <a:stCxn id="99" idx="2"/>
            <a:endCxn id="80" idx="0"/>
          </p:cNvCxnSpPr>
          <p:nvPr/>
        </p:nvCxnSpPr>
        <p:spPr bwMode="gray">
          <a:xfrm rot="5400000">
            <a:off x="9895844" y="4585655"/>
            <a:ext cx="385263" cy="376304"/>
          </a:xfrm>
          <a:prstGeom prst="bentConnector3">
            <a:avLst>
              <a:gd name="adj1" fmla="val 50000"/>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0BB14EF0-BFBE-4D55-BADC-9C7BAEBBBA8D}"/>
              </a:ext>
            </a:extLst>
          </p:cNvPr>
          <p:cNvCxnSpPr>
            <a:cxnSpLocks/>
            <a:stCxn id="98" idx="1"/>
            <a:endCxn id="79" idx="0"/>
          </p:cNvCxnSpPr>
          <p:nvPr/>
        </p:nvCxnSpPr>
        <p:spPr bwMode="gray">
          <a:xfrm rot="10800000" flipV="1">
            <a:off x="7780094" y="4442677"/>
            <a:ext cx="1422438" cy="523762"/>
          </a:xfrm>
          <a:prstGeom prst="bentConnector2">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 name="TextBox 112">
            <a:extLst>
              <a:ext uri="{FF2B5EF4-FFF2-40B4-BE49-F238E27FC236}">
                <a16:creationId xmlns:a16="http://schemas.microsoft.com/office/drawing/2014/main" id="{77AAF975-E0F9-4764-A40F-C9B05FE5CBB2}"/>
              </a:ext>
            </a:extLst>
          </p:cNvPr>
          <p:cNvSpPr txBox="1"/>
          <p:nvPr/>
        </p:nvSpPr>
        <p:spPr bwMode="gray">
          <a:xfrm>
            <a:off x="7391099" y="4558998"/>
            <a:ext cx="807054" cy="276999"/>
          </a:xfrm>
          <a:prstGeom prst="rect">
            <a:avLst/>
          </a:prstGeom>
          <a:solidFill>
            <a:schemeClr val="bg1"/>
          </a:solidFill>
          <a:effectLst>
            <a:outerShdw blurRad="50800" dist="38100" dir="2700000" algn="tl" rotWithShape="0">
              <a:prstClr val="black">
                <a:alpha val="40000"/>
              </a:prstClr>
            </a:outerShdw>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传递公钥</a:t>
            </a:r>
            <a:endParaRPr lang="en-US" sz="1200" dirty="0">
              <a:latin typeface="Huawei Sans" panose="020C0503030203020204" pitchFamily="34" charset="0"/>
              <a:ea typeface="方正兰亭黑简体" panose="02000000000000000000" pitchFamily="2" charset="-122"/>
            </a:endParaRPr>
          </a:p>
        </p:txBody>
      </p:sp>
      <p:cxnSp>
        <p:nvCxnSpPr>
          <p:cNvPr id="114" name="Straight Arrow Connector 113">
            <a:extLst>
              <a:ext uri="{FF2B5EF4-FFF2-40B4-BE49-F238E27FC236}">
                <a16:creationId xmlns:a16="http://schemas.microsoft.com/office/drawing/2014/main" id="{09C8B46B-DC72-436A-A6A8-918FF21CBDAC}"/>
              </a:ext>
            </a:extLst>
          </p:cNvPr>
          <p:cNvCxnSpPr>
            <a:cxnSpLocks/>
            <a:stCxn id="18" idx="3"/>
            <a:endCxn id="19" idx="1"/>
          </p:cNvCxnSpPr>
          <p:nvPr/>
        </p:nvCxnSpPr>
        <p:spPr bwMode="gray">
          <a:xfrm>
            <a:off x="2650151" y="4528875"/>
            <a:ext cx="1482714" cy="0"/>
          </a:xfrm>
          <a:prstGeom prst="straightConnector1">
            <a:avLst/>
          </a:prstGeom>
          <a:ln w="28575">
            <a:solidFill>
              <a:srgbClr val="56C4D2"/>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577D94A6-BB20-493B-94F2-C154DF8DA32A}"/>
              </a:ext>
            </a:extLst>
          </p:cNvPr>
          <p:cNvSpPr txBox="1"/>
          <p:nvPr/>
        </p:nvSpPr>
        <p:spPr bwMode="gray">
          <a:xfrm>
            <a:off x="2985967" y="4293096"/>
            <a:ext cx="807054"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交互密钥</a:t>
            </a:r>
            <a:endParaRPr lang="en-US" sz="1200" dirty="0">
              <a:latin typeface="Huawei Sans" panose="020C0503030203020204" pitchFamily="34" charset="0"/>
              <a:ea typeface="方正兰亭黑简体" panose="02000000000000000000" pitchFamily="2" charset="-122"/>
            </a:endParaRPr>
          </a:p>
        </p:txBody>
      </p:sp>
      <p:sp>
        <p:nvSpPr>
          <p:cNvPr id="59"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简介</a:t>
            </a:r>
          </a:p>
        </p:txBody>
      </p:sp>
      <p:sp>
        <p:nvSpPr>
          <p:cNvPr id="61"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协议框架</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456888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C3C20-B1AA-4183-B45E-4C8081F69E9A}"/>
              </a:ext>
            </a:extLst>
          </p:cNvPr>
          <p:cNvSpPr>
            <a:spLocks noGrp="1"/>
          </p:cNvSpPr>
          <p:nvPr>
            <p:ph type="title"/>
          </p:nvPr>
        </p:nvSpPr>
        <p:spPr bwMode="gray"/>
        <p:txBody>
          <a:bodyPr/>
          <a:lstStyle/>
          <a:p>
            <a:r>
              <a:rPr lang="zh-CN" altLang="en-US" dirty="0"/>
              <a:t>数据认证方式简介</a:t>
            </a:r>
            <a:endParaRPr lang="en-US" dirty="0"/>
          </a:p>
        </p:txBody>
      </p:sp>
      <p:sp>
        <p:nvSpPr>
          <p:cNvPr id="3" name="Text Placeholder 2">
            <a:extLst>
              <a:ext uri="{FF2B5EF4-FFF2-40B4-BE49-F238E27FC236}">
                <a16:creationId xmlns:a16="http://schemas.microsoft.com/office/drawing/2014/main" id="{D04E234C-2CEB-4DF3-AC94-2D6E68C25C1B}"/>
              </a:ext>
            </a:extLst>
          </p:cNvPr>
          <p:cNvSpPr>
            <a:spLocks noGrp="1"/>
          </p:cNvSpPr>
          <p:nvPr>
            <p:ph type="body" sz="quarter" idx="10"/>
          </p:nvPr>
        </p:nvSpPr>
        <p:spPr bwMode="gray"/>
        <p:txBody>
          <a:bodyPr/>
          <a:lstStyle/>
          <a:p>
            <a:r>
              <a:rPr lang="zh-CN" altLang="en-US" sz="1800" dirty="0"/>
              <a:t>数据认证的主要目的是确认数据是否被篡改，数据认证主要基于</a:t>
            </a:r>
            <a:r>
              <a:rPr lang="en-US" altLang="zh-CN" sz="1800" dirty="0"/>
              <a:t>Hash</a:t>
            </a:r>
            <a:r>
              <a:rPr lang="zh-CN" altLang="en-US" sz="1800" dirty="0"/>
              <a:t>算法。</a:t>
            </a:r>
            <a:endParaRPr lang="en-US" altLang="zh-CN" sz="1800" dirty="0"/>
          </a:p>
          <a:p>
            <a:pPr lvl="1"/>
            <a:r>
              <a:rPr lang="zh-CN" altLang="en-US" sz="1400" dirty="0"/>
              <a:t>数据通过</a:t>
            </a:r>
            <a:r>
              <a:rPr lang="en-US" altLang="zh-CN" sz="1400" dirty="0"/>
              <a:t>Hash</a:t>
            </a:r>
            <a:r>
              <a:rPr lang="zh-CN" altLang="en-US" sz="1400" dirty="0"/>
              <a:t>算法计算出一个唯一的</a:t>
            </a:r>
            <a:r>
              <a:rPr lang="en-US" altLang="zh-CN" sz="1400" dirty="0"/>
              <a:t>Hash</a:t>
            </a:r>
            <a:r>
              <a:rPr lang="zh-CN" altLang="en-US" sz="1400" dirty="0"/>
              <a:t>值，</a:t>
            </a:r>
            <a:r>
              <a:rPr lang="en-US" altLang="zh-CN" sz="1400" dirty="0"/>
              <a:t>Hash</a:t>
            </a:r>
            <a:r>
              <a:rPr lang="zh-CN" altLang="en-US" sz="1400" dirty="0"/>
              <a:t>值携带在数据中转发给对端。</a:t>
            </a:r>
            <a:endParaRPr lang="en-US" altLang="zh-CN" sz="1400" dirty="0"/>
          </a:p>
          <a:p>
            <a:pPr lvl="1"/>
            <a:r>
              <a:rPr lang="zh-CN" altLang="en-US" sz="1400" dirty="0"/>
              <a:t>对端设备对数据重新进行</a:t>
            </a:r>
            <a:r>
              <a:rPr lang="en-US" altLang="zh-CN" sz="1400" dirty="0"/>
              <a:t>Hash</a:t>
            </a:r>
            <a:r>
              <a:rPr lang="zh-CN" altLang="en-US" sz="1400" dirty="0"/>
              <a:t>，得出</a:t>
            </a:r>
            <a:r>
              <a:rPr lang="en-US" altLang="zh-CN" sz="1400" dirty="0"/>
              <a:t>Hash</a:t>
            </a:r>
            <a:r>
              <a:rPr lang="zh-CN" altLang="en-US" sz="1400" dirty="0"/>
              <a:t>值。将收到的</a:t>
            </a:r>
            <a:r>
              <a:rPr lang="en-US" altLang="zh-CN" sz="1400" dirty="0"/>
              <a:t>Hash</a:t>
            </a:r>
            <a:r>
              <a:rPr lang="zh-CN" altLang="en-US" sz="1400" dirty="0"/>
              <a:t>值与计算出的</a:t>
            </a:r>
            <a:r>
              <a:rPr lang="en-US" altLang="zh-CN" sz="1400" dirty="0"/>
              <a:t>Hash</a:t>
            </a:r>
            <a:r>
              <a:rPr lang="zh-CN" altLang="en-US" sz="1400" dirty="0"/>
              <a:t>值进行比对，一致说明没有被篡改。</a:t>
            </a:r>
            <a:endParaRPr lang="en-US" altLang="zh-CN" sz="1400" dirty="0"/>
          </a:p>
        </p:txBody>
      </p:sp>
      <p:cxnSp>
        <p:nvCxnSpPr>
          <p:cNvPr id="14" name="Straight Arrow Connector 13">
            <a:extLst>
              <a:ext uri="{FF2B5EF4-FFF2-40B4-BE49-F238E27FC236}">
                <a16:creationId xmlns:a16="http://schemas.microsoft.com/office/drawing/2014/main" id="{98139D59-D323-4612-98A6-1639CA202D6C}"/>
              </a:ext>
            </a:extLst>
          </p:cNvPr>
          <p:cNvCxnSpPr>
            <a:cxnSpLocks/>
            <a:stCxn id="19" idx="3"/>
            <a:endCxn id="86" idx="1"/>
          </p:cNvCxnSpPr>
          <p:nvPr/>
        </p:nvCxnSpPr>
        <p:spPr bwMode="gray">
          <a:xfrm>
            <a:off x="7475033" y="4246559"/>
            <a:ext cx="794233" cy="7677"/>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2D2A434-A7E9-412E-BE7F-681D7F95F34C}"/>
              </a:ext>
            </a:extLst>
          </p:cNvPr>
          <p:cNvCxnSpPr>
            <a:cxnSpLocks/>
            <a:stCxn id="18" idx="2"/>
            <a:endCxn id="68" idx="0"/>
          </p:cNvCxnSpPr>
          <p:nvPr/>
        </p:nvCxnSpPr>
        <p:spPr bwMode="gray">
          <a:xfrm flipH="1">
            <a:off x="4566974" y="4385057"/>
            <a:ext cx="1" cy="757979"/>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AE45BCF-DA3C-46FD-8035-6DAEE5087962}"/>
              </a:ext>
            </a:extLst>
          </p:cNvPr>
          <p:cNvSpPr txBox="1"/>
          <p:nvPr/>
        </p:nvSpPr>
        <p:spPr bwMode="gray">
          <a:xfrm>
            <a:off x="4142018" y="4108058"/>
            <a:ext cx="849913" cy="276999"/>
          </a:xfrm>
          <a:prstGeom prst="rect">
            <a:avLst/>
          </a:prstGeom>
          <a:solidFill>
            <a:srgbClr val="F4FBFE"/>
          </a:solidFill>
          <a:ln>
            <a:solidFill>
              <a:srgbClr val="00B0F0"/>
            </a:solidFill>
          </a:ln>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Hash</a:t>
            </a:r>
            <a:r>
              <a:rPr lang="zh-CN" altLang="en-US" sz="1200" dirty="0">
                <a:latin typeface="Huawei Sans" panose="020C0503030203020204" pitchFamily="34" charset="0"/>
                <a:ea typeface="方正兰亭黑简体" panose="02000000000000000000" pitchFamily="2" charset="-122"/>
              </a:rPr>
              <a:t>算法</a:t>
            </a:r>
            <a:endParaRPr lang="en-US" sz="1200" dirty="0">
              <a:latin typeface="Huawei Sans" panose="020C0503030203020204" pitchFamily="34" charset="0"/>
              <a:ea typeface="方正兰亭黑简体" panose="02000000000000000000" pitchFamily="2" charset="-122"/>
            </a:endParaRPr>
          </a:p>
        </p:txBody>
      </p:sp>
      <p:sp>
        <p:nvSpPr>
          <p:cNvPr id="19" name="TextBox 18">
            <a:extLst>
              <a:ext uri="{FF2B5EF4-FFF2-40B4-BE49-F238E27FC236}">
                <a16:creationId xmlns:a16="http://schemas.microsoft.com/office/drawing/2014/main" id="{47504D1C-F6CB-4559-B684-DC17E045EB05}"/>
              </a:ext>
            </a:extLst>
          </p:cNvPr>
          <p:cNvSpPr txBox="1"/>
          <p:nvPr/>
        </p:nvSpPr>
        <p:spPr bwMode="gray">
          <a:xfrm>
            <a:off x="6625120" y="4108059"/>
            <a:ext cx="849913" cy="276999"/>
          </a:xfrm>
          <a:prstGeom prst="rect">
            <a:avLst/>
          </a:prstGeom>
          <a:solidFill>
            <a:srgbClr val="F4FBFE"/>
          </a:solidFill>
          <a:ln>
            <a:solidFill>
              <a:srgbClr val="00B0F0"/>
            </a:solidFill>
          </a:ln>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Hash</a:t>
            </a:r>
            <a:r>
              <a:rPr lang="zh-CN" altLang="en-US" sz="1200" dirty="0">
                <a:latin typeface="Huawei Sans" panose="020C0503030203020204" pitchFamily="34" charset="0"/>
                <a:ea typeface="方正兰亭黑简体" panose="02000000000000000000" pitchFamily="2" charset="-122"/>
              </a:rPr>
              <a:t>算法</a:t>
            </a:r>
            <a:endParaRPr lang="en-US" sz="1200" dirty="0">
              <a:latin typeface="Huawei Sans" panose="020C0503030203020204" pitchFamily="34" charset="0"/>
              <a:ea typeface="方正兰亭黑简体" panose="02000000000000000000" pitchFamily="2" charset="-122"/>
            </a:endParaRPr>
          </a:p>
        </p:txBody>
      </p:sp>
      <p:pic>
        <p:nvPicPr>
          <p:cNvPr id="32" name="Picture 12" descr="E:\2016.01\1.12 扁平化图标\蓝色\AR-蓝色最新-40.png">
            <a:extLst>
              <a:ext uri="{FF2B5EF4-FFF2-40B4-BE49-F238E27FC236}">
                <a16:creationId xmlns:a16="http://schemas.microsoft.com/office/drawing/2014/main" id="{A0A70575-BCB7-4ED7-8682-9CF4E78B999E}"/>
              </a:ext>
            </a:extLst>
          </p:cNvPr>
          <p:cNvPicPr>
            <a:picLocks noChangeAspect="1" noChangeArrowheads="1"/>
          </p:cNvPicPr>
          <p:nvPr/>
        </p:nvPicPr>
        <p:blipFill>
          <a:blip r:embed="rId3" cstate="print"/>
          <a:srcRect/>
          <a:stretch>
            <a:fillRect/>
          </a:stretch>
        </p:blipFill>
        <p:spPr bwMode="gray">
          <a:xfrm>
            <a:off x="4296974" y="3208091"/>
            <a:ext cx="540000" cy="441818"/>
          </a:xfrm>
          <a:prstGeom prst="rect">
            <a:avLst/>
          </a:prstGeom>
          <a:noFill/>
        </p:spPr>
      </p:pic>
      <p:pic>
        <p:nvPicPr>
          <p:cNvPr id="33" name="Picture 12" descr="E:\2016.01\1.12 扁平化图标\蓝色\AR-蓝色最新-40.png">
            <a:extLst>
              <a:ext uri="{FF2B5EF4-FFF2-40B4-BE49-F238E27FC236}">
                <a16:creationId xmlns:a16="http://schemas.microsoft.com/office/drawing/2014/main" id="{36635841-3922-4546-8EE8-324A5730550B}"/>
              </a:ext>
            </a:extLst>
          </p:cNvPr>
          <p:cNvPicPr>
            <a:picLocks noChangeAspect="1" noChangeArrowheads="1"/>
          </p:cNvPicPr>
          <p:nvPr/>
        </p:nvPicPr>
        <p:blipFill>
          <a:blip r:embed="rId3" cstate="print"/>
          <a:srcRect/>
          <a:stretch>
            <a:fillRect/>
          </a:stretch>
        </p:blipFill>
        <p:spPr bwMode="gray">
          <a:xfrm>
            <a:off x="6780076" y="3208091"/>
            <a:ext cx="540000" cy="441818"/>
          </a:xfrm>
          <a:prstGeom prst="rect">
            <a:avLst/>
          </a:prstGeom>
          <a:noFill/>
        </p:spPr>
      </p:pic>
      <p:cxnSp>
        <p:nvCxnSpPr>
          <p:cNvPr id="34" name="Straight Connector 33">
            <a:extLst>
              <a:ext uri="{FF2B5EF4-FFF2-40B4-BE49-F238E27FC236}">
                <a16:creationId xmlns:a16="http://schemas.microsoft.com/office/drawing/2014/main" id="{04F2F586-E307-453E-9352-091FBC5EDF5E}"/>
              </a:ext>
            </a:extLst>
          </p:cNvPr>
          <p:cNvCxnSpPr>
            <a:cxnSpLocks/>
            <a:stCxn id="32" idx="3"/>
            <a:endCxn id="33" idx="1"/>
          </p:cNvCxnSpPr>
          <p:nvPr/>
        </p:nvCxnSpPr>
        <p:spPr bwMode="gray">
          <a:xfrm>
            <a:off x="4836974" y="3429000"/>
            <a:ext cx="1943102"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43" name="Straight Arrow Connector 42">
            <a:extLst>
              <a:ext uri="{FF2B5EF4-FFF2-40B4-BE49-F238E27FC236}">
                <a16:creationId xmlns:a16="http://schemas.microsoft.com/office/drawing/2014/main" id="{D6AAD35B-7A51-46D9-9844-513CA6EB8493}"/>
              </a:ext>
            </a:extLst>
          </p:cNvPr>
          <p:cNvCxnSpPr>
            <a:cxnSpLocks/>
            <a:stCxn id="32" idx="2"/>
            <a:endCxn id="18" idx="0"/>
          </p:cNvCxnSpPr>
          <p:nvPr/>
        </p:nvCxnSpPr>
        <p:spPr bwMode="gray">
          <a:xfrm>
            <a:off x="4566974" y="3649909"/>
            <a:ext cx="1" cy="458149"/>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FCF1737-0AFA-46DD-A451-1FCA00AC7B7F}"/>
              </a:ext>
            </a:extLst>
          </p:cNvPr>
          <p:cNvCxnSpPr>
            <a:cxnSpLocks/>
            <a:stCxn id="33" idx="2"/>
            <a:endCxn id="19" idx="0"/>
          </p:cNvCxnSpPr>
          <p:nvPr/>
        </p:nvCxnSpPr>
        <p:spPr bwMode="gray">
          <a:xfrm>
            <a:off x="7050076" y="3649909"/>
            <a:ext cx="1" cy="458150"/>
          </a:xfrm>
          <a:prstGeom prst="straightConnector1">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C87388AF-4A5B-49A8-8D1C-EDE4F72C2E44}"/>
              </a:ext>
            </a:extLst>
          </p:cNvPr>
          <p:cNvCxnSpPr>
            <a:cxnSpLocks/>
            <a:stCxn id="19" idx="2"/>
            <a:endCxn id="84" idx="0"/>
          </p:cNvCxnSpPr>
          <p:nvPr/>
        </p:nvCxnSpPr>
        <p:spPr bwMode="gray">
          <a:xfrm>
            <a:off x="7050077" y="4385058"/>
            <a:ext cx="0" cy="757978"/>
          </a:xfrm>
          <a:prstGeom prst="straightConnector1">
            <a:avLst/>
          </a:prstGeom>
          <a:ln w="28575">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56B35308-56AE-4DDC-A8BF-1D19C17C309B}"/>
              </a:ext>
            </a:extLst>
          </p:cNvPr>
          <p:cNvCxnSpPr>
            <a:cxnSpLocks/>
            <a:stCxn id="84" idx="1"/>
            <a:endCxn id="68" idx="3"/>
          </p:cNvCxnSpPr>
          <p:nvPr/>
        </p:nvCxnSpPr>
        <p:spPr bwMode="gray">
          <a:xfrm flipH="1">
            <a:off x="5032160" y="5296892"/>
            <a:ext cx="1746109" cy="0"/>
          </a:xfrm>
          <a:prstGeom prst="straightConnector1">
            <a:avLst/>
          </a:prstGeom>
          <a:ln w="28575">
            <a:solidFill>
              <a:srgbClr val="FFD17D"/>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E2758CDF-EA4E-4012-AF64-1EE7AFDCC73F}"/>
              </a:ext>
            </a:extLst>
          </p:cNvPr>
          <p:cNvSpPr txBox="1"/>
          <p:nvPr/>
        </p:nvSpPr>
        <p:spPr bwMode="gray">
          <a:xfrm>
            <a:off x="5519936" y="5019893"/>
            <a:ext cx="807054" cy="276999"/>
          </a:xfrm>
          <a:prstGeom prst="rect">
            <a:avLst/>
          </a:prstGeom>
          <a:noFill/>
          <a:effectLst/>
        </p:spPr>
        <p:txBody>
          <a:bodyPr wrap="square" rtlCol="0">
            <a:spAutoFit/>
          </a:bodyPr>
          <a:lstStyle/>
          <a:p>
            <a:pPr algn="ctr"/>
            <a:r>
              <a:rPr lang="zh-CN" altLang="en-US" sz="1200" dirty="0">
                <a:latin typeface="Huawei Sans" panose="020C0503030203020204" pitchFamily="34" charset="0"/>
                <a:ea typeface="方正兰亭黑简体" panose="02000000000000000000" pitchFamily="2" charset="-122"/>
              </a:rPr>
              <a:t>数据转发</a:t>
            </a:r>
            <a:endParaRPr lang="en-US" sz="1200" dirty="0">
              <a:latin typeface="Huawei Sans" panose="020C0503030203020204" pitchFamily="34" charset="0"/>
              <a:ea typeface="方正兰亭黑简体" panose="02000000000000000000" pitchFamily="2" charset="-122"/>
            </a:endParaRPr>
          </a:p>
        </p:txBody>
      </p:sp>
      <p:sp>
        <p:nvSpPr>
          <p:cNvPr id="64" name="TextBox 63">
            <a:extLst>
              <a:ext uri="{FF2B5EF4-FFF2-40B4-BE49-F238E27FC236}">
                <a16:creationId xmlns:a16="http://schemas.microsoft.com/office/drawing/2014/main" id="{83573FB6-1F1E-4C2D-A82C-68A9DD733ECA}"/>
              </a:ext>
            </a:extLst>
          </p:cNvPr>
          <p:cNvSpPr txBox="1"/>
          <p:nvPr/>
        </p:nvSpPr>
        <p:spPr bwMode="gray">
          <a:xfrm>
            <a:off x="4163447" y="2953657"/>
            <a:ext cx="807054" cy="276999"/>
          </a:xfrm>
          <a:prstGeom prst="rect">
            <a:avLst/>
          </a:prstGeom>
          <a:noFill/>
          <a:effectLst/>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rPr>
              <a:t>RT1</a:t>
            </a:r>
            <a:endParaRPr lang="en-US" sz="1200" dirty="0">
              <a:latin typeface="Huawei Sans" panose="020C0503030203020204" pitchFamily="34" charset="0"/>
              <a:ea typeface="方正兰亭黑简体" panose="02000000000000000000" pitchFamily="2" charset="-122"/>
            </a:endParaRPr>
          </a:p>
        </p:txBody>
      </p:sp>
      <p:sp>
        <p:nvSpPr>
          <p:cNvPr id="65" name="TextBox 64">
            <a:extLst>
              <a:ext uri="{FF2B5EF4-FFF2-40B4-BE49-F238E27FC236}">
                <a16:creationId xmlns:a16="http://schemas.microsoft.com/office/drawing/2014/main" id="{1FE0BF2F-C3A6-4448-AF7F-5158F7C443C9}"/>
              </a:ext>
            </a:extLst>
          </p:cNvPr>
          <p:cNvSpPr txBox="1"/>
          <p:nvPr/>
        </p:nvSpPr>
        <p:spPr bwMode="gray">
          <a:xfrm>
            <a:off x="6651659" y="2963266"/>
            <a:ext cx="807054" cy="276999"/>
          </a:xfrm>
          <a:prstGeom prst="rect">
            <a:avLst/>
          </a:prstGeom>
          <a:noFill/>
          <a:effectLst/>
        </p:spPr>
        <p:txBody>
          <a:bodyPr wrap="square" rtlCol="0">
            <a:spAutoFit/>
          </a:bodyPr>
          <a:lstStyle/>
          <a:p>
            <a:pPr algn="ctr"/>
            <a:r>
              <a:rPr lang="en-US" altLang="zh-CN" sz="1200" dirty="0">
                <a:latin typeface="Huawei Sans" panose="020C0503030203020204" pitchFamily="34" charset="0"/>
                <a:ea typeface="方正兰亭黑简体" panose="02000000000000000000" pitchFamily="2" charset="-122"/>
              </a:rPr>
              <a:t>RT2</a:t>
            </a:r>
            <a:endParaRPr lang="en-US" sz="1200" dirty="0">
              <a:latin typeface="Huawei Sans" panose="020C0503030203020204" pitchFamily="34" charset="0"/>
              <a:ea typeface="方正兰亭黑简体" panose="02000000000000000000" pitchFamily="2" charset="-122"/>
            </a:endParaRPr>
          </a:p>
        </p:txBody>
      </p:sp>
      <p:sp>
        <p:nvSpPr>
          <p:cNvPr id="94" name="TextBox 93">
            <a:extLst>
              <a:ext uri="{FF2B5EF4-FFF2-40B4-BE49-F238E27FC236}">
                <a16:creationId xmlns:a16="http://schemas.microsoft.com/office/drawing/2014/main" id="{63FC6670-F731-4B6E-8372-05FDCF2CB465}"/>
              </a:ext>
            </a:extLst>
          </p:cNvPr>
          <p:cNvSpPr txBox="1"/>
          <p:nvPr/>
        </p:nvSpPr>
        <p:spPr bwMode="gray">
          <a:xfrm>
            <a:off x="3035660" y="4558326"/>
            <a:ext cx="850088" cy="276999"/>
          </a:xfrm>
          <a:prstGeom prst="rect">
            <a:avLst/>
          </a:prstGeom>
          <a:noFill/>
          <a:effectLst/>
        </p:spPr>
        <p:txBody>
          <a:bodyPr wrap="square" rtlCol="0">
            <a:spAutoFit/>
          </a:bodyPr>
          <a:lstStyle/>
          <a:p>
            <a:pPr algn="ctr" fontAlgn="auto"/>
            <a:r>
              <a:rPr lang="en-US" sz="1200" dirty="0">
                <a:latin typeface="Huawei Sans" panose="020C0503030203020204" pitchFamily="34" charset="0"/>
                <a:ea typeface="方正兰亭黑简体" panose="02000000000000000000" pitchFamily="2" charset="-122"/>
              </a:rPr>
              <a:t>H</a:t>
            </a:r>
            <a:r>
              <a:rPr lang="en-US" altLang="zh-CN" sz="1200" dirty="0">
                <a:latin typeface="Huawei Sans" panose="020C0503030203020204" pitchFamily="34" charset="0"/>
                <a:ea typeface="方正兰亭黑简体" panose="02000000000000000000" pitchFamily="2" charset="-122"/>
              </a:rPr>
              <a:t>ash</a:t>
            </a:r>
            <a:r>
              <a:rPr lang="zh-CN" altLang="en-US" sz="1200" dirty="0">
                <a:latin typeface="Huawei Sans" panose="020C0503030203020204" pitchFamily="34" charset="0"/>
                <a:ea typeface="方正兰亭黑简体" panose="02000000000000000000" pitchFamily="2" charset="-122"/>
              </a:rPr>
              <a:t>计算</a:t>
            </a:r>
            <a:endParaRPr lang="en-US" sz="1200" dirty="0">
              <a:latin typeface="Huawei Sans" panose="020C0503030203020204" pitchFamily="34" charset="0"/>
              <a:ea typeface="方正兰亭黑简体" panose="02000000000000000000" pitchFamily="2" charset="-122"/>
            </a:endParaRPr>
          </a:p>
        </p:txBody>
      </p:sp>
      <p:sp>
        <p:nvSpPr>
          <p:cNvPr id="95" name="TextBox 94">
            <a:extLst>
              <a:ext uri="{FF2B5EF4-FFF2-40B4-BE49-F238E27FC236}">
                <a16:creationId xmlns:a16="http://schemas.microsoft.com/office/drawing/2014/main" id="{E8EE96FC-4446-49FA-B31A-C0E71D6497D6}"/>
              </a:ext>
            </a:extLst>
          </p:cNvPr>
          <p:cNvSpPr txBox="1"/>
          <p:nvPr/>
        </p:nvSpPr>
        <p:spPr bwMode="gray">
          <a:xfrm>
            <a:off x="7419354" y="4246557"/>
            <a:ext cx="849912" cy="276999"/>
          </a:xfrm>
          <a:prstGeom prst="rect">
            <a:avLst/>
          </a:prstGeom>
          <a:noFill/>
          <a:effectLst/>
        </p:spPr>
        <p:txBody>
          <a:bodyPr wrap="square" rtlCol="0">
            <a:spAutoFit/>
          </a:bodyPr>
          <a:lstStyle/>
          <a:p>
            <a:pPr algn="ctr" fontAlgn="auto"/>
            <a:r>
              <a:rPr lang="en-US" altLang="zh-CN" sz="1200" dirty="0">
                <a:latin typeface="Huawei Sans" panose="020C0503030203020204" pitchFamily="34" charset="0"/>
                <a:ea typeface="方正兰亭黑简体" panose="02000000000000000000" pitchFamily="2" charset="-122"/>
              </a:rPr>
              <a:t>Hash</a:t>
            </a:r>
            <a:r>
              <a:rPr lang="zh-CN" altLang="en-US" sz="1200" dirty="0">
                <a:latin typeface="Huawei Sans" panose="020C0503030203020204" pitchFamily="34" charset="0"/>
                <a:ea typeface="方正兰亭黑简体" panose="02000000000000000000" pitchFamily="2" charset="-122"/>
              </a:rPr>
              <a:t>计算</a:t>
            </a:r>
            <a:endParaRPr lang="en-US" sz="1200" dirty="0">
              <a:latin typeface="Huawei Sans" panose="020C0503030203020204" pitchFamily="34" charset="0"/>
              <a:ea typeface="方正兰亭黑简体" panose="02000000000000000000" pitchFamily="2" charset="-122"/>
            </a:endParaRPr>
          </a:p>
        </p:txBody>
      </p:sp>
      <p:sp>
        <p:nvSpPr>
          <p:cNvPr id="67" name="Text Box 26">
            <a:extLst>
              <a:ext uri="{FF2B5EF4-FFF2-40B4-BE49-F238E27FC236}">
                <a16:creationId xmlns:a16="http://schemas.microsoft.com/office/drawing/2014/main" id="{8F26C498-5D02-41CB-9F37-6219B1FD8643}"/>
              </a:ext>
            </a:extLst>
          </p:cNvPr>
          <p:cNvSpPr txBox="1">
            <a:spLocks noChangeArrowheads="1"/>
          </p:cNvSpPr>
          <p:nvPr/>
        </p:nvSpPr>
        <p:spPr bwMode="gray">
          <a:xfrm>
            <a:off x="3558173" y="5143036"/>
            <a:ext cx="543615" cy="307712"/>
          </a:xfrm>
          <a:prstGeom prst="rect">
            <a:avLst/>
          </a:prstGeom>
          <a:solidFill>
            <a:srgbClr val="FFD17D"/>
          </a:solidFill>
          <a:ln w="9525">
            <a:solidFill>
              <a:srgbClr val="FFD17D"/>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数据</a:t>
            </a:r>
          </a:p>
        </p:txBody>
      </p:sp>
      <p:sp>
        <p:nvSpPr>
          <p:cNvPr id="68" name="Text Box 26">
            <a:extLst>
              <a:ext uri="{FF2B5EF4-FFF2-40B4-BE49-F238E27FC236}">
                <a16:creationId xmlns:a16="http://schemas.microsoft.com/office/drawing/2014/main" id="{876B5734-ABF8-48FC-9492-CB7D431C583D}"/>
              </a:ext>
            </a:extLst>
          </p:cNvPr>
          <p:cNvSpPr txBox="1">
            <a:spLocks noChangeArrowheads="1"/>
          </p:cNvSpPr>
          <p:nvPr/>
        </p:nvSpPr>
        <p:spPr bwMode="gray">
          <a:xfrm>
            <a:off x="4101788" y="5143036"/>
            <a:ext cx="930372" cy="307712"/>
          </a:xfrm>
          <a:prstGeom prst="rect">
            <a:avLst/>
          </a:prstGeom>
          <a:solidFill>
            <a:srgbClr val="8BC9A0"/>
          </a:solidFill>
          <a:ln w="9525">
            <a:solidFill>
              <a:srgbClr val="8BC9A0"/>
            </a:solidFill>
            <a:miter lim="800000"/>
            <a:headEnd/>
            <a:tailEnd/>
          </a:ln>
        </p:spPr>
        <p:txBody>
          <a:bodyPr wrap="square" lIns="91379" tIns="45688" rIns="91379" bIns="45688">
            <a:spAutoFit/>
          </a:bodyPr>
          <a:lstStyle/>
          <a:p>
            <a:pP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Hash</a:t>
            </a:r>
            <a:r>
              <a:rPr kumimoji="1" lang="zh-CN" altLang="en-US" sz="1400" dirty="0">
                <a:solidFill>
                  <a:schemeClr val="bg1"/>
                </a:solidFill>
                <a:latin typeface="Huawei Sans" panose="020C0503030203020204" pitchFamily="34" charset="0"/>
                <a:ea typeface="方正兰亭黑简体" panose="02000000000000000000" pitchFamily="2" charset="-122"/>
              </a:rPr>
              <a:t>值</a:t>
            </a:r>
            <a:r>
              <a:rPr kumimoji="1" lang="en-US" altLang="zh-CN" sz="1400" dirty="0">
                <a:solidFill>
                  <a:schemeClr val="bg1"/>
                </a:solidFill>
                <a:latin typeface="Huawei Sans" panose="020C0503030203020204" pitchFamily="34" charset="0"/>
                <a:ea typeface="方正兰亭黑简体" panose="02000000000000000000" pitchFamily="2" charset="-122"/>
              </a:rPr>
              <a:t>A</a:t>
            </a:r>
            <a:endParaRPr kumimoji="1" lang="zh-CN" altLang="en-US" sz="1400" dirty="0">
              <a:solidFill>
                <a:schemeClr val="bg1"/>
              </a:solidFill>
              <a:latin typeface="Huawei Sans" panose="020C0503030203020204" pitchFamily="34" charset="0"/>
              <a:ea typeface="方正兰亭黑简体" panose="02000000000000000000" pitchFamily="2" charset="-122"/>
            </a:endParaRPr>
          </a:p>
        </p:txBody>
      </p:sp>
      <p:sp>
        <p:nvSpPr>
          <p:cNvPr id="84" name="Text Box 26">
            <a:extLst>
              <a:ext uri="{FF2B5EF4-FFF2-40B4-BE49-F238E27FC236}">
                <a16:creationId xmlns:a16="http://schemas.microsoft.com/office/drawing/2014/main" id="{6DCBEE4E-F73A-4413-A97C-72EAD9467C83}"/>
              </a:ext>
            </a:extLst>
          </p:cNvPr>
          <p:cNvSpPr txBox="1">
            <a:spLocks noChangeArrowheads="1"/>
          </p:cNvSpPr>
          <p:nvPr/>
        </p:nvSpPr>
        <p:spPr bwMode="gray">
          <a:xfrm>
            <a:off x="6778269" y="5143036"/>
            <a:ext cx="543615" cy="307712"/>
          </a:xfrm>
          <a:prstGeom prst="rect">
            <a:avLst/>
          </a:prstGeom>
          <a:solidFill>
            <a:srgbClr val="FFD17D"/>
          </a:solidFill>
          <a:ln w="9525">
            <a:solidFill>
              <a:srgbClr val="FFD17D"/>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数据</a:t>
            </a:r>
          </a:p>
        </p:txBody>
      </p:sp>
      <p:sp>
        <p:nvSpPr>
          <p:cNvPr id="85" name="Text Box 26">
            <a:extLst>
              <a:ext uri="{FF2B5EF4-FFF2-40B4-BE49-F238E27FC236}">
                <a16:creationId xmlns:a16="http://schemas.microsoft.com/office/drawing/2014/main" id="{314B1DB9-A58F-4258-A586-56B9FE25090C}"/>
              </a:ext>
            </a:extLst>
          </p:cNvPr>
          <p:cNvSpPr txBox="1">
            <a:spLocks noChangeArrowheads="1"/>
          </p:cNvSpPr>
          <p:nvPr/>
        </p:nvSpPr>
        <p:spPr bwMode="gray">
          <a:xfrm>
            <a:off x="7312751" y="5143036"/>
            <a:ext cx="930372" cy="307712"/>
          </a:xfrm>
          <a:prstGeom prst="rect">
            <a:avLst/>
          </a:prstGeom>
          <a:solidFill>
            <a:srgbClr val="8BC9A0"/>
          </a:solidFill>
          <a:ln w="9525">
            <a:solidFill>
              <a:srgbClr val="8BC9A0"/>
            </a:solidFill>
            <a:miter lim="800000"/>
            <a:headEnd/>
            <a:tailEnd/>
          </a:ln>
        </p:spPr>
        <p:txBody>
          <a:bodyPr wrap="square" lIns="91379" tIns="45688" rIns="91379" bIns="45688">
            <a:spAutoFit/>
          </a:bodyPr>
          <a:lstStyle/>
          <a:p>
            <a:pP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Hash</a:t>
            </a:r>
            <a:r>
              <a:rPr kumimoji="1" lang="zh-CN" altLang="en-US" sz="1400" dirty="0">
                <a:solidFill>
                  <a:schemeClr val="bg1"/>
                </a:solidFill>
                <a:latin typeface="Huawei Sans" panose="020C0503030203020204" pitchFamily="34" charset="0"/>
                <a:ea typeface="方正兰亭黑简体" panose="02000000000000000000" pitchFamily="2" charset="-122"/>
              </a:rPr>
              <a:t>值</a:t>
            </a:r>
            <a:r>
              <a:rPr kumimoji="1" lang="en-US" altLang="zh-CN" sz="1400" dirty="0">
                <a:solidFill>
                  <a:schemeClr val="bg1"/>
                </a:solidFill>
                <a:latin typeface="Huawei Sans" panose="020C0503030203020204" pitchFamily="34" charset="0"/>
                <a:ea typeface="方正兰亭黑简体" panose="02000000000000000000" pitchFamily="2" charset="-122"/>
              </a:rPr>
              <a:t>A</a:t>
            </a:r>
            <a:endParaRPr kumimoji="1" lang="zh-CN" altLang="en-US" sz="1400" dirty="0">
              <a:solidFill>
                <a:schemeClr val="bg1"/>
              </a:solidFill>
              <a:latin typeface="Huawei Sans" panose="020C0503030203020204" pitchFamily="34" charset="0"/>
              <a:ea typeface="方正兰亭黑简体" panose="02000000000000000000" pitchFamily="2" charset="-122"/>
            </a:endParaRPr>
          </a:p>
        </p:txBody>
      </p:sp>
      <p:sp>
        <p:nvSpPr>
          <p:cNvPr id="86" name="Text Box 26">
            <a:extLst>
              <a:ext uri="{FF2B5EF4-FFF2-40B4-BE49-F238E27FC236}">
                <a16:creationId xmlns:a16="http://schemas.microsoft.com/office/drawing/2014/main" id="{66EC080C-C66C-4684-8BB6-8D3559C76C9E}"/>
              </a:ext>
            </a:extLst>
          </p:cNvPr>
          <p:cNvSpPr txBox="1">
            <a:spLocks noChangeArrowheads="1"/>
          </p:cNvSpPr>
          <p:nvPr/>
        </p:nvSpPr>
        <p:spPr bwMode="gray">
          <a:xfrm>
            <a:off x="8269266" y="4100380"/>
            <a:ext cx="930372" cy="307712"/>
          </a:xfrm>
          <a:prstGeom prst="rect">
            <a:avLst/>
          </a:prstGeom>
          <a:solidFill>
            <a:srgbClr val="8BC9A0"/>
          </a:solidFill>
          <a:ln w="9525">
            <a:solidFill>
              <a:srgbClr val="8BC9A0"/>
            </a:solidFill>
            <a:miter lim="800000"/>
            <a:headEnd/>
            <a:tailEnd/>
          </a:ln>
        </p:spPr>
        <p:txBody>
          <a:bodyPr wrap="square" lIns="91379" tIns="45688" rIns="91379" bIns="45688">
            <a:spAutoFit/>
          </a:bodyPr>
          <a:lstStyle/>
          <a:p>
            <a:pP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Hash</a:t>
            </a:r>
            <a:r>
              <a:rPr kumimoji="1" lang="zh-CN" altLang="en-US" sz="1400" dirty="0">
                <a:solidFill>
                  <a:schemeClr val="bg1"/>
                </a:solidFill>
                <a:latin typeface="Huawei Sans" panose="020C0503030203020204" pitchFamily="34" charset="0"/>
                <a:ea typeface="方正兰亭黑简体" panose="02000000000000000000" pitchFamily="2" charset="-122"/>
              </a:rPr>
              <a:t>值</a:t>
            </a:r>
            <a:r>
              <a:rPr kumimoji="1" lang="en-US" altLang="zh-CN" sz="1400" dirty="0">
                <a:solidFill>
                  <a:schemeClr val="bg1"/>
                </a:solidFill>
                <a:latin typeface="Huawei Sans" panose="020C0503030203020204" pitchFamily="34" charset="0"/>
                <a:ea typeface="方正兰亭黑简体" panose="02000000000000000000" pitchFamily="2" charset="-122"/>
              </a:rPr>
              <a:t>B</a:t>
            </a:r>
            <a:endParaRPr kumimoji="1" lang="zh-CN" altLang="en-US" sz="1400" dirty="0">
              <a:solidFill>
                <a:schemeClr val="bg1"/>
              </a:solidFill>
              <a:latin typeface="Huawei Sans" panose="020C0503030203020204" pitchFamily="34" charset="0"/>
              <a:ea typeface="方正兰亭黑简体" panose="02000000000000000000" pitchFamily="2" charset="-122"/>
            </a:endParaRPr>
          </a:p>
        </p:txBody>
      </p:sp>
      <p:cxnSp>
        <p:nvCxnSpPr>
          <p:cNvPr id="102" name="Connector: Elbow 101">
            <a:extLst>
              <a:ext uri="{FF2B5EF4-FFF2-40B4-BE49-F238E27FC236}">
                <a16:creationId xmlns:a16="http://schemas.microsoft.com/office/drawing/2014/main" id="{DF0D55E9-3F7A-478E-B466-0E66B8ACB0CA}"/>
              </a:ext>
            </a:extLst>
          </p:cNvPr>
          <p:cNvCxnSpPr>
            <a:cxnSpLocks/>
            <a:stCxn id="86" idx="3"/>
            <a:endCxn id="85" idx="3"/>
          </p:cNvCxnSpPr>
          <p:nvPr/>
        </p:nvCxnSpPr>
        <p:spPr bwMode="gray">
          <a:xfrm flipH="1">
            <a:off x="8243123" y="4254236"/>
            <a:ext cx="956515" cy="1042656"/>
          </a:xfrm>
          <a:prstGeom prst="bentConnector3">
            <a:avLst>
              <a:gd name="adj1" fmla="val -23899"/>
            </a:avLst>
          </a:prstGeom>
          <a:ln w="28575">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3" name="TextBox 102">
            <a:extLst>
              <a:ext uri="{FF2B5EF4-FFF2-40B4-BE49-F238E27FC236}">
                <a16:creationId xmlns:a16="http://schemas.microsoft.com/office/drawing/2014/main" id="{88242F8D-F948-4797-8080-BE6C24A40412}"/>
              </a:ext>
            </a:extLst>
          </p:cNvPr>
          <p:cNvSpPr txBox="1"/>
          <p:nvPr/>
        </p:nvSpPr>
        <p:spPr bwMode="gray">
          <a:xfrm>
            <a:off x="8935650" y="4625546"/>
            <a:ext cx="1032078" cy="276999"/>
          </a:xfrm>
          <a:prstGeom prst="rect">
            <a:avLst/>
          </a:prstGeom>
          <a:solidFill>
            <a:schemeClr val="bg1"/>
          </a:solidFill>
          <a:effectLst>
            <a:outerShdw blurRad="50800" dist="38100" dir="2700000" algn="tl" rotWithShape="0">
              <a:prstClr val="black">
                <a:alpha val="40000"/>
              </a:prstClr>
            </a:outerShdw>
          </a:effectLst>
        </p:spPr>
        <p:txBody>
          <a:bodyPr wrap="square" rtlCol="0">
            <a:spAutoFit/>
          </a:bodyPr>
          <a:lstStyle/>
          <a:p>
            <a:pPr algn="ctr" fontAlgn="auto"/>
            <a:r>
              <a:rPr lang="zh-CN" altLang="en-US" sz="1200" dirty="0">
                <a:latin typeface="Huawei Sans" panose="020C0503030203020204" pitchFamily="34" charset="0"/>
                <a:ea typeface="方正兰亭黑简体" panose="02000000000000000000" pitchFamily="2" charset="-122"/>
              </a:rPr>
              <a:t>对比</a:t>
            </a:r>
            <a:r>
              <a:rPr lang="en-US" altLang="zh-CN" sz="1200" dirty="0">
                <a:latin typeface="Huawei Sans" panose="020C0503030203020204" pitchFamily="34" charset="0"/>
                <a:ea typeface="方正兰亭黑简体" panose="02000000000000000000" pitchFamily="2" charset="-122"/>
              </a:rPr>
              <a:t>Hash</a:t>
            </a:r>
            <a:r>
              <a:rPr lang="zh-CN" altLang="en-US" sz="1200" dirty="0">
                <a:latin typeface="Huawei Sans" panose="020C0503030203020204" pitchFamily="34" charset="0"/>
                <a:ea typeface="方正兰亭黑简体" panose="02000000000000000000" pitchFamily="2" charset="-122"/>
              </a:rPr>
              <a:t>值</a:t>
            </a:r>
            <a:endParaRPr lang="en-US" sz="1200" dirty="0">
              <a:latin typeface="Huawei Sans" panose="020C0503030203020204" pitchFamily="34" charset="0"/>
              <a:ea typeface="方正兰亭黑简体" panose="02000000000000000000" pitchFamily="2" charset="-122"/>
            </a:endParaRPr>
          </a:p>
        </p:txBody>
      </p:sp>
      <p:cxnSp>
        <p:nvCxnSpPr>
          <p:cNvPr id="104" name="Connector: Elbow 103">
            <a:extLst>
              <a:ext uri="{FF2B5EF4-FFF2-40B4-BE49-F238E27FC236}">
                <a16:creationId xmlns:a16="http://schemas.microsoft.com/office/drawing/2014/main" id="{1AAEDBC3-DCF5-4E67-90D7-DC76D85A1862}"/>
              </a:ext>
            </a:extLst>
          </p:cNvPr>
          <p:cNvCxnSpPr>
            <a:cxnSpLocks/>
            <a:stCxn id="67" idx="0"/>
            <a:endCxn id="18" idx="1"/>
          </p:cNvCxnSpPr>
          <p:nvPr/>
        </p:nvCxnSpPr>
        <p:spPr bwMode="gray">
          <a:xfrm rot="5400000" flipH="1" flipV="1">
            <a:off x="3537760" y="4538779"/>
            <a:ext cx="896478" cy="312037"/>
          </a:xfrm>
          <a:prstGeom prst="bentConnector2">
            <a:avLst/>
          </a:prstGeom>
          <a:ln w="28575">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简介</a:t>
            </a:r>
          </a:p>
        </p:txBody>
      </p:sp>
      <p:sp>
        <p:nvSpPr>
          <p:cNvPr id="29"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协议框架</a:t>
            </a:r>
            <a:endParaRPr lang="en-US" altLang="zh-CN" sz="1200" kern="0" dirty="0">
              <a:latin typeface="Huawei Sans" panose="020C0503030203020204" pitchFamily="34" charset="0"/>
              <a:ea typeface="方正兰亭黑简体" panose="02000000000000000000" pitchFamily="2" charset="-122"/>
            </a:endParaRPr>
          </a:p>
        </p:txBody>
      </p:sp>
      <mc:AlternateContent xmlns:mc="http://schemas.openxmlformats.org/markup-compatibility/2006" xmlns:p14="http://schemas.microsoft.com/office/powerpoint/2010/main">
        <mc:Choice Requires="p14">
          <p:contentPart p14:bwMode="auto" r:id="rId4">
            <p14:nvContentPartPr>
              <p14:cNvPr id="124" name="墨迹 123">
                <a:extLst>
                  <a:ext uri="{FF2B5EF4-FFF2-40B4-BE49-F238E27FC236}">
                    <a16:creationId xmlns:a16="http://schemas.microsoft.com/office/drawing/2014/main" id="{7A6BF67D-6ADC-D33D-9765-2B4DF129099D}"/>
                  </a:ext>
                </a:extLst>
              </p14:cNvPr>
              <p14:cNvContentPartPr/>
              <p14:nvPr/>
            </p14:nvContentPartPr>
            <p14:xfrm>
              <a:off x="635329" y="2510959"/>
              <a:ext cx="1440" cy="360"/>
            </p14:xfrm>
          </p:contentPart>
        </mc:Choice>
        <mc:Fallback xmlns="">
          <p:pic>
            <p:nvPicPr>
              <p:cNvPr id="124" name="墨迹 123">
                <a:extLst>
                  <a:ext uri="{FF2B5EF4-FFF2-40B4-BE49-F238E27FC236}">
                    <a16:creationId xmlns:a16="http://schemas.microsoft.com/office/drawing/2014/main" id="{7A6BF67D-6ADC-D33D-9765-2B4DF129099D}"/>
                  </a:ext>
                </a:extLst>
              </p:cNvPr>
              <p:cNvPicPr/>
              <p:nvPr/>
            </p:nvPicPr>
            <p:blipFill>
              <a:blip r:embed="rId81"/>
              <a:stretch>
                <a:fillRect/>
              </a:stretch>
            </p:blipFill>
            <p:spPr>
              <a:xfrm>
                <a:off x="626689" y="2501959"/>
                <a:ext cx="19080" cy="18000"/>
              </a:xfrm>
              <a:prstGeom prst="rect">
                <a:avLst/>
              </a:prstGeom>
            </p:spPr>
          </p:pic>
        </mc:Fallback>
      </mc:AlternateContent>
    </p:spTree>
    <p:extLst>
      <p:ext uri="{BB962C8B-B14F-4D97-AF65-F5344CB8AC3E}">
        <p14:creationId xmlns:p14="http://schemas.microsoft.com/office/powerpoint/2010/main" val="3792261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75"/>
          <p:cNvSpPr/>
          <p:nvPr/>
        </p:nvSpPr>
        <p:spPr bwMode="gray">
          <a:xfrm>
            <a:off x="1091444" y="2855175"/>
            <a:ext cx="9901100" cy="323854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2" name="Title 1"/>
          <p:cNvSpPr>
            <a:spLocks noGrp="1"/>
          </p:cNvSpPr>
          <p:nvPr>
            <p:ph type="title"/>
          </p:nvPr>
        </p:nvSpPr>
        <p:spPr bwMode="gray"/>
        <p:txBody>
          <a:bodyPr/>
          <a:lstStyle/>
          <a:p>
            <a:r>
              <a:rPr lang="en-US" altLang="zh-CN" dirty="0"/>
              <a:t>IPsec</a:t>
            </a:r>
            <a:r>
              <a:rPr lang="zh-CN" altLang="en-US" dirty="0"/>
              <a:t>加密基本思路</a:t>
            </a:r>
          </a:p>
        </p:txBody>
      </p:sp>
      <p:sp>
        <p:nvSpPr>
          <p:cNvPr id="3" name="Text Placeholder 2"/>
          <p:cNvSpPr>
            <a:spLocks noGrp="1"/>
          </p:cNvSpPr>
          <p:nvPr>
            <p:ph type="body" sz="quarter" idx="10"/>
          </p:nvPr>
        </p:nvSpPr>
        <p:spPr bwMode="gray"/>
        <p:txBody>
          <a:bodyPr/>
          <a:lstStyle/>
          <a:p>
            <a:r>
              <a:rPr lang="en-US" altLang="zh-CN" sz="1800" dirty="0"/>
              <a:t>IPsec</a:t>
            </a:r>
            <a:r>
              <a:rPr lang="zh-CN" altLang="en-US" sz="1800" dirty="0"/>
              <a:t>同时使用对称加密与非对称加密，保证了安全也兼顾了性能。</a:t>
            </a:r>
            <a:endParaRPr lang="en-US" altLang="zh-CN" sz="1800" dirty="0"/>
          </a:p>
          <a:p>
            <a:pPr lvl="1"/>
            <a:r>
              <a:rPr lang="zh-CN" altLang="en-US" sz="1600" dirty="0"/>
              <a:t>将对称加密所用的密钥，使用非对称算法加密并传递。</a:t>
            </a:r>
            <a:endParaRPr lang="en-US" altLang="zh-CN" sz="1600" dirty="0"/>
          </a:p>
          <a:p>
            <a:pPr lvl="1"/>
            <a:r>
              <a:rPr lang="zh-CN" altLang="en-US" sz="1600" dirty="0"/>
              <a:t>数据通过交互后的对称密钥加密。</a:t>
            </a:r>
          </a:p>
          <a:p>
            <a:endParaRPr lang="en-US" altLang="zh-CN" sz="1800" dirty="0"/>
          </a:p>
        </p:txBody>
      </p:sp>
      <p:sp>
        <p:nvSpPr>
          <p:cNvPr id="4" name="圆角矩形 75"/>
          <p:cNvSpPr/>
          <p:nvPr/>
        </p:nvSpPr>
        <p:spPr bwMode="gray">
          <a:xfrm>
            <a:off x="1091444" y="2420888"/>
            <a:ext cx="990110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IPsec</a:t>
            </a:r>
            <a:r>
              <a:rPr lang="zh-CN" altLang="en-US" sz="1600" dirty="0">
                <a:solidFill>
                  <a:srgbClr val="30B5C5"/>
                </a:solidFill>
                <a:latin typeface="Huawei Sans" panose="020C0503030203020204" pitchFamily="34" charset="0"/>
                <a:ea typeface="方正兰亭黑简体" panose="02000000000000000000" pitchFamily="2" charset="-122"/>
              </a:rPr>
              <a:t>加解密基本思路</a:t>
            </a:r>
          </a:p>
        </p:txBody>
      </p:sp>
      <p:sp>
        <p:nvSpPr>
          <p:cNvPr id="7" name="Text Box 26"/>
          <p:cNvSpPr txBox="1">
            <a:spLocks noChangeArrowheads="1"/>
          </p:cNvSpPr>
          <p:nvPr/>
        </p:nvSpPr>
        <p:spPr bwMode="gray">
          <a:xfrm>
            <a:off x="3930899" y="3080319"/>
            <a:ext cx="970014"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IPsec</a:t>
            </a:r>
            <a:r>
              <a:rPr kumimoji="1" lang="zh-CN" altLang="en-US" sz="1400" dirty="0">
                <a:latin typeface="Huawei Sans" panose="020C0503030203020204" pitchFamily="34" charset="0"/>
                <a:ea typeface="方正兰亭黑简体" panose="02000000000000000000" pitchFamily="2" charset="-122"/>
              </a:rPr>
              <a:t>设备</a:t>
            </a:r>
          </a:p>
        </p:txBody>
      </p:sp>
      <p:pic>
        <p:nvPicPr>
          <p:cNvPr id="11" name="Picture 12" descr="E:\2016.01\1.12 扁平化图标\蓝色\AR-蓝色最新-40.png"/>
          <p:cNvPicPr>
            <a:picLocks noChangeAspect="1" noChangeArrowheads="1"/>
          </p:cNvPicPr>
          <p:nvPr/>
        </p:nvPicPr>
        <p:blipFill>
          <a:blip r:embed="rId3" cstate="print"/>
          <a:srcRect/>
          <a:stretch>
            <a:fillRect/>
          </a:stretch>
        </p:blipFill>
        <p:spPr bwMode="gray">
          <a:xfrm>
            <a:off x="4223792" y="3340121"/>
            <a:ext cx="540000" cy="441818"/>
          </a:xfrm>
          <a:prstGeom prst="rect">
            <a:avLst/>
          </a:prstGeom>
          <a:noFill/>
        </p:spPr>
      </p:pic>
      <p:pic>
        <p:nvPicPr>
          <p:cNvPr id="12" name="Picture 12" descr="E:\2016.01\1.12 扁平化图标\蓝色\AR-蓝色最新-40.png"/>
          <p:cNvPicPr>
            <a:picLocks noChangeAspect="1" noChangeArrowheads="1"/>
          </p:cNvPicPr>
          <p:nvPr/>
        </p:nvPicPr>
        <p:blipFill>
          <a:blip r:embed="rId3" cstate="print"/>
          <a:srcRect/>
          <a:stretch>
            <a:fillRect/>
          </a:stretch>
        </p:blipFill>
        <p:spPr bwMode="gray">
          <a:xfrm>
            <a:off x="7237319" y="3340121"/>
            <a:ext cx="540000" cy="441818"/>
          </a:xfrm>
          <a:prstGeom prst="rect">
            <a:avLst/>
          </a:prstGeom>
          <a:noFill/>
        </p:spPr>
      </p:pic>
      <p:cxnSp>
        <p:nvCxnSpPr>
          <p:cNvPr id="13" name="Straight Connector 12"/>
          <p:cNvCxnSpPr>
            <a:stCxn id="19" idx="3"/>
            <a:endCxn id="11" idx="1"/>
          </p:cNvCxnSpPr>
          <p:nvPr/>
        </p:nvCxnSpPr>
        <p:spPr bwMode="gray">
          <a:xfrm flipV="1">
            <a:off x="3520700" y="3561030"/>
            <a:ext cx="703092" cy="49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14" name="Straight Connector 13"/>
          <p:cNvCxnSpPr>
            <a:stCxn id="12" idx="3"/>
            <a:endCxn id="20" idx="1"/>
          </p:cNvCxnSpPr>
          <p:nvPr/>
        </p:nvCxnSpPr>
        <p:spPr bwMode="gray">
          <a:xfrm flipV="1">
            <a:off x="7777319" y="3560539"/>
            <a:ext cx="677740" cy="49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pic>
        <p:nvPicPr>
          <p:cNvPr id="1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80700" y="3340121"/>
            <a:ext cx="540000" cy="442800"/>
          </a:xfrm>
          <a:prstGeom prst="rect">
            <a:avLst/>
          </a:prstGeom>
        </p:spPr>
      </p:pic>
      <p:pic>
        <p:nvPicPr>
          <p:cNvPr id="20"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55059" y="3339139"/>
            <a:ext cx="540000" cy="442800"/>
          </a:xfrm>
          <a:prstGeom prst="rect">
            <a:avLst/>
          </a:prstGeom>
        </p:spPr>
      </p:pic>
      <p:sp>
        <p:nvSpPr>
          <p:cNvPr id="33" name="Text Box 26"/>
          <p:cNvSpPr txBox="1">
            <a:spLocks noChangeArrowheads="1"/>
          </p:cNvSpPr>
          <p:nvPr/>
        </p:nvSpPr>
        <p:spPr bwMode="gray">
          <a:xfrm>
            <a:off x="7153333" y="3071403"/>
            <a:ext cx="970014"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IPsec</a:t>
            </a:r>
            <a:r>
              <a:rPr kumimoji="1" lang="zh-CN" altLang="en-US" sz="1400" dirty="0">
                <a:latin typeface="Huawei Sans" panose="020C0503030203020204" pitchFamily="34" charset="0"/>
                <a:ea typeface="方正兰亭黑简体" panose="02000000000000000000" pitchFamily="2" charset="-122"/>
              </a:rPr>
              <a:t>设备</a:t>
            </a:r>
          </a:p>
        </p:txBody>
      </p:sp>
      <p:cxnSp>
        <p:nvCxnSpPr>
          <p:cNvPr id="65" name="Straight Arrow Connector 64"/>
          <p:cNvCxnSpPr/>
          <p:nvPr/>
        </p:nvCxnSpPr>
        <p:spPr bwMode="gray">
          <a:xfrm flipV="1">
            <a:off x="4535630" y="3786032"/>
            <a:ext cx="0" cy="1732734"/>
          </a:xfrm>
          <a:prstGeom prst="straightConnector1">
            <a:avLst/>
          </a:prstGeom>
          <a:solidFill>
            <a:schemeClr val="accent1"/>
          </a:solidFill>
          <a:ln w="19050" cap="flat" cmpd="sng" algn="ctr">
            <a:solidFill>
              <a:schemeClr val="tx1"/>
            </a:solidFill>
            <a:prstDash val="dash"/>
            <a:round/>
            <a:headEnd type="none" w="med" len="med"/>
            <a:tailEnd type="none" w="med" len="med"/>
          </a:ln>
          <a:effectLst/>
        </p:spPr>
      </p:cxnSp>
      <p:cxnSp>
        <p:nvCxnSpPr>
          <p:cNvPr id="67" name="Straight Arrow Connector 66"/>
          <p:cNvCxnSpPr/>
          <p:nvPr/>
        </p:nvCxnSpPr>
        <p:spPr bwMode="gray">
          <a:xfrm flipV="1">
            <a:off x="7536160" y="3769746"/>
            <a:ext cx="0" cy="1749020"/>
          </a:xfrm>
          <a:prstGeom prst="straightConnector1">
            <a:avLst/>
          </a:prstGeom>
          <a:solidFill>
            <a:schemeClr val="accent1"/>
          </a:solidFill>
          <a:ln w="19050" cap="flat" cmpd="sng" algn="ctr">
            <a:solidFill>
              <a:schemeClr val="tx1"/>
            </a:solidFill>
            <a:prstDash val="dash"/>
            <a:round/>
            <a:headEnd type="none" w="med" len="med"/>
            <a:tailEnd type="none" w="med" len="med"/>
          </a:ln>
          <a:effectLst/>
        </p:spPr>
      </p:cxnSp>
      <p:sp>
        <p:nvSpPr>
          <p:cNvPr id="70" name="Text Box 26"/>
          <p:cNvSpPr txBox="1">
            <a:spLocks noChangeArrowheads="1"/>
          </p:cNvSpPr>
          <p:nvPr/>
        </p:nvSpPr>
        <p:spPr bwMode="gray">
          <a:xfrm>
            <a:off x="3393596" y="3983428"/>
            <a:ext cx="1082224" cy="307712"/>
          </a:xfrm>
          <a:prstGeom prst="rect">
            <a:avLst/>
          </a:prstGeom>
          <a:solidFill>
            <a:srgbClr val="EC7061"/>
          </a:solidFill>
          <a:ln w="9525">
            <a:solidFill>
              <a:srgbClr val="EC7061"/>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非对称加密</a:t>
            </a:r>
          </a:p>
        </p:txBody>
      </p:sp>
      <p:sp>
        <p:nvSpPr>
          <p:cNvPr id="71" name="Text Box 26"/>
          <p:cNvSpPr txBox="1">
            <a:spLocks noChangeArrowheads="1"/>
          </p:cNvSpPr>
          <p:nvPr/>
        </p:nvSpPr>
        <p:spPr bwMode="gray">
          <a:xfrm>
            <a:off x="9480376" y="3983428"/>
            <a:ext cx="902688"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对称密钥</a:t>
            </a:r>
          </a:p>
        </p:txBody>
      </p:sp>
      <p:sp>
        <p:nvSpPr>
          <p:cNvPr id="72" name="Text Box 26"/>
          <p:cNvSpPr txBox="1">
            <a:spLocks noChangeArrowheads="1"/>
          </p:cNvSpPr>
          <p:nvPr/>
        </p:nvSpPr>
        <p:spPr bwMode="gray">
          <a:xfrm>
            <a:off x="1667508" y="3983428"/>
            <a:ext cx="902688" cy="307712"/>
          </a:xfrm>
          <a:prstGeom prst="rect">
            <a:avLst/>
          </a:prstGeom>
          <a:solidFill>
            <a:srgbClr val="56C4D2"/>
          </a:solidFill>
          <a:ln w="9525">
            <a:solidFill>
              <a:srgbClr val="56C4D2"/>
            </a:solidFill>
            <a:miter lim="800000"/>
            <a:headEnd/>
            <a:tailEnd/>
          </a:ln>
        </p:spPr>
        <p:txBody>
          <a:bodyPr wrap="squar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对称密钥</a:t>
            </a:r>
          </a:p>
        </p:txBody>
      </p:sp>
      <p:sp>
        <p:nvSpPr>
          <p:cNvPr id="73" name="Text Box 26"/>
          <p:cNvSpPr txBox="1">
            <a:spLocks noChangeArrowheads="1"/>
          </p:cNvSpPr>
          <p:nvPr/>
        </p:nvSpPr>
        <p:spPr bwMode="gray">
          <a:xfrm>
            <a:off x="7606064" y="3983428"/>
            <a:ext cx="1082224" cy="307712"/>
          </a:xfrm>
          <a:prstGeom prst="rect">
            <a:avLst/>
          </a:prstGeom>
          <a:solidFill>
            <a:srgbClr val="EC7061"/>
          </a:solidFill>
          <a:ln w="9525">
            <a:solidFill>
              <a:srgbClr val="EC7061"/>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非对称加密</a:t>
            </a:r>
          </a:p>
        </p:txBody>
      </p:sp>
      <p:sp>
        <p:nvSpPr>
          <p:cNvPr id="76" name="Text Box 26"/>
          <p:cNvSpPr txBox="1">
            <a:spLocks noChangeArrowheads="1"/>
          </p:cNvSpPr>
          <p:nvPr/>
        </p:nvSpPr>
        <p:spPr bwMode="gray">
          <a:xfrm>
            <a:off x="1667508" y="5039809"/>
            <a:ext cx="902688" cy="307712"/>
          </a:xfrm>
          <a:prstGeom prst="rect">
            <a:avLst/>
          </a:prstGeom>
          <a:solidFill>
            <a:srgbClr val="FFD17D"/>
          </a:solidFill>
          <a:ln w="9525">
            <a:solidFill>
              <a:srgbClr val="FFD17D"/>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用户数据</a:t>
            </a:r>
          </a:p>
        </p:txBody>
      </p:sp>
      <p:sp>
        <p:nvSpPr>
          <p:cNvPr id="77" name="Text Box 26"/>
          <p:cNvSpPr txBox="1">
            <a:spLocks noChangeArrowheads="1"/>
          </p:cNvSpPr>
          <p:nvPr/>
        </p:nvSpPr>
        <p:spPr bwMode="gray">
          <a:xfrm>
            <a:off x="9480376" y="5023753"/>
            <a:ext cx="902688" cy="307712"/>
          </a:xfrm>
          <a:prstGeom prst="rect">
            <a:avLst/>
          </a:prstGeom>
          <a:solidFill>
            <a:srgbClr val="FFD17D"/>
          </a:solidFill>
          <a:ln w="9525">
            <a:solidFill>
              <a:srgbClr val="FFD17D"/>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用户数据</a:t>
            </a:r>
          </a:p>
        </p:txBody>
      </p:sp>
      <p:sp>
        <p:nvSpPr>
          <p:cNvPr id="78" name="Text Box 26"/>
          <p:cNvSpPr txBox="1">
            <a:spLocks noChangeArrowheads="1"/>
          </p:cNvSpPr>
          <p:nvPr/>
        </p:nvSpPr>
        <p:spPr bwMode="gray">
          <a:xfrm>
            <a:off x="3573132" y="5039809"/>
            <a:ext cx="902688"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r>
              <a:rPr kumimoji="1" lang="zh-CN" altLang="en-US" sz="1400" dirty="0">
                <a:solidFill>
                  <a:schemeClr val="bg1"/>
                </a:solidFill>
                <a:latin typeface="Huawei Sans" panose="020C0503030203020204" pitchFamily="34" charset="0"/>
                <a:ea typeface="方正兰亭黑简体" panose="02000000000000000000" pitchFamily="2" charset="-122"/>
              </a:rPr>
              <a:t>对称加密</a:t>
            </a:r>
          </a:p>
        </p:txBody>
      </p:sp>
      <p:sp>
        <p:nvSpPr>
          <p:cNvPr id="79" name="Text Box 26"/>
          <p:cNvSpPr txBox="1">
            <a:spLocks noChangeArrowheads="1"/>
          </p:cNvSpPr>
          <p:nvPr/>
        </p:nvSpPr>
        <p:spPr bwMode="gray">
          <a:xfrm>
            <a:off x="7596992" y="5027765"/>
            <a:ext cx="902688"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r>
              <a:rPr kumimoji="1" lang="zh-CN" altLang="en-US" sz="1400" dirty="0">
                <a:solidFill>
                  <a:schemeClr val="bg1"/>
                </a:solidFill>
                <a:latin typeface="Huawei Sans" panose="020C0503030203020204" pitchFamily="34" charset="0"/>
                <a:ea typeface="方正兰亭黑简体" panose="02000000000000000000" pitchFamily="2" charset="-122"/>
              </a:rPr>
              <a:t>对称加密</a:t>
            </a:r>
          </a:p>
        </p:txBody>
      </p:sp>
      <p:sp>
        <p:nvSpPr>
          <p:cNvPr id="84" name="Left-Right Arrow 83"/>
          <p:cNvSpPr/>
          <p:nvPr/>
        </p:nvSpPr>
        <p:spPr bwMode="gray">
          <a:xfrm>
            <a:off x="4566208" y="3906482"/>
            <a:ext cx="2926499" cy="450249"/>
          </a:xfrm>
          <a:prstGeom prst="leftRightArrow">
            <a:avLst/>
          </a:prstGeom>
          <a:solidFill>
            <a:srgbClr val="EC7061"/>
          </a:solidFill>
          <a:ln>
            <a:solidFill>
              <a:srgbClr val="EC7061"/>
            </a:solidFill>
          </a:ln>
        </p:spPr>
        <p:txBody>
          <a:bodyPr wrap="square" rtlCol="0" anchor="ctr">
            <a:noAutofit/>
          </a:bodyPr>
          <a:lstStyle/>
          <a:p>
            <a:pPr algn="ctr" fontAlgn="auto"/>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交互对称密钥</a:t>
            </a:r>
          </a:p>
        </p:txBody>
      </p:sp>
      <p:cxnSp>
        <p:nvCxnSpPr>
          <p:cNvPr id="95" name="Straight Arrow Connector 94"/>
          <p:cNvCxnSpPr>
            <a:stCxn id="72" idx="3"/>
            <a:endCxn id="70" idx="1"/>
          </p:cNvCxnSpPr>
          <p:nvPr/>
        </p:nvCxnSpPr>
        <p:spPr bwMode="gray">
          <a:xfrm>
            <a:off x="2570196" y="4137284"/>
            <a:ext cx="823400" cy="0"/>
          </a:xfrm>
          <a:prstGeom prst="straightConnector1">
            <a:avLst/>
          </a:prstGeom>
          <a:ln w="28575">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a:stCxn id="73" idx="3"/>
            <a:endCxn id="71" idx="1"/>
          </p:cNvCxnSpPr>
          <p:nvPr/>
        </p:nvCxnSpPr>
        <p:spPr bwMode="gray">
          <a:xfrm>
            <a:off x="8688288" y="4137284"/>
            <a:ext cx="792088" cy="0"/>
          </a:xfrm>
          <a:prstGeom prst="straightConnector1">
            <a:avLst/>
          </a:prstGeom>
          <a:ln w="28575">
            <a:solidFill>
              <a:srgbClr val="56C4D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Rectangular Callout 100"/>
          <p:cNvSpPr/>
          <p:nvPr/>
        </p:nvSpPr>
        <p:spPr bwMode="gray">
          <a:xfrm>
            <a:off x="3349267" y="4370816"/>
            <a:ext cx="839347" cy="401462"/>
          </a:xfrm>
          <a:prstGeom prst="wedgeRectCallout">
            <a:avLst>
              <a:gd name="adj1" fmla="val 21460"/>
              <a:gd name="adj2" fmla="val -8730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公钥加密</a:t>
            </a:r>
            <a:endParaRPr lang="en-US" altLang="zh-CN" sz="1200" dirty="0">
              <a:solidFill>
                <a:schemeClr val="tx1"/>
              </a:solidFill>
              <a:latin typeface="Huawei Sans" panose="020C0503030203020204" pitchFamily="34" charset="0"/>
              <a:ea typeface="方正兰亭黑简体" panose="02000000000000000000" pitchFamily="2" charset="-122"/>
            </a:endParaRPr>
          </a:p>
          <a:p>
            <a:pPr algn="ctr"/>
            <a:r>
              <a:rPr lang="zh-CN" altLang="en-US" sz="1200" dirty="0">
                <a:solidFill>
                  <a:schemeClr val="tx1"/>
                </a:solidFill>
                <a:latin typeface="Huawei Sans" panose="020C0503030203020204" pitchFamily="34" charset="0"/>
                <a:ea typeface="方正兰亭黑简体" panose="02000000000000000000" pitchFamily="2" charset="-122"/>
              </a:rPr>
              <a:t>私钥解密</a:t>
            </a:r>
          </a:p>
        </p:txBody>
      </p:sp>
      <p:sp>
        <p:nvSpPr>
          <p:cNvPr id="102" name="Rectangular Callout 101"/>
          <p:cNvSpPr/>
          <p:nvPr/>
        </p:nvSpPr>
        <p:spPr bwMode="gray">
          <a:xfrm>
            <a:off x="7981861" y="4338210"/>
            <a:ext cx="839347" cy="401462"/>
          </a:xfrm>
          <a:prstGeom prst="wedgeRectCallout">
            <a:avLst>
              <a:gd name="adj1" fmla="val -22798"/>
              <a:gd name="adj2" fmla="val -8967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公钥加密</a:t>
            </a:r>
            <a:endParaRPr lang="en-US" altLang="zh-CN" sz="1200" dirty="0">
              <a:solidFill>
                <a:schemeClr val="tx1"/>
              </a:solidFill>
              <a:latin typeface="Huawei Sans" panose="020C0503030203020204" pitchFamily="34" charset="0"/>
              <a:ea typeface="方正兰亭黑简体" panose="02000000000000000000" pitchFamily="2" charset="-122"/>
            </a:endParaRPr>
          </a:p>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私钥解密</a:t>
            </a:r>
          </a:p>
        </p:txBody>
      </p:sp>
      <p:sp>
        <p:nvSpPr>
          <p:cNvPr id="107" name="Left-Right Arrow 106"/>
          <p:cNvSpPr/>
          <p:nvPr/>
        </p:nvSpPr>
        <p:spPr bwMode="gray">
          <a:xfrm>
            <a:off x="4572646" y="4953069"/>
            <a:ext cx="2926499" cy="450249"/>
          </a:xfrm>
          <a:prstGeom prst="leftRightArrow">
            <a:avLst/>
          </a:prstGeom>
          <a:solidFill>
            <a:srgbClr val="56C4D2"/>
          </a:solidFill>
          <a:ln>
            <a:solidFill>
              <a:srgbClr val="56C4D2"/>
            </a:solidFill>
          </a:ln>
        </p:spPr>
        <p:txBody>
          <a:bodyPr wrap="square" rtlCol="0" anchor="ctr">
            <a:noAutofit/>
          </a:bodyPr>
          <a:lstStyle/>
          <a:p>
            <a:pPr algn="ctr" fontAlgn="auto"/>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交互用户数据</a:t>
            </a:r>
          </a:p>
        </p:txBody>
      </p:sp>
      <p:cxnSp>
        <p:nvCxnSpPr>
          <p:cNvPr id="108" name="Straight Arrow Connector 107"/>
          <p:cNvCxnSpPr>
            <a:stCxn id="76" idx="3"/>
            <a:endCxn id="78" idx="1"/>
          </p:cNvCxnSpPr>
          <p:nvPr/>
        </p:nvCxnSpPr>
        <p:spPr bwMode="gray">
          <a:xfrm>
            <a:off x="2570196" y="5193665"/>
            <a:ext cx="1002936" cy="0"/>
          </a:xfrm>
          <a:prstGeom prst="straightConnector1">
            <a:avLst/>
          </a:prstGeom>
          <a:ln w="28575">
            <a:solidFill>
              <a:srgbClr val="FFD17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1" name="Straight Arrow Connector 110"/>
          <p:cNvCxnSpPr>
            <a:stCxn id="79" idx="3"/>
            <a:endCxn id="77" idx="1"/>
          </p:cNvCxnSpPr>
          <p:nvPr/>
        </p:nvCxnSpPr>
        <p:spPr bwMode="gray">
          <a:xfrm flipV="1">
            <a:off x="8499680" y="5177609"/>
            <a:ext cx="980696" cy="4012"/>
          </a:xfrm>
          <a:prstGeom prst="straightConnector1">
            <a:avLst/>
          </a:prstGeom>
          <a:ln w="28575">
            <a:solidFill>
              <a:srgbClr val="FFD17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Rectangular Callout 113"/>
          <p:cNvSpPr/>
          <p:nvPr/>
        </p:nvSpPr>
        <p:spPr bwMode="gray">
          <a:xfrm>
            <a:off x="7982456" y="5411956"/>
            <a:ext cx="945205" cy="401462"/>
          </a:xfrm>
          <a:prstGeom prst="wedgeRectCallout">
            <a:avLst>
              <a:gd name="adj1" fmla="val -22798"/>
              <a:gd name="adj2" fmla="val -8967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通过对称密钥加解密</a:t>
            </a:r>
          </a:p>
        </p:txBody>
      </p:sp>
      <p:sp>
        <p:nvSpPr>
          <p:cNvPr id="115" name="Rectangular Callout 114"/>
          <p:cNvSpPr/>
          <p:nvPr/>
        </p:nvSpPr>
        <p:spPr bwMode="gray">
          <a:xfrm>
            <a:off x="3349267" y="5439806"/>
            <a:ext cx="945205" cy="401462"/>
          </a:xfrm>
          <a:prstGeom prst="wedgeRectCallout">
            <a:avLst>
              <a:gd name="adj1" fmla="val 20534"/>
              <a:gd name="adj2" fmla="val -84933"/>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通过对称密钥加解密</a:t>
            </a:r>
          </a:p>
        </p:txBody>
      </p:sp>
      <p:cxnSp>
        <p:nvCxnSpPr>
          <p:cNvPr id="119" name="Straight Connector 118"/>
          <p:cNvCxnSpPr>
            <a:stCxn id="12" idx="1"/>
            <a:endCxn id="11" idx="3"/>
          </p:cNvCxnSpPr>
          <p:nvPr/>
        </p:nvCxnSpPr>
        <p:spPr bwMode="gray">
          <a:xfrm flipH="1">
            <a:off x="4763792" y="3561030"/>
            <a:ext cx="2473527"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sp>
        <p:nvSpPr>
          <p:cNvPr id="27" name="Can 41"/>
          <p:cNvSpPr/>
          <p:nvPr/>
        </p:nvSpPr>
        <p:spPr bwMode="gray">
          <a:xfrm rot="5400000">
            <a:off x="5869628" y="2362552"/>
            <a:ext cx="236717" cy="2376265"/>
          </a:xfrm>
          <a:prstGeom prst="can">
            <a:avLst>
              <a:gd name="adj" fmla="val 35316"/>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TextBox 27"/>
          <p:cNvSpPr txBox="1"/>
          <p:nvPr/>
        </p:nvSpPr>
        <p:spPr bwMode="gray">
          <a:xfrm flipH="1">
            <a:off x="5589163" y="3412183"/>
            <a:ext cx="880591" cy="276999"/>
          </a:xfrm>
          <a:prstGeom prst="rect">
            <a:avLst/>
          </a:prstGeom>
          <a:noFill/>
        </p:spPr>
        <p:txBody>
          <a:bodyPr wrap="square" rtlCol="0">
            <a:spAutoFit/>
          </a:bodyPr>
          <a:lstStyle/>
          <a:p>
            <a:pPr fontAlgn="auto"/>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40" name="Down Arrow 106">
            <a:extLst>
              <a:ext uri="{FF2B5EF4-FFF2-40B4-BE49-F238E27FC236}">
                <a16:creationId xmlns:a16="http://schemas.microsoft.com/office/drawing/2014/main" id="{26722949-5DF2-40F5-A1F5-53C7EBF20468}"/>
              </a:ext>
            </a:extLst>
          </p:cNvPr>
          <p:cNvSpPr/>
          <p:nvPr/>
        </p:nvSpPr>
        <p:spPr bwMode="gray">
          <a:xfrm>
            <a:off x="5943149" y="4400535"/>
            <a:ext cx="288032" cy="587729"/>
          </a:xfrm>
          <a:prstGeom prst="downArrow">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Rectangular Callout 101">
            <a:extLst>
              <a:ext uri="{FF2B5EF4-FFF2-40B4-BE49-F238E27FC236}">
                <a16:creationId xmlns:a16="http://schemas.microsoft.com/office/drawing/2014/main" id="{17AD9FCB-EF3A-408B-BF70-44DF4D21D749}"/>
              </a:ext>
            </a:extLst>
          </p:cNvPr>
          <p:cNvSpPr/>
          <p:nvPr/>
        </p:nvSpPr>
        <p:spPr bwMode="gray">
          <a:xfrm>
            <a:off x="6339146" y="4370816"/>
            <a:ext cx="1295165" cy="596306"/>
          </a:xfrm>
          <a:prstGeom prst="wedgeRectCallout">
            <a:avLst>
              <a:gd name="adj1" fmla="val -65555"/>
              <a:gd name="adj2" fmla="val -1676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交互对称密钥后，通过对称密钥加解密数据</a:t>
            </a:r>
          </a:p>
        </p:txBody>
      </p:sp>
      <p:sp>
        <p:nvSpPr>
          <p:cNvPr id="39" name="椭圆 50">
            <a:extLst>
              <a:ext uri="{FF2B5EF4-FFF2-40B4-BE49-F238E27FC236}">
                <a16:creationId xmlns:a16="http://schemas.microsoft.com/office/drawing/2014/main" id="{2F50E395-222A-4359-A31B-EAE179FA1B2C}"/>
              </a:ext>
            </a:extLst>
          </p:cNvPr>
          <p:cNvSpPr/>
          <p:nvPr/>
        </p:nvSpPr>
        <p:spPr bwMode="gray">
          <a:xfrm>
            <a:off x="4963663" y="4014494"/>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椭圆 50">
            <a:extLst>
              <a:ext uri="{FF2B5EF4-FFF2-40B4-BE49-F238E27FC236}">
                <a16:creationId xmlns:a16="http://schemas.microsoft.com/office/drawing/2014/main" id="{98CA6E69-845E-4E0A-AE77-7C532145C518}"/>
              </a:ext>
            </a:extLst>
          </p:cNvPr>
          <p:cNvSpPr/>
          <p:nvPr/>
        </p:nvSpPr>
        <p:spPr bwMode="gray">
          <a:xfrm>
            <a:off x="4965211" y="506965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简介</a:t>
            </a:r>
          </a:p>
        </p:txBody>
      </p:sp>
      <p:sp>
        <p:nvSpPr>
          <p:cNvPr id="44"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协议框架</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956445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安全联盟介绍</a:t>
            </a:r>
          </a:p>
        </p:txBody>
      </p:sp>
      <p:sp>
        <p:nvSpPr>
          <p:cNvPr id="3" name="Text Placeholder 2"/>
          <p:cNvSpPr>
            <a:spLocks noGrp="1"/>
          </p:cNvSpPr>
          <p:nvPr>
            <p:ph type="body" sz="quarter" idx="10"/>
          </p:nvPr>
        </p:nvSpPr>
        <p:spPr bwMode="gray"/>
        <p:txBody>
          <a:bodyPr/>
          <a:lstStyle/>
          <a:p>
            <a:r>
              <a:rPr lang="en-US" altLang="zh-CN" sz="1800" dirty="0"/>
              <a:t>SA</a:t>
            </a:r>
            <a:r>
              <a:rPr lang="zh-CN" altLang="en-US" sz="1800" dirty="0"/>
              <a:t>（</a:t>
            </a:r>
            <a:r>
              <a:rPr lang="en-US" altLang="zh-CN" sz="1800" dirty="0"/>
              <a:t>Security Association</a:t>
            </a:r>
            <a:r>
              <a:rPr lang="zh-CN" altLang="en-US" sz="1800" dirty="0"/>
              <a:t>，安全联盟）可以帮助</a:t>
            </a:r>
            <a:r>
              <a:rPr lang="en-US" altLang="zh-CN" sz="1800" dirty="0"/>
              <a:t>IPsec</a:t>
            </a:r>
            <a:r>
              <a:rPr lang="zh-CN" altLang="en-US" sz="1800" dirty="0"/>
              <a:t>对特定要素进行约定，比如：加密算法使用</a:t>
            </a:r>
            <a:r>
              <a:rPr lang="en-US" altLang="zh-CN" sz="1800" dirty="0"/>
              <a:t>DES</a:t>
            </a:r>
            <a:r>
              <a:rPr lang="zh-CN" altLang="en-US" sz="1800" dirty="0"/>
              <a:t>，认证算法使用</a:t>
            </a:r>
            <a:r>
              <a:rPr lang="en-US" altLang="zh-CN" sz="1800" dirty="0"/>
              <a:t>MD5</a:t>
            </a:r>
            <a:r>
              <a:rPr lang="zh-CN" altLang="en-US" sz="1800" dirty="0"/>
              <a:t>，封装方式使用</a:t>
            </a:r>
            <a:r>
              <a:rPr lang="en-US" altLang="zh-CN" sz="1800" dirty="0"/>
              <a:t>Tunnel</a:t>
            </a:r>
            <a:r>
              <a:rPr lang="zh-CN" altLang="en-US" sz="1800" dirty="0"/>
              <a:t>等。</a:t>
            </a:r>
            <a:endParaRPr lang="en-US" altLang="zh-CN" sz="1800" dirty="0"/>
          </a:p>
          <a:p>
            <a:r>
              <a:rPr lang="zh-CN" altLang="en-US" sz="1800" dirty="0"/>
              <a:t>建立</a:t>
            </a:r>
            <a:r>
              <a:rPr lang="en-US" altLang="zh-CN" sz="1800" dirty="0"/>
              <a:t>IPsec SA</a:t>
            </a:r>
            <a:r>
              <a:rPr lang="zh-CN" altLang="en-US" sz="1800" dirty="0"/>
              <a:t>一般有两种方式：手工方式和</a:t>
            </a:r>
            <a:r>
              <a:rPr lang="en-US" altLang="zh-CN" sz="1800" dirty="0"/>
              <a:t>IKE</a:t>
            </a:r>
            <a:r>
              <a:rPr lang="zh-CN" altLang="en-US" sz="1800" dirty="0"/>
              <a:t>方式。</a:t>
            </a:r>
            <a:endParaRPr lang="en-US" altLang="zh-CN" sz="1600" dirty="0"/>
          </a:p>
        </p:txBody>
      </p:sp>
      <p:sp>
        <p:nvSpPr>
          <p:cNvPr id="69" name="圆角矩形 75"/>
          <p:cNvSpPr/>
          <p:nvPr/>
        </p:nvSpPr>
        <p:spPr bwMode="gray">
          <a:xfrm>
            <a:off x="5807969" y="3107202"/>
            <a:ext cx="5616886" cy="291450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70" name="圆角矩形 75"/>
          <p:cNvSpPr/>
          <p:nvPr/>
        </p:nvSpPr>
        <p:spPr bwMode="gray">
          <a:xfrm>
            <a:off x="5807969" y="2672916"/>
            <a:ext cx="5616886"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使用</a:t>
            </a:r>
            <a:r>
              <a:rPr lang="en-US" altLang="zh-CN" sz="1600" dirty="0">
                <a:solidFill>
                  <a:srgbClr val="30B5C5"/>
                </a:solidFill>
                <a:latin typeface="Huawei Sans" panose="020C0503030203020204" pitchFamily="34" charset="0"/>
                <a:ea typeface="方正兰亭黑简体" panose="02000000000000000000" pitchFamily="2" charset="-122"/>
              </a:rPr>
              <a:t>IKE</a:t>
            </a:r>
            <a:r>
              <a:rPr lang="zh-CN" altLang="en-US" sz="1600" dirty="0">
                <a:solidFill>
                  <a:srgbClr val="30B5C5"/>
                </a:solidFill>
                <a:latin typeface="Huawei Sans" panose="020C0503030203020204" pitchFamily="34" charset="0"/>
                <a:ea typeface="方正兰亭黑简体" panose="02000000000000000000" pitchFamily="2" charset="-122"/>
              </a:rPr>
              <a:t>方式建立</a:t>
            </a:r>
            <a:r>
              <a:rPr lang="en-US" altLang="zh-CN" sz="1600" dirty="0">
                <a:solidFill>
                  <a:srgbClr val="30B5C5"/>
                </a:solidFill>
                <a:latin typeface="Huawei Sans" panose="020C0503030203020204" pitchFamily="34" charset="0"/>
                <a:ea typeface="方正兰亭黑简体" panose="02000000000000000000" pitchFamily="2" charset="-122"/>
              </a:rPr>
              <a:t>IPsec SA</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85" name="Text Box 26"/>
          <p:cNvSpPr txBox="1">
            <a:spLocks noChangeArrowheads="1"/>
          </p:cNvSpPr>
          <p:nvPr/>
        </p:nvSpPr>
        <p:spPr bwMode="gray">
          <a:xfrm>
            <a:off x="6769603" y="3335218"/>
            <a:ext cx="803302" cy="678535"/>
          </a:xfrm>
          <a:prstGeom prst="rect">
            <a:avLst/>
          </a:prstGeom>
          <a:solidFill>
            <a:srgbClr val="EC7061"/>
          </a:solidFill>
          <a:ln w="9525">
            <a:solidFill>
              <a:srgbClr val="EC7061"/>
            </a:solidFill>
            <a:miter lim="800000"/>
            <a:headEnd/>
            <a:tailEnd/>
          </a:ln>
        </p:spPr>
        <p:txBody>
          <a:bodyPr wrap="none" lIns="91379" tIns="45688" rIns="91379" bIns="45688" anchor="ctr">
            <a:noAutofit/>
          </a:bodyPr>
          <a:lstStyle/>
          <a:p>
            <a:pPr algn="ct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sp>
        <p:nvSpPr>
          <p:cNvPr id="86" name="Text Box 26"/>
          <p:cNvSpPr txBox="1">
            <a:spLocks noChangeArrowheads="1"/>
          </p:cNvSpPr>
          <p:nvPr/>
        </p:nvSpPr>
        <p:spPr bwMode="gray">
          <a:xfrm>
            <a:off x="9556577" y="3338806"/>
            <a:ext cx="803302" cy="678535"/>
          </a:xfrm>
          <a:prstGeom prst="rect">
            <a:avLst/>
          </a:prstGeom>
          <a:solidFill>
            <a:srgbClr val="EC7061"/>
          </a:solidFill>
          <a:ln w="9525">
            <a:solidFill>
              <a:srgbClr val="EC7061"/>
            </a:solidFill>
            <a:miter lim="800000"/>
            <a:headEnd/>
            <a:tailEnd/>
          </a:ln>
        </p:spPr>
        <p:txBody>
          <a:bodyPr wrap="none" lIns="91379" tIns="45688" rIns="91379" bIns="45688" anchor="ctr">
            <a:noAutofit/>
          </a:bodyPr>
          <a:lstStyle/>
          <a:p>
            <a:pPr algn="ct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sp>
        <p:nvSpPr>
          <p:cNvPr id="87" name="Left-Right Arrow 86"/>
          <p:cNvSpPr/>
          <p:nvPr/>
        </p:nvSpPr>
        <p:spPr bwMode="gray">
          <a:xfrm>
            <a:off x="7608910" y="3239207"/>
            <a:ext cx="1875660" cy="450249"/>
          </a:xfrm>
          <a:prstGeom prst="leftRightArrow">
            <a:avLst/>
          </a:prstGeom>
          <a:solidFill>
            <a:srgbClr val="EC7061"/>
          </a:solidFill>
          <a:ln>
            <a:solidFill>
              <a:srgbClr val="EC7061"/>
            </a:solidFill>
          </a:ln>
        </p:spPr>
        <p:txBody>
          <a:bodyPr wrap="square" rtlCol="0" anchor="ctr">
            <a:noAutofit/>
          </a:bodyPr>
          <a:lstStyle/>
          <a:p>
            <a:pPr algn="ctr" fontAlgn="auto"/>
            <a:r>
              <a:rPr lang="en-US" altLang="zh-CN"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IKE SA</a:t>
            </a:r>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协商</a:t>
            </a:r>
          </a:p>
        </p:txBody>
      </p:sp>
      <p:sp>
        <p:nvSpPr>
          <p:cNvPr id="88" name="Trapezoid 87"/>
          <p:cNvSpPr/>
          <p:nvPr/>
        </p:nvSpPr>
        <p:spPr bwMode="gray">
          <a:xfrm rot="5400000">
            <a:off x="5957512" y="3386396"/>
            <a:ext cx="965743" cy="575715"/>
          </a:xfrm>
          <a:prstGeom prst="trapezoid">
            <a:avLst>
              <a:gd name="adj" fmla="val 25322"/>
            </a:avLst>
          </a:prstGeom>
          <a:gradFill flip="none" rotWithShape="1">
            <a:gsLst>
              <a:gs pos="0">
                <a:schemeClr val="bg1"/>
              </a:gs>
              <a:gs pos="100000">
                <a:srgbClr val="EC7061">
                  <a:alpha val="8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Text Box 26"/>
          <p:cNvSpPr txBox="1">
            <a:spLocks noChangeArrowheads="1"/>
          </p:cNvSpPr>
          <p:nvPr/>
        </p:nvSpPr>
        <p:spPr bwMode="gray">
          <a:xfrm>
            <a:off x="5807968" y="3276269"/>
            <a:ext cx="1003677" cy="954043"/>
          </a:xfrm>
          <a:prstGeom prst="rect">
            <a:avLst/>
          </a:prstGeom>
          <a:noFill/>
          <a:ln w="9525">
            <a:noFill/>
            <a:miter lim="800000"/>
            <a:headEnd/>
            <a:tailEnd/>
          </a:ln>
        </p:spPr>
        <p:txBody>
          <a:bodyPr wrap="none" lIns="91379" tIns="45688" rIns="91379" bIns="45688" anchor="ctr">
            <a:spAutoFit/>
          </a:bodyPr>
          <a:lstStyle/>
          <a:p>
            <a:pPr algn="ctr" eaLnBrk="1" fontAlgn="auto"/>
            <a:r>
              <a:rPr kumimoji="1" lang="zh-CN" altLang="en-US" sz="1400" dirty="0">
                <a:latin typeface="Huawei Sans" panose="020C0503030203020204" pitchFamily="34" charset="0"/>
                <a:ea typeface="方正兰亭黑简体" panose="02000000000000000000" pitchFamily="2" charset="-122"/>
              </a:rPr>
              <a:t>认证策略</a:t>
            </a:r>
            <a:r>
              <a:rPr kumimoji="1" lang="en-US" altLang="zh-CN" sz="1400" dirty="0">
                <a:solidFill>
                  <a:srgbClr val="C7000B"/>
                </a:solidFill>
                <a:latin typeface="Huawei Sans" panose="020C0503030203020204" pitchFamily="34" charset="0"/>
                <a:ea typeface="方正兰亭黑简体" panose="02000000000000000000" pitchFamily="2" charset="-122"/>
              </a:rPr>
              <a:t>1</a:t>
            </a:r>
          </a:p>
          <a:p>
            <a:pPr algn="ctr" eaLnBrk="1" fontAlgn="auto"/>
            <a:r>
              <a:rPr kumimoji="1" lang="zh-CN" altLang="en-US" sz="1400" dirty="0">
                <a:latin typeface="Huawei Sans" panose="020C0503030203020204" pitchFamily="34" charset="0"/>
                <a:ea typeface="方正兰亭黑简体" panose="02000000000000000000" pitchFamily="2" charset="-122"/>
              </a:rPr>
              <a:t>加密策略</a:t>
            </a:r>
            <a:r>
              <a:rPr kumimoji="1" lang="en-US" altLang="zh-CN" sz="1400" dirty="0">
                <a:solidFill>
                  <a:srgbClr val="C7000B"/>
                </a:solidFill>
                <a:latin typeface="Huawei Sans" panose="020C0503030203020204" pitchFamily="34" charset="0"/>
                <a:ea typeface="方正兰亭黑简体" panose="02000000000000000000" pitchFamily="2" charset="-122"/>
              </a:rPr>
              <a:t>1</a:t>
            </a:r>
          </a:p>
          <a:p>
            <a:pPr algn="ctr" eaLnBrk="1" fontAlgn="auto" hangingPunct="1"/>
            <a:r>
              <a:rPr kumimoji="1" lang="zh-CN" altLang="en-US" sz="1400" dirty="0">
                <a:latin typeface="Huawei Sans" panose="020C0503030203020204" pitchFamily="34" charset="0"/>
                <a:ea typeface="方正兰亭黑简体" panose="02000000000000000000" pitchFamily="2" charset="-122"/>
              </a:rPr>
              <a:t>密钥</a:t>
            </a:r>
            <a:r>
              <a:rPr kumimoji="1" lang="en-US" altLang="zh-CN" sz="1400" dirty="0">
                <a:solidFill>
                  <a:srgbClr val="C7000B"/>
                </a:solidFill>
                <a:latin typeface="Huawei Sans" panose="020C0503030203020204" pitchFamily="34" charset="0"/>
                <a:ea typeface="方正兰亭黑简体" panose="02000000000000000000" pitchFamily="2" charset="-122"/>
              </a:rPr>
              <a:t>1</a:t>
            </a:r>
          </a:p>
          <a:p>
            <a:pPr algn="ctr" eaLnBrk="1" fontAlgn="auto" hangingPunct="1"/>
            <a:r>
              <a:rPr kumimoji="1" lang="en-US" altLang="zh-CN" sz="1400" dirty="0">
                <a:latin typeface="Huawei Sans" panose="020C0503030203020204" pitchFamily="34" charset="0"/>
                <a:ea typeface="方正兰亭黑简体" panose="02000000000000000000" pitchFamily="2" charset="-122"/>
              </a:rPr>
              <a:t>...</a:t>
            </a:r>
            <a:endParaRPr kumimoji="1" lang="zh-CN" altLang="en-US" sz="1400" dirty="0">
              <a:latin typeface="Huawei Sans" panose="020C0503030203020204" pitchFamily="34" charset="0"/>
              <a:ea typeface="方正兰亭黑简体" panose="02000000000000000000" pitchFamily="2" charset="-122"/>
            </a:endParaRPr>
          </a:p>
        </p:txBody>
      </p:sp>
      <p:sp>
        <p:nvSpPr>
          <p:cNvPr id="107" name="Down Arrow 106"/>
          <p:cNvSpPr/>
          <p:nvPr/>
        </p:nvSpPr>
        <p:spPr bwMode="gray">
          <a:xfrm>
            <a:off x="8373451" y="4096843"/>
            <a:ext cx="288032" cy="587729"/>
          </a:xfrm>
          <a:prstGeom prst="down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Text Box 26"/>
          <p:cNvSpPr txBox="1">
            <a:spLocks noChangeArrowheads="1"/>
          </p:cNvSpPr>
          <p:nvPr/>
        </p:nvSpPr>
        <p:spPr bwMode="gray">
          <a:xfrm>
            <a:off x="7822062" y="5057753"/>
            <a:ext cx="1362750" cy="738599"/>
          </a:xfrm>
          <a:prstGeom prst="rect">
            <a:avLst/>
          </a:prstGeom>
          <a:noFill/>
          <a:ln w="9525">
            <a:solidFill>
              <a:srgbClr val="56C4D2"/>
            </a:solidFill>
            <a:miter lim="800000"/>
            <a:headEnd/>
            <a:tailEnd/>
          </a:ln>
        </p:spPr>
        <p:txBody>
          <a:bodyPr wrap="square" lIns="91379" tIns="45688" rIns="91379" bIns="45688" anchor="ctr">
            <a:spAutoFit/>
          </a:bodyPr>
          <a:lstStyle/>
          <a:p>
            <a:pPr algn="ctr" fontAlgn="auto"/>
            <a:r>
              <a:rPr kumimoji="1" lang="zh-CN" altLang="en-US" sz="1400" dirty="0">
                <a:latin typeface="Huawei Sans" panose="020C0503030203020204" pitchFamily="34" charset="0"/>
                <a:ea typeface="方正兰亭黑简体" panose="02000000000000000000" pitchFamily="2" charset="-122"/>
              </a:rPr>
              <a:t>认证加密策略</a:t>
            </a:r>
            <a:r>
              <a:rPr kumimoji="1" lang="en-US" altLang="zh-CN" sz="1400" dirty="0">
                <a:latin typeface="Huawei Sans" panose="020C0503030203020204" pitchFamily="34" charset="0"/>
                <a:ea typeface="方正兰亭黑简体" panose="02000000000000000000" pitchFamily="2" charset="-122"/>
              </a:rPr>
              <a:t>1</a:t>
            </a:r>
          </a:p>
          <a:p>
            <a:pPr algn="ctr" fontAlgn="auto"/>
            <a:r>
              <a:rPr kumimoji="1" lang="zh-CN" altLang="en-US" sz="1400" dirty="0">
                <a:latin typeface="Huawei Sans" panose="020C0503030203020204" pitchFamily="34" charset="0"/>
                <a:ea typeface="方正兰亭黑简体" panose="02000000000000000000" pitchFamily="2" charset="-122"/>
              </a:rPr>
              <a:t>密钥</a:t>
            </a:r>
            <a:r>
              <a:rPr kumimoji="1" lang="en-US" altLang="zh-CN" sz="1400" dirty="0">
                <a:latin typeface="Huawei Sans" panose="020C0503030203020204" pitchFamily="34" charset="0"/>
                <a:ea typeface="方正兰亭黑简体" panose="02000000000000000000" pitchFamily="2" charset="-122"/>
              </a:rPr>
              <a:t>1</a:t>
            </a:r>
          </a:p>
          <a:p>
            <a:pPr algn="ctr" fontAlgn="auto"/>
            <a:r>
              <a:rPr kumimoji="1" lang="en-US" altLang="zh-CN" sz="1400" dirty="0">
                <a:latin typeface="Huawei Sans" panose="020C0503030203020204" pitchFamily="34" charset="0"/>
                <a:ea typeface="方正兰亭黑简体" panose="02000000000000000000" pitchFamily="2" charset="-122"/>
              </a:rPr>
              <a:t>…</a:t>
            </a:r>
            <a:endParaRPr kumimoji="1" lang="zh-CN" altLang="en-US" sz="1400" dirty="0">
              <a:latin typeface="Huawei Sans" panose="020C0503030203020204" pitchFamily="34" charset="0"/>
              <a:ea typeface="方正兰亭黑简体" panose="02000000000000000000" pitchFamily="2" charset="-122"/>
            </a:endParaRPr>
          </a:p>
        </p:txBody>
      </p:sp>
      <p:sp>
        <p:nvSpPr>
          <p:cNvPr id="109" name="Text Box 26"/>
          <p:cNvSpPr txBox="1">
            <a:spLocks noChangeArrowheads="1"/>
          </p:cNvSpPr>
          <p:nvPr/>
        </p:nvSpPr>
        <p:spPr bwMode="gray">
          <a:xfrm>
            <a:off x="8618657" y="4129130"/>
            <a:ext cx="1433004" cy="523156"/>
          </a:xfrm>
          <a:prstGeom prst="rect">
            <a:avLst/>
          </a:prstGeom>
          <a:noFill/>
          <a:ln w="9525">
            <a:noFill/>
            <a:miter lim="800000"/>
            <a:headEnd/>
            <a:tailEnd/>
          </a:ln>
        </p:spPr>
        <p:txBody>
          <a:bodyPr wrap="square" lIns="91379" tIns="45688" rIns="91379" bIns="45688" anchor="ctr">
            <a:spAutoFit/>
          </a:bodyPr>
          <a:lstStyle/>
          <a:p>
            <a:pPr algn="ctr" eaLnBrk="1" fontAlgn="auto" hangingPunct="1"/>
            <a:r>
              <a:rPr kumimoji="1" lang="zh-CN" altLang="en-US" sz="1400" dirty="0">
                <a:latin typeface="Huawei Sans" panose="020C0503030203020204" pitchFamily="34" charset="0"/>
                <a:ea typeface="方正兰亭黑简体" panose="02000000000000000000" pitchFamily="2" charset="-122"/>
              </a:rPr>
              <a:t>协商后，统一加密认证等要素</a:t>
            </a:r>
          </a:p>
        </p:txBody>
      </p:sp>
      <p:sp>
        <p:nvSpPr>
          <p:cNvPr id="111" name="Left-Right Arrow 110"/>
          <p:cNvSpPr/>
          <p:nvPr/>
        </p:nvSpPr>
        <p:spPr bwMode="gray">
          <a:xfrm>
            <a:off x="7608910" y="3723662"/>
            <a:ext cx="1875660" cy="450249"/>
          </a:xfrm>
          <a:prstGeom prst="leftRightArrow">
            <a:avLst/>
          </a:prstGeom>
          <a:solidFill>
            <a:srgbClr val="56C4D2"/>
          </a:solidFill>
          <a:ln>
            <a:solidFill>
              <a:srgbClr val="56C4D2"/>
            </a:solidFill>
          </a:ln>
        </p:spPr>
        <p:txBody>
          <a:bodyPr wrap="square" rtlCol="0" anchor="ctr">
            <a:noAutofit/>
          </a:bodyPr>
          <a:lstStyle/>
          <a:p>
            <a:pPr algn="ctr" fontAlgn="auto"/>
            <a:r>
              <a:rPr lang="en-US" altLang="zh-CN"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IPsec SA</a:t>
            </a:r>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协商</a:t>
            </a:r>
          </a:p>
        </p:txBody>
      </p:sp>
      <p:sp>
        <p:nvSpPr>
          <p:cNvPr id="112" name="Trapezoid 111"/>
          <p:cNvSpPr/>
          <p:nvPr/>
        </p:nvSpPr>
        <p:spPr bwMode="gray">
          <a:xfrm rot="16200000" flipH="1">
            <a:off x="10228587" y="3401598"/>
            <a:ext cx="965743" cy="575715"/>
          </a:xfrm>
          <a:prstGeom prst="trapezoid">
            <a:avLst>
              <a:gd name="adj" fmla="val 25322"/>
            </a:avLst>
          </a:prstGeom>
          <a:gradFill flip="none" rotWithShape="1">
            <a:gsLst>
              <a:gs pos="0">
                <a:schemeClr val="bg1"/>
              </a:gs>
              <a:gs pos="100000">
                <a:srgbClr val="EC7061">
                  <a:alpha val="8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Text Box 26"/>
          <p:cNvSpPr txBox="1">
            <a:spLocks noChangeArrowheads="1"/>
          </p:cNvSpPr>
          <p:nvPr/>
        </p:nvSpPr>
        <p:spPr bwMode="gray">
          <a:xfrm>
            <a:off x="10316786" y="3318403"/>
            <a:ext cx="1108068" cy="954043"/>
          </a:xfrm>
          <a:prstGeom prst="rect">
            <a:avLst/>
          </a:prstGeom>
          <a:noFill/>
          <a:ln w="9525">
            <a:noFill/>
            <a:miter lim="800000"/>
            <a:headEnd/>
            <a:tailEnd/>
          </a:ln>
        </p:spPr>
        <p:txBody>
          <a:bodyPr wrap="square" lIns="91379" tIns="45688" rIns="91379" bIns="45688" anchor="ctr">
            <a:spAutoFit/>
          </a:bodyPr>
          <a:lstStyle/>
          <a:p>
            <a:pPr algn="ctr" eaLnBrk="1" fontAlgn="auto"/>
            <a:r>
              <a:rPr kumimoji="1" lang="zh-CN" altLang="en-US" sz="1400" dirty="0">
                <a:latin typeface="Huawei Sans" panose="020C0503030203020204" pitchFamily="34" charset="0"/>
                <a:ea typeface="方正兰亭黑简体" panose="02000000000000000000" pitchFamily="2" charset="-122"/>
              </a:rPr>
              <a:t>认证策略</a:t>
            </a:r>
            <a:r>
              <a:rPr kumimoji="1" lang="en-US" altLang="zh-CN" sz="1400" dirty="0">
                <a:solidFill>
                  <a:srgbClr val="C7000B"/>
                </a:solidFill>
                <a:latin typeface="Huawei Sans" panose="020C0503030203020204" pitchFamily="34" charset="0"/>
                <a:ea typeface="方正兰亭黑简体" panose="02000000000000000000" pitchFamily="2" charset="-122"/>
              </a:rPr>
              <a:t>2</a:t>
            </a:r>
          </a:p>
          <a:p>
            <a:pPr algn="ctr" eaLnBrk="1" fontAlgn="auto"/>
            <a:r>
              <a:rPr kumimoji="1" lang="zh-CN" altLang="en-US" sz="1400" dirty="0">
                <a:latin typeface="Huawei Sans" panose="020C0503030203020204" pitchFamily="34" charset="0"/>
                <a:ea typeface="方正兰亭黑简体" panose="02000000000000000000" pitchFamily="2" charset="-122"/>
              </a:rPr>
              <a:t>加密策略</a:t>
            </a:r>
            <a:r>
              <a:rPr kumimoji="1" lang="en-US" altLang="zh-CN" sz="1400" dirty="0">
                <a:solidFill>
                  <a:srgbClr val="C7000B"/>
                </a:solidFill>
                <a:latin typeface="Huawei Sans" panose="020C0503030203020204" pitchFamily="34" charset="0"/>
                <a:ea typeface="方正兰亭黑简体" panose="02000000000000000000" pitchFamily="2" charset="-122"/>
              </a:rPr>
              <a:t>2</a:t>
            </a:r>
          </a:p>
          <a:p>
            <a:pPr algn="ctr" eaLnBrk="1" fontAlgn="auto"/>
            <a:r>
              <a:rPr kumimoji="1" lang="zh-CN" altLang="en-US" sz="1400" dirty="0">
                <a:latin typeface="Huawei Sans" panose="020C0503030203020204" pitchFamily="34" charset="0"/>
                <a:ea typeface="方正兰亭黑简体" panose="02000000000000000000" pitchFamily="2" charset="-122"/>
              </a:rPr>
              <a:t>密钥</a:t>
            </a:r>
            <a:r>
              <a:rPr kumimoji="1" lang="en-US" altLang="zh-CN" sz="1400" dirty="0">
                <a:solidFill>
                  <a:srgbClr val="C7000B"/>
                </a:solidFill>
                <a:latin typeface="Huawei Sans" panose="020C0503030203020204" pitchFamily="34" charset="0"/>
                <a:ea typeface="方正兰亭黑简体" panose="02000000000000000000" pitchFamily="2" charset="-122"/>
              </a:rPr>
              <a:t>2</a:t>
            </a:r>
          </a:p>
          <a:p>
            <a:pPr algn="ctr" eaLnBrk="1" fontAlgn="auto"/>
            <a:r>
              <a:rPr kumimoji="1" lang="en-US" altLang="zh-CN" sz="1400" dirty="0">
                <a:latin typeface="Huawei Sans" panose="020C0503030203020204" pitchFamily="34" charset="0"/>
                <a:ea typeface="方正兰亭黑简体" panose="02000000000000000000" pitchFamily="2" charset="-122"/>
              </a:rPr>
              <a:t>…</a:t>
            </a:r>
            <a:endParaRPr kumimoji="1" lang="zh-CN" altLang="en-US" sz="1400" dirty="0">
              <a:latin typeface="Huawei Sans" panose="020C0503030203020204" pitchFamily="34" charset="0"/>
              <a:ea typeface="方正兰亭黑简体" panose="02000000000000000000" pitchFamily="2" charset="-122"/>
            </a:endParaRPr>
          </a:p>
        </p:txBody>
      </p:sp>
      <p:sp>
        <p:nvSpPr>
          <p:cNvPr id="20" name="Down Arrow 106">
            <a:extLst>
              <a:ext uri="{FF2B5EF4-FFF2-40B4-BE49-F238E27FC236}">
                <a16:creationId xmlns:a16="http://schemas.microsoft.com/office/drawing/2014/main" id="{4401FBB7-3AFB-4626-A63D-0A508647DDDB}"/>
              </a:ext>
            </a:extLst>
          </p:cNvPr>
          <p:cNvSpPr/>
          <p:nvPr/>
        </p:nvSpPr>
        <p:spPr bwMode="gray">
          <a:xfrm>
            <a:off x="8368445" y="3603461"/>
            <a:ext cx="288032" cy="217839"/>
          </a:xfrm>
          <a:prstGeom prst="downArrow">
            <a:avLst/>
          </a:prstGeom>
          <a:solidFill>
            <a:srgbClr val="EC7061"/>
          </a:solid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75">
            <a:extLst>
              <a:ext uri="{FF2B5EF4-FFF2-40B4-BE49-F238E27FC236}">
                <a16:creationId xmlns:a16="http://schemas.microsoft.com/office/drawing/2014/main" id="{2A9B9CA5-E6FC-435C-8EDB-EBCC420EDB39}"/>
              </a:ext>
            </a:extLst>
          </p:cNvPr>
          <p:cNvSpPr/>
          <p:nvPr/>
        </p:nvSpPr>
        <p:spPr bwMode="gray">
          <a:xfrm>
            <a:off x="731836" y="3107202"/>
            <a:ext cx="4961612" cy="291450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22" name="圆角矩形 75">
            <a:extLst>
              <a:ext uri="{FF2B5EF4-FFF2-40B4-BE49-F238E27FC236}">
                <a16:creationId xmlns:a16="http://schemas.microsoft.com/office/drawing/2014/main" id="{327C9921-3BCA-40DC-B012-FF95A3734283}"/>
              </a:ext>
            </a:extLst>
          </p:cNvPr>
          <p:cNvSpPr/>
          <p:nvPr/>
        </p:nvSpPr>
        <p:spPr bwMode="gray">
          <a:xfrm>
            <a:off x="731836" y="2672916"/>
            <a:ext cx="4961612"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手工方式建立</a:t>
            </a:r>
            <a:r>
              <a:rPr lang="en-US" altLang="zh-CN" sz="1600" dirty="0">
                <a:solidFill>
                  <a:srgbClr val="30B5C5"/>
                </a:solidFill>
                <a:latin typeface="Huawei Sans" panose="020C0503030203020204" pitchFamily="34" charset="0"/>
                <a:ea typeface="方正兰亭黑简体" panose="02000000000000000000" pitchFamily="2" charset="-122"/>
              </a:rPr>
              <a:t>IPsec SA</a:t>
            </a:r>
            <a:endParaRPr lang="zh-CN" altLang="en-US" sz="1600" dirty="0">
              <a:solidFill>
                <a:srgbClr val="30B5C5"/>
              </a:solidFill>
              <a:latin typeface="Huawei Sans" panose="020C0503030203020204" pitchFamily="34" charset="0"/>
              <a:ea typeface="方正兰亭黑简体" panose="02000000000000000000" pitchFamily="2" charset="-122"/>
            </a:endParaRPr>
          </a:p>
        </p:txBody>
      </p:sp>
      <p:sp>
        <p:nvSpPr>
          <p:cNvPr id="25" name="Left-Right Arrow 86">
            <a:extLst>
              <a:ext uri="{FF2B5EF4-FFF2-40B4-BE49-F238E27FC236}">
                <a16:creationId xmlns:a16="http://schemas.microsoft.com/office/drawing/2014/main" id="{050F2935-4E64-42DC-99FA-9FABBB44C55E}"/>
              </a:ext>
            </a:extLst>
          </p:cNvPr>
          <p:cNvSpPr/>
          <p:nvPr/>
        </p:nvSpPr>
        <p:spPr bwMode="gray">
          <a:xfrm>
            <a:off x="1683415" y="4261866"/>
            <a:ext cx="3035283" cy="450249"/>
          </a:xfrm>
          <a:prstGeom prst="leftRightArrow">
            <a:avLst/>
          </a:prstGeom>
          <a:solidFill>
            <a:srgbClr val="EC7061"/>
          </a:solidFill>
          <a:ln>
            <a:solidFill>
              <a:srgbClr val="EC7061"/>
            </a:solidFill>
          </a:ln>
        </p:spPr>
        <p:txBody>
          <a:bodyPr wrap="square" rtlCol="0" anchor="ctr">
            <a:noAutofit/>
          </a:bodyPr>
          <a:lstStyle/>
          <a:p>
            <a:pPr algn="ctr" fontAlgn="auto"/>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手工配置</a:t>
            </a:r>
          </a:p>
        </p:txBody>
      </p:sp>
      <p:sp>
        <p:nvSpPr>
          <p:cNvPr id="26" name="Trapezoid 25">
            <a:extLst>
              <a:ext uri="{FF2B5EF4-FFF2-40B4-BE49-F238E27FC236}">
                <a16:creationId xmlns:a16="http://schemas.microsoft.com/office/drawing/2014/main" id="{A0FFFCFB-BFD8-47AA-88D2-E71EC294F7F5}"/>
              </a:ext>
            </a:extLst>
          </p:cNvPr>
          <p:cNvSpPr/>
          <p:nvPr/>
        </p:nvSpPr>
        <p:spPr bwMode="gray">
          <a:xfrm rot="5400000">
            <a:off x="882788" y="4199134"/>
            <a:ext cx="965743" cy="575715"/>
          </a:xfrm>
          <a:prstGeom prst="trapezoid">
            <a:avLst>
              <a:gd name="adj" fmla="val 25322"/>
            </a:avLst>
          </a:prstGeom>
          <a:gradFill flip="none" rotWithShape="1">
            <a:gsLst>
              <a:gs pos="0">
                <a:schemeClr val="bg1"/>
              </a:gs>
              <a:gs pos="100000">
                <a:srgbClr val="EC7061">
                  <a:alpha val="8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 Box 26">
            <a:extLst>
              <a:ext uri="{FF2B5EF4-FFF2-40B4-BE49-F238E27FC236}">
                <a16:creationId xmlns:a16="http://schemas.microsoft.com/office/drawing/2014/main" id="{2AC41124-9473-4B1C-A0F5-FD2CD2CDDA25}"/>
              </a:ext>
            </a:extLst>
          </p:cNvPr>
          <p:cNvSpPr txBox="1">
            <a:spLocks noChangeArrowheads="1"/>
          </p:cNvSpPr>
          <p:nvPr/>
        </p:nvSpPr>
        <p:spPr bwMode="gray">
          <a:xfrm>
            <a:off x="733244" y="4089007"/>
            <a:ext cx="1003677" cy="954043"/>
          </a:xfrm>
          <a:prstGeom prst="rect">
            <a:avLst/>
          </a:prstGeom>
          <a:noFill/>
          <a:ln w="9525">
            <a:noFill/>
            <a:miter lim="800000"/>
            <a:headEnd/>
            <a:tailEnd/>
          </a:ln>
        </p:spPr>
        <p:txBody>
          <a:bodyPr wrap="none" lIns="91379" tIns="45688" rIns="91379" bIns="45688" anchor="ctr">
            <a:spAutoFit/>
          </a:bodyPr>
          <a:lstStyle/>
          <a:p>
            <a:pPr algn="ctr" eaLnBrk="1" fontAlgn="auto"/>
            <a:r>
              <a:rPr kumimoji="1" lang="zh-CN" altLang="en-US" sz="1400" dirty="0">
                <a:latin typeface="Huawei Sans" panose="020C0503030203020204" pitchFamily="34" charset="0"/>
                <a:ea typeface="方正兰亭黑简体" panose="02000000000000000000" pitchFamily="2" charset="-122"/>
              </a:rPr>
              <a:t>认证策略</a:t>
            </a:r>
            <a:r>
              <a:rPr kumimoji="1" lang="en-US" altLang="zh-CN" sz="1400" dirty="0">
                <a:latin typeface="Huawei Sans" panose="020C0503030203020204" pitchFamily="34" charset="0"/>
                <a:ea typeface="方正兰亭黑简体" panose="02000000000000000000" pitchFamily="2" charset="-122"/>
              </a:rPr>
              <a:t>1</a:t>
            </a:r>
          </a:p>
          <a:p>
            <a:pPr algn="ctr" eaLnBrk="1" fontAlgn="auto"/>
            <a:r>
              <a:rPr kumimoji="1" lang="zh-CN" altLang="en-US" sz="1400" dirty="0">
                <a:latin typeface="Huawei Sans" panose="020C0503030203020204" pitchFamily="34" charset="0"/>
                <a:ea typeface="方正兰亭黑简体" panose="02000000000000000000" pitchFamily="2" charset="-122"/>
              </a:rPr>
              <a:t>加密策略</a:t>
            </a:r>
            <a:r>
              <a:rPr kumimoji="1" lang="en-US" altLang="zh-CN" sz="1400" dirty="0">
                <a:latin typeface="Huawei Sans" panose="020C0503030203020204" pitchFamily="34" charset="0"/>
                <a:ea typeface="方正兰亭黑简体" panose="02000000000000000000" pitchFamily="2" charset="-122"/>
              </a:rPr>
              <a:t>1</a:t>
            </a:r>
          </a:p>
          <a:p>
            <a:pPr algn="ctr" eaLnBrk="1" fontAlgn="auto" hangingPunct="1"/>
            <a:r>
              <a:rPr kumimoji="1" lang="zh-CN" altLang="en-US" sz="1400" dirty="0">
                <a:latin typeface="Huawei Sans" panose="020C0503030203020204" pitchFamily="34" charset="0"/>
                <a:ea typeface="方正兰亭黑简体" panose="02000000000000000000" pitchFamily="2" charset="-122"/>
              </a:rPr>
              <a:t>密钥</a:t>
            </a:r>
            <a:r>
              <a:rPr kumimoji="1" lang="en-US" altLang="zh-CN" sz="1400" dirty="0">
                <a:latin typeface="Huawei Sans" panose="020C0503030203020204" pitchFamily="34" charset="0"/>
                <a:ea typeface="方正兰亭黑简体" panose="02000000000000000000" pitchFamily="2" charset="-122"/>
              </a:rPr>
              <a:t>1</a:t>
            </a:r>
          </a:p>
          <a:p>
            <a:pPr algn="ctr" eaLnBrk="1" fontAlgn="auto" hangingPunct="1"/>
            <a:r>
              <a:rPr kumimoji="1" lang="en-US" altLang="zh-CN" sz="1400" dirty="0">
                <a:latin typeface="Huawei Sans" panose="020C0503030203020204" pitchFamily="34" charset="0"/>
                <a:ea typeface="方正兰亭黑简体" panose="02000000000000000000" pitchFamily="2" charset="-122"/>
              </a:rPr>
              <a:t>...</a:t>
            </a:r>
            <a:endParaRPr kumimoji="1" lang="zh-CN" altLang="en-US" sz="1400" dirty="0">
              <a:latin typeface="Huawei Sans" panose="020C0503030203020204" pitchFamily="34" charset="0"/>
              <a:ea typeface="方正兰亭黑简体" panose="02000000000000000000" pitchFamily="2" charset="-122"/>
            </a:endParaRPr>
          </a:p>
        </p:txBody>
      </p:sp>
      <p:sp>
        <p:nvSpPr>
          <p:cNvPr id="32" name="Trapezoid 31">
            <a:extLst>
              <a:ext uri="{FF2B5EF4-FFF2-40B4-BE49-F238E27FC236}">
                <a16:creationId xmlns:a16="http://schemas.microsoft.com/office/drawing/2014/main" id="{469E6D0A-9551-42C5-86E5-D5033D51CEC4}"/>
              </a:ext>
            </a:extLst>
          </p:cNvPr>
          <p:cNvSpPr/>
          <p:nvPr/>
        </p:nvSpPr>
        <p:spPr bwMode="gray">
          <a:xfrm rot="16200000" flipH="1">
            <a:off x="4565046" y="4214336"/>
            <a:ext cx="965743" cy="575715"/>
          </a:xfrm>
          <a:prstGeom prst="trapezoid">
            <a:avLst>
              <a:gd name="adj" fmla="val 25322"/>
            </a:avLst>
          </a:prstGeom>
          <a:gradFill flip="none" rotWithShape="1">
            <a:gsLst>
              <a:gs pos="0">
                <a:schemeClr val="bg1"/>
              </a:gs>
              <a:gs pos="100000">
                <a:srgbClr val="EC7061">
                  <a:alpha val="80000"/>
                </a:srgbClr>
              </a:gs>
            </a:gsLst>
            <a:lin ang="16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 Box 26">
            <a:extLst>
              <a:ext uri="{FF2B5EF4-FFF2-40B4-BE49-F238E27FC236}">
                <a16:creationId xmlns:a16="http://schemas.microsoft.com/office/drawing/2014/main" id="{7395A886-2EF8-491F-B25B-D09CF42BBFEC}"/>
              </a:ext>
            </a:extLst>
          </p:cNvPr>
          <p:cNvSpPr txBox="1">
            <a:spLocks noChangeArrowheads="1"/>
          </p:cNvSpPr>
          <p:nvPr/>
        </p:nvSpPr>
        <p:spPr bwMode="gray">
          <a:xfrm>
            <a:off x="4653245" y="4131141"/>
            <a:ext cx="1108068" cy="954043"/>
          </a:xfrm>
          <a:prstGeom prst="rect">
            <a:avLst/>
          </a:prstGeom>
          <a:noFill/>
          <a:ln w="9525">
            <a:noFill/>
            <a:miter lim="800000"/>
            <a:headEnd/>
            <a:tailEnd/>
          </a:ln>
        </p:spPr>
        <p:txBody>
          <a:bodyPr wrap="square" lIns="91379" tIns="45688" rIns="91379" bIns="45688" anchor="ctr">
            <a:spAutoFit/>
          </a:bodyPr>
          <a:lstStyle/>
          <a:p>
            <a:pPr algn="ctr" eaLnBrk="1" fontAlgn="auto"/>
            <a:r>
              <a:rPr kumimoji="1" lang="zh-CN" altLang="en-US" sz="1400" dirty="0">
                <a:latin typeface="Huawei Sans" panose="020C0503030203020204" pitchFamily="34" charset="0"/>
                <a:ea typeface="方正兰亭黑简体" panose="02000000000000000000" pitchFamily="2" charset="-122"/>
              </a:rPr>
              <a:t>认证策略</a:t>
            </a:r>
            <a:r>
              <a:rPr kumimoji="1" lang="en-US" altLang="zh-CN" sz="1400" dirty="0">
                <a:latin typeface="Huawei Sans" panose="020C0503030203020204" pitchFamily="34" charset="0"/>
                <a:ea typeface="方正兰亭黑简体" panose="02000000000000000000" pitchFamily="2" charset="-122"/>
              </a:rPr>
              <a:t>1</a:t>
            </a:r>
          </a:p>
          <a:p>
            <a:pPr algn="ctr" eaLnBrk="1" fontAlgn="auto"/>
            <a:r>
              <a:rPr kumimoji="1" lang="zh-CN" altLang="en-US" sz="1400" dirty="0">
                <a:latin typeface="Huawei Sans" panose="020C0503030203020204" pitchFamily="34" charset="0"/>
                <a:ea typeface="方正兰亭黑简体" panose="02000000000000000000" pitchFamily="2" charset="-122"/>
              </a:rPr>
              <a:t>加密策略</a:t>
            </a:r>
            <a:r>
              <a:rPr kumimoji="1" lang="en-US" altLang="zh-CN" sz="1400" dirty="0">
                <a:latin typeface="Huawei Sans" panose="020C0503030203020204" pitchFamily="34" charset="0"/>
                <a:ea typeface="方正兰亭黑简体" panose="02000000000000000000" pitchFamily="2" charset="-122"/>
              </a:rPr>
              <a:t>1</a:t>
            </a:r>
          </a:p>
          <a:p>
            <a:pPr algn="ctr" eaLnBrk="1" fontAlgn="auto"/>
            <a:r>
              <a:rPr kumimoji="1" lang="zh-CN" altLang="en-US" sz="1400" dirty="0">
                <a:latin typeface="Huawei Sans" panose="020C0503030203020204" pitchFamily="34" charset="0"/>
                <a:ea typeface="方正兰亭黑简体" panose="02000000000000000000" pitchFamily="2" charset="-122"/>
              </a:rPr>
              <a:t>密钥</a:t>
            </a:r>
            <a:r>
              <a:rPr kumimoji="1" lang="en-US" altLang="zh-CN" sz="1400" dirty="0">
                <a:latin typeface="Huawei Sans" panose="020C0503030203020204" pitchFamily="34" charset="0"/>
                <a:ea typeface="方正兰亭黑简体" panose="02000000000000000000" pitchFamily="2" charset="-122"/>
              </a:rPr>
              <a:t>1</a:t>
            </a:r>
          </a:p>
          <a:p>
            <a:pPr algn="ctr" eaLnBrk="1" fontAlgn="auto"/>
            <a:r>
              <a:rPr kumimoji="1" lang="en-US" altLang="zh-CN" sz="1400" dirty="0">
                <a:latin typeface="Huawei Sans" panose="020C0503030203020204" pitchFamily="34" charset="0"/>
                <a:ea typeface="方正兰亭黑简体" panose="02000000000000000000" pitchFamily="2" charset="-122"/>
              </a:rPr>
              <a:t>…</a:t>
            </a:r>
            <a:endParaRPr kumimoji="1" lang="zh-CN" altLang="en-US" sz="1400" dirty="0">
              <a:latin typeface="Huawei Sans" panose="020C0503030203020204" pitchFamily="34" charset="0"/>
              <a:ea typeface="方正兰亭黑简体" panose="02000000000000000000" pitchFamily="2" charset="-122"/>
            </a:endParaRPr>
          </a:p>
        </p:txBody>
      </p:sp>
      <p:sp>
        <p:nvSpPr>
          <p:cNvPr id="34" name="Text Box 26">
            <a:extLst>
              <a:ext uri="{FF2B5EF4-FFF2-40B4-BE49-F238E27FC236}">
                <a16:creationId xmlns:a16="http://schemas.microsoft.com/office/drawing/2014/main" id="{7A6BB44D-9FBB-4A06-B751-8716427FF34E}"/>
              </a:ext>
            </a:extLst>
          </p:cNvPr>
          <p:cNvSpPr txBox="1">
            <a:spLocks noChangeArrowheads="1"/>
          </p:cNvSpPr>
          <p:nvPr/>
        </p:nvSpPr>
        <p:spPr bwMode="gray">
          <a:xfrm>
            <a:off x="7822062" y="4749382"/>
            <a:ext cx="1362750" cy="307712"/>
          </a:xfrm>
          <a:prstGeom prst="rect">
            <a:avLst/>
          </a:prstGeom>
          <a:solidFill>
            <a:srgbClr val="56C4D2"/>
          </a:solidFill>
          <a:ln w="9525">
            <a:solidFill>
              <a:srgbClr val="56C4D2"/>
            </a:solidFill>
            <a:miter lim="800000"/>
            <a:headEnd/>
            <a:tailEnd/>
          </a:ln>
        </p:spPr>
        <p:txBody>
          <a:bodyPr wrap="square" lIns="91379" tIns="45688" rIns="91379" bIns="45688" anchor="ctr">
            <a:spAutoFit/>
          </a:bodyPr>
          <a:lstStyle/>
          <a:p>
            <a:pPr algn="ctr" fontAlgn="auto"/>
            <a:r>
              <a:rPr kumimoji="1" lang="en-US" altLang="zh-CN" sz="1400" b="1" dirty="0">
                <a:solidFill>
                  <a:schemeClr val="bg1"/>
                </a:solidFill>
                <a:latin typeface="Huawei Sans" panose="020C0503030203020204" pitchFamily="34" charset="0"/>
                <a:ea typeface="方正兰亭黑简体" panose="02000000000000000000" pitchFamily="2" charset="-122"/>
              </a:rPr>
              <a:t>IPsec SA</a:t>
            </a:r>
            <a:endParaRPr kumimoji="1" lang="zh-CN" altLang="en-US" sz="1400" b="1" dirty="0">
              <a:solidFill>
                <a:schemeClr val="bg1"/>
              </a:solidFill>
              <a:latin typeface="Huawei Sans" panose="020C0503030203020204" pitchFamily="34" charset="0"/>
              <a:ea typeface="方正兰亭黑简体" panose="02000000000000000000" pitchFamily="2" charset="-122"/>
            </a:endParaRPr>
          </a:p>
        </p:txBody>
      </p:sp>
      <p:sp>
        <p:nvSpPr>
          <p:cNvPr id="28"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简介</a:t>
            </a:r>
          </a:p>
        </p:txBody>
      </p:sp>
      <p:sp>
        <p:nvSpPr>
          <p:cNvPr id="29"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协议框架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mc:AlternateContent xmlns:mc="http://schemas.openxmlformats.org/markup-compatibility/2006" xmlns:p14="http://schemas.microsoft.com/office/powerpoint/2010/main">
        <mc:Choice Requires="p14">
          <p:contentPart p14:bwMode="auto" r:id="rId3">
            <p14:nvContentPartPr>
              <p14:cNvPr id="6" name="墨迹 5">
                <a:extLst>
                  <a:ext uri="{FF2B5EF4-FFF2-40B4-BE49-F238E27FC236}">
                    <a16:creationId xmlns:a16="http://schemas.microsoft.com/office/drawing/2014/main" id="{F1109BC2-E347-3BD9-48A4-02698D2E084A}"/>
                  </a:ext>
                </a:extLst>
              </p14:cNvPr>
              <p14:cNvContentPartPr/>
              <p14:nvPr/>
            </p14:nvContentPartPr>
            <p14:xfrm>
              <a:off x="247249" y="2997679"/>
              <a:ext cx="360" cy="360"/>
            </p14:xfrm>
          </p:contentPart>
        </mc:Choice>
        <mc:Fallback xmlns="">
          <p:pic>
            <p:nvPicPr>
              <p:cNvPr id="6" name="墨迹 5">
                <a:extLst>
                  <a:ext uri="{FF2B5EF4-FFF2-40B4-BE49-F238E27FC236}">
                    <a16:creationId xmlns:a16="http://schemas.microsoft.com/office/drawing/2014/main" id="{F1109BC2-E347-3BD9-48A4-02698D2E084A}"/>
                  </a:ext>
                </a:extLst>
              </p:cNvPr>
              <p:cNvPicPr/>
              <p:nvPr/>
            </p:nvPicPr>
            <p:blipFill>
              <a:blip r:embed="rId8"/>
              <a:stretch>
                <a:fillRect/>
              </a:stretch>
            </p:blipFill>
            <p:spPr>
              <a:xfrm>
                <a:off x="238249" y="298903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墨迹 14">
                <a:extLst>
                  <a:ext uri="{FF2B5EF4-FFF2-40B4-BE49-F238E27FC236}">
                    <a16:creationId xmlns:a16="http://schemas.microsoft.com/office/drawing/2014/main" id="{0E696E36-B74D-2E3B-E509-104A5FDC4B75}"/>
                  </a:ext>
                </a:extLst>
              </p14:cNvPr>
              <p14:cNvContentPartPr/>
              <p14:nvPr/>
            </p14:nvContentPartPr>
            <p14:xfrm>
              <a:off x="74809" y="5073799"/>
              <a:ext cx="360" cy="360"/>
            </p14:xfrm>
          </p:contentPart>
        </mc:Choice>
        <mc:Fallback xmlns="">
          <p:pic>
            <p:nvPicPr>
              <p:cNvPr id="15" name="墨迹 14">
                <a:extLst>
                  <a:ext uri="{FF2B5EF4-FFF2-40B4-BE49-F238E27FC236}">
                    <a16:creationId xmlns:a16="http://schemas.microsoft.com/office/drawing/2014/main" id="{0E696E36-B74D-2E3B-E509-104A5FDC4B75}"/>
                  </a:ext>
                </a:extLst>
              </p:cNvPr>
              <p:cNvPicPr/>
              <p:nvPr/>
            </p:nvPicPr>
            <p:blipFill>
              <a:blip r:embed="rId8"/>
              <a:stretch>
                <a:fillRect/>
              </a:stretch>
            </p:blipFill>
            <p:spPr>
              <a:xfrm>
                <a:off x="66169" y="506515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墨迹 16">
                <a:extLst>
                  <a:ext uri="{FF2B5EF4-FFF2-40B4-BE49-F238E27FC236}">
                    <a16:creationId xmlns:a16="http://schemas.microsoft.com/office/drawing/2014/main" id="{6A365304-F9B3-20DB-C3E3-120FE3EB428D}"/>
                  </a:ext>
                </a:extLst>
              </p14:cNvPr>
              <p14:cNvContentPartPr/>
              <p14:nvPr/>
            </p14:nvContentPartPr>
            <p14:xfrm>
              <a:off x="8828929" y="3747199"/>
              <a:ext cx="192600" cy="208440"/>
            </p14:xfrm>
          </p:contentPart>
        </mc:Choice>
        <mc:Fallback xmlns="">
          <p:pic>
            <p:nvPicPr>
              <p:cNvPr id="17" name="墨迹 16">
                <a:extLst>
                  <a:ext uri="{FF2B5EF4-FFF2-40B4-BE49-F238E27FC236}">
                    <a16:creationId xmlns:a16="http://schemas.microsoft.com/office/drawing/2014/main" id="{6A365304-F9B3-20DB-C3E3-120FE3EB428D}"/>
                  </a:ext>
                </a:extLst>
              </p:cNvPr>
              <p:cNvPicPr/>
              <p:nvPr/>
            </p:nvPicPr>
            <p:blipFill>
              <a:blip r:embed="rId25"/>
              <a:stretch>
                <a:fillRect/>
              </a:stretch>
            </p:blipFill>
            <p:spPr>
              <a:xfrm>
                <a:off x="8819929" y="3738559"/>
                <a:ext cx="210240" cy="226080"/>
              </a:xfrm>
              <a:prstGeom prst="rect">
                <a:avLst/>
              </a:prstGeom>
            </p:spPr>
          </p:pic>
        </mc:Fallback>
      </mc:AlternateContent>
    </p:spTree>
    <p:extLst>
      <p:ext uri="{BB962C8B-B14F-4D97-AF65-F5344CB8AC3E}">
        <p14:creationId xmlns:p14="http://schemas.microsoft.com/office/powerpoint/2010/main" val="841890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密钥交换介绍</a:t>
            </a:r>
          </a:p>
        </p:txBody>
      </p:sp>
      <p:sp>
        <p:nvSpPr>
          <p:cNvPr id="3" name="Text Placeholder 2"/>
          <p:cNvSpPr>
            <a:spLocks noGrp="1"/>
          </p:cNvSpPr>
          <p:nvPr>
            <p:ph type="body" sz="quarter" idx="10"/>
          </p:nvPr>
        </p:nvSpPr>
        <p:spPr bwMode="gray"/>
        <p:txBody>
          <a:bodyPr/>
          <a:lstStyle/>
          <a:p>
            <a:r>
              <a:rPr lang="zh-CN" altLang="en-US" sz="1800" dirty="0"/>
              <a:t>现网中交互对称密钥一般会使用密钥分发协议：</a:t>
            </a:r>
            <a:r>
              <a:rPr lang="en-US" altLang="zh-CN" sz="1800" dirty="0"/>
              <a:t>IKE</a:t>
            </a:r>
            <a:r>
              <a:rPr lang="zh-CN" altLang="en-US" sz="1800" dirty="0"/>
              <a:t>（</a:t>
            </a:r>
            <a:r>
              <a:rPr lang="en-US" altLang="zh-CN" sz="1800" dirty="0"/>
              <a:t>Internet Key Exchange</a:t>
            </a:r>
            <a:r>
              <a:rPr lang="zh-CN" altLang="en-US" sz="1800" dirty="0"/>
              <a:t>，因特网密钥交换）。</a:t>
            </a:r>
            <a:endParaRPr lang="en-US" altLang="zh-CN" sz="1800" dirty="0"/>
          </a:p>
          <a:p>
            <a:pPr algn="l"/>
            <a:r>
              <a:rPr lang="en-US" altLang="zh-CN" sz="1800" dirty="0"/>
              <a:t>IKE</a:t>
            </a:r>
            <a:r>
              <a:rPr lang="zh-CN" altLang="en-US" sz="1800" dirty="0"/>
              <a:t>协议建立在</a:t>
            </a:r>
            <a:r>
              <a:rPr lang="en-US" altLang="zh-CN" sz="1800" dirty="0"/>
              <a:t>ISAKMP</a:t>
            </a:r>
            <a:r>
              <a:rPr lang="zh-CN" altLang="en-US" sz="1800" dirty="0"/>
              <a:t>（</a:t>
            </a:r>
            <a:r>
              <a:rPr lang="en-US" altLang="zh-CN" sz="1800" dirty="0"/>
              <a:t>Internet Security Association and Key Management Protocol, Internet</a:t>
            </a:r>
            <a:r>
              <a:rPr lang="zh-CN" altLang="en-US" sz="1800" dirty="0"/>
              <a:t>安全联盟和密钥管理协议）定义的框架上，是基于</a:t>
            </a:r>
            <a:r>
              <a:rPr lang="en-US" altLang="zh-CN" sz="1800" dirty="0"/>
              <a:t>UDP</a:t>
            </a:r>
            <a:r>
              <a:rPr lang="zh-CN" altLang="en-US" sz="1800" dirty="0"/>
              <a:t>的应用层协议。它为</a:t>
            </a:r>
            <a:r>
              <a:rPr lang="en-US" altLang="zh-CN" sz="1800" dirty="0"/>
              <a:t>IPsec</a:t>
            </a:r>
            <a:r>
              <a:rPr lang="zh-CN" altLang="en-US" sz="1800" dirty="0"/>
              <a:t>提供了自动协商密钥、建立</a:t>
            </a:r>
            <a:r>
              <a:rPr lang="en-US" altLang="zh-CN" sz="1800" dirty="0"/>
              <a:t>IPsec</a:t>
            </a:r>
            <a:r>
              <a:rPr lang="zh-CN" altLang="en-US" sz="1800" dirty="0"/>
              <a:t>安全联盟的服务，能够简化</a:t>
            </a:r>
            <a:r>
              <a:rPr lang="en-US" altLang="zh-CN" sz="1800" dirty="0"/>
              <a:t>IPsec</a:t>
            </a:r>
            <a:r>
              <a:rPr lang="zh-CN" altLang="en-US" sz="1800" dirty="0"/>
              <a:t>的配置和维护工作。</a:t>
            </a:r>
            <a:endParaRPr lang="en-US" altLang="zh-CN" sz="1800" dirty="0"/>
          </a:p>
          <a:p>
            <a:endParaRPr lang="en-US" altLang="zh-CN" sz="1800" dirty="0"/>
          </a:p>
          <a:p>
            <a:endParaRPr lang="zh-CN" altLang="en-US" sz="1800" dirty="0"/>
          </a:p>
        </p:txBody>
      </p:sp>
      <p:sp>
        <p:nvSpPr>
          <p:cNvPr id="4" name="圆角矩形 75"/>
          <p:cNvSpPr/>
          <p:nvPr/>
        </p:nvSpPr>
        <p:spPr bwMode="gray">
          <a:xfrm>
            <a:off x="1055440" y="3179211"/>
            <a:ext cx="9721080" cy="300463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5" name="圆角矩形 75"/>
          <p:cNvSpPr/>
          <p:nvPr/>
        </p:nvSpPr>
        <p:spPr bwMode="gray">
          <a:xfrm>
            <a:off x="1055440" y="2744924"/>
            <a:ext cx="972108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fontAlgn="auto"/>
            <a:r>
              <a:rPr lang="en-US" altLang="zh-CN" sz="1600" dirty="0">
                <a:solidFill>
                  <a:srgbClr val="30B5C5"/>
                </a:solidFill>
                <a:latin typeface="Huawei Sans" panose="020C0503030203020204" pitchFamily="34" charset="0"/>
                <a:ea typeface="方正兰亭黑简体" panose="02000000000000000000" pitchFamily="2" charset="-122"/>
              </a:rPr>
              <a:t>IKE</a:t>
            </a:r>
            <a:r>
              <a:rPr lang="zh-CN" altLang="en-US" sz="1600" dirty="0">
                <a:solidFill>
                  <a:srgbClr val="30B5C5"/>
                </a:solidFill>
                <a:latin typeface="Huawei Sans" panose="020C0503030203020204" pitchFamily="34" charset="0"/>
                <a:ea typeface="方正兰亭黑简体" panose="02000000000000000000" pitchFamily="2" charset="-122"/>
              </a:rPr>
              <a:t>通过</a:t>
            </a:r>
            <a:r>
              <a:rPr lang="en-US" altLang="zh-CN" sz="1600" dirty="0">
                <a:solidFill>
                  <a:srgbClr val="30B5C5"/>
                </a:solidFill>
                <a:latin typeface="Huawei Sans" panose="020C0503030203020204" pitchFamily="34" charset="0"/>
                <a:ea typeface="方正兰亭黑简体" panose="02000000000000000000" pitchFamily="2" charset="-122"/>
              </a:rPr>
              <a:t>ISAKMP</a:t>
            </a:r>
            <a:r>
              <a:rPr lang="zh-CN" altLang="en-US" sz="1600" dirty="0">
                <a:solidFill>
                  <a:srgbClr val="30B5C5"/>
                </a:solidFill>
                <a:latin typeface="Huawei Sans" panose="020C0503030203020204" pitchFamily="34" charset="0"/>
                <a:ea typeface="方正兰亭黑简体" panose="02000000000000000000" pitchFamily="2" charset="-122"/>
              </a:rPr>
              <a:t>交互</a:t>
            </a:r>
            <a:r>
              <a:rPr lang="en-US" altLang="zh-CN" sz="1600" dirty="0">
                <a:solidFill>
                  <a:srgbClr val="30B5C5"/>
                </a:solidFill>
                <a:latin typeface="Huawei Sans" panose="020C0503030203020204" pitchFamily="34" charset="0"/>
                <a:ea typeface="方正兰亭黑简体" panose="02000000000000000000" pitchFamily="2" charset="-122"/>
              </a:rPr>
              <a:t>SA</a:t>
            </a:r>
            <a:r>
              <a:rPr lang="zh-CN" altLang="en-US" sz="1600" dirty="0">
                <a:solidFill>
                  <a:srgbClr val="30B5C5"/>
                </a:solidFill>
                <a:latin typeface="Huawei Sans" panose="020C0503030203020204" pitchFamily="34" charset="0"/>
                <a:ea typeface="方正兰亭黑简体" panose="02000000000000000000" pitchFamily="2" charset="-122"/>
              </a:rPr>
              <a:t>信息</a:t>
            </a:r>
          </a:p>
        </p:txBody>
      </p:sp>
      <p:sp>
        <p:nvSpPr>
          <p:cNvPr id="6" name="Text Box 26"/>
          <p:cNvSpPr txBox="1">
            <a:spLocks noChangeArrowheads="1"/>
          </p:cNvSpPr>
          <p:nvPr/>
        </p:nvSpPr>
        <p:spPr bwMode="gray">
          <a:xfrm>
            <a:off x="3930899" y="3537334"/>
            <a:ext cx="970014"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IPsec</a:t>
            </a:r>
            <a:r>
              <a:rPr kumimoji="1" lang="zh-CN" altLang="en-US" sz="1400" dirty="0">
                <a:latin typeface="Huawei Sans" panose="020C0503030203020204" pitchFamily="34" charset="0"/>
                <a:ea typeface="方正兰亭黑简体" panose="02000000000000000000" pitchFamily="2" charset="-122"/>
              </a:rPr>
              <a:t>设备</a:t>
            </a:r>
          </a:p>
        </p:txBody>
      </p:sp>
      <p:pic>
        <p:nvPicPr>
          <p:cNvPr id="7" name="Picture 12" descr="E:\2016.01\1.12 扁平化图标\蓝色\AR-蓝色最新-40.png"/>
          <p:cNvPicPr>
            <a:picLocks noChangeAspect="1" noChangeArrowheads="1"/>
          </p:cNvPicPr>
          <p:nvPr/>
        </p:nvPicPr>
        <p:blipFill>
          <a:blip r:embed="rId3" cstate="print"/>
          <a:srcRect/>
          <a:stretch>
            <a:fillRect/>
          </a:stretch>
        </p:blipFill>
        <p:spPr bwMode="gray">
          <a:xfrm>
            <a:off x="4223792" y="3797136"/>
            <a:ext cx="540000" cy="441818"/>
          </a:xfrm>
          <a:prstGeom prst="rect">
            <a:avLst/>
          </a:prstGeom>
          <a:noFill/>
        </p:spPr>
      </p:pic>
      <p:pic>
        <p:nvPicPr>
          <p:cNvPr id="8" name="Picture 12" descr="E:\2016.01\1.12 扁平化图标\蓝色\AR-蓝色最新-40.png"/>
          <p:cNvPicPr>
            <a:picLocks noChangeAspect="1" noChangeArrowheads="1"/>
          </p:cNvPicPr>
          <p:nvPr/>
        </p:nvPicPr>
        <p:blipFill>
          <a:blip r:embed="rId3" cstate="print"/>
          <a:srcRect/>
          <a:stretch>
            <a:fillRect/>
          </a:stretch>
        </p:blipFill>
        <p:spPr bwMode="gray">
          <a:xfrm>
            <a:off x="7237319" y="3797136"/>
            <a:ext cx="540000" cy="441818"/>
          </a:xfrm>
          <a:prstGeom prst="rect">
            <a:avLst/>
          </a:prstGeom>
          <a:noFill/>
        </p:spPr>
      </p:pic>
      <p:cxnSp>
        <p:nvCxnSpPr>
          <p:cNvPr id="9" name="Straight Connector 8"/>
          <p:cNvCxnSpPr>
            <a:stCxn id="11" idx="3"/>
            <a:endCxn id="7" idx="1"/>
          </p:cNvCxnSpPr>
          <p:nvPr/>
        </p:nvCxnSpPr>
        <p:spPr bwMode="gray">
          <a:xfrm flipV="1">
            <a:off x="3520700" y="4018045"/>
            <a:ext cx="703092" cy="49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10" name="Straight Connector 9"/>
          <p:cNvCxnSpPr>
            <a:stCxn id="8" idx="3"/>
            <a:endCxn id="12" idx="1"/>
          </p:cNvCxnSpPr>
          <p:nvPr/>
        </p:nvCxnSpPr>
        <p:spPr bwMode="gray">
          <a:xfrm flipV="1">
            <a:off x="7777319" y="4017554"/>
            <a:ext cx="677740" cy="491"/>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pic>
        <p:nvPicPr>
          <p:cNvPr id="11"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80700" y="3797136"/>
            <a:ext cx="540000" cy="442800"/>
          </a:xfrm>
          <a:prstGeom prst="rect">
            <a:avLst/>
          </a:prstGeom>
        </p:spPr>
      </p:pic>
      <p:pic>
        <p:nvPicPr>
          <p:cNvPr id="12"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55059" y="3796154"/>
            <a:ext cx="540000" cy="442800"/>
          </a:xfrm>
          <a:prstGeom prst="rect">
            <a:avLst/>
          </a:prstGeom>
        </p:spPr>
      </p:pic>
      <p:sp>
        <p:nvSpPr>
          <p:cNvPr id="13" name="Can 41"/>
          <p:cNvSpPr/>
          <p:nvPr/>
        </p:nvSpPr>
        <p:spPr bwMode="gray">
          <a:xfrm rot="5400000">
            <a:off x="5882196" y="2770935"/>
            <a:ext cx="236717" cy="2473527"/>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13"/>
          <p:cNvSpPr txBox="1"/>
          <p:nvPr/>
        </p:nvSpPr>
        <p:spPr bwMode="gray">
          <a:xfrm flipH="1">
            <a:off x="5589163" y="3869198"/>
            <a:ext cx="88059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15" name="Text Box 26"/>
          <p:cNvSpPr txBox="1">
            <a:spLocks noChangeArrowheads="1"/>
          </p:cNvSpPr>
          <p:nvPr/>
        </p:nvSpPr>
        <p:spPr bwMode="gray">
          <a:xfrm>
            <a:off x="7153333" y="3528418"/>
            <a:ext cx="970014" cy="307712"/>
          </a:xfrm>
          <a:prstGeom prst="rect">
            <a:avLst/>
          </a:prstGeom>
          <a:noFill/>
          <a:ln w="9525">
            <a:no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IPsec</a:t>
            </a:r>
            <a:r>
              <a:rPr kumimoji="1" lang="zh-CN" altLang="en-US" sz="1400" dirty="0">
                <a:latin typeface="Huawei Sans" panose="020C0503030203020204" pitchFamily="34" charset="0"/>
                <a:ea typeface="方正兰亭黑简体" panose="02000000000000000000" pitchFamily="2" charset="-122"/>
              </a:rPr>
              <a:t>设备</a:t>
            </a:r>
          </a:p>
        </p:txBody>
      </p:sp>
      <p:cxnSp>
        <p:nvCxnSpPr>
          <p:cNvPr id="16" name="Straight Arrow Connector 15"/>
          <p:cNvCxnSpPr>
            <a:endCxn id="7" idx="2"/>
          </p:cNvCxnSpPr>
          <p:nvPr/>
        </p:nvCxnSpPr>
        <p:spPr bwMode="gray">
          <a:xfrm flipV="1">
            <a:off x="4493792" y="4238954"/>
            <a:ext cx="0" cy="1136984"/>
          </a:xfrm>
          <a:prstGeom prst="straightConnector1">
            <a:avLst/>
          </a:prstGeom>
          <a:solidFill>
            <a:schemeClr val="accent1"/>
          </a:solidFill>
          <a:ln w="19050" cap="flat" cmpd="sng" algn="ctr">
            <a:solidFill>
              <a:schemeClr val="tx1"/>
            </a:solidFill>
            <a:prstDash val="dash"/>
            <a:round/>
            <a:headEnd type="none" w="med" len="med"/>
            <a:tailEnd type="none" w="med" len="med"/>
          </a:ln>
          <a:effectLst/>
        </p:spPr>
      </p:cxnSp>
      <p:cxnSp>
        <p:nvCxnSpPr>
          <p:cNvPr id="17" name="Straight Arrow Connector 16"/>
          <p:cNvCxnSpPr>
            <a:endCxn id="8" idx="2"/>
          </p:cNvCxnSpPr>
          <p:nvPr/>
        </p:nvCxnSpPr>
        <p:spPr bwMode="gray">
          <a:xfrm flipV="1">
            <a:off x="7507319" y="4238954"/>
            <a:ext cx="0" cy="1136984"/>
          </a:xfrm>
          <a:prstGeom prst="straightConnector1">
            <a:avLst/>
          </a:prstGeom>
          <a:solidFill>
            <a:schemeClr val="accent1"/>
          </a:solidFill>
          <a:ln w="19050" cap="flat" cmpd="sng" algn="ctr">
            <a:solidFill>
              <a:schemeClr val="tx1"/>
            </a:solidFill>
            <a:prstDash val="dash"/>
            <a:round/>
            <a:headEnd type="none" w="med" len="med"/>
            <a:tailEnd type="none" w="med" len="med"/>
          </a:ln>
          <a:effectLst/>
        </p:spPr>
      </p:cxnSp>
      <p:sp>
        <p:nvSpPr>
          <p:cNvPr id="18" name="Text Box 26"/>
          <p:cNvSpPr txBox="1">
            <a:spLocks noChangeArrowheads="1"/>
          </p:cNvSpPr>
          <p:nvPr/>
        </p:nvSpPr>
        <p:spPr bwMode="gray">
          <a:xfrm>
            <a:off x="3920927" y="4388789"/>
            <a:ext cx="803302" cy="307712"/>
          </a:xfrm>
          <a:prstGeom prst="rect">
            <a:avLst/>
          </a:prstGeom>
          <a:solidFill>
            <a:srgbClr val="EC7061"/>
          </a:solidFill>
          <a:ln w="9525">
            <a:solidFill>
              <a:srgbClr val="EC7061"/>
            </a:solidFill>
            <a:miter lim="800000"/>
            <a:headEnd/>
            <a:tailEnd/>
          </a:ln>
        </p:spPr>
        <p:txBody>
          <a:bodyPr wrap="none" lIns="91379" tIns="45688" rIns="91379" bIns="45688" anchor="ctr">
            <a:spAutoFit/>
          </a:bodyPr>
          <a:lstStyle/>
          <a:p>
            <a:pPr algn="ctr" eaLnBrk="1" fontAlgn="t"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sp>
        <p:nvSpPr>
          <p:cNvPr id="22" name="Left-Right Arrow 21"/>
          <p:cNvSpPr/>
          <p:nvPr/>
        </p:nvSpPr>
        <p:spPr bwMode="gray">
          <a:xfrm>
            <a:off x="4763791" y="4308345"/>
            <a:ext cx="2428147" cy="450249"/>
          </a:xfrm>
          <a:prstGeom prst="leftRightArrow">
            <a:avLst/>
          </a:prstGeom>
          <a:solidFill>
            <a:srgbClr val="EC7061"/>
          </a:solidFill>
          <a:ln>
            <a:solidFill>
              <a:srgbClr val="EC7061"/>
            </a:solidFill>
          </a:ln>
        </p:spPr>
        <p:txBody>
          <a:bodyPr wrap="square" rtlCol="0" anchor="ctr">
            <a:noAutofit/>
          </a:bodyPr>
          <a:lstStyle/>
          <a:p>
            <a:pPr algn="ctr" fontAlgn="auto"/>
            <a:r>
              <a:rPr lang="en-US" altLang="zh-CN"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SA</a:t>
            </a:r>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协商</a:t>
            </a:r>
          </a:p>
        </p:txBody>
      </p:sp>
      <p:sp>
        <p:nvSpPr>
          <p:cNvPr id="27" name="Text Box 26"/>
          <p:cNvSpPr txBox="1">
            <a:spLocks noChangeArrowheads="1"/>
          </p:cNvSpPr>
          <p:nvPr/>
        </p:nvSpPr>
        <p:spPr bwMode="gray">
          <a:xfrm>
            <a:off x="7237318" y="4387983"/>
            <a:ext cx="803302" cy="307712"/>
          </a:xfrm>
          <a:prstGeom prst="rect">
            <a:avLst/>
          </a:prstGeom>
          <a:solidFill>
            <a:srgbClr val="EC7061"/>
          </a:solidFill>
          <a:ln w="9525">
            <a:solidFill>
              <a:srgbClr val="EC7061"/>
            </a:solidFill>
            <a:miter lim="800000"/>
            <a:headEnd/>
            <a:tailEnd/>
          </a:ln>
        </p:spPr>
        <p:txBody>
          <a:bodyPr wrap="none" lIns="91379" tIns="45688" rIns="91379" bIns="45688" anchor="ctr">
            <a:spAutoFit/>
          </a:bodyPr>
          <a:lstStyle/>
          <a:p>
            <a:pPr algn="ctr" eaLnBrk="1" fontAlgn="t"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grpSp>
        <p:nvGrpSpPr>
          <p:cNvPr id="47" name="Group 46"/>
          <p:cNvGrpSpPr/>
          <p:nvPr/>
        </p:nvGrpSpPr>
        <p:grpSpPr bwMode="gray">
          <a:xfrm>
            <a:off x="2279576" y="4889859"/>
            <a:ext cx="2973018" cy="287715"/>
            <a:chOff x="2402903" y="5087732"/>
            <a:chExt cx="2973018" cy="287715"/>
          </a:xfrm>
        </p:grpSpPr>
        <p:sp>
          <p:nvSpPr>
            <p:cNvPr id="44" name="TextBox 120">
              <a:extLst>
                <a:ext uri="{FF2B5EF4-FFF2-40B4-BE49-F238E27FC236}">
                  <a16:creationId xmlns:a16="http://schemas.microsoft.com/office/drawing/2014/main" id="{31930744-3D36-4F81-8426-6F129C1A6804}"/>
                </a:ext>
              </a:extLst>
            </p:cNvPr>
            <p:cNvSpPr txBox="1"/>
            <p:nvPr/>
          </p:nvSpPr>
          <p:spPr bwMode="gray">
            <a:xfrm>
              <a:off x="2402903" y="5087732"/>
              <a:ext cx="947740"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 Header</a:t>
              </a:r>
            </a:p>
          </p:txBody>
        </p:sp>
        <p:sp>
          <p:nvSpPr>
            <p:cNvPr id="45" name="TextBox 120">
              <a:extLst>
                <a:ext uri="{FF2B5EF4-FFF2-40B4-BE49-F238E27FC236}">
                  <a16:creationId xmlns:a16="http://schemas.microsoft.com/office/drawing/2014/main" id="{31930744-3D36-4F81-8426-6F129C1A6804}"/>
                </a:ext>
              </a:extLst>
            </p:cNvPr>
            <p:cNvSpPr txBox="1"/>
            <p:nvPr/>
          </p:nvSpPr>
          <p:spPr bwMode="gray">
            <a:xfrm>
              <a:off x="4233395" y="5087732"/>
              <a:ext cx="1142526" cy="287715"/>
            </a:xfrm>
            <a:prstGeom prst="roundRect">
              <a:avLst>
                <a:gd name="adj" fmla="val 6721"/>
              </a:avLst>
            </a:prstGeom>
            <a:solidFill>
              <a:srgbClr val="FFD17D"/>
            </a:solidFill>
            <a:ln w="12700">
              <a:solidFill>
                <a:srgbClr val="FFD17D"/>
              </a:solidFill>
            </a:ln>
          </p:spPr>
          <p:txBody>
            <a:bodyPr wrap="square" rtlCol="0" anchor="ctr">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ISAKMP Data</a:t>
              </a:r>
            </a:p>
          </p:txBody>
        </p:sp>
        <p:sp>
          <p:nvSpPr>
            <p:cNvPr id="46" name="TextBox 120">
              <a:extLst>
                <a:ext uri="{FF2B5EF4-FFF2-40B4-BE49-F238E27FC236}">
                  <a16:creationId xmlns:a16="http://schemas.microsoft.com/office/drawing/2014/main" id="{31930744-3D36-4F81-8426-6F129C1A6804}"/>
                </a:ext>
              </a:extLst>
            </p:cNvPr>
            <p:cNvSpPr txBox="1"/>
            <p:nvPr/>
          </p:nvSpPr>
          <p:spPr bwMode="gray">
            <a:xfrm>
              <a:off x="3350641" y="5087732"/>
              <a:ext cx="873151"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UDP:500</a:t>
              </a:r>
            </a:p>
          </p:txBody>
        </p:sp>
      </p:grpSp>
      <p:grpSp>
        <p:nvGrpSpPr>
          <p:cNvPr id="48" name="Group 47"/>
          <p:cNvGrpSpPr/>
          <p:nvPr/>
        </p:nvGrpSpPr>
        <p:grpSpPr bwMode="gray">
          <a:xfrm>
            <a:off x="6723477" y="5322353"/>
            <a:ext cx="2973018" cy="287715"/>
            <a:chOff x="2402903" y="5087732"/>
            <a:chExt cx="2973018" cy="287715"/>
          </a:xfrm>
        </p:grpSpPr>
        <p:sp>
          <p:nvSpPr>
            <p:cNvPr id="49" name="TextBox 120">
              <a:extLst>
                <a:ext uri="{FF2B5EF4-FFF2-40B4-BE49-F238E27FC236}">
                  <a16:creationId xmlns:a16="http://schemas.microsoft.com/office/drawing/2014/main" id="{31930744-3D36-4F81-8426-6F129C1A6804}"/>
                </a:ext>
              </a:extLst>
            </p:cNvPr>
            <p:cNvSpPr txBox="1"/>
            <p:nvPr/>
          </p:nvSpPr>
          <p:spPr bwMode="gray">
            <a:xfrm>
              <a:off x="2402903" y="5087732"/>
              <a:ext cx="947740"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 Header</a:t>
              </a:r>
            </a:p>
          </p:txBody>
        </p:sp>
        <p:sp>
          <p:nvSpPr>
            <p:cNvPr id="50" name="TextBox 120">
              <a:extLst>
                <a:ext uri="{FF2B5EF4-FFF2-40B4-BE49-F238E27FC236}">
                  <a16:creationId xmlns:a16="http://schemas.microsoft.com/office/drawing/2014/main" id="{31930744-3D36-4F81-8426-6F129C1A6804}"/>
                </a:ext>
              </a:extLst>
            </p:cNvPr>
            <p:cNvSpPr txBox="1"/>
            <p:nvPr/>
          </p:nvSpPr>
          <p:spPr bwMode="gray">
            <a:xfrm>
              <a:off x="4233395" y="5087732"/>
              <a:ext cx="1142526" cy="287715"/>
            </a:xfrm>
            <a:prstGeom prst="roundRect">
              <a:avLst>
                <a:gd name="adj" fmla="val 6721"/>
              </a:avLst>
            </a:prstGeom>
            <a:solidFill>
              <a:srgbClr val="FFD17D"/>
            </a:solidFill>
            <a:ln w="12700">
              <a:solidFill>
                <a:srgbClr val="FFD17D"/>
              </a:solidFill>
            </a:ln>
          </p:spPr>
          <p:txBody>
            <a:bodyPr wrap="square" rtlCol="0" anchor="ctr">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ISAKMP Data</a:t>
              </a:r>
            </a:p>
          </p:txBody>
        </p:sp>
        <p:sp>
          <p:nvSpPr>
            <p:cNvPr id="51" name="TextBox 120">
              <a:extLst>
                <a:ext uri="{FF2B5EF4-FFF2-40B4-BE49-F238E27FC236}">
                  <a16:creationId xmlns:a16="http://schemas.microsoft.com/office/drawing/2014/main" id="{31930744-3D36-4F81-8426-6F129C1A6804}"/>
                </a:ext>
              </a:extLst>
            </p:cNvPr>
            <p:cNvSpPr txBox="1"/>
            <p:nvPr/>
          </p:nvSpPr>
          <p:spPr bwMode="gray">
            <a:xfrm>
              <a:off x="3350641" y="5087732"/>
              <a:ext cx="873151"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UDP:500</a:t>
              </a:r>
            </a:p>
          </p:txBody>
        </p:sp>
      </p:grpSp>
      <p:cxnSp>
        <p:nvCxnSpPr>
          <p:cNvPr id="52" name="Straight Arrow Connector 51"/>
          <p:cNvCxnSpPr/>
          <p:nvPr/>
        </p:nvCxnSpPr>
        <p:spPr bwMode="gray">
          <a:xfrm>
            <a:off x="5303792" y="5031295"/>
            <a:ext cx="2473527"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gray">
          <a:xfrm>
            <a:off x="4223792" y="5463343"/>
            <a:ext cx="2473527" cy="0"/>
          </a:xfrm>
          <a:prstGeom prst="straightConnector1">
            <a:avLst/>
          </a:prstGeom>
          <a:ln w="28575">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Rectangular Callout 53"/>
          <p:cNvSpPr/>
          <p:nvPr/>
        </p:nvSpPr>
        <p:spPr bwMode="gray">
          <a:xfrm>
            <a:off x="2382487" y="5322353"/>
            <a:ext cx="1276428" cy="635259"/>
          </a:xfrm>
          <a:prstGeom prst="wedgeRectCallout">
            <a:avLst>
              <a:gd name="adj1" fmla="val 21321"/>
              <a:gd name="adj2" fmla="val -7702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IKE</a:t>
            </a:r>
            <a:r>
              <a:rPr lang="zh-CN" altLang="en-US" sz="1200" dirty="0">
                <a:solidFill>
                  <a:schemeClr val="tx1"/>
                </a:solidFill>
                <a:latin typeface="Huawei Sans" panose="020C0503030203020204" pitchFamily="34" charset="0"/>
                <a:ea typeface="方正兰亭黑简体" panose="02000000000000000000" pitchFamily="2" charset="-122"/>
              </a:rPr>
              <a:t>模块通过</a:t>
            </a:r>
            <a:r>
              <a:rPr lang="en-US" altLang="zh-CN" sz="1200" dirty="0">
                <a:solidFill>
                  <a:schemeClr val="tx1"/>
                </a:solidFill>
                <a:latin typeface="Huawei Sans" panose="020C0503030203020204" pitchFamily="34" charset="0"/>
                <a:ea typeface="方正兰亭黑简体" panose="02000000000000000000" pitchFamily="2" charset="-122"/>
              </a:rPr>
              <a:t>ISAKMP</a:t>
            </a:r>
            <a:r>
              <a:rPr lang="zh-CN" altLang="en-US" sz="1200" dirty="0">
                <a:solidFill>
                  <a:schemeClr val="tx1"/>
                </a:solidFill>
                <a:latin typeface="Huawei Sans" panose="020C0503030203020204" pitchFamily="34" charset="0"/>
                <a:ea typeface="方正兰亭黑简体" panose="02000000000000000000" pitchFamily="2" charset="-122"/>
              </a:rPr>
              <a:t>数据包交互</a:t>
            </a:r>
            <a:r>
              <a:rPr lang="en-US" altLang="zh-CN" sz="1200" dirty="0">
                <a:solidFill>
                  <a:schemeClr val="tx1"/>
                </a:solidFill>
                <a:latin typeface="Huawei Sans" panose="020C0503030203020204" pitchFamily="34" charset="0"/>
                <a:ea typeface="方正兰亭黑简体" panose="02000000000000000000" pitchFamily="2" charset="-122"/>
              </a:rPr>
              <a:t>SA</a:t>
            </a:r>
            <a:r>
              <a:rPr lang="zh-CN" altLang="en-US" sz="1200" dirty="0">
                <a:solidFill>
                  <a:schemeClr val="tx1"/>
                </a:solidFill>
                <a:latin typeface="Huawei Sans" panose="020C0503030203020204" pitchFamily="34" charset="0"/>
                <a:ea typeface="方正兰亭黑简体" panose="02000000000000000000" pitchFamily="2" charset="-122"/>
              </a:rPr>
              <a:t>信息</a:t>
            </a:r>
          </a:p>
        </p:txBody>
      </p:sp>
      <p:sp>
        <p:nvSpPr>
          <p:cNvPr id="32"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简介</a:t>
            </a:r>
          </a:p>
        </p:txBody>
      </p:sp>
      <p:sp>
        <p:nvSpPr>
          <p:cNvPr id="33"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协议框架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mc:AlternateContent xmlns:mc="http://schemas.openxmlformats.org/markup-compatibility/2006" xmlns:p14="http://schemas.microsoft.com/office/powerpoint/2010/main">
        <mc:Choice Requires="p14">
          <p:contentPart p14:bwMode="auto" r:id="rId5">
            <p14:nvContentPartPr>
              <p14:cNvPr id="20" name="墨迹 19">
                <a:extLst>
                  <a:ext uri="{FF2B5EF4-FFF2-40B4-BE49-F238E27FC236}">
                    <a16:creationId xmlns:a16="http://schemas.microsoft.com/office/drawing/2014/main" id="{3430990D-5383-13B6-77D4-9349E1B8BBF1}"/>
                  </a:ext>
                </a:extLst>
              </p14:cNvPr>
              <p14:cNvContentPartPr/>
              <p14:nvPr/>
            </p14:nvContentPartPr>
            <p14:xfrm>
              <a:off x="2218249" y="2008039"/>
              <a:ext cx="7983360" cy="69120"/>
            </p14:xfrm>
          </p:contentPart>
        </mc:Choice>
        <mc:Fallback xmlns="">
          <p:pic>
            <p:nvPicPr>
              <p:cNvPr id="20" name="墨迹 19">
                <a:extLst>
                  <a:ext uri="{FF2B5EF4-FFF2-40B4-BE49-F238E27FC236}">
                    <a16:creationId xmlns:a16="http://schemas.microsoft.com/office/drawing/2014/main" id="{3430990D-5383-13B6-77D4-9349E1B8BBF1}"/>
                  </a:ext>
                </a:extLst>
              </p:cNvPr>
              <p:cNvPicPr/>
              <p:nvPr/>
            </p:nvPicPr>
            <p:blipFill>
              <a:blip r:embed="rId8"/>
              <a:stretch>
                <a:fillRect/>
              </a:stretch>
            </p:blipFill>
            <p:spPr>
              <a:xfrm>
                <a:off x="2209609" y="1999039"/>
                <a:ext cx="800100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3" name="墨迹 22">
                <a:extLst>
                  <a:ext uri="{FF2B5EF4-FFF2-40B4-BE49-F238E27FC236}">
                    <a16:creationId xmlns:a16="http://schemas.microsoft.com/office/drawing/2014/main" id="{773A0004-CC21-7133-7537-603BE402A516}"/>
                  </a:ext>
                </a:extLst>
              </p14:cNvPr>
              <p14:cNvContentPartPr/>
              <p14:nvPr/>
            </p14:nvContentPartPr>
            <p14:xfrm>
              <a:off x="1746289" y="2721559"/>
              <a:ext cx="2082960" cy="244080"/>
            </p14:xfrm>
          </p:contentPart>
        </mc:Choice>
        <mc:Fallback xmlns="">
          <p:pic>
            <p:nvPicPr>
              <p:cNvPr id="23" name="墨迹 22">
                <a:extLst>
                  <a:ext uri="{FF2B5EF4-FFF2-40B4-BE49-F238E27FC236}">
                    <a16:creationId xmlns:a16="http://schemas.microsoft.com/office/drawing/2014/main" id="{773A0004-CC21-7133-7537-603BE402A516}"/>
                  </a:ext>
                </a:extLst>
              </p:cNvPr>
              <p:cNvPicPr/>
              <p:nvPr/>
            </p:nvPicPr>
            <p:blipFill>
              <a:blip r:embed="rId12"/>
              <a:stretch>
                <a:fillRect/>
              </a:stretch>
            </p:blipFill>
            <p:spPr>
              <a:xfrm>
                <a:off x="1737289" y="2712559"/>
                <a:ext cx="210060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墨迹 41">
                <a:extLst>
                  <a:ext uri="{FF2B5EF4-FFF2-40B4-BE49-F238E27FC236}">
                    <a16:creationId xmlns:a16="http://schemas.microsoft.com/office/drawing/2014/main" id="{68D3AB02-7702-C64B-44D9-2D1D4FB0293D}"/>
                  </a:ext>
                </a:extLst>
              </p14:cNvPr>
              <p14:cNvContentPartPr/>
              <p14:nvPr/>
            </p14:nvContentPartPr>
            <p14:xfrm>
              <a:off x="9254089" y="1474879"/>
              <a:ext cx="330120" cy="268200"/>
            </p14:xfrm>
          </p:contentPart>
        </mc:Choice>
        <mc:Fallback xmlns="">
          <p:pic>
            <p:nvPicPr>
              <p:cNvPr id="42" name="墨迹 41">
                <a:extLst>
                  <a:ext uri="{FF2B5EF4-FFF2-40B4-BE49-F238E27FC236}">
                    <a16:creationId xmlns:a16="http://schemas.microsoft.com/office/drawing/2014/main" id="{68D3AB02-7702-C64B-44D9-2D1D4FB0293D}"/>
                  </a:ext>
                </a:extLst>
              </p:cNvPr>
              <p:cNvPicPr/>
              <p:nvPr/>
            </p:nvPicPr>
            <p:blipFill>
              <a:blip r:embed="rId40"/>
              <a:stretch>
                <a:fillRect/>
              </a:stretch>
            </p:blipFill>
            <p:spPr>
              <a:xfrm>
                <a:off x="9245089" y="1465879"/>
                <a:ext cx="347760" cy="285840"/>
              </a:xfrm>
              <a:prstGeom prst="rect">
                <a:avLst/>
              </a:prstGeom>
            </p:spPr>
          </p:pic>
        </mc:Fallback>
      </mc:AlternateContent>
    </p:spTree>
    <p:extLst>
      <p:ext uri="{BB962C8B-B14F-4D97-AF65-F5344CB8AC3E}">
        <p14:creationId xmlns:p14="http://schemas.microsoft.com/office/powerpoint/2010/main" val="1024305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a:t>数据加密</a:t>
            </a:r>
            <a:r>
              <a:rPr lang="zh-CN" altLang="en-US" dirty="0"/>
              <a:t>与认证</a:t>
            </a:r>
          </a:p>
        </p:txBody>
      </p:sp>
      <p:sp>
        <p:nvSpPr>
          <p:cNvPr id="3" name="Text Placeholder 2"/>
          <p:cNvSpPr>
            <a:spLocks noGrp="1"/>
          </p:cNvSpPr>
          <p:nvPr>
            <p:ph type="body" sz="quarter" idx="10"/>
          </p:nvPr>
        </p:nvSpPr>
        <p:spPr bwMode="gray"/>
        <p:txBody>
          <a:bodyPr/>
          <a:lstStyle/>
          <a:p>
            <a:r>
              <a:rPr lang="en-US" altLang="zh-CN" sz="1800" dirty="0"/>
              <a:t>IPsec</a:t>
            </a:r>
            <a:r>
              <a:rPr lang="zh-CN" altLang="en-US" sz="1800" dirty="0"/>
              <a:t>提供了两种安全机制：加密和认证。</a:t>
            </a:r>
            <a:endParaRPr lang="en-US" altLang="zh-CN" sz="1800" dirty="0"/>
          </a:p>
          <a:p>
            <a:pPr lvl="1"/>
            <a:r>
              <a:rPr lang="en-US" altLang="zh-CN" sz="1600" dirty="0" err="1"/>
              <a:t>Ipsec</a:t>
            </a:r>
            <a:r>
              <a:rPr lang="en-US" altLang="zh-CN" sz="1600" dirty="0"/>
              <a:t> </a:t>
            </a:r>
            <a:r>
              <a:rPr lang="zh-CN" altLang="en-US" sz="1600" dirty="0"/>
              <a:t>采用对称加密算法对数据进行加密和解密。数据发送方和接收方使用相同的密钥进行加密、解密。</a:t>
            </a:r>
            <a:endParaRPr lang="en-US" altLang="zh-CN" sz="1600" dirty="0"/>
          </a:p>
          <a:p>
            <a:pPr lvl="1"/>
            <a:r>
              <a:rPr lang="en-US" altLang="zh-CN" sz="1600" dirty="0" err="1"/>
              <a:t>Ipsec</a:t>
            </a:r>
            <a:r>
              <a:rPr lang="en-US" altLang="zh-CN" sz="1600" dirty="0"/>
              <a:t> </a:t>
            </a:r>
            <a:r>
              <a:rPr lang="zh-CN" altLang="en-US" sz="1600" dirty="0"/>
              <a:t>采用 </a:t>
            </a:r>
            <a:r>
              <a:rPr lang="en-US" altLang="zh-CN" sz="1600" dirty="0"/>
              <a:t>HMAC</a:t>
            </a:r>
            <a:r>
              <a:rPr lang="zh-CN" altLang="en-US" sz="1600" dirty="0"/>
              <a:t>（</a:t>
            </a:r>
            <a:r>
              <a:rPr lang="en-US" altLang="zh-CN" sz="1600" dirty="0"/>
              <a:t>Hash-based Message Authentication Code</a:t>
            </a:r>
            <a:r>
              <a:rPr lang="zh-CN" altLang="en-US" sz="1600" dirty="0"/>
              <a:t>）功能，比较数字签名（</a:t>
            </a:r>
            <a:r>
              <a:rPr lang="en-US" altLang="zh-CN" sz="1600" dirty="0"/>
              <a:t>ICV</a:t>
            </a:r>
            <a:r>
              <a:rPr lang="zh-CN" altLang="en-US" sz="1600" dirty="0"/>
              <a:t>）进行数据完整性和真实性认证。</a:t>
            </a:r>
          </a:p>
        </p:txBody>
      </p:sp>
      <p:sp>
        <p:nvSpPr>
          <p:cNvPr id="4" name="圆角矩形 75"/>
          <p:cNvSpPr/>
          <p:nvPr/>
        </p:nvSpPr>
        <p:spPr bwMode="gray">
          <a:xfrm>
            <a:off x="731838" y="2459226"/>
            <a:ext cx="10692754"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数据加解密与认证过程</a:t>
            </a:r>
          </a:p>
        </p:txBody>
      </p:sp>
      <p:sp>
        <p:nvSpPr>
          <p:cNvPr id="5" name="圆角矩形 75"/>
          <p:cNvSpPr/>
          <p:nvPr/>
        </p:nvSpPr>
        <p:spPr bwMode="gray">
          <a:xfrm>
            <a:off x="731838" y="2893513"/>
            <a:ext cx="10692754" cy="314834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8" name="Text Box 26"/>
          <p:cNvSpPr txBox="1">
            <a:spLocks noChangeArrowheads="1"/>
          </p:cNvSpPr>
          <p:nvPr/>
        </p:nvSpPr>
        <p:spPr bwMode="gray">
          <a:xfrm>
            <a:off x="888131" y="5682140"/>
            <a:ext cx="902688" cy="307712"/>
          </a:xfrm>
          <a:prstGeom prst="rect">
            <a:avLst/>
          </a:prstGeom>
          <a:solidFill>
            <a:srgbClr val="FFD17D"/>
          </a:solidFill>
          <a:ln w="9525">
            <a:solidFill>
              <a:srgbClr val="FFD17D"/>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用户报文</a:t>
            </a:r>
          </a:p>
        </p:txBody>
      </p:sp>
      <p:sp>
        <p:nvSpPr>
          <p:cNvPr id="9" name="Text Box 26"/>
          <p:cNvSpPr txBox="1">
            <a:spLocks noChangeArrowheads="1"/>
          </p:cNvSpPr>
          <p:nvPr/>
        </p:nvSpPr>
        <p:spPr bwMode="gray">
          <a:xfrm>
            <a:off x="2325933" y="5682140"/>
            <a:ext cx="1261761"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r>
              <a:rPr kumimoji="1" lang="zh-CN" altLang="en-US" sz="1400" dirty="0">
                <a:solidFill>
                  <a:schemeClr val="bg1"/>
                </a:solidFill>
                <a:latin typeface="Huawei Sans" panose="020C0503030203020204" pitchFamily="34" charset="0"/>
                <a:ea typeface="方正兰亭黑简体" panose="02000000000000000000" pitchFamily="2" charset="-122"/>
              </a:rPr>
              <a:t>加密算法加密</a:t>
            </a:r>
          </a:p>
        </p:txBody>
      </p:sp>
      <p:sp>
        <p:nvSpPr>
          <p:cNvPr id="10" name="Text Box 26"/>
          <p:cNvSpPr txBox="1">
            <a:spLocks noChangeArrowheads="1"/>
          </p:cNvSpPr>
          <p:nvPr/>
        </p:nvSpPr>
        <p:spPr bwMode="gray">
          <a:xfrm>
            <a:off x="4098263" y="5683650"/>
            <a:ext cx="902688" cy="307712"/>
          </a:xfrm>
          <a:prstGeom prst="rect">
            <a:avLst/>
          </a:prstGeom>
          <a:solidFill>
            <a:srgbClr val="8BC9A0"/>
          </a:solidFill>
          <a:ln w="9525">
            <a:solidFill>
              <a:srgbClr val="92D050"/>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加密报文</a:t>
            </a:r>
          </a:p>
        </p:txBody>
      </p:sp>
      <p:cxnSp>
        <p:nvCxnSpPr>
          <p:cNvPr id="12" name="Straight Arrow Connector 11"/>
          <p:cNvCxnSpPr>
            <a:stCxn id="9" idx="3"/>
            <a:endCxn id="10" idx="1"/>
          </p:cNvCxnSpPr>
          <p:nvPr/>
        </p:nvCxnSpPr>
        <p:spPr bwMode="gray">
          <a:xfrm>
            <a:off x="3587694" y="5835996"/>
            <a:ext cx="510569" cy="15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3"/>
            <a:endCxn id="9" idx="1"/>
          </p:cNvCxnSpPr>
          <p:nvPr/>
        </p:nvCxnSpPr>
        <p:spPr bwMode="gray">
          <a:xfrm>
            <a:off x="1790819" y="5835996"/>
            <a:ext cx="53511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 Box 26"/>
          <p:cNvSpPr txBox="1">
            <a:spLocks noChangeArrowheads="1"/>
          </p:cNvSpPr>
          <p:nvPr/>
        </p:nvSpPr>
        <p:spPr bwMode="gray">
          <a:xfrm>
            <a:off x="888131" y="3660051"/>
            <a:ext cx="902688" cy="307712"/>
          </a:xfrm>
          <a:prstGeom prst="rect">
            <a:avLst/>
          </a:prstGeom>
          <a:solidFill>
            <a:srgbClr val="FFD17D"/>
          </a:solidFill>
          <a:ln w="9525">
            <a:solidFill>
              <a:srgbClr val="FFD17D"/>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用户报文</a:t>
            </a:r>
          </a:p>
        </p:txBody>
      </p:sp>
      <p:sp>
        <p:nvSpPr>
          <p:cNvPr id="18" name="Text Box 26"/>
          <p:cNvSpPr txBox="1">
            <a:spLocks noChangeArrowheads="1"/>
          </p:cNvSpPr>
          <p:nvPr/>
        </p:nvSpPr>
        <p:spPr bwMode="gray">
          <a:xfrm>
            <a:off x="2349963" y="3660051"/>
            <a:ext cx="1261761"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r>
              <a:rPr kumimoji="1" lang="zh-CN" altLang="en-US" sz="1400" dirty="0">
                <a:solidFill>
                  <a:schemeClr val="bg1"/>
                </a:solidFill>
                <a:latin typeface="Huawei Sans" panose="020C0503030203020204" pitchFamily="34" charset="0"/>
                <a:ea typeface="方正兰亭黑简体" panose="02000000000000000000" pitchFamily="2" charset="-122"/>
              </a:rPr>
              <a:t>加密算法解密</a:t>
            </a:r>
          </a:p>
        </p:txBody>
      </p:sp>
      <p:sp>
        <p:nvSpPr>
          <p:cNvPr id="19" name="Text Box 26"/>
          <p:cNvSpPr txBox="1">
            <a:spLocks noChangeArrowheads="1"/>
          </p:cNvSpPr>
          <p:nvPr/>
        </p:nvSpPr>
        <p:spPr bwMode="gray">
          <a:xfrm>
            <a:off x="4095429" y="3660051"/>
            <a:ext cx="902688" cy="307712"/>
          </a:xfrm>
          <a:prstGeom prst="rect">
            <a:avLst/>
          </a:prstGeom>
          <a:solidFill>
            <a:srgbClr val="8BC9A0"/>
          </a:solidFill>
          <a:ln w="9525">
            <a:solidFill>
              <a:srgbClr val="92D050"/>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加密报文</a:t>
            </a:r>
          </a:p>
        </p:txBody>
      </p:sp>
      <p:cxnSp>
        <p:nvCxnSpPr>
          <p:cNvPr id="20" name="Straight Arrow Connector 19"/>
          <p:cNvCxnSpPr>
            <a:stCxn id="17" idx="3"/>
            <a:endCxn id="18" idx="1"/>
          </p:cNvCxnSpPr>
          <p:nvPr/>
        </p:nvCxnSpPr>
        <p:spPr bwMode="gray">
          <a:xfrm>
            <a:off x="1790819" y="3813907"/>
            <a:ext cx="559144"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32" idx="1"/>
            <a:endCxn id="29" idx="3"/>
          </p:cNvCxnSpPr>
          <p:nvPr/>
        </p:nvCxnSpPr>
        <p:spPr bwMode="gray">
          <a:xfrm flipH="1">
            <a:off x="9450334" y="5835996"/>
            <a:ext cx="390082"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0" idx="3"/>
            <a:endCxn id="29" idx="1"/>
          </p:cNvCxnSpPr>
          <p:nvPr/>
        </p:nvCxnSpPr>
        <p:spPr bwMode="gray">
          <a:xfrm flipV="1">
            <a:off x="5000951" y="5835996"/>
            <a:ext cx="2839770" cy="15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Left-Right Arrow 26"/>
          <p:cNvSpPr/>
          <p:nvPr/>
        </p:nvSpPr>
        <p:spPr bwMode="gray">
          <a:xfrm rot="16200000">
            <a:off x="2161093" y="4584580"/>
            <a:ext cx="1639504" cy="450249"/>
          </a:xfrm>
          <a:prstGeom prst="leftRightArrow">
            <a:avLst/>
          </a:prstGeom>
          <a:solidFill>
            <a:srgbClr val="56C4D2"/>
          </a:solidFill>
          <a:ln>
            <a:solidFill>
              <a:srgbClr val="56C4D2"/>
            </a:solidFill>
          </a:ln>
        </p:spPr>
        <p:txBody>
          <a:bodyPr wrap="square" rtlCol="0" anchor="ctr">
            <a:noAutofit/>
          </a:bodyPr>
          <a:lstStyle/>
          <a:p>
            <a:pPr algn="ctr" fontAlgn="auto"/>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交互对称密钥</a:t>
            </a:r>
          </a:p>
        </p:txBody>
      </p:sp>
      <p:sp>
        <p:nvSpPr>
          <p:cNvPr id="28" name="Rectangular Callout 27"/>
          <p:cNvSpPr/>
          <p:nvPr/>
        </p:nvSpPr>
        <p:spPr bwMode="gray">
          <a:xfrm>
            <a:off x="1661745" y="4908598"/>
            <a:ext cx="1041191" cy="574710"/>
          </a:xfrm>
          <a:prstGeom prst="wedgeRectCallout">
            <a:avLst>
              <a:gd name="adj1" fmla="val 69173"/>
              <a:gd name="adj2" fmla="val 1902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手工配置或使用</a:t>
            </a:r>
            <a:r>
              <a:rPr lang="en-US" altLang="zh-CN" sz="1200" dirty="0">
                <a:solidFill>
                  <a:schemeClr val="tx1"/>
                </a:solidFill>
                <a:latin typeface="Huawei Sans" panose="020C0503030203020204" pitchFamily="34" charset="0"/>
                <a:ea typeface="方正兰亭黑简体" panose="02000000000000000000" pitchFamily="2" charset="-122"/>
              </a:rPr>
              <a:t>IKE</a:t>
            </a:r>
            <a:r>
              <a:rPr lang="zh-CN" altLang="en-US" sz="1200" dirty="0">
                <a:solidFill>
                  <a:schemeClr val="tx1"/>
                </a:solidFill>
                <a:latin typeface="Huawei Sans" panose="020C0503030203020204" pitchFamily="34" charset="0"/>
                <a:ea typeface="方正兰亭黑简体" panose="02000000000000000000" pitchFamily="2" charset="-122"/>
              </a:rPr>
              <a:t>协议自动协商</a:t>
            </a:r>
          </a:p>
        </p:txBody>
      </p:sp>
      <p:sp>
        <p:nvSpPr>
          <p:cNvPr id="29" name="Text Box 26"/>
          <p:cNvSpPr txBox="1">
            <a:spLocks noChangeArrowheads="1"/>
          </p:cNvSpPr>
          <p:nvPr/>
        </p:nvSpPr>
        <p:spPr bwMode="gray">
          <a:xfrm>
            <a:off x="7840721" y="5682140"/>
            <a:ext cx="1609613"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pPr fontAlgn="auto"/>
            <a:r>
              <a:rPr kumimoji="1" lang="zh-CN" altLang="en-US" sz="1400" dirty="0">
                <a:solidFill>
                  <a:schemeClr val="bg1"/>
                </a:solidFill>
                <a:latin typeface="Huawei Sans" panose="020C0503030203020204" pitchFamily="34" charset="0"/>
                <a:ea typeface="方正兰亭黑简体" panose="02000000000000000000" pitchFamily="2" charset="-122"/>
              </a:rPr>
              <a:t>认证算法</a:t>
            </a:r>
            <a:r>
              <a:rPr kumimoji="1" lang="en-US" altLang="zh-CN" sz="1400" dirty="0">
                <a:solidFill>
                  <a:schemeClr val="bg1"/>
                </a:solidFill>
                <a:latin typeface="Huawei Sans" panose="020C0503030203020204" pitchFamily="34" charset="0"/>
                <a:ea typeface="方正兰亭黑简体" panose="02000000000000000000" pitchFamily="2" charset="-122"/>
              </a:rPr>
              <a:t>(HMAC)</a:t>
            </a:r>
            <a:endParaRPr kumimoji="1" lang="zh-CN" altLang="en-US" sz="1400" dirty="0">
              <a:solidFill>
                <a:schemeClr val="bg1"/>
              </a:solidFill>
              <a:latin typeface="Huawei Sans" panose="020C0503030203020204" pitchFamily="34" charset="0"/>
              <a:ea typeface="方正兰亭黑简体" panose="02000000000000000000" pitchFamily="2" charset="-122"/>
            </a:endParaRPr>
          </a:p>
        </p:txBody>
      </p:sp>
      <p:sp>
        <p:nvSpPr>
          <p:cNvPr id="30" name="Text Box 26"/>
          <p:cNvSpPr txBox="1">
            <a:spLocks noChangeArrowheads="1"/>
          </p:cNvSpPr>
          <p:nvPr/>
        </p:nvSpPr>
        <p:spPr bwMode="gray">
          <a:xfrm>
            <a:off x="7840721" y="3660051"/>
            <a:ext cx="1609613" cy="307712"/>
          </a:xfrm>
          <a:prstGeom prst="rect">
            <a:avLst/>
          </a:prstGeom>
          <a:solidFill>
            <a:srgbClr val="56C4D2"/>
          </a:solidFill>
          <a:ln w="9525">
            <a:solidFill>
              <a:srgbClr val="56C4D2"/>
            </a:solidFill>
            <a:miter lim="800000"/>
            <a:headEnd/>
            <a:tailEnd/>
          </a:ln>
        </p:spPr>
        <p:txBody>
          <a:bodyPr wrap="none" lIns="91379" tIns="45688" rIns="91379" bIns="45688">
            <a:spAutoFit/>
          </a:bodyPr>
          <a:lstStyle/>
          <a:p>
            <a:pPr fontAlgn="auto"/>
            <a:r>
              <a:rPr kumimoji="1" lang="zh-CN" altLang="en-US" sz="1400" dirty="0">
                <a:solidFill>
                  <a:schemeClr val="bg1"/>
                </a:solidFill>
                <a:latin typeface="Huawei Sans" panose="020C0503030203020204" pitchFamily="34" charset="0"/>
                <a:ea typeface="方正兰亭黑简体" panose="02000000000000000000" pitchFamily="2" charset="-122"/>
              </a:rPr>
              <a:t>认证算法</a:t>
            </a:r>
            <a:r>
              <a:rPr kumimoji="1" lang="en-US" altLang="zh-CN" sz="1400" dirty="0">
                <a:solidFill>
                  <a:schemeClr val="bg1"/>
                </a:solidFill>
                <a:latin typeface="Huawei Sans" panose="020C0503030203020204" pitchFamily="34" charset="0"/>
                <a:ea typeface="方正兰亭黑简体" panose="02000000000000000000" pitchFamily="2" charset="-122"/>
              </a:rPr>
              <a:t>(HMAC)</a:t>
            </a:r>
            <a:endParaRPr kumimoji="1" lang="zh-CN" altLang="en-US" sz="1400" dirty="0">
              <a:solidFill>
                <a:schemeClr val="bg1"/>
              </a:solidFill>
              <a:latin typeface="Huawei Sans" panose="020C0503030203020204" pitchFamily="34" charset="0"/>
              <a:ea typeface="方正兰亭黑简体" panose="02000000000000000000" pitchFamily="2" charset="-122"/>
            </a:endParaRPr>
          </a:p>
        </p:txBody>
      </p:sp>
      <p:sp>
        <p:nvSpPr>
          <p:cNvPr id="31" name="Left-Right Arrow 30"/>
          <p:cNvSpPr/>
          <p:nvPr/>
        </p:nvSpPr>
        <p:spPr bwMode="gray">
          <a:xfrm rot="16200000">
            <a:off x="8148781" y="4587966"/>
            <a:ext cx="1639506" cy="450249"/>
          </a:xfrm>
          <a:prstGeom prst="leftRightArrow">
            <a:avLst/>
          </a:prstGeom>
          <a:solidFill>
            <a:srgbClr val="56C4D2"/>
          </a:solidFill>
          <a:ln>
            <a:solidFill>
              <a:srgbClr val="56C4D2"/>
            </a:solidFill>
          </a:ln>
        </p:spPr>
        <p:txBody>
          <a:bodyPr wrap="square" rtlCol="0" anchor="ctr">
            <a:noAutofit/>
          </a:bodyPr>
          <a:lstStyle/>
          <a:p>
            <a:pPr algn="ctr" fontAlgn="auto"/>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交互对称密钥</a:t>
            </a:r>
          </a:p>
        </p:txBody>
      </p:sp>
      <p:sp>
        <p:nvSpPr>
          <p:cNvPr id="32" name="Text Box 26"/>
          <p:cNvSpPr txBox="1">
            <a:spLocks noChangeArrowheads="1"/>
          </p:cNvSpPr>
          <p:nvPr/>
        </p:nvSpPr>
        <p:spPr bwMode="gray">
          <a:xfrm>
            <a:off x="9840416" y="5682140"/>
            <a:ext cx="902688" cy="307712"/>
          </a:xfrm>
          <a:prstGeom prst="rect">
            <a:avLst/>
          </a:prstGeom>
          <a:solidFill>
            <a:srgbClr val="8BC9A0"/>
          </a:solidFill>
          <a:ln w="9525">
            <a:solidFill>
              <a:srgbClr val="92D050"/>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加密报文</a:t>
            </a:r>
          </a:p>
        </p:txBody>
      </p:sp>
      <p:sp>
        <p:nvSpPr>
          <p:cNvPr id="33" name="Text Box 26"/>
          <p:cNvSpPr txBox="1">
            <a:spLocks noChangeArrowheads="1"/>
          </p:cNvSpPr>
          <p:nvPr/>
        </p:nvSpPr>
        <p:spPr bwMode="gray">
          <a:xfrm>
            <a:off x="10743104" y="5682140"/>
            <a:ext cx="458657" cy="307712"/>
          </a:xfrm>
          <a:prstGeom prst="rect">
            <a:avLst/>
          </a:prstGeom>
          <a:noFill/>
          <a:ln w="9525">
            <a:solidFill>
              <a:srgbClr val="92D050"/>
            </a:solid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ICV</a:t>
            </a:r>
            <a:endParaRPr kumimoji="1" lang="zh-CN" altLang="en-US" sz="1400" dirty="0">
              <a:latin typeface="Huawei Sans" panose="020C0503030203020204" pitchFamily="34" charset="0"/>
              <a:ea typeface="方正兰亭黑简体" panose="02000000000000000000" pitchFamily="2" charset="-122"/>
            </a:endParaRPr>
          </a:p>
        </p:txBody>
      </p:sp>
      <p:sp>
        <p:nvSpPr>
          <p:cNvPr id="34" name="Text Box 26"/>
          <p:cNvSpPr txBox="1">
            <a:spLocks noChangeArrowheads="1"/>
          </p:cNvSpPr>
          <p:nvPr/>
        </p:nvSpPr>
        <p:spPr bwMode="gray">
          <a:xfrm>
            <a:off x="6990023" y="3208199"/>
            <a:ext cx="458657" cy="307712"/>
          </a:xfrm>
          <a:prstGeom prst="rect">
            <a:avLst/>
          </a:prstGeom>
          <a:noFill/>
          <a:ln w="9525">
            <a:solidFill>
              <a:srgbClr val="92D050"/>
            </a:solid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ICV</a:t>
            </a:r>
            <a:endParaRPr kumimoji="1" lang="zh-CN" altLang="en-US" sz="1400" dirty="0">
              <a:latin typeface="Huawei Sans" panose="020C0503030203020204" pitchFamily="34" charset="0"/>
              <a:ea typeface="方正兰亭黑简体" panose="02000000000000000000" pitchFamily="2" charset="-122"/>
            </a:endParaRPr>
          </a:p>
        </p:txBody>
      </p:sp>
      <p:sp>
        <p:nvSpPr>
          <p:cNvPr id="35" name="Text Box 26"/>
          <p:cNvSpPr txBox="1">
            <a:spLocks noChangeArrowheads="1"/>
          </p:cNvSpPr>
          <p:nvPr/>
        </p:nvSpPr>
        <p:spPr bwMode="gray">
          <a:xfrm>
            <a:off x="6087335" y="4167023"/>
            <a:ext cx="902688" cy="307712"/>
          </a:xfrm>
          <a:prstGeom prst="rect">
            <a:avLst/>
          </a:prstGeom>
          <a:solidFill>
            <a:srgbClr val="8BC9A0"/>
          </a:solidFill>
          <a:ln w="9525">
            <a:solidFill>
              <a:srgbClr val="92D050"/>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加密报文</a:t>
            </a:r>
          </a:p>
        </p:txBody>
      </p:sp>
      <p:sp>
        <p:nvSpPr>
          <p:cNvPr id="36" name="Text Box 26"/>
          <p:cNvSpPr txBox="1">
            <a:spLocks noChangeArrowheads="1"/>
          </p:cNvSpPr>
          <p:nvPr/>
        </p:nvSpPr>
        <p:spPr bwMode="gray">
          <a:xfrm>
            <a:off x="6990023" y="4167023"/>
            <a:ext cx="458657" cy="307712"/>
          </a:xfrm>
          <a:prstGeom prst="rect">
            <a:avLst/>
          </a:prstGeom>
          <a:noFill/>
          <a:ln w="9525">
            <a:solidFill>
              <a:srgbClr val="92D050"/>
            </a:solidFill>
            <a:miter lim="800000"/>
            <a:headEnd/>
            <a:tailEnd/>
          </a:ln>
        </p:spPr>
        <p:txBody>
          <a:bodyPr wrap="none" lIns="91379" tIns="45688" rIns="91379" bIns="45688">
            <a:spAutoFit/>
          </a:bodyPr>
          <a:lstStyle/>
          <a:p>
            <a:pPr eaLnBrk="1" fontAlgn="t" hangingPunct="1"/>
            <a:r>
              <a:rPr kumimoji="1" lang="en-US" altLang="zh-CN" sz="1400" dirty="0">
                <a:latin typeface="Huawei Sans" panose="020C0503030203020204" pitchFamily="34" charset="0"/>
                <a:ea typeface="方正兰亭黑简体" panose="02000000000000000000" pitchFamily="2" charset="-122"/>
              </a:rPr>
              <a:t>ICV</a:t>
            </a:r>
            <a:endParaRPr kumimoji="1" lang="zh-CN" altLang="en-US" sz="1400" dirty="0">
              <a:latin typeface="Huawei Sans" panose="020C0503030203020204" pitchFamily="34" charset="0"/>
              <a:ea typeface="方正兰亭黑简体" panose="02000000000000000000" pitchFamily="2" charset="-122"/>
            </a:endParaRPr>
          </a:p>
        </p:txBody>
      </p:sp>
      <p:cxnSp>
        <p:nvCxnSpPr>
          <p:cNvPr id="48" name="Straight Arrow Connector 47"/>
          <p:cNvCxnSpPr>
            <a:stCxn id="18" idx="3"/>
            <a:endCxn id="19" idx="1"/>
          </p:cNvCxnSpPr>
          <p:nvPr/>
        </p:nvCxnSpPr>
        <p:spPr bwMode="gray">
          <a:xfrm>
            <a:off x="3611724" y="3813907"/>
            <a:ext cx="483705" cy="0"/>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Elbow Connector 51"/>
          <p:cNvCxnSpPr>
            <a:stCxn id="33" idx="0"/>
            <a:endCxn id="34" idx="3"/>
          </p:cNvCxnSpPr>
          <p:nvPr/>
        </p:nvCxnSpPr>
        <p:spPr bwMode="gray">
          <a:xfrm rot="16200000" flipV="1">
            <a:off x="8050515" y="2760221"/>
            <a:ext cx="2320085" cy="3523753"/>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Elbow Connector 53"/>
          <p:cNvCxnSpPr>
            <a:stCxn id="32" idx="0"/>
            <a:endCxn id="30" idx="3"/>
          </p:cNvCxnSpPr>
          <p:nvPr/>
        </p:nvCxnSpPr>
        <p:spPr bwMode="gray">
          <a:xfrm rot="16200000" flipV="1">
            <a:off x="8936931" y="4327311"/>
            <a:ext cx="1868233" cy="84142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Elbow Connector 56"/>
          <p:cNvCxnSpPr>
            <a:stCxn id="30" idx="2"/>
            <a:endCxn id="36" idx="3"/>
          </p:cNvCxnSpPr>
          <p:nvPr/>
        </p:nvCxnSpPr>
        <p:spPr bwMode="gray">
          <a:xfrm rot="5400000">
            <a:off x="7870546" y="3545897"/>
            <a:ext cx="353116" cy="1196848"/>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Flowchart: Decision 60"/>
          <p:cNvSpPr/>
          <p:nvPr/>
        </p:nvSpPr>
        <p:spPr bwMode="gray">
          <a:xfrm>
            <a:off x="5469139" y="3519998"/>
            <a:ext cx="1253721" cy="587816"/>
          </a:xfrm>
          <a:prstGeom prst="flowChartDecisi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endParaRPr>
          </a:p>
        </p:txBody>
      </p:sp>
      <p:sp>
        <p:nvSpPr>
          <p:cNvPr id="62" name="TextBox 61"/>
          <p:cNvSpPr txBox="1"/>
          <p:nvPr/>
        </p:nvSpPr>
        <p:spPr bwMode="gray">
          <a:xfrm>
            <a:off x="5709344" y="3557809"/>
            <a:ext cx="805626" cy="523220"/>
          </a:xfrm>
          <a:prstGeom prst="rect">
            <a:avLst/>
          </a:prstGeom>
          <a:noFill/>
        </p:spPr>
        <p:txBody>
          <a:bodyPr wrap="square" rtlCol="0">
            <a:spAutoFit/>
          </a:bodyPr>
          <a:lstStyle/>
          <a:p>
            <a:pPr algn="ctr" fontAlgn="auto"/>
            <a:r>
              <a:rPr lang="zh-CN" altLang="en-US" sz="1400" dirty="0">
                <a:latin typeface="Huawei Sans" panose="020C0503030203020204" pitchFamily="34" charset="0"/>
                <a:ea typeface="方正兰亭黑简体" panose="02000000000000000000" pitchFamily="2" charset="-122"/>
              </a:rPr>
              <a:t>比较是否一致</a:t>
            </a:r>
          </a:p>
        </p:txBody>
      </p:sp>
      <p:cxnSp>
        <p:nvCxnSpPr>
          <p:cNvPr id="63" name="Elbow Connector 62"/>
          <p:cNvCxnSpPr>
            <a:stCxn id="34" idx="2"/>
            <a:endCxn id="61" idx="3"/>
          </p:cNvCxnSpPr>
          <p:nvPr/>
        </p:nvCxnSpPr>
        <p:spPr bwMode="gray">
          <a:xfrm rot="5400000">
            <a:off x="6822109" y="3416662"/>
            <a:ext cx="297995" cy="49649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Elbow Connector 65"/>
          <p:cNvCxnSpPr>
            <a:stCxn id="36" idx="0"/>
            <a:endCxn id="61" idx="3"/>
          </p:cNvCxnSpPr>
          <p:nvPr/>
        </p:nvCxnSpPr>
        <p:spPr bwMode="gray">
          <a:xfrm rot="16200000" flipV="1">
            <a:off x="6794548" y="3742219"/>
            <a:ext cx="353117" cy="496492"/>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19" idx="3"/>
            <a:endCxn id="61" idx="1"/>
          </p:cNvCxnSpPr>
          <p:nvPr/>
        </p:nvCxnSpPr>
        <p:spPr bwMode="gray">
          <a:xfrm flipV="1">
            <a:off x="4998117" y="3813906"/>
            <a:ext cx="471022" cy="1"/>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a:endCxn id="61" idx="0"/>
          </p:cNvCxnSpPr>
          <p:nvPr/>
        </p:nvCxnSpPr>
        <p:spPr bwMode="gray">
          <a:xfrm>
            <a:off x="6096000" y="3208199"/>
            <a:ext cx="0" cy="311799"/>
          </a:xfrm>
          <a:prstGeom prst="straightConnector1">
            <a:avLst/>
          </a:prstGeom>
          <a:ln w="1905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bwMode="gray">
          <a:xfrm>
            <a:off x="5832994" y="2953362"/>
            <a:ext cx="546828" cy="228052"/>
          </a:xfrm>
          <a:prstGeom prst="rect">
            <a:avLst/>
          </a:prstGeom>
          <a:noFill/>
          <a:ln>
            <a:noFill/>
          </a:ln>
        </p:spPr>
        <p:txBody>
          <a:bodyPr wrap="square" rtlCol="0" anchor="ctr">
            <a:noAutofit/>
          </a:bodyPr>
          <a:lstStyle/>
          <a:p>
            <a:pPr algn="ctr"/>
            <a:r>
              <a:rPr lang="zh-CN" altLang="en-US" sz="1400" dirty="0">
                <a:latin typeface="Huawei Sans" panose="020C0503030203020204" pitchFamily="34" charset="0"/>
                <a:ea typeface="方正兰亭黑简体" panose="02000000000000000000" pitchFamily="2" charset="-122"/>
              </a:rPr>
              <a:t>丢弃</a:t>
            </a:r>
          </a:p>
        </p:txBody>
      </p:sp>
      <p:sp>
        <p:nvSpPr>
          <p:cNvPr id="80" name="TextBox 79"/>
          <p:cNvSpPr txBox="1"/>
          <p:nvPr/>
        </p:nvSpPr>
        <p:spPr bwMode="gray">
          <a:xfrm>
            <a:off x="5980558" y="3296034"/>
            <a:ext cx="546828" cy="228052"/>
          </a:xfrm>
          <a:prstGeom prst="rect">
            <a:avLst/>
          </a:prstGeom>
          <a:noFill/>
          <a:ln>
            <a:noFill/>
          </a:ln>
        </p:spPr>
        <p:txBody>
          <a:bodyPr wrap="square" rtlCol="0" anchor="ctr">
            <a:noAutofit/>
          </a:bodyPr>
          <a:lstStyle/>
          <a:p>
            <a:pPr algn="ctr"/>
            <a:r>
              <a:rPr lang="zh-CN" altLang="en-US" sz="1400" dirty="0">
                <a:latin typeface="Huawei Sans" panose="020C0503030203020204" pitchFamily="34" charset="0"/>
                <a:ea typeface="方正兰亭黑简体" panose="02000000000000000000" pitchFamily="2" charset="-122"/>
              </a:rPr>
              <a:t>否</a:t>
            </a:r>
          </a:p>
        </p:txBody>
      </p:sp>
      <p:sp>
        <p:nvSpPr>
          <p:cNvPr id="81" name="TextBox 80"/>
          <p:cNvSpPr txBox="1"/>
          <p:nvPr/>
        </p:nvSpPr>
        <p:spPr bwMode="gray">
          <a:xfrm>
            <a:off x="4983383" y="3552926"/>
            <a:ext cx="546828" cy="228052"/>
          </a:xfrm>
          <a:prstGeom prst="rect">
            <a:avLst/>
          </a:prstGeom>
          <a:noFill/>
          <a:ln>
            <a:noFill/>
          </a:ln>
        </p:spPr>
        <p:txBody>
          <a:bodyPr wrap="square" rtlCol="0" anchor="ctr">
            <a:noAutofit/>
          </a:bodyPr>
          <a:lstStyle/>
          <a:p>
            <a:pPr algn="ctr"/>
            <a:r>
              <a:rPr lang="zh-CN" altLang="en-US" sz="1400" dirty="0">
                <a:latin typeface="Huawei Sans" panose="020C0503030203020204" pitchFamily="34" charset="0"/>
                <a:ea typeface="方正兰亭黑简体" panose="02000000000000000000" pitchFamily="2" charset="-122"/>
              </a:rPr>
              <a:t>是</a:t>
            </a:r>
          </a:p>
        </p:txBody>
      </p:sp>
      <p:sp>
        <p:nvSpPr>
          <p:cNvPr id="82" name="Rectangular Callout 81"/>
          <p:cNvSpPr/>
          <p:nvPr/>
        </p:nvSpPr>
        <p:spPr bwMode="gray">
          <a:xfrm>
            <a:off x="7659220" y="4940725"/>
            <a:ext cx="1041191" cy="574710"/>
          </a:xfrm>
          <a:prstGeom prst="wedgeRectCallout">
            <a:avLst>
              <a:gd name="adj1" fmla="val 69173"/>
              <a:gd name="adj2" fmla="val 1902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手工配置或使用</a:t>
            </a:r>
            <a:r>
              <a:rPr lang="en-US" altLang="zh-CN" sz="1200" dirty="0">
                <a:solidFill>
                  <a:schemeClr val="tx1"/>
                </a:solidFill>
                <a:latin typeface="Huawei Sans" panose="020C0503030203020204" pitchFamily="34" charset="0"/>
                <a:ea typeface="方正兰亭黑简体" panose="02000000000000000000" pitchFamily="2" charset="-122"/>
              </a:rPr>
              <a:t>IKE</a:t>
            </a:r>
            <a:r>
              <a:rPr lang="zh-CN" altLang="en-US" sz="1200" dirty="0">
                <a:solidFill>
                  <a:schemeClr val="tx1"/>
                </a:solidFill>
                <a:latin typeface="Huawei Sans" panose="020C0503030203020204" pitchFamily="34" charset="0"/>
                <a:ea typeface="方正兰亭黑简体" panose="02000000000000000000" pitchFamily="2" charset="-122"/>
              </a:rPr>
              <a:t>协议自动协商</a:t>
            </a:r>
          </a:p>
        </p:txBody>
      </p:sp>
      <p:sp>
        <p:nvSpPr>
          <p:cNvPr id="41"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简介</a:t>
            </a:r>
          </a:p>
        </p:txBody>
      </p:sp>
      <p:sp>
        <p:nvSpPr>
          <p:cNvPr id="42"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协议框架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3451722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安全协议介绍</a:t>
            </a:r>
          </a:p>
        </p:txBody>
      </p:sp>
      <p:sp>
        <p:nvSpPr>
          <p:cNvPr id="3" name="Text Placeholder 2"/>
          <p:cNvSpPr>
            <a:spLocks noGrp="1"/>
          </p:cNvSpPr>
          <p:nvPr>
            <p:ph type="body" sz="quarter" idx="10"/>
          </p:nvPr>
        </p:nvSpPr>
        <p:spPr bwMode="gray"/>
        <p:txBody>
          <a:bodyPr/>
          <a:lstStyle/>
          <a:p>
            <a:r>
              <a:rPr lang="en-US" altLang="zh-CN" sz="1800" dirty="0"/>
              <a:t>IPsec</a:t>
            </a:r>
            <a:r>
              <a:rPr lang="zh-CN" altLang="en-US" sz="1800" dirty="0"/>
              <a:t>有两种传输层协议提供认证或加密服务：</a:t>
            </a:r>
            <a:r>
              <a:rPr lang="en-US" altLang="zh-CN" sz="1800" dirty="0"/>
              <a:t>AH</a:t>
            </a:r>
            <a:r>
              <a:rPr lang="zh-CN" altLang="en-US" sz="1800" dirty="0"/>
              <a:t>（</a:t>
            </a:r>
            <a:r>
              <a:rPr lang="en-US" altLang="zh-CN" sz="1800" dirty="0"/>
              <a:t>Authentication Header,</a:t>
            </a:r>
            <a:r>
              <a:rPr lang="zh-CN" altLang="en-US" sz="1800" dirty="0"/>
              <a:t>认证头），</a:t>
            </a:r>
            <a:r>
              <a:rPr lang="en-US" altLang="zh-CN" sz="1800" dirty="0"/>
              <a:t>ESP</a:t>
            </a:r>
            <a:r>
              <a:rPr lang="zh-CN" altLang="en-US" sz="1800" dirty="0"/>
              <a:t>（</a:t>
            </a:r>
            <a:r>
              <a:rPr lang="en-US" altLang="zh-CN" sz="1800" dirty="0"/>
              <a:t>Encapsulating Security Payload,</a:t>
            </a:r>
            <a:r>
              <a:rPr lang="zh-CN" altLang="en-US" sz="1800" dirty="0"/>
              <a:t>封装安全载荷）。</a:t>
            </a:r>
            <a:endParaRPr lang="en-US" altLang="zh-CN" sz="1800" dirty="0"/>
          </a:p>
          <a:p>
            <a:pPr lvl="1"/>
            <a:r>
              <a:rPr lang="en-US" altLang="zh-CN" sz="1600" dirty="0"/>
              <a:t>AH</a:t>
            </a:r>
            <a:r>
              <a:rPr lang="zh-CN" altLang="en-US" sz="1600" dirty="0"/>
              <a:t>仅支持认证功能，不支持加密功能。</a:t>
            </a:r>
            <a:endParaRPr lang="en-US" altLang="zh-CN" sz="1600" dirty="0"/>
          </a:p>
          <a:p>
            <a:pPr lvl="1"/>
            <a:r>
              <a:rPr lang="en-US" altLang="zh-CN" sz="1600" dirty="0"/>
              <a:t>ESP</a:t>
            </a:r>
            <a:r>
              <a:rPr lang="zh-CN" altLang="en-US" sz="1600" dirty="0"/>
              <a:t>支持认证和加密功能。</a:t>
            </a:r>
          </a:p>
        </p:txBody>
      </p:sp>
      <p:sp>
        <p:nvSpPr>
          <p:cNvPr id="4" name="圆角矩形 75"/>
          <p:cNvSpPr/>
          <p:nvPr/>
        </p:nvSpPr>
        <p:spPr bwMode="gray">
          <a:xfrm>
            <a:off x="875420" y="2852936"/>
            <a:ext cx="463242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a:solidFill>
                  <a:srgbClr val="30B5C5"/>
                </a:solidFill>
                <a:latin typeface="Huawei Sans" panose="020C0503030203020204" pitchFamily="34" charset="0"/>
                <a:ea typeface="方正兰亭黑简体" panose="02000000000000000000" pitchFamily="2" charset="-122"/>
              </a:rPr>
              <a:t>AH</a:t>
            </a:r>
            <a:r>
              <a:rPr lang="zh-CN" altLang="en-US" sz="1600" dirty="0">
                <a:solidFill>
                  <a:srgbClr val="30B5C5"/>
                </a:solidFill>
                <a:latin typeface="Huawei Sans" panose="020C0503030203020204" pitchFamily="34" charset="0"/>
                <a:ea typeface="方正兰亭黑简体" panose="02000000000000000000" pitchFamily="2" charset="-122"/>
              </a:rPr>
              <a:t>报文头部结构</a:t>
            </a:r>
          </a:p>
        </p:txBody>
      </p:sp>
      <p:sp>
        <p:nvSpPr>
          <p:cNvPr id="5" name="圆角矩形 75"/>
          <p:cNvSpPr/>
          <p:nvPr/>
        </p:nvSpPr>
        <p:spPr bwMode="gray">
          <a:xfrm>
            <a:off x="875420" y="3287223"/>
            <a:ext cx="4632428" cy="288032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圆角矩形 75"/>
          <p:cNvSpPr/>
          <p:nvPr/>
        </p:nvSpPr>
        <p:spPr bwMode="gray">
          <a:xfrm>
            <a:off x="5987988" y="2852936"/>
            <a:ext cx="541728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a:solidFill>
                  <a:srgbClr val="30B5C5"/>
                </a:solidFill>
                <a:latin typeface="Huawei Sans" panose="020C0503030203020204" pitchFamily="34" charset="0"/>
                <a:ea typeface="方正兰亭黑简体" panose="02000000000000000000" pitchFamily="2" charset="-122"/>
              </a:rPr>
              <a:t>ESP</a:t>
            </a:r>
            <a:r>
              <a:rPr lang="zh-CN" altLang="en-US" sz="1600" dirty="0">
                <a:solidFill>
                  <a:srgbClr val="30B5C5"/>
                </a:solidFill>
                <a:latin typeface="Huawei Sans" panose="020C0503030203020204" pitchFamily="34" charset="0"/>
                <a:ea typeface="方正兰亭黑简体" panose="02000000000000000000" pitchFamily="2" charset="-122"/>
              </a:rPr>
              <a:t>报文头部结构</a:t>
            </a:r>
          </a:p>
        </p:txBody>
      </p:sp>
      <p:sp>
        <p:nvSpPr>
          <p:cNvPr id="7" name="圆角矩形 75"/>
          <p:cNvSpPr/>
          <p:nvPr/>
        </p:nvSpPr>
        <p:spPr bwMode="gray">
          <a:xfrm>
            <a:off x="5987988" y="3287223"/>
            <a:ext cx="5417285" cy="288032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graphicFrame>
        <p:nvGraphicFramePr>
          <p:cNvPr id="8" name="表格 16"/>
          <p:cNvGraphicFramePr>
            <a:graphicFrameLocks noGrp="1"/>
          </p:cNvGraphicFramePr>
          <p:nvPr>
            <p:extLst>
              <p:ext uri="{D42A27DB-BD31-4B8C-83A1-F6EECF244321}">
                <p14:modId xmlns:p14="http://schemas.microsoft.com/office/powerpoint/2010/main" val="3728098243"/>
              </p:ext>
            </p:extLst>
          </p:nvPr>
        </p:nvGraphicFramePr>
        <p:xfrm>
          <a:off x="1281134" y="3574561"/>
          <a:ext cx="3996421" cy="1800200"/>
        </p:xfrm>
        <a:graphic>
          <a:graphicData uri="http://schemas.openxmlformats.org/drawingml/2006/table">
            <a:tbl>
              <a:tblPr/>
              <a:tblGrid>
                <a:gridCol w="999105">
                  <a:extLst>
                    <a:ext uri="{9D8B030D-6E8A-4147-A177-3AD203B41FA5}">
                      <a16:colId xmlns:a16="http://schemas.microsoft.com/office/drawing/2014/main" val="20000"/>
                    </a:ext>
                  </a:extLst>
                </a:gridCol>
                <a:gridCol w="999105">
                  <a:extLst>
                    <a:ext uri="{9D8B030D-6E8A-4147-A177-3AD203B41FA5}">
                      <a16:colId xmlns:a16="http://schemas.microsoft.com/office/drawing/2014/main" val="20001"/>
                    </a:ext>
                  </a:extLst>
                </a:gridCol>
                <a:gridCol w="1998211">
                  <a:extLst>
                    <a:ext uri="{9D8B030D-6E8A-4147-A177-3AD203B41FA5}">
                      <a16:colId xmlns:a16="http://schemas.microsoft.com/office/drawing/2014/main" val="20002"/>
                    </a:ext>
                  </a:extLst>
                </a:gridCol>
              </a:tblGrid>
              <a:tr h="450050">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Next Header</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Payload Len</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Reserved</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a16="http://schemas.microsoft.com/office/drawing/2014/main" val="10000"/>
                  </a:ext>
                </a:extLst>
              </a:tr>
              <a:tr h="450050">
                <a:tc gridSpan="3">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Security</a:t>
                      </a:r>
                      <a:r>
                        <a:rPr lang="en-US" altLang="zh-CN" sz="1200" b="0" i="0" u="none" strike="noStrike" baseline="0" dirty="0">
                          <a:solidFill>
                            <a:schemeClr val="tx1"/>
                          </a:solidFill>
                          <a:effectLst/>
                          <a:latin typeface="+mn-lt"/>
                          <a:ea typeface="宋体" panose="02010600030101010101" pitchFamily="2" charset="-122"/>
                          <a:cs typeface="Arial" panose="020B0604020202020204" pitchFamily="34" charset="0"/>
                        </a:rPr>
                        <a:t> Parameters Index</a:t>
                      </a:r>
                      <a:r>
                        <a:rPr lang="zh-CN" altLang="en-US" sz="1200" b="0" i="0" u="none" strike="noStrike" baseline="0"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baseline="0" dirty="0">
                          <a:solidFill>
                            <a:schemeClr val="tx1"/>
                          </a:solidFill>
                          <a:effectLst/>
                          <a:latin typeface="+mn-lt"/>
                          <a:ea typeface="宋体" panose="02010600030101010101" pitchFamily="2" charset="-122"/>
                          <a:cs typeface="Arial" panose="020B0604020202020204" pitchFamily="34" charset="0"/>
                        </a:rPr>
                        <a:t>SPI</a:t>
                      </a:r>
                      <a:r>
                        <a:rPr lang="zh-CN" altLang="en-US" sz="1200" b="0" i="0" u="none" strike="noStrike" baseline="0" dirty="0">
                          <a:solidFill>
                            <a:schemeClr val="tx1"/>
                          </a:solidFill>
                          <a:effectLst/>
                          <a:latin typeface="+mn-lt"/>
                          <a:ea typeface="宋体" panose="02010600030101010101" pitchFamily="2" charset="-122"/>
                          <a:cs typeface="Arial" panose="020B0604020202020204" pitchFamily="34" charset="0"/>
                        </a:rPr>
                        <a:t>）</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dirty="0">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extLst>
                  <a:ext uri="{0D108BD9-81ED-4DB2-BD59-A6C34878D82A}">
                    <a16:rowId xmlns:a16="http://schemas.microsoft.com/office/drawing/2014/main" val="10001"/>
                  </a:ext>
                </a:extLst>
              </a:tr>
              <a:tr h="450050">
                <a:tc gridSpan="3">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Sequence Number</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extLst>
                  <a:ext uri="{0D108BD9-81ED-4DB2-BD59-A6C34878D82A}">
                    <a16:rowId xmlns:a16="http://schemas.microsoft.com/office/drawing/2014/main" val="10002"/>
                  </a:ext>
                </a:extLst>
              </a:tr>
              <a:tr h="450050">
                <a:tc gridSpan="3">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Authentication Data</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Variable</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endParaRPr lang="en-US" altLang="zh-CN" sz="1200" b="0" i="0" u="none" strike="noStrike" dirty="0">
                        <a:solidFill>
                          <a:schemeClr val="tx1"/>
                        </a:solidFill>
                        <a:effectLst/>
                        <a:latin typeface="+mn-lt"/>
                        <a:ea typeface="宋体" panose="02010600030101010101" pitchFamily="2" charset="-122"/>
                        <a:cs typeface="Arial" panose="020B0604020202020204" pitchFamily="34" charset="0"/>
                      </a:endParaRPr>
                    </a:p>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Integrity Check Value</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ICV</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tc hMerge="1">
                  <a:txBody>
                    <a:bodyPr/>
                    <a:lstStyle/>
                    <a:p>
                      <a:pPr algn="l" fontAlgn="ctr"/>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9525" marR="9525" marT="9525" marB="0" anchor="ctr" anchorCtr="1">
                    <a:solidFill>
                      <a:srgbClr val="92D050"/>
                    </a:solidFill>
                  </a:tcPr>
                </a:tc>
                <a:extLst>
                  <a:ext uri="{0D108BD9-81ED-4DB2-BD59-A6C34878D82A}">
                    <a16:rowId xmlns:a16="http://schemas.microsoft.com/office/drawing/2014/main" val="10003"/>
                  </a:ext>
                </a:extLst>
              </a:tr>
            </a:tbl>
          </a:graphicData>
        </a:graphic>
      </p:graphicFrame>
      <p:cxnSp>
        <p:nvCxnSpPr>
          <p:cNvPr id="11" name="Straight Connector 10"/>
          <p:cNvCxnSpPr/>
          <p:nvPr/>
        </p:nvCxnSpPr>
        <p:spPr bwMode="gray">
          <a:xfrm>
            <a:off x="1281134" y="5447463"/>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gray">
          <a:xfrm>
            <a:off x="5267908" y="5447463"/>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gray">
          <a:xfrm flipH="1">
            <a:off x="1281134" y="5519471"/>
            <a:ext cx="398677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bwMode="gray">
          <a:xfrm>
            <a:off x="3018681" y="5503020"/>
            <a:ext cx="540533"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32bit</a:t>
            </a:r>
            <a:endParaRPr lang="zh-CN" altLang="en-US" sz="1200" dirty="0">
              <a:latin typeface="Huawei Sans" panose="020C0503030203020204" pitchFamily="34" charset="0"/>
              <a:ea typeface="方正兰亭黑简体" panose="02000000000000000000" pitchFamily="2" charset="-122"/>
            </a:endParaRPr>
          </a:p>
        </p:txBody>
      </p:sp>
      <p:graphicFrame>
        <p:nvGraphicFramePr>
          <p:cNvPr id="17" name="表格 16"/>
          <p:cNvGraphicFramePr>
            <a:graphicFrameLocks noGrp="1"/>
          </p:cNvGraphicFramePr>
          <p:nvPr>
            <p:extLst>
              <p:ext uri="{D42A27DB-BD31-4B8C-83A1-F6EECF244321}">
                <p14:modId xmlns:p14="http://schemas.microsoft.com/office/powerpoint/2010/main" val="3114113126"/>
              </p:ext>
            </p:extLst>
          </p:nvPr>
        </p:nvGraphicFramePr>
        <p:xfrm>
          <a:off x="6096000" y="3364248"/>
          <a:ext cx="3996422" cy="2445750"/>
        </p:xfrm>
        <a:graphic>
          <a:graphicData uri="http://schemas.openxmlformats.org/drawingml/2006/table">
            <a:tbl>
              <a:tblPr/>
              <a:tblGrid>
                <a:gridCol w="1332140">
                  <a:extLst>
                    <a:ext uri="{9D8B030D-6E8A-4147-A177-3AD203B41FA5}">
                      <a16:colId xmlns:a16="http://schemas.microsoft.com/office/drawing/2014/main" val="20000"/>
                    </a:ext>
                  </a:extLst>
                </a:gridCol>
                <a:gridCol w="666071">
                  <a:extLst>
                    <a:ext uri="{9D8B030D-6E8A-4147-A177-3AD203B41FA5}">
                      <a16:colId xmlns:a16="http://schemas.microsoft.com/office/drawing/2014/main" val="20001"/>
                    </a:ext>
                  </a:extLst>
                </a:gridCol>
                <a:gridCol w="999106">
                  <a:extLst>
                    <a:ext uri="{9D8B030D-6E8A-4147-A177-3AD203B41FA5}">
                      <a16:colId xmlns:a16="http://schemas.microsoft.com/office/drawing/2014/main" val="20002"/>
                    </a:ext>
                  </a:extLst>
                </a:gridCol>
                <a:gridCol w="999105">
                  <a:extLst>
                    <a:ext uri="{9D8B030D-6E8A-4147-A177-3AD203B41FA5}">
                      <a16:colId xmlns:a16="http://schemas.microsoft.com/office/drawing/2014/main" val="20003"/>
                    </a:ext>
                  </a:extLst>
                </a:gridCol>
              </a:tblGrid>
              <a:tr h="407625">
                <a:tc gridSpan="4">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Security Parameters Index</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SPI</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endParaRPr lang="en-US" altLang="zh-CN"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07625">
                <a:tc gridSpan="4">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Sequence Number</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1"/>
                  </a:ext>
                </a:extLst>
              </a:tr>
              <a:tr h="407625">
                <a:tc gridSpan="4">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Payload Data</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Variable</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r h="407625">
                <a:tc>
                  <a:txBody>
                    <a:bodyPr/>
                    <a:lstStyle>
                      <a:lvl1pPr marL="0" algn="l" defTabSz="914034" rtl="0" eaLnBrk="1" latinLnBrk="0" hangingPunct="1">
                        <a:defRPr sz="1799" kern="1200">
                          <a:solidFill>
                            <a:schemeClr val="dk1"/>
                          </a:solidFill>
                          <a:latin typeface="FrutigerNext LT Medium"/>
                          <a:ea typeface="微软雅黑"/>
                          <a:cs typeface="宋体"/>
                        </a:defRPr>
                      </a:lvl1pPr>
                      <a:lvl2pPr marL="457017" algn="l" defTabSz="914034" rtl="0" eaLnBrk="1" latinLnBrk="0" hangingPunct="1">
                        <a:defRPr sz="1799" kern="1200">
                          <a:solidFill>
                            <a:schemeClr val="dk1"/>
                          </a:solidFill>
                          <a:latin typeface="FrutigerNext LT Medium"/>
                          <a:ea typeface="微软雅黑"/>
                          <a:cs typeface="宋体"/>
                        </a:defRPr>
                      </a:lvl2pPr>
                      <a:lvl3pPr marL="914034" algn="l" defTabSz="914034" rtl="0" eaLnBrk="1" latinLnBrk="0" hangingPunct="1">
                        <a:defRPr sz="1799" kern="1200">
                          <a:solidFill>
                            <a:schemeClr val="dk1"/>
                          </a:solidFill>
                          <a:latin typeface="FrutigerNext LT Medium"/>
                          <a:ea typeface="微软雅黑"/>
                          <a:cs typeface="宋体"/>
                        </a:defRPr>
                      </a:lvl3pPr>
                      <a:lvl4pPr marL="1371051" algn="l" defTabSz="914034" rtl="0" eaLnBrk="1" latinLnBrk="0" hangingPunct="1">
                        <a:defRPr sz="1799" kern="1200">
                          <a:solidFill>
                            <a:schemeClr val="dk1"/>
                          </a:solidFill>
                          <a:latin typeface="FrutigerNext LT Medium"/>
                          <a:ea typeface="微软雅黑"/>
                          <a:cs typeface="宋体"/>
                        </a:defRPr>
                      </a:lvl4pPr>
                      <a:lvl5pPr marL="1828068" algn="l" defTabSz="914034" rtl="0" eaLnBrk="1" latinLnBrk="0" hangingPunct="1">
                        <a:defRPr sz="1799" kern="1200">
                          <a:solidFill>
                            <a:schemeClr val="dk1"/>
                          </a:solidFill>
                          <a:latin typeface="FrutigerNext LT Medium"/>
                          <a:ea typeface="微软雅黑"/>
                          <a:cs typeface="宋体"/>
                        </a:defRPr>
                      </a:lvl5pPr>
                      <a:lvl6pPr marL="2285086" algn="l" defTabSz="914034" rtl="0" eaLnBrk="1" latinLnBrk="0" hangingPunct="1">
                        <a:defRPr sz="1799" kern="1200">
                          <a:solidFill>
                            <a:schemeClr val="dk1"/>
                          </a:solidFill>
                          <a:latin typeface="FrutigerNext LT Medium"/>
                          <a:ea typeface="微软雅黑"/>
                          <a:cs typeface="宋体"/>
                        </a:defRPr>
                      </a:lvl6pPr>
                      <a:lvl7pPr marL="2742103" algn="l" defTabSz="914034" rtl="0" eaLnBrk="1" latinLnBrk="0" hangingPunct="1">
                        <a:defRPr sz="1799" kern="1200">
                          <a:solidFill>
                            <a:schemeClr val="dk1"/>
                          </a:solidFill>
                          <a:latin typeface="FrutigerNext LT Medium"/>
                          <a:ea typeface="微软雅黑"/>
                          <a:cs typeface="宋体"/>
                        </a:defRPr>
                      </a:lvl7pPr>
                      <a:lvl8pPr marL="3199120" algn="l" defTabSz="914034" rtl="0" eaLnBrk="1" latinLnBrk="0" hangingPunct="1">
                        <a:defRPr sz="1799" kern="1200">
                          <a:solidFill>
                            <a:schemeClr val="dk1"/>
                          </a:solidFill>
                          <a:latin typeface="FrutigerNext LT Medium"/>
                          <a:ea typeface="微软雅黑"/>
                          <a:cs typeface="宋体"/>
                        </a:defRPr>
                      </a:lvl8pPr>
                      <a:lvl9pPr marL="3656137" algn="l" defTabSz="914034" rtl="0" eaLnBrk="1" latinLnBrk="0" hangingPunct="1">
                        <a:defRPr sz="1799" kern="1200">
                          <a:solidFill>
                            <a:schemeClr val="dk1"/>
                          </a:solidFill>
                          <a:latin typeface="FrutigerNext LT Medium"/>
                          <a:ea typeface="微软雅黑"/>
                          <a:cs typeface="宋体"/>
                        </a:defRPr>
                      </a:lvl9pPr>
                    </a:lstStyle>
                    <a:p>
                      <a:pPr algn="ctr" fontAlgn="ct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gridSpan="3">
                  <a:txBody>
                    <a:body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Padding</a:t>
                      </a:r>
                    </a:p>
                    <a:p>
                      <a:pPr algn="ctr" fontAlgn="ct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0-255 Octets</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r h="407625">
                <a:tc gridSpan="2">
                  <a:txBody>
                    <a:bodyPr/>
                    <a:lstStyle/>
                    <a:p>
                      <a:pPr algn="ctr" fontAlgn="ct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endParaRPr lang="zh-CN" altLang="en-US"/>
                    </a:p>
                  </a:txBody>
                  <a:tcPr/>
                </a:tc>
                <a:tc>
                  <a:txBody>
                    <a:body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Pad Len</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a:txBody>
                    <a:body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Next Header</a:t>
                      </a:r>
                      <a:endParaRPr lang="zh-CN" altLang="en-US" sz="1200" b="0" i="0" u="none" strike="noStrike" dirty="0">
                        <a:solidFill>
                          <a:schemeClr val="tx1"/>
                        </a:solidFill>
                        <a:effectLst/>
                        <a:latin typeface="+mn-lt"/>
                        <a:ea typeface="宋体" panose="02010600030101010101" pitchFamily="2" charset="-122"/>
                        <a:cs typeface="Arial" panose="020B0604020202020204" pitchFamily="34" charset="0"/>
                      </a:endParaRP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a16="http://schemas.microsoft.com/office/drawing/2014/main" val="10004"/>
                  </a:ext>
                </a:extLst>
              </a:tr>
              <a:tr h="407625">
                <a:tc gridSpan="4">
                  <a:txBody>
                    <a:bodyPr/>
                    <a:lstStyle/>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Authentication Data</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Variable</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endParaRPr lang="en-US" altLang="zh-CN" sz="1200" b="0" i="0" u="none" strike="noStrike" dirty="0">
                        <a:solidFill>
                          <a:schemeClr val="tx1"/>
                        </a:solidFill>
                        <a:effectLst/>
                        <a:latin typeface="+mn-lt"/>
                        <a:ea typeface="宋体" panose="02010600030101010101" pitchFamily="2" charset="-122"/>
                        <a:cs typeface="Arial" panose="020B0604020202020204" pitchFamily="34" charset="0"/>
                      </a:endParaRPr>
                    </a:p>
                    <a:p>
                      <a:pPr algn="ctr" fontAlgn="ct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Integrity Check Value</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r>
                        <a:rPr lang="en-US" altLang="zh-CN" sz="1200" b="0" i="0" u="none" strike="noStrike" dirty="0">
                          <a:solidFill>
                            <a:schemeClr val="tx1"/>
                          </a:solidFill>
                          <a:effectLst/>
                          <a:latin typeface="+mn-lt"/>
                          <a:ea typeface="宋体" panose="02010600030101010101" pitchFamily="2" charset="-122"/>
                          <a:cs typeface="Arial" panose="020B0604020202020204" pitchFamily="34" charset="0"/>
                        </a:rPr>
                        <a:t>ICV</a:t>
                      </a:r>
                      <a:r>
                        <a:rPr lang="zh-CN" altLang="en-US" sz="1200" b="0" i="0" u="none" strike="noStrike" dirty="0">
                          <a:solidFill>
                            <a:schemeClr val="tx1"/>
                          </a:solidFill>
                          <a:effectLst/>
                          <a:latin typeface="+mn-lt"/>
                          <a:ea typeface="宋体" panose="02010600030101010101" pitchFamily="2" charset="-122"/>
                          <a:cs typeface="Arial" panose="020B0604020202020204" pitchFamily="34" charset="0"/>
                        </a:rPr>
                        <a:t>）</a:t>
                      </a:r>
                    </a:p>
                  </a:txBody>
                  <a:tcPr marL="9523" marR="9523" marT="9523" marB="0" anchor="ctr" anchorCtr="1">
                    <a:lnL w="12700" cap="flat" cmpd="sng" algn="ctr">
                      <a:solidFill>
                        <a:srgbClr val="66CCFF"/>
                      </a:solidFill>
                      <a:prstDash val="solid"/>
                      <a:round/>
                      <a:headEnd type="none" w="med" len="med"/>
                      <a:tailEnd type="none" w="med" len="med"/>
                    </a:lnL>
                    <a:lnR w="12700" cap="flat" cmpd="sng" algn="ctr">
                      <a:solidFill>
                        <a:srgbClr val="66CCFF"/>
                      </a:solidFill>
                      <a:prstDash val="solid"/>
                      <a:round/>
                      <a:headEnd type="none" w="med" len="med"/>
                      <a:tailEnd type="none" w="med" len="med"/>
                    </a:lnR>
                    <a:lnT w="12700" cap="flat" cmpd="sng" algn="ctr">
                      <a:solidFill>
                        <a:srgbClr val="66CCFF"/>
                      </a:solidFill>
                      <a:prstDash val="solid"/>
                      <a:round/>
                      <a:headEnd type="none" w="med" len="med"/>
                      <a:tailEnd type="none" w="med" len="med"/>
                    </a:lnT>
                    <a:lnB w="12700" cap="flat" cmpd="sng" algn="ctr">
                      <a:solidFill>
                        <a:srgbClr val="66CCFF"/>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5"/>
                  </a:ext>
                </a:extLst>
              </a:tr>
            </a:tbl>
          </a:graphicData>
        </a:graphic>
      </p:graphicFrame>
      <p:cxnSp>
        <p:nvCxnSpPr>
          <p:cNvPr id="18" name="Straight Connector 17"/>
          <p:cNvCxnSpPr/>
          <p:nvPr/>
        </p:nvCxnSpPr>
        <p:spPr bwMode="gray">
          <a:xfrm>
            <a:off x="6105647" y="5862586"/>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gray">
          <a:xfrm>
            <a:off x="10092421" y="5862586"/>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flipH="1">
            <a:off x="6105647" y="5934594"/>
            <a:ext cx="3986774"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bwMode="gray">
          <a:xfrm>
            <a:off x="7843194" y="5918143"/>
            <a:ext cx="540533"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32bit</a:t>
            </a:r>
            <a:endParaRPr lang="zh-CN" altLang="en-US" sz="1200" dirty="0">
              <a:latin typeface="Huawei Sans" panose="020C0503030203020204" pitchFamily="34" charset="0"/>
              <a:ea typeface="方正兰亭黑简体" panose="02000000000000000000" pitchFamily="2" charset="-122"/>
            </a:endParaRPr>
          </a:p>
        </p:txBody>
      </p:sp>
      <p:cxnSp>
        <p:nvCxnSpPr>
          <p:cNvPr id="22" name="Straight Connector 21"/>
          <p:cNvCxnSpPr/>
          <p:nvPr/>
        </p:nvCxnSpPr>
        <p:spPr bwMode="gray">
          <a:xfrm flipH="1">
            <a:off x="10111764" y="3373194"/>
            <a:ext cx="105814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gray">
          <a:xfrm flipH="1">
            <a:off x="10111764" y="4187323"/>
            <a:ext cx="95278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flipH="1">
            <a:off x="10111764" y="5374761"/>
            <a:ext cx="1058146"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gray">
          <a:xfrm flipH="1">
            <a:off x="10111764" y="5811561"/>
            <a:ext cx="4127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bwMode="gray">
          <a:xfrm>
            <a:off x="10188367" y="3409198"/>
            <a:ext cx="0" cy="74212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2" name="Text Box 26"/>
          <p:cNvSpPr txBox="1">
            <a:spLocks noChangeArrowheads="1"/>
          </p:cNvSpPr>
          <p:nvPr/>
        </p:nvSpPr>
        <p:spPr bwMode="gray">
          <a:xfrm>
            <a:off x="10128448" y="3549458"/>
            <a:ext cx="695901" cy="461600"/>
          </a:xfrm>
          <a:prstGeom prst="rect">
            <a:avLst/>
          </a:prstGeom>
          <a:noFill/>
          <a:ln w="9525">
            <a:noFill/>
            <a:miter lim="800000"/>
            <a:headEnd/>
            <a:tailEnd/>
          </a:ln>
        </p:spPr>
        <p:txBody>
          <a:bodyPr wrap="none" lIns="91379" tIns="45688" rIns="91379" bIns="45688">
            <a:spAutoFit/>
          </a:bodyPr>
          <a:lstStyle/>
          <a:p>
            <a:pPr algn="ctr" eaLnBrk="1" fontAlgn="t" hangingPunct="1"/>
            <a:r>
              <a:rPr kumimoji="1" lang="en-US" altLang="zh-CN" sz="1200" dirty="0">
                <a:latin typeface="Huawei Sans" panose="020C0503030203020204" pitchFamily="34" charset="0"/>
                <a:ea typeface="方正兰亭黑简体" panose="02000000000000000000" pitchFamily="2" charset="-122"/>
              </a:rPr>
              <a:t>ESP</a:t>
            </a:r>
          </a:p>
          <a:p>
            <a:pPr algn="ctr" eaLnBrk="1" fontAlgn="t" hangingPunct="1"/>
            <a:r>
              <a:rPr kumimoji="1" lang="en-US" altLang="zh-CN" sz="1200" dirty="0">
                <a:latin typeface="Huawei Sans" panose="020C0503030203020204" pitchFamily="34" charset="0"/>
                <a:ea typeface="方正兰亭黑简体" panose="02000000000000000000" pitchFamily="2" charset="-122"/>
              </a:rPr>
              <a:t>Header</a:t>
            </a:r>
            <a:endParaRPr kumimoji="1" lang="zh-CN" altLang="en-US" sz="1200" dirty="0">
              <a:latin typeface="Huawei Sans" panose="020C0503030203020204" pitchFamily="34" charset="0"/>
              <a:ea typeface="方正兰亭黑简体" panose="02000000000000000000" pitchFamily="2" charset="-122"/>
            </a:endParaRPr>
          </a:p>
        </p:txBody>
      </p:sp>
      <p:cxnSp>
        <p:nvCxnSpPr>
          <p:cNvPr id="33" name="Straight Arrow Connector 32"/>
          <p:cNvCxnSpPr/>
          <p:nvPr/>
        </p:nvCxnSpPr>
        <p:spPr bwMode="gray">
          <a:xfrm>
            <a:off x="10740516" y="4222858"/>
            <a:ext cx="0" cy="1116124"/>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gray">
          <a:xfrm flipH="1">
            <a:off x="10111764" y="4596861"/>
            <a:ext cx="4127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bwMode="gray">
          <a:xfrm>
            <a:off x="10189362" y="4596861"/>
            <a:ext cx="0" cy="742121"/>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 Box 26"/>
          <p:cNvSpPr txBox="1">
            <a:spLocks noChangeArrowheads="1"/>
          </p:cNvSpPr>
          <p:nvPr/>
        </p:nvSpPr>
        <p:spPr bwMode="gray">
          <a:xfrm>
            <a:off x="10138447" y="4750278"/>
            <a:ext cx="633384" cy="461600"/>
          </a:xfrm>
          <a:prstGeom prst="rect">
            <a:avLst/>
          </a:prstGeom>
          <a:noFill/>
          <a:ln w="9525">
            <a:noFill/>
            <a:miter lim="800000"/>
            <a:headEnd/>
            <a:tailEnd/>
          </a:ln>
        </p:spPr>
        <p:txBody>
          <a:bodyPr wrap="none" lIns="91379" tIns="45688" rIns="91379" bIns="45688">
            <a:spAutoFit/>
          </a:bodyPr>
          <a:lstStyle/>
          <a:p>
            <a:pPr algn="ctr" eaLnBrk="1" fontAlgn="t" hangingPunct="1"/>
            <a:r>
              <a:rPr kumimoji="1" lang="en-US" altLang="zh-CN" sz="1200" dirty="0">
                <a:latin typeface="Huawei Sans" panose="020C0503030203020204" pitchFamily="34" charset="0"/>
                <a:ea typeface="方正兰亭黑简体" panose="02000000000000000000" pitchFamily="2" charset="-122"/>
              </a:rPr>
              <a:t>ESP</a:t>
            </a:r>
          </a:p>
          <a:p>
            <a:pPr algn="ctr" eaLnBrk="1" fontAlgn="t" hangingPunct="1"/>
            <a:r>
              <a:rPr kumimoji="1" lang="en-US" altLang="zh-CN" sz="1200" dirty="0">
                <a:latin typeface="Huawei Sans" panose="020C0503030203020204" pitchFamily="34" charset="0"/>
                <a:ea typeface="方正兰亭黑简体" panose="02000000000000000000" pitchFamily="2" charset="-122"/>
              </a:rPr>
              <a:t>Trailer</a:t>
            </a:r>
            <a:endParaRPr kumimoji="1" lang="zh-CN" altLang="en-US" sz="1200" dirty="0">
              <a:latin typeface="Huawei Sans" panose="020C0503030203020204" pitchFamily="34" charset="0"/>
              <a:ea typeface="方正兰亭黑简体" panose="02000000000000000000" pitchFamily="2" charset="-122"/>
            </a:endParaRPr>
          </a:p>
        </p:txBody>
      </p:sp>
      <p:sp>
        <p:nvSpPr>
          <p:cNvPr id="38" name="Text Box 26"/>
          <p:cNvSpPr txBox="1">
            <a:spLocks noChangeArrowheads="1"/>
          </p:cNvSpPr>
          <p:nvPr/>
        </p:nvSpPr>
        <p:spPr bwMode="gray">
          <a:xfrm rot="16200000">
            <a:off x="10388884" y="4621508"/>
            <a:ext cx="877040" cy="276934"/>
          </a:xfrm>
          <a:prstGeom prst="rect">
            <a:avLst/>
          </a:prstGeom>
          <a:noFill/>
          <a:ln w="9525">
            <a:noFill/>
            <a:miter lim="800000"/>
            <a:headEnd/>
            <a:tailEnd/>
          </a:ln>
        </p:spPr>
        <p:txBody>
          <a:bodyPr wrap="none" lIns="91379" tIns="45688" rIns="91379" bIns="45688">
            <a:spAutoFit/>
          </a:bodyPr>
          <a:lstStyle/>
          <a:p>
            <a:pPr algn="ctr" eaLnBrk="1" fontAlgn="t" hangingPunct="1"/>
            <a:r>
              <a:rPr kumimoji="1" lang="en-US" altLang="zh-CN" sz="1200" dirty="0">
                <a:latin typeface="Huawei Sans" panose="020C0503030203020204" pitchFamily="34" charset="0"/>
                <a:ea typeface="方正兰亭黑简体" panose="02000000000000000000" pitchFamily="2" charset="-122"/>
              </a:rPr>
              <a:t>Encrypted</a:t>
            </a:r>
            <a:endParaRPr kumimoji="1" lang="zh-CN" altLang="en-US" sz="1200" dirty="0">
              <a:latin typeface="Huawei Sans" panose="020C0503030203020204" pitchFamily="34" charset="0"/>
              <a:ea typeface="方正兰亭黑简体" panose="02000000000000000000" pitchFamily="2" charset="-122"/>
            </a:endParaRPr>
          </a:p>
        </p:txBody>
      </p:sp>
      <p:sp>
        <p:nvSpPr>
          <p:cNvPr id="39" name="Text Box 26"/>
          <p:cNvSpPr txBox="1">
            <a:spLocks noChangeArrowheads="1"/>
          </p:cNvSpPr>
          <p:nvPr/>
        </p:nvSpPr>
        <p:spPr bwMode="gray">
          <a:xfrm>
            <a:off x="9998184" y="5359882"/>
            <a:ext cx="1215274" cy="461600"/>
          </a:xfrm>
          <a:prstGeom prst="rect">
            <a:avLst/>
          </a:prstGeom>
          <a:noFill/>
          <a:ln w="9525">
            <a:noFill/>
            <a:miter lim="800000"/>
            <a:headEnd/>
            <a:tailEnd/>
          </a:ln>
        </p:spPr>
        <p:txBody>
          <a:bodyPr wrap="none" lIns="91379" tIns="45688" rIns="91379" bIns="45688">
            <a:spAutoFit/>
          </a:bodyPr>
          <a:lstStyle/>
          <a:p>
            <a:pPr algn="ctr" eaLnBrk="1" fontAlgn="t" hangingPunct="1"/>
            <a:r>
              <a:rPr kumimoji="1" lang="en-US" altLang="zh-CN" sz="1200" dirty="0">
                <a:latin typeface="Huawei Sans" panose="020C0503030203020204" pitchFamily="34" charset="0"/>
                <a:ea typeface="方正兰亭黑简体" panose="02000000000000000000" pitchFamily="2" charset="-122"/>
              </a:rPr>
              <a:t>ESP</a:t>
            </a:r>
          </a:p>
          <a:p>
            <a:pPr algn="ctr" eaLnBrk="1" fontAlgn="t" hangingPunct="1"/>
            <a:r>
              <a:rPr kumimoji="1" lang="en-US" altLang="zh-CN" sz="1200" dirty="0">
                <a:latin typeface="Huawei Sans" panose="020C0503030203020204" pitchFamily="34" charset="0"/>
                <a:ea typeface="方正兰亭黑简体" panose="02000000000000000000" pitchFamily="2" charset="-122"/>
              </a:rPr>
              <a:t>Authentication</a:t>
            </a:r>
            <a:endParaRPr kumimoji="1" lang="zh-CN" altLang="en-US" sz="1200" dirty="0">
              <a:latin typeface="Huawei Sans" panose="020C0503030203020204" pitchFamily="34" charset="0"/>
              <a:ea typeface="方正兰亭黑简体" panose="02000000000000000000" pitchFamily="2" charset="-122"/>
            </a:endParaRPr>
          </a:p>
        </p:txBody>
      </p:sp>
      <p:cxnSp>
        <p:nvCxnSpPr>
          <p:cNvPr id="40" name="Straight Arrow Connector 39"/>
          <p:cNvCxnSpPr/>
          <p:nvPr/>
        </p:nvCxnSpPr>
        <p:spPr bwMode="gray">
          <a:xfrm>
            <a:off x="11071068" y="3373194"/>
            <a:ext cx="0" cy="2001567"/>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 Box 26"/>
          <p:cNvSpPr txBox="1">
            <a:spLocks noChangeArrowheads="1"/>
          </p:cNvSpPr>
          <p:nvPr/>
        </p:nvSpPr>
        <p:spPr bwMode="gray">
          <a:xfrm rot="16200000">
            <a:off x="10559378" y="4344204"/>
            <a:ext cx="1215274" cy="276934"/>
          </a:xfrm>
          <a:prstGeom prst="rect">
            <a:avLst/>
          </a:prstGeom>
          <a:noFill/>
          <a:ln w="9525">
            <a:noFill/>
            <a:miter lim="800000"/>
            <a:headEnd/>
            <a:tailEnd/>
          </a:ln>
        </p:spPr>
        <p:txBody>
          <a:bodyPr wrap="none" lIns="91379" tIns="45688" rIns="91379" bIns="45688">
            <a:spAutoFit/>
          </a:bodyPr>
          <a:lstStyle/>
          <a:p>
            <a:pPr algn="ctr" eaLnBrk="1" fontAlgn="t" hangingPunct="1"/>
            <a:r>
              <a:rPr kumimoji="1" lang="en-US" altLang="zh-CN" sz="1200" dirty="0">
                <a:latin typeface="Huawei Sans" panose="020C0503030203020204" pitchFamily="34" charset="0"/>
                <a:ea typeface="方正兰亭黑简体" panose="02000000000000000000" pitchFamily="2" charset="-122"/>
              </a:rPr>
              <a:t>Authentication</a:t>
            </a:r>
            <a:endParaRPr kumimoji="1" lang="zh-CN" altLang="en-US" sz="1200" dirty="0">
              <a:latin typeface="Huawei Sans" panose="020C0503030203020204" pitchFamily="34" charset="0"/>
              <a:ea typeface="方正兰亭黑简体" panose="02000000000000000000" pitchFamily="2" charset="-122"/>
            </a:endParaRPr>
          </a:p>
        </p:txBody>
      </p:sp>
      <p:sp>
        <p:nvSpPr>
          <p:cNvPr id="34"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简介</a:t>
            </a:r>
          </a:p>
        </p:txBody>
      </p:sp>
      <p:sp>
        <p:nvSpPr>
          <p:cNvPr id="41"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协议框架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8923894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封装模式介绍</a:t>
            </a:r>
          </a:p>
        </p:txBody>
      </p:sp>
      <p:sp>
        <p:nvSpPr>
          <p:cNvPr id="3" name="Text Placeholder 2"/>
          <p:cNvSpPr>
            <a:spLocks noGrp="1"/>
          </p:cNvSpPr>
          <p:nvPr>
            <p:ph type="body" sz="quarter" idx="10"/>
          </p:nvPr>
        </p:nvSpPr>
        <p:spPr bwMode="gray"/>
        <p:txBody>
          <a:bodyPr/>
          <a:lstStyle/>
          <a:p>
            <a:r>
              <a:rPr lang="zh-CN" altLang="en-US" sz="1800" dirty="0"/>
              <a:t>封装模式是指将</a:t>
            </a:r>
            <a:r>
              <a:rPr lang="en-US" altLang="zh-CN" sz="1800" dirty="0"/>
              <a:t>AH</a:t>
            </a:r>
            <a:r>
              <a:rPr lang="zh-CN" altLang="en-US" sz="1800" dirty="0"/>
              <a:t>或</a:t>
            </a:r>
            <a:r>
              <a:rPr lang="en-US" altLang="zh-CN" sz="1800" dirty="0"/>
              <a:t>ESP</a:t>
            </a:r>
            <a:r>
              <a:rPr lang="zh-CN" altLang="en-US" sz="1800" dirty="0"/>
              <a:t>相关的字段插入到原始</a:t>
            </a:r>
            <a:r>
              <a:rPr lang="en-US" altLang="zh-CN" sz="1800" dirty="0"/>
              <a:t>IP</a:t>
            </a:r>
            <a:r>
              <a:rPr lang="zh-CN" altLang="en-US" sz="1800" dirty="0"/>
              <a:t>报文中，以实现对报文的认证和加密，封装模式有传输模式和隧道模式两种。</a:t>
            </a:r>
            <a:endParaRPr lang="en-US" altLang="zh-CN" sz="1800" dirty="0"/>
          </a:p>
          <a:p>
            <a:r>
              <a:rPr lang="zh-CN" altLang="en-US" sz="1800" dirty="0"/>
              <a:t>现网中多使用隧道模式进行封装。</a:t>
            </a:r>
          </a:p>
        </p:txBody>
      </p:sp>
      <p:sp>
        <p:nvSpPr>
          <p:cNvPr id="4" name="圆角矩形 75"/>
          <p:cNvSpPr/>
          <p:nvPr/>
        </p:nvSpPr>
        <p:spPr bwMode="gray">
          <a:xfrm>
            <a:off x="613634" y="2384884"/>
            <a:ext cx="559037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隧道模式</a:t>
            </a:r>
          </a:p>
        </p:txBody>
      </p:sp>
      <p:sp>
        <p:nvSpPr>
          <p:cNvPr id="5" name="圆角矩形 75"/>
          <p:cNvSpPr/>
          <p:nvPr/>
        </p:nvSpPr>
        <p:spPr bwMode="gray">
          <a:xfrm>
            <a:off x="613634" y="2819170"/>
            <a:ext cx="5590378" cy="334613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圆角矩形 75"/>
          <p:cNvSpPr/>
          <p:nvPr/>
        </p:nvSpPr>
        <p:spPr bwMode="gray">
          <a:xfrm>
            <a:off x="6226730" y="2384884"/>
            <a:ext cx="541728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传输模式</a:t>
            </a:r>
          </a:p>
        </p:txBody>
      </p:sp>
      <p:sp>
        <p:nvSpPr>
          <p:cNvPr id="7" name="圆角矩形 75"/>
          <p:cNvSpPr/>
          <p:nvPr/>
        </p:nvSpPr>
        <p:spPr bwMode="gray">
          <a:xfrm>
            <a:off x="6226730" y="2819170"/>
            <a:ext cx="5417285" cy="334613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graphicFrame>
        <p:nvGraphicFramePr>
          <p:cNvPr id="8" name="Table 7"/>
          <p:cNvGraphicFramePr>
            <a:graphicFrameLocks noGrp="1"/>
          </p:cNvGraphicFramePr>
          <p:nvPr/>
        </p:nvGraphicFramePr>
        <p:xfrm>
          <a:off x="6821802" y="2927203"/>
          <a:ext cx="2736305" cy="457200"/>
        </p:xfrm>
        <a:graphic>
          <a:graphicData uri="http://schemas.openxmlformats.org/drawingml/2006/table">
            <a:tbl>
              <a:tblPr firstRow="1" bandRow="1">
                <a:tableStyleId>{5C22544A-7EE6-4342-B048-85BDC9FD1C3A}</a:tableStyleId>
              </a:tblPr>
              <a:tblGrid>
                <a:gridCol w="746265">
                  <a:extLst>
                    <a:ext uri="{9D8B030D-6E8A-4147-A177-3AD203B41FA5}">
                      <a16:colId xmlns:a16="http://schemas.microsoft.com/office/drawing/2014/main" val="20000"/>
                    </a:ext>
                  </a:extLst>
                </a:gridCol>
                <a:gridCol w="710729">
                  <a:extLst>
                    <a:ext uri="{9D8B030D-6E8A-4147-A177-3AD203B41FA5}">
                      <a16:colId xmlns:a16="http://schemas.microsoft.com/office/drawing/2014/main" val="20001"/>
                    </a:ext>
                  </a:extLst>
                </a:gridCol>
                <a:gridCol w="1279311">
                  <a:extLst>
                    <a:ext uri="{9D8B030D-6E8A-4147-A177-3AD203B41FA5}">
                      <a16:colId xmlns:a16="http://schemas.microsoft.com/office/drawing/2014/main" val="20002"/>
                    </a:ext>
                  </a:extLst>
                </a:gridCol>
              </a:tblGrid>
              <a:tr h="370840">
                <a:tc>
                  <a:txBody>
                    <a:bodyPr/>
                    <a:lstStyle/>
                    <a:p>
                      <a:pPr algn="ctr"/>
                      <a:r>
                        <a:rPr lang="en-US" altLang="zh-CN" sz="1200" b="0" dirty="0"/>
                        <a:t>IP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AH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tx1"/>
                          </a:solidFill>
                        </a:rPr>
                        <a:t>Data</a:t>
                      </a:r>
                      <a:endParaRPr lang="zh-CN" altLang="en-US" sz="1200" b="0" dirty="0">
                        <a:solidFill>
                          <a:schemeClr val="tx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9" name="Table 8"/>
          <p:cNvGraphicFramePr>
            <a:graphicFrameLocks noGrp="1"/>
          </p:cNvGraphicFramePr>
          <p:nvPr/>
        </p:nvGraphicFramePr>
        <p:xfrm>
          <a:off x="6821802" y="3787851"/>
          <a:ext cx="4356484" cy="457200"/>
        </p:xfrm>
        <a:graphic>
          <a:graphicData uri="http://schemas.openxmlformats.org/drawingml/2006/table">
            <a:tbl>
              <a:tblPr firstRow="1" bandRow="1">
                <a:tableStyleId>{5C22544A-7EE6-4342-B048-85BDC9FD1C3A}</a:tableStyleId>
              </a:tblPr>
              <a:tblGrid>
                <a:gridCol w="756084">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1260140">
                  <a:extLst>
                    <a:ext uri="{9D8B030D-6E8A-4147-A177-3AD203B41FA5}">
                      <a16:colId xmlns:a16="http://schemas.microsoft.com/office/drawing/2014/main" val="20002"/>
                    </a:ext>
                  </a:extLst>
                </a:gridCol>
                <a:gridCol w="684076">
                  <a:extLst>
                    <a:ext uri="{9D8B030D-6E8A-4147-A177-3AD203B41FA5}">
                      <a16:colId xmlns:a16="http://schemas.microsoft.com/office/drawing/2014/main" val="20003"/>
                    </a:ext>
                  </a:extLst>
                </a:gridCol>
                <a:gridCol w="936104">
                  <a:extLst>
                    <a:ext uri="{9D8B030D-6E8A-4147-A177-3AD203B41FA5}">
                      <a16:colId xmlns:a16="http://schemas.microsoft.com/office/drawing/2014/main" val="20004"/>
                    </a:ext>
                  </a:extLst>
                </a:gridCol>
              </a:tblGrid>
              <a:tr h="370840">
                <a:tc>
                  <a:txBody>
                    <a:bodyPr/>
                    <a:lstStyle/>
                    <a:p>
                      <a:pPr algn="ctr"/>
                      <a:r>
                        <a:rPr lang="en-US" altLang="zh-CN" sz="1200" b="0" dirty="0"/>
                        <a:t>IP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ESP</a:t>
                      </a:r>
                    </a:p>
                    <a:p>
                      <a:pPr algn="ctr"/>
                      <a:r>
                        <a:rPr lang="en-US" altLang="zh-CN" sz="1200" b="0" dirty="0"/>
                        <a:t>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tx1"/>
                          </a:solidFill>
                        </a:rPr>
                        <a:t>Data</a:t>
                      </a:r>
                      <a:endParaRPr lang="zh-CN" altLang="en-US" sz="1200" b="0" dirty="0">
                        <a:solidFill>
                          <a:schemeClr val="tx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85000"/>
                      </a:schemeClr>
                    </a:solidFill>
                  </a:tcPr>
                </a:tc>
                <a:tc>
                  <a:txBody>
                    <a:bodyPr/>
                    <a:lstStyle/>
                    <a:p>
                      <a:pPr algn="ctr"/>
                      <a:r>
                        <a:rPr lang="en-US" altLang="zh-CN" sz="1200" b="0" dirty="0">
                          <a:solidFill>
                            <a:schemeClr val="bg1"/>
                          </a:solidFill>
                        </a:rPr>
                        <a:t>ESP</a:t>
                      </a:r>
                    </a:p>
                    <a:p>
                      <a:pPr algn="ctr"/>
                      <a:r>
                        <a:rPr lang="en-US" altLang="zh-CN" sz="1200" b="0" dirty="0">
                          <a:solidFill>
                            <a:schemeClr val="bg1"/>
                          </a:solidFill>
                        </a:rPr>
                        <a:t>Trailer</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ESP</a:t>
                      </a:r>
                    </a:p>
                    <a:p>
                      <a:pPr algn="ctr"/>
                      <a:r>
                        <a:rPr lang="en-US" altLang="zh-CN" sz="1200" b="0" dirty="0" err="1">
                          <a:solidFill>
                            <a:schemeClr val="bg1"/>
                          </a:solidFill>
                        </a:rPr>
                        <a:t>Auth</a:t>
                      </a:r>
                      <a:r>
                        <a:rPr lang="en-US" altLang="zh-CN" sz="1200" b="0" dirty="0">
                          <a:solidFill>
                            <a:schemeClr val="bg1"/>
                          </a:solidFill>
                        </a:rPr>
                        <a:t> data</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bl>
          </a:graphicData>
        </a:graphic>
      </p:graphicFrame>
      <p:graphicFrame>
        <p:nvGraphicFramePr>
          <p:cNvPr id="10" name="Table 9"/>
          <p:cNvGraphicFramePr>
            <a:graphicFrameLocks noGrp="1"/>
          </p:cNvGraphicFramePr>
          <p:nvPr/>
        </p:nvGraphicFramePr>
        <p:xfrm>
          <a:off x="6821802" y="4858843"/>
          <a:ext cx="4752529" cy="457200"/>
        </p:xfrm>
        <a:graphic>
          <a:graphicData uri="http://schemas.openxmlformats.org/drawingml/2006/table">
            <a:tbl>
              <a:tblPr firstRow="1" bandRow="1">
                <a:tableStyleId>{5C22544A-7EE6-4342-B048-85BDC9FD1C3A}</a:tableStyleId>
              </a:tblPr>
              <a:tblGrid>
                <a:gridCol w="720080">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17403">
                  <a:extLst>
                    <a:ext uri="{9D8B030D-6E8A-4147-A177-3AD203B41FA5}">
                      <a16:colId xmlns:a16="http://schemas.microsoft.com/office/drawing/2014/main" val="20002"/>
                    </a:ext>
                  </a:extLst>
                </a:gridCol>
                <a:gridCol w="1078202">
                  <a:extLst>
                    <a:ext uri="{9D8B030D-6E8A-4147-A177-3AD203B41FA5}">
                      <a16:colId xmlns:a16="http://schemas.microsoft.com/office/drawing/2014/main" val="20003"/>
                    </a:ext>
                  </a:extLst>
                </a:gridCol>
                <a:gridCol w="640412">
                  <a:extLst>
                    <a:ext uri="{9D8B030D-6E8A-4147-A177-3AD203B41FA5}">
                      <a16:colId xmlns:a16="http://schemas.microsoft.com/office/drawing/2014/main" val="20004"/>
                    </a:ext>
                  </a:extLst>
                </a:gridCol>
                <a:gridCol w="876352">
                  <a:extLst>
                    <a:ext uri="{9D8B030D-6E8A-4147-A177-3AD203B41FA5}">
                      <a16:colId xmlns:a16="http://schemas.microsoft.com/office/drawing/2014/main" val="20005"/>
                    </a:ext>
                  </a:extLst>
                </a:gridCol>
              </a:tblGrid>
              <a:tr h="370840">
                <a:tc>
                  <a:txBody>
                    <a:bodyPr/>
                    <a:lstStyle/>
                    <a:p>
                      <a:pPr algn="ctr"/>
                      <a:r>
                        <a:rPr lang="en-US" altLang="zh-CN" sz="1200" b="0" dirty="0"/>
                        <a:t>IP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AH</a:t>
                      </a:r>
                    </a:p>
                    <a:p>
                      <a:pPr algn="ctr"/>
                      <a:r>
                        <a:rPr lang="en-US" altLang="zh-CN" sz="1200" b="0" dirty="0"/>
                        <a:t>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ESP</a:t>
                      </a:r>
                    </a:p>
                    <a:p>
                      <a:pPr algn="ctr"/>
                      <a:r>
                        <a:rPr lang="en-US" altLang="zh-CN" sz="1200" b="0" dirty="0"/>
                        <a:t>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tx1"/>
                          </a:solidFill>
                        </a:rPr>
                        <a:t>Data</a:t>
                      </a:r>
                      <a:endParaRPr lang="zh-CN" altLang="en-US" sz="1200" b="0" dirty="0">
                        <a:solidFill>
                          <a:schemeClr val="tx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85000"/>
                      </a:schemeClr>
                    </a:solidFill>
                  </a:tcPr>
                </a:tc>
                <a:tc>
                  <a:txBody>
                    <a:bodyPr/>
                    <a:lstStyle/>
                    <a:p>
                      <a:pPr algn="ctr"/>
                      <a:r>
                        <a:rPr lang="en-US" altLang="zh-CN" sz="1200" b="0" dirty="0">
                          <a:solidFill>
                            <a:schemeClr val="bg1"/>
                          </a:solidFill>
                        </a:rPr>
                        <a:t>ESP</a:t>
                      </a:r>
                    </a:p>
                    <a:p>
                      <a:pPr algn="ctr"/>
                      <a:r>
                        <a:rPr lang="en-US" altLang="zh-CN" sz="1200" b="0" dirty="0">
                          <a:solidFill>
                            <a:schemeClr val="bg1"/>
                          </a:solidFill>
                        </a:rPr>
                        <a:t>Trailer</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ESP</a:t>
                      </a:r>
                    </a:p>
                    <a:p>
                      <a:pPr algn="ctr"/>
                      <a:r>
                        <a:rPr lang="en-US" altLang="zh-CN" sz="1200" b="0" dirty="0" err="1">
                          <a:solidFill>
                            <a:schemeClr val="bg1"/>
                          </a:solidFill>
                        </a:rPr>
                        <a:t>Auth</a:t>
                      </a:r>
                      <a:r>
                        <a:rPr lang="en-US" altLang="zh-CN" sz="1200" b="0" dirty="0">
                          <a:solidFill>
                            <a:schemeClr val="bg1"/>
                          </a:solidFill>
                        </a:rPr>
                        <a:t> data</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bl>
          </a:graphicData>
        </a:graphic>
      </p:graphicFrame>
      <p:sp>
        <p:nvSpPr>
          <p:cNvPr id="11" name="TextBox 10"/>
          <p:cNvSpPr txBox="1"/>
          <p:nvPr/>
        </p:nvSpPr>
        <p:spPr bwMode="gray">
          <a:xfrm>
            <a:off x="6500941" y="3023292"/>
            <a:ext cx="40267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AH</a:t>
            </a:r>
            <a:endParaRPr lang="zh-CN" altLang="en-US" sz="1200" dirty="0">
              <a:latin typeface="Huawei Sans" panose="020C0503030203020204" pitchFamily="34" charset="0"/>
              <a:ea typeface="方正兰亭黑简体" panose="02000000000000000000" pitchFamily="2" charset="-122"/>
            </a:endParaRPr>
          </a:p>
        </p:txBody>
      </p:sp>
      <p:sp>
        <p:nvSpPr>
          <p:cNvPr id="12" name="TextBox 11"/>
          <p:cNvSpPr txBox="1"/>
          <p:nvPr/>
        </p:nvSpPr>
        <p:spPr bwMode="gray">
          <a:xfrm>
            <a:off x="6446930" y="3877951"/>
            <a:ext cx="43954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ESP</a:t>
            </a:r>
            <a:endParaRPr lang="zh-CN" altLang="en-US" sz="1200" dirty="0">
              <a:latin typeface="Huawei Sans" panose="020C0503030203020204" pitchFamily="34" charset="0"/>
              <a:ea typeface="方正兰亭黑简体" panose="02000000000000000000" pitchFamily="2" charset="-122"/>
            </a:endParaRPr>
          </a:p>
        </p:txBody>
      </p:sp>
      <p:sp>
        <p:nvSpPr>
          <p:cNvPr id="13" name="TextBox 12"/>
          <p:cNvSpPr txBox="1"/>
          <p:nvPr/>
        </p:nvSpPr>
        <p:spPr bwMode="gray">
          <a:xfrm>
            <a:off x="6168008" y="4948943"/>
            <a:ext cx="71846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AH-ESP</a:t>
            </a:r>
            <a:endParaRPr lang="zh-CN" altLang="en-US" sz="1200" dirty="0">
              <a:latin typeface="Huawei Sans" panose="020C0503030203020204" pitchFamily="34" charset="0"/>
              <a:ea typeface="方正兰亭黑简体" panose="02000000000000000000" pitchFamily="2" charset="-122"/>
            </a:endParaRPr>
          </a:p>
        </p:txBody>
      </p:sp>
      <p:cxnSp>
        <p:nvCxnSpPr>
          <p:cNvPr id="14" name="Straight Connector 13"/>
          <p:cNvCxnSpPr/>
          <p:nvPr/>
        </p:nvCxnSpPr>
        <p:spPr bwMode="gray">
          <a:xfrm>
            <a:off x="6821802" y="3417467"/>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gray">
          <a:xfrm>
            <a:off x="9572150" y="3417467"/>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gray">
          <a:xfrm flipH="1">
            <a:off x="6821802" y="3489475"/>
            <a:ext cx="273630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gray">
          <a:xfrm>
            <a:off x="7555926" y="4504059"/>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gray">
          <a:xfrm>
            <a:off x="10256226" y="4504059"/>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gray">
          <a:xfrm flipH="1">
            <a:off x="7555927" y="4576067"/>
            <a:ext cx="2700299"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gray">
          <a:xfrm>
            <a:off x="8312009" y="4271927"/>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gray">
          <a:xfrm>
            <a:off x="10256226" y="4271927"/>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gray">
          <a:xfrm flipH="1">
            <a:off x="8312011" y="4343935"/>
            <a:ext cx="1944215"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gray">
          <a:xfrm>
            <a:off x="8312010" y="5609378"/>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gray">
          <a:xfrm>
            <a:off x="10674336" y="5609378"/>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gray">
          <a:xfrm flipH="1">
            <a:off x="8312009" y="5681386"/>
            <a:ext cx="23623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gray">
          <a:xfrm>
            <a:off x="8996086" y="5377246"/>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gray">
          <a:xfrm>
            <a:off x="10674336" y="5377246"/>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gray">
          <a:xfrm flipH="1">
            <a:off x="8996086" y="5449254"/>
            <a:ext cx="1678251"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gray">
          <a:xfrm>
            <a:off x="6821803" y="5841268"/>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gray">
          <a:xfrm>
            <a:off x="11574641" y="5841268"/>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gray">
          <a:xfrm flipH="1">
            <a:off x="6821802" y="5913276"/>
            <a:ext cx="4752529" cy="0"/>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48" name="Table 47"/>
          <p:cNvGraphicFramePr>
            <a:graphicFrameLocks noGrp="1"/>
          </p:cNvGraphicFramePr>
          <p:nvPr/>
        </p:nvGraphicFramePr>
        <p:xfrm>
          <a:off x="1214723" y="2954079"/>
          <a:ext cx="2736306" cy="457200"/>
        </p:xfrm>
        <a:graphic>
          <a:graphicData uri="http://schemas.openxmlformats.org/drawingml/2006/table">
            <a:tbl>
              <a:tblPr firstRow="1" bandRow="1">
                <a:tableStyleId>{5C22544A-7EE6-4342-B048-85BDC9FD1C3A}</a:tableStyleId>
              </a:tblPr>
              <a:tblGrid>
                <a:gridCol w="746265">
                  <a:extLst>
                    <a:ext uri="{9D8B030D-6E8A-4147-A177-3AD203B41FA5}">
                      <a16:colId xmlns:a16="http://schemas.microsoft.com/office/drawing/2014/main" val="20000"/>
                    </a:ext>
                  </a:extLst>
                </a:gridCol>
                <a:gridCol w="710729">
                  <a:extLst>
                    <a:ext uri="{9D8B030D-6E8A-4147-A177-3AD203B41FA5}">
                      <a16:colId xmlns:a16="http://schemas.microsoft.com/office/drawing/2014/main" val="20001"/>
                    </a:ext>
                  </a:extLst>
                </a:gridCol>
                <a:gridCol w="759987">
                  <a:extLst>
                    <a:ext uri="{9D8B030D-6E8A-4147-A177-3AD203B41FA5}">
                      <a16:colId xmlns:a16="http://schemas.microsoft.com/office/drawing/2014/main" val="20002"/>
                    </a:ext>
                  </a:extLst>
                </a:gridCol>
                <a:gridCol w="519325">
                  <a:extLst>
                    <a:ext uri="{9D8B030D-6E8A-4147-A177-3AD203B41FA5}">
                      <a16:colId xmlns:a16="http://schemas.microsoft.com/office/drawing/2014/main" val="20003"/>
                    </a:ext>
                  </a:extLst>
                </a:gridCol>
              </a:tblGrid>
              <a:tr h="370840">
                <a:tc>
                  <a:txBody>
                    <a:bodyPr/>
                    <a:lstStyle/>
                    <a:p>
                      <a:pPr algn="ctr"/>
                      <a:r>
                        <a:rPr lang="en-US" altLang="zh-CN" sz="1200" b="0" dirty="0"/>
                        <a:t>New</a:t>
                      </a:r>
                      <a:r>
                        <a:rPr lang="en-US" altLang="zh-CN" sz="1200" b="0" baseline="0" dirty="0"/>
                        <a:t> </a:t>
                      </a:r>
                      <a:r>
                        <a:rPr lang="en-US" altLang="zh-CN" sz="1200" b="0" dirty="0"/>
                        <a:t>IP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AH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Raw IP Header</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rPr>
                        <a:t>Data</a:t>
                      </a:r>
                      <a:endParaRPr lang="zh-CN" altLang="en-US" sz="1200" b="0" dirty="0">
                        <a:solidFill>
                          <a:schemeClr val="tx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bl>
          </a:graphicData>
        </a:graphic>
      </p:graphicFrame>
      <p:graphicFrame>
        <p:nvGraphicFramePr>
          <p:cNvPr id="49" name="Table 48"/>
          <p:cNvGraphicFramePr>
            <a:graphicFrameLocks noGrp="1"/>
          </p:cNvGraphicFramePr>
          <p:nvPr/>
        </p:nvGraphicFramePr>
        <p:xfrm>
          <a:off x="1214723" y="3814727"/>
          <a:ext cx="4356484" cy="457200"/>
        </p:xfrm>
        <a:graphic>
          <a:graphicData uri="http://schemas.openxmlformats.org/drawingml/2006/table">
            <a:tbl>
              <a:tblPr firstRow="1" bandRow="1">
                <a:tableStyleId>{5C22544A-7EE6-4342-B048-85BDC9FD1C3A}</a:tableStyleId>
              </a:tblPr>
              <a:tblGrid>
                <a:gridCol w="756084">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40817">
                  <a:extLst>
                    <a:ext uri="{9D8B030D-6E8A-4147-A177-3AD203B41FA5}">
                      <a16:colId xmlns:a16="http://schemas.microsoft.com/office/drawing/2014/main" val="20002"/>
                    </a:ext>
                  </a:extLst>
                </a:gridCol>
                <a:gridCol w="519323">
                  <a:extLst>
                    <a:ext uri="{9D8B030D-6E8A-4147-A177-3AD203B41FA5}">
                      <a16:colId xmlns:a16="http://schemas.microsoft.com/office/drawing/2014/main" val="20003"/>
                    </a:ext>
                  </a:extLst>
                </a:gridCol>
                <a:gridCol w="684076">
                  <a:extLst>
                    <a:ext uri="{9D8B030D-6E8A-4147-A177-3AD203B41FA5}">
                      <a16:colId xmlns:a16="http://schemas.microsoft.com/office/drawing/2014/main" val="20004"/>
                    </a:ext>
                  </a:extLst>
                </a:gridCol>
                <a:gridCol w="936104">
                  <a:extLst>
                    <a:ext uri="{9D8B030D-6E8A-4147-A177-3AD203B41FA5}">
                      <a16:colId xmlns:a16="http://schemas.microsoft.com/office/drawing/2014/main" val="20005"/>
                    </a:ext>
                  </a:extLst>
                </a:gridCol>
              </a:tblGrid>
              <a:tr h="370840">
                <a:tc>
                  <a:txBody>
                    <a:bodyPr/>
                    <a:lstStyle/>
                    <a:p>
                      <a:pPr algn="ctr"/>
                      <a:r>
                        <a:rPr lang="en-US" altLang="zh-CN" sz="1200" b="0" dirty="0"/>
                        <a:t>New IP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ESP</a:t>
                      </a:r>
                    </a:p>
                    <a:p>
                      <a:pPr algn="ctr"/>
                      <a:r>
                        <a:rPr lang="en-US" altLang="zh-CN" sz="1200" b="0" dirty="0"/>
                        <a:t>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Raw IP Header</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rPr>
                        <a:t>Data</a:t>
                      </a:r>
                      <a:endParaRPr lang="zh-CN" altLang="en-US" sz="1200" b="0" dirty="0">
                        <a:solidFill>
                          <a:schemeClr val="tx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85000"/>
                      </a:schemeClr>
                    </a:solidFill>
                  </a:tcPr>
                </a:tc>
                <a:tc>
                  <a:txBody>
                    <a:bodyPr/>
                    <a:lstStyle/>
                    <a:p>
                      <a:pPr algn="ctr"/>
                      <a:r>
                        <a:rPr lang="en-US" altLang="zh-CN" sz="1200" b="0" dirty="0">
                          <a:solidFill>
                            <a:schemeClr val="bg1"/>
                          </a:solidFill>
                        </a:rPr>
                        <a:t>ESP</a:t>
                      </a:r>
                    </a:p>
                    <a:p>
                      <a:pPr algn="ctr"/>
                      <a:r>
                        <a:rPr lang="en-US" altLang="zh-CN" sz="1200" b="0" dirty="0">
                          <a:solidFill>
                            <a:schemeClr val="bg1"/>
                          </a:solidFill>
                        </a:rPr>
                        <a:t>Trailer</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ESP</a:t>
                      </a:r>
                    </a:p>
                    <a:p>
                      <a:pPr algn="ctr"/>
                      <a:r>
                        <a:rPr lang="en-US" altLang="zh-CN" sz="1200" b="0" dirty="0" err="1">
                          <a:solidFill>
                            <a:schemeClr val="bg1"/>
                          </a:solidFill>
                        </a:rPr>
                        <a:t>Auth</a:t>
                      </a:r>
                      <a:r>
                        <a:rPr lang="en-US" altLang="zh-CN" sz="1200" b="0" dirty="0">
                          <a:solidFill>
                            <a:schemeClr val="bg1"/>
                          </a:solidFill>
                        </a:rPr>
                        <a:t> data</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bl>
          </a:graphicData>
        </a:graphic>
      </p:graphicFrame>
      <p:graphicFrame>
        <p:nvGraphicFramePr>
          <p:cNvPr id="50" name="Table 49"/>
          <p:cNvGraphicFramePr>
            <a:graphicFrameLocks noGrp="1"/>
          </p:cNvGraphicFramePr>
          <p:nvPr/>
        </p:nvGraphicFramePr>
        <p:xfrm>
          <a:off x="1214724" y="4885719"/>
          <a:ext cx="4941284" cy="457200"/>
        </p:xfrm>
        <a:graphic>
          <a:graphicData uri="http://schemas.openxmlformats.org/drawingml/2006/table">
            <a:tbl>
              <a:tblPr firstRow="1" bandRow="1">
                <a:tableStyleId>{5C22544A-7EE6-4342-B048-85BDC9FD1C3A}</a:tableStyleId>
              </a:tblPr>
              <a:tblGrid>
                <a:gridCol w="698031">
                  <a:extLst>
                    <a:ext uri="{9D8B030D-6E8A-4147-A177-3AD203B41FA5}">
                      <a16:colId xmlns:a16="http://schemas.microsoft.com/office/drawing/2014/main" val="20000"/>
                    </a:ext>
                  </a:extLst>
                </a:gridCol>
                <a:gridCol w="713152">
                  <a:extLst>
                    <a:ext uri="{9D8B030D-6E8A-4147-A177-3AD203B41FA5}">
                      <a16:colId xmlns:a16="http://schemas.microsoft.com/office/drawing/2014/main" val="20001"/>
                    </a:ext>
                  </a:extLst>
                </a:gridCol>
                <a:gridCol w="713152">
                  <a:extLst>
                    <a:ext uri="{9D8B030D-6E8A-4147-A177-3AD203B41FA5}">
                      <a16:colId xmlns:a16="http://schemas.microsoft.com/office/drawing/2014/main" val="20002"/>
                    </a:ext>
                  </a:extLst>
                </a:gridCol>
                <a:gridCol w="713152">
                  <a:extLst>
                    <a:ext uri="{9D8B030D-6E8A-4147-A177-3AD203B41FA5}">
                      <a16:colId xmlns:a16="http://schemas.microsoft.com/office/drawing/2014/main" val="20003"/>
                    </a:ext>
                  </a:extLst>
                </a:gridCol>
                <a:gridCol w="531621">
                  <a:extLst>
                    <a:ext uri="{9D8B030D-6E8A-4147-A177-3AD203B41FA5}">
                      <a16:colId xmlns:a16="http://schemas.microsoft.com/office/drawing/2014/main" val="20004"/>
                    </a:ext>
                  </a:extLst>
                </a:gridCol>
                <a:gridCol w="661294">
                  <a:extLst>
                    <a:ext uri="{9D8B030D-6E8A-4147-A177-3AD203B41FA5}">
                      <a16:colId xmlns:a16="http://schemas.microsoft.com/office/drawing/2014/main" val="20005"/>
                    </a:ext>
                  </a:extLst>
                </a:gridCol>
                <a:gridCol w="910882">
                  <a:extLst>
                    <a:ext uri="{9D8B030D-6E8A-4147-A177-3AD203B41FA5}">
                      <a16:colId xmlns:a16="http://schemas.microsoft.com/office/drawing/2014/main" val="20006"/>
                    </a:ext>
                  </a:extLst>
                </a:gridCol>
              </a:tblGrid>
              <a:tr h="370840">
                <a:tc>
                  <a:txBody>
                    <a:bodyPr/>
                    <a:lstStyle/>
                    <a:p>
                      <a:pPr algn="ctr"/>
                      <a:r>
                        <a:rPr lang="en-US" altLang="zh-CN" sz="1200" b="0" dirty="0"/>
                        <a:t>New IP 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AH</a:t>
                      </a:r>
                    </a:p>
                    <a:p>
                      <a:pPr algn="ctr"/>
                      <a:r>
                        <a:rPr lang="en-US" altLang="zh-CN" sz="1200" b="0" dirty="0"/>
                        <a:t>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t>ESP</a:t>
                      </a:r>
                    </a:p>
                    <a:p>
                      <a:pPr algn="ctr"/>
                      <a:r>
                        <a:rPr lang="en-US" altLang="zh-CN" sz="1200" b="0" dirty="0"/>
                        <a:t>Header</a:t>
                      </a:r>
                      <a:endParaRPr lang="zh-CN" altLang="en-US" sz="1200" b="0" dirty="0"/>
                    </a:p>
                  </a:txBody>
                  <a:tcP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Raw IP Header</a:t>
                      </a: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rPr>
                        <a:t>Data</a:t>
                      </a:r>
                      <a:endParaRPr lang="zh-CN" altLang="en-US" sz="1200" b="0" dirty="0">
                        <a:solidFill>
                          <a:schemeClr val="tx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chemeClr val="bg1">
                        <a:lumMod val="85000"/>
                      </a:schemeClr>
                    </a:solidFill>
                  </a:tcPr>
                </a:tc>
                <a:tc>
                  <a:txBody>
                    <a:bodyPr/>
                    <a:lstStyle/>
                    <a:p>
                      <a:pPr algn="ctr"/>
                      <a:r>
                        <a:rPr lang="en-US" altLang="zh-CN" sz="1200" b="0" dirty="0">
                          <a:solidFill>
                            <a:schemeClr val="bg1"/>
                          </a:solidFill>
                        </a:rPr>
                        <a:t>ESP</a:t>
                      </a:r>
                    </a:p>
                    <a:p>
                      <a:pPr algn="ctr"/>
                      <a:r>
                        <a:rPr lang="en-US" altLang="zh-CN" sz="1200" b="0" dirty="0">
                          <a:solidFill>
                            <a:schemeClr val="bg1"/>
                          </a:solidFill>
                        </a:rPr>
                        <a:t>Trailer</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tc>
                  <a:txBody>
                    <a:bodyPr/>
                    <a:lstStyle/>
                    <a:p>
                      <a:pPr algn="ctr"/>
                      <a:r>
                        <a:rPr lang="en-US" altLang="zh-CN" sz="1200" b="0" dirty="0">
                          <a:solidFill>
                            <a:schemeClr val="bg1"/>
                          </a:solidFill>
                        </a:rPr>
                        <a:t>ESP</a:t>
                      </a:r>
                    </a:p>
                    <a:p>
                      <a:pPr algn="ctr"/>
                      <a:r>
                        <a:rPr lang="en-US" altLang="zh-CN" sz="1200" b="0" dirty="0" err="1">
                          <a:solidFill>
                            <a:schemeClr val="bg1"/>
                          </a:solidFill>
                        </a:rPr>
                        <a:t>Auth</a:t>
                      </a:r>
                      <a:r>
                        <a:rPr lang="en-US" altLang="zh-CN" sz="1200" b="0" dirty="0">
                          <a:solidFill>
                            <a:schemeClr val="bg1"/>
                          </a:solidFill>
                        </a:rPr>
                        <a:t> data</a:t>
                      </a:r>
                      <a:endParaRPr lang="zh-CN" altLang="en-US" sz="1200" b="0" dirty="0">
                        <a:solidFill>
                          <a:schemeClr val="bg1"/>
                        </a:solidFill>
                      </a:endParaRPr>
                    </a:p>
                  </a:txBody>
                  <a:tcPr anchor="ctr">
                    <a:lnL w="12700" cap="flat" cmpd="sng" algn="ctr">
                      <a:solidFill>
                        <a:srgbClr val="BEE9EE"/>
                      </a:solidFill>
                      <a:prstDash val="solid"/>
                      <a:round/>
                      <a:headEnd type="none" w="med" len="med"/>
                      <a:tailEnd type="none" w="med" len="med"/>
                    </a:lnL>
                    <a:lnR w="12700" cap="flat" cmpd="sng" algn="ctr">
                      <a:solidFill>
                        <a:srgbClr val="BEE9EE"/>
                      </a:solidFill>
                      <a:prstDash val="solid"/>
                      <a:round/>
                      <a:headEnd type="none" w="med" len="med"/>
                      <a:tailEnd type="none" w="med" len="med"/>
                    </a:lnR>
                    <a:lnT w="12700" cap="flat" cmpd="sng" algn="ctr">
                      <a:solidFill>
                        <a:srgbClr val="BEE9EE"/>
                      </a:solidFill>
                      <a:prstDash val="solid"/>
                      <a:round/>
                      <a:headEnd type="none" w="med" len="med"/>
                      <a:tailEnd type="none" w="med" len="med"/>
                    </a:lnT>
                    <a:lnB w="12700" cap="flat" cmpd="sng" algn="ctr">
                      <a:solidFill>
                        <a:srgbClr val="BEE9EE"/>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bl>
          </a:graphicData>
        </a:graphic>
      </p:graphicFrame>
      <p:sp>
        <p:nvSpPr>
          <p:cNvPr id="51" name="TextBox 50"/>
          <p:cNvSpPr txBox="1"/>
          <p:nvPr/>
        </p:nvSpPr>
        <p:spPr bwMode="gray">
          <a:xfrm>
            <a:off x="893862" y="3050168"/>
            <a:ext cx="40267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AH</a:t>
            </a:r>
            <a:endParaRPr lang="zh-CN" altLang="en-US" sz="1200" dirty="0">
              <a:latin typeface="Huawei Sans" panose="020C0503030203020204" pitchFamily="34" charset="0"/>
              <a:ea typeface="方正兰亭黑简体" panose="02000000000000000000" pitchFamily="2" charset="-122"/>
            </a:endParaRPr>
          </a:p>
        </p:txBody>
      </p:sp>
      <p:sp>
        <p:nvSpPr>
          <p:cNvPr id="52" name="TextBox 51"/>
          <p:cNvSpPr txBox="1"/>
          <p:nvPr/>
        </p:nvSpPr>
        <p:spPr bwMode="gray">
          <a:xfrm>
            <a:off x="839851" y="3904827"/>
            <a:ext cx="439544"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ESP</a:t>
            </a:r>
            <a:endParaRPr lang="zh-CN" altLang="en-US" sz="1200" dirty="0">
              <a:latin typeface="Huawei Sans" panose="020C0503030203020204" pitchFamily="34" charset="0"/>
              <a:ea typeface="方正兰亭黑简体" panose="02000000000000000000" pitchFamily="2" charset="-122"/>
            </a:endParaRPr>
          </a:p>
        </p:txBody>
      </p:sp>
      <p:sp>
        <p:nvSpPr>
          <p:cNvPr id="53" name="TextBox 52"/>
          <p:cNvSpPr txBox="1"/>
          <p:nvPr/>
        </p:nvSpPr>
        <p:spPr bwMode="gray">
          <a:xfrm>
            <a:off x="560929" y="4975819"/>
            <a:ext cx="718466"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rPr>
              <a:t>AH-ESP</a:t>
            </a:r>
            <a:endParaRPr lang="zh-CN" altLang="en-US" sz="1200" dirty="0">
              <a:latin typeface="Huawei Sans" panose="020C0503030203020204" pitchFamily="34" charset="0"/>
              <a:ea typeface="方正兰亭黑简体" panose="02000000000000000000" pitchFamily="2" charset="-122"/>
            </a:endParaRPr>
          </a:p>
        </p:txBody>
      </p:sp>
      <p:cxnSp>
        <p:nvCxnSpPr>
          <p:cNvPr id="54" name="Straight Connector 53"/>
          <p:cNvCxnSpPr/>
          <p:nvPr/>
        </p:nvCxnSpPr>
        <p:spPr bwMode="gray">
          <a:xfrm>
            <a:off x="1214723" y="3444343"/>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gray">
          <a:xfrm>
            <a:off x="3965071" y="3444343"/>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gray">
          <a:xfrm flipH="1">
            <a:off x="1214723" y="3516351"/>
            <a:ext cx="273630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bwMode="gray">
          <a:xfrm>
            <a:off x="2182765" y="3429000"/>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认证范围</a:t>
            </a:r>
          </a:p>
        </p:txBody>
      </p:sp>
      <p:cxnSp>
        <p:nvCxnSpPr>
          <p:cNvPr id="58" name="Straight Connector 57"/>
          <p:cNvCxnSpPr/>
          <p:nvPr/>
        </p:nvCxnSpPr>
        <p:spPr bwMode="gray">
          <a:xfrm>
            <a:off x="1948847" y="4530935"/>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gray">
          <a:xfrm>
            <a:off x="4649147" y="4530935"/>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gray">
          <a:xfrm flipH="1">
            <a:off x="1948848" y="4602943"/>
            <a:ext cx="2700299"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1" name="TextBox 60"/>
          <p:cNvSpPr txBox="1"/>
          <p:nvPr/>
        </p:nvSpPr>
        <p:spPr bwMode="gray">
          <a:xfrm>
            <a:off x="2916889" y="4509120"/>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认证范围</a:t>
            </a:r>
          </a:p>
        </p:txBody>
      </p:sp>
      <p:cxnSp>
        <p:nvCxnSpPr>
          <p:cNvPr id="62" name="Straight Connector 61"/>
          <p:cNvCxnSpPr/>
          <p:nvPr/>
        </p:nvCxnSpPr>
        <p:spPr bwMode="gray">
          <a:xfrm>
            <a:off x="2704930" y="4298803"/>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bwMode="gray">
          <a:xfrm>
            <a:off x="4649147" y="4298803"/>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gray">
          <a:xfrm flipH="1">
            <a:off x="2704932" y="4370811"/>
            <a:ext cx="194421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5" name="TextBox 64"/>
          <p:cNvSpPr txBox="1"/>
          <p:nvPr/>
        </p:nvSpPr>
        <p:spPr bwMode="gray">
          <a:xfrm>
            <a:off x="3306022" y="4294549"/>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加密范围</a:t>
            </a:r>
          </a:p>
        </p:txBody>
      </p:sp>
      <p:cxnSp>
        <p:nvCxnSpPr>
          <p:cNvPr id="66" name="Straight Connector 65"/>
          <p:cNvCxnSpPr/>
          <p:nvPr/>
        </p:nvCxnSpPr>
        <p:spPr bwMode="gray">
          <a:xfrm>
            <a:off x="2639616" y="5636254"/>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bwMode="gray">
          <a:xfrm>
            <a:off x="5231904" y="5636254"/>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bwMode="gray">
          <a:xfrm flipH="1">
            <a:off x="2639616" y="5708262"/>
            <a:ext cx="259228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bwMode="gray">
          <a:xfrm>
            <a:off x="3420723" y="5593104"/>
            <a:ext cx="1055097" cy="214571"/>
          </a:xfrm>
          <a:prstGeom prst="rect">
            <a:avLst/>
          </a:prstGeom>
          <a:solidFill>
            <a:schemeClr val="bg1"/>
          </a:solidFill>
        </p:spPr>
        <p:txBody>
          <a:bodyPr wrap="none" rtlCol="0">
            <a:noAutofit/>
          </a:bodyPr>
          <a:lstStyle/>
          <a:p>
            <a:pPr fontAlgn="auto"/>
            <a:r>
              <a:rPr lang="en-US" altLang="zh-CN" sz="1200" dirty="0">
                <a:latin typeface="Huawei Sans" panose="020C0503030203020204" pitchFamily="34" charset="0"/>
                <a:ea typeface="方正兰亭黑简体" panose="02000000000000000000" pitchFamily="2" charset="-122"/>
              </a:rPr>
              <a:t>ESP</a:t>
            </a:r>
            <a:r>
              <a:rPr lang="zh-CN" altLang="en-US" sz="1200" dirty="0">
                <a:latin typeface="Huawei Sans" panose="020C0503030203020204" pitchFamily="34" charset="0"/>
                <a:ea typeface="方正兰亭黑简体" panose="02000000000000000000" pitchFamily="2" charset="-122"/>
              </a:rPr>
              <a:t>认证范围</a:t>
            </a:r>
          </a:p>
        </p:txBody>
      </p:sp>
      <p:cxnSp>
        <p:nvCxnSpPr>
          <p:cNvPr id="70" name="Straight Connector 69"/>
          <p:cNvCxnSpPr/>
          <p:nvPr/>
        </p:nvCxnSpPr>
        <p:spPr bwMode="gray">
          <a:xfrm>
            <a:off x="3359696" y="5404122"/>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bwMode="gray">
          <a:xfrm>
            <a:off x="5231904" y="5404122"/>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bwMode="gray">
          <a:xfrm flipH="1">
            <a:off x="3359696" y="5476130"/>
            <a:ext cx="1872208"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bwMode="gray">
          <a:xfrm>
            <a:off x="3855621" y="5373216"/>
            <a:ext cx="800219" cy="214571"/>
          </a:xfrm>
          <a:prstGeom prst="rect">
            <a:avLst/>
          </a:prstGeom>
          <a:solidFill>
            <a:schemeClr val="bg1"/>
          </a:solidFill>
        </p:spPr>
        <p:txBody>
          <a:bodyPr wrap="none" rtlCol="0">
            <a:noAutofit/>
          </a:bodyPr>
          <a:lstStyle/>
          <a:p>
            <a:pPr fontAlgn="auto"/>
            <a:r>
              <a:rPr lang="zh-CN" altLang="en-US" sz="1200" dirty="0">
                <a:latin typeface="Huawei Sans" panose="020C0503030203020204" pitchFamily="34" charset="0"/>
                <a:ea typeface="方正兰亭黑简体" panose="02000000000000000000" pitchFamily="2" charset="-122"/>
              </a:rPr>
              <a:t>加密范围</a:t>
            </a:r>
          </a:p>
        </p:txBody>
      </p:sp>
      <p:cxnSp>
        <p:nvCxnSpPr>
          <p:cNvPr id="74" name="Straight Connector 73"/>
          <p:cNvCxnSpPr/>
          <p:nvPr/>
        </p:nvCxnSpPr>
        <p:spPr bwMode="gray">
          <a:xfrm>
            <a:off x="1214724" y="5868144"/>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bwMode="gray">
          <a:xfrm>
            <a:off x="6132004" y="5868144"/>
            <a:ext cx="0" cy="1800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76" name="Straight Connector 75"/>
          <p:cNvCxnSpPr>
            <a:cxnSpLocks/>
          </p:cNvCxnSpPr>
          <p:nvPr/>
        </p:nvCxnSpPr>
        <p:spPr bwMode="gray">
          <a:xfrm flipH="1">
            <a:off x="1214724" y="5940152"/>
            <a:ext cx="491728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bwMode="gray">
          <a:xfrm>
            <a:off x="2989541" y="5827785"/>
            <a:ext cx="1018227" cy="214571"/>
          </a:xfrm>
          <a:prstGeom prst="rect">
            <a:avLst/>
          </a:prstGeom>
          <a:solidFill>
            <a:schemeClr val="bg1"/>
          </a:solidFill>
        </p:spPr>
        <p:txBody>
          <a:bodyPr wrap="none" rtlCol="0">
            <a:noAutofit/>
          </a:bodyPr>
          <a:lstStyle/>
          <a:p>
            <a:pPr fontAlgn="auto"/>
            <a:r>
              <a:rPr lang="en-US" altLang="zh-CN" sz="1200" dirty="0">
                <a:latin typeface="Huawei Sans" panose="020C0503030203020204" pitchFamily="34" charset="0"/>
                <a:ea typeface="方正兰亭黑简体" panose="02000000000000000000" pitchFamily="2" charset="-122"/>
              </a:rPr>
              <a:t>AH</a:t>
            </a:r>
            <a:r>
              <a:rPr lang="zh-CN" altLang="en-US" sz="1200" dirty="0">
                <a:latin typeface="Huawei Sans" panose="020C0503030203020204" pitchFamily="34" charset="0"/>
                <a:ea typeface="方正兰亭黑简体" panose="02000000000000000000" pitchFamily="2" charset="-122"/>
              </a:rPr>
              <a:t>认证范围</a:t>
            </a:r>
          </a:p>
        </p:txBody>
      </p:sp>
      <p:sp>
        <p:nvSpPr>
          <p:cNvPr id="82" name="TextBox 81"/>
          <p:cNvSpPr txBox="1"/>
          <p:nvPr/>
        </p:nvSpPr>
        <p:spPr bwMode="gray">
          <a:xfrm>
            <a:off x="7806643" y="3390797"/>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认证范围</a:t>
            </a:r>
          </a:p>
        </p:txBody>
      </p:sp>
      <p:sp>
        <p:nvSpPr>
          <p:cNvPr id="83" name="TextBox 82"/>
          <p:cNvSpPr txBox="1"/>
          <p:nvPr/>
        </p:nvSpPr>
        <p:spPr bwMode="gray">
          <a:xfrm>
            <a:off x="8540767" y="4474569"/>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认证范围</a:t>
            </a:r>
          </a:p>
        </p:txBody>
      </p:sp>
      <p:sp>
        <p:nvSpPr>
          <p:cNvPr id="84" name="TextBox 83"/>
          <p:cNvSpPr txBox="1"/>
          <p:nvPr/>
        </p:nvSpPr>
        <p:spPr bwMode="gray">
          <a:xfrm>
            <a:off x="8929900" y="4258545"/>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加密范围</a:t>
            </a:r>
          </a:p>
        </p:txBody>
      </p:sp>
      <p:sp>
        <p:nvSpPr>
          <p:cNvPr id="85" name="TextBox 84"/>
          <p:cNvSpPr txBox="1"/>
          <p:nvPr/>
        </p:nvSpPr>
        <p:spPr bwMode="gray">
          <a:xfrm>
            <a:off x="9044601" y="5554901"/>
            <a:ext cx="1055097" cy="214571"/>
          </a:xfrm>
          <a:prstGeom prst="rect">
            <a:avLst/>
          </a:prstGeom>
          <a:solidFill>
            <a:schemeClr val="bg1"/>
          </a:solidFill>
        </p:spPr>
        <p:txBody>
          <a:bodyPr wrap="none" rtlCol="0">
            <a:noAutofit/>
          </a:bodyPr>
          <a:lstStyle/>
          <a:p>
            <a:pPr fontAlgn="auto"/>
            <a:r>
              <a:rPr lang="en-US" altLang="zh-CN" sz="1200" dirty="0">
                <a:latin typeface="Huawei Sans" panose="020C0503030203020204" pitchFamily="34" charset="0"/>
                <a:ea typeface="方正兰亭黑简体" panose="02000000000000000000" pitchFamily="2" charset="-122"/>
              </a:rPr>
              <a:t>ESP</a:t>
            </a:r>
            <a:r>
              <a:rPr lang="zh-CN" altLang="en-US" sz="1200" dirty="0">
                <a:latin typeface="Huawei Sans" panose="020C0503030203020204" pitchFamily="34" charset="0"/>
                <a:ea typeface="方正兰亭黑简体" panose="02000000000000000000" pitchFamily="2" charset="-122"/>
              </a:rPr>
              <a:t>认证范围</a:t>
            </a:r>
          </a:p>
        </p:txBody>
      </p:sp>
      <p:sp>
        <p:nvSpPr>
          <p:cNvPr id="86" name="TextBox 85"/>
          <p:cNvSpPr txBox="1"/>
          <p:nvPr/>
        </p:nvSpPr>
        <p:spPr bwMode="gray">
          <a:xfrm>
            <a:off x="9479499" y="5335013"/>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rPr>
              <a:t>加密范围</a:t>
            </a:r>
          </a:p>
        </p:txBody>
      </p:sp>
      <p:sp>
        <p:nvSpPr>
          <p:cNvPr id="87" name="TextBox 86"/>
          <p:cNvSpPr txBox="1"/>
          <p:nvPr/>
        </p:nvSpPr>
        <p:spPr bwMode="gray">
          <a:xfrm>
            <a:off x="8613419" y="5789582"/>
            <a:ext cx="1018227" cy="214571"/>
          </a:xfrm>
          <a:prstGeom prst="rect">
            <a:avLst/>
          </a:prstGeom>
          <a:solidFill>
            <a:schemeClr val="bg1"/>
          </a:solidFill>
        </p:spPr>
        <p:txBody>
          <a:bodyPr wrap="none" rtlCol="0">
            <a:noAutofit/>
          </a:bodyPr>
          <a:lstStyle/>
          <a:p>
            <a:pPr fontAlgn="auto"/>
            <a:r>
              <a:rPr lang="en-US" altLang="zh-CN" sz="1200" dirty="0">
                <a:latin typeface="Huawei Sans" panose="020C0503030203020204" pitchFamily="34" charset="0"/>
                <a:ea typeface="方正兰亭黑简体" panose="02000000000000000000" pitchFamily="2" charset="-122"/>
              </a:rPr>
              <a:t>AH</a:t>
            </a:r>
            <a:r>
              <a:rPr lang="zh-CN" altLang="en-US" sz="1200" dirty="0">
                <a:latin typeface="Huawei Sans" panose="020C0503030203020204" pitchFamily="34" charset="0"/>
                <a:ea typeface="方正兰亭黑简体" panose="02000000000000000000" pitchFamily="2" charset="-122"/>
              </a:rPr>
              <a:t>认证范围</a:t>
            </a:r>
          </a:p>
        </p:txBody>
      </p:sp>
      <p:sp>
        <p:nvSpPr>
          <p:cNvPr id="78" name="五边形 24">
            <a:extLst>
              <a:ext uri="{FF2B5EF4-FFF2-40B4-BE49-F238E27FC236}">
                <a16:creationId xmlns:a16="http://schemas.microsoft.com/office/drawing/2014/main" id="{DEB3E90E-FBE4-4D82-BBCB-4E27EA5EE4A2}"/>
              </a:ext>
            </a:extLst>
          </p:cNvPr>
          <p:cNvSpPr/>
          <p:nvPr/>
        </p:nvSpPr>
        <p:spPr bwMode="gray">
          <a:xfrm>
            <a:off x="9266142" y="103470"/>
            <a:ext cx="12380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简介</a:t>
            </a:r>
          </a:p>
        </p:txBody>
      </p:sp>
      <p:sp>
        <p:nvSpPr>
          <p:cNvPr id="79" name="燕尾形 25">
            <a:extLst>
              <a:ext uri="{FF2B5EF4-FFF2-40B4-BE49-F238E27FC236}">
                <a16:creationId xmlns:a16="http://schemas.microsoft.com/office/drawing/2014/main" id="{FFA491A7-B77E-4BC6-8E58-672C67021F9D}"/>
              </a:ext>
            </a:extLst>
          </p:cNvPr>
          <p:cNvSpPr/>
          <p:nvPr/>
        </p:nvSpPr>
        <p:spPr bwMode="gray">
          <a:xfrm>
            <a:off x="10431685" y="103470"/>
            <a:ext cx="1320369"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协议框架</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402785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b="1" dirty="0"/>
              <a:t>广域互联安全技术</a:t>
            </a:r>
            <a:endParaRPr lang="en-US" altLang="zh-CN" b="1" dirty="0"/>
          </a:p>
          <a:p>
            <a:pPr lvl="1"/>
            <a:r>
              <a:rPr lang="en-US" altLang="zh-CN" dirty="0">
                <a:solidFill>
                  <a:schemeClr val="bg1">
                    <a:lumMod val="50000"/>
                  </a:schemeClr>
                </a:solidFill>
              </a:rPr>
              <a:t>IPsec</a:t>
            </a:r>
            <a:r>
              <a:rPr lang="zh-CN" altLang="en-US" dirty="0">
                <a:solidFill>
                  <a:schemeClr val="bg1">
                    <a:lumMod val="50000"/>
                  </a:schemeClr>
                </a:solidFill>
              </a:rPr>
              <a:t>基本概念</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IPsec</a:t>
            </a:r>
            <a:r>
              <a:rPr lang="zh-CN" altLang="en-US" dirty="0"/>
              <a:t>基本工作原理</a:t>
            </a:r>
          </a:p>
          <a:p>
            <a:pPr lvl="1"/>
            <a:r>
              <a:rPr lang="en-US" altLang="zh-CN" dirty="0">
                <a:solidFill>
                  <a:schemeClr val="bg1">
                    <a:lumMod val="50000"/>
                  </a:schemeClr>
                </a:solidFill>
              </a:rPr>
              <a:t>IPsec</a:t>
            </a:r>
            <a:r>
              <a:rPr lang="zh-CN" altLang="en-US" dirty="0">
                <a:solidFill>
                  <a:schemeClr val="bg1">
                    <a:lumMod val="50000"/>
                  </a:schemeClr>
                </a:solidFill>
              </a:rPr>
              <a:t>应用场景</a:t>
            </a:r>
            <a:endParaRPr lang="en-US" altLang="zh-CN" dirty="0">
              <a:solidFill>
                <a:schemeClr val="bg1">
                  <a:lumMod val="50000"/>
                </a:schemeClr>
              </a:solidFill>
            </a:endParaRPr>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1509061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Arrow Connector 16"/>
          <p:cNvCxnSpPr/>
          <p:nvPr/>
        </p:nvCxnSpPr>
        <p:spPr bwMode="gray">
          <a:xfrm flipH="1">
            <a:off x="3323693" y="3228556"/>
            <a:ext cx="5812521" cy="0"/>
          </a:xfrm>
          <a:prstGeom prst="straightConnector1">
            <a:avLst/>
          </a:prstGeom>
          <a:solidFill>
            <a:schemeClr val="accent1"/>
          </a:solidFill>
          <a:ln w="12700" cap="flat" cmpd="sng" algn="ctr">
            <a:solidFill>
              <a:schemeClr val="tx1"/>
            </a:solidFill>
            <a:prstDash val="dash"/>
            <a:round/>
            <a:headEnd type="none" w="med" len="med"/>
            <a:tailEnd type="none" w="med" len="med"/>
          </a:ln>
          <a:effectLst/>
        </p:spPr>
      </p:cxnSp>
      <p:cxnSp>
        <p:nvCxnSpPr>
          <p:cNvPr id="43" name="Straight Arrow Connector 42"/>
          <p:cNvCxnSpPr/>
          <p:nvPr/>
        </p:nvCxnSpPr>
        <p:spPr bwMode="gray">
          <a:xfrm flipH="1">
            <a:off x="3323692" y="4149080"/>
            <a:ext cx="5812521" cy="0"/>
          </a:xfrm>
          <a:prstGeom prst="straightConnector1">
            <a:avLst/>
          </a:prstGeom>
          <a:solidFill>
            <a:schemeClr val="accent1"/>
          </a:solidFill>
          <a:ln w="12700" cap="flat" cmpd="sng" algn="ctr">
            <a:solidFill>
              <a:schemeClr val="tx1"/>
            </a:solidFill>
            <a:prstDash val="dash"/>
            <a:round/>
            <a:headEnd type="none" w="med" len="med"/>
            <a:tailEnd type="none" w="med" len="med"/>
          </a:ln>
          <a:effectLst/>
        </p:spPr>
      </p:cxnSp>
      <p:sp>
        <p:nvSpPr>
          <p:cNvPr id="3" name="Title 2"/>
          <p:cNvSpPr>
            <a:spLocks noGrp="1"/>
          </p:cNvSpPr>
          <p:nvPr>
            <p:ph type="title"/>
          </p:nvPr>
        </p:nvSpPr>
        <p:spPr bwMode="gray"/>
        <p:txBody>
          <a:bodyPr/>
          <a:lstStyle/>
          <a:p>
            <a:r>
              <a:rPr lang="en-US" altLang="zh-CN" dirty="0"/>
              <a:t>IPsec</a:t>
            </a:r>
            <a:r>
              <a:rPr lang="zh-CN" altLang="en-US" dirty="0"/>
              <a:t>基本工作流程</a:t>
            </a:r>
          </a:p>
        </p:txBody>
      </p:sp>
      <p:sp>
        <p:nvSpPr>
          <p:cNvPr id="5" name="圆角矩形 75"/>
          <p:cNvSpPr/>
          <p:nvPr/>
        </p:nvSpPr>
        <p:spPr bwMode="gray">
          <a:xfrm>
            <a:off x="1235460" y="1595034"/>
            <a:ext cx="9793088" cy="442625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圆角矩形 75"/>
          <p:cNvSpPr/>
          <p:nvPr/>
        </p:nvSpPr>
        <p:spPr bwMode="gray">
          <a:xfrm>
            <a:off x="1235460" y="1160748"/>
            <a:ext cx="979308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IPsec</a:t>
            </a:r>
            <a:r>
              <a:rPr lang="zh-CN" altLang="en-US" sz="1600" dirty="0">
                <a:solidFill>
                  <a:srgbClr val="30B5C5"/>
                </a:solidFill>
                <a:latin typeface="Huawei Sans" panose="020C0503030203020204" pitchFamily="34" charset="0"/>
                <a:ea typeface="方正兰亭黑简体" panose="02000000000000000000" pitchFamily="2" charset="-122"/>
              </a:rPr>
              <a:t>基本工作流程</a:t>
            </a:r>
          </a:p>
        </p:txBody>
      </p:sp>
      <p:sp>
        <p:nvSpPr>
          <p:cNvPr id="7" name="Text Box 26"/>
          <p:cNvSpPr txBox="1">
            <a:spLocks noChangeArrowheads="1"/>
          </p:cNvSpPr>
          <p:nvPr/>
        </p:nvSpPr>
        <p:spPr bwMode="gray">
          <a:xfrm>
            <a:off x="4182988" y="1608515"/>
            <a:ext cx="970014" cy="307712"/>
          </a:xfrm>
          <a:prstGeom prst="rect">
            <a:avLst/>
          </a:prstGeom>
          <a:noFill/>
          <a:ln w="9525">
            <a:noFill/>
            <a:miter lim="800000"/>
            <a:headEnd/>
            <a:tailEnd/>
          </a:ln>
        </p:spPr>
        <p:txBody>
          <a:bodyPr wrap="none" lIns="91379" tIns="45688" rIns="91379" bIns="45688">
            <a:spAutoFit/>
          </a:bodyPr>
          <a:lstStyle/>
          <a:p>
            <a:pPr eaLnBrk="1" fontAlgn="auto" hangingPunct="1"/>
            <a:r>
              <a:rPr kumimoji="1" lang="en-US" altLang="zh-CN" sz="1400" dirty="0">
                <a:latin typeface="Huawei Sans" panose="020C0503030203020204" pitchFamily="34" charset="0"/>
                <a:ea typeface="方正兰亭黑简体" panose="02000000000000000000" pitchFamily="2" charset="-122"/>
              </a:rPr>
              <a:t>IPsec</a:t>
            </a:r>
            <a:r>
              <a:rPr kumimoji="1" lang="zh-CN" altLang="en-US" sz="1400" dirty="0">
                <a:latin typeface="Huawei Sans" panose="020C0503030203020204" pitchFamily="34" charset="0"/>
                <a:ea typeface="方正兰亭黑简体" panose="02000000000000000000" pitchFamily="2" charset="-122"/>
              </a:rPr>
              <a:t>设备</a:t>
            </a:r>
          </a:p>
        </p:txBody>
      </p:sp>
      <p:pic>
        <p:nvPicPr>
          <p:cNvPr id="8" name="Picture 12" descr="E:\2016.01\1.12 扁平化图标\蓝色\AR-蓝色最新-40.png"/>
          <p:cNvPicPr>
            <a:picLocks noChangeAspect="1" noChangeArrowheads="1"/>
          </p:cNvPicPr>
          <p:nvPr/>
        </p:nvPicPr>
        <p:blipFill>
          <a:blip r:embed="rId3" cstate="print"/>
          <a:srcRect/>
          <a:stretch>
            <a:fillRect/>
          </a:stretch>
        </p:blipFill>
        <p:spPr bwMode="gray">
          <a:xfrm>
            <a:off x="4475881" y="1868317"/>
            <a:ext cx="540000" cy="441818"/>
          </a:xfrm>
          <a:prstGeom prst="rect">
            <a:avLst/>
          </a:prstGeom>
          <a:noFill/>
        </p:spPr>
      </p:pic>
      <p:pic>
        <p:nvPicPr>
          <p:cNvPr id="9" name="Picture 12" descr="E:\2016.01\1.12 扁平化图标\蓝色\AR-蓝色最新-40.png"/>
          <p:cNvPicPr>
            <a:picLocks noChangeAspect="1" noChangeArrowheads="1"/>
          </p:cNvPicPr>
          <p:nvPr/>
        </p:nvPicPr>
        <p:blipFill>
          <a:blip r:embed="rId3" cstate="print"/>
          <a:srcRect/>
          <a:stretch>
            <a:fillRect/>
          </a:stretch>
        </p:blipFill>
        <p:spPr bwMode="gray">
          <a:xfrm>
            <a:off x="7489408" y="1868317"/>
            <a:ext cx="540000" cy="441818"/>
          </a:xfrm>
          <a:prstGeom prst="rect">
            <a:avLst/>
          </a:prstGeom>
          <a:noFill/>
        </p:spPr>
      </p:pic>
      <p:cxnSp>
        <p:nvCxnSpPr>
          <p:cNvPr id="10" name="Straight Connector 9"/>
          <p:cNvCxnSpPr>
            <a:stCxn id="12" idx="3"/>
            <a:endCxn id="8" idx="1"/>
          </p:cNvCxnSpPr>
          <p:nvPr/>
        </p:nvCxnSpPr>
        <p:spPr bwMode="gray">
          <a:xfrm flipV="1">
            <a:off x="3772789" y="2089226"/>
            <a:ext cx="703092"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1" name="Straight Connector 10"/>
          <p:cNvCxnSpPr>
            <a:stCxn id="9" idx="3"/>
            <a:endCxn id="13" idx="1"/>
          </p:cNvCxnSpPr>
          <p:nvPr/>
        </p:nvCxnSpPr>
        <p:spPr bwMode="gray">
          <a:xfrm flipV="1">
            <a:off x="8029408" y="2088735"/>
            <a:ext cx="677740" cy="491"/>
          </a:xfrm>
          <a:prstGeom prst="line">
            <a:avLst/>
          </a:prstGeom>
          <a:solidFill>
            <a:schemeClr val="accent1"/>
          </a:solidFill>
          <a:ln w="19050" cap="flat" cmpd="sng" algn="ctr">
            <a:solidFill>
              <a:srgbClr val="007AC7"/>
            </a:solidFill>
            <a:prstDash val="solid"/>
            <a:round/>
            <a:headEnd type="none" w="med" len="med"/>
            <a:tailEnd type="none" w="med" len="med"/>
          </a:ln>
          <a:effectLst/>
        </p:spPr>
      </p:cxnSp>
      <p:pic>
        <p:nvPicPr>
          <p:cNvPr id="12"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232789" y="1868317"/>
            <a:ext cx="540000" cy="442800"/>
          </a:xfrm>
          <a:prstGeom prst="rect">
            <a:avLst/>
          </a:prstGeom>
        </p:spPr>
      </p:pic>
      <p:pic>
        <p:nvPicPr>
          <p:cNvPr id="13"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707148" y="1867335"/>
            <a:ext cx="540000" cy="442800"/>
          </a:xfrm>
          <a:prstGeom prst="rect">
            <a:avLst/>
          </a:prstGeom>
        </p:spPr>
      </p:pic>
      <p:sp>
        <p:nvSpPr>
          <p:cNvPr id="14" name="Can 41"/>
          <p:cNvSpPr/>
          <p:nvPr/>
        </p:nvSpPr>
        <p:spPr bwMode="gray">
          <a:xfrm rot="5400000">
            <a:off x="6134285" y="842116"/>
            <a:ext cx="236717" cy="2473527"/>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TextBox 14"/>
          <p:cNvSpPr txBox="1"/>
          <p:nvPr/>
        </p:nvSpPr>
        <p:spPr bwMode="gray">
          <a:xfrm flipH="1">
            <a:off x="5841252" y="1940379"/>
            <a:ext cx="88059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16" name="Text Box 26"/>
          <p:cNvSpPr txBox="1">
            <a:spLocks noChangeArrowheads="1"/>
          </p:cNvSpPr>
          <p:nvPr/>
        </p:nvSpPr>
        <p:spPr bwMode="gray">
          <a:xfrm>
            <a:off x="7405422" y="1599599"/>
            <a:ext cx="970014" cy="307712"/>
          </a:xfrm>
          <a:prstGeom prst="rect">
            <a:avLst/>
          </a:prstGeom>
          <a:noFill/>
          <a:ln w="9525">
            <a:noFill/>
            <a:miter lim="800000"/>
            <a:headEnd/>
            <a:tailEnd/>
          </a:ln>
        </p:spPr>
        <p:txBody>
          <a:bodyPr wrap="none" lIns="91379" tIns="45688" rIns="91379" bIns="45688">
            <a:spAutoFit/>
          </a:bodyPr>
          <a:lstStyle/>
          <a:p>
            <a:pPr fontAlgn="auto"/>
            <a:r>
              <a:rPr kumimoji="1" lang="en-US" altLang="zh-CN" sz="1400" dirty="0">
                <a:latin typeface="Huawei Sans" panose="020C0503030203020204" pitchFamily="34" charset="0"/>
                <a:ea typeface="方正兰亭黑简体" panose="02000000000000000000" pitchFamily="2" charset="-122"/>
              </a:rPr>
              <a:t>IPsec</a:t>
            </a:r>
            <a:r>
              <a:rPr kumimoji="1" lang="zh-CN" altLang="en-US" sz="1400" dirty="0">
                <a:latin typeface="Huawei Sans" panose="020C0503030203020204" pitchFamily="34" charset="0"/>
                <a:ea typeface="方正兰亭黑简体" panose="02000000000000000000" pitchFamily="2" charset="-122"/>
              </a:rPr>
              <a:t>设备</a:t>
            </a:r>
          </a:p>
        </p:txBody>
      </p:sp>
      <p:sp>
        <p:nvSpPr>
          <p:cNvPr id="19" name="Text Box 26"/>
          <p:cNvSpPr txBox="1">
            <a:spLocks noChangeArrowheads="1"/>
          </p:cNvSpPr>
          <p:nvPr/>
        </p:nvSpPr>
        <p:spPr bwMode="gray">
          <a:xfrm>
            <a:off x="4192797" y="2480409"/>
            <a:ext cx="803302" cy="1773285"/>
          </a:xfrm>
          <a:prstGeom prst="rect">
            <a:avLst/>
          </a:prstGeom>
          <a:solidFill>
            <a:srgbClr val="EC7061"/>
          </a:solidFill>
          <a:ln w="9525">
            <a:solidFill>
              <a:srgbClr val="EC7061"/>
            </a:solidFill>
            <a:miter lim="800000"/>
            <a:headEnd/>
            <a:tailEnd/>
          </a:ln>
        </p:spPr>
        <p:txBody>
          <a:bodyPr wrap="none" lIns="91379" tIns="45688" rIns="91379" bIns="45688" anchor="ctr">
            <a:noAutofit/>
          </a:bodyPr>
          <a:lstStyle/>
          <a:p>
            <a:pPr algn="ct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sp>
        <p:nvSpPr>
          <p:cNvPr id="20" name="Text Box 26"/>
          <p:cNvSpPr txBox="1">
            <a:spLocks noChangeArrowheads="1"/>
          </p:cNvSpPr>
          <p:nvPr/>
        </p:nvSpPr>
        <p:spPr bwMode="gray">
          <a:xfrm>
            <a:off x="1924485" y="4978751"/>
            <a:ext cx="902688" cy="307712"/>
          </a:xfrm>
          <a:prstGeom prst="rect">
            <a:avLst/>
          </a:prstGeom>
          <a:solidFill>
            <a:srgbClr val="FFD17D"/>
          </a:solidFill>
          <a:ln w="9525">
            <a:solidFill>
              <a:srgbClr val="FFD17D"/>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用户数据</a:t>
            </a:r>
          </a:p>
        </p:txBody>
      </p:sp>
      <p:sp>
        <p:nvSpPr>
          <p:cNvPr id="21" name="Text Box 26"/>
          <p:cNvSpPr txBox="1">
            <a:spLocks noChangeArrowheads="1"/>
          </p:cNvSpPr>
          <p:nvPr/>
        </p:nvSpPr>
        <p:spPr bwMode="gray">
          <a:xfrm>
            <a:off x="9588388" y="4978751"/>
            <a:ext cx="902688" cy="307712"/>
          </a:xfrm>
          <a:prstGeom prst="rect">
            <a:avLst/>
          </a:prstGeom>
          <a:solidFill>
            <a:srgbClr val="FFD17D"/>
          </a:solidFill>
          <a:ln w="9525">
            <a:solidFill>
              <a:srgbClr val="FFD17D"/>
            </a:solidFill>
            <a:miter lim="800000"/>
            <a:headEnd/>
            <a:tailEnd/>
          </a:ln>
        </p:spPr>
        <p:txBody>
          <a:bodyPr wrap="none" lIns="91379" tIns="45688" rIns="91379" bIns="45688">
            <a:spAutoFit/>
          </a:bodyPr>
          <a:lstStyle/>
          <a:p>
            <a:pPr eaLnBrk="1" fontAlgn="t" hangingPunct="1"/>
            <a:r>
              <a:rPr kumimoji="1" lang="zh-CN" altLang="en-US" sz="1400" dirty="0">
                <a:solidFill>
                  <a:schemeClr val="bg1"/>
                </a:solidFill>
                <a:latin typeface="Huawei Sans" panose="020C0503030203020204" pitchFamily="34" charset="0"/>
                <a:ea typeface="方正兰亭黑简体" panose="02000000000000000000" pitchFamily="2" charset="-122"/>
              </a:rPr>
              <a:t>用户数据</a:t>
            </a:r>
          </a:p>
        </p:txBody>
      </p:sp>
      <p:sp>
        <p:nvSpPr>
          <p:cNvPr id="22" name="Text Box 26"/>
          <p:cNvSpPr txBox="1">
            <a:spLocks noChangeArrowheads="1"/>
          </p:cNvSpPr>
          <p:nvPr/>
        </p:nvSpPr>
        <p:spPr bwMode="gray">
          <a:xfrm>
            <a:off x="3729373" y="4978751"/>
            <a:ext cx="1292218" cy="307712"/>
          </a:xfrm>
          <a:prstGeom prst="rect">
            <a:avLst/>
          </a:prstGeom>
          <a:solidFill>
            <a:srgbClr val="56C4D2"/>
          </a:solidFill>
          <a:ln w="9525">
            <a:solidFill>
              <a:srgbClr val="56C4D2"/>
            </a:solidFill>
            <a:miter lim="800000"/>
            <a:headEnd/>
            <a:tailEnd/>
          </a:ln>
        </p:spPr>
        <p:txBody>
          <a:bodyPr wrap="none" lIns="91379" tIns="45688" rIns="91379" bIns="45688" anchor="ctr">
            <a:spAutoFit/>
          </a:bodyPr>
          <a:lstStyle/>
          <a:p>
            <a:pPr algn="ctr"/>
            <a:r>
              <a:rPr kumimoji="1" lang="zh-CN" altLang="en-US" sz="1400" dirty="0">
                <a:solidFill>
                  <a:schemeClr val="bg1"/>
                </a:solidFill>
                <a:latin typeface="Huawei Sans" panose="020C0503030203020204" pitchFamily="34" charset="0"/>
                <a:ea typeface="方正兰亭黑简体" panose="02000000000000000000" pitchFamily="2" charset="-122"/>
              </a:rPr>
              <a:t>加密认证模块</a:t>
            </a:r>
          </a:p>
        </p:txBody>
      </p:sp>
      <p:sp>
        <p:nvSpPr>
          <p:cNvPr id="23" name="Left-Right Arrow 22"/>
          <p:cNvSpPr/>
          <p:nvPr/>
        </p:nvSpPr>
        <p:spPr bwMode="gray">
          <a:xfrm>
            <a:off x="5039848" y="2582707"/>
            <a:ext cx="2428147" cy="450249"/>
          </a:xfrm>
          <a:prstGeom prst="leftRightArrow">
            <a:avLst/>
          </a:prstGeom>
          <a:solidFill>
            <a:srgbClr val="EC7061"/>
          </a:solidFill>
          <a:ln>
            <a:solidFill>
              <a:srgbClr val="EC7061"/>
            </a:solidFill>
          </a:ln>
        </p:spPr>
        <p:txBody>
          <a:bodyPr wrap="square" rtlCol="0" anchor="ctr">
            <a:noAutofit/>
          </a:bodyPr>
          <a:lstStyle/>
          <a:p>
            <a:pPr algn="ctr" fontAlgn="auto"/>
            <a:r>
              <a:rPr lang="en-US" altLang="zh-CN"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IKE SA</a:t>
            </a:r>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协商</a:t>
            </a:r>
          </a:p>
        </p:txBody>
      </p:sp>
      <p:sp>
        <p:nvSpPr>
          <p:cNvPr id="24" name="Left-Right Arrow 23"/>
          <p:cNvSpPr/>
          <p:nvPr/>
        </p:nvSpPr>
        <p:spPr bwMode="gray">
          <a:xfrm>
            <a:off x="5073029" y="4908952"/>
            <a:ext cx="2428147" cy="450249"/>
          </a:xfrm>
          <a:prstGeom prst="leftRightArrow">
            <a:avLst/>
          </a:prstGeom>
          <a:solidFill>
            <a:srgbClr val="FFD17D"/>
          </a:solidFill>
          <a:ln>
            <a:solidFill>
              <a:srgbClr val="FFD17D"/>
            </a:solidFill>
          </a:ln>
        </p:spPr>
        <p:txBody>
          <a:bodyPr wrap="square" rtlCol="0" anchor="ctr">
            <a:noAutofit/>
          </a:bodyPr>
          <a:lstStyle/>
          <a:p>
            <a:pPr algn="ctr" fontAlgn="auto"/>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交互用户数据</a:t>
            </a:r>
          </a:p>
        </p:txBody>
      </p:sp>
      <p:cxnSp>
        <p:nvCxnSpPr>
          <p:cNvPr id="25" name="Straight Arrow Connector 24"/>
          <p:cNvCxnSpPr>
            <a:stCxn id="20" idx="3"/>
            <a:endCxn id="22" idx="1"/>
          </p:cNvCxnSpPr>
          <p:nvPr/>
        </p:nvCxnSpPr>
        <p:spPr bwMode="gray">
          <a:xfrm>
            <a:off x="2827173" y="5132607"/>
            <a:ext cx="902200" cy="0"/>
          </a:xfrm>
          <a:prstGeom prst="straightConnector1">
            <a:avLst/>
          </a:prstGeom>
          <a:ln w="28575">
            <a:solidFill>
              <a:srgbClr val="FFD17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a:stCxn id="28" idx="3"/>
            <a:endCxn id="21" idx="1"/>
          </p:cNvCxnSpPr>
          <p:nvPr/>
        </p:nvCxnSpPr>
        <p:spPr bwMode="gray">
          <a:xfrm>
            <a:off x="8801863" y="5132607"/>
            <a:ext cx="786525" cy="0"/>
          </a:xfrm>
          <a:prstGeom prst="straightConnector1">
            <a:avLst/>
          </a:prstGeom>
          <a:ln w="28575">
            <a:solidFill>
              <a:srgbClr val="FFD17D"/>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Text Box 26"/>
          <p:cNvSpPr txBox="1">
            <a:spLocks noChangeArrowheads="1"/>
          </p:cNvSpPr>
          <p:nvPr/>
        </p:nvSpPr>
        <p:spPr bwMode="gray">
          <a:xfrm>
            <a:off x="7509188" y="2479603"/>
            <a:ext cx="803302" cy="1786655"/>
          </a:xfrm>
          <a:prstGeom prst="rect">
            <a:avLst/>
          </a:prstGeom>
          <a:solidFill>
            <a:srgbClr val="EC7061"/>
          </a:solidFill>
          <a:ln w="9525">
            <a:solidFill>
              <a:srgbClr val="EC7061"/>
            </a:solidFill>
            <a:miter lim="800000"/>
            <a:headEnd/>
            <a:tailEnd/>
          </a:ln>
        </p:spPr>
        <p:txBody>
          <a:bodyPr wrap="none" lIns="91379" tIns="45688" rIns="91379" bIns="45688" anchor="ctr">
            <a:noAutofit/>
          </a:bodyPr>
          <a:lstStyle/>
          <a:p>
            <a:pPr algn="ct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sp>
        <p:nvSpPr>
          <p:cNvPr id="28" name="Text Box 26"/>
          <p:cNvSpPr txBox="1">
            <a:spLocks noChangeArrowheads="1"/>
          </p:cNvSpPr>
          <p:nvPr/>
        </p:nvSpPr>
        <p:spPr bwMode="gray">
          <a:xfrm>
            <a:off x="7540102" y="4978751"/>
            <a:ext cx="1261761" cy="307712"/>
          </a:xfrm>
          <a:prstGeom prst="rect">
            <a:avLst/>
          </a:prstGeom>
          <a:solidFill>
            <a:srgbClr val="56C4D2"/>
          </a:solidFill>
          <a:ln w="9525">
            <a:solidFill>
              <a:srgbClr val="56C4D2"/>
            </a:solidFill>
            <a:miter lim="800000"/>
            <a:headEnd/>
            <a:tailEnd/>
          </a:ln>
        </p:spPr>
        <p:txBody>
          <a:bodyPr wrap="none" lIns="91379" tIns="45688" rIns="91379" bIns="45688" anchor="ctr">
            <a:spAutoFit/>
          </a:bodyPr>
          <a:lstStyle/>
          <a:p>
            <a:pPr algn="ctr"/>
            <a:r>
              <a:rPr kumimoji="1" lang="zh-CN" altLang="en-US" sz="1400" dirty="0">
                <a:solidFill>
                  <a:schemeClr val="bg1"/>
                </a:solidFill>
                <a:latin typeface="Huawei Sans" panose="020C0503030203020204" pitchFamily="34" charset="0"/>
                <a:ea typeface="方正兰亭黑简体" panose="02000000000000000000" pitchFamily="2" charset="-122"/>
              </a:rPr>
              <a:t>加密认证模块</a:t>
            </a:r>
          </a:p>
        </p:txBody>
      </p:sp>
      <p:cxnSp>
        <p:nvCxnSpPr>
          <p:cNvPr id="29" name="Straight Arrow Connector 28"/>
          <p:cNvCxnSpPr/>
          <p:nvPr/>
        </p:nvCxnSpPr>
        <p:spPr bwMode="gray">
          <a:xfrm flipV="1">
            <a:off x="6248473" y="3032956"/>
            <a:ext cx="0" cy="454000"/>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bwMode="gray">
          <a:xfrm flipV="1">
            <a:off x="7910839" y="4316206"/>
            <a:ext cx="0" cy="624962"/>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Rectangular Callout 30"/>
          <p:cNvSpPr/>
          <p:nvPr/>
        </p:nvSpPr>
        <p:spPr bwMode="gray">
          <a:xfrm>
            <a:off x="4043772" y="5386985"/>
            <a:ext cx="1518275" cy="574710"/>
          </a:xfrm>
          <a:prstGeom prst="wedgeRectCallout">
            <a:avLst>
              <a:gd name="adj1" fmla="val -21972"/>
              <a:gd name="adj2" fmla="val -7501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基于</a:t>
            </a:r>
            <a:r>
              <a:rPr lang="en-US" altLang="zh-CN" sz="1200" b="1" dirty="0">
                <a:solidFill>
                  <a:srgbClr val="C7000B"/>
                </a:solidFill>
              </a:rPr>
              <a:t>IPsec SA</a:t>
            </a:r>
            <a:r>
              <a:rPr lang="zh-CN" altLang="en-US" sz="1200" dirty="0">
                <a:solidFill>
                  <a:schemeClr val="tx1"/>
                </a:solidFill>
                <a:latin typeface="Huawei Sans" panose="020C0503030203020204" pitchFamily="34" charset="0"/>
                <a:ea typeface="方正兰亭黑简体" panose="02000000000000000000" pitchFamily="2" charset="-122"/>
              </a:rPr>
              <a:t>对用户数据进行加解密，认证</a:t>
            </a:r>
          </a:p>
        </p:txBody>
      </p:sp>
      <p:sp>
        <p:nvSpPr>
          <p:cNvPr id="32" name="TextBox 31"/>
          <p:cNvSpPr txBox="1"/>
          <p:nvPr/>
        </p:nvSpPr>
        <p:spPr bwMode="gray">
          <a:xfrm>
            <a:off x="6256813" y="2945505"/>
            <a:ext cx="659155" cy="276999"/>
          </a:xfrm>
          <a:prstGeom prst="rect">
            <a:avLst/>
          </a:prstGeom>
          <a:noFill/>
        </p:spPr>
        <p:txBody>
          <a:bodyPr wrap="none" rtlCol="0">
            <a:spAutoFit/>
          </a:bodyPr>
          <a:lstStyle/>
          <a:p>
            <a:r>
              <a:rPr lang="en-US" altLang="zh-CN" sz="1200" b="1" dirty="0">
                <a:solidFill>
                  <a:srgbClr val="C7000B"/>
                </a:solidFill>
                <a:latin typeface="+mn-lt"/>
              </a:rPr>
              <a:t>IKE SA</a:t>
            </a:r>
            <a:endParaRPr lang="zh-CN" altLang="en-US" sz="1200" b="1" dirty="0">
              <a:solidFill>
                <a:srgbClr val="C7000B"/>
              </a:solidFill>
              <a:latin typeface="+mn-lt"/>
            </a:endParaRPr>
          </a:p>
        </p:txBody>
      </p:sp>
      <p:sp>
        <p:nvSpPr>
          <p:cNvPr id="33" name="TextBox 32"/>
          <p:cNvSpPr txBox="1"/>
          <p:nvPr/>
        </p:nvSpPr>
        <p:spPr bwMode="gray">
          <a:xfrm>
            <a:off x="7927235" y="4465061"/>
            <a:ext cx="780983" cy="276999"/>
          </a:xfrm>
          <a:prstGeom prst="rect">
            <a:avLst/>
          </a:prstGeom>
          <a:noFill/>
        </p:spPr>
        <p:txBody>
          <a:bodyPr wrap="none" rtlCol="0">
            <a:spAutoFit/>
          </a:bodyPr>
          <a:lstStyle/>
          <a:p>
            <a:r>
              <a:rPr lang="en-US" altLang="zh-CN" sz="1200" dirty="0">
                <a:latin typeface="+mn-lt"/>
              </a:rPr>
              <a:t>IPsec SA</a:t>
            </a:r>
            <a:endParaRPr lang="zh-CN" altLang="en-US" sz="1200" dirty="0">
              <a:latin typeface="+mn-lt"/>
            </a:endParaRPr>
          </a:p>
        </p:txBody>
      </p:sp>
      <p:sp>
        <p:nvSpPr>
          <p:cNvPr id="36" name="Right Arrow 35"/>
          <p:cNvSpPr/>
          <p:nvPr/>
        </p:nvSpPr>
        <p:spPr bwMode="gray">
          <a:xfrm flipH="1">
            <a:off x="5039020" y="3574851"/>
            <a:ext cx="732270" cy="418966"/>
          </a:xfrm>
          <a:prstGeom prst="right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35" name="Can 41"/>
          <p:cNvSpPr/>
          <p:nvPr/>
        </p:nvSpPr>
        <p:spPr bwMode="gray">
          <a:xfrm rot="5400000">
            <a:off x="6025860" y="3280618"/>
            <a:ext cx="430110" cy="1019421"/>
          </a:xfrm>
          <a:prstGeom prst="can">
            <a:avLst>
              <a:gd name="adj" fmla="val 41618"/>
            </a:avLst>
          </a:prstGeom>
          <a:solidFill>
            <a:srgbClr val="EC706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Right Arrow 36"/>
          <p:cNvSpPr/>
          <p:nvPr/>
        </p:nvSpPr>
        <p:spPr bwMode="gray">
          <a:xfrm>
            <a:off x="6678990" y="3569463"/>
            <a:ext cx="789005" cy="418966"/>
          </a:xfrm>
          <a:prstGeom prst="right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endParaRPr>
          </a:p>
        </p:txBody>
      </p:sp>
      <p:sp>
        <p:nvSpPr>
          <p:cNvPr id="38" name="TextBox 37"/>
          <p:cNvSpPr txBox="1"/>
          <p:nvPr/>
        </p:nvSpPr>
        <p:spPr bwMode="gray">
          <a:xfrm>
            <a:off x="5177791" y="3618381"/>
            <a:ext cx="611065" cy="307777"/>
          </a:xfrm>
          <a:prstGeom prst="rect">
            <a:avLst/>
          </a:prstGeom>
          <a:noFill/>
        </p:spPr>
        <p:txBody>
          <a:bodyPr wrap="none" rtlCol="0">
            <a:spAutoFit/>
          </a:bodyPr>
          <a:lstStyle/>
          <a:p>
            <a:r>
              <a:rPr lang="en-US" altLang="zh-CN" sz="1400" dirty="0">
                <a:solidFill>
                  <a:schemeClr val="bg1"/>
                </a:solidFill>
                <a:latin typeface="+mn-lt"/>
              </a:rPr>
              <a:t>IPsec</a:t>
            </a:r>
            <a:endParaRPr lang="zh-CN" altLang="en-US" sz="1400" dirty="0">
              <a:solidFill>
                <a:schemeClr val="bg1"/>
              </a:solidFill>
              <a:latin typeface="+mn-lt"/>
            </a:endParaRPr>
          </a:p>
        </p:txBody>
      </p:sp>
      <p:sp>
        <p:nvSpPr>
          <p:cNvPr id="39" name="TextBox 38"/>
          <p:cNvSpPr txBox="1"/>
          <p:nvPr/>
        </p:nvSpPr>
        <p:spPr bwMode="gray">
          <a:xfrm>
            <a:off x="6635109" y="3625279"/>
            <a:ext cx="756938" cy="307777"/>
          </a:xfrm>
          <a:prstGeom prst="rect">
            <a:avLst/>
          </a:prstGeom>
          <a:noFill/>
        </p:spPr>
        <p:txBody>
          <a:bodyPr wrap="none" rtlCol="0">
            <a:spAutoFit/>
          </a:bodyPr>
          <a:lstStyle/>
          <a:p>
            <a:pPr fontAlgn="auto"/>
            <a:r>
              <a:rPr lang="en-US" altLang="zh-CN" sz="1400" dirty="0">
                <a:solidFill>
                  <a:schemeClr val="bg1"/>
                </a:solidFill>
                <a:latin typeface="Huawei Sans" panose="020C0503030203020204" pitchFamily="34" charset="0"/>
                <a:ea typeface="方正兰亭黑简体" panose="02000000000000000000" pitchFamily="2" charset="-122"/>
              </a:rPr>
              <a:t>SA</a:t>
            </a:r>
            <a:r>
              <a:rPr lang="zh-CN" altLang="en-US" sz="1400" dirty="0">
                <a:solidFill>
                  <a:schemeClr val="bg1"/>
                </a:solidFill>
                <a:latin typeface="Huawei Sans" panose="020C0503030203020204" pitchFamily="34" charset="0"/>
                <a:ea typeface="方正兰亭黑简体" panose="02000000000000000000" pitchFamily="2" charset="-122"/>
              </a:rPr>
              <a:t>协商</a:t>
            </a:r>
          </a:p>
        </p:txBody>
      </p:sp>
      <p:sp>
        <p:nvSpPr>
          <p:cNvPr id="41" name="Rectangular Callout 40"/>
          <p:cNvSpPr/>
          <p:nvPr/>
        </p:nvSpPr>
        <p:spPr bwMode="gray">
          <a:xfrm>
            <a:off x="5263283" y="4021601"/>
            <a:ext cx="1423774" cy="514898"/>
          </a:xfrm>
          <a:prstGeom prst="wedgeRectCallout">
            <a:avLst>
              <a:gd name="adj1" fmla="val 20688"/>
              <a:gd name="adj2" fmla="val -6838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基于</a:t>
            </a:r>
            <a:r>
              <a:rPr lang="en-US" altLang="zh-CN" sz="1200" b="1" dirty="0">
                <a:solidFill>
                  <a:srgbClr val="C7000B"/>
                </a:solidFill>
              </a:rPr>
              <a:t>IKE SA</a:t>
            </a:r>
            <a:r>
              <a:rPr lang="zh-CN" altLang="en-US" sz="1200" dirty="0">
                <a:solidFill>
                  <a:schemeClr val="tx1"/>
                </a:solidFill>
                <a:latin typeface="Huawei Sans" panose="020C0503030203020204" pitchFamily="34" charset="0"/>
                <a:ea typeface="方正兰亭黑简体" panose="02000000000000000000" pitchFamily="2" charset="-122"/>
              </a:rPr>
              <a:t>加密</a:t>
            </a:r>
            <a:r>
              <a:rPr lang="en-US" altLang="zh-CN" sz="1200" b="1" dirty="0">
                <a:solidFill>
                  <a:srgbClr val="C7000B"/>
                </a:solidFill>
              </a:rPr>
              <a:t>IPsec SA</a:t>
            </a:r>
            <a:r>
              <a:rPr lang="zh-CN" altLang="en-US" sz="1200" dirty="0">
                <a:solidFill>
                  <a:schemeClr val="tx1"/>
                </a:solidFill>
                <a:latin typeface="Huawei Sans" panose="020C0503030203020204" pitchFamily="34" charset="0"/>
                <a:ea typeface="方正兰亭黑简体" panose="02000000000000000000" pitchFamily="2" charset="-122"/>
              </a:rPr>
              <a:t>协商报文</a:t>
            </a:r>
          </a:p>
        </p:txBody>
      </p:sp>
      <p:sp>
        <p:nvSpPr>
          <p:cNvPr id="44" name="TextBox 43"/>
          <p:cNvSpPr txBox="1"/>
          <p:nvPr/>
        </p:nvSpPr>
        <p:spPr bwMode="gray">
          <a:xfrm>
            <a:off x="2885310" y="2690493"/>
            <a:ext cx="1330814"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IKE</a:t>
            </a:r>
            <a:r>
              <a:rPr lang="zh-CN" altLang="en-US" sz="1200" dirty="0">
                <a:latin typeface="Huawei Sans" panose="020C0503030203020204" pitchFamily="34" charset="0"/>
                <a:ea typeface="方正兰亭黑简体" panose="02000000000000000000" pitchFamily="2" charset="-122"/>
              </a:rPr>
              <a:t>协商第一阶段</a:t>
            </a:r>
          </a:p>
        </p:txBody>
      </p:sp>
      <p:sp>
        <p:nvSpPr>
          <p:cNvPr id="45" name="TextBox 44"/>
          <p:cNvSpPr txBox="1"/>
          <p:nvPr/>
        </p:nvSpPr>
        <p:spPr bwMode="gray">
          <a:xfrm>
            <a:off x="2885310" y="3577139"/>
            <a:ext cx="1330814"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IKE</a:t>
            </a:r>
            <a:r>
              <a:rPr lang="zh-CN" altLang="en-US" sz="1200" dirty="0">
                <a:latin typeface="Huawei Sans" panose="020C0503030203020204" pitchFamily="34" charset="0"/>
                <a:ea typeface="方正兰亭黑简体" panose="02000000000000000000" pitchFamily="2" charset="-122"/>
              </a:rPr>
              <a:t>协商第二阶段</a:t>
            </a:r>
          </a:p>
        </p:txBody>
      </p:sp>
      <p:cxnSp>
        <p:nvCxnSpPr>
          <p:cNvPr id="47" name="Straight Arrow Connector 46"/>
          <p:cNvCxnSpPr/>
          <p:nvPr/>
        </p:nvCxnSpPr>
        <p:spPr bwMode="gray">
          <a:xfrm flipV="1">
            <a:off x="4646395" y="4326005"/>
            <a:ext cx="0" cy="624962"/>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bwMode="gray">
          <a:xfrm>
            <a:off x="3825632" y="4491425"/>
            <a:ext cx="780983" cy="276999"/>
          </a:xfrm>
          <a:prstGeom prst="rect">
            <a:avLst/>
          </a:prstGeom>
          <a:noFill/>
        </p:spPr>
        <p:txBody>
          <a:bodyPr wrap="none" rtlCol="0">
            <a:spAutoFit/>
          </a:bodyPr>
          <a:lstStyle/>
          <a:p>
            <a:r>
              <a:rPr lang="en-US" altLang="zh-CN" sz="1200" dirty="0">
                <a:latin typeface="+mn-lt"/>
              </a:rPr>
              <a:t>IPsec SA</a:t>
            </a:r>
            <a:endParaRPr lang="zh-CN" altLang="en-US" sz="1200" dirty="0">
              <a:latin typeface="+mn-lt"/>
            </a:endParaRPr>
          </a:p>
        </p:txBody>
      </p:sp>
      <p:sp>
        <p:nvSpPr>
          <p:cNvPr id="51" name="Rectangular Callout 50"/>
          <p:cNvSpPr/>
          <p:nvPr/>
        </p:nvSpPr>
        <p:spPr bwMode="gray">
          <a:xfrm>
            <a:off x="2533414" y="5339733"/>
            <a:ext cx="1292218" cy="574710"/>
          </a:xfrm>
          <a:prstGeom prst="wedgeRectCallout">
            <a:avLst>
              <a:gd name="adj1" fmla="val 18544"/>
              <a:gd name="adj2" fmla="val -7682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设备对于</a:t>
            </a:r>
            <a:r>
              <a:rPr lang="zh-CN" altLang="en-US" sz="1200" b="1" dirty="0">
                <a:solidFill>
                  <a:srgbClr val="C7000B"/>
                </a:solidFill>
              </a:rPr>
              <a:t>被保护流</a:t>
            </a:r>
            <a:r>
              <a:rPr lang="zh-CN" altLang="en-US" sz="1200" dirty="0">
                <a:solidFill>
                  <a:schemeClr val="tx1"/>
                </a:solidFill>
                <a:latin typeface="Huawei Sans" panose="020C0503030203020204" pitchFamily="34" charset="0"/>
                <a:ea typeface="方正兰亭黑简体" panose="02000000000000000000" pitchFamily="2" charset="-122"/>
              </a:rPr>
              <a:t>进行加解密</a:t>
            </a:r>
          </a:p>
        </p:txBody>
      </p:sp>
    </p:spTree>
    <p:extLst>
      <p:ext uri="{BB962C8B-B14F-4D97-AF65-F5344CB8AC3E}">
        <p14:creationId xmlns:p14="http://schemas.microsoft.com/office/powerpoint/2010/main" val="3478409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IKEv1</a:t>
            </a:r>
            <a:r>
              <a:rPr lang="zh-CN" altLang="en-US" dirty="0"/>
              <a:t>介绍</a:t>
            </a:r>
          </a:p>
        </p:txBody>
      </p:sp>
      <p:sp>
        <p:nvSpPr>
          <p:cNvPr id="3" name="Text Placeholder 2"/>
          <p:cNvSpPr>
            <a:spLocks noGrp="1"/>
          </p:cNvSpPr>
          <p:nvPr>
            <p:ph type="body" sz="quarter" idx="10"/>
          </p:nvPr>
        </p:nvSpPr>
        <p:spPr bwMode="gray"/>
        <p:txBody>
          <a:bodyPr/>
          <a:lstStyle/>
          <a:p>
            <a:r>
              <a:rPr lang="zh-CN" altLang="en-US" sz="1800" dirty="0"/>
              <a:t>采用</a:t>
            </a:r>
            <a:r>
              <a:rPr lang="en-US" altLang="zh-CN" sz="1800" dirty="0"/>
              <a:t>IKEv1</a:t>
            </a:r>
            <a:r>
              <a:rPr lang="zh-CN" altLang="en-US" sz="1800" dirty="0"/>
              <a:t>协商安全联盟主要分为两个阶段：</a:t>
            </a:r>
            <a:endParaRPr lang="en-US" altLang="zh-CN" sz="1800" dirty="0"/>
          </a:p>
          <a:p>
            <a:r>
              <a:rPr lang="zh-CN" altLang="en-US" sz="1800" dirty="0"/>
              <a:t>第一阶段，通信双方协商并建立</a:t>
            </a:r>
            <a:r>
              <a:rPr lang="en-US" altLang="zh-CN" sz="1800" dirty="0"/>
              <a:t>IKE</a:t>
            </a:r>
            <a:r>
              <a:rPr lang="zh-CN" altLang="en-US" sz="1800" dirty="0"/>
              <a:t>协议本身使用的安全通道，即建立一个</a:t>
            </a:r>
            <a:r>
              <a:rPr lang="en-US" altLang="zh-CN" sz="1800" dirty="0"/>
              <a:t>IKE SA</a:t>
            </a:r>
            <a:r>
              <a:rPr lang="zh-CN" altLang="en-US" sz="1800" dirty="0"/>
              <a:t>；</a:t>
            </a:r>
            <a:endParaRPr lang="en-US" altLang="zh-CN" sz="1800"/>
          </a:p>
          <a:p>
            <a:r>
              <a:rPr lang="zh-CN" altLang="en-US" sz="1800"/>
              <a:t>第二</a:t>
            </a:r>
            <a:r>
              <a:rPr lang="zh-CN" altLang="en-US" sz="1800" dirty="0"/>
              <a:t>阶段，利用第一阶段已通过认证与安全保护的安全通道，建立一对用于数据安全传输的</a:t>
            </a:r>
            <a:r>
              <a:rPr lang="en-US" altLang="zh-CN" sz="1800" dirty="0"/>
              <a:t>IPsec</a:t>
            </a:r>
            <a:r>
              <a:rPr lang="zh-CN" altLang="en-US" sz="1800" dirty="0"/>
              <a:t> </a:t>
            </a:r>
            <a:r>
              <a:rPr lang="en-US" altLang="zh-CN" sz="1800" dirty="0"/>
              <a:t>SA</a:t>
            </a:r>
            <a:r>
              <a:rPr lang="zh-CN" altLang="en-US" sz="1800" dirty="0"/>
              <a:t>。</a:t>
            </a:r>
          </a:p>
        </p:txBody>
      </p:sp>
      <p:cxnSp>
        <p:nvCxnSpPr>
          <p:cNvPr id="4" name="Straight Arrow Connector 3"/>
          <p:cNvCxnSpPr/>
          <p:nvPr/>
        </p:nvCxnSpPr>
        <p:spPr bwMode="gray">
          <a:xfrm flipH="1">
            <a:off x="3368980" y="4085538"/>
            <a:ext cx="5812521" cy="0"/>
          </a:xfrm>
          <a:prstGeom prst="straightConnector1">
            <a:avLst/>
          </a:prstGeom>
          <a:solidFill>
            <a:schemeClr val="accent1"/>
          </a:solidFill>
          <a:ln w="12700" cap="flat" cmpd="sng" algn="ctr">
            <a:solidFill>
              <a:schemeClr val="tx1"/>
            </a:solidFill>
            <a:prstDash val="dash"/>
            <a:round/>
            <a:headEnd type="none" w="med" len="med"/>
            <a:tailEnd type="none" w="med" len="med"/>
          </a:ln>
          <a:effectLst/>
        </p:spPr>
      </p:cxnSp>
      <p:sp>
        <p:nvSpPr>
          <p:cNvPr id="6" name="Text Box 26"/>
          <p:cNvSpPr txBox="1">
            <a:spLocks noChangeArrowheads="1"/>
          </p:cNvSpPr>
          <p:nvPr/>
        </p:nvSpPr>
        <p:spPr bwMode="gray">
          <a:xfrm>
            <a:off x="4238084" y="3337391"/>
            <a:ext cx="803302" cy="1773285"/>
          </a:xfrm>
          <a:prstGeom prst="rect">
            <a:avLst/>
          </a:prstGeom>
          <a:solidFill>
            <a:srgbClr val="EC7061"/>
          </a:solidFill>
          <a:ln w="9525">
            <a:solidFill>
              <a:srgbClr val="EC7061"/>
            </a:solidFill>
            <a:miter lim="800000"/>
            <a:headEnd/>
            <a:tailEnd/>
          </a:ln>
        </p:spPr>
        <p:txBody>
          <a:bodyPr wrap="none" lIns="91379" tIns="45688" rIns="91379" bIns="45688" anchor="ctr">
            <a:noAutofit/>
          </a:bodyPr>
          <a:lstStyle/>
          <a:p>
            <a:pPr algn="ct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sp>
        <p:nvSpPr>
          <p:cNvPr id="7" name="Left-Right Arrow 6"/>
          <p:cNvSpPr/>
          <p:nvPr/>
        </p:nvSpPr>
        <p:spPr bwMode="gray">
          <a:xfrm>
            <a:off x="5085135" y="3439689"/>
            <a:ext cx="2428147" cy="450249"/>
          </a:xfrm>
          <a:prstGeom prst="leftRightArrow">
            <a:avLst/>
          </a:prstGeom>
          <a:solidFill>
            <a:srgbClr val="EC7061"/>
          </a:solidFill>
          <a:ln>
            <a:solidFill>
              <a:srgbClr val="EC7061"/>
            </a:solidFill>
          </a:ln>
        </p:spPr>
        <p:txBody>
          <a:bodyPr wrap="square" rtlCol="0" anchor="ctr">
            <a:noAutofit/>
          </a:bodyPr>
          <a:lstStyle/>
          <a:p>
            <a:pPr algn="ctr" fontAlgn="auto"/>
            <a:r>
              <a:rPr lang="en-US" altLang="zh-CN"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IKE SA</a:t>
            </a:r>
            <a:r>
              <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rPr>
              <a:t>协商</a:t>
            </a:r>
          </a:p>
        </p:txBody>
      </p:sp>
      <p:sp>
        <p:nvSpPr>
          <p:cNvPr id="8" name="Text Box 26"/>
          <p:cNvSpPr txBox="1">
            <a:spLocks noChangeArrowheads="1"/>
          </p:cNvSpPr>
          <p:nvPr/>
        </p:nvSpPr>
        <p:spPr bwMode="gray">
          <a:xfrm>
            <a:off x="7554475" y="3336585"/>
            <a:ext cx="803302" cy="1786655"/>
          </a:xfrm>
          <a:prstGeom prst="rect">
            <a:avLst/>
          </a:prstGeom>
          <a:solidFill>
            <a:srgbClr val="EC7061"/>
          </a:solidFill>
          <a:ln w="9525">
            <a:solidFill>
              <a:srgbClr val="EC7061"/>
            </a:solidFill>
            <a:miter lim="800000"/>
            <a:headEnd/>
            <a:tailEnd/>
          </a:ln>
        </p:spPr>
        <p:txBody>
          <a:bodyPr wrap="none" lIns="91379" tIns="45688" rIns="91379" bIns="45688" anchor="ctr">
            <a:noAutofit/>
          </a:bodyPr>
          <a:lstStyle/>
          <a:p>
            <a:pPr algn="ctr" eaLnBrk="1" fontAlgn="auto" hangingPunct="1"/>
            <a:r>
              <a:rPr kumimoji="1" lang="en-US" altLang="zh-CN" sz="1400" dirty="0">
                <a:solidFill>
                  <a:schemeClr val="bg1"/>
                </a:solidFill>
                <a:latin typeface="Huawei Sans" panose="020C0503030203020204" pitchFamily="34" charset="0"/>
                <a:ea typeface="方正兰亭黑简体" panose="02000000000000000000" pitchFamily="2" charset="-122"/>
              </a:rPr>
              <a:t>IKE</a:t>
            </a:r>
            <a:r>
              <a:rPr kumimoji="1" lang="zh-CN" altLang="en-US" sz="1400" dirty="0">
                <a:solidFill>
                  <a:schemeClr val="bg1"/>
                </a:solidFill>
                <a:latin typeface="Huawei Sans" panose="020C0503030203020204" pitchFamily="34" charset="0"/>
                <a:ea typeface="方正兰亭黑简体" panose="02000000000000000000" pitchFamily="2" charset="-122"/>
              </a:rPr>
              <a:t>模块</a:t>
            </a:r>
          </a:p>
        </p:txBody>
      </p:sp>
      <p:cxnSp>
        <p:nvCxnSpPr>
          <p:cNvPr id="9" name="Straight Arrow Connector 8"/>
          <p:cNvCxnSpPr/>
          <p:nvPr/>
        </p:nvCxnSpPr>
        <p:spPr bwMode="gray">
          <a:xfrm flipV="1">
            <a:off x="6293760" y="3889938"/>
            <a:ext cx="0" cy="454000"/>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bwMode="gray">
          <a:xfrm>
            <a:off x="6302100" y="3802487"/>
            <a:ext cx="659155" cy="276999"/>
          </a:xfrm>
          <a:prstGeom prst="rect">
            <a:avLst/>
          </a:prstGeom>
          <a:noFill/>
        </p:spPr>
        <p:txBody>
          <a:bodyPr wrap="none" rtlCol="0">
            <a:spAutoFit/>
          </a:bodyPr>
          <a:lstStyle/>
          <a:p>
            <a:r>
              <a:rPr lang="en-US" altLang="zh-CN" sz="1200" b="1" dirty="0">
                <a:solidFill>
                  <a:srgbClr val="C7000B"/>
                </a:solidFill>
                <a:latin typeface="+mn-lt"/>
              </a:rPr>
              <a:t>IKE SA</a:t>
            </a:r>
            <a:endParaRPr lang="zh-CN" altLang="en-US" sz="1200" b="1" dirty="0">
              <a:solidFill>
                <a:srgbClr val="C7000B"/>
              </a:solidFill>
              <a:latin typeface="+mn-lt"/>
            </a:endParaRPr>
          </a:p>
        </p:txBody>
      </p:sp>
      <p:sp>
        <p:nvSpPr>
          <p:cNvPr id="11" name="Right Arrow 10"/>
          <p:cNvSpPr/>
          <p:nvPr/>
        </p:nvSpPr>
        <p:spPr bwMode="gray">
          <a:xfrm flipH="1">
            <a:off x="5084307" y="4431833"/>
            <a:ext cx="732270" cy="418966"/>
          </a:xfrm>
          <a:prstGeom prst="right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12" name="Can 41"/>
          <p:cNvSpPr/>
          <p:nvPr/>
        </p:nvSpPr>
        <p:spPr bwMode="gray">
          <a:xfrm rot="5400000">
            <a:off x="6071147" y="4137600"/>
            <a:ext cx="430110" cy="1019421"/>
          </a:xfrm>
          <a:prstGeom prst="can">
            <a:avLst>
              <a:gd name="adj" fmla="val 41618"/>
            </a:avLst>
          </a:prstGeom>
          <a:solidFill>
            <a:srgbClr val="EC706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Right Arrow 12"/>
          <p:cNvSpPr/>
          <p:nvPr/>
        </p:nvSpPr>
        <p:spPr bwMode="gray">
          <a:xfrm>
            <a:off x="6724277" y="4426445"/>
            <a:ext cx="789005" cy="418966"/>
          </a:xfrm>
          <a:prstGeom prst="rightArrow">
            <a:avLst/>
          </a:prstGeom>
          <a:solidFill>
            <a:srgbClr val="56C4D2"/>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solidFill>
                <a:schemeClr val="bg1"/>
              </a:solidFill>
              <a:latin typeface="Huawei Sans" panose="020C0503030203020204" pitchFamily="34" charset="0"/>
              <a:ea typeface="方正兰亭黑简体" panose="02000000000000000000" pitchFamily="2" charset="-122"/>
              <a:cs typeface="Courier New" panose="02070309020205020404" pitchFamily="49" charset="0"/>
            </a:endParaRPr>
          </a:p>
        </p:txBody>
      </p:sp>
      <p:sp>
        <p:nvSpPr>
          <p:cNvPr id="14" name="TextBox 13"/>
          <p:cNvSpPr txBox="1"/>
          <p:nvPr/>
        </p:nvSpPr>
        <p:spPr bwMode="gray">
          <a:xfrm>
            <a:off x="5223078" y="4475363"/>
            <a:ext cx="611065" cy="307777"/>
          </a:xfrm>
          <a:prstGeom prst="rect">
            <a:avLst/>
          </a:prstGeom>
          <a:noFill/>
        </p:spPr>
        <p:txBody>
          <a:bodyPr wrap="none" rtlCol="0">
            <a:spAutoFit/>
          </a:bodyPr>
          <a:lstStyle/>
          <a:p>
            <a:r>
              <a:rPr lang="en-US" altLang="zh-CN" sz="1400" dirty="0">
                <a:solidFill>
                  <a:schemeClr val="bg1"/>
                </a:solidFill>
                <a:latin typeface="+mn-lt"/>
              </a:rPr>
              <a:t>IPsec</a:t>
            </a:r>
            <a:endParaRPr lang="zh-CN" altLang="en-US" sz="1400" dirty="0">
              <a:solidFill>
                <a:schemeClr val="bg1"/>
              </a:solidFill>
              <a:latin typeface="+mn-lt"/>
            </a:endParaRPr>
          </a:p>
        </p:txBody>
      </p:sp>
      <p:sp>
        <p:nvSpPr>
          <p:cNvPr id="15" name="TextBox 14"/>
          <p:cNvSpPr txBox="1"/>
          <p:nvPr/>
        </p:nvSpPr>
        <p:spPr bwMode="gray">
          <a:xfrm>
            <a:off x="6680396" y="4494360"/>
            <a:ext cx="756938" cy="307777"/>
          </a:xfrm>
          <a:prstGeom prst="rect">
            <a:avLst/>
          </a:prstGeom>
          <a:noFill/>
        </p:spPr>
        <p:txBody>
          <a:bodyPr wrap="none" rtlCol="0">
            <a:spAutoFit/>
          </a:bodyPr>
          <a:lstStyle/>
          <a:p>
            <a:pPr fontAlgn="auto"/>
            <a:r>
              <a:rPr lang="en-US" altLang="zh-CN" sz="1400" dirty="0">
                <a:solidFill>
                  <a:schemeClr val="bg1"/>
                </a:solidFill>
                <a:latin typeface="Huawei Sans" panose="020C0503030203020204" pitchFamily="34" charset="0"/>
                <a:ea typeface="方正兰亭黑简体" panose="02000000000000000000" pitchFamily="2" charset="-122"/>
              </a:rPr>
              <a:t>SA</a:t>
            </a:r>
            <a:r>
              <a:rPr lang="zh-CN" altLang="en-US" sz="1400" dirty="0">
                <a:solidFill>
                  <a:schemeClr val="bg1"/>
                </a:solidFill>
                <a:latin typeface="Huawei Sans" panose="020C0503030203020204" pitchFamily="34" charset="0"/>
                <a:ea typeface="方正兰亭黑简体" panose="02000000000000000000" pitchFamily="2" charset="-122"/>
              </a:rPr>
              <a:t>协商</a:t>
            </a:r>
          </a:p>
        </p:txBody>
      </p:sp>
      <p:sp>
        <p:nvSpPr>
          <p:cNvPr id="16" name="Rectangular Callout 15"/>
          <p:cNvSpPr/>
          <p:nvPr/>
        </p:nvSpPr>
        <p:spPr bwMode="gray">
          <a:xfrm>
            <a:off x="5372139" y="4885833"/>
            <a:ext cx="1518275" cy="574710"/>
          </a:xfrm>
          <a:prstGeom prst="wedgeRectCallout">
            <a:avLst>
              <a:gd name="adj1" fmla="val 20688"/>
              <a:gd name="adj2" fmla="val -68386"/>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基于</a:t>
            </a:r>
            <a:r>
              <a:rPr lang="en-US" altLang="zh-CN" sz="1200" b="1" dirty="0">
                <a:solidFill>
                  <a:srgbClr val="C7000B"/>
                </a:solidFill>
                <a:latin typeface="Huawei Sans" panose="020C0503030203020204" pitchFamily="34" charset="0"/>
                <a:ea typeface="方正兰亭黑简体" panose="02000000000000000000" pitchFamily="2" charset="-122"/>
              </a:rPr>
              <a:t>IKE SA</a:t>
            </a:r>
            <a:r>
              <a:rPr lang="zh-CN" altLang="en-US" sz="1200" dirty="0">
                <a:solidFill>
                  <a:schemeClr val="tx1"/>
                </a:solidFill>
                <a:latin typeface="Huawei Sans" panose="020C0503030203020204" pitchFamily="34" charset="0"/>
                <a:ea typeface="方正兰亭黑简体" panose="02000000000000000000" pitchFamily="2" charset="-122"/>
              </a:rPr>
              <a:t>加密</a:t>
            </a:r>
            <a:r>
              <a:rPr lang="en-US" altLang="zh-CN" sz="1200" b="1" dirty="0">
                <a:solidFill>
                  <a:srgbClr val="C7000B"/>
                </a:solidFill>
                <a:latin typeface="Huawei Sans" panose="020C0503030203020204" pitchFamily="34" charset="0"/>
                <a:ea typeface="方正兰亭黑简体" panose="02000000000000000000" pitchFamily="2" charset="-122"/>
              </a:rPr>
              <a:t>IPsec SA</a:t>
            </a:r>
            <a:r>
              <a:rPr lang="zh-CN" altLang="en-US" sz="1200" dirty="0">
                <a:solidFill>
                  <a:schemeClr val="tx1"/>
                </a:solidFill>
                <a:latin typeface="Huawei Sans" panose="020C0503030203020204" pitchFamily="34" charset="0"/>
                <a:ea typeface="方正兰亭黑简体" panose="02000000000000000000" pitchFamily="2" charset="-122"/>
              </a:rPr>
              <a:t>协商报文</a:t>
            </a:r>
          </a:p>
        </p:txBody>
      </p:sp>
      <p:sp>
        <p:nvSpPr>
          <p:cNvPr id="17" name="TextBox 16"/>
          <p:cNvSpPr txBox="1"/>
          <p:nvPr/>
        </p:nvSpPr>
        <p:spPr bwMode="gray">
          <a:xfrm>
            <a:off x="2930597" y="3547475"/>
            <a:ext cx="1330814"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IKE</a:t>
            </a:r>
            <a:r>
              <a:rPr lang="zh-CN" altLang="en-US" sz="1200" dirty="0">
                <a:latin typeface="Huawei Sans" panose="020C0503030203020204" pitchFamily="34" charset="0"/>
                <a:ea typeface="方正兰亭黑简体" panose="02000000000000000000" pitchFamily="2" charset="-122"/>
              </a:rPr>
              <a:t>协商第一阶段</a:t>
            </a:r>
          </a:p>
        </p:txBody>
      </p:sp>
      <p:sp>
        <p:nvSpPr>
          <p:cNvPr id="18" name="TextBox 17"/>
          <p:cNvSpPr txBox="1"/>
          <p:nvPr/>
        </p:nvSpPr>
        <p:spPr bwMode="gray">
          <a:xfrm>
            <a:off x="2930597" y="4434121"/>
            <a:ext cx="1330814" cy="276999"/>
          </a:xfrm>
          <a:prstGeom prst="rect">
            <a:avLst/>
          </a:prstGeom>
          <a:noFill/>
        </p:spPr>
        <p:txBody>
          <a:bodyPr wrap="none" rtlCol="0">
            <a:spAutoFit/>
          </a:bodyPr>
          <a:lstStyle/>
          <a:p>
            <a:pPr fontAlgn="auto"/>
            <a:r>
              <a:rPr lang="en-US" altLang="zh-CN" sz="1200" dirty="0">
                <a:latin typeface="Huawei Sans" panose="020C0503030203020204" pitchFamily="34" charset="0"/>
                <a:ea typeface="方正兰亭黑简体" panose="02000000000000000000" pitchFamily="2" charset="-122"/>
              </a:rPr>
              <a:t>IKE</a:t>
            </a:r>
            <a:r>
              <a:rPr lang="zh-CN" altLang="en-US" sz="1200" dirty="0">
                <a:latin typeface="Huawei Sans" panose="020C0503030203020204" pitchFamily="34" charset="0"/>
                <a:ea typeface="方正兰亭黑简体" panose="02000000000000000000" pitchFamily="2" charset="-122"/>
              </a:rPr>
              <a:t>协商第二阶段</a:t>
            </a:r>
          </a:p>
        </p:txBody>
      </p:sp>
      <p:sp>
        <p:nvSpPr>
          <p:cNvPr id="19" name="圆角矩形 75"/>
          <p:cNvSpPr/>
          <p:nvPr/>
        </p:nvSpPr>
        <p:spPr bwMode="gray">
          <a:xfrm>
            <a:off x="1577811" y="2896164"/>
            <a:ext cx="9051908" cy="291408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20" name="圆角矩形 75"/>
          <p:cNvSpPr/>
          <p:nvPr/>
        </p:nvSpPr>
        <p:spPr bwMode="gray">
          <a:xfrm>
            <a:off x="1577811" y="2461877"/>
            <a:ext cx="9051908"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a:solidFill>
                  <a:srgbClr val="30B5C5"/>
                </a:solidFill>
                <a:latin typeface="Huawei Sans" panose="020C0503030203020204" pitchFamily="34" charset="0"/>
                <a:ea typeface="方正兰亭黑简体" panose="02000000000000000000" pitchFamily="2" charset="-122"/>
              </a:rPr>
              <a:t>IKEv1</a:t>
            </a:r>
            <a:r>
              <a:rPr lang="zh-CN" altLang="en-US" sz="1600" dirty="0">
                <a:solidFill>
                  <a:srgbClr val="30B5C5"/>
                </a:solidFill>
                <a:latin typeface="Huawei Sans" panose="020C0503030203020204" pitchFamily="34" charset="0"/>
                <a:ea typeface="方正兰亭黑简体" panose="02000000000000000000" pitchFamily="2" charset="-122"/>
              </a:rPr>
              <a:t>协商基本过程</a:t>
            </a:r>
          </a:p>
        </p:txBody>
      </p:sp>
      <p:sp>
        <p:nvSpPr>
          <p:cNvPr id="22" name="五边形 24"/>
          <p:cNvSpPr/>
          <p:nvPr/>
        </p:nvSpPr>
        <p:spPr bwMode="gray">
          <a:xfrm>
            <a:off x="7285273" y="100152"/>
            <a:ext cx="1526032" cy="213120"/>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chemeClr val="bg1"/>
                </a:solidFill>
                <a:latin typeface="Huawei Sans" panose="020C0503030203020204" pitchFamily="34" charset="0"/>
                <a:ea typeface="方正兰亭黑简体" panose="02000000000000000000" pitchFamily="2" charset="-122"/>
              </a:rPr>
              <a:t>IKEv1</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23" name="燕尾形 25"/>
          <p:cNvSpPr/>
          <p:nvPr/>
        </p:nvSpPr>
        <p:spPr bwMode="gray">
          <a:xfrm>
            <a:off x="8750286"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rPr>
              <a:t>IKEv2</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24"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367513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IKEv1</a:t>
            </a:r>
            <a:r>
              <a:rPr lang="zh-CN" altLang="en-US" dirty="0"/>
              <a:t>协商第一阶段介绍</a:t>
            </a:r>
          </a:p>
        </p:txBody>
      </p:sp>
      <p:sp>
        <p:nvSpPr>
          <p:cNvPr id="3" name="Text Placeholder 2"/>
          <p:cNvSpPr>
            <a:spLocks noGrp="1"/>
          </p:cNvSpPr>
          <p:nvPr>
            <p:ph type="body" sz="quarter" idx="10"/>
          </p:nvPr>
        </p:nvSpPr>
        <p:spPr bwMode="gray"/>
        <p:txBody>
          <a:bodyPr/>
          <a:lstStyle/>
          <a:p>
            <a:r>
              <a:rPr lang="en-US" altLang="zh-CN" sz="1800" dirty="0"/>
              <a:t>IKEv1</a:t>
            </a:r>
            <a:r>
              <a:rPr lang="zh-CN" altLang="en-US" sz="1800" dirty="0"/>
              <a:t>协商第一阶段的目的是建立</a:t>
            </a:r>
            <a:r>
              <a:rPr lang="en-US" altLang="zh-CN" sz="1800" dirty="0"/>
              <a:t>IKE SA</a:t>
            </a:r>
            <a:r>
              <a:rPr lang="zh-CN" altLang="en-US" sz="1800" dirty="0"/>
              <a:t>。</a:t>
            </a:r>
            <a:r>
              <a:rPr lang="en-US" altLang="zh-CN" sz="1800" dirty="0"/>
              <a:t>IKE SA</a:t>
            </a:r>
            <a:r>
              <a:rPr lang="zh-CN" altLang="en-US" sz="1800" dirty="0"/>
              <a:t>建立后对等体间的所有</a:t>
            </a:r>
            <a:r>
              <a:rPr lang="en-US" altLang="zh-CN" sz="1800" dirty="0"/>
              <a:t>ISAKMP</a:t>
            </a:r>
            <a:r>
              <a:rPr lang="zh-CN" altLang="en-US" sz="1800" dirty="0"/>
              <a:t>消息都将通过加密和验证，这条安全通道可以保证</a:t>
            </a:r>
            <a:r>
              <a:rPr lang="en-US" altLang="zh-CN" sz="1800" dirty="0"/>
              <a:t>IKEv1</a:t>
            </a:r>
            <a:r>
              <a:rPr lang="zh-CN" altLang="en-US" sz="1800" dirty="0"/>
              <a:t>第二阶段的协商能够安全进行。</a:t>
            </a:r>
          </a:p>
          <a:p>
            <a:r>
              <a:rPr lang="en-US" altLang="zh-CN" sz="1800" dirty="0"/>
              <a:t>IKEv1</a:t>
            </a:r>
            <a:r>
              <a:rPr lang="zh-CN" altLang="en-US" sz="1800" dirty="0"/>
              <a:t>协商第一阶段支持两种协商模式：主模式（</a:t>
            </a:r>
            <a:r>
              <a:rPr lang="en-US" altLang="zh-CN" sz="1800" dirty="0"/>
              <a:t>Main Mode</a:t>
            </a:r>
            <a:r>
              <a:rPr lang="zh-CN" altLang="en-US" sz="1800" dirty="0"/>
              <a:t>）和野蛮模式（</a:t>
            </a:r>
            <a:r>
              <a:rPr lang="en-US" altLang="zh-CN" sz="1800" dirty="0"/>
              <a:t>Aggressive Mode</a:t>
            </a:r>
            <a:r>
              <a:rPr lang="zh-CN" altLang="en-US" sz="1800" dirty="0"/>
              <a:t>）。</a:t>
            </a:r>
          </a:p>
        </p:txBody>
      </p:sp>
      <p:sp>
        <p:nvSpPr>
          <p:cNvPr id="4" name="圆角矩形 75"/>
          <p:cNvSpPr/>
          <p:nvPr/>
        </p:nvSpPr>
        <p:spPr bwMode="gray">
          <a:xfrm>
            <a:off x="822731" y="2456892"/>
            <a:ext cx="5417285"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主模式协商过程</a:t>
            </a:r>
          </a:p>
        </p:txBody>
      </p:sp>
      <p:sp>
        <p:nvSpPr>
          <p:cNvPr id="5" name="圆角矩形 75"/>
          <p:cNvSpPr/>
          <p:nvPr/>
        </p:nvSpPr>
        <p:spPr bwMode="gray">
          <a:xfrm>
            <a:off x="822731" y="2891179"/>
            <a:ext cx="5417285" cy="320998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圆角矩形 75"/>
          <p:cNvSpPr/>
          <p:nvPr/>
        </p:nvSpPr>
        <p:spPr bwMode="gray">
          <a:xfrm>
            <a:off x="6528048" y="2456892"/>
            <a:ext cx="468052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野蛮模式协商过程</a:t>
            </a:r>
          </a:p>
        </p:txBody>
      </p:sp>
      <p:sp>
        <p:nvSpPr>
          <p:cNvPr id="7" name="圆角矩形 75"/>
          <p:cNvSpPr/>
          <p:nvPr/>
        </p:nvSpPr>
        <p:spPr bwMode="gray">
          <a:xfrm>
            <a:off x="6528048" y="2891179"/>
            <a:ext cx="4680520" cy="320998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8" name="Rectangle 7"/>
          <p:cNvSpPr/>
          <p:nvPr/>
        </p:nvSpPr>
        <p:spPr bwMode="gray">
          <a:xfrm>
            <a:off x="1902851" y="2920579"/>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发送</a:t>
            </a:r>
            <a:r>
              <a:rPr lang="en-US" altLang="zh-CN" sz="1200" dirty="0">
                <a:solidFill>
                  <a:schemeClr val="tx1"/>
                </a:solidFill>
              </a:rPr>
              <a:t>IKE</a:t>
            </a:r>
            <a:r>
              <a:rPr lang="zh-CN" altLang="en-US" sz="1200" dirty="0">
                <a:solidFill>
                  <a:schemeClr val="tx1"/>
                </a:solidFill>
              </a:rPr>
              <a:t>安全提议</a:t>
            </a:r>
          </a:p>
        </p:txBody>
      </p:sp>
      <p:sp>
        <p:nvSpPr>
          <p:cNvPr id="13" name="Rectangle 12"/>
          <p:cNvSpPr/>
          <p:nvPr/>
        </p:nvSpPr>
        <p:spPr bwMode="gray">
          <a:xfrm>
            <a:off x="4029306" y="2920579"/>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查找匹配的提议</a:t>
            </a:r>
          </a:p>
        </p:txBody>
      </p:sp>
      <p:sp>
        <p:nvSpPr>
          <p:cNvPr id="14" name="Rectangle 13"/>
          <p:cNvSpPr/>
          <p:nvPr/>
        </p:nvSpPr>
        <p:spPr bwMode="gray">
          <a:xfrm>
            <a:off x="1902851" y="3465973"/>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接受提议</a:t>
            </a:r>
          </a:p>
        </p:txBody>
      </p:sp>
      <p:sp>
        <p:nvSpPr>
          <p:cNvPr id="15" name="Rectangle 14"/>
          <p:cNvSpPr/>
          <p:nvPr/>
        </p:nvSpPr>
        <p:spPr bwMode="gray">
          <a:xfrm>
            <a:off x="4029306" y="3465973"/>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发送确认的</a:t>
            </a:r>
            <a:r>
              <a:rPr lang="en-US" altLang="zh-CN" sz="1200" dirty="0">
                <a:solidFill>
                  <a:schemeClr val="tx1"/>
                </a:solidFill>
              </a:rPr>
              <a:t>IKE</a:t>
            </a:r>
            <a:r>
              <a:rPr lang="zh-CN" altLang="en-US" sz="1200" dirty="0">
                <a:solidFill>
                  <a:schemeClr val="tx1"/>
                </a:solidFill>
              </a:rPr>
              <a:t>安全提议</a:t>
            </a:r>
          </a:p>
        </p:txBody>
      </p:sp>
      <p:sp>
        <p:nvSpPr>
          <p:cNvPr id="16" name="Rectangle 15"/>
          <p:cNvSpPr/>
          <p:nvPr/>
        </p:nvSpPr>
        <p:spPr bwMode="gray">
          <a:xfrm>
            <a:off x="1900632" y="4011367"/>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发送密钥生成信息</a:t>
            </a:r>
          </a:p>
        </p:txBody>
      </p:sp>
      <p:sp>
        <p:nvSpPr>
          <p:cNvPr id="17" name="Rectangle 16"/>
          <p:cNvSpPr/>
          <p:nvPr/>
        </p:nvSpPr>
        <p:spPr bwMode="gray">
          <a:xfrm>
            <a:off x="4027087" y="4011367"/>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生成密钥</a:t>
            </a:r>
          </a:p>
        </p:txBody>
      </p:sp>
      <p:sp>
        <p:nvSpPr>
          <p:cNvPr id="18" name="Rectangle 17"/>
          <p:cNvSpPr/>
          <p:nvPr/>
        </p:nvSpPr>
        <p:spPr bwMode="gray">
          <a:xfrm>
            <a:off x="1900632" y="4556761"/>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生成密钥</a:t>
            </a:r>
          </a:p>
        </p:txBody>
      </p:sp>
      <p:sp>
        <p:nvSpPr>
          <p:cNvPr id="19" name="Rectangle 18"/>
          <p:cNvSpPr/>
          <p:nvPr/>
        </p:nvSpPr>
        <p:spPr bwMode="gray">
          <a:xfrm>
            <a:off x="4027087" y="4556761"/>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发送密钥生成信息</a:t>
            </a:r>
          </a:p>
        </p:txBody>
      </p:sp>
      <p:sp>
        <p:nvSpPr>
          <p:cNvPr id="20" name="Rectangle 19"/>
          <p:cNvSpPr/>
          <p:nvPr/>
        </p:nvSpPr>
        <p:spPr bwMode="gray">
          <a:xfrm>
            <a:off x="1900632" y="5102155"/>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发送身份和验证数据</a:t>
            </a:r>
          </a:p>
        </p:txBody>
      </p:sp>
      <p:sp>
        <p:nvSpPr>
          <p:cNvPr id="21" name="Rectangle 20"/>
          <p:cNvSpPr/>
          <p:nvPr/>
        </p:nvSpPr>
        <p:spPr bwMode="gray">
          <a:xfrm>
            <a:off x="4027087" y="5102155"/>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身份验证和交换过程验证</a:t>
            </a:r>
          </a:p>
        </p:txBody>
      </p:sp>
      <p:sp>
        <p:nvSpPr>
          <p:cNvPr id="22" name="Rectangle 21"/>
          <p:cNvSpPr/>
          <p:nvPr/>
        </p:nvSpPr>
        <p:spPr bwMode="gray">
          <a:xfrm>
            <a:off x="1900632" y="5647548"/>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身份验证和交换过程验证</a:t>
            </a:r>
          </a:p>
        </p:txBody>
      </p:sp>
      <p:sp>
        <p:nvSpPr>
          <p:cNvPr id="23" name="Rectangle 22"/>
          <p:cNvSpPr/>
          <p:nvPr/>
        </p:nvSpPr>
        <p:spPr bwMode="gray">
          <a:xfrm>
            <a:off x="4027087" y="5647548"/>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发送身份和验证数据</a:t>
            </a:r>
          </a:p>
        </p:txBody>
      </p:sp>
      <p:sp>
        <p:nvSpPr>
          <p:cNvPr id="24" name="TextBox 23"/>
          <p:cNvSpPr txBox="1"/>
          <p:nvPr/>
        </p:nvSpPr>
        <p:spPr bwMode="gray">
          <a:xfrm>
            <a:off x="822731" y="4313732"/>
            <a:ext cx="1082348" cy="307777"/>
          </a:xfrm>
          <a:prstGeom prst="rect">
            <a:avLst/>
          </a:prstGeom>
          <a:noFill/>
        </p:spPr>
        <p:txBody>
          <a:bodyPr wrap="none" rtlCol="0">
            <a:spAutoFit/>
          </a:bodyPr>
          <a:lstStyle/>
          <a:p>
            <a:r>
              <a:rPr lang="zh-CN" altLang="en-US" sz="1400" dirty="0">
                <a:latin typeface="+mn-ea"/>
                <a:ea typeface="+mn-ea"/>
              </a:rPr>
              <a:t>协商发起方</a:t>
            </a:r>
          </a:p>
        </p:txBody>
      </p:sp>
      <p:sp>
        <p:nvSpPr>
          <p:cNvPr id="25" name="TextBox 24"/>
          <p:cNvSpPr txBox="1"/>
          <p:nvPr/>
        </p:nvSpPr>
        <p:spPr bwMode="gray">
          <a:xfrm>
            <a:off x="5143211" y="4313732"/>
            <a:ext cx="1082348" cy="307777"/>
          </a:xfrm>
          <a:prstGeom prst="rect">
            <a:avLst/>
          </a:prstGeom>
          <a:noFill/>
        </p:spPr>
        <p:txBody>
          <a:bodyPr wrap="none" rtlCol="0">
            <a:spAutoFit/>
          </a:bodyPr>
          <a:lstStyle/>
          <a:p>
            <a:r>
              <a:rPr lang="zh-CN" altLang="en-US" sz="1400" dirty="0">
                <a:latin typeface="+mn-ea"/>
                <a:ea typeface="+mn-ea"/>
              </a:rPr>
              <a:t>协商响应方</a:t>
            </a:r>
          </a:p>
        </p:txBody>
      </p:sp>
      <p:cxnSp>
        <p:nvCxnSpPr>
          <p:cNvPr id="27" name="Straight Arrow Connector 26"/>
          <p:cNvCxnSpPr>
            <a:stCxn id="8" idx="3"/>
            <a:endCxn id="13" idx="1"/>
          </p:cNvCxnSpPr>
          <p:nvPr/>
        </p:nvCxnSpPr>
        <p:spPr bwMode="gray">
          <a:xfrm>
            <a:off x="3018975" y="3136541"/>
            <a:ext cx="1010331"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16" idx="3"/>
            <a:endCxn id="17" idx="1"/>
          </p:cNvCxnSpPr>
          <p:nvPr/>
        </p:nvCxnSpPr>
        <p:spPr bwMode="gray">
          <a:xfrm>
            <a:off x="3016756" y="4227329"/>
            <a:ext cx="1010331"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0" idx="3"/>
            <a:endCxn id="21" idx="1"/>
          </p:cNvCxnSpPr>
          <p:nvPr/>
        </p:nvCxnSpPr>
        <p:spPr bwMode="gray">
          <a:xfrm>
            <a:off x="3016756" y="5318117"/>
            <a:ext cx="1010331"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2" idx="3"/>
            <a:endCxn id="23" idx="1"/>
          </p:cNvCxnSpPr>
          <p:nvPr/>
        </p:nvCxnSpPr>
        <p:spPr bwMode="gray">
          <a:xfrm>
            <a:off x="3016756" y="5863510"/>
            <a:ext cx="1010331" cy="0"/>
          </a:xfrm>
          <a:prstGeom prst="straightConnector1">
            <a:avLst/>
          </a:prstGeom>
          <a:ln w="19050">
            <a:solidFill>
              <a:srgbClr val="FFD17D"/>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4" idx="3"/>
            <a:endCxn id="15" idx="1"/>
          </p:cNvCxnSpPr>
          <p:nvPr/>
        </p:nvCxnSpPr>
        <p:spPr bwMode="gray">
          <a:xfrm>
            <a:off x="3018975" y="3681935"/>
            <a:ext cx="1010331" cy="0"/>
          </a:xfrm>
          <a:prstGeom prst="straightConnector1">
            <a:avLst/>
          </a:prstGeom>
          <a:ln w="1905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8" idx="3"/>
            <a:endCxn id="19" idx="1"/>
          </p:cNvCxnSpPr>
          <p:nvPr/>
        </p:nvCxnSpPr>
        <p:spPr bwMode="gray">
          <a:xfrm>
            <a:off x="3016756" y="4772723"/>
            <a:ext cx="1010331" cy="0"/>
          </a:xfrm>
          <a:prstGeom prst="straightConnector1">
            <a:avLst/>
          </a:prstGeom>
          <a:ln w="1905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椭圆 50">
            <a:extLst>
              <a:ext uri="{FF2B5EF4-FFF2-40B4-BE49-F238E27FC236}">
                <a16:creationId xmlns:a16="http://schemas.microsoft.com/office/drawing/2014/main" id="{4C7C4E63-07F2-484E-A141-F01D18F8D379}"/>
              </a:ext>
            </a:extLst>
          </p:cNvPr>
          <p:cNvSpPr/>
          <p:nvPr/>
        </p:nvSpPr>
        <p:spPr bwMode="gray">
          <a:xfrm>
            <a:off x="3055087" y="3028583"/>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50">
            <a:extLst>
              <a:ext uri="{FF2B5EF4-FFF2-40B4-BE49-F238E27FC236}">
                <a16:creationId xmlns:a16="http://schemas.microsoft.com/office/drawing/2014/main" id="{4C7C4E63-07F2-484E-A141-F01D18F8D379}"/>
              </a:ext>
            </a:extLst>
          </p:cNvPr>
          <p:cNvSpPr/>
          <p:nvPr/>
        </p:nvSpPr>
        <p:spPr bwMode="gray">
          <a:xfrm>
            <a:off x="3772214" y="3573977"/>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椭圆 50">
            <a:extLst>
              <a:ext uri="{FF2B5EF4-FFF2-40B4-BE49-F238E27FC236}">
                <a16:creationId xmlns:a16="http://schemas.microsoft.com/office/drawing/2014/main" id="{4C7C4E63-07F2-484E-A141-F01D18F8D379}"/>
              </a:ext>
            </a:extLst>
          </p:cNvPr>
          <p:cNvSpPr/>
          <p:nvPr/>
        </p:nvSpPr>
        <p:spPr bwMode="gray">
          <a:xfrm>
            <a:off x="3766485" y="4638414"/>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椭圆 50">
            <a:extLst>
              <a:ext uri="{FF2B5EF4-FFF2-40B4-BE49-F238E27FC236}">
                <a16:creationId xmlns:a16="http://schemas.microsoft.com/office/drawing/2014/main" id="{4C7C4E63-07F2-484E-A141-F01D18F8D379}"/>
              </a:ext>
            </a:extLst>
          </p:cNvPr>
          <p:cNvSpPr/>
          <p:nvPr/>
        </p:nvSpPr>
        <p:spPr bwMode="gray">
          <a:xfrm>
            <a:off x="3775059" y="5744703"/>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椭圆 50">
            <a:extLst>
              <a:ext uri="{FF2B5EF4-FFF2-40B4-BE49-F238E27FC236}">
                <a16:creationId xmlns:a16="http://schemas.microsoft.com/office/drawing/2014/main" id="{4C7C4E63-07F2-484E-A141-F01D18F8D379}"/>
              </a:ext>
            </a:extLst>
          </p:cNvPr>
          <p:cNvSpPr/>
          <p:nvPr/>
        </p:nvSpPr>
        <p:spPr bwMode="gray">
          <a:xfrm>
            <a:off x="3055087" y="411937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50">
            <a:extLst>
              <a:ext uri="{FF2B5EF4-FFF2-40B4-BE49-F238E27FC236}">
                <a16:creationId xmlns:a16="http://schemas.microsoft.com/office/drawing/2014/main" id="{4C7C4E63-07F2-484E-A141-F01D18F8D379}"/>
              </a:ext>
            </a:extLst>
          </p:cNvPr>
          <p:cNvSpPr/>
          <p:nvPr/>
        </p:nvSpPr>
        <p:spPr bwMode="gray">
          <a:xfrm>
            <a:off x="3055087" y="5203716"/>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Rectangle 50"/>
          <p:cNvSpPr/>
          <p:nvPr/>
        </p:nvSpPr>
        <p:spPr bwMode="gray">
          <a:xfrm>
            <a:off x="7114958" y="3551013"/>
            <a:ext cx="1310502" cy="631266"/>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发起</a:t>
            </a:r>
            <a:r>
              <a:rPr lang="en-US" altLang="zh-CN" sz="1200" dirty="0">
                <a:solidFill>
                  <a:schemeClr val="tx1"/>
                </a:solidFill>
              </a:rPr>
              <a:t>IKE</a:t>
            </a:r>
            <a:r>
              <a:rPr lang="zh-CN" altLang="en-US" sz="1200" dirty="0">
                <a:solidFill>
                  <a:schemeClr val="tx1"/>
                </a:solidFill>
              </a:rPr>
              <a:t>安全提议，密钥生成信息和身份信息</a:t>
            </a:r>
          </a:p>
        </p:txBody>
      </p:sp>
      <p:sp>
        <p:nvSpPr>
          <p:cNvPr id="52" name="Rectangle 51"/>
          <p:cNvSpPr/>
          <p:nvPr/>
        </p:nvSpPr>
        <p:spPr bwMode="gray">
          <a:xfrm>
            <a:off x="9435790" y="3551013"/>
            <a:ext cx="1268721" cy="631266"/>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查找匹配的提议算法，身材密钥和身份验证</a:t>
            </a:r>
          </a:p>
        </p:txBody>
      </p:sp>
      <p:sp>
        <p:nvSpPr>
          <p:cNvPr id="53" name="Rectangle 52"/>
          <p:cNvSpPr/>
          <p:nvPr/>
        </p:nvSpPr>
        <p:spPr bwMode="gray">
          <a:xfrm>
            <a:off x="7114958" y="4295749"/>
            <a:ext cx="1310502" cy="585048"/>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接受提议和生成密钥</a:t>
            </a:r>
          </a:p>
        </p:txBody>
      </p:sp>
      <p:sp>
        <p:nvSpPr>
          <p:cNvPr id="54" name="Rectangle 53"/>
          <p:cNvSpPr/>
          <p:nvPr/>
        </p:nvSpPr>
        <p:spPr bwMode="gray">
          <a:xfrm>
            <a:off x="9435791" y="4295749"/>
            <a:ext cx="1268720" cy="585048"/>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发送密钥生成信息、身份信息和验证数据</a:t>
            </a:r>
          </a:p>
        </p:txBody>
      </p:sp>
      <p:sp>
        <p:nvSpPr>
          <p:cNvPr id="55" name="Rectangle 54"/>
          <p:cNvSpPr/>
          <p:nvPr/>
        </p:nvSpPr>
        <p:spPr bwMode="gray">
          <a:xfrm>
            <a:off x="7120797" y="5021163"/>
            <a:ext cx="130244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发送验证数据</a:t>
            </a:r>
          </a:p>
        </p:txBody>
      </p:sp>
      <p:sp>
        <p:nvSpPr>
          <p:cNvPr id="56" name="Rectangle 55"/>
          <p:cNvSpPr/>
          <p:nvPr/>
        </p:nvSpPr>
        <p:spPr bwMode="gray">
          <a:xfrm>
            <a:off x="9433571" y="5021163"/>
            <a:ext cx="1270939"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交换过程验证</a:t>
            </a:r>
          </a:p>
        </p:txBody>
      </p:sp>
      <p:sp>
        <p:nvSpPr>
          <p:cNvPr id="57" name="TextBox 56"/>
          <p:cNvSpPr txBox="1"/>
          <p:nvPr/>
        </p:nvSpPr>
        <p:spPr bwMode="gray">
          <a:xfrm>
            <a:off x="7229035" y="3184835"/>
            <a:ext cx="1082348" cy="307777"/>
          </a:xfrm>
          <a:prstGeom prst="rect">
            <a:avLst/>
          </a:prstGeom>
          <a:noFill/>
        </p:spPr>
        <p:txBody>
          <a:bodyPr wrap="none" rtlCol="0">
            <a:spAutoFit/>
          </a:bodyPr>
          <a:lstStyle/>
          <a:p>
            <a:r>
              <a:rPr lang="zh-CN" altLang="en-US" sz="1400" dirty="0">
                <a:latin typeface="+mn-ea"/>
                <a:ea typeface="+mn-ea"/>
              </a:rPr>
              <a:t>协商发起方</a:t>
            </a:r>
          </a:p>
        </p:txBody>
      </p:sp>
      <p:sp>
        <p:nvSpPr>
          <p:cNvPr id="58" name="TextBox 57"/>
          <p:cNvSpPr txBox="1"/>
          <p:nvPr/>
        </p:nvSpPr>
        <p:spPr bwMode="gray">
          <a:xfrm>
            <a:off x="9527866" y="3211731"/>
            <a:ext cx="1082348" cy="307777"/>
          </a:xfrm>
          <a:prstGeom prst="rect">
            <a:avLst/>
          </a:prstGeom>
          <a:noFill/>
        </p:spPr>
        <p:txBody>
          <a:bodyPr wrap="none" rtlCol="0">
            <a:spAutoFit/>
          </a:bodyPr>
          <a:lstStyle/>
          <a:p>
            <a:r>
              <a:rPr lang="zh-CN" altLang="en-US" sz="1400" dirty="0">
                <a:latin typeface="+mn-ea"/>
                <a:ea typeface="+mn-ea"/>
              </a:rPr>
              <a:t>协商响应方</a:t>
            </a:r>
          </a:p>
        </p:txBody>
      </p:sp>
      <p:cxnSp>
        <p:nvCxnSpPr>
          <p:cNvPr id="59" name="Straight Arrow Connector 58"/>
          <p:cNvCxnSpPr>
            <a:stCxn id="51" idx="3"/>
            <a:endCxn id="52" idx="1"/>
          </p:cNvCxnSpPr>
          <p:nvPr/>
        </p:nvCxnSpPr>
        <p:spPr bwMode="gray">
          <a:xfrm>
            <a:off x="8425460" y="3866646"/>
            <a:ext cx="1010330"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55" idx="3"/>
            <a:endCxn id="56" idx="1"/>
          </p:cNvCxnSpPr>
          <p:nvPr/>
        </p:nvCxnSpPr>
        <p:spPr bwMode="gray">
          <a:xfrm>
            <a:off x="8423241" y="5237125"/>
            <a:ext cx="1010330"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53" idx="3"/>
            <a:endCxn id="54" idx="1"/>
          </p:cNvCxnSpPr>
          <p:nvPr/>
        </p:nvCxnSpPr>
        <p:spPr bwMode="gray">
          <a:xfrm>
            <a:off x="8425460" y="4588273"/>
            <a:ext cx="1010331" cy="0"/>
          </a:xfrm>
          <a:prstGeom prst="straightConnector1">
            <a:avLst/>
          </a:prstGeom>
          <a:ln w="1905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2" name="椭圆 50">
            <a:extLst>
              <a:ext uri="{FF2B5EF4-FFF2-40B4-BE49-F238E27FC236}">
                <a16:creationId xmlns:a16="http://schemas.microsoft.com/office/drawing/2014/main" id="{4C7C4E63-07F2-484E-A141-F01D18F8D379}"/>
              </a:ext>
            </a:extLst>
          </p:cNvPr>
          <p:cNvSpPr/>
          <p:nvPr/>
        </p:nvSpPr>
        <p:spPr bwMode="gray">
          <a:xfrm>
            <a:off x="8461572" y="3741887"/>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50">
            <a:extLst>
              <a:ext uri="{FF2B5EF4-FFF2-40B4-BE49-F238E27FC236}">
                <a16:creationId xmlns:a16="http://schemas.microsoft.com/office/drawing/2014/main" id="{4C7C4E63-07F2-484E-A141-F01D18F8D379}"/>
              </a:ext>
            </a:extLst>
          </p:cNvPr>
          <p:cNvSpPr/>
          <p:nvPr/>
        </p:nvSpPr>
        <p:spPr bwMode="gray">
          <a:xfrm>
            <a:off x="9177924" y="4480315"/>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椭圆 50">
            <a:extLst>
              <a:ext uri="{FF2B5EF4-FFF2-40B4-BE49-F238E27FC236}">
                <a16:creationId xmlns:a16="http://schemas.microsoft.com/office/drawing/2014/main" id="{4C7C4E63-07F2-484E-A141-F01D18F8D379}"/>
              </a:ext>
            </a:extLst>
          </p:cNvPr>
          <p:cNvSpPr/>
          <p:nvPr/>
        </p:nvSpPr>
        <p:spPr bwMode="gray">
          <a:xfrm>
            <a:off x="8461572" y="5129167"/>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8" name="Straight Arrow Connector 77"/>
          <p:cNvCxnSpPr/>
          <p:nvPr/>
        </p:nvCxnSpPr>
        <p:spPr bwMode="gray">
          <a:xfrm>
            <a:off x="5495367" y="5647548"/>
            <a:ext cx="506275"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bwMode="gray">
          <a:xfrm>
            <a:off x="5271452" y="5683923"/>
            <a:ext cx="954107" cy="276999"/>
          </a:xfrm>
          <a:prstGeom prst="rect">
            <a:avLst/>
          </a:prstGeom>
          <a:noFill/>
        </p:spPr>
        <p:txBody>
          <a:bodyPr wrap="none" rtlCol="0">
            <a:spAutoFit/>
          </a:bodyPr>
          <a:lstStyle/>
          <a:p>
            <a:r>
              <a:rPr lang="zh-CN" altLang="en-US" sz="1200" dirty="0">
                <a:latin typeface="+mn-ea"/>
                <a:ea typeface="+mn-ea"/>
              </a:rPr>
              <a:t>已加密数据</a:t>
            </a:r>
          </a:p>
        </p:txBody>
      </p:sp>
      <p:sp>
        <p:nvSpPr>
          <p:cNvPr id="65" name="五边形 24"/>
          <p:cNvSpPr/>
          <p:nvPr/>
        </p:nvSpPr>
        <p:spPr bwMode="gray">
          <a:xfrm>
            <a:off x="7285273" y="100152"/>
            <a:ext cx="1526032" cy="213120"/>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chemeClr val="bg1"/>
                </a:solidFill>
                <a:latin typeface="Huawei Sans" panose="020C0503030203020204" pitchFamily="34" charset="0"/>
                <a:ea typeface="方正兰亭黑简体" panose="02000000000000000000" pitchFamily="2" charset="-122"/>
              </a:rPr>
              <a:t>IKEv1</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66" name="燕尾形 25"/>
          <p:cNvSpPr/>
          <p:nvPr/>
        </p:nvSpPr>
        <p:spPr bwMode="gray">
          <a:xfrm>
            <a:off x="8750286"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rPr>
              <a:t>IKEv2</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67"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1206369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IKEv1</a:t>
            </a:r>
            <a:r>
              <a:rPr lang="zh-CN" altLang="en-US" dirty="0"/>
              <a:t>协商第二阶段介绍</a:t>
            </a:r>
          </a:p>
        </p:txBody>
      </p:sp>
      <p:sp>
        <p:nvSpPr>
          <p:cNvPr id="3" name="Text Placeholder 2"/>
          <p:cNvSpPr>
            <a:spLocks noGrp="1"/>
          </p:cNvSpPr>
          <p:nvPr>
            <p:ph type="body" sz="quarter" idx="10"/>
          </p:nvPr>
        </p:nvSpPr>
        <p:spPr bwMode="gray"/>
        <p:txBody>
          <a:bodyPr/>
          <a:lstStyle/>
          <a:p>
            <a:r>
              <a:rPr lang="en-US" altLang="zh-CN" sz="1800" dirty="0"/>
              <a:t>IKEv1</a:t>
            </a:r>
            <a:r>
              <a:rPr lang="zh-CN" altLang="en-US" sz="1800" dirty="0"/>
              <a:t>协商第二阶段的目的是建立用来安全传输数据的</a:t>
            </a:r>
            <a:r>
              <a:rPr lang="en-US" altLang="zh-CN" sz="1800" dirty="0"/>
              <a:t>IPsec SA</a:t>
            </a:r>
            <a:r>
              <a:rPr lang="zh-CN" altLang="en-US" sz="1800" dirty="0"/>
              <a:t>，并为数据传输衍生出密钥。</a:t>
            </a:r>
            <a:endParaRPr lang="en-US" altLang="zh-CN" sz="1800" dirty="0"/>
          </a:p>
          <a:p>
            <a:r>
              <a:rPr lang="zh-CN" altLang="en-US" sz="1800" dirty="0"/>
              <a:t>第二阶段采用快速模式（</a:t>
            </a:r>
            <a:r>
              <a:rPr lang="en-US" altLang="zh-CN" sz="1800" dirty="0"/>
              <a:t>Quick Mode</a:t>
            </a:r>
            <a:r>
              <a:rPr lang="zh-CN" altLang="en-US" sz="1800" dirty="0"/>
              <a:t>）。该模式使用</a:t>
            </a:r>
            <a:r>
              <a:rPr lang="en-US" altLang="zh-CN" sz="1800" dirty="0"/>
              <a:t>IKEv1</a:t>
            </a:r>
            <a:r>
              <a:rPr lang="zh-CN" altLang="en-US" sz="1800" dirty="0"/>
              <a:t>协商第一阶段中生成的密钥对</a:t>
            </a:r>
            <a:r>
              <a:rPr lang="en-US" altLang="zh-CN" sz="1800" dirty="0"/>
              <a:t>ISAKMP</a:t>
            </a:r>
            <a:r>
              <a:rPr lang="zh-CN" altLang="en-US" sz="1800" dirty="0"/>
              <a:t>消息的完整性和身份进行验证，并对</a:t>
            </a:r>
            <a:r>
              <a:rPr lang="en-US" altLang="zh-CN" sz="1800" dirty="0"/>
              <a:t>ISAKMP</a:t>
            </a:r>
            <a:r>
              <a:rPr lang="zh-CN" altLang="en-US" sz="1800" dirty="0"/>
              <a:t>消息进行加密，故保证了交换的安全性。</a:t>
            </a:r>
          </a:p>
        </p:txBody>
      </p:sp>
      <p:sp>
        <p:nvSpPr>
          <p:cNvPr id="4" name="圆角矩形 75"/>
          <p:cNvSpPr/>
          <p:nvPr/>
        </p:nvSpPr>
        <p:spPr bwMode="gray">
          <a:xfrm>
            <a:off x="1487488" y="2600908"/>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快速模式协商过程</a:t>
            </a:r>
          </a:p>
        </p:txBody>
      </p:sp>
      <p:sp>
        <p:nvSpPr>
          <p:cNvPr id="5" name="圆角矩形 75"/>
          <p:cNvSpPr/>
          <p:nvPr/>
        </p:nvSpPr>
        <p:spPr bwMode="gray">
          <a:xfrm>
            <a:off x="1487488" y="3035195"/>
            <a:ext cx="9394410" cy="309658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Rectangle 5"/>
          <p:cNvSpPr/>
          <p:nvPr/>
        </p:nvSpPr>
        <p:spPr bwMode="gray">
          <a:xfrm>
            <a:off x="4145719" y="3739305"/>
            <a:ext cx="1310502" cy="631266"/>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发送</a:t>
            </a:r>
            <a:r>
              <a:rPr lang="en-US" altLang="zh-CN" sz="1200" dirty="0">
                <a:solidFill>
                  <a:schemeClr val="tx1"/>
                </a:solidFill>
              </a:rPr>
              <a:t>IPsec</a:t>
            </a:r>
            <a:r>
              <a:rPr lang="zh-CN" altLang="en-US" sz="1200" dirty="0">
                <a:solidFill>
                  <a:schemeClr val="tx1"/>
                </a:solidFill>
              </a:rPr>
              <a:t>安全提议、身份和验证数据</a:t>
            </a:r>
          </a:p>
        </p:txBody>
      </p:sp>
      <p:sp>
        <p:nvSpPr>
          <p:cNvPr id="7" name="Rectangle 6"/>
          <p:cNvSpPr/>
          <p:nvPr/>
        </p:nvSpPr>
        <p:spPr bwMode="gray">
          <a:xfrm>
            <a:off x="6466551" y="3739305"/>
            <a:ext cx="1268721" cy="631266"/>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查找匹配的安全提议，生成密钥</a:t>
            </a:r>
          </a:p>
        </p:txBody>
      </p:sp>
      <p:sp>
        <p:nvSpPr>
          <p:cNvPr id="8" name="Rectangle 7"/>
          <p:cNvSpPr/>
          <p:nvPr/>
        </p:nvSpPr>
        <p:spPr bwMode="gray">
          <a:xfrm>
            <a:off x="4145719" y="4484041"/>
            <a:ext cx="1310502" cy="585048"/>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接收安全提议和生成密钥</a:t>
            </a:r>
          </a:p>
        </p:txBody>
      </p:sp>
      <p:sp>
        <p:nvSpPr>
          <p:cNvPr id="9" name="Rectangle 8"/>
          <p:cNvSpPr/>
          <p:nvPr/>
        </p:nvSpPr>
        <p:spPr bwMode="gray">
          <a:xfrm>
            <a:off x="6466552" y="4484041"/>
            <a:ext cx="1268720" cy="585048"/>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发送确认的安全提议、身份和验证数据</a:t>
            </a:r>
          </a:p>
        </p:txBody>
      </p:sp>
      <p:sp>
        <p:nvSpPr>
          <p:cNvPr id="10" name="Rectangle 9"/>
          <p:cNvSpPr/>
          <p:nvPr/>
        </p:nvSpPr>
        <p:spPr bwMode="gray">
          <a:xfrm>
            <a:off x="4151558" y="5209455"/>
            <a:ext cx="130244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发送验证数据</a:t>
            </a:r>
          </a:p>
        </p:txBody>
      </p:sp>
      <p:sp>
        <p:nvSpPr>
          <p:cNvPr id="11" name="Rectangle 10"/>
          <p:cNvSpPr/>
          <p:nvPr/>
        </p:nvSpPr>
        <p:spPr bwMode="gray">
          <a:xfrm>
            <a:off x="6464332" y="5209455"/>
            <a:ext cx="1270939"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接收信息</a:t>
            </a:r>
          </a:p>
        </p:txBody>
      </p:sp>
      <p:sp>
        <p:nvSpPr>
          <p:cNvPr id="12" name="TextBox 11"/>
          <p:cNvSpPr txBox="1"/>
          <p:nvPr/>
        </p:nvSpPr>
        <p:spPr bwMode="gray">
          <a:xfrm>
            <a:off x="4259796" y="3373127"/>
            <a:ext cx="1082348" cy="307777"/>
          </a:xfrm>
          <a:prstGeom prst="rect">
            <a:avLst/>
          </a:prstGeom>
          <a:noFill/>
        </p:spPr>
        <p:txBody>
          <a:bodyPr wrap="none" rtlCol="0">
            <a:spAutoFit/>
          </a:bodyPr>
          <a:lstStyle/>
          <a:p>
            <a:r>
              <a:rPr lang="zh-CN" altLang="en-US" sz="1400" dirty="0">
                <a:latin typeface="+mn-ea"/>
                <a:ea typeface="+mn-ea"/>
              </a:rPr>
              <a:t>协商发起方</a:t>
            </a:r>
          </a:p>
        </p:txBody>
      </p:sp>
      <p:sp>
        <p:nvSpPr>
          <p:cNvPr id="13" name="TextBox 12"/>
          <p:cNvSpPr txBox="1"/>
          <p:nvPr/>
        </p:nvSpPr>
        <p:spPr bwMode="gray">
          <a:xfrm>
            <a:off x="6558627" y="3400023"/>
            <a:ext cx="1082348" cy="307777"/>
          </a:xfrm>
          <a:prstGeom prst="rect">
            <a:avLst/>
          </a:prstGeom>
          <a:noFill/>
        </p:spPr>
        <p:txBody>
          <a:bodyPr wrap="none" rtlCol="0">
            <a:spAutoFit/>
          </a:bodyPr>
          <a:lstStyle/>
          <a:p>
            <a:r>
              <a:rPr lang="zh-CN" altLang="en-US" sz="1400" dirty="0">
                <a:latin typeface="+mn-ea"/>
                <a:ea typeface="+mn-ea"/>
              </a:rPr>
              <a:t>协商响应方</a:t>
            </a:r>
          </a:p>
        </p:txBody>
      </p:sp>
      <p:cxnSp>
        <p:nvCxnSpPr>
          <p:cNvPr id="14" name="Straight Arrow Connector 13"/>
          <p:cNvCxnSpPr>
            <a:stCxn id="6" idx="3"/>
            <a:endCxn id="7" idx="1"/>
          </p:cNvCxnSpPr>
          <p:nvPr/>
        </p:nvCxnSpPr>
        <p:spPr bwMode="gray">
          <a:xfrm>
            <a:off x="5456221" y="4054938"/>
            <a:ext cx="1010330"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0" idx="3"/>
            <a:endCxn id="11" idx="1"/>
          </p:cNvCxnSpPr>
          <p:nvPr/>
        </p:nvCxnSpPr>
        <p:spPr bwMode="gray">
          <a:xfrm>
            <a:off x="5454002" y="5425417"/>
            <a:ext cx="1010330"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3"/>
            <a:endCxn id="9" idx="1"/>
          </p:cNvCxnSpPr>
          <p:nvPr/>
        </p:nvCxnSpPr>
        <p:spPr bwMode="gray">
          <a:xfrm>
            <a:off x="5456221" y="4776565"/>
            <a:ext cx="1010331" cy="0"/>
          </a:xfrm>
          <a:prstGeom prst="straightConnector1">
            <a:avLst/>
          </a:prstGeom>
          <a:ln w="19050">
            <a:solidFill>
              <a:srgbClr val="FFD17D"/>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椭圆 50">
            <a:extLst>
              <a:ext uri="{FF2B5EF4-FFF2-40B4-BE49-F238E27FC236}">
                <a16:creationId xmlns:a16="http://schemas.microsoft.com/office/drawing/2014/main" id="{4C7C4E63-07F2-484E-A141-F01D18F8D379}"/>
              </a:ext>
            </a:extLst>
          </p:cNvPr>
          <p:cNvSpPr/>
          <p:nvPr/>
        </p:nvSpPr>
        <p:spPr bwMode="gray">
          <a:xfrm>
            <a:off x="5492333" y="3930179"/>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椭圆 50">
            <a:extLst>
              <a:ext uri="{FF2B5EF4-FFF2-40B4-BE49-F238E27FC236}">
                <a16:creationId xmlns:a16="http://schemas.microsoft.com/office/drawing/2014/main" id="{4C7C4E63-07F2-484E-A141-F01D18F8D379}"/>
              </a:ext>
            </a:extLst>
          </p:cNvPr>
          <p:cNvSpPr/>
          <p:nvPr/>
        </p:nvSpPr>
        <p:spPr bwMode="gray">
          <a:xfrm>
            <a:off x="6208685" y="4668607"/>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50">
            <a:extLst>
              <a:ext uri="{FF2B5EF4-FFF2-40B4-BE49-F238E27FC236}">
                <a16:creationId xmlns:a16="http://schemas.microsoft.com/office/drawing/2014/main" id="{4C7C4E63-07F2-484E-A141-F01D18F8D379}"/>
              </a:ext>
            </a:extLst>
          </p:cNvPr>
          <p:cNvSpPr/>
          <p:nvPr/>
        </p:nvSpPr>
        <p:spPr bwMode="gray">
          <a:xfrm>
            <a:off x="5492333" y="5317459"/>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Straight Arrow Connector 19"/>
          <p:cNvCxnSpPr/>
          <p:nvPr/>
        </p:nvCxnSpPr>
        <p:spPr bwMode="gray">
          <a:xfrm>
            <a:off x="9118117" y="5805264"/>
            <a:ext cx="506275"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bwMode="gray">
          <a:xfrm>
            <a:off x="9624392" y="5696269"/>
            <a:ext cx="954107" cy="276999"/>
          </a:xfrm>
          <a:prstGeom prst="rect">
            <a:avLst/>
          </a:prstGeom>
          <a:noFill/>
        </p:spPr>
        <p:txBody>
          <a:bodyPr wrap="none" rtlCol="0">
            <a:spAutoFit/>
          </a:bodyPr>
          <a:lstStyle/>
          <a:p>
            <a:r>
              <a:rPr lang="zh-CN" altLang="en-US" sz="1200" dirty="0">
                <a:latin typeface="+mn-ea"/>
                <a:ea typeface="+mn-ea"/>
              </a:rPr>
              <a:t>已加密数据</a:t>
            </a:r>
          </a:p>
        </p:txBody>
      </p:sp>
      <p:sp>
        <p:nvSpPr>
          <p:cNvPr id="26" name="五边形 24"/>
          <p:cNvSpPr/>
          <p:nvPr/>
        </p:nvSpPr>
        <p:spPr bwMode="gray">
          <a:xfrm>
            <a:off x="7285273" y="100152"/>
            <a:ext cx="1526032" cy="213120"/>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b="1" kern="0" dirty="0">
                <a:solidFill>
                  <a:schemeClr val="bg1"/>
                </a:solidFill>
                <a:latin typeface="Huawei Sans" panose="020C0503030203020204" pitchFamily="34" charset="0"/>
                <a:ea typeface="方正兰亭黑简体" panose="02000000000000000000" pitchFamily="2" charset="-122"/>
              </a:rPr>
              <a:t>IKEv1</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p>
        </p:txBody>
      </p:sp>
      <p:sp>
        <p:nvSpPr>
          <p:cNvPr id="27" name="燕尾形 25"/>
          <p:cNvSpPr/>
          <p:nvPr/>
        </p:nvSpPr>
        <p:spPr bwMode="gray">
          <a:xfrm>
            <a:off x="8750286"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en-US" altLang="zh-CN" sz="1200" kern="0" dirty="0">
                <a:latin typeface="Huawei Sans" panose="020C0503030203020204" pitchFamily="34" charset="0"/>
                <a:ea typeface="方正兰亭黑简体" panose="02000000000000000000" pitchFamily="2" charset="-122"/>
              </a:rPr>
              <a:t>IKEv2</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28"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9048646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IKEv2</a:t>
            </a:r>
            <a:r>
              <a:rPr lang="zh-CN" altLang="en-US" dirty="0"/>
              <a:t>介绍</a:t>
            </a:r>
          </a:p>
        </p:txBody>
      </p:sp>
      <p:sp>
        <p:nvSpPr>
          <p:cNvPr id="3" name="Text Placeholder 2"/>
          <p:cNvSpPr>
            <a:spLocks noGrp="1"/>
          </p:cNvSpPr>
          <p:nvPr>
            <p:ph type="body" sz="quarter" idx="10"/>
          </p:nvPr>
        </p:nvSpPr>
        <p:spPr bwMode="gray"/>
        <p:txBody>
          <a:bodyPr/>
          <a:lstStyle/>
          <a:p>
            <a:r>
              <a:rPr lang="en-US" altLang="zh-CN" sz="1800" dirty="0"/>
              <a:t>IKEv2</a:t>
            </a:r>
            <a:r>
              <a:rPr lang="zh-CN" altLang="en-US" sz="1800" dirty="0"/>
              <a:t>简化了</a:t>
            </a:r>
            <a:r>
              <a:rPr lang="en-US" altLang="zh-CN" sz="1800" dirty="0"/>
              <a:t>IKEv1</a:t>
            </a:r>
            <a:r>
              <a:rPr lang="zh-CN" altLang="en-US" sz="1800" dirty="0"/>
              <a:t>协商</a:t>
            </a:r>
            <a:r>
              <a:rPr lang="en-US" altLang="zh-CN" sz="1800" dirty="0"/>
              <a:t>SA</a:t>
            </a:r>
            <a:r>
              <a:rPr lang="zh-CN" altLang="en-US" sz="1800" dirty="0"/>
              <a:t>的过程。</a:t>
            </a:r>
            <a:r>
              <a:rPr lang="en-US" altLang="zh-CN" sz="1800" dirty="0"/>
              <a:t>IKEv2</a:t>
            </a:r>
            <a:r>
              <a:rPr lang="zh-CN" altLang="en-US" sz="1800" dirty="0"/>
              <a:t>通常使用</a:t>
            </a:r>
            <a:r>
              <a:rPr lang="en-US" altLang="zh-CN" sz="1800" dirty="0"/>
              <a:t>2</a:t>
            </a:r>
            <a:r>
              <a:rPr lang="zh-CN" altLang="en-US" sz="1800" dirty="0"/>
              <a:t>次交换共</a:t>
            </a:r>
            <a:r>
              <a:rPr lang="en-US" altLang="zh-CN" sz="1800" dirty="0"/>
              <a:t>4</a:t>
            </a:r>
            <a:r>
              <a:rPr lang="zh-CN" altLang="en-US" sz="1800" dirty="0"/>
              <a:t>条消息就可以完成一对</a:t>
            </a:r>
            <a:r>
              <a:rPr lang="en-US" altLang="zh-CN" sz="1800" dirty="0"/>
              <a:t>IPsec SA</a:t>
            </a:r>
            <a:r>
              <a:rPr lang="zh-CN" altLang="en-US" sz="1800" dirty="0"/>
              <a:t>的建立，如果要求建立的</a:t>
            </a:r>
            <a:r>
              <a:rPr lang="en-US" altLang="zh-CN" sz="1800" dirty="0"/>
              <a:t>IPsec SA</a:t>
            </a:r>
            <a:r>
              <a:rPr lang="zh-CN" altLang="en-US" sz="1800" dirty="0"/>
              <a:t>大于一对时，每一对</a:t>
            </a:r>
            <a:r>
              <a:rPr lang="en-US" altLang="zh-CN" sz="1800" dirty="0"/>
              <a:t>IPsec SA</a:t>
            </a:r>
            <a:r>
              <a:rPr lang="zh-CN" altLang="en-US" sz="1800" dirty="0"/>
              <a:t>只需额外增加</a:t>
            </a:r>
            <a:r>
              <a:rPr lang="en-US" altLang="zh-CN" sz="1800" dirty="0"/>
              <a:t>1</a:t>
            </a:r>
            <a:r>
              <a:rPr lang="zh-CN" altLang="en-US" sz="1800" dirty="0"/>
              <a:t>次创建子</a:t>
            </a:r>
            <a:r>
              <a:rPr lang="en-US" altLang="zh-CN" sz="1800" dirty="0"/>
              <a:t>SA</a:t>
            </a:r>
            <a:r>
              <a:rPr lang="zh-CN" altLang="en-US" sz="1800" dirty="0"/>
              <a:t>交换，也就是</a:t>
            </a:r>
            <a:r>
              <a:rPr lang="en-US" altLang="zh-CN" sz="1800" dirty="0"/>
              <a:t>2</a:t>
            </a:r>
            <a:r>
              <a:rPr lang="zh-CN" altLang="en-US" sz="1800" dirty="0"/>
              <a:t>条消息就可以完成。</a:t>
            </a:r>
          </a:p>
          <a:p>
            <a:r>
              <a:rPr lang="en-US" altLang="zh-CN" sz="1800" dirty="0"/>
              <a:t>IKEv2</a:t>
            </a:r>
            <a:r>
              <a:rPr lang="zh-CN" altLang="en-US" sz="1800" dirty="0"/>
              <a:t>定义了三种交换：初始交换（</a:t>
            </a:r>
            <a:r>
              <a:rPr lang="en-US" altLang="zh-CN" sz="1800" dirty="0"/>
              <a:t>Initial Exchanges</a:t>
            </a:r>
            <a:r>
              <a:rPr lang="zh-CN" altLang="en-US" sz="1800" dirty="0"/>
              <a:t>）、创建子</a:t>
            </a:r>
            <a:r>
              <a:rPr lang="en-US" altLang="zh-CN" sz="1800" dirty="0"/>
              <a:t>SA</a:t>
            </a:r>
            <a:r>
              <a:rPr lang="zh-CN" altLang="en-US" sz="1800" dirty="0"/>
              <a:t>交换（</a:t>
            </a:r>
            <a:r>
              <a:rPr lang="en-US" altLang="zh-CN" sz="1800" dirty="0" err="1"/>
              <a:t>Create_Child_SA</a:t>
            </a:r>
            <a:r>
              <a:rPr lang="en-US" altLang="zh-CN" sz="1800" dirty="0"/>
              <a:t> Exchange</a:t>
            </a:r>
            <a:r>
              <a:rPr lang="zh-CN" altLang="en-US" sz="1800" dirty="0"/>
              <a:t>）以及通知交换（</a:t>
            </a:r>
            <a:r>
              <a:rPr lang="en-US" altLang="zh-CN" sz="1800" dirty="0"/>
              <a:t>Informational Exchange</a:t>
            </a:r>
            <a:r>
              <a:rPr lang="zh-CN" altLang="en-US" sz="1800" dirty="0"/>
              <a:t>）。</a:t>
            </a:r>
          </a:p>
        </p:txBody>
      </p:sp>
      <p:sp>
        <p:nvSpPr>
          <p:cNvPr id="8" name="五边形 24"/>
          <p:cNvSpPr/>
          <p:nvPr/>
        </p:nvSpPr>
        <p:spPr bwMode="gray">
          <a:xfrm>
            <a:off x="7285273"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IKEv1</a:t>
            </a:r>
            <a:r>
              <a:rPr lang="zh-CN" altLang="en-US" sz="1200" kern="0" dirty="0">
                <a:latin typeface="Huawei Sans" panose="020C0503030203020204" pitchFamily="34" charset="0"/>
                <a:ea typeface="方正兰亭黑简体" panose="02000000000000000000" pitchFamily="2" charset="-122"/>
              </a:rPr>
              <a:t>介绍</a:t>
            </a:r>
          </a:p>
        </p:txBody>
      </p:sp>
      <p:sp>
        <p:nvSpPr>
          <p:cNvPr id="9" name="燕尾形 25"/>
          <p:cNvSpPr/>
          <p:nvPr/>
        </p:nvSpPr>
        <p:spPr bwMode="gray">
          <a:xfrm>
            <a:off x="8750286"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IKEv2</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10"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28464324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IKEv2</a:t>
            </a:r>
            <a:r>
              <a:rPr lang="zh-CN" altLang="en-US" dirty="0"/>
              <a:t>初始交换介绍</a:t>
            </a:r>
          </a:p>
        </p:txBody>
      </p:sp>
      <p:sp>
        <p:nvSpPr>
          <p:cNvPr id="3" name="Text Placeholder 2"/>
          <p:cNvSpPr>
            <a:spLocks noGrp="1"/>
          </p:cNvSpPr>
          <p:nvPr>
            <p:ph type="body" sz="quarter" idx="10"/>
          </p:nvPr>
        </p:nvSpPr>
        <p:spPr bwMode="gray"/>
        <p:txBody>
          <a:bodyPr/>
          <a:lstStyle/>
          <a:p>
            <a:r>
              <a:rPr lang="en-US" altLang="zh-CN" sz="1800" dirty="0"/>
              <a:t>IKEv2</a:t>
            </a:r>
            <a:r>
              <a:rPr lang="zh-CN" altLang="en-US" sz="1800" dirty="0"/>
              <a:t>通过初始交换就可以完成第一对</a:t>
            </a:r>
            <a:r>
              <a:rPr lang="en-US" altLang="zh-CN" sz="1800" dirty="0"/>
              <a:t>IPsec SA</a:t>
            </a:r>
            <a:r>
              <a:rPr lang="zh-CN" altLang="en-US" sz="1800" dirty="0"/>
              <a:t>的协商建立。初始交换包含两次交换四条消息。</a:t>
            </a:r>
          </a:p>
        </p:txBody>
      </p:sp>
      <p:sp>
        <p:nvSpPr>
          <p:cNvPr id="4" name="圆角矩形 75"/>
          <p:cNvSpPr/>
          <p:nvPr/>
        </p:nvSpPr>
        <p:spPr bwMode="gray">
          <a:xfrm>
            <a:off x="1487488" y="1916832"/>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a:solidFill>
                  <a:srgbClr val="30B5C5"/>
                </a:solidFill>
                <a:latin typeface="Huawei Sans" panose="020C0503030203020204" pitchFamily="34" charset="0"/>
                <a:ea typeface="方正兰亭黑简体" panose="02000000000000000000" pitchFamily="2" charset="-122"/>
              </a:rPr>
              <a:t>IKEv2</a:t>
            </a:r>
            <a:r>
              <a:rPr lang="zh-CN" altLang="en-US" sz="1600" dirty="0">
                <a:solidFill>
                  <a:srgbClr val="30B5C5"/>
                </a:solidFill>
                <a:latin typeface="Huawei Sans" panose="020C0503030203020204" pitchFamily="34" charset="0"/>
                <a:ea typeface="方正兰亭黑简体" panose="02000000000000000000" pitchFamily="2" charset="-122"/>
              </a:rPr>
              <a:t>初始交换过程</a:t>
            </a:r>
          </a:p>
        </p:txBody>
      </p:sp>
      <p:sp>
        <p:nvSpPr>
          <p:cNvPr id="5" name="圆角矩形 75"/>
          <p:cNvSpPr/>
          <p:nvPr/>
        </p:nvSpPr>
        <p:spPr bwMode="gray">
          <a:xfrm>
            <a:off x="1487488" y="2351120"/>
            <a:ext cx="9394410" cy="335043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12" name="TextBox 11"/>
          <p:cNvSpPr txBox="1"/>
          <p:nvPr/>
        </p:nvSpPr>
        <p:spPr bwMode="gray">
          <a:xfrm>
            <a:off x="4411303" y="2802929"/>
            <a:ext cx="1082348" cy="307777"/>
          </a:xfrm>
          <a:prstGeom prst="rect">
            <a:avLst/>
          </a:prstGeom>
          <a:noFill/>
        </p:spPr>
        <p:txBody>
          <a:bodyPr wrap="none" rtlCol="0">
            <a:spAutoFit/>
          </a:bodyPr>
          <a:lstStyle/>
          <a:p>
            <a:r>
              <a:rPr lang="zh-CN" altLang="en-US" sz="1400" dirty="0">
                <a:latin typeface="+mn-ea"/>
                <a:ea typeface="+mn-ea"/>
              </a:rPr>
              <a:t>协商发起方</a:t>
            </a:r>
          </a:p>
        </p:txBody>
      </p:sp>
      <p:sp>
        <p:nvSpPr>
          <p:cNvPr id="13" name="TextBox 12"/>
          <p:cNvSpPr txBox="1"/>
          <p:nvPr/>
        </p:nvSpPr>
        <p:spPr bwMode="gray">
          <a:xfrm>
            <a:off x="6537758" y="2802928"/>
            <a:ext cx="1082348" cy="307777"/>
          </a:xfrm>
          <a:prstGeom prst="rect">
            <a:avLst/>
          </a:prstGeom>
          <a:noFill/>
        </p:spPr>
        <p:txBody>
          <a:bodyPr wrap="none" rtlCol="0">
            <a:spAutoFit/>
          </a:bodyPr>
          <a:lstStyle/>
          <a:p>
            <a:r>
              <a:rPr lang="zh-CN" altLang="en-US" sz="1400" dirty="0">
                <a:latin typeface="+mn-ea"/>
                <a:ea typeface="+mn-ea"/>
              </a:rPr>
              <a:t>协商响应方</a:t>
            </a:r>
          </a:p>
        </p:txBody>
      </p:sp>
      <p:cxnSp>
        <p:nvCxnSpPr>
          <p:cNvPr id="20" name="Straight Arrow Connector 19"/>
          <p:cNvCxnSpPr/>
          <p:nvPr/>
        </p:nvCxnSpPr>
        <p:spPr bwMode="gray">
          <a:xfrm>
            <a:off x="8578057" y="5117368"/>
            <a:ext cx="506275"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bwMode="gray">
          <a:xfrm>
            <a:off x="9084332" y="5008373"/>
            <a:ext cx="954107" cy="276999"/>
          </a:xfrm>
          <a:prstGeom prst="rect">
            <a:avLst/>
          </a:prstGeom>
          <a:noFill/>
        </p:spPr>
        <p:txBody>
          <a:bodyPr wrap="none" rtlCol="0">
            <a:spAutoFit/>
          </a:bodyPr>
          <a:lstStyle/>
          <a:p>
            <a:r>
              <a:rPr lang="zh-CN" altLang="en-US" sz="1200" dirty="0">
                <a:latin typeface="+mn-ea"/>
                <a:ea typeface="+mn-ea"/>
              </a:rPr>
              <a:t>已加密数据</a:t>
            </a:r>
          </a:p>
        </p:txBody>
      </p:sp>
      <p:sp>
        <p:nvSpPr>
          <p:cNvPr id="22" name="Rectangle 21"/>
          <p:cNvSpPr/>
          <p:nvPr/>
        </p:nvSpPr>
        <p:spPr bwMode="gray">
          <a:xfrm>
            <a:off x="4394415" y="3217267"/>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发送</a:t>
            </a:r>
            <a:r>
              <a:rPr lang="en-US" altLang="zh-CN" sz="1200" dirty="0">
                <a:solidFill>
                  <a:schemeClr val="tx1"/>
                </a:solidFill>
              </a:rPr>
              <a:t>IKE SA</a:t>
            </a:r>
            <a:r>
              <a:rPr lang="zh-CN" altLang="en-US" sz="1200" dirty="0">
                <a:solidFill>
                  <a:schemeClr val="tx1"/>
                </a:solidFill>
              </a:rPr>
              <a:t>参数</a:t>
            </a:r>
          </a:p>
        </p:txBody>
      </p:sp>
      <p:sp>
        <p:nvSpPr>
          <p:cNvPr id="23" name="Rectangle 22"/>
          <p:cNvSpPr/>
          <p:nvPr/>
        </p:nvSpPr>
        <p:spPr bwMode="gray">
          <a:xfrm>
            <a:off x="6520870" y="3217267"/>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查找匹配的</a:t>
            </a:r>
            <a:r>
              <a:rPr lang="en-US" altLang="zh-CN" sz="1200" dirty="0">
                <a:solidFill>
                  <a:schemeClr val="tx1"/>
                </a:solidFill>
              </a:rPr>
              <a:t>IKE SA</a:t>
            </a:r>
            <a:r>
              <a:rPr lang="zh-CN" altLang="en-US" sz="1200" dirty="0">
                <a:solidFill>
                  <a:schemeClr val="tx1"/>
                </a:solidFill>
              </a:rPr>
              <a:t>参数</a:t>
            </a:r>
          </a:p>
        </p:txBody>
      </p:sp>
      <p:sp>
        <p:nvSpPr>
          <p:cNvPr id="24" name="Rectangle 23"/>
          <p:cNvSpPr/>
          <p:nvPr/>
        </p:nvSpPr>
        <p:spPr bwMode="gray">
          <a:xfrm>
            <a:off x="4394415" y="3762661"/>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接受参数</a:t>
            </a:r>
          </a:p>
        </p:txBody>
      </p:sp>
      <p:sp>
        <p:nvSpPr>
          <p:cNvPr id="25" name="Rectangle 24"/>
          <p:cNvSpPr/>
          <p:nvPr/>
        </p:nvSpPr>
        <p:spPr bwMode="gray">
          <a:xfrm>
            <a:off x="6520870" y="3762661"/>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发送匹配的</a:t>
            </a:r>
            <a:r>
              <a:rPr lang="en-US" altLang="zh-CN" sz="1200" dirty="0">
                <a:solidFill>
                  <a:schemeClr val="tx1"/>
                </a:solidFill>
              </a:rPr>
              <a:t>IKE SA</a:t>
            </a:r>
            <a:r>
              <a:rPr lang="zh-CN" altLang="en-US" sz="1200" dirty="0">
                <a:solidFill>
                  <a:schemeClr val="tx1"/>
                </a:solidFill>
              </a:rPr>
              <a:t>参数</a:t>
            </a:r>
          </a:p>
        </p:txBody>
      </p:sp>
      <p:sp>
        <p:nvSpPr>
          <p:cNvPr id="26" name="Rectangle 25"/>
          <p:cNvSpPr/>
          <p:nvPr/>
        </p:nvSpPr>
        <p:spPr bwMode="gray">
          <a:xfrm>
            <a:off x="4394415" y="4308055"/>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发送身份信息</a:t>
            </a:r>
          </a:p>
        </p:txBody>
      </p:sp>
      <p:sp>
        <p:nvSpPr>
          <p:cNvPr id="27" name="Rectangle 26"/>
          <p:cNvSpPr/>
          <p:nvPr/>
        </p:nvSpPr>
        <p:spPr bwMode="gray">
          <a:xfrm>
            <a:off x="6520870" y="4308055"/>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身份验证和交换过程验证</a:t>
            </a:r>
          </a:p>
        </p:txBody>
      </p:sp>
      <p:sp>
        <p:nvSpPr>
          <p:cNvPr id="28" name="Rectangle 27"/>
          <p:cNvSpPr/>
          <p:nvPr/>
        </p:nvSpPr>
        <p:spPr bwMode="gray">
          <a:xfrm>
            <a:off x="4394415" y="4853448"/>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身份验证和交换过程验证</a:t>
            </a:r>
          </a:p>
        </p:txBody>
      </p:sp>
      <p:sp>
        <p:nvSpPr>
          <p:cNvPr id="29" name="Rectangle 28"/>
          <p:cNvSpPr/>
          <p:nvPr/>
        </p:nvSpPr>
        <p:spPr bwMode="gray">
          <a:xfrm>
            <a:off x="6520870" y="4853448"/>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发送身份信息</a:t>
            </a:r>
          </a:p>
        </p:txBody>
      </p:sp>
      <p:cxnSp>
        <p:nvCxnSpPr>
          <p:cNvPr id="30" name="Straight Arrow Connector 29"/>
          <p:cNvCxnSpPr>
            <a:stCxn id="22" idx="3"/>
            <a:endCxn id="23" idx="1"/>
          </p:cNvCxnSpPr>
          <p:nvPr/>
        </p:nvCxnSpPr>
        <p:spPr bwMode="gray">
          <a:xfrm>
            <a:off x="5510539" y="3433229"/>
            <a:ext cx="1010331"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6" idx="3"/>
            <a:endCxn id="27" idx="1"/>
          </p:cNvCxnSpPr>
          <p:nvPr/>
        </p:nvCxnSpPr>
        <p:spPr bwMode="gray">
          <a:xfrm>
            <a:off x="5510539" y="4524017"/>
            <a:ext cx="1010331"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28" idx="3"/>
            <a:endCxn id="29" idx="1"/>
          </p:cNvCxnSpPr>
          <p:nvPr/>
        </p:nvCxnSpPr>
        <p:spPr bwMode="gray">
          <a:xfrm>
            <a:off x="5510539" y="5069410"/>
            <a:ext cx="1010331" cy="0"/>
          </a:xfrm>
          <a:prstGeom prst="straightConnector1">
            <a:avLst/>
          </a:prstGeom>
          <a:ln w="19050">
            <a:solidFill>
              <a:srgbClr val="FFD17D"/>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24" idx="3"/>
            <a:endCxn id="25" idx="1"/>
          </p:cNvCxnSpPr>
          <p:nvPr/>
        </p:nvCxnSpPr>
        <p:spPr bwMode="gray">
          <a:xfrm>
            <a:off x="5510539" y="3978623"/>
            <a:ext cx="1010331" cy="0"/>
          </a:xfrm>
          <a:prstGeom prst="straightConnector1">
            <a:avLst/>
          </a:prstGeom>
          <a:ln w="1905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4" name="椭圆 50">
            <a:extLst>
              <a:ext uri="{FF2B5EF4-FFF2-40B4-BE49-F238E27FC236}">
                <a16:creationId xmlns:a16="http://schemas.microsoft.com/office/drawing/2014/main" id="{4C7C4E63-07F2-484E-A141-F01D18F8D379}"/>
              </a:ext>
            </a:extLst>
          </p:cNvPr>
          <p:cNvSpPr/>
          <p:nvPr/>
        </p:nvSpPr>
        <p:spPr bwMode="gray">
          <a:xfrm>
            <a:off x="6260268" y="3844314"/>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椭圆 50">
            <a:extLst>
              <a:ext uri="{FF2B5EF4-FFF2-40B4-BE49-F238E27FC236}">
                <a16:creationId xmlns:a16="http://schemas.microsoft.com/office/drawing/2014/main" id="{4C7C4E63-07F2-484E-A141-F01D18F8D379}"/>
              </a:ext>
            </a:extLst>
          </p:cNvPr>
          <p:cNvSpPr/>
          <p:nvPr/>
        </p:nvSpPr>
        <p:spPr bwMode="gray">
          <a:xfrm>
            <a:off x="6268842" y="4950603"/>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椭圆 50">
            <a:extLst>
              <a:ext uri="{FF2B5EF4-FFF2-40B4-BE49-F238E27FC236}">
                <a16:creationId xmlns:a16="http://schemas.microsoft.com/office/drawing/2014/main" id="{4C7C4E63-07F2-484E-A141-F01D18F8D379}"/>
              </a:ext>
            </a:extLst>
          </p:cNvPr>
          <p:cNvSpPr/>
          <p:nvPr/>
        </p:nvSpPr>
        <p:spPr bwMode="gray">
          <a:xfrm>
            <a:off x="5548870" y="332527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椭圆 50">
            <a:extLst>
              <a:ext uri="{FF2B5EF4-FFF2-40B4-BE49-F238E27FC236}">
                <a16:creationId xmlns:a16="http://schemas.microsoft.com/office/drawing/2014/main" id="{4C7C4E63-07F2-484E-A141-F01D18F8D379}"/>
              </a:ext>
            </a:extLst>
          </p:cNvPr>
          <p:cNvSpPr/>
          <p:nvPr/>
        </p:nvSpPr>
        <p:spPr bwMode="gray">
          <a:xfrm>
            <a:off x="5548870" y="4409616"/>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五边形 24"/>
          <p:cNvSpPr/>
          <p:nvPr/>
        </p:nvSpPr>
        <p:spPr bwMode="gray">
          <a:xfrm>
            <a:off x="7285273"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IKEv1</a:t>
            </a:r>
            <a:r>
              <a:rPr lang="zh-CN" altLang="en-US" sz="1200" kern="0" dirty="0">
                <a:latin typeface="Huawei Sans" panose="020C0503030203020204" pitchFamily="34" charset="0"/>
                <a:ea typeface="方正兰亭黑简体" panose="02000000000000000000" pitchFamily="2" charset="-122"/>
              </a:rPr>
              <a:t>介绍</a:t>
            </a:r>
          </a:p>
        </p:txBody>
      </p:sp>
      <p:sp>
        <p:nvSpPr>
          <p:cNvPr id="43" name="燕尾形 25"/>
          <p:cNvSpPr/>
          <p:nvPr/>
        </p:nvSpPr>
        <p:spPr bwMode="gray">
          <a:xfrm>
            <a:off x="8750286"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IKEv2</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44"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3042848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IKEv2</a:t>
            </a:r>
            <a:r>
              <a:rPr lang="zh-CN" altLang="en-US" dirty="0"/>
              <a:t>创建子</a:t>
            </a:r>
            <a:r>
              <a:rPr lang="en-US" altLang="zh-CN" dirty="0"/>
              <a:t>SA</a:t>
            </a:r>
            <a:r>
              <a:rPr lang="zh-CN" altLang="en-US" dirty="0"/>
              <a:t>交换介绍</a:t>
            </a:r>
          </a:p>
        </p:txBody>
      </p:sp>
      <p:sp>
        <p:nvSpPr>
          <p:cNvPr id="3" name="Text Placeholder 2"/>
          <p:cNvSpPr>
            <a:spLocks noGrp="1"/>
          </p:cNvSpPr>
          <p:nvPr>
            <p:ph type="body" sz="quarter" idx="10"/>
          </p:nvPr>
        </p:nvSpPr>
        <p:spPr bwMode="gray"/>
        <p:txBody>
          <a:bodyPr/>
          <a:lstStyle/>
          <a:p>
            <a:r>
              <a:rPr lang="zh-CN" altLang="en-US" sz="1800" dirty="0"/>
              <a:t>当一个</a:t>
            </a:r>
            <a:r>
              <a:rPr lang="en-US" altLang="zh-CN" sz="1800" dirty="0"/>
              <a:t>IKE SA</a:t>
            </a:r>
            <a:r>
              <a:rPr lang="zh-CN" altLang="en-US" sz="1800" dirty="0"/>
              <a:t>需要创建多对</a:t>
            </a:r>
            <a:r>
              <a:rPr lang="en-US" altLang="zh-CN" sz="1800" dirty="0"/>
              <a:t>IPsec SA</a:t>
            </a:r>
            <a:r>
              <a:rPr lang="zh-CN" altLang="en-US" sz="1800" dirty="0"/>
              <a:t>时，需要使用创建子</a:t>
            </a:r>
            <a:r>
              <a:rPr lang="en-US" altLang="zh-CN" sz="1800" dirty="0"/>
              <a:t>SA</a:t>
            </a:r>
            <a:r>
              <a:rPr lang="zh-CN" altLang="en-US" sz="1800" dirty="0"/>
              <a:t>交换来协商多于一对的</a:t>
            </a:r>
            <a:r>
              <a:rPr lang="en-US" altLang="zh-CN" sz="1800" dirty="0"/>
              <a:t>IPsec SA</a:t>
            </a:r>
            <a:r>
              <a:rPr lang="zh-CN" altLang="en-US" sz="1800" dirty="0"/>
              <a:t>。创建子</a:t>
            </a:r>
            <a:r>
              <a:rPr lang="en-US" altLang="zh-CN" sz="1800" dirty="0"/>
              <a:t>SA</a:t>
            </a:r>
            <a:r>
              <a:rPr lang="zh-CN" altLang="en-US" sz="1800" dirty="0"/>
              <a:t>交换还可以用于</a:t>
            </a:r>
            <a:r>
              <a:rPr lang="en-US" altLang="zh-CN" sz="1800" dirty="0"/>
              <a:t>IKE SA</a:t>
            </a:r>
            <a:r>
              <a:rPr lang="zh-CN" altLang="en-US" sz="1800" dirty="0"/>
              <a:t>的重协商。</a:t>
            </a:r>
            <a:endParaRPr lang="en-US" altLang="zh-CN" sz="1800" dirty="0"/>
          </a:p>
          <a:p>
            <a:r>
              <a:rPr lang="zh-CN" altLang="en-US" sz="1800" dirty="0"/>
              <a:t>创建子</a:t>
            </a:r>
            <a:r>
              <a:rPr lang="en-US" altLang="zh-CN" sz="1800" dirty="0"/>
              <a:t>SA</a:t>
            </a:r>
            <a:r>
              <a:rPr lang="zh-CN" altLang="en-US" sz="1800" dirty="0"/>
              <a:t>交换包含一个交换两条消息，对应</a:t>
            </a:r>
            <a:r>
              <a:rPr lang="en-US" altLang="zh-CN" sz="1800" dirty="0"/>
              <a:t>IKEv1</a:t>
            </a:r>
            <a:r>
              <a:rPr lang="zh-CN" altLang="en-US" sz="1800" dirty="0"/>
              <a:t>协商阶段</a:t>
            </a:r>
            <a:r>
              <a:rPr lang="en-US" altLang="zh-CN" sz="1800" dirty="0"/>
              <a:t>2</a:t>
            </a:r>
            <a:r>
              <a:rPr lang="zh-CN" altLang="en-US" sz="1800" dirty="0"/>
              <a:t>，交换的发起者可以是初始交换的协商发起方，也可以是初始交换的协商响应方。</a:t>
            </a:r>
          </a:p>
        </p:txBody>
      </p:sp>
      <p:sp>
        <p:nvSpPr>
          <p:cNvPr id="4" name="圆角矩形 75"/>
          <p:cNvSpPr/>
          <p:nvPr/>
        </p:nvSpPr>
        <p:spPr bwMode="gray">
          <a:xfrm>
            <a:off x="1487488" y="3185568"/>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创建</a:t>
            </a:r>
            <a:r>
              <a:rPr lang="zh-CN" altLang="en-US" sz="1600">
                <a:solidFill>
                  <a:srgbClr val="30B5C5"/>
                </a:solidFill>
                <a:latin typeface="Huawei Sans" panose="020C0503030203020204" pitchFamily="34" charset="0"/>
                <a:ea typeface="方正兰亭黑简体" panose="02000000000000000000" pitchFamily="2" charset="-122"/>
              </a:rPr>
              <a:t>子</a:t>
            </a:r>
            <a:r>
              <a:rPr lang="en-US" altLang="zh-CN" sz="1600">
                <a:solidFill>
                  <a:srgbClr val="30B5C5"/>
                </a:solidFill>
                <a:latin typeface="Huawei Sans" panose="020C0503030203020204" pitchFamily="34" charset="0"/>
                <a:ea typeface="方正兰亭黑简体" panose="02000000000000000000" pitchFamily="2" charset="-122"/>
              </a:rPr>
              <a:t>SA</a:t>
            </a:r>
            <a:r>
              <a:rPr lang="zh-CN" altLang="en-US" sz="1600" dirty="0">
                <a:solidFill>
                  <a:srgbClr val="30B5C5"/>
                </a:solidFill>
                <a:latin typeface="Huawei Sans" panose="020C0503030203020204" pitchFamily="34" charset="0"/>
                <a:ea typeface="方正兰亭黑简体" panose="02000000000000000000" pitchFamily="2" charset="-122"/>
              </a:rPr>
              <a:t>交换过程</a:t>
            </a:r>
          </a:p>
        </p:txBody>
      </p:sp>
      <p:sp>
        <p:nvSpPr>
          <p:cNvPr id="5" name="圆角矩形 75"/>
          <p:cNvSpPr/>
          <p:nvPr/>
        </p:nvSpPr>
        <p:spPr bwMode="gray">
          <a:xfrm>
            <a:off x="1487488" y="3619855"/>
            <a:ext cx="9394410" cy="230201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TextBox 5"/>
          <p:cNvSpPr txBox="1"/>
          <p:nvPr/>
        </p:nvSpPr>
        <p:spPr bwMode="gray">
          <a:xfrm>
            <a:off x="4428935" y="4051628"/>
            <a:ext cx="1082348" cy="307777"/>
          </a:xfrm>
          <a:prstGeom prst="rect">
            <a:avLst/>
          </a:prstGeom>
          <a:noFill/>
        </p:spPr>
        <p:txBody>
          <a:bodyPr wrap="none" rtlCol="0">
            <a:spAutoFit/>
          </a:bodyPr>
          <a:lstStyle/>
          <a:p>
            <a:r>
              <a:rPr lang="zh-CN" altLang="en-US" sz="1400" dirty="0">
                <a:latin typeface="+mn-ea"/>
                <a:ea typeface="+mn-ea"/>
              </a:rPr>
              <a:t>协商发起方</a:t>
            </a:r>
          </a:p>
        </p:txBody>
      </p:sp>
      <p:sp>
        <p:nvSpPr>
          <p:cNvPr id="7" name="TextBox 6"/>
          <p:cNvSpPr txBox="1"/>
          <p:nvPr/>
        </p:nvSpPr>
        <p:spPr bwMode="gray">
          <a:xfrm>
            <a:off x="6555390" y="4056148"/>
            <a:ext cx="1082348" cy="307777"/>
          </a:xfrm>
          <a:prstGeom prst="rect">
            <a:avLst/>
          </a:prstGeom>
          <a:noFill/>
        </p:spPr>
        <p:txBody>
          <a:bodyPr wrap="none" rtlCol="0">
            <a:spAutoFit/>
          </a:bodyPr>
          <a:lstStyle/>
          <a:p>
            <a:r>
              <a:rPr lang="zh-CN" altLang="en-US" sz="1400" dirty="0">
                <a:latin typeface="+mn-ea"/>
                <a:ea typeface="+mn-ea"/>
              </a:rPr>
              <a:t>协商响应方</a:t>
            </a:r>
          </a:p>
        </p:txBody>
      </p:sp>
      <p:cxnSp>
        <p:nvCxnSpPr>
          <p:cNvPr id="8" name="Straight Arrow Connector 7"/>
          <p:cNvCxnSpPr/>
          <p:nvPr/>
        </p:nvCxnSpPr>
        <p:spPr bwMode="gray">
          <a:xfrm>
            <a:off x="8595689" y="5424601"/>
            <a:ext cx="506275"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bwMode="gray">
          <a:xfrm>
            <a:off x="9101964" y="5315606"/>
            <a:ext cx="954107" cy="276999"/>
          </a:xfrm>
          <a:prstGeom prst="rect">
            <a:avLst/>
          </a:prstGeom>
          <a:noFill/>
        </p:spPr>
        <p:txBody>
          <a:bodyPr wrap="none" rtlCol="0">
            <a:spAutoFit/>
          </a:bodyPr>
          <a:lstStyle/>
          <a:p>
            <a:r>
              <a:rPr lang="zh-CN" altLang="en-US" sz="1200" dirty="0">
                <a:latin typeface="+mn-ea"/>
                <a:ea typeface="+mn-ea"/>
              </a:rPr>
              <a:t>已加密数据</a:t>
            </a:r>
          </a:p>
        </p:txBody>
      </p:sp>
      <p:sp>
        <p:nvSpPr>
          <p:cNvPr id="14" name="Rectangle 13"/>
          <p:cNvSpPr/>
          <p:nvPr/>
        </p:nvSpPr>
        <p:spPr bwMode="gray">
          <a:xfrm>
            <a:off x="4412047" y="4487468"/>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发送身份信息</a:t>
            </a:r>
          </a:p>
        </p:txBody>
      </p:sp>
      <p:sp>
        <p:nvSpPr>
          <p:cNvPr id="15" name="Rectangle 14"/>
          <p:cNvSpPr/>
          <p:nvPr/>
        </p:nvSpPr>
        <p:spPr bwMode="gray">
          <a:xfrm>
            <a:off x="6538502" y="4487468"/>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身份验证和交换过程验证</a:t>
            </a:r>
          </a:p>
        </p:txBody>
      </p:sp>
      <p:sp>
        <p:nvSpPr>
          <p:cNvPr id="16" name="Rectangle 15"/>
          <p:cNvSpPr/>
          <p:nvPr/>
        </p:nvSpPr>
        <p:spPr bwMode="gray">
          <a:xfrm>
            <a:off x="4412047" y="5032861"/>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身份验证和交换过程验证</a:t>
            </a:r>
          </a:p>
        </p:txBody>
      </p:sp>
      <p:sp>
        <p:nvSpPr>
          <p:cNvPr id="17" name="Rectangle 16"/>
          <p:cNvSpPr/>
          <p:nvPr/>
        </p:nvSpPr>
        <p:spPr bwMode="gray">
          <a:xfrm>
            <a:off x="6538502" y="5032861"/>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发送身份信息</a:t>
            </a:r>
          </a:p>
        </p:txBody>
      </p:sp>
      <p:cxnSp>
        <p:nvCxnSpPr>
          <p:cNvPr id="19" name="Straight Arrow Connector 18"/>
          <p:cNvCxnSpPr>
            <a:stCxn id="14" idx="3"/>
            <a:endCxn id="15" idx="1"/>
          </p:cNvCxnSpPr>
          <p:nvPr/>
        </p:nvCxnSpPr>
        <p:spPr bwMode="gray">
          <a:xfrm>
            <a:off x="5528171" y="4703430"/>
            <a:ext cx="1010331"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6" idx="3"/>
            <a:endCxn id="17" idx="1"/>
          </p:cNvCxnSpPr>
          <p:nvPr/>
        </p:nvCxnSpPr>
        <p:spPr bwMode="gray">
          <a:xfrm>
            <a:off x="5528171" y="5248823"/>
            <a:ext cx="1010331" cy="0"/>
          </a:xfrm>
          <a:prstGeom prst="straightConnector1">
            <a:avLst/>
          </a:prstGeom>
          <a:ln w="19050">
            <a:solidFill>
              <a:srgbClr val="FFD17D"/>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3" name="椭圆 50">
            <a:extLst>
              <a:ext uri="{FF2B5EF4-FFF2-40B4-BE49-F238E27FC236}">
                <a16:creationId xmlns:a16="http://schemas.microsoft.com/office/drawing/2014/main" id="{4C7C4E63-07F2-484E-A141-F01D18F8D379}"/>
              </a:ext>
            </a:extLst>
          </p:cNvPr>
          <p:cNvSpPr/>
          <p:nvPr/>
        </p:nvSpPr>
        <p:spPr bwMode="gray">
          <a:xfrm>
            <a:off x="6286474" y="5130016"/>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椭圆 50">
            <a:extLst>
              <a:ext uri="{FF2B5EF4-FFF2-40B4-BE49-F238E27FC236}">
                <a16:creationId xmlns:a16="http://schemas.microsoft.com/office/drawing/2014/main" id="{4C7C4E63-07F2-484E-A141-F01D18F8D379}"/>
              </a:ext>
            </a:extLst>
          </p:cNvPr>
          <p:cNvSpPr/>
          <p:nvPr/>
        </p:nvSpPr>
        <p:spPr bwMode="gray">
          <a:xfrm>
            <a:off x="5566502" y="4589029"/>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五边形 24"/>
          <p:cNvSpPr/>
          <p:nvPr/>
        </p:nvSpPr>
        <p:spPr bwMode="gray">
          <a:xfrm>
            <a:off x="7285273"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IKEv1</a:t>
            </a:r>
            <a:r>
              <a:rPr lang="zh-CN" altLang="en-US" sz="1200" kern="0" dirty="0">
                <a:latin typeface="Huawei Sans" panose="020C0503030203020204" pitchFamily="34" charset="0"/>
                <a:ea typeface="方正兰亭黑简体" panose="02000000000000000000" pitchFamily="2" charset="-122"/>
              </a:rPr>
              <a:t>介绍</a:t>
            </a:r>
          </a:p>
        </p:txBody>
      </p:sp>
      <p:sp>
        <p:nvSpPr>
          <p:cNvPr id="24" name="燕尾形 25"/>
          <p:cNvSpPr/>
          <p:nvPr/>
        </p:nvSpPr>
        <p:spPr bwMode="gray">
          <a:xfrm>
            <a:off x="8750286"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IKEv2</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30"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9183270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IKEv2</a:t>
            </a:r>
            <a:r>
              <a:rPr lang="zh-CN" altLang="en-US" dirty="0"/>
              <a:t>通知交换介绍</a:t>
            </a:r>
          </a:p>
        </p:txBody>
      </p:sp>
      <p:sp>
        <p:nvSpPr>
          <p:cNvPr id="3" name="Text Placeholder 2"/>
          <p:cNvSpPr>
            <a:spLocks noGrp="1"/>
          </p:cNvSpPr>
          <p:nvPr>
            <p:ph type="body" sz="quarter" idx="10"/>
          </p:nvPr>
        </p:nvSpPr>
        <p:spPr bwMode="gray"/>
        <p:txBody>
          <a:bodyPr/>
          <a:lstStyle/>
          <a:p>
            <a:r>
              <a:rPr lang="zh-CN" altLang="en-US" sz="1800" dirty="0"/>
              <a:t>运行</a:t>
            </a:r>
            <a:r>
              <a:rPr lang="en-US" altLang="zh-CN" sz="1800" dirty="0"/>
              <a:t>IKE</a:t>
            </a:r>
            <a:r>
              <a:rPr lang="zh-CN" altLang="en-US" sz="1800" dirty="0"/>
              <a:t>协商的两端有时会传递一些控制信息，例如错误信息或者通告信息，这些信息在</a:t>
            </a:r>
            <a:r>
              <a:rPr lang="en-US" altLang="zh-CN" sz="1800" dirty="0"/>
              <a:t>IKEv2</a:t>
            </a:r>
            <a:r>
              <a:rPr lang="zh-CN" altLang="en-US" sz="1800" dirty="0"/>
              <a:t>中是通过通知交换完成的。</a:t>
            </a:r>
            <a:endParaRPr lang="en-US" altLang="zh-CN" sz="1800" dirty="0"/>
          </a:p>
          <a:p>
            <a:r>
              <a:rPr lang="zh-CN" altLang="en-US" sz="1800" dirty="0"/>
              <a:t>通知交换必须在</a:t>
            </a:r>
            <a:r>
              <a:rPr lang="en-US" altLang="zh-CN" sz="1800" dirty="0"/>
              <a:t>IKE SA</a:t>
            </a:r>
            <a:r>
              <a:rPr lang="zh-CN" altLang="en-US" sz="1800" dirty="0"/>
              <a:t>保护下进行，也就是说通知交换只能发生在初始交换之后。控制信息可能是</a:t>
            </a:r>
            <a:r>
              <a:rPr lang="en-US" altLang="zh-CN" sz="1800" dirty="0"/>
              <a:t>IKE SA</a:t>
            </a:r>
            <a:r>
              <a:rPr lang="zh-CN" altLang="en-US" sz="1800" dirty="0"/>
              <a:t>的，那么通知交换必须由该</a:t>
            </a:r>
            <a:r>
              <a:rPr lang="en-US" altLang="zh-CN" sz="1800" dirty="0"/>
              <a:t>IKE SA</a:t>
            </a:r>
            <a:r>
              <a:rPr lang="zh-CN" altLang="en-US" sz="1800" dirty="0"/>
              <a:t>来保护进行；也可能是某子</a:t>
            </a:r>
            <a:r>
              <a:rPr lang="en-US" altLang="zh-CN" sz="1800" dirty="0"/>
              <a:t>SA</a:t>
            </a:r>
            <a:r>
              <a:rPr lang="zh-CN" altLang="en-US" sz="1800" dirty="0"/>
              <a:t>的，那么该通知交换必须由生成该子</a:t>
            </a:r>
            <a:r>
              <a:rPr lang="en-US" altLang="zh-CN" sz="1800" dirty="0"/>
              <a:t>SA</a:t>
            </a:r>
            <a:r>
              <a:rPr lang="zh-CN" altLang="en-US" sz="1800" dirty="0"/>
              <a:t>的</a:t>
            </a:r>
            <a:r>
              <a:rPr lang="en-US" altLang="zh-CN" sz="1800" dirty="0"/>
              <a:t>IKE SA</a:t>
            </a:r>
            <a:r>
              <a:rPr lang="zh-CN" altLang="en-US" sz="1800" dirty="0"/>
              <a:t>来保护进行。</a:t>
            </a:r>
          </a:p>
        </p:txBody>
      </p:sp>
      <p:sp>
        <p:nvSpPr>
          <p:cNvPr id="4" name="圆角矩形 75"/>
          <p:cNvSpPr/>
          <p:nvPr/>
        </p:nvSpPr>
        <p:spPr bwMode="gray">
          <a:xfrm>
            <a:off x="1487488" y="3446900"/>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zh-CN" altLang="en-US" sz="1600" dirty="0">
                <a:solidFill>
                  <a:srgbClr val="30B5C5"/>
                </a:solidFill>
                <a:latin typeface="Huawei Sans" panose="020C0503030203020204" pitchFamily="34" charset="0"/>
                <a:ea typeface="方正兰亭黑简体" panose="02000000000000000000" pitchFamily="2" charset="-122"/>
              </a:rPr>
              <a:t>通知交换过程</a:t>
            </a:r>
          </a:p>
        </p:txBody>
      </p:sp>
      <p:sp>
        <p:nvSpPr>
          <p:cNvPr id="5" name="圆角矩形 75"/>
          <p:cNvSpPr/>
          <p:nvPr/>
        </p:nvSpPr>
        <p:spPr bwMode="gray">
          <a:xfrm>
            <a:off x="1487488" y="3881188"/>
            <a:ext cx="9394410" cy="216066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sp>
        <p:nvSpPr>
          <p:cNvPr id="6" name="TextBox 5"/>
          <p:cNvSpPr txBox="1"/>
          <p:nvPr/>
        </p:nvSpPr>
        <p:spPr bwMode="gray">
          <a:xfrm>
            <a:off x="4411303" y="4175680"/>
            <a:ext cx="1082348" cy="307777"/>
          </a:xfrm>
          <a:prstGeom prst="rect">
            <a:avLst/>
          </a:prstGeom>
          <a:noFill/>
        </p:spPr>
        <p:txBody>
          <a:bodyPr wrap="none" rtlCol="0">
            <a:spAutoFit/>
          </a:bodyPr>
          <a:lstStyle/>
          <a:p>
            <a:r>
              <a:rPr lang="zh-CN" altLang="en-US" sz="1400" dirty="0">
                <a:latin typeface="+mn-ea"/>
                <a:ea typeface="+mn-ea"/>
              </a:rPr>
              <a:t>协商发起方</a:t>
            </a:r>
          </a:p>
        </p:txBody>
      </p:sp>
      <p:sp>
        <p:nvSpPr>
          <p:cNvPr id="7" name="TextBox 6"/>
          <p:cNvSpPr txBox="1"/>
          <p:nvPr/>
        </p:nvSpPr>
        <p:spPr bwMode="gray">
          <a:xfrm>
            <a:off x="6537758" y="4175679"/>
            <a:ext cx="1082348" cy="307777"/>
          </a:xfrm>
          <a:prstGeom prst="rect">
            <a:avLst/>
          </a:prstGeom>
          <a:noFill/>
        </p:spPr>
        <p:txBody>
          <a:bodyPr wrap="none" rtlCol="0">
            <a:spAutoFit/>
          </a:bodyPr>
          <a:lstStyle/>
          <a:p>
            <a:r>
              <a:rPr lang="zh-CN" altLang="en-US" sz="1400" dirty="0">
                <a:latin typeface="+mn-ea"/>
                <a:ea typeface="+mn-ea"/>
              </a:rPr>
              <a:t>协商响应方</a:t>
            </a:r>
          </a:p>
        </p:txBody>
      </p:sp>
      <p:cxnSp>
        <p:nvCxnSpPr>
          <p:cNvPr id="8" name="Straight Arrow Connector 7"/>
          <p:cNvCxnSpPr/>
          <p:nvPr/>
        </p:nvCxnSpPr>
        <p:spPr bwMode="gray">
          <a:xfrm>
            <a:off x="8595689" y="5685933"/>
            <a:ext cx="506275"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bwMode="gray">
          <a:xfrm>
            <a:off x="9101964" y="5576938"/>
            <a:ext cx="954107" cy="276999"/>
          </a:xfrm>
          <a:prstGeom prst="rect">
            <a:avLst/>
          </a:prstGeom>
          <a:noFill/>
        </p:spPr>
        <p:txBody>
          <a:bodyPr wrap="none" rtlCol="0">
            <a:spAutoFit/>
          </a:bodyPr>
          <a:lstStyle/>
          <a:p>
            <a:r>
              <a:rPr lang="zh-CN" altLang="en-US" sz="1200" dirty="0">
                <a:latin typeface="+mn-ea"/>
                <a:ea typeface="+mn-ea"/>
              </a:rPr>
              <a:t>已加密数据</a:t>
            </a:r>
          </a:p>
        </p:txBody>
      </p:sp>
      <p:sp>
        <p:nvSpPr>
          <p:cNvPr id="10" name="Rectangle 9"/>
          <p:cNvSpPr/>
          <p:nvPr/>
        </p:nvSpPr>
        <p:spPr bwMode="gray">
          <a:xfrm>
            <a:off x="4412047" y="4719303"/>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发送控制信息</a:t>
            </a:r>
          </a:p>
        </p:txBody>
      </p:sp>
      <p:sp>
        <p:nvSpPr>
          <p:cNvPr id="11" name="Rectangle 10"/>
          <p:cNvSpPr/>
          <p:nvPr/>
        </p:nvSpPr>
        <p:spPr bwMode="gray">
          <a:xfrm>
            <a:off x="6538502" y="4719303"/>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根据控制信息进行相应操作</a:t>
            </a:r>
          </a:p>
        </p:txBody>
      </p:sp>
      <p:sp>
        <p:nvSpPr>
          <p:cNvPr id="12" name="Rectangle 11"/>
          <p:cNvSpPr/>
          <p:nvPr/>
        </p:nvSpPr>
        <p:spPr bwMode="gray">
          <a:xfrm>
            <a:off x="4412047" y="5264696"/>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接收信息</a:t>
            </a:r>
          </a:p>
        </p:txBody>
      </p:sp>
      <p:sp>
        <p:nvSpPr>
          <p:cNvPr id="13" name="Rectangle 12"/>
          <p:cNvSpPr/>
          <p:nvPr/>
        </p:nvSpPr>
        <p:spPr bwMode="gray">
          <a:xfrm>
            <a:off x="6538502" y="5264696"/>
            <a:ext cx="1116124" cy="431924"/>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回应控制信息</a:t>
            </a:r>
          </a:p>
        </p:txBody>
      </p:sp>
      <p:cxnSp>
        <p:nvCxnSpPr>
          <p:cNvPr id="14" name="Straight Arrow Connector 13"/>
          <p:cNvCxnSpPr>
            <a:stCxn id="10" idx="3"/>
            <a:endCxn id="11" idx="1"/>
          </p:cNvCxnSpPr>
          <p:nvPr/>
        </p:nvCxnSpPr>
        <p:spPr bwMode="gray">
          <a:xfrm>
            <a:off x="5528171" y="4935265"/>
            <a:ext cx="1010331" cy="0"/>
          </a:xfrm>
          <a:prstGeom prst="straightConnector1">
            <a:avLst/>
          </a:prstGeom>
          <a:ln w="19050">
            <a:solidFill>
              <a:srgbClr val="FFD17D"/>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12" idx="3"/>
            <a:endCxn id="13" idx="1"/>
          </p:cNvCxnSpPr>
          <p:nvPr/>
        </p:nvCxnSpPr>
        <p:spPr bwMode="gray">
          <a:xfrm>
            <a:off x="5528171" y="5480658"/>
            <a:ext cx="1010331" cy="0"/>
          </a:xfrm>
          <a:prstGeom prst="straightConnector1">
            <a:avLst/>
          </a:prstGeom>
          <a:ln w="19050">
            <a:solidFill>
              <a:srgbClr val="FFD17D"/>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6" name="椭圆 50">
            <a:extLst>
              <a:ext uri="{FF2B5EF4-FFF2-40B4-BE49-F238E27FC236}">
                <a16:creationId xmlns:a16="http://schemas.microsoft.com/office/drawing/2014/main" id="{4C7C4E63-07F2-484E-A141-F01D18F8D379}"/>
              </a:ext>
            </a:extLst>
          </p:cNvPr>
          <p:cNvSpPr/>
          <p:nvPr/>
        </p:nvSpPr>
        <p:spPr bwMode="gray">
          <a:xfrm>
            <a:off x="6286474" y="536185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椭圆 50">
            <a:extLst>
              <a:ext uri="{FF2B5EF4-FFF2-40B4-BE49-F238E27FC236}">
                <a16:creationId xmlns:a16="http://schemas.microsoft.com/office/drawing/2014/main" id="{4C7C4E63-07F2-484E-A141-F01D18F8D379}"/>
              </a:ext>
            </a:extLst>
          </p:cNvPr>
          <p:cNvSpPr/>
          <p:nvPr/>
        </p:nvSpPr>
        <p:spPr bwMode="gray">
          <a:xfrm>
            <a:off x="5566502" y="4820864"/>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五边形 24"/>
          <p:cNvSpPr/>
          <p:nvPr/>
        </p:nvSpPr>
        <p:spPr bwMode="gray">
          <a:xfrm>
            <a:off x="7285273"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IKEv1</a:t>
            </a:r>
            <a:r>
              <a:rPr lang="zh-CN" altLang="en-US" sz="1200" kern="0" dirty="0">
                <a:latin typeface="Huawei Sans" panose="020C0503030203020204" pitchFamily="34" charset="0"/>
                <a:ea typeface="方正兰亭黑简体" panose="02000000000000000000" pitchFamily="2" charset="-122"/>
              </a:rPr>
              <a:t>介绍</a:t>
            </a:r>
          </a:p>
        </p:txBody>
      </p:sp>
      <p:sp>
        <p:nvSpPr>
          <p:cNvPr id="23" name="燕尾形 25"/>
          <p:cNvSpPr/>
          <p:nvPr/>
        </p:nvSpPr>
        <p:spPr bwMode="gray">
          <a:xfrm>
            <a:off x="8750286"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IKEv2</a:t>
            </a:r>
            <a:r>
              <a:rPr lang="zh-CN" altLang="en-US" sz="1200" b="1" kern="0" dirty="0">
                <a:solidFill>
                  <a:schemeClr val="bg1"/>
                </a:solidFill>
                <a:latin typeface="Huawei Sans" panose="020C0503030203020204" pitchFamily="34" charset="0"/>
                <a:ea typeface="方正兰亭黑简体" panose="02000000000000000000" pitchFamily="2" charset="-122"/>
              </a:rPr>
              <a:t>介绍</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
        <p:nvSpPr>
          <p:cNvPr id="24" name="燕尾形 25"/>
          <p:cNvSpPr/>
          <p:nvPr/>
        </p:nvSpPr>
        <p:spPr bwMode="gray">
          <a:xfrm>
            <a:off x="10219999"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latin typeface="Huawei Sans" panose="020C0503030203020204" pitchFamily="34" charset="0"/>
                <a:ea typeface="方正兰亭黑简体" panose="02000000000000000000" pitchFamily="2" charset="-122"/>
              </a:rPr>
              <a:t>定义</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被保护流</a:t>
            </a:r>
            <a:endParaRPr lang="en-US" altLang="zh-CN" sz="1200" kern="0" dirty="0">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3193761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zh-CN" altLang="en-US" dirty="0"/>
              <a:t>定义</a:t>
            </a:r>
            <a:r>
              <a:rPr lang="en-US" altLang="zh-CN" dirty="0"/>
              <a:t>IPsec</a:t>
            </a:r>
            <a:r>
              <a:rPr lang="zh-CN" altLang="en-US" dirty="0"/>
              <a:t>被保护流</a:t>
            </a:r>
          </a:p>
        </p:txBody>
      </p:sp>
      <p:sp>
        <p:nvSpPr>
          <p:cNvPr id="3" name="Text Placeholder 2"/>
          <p:cNvSpPr>
            <a:spLocks noGrp="1"/>
          </p:cNvSpPr>
          <p:nvPr>
            <p:ph type="body" sz="quarter" idx="10"/>
          </p:nvPr>
        </p:nvSpPr>
        <p:spPr bwMode="gray"/>
        <p:txBody>
          <a:bodyPr/>
          <a:lstStyle/>
          <a:p>
            <a:r>
              <a:rPr lang="en-US" altLang="zh-CN" dirty="0"/>
              <a:t>IPsec</a:t>
            </a:r>
            <a:r>
              <a:rPr lang="zh-CN" altLang="en-US" dirty="0"/>
              <a:t>是基于定义的感兴趣流触发对特定数据的保护，可以通过以下两种方式定义：</a:t>
            </a:r>
            <a:endParaRPr lang="en-US" altLang="zh-CN" dirty="0"/>
          </a:p>
          <a:p>
            <a:pPr lvl="1"/>
            <a:r>
              <a:rPr lang="en-US" altLang="zh-CN" dirty="0"/>
              <a:t>ACL</a:t>
            </a:r>
            <a:r>
              <a:rPr lang="zh-CN" altLang="en-US" dirty="0"/>
              <a:t>方式</a:t>
            </a:r>
            <a:endParaRPr lang="en-US" altLang="zh-CN" dirty="0"/>
          </a:p>
          <a:p>
            <a:pPr lvl="2"/>
            <a:r>
              <a:rPr lang="zh-CN" altLang="en-US" dirty="0"/>
              <a:t>由</a:t>
            </a:r>
            <a:r>
              <a:rPr lang="en-US" altLang="zh-CN" dirty="0"/>
              <a:t>ACL</a:t>
            </a:r>
            <a:r>
              <a:rPr lang="zh-CN" altLang="en-US" dirty="0"/>
              <a:t>来指定要保护的数据流范围，筛选出需要进入</a:t>
            </a:r>
            <a:r>
              <a:rPr lang="en-US" altLang="zh-CN" dirty="0"/>
              <a:t>IPsec</a:t>
            </a:r>
            <a:r>
              <a:rPr lang="zh-CN" altLang="en-US" dirty="0"/>
              <a:t>隧道的报文。</a:t>
            </a:r>
            <a:endParaRPr lang="en-US" altLang="zh-CN" dirty="0"/>
          </a:p>
          <a:p>
            <a:pPr lvl="1"/>
            <a:r>
              <a:rPr lang="zh-CN" altLang="en-US" dirty="0"/>
              <a:t>路由方式</a:t>
            </a:r>
            <a:endParaRPr lang="en-US" altLang="zh-CN" dirty="0"/>
          </a:p>
          <a:p>
            <a:pPr lvl="2"/>
            <a:r>
              <a:rPr lang="zh-CN" altLang="en-US" dirty="0"/>
              <a:t>通过</a:t>
            </a:r>
            <a:r>
              <a:rPr lang="en-US" altLang="zh-CN" dirty="0"/>
              <a:t>IPsec</a:t>
            </a:r>
            <a:r>
              <a:rPr lang="zh-CN" altLang="en-US" dirty="0"/>
              <a:t>虚拟隧道接口建立</a:t>
            </a:r>
            <a:r>
              <a:rPr lang="en-US" altLang="zh-CN" dirty="0"/>
              <a:t>IPsec</a:t>
            </a:r>
            <a:r>
              <a:rPr lang="zh-CN" altLang="en-US" dirty="0"/>
              <a:t>隧道，将所有路由到</a:t>
            </a:r>
            <a:r>
              <a:rPr lang="en-US" altLang="zh-CN" dirty="0"/>
              <a:t>IPsec</a:t>
            </a:r>
            <a:r>
              <a:rPr lang="zh-CN" altLang="en-US" dirty="0"/>
              <a:t>虚拟隧道接口的报文都进行</a:t>
            </a:r>
            <a:r>
              <a:rPr lang="en-US" altLang="zh-CN" dirty="0"/>
              <a:t>IPsec</a:t>
            </a:r>
            <a:r>
              <a:rPr lang="zh-CN" altLang="en-US" dirty="0"/>
              <a:t>保护。</a:t>
            </a:r>
            <a:endParaRPr lang="en-US" altLang="zh-CN" dirty="0"/>
          </a:p>
          <a:p>
            <a:r>
              <a:rPr lang="zh-CN" altLang="en-US" dirty="0"/>
              <a:t>现网中</a:t>
            </a:r>
            <a:r>
              <a:rPr lang="en-US" altLang="zh-CN" dirty="0"/>
              <a:t>GRE Over IPsec</a:t>
            </a:r>
            <a:r>
              <a:rPr lang="zh-CN" altLang="en-US" dirty="0"/>
              <a:t>一般使用路由方式定义被保护流。</a:t>
            </a:r>
          </a:p>
        </p:txBody>
      </p:sp>
      <p:sp>
        <p:nvSpPr>
          <p:cNvPr id="8" name="五边形 24"/>
          <p:cNvSpPr/>
          <p:nvPr/>
        </p:nvSpPr>
        <p:spPr bwMode="gray">
          <a:xfrm>
            <a:off x="7285273"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IKEv1</a:t>
            </a:r>
            <a:r>
              <a:rPr lang="zh-CN" altLang="en-US" sz="1200" kern="0" dirty="0">
                <a:latin typeface="Huawei Sans" panose="020C0503030203020204" pitchFamily="34" charset="0"/>
                <a:ea typeface="方正兰亭黑简体" panose="02000000000000000000" pitchFamily="2" charset="-122"/>
              </a:rPr>
              <a:t>介绍</a:t>
            </a:r>
          </a:p>
        </p:txBody>
      </p:sp>
      <p:sp>
        <p:nvSpPr>
          <p:cNvPr id="9" name="燕尾形 25"/>
          <p:cNvSpPr/>
          <p:nvPr/>
        </p:nvSpPr>
        <p:spPr bwMode="gray">
          <a:xfrm>
            <a:off x="8750286"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IKEv2</a:t>
            </a:r>
            <a:r>
              <a:rPr lang="zh-CN" altLang="en-US" sz="1200" kern="0" dirty="0">
                <a:latin typeface="Huawei Sans" panose="020C0503030203020204" pitchFamily="34" charset="0"/>
                <a:ea typeface="方正兰亭黑简体" panose="02000000000000000000" pitchFamily="2" charset="-122"/>
              </a:rPr>
              <a:t>介绍</a:t>
            </a:r>
            <a:endParaRPr lang="en-US" altLang="zh-CN" sz="1200" kern="0" dirty="0">
              <a:latin typeface="Huawei Sans" panose="020C0503030203020204" pitchFamily="34" charset="0"/>
              <a:ea typeface="方正兰亭黑简体" panose="02000000000000000000" pitchFamily="2" charset="-122"/>
            </a:endParaRPr>
          </a:p>
        </p:txBody>
      </p:sp>
      <p:sp>
        <p:nvSpPr>
          <p:cNvPr id="10" name="燕尾形 25"/>
          <p:cNvSpPr/>
          <p:nvPr/>
        </p:nvSpPr>
        <p:spPr bwMode="gray">
          <a:xfrm>
            <a:off x="10219999"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定义</a:t>
            </a: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被保护流</a:t>
            </a:r>
            <a:endParaRPr lang="en-US" altLang="zh-CN" sz="1200" b="1" kern="0" dirty="0">
              <a:solidFill>
                <a:schemeClr val="bg1"/>
              </a:solidFill>
              <a:latin typeface="Huawei Sans" panose="020C0503030203020204" pitchFamily="34" charset="0"/>
              <a:ea typeface="方正兰亭黑简体" panose="02000000000000000000" pitchFamily="2" charset="-122"/>
            </a:endParaRPr>
          </a:p>
        </p:txBody>
      </p:sp>
    </p:spTree>
    <p:extLst>
      <p:ext uri="{BB962C8B-B14F-4D97-AF65-F5344CB8AC3E}">
        <p14:creationId xmlns:p14="http://schemas.microsoft.com/office/powerpoint/2010/main" val="12290314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b="1" dirty="0"/>
              <a:t>广域互联安全技术</a:t>
            </a:r>
            <a:endParaRPr lang="en-US" altLang="zh-CN" b="1" dirty="0"/>
          </a:p>
          <a:p>
            <a:pPr lvl="1"/>
            <a:r>
              <a:rPr lang="en-US" altLang="zh-CN" dirty="0">
                <a:solidFill>
                  <a:schemeClr val="bg1">
                    <a:lumMod val="50000"/>
                  </a:schemeClr>
                </a:solidFill>
              </a:rPr>
              <a:t>IPsec</a:t>
            </a:r>
            <a:r>
              <a:rPr lang="zh-CN" altLang="en-US" dirty="0">
                <a:solidFill>
                  <a:schemeClr val="bg1">
                    <a:lumMod val="50000"/>
                  </a:schemeClr>
                </a:solidFill>
              </a:rPr>
              <a:t>基本概念</a:t>
            </a:r>
            <a:endParaRPr lang="en-US" altLang="zh-CN" dirty="0">
              <a:solidFill>
                <a:schemeClr val="bg1">
                  <a:lumMod val="50000"/>
                </a:schemeClr>
              </a:solidFill>
            </a:endParaRPr>
          </a:p>
          <a:p>
            <a:pPr lvl="1"/>
            <a:r>
              <a:rPr lang="en-US" altLang="zh-CN" dirty="0">
                <a:solidFill>
                  <a:schemeClr val="bg1">
                    <a:lumMod val="50000"/>
                  </a:schemeClr>
                </a:solidFill>
              </a:rPr>
              <a:t>IPsec</a:t>
            </a:r>
            <a:r>
              <a:rPr lang="zh-CN" altLang="en-US" dirty="0">
                <a:solidFill>
                  <a:schemeClr val="bg1">
                    <a:lumMod val="50000"/>
                  </a:schemeClr>
                </a:solidFill>
              </a:rPr>
              <a:t>基本工作原理</a:t>
            </a:r>
          </a:p>
          <a:p>
            <a:pPr lvl="1">
              <a:buSzPct val="60000"/>
              <a:buFont typeface="Wingdings" panose="05000000000000000000" pitchFamily="2" charset="2"/>
              <a:buChar char="n"/>
            </a:pPr>
            <a:r>
              <a:rPr lang="en-US" altLang="zh-CN" dirty="0"/>
              <a:t>IPsec</a:t>
            </a:r>
            <a:r>
              <a:rPr lang="zh-CN" altLang="en-US" dirty="0"/>
              <a:t>应用场景</a:t>
            </a:r>
            <a:endParaRPr lang="en-US" altLang="zh-CN" dirty="0"/>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34835010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dirty="0"/>
              <a:t>GRE Over IPsec</a:t>
            </a:r>
            <a:endParaRPr lang="zh-CN" altLang="en-US" dirty="0"/>
          </a:p>
        </p:txBody>
      </p:sp>
      <p:sp>
        <p:nvSpPr>
          <p:cNvPr id="4" name="Text Placeholder 3"/>
          <p:cNvSpPr>
            <a:spLocks noGrp="1"/>
          </p:cNvSpPr>
          <p:nvPr>
            <p:ph type="body" sz="quarter" idx="10"/>
          </p:nvPr>
        </p:nvSpPr>
        <p:spPr bwMode="gray"/>
        <p:txBody>
          <a:bodyPr/>
          <a:lstStyle/>
          <a:p>
            <a:r>
              <a:rPr lang="en-US" altLang="zh-CN" sz="1800" dirty="0"/>
              <a:t>GRE over IPsec</a:t>
            </a:r>
            <a:r>
              <a:rPr lang="zh-CN" altLang="en-US" sz="1800" dirty="0"/>
              <a:t>可利用</a:t>
            </a:r>
            <a:r>
              <a:rPr lang="en-US" altLang="zh-CN" sz="1800" dirty="0"/>
              <a:t>GRE</a:t>
            </a:r>
            <a:r>
              <a:rPr lang="zh-CN" altLang="en-US" sz="1800" dirty="0"/>
              <a:t>和</a:t>
            </a:r>
            <a:r>
              <a:rPr lang="en-US" altLang="zh-CN" sz="1800" dirty="0"/>
              <a:t>IPsec</a:t>
            </a:r>
            <a:r>
              <a:rPr lang="zh-CN" altLang="en-US" sz="1800" dirty="0"/>
              <a:t>的优势，通过</a:t>
            </a:r>
            <a:r>
              <a:rPr lang="en-US" altLang="zh-CN" sz="1800" dirty="0"/>
              <a:t>GRE</a:t>
            </a:r>
            <a:r>
              <a:rPr lang="zh-CN" altLang="en-US" sz="1800" dirty="0"/>
              <a:t>将组播、广播和非</a:t>
            </a:r>
            <a:r>
              <a:rPr lang="en-US" altLang="zh-CN" sz="1800" dirty="0"/>
              <a:t>IP</a:t>
            </a:r>
            <a:r>
              <a:rPr lang="zh-CN" altLang="en-US" sz="1800" dirty="0"/>
              <a:t>报文封装成普通的</a:t>
            </a:r>
            <a:r>
              <a:rPr lang="en-US" altLang="zh-CN" sz="1800" dirty="0"/>
              <a:t>IP</a:t>
            </a:r>
            <a:r>
              <a:rPr lang="zh-CN" altLang="en-US" sz="1800" dirty="0"/>
              <a:t>报文，通过</a:t>
            </a:r>
            <a:r>
              <a:rPr lang="en-US" altLang="zh-CN" sz="1800" dirty="0"/>
              <a:t>IPsec</a:t>
            </a:r>
            <a:r>
              <a:rPr lang="zh-CN" altLang="en-US" sz="1800" dirty="0"/>
              <a:t>为封装后的</a:t>
            </a:r>
            <a:r>
              <a:rPr lang="en-US" altLang="zh-CN" sz="1800" dirty="0"/>
              <a:t>IP</a:t>
            </a:r>
            <a:r>
              <a:rPr lang="zh-CN" altLang="en-US" sz="1800" dirty="0"/>
              <a:t>报文提供安全地通信。</a:t>
            </a:r>
          </a:p>
          <a:p>
            <a:r>
              <a:rPr lang="zh-CN" altLang="en-US" sz="1800" dirty="0"/>
              <a:t>当网关之间采用</a:t>
            </a:r>
            <a:r>
              <a:rPr lang="en-US" altLang="zh-CN" sz="1800" dirty="0"/>
              <a:t>GRE over IPsec</a:t>
            </a:r>
            <a:r>
              <a:rPr lang="zh-CN" altLang="en-US" sz="1800" dirty="0"/>
              <a:t>连接时，先进行</a:t>
            </a:r>
            <a:r>
              <a:rPr lang="en-US" altLang="zh-CN" sz="1800" dirty="0"/>
              <a:t>GRE</a:t>
            </a:r>
            <a:r>
              <a:rPr lang="zh-CN" altLang="en-US" sz="1800" dirty="0"/>
              <a:t>封装，再进行</a:t>
            </a:r>
            <a:r>
              <a:rPr lang="en-US" altLang="zh-CN" sz="1800" dirty="0"/>
              <a:t>IPsec</a:t>
            </a:r>
            <a:r>
              <a:rPr lang="zh-CN" altLang="en-US" sz="1800" dirty="0"/>
              <a:t>封装。</a:t>
            </a:r>
          </a:p>
        </p:txBody>
      </p:sp>
      <p:sp>
        <p:nvSpPr>
          <p:cNvPr id="5" name="圆角矩形 75"/>
          <p:cNvSpPr/>
          <p:nvPr/>
        </p:nvSpPr>
        <p:spPr bwMode="gray">
          <a:xfrm>
            <a:off x="1487488" y="2491187"/>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GRE over IPsec</a:t>
            </a:r>
            <a:r>
              <a:rPr lang="zh-CN" altLang="en-US" sz="1600" dirty="0">
                <a:solidFill>
                  <a:srgbClr val="30B5C5"/>
                </a:solidFill>
                <a:latin typeface="Huawei Sans" panose="020C0503030203020204" pitchFamily="34" charset="0"/>
                <a:ea typeface="方正兰亭黑简体" panose="02000000000000000000" pitchFamily="2" charset="-122"/>
              </a:rPr>
              <a:t>数据封装（</a:t>
            </a:r>
            <a:r>
              <a:rPr lang="en-US" altLang="zh-CN" sz="1600" dirty="0">
                <a:solidFill>
                  <a:srgbClr val="30B5C5"/>
                </a:solidFill>
                <a:latin typeface="Huawei Sans" panose="020C0503030203020204" pitchFamily="34" charset="0"/>
                <a:ea typeface="方正兰亭黑简体" panose="02000000000000000000" pitchFamily="2" charset="-122"/>
              </a:rPr>
              <a:t>ESP</a:t>
            </a:r>
            <a:r>
              <a:rPr lang="zh-CN" altLang="en-US" sz="1600" dirty="0">
                <a:solidFill>
                  <a:srgbClr val="30B5C5"/>
                </a:solidFill>
                <a:latin typeface="Huawei Sans" panose="020C0503030203020204" pitchFamily="34" charset="0"/>
                <a:ea typeface="方正兰亭黑简体" panose="02000000000000000000" pitchFamily="2" charset="-122"/>
              </a:rPr>
              <a:t>协议）</a:t>
            </a:r>
          </a:p>
        </p:txBody>
      </p:sp>
      <p:sp>
        <p:nvSpPr>
          <p:cNvPr id="6" name="圆角矩形 75"/>
          <p:cNvSpPr/>
          <p:nvPr/>
        </p:nvSpPr>
        <p:spPr bwMode="gray">
          <a:xfrm>
            <a:off x="1487488" y="2925474"/>
            <a:ext cx="9394410" cy="314094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pic>
        <p:nvPicPr>
          <p:cNvPr id="7" name="图片 31"/>
          <p:cNvPicPr>
            <a:picLocks noChangeAspect="1"/>
          </p:cNvPicPr>
          <p:nvPr/>
        </p:nvPicPr>
        <p:blipFill>
          <a:blip r:embed="rId3"/>
          <a:stretch>
            <a:fillRect/>
          </a:stretch>
        </p:blipFill>
        <p:spPr bwMode="gray">
          <a:xfrm>
            <a:off x="4222587" y="3391080"/>
            <a:ext cx="466668" cy="389308"/>
          </a:xfrm>
          <a:prstGeom prst="rect">
            <a:avLst/>
          </a:prstGeom>
        </p:spPr>
      </p:pic>
      <p:pic>
        <p:nvPicPr>
          <p:cNvPr id="8" name="图片 31"/>
          <p:cNvPicPr>
            <a:picLocks noChangeAspect="1"/>
          </p:cNvPicPr>
          <p:nvPr/>
        </p:nvPicPr>
        <p:blipFill>
          <a:blip r:embed="rId3"/>
          <a:stretch>
            <a:fillRect/>
          </a:stretch>
        </p:blipFill>
        <p:spPr bwMode="gray">
          <a:xfrm>
            <a:off x="7500156" y="3391080"/>
            <a:ext cx="466668" cy="389308"/>
          </a:xfrm>
          <a:prstGeom prst="rect">
            <a:avLst/>
          </a:prstGeom>
        </p:spPr>
      </p:pic>
      <p:pic>
        <p:nvPicPr>
          <p:cNvPr id="10"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27997" y="3408619"/>
            <a:ext cx="431988" cy="354230"/>
          </a:xfrm>
          <a:prstGeom prst="rect">
            <a:avLst/>
          </a:prstGeom>
        </p:spPr>
      </p:pic>
      <p:pic>
        <p:nvPicPr>
          <p:cNvPr id="11"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826838" y="3408619"/>
            <a:ext cx="431988" cy="354230"/>
          </a:xfrm>
          <a:prstGeom prst="rect">
            <a:avLst/>
          </a:prstGeom>
        </p:spPr>
      </p:pic>
      <p:cxnSp>
        <p:nvCxnSpPr>
          <p:cNvPr id="12" name="Straight Connector 11"/>
          <p:cNvCxnSpPr>
            <a:stCxn id="10" idx="3"/>
            <a:endCxn id="7" idx="1"/>
          </p:cNvCxnSpPr>
          <p:nvPr/>
        </p:nvCxnSpPr>
        <p:spPr bwMode="gray">
          <a:xfrm>
            <a:off x="3359985" y="3585734"/>
            <a:ext cx="862602"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15" name="Straight Connector 14"/>
          <p:cNvCxnSpPr>
            <a:stCxn id="8" idx="3"/>
            <a:endCxn id="11" idx="1"/>
          </p:cNvCxnSpPr>
          <p:nvPr/>
        </p:nvCxnSpPr>
        <p:spPr bwMode="gray">
          <a:xfrm>
            <a:off x="7966824" y="3585734"/>
            <a:ext cx="860014"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cxnSp>
        <p:nvCxnSpPr>
          <p:cNvPr id="21" name="Straight Connector 20"/>
          <p:cNvCxnSpPr>
            <a:stCxn id="7" idx="3"/>
            <a:endCxn id="8" idx="1"/>
          </p:cNvCxnSpPr>
          <p:nvPr/>
        </p:nvCxnSpPr>
        <p:spPr bwMode="gray">
          <a:xfrm>
            <a:off x="4689255" y="3585734"/>
            <a:ext cx="2810901"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9" name="Freeform 159"/>
          <p:cNvSpPr/>
          <p:nvPr/>
        </p:nvSpPr>
        <p:spPr bwMode="gray">
          <a:xfrm flipH="1">
            <a:off x="5551857" y="3301295"/>
            <a:ext cx="1088285" cy="5688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24" name="Can 225"/>
          <p:cNvSpPr/>
          <p:nvPr/>
        </p:nvSpPr>
        <p:spPr bwMode="gray">
          <a:xfrm rot="5400000" flipH="1">
            <a:off x="4900184" y="3285639"/>
            <a:ext cx="182222" cy="614657"/>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Can 41"/>
          <p:cNvSpPr/>
          <p:nvPr/>
        </p:nvSpPr>
        <p:spPr bwMode="gray">
          <a:xfrm rot="5400000">
            <a:off x="5954352" y="2595624"/>
            <a:ext cx="236717" cy="198022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5"/>
          <p:cNvSpPr txBox="1"/>
          <p:nvPr/>
        </p:nvSpPr>
        <p:spPr bwMode="gray">
          <a:xfrm flipH="1">
            <a:off x="5719820" y="3454468"/>
            <a:ext cx="88059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27" name="Rectangular Callout 26"/>
          <p:cNvSpPr/>
          <p:nvPr/>
        </p:nvSpPr>
        <p:spPr bwMode="gray">
          <a:xfrm>
            <a:off x="4553839" y="3006513"/>
            <a:ext cx="1154587" cy="388952"/>
          </a:xfrm>
          <a:prstGeom prst="wedgeRectCallout">
            <a:avLst>
              <a:gd name="adj1" fmla="val 22628"/>
              <a:gd name="adj2" fmla="val 905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IPsec</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28" name="Can 225"/>
          <p:cNvSpPr/>
          <p:nvPr/>
        </p:nvSpPr>
        <p:spPr bwMode="gray">
          <a:xfrm rot="5400000" flipH="1">
            <a:off x="7133727" y="3315701"/>
            <a:ext cx="182222" cy="540060"/>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ular Callout 28"/>
          <p:cNvSpPr/>
          <p:nvPr/>
        </p:nvSpPr>
        <p:spPr bwMode="gray">
          <a:xfrm>
            <a:off x="6237382" y="3006337"/>
            <a:ext cx="1145501" cy="388952"/>
          </a:xfrm>
          <a:prstGeom prst="wedgeRectCallout">
            <a:avLst>
              <a:gd name="adj1" fmla="val 23538"/>
              <a:gd name="adj2" fmla="val 9401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GRE</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3449407" y="3795236"/>
            <a:ext cx="683757"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20">
            <a:extLst>
              <a:ext uri="{FF2B5EF4-FFF2-40B4-BE49-F238E27FC236}">
                <a16:creationId xmlns:a16="http://schemas.microsoft.com/office/drawing/2014/main" id="{31930744-3D36-4F81-8426-6F129C1A6804}"/>
              </a:ext>
            </a:extLst>
          </p:cNvPr>
          <p:cNvSpPr txBox="1"/>
          <p:nvPr/>
        </p:nvSpPr>
        <p:spPr bwMode="gray">
          <a:xfrm>
            <a:off x="4812192" y="3795236"/>
            <a:ext cx="1029836"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IPsec </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20">
            <a:extLst>
              <a:ext uri="{FF2B5EF4-FFF2-40B4-BE49-F238E27FC236}">
                <a16:creationId xmlns:a16="http://schemas.microsoft.com/office/drawing/2014/main" id="{31930744-3D36-4F81-8426-6F129C1A6804}"/>
              </a:ext>
            </a:extLst>
          </p:cNvPr>
          <p:cNvSpPr txBox="1"/>
          <p:nvPr/>
        </p:nvSpPr>
        <p:spPr bwMode="gray">
          <a:xfrm>
            <a:off x="8020084" y="3795236"/>
            <a:ext cx="683757"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Rectangle 36"/>
          <p:cNvSpPr/>
          <p:nvPr/>
        </p:nvSpPr>
        <p:spPr bwMode="gray">
          <a:xfrm>
            <a:off x="3575720" y="4409167"/>
            <a:ext cx="5832647" cy="1585144"/>
          </a:xfrm>
          <a:prstGeom prst="rect">
            <a:avLst/>
          </a:prstGeom>
          <a:no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Group 47"/>
          <p:cNvGrpSpPr/>
          <p:nvPr/>
        </p:nvGrpSpPr>
        <p:grpSpPr bwMode="gray">
          <a:xfrm>
            <a:off x="3657059" y="4829792"/>
            <a:ext cx="4416503" cy="287715"/>
            <a:chOff x="3657059" y="4888958"/>
            <a:chExt cx="4416503" cy="287715"/>
          </a:xfrm>
        </p:grpSpPr>
        <p:sp>
          <p:nvSpPr>
            <p:cNvPr id="31" name="TextBox 120">
              <a:extLst>
                <a:ext uri="{FF2B5EF4-FFF2-40B4-BE49-F238E27FC236}">
                  <a16:creationId xmlns:a16="http://schemas.microsoft.com/office/drawing/2014/main" id="{31930744-3D36-4F81-8426-6F129C1A6804}"/>
                </a:ext>
              </a:extLst>
            </p:cNvPr>
            <p:cNvSpPr txBox="1"/>
            <p:nvPr/>
          </p:nvSpPr>
          <p:spPr bwMode="gray">
            <a:xfrm>
              <a:off x="3657059" y="4888958"/>
              <a:ext cx="815756"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Public IP</a:t>
              </a:r>
            </a:p>
          </p:txBody>
        </p:sp>
        <p:sp>
          <p:nvSpPr>
            <p:cNvPr id="32" name="TextBox 120">
              <a:extLst>
                <a:ext uri="{FF2B5EF4-FFF2-40B4-BE49-F238E27FC236}">
                  <a16:creationId xmlns:a16="http://schemas.microsoft.com/office/drawing/2014/main" id="{31930744-3D36-4F81-8426-6F129C1A6804}"/>
                </a:ext>
              </a:extLst>
            </p:cNvPr>
            <p:cNvSpPr txBox="1"/>
            <p:nvPr/>
          </p:nvSpPr>
          <p:spPr bwMode="gray">
            <a:xfrm>
              <a:off x="7508557" y="4888958"/>
              <a:ext cx="565005" cy="287715"/>
            </a:xfrm>
            <a:prstGeom prst="roundRect">
              <a:avLst>
                <a:gd name="adj" fmla="val 6721"/>
              </a:avLst>
            </a:prstGeom>
            <a:solidFill>
              <a:srgbClr val="FFD17D"/>
            </a:solidFill>
            <a:ln w="12700">
              <a:solidFill>
                <a:srgbClr val="FFD17D"/>
              </a:solidFill>
            </a:ln>
          </p:spPr>
          <p:txBody>
            <a:bodyPr wrap="square" rtlCol="0" anchor="ctr">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3" name="TextBox 120">
              <a:extLst>
                <a:ext uri="{FF2B5EF4-FFF2-40B4-BE49-F238E27FC236}">
                  <a16:creationId xmlns:a16="http://schemas.microsoft.com/office/drawing/2014/main" id="{31930744-3D36-4F81-8426-6F129C1A6804}"/>
                </a:ext>
              </a:extLst>
            </p:cNvPr>
            <p:cNvSpPr txBox="1"/>
            <p:nvPr/>
          </p:nvSpPr>
          <p:spPr bwMode="gray">
            <a:xfrm>
              <a:off x="5560022" y="4888958"/>
              <a:ext cx="1080120"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 Header</a:t>
              </a:r>
            </a:p>
          </p:txBody>
        </p:sp>
        <p:sp>
          <p:nvSpPr>
            <p:cNvPr id="38" name="TextBox 120">
              <a:extLst>
                <a:ext uri="{FF2B5EF4-FFF2-40B4-BE49-F238E27FC236}">
                  <a16:creationId xmlns:a16="http://schemas.microsoft.com/office/drawing/2014/main" id="{31930744-3D36-4F81-8426-6F129C1A6804}"/>
                </a:ext>
              </a:extLst>
            </p:cNvPr>
            <p:cNvSpPr txBox="1"/>
            <p:nvPr/>
          </p:nvSpPr>
          <p:spPr bwMode="gray">
            <a:xfrm>
              <a:off x="6646162" y="4888958"/>
              <a:ext cx="858075"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Private IP</a:t>
              </a:r>
            </a:p>
          </p:txBody>
        </p:sp>
        <p:sp>
          <p:nvSpPr>
            <p:cNvPr id="39" name="TextBox 120">
              <a:extLst>
                <a:ext uri="{FF2B5EF4-FFF2-40B4-BE49-F238E27FC236}">
                  <a16:creationId xmlns:a16="http://schemas.microsoft.com/office/drawing/2014/main" id="{31930744-3D36-4F81-8426-6F129C1A6804}"/>
                </a:ext>
              </a:extLst>
            </p:cNvPr>
            <p:cNvSpPr txBox="1"/>
            <p:nvPr/>
          </p:nvSpPr>
          <p:spPr bwMode="gray">
            <a:xfrm>
              <a:off x="4482903" y="4888958"/>
              <a:ext cx="1067031" cy="287715"/>
            </a:xfrm>
            <a:prstGeom prst="roundRect">
              <a:avLst>
                <a:gd name="adj" fmla="val 6721"/>
              </a:avLst>
            </a:prstGeom>
            <a:solidFill>
              <a:srgbClr val="EC7061"/>
            </a:solidFill>
            <a:ln w="12700">
              <a:solidFill>
                <a:srgbClr val="EC7061"/>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ESP Header</a:t>
              </a:r>
            </a:p>
          </p:txBody>
        </p:sp>
      </p:grpSp>
      <p:grpSp>
        <p:nvGrpSpPr>
          <p:cNvPr id="49" name="Group 48"/>
          <p:cNvGrpSpPr/>
          <p:nvPr/>
        </p:nvGrpSpPr>
        <p:grpSpPr bwMode="gray">
          <a:xfrm>
            <a:off x="3657059" y="5590910"/>
            <a:ext cx="5227518" cy="287715"/>
            <a:chOff x="3657059" y="5650076"/>
            <a:chExt cx="5227518" cy="287715"/>
          </a:xfrm>
        </p:grpSpPr>
        <p:sp>
          <p:nvSpPr>
            <p:cNvPr id="40" name="TextBox 120">
              <a:extLst>
                <a:ext uri="{FF2B5EF4-FFF2-40B4-BE49-F238E27FC236}">
                  <a16:creationId xmlns:a16="http://schemas.microsoft.com/office/drawing/2014/main" id="{31930744-3D36-4F81-8426-6F129C1A6804}"/>
                </a:ext>
              </a:extLst>
            </p:cNvPr>
            <p:cNvSpPr txBox="1"/>
            <p:nvPr/>
          </p:nvSpPr>
          <p:spPr bwMode="gray">
            <a:xfrm>
              <a:off x="3657059" y="5650076"/>
              <a:ext cx="815756"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Public IP</a:t>
              </a:r>
            </a:p>
          </p:txBody>
        </p:sp>
        <p:sp>
          <p:nvSpPr>
            <p:cNvPr id="41" name="TextBox 120">
              <a:extLst>
                <a:ext uri="{FF2B5EF4-FFF2-40B4-BE49-F238E27FC236}">
                  <a16:creationId xmlns:a16="http://schemas.microsoft.com/office/drawing/2014/main" id="{31930744-3D36-4F81-8426-6F129C1A6804}"/>
                </a:ext>
              </a:extLst>
            </p:cNvPr>
            <p:cNvSpPr txBox="1"/>
            <p:nvPr/>
          </p:nvSpPr>
          <p:spPr bwMode="gray">
            <a:xfrm>
              <a:off x="8319572" y="5650076"/>
              <a:ext cx="565005" cy="287715"/>
            </a:xfrm>
            <a:prstGeom prst="roundRect">
              <a:avLst>
                <a:gd name="adj" fmla="val 6721"/>
              </a:avLst>
            </a:prstGeom>
            <a:solidFill>
              <a:srgbClr val="FFD17D"/>
            </a:solidFill>
            <a:ln w="12700">
              <a:solidFill>
                <a:srgbClr val="FFD17D"/>
              </a:solidFill>
            </a:ln>
          </p:spPr>
          <p:txBody>
            <a:bodyPr wrap="square" rtlCol="0" anchor="ctr">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2" name="TextBox 120">
              <a:extLst>
                <a:ext uri="{FF2B5EF4-FFF2-40B4-BE49-F238E27FC236}">
                  <a16:creationId xmlns:a16="http://schemas.microsoft.com/office/drawing/2014/main" id="{31930744-3D36-4F81-8426-6F129C1A6804}"/>
                </a:ext>
              </a:extLst>
            </p:cNvPr>
            <p:cNvSpPr txBox="1"/>
            <p:nvPr/>
          </p:nvSpPr>
          <p:spPr bwMode="gray">
            <a:xfrm>
              <a:off x="6371037" y="5650076"/>
              <a:ext cx="1080120"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GRE Header</a:t>
              </a:r>
            </a:p>
          </p:txBody>
        </p:sp>
        <p:sp>
          <p:nvSpPr>
            <p:cNvPr id="43" name="TextBox 120">
              <a:extLst>
                <a:ext uri="{FF2B5EF4-FFF2-40B4-BE49-F238E27FC236}">
                  <a16:creationId xmlns:a16="http://schemas.microsoft.com/office/drawing/2014/main" id="{31930744-3D36-4F81-8426-6F129C1A6804}"/>
                </a:ext>
              </a:extLst>
            </p:cNvPr>
            <p:cNvSpPr txBox="1"/>
            <p:nvPr/>
          </p:nvSpPr>
          <p:spPr bwMode="gray">
            <a:xfrm>
              <a:off x="7457177" y="5650076"/>
              <a:ext cx="858075"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Private IP</a:t>
              </a:r>
            </a:p>
          </p:txBody>
        </p:sp>
        <p:sp>
          <p:nvSpPr>
            <p:cNvPr id="44" name="TextBox 120">
              <a:extLst>
                <a:ext uri="{FF2B5EF4-FFF2-40B4-BE49-F238E27FC236}">
                  <a16:creationId xmlns:a16="http://schemas.microsoft.com/office/drawing/2014/main" id="{31930744-3D36-4F81-8426-6F129C1A6804}"/>
                </a:ext>
              </a:extLst>
            </p:cNvPr>
            <p:cNvSpPr txBox="1"/>
            <p:nvPr/>
          </p:nvSpPr>
          <p:spPr bwMode="gray">
            <a:xfrm>
              <a:off x="4482903" y="5650076"/>
              <a:ext cx="1067031" cy="287715"/>
            </a:xfrm>
            <a:prstGeom prst="roundRect">
              <a:avLst>
                <a:gd name="adj" fmla="val 6721"/>
              </a:avLst>
            </a:prstGeom>
            <a:solidFill>
              <a:srgbClr val="EC7061"/>
            </a:solidFill>
            <a:ln w="12700">
              <a:solidFill>
                <a:srgbClr val="EC7061"/>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ESP Header</a:t>
              </a:r>
            </a:p>
          </p:txBody>
        </p:sp>
        <p:sp>
          <p:nvSpPr>
            <p:cNvPr id="45" name="TextBox 120">
              <a:extLst>
                <a:ext uri="{FF2B5EF4-FFF2-40B4-BE49-F238E27FC236}">
                  <a16:creationId xmlns:a16="http://schemas.microsoft.com/office/drawing/2014/main" id="{31930744-3D36-4F81-8426-6F129C1A6804}"/>
                </a:ext>
              </a:extLst>
            </p:cNvPr>
            <p:cNvSpPr txBox="1"/>
            <p:nvPr/>
          </p:nvSpPr>
          <p:spPr bwMode="gray">
            <a:xfrm>
              <a:off x="5560696" y="5650076"/>
              <a:ext cx="799579"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Public IP</a:t>
              </a:r>
            </a:p>
          </p:txBody>
        </p:sp>
      </p:grpSp>
      <p:sp>
        <p:nvSpPr>
          <p:cNvPr id="46" name="Text Box 58"/>
          <p:cNvSpPr txBox="1">
            <a:spLocks noChangeArrowheads="1"/>
          </p:cNvSpPr>
          <p:nvPr/>
        </p:nvSpPr>
        <p:spPr bwMode="gray">
          <a:xfrm>
            <a:off x="3624238" y="4509056"/>
            <a:ext cx="2737960" cy="296356"/>
          </a:xfrm>
          <a:prstGeom prst="rect">
            <a:avLst/>
          </a:prstGeom>
          <a:noFill/>
          <a:ln w="9525" algn="ctr">
            <a:noFill/>
            <a:miter lim="800000"/>
            <a:headEnd/>
            <a:tailEnd/>
          </a:ln>
        </p:spPr>
        <p:txBody>
          <a:bodyPr wrap="square" lIns="80127" tIns="40065" rIns="80127" bIns="40065">
            <a:spAutoFit/>
          </a:bodyPr>
          <a:lstStyle/>
          <a:p>
            <a:pPr marL="300038" indent="-300038" defTabSz="801688" fontAlgn="auto">
              <a:spcBef>
                <a:spcPct val="50000"/>
              </a:spcBef>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传输模式，</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GRE Over IPsec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Text Box 58"/>
          <p:cNvSpPr txBox="1">
            <a:spLocks noChangeArrowheads="1"/>
          </p:cNvSpPr>
          <p:nvPr/>
        </p:nvSpPr>
        <p:spPr bwMode="gray">
          <a:xfrm>
            <a:off x="3622315" y="5270251"/>
            <a:ext cx="2737960" cy="296356"/>
          </a:xfrm>
          <a:prstGeom prst="rect">
            <a:avLst/>
          </a:prstGeom>
          <a:noFill/>
          <a:ln w="9525" algn="ctr">
            <a:noFill/>
            <a:miter lim="800000"/>
            <a:headEnd/>
            <a:tailEnd/>
          </a:ln>
        </p:spPr>
        <p:txBody>
          <a:bodyPr wrap="square" lIns="80127" tIns="40065" rIns="80127" bIns="40065">
            <a:spAutoFit/>
          </a:bodyPr>
          <a:lstStyle/>
          <a:p>
            <a:pPr marL="300038" indent="-300038" defTabSz="801688" fontAlgn="auto">
              <a:spcBef>
                <a:spcPct val="50000"/>
              </a:spcBef>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隧道模式，</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GRE Over IPsec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51" name="Straight Connector 50"/>
          <p:cNvCxnSpPr/>
          <p:nvPr/>
        </p:nvCxnSpPr>
        <p:spPr bwMode="gray">
          <a:xfrm flipH="1">
            <a:off x="3575720" y="4074531"/>
            <a:ext cx="1236472" cy="33384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gray">
          <a:xfrm>
            <a:off x="5842028" y="4095943"/>
            <a:ext cx="3566339" cy="312431"/>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50" name="五边形 24"/>
          <p:cNvSpPr/>
          <p:nvPr/>
        </p:nvSpPr>
        <p:spPr bwMode="gray">
          <a:xfrm>
            <a:off x="8753128" y="100152"/>
            <a:ext cx="1526032" cy="213120"/>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使用</a:t>
            </a: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承载流量</a:t>
            </a:r>
          </a:p>
        </p:txBody>
      </p:sp>
      <p:sp>
        <p:nvSpPr>
          <p:cNvPr id="52" name="燕尾形 25"/>
          <p:cNvSpPr/>
          <p:nvPr/>
        </p:nvSpPr>
        <p:spPr bwMode="gray">
          <a:xfrm>
            <a:off x="10218141"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穿越</a:t>
            </a:r>
            <a:r>
              <a:rPr lang="en-US" altLang="zh-CN" sz="1200" kern="0" dirty="0">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15837887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dirty="0"/>
              <a:t>L2TP Over IPsec</a:t>
            </a:r>
            <a:endParaRPr lang="zh-CN" altLang="en-US" dirty="0"/>
          </a:p>
        </p:txBody>
      </p:sp>
      <p:sp>
        <p:nvSpPr>
          <p:cNvPr id="4" name="Text Placeholder 3"/>
          <p:cNvSpPr>
            <a:spLocks noGrp="1"/>
          </p:cNvSpPr>
          <p:nvPr>
            <p:ph type="body" sz="quarter" idx="10"/>
          </p:nvPr>
        </p:nvSpPr>
        <p:spPr bwMode="gray"/>
        <p:txBody>
          <a:bodyPr/>
          <a:lstStyle/>
          <a:p>
            <a:r>
              <a:rPr lang="en-US" altLang="zh-CN" sz="1800" dirty="0"/>
              <a:t>L2TP over IPsec</a:t>
            </a:r>
            <a:r>
              <a:rPr lang="zh-CN" altLang="en-US" sz="1800" dirty="0"/>
              <a:t>，即先用</a:t>
            </a:r>
            <a:r>
              <a:rPr lang="en-US" altLang="zh-CN" sz="1800" dirty="0"/>
              <a:t>L2TP</a:t>
            </a:r>
            <a:r>
              <a:rPr lang="zh-CN" altLang="en-US" sz="1800" dirty="0"/>
              <a:t>封装报文再用</a:t>
            </a:r>
            <a:r>
              <a:rPr lang="en-US" altLang="zh-CN" sz="1800" dirty="0"/>
              <a:t>IPsec</a:t>
            </a:r>
            <a:r>
              <a:rPr lang="zh-CN" altLang="en-US" sz="1800" dirty="0"/>
              <a:t>封装，这样可以综合两种</a:t>
            </a:r>
            <a:r>
              <a:rPr lang="en-US" altLang="zh-CN" sz="1800" dirty="0"/>
              <a:t>VPN</a:t>
            </a:r>
            <a:r>
              <a:rPr lang="zh-CN" altLang="en-US" sz="1800" dirty="0"/>
              <a:t>的优势，通过</a:t>
            </a:r>
            <a:r>
              <a:rPr lang="en-US" altLang="zh-CN" sz="1800" dirty="0"/>
              <a:t>L2TP</a:t>
            </a:r>
            <a:r>
              <a:rPr lang="zh-CN" altLang="en-US" sz="1800" dirty="0"/>
              <a:t>实现用户验证和地址分配，并利用</a:t>
            </a:r>
            <a:r>
              <a:rPr lang="en-US" altLang="zh-CN" sz="1800" dirty="0"/>
              <a:t>IPsec</a:t>
            </a:r>
            <a:r>
              <a:rPr lang="zh-CN" altLang="en-US" sz="1800" dirty="0"/>
              <a:t>保障通信的安全性。</a:t>
            </a:r>
            <a:r>
              <a:rPr lang="en-US" altLang="zh-CN" sz="1800" dirty="0"/>
              <a:t>L2TP over IPsec</a:t>
            </a:r>
            <a:r>
              <a:rPr lang="zh-CN" altLang="en-US" sz="1800" dirty="0"/>
              <a:t>既可以用于分支接入总部，也可以用于出差员工接入总部。</a:t>
            </a:r>
          </a:p>
        </p:txBody>
      </p:sp>
      <p:sp>
        <p:nvSpPr>
          <p:cNvPr id="5" name="圆角矩形 75"/>
          <p:cNvSpPr/>
          <p:nvPr/>
        </p:nvSpPr>
        <p:spPr bwMode="gray">
          <a:xfrm>
            <a:off x="1487488" y="2430227"/>
            <a:ext cx="9394410" cy="396000"/>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478"/>
            <a:r>
              <a:rPr lang="en-US" altLang="zh-CN" sz="1600" dirty="0">
                <a:solidFill>
                  <a:srgbClr val="30B5C5"/>
                </a:solidFill>
                <a:latin typeface="Huawei Sans" panose="020C0503030203020204" pitchFamily="34" charset="0"/>
                <a:ea typeface="方正兰亭黑简体" panose="02000000000000000000" pitchFamily="2" charset="-122"/>
              </a:rPr>
              <a:t>L2TP over IPsec</a:t>
            </a:r>
            <a:r>
              <a:rPr lang="zh-CN" altLang="en-US" sz="1600" dirty="0">
                <a:solidFill>
                  <a:srgbClr val="30B5C5"/>
                </a:solidFill>
                <a:latin typeface="Huawei Sans" panose="020C0503030203020204" pitchFamily="34" charset="0"/>
                <a:ea typeface="方正兰亭黑简体" panose="02000000000000000000" pitchFamily="2" charset="-122"/>
              </a:rPr>
              <a:t>数据封装（</a:t>
            </a:r>
            <a:r>
              <a:rPr lang="en-US" altLang="zh-CN" sz="1600" dirty="0">
                <a:solidFill>
                  <a:srgbClr val="30B5C5"/>
                </a:solidFill>
                <a:latin typeface="Huawei Sans" panose="020C0503030203020204" pitchFamily="34" charset="0"/>
                <a:ea typeface="方正兰亭黑简体" panose="02000000000000000000" pitchFamily="2" charset="-122"/>
              </a:rPr>
              <a:t>ESP</a:t>
            </a:r>
            <a:r>
              <a:rPr lang="zh-CN" altLang="en-US" sz="1600" dirty="0">
                <a:solidFill>
                  <a:srgbClr val="30B5C5"/>
                </a:solidFill>
                <a:latin typeface="Huawei Sans" panose="020C0503030203020204" pitchFamily="34" charset="0"/>
                <a:ea typeface="方正兰亭黑简体" panose="02000000000000000000" pitchFamily="2" charset="-122"/>
              </a:rPr>
              <a:t>协议）</a:t>
            </a:r>
          </a:p>
        </p:txBody>
      </p:sp>
      <p:sp>
        <p:nvSpPr>
          <p:cNvPr id="6" name="圆角矩形 75"/>
          <p:cNvSpPr/>
          <p:nvPr/>
        </p:nvSpPr>
        <p:spPr bwMode="gray">
          <a:xfrm>
            <a:off x="1487488" y="2864514"/>
            <a:ext cx="9394410" cy="325640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a:p>
            <a:pPr marL="177800" indent="-177800" algn="just"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latin typeface="Huawei Sans" panose="020C0503030203020204" pitchFamily="34" charset="0"/>
              <a:ea typeface="方正兰亭黑简体" panose="02000000000000000000" pitchFamily="2" charset="-122"/>
            </a:endParaRPr>
          </a:p>
        </p:txBody>
      </p:sp>
      <p:pic>
        <p:nvPicPr>
          <p:cNvPr id="7" name="图片 31"/>
          <p:cNvPicPr>
            <a:picLocks noChangeAspect="1"/>
          </p:cNvPicPr>
          <p:nvPr/>
        </p:nvPicPr>
        <p:blipFill>
          <a:blip r:embed="rId3"/>
          <a:stretch>
            <a:fillRect/>
          </a:stretch>
        </p:blipFill>
        <p:spPr bwMode="gray">
          <a:xfrm>
            <a:off x="4222587" y="3330120"/>
            <a:ext cx="466668" cy="389308"/>
          </a:xfrm>
          <a:prstGeom prst="rect">
            <a:avLst/>
          </a:prstGeom>
        </p:spPr>
      </p:pic>
      <p:pic>
        <p:nvPicPr>
          <p:cNvPr id="8" name="图片 31"/>
          <p:cNvPicPr>
            <a:picLocks noChangeAspect="1"/>
          </p:cNvPicPr>
          <p:nvPr/>
        </p:nvPicPr>
        <p:blipFill>
          <a:blip r:embed="rId3"/>
          <a:stretch>
            <a:fillRect/>
          </a:stretch>
        </p:blipFill>
        <p:spPr bwMode="gray">
          <a:xfrm>
            <a:off x="7500156" y="3330120"/>
            <a:ext cx="466668" cy="389308"/>
          </a:xfrm>
          <a:prstGeom prst="rect">
            <a:avLst/>
          </a:prstGeom>
        </p:spPr>
      </p:pic>
      <p:pic>
        <p:nvPicPr>
          <p:cNvPr id="10"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27997" y="3347659"/>
            <a:ext cx="431988" cy="354230"/>
          </a:xfrm>
          <a:prstGeom prst="rect">
            <a:avLst/>
          </a:prstGeom>
        </p:spPr>
      </p:pic>
      <p:pic>
        <p:nvPicPr>
          <p:cNvPr id="11"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826838" y="3347659"/>
            <a:ext cx="431988" cy="354230"/>
          </a:xfrm>
          <a:prstGeom prst="rect">
            <a:avLst/>
          </a:prstGeom>
        </p:spPr>
      </p:pic>
      <p:cxnSp>
        <p:nvCxnSpPr>
          <p:cNvPr id="12" name="Straight Connector 11"/>
          <p:cNvCxnSpPr>
            <a:stCxn id="10" idx="3"/>
            <a:endCxn id="7" idx="1"/>
          </p:cNvCxnSpPr>
          <p:nvPr/>
        </p:nvCxnSpPr>
        <p:spPr bwMode="gray">
          <a:xfrm>
            <a:off x="3359985" y="3524774"/>
            <a:ext cx="862602"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15" name="Straight Connector 14"/>
          <p:cNvCxnSpPr>
            <a:stCxn id="8" idx="3"/>
            <a:endCxn id="11" idx="1"/>
          </p:cNvCxnSpPr>
          <p:nvPr/>
        </p:nvCxnSpPr>
        <p:spPr bwMode="gray">
          <a:xfrm>
            <a:off x="7966824" y="3524774"/>
            <a:ext cx="860014"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cxnSp>
        <p:nvCxnSpPr>
          <p:cNvPr id="21" name="Straight Connector 20"/>
          <p:cNvCxnSpPr>
            <a:stCxn id="7" idx="3"/>
            <a:endCxn id="8" idx="1"/>
          </p:cNvCxnSpPr>
          <p:nvPr/>
        </p:nvCxnSpPr>
        <p:spPr bwMode="gray">
          <a:xfrm>
            <a:off x="4689255" y="3524774"/>
            <a:ext cx="2810901" cy="0"/>
          </a:xfrm>
          <a:prstGeom prst="line">
            <a:avLst/>
          </a:prstGeom>
          <a:solidFill>
            <a:schemeClr val="accent1"/>
          </a:solidFill>
          <a:ln w="19050" cap="flat" cmpd="sng" algn="ctr">
            <a:solidFill>
              <a:srgbClr val="007AC7"/>
            </a:solidFill>
            <a:prstDash val="solid"/>
            <a:round/>
            <a:headEnd type="none" w="med" len="med"/>
            <a:tailEnd type="none" w="med" len="med"/>
          </a:ln>
          <a:effectLst/>
        </p:spPr>
      </p:cxnSp>
      <p:sp>
        <p:nvSpPr>
          <p:cNvPr id="9" name="Freeform 159"/>
          <p:cNvSpPr/>
          <p:nvPr/>
        </p:nvSpPr>
        <p:spPr bwMode="gray">
          <a:xfrm flipH="1">
            <a:off x="5551857" y="3240335"/>
            <a:ext cx="1088285" cy="56887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400" dirty="0">
                <a:solidFill>
                  <a:schemeClr val="tx1"/>
                </a:solidFill>
              </a:rPr>
              <a:t>Internet</a:t>
            </a:r>
            <a:endParaRPr lang="en-US" sz="1400" dirty="0">
              <a:solidFill>
                <a:schemeClr val="tx1"/>
              </a:solidFill>
            </a:endParaRPr>
          </a:p>
        </p:txBody>
      </p:sp>
      <p:sp>
        <p:nvSpPr>
          <p:cNvPr id="24" name="Can 225"/>
          <p:cNvSpPr/>
          <p:nvPr/>
        </p:nvSpPr>
        <p:spPr bwMode="gray">
          <a:xfrm rot="5400000" flipH="1">
            <a:off x="4900184" y="3224679"/>
            <a:ext cx="182222" cy="614657"/>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Can 41"/>
          <p:cNvSpPr/>
          <p:nvPr/>
        </p:nvSpPr>
        <p:spPr bwMode="gray">
          <a:xfrm rot="5400000">
            <a:off x="5954352" y="2534664"/>
            <a:ext cx="236717" cy="1980220"/>
          </a:xfrm>
          <a:prstGeom prst="can">
            <a:avLst>
              <a:gd name="adj" fmla="val 55435"/>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25"/>
          <p:cNvSpPr txBox="1"/>
          <p:nvPr/>
        </p:nvSpPr>
        <p:spPr bwMode="gray">
          <a:xfrm flipH="1">
            <a:off x="5719820" y="3393508"/>
            <a:ext cx="880591" cy="276999"/>
          </a:xfrm>
          <a:prstGeom prst="rect">
            <a:avLst/>
          </a:prstGeom>
          <a:noFill/>
        </p:spPr>
        <p:txBody>
          <a:bodyPr wrap="square" rtlCol="0">
            <a:spAutoFit/>
          </a:bodyPr>
          <a:lstStyle/>
          <a:p>
            <a:r>
              <a:rPr lang="en-US" altLang="zh-CN" sz="1200" dirty="0">
                <a:latin typeface="Huawei Sans" panose="020C0503030203020204" pitchFamily="34" charset="0"/>
                <a:ea typeface="方正兰亭黑简体" panose="02000000000000000000" pitchFamily="2" charset="-122"/>
              </a:rPr>
              <a:t>IPsec</a:t>
            </a:r>
            <a:r>
              <a:rPr lang="zh-CN" altLang="en-US" sz="1200" dirty="0">
                <a:latin typeface="Huawei Sans" panose="020C0503030203020204" pitchFamily="34" charset="0"/>
                <a:ea typeface="方正兰亭黑简体" panose="02000000000000000000" pitchFamily="2" charset="-122"/>
              </a:rPr>
              <a:t>隧道</a:t>
            </a:r>
          </a:p>
        </p:txBody>
      </p:sp>
      <p:sp>
        <p:nvSpPr>
          <p:cNvPr id="27" name="Rectangular Callout 26"/>
          <p:cNvSpPr/>
          <p:nvPr/>
        </p:nvSpPr>
        <p:spPr bwMode="gray">
          <a:xfrm>
            <a:off x="4553839" y="2945553"/>
            <a:ext cx="1260864" cy="388952"/>
          </a:xfrm>
          <a:prstGeom prst="wedgeRectCallout">
            <a:avLst>
              <a:gd name="adj1" fmla="val 22628"/>
              <a:gd name="adj2" fmla="val 9056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IPsec</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28" name="Can 225"/>
          <p:cNvSpPr/>
          <p:nvPr/>
        </p:nvSpPr>
        <p:spPr bwMode="gray">
          <a:xfrm rot="5400000" flipH="1">
            <a:off x="7133727" y="3254741"/>
            <a:ext cx="182222" cy="540060"/>
          </a:xfrm>
          <a:prstGeom prst="can">
            <a:avLst>
              <a:gd name="adj" fmla="val 40000"/>
            </a:avLst>
          </a:prstGeom>
          <a:solidFill>
            <a:srgbClr val="56C4D2"/>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ectangular Callout 28"/>
          <p:cNvSpPr/>
          <p:nvPr/>
        </p:nvSpPr>
        <p:spPr bwMode="gray">
          <a:xfrm>
            <a:off x="6237382" y="2945377"/>
            <a:ext cx="1145501" cy="388952"/>
          </a:xfrm>
          <a:prstGeom prst="wedgeRectCallout">
            <a:avLst>
              <a:gd name="adj1" fmla="val 23538"/>
              <a:gd name="adj2" fmla="val 9401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00038" indent="-300038" algn="ctr" defTabSz="801688" fontAlgn="auto">
              <a:spcBef>
                <a:spcPct val="50000"/>
              </a:spcBef>
            </a:pPr>
            <a:r>
              <a:rPr lang="en-US" altLang="zh-CN" sz="1200" dirty="0">
                <a:solidFill>
                  <a:schemeClr val="tx1"/>
                </a:solidFill>
                <a:latin typeface="Huawei Sans" panose="020C0503030203020204" pitchFamily="34" charset="0"/>
                <a:ea typeface="方正兰亭黑简体" panose="02000000000000000000" pitchFamily="2" charset="-122"/>
              </a:rPr>
              <a:t>L2TP</a:t>
            </a:r>
            <a:r>
              <a:rPr lang="zh-CN" altLang="en-US" sz="1200" dirty="0">
                <a:solidFill>
                  <a:schemeClr val="tx1"/>
                </a:solidFill>
                <a:latin typeface="Huawei Sans" panose="020C0503030203020204" pitchFamily="34" charset="0"/>
                <a:ea typeface="方正兰亭黑简体" panose="02000000000000000000" pitchFamily="2" charset="-122"/>
              </a:rPr>
              <a:t>隧道</a:t>
            </a:r>
            <a:endParaRPr lang="en-US" altLang="zh-CN" sz="1200" dirty="0">
              <a:solidFill>
                <a:schemeClr val="tx1"/>
              </a:solidFill>
              <a:latin typeface="Huawei Sans" panose="020C0503030203020204" pitchFamily="34" charset="0"/>
              <a:ea typeface="方正兰亭黑简体" panose="02000000000000000000" pitchFamily="2" charset="-122"/>
            </a:endParaRP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3359985" y="3734276"/>
            <a:ext cx="773179" cy="287715"/>
          </a:xfrm>
          <a:prstGeom prst="roundRect">
            <a:avLst>
              <a:gd name="adj" fmla="val 6721"/>
            </a:avLst>
          </a:prstGeom>
          <a:solidFill>
            <a:srgbClr val="56C4D2"/>
          </a:solidFill>
          <a:ln w="12700">
            <a:solidFill>
              <a:srgbClr val="00B0F0"/>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PPP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20">
            <a:extLst>
              <a:ext uri="{FF2B5EF4-FFF2-40B4-BE49-F238E27FC236}">
                <a16:creationId xmlns:a16="http://schemas.microsoft.com/office/drawing/2014/main" id="{31930744-3D36-4F81-8426-6F129C1A6804}"/>
              </a:ext>
            </a:extLst>
          </p:cNvPr>
          <p:cNvSpPr txBox="1"/>
          <p:nvPr/>
        </p:nvSpPr>
        <p:spPr bwMode="gray">
          <a:xfrm>
            <a:off x="4812192" y="3734276"/>
            <a:ext cx="1029836"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IPsec </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20">
            <a:extLst>
              <a:ext uri="{FF2B5EF4-FFF2-40B4-BE49-F238E27FC236}">
                <a16:creationId xmlns:a16="http://schemas.microsoft.com/office/drawing/2014/main" id="{31930744-3D36-4F81-8426-6F129C1A6804}"/>
              </a:ext>
            </a:extLst>
          </p:cNvPr>
          <p:cNvSpPr txBox="1"/>
          <p:nvPr/>
        </p:nvSpPr>
        <p:spPr bwMode="gray">
          <a:xfrm>
            <a:off x="8020084" y="3734276"/>
            <a:ext cx="806754" cy="287715"/>
          </a:xfrm>
          <a:prstGeom prst="roundRect">
            <a:avLst>
              <a:gd name="adj" fmla="val 6721"/>
            </a:avLst>
          </a:prstGeom>
          <a:solidFill>
            <a:srgbClr val="56C4D2"/>
          </a:solidFill>
          <a:ln w="12700">
            <a:solidFill>
              <a:srgbClr val="00B0F0"/>
            </a:solidFill>
          </a:ln>
        </p:spPr>
        <p:txBody>
          <a:bodyPr wrap="square" rtlCol="0" anchor="ctr">
            <a:spAutoFit/>
          </a:bodyPr>
          <a:lstStyle/>
          <a:p>
            <a:pPr algn="ctr" font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PPP</a:t>
            </a:r>
            <a:r>
              <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数据</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Rectangle 36"/>
          <p:cNvSpPr/>
          <p:nvPr/>
        </p:nvSpPr>
        <p:spPr bwMode="gray">
          <a:xfrm>
            <a:off x="2243572" y="4348206"/>
            <a:ext cx="8073321" cy="1689523"/>
          </a:xfrm>
          <a:prstGeom prst="rect">
            <a:avLst/>
          </a:prstGeom>
          <a:noFill/>
          <a:ln>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 Box 58"/>
          <p:cNvSpPr txBox="1">
            <a:spLocks noChangeArrowheads="1"/>
          </p:cNvSpPr>
          <p:nvPr/>
        </p:nvSpPr>
        <p:spPr bwMode="gray">
          <a:xfrm>
            <a:off x="2532813" y="4445487"/>
            <a:ext cx="2737960" cy="296356"/>
          </a:xfrm>
          <a:prstGeom prst="rect">
            <a:avLst/>
          </a:prstGeom>
          <a:noFill/>
          <a:ln w="9525" algn="ctr">
            <a:noFill/>
            <a:miter lim="800000"/>
            <a:headEnd/>
            <a:tailEnd/>
          </a:ln>
        </p:spPr>
        <p:txBody>
          <a:bodyPr wrap="square" lIns="80127" tIns="40065" rIns="80127" bIns="40065">
            <a:spAutoFit/>
          </a:bodyPr>
          <a:lstStyle/>
          <a:p>
            <a:pPr marL="300038" indent="-300038" defTabSz="801688" fontAlgn="auto">
              <a:spcBef>
                <a:spcPct val="50000"/>
              </a:spcBef>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传输模式，</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L2TP Over IPsec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Text Box 58"/>
          <p:cNvSpPr txBox="1">
            <a:spLocks noChangeArrowheads="1"/>
          </p:cNvSpPr>
          <p:nvPr/>
        </p:nvSpPr>
        <p:spPr bwMode="gray">
          <a:xfrm>
            <a:off x="2530890" y="5206682"/>
            <a:ext cx="2737960" cy="296356"/>
          </a:xfrm>
          <a:prstGeom prst="rect">
            <a:avLst/>
          </a:prstGeom>
          <a:noFill/>
          <a:ln w="9525" algn="ctr">
            <a:noFill/>
            <a:miter lim="800000"/>
            <a:headEnd/>
            <a:tailEnd/>
          </a:ln>
        </p:spPr>
        <p:txBody>
          <a:bodyPr wrap="square" lIns="80127" tIns="40065" rIns="80127" bIns="40065">
            <a:spAutoFit/>
          </a:bodyPr>
          <a:lstStyle/>
          <a:p>
            <a:pPr marL="300038" indent="-300038" defTabSz="801688" fontAlgn="auto">
              <a:spcBef>
                <a:spcPct val="50000"/>
              </a:spcBef>
            </a:pP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隧道模式，</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L2TP Over IPsec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报文</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51" name="Straight Connector 50"/>
          <p:cNvCxnSpPr/>
          <p:nvPr/>
        </p:nvCxnSpPr>
        <p:spPr bwMode="gray">
          <a:xfrm flipH="1">
            <a:off x="2243572" y="4013571"/>
            <a:ext cx="2568620" cy="33251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gray">
          <a:xfrm>
            <a:off x="5842028" y="4034983"/>
            <a:ext cx="4474865" cy="311102"/>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bwMode="gray">
          <a:xfrm>
            <a:off x="2565634" y="4766222"/>
            <a:ext cx="6557935" cy="287716"/>
            <a:chOff x="2565634" y="4886348"/>
            <a:chExt cx="6557935" cy="287716"/>
          </a:xfrm>
        </p:grpSpPr>
        <p:sp>
          <p:nvSpPr>
            <p:cNvPr id="31" name="TextBox 120">
              <a:extLst>
                <a:ext uri="{FF2B5EF4-FFF2-40B4-BE49-F238E27FC236}">
                  <a16:creationId xmlns:a16="http://schemas.microsoft.com/office/drawing/2014/main" id="{31930744-3D36-4F81-8426-6F129C1A6804}"/>
                </a:ext>
              </a:extLst>
            </p:cNvPr>
            <p:cNvSpPr txBox="1"/>
            <p:nvPr/>
          </p:nvSpPr>
          <p:spPr bwMode="gray">
            <a:xfrm>
              <a:off x="2565634" y="4886349"/>
              <a:ext cx="815756"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Public IP</a:t>
              </a:r>
            </a:p>
          </p:txBody>
        </p:sp>
        <p:sp>
          <p:nvSpPr>
            <p:cNvPr id="32" name="TextBox 120">
              <a:extLst>
                <a:ext uri="{FF2B5EF4-FFF2-40B4-BE49-F238E27FC236}">
                  <a16:creationId xmlns:a16="http://schemas.microsoft.com/office/drawing/2014/main" id="{31930744-3D36-4F81-8426-6F129C1A6804}"/>
                </a:ext>
              </a:extLst>
            </p:cNvPr>
            <p:cNvSpPr txBox="1"/>
            <p:nvPr/>
          </p:nvSpPr>
          <p:spPr bwMode="gray">
            <a:xfrm>
              <a:off x="8558564" y="4886348"/>
              <a:ext cx="565005" cy="287715"/>
            </a:xfrm>
            <a:prstGeom prst="roundRect">
              <a:avLst>
                <a:gd name="adj" fmla="val 6721"/>
              </a:avLst>
            </a:prstGeom>
            <a:solidFill>
              <a:srgbClr val="FFD17D"/>
            </a:solidFill>
            <a:ln w="12700">
              <a:solidFill>
                <a:srgbClr val="FFD17D"/>
              </a:solidFill>
            </a:ln>
          </p:spPr>
          <p:txBody>
            <a:bodyPr wrap="square" rtlCol="0" anchor="ctr">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3" name="TextBox 120">
              <a:extLst>
                <a:ext uri="{FF2B5EF4-FFF2-40B4-BE49-F238E27FC236}">
                  <a16:creationId xmlns:a16="http://schemas.microsoft.com/office/drawing/2014/main" id="{31930744-3D36-4F81-8426-6F129C1A6804}"/>
                </a:ext>
              </a:extLst>
            </p:cNvPr>
            <p:cNvSpPr txBox="1"/>
            <p:nvPr/>
          </p:nvSpPr>
          <p:spPr bwMode="gray">
            <a:xfrm>
              <a:off x="6636659" y="4886348"/>
              <a:ext cx="1053490"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PPP Header</a:t>
              </a:r>
            </a:p>
          </p:txBody>
        </p:sp>
        <p:sp>
          <p:nvSpPr>
            <p:cNvPr id="38" name="TextBox 120">
              <a:extLst>
                <a:ext uri="{FF2B5EF4-FFF2-40B4-BE49-F238E27FC236}">
                  <a16:creationId xmlns:a16="http://schemas.microsoft.com/office/drawing/2014/main" id="{31930744-3D36-4F81-8426-6F129C1A6804}"/>
                </a:ext>
              </a:extLst>
            </p:cNvPr>
            <p:cNvSpPr txBox="1"/>
            <p:nvPr/>
          </p:nvSpPr>
          <p:spPr bwMode="gray">
            <a:xfrm>
              <a:off x="7696169" y="4886348"/>
              <a:ext cx="858075"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Private IP</a:t>
              </a:r>
            </a:p>
          </p:txBody>
        </p:sp>
        <p:sp>
          <p:nvSpPr>
            <p:cNvPr id="39" name="TextBox 120">
              <a:extLst>
                <a:ext uri="{FF2B5EF4-FFF2-40B4-BE49-F238E27FC236}">
                  <a16:creationId xmlns:a16="http://schemas.microsoft.com/office/drawing/2014/main" id="{31930744-3D36-4F81-8426-6F129C1A6804}"/>
                </a:ext>
              </a:extLst>
            </p:cNvPr>
            <p:cNvSpPr txBox="1"/>
            <p:nvPr/>
          </p:nvSpPr>
          <p:spPr bwMode="gray">
            <a:xfrm>
              <a:off x="3391478" y="4886349"/>
              <a:ext cx="1067031" cy="287715"/>
            </a:xfrm>
            <a:prstGeom prst="roundRect">
              <a:avLst>
                <a:gd name="adj" fmla="val 6721"/>
              </a:avLst>
            </a:prstGeom>
            <a:solidFill>
              <a:srgbClr val="EC7061"/>
            </a:solidFill>
            <a:ln w="12700">
              <a:solidFill>
                <a:srgbClr val="EC7061"/>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ESP Header</a:t>
              </a:r>
            </a:p>
          </p:txBody>
        </p:sp>
        <p:sp>
          <p:nvSpPr>
            <p:cNvPr id="50" name="TextBox 120">
              <a:extLst>
                <a:ext uri="{FF2B5EF4-FFF2-40B4-BE49-F238E27FC236}">
                  <a16:creationId xmlns:a16="http://schemas.microsoft.com/office/drawing/2014/main" id="{31930744-3D36-4F81-8426-6F129C1A6804}"/>
                </a:ext>
              </a:extLst>
            </p:cNvPr>
            <p:cNvSpPr txBox="1"/>
            <p:nvPr/>
          </p:nvSpPr>
          <p:spPr bwMode="gray">
            <a:xfrm>
              <a:off x="4458509" y="4886348"/>
              <a:ext cx="1090208"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UDP Header</a:t>
              </a:r>
            </a:p>
          </p:txBody>
        </p:sp>
        <p:sp>
          <p:nvSpPr>
            <p:cNvPr id="52" name="TextBox 120">
              <a:extLst>
                <a:ext uri="{FF2B5EF4-FFF2-40B4-BE49-F238E27FC236}">
                  <a16:creationId xmlns:a16="http://schemas.microsoft.com/office/drawing/2014/main" id="{31930744-3D36-4F81-8426-6F129C1A6804}"/>
                </a:ext>
              </a:extLst>
            </p:cNvPr>
            <p:cNvSpPr txBox="1"/>
            <p:nvPr/>
          </p:nvSpPr>
          <p:spPr bwMode="gray">
            <a:xfrm>
              <a:off x="5551857" y="4886348"/>
              <a:ext cx="1090208"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L2TP Header</a:t>
              </a:r>
            </a:p>
          </p:txBody>
        </p:sp>
      </p:grpSp>
      <p:grpSp>
        <p:nvGrpSpPr>
          <p:cNvPr id="13" name="Group 12"/>
          <p:cNvGrpSpPr/>
          <p:nvPr/>
        </p:nvGrpSpPr>
        <p:grpSpPr bwMode="gray">
          <a:xfrm>
            <a:off x="2565634" y="5526835"/>
            <a:ext cx="7431025" cy="287715"/>
            <a:chOff x="2565634" y="5646961"/>
            <a:chExt cx="7431025" cy="287715"/>
          </a:xfrm>
        </p:grpSpPr>
        <p:sp>
          <p:nvSpPr>
            <p:cNvPr id="40" name="TextBox 120">
              <a:extLst>
                <a:ext uri="{FF2B5EF4-FFF2-40B4-BE49-F238E27FC236}">
                  <a16:creationId xmlns:a16="http://schemas.microsoft.com/office/drawing/2014/main" id="{31930744-3D36-4F81-8426-6F129C1A6804}"/>
                </a:ext>
              </a:extLst>
            </p:cNvPr>
            <p:cNvSpPr txBox="1"/>
            <p:nvPr/>
          </p:nvSpPr>
          <p:spPr bwMode="gray">
            <a:xfrm>
              <a:off x="2565634" y="5646961"/>
              <a:ext cx="815756"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Public IP</a:t>
              </a:r>
            </a:p>
          </p:txBody>
        </p:sp>
        <p:sp>
          <p:nvSpPr>
            <p:cNvPr id="41" name="TextBox 120">
              <a:extLst>
                <a:ext uri="{FF2B5EF4-FFF2-40B4-BE49-F238E27FC236}">
                  <a16:creationId xmlns:a16="http://schemas.microsoft.com/office/drawing/2014/main" id="{31930744-3D36-4F81-8426-6F129C1A6804}"/>
                </a:ext>
              </a:extLst>
            </p:cNvPr>
            <p:cNvSpPr txBox="1"/>
            <p:nvPr/>
          </p:nvSpPr>
          <p:spPr bwMode="gray">
            <a:xfrm>
              <a:off x="9431654" y="5646961"/>
              <a:ext cx="565005" cy="287715"/>
            </a:xfrm>
            <a:prstGeom prst="roundRect">
              <a:avLst>
                <a:gd name="adj" fmla="val 6721"/>
              </a:avLst>
            </a:prstGeom>
            <a:solidFill>
              <a:srgbClr val="FFD17D"/>
            </a:solidFill>
            <a:ln w="12700">
              <a:solidFill>
                <a:srgbClr val="FFD17D"/>
              </a:solidFill>
            </a:ln>
          </p:spPr>
          <p:txBody>
            <a:bodyPr wrap="square" rtlCol="0" anchor="ctr">
              <a:spAutoFit/>
            </a:bodyPr>
            <a:lstStyle/>
            <a:p>
              <a:pPr algn="ctr"/>
              <a:r>
                <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2" name="TextBox 120">
              <a:extLst>
                <a:ext uri="{FF2B5EF4-FFF2-40B4-BE49-F238E27FC236}">
                  <a16:creationId xmlns:a16="http://schemas.microsoft.com/office/drawing/2014/main" id="{31930744-3D36-4F81-8426-6F129C1A6804}"/>
                </a:ext>
              </a:extLst>
            </p:cNvPr>
            <p:cNvSpPr txBox="1"/>
            <p:nvPr/>
          </p:nvSpPr>
          <p:spPr bwMode="gray">
            <a:xfrm>
              <a:off x="7483119" y="5646961"/>
              <a:ext cx="1080120" cy="287715"/>
            </a:xfrm>
            <a:prstGeom prst="roundRect">
              <a:avLst>
                <a:gd name="adj" fmla="val 6721"/>
              </a:avLst>
            </a:prstGeom>
            <a:solidFill>
              <a:srgbClr val="8BC9A0"/>
            </a:solidFill>
            <a:ln w="12700">
              <a:solidFill>
                <a:srgbClr val="8BC9A0"/>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PPP Header</a:t>
              </a:r>
            </a:p>
          </p:txBody>
        </p:sp>
        <p:sp>
          <p:nvSpPr>
            <p:cNvPr id="43" name="TextBox 120">
              <a:extLst>
                <a:ext uri="{FF2B5EF4-FFF2-40B4-BE49-F238E27FC236}">
                  <a16:creationId xmlns:a16="http://schemas.microsoft.com/office/drawing/2014/main" id="{31930744-3D36-4F81-8426-6F129C1A6804}"/>
                </a:ext>
              </a:extLst>
            </p:cNvPr>
            <p:cNvSpPr txBox="1"/>
            <p:nvPr/>
          </p:nvSpPr>
          <p:spPr bwMode="gray">
            <a:xfrm>
              <a:off x="8569259" y="5646961"/>
              <a:ext cx="858075"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Private IP</a:t>
              </a:r>
            </a:p>
          </p:txBody>
        </p:sp>
        <p:sp>
          <p:nvSpPr>
            <p:cNvPr id="44" name="TextBox 120">
              <a:extLst>
                <a:ext uri="{FF2B5EF4-FFF2-40B4-BE49-F238E27FC236}">
                  <a16:creationId xmlns:a16="http://schemas.microsoft.com/office/drawing/2014/main" id="{31930744-3D36-4F81-8426-6F129C1A6804}"/>
                </a:ext>
              </a:extLst>
            </p:cNvPr>
            <p:cNvSpPr txBox="1"/>
            <p:nvPr/>
          </p:nvSpPr>
          <p:spPr bwMode="gray">
            <a:xfrm>
              <a:off x="3391478" y="5646961"/>
              <a:ext cx="1067031" cy="287715"/>
            </a:xfrm>
            <a:prstGeom prst="roundRect">
              <a:avLst>
                <a:gd name="adj" fmla="val 6721"/>
              </a:avLst>
            </a:prstGeom>
            <a:solidFill>
              <a:srgbClr val="EC7061"/>
            </a:solidFill>
            <a:ln w="12700">
              <a:solidFill>
                <a:srgbClr val="EC7061"/>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ESP Header</a:t>
              </a:r>
            </a:p>
          </p:txBody>
        </p:sp>
        <p:sp>
          <p:nvSpPr>
            <p:cNvPr id="53" name="TextBox 120">
              <a:extLst>
                <a:ext uri="{FF2B5EF4-FFF2-40B4-BE49-F238E27FC236}">
                  <a16:creationId xmlns:a16="http://schemas.microsoft.com/office/drawing/2014/main" id="{31930744-3D36-4F81-8426-6F129C1A6804}"/>
                </a:ext>
              </a:extLst>
            </p:cNvPr>
            <p:cNvSpPr txBox="1"/>
            <p:nvPr/>
          </p:nvSpPr>
          <p:spPr bwMode="gray">
            <a:xfrm>
              <a:off x="5287493" y="5646961"/>
              <a:ext cx="1090208"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UDP Header</a:t>
              </a:r>
            </a:p>
          </p:txBody>
        </p:sp>
        <p:sp>
          <p:nvSpPr>
            <p:cNvPr id="55" name="TextBox 120">
              <a:extLst>
                <a:ext uri="{FF2B5EF4-FFF2-40B4-BE49-F238E27FC236}">
                  <a16:creationId xmlns:a16="http://schemas.microsoft.com/office/drawing/2014/main" id="{31930744-3D36-4F81-8426-6F129C1A6804}"/>
                </a:ext>
              </a:extLst>
            </p:cNvPr>
            <p:cNvSpPr txBox="1"/>
            <p:nvPr/>
          </p:nvSpPr>
          <p:spPr bwMode="gray">
            <a:xfrm>
              <a:off x="6380841" y="5646961"/>
              <a:ext cx="1090208"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L2TP Header</a:t>
              </a:r>
            </a:p>
          </p:txBody>
        </p:sp>
        <p:sp>
          <p:nvSpPr>
            <p:cNvPr id="56" name="TextBox 120">
              <a:extLst>
                <a:ext uri="{FF2B5EF4-FFF2-40B4-BE49-F238E27FC236}">
                  <a16:creationId xmlns:a16="http://schemas.microsoft.com/office/drawing/2014/main" id="{31930744-3D36-4F81-8426-6F129C1A6804}"/>
                </a:ext>
              </a:extLst>
            </p:cNvPr>
            <p:cNvSpPr txBox="1"/>
            <p:nvPr/>
          </p:nvSpPr>
          <p:spPr bwMode="gray">
            <a:xfrm>
              <a:off x="4468597" y="5646961"/>
              <a:ext cx="815756" cy="287715"/>
            </a:xfrm>
            <a:prstGeom prst="roundRect">
              <a:avLst>
                <a:gd name="adj" fmla="val 6721"/>
              </a:avLst>
            </a:prstGeom>
            <a:solidFill>
              <a:srgbClr val="56C4D2"/>
            </a:solidFill>
            <a:ln w="12700">
              <a:solidFill>
                <a:srgbClr val="56C4D2"/>
              </a:solidFill>
            </a:ln>
          </p:spPr>
          <p:txBody>
            <a:bodyPr wrap="square" rtlCol="0" anchor="ctr">
              <a:spAutoFit/>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Public IP</a:t>
              </a:r>
            </a:p>
          </p:txBody>
        </p:sp>
      </p:grpSp>
      <p:sp>
        <p:nvSpPr>
          <p:cNvPr id="45" name="五边形 24"/>
          <p:cNvSpPr/>
          <p:nvPr/>
        </p:nvSpPr>
        <p:spPr bwMode="gray">
          <a:xfrm>
            <a:off x="8753128" y="100152"/>
            <a:ext cx="1526032" cy="213120"/>
          </a:xfrm>
          <a:prstGeom prst="homePlate">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chemeClr val="bg1"/>
                </a:solidFill>
                <a:latin typeface="Huawei Sans" panose="020C0503030203020204" pitchFamily="34" charset="0"/>
                <a:ea typeface="方正兰亭黑简体" panose="02000000000000000000" pitchFamily="2" charset="-122"/>
              </a:rPr>
              <a:t>使用</a:t>
            </a: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承载流量</a:t>
            </a:r>
          </a:p>
        </p:txBody>
      </p:sp>
      <p:sp>
        <p:nvSpPr>
          <p:cNvPr id="48" name="燕尾形 25"/>
          <p:cNvSpPr/>
          <p:nvPr/>
        </p:nvSpPr>
        <p:spPr bwMode="gray">
          <a:xfrm>
            <a:off x="10218141" y="100152"/>
            <a:ext cx="1538223" cy="211431"/>
          </a:xfrm>
          <a:prstGeom prst="chevron">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穿越</a:t>
            </a:r>
            <a:r>
              <a:rPr lang="en-US" altLang="zh-CN" sz="1200" kern="0" dirty="0">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4275005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IPsec</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穿越</a:t>
            </a:r>
            <a:r>
              <a:rPr lang="en-US" altLang="zh-CN" dirty="0">
                <a:sym typeface="Huawei Sans" panose="020C0503030203020204" pitchFamily="34" charset="0"/>
              </a:rPr>
              <a:t>NAT</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背景</a:t>
            </a:r>
          </a:p>
        </p:txBody>
      </p:sp>
      <p:sp>
        <p:nvSpPr>
          <p:cNvPr id="2" name="文本占位符 1"/>
          <p:cNvSpPr>
            <a:spLocks noGrp="1"/>
          </p:cNvSpPr>
          <p:nvPr>
            <p:ph type="body" sz="quarter" idx="10"/>
          </p:nvPr>
        </p:nvSpPr>
        <p:spPr bwMode="gray"/>
        <p:txBody>
          <a:bodyPr/>
          <a:lstStyle/>
          <a:p>
            <a:r>
              <a:rPr lang="zh-CN" altLang="en-US" sz="1800" dirty="0"/>
              <a:t>默认情况下，</a:t>
            </a:r>
            <a:r>
              <a:rPr lang="en-US" altLang="zh-CN" sz="1800" dirty="0"/>
              <a:t>IPsec</a:t>
            </a:r>
            <a:r>
              <a:rPr lang="zh-CN" altLang="en-US" sz="1800" dirty="0"/>
              <a:t>传输数据时外层</a:t>
            </a:r>
            <a:r>
              <a:rPr lang="en-US" altLang="zh-CN" sz="1800" dirty="0"/>
              <a:t>IP</a:t>
            </a:r>
            <a:r>
              <a:rPr lang="zh-CN" altLang="en-US" sz="1800" dirty="0"/>
              <a:t>头部之上为</a:t>
            </a:r>
            <a:r>
              <a:rPr lang="en-US" altLang="zh-CN" sz="1800" dirty="0"/>
              <a:t>ESP header</a:t>
            </a:r>
            <a:r>
              <a:rPr lang="zh-CN" altLang="en-US" sz="1800" dirty="0"/>
              <a:t>或者</a:t>
            </a:r>
            <a:r>
              <a:rPr lang="en-US" altLang="zh-CN" sz="1800" dirty="0"/>
              <a:t>AH header</a:t>
            </a:r>
            <a:r>
              <a:rPr lang="zh-CN" altLang="en-US" sz="1800" dirty="0"/>
              <a:t>，不管是哪种封装，在传输路径中存在</a:t>
            </a:r>
            <a:r>
              <a:rPr lang="en-US" altLang="zh-CN" sz="1800" dirty="0"/>
              <a:t>NAT</a:t>
            </a:r>
            <a:r>
              <a:rPr lang="zh-CN" altLang="en-US" sz="1800" dirty="0"/>
              <a:t>设备时都会遇到问题。</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3" y="2493236"/>
            <a:ext cx="540000" cy="442800"/>
          </a:xfrm>
          <a:prstGeom prst="rect">
            <a:avLst/>
          </a:prstGeom>
        </p:spPr>
      </p:pic>
      <p:grpSp>
        <p:nvGrpSpPr>
          <p:cNvPr id="26" name="组合 35"/>
          <p:cNvGrpSpPr/>
          <p:nvPr/>
        </p:nvGrpSpPr>
        <p:grpSpPr bwMode="gray">
          <a:xfrm>
            <a:off x="6922772" y="2198155"/>
            <a:ext cx="1830006" cy="1037460"/>
            <a:chOff x="3269076" y="1744970"/>
            <a:chExt cx="1860118" cy="1054529"/>
          </a:xfrm>
          <a:solidFill>
            <a:schemeClr val="bg1">
              <a:lumMod val="75000"/>
            </a:schemeClr>
          </a:solidFill>
        </p:grpSpPr>
        <p:sp>
          <p:nvSpPr>
            <p:cNvPr id="27"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TextBox 46"/>
          <p:cNvSpPr txBox="1"/>
          <p:nvPr/>
        </p:nvSpPr>
        <p:spPr bwMode="gray">
          <a:xfrm>
            <a:off x="7414363" y="2921900"/>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Can 45"/>
          <p:cNvSpPr/>
          <p:nvPr/>
        </p:nvSpPr>
        <p:spPr bwMode="gray">
          <a:xfrm rot="5400000">
            <a:off x="6272562" y="-148767"/>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46"/>
          <p:cNvSpPr txBox="1"/>
          <p:nvPr/>
        </p:nvSpPr>
        <p:spPr bwMode="gray">
          <a:xfrm>
            <a:off x="7246588" y="2569291"/>
            <a:ext cx="1293944" cy="307777"/>
          </a:xfrm>
          <a:prstGeom prst="rect">
            <a:avLst/>
          </a:prstGeom>
          <a:noFill/>
        </p:spPr>
        <p:txBody>
          <a:bodyPr wrap="none" rtlCol="0">
            <a:spAutoFit/>
          </a:bodyPr>
          <a:lstStyle>
            <a:defPPr>
              <a:defRPr lang="en-US"/>
            </a:defPPr>
            <a:lvl1pPr algn="ctr">
              <a:defRPr sz="1400" b="1">
                <a:solidFill>
                  <a:schemeClr val="bg1">
                    <a:lumMod val="50000"/>
                  </a:schemeClr>
                </a:solidFill>
                <a:latin typeface="Huawei Sans" panose="020C0503030203020204" pitchFamily="34" charset="0"/>
                <a:ea typeface="方正兰亭黑简体" panose="02000000000000000000" pitchFamily="2" charset="-122"/>
                <a:cs typeface="+mn-ea"/>
              </a:defRPr>
            </a:lvl1pPr>
          </a:lstStyle>
          <a:p>
            <a:r>
              <a:rPr lang="en-US" altLang="zh-CN" dirty="0">
                <a:solidFill>
                  <a:schemeClr val="bg1"/>
                </a:solidFill>
                <a:sym typeface="Huawei Sans" panose="020C0503030203020204" pitchFamily="34" charset="0"/>
              </a:rPr>
              <a:t>IPsec Tunnel</a:t>
            </a:r>
            <a:endParaRPr lang="zh-CN" altLang="en-US" dirty="0">
              <a:solidFill>
                <a:schemeClr val="bg1"/>
              </a:solidFill>
              <a:sym typeface="Huawei Sans" panose="020C0503030203020204" pitchFamily="34" charset="0"/>
            </a:endParaRPr>
          </a:p>
        </p:txBody>
      </p:sp>
      <p:sp>
        <p:nvSpPr>
          <p:cNvPr id="49" name="TextBox 63"/>
          <p:cNvSpPr txBox="1"/>
          <p:nvPr/>
        </p:nvSpPr>
        <p:spPr bwMode="gray">
          <a:xfrm>
            <a:off x="2994507" y="2951195"/>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TextBox 63"/>
          <p:cNvSpPr txBox="1"/>
          <p:nvPr/>
        </p:nvSpPr>
        <p:spPr bwMode="gray">
          <a:xfrm>
            <a:off x="5619775" y="2951195"/>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79" y="2493236"/>
            <a:ext cx="540000" cy="442800"/>
          </a:xfrm>
          <a:prstGeom prst="rect">
            <a:avLst/>
          </a:prstGeom>
        </p:spPr>
      </p:pic>
      <p:sp>
        <p:nvSpPr>
          <p:cNvPr id="53" name="TextBox 63"/>
          <p:cNvSpPr txBox="1"/>
          <p:nvPr/>
        </p:nvSpPr>
        <p:spPr bwMode="gray">
          <a:xfrm>
            <a:off x="9255181" y="2951195"/>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0" y="2483772"/>
            <a:ext cx="540000" cy="442174"/>
          </a:xfrm>
          <a:prstGeom prst="rect">
            <a:avLst/>
          </a:prstGeom>
        </p:spPr>
      </p:pic>
      <p:sp>
        <p:nvSpPr>
          <p:cNvPr id="105" name="TextBox 43"/>
          <p:cNvSpPr txBox="1"/>
          <p:nvPr/>
        </p:nvSpPr>
        <p:spPr bwMode="gray">
          <a:xfrm>
            <a:off x="3574840" y="2308606"/>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6" name="TextBox 44"/>
          <p:cNvSpPr txBox="1"/>
          <p:nvPr/>
        </p:nvSpPr>
        <p:spPr bwMode="gray">
          <a:xfrm>
            <a:off x="8739730" y="2308606"/>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7" name="TextBox 43"/>
          <p:cNvSpPr txBox="1"/>
          <p:nvPr/>
        </p:nvSpPr>
        <p:spPr bwMode="gray">
          <a:xfrm>
            <a:off x="6204245" y="2308606"/>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108" name="Table 47"/>
          <p:cNvGraphicFramePr>
            <a:graphicFrameLocks noGrp="1"/>
          </p:cNvGraphicFramePr>
          <p:nvPr>
            <p:extLst>
              <p:ext uri="{D42A27DB-BD31-4B8C-83A1-F6EECF244321}">
                <p14:modId xmlns:p14="http://schemas.microsoft.com/office/powerpoint/2010/main" val="2459964330"/>
              </p:ext>
            </p:extLst>
          </p:nvPr>
        </p:nvGraphicFramePr>
        <p:xfrm>
          <a:off x="2605471" y="3542038"/>
          <a:ext cx="2736306" cy="688404"/>
        </p:xfrm>
        <a:graphic>
          <a:graphicData uri="http://schemas.openxmlformats.org/drawingml/2006/table">
            <a:tbl>
              <a:tblPr firstRow="1" bandRow="1">
                <a:tableStyleId>{5C22544A-7EE6-4342-B048-85BDC9FD1C3A}</a:tableStyleId>
              </a:tblPr>
              <a:tblGrid>
                <a:gridCol w="746265">
                  <a:extLst>
                    <a:ext uri="{9D8B030D-6E8A-4147-A177-3AD203B41FA5}">
                      <a16:colId xmlns:a16="http://schemas.microsoft.com/office/drawing/2014/main" val="20000"/>
                    </a:ext>
                  </a:extLst>
                </a:gridCol>
                <a:gridCol w="710729">
                  <a:extLst>
                    <a:ext uri="{9D8B030D-6E8A-4147-A177-3AD203B41FA5}">
                      <a16:colId xmlns:a16="http://schemas.microsoft.com/office/drawing/2014/main" val="20001"/>
                    </a:ext>
                  </a:extLst>
                </a:gridCol>
                <a:gridCol w="759987">
                  <a:extLst>
                    <a:ext uri="{9D8B030D-6E8A-4147-A177-3AD203B41FA5}">
                      <a16:colId xmlns:a16="http://schemas.microsoft.com/office/drawing/2014/main" val="20002"/>
                    </a:ext>
                  </a:extLst>
                </a:gridCol>
                <a:gridCol w="519325">
                  <a:extLst>
                    <a:ext uri="{9D8B030D-6E8A-4147-A177-3AD203B41FA5}">
                      <a16:colId xmlns:a16="http://schemas.microsoft.com/office/drawing/2014/main" val="20003"/>
                    </a:ext>
                  </a:extLst>
                </a:gridCol>
              </a:tblGrid>
              <a:tr h="688404">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Z</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AH Header</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Raw IP Header</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27936"/>
                    </a:solidFill>
                  </a:tcPr>
                </a:tc>
                <a:extLst>
                  <a:ext uri="{0D108BD9-81ED-4DB2-BD59-A6C34878D82A}">
                    <a16:rowId xmlns:a16="http://schemas.microsoft.com/office/drawing/2014/main" val="10000"/>
                  </a:ext>
                </a:extLst>
              </a:tr>
            </a:tbl>
          </a:graphicData>
        </a:graphic>
      </p:graphicFrame>
      <p:cxnSp>
        <p:nvCxnSpPr>
          <p:cNvPr id="110" name="Straight Connector 53"/>
          <p:cNvCxnSpPr/>
          <p:nvPr/>
        </p:nvCxnSpPr>
        <p:spPr bwMode="gray">
          <a:xfrm>
            <a:off x="2605471" y="4275919"/>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11" name="Straight Connector 54"/>
          <p:cNvCxnSpPr/>
          <p:nvPr/>
        </p:nvCxnSpPr>
        <p:spPr bwMode="gray">
          <a:xfrm>
            <a:off x="5355819" y="4275919"/>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12" name="Straight Connector 55"/>
          <p:cNvCxnSpPr/>
          <p:nvPr/>
        </p:nvCxnSpPr>
        <p:spPr bwMode="gray">
          <a:xfrm flipH="1">
            <a:off x="2605471" y="4347927"/>
            <a:ext cx="2736305" cy="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sp>
        <p:nvSpPr>
          <p:cNvPr id="113" name="TextBox 56"/>
          <p:cNvSpPr txBox="1"/>
          <p:nvPr/>
        </p:nvSpPr>
        <p:spPr bwMode="gray">
          <a:xfrm>
            <a:off x="3573513" y="4260576"/>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认证范围</a:t>
            </a:r>
          </a:p>
        </p:txBody>
      </p:sp>
      <p:graphicFrame>
        <p:nvGraphicFramePr>
          <p:cNvPr id="114" name="Table 47"/>
          <p:cNvGraphicFramePr>
            <a:graphicFrameLocks noGrp="1"/>
          </p:cNvGraphicFramePr>
          <p:nvPr>
            <p:extLst>
              <p:ext uri="{D42A27DB-BD31-4B8C-83A1-F6EECF244321}">
                <p14:modId xmlns:p14="http://schemas.microsoft.com/office/powerpoint/2010/main" val="3149695541"/>
              </p:ext>
            </p:extLst>
          </p:nvPr>
        </p:nvGraphicFramePr>
        <p:xfrm>
          <a:off x="6554569" y="3542038"/>
          <a:ext cx="2736306" cy="688404"/>
        </p:xfrm>
        <a:graphic>
          <a:graphicData uri="http://schemas.openxmlformats.org/drawingml/2006/table">
            <a:tbl>
              <a:tblPr firstRow="1" bandRow="1">
                <a:tableStyleId>{5C22544A-7EE6-4342-B048-85BDC9FD1C3A}</a:tableStyleId>
              </a:tblPr>
              <a:tblGrid>
                <a:gridCol w="746265">
                  <a:extLst>
                    <a:ext uri="{9D8B030D-6E8A-4147-A177-3AD203B41FA5}">
                      <a16:colId xmlns:a16="http://schemas.microsoft.com/office/drawing/2014/main" val="20000"/>
                    </a:ext>
                  </a:extLst>
                </a:gridCol>
                <a:gridCol w="710729">
                  <a:extLst>
                    <a:ext uri="{9D8B030D-6E8A-4147-A177-3AD203B41FA5}">
                      <a16:colId xmlns:a16="http://schemas.microsoft.com/office/drawing/2014/main" val="20001"/>
                    </a:ext>
                  </a:extLst>
                </a:gridCol>
                <a:gridCol w="759987">
                  <a:extLst>
                    <a:ext uri="{9D8B030D-6E8A-4147-A177-3AD203B41FA5}">
                      <a16:colId xmlns:a16="http://schemas.microsoft.com/office/drawing/2014/main" val="20002"/>
                    </a:ext>
                  </a:extLst>
                </a:gridCol>
                <a:gridCol w="519325">
                  <a:extLst>
                    <a:ext uri="{9D8B030D-6E8A-4147-A177-3AD203B41FA5}">
                      <a16:colId xmlns:a16="http://schemas.microsoft.com/office/drawing/2014/main" val="20003"/>
                    </a:ext>
                  </a:extLst>
                </a:gridCol>
              </a:tblGrid>
              <a:tr h="688404">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Z</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AH Header</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Raw IP Header</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27936"/>
                    </a:solidFill>
                  </a:tcPr>
                </a:tc>
                <a:extLst>
                  <a:ext uri="{0D108BD9-81ED-4DB2-BD59-A6C34878D82A}">
                    <a16:rowId xmlns:a16="http://schemas.microsoft.com/office/drawing/2014/main" val="10000"/>
                  </a:ext>
                </a:extLst>
              </a:tr>
            </a:tbl>
          </a:graphicData>
        </a:graphic>
      </p:graphicFrame>
      <p:cxnSp>
        <p:nvCxnSpPr>
          <p:cNvPr id="117" name="Straight Connector 53"/>
          <p:cNvCxnSpPr/>
          <p:nvPr/>
        </p:nvCxnSpPr>
        <p:spPr bwMode="gray">
          <a:xfrm>
            <a:off x="6547548" y="4275919"/>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18" name="Straight Connector 54"/>
          <p:cNvCxnSpPr/>
          <p:nvPr/>
        </p:nvCxnSpPr>
        <p:spPr bwMode="gray">
          <a:xfrm>
            <a:off x="9297896" y="4275919"/>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19" name="Straight Connector 55"/>
          <p:cNvCxnSpPr/>
          <p:nvPr/>
        </p:nvCxnSpPr>
        <p:spPr bwMode="gray">
          <a:xfrm flipH="1">
            <a:off x="6547548" y="4347927"/>
            <a:ext cx="2736305" cy="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sp>
        <p:nvSpPr>
          <p:cNvPr id="120" name="TextBox 56"/>
          <p:cNvSpPr txBox="1"/>
          <p:nvPr/>
        </p:nvSpPr>
        <p:spPr bwMode="gray">
          <a:xfrm>
            <a:off x="7515590" y="4260576"/>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认证范围</a:t>
            </a:r>
          </a:p>
        </p:txBody>
      </p:sp>
      <p:cxnSp>
        <p:nvCxnSpPr>
          <p:cNvPr id="121" name="直接箭头连接符 120"/>
          <p:cNvCxnSpPr/>
          <p:nvPr/>
        </p:nvCxnSpPr>
        <p:spPr bwMode="gray">
          <a:xfrm>
            <a:off x="5454824" y="3900324"/>
            <a:ext cx="1058914"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23" name="TextBox 63"/>
          <p:cNvSpPr txBox="1"/>
          <p:nvPr/>
        </p:nvSpPr>
        <p:spPr bwMode="gray">
          <a:xfrm>
            <a:off x="5363066" y="3920520"/>
            <a:ext cx="127150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24" name="TextBox 63"/>
          <p:cNvSpPr txBox="1"/>
          <p:nvPr/>
        </p:nvSpPr>
        <p:spPr bwMode="gray">
          <a:xfrm>
            <a:off x="9428249" y="3341295"/>
            <a:ext cx="2031914" cy="1200329"/>
          </a:xfrm>
          <a:prstGeom prst="rect">
            <a:avLst/>
          </a:prstGeom>
          <a:noFill/>
        </p:spPr>
        <p:txBody>
          <a:bodyPr wrap="square" rtlCol="0">
            <a:spAutoFit/>
          </a:bodyPr>
          <a:lstStyle/>
          <a:p>
            <a:pPr>
              <a:lnSpc>
                <a:spcPct val="120000"/>
              </a:lnSpc>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收到之后验证</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AH</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校验内容，因为外层</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头部中的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地址已经发生变化，校验失败，将该报文丢弃，通信失败。</a:t>
            </a:r>
          </a:p>
        </p:txBody>
      </p:sp>
      <p:cxnSp>
        <p:nvCxnSpPr>
          <p:cNvPr id="137" name="直接箭头连接符 136"/>
          <p:cNvCxnSpPr/>
          <p:nvPr/>
        </p:nvCxnSpPr>
        <p:spPr bwMode="gray">
          <a:xfrm>
            <a:off x="5512043" y="5368612"/>
            <a:ext cx="1199659"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38" name="TextBox 63"/>
          <p:cNvSpPr txBox="1"/>
          <p:nvPr/>
        </p:nvSpPr>
        <p:spPr bwMode="gray">
          <a:xfrm>
            <a:off x="5508016" y="5470829"/>
            <a:ext cx="127150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142" name="TextBox 63"/>
          <p:cNvSpPr txBox="1"/>
          <p:nvPr/>
        </p:nvSpPr>
        <p:spPr bwMode="gray">
          <a:xfrm>
            <a:off x="6867383" y="4903230"/>
            <a:ext cx="3973026" cy="978729"/>
          </a:xfrm>
          <a:prstGeom prst="rect">
            <a:avLst/>
          </a:prstGeom>
          <a:noFill/>
        </p:spPr>
        <p:txBody>
          <a:bodyPr wrap="square" rtlCol="0">
            <a:spAutoFit/>
          </a:bodyPr>
          <a:lstStyle/>
          <a:p>
            <a:pPr>
              <a:lnSpc>
                <a:spcPct val="120000"/>
              </a:lnSpc>
            </a:pP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ESP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校验范围不包括外层</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头部，因此</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不会影响校验结果，但是</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ESP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对原始报文进行加密，并且自身的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ESP Header</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中并无字段支持进行源端口转换，因此</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不支持对</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IP+ESP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封装格式的报文进行转换。</a:t>
            </a:r>
          </a:p>
        </p:txBody>
      </p:sp>
      <p:graphicFrame>
        <p:nvGraphicFramePr>
          <p:cNvPr id="143" name="Table 48"/>
          <p:cNvGraphicFramePr>
            <a:graphicFrameLocks noGrp="1"/>
          </p:cNvGraphicFramePr>
          <p:nvPr>
            <p:extLst>
              <p:ext uri="{D42A27DB-BD31-4B8C-83A1-F6EECF244321}">
                <p14:modId xmlns:p14="http://schemas.microsoft.com/office/powerpoint/2010/main" val="1454517588"/>
              </p:ext>
            </p:extLst>
          </p:nvPr>
        </p:nvGraphicFramePr>
        <p:xfrm>
          <a:off x="1063668" y="4974116"/>
          <a:ext cx="4356484" cy="684000"/>
        </p:xfrm>
        <a:graphic>
          <a:graphicData uri="http://schemas.openxmlformats.org/drawingml/2006/table">
            <a:tbl>
              <a:tblPr firstRow="1" bandRow="1">
                <a:tableStyleId>{5C22544A-7EE6-4342-B048-85BDC9FD1C3A}</a:tableStyleId>
              </a:tblPr>
              <a:tblGrid>
                <a:gridCol w="756084">
                  <a:extLst>
                    <a:ext uri="{9D8B030D-6E8A-4147-A177-3AD203B41FA5}">
                      <a16:colId xmlns:a16="http://schemas.microsoft.com/office/drawing/2014/main" val="20000"/>
                    </a:ext>
                  </a:extLst>
                </a:gridCol>
                <a:gridCol w="720080">
                  <a:extLst>
                    <a:ext uri="{9D8B030D-6E8A-4147-A177-3AD203B41FA5}">
                      <a16:colId xmlns:a16="http://schemas.microsoft.com/office/drawing/2014/main" val="20001"/>
                    </a:ext>
                  </a:extLst>
                </a:gridCol>
                <a:gridCol w="740817">
                  <a:extLst>
                    <a:ext uri="{9D8B030D-6E8A-4147-A177-3AD203B41FA5}">
                      <a16:colId xmlns:a16="http://schemas.microsoft.com/office/drawing/2014/main" val="20002"/>
                    </a:ext>
                  </a:extLst>
                </a:gridCol>
                <a:gridCol w="519323">
                  <a:extLst>
                    <a:ext uri="{9D8B030D-6E8A-4147-A177-3AD203B41FA5}">
                      <a16:colId xmlns:a16="http://schemas.microsoft.com/office/drawing/2014/main" val="20003"/>
                    </a:ext>
                  </a:extLst>
                </a:gridCol>
                <a:gridCol w="684076">
                  <a:extLst>
                    <a:ext uri="{9D8B030D-6E8A-4147-A177-3AD203B41FA5}">
                      <a16:colId xmlns:a16="http://schemas.microsoft.com/office/drawing/2014/main" val="20004"/>
                    </a:ext>
                  </a:extLst>
                </a:gridCol>
                <a:gridCol w="936104">
                  <a:extLst>
                    <a:ext uri="{9D8B030D-6E8A-4147-A177-3AD203B41FA5}">
                      <a16:colId xmlns:a16="http://schemas.microsoft.com/office/drawing/2014/main" val="20005"/>
                    </a:ext>
                  </a:extLst>
                </a:gridCol>
              </a:tblGrid>
              <a:tr h="684000">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X</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Z</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chemeClr val="bg1"/>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Header</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19B2FF"/>
                      </a:solidFill>
                      <a:prstDash val="solid"/>
                      <a:round/>
                      <a:headEnd type="none" w="med" len="med"/>
                      <a:tailEnd type="none" w="med" len="med"/>
                    </a:lnR>
                    <a:lnT w="12700" cap="flat" cmpd="sng" algn="ctr">
                      <a:solidFill>
                        <a:srgbClr val="19B2FF"/>
                      </a:solidFill>
                      <a:prstDash val="solid"/>
                      <a:round/>
                      <a:headEnd type="none" w="med" len="med"/>
                      <a:tailEnd type="none" w="med" len="med"/>
                    </a:lnT>
                    <a:lnB w="12700" cap="flat" cmpd="sng" algn="ctr">
                      <a:solidFill>
                        <a:srgbClr val="19B2FF"/>
                      </a:solidFill>
                      <a:prstDash val="solid"/>
                      <a:round/>
                      <a:headEnd type="none" w="med" len="med"/>
                      <a:tailEnd type="none" w="med" len="med"/>
                    </a:lnB>
                    <a:solidFill>
                      <a:schemeClr val="bg1"/>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Raw IP Header</a:t>
                      </a:r>
                    </a:p>
                  </a:txBody>
                  <a:tcPr anchor="ctr">
                    <a:lnL w="12700" cap="flat" cmpd="sng" algn="ctr">
                      <a:solidFill>
                        <a:srgbClr val="19B2FF"/>
                      </a:solidFill>
                      <a:prstDash val="solid"/>
                      <a:round/>
                      <a:headEnd type="none" w="med" len="med"/>
                      <a:tailEnd type="none" w="med" len="med"/>
                    </a:lnL>
                    <a:lnR w="12700" cap="flat" cmpd="sng" algn="ctr">
                      <a:solidFill>
                        <a:srgbClr val="19B2FF"/>
                      </a:solidFill>
                      <a:prstDash val="solid"/>
                      <a:round/>
                      <a:headEnd type="none" w="med" len="med"/>
                      <a:tailEnd type="none" w="med" len="med"/>
                    </a:lnR>
                    <a:lnT w="12700" cap="flat" cmpd="sng" algn="ctr">
                      <a:solidFill>
                        <a:srgbClr val="19B2FF"/>
                      </a:solidFill>
                      <a:prstDash val="solid"/>
                      <a:round/>
                      <a:headEnd type="none" w="med" len="med"/>
                      <a:tailEnd type="none" w="med" len="med"/>
                    </a:lnT>
                    <a:lnB w="12700" cap="flat" cmpd="sng" algn="ctr">
                      <a:solidFill>
                        <a:srgbClr val="19B2FF"/>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19B2FF"/>
                      </a:solidFill>
                      <a:prstDash val="solid"/>
                      <a:round/>
                      <a:headEnd type="none" w="med" len="med"/>
                      <a:tailEnd type="none" w="med" len="med"/>
                    </a:lnL>
                    <a:lnR w="12700" cap="flat" cmpd="sng" algn="ctr">
                      <a:solidFill>
                        <a:srgbClr val="19B2FF"/>
                      </a:solidFill>
                      <a:prstDash val="solid"/>
                      <a:round/>
                      <a:headEnd type="none" w="med" len="med"/>
                      <a:tailEnd type="none" w="med" len="med"/>
                    </a:lnR>
                    <a:lnT w="12700" cap="flat" cmpd="sng" algn="ctr">
                      <a:solidFill>
                        <a:srgbClr val="19B2FF"/>
                      </a:solidFill>
                      <a:prstDash val="solid"/>
                      <a:round/>
                      <a:headEnd type="none" w="med" len="med"/>
                      <a:tailEnd type="none" w="med" len="med"/>
                    </a:lnT>
                    <a:lnB w="12700" cap="flat" cmpd="sng" algn="ctr">
                      <a:solidFill>
                        <a:srgbClr val="19B2FF"/>
                      </a:solidFill>
                      <a:prstDash val="solid"/>
                      <a:round/>
                      <a:headEnd type="none" w="med" len="med"/>
                      <a:tailEnd type="none" w="med" len="med"/>
                    </a:lnB>
                    <a:solidFill>
                      <a:srgbClr val="F27936"/>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Trailer</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19B2FF"/>
                      </a:solidFill>
                      <a:prstDash val="solid"/>
                      <a:round/>
                      <a:headEnd type="none" w="med" len="med"/>
                      <a:tailEnd type="none" w="med" len="med"/>
                    </a:lnL>
                    <a:lnR w="12700" cap="flat" cmpd="sng" algn="ctr">
                      <a:solidFill>
                        <a:srgbClr val="19B2FF"/>
                      </a:solidFill>
                      <a:prstDash val="solid"/>
                      <a:round/>
                      <a:headEnd type="none" w="med" len="med"/>
                      <a:tailEnd type="none" w="med" len="med"/>
                    </a:lnR>
                    <a:lnT w="12700" cap="flat" cmpd="sng" algn="ctr">
                      <a:solidFill>
                        <a:srgbClr val="19B2FF"/>
                      </a:solidFill>
                      <a:prstDash val="solid"/>
                      <a:round/>
                      <a:headEnd type="none" w="med" len="med"/>
                      <a:tailEnd type="none" w="med" len="med"/>
                    </a:lnT>
                    <a:lnB w="12700" cap="flat" cmpd="sng" algn="ctr">
                      <a:solidFill>
                        <a:srgbClr val="19B2FF"/>
                      </a:solidFill>
                      <a:prstDash val="solid"/>
                      <a:round/>
                      <a:headEnd type="none" w="med" len="med"/>
                      <a:tailEnd type="none" w="med" len="med"/>
                    </a:lnB>
                    <a:solidFill>
                      <a:schemeClr val="bg1"/>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Auth</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data</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19B2FF"/>
                      </a:solidFill>
                      <a:prstDash val="solid"/>
                      <a:round/>
                      <a:headEnd type="none" w="med" len="med"/>
                      <a:tailEnd type="none" w="med" len="med"/>
                    </a:lnL>
                    <a:lnR w="12700" cap="flat" cmpd="sng" algn="ctr">
                      <a:solidFill>
                        <a:srgbClr val="19B2FF"/>
                      </a:solidFill>
                      <a:prstDash val="solid"/>
                      <a:round/>
                      <a:headEnd type="none" w="med" len="med"/>
                      <a:tailEnd type="none" w="med" len="med"/>
                    </a:lnR>
                    <a:lnT w="12700" cap="flat" cmpd="sng" algn="ctr">
                      <a:solidFill>
                        <a:srgbClr val="19B2FF"/>
                      </a:solidFill>
                      <a:prstDash val="solid"/>
                      <a:round/>
                      <a:headEnd type="none" w="med" len="med"/>
                      <a:tailEnd type="none" w="med" len="med"/>
                    </a:lnT>
                    <a:lnB w="12700" cap="flat" cmpd="sng" algn="ctr">
                      <a:solidFill>
                        <a:srgbClr val="19B2FF"/>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145" name="Straight Connector 57"/>
          <p:cNvCxnSpPr/>
          <p:nvPr/>
        </p:nvCxnSpPr>
        <p:spPr bwMode="gray">
          <a:xfrm>
            <a:off x="1879916" y="5949774"/>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46" name="Straight Connector 58"/>
          <p:cNvCxnSpPr/>
          <p:nvPr/>
        </p:nvCxnSpPr>
        <p:spPr bwMode="gray">
          <a:xfrm>
            <a:off x="4549688" y="5926251"/>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47" name="Straight Connector 59"/>
          <p:cNvCxnSpPr/>
          <p:nvPr/>
        </p:nvCxnSpPr>
        <p:spPr bwMode="gray">
          <a:xfrm flipH="1">
            <a:off x="1849389" y="5998259"/>
            <a:ext cx="2700299" cy="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sp>
        <p:nvSpPr>
          <p:cNvPr id="148" name="TextBox 60"/>
          <p:cNvSpPr txBox="1"/>
          <p:nvPr/>
        </p:nvSpPr>
        <p:spPr bwMode="gray">
          <a:xfrm>
            <a:off x="2817430" y="5904436"/>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认证范围</a:t>
            </a:r>
          </a:p>
        </p:txBody>
      </p:sp>
      <p:cxnSp>
        <p:nvCxnSpPr>
          <p:cNvPr id="149" name="Straight Connector 61"/>
          <p:cNvCxnSpPr/>
          <p:nvPr/>
        </p:nvCxnSpPr>
        <p:spPr bwMode="gray">
          <a:xfrm>
            <a:off x="2605471" y="5694119"/>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50" name="Straight Connector 62"/>
          <p:cNvCxnSpPr/>
          <p:nvPr/>
        </p:nvCxnSpPr>
        <p:spPr bwMode="gray">
          <a:xfrm>
            <a:off x="4549688" y="5694119"/>
            <a:ext cx="0" cy="18002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cxnSp>
        <p:nvCxnSpPr>
          <p:cNvPr id="151" name="Straight Connector 63"/>
          <p:cNvCxnSpPr/>
          <p:nvPr/>
        </p:nvCxnSpPr>
        <p:spPr bwMode="gray">
          <a:xfrm flipH="1">
            <a:off x="2605473" y="5766127"/>
            <a:ext cx="1944215" cy="0"/>
          </a:xfrm>
          <a:prstGeom prst="line">
            <a:avLst/>
          </a:prstGeom>
          <a:ln w="19050">
            <a:solidFill>
              <a:srgbClr val="19B2FF"/>
            </a:solidFill>
          </a:ln>
        </p:spPr>
        <p:style>
          <a:lnRef idx="1">
            <a:schemeClr val="accent1"/>
          </a:lnRef>
          <a:fillRef idx="0">
            <a:schemeClr val="accent1"/>
          </a:fillRef>
          <a:effectRef idx="0">
            <a:schemeClr val="accent1"/>
          </a:effectRef>
          <a:fontRef idx="minor">
            <a:schemeClr val="tx1"/>
          </a:fontRef>
        </p:style>
      </p:cxnSp>
      <p:sp>
        <p:nvSpPr>
          <p:cNvPr id="152" name="TextBox 64"/>
          <p:cNvSpPr txBox="1"/>
          <p:nvPr/>
        </p:nvSpPr>
        <p:spPr bwMode="gray">
          <a:xfrm>
            <a:off x="3206563" y="5689865"/>
            <a:ext cx="800219" cy="214571"/>
          </a:xfrm>
          <a:prstGeom prst="rect">
            <a:avLst/>
          </a:prstGeom>
          <a:solidFill>
            <a:schemeClr val="bg1"/>
          </a:solidFill>
        </p:spPr>
        <p:txBody>
          <a:bodyPr wrap="none" rtlCol="0">
            <a:no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加密范围</a:t>
            </a:r>
          </a:p>
        </p:txBody>
      </p:sp>
      <p:cxnSp>
        <p:nvCxnSpPr>
          <p:cNvPr id="156" name="直接连接符 155"/>
          <p:cNvCxnSpPr/>
          <p:nvPr/>
        </p:nvCxnSpPr>
        <p:spPr bwMode="gray">
          <a:xfrm>
            <a:off x="731838" y="4641320"/>
            <a:ext cx="10728325" cy="0"/>
          </a:xfrm>
          <a:prstGeom prst="line">
            <a:avLst/>
          </a:prstGeom>
          <a:ln w="38100">
            <a:solidFill>
              <a:srgbClr val="D9D9D9"/>
            </a:solidFill>
          </a:ln>
        </p:spPr>
        <p:style>
          <a:lnRef idx="1">
            <a:schemeClr val="accent1"/>
          </a:lnRef>
          <a:fillRef idx="0">
            <a:schemeClr val="accent1"/>
          </a:fillRef>
          <a:effectRef idx="0">
            <a:schemeClr val="accent1"/>
          </a:effectRef>
          <a:fontRef idx="minor">
            <a:schemeClr val="tx1"/>
          </a:fontRef>
        </p:style>
      </p:cxnSp>
      <p:sp>
        <p:nvSpPr>
          <p:cNvPr id="157" name="文本框 156"/>
          <p:cNvSpPr txBox="1"/>
          <p:nvPr/>
        </p:nvSpPr>
        <p:spPr bwMode="gray">
          <a:xfrm>
            <a:off x="740403" y="4666050"/>
            <a:ext cx="644893" cy="338554"/>
          </a:xfrm>
          <a:prstGeom prst="rect">
            <a:avLst/>
          </a:prstGeom>
          <a:noFill/>
        </p:spPr>
        <p:txBody>
          <a:bodyPr wrap="square" rtlCol="0">
            <a:spAutoFit/>
          </a:bodyPr>
          <a:lstStyle/>
          <a:p>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ESP</a:t>
            </a:r>
            <a:endPar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8" name="文本框 157"/>
          <p:cNvSpPr txBox="1"/>
          <p:nvPr/>
        </p:nvSpPr>
        <p:spPr bwMode="gray">
          <a:xfrm>
            <a:off x="740403" y="4191514"/>
            <a:ext cx="1093996" cy="338554"/>
          </a:xfrm>
          <a:prstGeom prst="rect">
            <a:avLst/>
          </a:prstGeom>
          <a:noFill/>
        </p:spPr>
        <p:txBody>
          <a:bodyPr wrap="square" rtlCol="0">
            <a:spAutoFit/>
          </a:bodyPr>
          <a:lstStyle>
            <a:defPPr>
              <a:defRPr lang="en-US"/>
            </a:defPPr>
            <a:lvl1pPr algn="ctr">
              <a:defRPr sz="1600"/>
            </a:lvl1pPr>
          </a:lstStyle>
          <a:p>
            <a:pPr algn="l"/>
            <a:r>
              <a:rPr lang="en-US" altLang="zh-CN"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AH</a:t>
            </a:r>
            <a:endParaRPr lang="zh-CN" altLang="en-US"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60" name="组合 28"/>
          <p:cNvGrpSpPr>
            <a:grpSpLocks noChangeAspect="1"/>
          </p:cNvGrpSpPr>
          <p:nvPr/>
        </p:nvGrpSpPr>
        <p:grpSpPr bwMode="gray">
          <a:xfrm>
            <a:off x="6224769" y="5224127"/>
            <a:ext cx="288969" cy="288969"/>
            <a:chOff x="5076056" y="3356992"/>
            <a:chExt cx="436268" cy="436268"/>
          </a:xfrm>
        </p:grpSpPr>
        <p:sp>
          <p:nvSpPr>
            <p:cNvPr id="61" name="椭圆 27"/>
            <p:cNvSpPr/>
            <p:nvPr/>
          </p:nvSpPr>
          <p:spPr bwMode="gray">
            <a:xfrm>
              <a:off x="5076056" y="3356992"/>
              <a:ext cx="432048" cy="432048"/>
            </a:xfrm>
            <a:prstGeom prst="ellipse">
              <a:avLst/>
            </a:prstGeom>
            <a:solidFill>
              <a:sysClr val="window" lastClr="FFFF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784225" eaLnBrk="0" fontAlgn="base" latinLnBrk="0" hangingPunct="0">
                <a:lnSpc>
                  <a:spcPct val="100000"/>
                </a:lnSpc>
                <a:spcBef>
                  <a:spcPct val="0"/>
                </a:spcBef>
                <a:spcAft>
                  <a:spcPct val="0"/>
                </a:spcAft>
                <a:buClrTx/>
                <a:buSzTx/>
                <a:buFontTx/>
                <a:buNone/>
                <a:tabLst/>
                <a:defRPr/>
              </a:pPr>
              <a:endParaRPr kumimoji="0" lang="zh-CN" altLang="en-US" sz="2100" b="0" i="0" u="none" strike="noStrike" kern="0" cap="none" spc="0" normalizeH="0" baseline="0" noProof="0">
                <a:ln>
                  <a:noFill/>
                </a:ln>
                <a:solidFill>
                  <a:prstClr val="black"/>
                </a:solidFill>
                <a:effectLst/>
                <a:uLnTx/>
                <a:uFillTx/>
                <a:sym typeface="Huawei Sans" panose="020C0503030203020204" pitchFamily="34" charset="0"/>
              </a:endParaRPr>
            </a:p>
          </p:txBody>
        </p:sp>
        <p:sp>
          <p:nvSpPr>
            <p:cNvPr id="62" name="禁止符 23"/>
            <p:cNvSpPr/>
            <p:nvPr/>
          </p:nvSpPr>
          <p:spPr bwMode="gray">
            <a:xfrm>
              <a:off x="5076056" y="3356992"/>
              <a:ext cx="436268" cy="436268"/>
            </a:xfrm>
            <a:prstGeom prst="noSmoking">
              <a:avLst>
                <a:gd name="adj" fmla="val 15475"/>
              </a:avLst>
            </a:prstGeom>
            <a:solidFill>
              <a:srgbClr val="EC7061">
                <a:lumMod val="10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EC7061"/>
                </a:solidFill>
                <a:effectLst/>
                <a:uLnTx/>
                <a:uFillTx/>
                <a:latin typeface="Huawei Sans"/>
                <a:ea typeface="方正兰亭黑简体"/>
                <a:cs typeface="+mn-cs"/>
                <a:sym typeface="Huawei Sans" panose="020C0503030203020204" pitchFamily="34" charset="0"/>
              </a:endParaRPr>
            </a:p>
          </p:txBody>
        </p:sp>
      </p:grpSp>
      <p:sp>
        <p:nvSpPr>
          <p:cNvPr id="54"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55"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2169536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解决方式</a:t>
            </a:r>
          </a:p>
        </p:txBody>
      </p:sp>
      <p:sp>
        <p:nvSpPr>
          <p:cNvPr id="2" name="文本占位符 1"/>
          <p:cNvSpPr>
            <a:spLocks noGrp="1"/>
          </p:cNvSpPr>
          <p:nvPr>
            <p:ph type="body" sz="quarter" idx="10"/>
          </p:nvPr>
        </p:nvSpPr>
        <p:spPr bwMode="gray"/>
        <p:txBody>
          <a:bodyPr/>
          <a:lstStyle/>
          <a:p>
            <a:pPr>
              <a:defRPr/>
            </a:pPr>
            <a:r>
              <a:rPr lang="zh-CN" altLang="en-US" sz="1800" dirty="0">
                <a:cs typeface="+mn-ea"/>
                <a:sym typeface="Huawei Sans" panose="020C0503030203020204" pitchFamily="34" charset="0"/>
              </a:rPr>
              <a:t>为解决该问题，必须在建立</a:t>
            </a:r>
            <a:r>
              <a:rPr lang="en-US" altLang="zh-CN" sz="1800" dirty="0">
                <a:cs typeface="+mn-ea"/>
                <a:sym typeface="Huawei Sans" panose="020C0503030203020204" pitchFamily="34" charset="0"/>
              </a:rPr>
              <a:t>IPsec</a:t>
            </a:r>
            <a:r>
              <a:rPr lang="zh-CN" altLang="en-US" sz="1800" dirty="0">
                <a:cs typeface="+mn-ea"/>
                <a:sym typeface="Huawei Sans" panose="020C0503030203020204" pitchFamily="34" charset="0"/>
              </a:rPr>
              <a:t>隧道的两个网关上开启</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穿越功能（</a:t>
            </a:r>
            <a:r>
              <a:rPr lang="en-US" altLang="zh-CN" sz="1800" dirty="0">
                <a:cs typeface="+mn-ea"/>
                <a:sym typeface="Huawei Sans" panose="020C0503030203020204" pitchFamily="34" charset="0"/>
              </a:rPr>
              <a:t>NAT Traversal</a:t>
            </a:r>
            <a:r>
              <a:rPr lang="zh-CN" altLang="en-US" sz="1800" dirty="0">
                <a:cs typeface="+mn-ea"/>
                <a:sym typeface="Huawei Sans" panose="020C0503030203020204" pitchFamily="34" charset="0"/>
              </a:rPr>
              <a:t>）。</a:t>
            </a:r>
            <a:endParaRPr lang="en-US" altLang="zh-CN" sz="1800" dirty="0">
              <a:cs typeface="+mn-ea"/>
              <a:sym typeface="Huawei Sans" panose="020C0503030203020204" pitchFamily="34" charset="0"/>
            </a:endParaRPr>
          </a:p>
          <a:p>
            <a:pPr>
              <a:defRPr/>
            </a:pPr>
            <a:r>
              <a:rPr lang="zh-CN" altLang="en-US" sz="1800" dirty="0">
                <a:cs typeface="+mn-ea"/>
                <a:sym typeface="Huawei Sans" panose="020C0503030203020204" pitchFamily="34" charset="0"/>
              </a:rPr>
              <a:t>开启</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穿越之后，当检测到（</a:t>
            </a:r>
            <a:r>
              <a:rPr lang="en-US" altLang="zh-CN" sz="1800" dirty="0">
                <a:cs typeface="+mn-ea"/>
                <a:sym typeface="Huawei Sans" panose="020C0503030203020204" pitchFamily="34" charset="0"/>
              </a:rPr>
              <a:t>IKE</a:t>
            </a:r>
            <a:r>
              <a:rPr lang="zh-CN" altLang="en-US" sz="1800" dirty="0">
                <a:cs typeface="+mn-ea"/>
                <a:sym typeface="Huawei Sans" panose="020C0503030203020204" pitchFamily="34" charset="0"/>
              </a:rPr>
              <a:t>协商过程中进行检测）两台网关中间存在</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设备，</a:t>
            </a:r>
            <a:r>
              <a:rPr lang="en-US" altLang="zh-CN" sz="1800" dirty="0">
                <a:cs typeface="+mn-ea"/>
                <a:sym typeface="Huawei Sans" panose="020C0503030203020204" pitchFamily="34" charset="0"/>
              </a:rPr>
              <a:t>ESP</a:t>
            </a:r>
            <a:r>
              <a:rPr lang="zh-CN" altLang="en-US" sz="1800" dirty="0">
                <a:cs typeface="+mn-ea"/>
                <a:sym typeface="Huawei Sans" panose="020C0503030203020204" pitchFamily="34" charset="0"/>
              </a:rPr>
              <a:t>报文会被封装在一个</a:t>
            </a:r>
            <a:r>
              <a:rPr lang="en-US" altLang="zh-CN" sz="1800" dirty="0">
                <a:cs typeface="+mn-ea"/>
                <a:sym typeface="Huawei Sans" panose="020C0503030203020204" pitchFamily="34" charset="0"/>
              </a:rPr>
              <a:t>UDP</a:t>
            </a:r>
            <a:r>
              <a:rPr lang="zh-CN" altLang="en-US" sz="1800" dirty="0">
                <a:cs typeface="+mn-ea"/>
                <a:sym typeface="Huawei Sans" panose="020C0503030203020204" pitchFamily="34" charset="0"/>
              </a:rPr>
              <a:t>头部中，源目端口号</a:t>
            </a:r>
            <a:r>
              <a:rPr lang="en-US" altLang="zh-CN" sz="1800" dirty="0">
                <a:cs typeface="+mn-ea"/>
                <a:sym typeface="Huawei Sans" panose="020C0503030203020204" pitchFamily="34" charset="0"/>
              </a:rPr>
              <a:t>4500</a:t>
            </a:r>
            <a:r>
              <a:rPr lang="zh-CN" altLang="en-US" sz="1800" dirty="0">
                <a:cs typeface="+mn-ea"/>
                <a:sym typeface="Huawei Sans" panose="020C0503030203020204" pitchFamily="34" charset="0"/>
              </a:rPr>
              <a:t>，以此支持经过</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设备。</a:t>
            </a:r>
            <a:endParaRPr lang="en-US" altLang="zh-CN" sz="1800" dirty="0">
              <a:cs typeface="+mn-ea"/>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4" y="2981217"/>
            <a:ext cx="540000" cy="442800"/>
          </a:xfrm>
          <a:prstGeom prst="rect">
            <a:avLst/>
          </a:prstGeom>
        </p:spPr>
      </p:pic>
      <p:grpSp>
        <p:nvGrpSpPr>
          <p:cNvPr id="26" name="组合 35"/>
          <p:cNvGrpSpPr/>
          <p:nvPr/>
        </p:nvGrpSpPr>
        <p:grpSpPr bwMode="gray">
          <a:xfrm>
            <a:off x="6922773" y="2686136"/>
            <a:ext cx="1830006" cy="1037460"/>
            <a:chOff x="3269076" y="1744970"/>
            <a:chExt cx="1860118" cy="1054529"/>
          </a:xfrm>
          <a:solidFill>
            <a:schemeClr val="bg1">
              <a:lumMod val="75000"/>
            </a:schemeClr>
          </a:solidFill>
        </p:grpSpPr>
        <p:sp>
          <p:nvSpPr>
            <p:cNvPr id="27"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TextBox 46"/>
          <p:cNvSpPr txBox="1"/>
          <p:nvPr/>
        </p:nvSpPr>
        <p:spPr bwMode="gray">
          <a:xfrm>
            <a:off x="7414364" y="3409881"/>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Can 45"/>
          <p:cNvSpPr/>
          <p:nvPr/>
        </p:nvSpPr>
        <p:spPr bwMode="gray">
          <a:xfrm rot="5400000">
            <a:off x="6272563" y="339214"/>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46"/>
          <p:cNvSpPr txBox="1"/>
          <p:nvPr/>
        </p:nvSpPr>
        <p:spPr bwMode="gray">
          <a:xfrm>
            <a:off x="7246589" y="3057272"/>
            <a:ext cx="1293944" cy="307777"/>
          </a:xfrm>
          <a:prstGeom prst="rect">
            <a:avLst/>
          </a:prstGeom>
          <a:noFill/>
        </p:spPr>
        <p:txBody>
          <a:bodyPr wrap="none" rtlCol="0">
            <a:spAutoFit/>
          </a:bodyPr>
          <a:lstStyle>
            <a:defPPr>
              <a:defRPr lang="en-US"/>
            </a:defPPr>
            <a:lvl1pPr algn="ctr">
              <a:defRPr sz="1400" b="1">
                <a:solidFill>
                  <a:schemeClr val="bg1">
                    <a:lumMod val="50000"/>
                  </a:schemeClr>
                </a:solidFill>
                <a:latin typeface="Huawei Sans" panose="020C0503030203020204" pitchFamily="34" charset="0"/>
                <a:ea typeface="方正兰亭黑简体" panose="02000000000000000000" pitchFamily="2" charset="-122"/>
                <a:cs typeface="+mn-ea"/>
              </a:defRPr>
            </a:lvl1pPr>
          </a:lstStyle>
          <a:p>
            <a:r>
              <a:rPr lang="en-US" altLang="zh-CN" dirty="0">
                <a:solidFill>
                  <a:schemeClr val="bg1"/>
                </a:solidFill>
                <a:sym typeface="Huawei Sans" panose="020C0503030203020204" pitchFamily="34" charset="0"/>
              </a:rPr>
              <a:t>IPsec Tunnel</a:t>
            </a:r>
            <a:endParaRPr lang="zh-CN" altLang="en-US" dirty="0">
              <a:solidFill>
                <a:schemeClr val="bg1"/>
              </a:solidFill>
              <a:sym typeface="Huawei Sans" panose="020C0503030203020204" pitchFamily="34" charset="0"/>
            </a:endParaRPr>
          </a:p>
        </p:txBody>
      </p:sp>
      <p:sp>
        <p:nvSpPr>
          <p:cNvPr id="49" name="TextBox 63"/>
          <p:cNvSpPr txBox="1"/>
          <p:nvPr/>
        </p:nvSpPr>
        <p:spPr bwMode="gray">
          <a:xfrm>
            <a:off x="2995834" y="3439176"/>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TextBox 63"/>
          <p:cNvSpPr txBox="1"/>
          <p:nvPr/>
        </p:nvSpPr>
        <p:spPr bwMode="gray">
          <a:xfrm>
            <a:off x="5619776" y="3439176"/>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80" y="2981217"/>
            <a:ext cx="540000" cy="442800"/>
          </a:xfrm>
          <a:prstGeom prst="rect">
            <a:avLst/>
          </a:prstGeom>
        </p:spPr>
      </p:pic>
      <p:sp>
        <p:nvSpPr>
          <p:cNvPr id="53" name="TextBox 63"/>
          <p:cNvSpPr txBox="1"/>
          <p:nvPr/>
        </p:nvSpPr>
        <p:spPr bwMode="gray">
          <a:xfrm>
            <a:off x="9255182" y="3439176"/>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1" y="2971753"/>
            <a:ext cx="540000" cy="442174"/>
          </a:xfrm>
          <a:prstGeom prst="rect">
            <a:avLst/>
          </a:prstGeom>
        </p:spPr>
      </p:pic>
      <p:sp>
        <p:nvSpPr>
          <p:cNvPr id="105" name="TextBox 43"/>
          <p:cNvSpPr txBox="1"/>
          <p:nvPr/>
        </p:nvSpPr>
        <p:spPr bwMode="gray">
          <a:xfrm>
            <a:off x="3574841" y="2796587"/>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6" name="TextBox 44"/>
          <p:cNvSpPr txBox="1"/>
          <p:nvPr/>
        </p:nvSpPr>
        <p:spPr bwMode="gray">
          <a:xfrm>
            <a:off x="8739731" y="2796587"/>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7" name="TextBox 43"/>
          <p:cNvSpPr txBox="1"/>
          <p:nvPr/>
        </p:nvSpPr>
        <p:spPr bwMode="gray">
          <a:xfrm>
            <a:off x="6204246" y="2796587"/>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137" name="直接箭头连接符 136"/>
          <p:cNvCxnSpPr/>
          <p:nvPr/>
        </p:nvCxnSpPr>
        <p:spPr bwMode="gray">
          <a:xfrm>
            <a:off x="5642672" y="4736446"/>
            <a:ext cx="1199659"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138" name="TextBox 63"/>
          <p:cNvSpPr txBox="1"/>
          <p:nvPr/>
        </p:nvSpPr>
        <p:spPr bwMode="gray">
          <a:xfrm>
            <a:off x="5508017" y="4838663"/>
            <a:ext cx="127150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graphicFrame>
        <p:nvGraphicFramePr>
          <p:cNvPr id="143" name="Table 48"/>
          <p:cNvGraphicFramePr>
            <a:graphicFrameLocks noGrp="1"/>
          </p:cNvGraphicFramePr>
          <p:nvPr>
            <p:extLst>
              <p:ext uri="{D42A27DB-BD31-4B8C-83A1-F6EECF244321}">
                <p14:modId xmlns:p14="http://schemas.microsoft.com/office/powerpoint/2010/main" val="2292108795"/>
              </p:ext>
            </p:extLst>
          </p:nvPr>
        </p:nvGraphicFramePr>
        <p:xfrm>
          <a:off x="832096" y="3823068"/>
          <a:ext cx="5128731" cy="663765"/>
        </p:xfrm>
        <a:graphic>
          <a:graphicData uri="http://schemas.openxmlformats.org/drawingml/2006/table">
            <a:tbl>
              <a:tblPr firstRow="1" bandRow="1">
                <a:tableStyleId>{5C22544A-7EE6-4342-B048-85BDC9FD1C3A}</a:tableStyleId>
              </a:tblPr>
              <a:tblGrid>
                <a:gridCol w="635200">
                  <a:extLst>
                    <a:ext uri="{9D8B030D-6E8A-4147-A177-3AD203B41FA5}">
                      <a16:colId xmlns:a16="http://schemas.microsoft.com/office/drawing/2014/main" val="20000"/>
                    </a:ext>
                  </a:extLst>
                </a:gridCol>
                <a:gridCol w="893066">
                  <a:extLst>
                    <a:ext uri="{9D8B030D-6E8A-4147-A177-3AD203B41FA5}">
                      <a16:colId xmlns:a16="http://schemas.microsoft.com/office/drawing/2014/main" val="20006"/>
                    </a:ext>
                  </a:extLst>
                </a:gridCol>
                <a:gridCol w="691554">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657225">
                  <a:extLst>
                    <a:ext uri="{9D8B030D-6E8A-4147-A177-3AD203B41FA5}">
                      <a16:colId xmlns:a16="http://schemas.microsoft.com/office/drawing/2014/main" val="20004"/>
                    </a:ext>
                  </a:extLst>
                </a:gridCol>
                <a:gridCol w="937236">
                  <a:extLst>
                    <a:ext uri="{9D8B030D-6E8A-4147-A177-3AD203B41FA5}">
                      <a16:colId xmlns:a16="http://schemas.microsoft.com/office/drawing/2014/main" val="20005"/>
                    </a:ext>
                  </a:extLst>
                </a:gridCol>
              </a:tblGrid>
              <a:tr h="663765">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X</a:t>
                      </a: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Z</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UDP</a:t>
                      </a: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SP</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4500</a:t>
                      </a: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DP</a:t>
                      </a:r>
                      <a:r>
                        <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4500</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Header</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Raw IP Header</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27936"/>
                    </a:solid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Trailer</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err="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Auth</a:t>
                      </a: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 data</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56" name="Table 48"/>
          <p:cNvGraphicFramePr>
            <a:graphicFrameLocks noGrp="1"/>
          </p:cNvGraphicFramePr>
          <p:nvPr>
            <p:extLst>
              <p:ext uri="{D42A27DB-BD31-4B8C-83A1-F6EECF244321}">
                <p14:modId xmlns:p14="http://schemas.microsoft.com/office/powerpoint/2010/main" val="3174940513"/>
              </p:ext>
            </p:extLst>
          </p:nvPr>
        </p:nvGraphicFramePr>
        <p:xfrm>
          <a:off x="6306546" y="5191067"/>
          <a:ext cx="5128731" cy="663765"/>
        </p:xfrm>
        <a:graphic>
          <a:graphicData uri="http://schemas.openxmlformats.org/drawingml/2006/table">
            <a:tbl>
              <a:tblPr firstRow="1" bandRow="1">
                <a:tableStyleId>{5C22544A-7EE6-4342-B048-85BDC9FD1C3A}</a:tableStyleId>
              </a:tblPr>
              <a:tblGrid>
                <a:gridCol w="635200">
                  <a:extLst>
                    <a:ext uri="{9D8B030D-6E8A-4147-A177-3AD203B41FA5}">
                      <a16:colId xmlns:a16="http://schemas.microsoft.com/office/drawing/2014/main" val="20000"/>
                    </a:ext>
                  </a:extLst>
                </a:gridCol>
                <a:gridCol w="893066">
                  <a:extLst>
                    <a:ext uri="{9D8B030D-6E8A-4147-A177-3AD203B41FA5}">
                      <a16:colId xmlns:a16="http://schemas.microsoft.com/office/drawing/2014/main" val="20006"/>
                    </a:ext>
                  </a:extLst>
                </a:gridCol>
                <a:gridCol w="691554">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gridCol w="657225">
                  <a:extLst>
                    <a:ext uri="{9D8B030D-6E8A-4147-A177-3AD203B41FA5}">
                      <a16:colId xmlns:a16="http://schemas.microsoft.com/office/drawing/2014/main" val="20004"/>
                    </a:ext>
                  </a:extLst>
                </a:gridCol>
                <a:gridCol w="937236">
                  <a:extLst>
                    <a:ext uri="{9D8B030D-6E8A-4147-A177-3AD203B41FA5}">
                      <a16:colId xmlns:a16="http://schemas.microsoft.com/office/drawing/2014/main" val="20005"/>
                    </a:ext>
                  </a:extLst>
                </a:gridCol>
              </a:tblGrid>
              <a:tr h="663765">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Y</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DA</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Z</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UDP</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SP</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4891</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DP</a:t>
                      </a:r>
                      <a:r>
                        <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4500</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Header</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Raw IP Header</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b="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F27936"/>
                    </a:solid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Trailer</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tc>
                  <a:txBody>
                    <a:bodyPr/>
                    <a:lstStyle/>
                    <a:p>
                      <a:pPr algn="ct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ESP</a:t>
                      </a:r>
                    </a:p>
                    <a:p>
                      <a:pPr algn="ctr"/>
                      <a:r>
                        <a:rPr lang="en-US" altLang="zh-CN" sz="1200" b="0" dirty="0" err="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Auth</a:t>
                      </a:r>
                      <a:r>
                        <a:rPr lang="en-US" altLang="zh-CN"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data</a:t>
                      </a:r>
                      <a:endParaRPr lang="zh-CN" altLang="en-US" sz="1200" b="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7" name="TextBox 63"/>
          <p:cNvSpPr txBox="1"/>
          <p:nvPr/>
        </p:nvSpPr>
        <p:spPr bwMode="gray">
          <a:xfrm>
            <a:off x="5619775" y="5890878"/>
            <a:ext cx="5840387" cy="307777"/>
          </a:xfrm>
          <a:prstGeom prst="rect">
            <a:avLst/>
          </a:prstGeom>
          <a:noFill/>
        </p:spPr>
        <p:txBody>
          <a:bodyPr wrap="square" rtlCol="0">
            <a:spAutoFit/>
          </a:bodyPr>
          <a:lstStyle/>
          <a:p>
            <a:pPr algn="ct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添加了</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UDP</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头部之后，经过</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）会改变</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UDP</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头部中的源端口。</a:t>
            </a:r>
          </a:p>
        </p:txBody>
      </p:sp>
      <p:sp>
        <p:nvSpPr>
          <p:cNvPr id="33"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34"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13883670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检测原理</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25834" y="2002201"/>
            <a:ext cx="540000" cy="442800"/>
          </a:xfrm>
          <a:prstGeom prst="rect">
            <a:avLst/>
          </a:prstGeom>
        </p:spPr>
      </p:pic>
      <p:grpSp>
        <p:nvGrpSpPr>
          <p:cNvPr id="26" name="组合 35"/>
          <p:cNvGrpSpPr/>
          <p:nvPr/>
        </p:nvGrpSpPr>
        <p:grpSpPr bwMode="gray">
          <a:xfrm>
            <a:off x="6652773" y="1707120"/>
            <a:ext cx="1830006" cy="1037460"/>
            <a:chOff x="3269076" y="1744970"/>
            <a:chExt cx="1860118" cy="1054529"/>
          </a:xfrm>
          <a:solidFill>
            <a:schemeClr val="bg1">
              <a:lumMod val="75000"/>
            </a:schemeClr>
          </a:solidFill>
        </p:grpSpPr>
        <p:sp>
          <p:nvSpPr>
            <p:cNvPr id="27"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9" name="TextBox 46"/>
          <p:cNvSpPr txBox="1"/>
          <p:nvPr/>
        </p:nvSpPr>
        <p:spPr bwMode="gray">
          <a:xfrm>
            <a:off x="7144364" y="2430865"/>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4" name="Can 45"/>
          <p:cNvSpPr/>
          <p:nvPr/>
        </p:nvSpPr>
        <p:spPr bwMode="gray">
          <a:xfrm rot="5400000">
            <a:off x="6002563" y="-639802"/>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46"/>
          <p:cNvSpPr txBox="1"/>
          <p:nvPr/>
        </p:nvSpPr>
        <p:spPr bwMode="gray">
          <a:xfrm>
            <a:off x="6976589" y="2078256"/>
            <a:ext cx="1293944" cy="307777"/>
          </a:xfrm>
          <a:prstGeom prst="rect">
            <a:avLst/>
          </a:prstGeom>
          <a:noFill/>
        </p:spPr>
        <p:txBody>
          <a:bodyPr wrap="none" rtlCol="0">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Tunnel</a:t>
            </a:r>
            <a:endParaRPr lang="zh-CN" altLang="en-US"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TextBox 63"/>
          <p:cNvSpPr txBox="1"/>
          <p:nvPr/>
        </p:nvSpPr>
        <p:spPr bwMode="gray">
          <a:xfrm>
            <a:off x="2725835" y="2460160"/>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1" name="TextBox 63"/>
          <p:cNvSpPr txBox="1"/>
          <p:nvPr/>
        </p:nvSpPr>
        <p:spPr bwMode="gray">
          <a:xfrm>
            <a:off x="5349776" y="2460160"/>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52" name="图片 5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985180" y="2002201"/>
            <a:ext cx="540000" cy="442800"/>
          </a:xfrm>
          <a:prstGeom prst="rect">
            <a:avLst/>
          </a:prstGeom>
        </p:spPr>
      </p:pic>
      <p:sp>
        <p:nvSpPr>
          <p:cNvPr id="53" name="TextBox 63"/>
          <p:cNvSpPr txBox="1"/>
          <p:nvPr/>
        </p:nvSpPr>
        <p:spPr bwMode="gray">
          <a:xfrm>
            <a:off x="8985182" y="2460160"/>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407471" y="1992737"/>
            <a:ext cx="540000" cy="442174"/>
          </a:xfrm>
          <a:prstGeom prst="rect">
            <a:avLst/>
          </a:prstGeom>
        </p:spPr>
      </p:pic>
      <p:sp>
        <p:nvSpPr>
          <p:cNvPr id="105" name="TextBox 43"/>
          <p:cNvSpPr txBox="1"/>
          <p:nvPr/>
        </p:nvSpPr>
        <p:spPr bwMode="gray">
          <a:xfrm>
            <a:off x="3304841" y="1817571"/>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6" name="TextBox 44"/>
          <p:cNvSpPr txBox="1"/>
          <p:nvPr/>
        </p:nvSpPr>
        <p:spPr bwMode="gray">
          <a:xfrm>
            <a:off x="8469731" y="1817571"/>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07" name="TextBox 43"/>
          <p:cNvSpPr txBox="1"/>
          <p:nvPr/>
        </p:nvSpPr>
        <p:spPr bwMode="gray">
          <a:xfrm>
            <a:off x="5934246" y="1817571"/>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8" name="TextBox 63"/>
          <p:cNvSpPr txBox="1"/>
          <p:nvPr/>
        </p:nvSpPr>
        <p:spPr bwMode="gray">
          <a:xfrm>
            <a:off x="5158346" y="2685835"/>
            <a:ext cx="127150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graphicFrame>
        <p:nvGraphicFramePr>
          <p:cNvPr id="6" name="表格 5"/>
          <p:cNvGraphicFramePr>
            <a:graphicFrameLocks noGrp="1"/>
          </p:cNvGraphicFramePr>
          <p:nvPr>
            <p:extLst>
              <p:ext uri="{D42A27DB-BD31-4B8C-83A1-F6EECF244321}">
                <p14:modId xmlns:p14="http://schemas.microsoft.com/office/powerpoint/2010/main" val="1579749472"/>
              </p:ext>
            </p:extLst>
          </p:nvPr>
        </p:nvGraphicFramePr>
        <p:xfrm>
          <a:off x="3931285" y="3039034"/>
          <a:ext cx="1113053" cy="611662"/>
        </p:xfrm>
        <a:graphic>
          <a:graphicData uri="http://schemas.openxmlformats.org/drawingml/2006/table">
            <a:tbl>
              <a:tblPr firstRow="1" bandRow="1">
                <a:tableStyleId>{72833802-FEF1-4C79-8D5D-14CF1EAF98D9}</a:tableStyleId>
              </a:tblPr>
              <a:tblGrid>
                <a:gridCol w="1113053">
                  <a:extLst>
                    <a:ext uri="{9D8B030D-6E8A-4147-A177-3AD203B41FA5}">
                      <a16:colId xmlns:a16="http://schemas.microsoft.com/office/drawing/2014/main" val="20000"/>
                    </a:ext>
                  </a:extLst>
                </a:gridCol>
              </a:tblGrid>
              <a:tr h="235665">
                <a:tc>
                  <a:txBody>
                    <a:bodyPr/>
                    <a:lstStyle/>
                    <a:p>
                      <a:pPr algn="ct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ISAKMP</a:t>
                      </a:r>
                      <a:endParaRPr lang="zh-CN" altLang="en-US"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r h="337342">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NAT-T</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59" name="表格 58"/>
          <p:cNvGraphicFramePr>
            <a:graphicFrameLocks noGrp="1"/>
          </p:cNvGraphicFramePr>
          <p:nvPr>
            <p:extLst>
              <p:ext uri="{D42A27DB-BD31-4B8C-83A1-F6EECF244321}">
                <p14:modId xmlns:p14="http://schemas.microsoft.com/office/powerpoint/2010/main" val="2413386610"/>
              </p:ext>
            </p:extLst>
          </p:nvPr>
        </p:nvGraphicFramePr>
        <p:xfrm>
          <a:off x="6875557" y="3389895"/>
          <a:ext cx="1113053" cy="611662"/>
        </p:xfrm>
        <a:graphic>
          <a:graphicData uri="http://schemas.openxmlformats.org/drawingml/2006/table">
            <a:tbl>
              <a:tblPr firstRow="1" bandRow="1">
                <a:tableStyleId>{72833802-FEF1-4C79-8D5D-14CF1EAF98D9}</a:tableStyleId>
              </a:tblPr>
              <a:tblGrid>
                <a:gridCol w="1113053">
                  <a:extLst>
                    <a:ext uri="{9D8B030D-6E8A-4147-A177-3AD203B41FA5}">
                      <a16:colId xmlns:a16="http://schemas.microsoft.com/office/drawing/2014/main" val="20000"/>
                    </a:ext>
                  </a:extLst>
                </a:gridCol>
              </a:tblGrid>
              <a:tr h="235665">
                <a:tc>
                  <a:txBody>
                    <a:bodyPr/>
                    <a:lstStyle/>
                    <a:p>
                      <a:pPr marL="0" algn="ctr" defTabSz="914034" rtl="0" eaLnBrk="1" latinLnBrk="0" hangingPunct="1"/>
                      <a:r>
                        <a:rPr lang="en-US" altLang="zh-CN"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ISAKMP</a:t>
                      </a:r>
                      <a:endParaRPr lang="zh-CN" altLang="en-US"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r h="337342">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NAT-T</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65" name="Straight Arrow Connector 29"/>
          <p:cNvCxnSpPr/>
          <p:nvPr/>
        </p:nvCxnSpPr>
        <p:spPr bwMode="gray">
          <a:xfrm>
            <a:off x="5044338" y="3373470"/>
            <a:ext cx="1010331"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32"/>
          <p:cNvCxnSpPr/>
          <p:nvPr/>
        </p:nvCxnSpPr>
        <p:spPr bwMode="gray">
          <a:xfrm>
            <a:off x="5871581" y="3733295"/>
            <a:ext cx="1010331" cy="0"/>
          </a:xfrm>
          <a:prstGeom prst="straightConnector1">
            <a:avLst/>
          </a:prstGeom>
          <a:ln w="1905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69" name="表格 68"/>
          <p:cNvGraphicFramePr>
            <a:graphicFrameLocks noGrp="1"/>
          </p:cNvGraphicFramePr>
          <p:nvPr>
            <p:extLst>
              <p:ext uri="{D42A27DB-BD31-4B8C-83A1-F6EECF244321}">
                <p14:modId xmlns:p14="http://schemas.microsoft.com/office/powerpoint/2010/main" val="1068629500"/>
              </p:ext>
            </p:extLst>
          </p:nvPr>
        </p:nvGraphicFramePr>
        <p:xfrm>
          <a:off x="3248534" y="3953374"/>
          <a:ext cx="1795804" cy="1008634"/>
        </p:xfrm>
        <a:graphic>
          <a:graphicData uri="http://schemas.openxmlformats.org/drawingml/2006/table">
            <a:tbl>
              <a:tblPr firstRow="1" bandRow="1">
                <a:tableStyleId>{72833802-FEF1-4C79-8D5D-14CF1EAF98D9}</a:tableStyleId>
              </a:tblPr>
              <a:tblGrid>
                <a:gridCol w="1795804">
                  <a:extLst>
                    <a:ext uri="{9D8B030D-6E8A-4147-A177-3AD203B41FA5}">
                      <a16:colId xmlns:a16="http://schemas.microsoft.com/office/drawing/2014/main" val="20000"/>
                    </a:ext>
                  </a:extLst>
                </a:gridCol>
              </a:tblGrid>
              <a:tr h="235665">
                <a:tc>
                  <a:txBody>
                    <a:bodyPr/>
                    <a:lstStyle/>
                    <a:p>
                      <a:pPr marL="0" algn="ctr" defTabSz="914034" rtl="0" eaLnBrk="1" latinLnBrk="0" hangingPunct="1"/>
                      <a:r>
                        <a:rPr lang="en-US" altLang="zh-CN"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ISAKMP</a:t>
                      </a:r>
                      <a:endParaRPr lang="zh-CN" altLang="en-US"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r h="337342">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NAT-D</a:t>
                      </a:r>
                    </a:p>
                    <a:p>
                      <a:pPr algn="ctr">
                        <a:lnSpc>
                          <a:spcPct val="120000"/>
                        </a:lnSpc>
                      </a:pP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remote hash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a:t>
                      </a:r>
                    </a:p>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local hash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B</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70" name="Straight Arrow Connector 29"/>
          <p:cNvCxnSpPr/>
          <p:nvPr/>
        </p:nvCxnSpPr>
        <p:spPr bwMode="gray">
          <a:xfrm>
            <a:off x="5044338" y="4627882"/>
            <a:ext cx="1010331"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72" name="TextBox 63"/>
          <p:cNvSpPr txBox="1"/>
          <p:nvPr/>
        </p:nvSpPr>
        <p:spPr bwMode="gray">
          <a:xfrm>
            <a:off x="8732537" y="4298135"/>
            <a:ext cx="2595905" cy="1015663"/>
          </a:xfrm>
          <a:prstGeom prst="rect">
            <a:avLst/>
          </a:prstGeom>
          <a:noFill/>
        </p:spPr>
        <p:txBody>
          <a:bodyPr wrap="square" rtlCol="0">
            <a:spAutoFit/>
          </a:bodyPr>
          <a:lstStyle/>
          <a:p>
            <a:pPr algn="just"/>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收到报文</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3</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头部中的源</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（此时已经为</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）、源端口（此时非</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500</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）计算</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remote hash</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值，此时得出来的值并不是</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，从而得知中间存在</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cxnSp>
        <p:nvCxnSpPr>
          <p:cNvPr id="77" name="Straight Arrow Connector 32"/>
          <p:cNvCxnSpPr/>
          <p:nvPr/>
        </p:nvCxnSpPr>
        <p:spPr bwMode="gray">
          <a:xfrm>
            <a:off x="5871581" y="4855963"/>
            <a:ext cx="1010331" cy="0"/>
          </a:xfrm>
          <a:prstGeom prst="straightConnector1">
            <a:avLst/>
          </a:prstGeom>
          <a:ln w="19050">
            <a:solidFill>
              <a:srgbClr val="56C4D2"/>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79" name="表格 78"/>
          <p:cNvGraphicFramePr>
            <a:graphicFrameLocks noGrp="1"/>
          </p:cNvGraphicFramePr>
          <p:nvPr>
            <p:extLst>
              <p:ext uri="{D42A27DB-BD31-4B8C-83A1-F6EECF244321}">
                <p14:modId xmlns:p14="http://schemas.microsoft.com/office/powerpoint/2010/main" val="223982834"/>
              </p:ext>
            </p:extLst>
          </p:nvPr>
        </p:nvGraphicFramePr>
        <p:xfrm>
          <a:off x="6875557" y="4301079"/>
          <a:ext cx="1796400" cy="1008634"/>
        </p:xfrm>
        <a:graphic>
          <a:graphicData uri="http://schemas.openxmlformats.org/drawingml/2006/table">
            <a:tbl>
              <a:tblPr firstRow="1" bandRow="1">
                <a:tableStyleId>{72833802-FEF1-4C79-8D5D-14CF1EAF98D9}</a:tableStyleId>
              </a:tblPr>
              <a:tblGrid>
                <a:gridCol w="1796400">
                  <a:extLst>
                    <a:ext uri="{9D8B030D-6E8A-4147-A177-3AD203B41FA5}">
                      <a16:colId xmlns:a16="http://schemas.microsoft.com/office/drawing/2014/main" val="20000"/>
                    </a:ext>
                  </a:extLst>
                </a:gridCol>
              </a:tblGrid>
              <a:tr h="235665">
                <a:tc>
                  <a:txBody>
                    <a:bodyPr/>
                    <a:lstStyle/>
                    <a:p>
                      <a:pPr marL="0" algn="ctr" defTabSz="914034" rtl="0" eaLnBrk="1" latinLnBrk="0" hangingPunct="1"/>
                      <a:r>
                        <a:rPr lang="en-US" altLang="zh-CN"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rPr>
                        <a:t>ISAKMP</a:t>
                      </a:r>
                      <a:endParaRPr lang="zh-CN" altLang="en-US" sz="1200" b="1" kern="1200" dirty="0">
                        <a:solidFill>
                          <a:schemeClr val="bg1"/>
                        </a:solidFill>
                        <a:latin typeface="Huawei Sans" panose="020C0503030203020204" pitchFamily="34" charset="0"/>
                        <a:ea typeface="方正兰亭黑简体" panose="02000000000000000000" pitchFamily="2" charset="-122"/>
                        <a:cs typeface="+mn-cs"/>
                        <a:sym typeface="Huawei Sans" panose="020C0503030203020204" pitchFamily="34" charset="0"/>
                      </a:endParaRP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solidFill>
                      <a:srgbClr val="56C4D2"/>
                    </a:solidFill>
                  </a:tcPr>
                </a:tc>
                <a:extLst>
                  <a:ext uri="{0D108BD9-81ED-4DB2-BD59-A6C34878D82A}">
                    <a16:rowId xmlns:a16="http://schemas.microsoft.com/office/drawing/2014/main" val="10000"/>
                  </a:ext>
                </a:extLst>
              </a:tr>
              <a:tr h="337342">
                <a:tc>
                  <a:txBody>
                    <a:bodyPr/>
                    <a:lstStyle/>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NAT-D</a:t>
                      </a:r>
                    </a:p>
                    <a:p>
                      <a:pPr algn="ctr">
                        <a:lnSpc>
                          <a:spcPct val="120000"/>
                        </a:lnSpc>
                      </a:pPr>
                      <a:r>
                        <a:rPr lang="en-US" altLang="zh-CN" sz="1200"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remote hash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C</a:t>
                      </a:r>
                    </a:p>
                    <a:p>
                      <a:pPr algn="ctr">
                        <a:lnSpc>
                          <a:spcPct val="12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200" baseline="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local hash</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A</a:t>
                      </a:r>
                    </a:p>
                  </a:txBody>
                  <a:tcPr anchor="ctr">
                    <a:lnL w="12700" cap="flat" cmpd="sng" algn="ctr">
                      <a:solidFill>
                        <a:srgbClr val="56C4D2"/>
                      </a:solidFill>
                      <a:prstDash val="solid"/>
                      <a:round/>
                      <a:headEnd type="none" w="med" len="med"/>
                      <a:tailEnd type="none" w="med" len="med"/>
                    </a:lnL>
                    <a:lnR w="12700" cap="flat" cmpd="sng" algn="ctr">
                      <a:solidFill>
                        <a:srgbClr val="56C4D2"/>
                      </a:solidFill>
                      <a:prstDash val="solid"/>
                      <a:round/>
                      <a:headEnd type="none" w="med" len="med"/>
                      <a:tailEnd type="none" w="med" len="med"/>
                    </a:lnR>
                    <a:lnT w="12700" cap="flat" cmpd="sng" algn="ctr">
                      <a:solidFill>
                        <a:srgbClr val="56C4D2"/>
                      </a:solidFill>
                      <a:prstDash val="solid"/>
                      <a:round/>
                      <a:headEnd type="none" w="med" len="med"/>
                      <a:tailEnd type="none" w="med" len="med"/>
                    </a:lnT>
                    <a:lnB w="12700" cap="flat" cmpd="sng" algn="ctr">
                      <a:solidFill>
                        <a:srgbClr val="56C4D2"/>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0" name="TextBox 63"/>
          <p:cNvSpPr txBox="1"/>
          <p:nvPr/>
        </p:nvSpPr>
        <p:spPr bwMode="gray">
          <a:xfrm>
            <a:off x="740966" y="1245455"/>
            <a:ext cx="3831033" cy="461665"/>
          </a:xfrm>
          <a:prstGeom prst="rect">
            <a:avLst/>
          </a:prstGeom>
          <a:noFill/>
        </p:spPr>
        <p:txBody>
          <a:bodyPr wrap="square" rtlCol="0">
            <a:spAutoFit/>
          </a:bodyPr>
          <a:lstStyle/>
          <a:p>
            <a:pPr algn="just"/>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Local</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hash</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：本地</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 + </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端口号</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500</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（默认值）</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just"/>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Remote</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hash</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：对端</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 + </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端口号</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500</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（默认值）</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Text Placeholder 2"/>
          <p:cNvSpPr txBox="1">
            <a:spLocks/>
          </p:cNvSpPr>
          <p:nvPr/>
        </p:nvSpPr>
        <p:spPr bwMode="gray">
          <a:xfrm>
            <a:off x="731838" y="5608962"/>
            <a:ext cx="10728325" cy="476856"/>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buNone/>
            </a:pP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当检测到存在</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设备之后，</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ISAKMP</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会变化使用的</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端口号，从源目端口号</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500</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变为</a:t>
            </a:r>
            <a:r>
              <a:rPr lang="en-US" altLang="zh-CN"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4500</a:t>
            </a:r>
            <a:r>
              <a:rPr lang="zh-CN" altLang="en-US" sz="16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8"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40"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
        <p:nvSpPr>
          <p:cNvPr id="41" name="椭圆 50">
            <a:extLst>
              <a:ext uri="{FF2B5EF4-FFF2-40B4-BE49-F238E27FC236}">
                <a16:creationId xmlns:a16="http://schemas.microsoft.com/office/drawing/2014/main" id="{4C7C4E63-07F2-484E-A141-F01D18F8D379}"/>
              </a:ext>
            </a:extLst>
          </p:cNvPr>
          <p:cNvSpPr/>
          <p:nvPr/>
        </p:nvSpPr>
        <p:spPr bwMode="gray">
          <a:xfrm>
            <a:off x="5133860" y="3257998"/>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椭圆 50">
            <a:extLst>
              <a:ext uri="{FF2B5EF4-FFF2-40B4-BE49-F238E27FC236}">
                <a16:creationId xmlns:a16="http://schemas.microsoft.com/office/drawing/2014/main" id="{4C7C4E63-07F2-484E-A141-F01D18F8D379}"/>
              </a:ext>
            </a:extLst>
          </p:cNvPr>
          <p:cNvSpPr/>
          <p:nvPr/>
        </p:nvSpPr>
        <p:spPr bwMode="gray">
          <a:xfrm>
            <a:off x="6528933" y="3616861"/>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椭圆 50">
            <a:extLst>
              <a:ext uri="{FF2B5EF4-FFF2-40B4-BE49-F238E27FC236}">
                <a16:creationId xmlns:a16="http://schemas.microsoft.com/office/drawing/2014/main" id="{4C7C4E63-07F2-484E-A141-F01D18F8D379}"/>
              </a:ext>
            </a:extLst>
          </p:cNvPr>
          <p:cNvSpPr/>
          <p:nvPr/>
        </p:nvSpPr>
        <p:spPr bwMode="gray">
          <a:xfrm>
            <a:off x="5130908" y="4519924"/>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椭圆 50">
            <a:extLst>
              <a:ext uri="{FF2B5EF4-FFF2-40B4-BE49-F238E27FC236}">
                <a16:creationId xmlns:a16="http://schemas.microsoft.com/office/drawing/2014/main" id="{4C7C4E63-07F2-484E-A141-F01D18F8D379}"/>
              </a:ext>
            </a:extLst>
          </p:cNvPr>
          <p:cNvSpPr/>
          <p:nvPr/>
        </p:nvSpPr>
        <p:spPr bwMode="gray">
          <a:xfrm>
            <a:off x="6528933" y="4748005"/>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8216520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p:cNvSpPr/>
          <p:nvPr/>
        </p:nvSpPr>
        <p:spPr bwMode="gray">
          <a:xfrm flipH="1">
            <a:off x="9125778" y="3740379"/>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62"/>
          <p:cNvGrpSpPr/>
          <p:nvPr/>
        </p:nvGrpSpPr>
        <p:grpSpPr bwMode="gray">
          <a:xfrm>
            <a:off x="10142443" y="3999145"/>
            <a:ext cx="394083" cy="480502"/>
            <a:chOff x="6378575" y="2882900"/>
            <a:chExt cx="858950" cy="865188"/>
          </a:xfrm>
          <a:solidFill>
            <a:schemeClr val="bg1">
              <a:lumMod val="50000"/>
            </a:schemeClr>
          </a:solidFill>
        </p:grpSpPr>
        <p:sp>
          <p:nvSpPr>
            <p:cNvPr id="3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矩形 29"/>
          <p:cNvSpPr/>
          <p:nvPr/>
        </p:nvSpPr>
        <p:spPr bwMode="gray">
          <a:xfrm>
            <a:off x="9574761" y="369926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159"/>
          <p:cNvSpPr/>
          <p:nvPr/>
        </p:nvSpPr>
        <p:spPr bwMode="gray">
          <a:xfrm flipH="1">
            <a:off x="2299120" y="3735354"/>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场景</a:t>
            </a:r>
            <a:r>
              <a:rPr lang="zh-CN" altLang="en-US" dirty="0">
                <a:sym typeface="Huawei Sans" panose="020C0503030203020204" pitchFamily="34" charset="0"/>
              </a:rPr>
              <a:t> </a:t>
            </a:r>
            <a:r>
              <a:rPr lang="en-US" altLang="zh-CN" dirty="0">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占位符 25"/>
          <p:cNvSpPr>
            <a:spLocks noGrp="1"/>
          </p:cNvSpPr>
          <p:nvPr>
            <p:ph type="body" sz="quarter" idx="10"/>
          </p:nvPr>
        </p:nvSpPr>
        <p:spPr bwMode="gray"/>
        <p:txBody>
          <a:bodyPr/>
          <a:lstStyle/>
          <a:p>
            <a:pPr>
              <a:defRPr/>
            </a:pPr>
            <a:r>
              <a:rPr lang="zh-CN" altLang="en-US" sz="1600" dirty="0">
                <a:cs typeface="+mn-ea"/>
                <a:sym typeface="Huawei Sans" panose="020C0503030203020204" pitchFamily="34" charset="0"/>
              </a:rPr>
              <a:t>该场景中，</a:t>
            </a:r>
            <a:r>
              <a:rPr lang="en-US" altLang="zh-CN" sz="1600" dirty="0">
                <a:cs typeface="+mn-ea"/>
                <a:sym typeface="Huawei Sans" panose="020C0503030203020204" pitchFamily="34" charset="0"/>
              </a:rPr>
              <a:t>NAT</a:t>
            </a:r>
            <a:r>
              <a:rPr lang="zh-CN" altLang="en-US" sz="1600" dirty="0">
                <a:cs typeface="+mn-ea"/>
                <a:sym typeface="Huawei Sans" panose="020C0503030203020204" pitchFamily="34" charset="0"/>
              </a:rPr>
              <a:t>设备位于分部网络之外，分部网关</a:t>
            </a:r>
            <a:r>
              <a:rPr lang="en-US" altLang="zh-CN" sz="1600" dirty="0">
                <a:cs typeface="+mn-ea"/>
                <a:sym typeface="Huawei Sans" panose="020C0503030203020204" pitchFamily="34" charset="0"/>
              </a:rPr>
              <a:t>1</a:t>
            </a:r>
            <a:r>
              <a:rPr lang="zh-CN" altLang="en-US" sz="1600" dirty="0">
                <a:cs typeface="+mn-ea"/>
                <a:sym typeface="Huawei Sans" panose="020C0503030203020204" pitchFamily="34" charset="0"/>
              </a:rPr>
              <a:t>出接口的私网</a:t>
            </a:r>
            <a:r>
              <a:rPr lang="en-US" altLang="zh-CN" sz="1600" dirty="0">
                <a:cs typeface="+mn-ea"/>
                <a:sym typeface="Huawei Sans" panose="020C0503030203020204" pitchFamily="34" charset="0"/>
              </a:rPr>
              <a:t>IP</a:t>
            </a:r>
            <a:r>
              <a:rPr lang="zh-CN" altLang="en-US" sz="1600" dirty="0">
                <a:cs typeface="+mn-ea"/>
                <a:sym typeface="Huawei Sans" panose="020C0503030203020204" pitchFamily="34" charset="0"/>
              </a:rPr>
              <a:t>地址</a:t>
            </a:r>
            <a:r>
              <a:rPr lang="en-US" altLang="zh-CN" sz="1600" dirty="0">
                <a:cs typeface="+mn-ea"/>
                <a:sym typeface="Huawei Sans" panose="020C0503030203020204" pitchFamily="34" charset="0"/>
              </a:rPr>
              <a:t>X</a:t>
            </a:r>
            <a:r>
              <a:rPr lang="zh-CN" altLang="en-US" sz="1600" dirty="0">
                <a:cs typeface="+mn-ea"/>
                <a:sym typeface="Huawei Sans" panose="020C0503030203020204" pitchFamily="34" charset="0"/>
              </a:rPr>
              <a:t>，经过</a:t>
            </a:r>
            <a:r>
              <a:rPr lang="en-US" altLang="zh-CN" sz="1600" dirty="0">
                <a:cs typeface="+mn-ea"/>
                <a:sym typeface="Huawei Sans" panose="020C0503030203020204" pitchFamily="34" charset="0"/>
              </a:rPr>
              <a:t>NAT</a:t>
            </a:r>
            <a:r>
              <a:rPr lang="zh-CN" altLang="en-US" sz="1600" dirty="0">
                <a:cs typeface="+mn-ea"/>
                <a:sym typeface="Huawei Sans" panose="020C0503030203020204" pitchFamily="34" charset="0"/>
              </a:rPr>
              <a:t>设备转换后变为公网</a:t>
            </a:r>
            <a:r>
              <a:rPr lang="en-US" altLang="zh-CN" sz="1600" dirty="0">
                <a:cs typeface="+mn-ea"/>
                <a:sym typeface="Huawei Sans" panose="020C0503030203020204" pitchFamily="34" charset="0"/>
              </a:rPr>
              <a:t>IP</a:t>
            </a:r>
            <a:r>
              <a:rPr lang="zh-CN" altLang="en-US" sz="1600" dirty="0">
                <a:cs typeface="+mn-ea"/>
                <a:sym typeface="Huawei Sans" panose="020C0503030203020204" pitchFamily="34" charset="0"/>
              </a:rPr>
              <a:t>地址</a:t>
            </a:r>
            <a:r>
              <a:rPr lang="en-US" altLang="zh-CN" sz="1600" dirty="0">
                <a:cs typeface="+mn-ea"/>
                <a:sym typeface="Huawei Sans" panose="020C0503030203020204" pitchFamily="34" charset="0"/>
              </a:rPr>
              <a:t>Y</a:t>
            </a:r>
            <a:r>
              <a:rPr lang="zh-CN" altLang="en-US" sz="1600" dirty="0">
                <a:cs typeface="+mn-ea"/>
                <a:sym typeface="Huawei Sans" panose="020C0503030203020204" pitchFamily="34" charset="0"/>
              </a:rPr>
              <a:t>。由于总部无从获知经过</a:t>
            </a:r>
            <a:r>
              <a:rPr lang="en-US" altLang="zh-CN" sz="1600" dirty="0">
                <a:cs typeface="+mn-ea"/>
                <a:sym typeface="Huawei Sans" panose="020C0503030203020204" pitchFamily="34" charset="0"/>
              </a:rPr>
              <a:t>NAT</a:t>
            </a:r>
            <a:r>
              <a:rPr lang="zh-CN" altLang="en-US" sz="1600" dirty="0">
                <a:cs typeface="+mn-ea"/>
                <a:sym typeface="Huawei Sans" panose="020C0503030203020204" pitchFamily="34" charset="0"/>
              </a:rPr>
              <a:t>设备转换后的分部公网</a:t>
            </a:r>
            <a:r>
              <a:rPr lang="en-US" altLang="zh-CN" sz="1600" dirty="0">
                <a:cs typeface="+mn-ea"/>
                <a:sym typeface="Huawei Sans" panose="020C0503030203020204" pitchFamily="34" charset="0"/>
              </a:rPr>
              <a:t>IP</a:t>
            </a:r>
            <a:r>
              <a:rPr lang="zh-CN" altLang="en-US" sz="1600" dirty="0">
                <a:cs typeface="+mn-ea"/>
                <a:sym typeface="Huawei Sans" panose="020C0503030203020204" pitchFamily="34" charset="0"/>
              </a:rPr>
              <a:t>地址，也就无法在总部网关</a:t>
            </a:r>
            <a:r>
              <a:rPr lang="en-US" altLang="zh-CN" sz="1600" dirty="0">
                <a:cs typeface="+mn-ea"/>
                <a:sym typeface="Huawei Sans" panose="020C0503030203020204" pitchFamily="34" charset="0"/>
              </a:rPr>
              <a:t>1</a:t>
            </a:r>
            <a:r>
              <a:rPr lang="zh-CN" altLang="en-US" sz="1600" dirty="0">
                <a:cs typeface="+mn-ea"/>
                <a:sym typeface="Huawei Sans" panose="020C0503030203020204" pitchFamily="34" charset="0"/>
              </a:rPr>
              <a:t>上明确指定对端的公网地址。因此，总部网关</a:t>
            </a:r>
            <a:r>
              <a:rPr lang="en-US" altLang="zh-CN" sz="1600" dirty="0">
                <a:cs typeface="+mn-ea"/>
                <a:sym typeface="Huawei Sans" panose="020C0503030203020204" pitchFamily="34" charset="0"/>
              </a:rPr>
              <a:t>2</a:t>
            </a:r>
            <a:r>
              <a:rPr lang="zh-CN" altLang="en-US" sz="1600" dirty="0">
                <a:cs typeface="+mn-ea"/>
                <a:sym typeface="Huawei Sans" panose="020C0503030203020204" pitchFamily="34" charset="0"/>
              </a:rPr>
              <a:t>必须使用模板方式来配置</a:t>
            </a:r>
            <a:r>
              <a:rPr lang="en-US" altLang="zh-CN" sz="1600" dirty="0">
                <a:cs typeface="+mn-ea"/>
                <a:sym typeface="Huawei Sans" panose="020C0503030203020204" pitchFamily="34" charset="0"/>
              </a:rPr>
              <a:t>IPsec</a:t>
            </a:r>
            <a:r>
              <a:rPr lang="zh-CN" altLang="en-US" sz="1600" dirty="0">
                <a:cs typeface="+mn-ea"/>
                <a:sym typeface="Huawei Sans" panose="020C0503030203020204" pitchFamily="34" charset="0"/>
              </a:rPr>
              <a:t>，同时总部和分布的网关上都要开启</a:t>
            </a:r>
            <a:r>
              <a:rPr lang="en-US" altLang="zh-CN" sz="1600" dirty="0">
                <a:cs typeface="+mn-ea"/>
                <a:sym typeface="Huawei Sans" panose="020C0503030203020204" pitchFamily="34" charset="0"/>
              </a:rPr>
              <a:t>NAT</a:t>
            </a:r>
            <a:r>
              <a:rPr lang="zh-CN" altLang="en-US" sz="1600" dirty="0">
                <a:cs typeface="+mn-ea"/>
                <a:sym typeface="Huawei Sans" panose="020C0503030203020204" pitchFamily="34" charset="0"/>
              </a:rPr>
              <a:t>穿越功能。</a:t>
            </a:r>
          </a:p>
          <a:p>
            <a:pPr>
              <a:defRPr/>
            </a:pPr>
            <a:r>
              <a:rPr lang="zh-CN" altLang="en-US" sz="1600" dirty="0">
                <a:cs typeface="+mn-ea"/>
                <a:sym typeface="Huawei Sans" panose="020C0503030203020204" pitchFamily="34" charset="0"/>
              </a:rPr>
              <a:t>总部既然使用了模板方式，那就无法主动访问分部，只能由分部主动向总部发起</a:t>
            </a:r>
            <a:r>
              <a:rPr lang="en-US" altLang="zh-CN" sz="1600" dirty="0">
                <a:cs typeface="+mn-ea"/>
                <a:sym typeface="Huawei Sans" panose="020C0503030203020204" pitchFamily="34" charset="0"/>
              </a:rPr>
              <a:t>ISAKMP</a:t>
            </a:r>
            <a:r>
              <a:rPr lang="zh-CN" altLang="en-US" sz="1600" dirty="0">
                <a:cs typeface="+mn-ea"/>
                <a:sym typeface="Huawei Sans" panose="020C0503030203020204" pitchFamily="34" charset="0"/>
              </a:rPr>
              <a:t>协商。</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4" y="4024082"/>
            <a:ext cx="540000" cy="442800"/>
          </a:xfrm>
          <a:prstGeom prst="rect">
            <a:avLst/>
          </a:prstGeom>
        </p:spPr>
      </p:pic>
      <p:grpSp>
        <p:nvGrpSpPr>
          <p:cNvPr id="5" name="组合 35"/>
          <p:cNvGrpSpPr/>
          <p:nvPr/>
        </p:nvGrpSpPr>
        <p:grpSpPr bwMode="gray">
          <a:xfrm>
            <a:off x="6922773" y="3729001"/>
            <a:ext cx="1830006" cy="1037460"/>
            <a:chOff x="3269076" y="1744970"/>
            <a:chExt cx="1860118" cy="1054529"/>
          </a:xfrm>
          <a:solidFill>
            <a:schemeClr val="bg1">
              <a:lumMod val="75000"/>
            </a:schemeClr>
          </a:solidFill>
        </p:grpSpPr>
        <p:sp>
          <p:nvSpPr>
            <p:cNvPr id="6"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TextBox 46"/>
          <p:cNvSpPr txBox="1"/>
          <p:nvPr/>
        </p:nvSpPr>
        <p:spPr bwMode="gray">
          <a:xfrm>
            <a:off x="7414364" y="4452746"/>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Can 45"/>
          <p:cNvSpPr/>
          <p:nvPr/>
        </p:nvSpPr>
        <p:spPr bwMode="gray">
          <a:xfrm rot="5400000">
            <a:off x="6272563" y="1382079"/>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6"/>
          <p:cNvSpPr txBox="1"/>
          <p:nvPr/>
        </p:nvSpPr>
        <p:spPr bwMode="gray">
          <a:xfrm>
            <a:off x="7246589" y="4100137"/>
            <a:ext cx="1293944" cy="307777"/>
          </a:xfrm>
          <a:prstGeom prst="rect">
            <a:avLst/>
          </a:prstGeom>
          <a:noFill/>
        </p:spPr>
        <p:txBody>
          <a:bodyPr wrap="none" rtlCol="0">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Tunnel</a:t>
            </a:r>
            <a:endParaRPr lang="zh-CN" altLang="en-US"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TextBox 63"/>
          <p:cNvSpPr txBox="1"/>
          <p:nvPr/>
        </p:nvSpPr>
        <p:spPr bwMode="gray">
          <a:xfrm>
            <a:off x="2995835" y="448204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TextBox 63"/>
          <p:cNvSpPr txBox="1"/>
          <p:nvPr/>
        </p:nvSpPr>
        <p:spPr bwMode="gray">
          <a:xfrm>
            <a:off x="5619776" y="4482041"/>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80" y="4024082"/>
            <a:ext cx="540000" cy="442800"/>
          </a:xfrm>
          <a:prstGeom prst="rect">
            <a:avLst/>
          </a:prstGeom>
        </p:spPr>
      </p:pic>
      <p:sp>
        <p:nvSpPr>
          <p:cNvPr id="18" name="TextBox 63"/>
          <p:cNvSpPr txBox="1"/>
          <p:nvPr/>
        </p:nvSpPr>
        <p:spPr bwMode="gray">
          <a:xfrm>
            <a:off x="9255182" y="448204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1" y="4014618"/>
            <a:ext cx="540000" cy="442174"/>
          </a:xfrm>
          <a:prstGeom prst="rect">
            <a:avLst/>
          </a:prstGeom>
        </p:spPr>
      </p:pic>
      <p:sp>
        <p:nvSpPr>
          <p:cNvPr id="20" name="TextBox 43"/>
          <p:cNvSpPr txBox="1"/>
          <p:nvPr/>
        </p:nvSpPr>
        <p:spPr bwMode="gray">
          <a:xfrm>
            <a:off x="3574841" y="3839452"/>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TextBox 44"/>
          <p:cNvSpPr txBox="1"/>
          <p:nvPr/>
        </p:nvSpPr>
        <p:spPr bwMode="gray">
          <a:xfrm>
            <a:off x="8739731" y="3839452"/>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TextBox 43"/>
          <p:cNvSpPr txBox="1"/>
          <p:nvPr/>
        </p:nvSpPr>
        <p:spPr bwMode="gray">
          <a:xfrm>
            <a:off x="6204246" y="3839452"/>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186"/>
          <p:cNvSpPr>
            <a:spLocks noEditPoints="1"/>
          </p:cNvSpPr>
          <p:nvPr/>
        </p:nvSpPr>
        <p:spPr bwMode="gray">
          <a:xfrm>
            <a:off x="2458266" y="4023763"/>
            <a:ext cx="460303" cy="46161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2615336" y="369926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分部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 Placeholder 2"/>
          <p:cNvSpPr txBox="1">
            <a:spLocks/>
          </p:cNvSpPr>
          <p:nvPr/>
        </p:nvSpPr>
        <p:spPr bwMode="gray">
          <a:xfrm>
            <a:off x="2299120" y="4738623"/>
            <a:ext cx="1809823" cy="38591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NAT Traversal</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 Placeholder 2"/>
          <p:cNvSpPr txBox="1">
            <a:spLocks/>
          </p:cNvSpPr>
          <p:nvPr/>
        </p:nvSpPr>
        <p:spPr bwMode="gray">
          <a:xfrm>
            <a:off x="9168474" y="4727965"/>
            <a:ext cx="2576026" cy="663185"/>
          </a:xfrm>
          <a:prstGeom prst="rect">
            <a:avLst/>
          </a:prstGeom>
        </p:spPr>
        <p:txBody>
          <a:bodyPr/>
          <a:lstStyle>
            <a:defPPr>
              <a:defRPr lang="en-US"/>
            </a:defPPr>
            <a:lvl1pPr indent="0" algn="ctr" defTabSz="914034">
              <a:lnSpc>
                <a:spcPct val="140000"/>
              </a:lnSpc>
              <a:spcBef>
                <a:spcPts val="792"/>
              </a:spcBef>
              <a:buFont typeface="Arial" panose="020B0604020202020204" pitchFamily="34" charset="0"/>
              <a:buNone/>
              <a:defRPr sz="1400">
                <a:solidFill>
                  <a:srgbClr val="62B230"/>
                </a:solidFill>
                <a:latin typeface="Huawei Sans" panose="020C0503030203020204" pitchFamily="34" charset="0"/>
                <a:ea typeface="方正兰亭黑简体" panose="02000000000000000000" pitchFamily="2" charset="-122"/>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lgn="just"/>
            <a:r>
              <a:rPr lang="zh-CN" altLang="en-US" dirty="0">
                <a:solidFill>
                  <a:srgbClr val="C7000B"/>
                </a:solidFill>
                <a:sym typeface="Huawei Sans" panose="020C0503030203020204" pitchFamily="34" charset="0"/>
              </a:rPr>
              <a:t>开启</a:t>
            </a:r>
            <a:r>
              <a:rPr lang="en-US" altLang="zh-CN" dirty="0">
                <a:solidFill>
                  <a:srgbClr val="C7000B"/>
                </a:solidFill>
                <a:sym typeface="Huawei Sans" panose="020C0503030203020204" pitchFamily="34" charset="0"/>
              </a:rPr>
              <a:t>NAT Traversal</a:t>
            </a:r>
          </a:p>
          <a:p>
            <a:pPr algn="just"/>
            <a:r>
              <a:rPr lang="zh-CN" altLang="en-US" dirty="0">
                <a:solidFill>
                  <a:srgbClr val="C7000B"/>
                </a:solidFill>
                <a:sym typeface="Huawei Sans" panose="020C0503030203020204" pitchFamily="34" charset="0"/>
              </a:rPr>
              <a:t>使用模板方式建立</a:t>
            </a:r>
            <a:r>
              <a:rPr lang="en-US" altLang="zh-CN" dirty="0">
                <a:solidFill>
                  <a:srgbClr val="C7000B"/>
                </a:solidFill>
                <a:sym typeface="Huawei Sans" panose="020C0503030203020204" pitchFamily="34" charset="0"/>
              </a:rPr>
              <a:t>IPsec VPN</a:t>
            </a:r>
            <a:endParaRPr lang="zh-CN" altLang="en-US" dirty="0">
              <a:solidFill>
                <a:srgbClr val="C7000B"/>
              </a:solidFill>
              <a:sym typeface="Huawei Sans" panose="020C0503030203020204" pitchFamily="34" charset="0"/>
            </a:endParaRPr>
          </a:p>
        </p:txBody>
      </p:sp>
      <p:cxnSp>
        <p:nvCxnSpPr>
          <p:cNvPr id="38" name="直接箭头连接符 37"/>
          <p:cNvCxnSpPr/>
          <p:nvPr/>
        </p:nvCxnSpPr>
        <p:spPr bwMode="gray">
          <a:xfrm>
            <a:off x="4161713" y="5523367"/>
            <a:ext cx="3320263"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 Placeholder 2"/>
          <p:cNvSpPr txBox="1">
            <a:spLocks/>
          </p:cNvSpPr>
          <p:nvPr/>
        </p:nvSpPr>
        <p:spPr bwMode="gray">
          <a:xfrm>
            <a:off x="4161712" y="5529672"/>
            <a:ext cx="2867737" cy="38591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ctr">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只能由分部主动发起</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ISAKMP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协商</a:t>
            </a:r>
          </a:p>
        </p:txBody>
      </p:sp>
      <p:sp>
        <p:nvSpPr>
          <p:cNvPr id="42" name="椭圆 41"/>
          <p:cNvSpPr>
            <a:spLocks noChangeAspect="1"/>
          </p:cNvSpPr>
          <p:nvPr/>
        </p:nvSpPr>
        <p:spPr bwMode="gray">
          <a:xfrm>
            <a:off x="6164789" y="4105020"/>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椭圆 42"/>
          <p:cNvSpPr>
            <a:spLocks noChangeAspect="1"/>
          </p:cNvSpPr>
          <p:nvPr/>
        </p:nvSpPr>
        <p:spPr bwMode="gray">
          <a:xfrm>
            <a:off x="2299120" y="3092283"/>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43"/>
          <p:cNvSpPr txBox="1"/>
          <p:nvPr/>
        </p:nvSpPr>
        <p:spPr bwMode="gray">
          <a:xfrm>
            <a:off x="2580728" y="3079784"/>
            <a:ext cx="127150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41"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45"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18399223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p:cNvSpPr/>
          <p:nvPr/>
        </p:nvSpPr>
        <p:spPr bwMode="gray">
          <a:xfrm flipH="1">
            <a:off x="9125778" y="3740379"/>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62"/>
          <p:cNvGrpSpPr/>
          <p:nvPr/>
        </p:nvGrpSpPr>
        <p:grpSpPr bwMode="gray">
          <a:xfrm>
            <a:off x="10142443" y="3999145"/>
            <a:ext cx="394083" cy="480502"/>
            <a:chOff x="6378575" y="2882900"/>
            <a:chExt cx="858950" cy="865188"/>
          </a:xfrm>
          <a:solidFill>
            <a:schemeClr val="bg1">
              <a:lumMod val="50000"/>
            </a:schemeClr>
          </a:solidFill>
        </p:grpSpPr>
        <p:sp>
          <p:nvSpPr>
            <p:cNvPr id="3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矩形 29"/>
          <p:cNvSpPr/>
          <p:nvPr/>
        </p:nvSpPr>
        <p:spPr bwMode="gray">
          <a:xfrm>
            <a:off x="9574761" y="369926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159"/>
          <p:cNvSpPr/>
          <p:nvPr/>
        </p:nvSpPr>
        <p:spPr bwMode="gray">
          <a:xfrm flipH="1">
            <a:off x="2299120" y="3735354"/>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场景</a:t>
            </a:r>
            <a:r>
              <a:rPr lang="zh-CN" altLang="en-US" dirty="0">
                <a:sym typeface="Huawei Sans" panose="020C0503030203020204" pitchFamily="34" charset="0"/>
              </a:rPr>
              <a:t> </a:t>
            </a:r>
            <a:r>
              <a:rPr lang="en-US" altLang="zh-CN" dirty="0">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占位符 25"/>
          <p:cNvSpPr>
            <a:spLocks noGrp="1"/>
          </p:cNvSpPr>
          <p:nvPr>
            <p:ph type="body" sz="quarter" idx="10"/>
          </p:nvPr>
        </p:nvSpPr>
        <p:spPr bwMode="gray"/>
        <p:txBody>
          <a:bodyPr/>
          <a:lstStyle/>
          <a:p>
            <a:pPr>
              <a:defRPr/>
            </a:pPr>
            <a:r>
              <a:rPr lang="zh-CN" altLang="en-US" sz="1800" dirty="0">
                <a:cs typeface="+mn-ea"/>
                <a:sym typeface="Huawei Sans" panose="020C0503030203020204" pitchFamily="34" charset="0"/>
              </a:rPr>
              <a:t>该场景中，</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设备位于分部网络之外，分部网关</a:t>
            </a:r>
            <a:r>
              <a:rPr lang="en-US" altLang="zh-CN" sz="1800" dirty="0">
                <a:cs typeface="+mn-ea"/>
                <a:sym typeface="Huawei Sans" panose="020C0503030203020204" pitchFamily="34" charset="0"/>
              </a:rPr>
              <a:t>1</a:t>
            </a:r>
            <a:r>
              <a:rPr lang="zh-CN" altLang="en-US" sz="1800" dirty="0">
                <a:cs typeface="+mn-ea"/>
                <a:sym typeface="Huawei Sans" panose="020C0503030203020204" pitchFamily="34" charset="0"/>
              </a:rPr>
              <a:t>出接口的私网</a:t>
            </a:r>
            <a:r>
              <a:rPr lang="en-US" altLang="zh-CN" sz="1800" dirty="0">
                <a:cs typeface="+mn-ea"/>
                <a:sym typeface="Huawei Sans" panose="020C0503030203020204" pitchFamily="34" charset="0"/>
              </a:rPr>
              <a:t>IP</a:t>
            </a:r>
            <a:r>
              <a:rPr lang="zh-CN" altLang="en-US" sz="1800" dirty="0">
                <a:cs typeface="+mn-ea"/>
                <a:sym typeface="Huawei Sans" panose="020C0503030203020204" pitchFamily="34" charset="0"/>
              </a:rPr>
              <a:t>地址</a:t>
            </a:r>
            <a:r>
              <a:rPr lang="en-US" altLang="zh-CN" sz="1800" dirty="0">
                <a:cs typeface="+mn-ea"/>
                <a:sym typeface="Huawei Sans" panose="020C0503030203020204" pitchFamily="34" charset="0"/>
              </a:rPr>
              <a:t>X</a:t>
            </a:r>
            <a:r>
              <a:rPr lang="zh-CN" altLang="en-US" sz="1800" dirty="0">
                <a:cs typeface="+mn-ea"/>
                <a:sym typeface="Huawei Sans" panose="020C0503030203020204" pitchFamily="34" charset="0"/>
              </a:rPr>
              <a:t>，经过</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设备转换后变为公网</a:t>
            </a:r>
            <a:r>
              <a:rPr lang="en-US" altLang="zh-CN" sz="1800" dirty="0">
                <a:cs typeface="+mn-ea"/>
                <a:sym typeface="Huawei Sans" panose="020C0503030203020204" pitchFamily="34" charset="0"/>
              </a:rPr>
              <a:t>IP</a:t>
            </a:r>
            <a:r>
              <a:rPr lang="zh-CN" altLang="en-US" sz="1800" dirty="0">
                <a:cs typeface="+mn-ea"/>
                <a:sym typeface="Huawei Sans" panose="020C0503030203020204" pitchFamily="34" charset="0"/>
              </a:rPr>
              <a:t>地址</a:t>
            </a:r>
            <a:r>
              <a:rPr lang="en-US" altLang="zh-CN" sz="1800" dirty="0">
                <a:cs typeface="+mn-ea"/>
                <a:sym typeface="Huawei Sans" panose="020C0503030203020204" pitchFamily="34" charset="0"/>
              </a:rPr>
              <a:t>Y</a:t>
            </a:r>
            <a:r>
              <a:rPr lang="zh-CN" altLang="en-US" sz="1800" dirty="0">
                <a:cs typeface="+mn-ea"/>
                <a:sym typeface="Huawei Sans" panose="020C0503030203020204" pitchFamily="34" charset="0"/>
              </a:rPr>
              <a:t>。</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转换设备为分部自己管理设备，并且公网</a:t>
            </a:r>
            <a:r>
              <a:rPr lang="en-US" altLang="zh-CN" sz="1800" dirty="0">
                <a:cs typeface="+mn-ea"/>
                <a:sym typeface="Huawei Sans" panose="020C0503030203020204" pitchFamily="34" charset="0"/>
              </a:rPr>
              <a:t>IP</a:t>
            </a:r>
            <a:r>
              <a:rPr lang="zh-CN" altLang="en-US" sz="1800" dirty="0">
                <a:cs typeface="+mn-ea"/>
                <a:sym typeface="Huawei Sans" panose="020C0503030203020204" pitchFamily="34" charset="0"/>
              </a:rPr>
              <a:t>地址固定，此时转换后的公网地址可知，此时总部可以使用模板方式或者手动指定对等体的方式配置</a:t>
            </a:r>
            <a:r>
              <a:rPr lang="en-US" altLang="zh-CN" sz="1800" dirty="0">
                <a:cs typeface="+mn-ea"/>
                <a:sym typeface="Huawei Sans" panose="020C0503030203020204" pitchFamily="34" charset="0"/>
              </a:rPr>
              <a:t>IPsec</a:t>
            </a:r>
            <a:r>
              <a:rPr lang="zh-CN" altLang="en-US" sz="1800" dirty="0">
                <a:cs typeface="+mn-ea"/>
                <a:sym typeface="Huawei Sans" panose="020C0503030203020204" pitchFamily="34" charset="0"/>
              </a:rPr>
              <a:t>。</a:t>
            </a:r>
            <a:endParaRPr lang="en-US" altLang="zh-CN" sz="1800" dirty="0">
              <a:cs typeface="+mn-ea"/>
              <a:sym typeface="Huawei Sans" panose="020C0503030203020204" pitchFamily="34" charset="0"/>
            </a:endParaRPr>
          </a:p>
          <a:p>
            <a:pPr>
              <a:defRPr/>
            </a:pPr>
            <a:r>
              <a:rPr lang="zh-CN" altLang="en-US" sz="1800" dirty="0">
                <a:cs typeface="+mn-ea"/>
                <a:sym typeface="Huawei Sans" panose="020C0503030203020204" pitchFamily="34" charset="0"/>
              </a:rPr>
              <a:t>此时由于</a:t>
            </a:r>
            <a:r>
              <a:rPr lang="en-US" altLang="zh-CN" sz="1800" dirty="0">
                <a:cs typeface="+mn-ea"/>
                <a:sym typeface="Huawei Sans" panose="020C0503030203020204" pitchFamily="34" charset="0"/>
              </a:rPr>
              <a:t>NAT</a:t>
            </a:r>
            <a:r>
              <a:rPr lang="zh-CN" altLang="en-US" sz="1800" dirty="0">
                <a:cs typeface="+mn-ea"/>
                <a:sym typeface="Huawei Sans" panose="020C0503030203020204" pitchFamily="34" charset="0"/>
              </a:rPr>
              <a:t>设备只进行源地址转换，所以依旧只能由分部主动发起</a:t>
            </a:r>
            <a:r>
              <a:rPr lang="en-US" altLang="zh-CN" sz="1800" dirty="0">
                <a:cs typeface="+mn-ea"/>
                <a:sym typeface="Huawei Sans" panose="020C0503030203020204" pitchFamily="34" charset="0"/>
              </a:rPr>
              <a:t>ISAKMP</a:t>
            </a:r>
            <a:r>
              <a:rPr lang="zh-CN" altLang="en-US" sz="1800" dirty="0">
                <a:cs typeface="+mn-ea"/>
                <a:sym typeface="Huawei Sans" panose="020C0503030203020204" pitchFamily="34" charset="0"/>
              </a:rPr>
              <a:t>协商。</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4" y="4024082"/>
            <a:ext cx="540000" cy="442800"/>
          </a:xfrm>
          <a:prstGeom prst="rect">
            <a:avLst/>
          </a:prstGeom>
        </p:spPr>
      </p:pic>
      <p:grpSp>
        <p:nvGrpSpPr>
          <p:cNvPr id="5" name="组合 35"/>
          <p:cNvGrpSpPr/>
          <p:nvPr/>
        </p:nvGrpSpPr>
        <p:grpSpPr bwMode="gray">
          <a:xfrm>
            <a:off x="6922773" y="3729001"/>
            <a:ext cx="1830006" cy="1037460"/>
            <a:chOff x="3269076" y="1744970"/>
            <a:chExt cx="1860118" cy="1054529"/>
          </a:xfrm>
          <a:solidFill>
            <a:schemeClr val="bg1">
              <a:lumMod val="75000"/>
            </a:schemeClr>
          </a:solidFill>
        </p:grpSpPr>
        <p:sp>
          <p:nvSpPr>
            <p:cNvPr id="6"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TextBox 46"/>
          <p:cNvSpPr txBox="1"/>
          <p:nvPr/>
        </p:nvSpPr>
        <p:spPr bwMode="gray">
          <a:xfrm>
            <a:off x="7414364" y="4452746"/>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Can 45"/>
          <p:cNvSpPr/>
          <p:nvPr/>
        </p:nvSpPr>
        <p:spPr bwMode="gray">
          <a:xfrm rot="5400000">
            <a:off x="6272563" y="1382079"/>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6"/>
          <p:cNvSpPr txBox="1"/>
          <p:nvPr/>
        </p:nvSpPr>
        <p:spPr bwMode="gray">
          <a:xfrm>
            <a:off x="7246589" y="4100137"/>
            <a:ext cx="1293944" cy="307777"/>
          </a:xfrm>
          <a:prstGeom prst="rect">
            <a:avLst/>
          </a:prstGeom>
          <a:noFill/>
        </p:spPr>
        <p:txBody>
          <a:bodyPr wrap="none" rtlCol="0">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Tunnel</a:t>
            </a:r>
            <a:endParaRPr lang="zh-CN" altLang="en-US"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TextBox 63"/>
          <p:cNvSpPr txBox="1"/>
          <p:nvPr/>
        </p:nvSpPr>
        <p:spPr bwMode="gray">
          <a:xfrm>
            <a:off x="2995835" y="448204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TextBox 63"/>
          <p:cNvSpPr txBox="1"/>
          <p:nvPr/>
        </p:nvSpPr>
        <p:spPr bwMode="gray">
          <a:xfrm>
            <a:off x="5619776" y="4482041"/>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80" y="4024082"/>
            <a:ext cx="540000" cy="442800"/>
          </a:xfrm>
          <a:prstGeom prst="rect">
            <a:avLst/>
          </a:prstGeom>
        </p:spPr>
      </p:pic>
      <p:sp>
        <p:nvSpPr>
          <p:cNvPr id="18" name="TextBox 63"/>
          <p:cNvSpPr txBox="1"/>
          <p:nvPr/>
        </p:nvSpPr>
        <p:spPr bwMode="gray">
          <a:xfrm>
            <a:off x="9255182" y="448204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1" y="4014618"/>
            <a:ext cx="540000" cy="442174"/>
          </a:xfrm>
          <a:prstGeom prst="rect">
            <a:avLst/>
          </a:prstGeom>
        </p:spPr>
      </p:pic>
      <p:sp>
        <p:nvSpPr>
          <p:cNvPr id="20" name="TextBox 43"/>
          <p:cNvSpPr txBox="1"/>
          <p:nvPr/>
        </p:nvSpPr>
        <p:spPr bwMode="gray">
          <a:xfrm>
            <a:off x="3574841" y="3839452"/>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TextBox 44"/>
          <p:cNvSpPr txBox="1"/>
          <p:nvPr/>
        </p:nvSpPr>
        <p:spPr bwMode="gray">
          <a:xfrm>
            <a:off x="8739731" y="3839452"/>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TextBox 43"/>
          <p:cNvSpPr txBox="1"/>
          <p:nvPr/>
        </p:nvSpPr>
        <p:spPr bwMode="gray">
          <a:xfrm>
            <a:off x="6204246" y="3839452"/>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186"/>
          <p:cNvSpPr>
            <a:spLocks noEditPoints="1"/>
          </p:cNvSpPr>
          <p:nvPr/>
        </p:nvSpPr>
        <p:spPr bwMode="gray">
          <a:xfrm>
            <a:off x="2458266" y="4023763"/>
            <a:ext cx="460303" cy="46161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2615336" y="369926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分部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 Placeholder 2"/>
          <p:cNvSpPr txBox="1">
            <a:spLocks/>
          </p:cNvSpPr>
          <p:nvPr/>
        </p:nvSpPr>
        <p:spPr bwMode="gray">
          <a:xfrm>
            <a:off x="2422724" y="4738623"/>
            <a:ext cx="1686219" cy="385917"/>
          </a:xfrm>
          <a:prstGeom prst="rect">
            <a:avLst/>
          </a:prstGeom>
        </p:spPr>
        <p:txBody>
          <a:bodyPr/>
          <a:lstStyle>
            <a:defPPr>
              <a:defRPr lang="en-US"/>
            </a:defPPr>
            <a:lvl1pPr indent="0" algn="ctr" defTabSz="914034">
              <a:lnSpc>
                <a:spcPct val="140000"/>
              </a:lnSpc>
              <a:spcBef>
                <a:spcPts val="792"/>
              </a:spcBef>
              <a:buFont typeface="Arial" panose="020B0604020202020204" pitchFamily="34" charset="0"/>
              <a:buNone/>
              <a:defRPr sz="1400">
                <a:solidFill>
                  <a:srgbClr val="62B230"/>
                </a:solidFill>
                <a:latin typeface="Huawei Sans" panose="020C0503030203020204" pitchFamily="34" charset="0"/>
                <a:ea typeface="方正兰亭黑简体" panose="02000000000000000000" pitchFamily="2" charset="-122"/>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zh-CN" altLang="en-US" dirty="0">
                <a:solidFill>
                  <a:srgbClr val="C7000B"/>
                </a:solidFill>
                <a:sym typeface="Huawei Sans" panose="020C0503030203020204" pitchFamily="34" charset="0"/>
              </a:rPr>
              <a:t>开启</a:t>
            </a:r>
            <a:r>
              <a:rPr lang="en-US" altLang="zh-CN" dirty="0">
                <a:solidFill>
                  <a:srgbClr val="C7000B"/>
                </a:solidFill>
                <a:sym typeface="Huawei Sans" panose="020C0503030203020204" pitchFamily="34" charset="0"/>
              </a:rPr>
              <a:t>NAT Traversal</a:t>
            </a:r>
            <a:endParaRPr lang="zh-CN" altLang="en-US" dirty="0">
              <a:solidFill>
                <a:srgbClr val="C7000B"/>
              </a:solidFill>
              <a:sym typeface="Huawei Sans" panose="020C0503030203020204" pitchFamily="34" charset="0"/>
            </a:endParaRPr>
          </a:p>
        </p:txBody>
      </p:sp>
      <p:sp>
        <p:nvSpPr>
          <p:cNvPr id="36" name="Text Placeholder 2"/>
          <p:cNvSpPr txBox="1">
            <a:spLocks/>
          </p:cNvSpPr>
          <p:nvPr/>
        </p:nvSpPr>
        <p:spPr bwMode="gray">
          <a:xfrm>
            <a:off x="9168474" y="4727965"/>
            <a:ext cx="2253464" cy="795402"/>
          </a:xfrm>
          <a:prstGeom prst="rect">
            <a:avLst/>
          </a:prstGeom>
        </p:spPr>
        <p:txBody>
          <a:bodyPr/>
          <a:lstStyle>
            <a:defPPr>
              <a:defRPr lang="en-US"/>
            </a:defPPr>
            <a:lvl1pPr indent="0" algn="ctr" defTabSz="914034">
              <a:lnSpc>
                <a:spcPct val="140000"/>
              </a:lnSpc>
              <a:spcBef>
                <a:spcPts val="792"/>
              </a:spcBef>
              <a:buFont typeface="Arial" panose="020B0604020202020204" pitchFamily="34" charset="0"/>
              <a:buNone/>
              <a:defRPr sz="1400">
                <a:solidFill>
                  <a:srgbClr val="D33941"/>
                </a:solidFill>
                <a:latin typeface="Huawei Sans" panose="020C0503030203020204" pitchFamily="34" charset="0"/>
                <a:ea typeface="方正兰亭黑简体" panose="02000000000000000000" pitchFamily="2" charset="-122"/>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pPr algn="just"/>
            <a:r>
              <a:rPr lang="zh-CN" altLang="en-US" dirty="0">
                <a:solidFill>
                  <a:srgbClr val="C7000B"/>
                </a:solidFill>
                <a:sym typeface="Huawei Sans" panose="020C0503030203020204" pitchFamily="34" charset="0"/>
              </a:rPr>
              <a:t>开启</a:t>
            </a:r>
            <a:r>
              <a:rPr lang="en-US" altLang="zh-CN" dirty="0">
                <a:solidFill>
                  <a:srgbClr val="C7000B"/>
                </a:solidFill>
                <a:sym typeface="Huawei Sans" panose="020C0503030203020204" pitchFamily="34" charset="0"/>
              </a:rPr>
              <a:t>NAT Traversal</a:t>
            </a:r>
          </a:p>
          <a:p>
            <a:pPr algn="just"/>
            <a:r>
              <a:rPr lang="zh-CN" altLang="en-US" dirty="0">
                <a:solidFill>
                  <a:srgbClr val="C7000B"/>
                </a:solidFill>
                <a:sym typeface="Huawei Sans" panose="020C0503030203020204" pitchFamily="34" charset="0"/>
              </a:rPr>
              <a:t>使用模板方式、手动指定对等体方式均可。</a:t>
            </a:r>
          </a:p>
        </p:txBody>
      </p:sp>
      <p:cxnSp>
        <p:nvCxnSpPr>
          <p:cNvPr id="38" name="直接箭头连接符 37"/>
          <p:cNvCxnSpPr/>
          <p:nvPr/>
        </p:nvCxnSpPr>
        <p:spPr bwMode="gray">
          <a:xfrm>
            <a:off x="4161713" y="5523367"/>
            <a:ext cx="3320263"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Text Placeholder 2"/>
          <p:cNvSpPr txBox="1">
            <a:spLocks/>
          </p:cNvSpPr>
          <p:nvPr/>
        </p:nvSpPr>
        <p:spPr bwMode="gray">
          <a:xfrm>
            <a:off x="4161713" y="5529672"/>
            <a:ext cx="2941784" cy="385917"/>
          </a:xfrm>
          <a:prstGeom prst="rect">
            <a:avLst/>
          </a:prstGeom>
        </p:spPr>
        <p:txBody>
          <a:bodyPr/>
          <a:lstStyle>
            <a:defPPr>
              <a:defRPr lang="en-US"/>
            </a:defPPr>
            <a:lvl1pPr indent="0" algn="ctr" defTabSz="914034">
              <a:lnSpc>
                <a:spcPct val="140000"/>
              </a:lnSpc>
              <a:spcBef>
                <a:spcPts val="792"/>
              </a:spcBef>
              <a:buFont typeface="Arial" panose="020B0604020202020204" pitchFamily="34" charset="0"/>
              <a:buNone/>
              <a:defRPr sz="1400">
                <a:solidFill>
                  <a:srgbClr val="D33941"/>
                </a:solidFill>
                <a:latin typeface="Huawei Sans" panose="020C0503030203020204" pitchFamily="34" charset="0"/>
                <a:ea typeface="方正兰亭黑简体" panose="02000000000000000000" pitchFamily="2" charset="-122"/>
              </a:defRPr>
            </a:lvl1pPr>
            <a:lvl2pPr marL="654938" indent="-251899" defTabSz="914034">
              <a:lnSpc>
                <a:spcPct val="140000"/>
              </a:lnSpc>
              <a:spcBef>
                <a:spcPts val="720"/>
              </a:spcBef>
              <a:buClrTx/>
              <a:buFont typeface="Huawei Sans" panose="020C0503030203020204" pitchFamily="34" charset="0"/>
              <a:buChar char="▫"/>
              <a:defRPr sz="1999"/>
            </a:lvl2pPr>
            <a:lvl3pPr marL="1003998" indent="-201519" defTabSz="914034">
              <a:lnSpc>
                <a:spcPct val="140000"/>
              </a:lnSpc>
              <a:spcBef>
                <a:spcPts val="648"/>
              </a:spcBef>
              <a:buClrTx/>
              <a:buFont typeface="微软雅黑" panose="020B0503020204020204" pitchFamily="34" charset="-122"/>
              <a:buChar char="▪"/>
              <a:defRPr sz="1799"/>
            </a:lvl3pPr>
            <a:lvl4pPr marL="1399840" indent="-197921" defTabSz="914034">
              <a:lnSpc>
                <a:spcPct val="140000"/>
              </a:lnSpc>
              <a:spcBef>
                <a:spcPts val="576"/>
              </a:spcBef>
              <a:buFont typeface="Huawei Sans" panose="020C0503030203020204" pitchFamily="34" charset="0"/>
              <a:buChar char="−"/>
              <a:defRPr sz="1599"/>
            </a:lvl4pPr>
            <a:lvl5pPr marL="1802879" indent="-201519" defTabSz="914034">
              <a:lnSpc>
                <a:spcPct val="140000"/>
              </a:lnSpc>
              <a:spcBef>
                <a:spcPts val="576"/>
              </a:spcBef>
              <a:buFont typeface="Huawei Sans" panose="020C0503030203020204" pitchFamily="34" charset="0"/>
              <a:buChar char="~"/>
              <a:defRPr sz="1399"/>
            </a:lvl5pPr>
            <a:lvl6pPr marL="2513594" indent="-228509" defTabSz="914034">
              <a:lnSpc>
                <a:spcPct val="90000"/>
              </a:lnSpc>
              <a:spcBef>
                <a:spcPts val="500"/>
              </a:spcBef>
              <a:buFont typeface="Arial" panose="020B0604020202020204" pitchFamily="34" charset="0"/>
              <a:buChar char="•"/>
              <a:defRPr sz="1799"/>
            </a:lvl6pPr>
            <a:lvl7pPr marL="2970611" indent="-228509" defTabSz="914034">
              <a:lnSpc>
                <a:spcPct val="90000"/>
              </a:lnSpc>
              <a:spcBef>
                <a:spcPts val="500"/>
              </a:spcBef>
              <a:buFont typeface="Arial" panose="020B0604020202020204" pitchFamily="34" charset="0"/>
              <a:buChar char="•"/>
              <a:defRPr sz="1799"/>
            </a:lvl7pPr>
            <a:lvl8pPr marL="3427628" indent="-228509" defTabSz="914034">
              <a:lnSpc>
                <a:spcPct val="90000"/>
              </a:lnSpc>
              <a:spcBef>
                <a:spcPts val="500"/>
              </a:spcBef>
              <a:buFont typeface="Arial" panose="020B0604020202020204" pitchFamily="34" charset="0"/>
              <a:buChar char="•"/>
              <a:defRPr sz="1799"/>
            </a:lvl8pPr>
            <a:lvl9pPr marL="3884646" indent="-228509" defTabSz="914034">
              <a:lnSpc>
                <a:spcPct val="90000"/>
              </a:lnSpc>
              <a:spcBef>
                <a:spcPts val="500"/>
              </a:spcBef>
              <a:buFont typeface="Arial" panose="020B0604020202020204" pitchFamily="34" charset="0"/>
              <a:buChar char="•"/>
              <a:defRPr sz="1799"/>
            </a:lvl9pPr>
          </a:lstStyle>
          <a:p>
            <a:r>
              <a:rPr lang="zh-CN" altLang="en-US" dirty="0">
                <a:solidFill>
                  <a:srgbClr val="C7000B"/>
                </a:solidFill>
                <a:sym typeface="Huawei Sans" panose="020C0503030203020204" pitchFamily="34" charset="0"/>
              </a:rPr>
              <a:t>只能由分部主动发起</a:t>
            </a:r>
            <a:r>
              <a:rPr lang="en-US" altLang="zh-CN" dirty="0">
                <a:solidFill>
                  <a:srgbClr val="C7000B"/>
                </a:solidFill>
                <a:sym typeface="Huawei Sans" panose="020C0503030203020204" pitchFamily="34" charset="0"/>
              </a:rPr>
              <a:t>ISAKMP</a:t>
            </a:r>
            <a:r>
              <a:rPr lang="zh-CN" altLang="en-US" dirty="0">
                <a:solidFill>
                  <a:srgbClr val="C7000B"/>
                </a:solidFill>
                <a:sym typeface="Huawei Sans" panose="020C0503030203020204" pitchFamily="34" charset="0"/>
              </a:rPr>
              <a:t>协商</a:t>
            </a:r>
          </a:p>
        </p:txBody>
      </p:sp>
      <p:sp>
        <p:nvSpPr>
          <p:cNvPr id="37" name="椭圆 36"/>
          <p:cNvSpPr>
            <a:spLocks noChangeAspect="1"/>
          </p:cNvSpPr>
          <p:nvPr/>
        </p:nvSpPr>
        <p:spPr bwMode="gray">
          <a:xfrm>
            <a:off x="6164789" y="4105020"/>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a:spLocks noChangeAspect="1"/>
          </p:cNvSpPr>
          <p:nvPr/>
        </p:nvSpPr>
        <p:spPr bwMode="gray">
          <a:xfrm>
            <a:off x="2294009" y="3092283"/>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43"/>
          <p:cNvSpPr txBox="1"/>
          <p:nvPr/>
        </p:nvSpPr>
        <p:spPr bwMode="gray">
          <a:xfrm>
            <a:off x="2575617" y="3079784"/>
            <a:ext cx="127150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sp>
        <p:nvSpPr>
          <p:cNvPr id="42"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43"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1555663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p:cNvSpPr/>
          <p:nvPr/>
        </p:nvSpPr>
        <p:spPr bwMode="gray">
          <a:xfrm flipH="1">
            <a:off x="9125778" y="3740379"/>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62"/>
          <p:cNvGrpSpPr/>
          <p:nvPr/>
        </p:nvGrpSpPr>
        <p:grpSpPr bwMode="gray">
          <a:xfrm>
            <a:off x="10142443" y="3999145"/>
            <a:ext cx="394083" cy="480502"/>
            <a:chOff x="6378575" y="2882900"/>
            <a:chExt cx="858950" cy="865188"/>
          </a:xfrm>
          <a:solidFill>
            <a:schemeClr val="bg1">
              <a:lumMod val="50000"/>
            </a:schemeClr>
          </a:solidFill>
        </p:grpSpPr>
        <p:sp>
          <p:nvSpPr>
            <p:cNvPr id="3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矩形 29"/>
          <p:cNvSpPr/>
          <p:nvPr/>
        </p:nvSpPr>
        <p:spPr bwMode="gray">
          <a:xfrm>
            <a:off x="9574761" y="369926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159"/>
          <p:cNvSpPr/>
          <p:nvPr/>
        </p:nvSpPr>
        <p:spPr bwMode="gray">
          <a:xfrm flipH="1">
            <a:off x="2299120" y="3735354"/>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场景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占位符 25"/>
          <p:cNvSpPr>
            <a:spLocks noGrp="1"/>
          </p:cNvSpPr>
          <p:nvPr>
            <p:ph type="body" sz="quarter" idx="10"/>
          </p:nvPr>
        </p:nvSpPr>
        <p:spPr bwMode="gray"/>
        <p:txBody>
          <a:bodyPr/>
          <a:lstStyle/>
          <a:p>
            <a:r>
              <a:rPr lang="zh-CN" altLang="en-US" sz="2000" dirty="0">
                <a:cs typeface="+mn-ea"/>
                <a:sym typeface="Huawei Sans" panose="020C0503030203020204" pitchFamily="34" charset="0"/>
              </a:rPr>
              <a:t>该场景中，</a:t>
            </a:r>
            <a:r>
              <a:rPr lang="en-US" altLang="zh-CN" sz="2000" dirty="0">
                <a:cs typeface="+mn-ea"/>
                <a:sym typeface="Huawei Sans" panose="020C0503030203020204" pitchFamily="34" charset="0"/>
              </a:rPr>
              <a:t>NAT</a:t>
            </a:r>
            <a:r>
              <a:rPr lang="zh-CN" altLang="en-US" sz="2000" dirty="0">
                <a:cs typeface="+mn-ea"/>
                <a:sym typeface="Huawei Sans" panose="020C0503030203020204" pitchFamily="34" charset="0"/>
              </a:rPr>
              <a:t>设备为分部管理设备，提供</a:t>
            </a:r>
            <a:r>
              <a:rPr lang="en-US" altLang="zh-CN" sz="2000" dirty="0">
                <a:cs typeface="+mn-ea"/>
                <a:sym typeface="Huawei Sans" panose="020C0503030203020204" pitchFamily="34" charset="0"/>
              </a:rPr>
              <a:t>NAT Server</a:t>
            </a:r>
            <a:r>
              <a:rPr lang="zh-CN" altLang="en-US" sz="2000" dirty="0">
                <a:cs typeface="+mn-ea"/>
                <a:sym typeface="Huawei Sans" panose="020C0503030203020204" pitchFamily="34" charset="0"/>
              </a:rPr>
              <a:t>功能，映射网关的接口地址（</a:t>
            </a:r>
            <a:r>
              <a:rPr lang="en-US" altLang="zh-CN" sz="2000" dirty="0">
                <a:cs typeface="+mn-ea"/>
                <a:sym typeface="Huawei Sans" panose="020C0503030203020204" pitchFamily="34" charset="0"/>
              </a:rPr>
              <a:t>UDP 500</a:t>
            </a:r>
            <a:r>
              <a:rPr lang="zh-CN" altLang="en-US" sz="2000" dirty="0">
                <a:cs typeface="+mn-ea"/>
                <a:sym typeface="Huawei Sans" panose="020C0503030203020204" pitchFamily="34" charset="0"/>
              </a:rPr>
              <a:t>、</a:t>
            </a:r>
            <a:r>
              <a:rPr lang="en-US" altLang="zh-CN" sz="2000" dirty="0">
                <a:cs typeface="+mn-ea"/>
                <a:sym typeface="Huawei Sans" panose="020C0503030203020204" pitchFamily="34" charset="0"/>
              </a:rPr>
              <a:t>UDP 4500</a:t>
            </a:r>
            <a:r>
              <a:rPr lang="zh-CN" altLang="en-US" sz="2000" dirty="0">
                <a:cs typeface="+mn-ea"/>
                <a:sym typeface="Huawei Sans" panose="020C0503030203020204" pitchFamily="34" charset="0"/>
              </a:rPr>
              <a:t>），总部上使用手动指定对等体的方式配置</a:t>
            </a:r>
            <a:r>
              <a:rPr lang="en-US" altLang="zh-CN" sz="2000" dirty="0">
                <a:cs typeface="+mn-ea"/>
                <a:sym typeface="Huawei Sans" panose="020C0503030203020204" pitchFamily="34" charset="0"/>
              </a:rPr>
              <a:t>IPsec</a:t>
            </a:r>
            <a:r>
              <a:rPr lang="zh-CN" altLang="en-US" sz="2000" dirty="0">
                <a:cs typeface="+mn-ea"/>
                <a:sym typeface="Huawei Sans" panose="020C0503030203020204" pitchFamily="34" charset="0"/>
              </a:rPr>
              <a:t>，此时可以实现总部主动发起</a:t>
            </a:r>
            <a:r>
              <a:rPr lang="en-US" altLang="zh-CN" sz="2000" dirty="0">
                <a:cs typeface="+mn-ea"/>
                <a:sym typeface="Huawei Sans" panose="020C0503030203020204" pitchFamily="34" charset="0"/>
              </a:rPr>
              <a:t>ISAKMP</a:t>
            </a:r>
            <a:r>
              <a:rPr lang="zh-CN" altLang="en-US" sz="2000" dirty="0">
                <a:cs typeface="+mn-ea"/>
                <a:sym typeface="Huawei Sans" panose="020C0503030203020204" pitchFamily="34" charset="0"/>
              </a:rPr>
              <a:t>协商以及流量访问。</a:t>
            </a:r>
          </a:p>
          <a:p>
            <a:endParaRPr lang="zh-CN" altLang="en-US" sz="2000" dirty="0"/>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4" y="4024082"/>
            <a:ext cx="540000" cy="442800"/>
          </a:xfrm>
          <a:prstGeom prst="rect">
            <a:avLst/>
          </a:prstGeom>
        </p:spPr>
      </p:pic>
      <p:grpSp>
        <p:nvGrpSpPr>
          <p:cNvPr id="5" name="组合 35"/>
          <p:cNvGrpSpPr/>
          <p:nvPr/>
        </p:nvGrpSpPr>
        <p:grpSpPr bwMode="gray">
          <a:xfrm>
            <a:off x="6922773" y="3729001"/>
            <a:ext cx="1830006" cy="1037460"/>
            <a:chOff x="3269076" y="1744970"/>
            <a:chExt cx="1860118" cy="1054529"/>
          </a:xfrm>
          <a:solidFill>
            <a:schemeClr val="bg1">
              <a:lumMod val="75000"/>
            </a:schemeClr>
          </a:solidFill>
        </p:grpSpPr>
        <p:sp>
          <p:nvSpPr>
            <p:cNvPr id="6"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TextBox 46"/>
          <p:cNvSpPr txBox="1"/>
          <p:nvPr/>
        </p:nvSpPr>
        <p:spPr bwMode="gray">
          <a:xfrm>
            <a:off x="7414364" y="4452746"/>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Can 45"/>
          <p:cNvSpPr/>
          <p:nvPr/>
        </p:nvSpPr>
        <p:spPr bwMode="gray">
          <a:xfrm rot="5400000">
            <a:off x="6272563" y="1382079"/>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6"/>
          <p:cNvSpPr txBox="1"/>
          <p:nvPr/>
        </p:nvSpPr>
        <p:spPr bwMode="gray">
          <a:xfrm>
            <a:off x="7246589" y="4100137"/>
            <a:ext cx="1293944" cy="307777"/>
          </a:xfrm>
          <a:prstGeom prst="rect">
            <a:avLst/>
          </a:prstGeom>
          <a:noFill/>
        </p:spPr>
        <p:txBody>
          <a:bodyPr wrap="none" rtlCol="0">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Tunnel</a:t>
            </a:r>
            <a:endParaRPr lang="zh-CN" altLang="en-US"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TextBox 63"/>
          <p:cNvSpPr txBox="1"/>
          <p:nvPr/>
        </p:nvSpPr>
        <p:spPr bwMode="gray">
          <a:xfrm>
            <a:off x="2995835" y="448204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TextBox 63"/>
          <p:cNvSpPr txBox="1"/>
          <p:nvPr/>
        </p:nvSpPr>
        <p:spPr bwMode="gray">
          <a:xfrm>
            <a:off x="5619776" y="4482041"/>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80" y="4024082"/>
            <a:ext cx="540000" cy="442800"/>
          </a:xfrm>
          <a:prstGeom prst="rect">
            <a:avLst/>
          </a:prstGeom>
        </p:spPr>
      </p:pic>
      <p:sp>
        <p:nvSpPr>
          <p:cNvPr id="18" name="TextBox 63"/>
          <p:cNvSpPr txBox="1"/>
          <p:nvPr/>
        </p:nvSpPr>
        <p:spPr bwMode="gray">
          <a:xfrm>
            <a:off x="9255182" y="448204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1" y="4014618"/>
            <a:ext cx="540000" cy="442174"/>
          </a:xfrm>
          <a:prstGeom prst="rect">
            <a:avLst/>
          </a:prstGeom>
        </p:spPr>
      </p:pic>
      <p:sp>
        <p:nvSpPr>
          <p:cNvPr id="20" name="TextBox 43"/>
          <p:cNvSpPr txBox="1"/>
          <p:nvPr/>
        </p:nvSpPr>
        <p:spPr bwMode="gray">
          <a:xfrm>
            <a:off x="3574841" y="3839452"/>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TextBox 44"/>
          <p:cNvSpPr txBox="1"/>
          <p:nvPr/>
        </p:nvSpPr>
        <p:spPr bwMode="gray">
          <a:xfrm>
            <a:off x="8739731" y="3839452"/>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TextBox 43"/>
          <p:cNvSpPr txBox="1"/>
          <p:nvPr/>
        </p:nvSpPr>
        <p:spPr bwMode="gray">
          <a:xfrm>
            <a:off x="6204246" y="3839452"/>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186"/>
          <p:cNvSpPr>
            <a:spLocks noEditPoints="1"/>
          </p:cNvSpPr>
          <p:nvPr/>
        </p:nvSpPr>
        <p:spPr bwMode="gray">
          <a:xfrm>
            <a:off x="2458266" y="4023763"/>
            <a:ext cx="460303" cy="46161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2615336" y="369926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分部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 Placeholder 2"/>
          <p:cNvSpPr txBox="1">
            <a:spLocks/>
          </p:cNvSpPr>
          <p:nvPr/>
        </p:nvSpPr>
        <p:spPr bwMode="gray">
          <a:xfrm>
            <a:off x="2422724" y="4738623"/>
            <a:ext cx="1686219" cy="38591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just">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NAT Traversal</a:t>
            </a:r>
            <a:endPar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 Placeholder 2"/>
          <p:cNvSpPr txBox="1">
            <a:spLocks/>
          </p:cNvSpPr>
          <p:nvPr/>
        </p:nvSpPr>
        <p:spPr bwMode="gray">
          <a:xfrm>
            <a:off x="9168474" y="4727965"/>
            <a:ext cx="2253464" cy="795402"/>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just">
              <a:lnSpc>
                <a:spcPct val="120000"/>
              </a:lnSpc>
              <a:spcBef>
                <a:spcPts val="600"/>
              </a:spcBef>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开启</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NAT Traversal</a:t>
            </a:r>
          </a:p>
          <a:p>
            <a:pPr marL="0" indent="0" algn="just">
              <a:lnSpc>
                <a:spcPct val="120000"/>
              </a:lnSpc>
              <a:spcBef>
                <a:spcPts val="600"/>
              </a:spcBef>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使用模板方式、手动指定对等体方式均可。</a:t>
            </a:r>
          </a:p>
        </p:txBody>
      </p:sp>
      <p:cxnSp>
        <p:nvCxnSpPr>
          <p:cNvPr id="38" name="直接箭头连接符 37"/>
          <p:cNvCxnSpPr/>
          <p:nvPr/>
        </p:nvCxnSpPr>
        <p:spPr bwMode="gray">
          <a:xfrm>
            <a:off x="4108943" y="5039481"/>
            <a:ext cx="3320263"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椭圆 36"/>
          <p:cNvSpPr>
            <a:spLocks noChangeAspect="1"/>
          </p:cNvSpPr>
          <p:nvPr/>
        </p:nvSpPr>
        <p:spPr bwMode="gray">
          <a:xfrm>
            <a:off x="6164789" y="4105020"/>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a:spLocks noChangeAspect="1"/>
          </p:cNvSpPr>
          <p:nvPr/>
        </p:nvSpPr>
        <p:spPr bwMode="gray">
          <a:xfrm>
            <a:off x="2296724" y="3092283"/>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43"/>
          <p:cNvSpPr txBox="1"/>
          <p:nvPr/>
        </p:nvSpPr>
        <p:spPr bwMode="gray">
          <a:xfrm>
            <a:off x="2578332" y="3079784"/>
            <a:ext cx="2196435"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 NAT Server</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44" name="直接箭头连接符 43"/>
          <p:cNvCxnSpPr/>
          <p:nvPr/>
        </p:nvCxnSpPr>
        <p:spPr bwMode="gray">
          <a:xfrm>
            <a:off x="4733354" y="5396641"/>
            <a:ext cx="3320263" cy="0"/>
          </a:xfrm>
          <a:prstGeom prst="straightConnector1">
            <a:avLst/>
          </a:prstGeom>
          <a:ln w="25400">
            <a:solidFill>
              <a:srgbClr val="E28189"/>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Text Placeholder 2"/>
          <p:cNvSpPr txBox="1">
            <a:spLocks/>
          </p:cNvSpPr>
          <p:nvPr/>
        </p:nvSpPr>
        <p:spPr bwMode="gray">
          <a:xfrm>
            <a:off x="4427872" y="5640905"/>
            <a:ext cx="3552747" cy="385917"/>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just">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总部、分部都可以同时发起</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ISAKMP</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协商</a:t>
            </a:r>
          </a:p>
        </p:txBody>
      </p:sp>
      <p:sp>
        <p:nvSpPr>
          <p:cNvPr id="42"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43"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6326530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p:cNvSpPr/>
          <p:nvPr/>
        </p:nvSpPr>
        <p:spPr bwMode="gray">
          <a:xfrm flipH="1">
            <a:off x="9125778" y="2948768"/>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62"/>
          <p:cNvGrpSpPr/>
          <p:nvPr/>
        </p:nvGrpSpPr>
        <p:grpSpPr bwMode="gray">
          <a:xfrm>
            <a:off x="10142443" y="3207534"/>
            <a:ext cx="394083" cy="480502"/>
            <a:chOff x="6378575" y="2882900"/>
            <a:chExt cx="858950" cy="865188"/>
          </a:xfrm>
          <a:solidFill>
            <a:schemeClr val="bg1">
              <a:lumMod val="50000"/>
            </a:schemeClr>
          </a:solidFill>
        </p:grpSpPr>
        <p:sp>
          <p:nvSpPr>
            <p:cNvPr id="3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矩形 29"/>
          <p:cNvSpPr/>
          <p:nvPr/>
        </p:nvSpPr>
        <p:spPr bwMode="gray">
          <a:xfrm>
            <a:off x="9574761" y="2907650"/>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159"/>
          <p:cNvSpPr/>
          <p:nvPr/>
        </p:nvSpPr>
        <p:spPr bwMode="gray">
          <a:xfrm flipH="1">
            <a:off x="2299120" y="2943743"/>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会话保活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占位符 25"/>
          <p:cNvSpPr>
            <a:spLocks noGrp="1"/>
          </p:cNvSpPr>
          <p:nvPr>
            <p:ph type="body" sz="quarter" idx="10"/>
          </p:nvPr>
        </p:nvSpPr>
        <p:spPr bwMode="gray"/>
        <p:txBody>
          <a:bodyPr/>
          <a:lstStyle/>
          <a:p>
            <a:r>
              <a:rPr lang="zh-CN" altLang="en-US" sz="1800" dirty="0"/>
              <a:t>网关</a:t>
            </a:r>
            <a:r>
              <a:rPr lang="en-US" altLang="zh-CN" sz="1800" dirty="0"/>
              <a:t>1</a:t>
            </a:r>
            <a:r>
              <a:rPr lang="zh-CN" altLang="en-US" sz="1800" dirty="0"/>
              <a:t>处在</a:t>
            </a:r>
            <a:r>
              <a:rPr lang="en-US" altLang="zh-CN" sz="1800" dirty="0"/>
              <a:t>SNAT</a:t>
            </a:r>
            <a:r>
              <a:rPr lang="zh-CN" altLang="en-US" sz="1800" dirty="0"/>
              <a:t>（</a:t>
            </a:r>
            <a:r>
              <a:rPr lang="en-US" altLang="zh-CN" sz="1800" dirty="0"/>
              <a:t>NAPT</a:t>
            </a:r>
            <a:r>
              <a:rPr lang="zh-CN" altLang="en-US" sz="1800" dirty="0"/>
              <a:t>）设备之后，此时只能网关</a:t>
            </a:r>
            <a:r>
              <a:rPr lang="en-US" altLang="zh-CN" sz="1800" dirty="0"/>
              <a:t>1</a:t>
            </a:r>
            <a:r>
              <a:rPr lang="zh-CN" altLang="en-US" sz="1800" dirty="0"/>
              <a:t>主动发起流量访问，网关</a:t>
            </a:r>
            <a:r>
              <a:rPr lang="en-US" altLang="zh-CN" sz="1800" dirty="0"/>
              <a:t>2</a:t>
            </a:r>
            <a:r>
              <a:rPr lang="zh-CN" altLang="en-US" sz="1800" dirty="0"/>
              <a:t>并无法主动发起流量访问，或者当</a:t>
            </a:r>
            <a:r>
              <a:rPr lang="en-US" altLang="zh-CN" sz="1800" dirty="0"/>
              <a:t>NAT</a:t>
            </a:r>
            <a:r>
              <a:rPr lang="zh-CN" altLang="en-US" sz="1800" dirty="0"/>
              <a:t>设备上的</a:t>
            </a:r>
            <a:r>
              <a:rPr lang="en-US" altLang="zh-CN" sz="1800" dirty="0"/>
              <a:t>NAT</a:t>
            </a:r>
            <a:r>
              <a:rPr lang="zh-CN" altLang="en-US" sz="1800" dirty="0"/>
              <a:t>转换表项存在时，网关</a:t>
            </a:r>
            <a:r>
              <a:rPr lang="en-US" altLang="zh-CN" sz="1800" dirty="0"/>
              <a:t>2</a:t>
            </a:r>
            <a:r>
              <a:rPr lang="zh-CN" altLang="en-US" sz="1800" dirty="0"/>
              <a:t>可以发起对网关</a:t>
            </a:r>
            <a:r>
              <a:rPr lang="en-US" altLang="zh-CN" sz="1800" dirty="0"/>
              <a:t>1</a:t>
            </a:r>
            <a:r>
              <a:rPr lang="zh-CN" altLang="en-US" sz="1800" dirty="0"/>
              <a:t>的主动访问，为了保证网关</a:t>
            </a:r>
            <a:r>
              <a:rPr lang="en-US" altLang="zh-CN" sz="1800" dirty="0"/>
              <a:t>1</a:t>
            </a:r>
            <a:r>
              <a:rPr lang="zh-CN" altLang="en-US" sz="1800" dirty="0"/>
              <a:t>、网关</a:t>
            </a:r>
            <a:r>
              <a:rPr lang="en-US" altLang="zh-CN" sz="1800" dirty="0"/>
              <a:t>2</a:t>
            </a:r>
            <a:r>
              <a:rPr lang="zh-CN" altLang="en-US" sz="1800" dirty="0"/>
              <a:t>都可以任意发起流量访问，需要存在一种机制保证</a:t>
            </a:r>
            <a:r>
              <a:rPr lang="en-US" altLang="zh-CN" sz="1800" dirty="0"/>
              <a:t>SNAT</a:t>
            </a:r>
            <a:r>
              <a:rPr lang="zh-CN" altLang="en-US" sz="1800" dirty="0"/>
              <a:t>设备的</a:t>
            </a:r>
            <a:r>
              <a:rPr lang="en-US" altLang="zh-CN" sz="1800" dirty="0"/>
              <a:t>NAT</a:t>
            </a:r>
            <a:r>
              <a:rPr lang="zh-CN" altLang="en-US" sz="1800" dirty="0"/>
              <a:t>会话不会超时。</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4" y="3232471"/>
            <a:ext cx="540000" cy="442800"/>
          </a:xfrm>
          <a:prstGeom prst="rect">
            <a:avLst/>
          </a:prstGeom>
        </p:spPr>
      </p:pic>
      <p:grpSp>
        <p:nvGrpSpPr>
          <p:cNvPr id="5" name="组合 35"/>
          <p:cNvGrpSpPr/>
          <p:nvPr/>
        </p:nvGrpSpPr>
        <p:grpSpPr bwMode="gray">
          <a:xfrm>
            <a:off x="6922773" y="2937390"/>
            <a:ext cx="1830006" cy="1037460"/>
            <a:chOff x="3269076" y="1744970"/>
            <a:chExt cx="1860118" cy="1054529"/>
          </a:xfrm>
          <a:solidFill>
            <a:schemeClr val="bg1">
              <a:lumMod val="75000"/>
            </a:schemeClr>
          </a:solidFill>
        </p:grpSpPr>
        <p:sp>
          <p:nvSpPr>
            <p:cNvPr id="6"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TextBox 46"/>
          <p:cNvSpPr txBox="1"/>
          <p:nvPr/>
        </p:nvSpPr>
        <p:spPr bwMode="gray">
          <a:xfrm>
            <a:off x="7414364" y="3661135"/>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Can 45"/>
          <p:cNvSpPr/>
          <p:nvPr/>
        </p:nvSpPr>
        <p:spPr bwMode="gray">
          <a:xfrm rot="5400000">
            <a:off x="6272563" y="590468"/>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6"/>
          <p:cNvSpPr txBox="1"/>
          <p:nvPr/>
        </p:nvSpPr>
        <p:spPr bwMode="gray">
          <a:xfrm>
            <a:off x="7246589" y="3308526"/>
            <a:ext cx="1293944" cy="307777"/>
          </a:xfrm>
          <a:prstGeom prst="rect">
            <a:avLst/>
          </a:prstGeom>
          <a:noFill/>
        </p:spPr>
        <p:txBody>
          <a:bodyPr wrap="none" rtlCol="0">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a:t>
            </a:r>
            <a:r>
              <a:rPr lang="en-US" altLang="zh-CN" sz="1400" b="1" dirty="0">
                <a:solidFill>
                  <a:schemeClr val="bg1">
                    <a:lumMod val="50000"/>
                  </a:schemeClr>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Tunnel</a:t>
            </a:r>
            <a:endParaRPr lang="zh-CN" altLang="en-US"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TextBox 63"/>
          <p:cNvSpPr txBox="1"/>
          <p:nvPr/>
        </p:nvSpPr>
        <p:spPr bwMode="gray">
          <a:xfrm>
            <a:off x="2995835" y="3690430"/>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TextBox 63"/>
          <p:cNvSpPr txBox="1"/>
          <p:nvPr/>
        </p:nvSpPr>
        <p:spPr bwMode="gray">
          <a:xfrm>
            <a:off x="5619776" y="3690430"/>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80" y="3232471"/>
            <a:ext cx="540000" cy="442800"/>
          </a:xfrm>
          <a:prstGeom prst="rect">
            <a:avLst/>
          </a:prstGeom>
        </p:spPr>
      </p:pic>
      <p:sp>
        <p:nvSpPr>
          <p:cNvPr id="18" name="TextBox 63"/>
          <p:cNvSpPr txBox="1"/>
          <p:nvPr/>
        </p:nvSpPr>
        <p:spPr bwMode="gray">
          <a:xfrm>
            <a:off x="9255182" y="3690430"/>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1" y="3223007"/>
            <a:ext cx="540000" cy="442174"/>
          </a:xfrm>
          <a:prstGeom prst="rect">
            <a:avLst/>
          </a:prstGeom>
        </p:spPr>
      </p:pic>
      <p:sp>
        <p:nvSpPr>
          <p:cNvPr id="20" name="TextBox 43"/>
          <p:cNvSpPr txBox="1"/>
          <p:nvPr/>
        </p:nvSpPr>
        <p:spPr bwMode="gray">
          <a:xfrm>
            <a:off x="3574841" y="3047841"/>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TextBox 44"/>
          <p:cNvSpPr txBox="1"/>
          <p:nvPr/>
        </p:nvSpPr>
        <p:spPr bwMode="gray">
          <a:xfrm>
            <a:off x="8739731" y="3047841"/>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TextBox 43"/>
          <p:cNvSpPr txBox="1"/>
          <p:nvPr/>
        </p:nvSpPr>
        <p:spPr bwMode="gray">
          <a:xfrm>
            <a:off x="6204246" y="3047841"/>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186"/>
          <p:cNvSpPr>
            <a:spLocks noEditPoints="1"/>
          </p:cNvSpPr>
          <p:nvPr/>
        </p:nvSpPr>
        <p:spPr bwMode="gray">
          <a:xfrm>
            <a:off x="2458266" y="3232152"/>
            <a:ext cx="460303" cy="46161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2615336" y="2907650"/>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分部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p:cNvCxnSpPr/>
          <p:nvPr/>
        </p:nvCxnSpPr>
        <p:spPr bwMode="gray">
          <a:xfrm>
            <a:off x="3947207" y="4955580"/>
            <a:ext cx="2994406"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椭圆 36"/>
          <p:cNvSpPr>
            <a:spLocks noChangeAspect="1"/>
          </p:cNvSpPr>
          <p:nvPr/>
        </p:nvSpPr>
        <p:spPr bwMode="gray">
          <a:xfrm>
            <a:off x="6164789" y="3313409"/>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a:spLocks noChangeAspect="1"/>
          </p:cNvSpPr>
          <p:nvPr/>
        </p:nvSpPr>
        <p:spPr bwMode="gray">
          <a:xfrm>
            <a:off x="2296724" y="2528924"/>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43"/>
          <p:cNvSpPr txBox="1"/>
          <p:nvPr/>
        </p:nvSpPr>
        <p:spPr bwMode="gray">
          <a:xfrm>
            <a:off x="2578332" y="2516425"/>
            <a:ext cx="127150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cxnSp>
        <p:nvCxnSpPr>
          <p:cNvPr id="44" name="直接箭头连接符 43"/>
          <p:cNvCxnSpPr/>
          <p:nvPr/>
        </p:nvCxnSpPr>
        <p:spPr bwMode="gray">
          <a:xfrm>
            <a:off x="6150159" y="4411054"/>
            <a:ext cx="1957617" cy="0"/>
          </a:xfrm>
          <a:prstGeom prst="straightConnector1">
            <a:avLst/>
          </a:prstGeom>
          <a:ln w="25400">
            <a:solidFill>
              <a:srgbClr val="E28189"/>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3" name="组合 28"/>
          <p:cNvGrpSpPr>
            <a:grpSpLocks noChangeAspect="1"/>
          </p:cNvGrpSpPr>
          <p:nvPr/>
        </p:nvGrpSpPr>
        <p:grpSpPr bwMode="gray">
          <a:xfrm>
            <a:off x="5861190" y="4266701"/>
            <a:ext cx="288969" cy="288969"/>
            <a:chOff x="5076056" y="3356992"/>
            <a:chExt cx="436268" cy="436268"/>
          </a:xfrm>
        </p:grpSpPr>
        <p:sp>
          <p:nvSpPr>
            <p:cNvPr id="46"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禁止符 23"/>
            <p:cNvSpPr/>
            <p:nvPr/>
          </p:nvSpPr>
          <p:spPr bwMode="gray">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8" name="内容占位符 4"/>
          <p:cNvSpPr txBox="1">
            <a:spLocks/>
          </p:cNvSpPr>
          <p:nvPr/>
        </p:nvSpPr>
        <p:spPr bwMode="gray">
          <a:xfrm>
            <a:off x="8428116" y="4163867"/>
            <a:ext cx="3062862" cy="489420"/>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just">
              <a:lnSpc>
                <a:spcPct val="110000"/>
              </a:lnSpc>
              <a:buNone/>
              <a:defRPr/>
            </a:pP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2</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主动发起流量访问，</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设备未配置</a:t>
            </a: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NAT Server</a:t>
            </a:r>
            <a:r>
              <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rPr>
              <a:t>，流量不会被转发</a:t>
            </a:r>
          </a:p>
        </p:txBody>
      </p:sp>
      <p:cxnSp>
        <p:nvCxnSpPr>
          <p:cNvPr id="49" name="直接箭头连接符 48"/>
          <p:cNvCxnSpPr/>
          <p:nvPr/>
        </p:nvCxnSpPr>
        <p:spPr bwMode="gray">
          <a:xfrm>
            <a:off x="5758525" y="5428614"/>
            <a:ext cx="2994406" cy="0"/>
          </a:xfrm>
          <a:prstGeom prst="straightConnector1">
            <a:avLst/>
          </a:prstGeom>
          <a:ln w="25400">
            <a:solidFill>
              <a:srgbClr val="E28189"/>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 Placeholder 2"/>
          <p:cNvSpPr txBox="1">
            <a:spLocks/>
          </p:cNvSpPr>
          <p:nvPr/>
        </p:nvSpPr>
        <p:spPr bwMode="gray">
          <a:xfrm>
            <a:off x="4568529" y="5521563"/>
            <a:ext cx="3859587" cy="589761"/>
          </a:xfrm>
          <a:prstGeom prst="rect">
            <a:avLst/>
          </a:prstGeom>
        </p:spPr>
        <p:txBody>
          <a:bodyPr/>
          <a:lst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lgn="just">
              <a:buNone/>
            </a:pP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网关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主动发起流量访问之后，</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会话存在期间，网关</a:t>
            </a:r>
            <a:r>
              <a:rPr lang="en-US" altLang="zh-CN"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可以主动对网关发起流量访问。</a:t>
            </a:r>
          </a:p>
        </p:txBody>
      </p:sp>
      <p:sp>
        <p:nvSpPr>
          <p:cNvPr id="50"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54"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
        <p:nvSpPr>
          <p:cNvPr id="55" name="椭圆 50">
            <a:extLst>
              <a:ext uri="{FF2B5EF4-FFF2-40B4-BE49-F238E27FC236}">
                <a16:creationId xmlns:a16="http://schemas.microsoft.com/office/drawing/2014/main" id="{4C7C4E63-07F2-484E-A141-F01D18F8D379}"/>
              </a:ext>
            </a:extLst>
          </p:cNvPr>
          <p:cNvSpPr/>
          <p:nvPr/>
        </p:nvSpPr>
        <p:spPr bwMode="gray">
          <a:xfrm>
            <a:off x="8107776" y="4304008"/>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0">
            <a:extLst>
              <a:ext uri="{FF2B5EF4-FFF2-40B4-BE49-F238E27FC236}">
                <a16:creationId xmlns:a16="http://schemas.microsoft.com/office/drawing/2014/main" id="{4C7C4E63-07F2-484E-A141-F01D18F8D379}"/>
              </a:ext>
            </a:extLst>
          </p:cNvPr>
          <p:cNvSpPr/>
          <p:nvPr/>
        </p:nvSpPr>
        <p:spPr bwMode="gray">
          <a:xfrm>
            <a:off x="6290789" y="4681408"/>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椭圆 50">
            <a:extLst>
              <a:ext uri="{FF2B5EF4-FFF2-40B4-BE49-F238E27FC236}">
                <a16:creationId xmlns:a16="http://schemas.microsoft.com/office/drawing/2014/main" id="{4C7C4E63-07F2-484E-A141-F01D18F8D379}"/>
              </a:ext>
            </a:extLst>
          </p:cNvPr>
          <p:cNvSpPr/>
          <p:nvPr/>
        </p:nvSpPr>
        <p:spPr bwMode="gray">
          <a:xfrm>
            <a:off x="6287547" y="5155548"/>
            <a:ext cx="215916" cy="215916"/>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51821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159"/>
          <p:cNvSpPr/>
          <p:nvPr/>
        </p:nvSpPr>
        <p:spPr bwMode="gray">
          <a:xfrm flipH="1">
            <a:off x="9125778" y="3038219"/>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9" name="组合 262"/>
          <p:cNvGrpSpPr/>
          <p:nvPr/>
        </p:nvGrpSpPr>
        <p:grpSpPr bwMode="gray">
          <a:xfrm>
            <a:off x="10142443" y="3296985"/>
            <a:ext cx="394083" cy="480502"/>
            <a:chOff x="6378575" y="2882900"/>
            <a:chExt cx="858950" cy="865188"/>
          </a:xfrm>
          <a:solidFill>
            <a:schemeClr val="bg1">
              <a:lumMod val="50000"/>
            </a:schemeClr>
          </a:solidFill>
        </p:grpSpPr>
        <p:sp>
          <p:nvSpPr>
            <p:cNvPr id="31" name="Freeform 11"/>
            <p:cNvSpPr>
              <a:spLocks/>
            </p:cNvSpPr>
            <p:nvPr/>
          </p:nvSpPr>
          <p:spPr bwMode="gray">
            <a:xfrm>
              <a:off x="6378575" y="2882900"/>
              <a:ext cx="425450" cy="179388"/>
            </a:xfrm>
            <a:custGeom>
              <a:avLst/>
              <a:gdLst/>
              <a:ahLst/>
              <a:cxnLst>
                <a:cxn ang="0">
                  <a:pos x="3889" y="0"/>
                </a:cxn>
                <a:cxn ang="0">
                  <a:pos x="5834" y="1637"/>
                </a:cxn>
                <a:cxn ang="0">
                  <a:pos x="7779" y="3274"/>
                </a:cxn>
                <a:cxn ang="0">
                  <a:pos x="3889" y="3274"/>
                </a:cxn>
                <a:cxn ang="0">
                  <a:pos x="0" y="3274"/>
                </a:cxn>
                <a:cxn ang="0">
                  <a:pos x="1944" y="1637"/>
                </a:cxn>
                <a:cxn ang="0">
                  <a:pos x="3889" y="0"/>
                </a:cxn>
              </a:cxnLst>
              <a:rect l="0" t="0" r="r" b="b"/>
              <a:pathLst>
                <a:path w="7779" h="3274">
                  <a:moveTo>
                    <a:pt x="3889" y="0"/>
                  </a:moveTo>
                  <a:lnTo>
                    <a:pt x="5834" y="1637"/>
                  </a:lnTo>
                  <a:lnTo>
                    <a:pt x="7779" y="3274"/>
                  </a:lnTo>
                  <a:lnTo>
                    <a:pt x="3889" y="3274"/>
                  </a:lnTo>
                  <a:lnTo>
                    <a:pt x="0" y="3274"/>
                  </a:lnTo>
                  <a:lnTo>
                    <a:pt x="1944" y="1637"/>
                  </a:lnTo>
                  <a:lnTo>
                    <a:pt x="3889" y="0"/>
                  </a:lnTo>
                  <a:close/>
                </a:path>
              </a:pathLst>
            </a:custGeom>
            <a:solidFill>
              <a:srgbClr val="7F7F7F"/>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12"/>
            <p:cNvSpPr>
              <a:spLocks/>
            </p:cNvSpPr>
            <p:nvPr/>
          </p:nvSpPr>
          <p:spPr bwMode="gray">
            <a:xfrm>
              <a:off x="6810487" y="3300413"/>
              <a:ext cx="425451" cy="179387"/>
            </a:xfrm>
            <a:custGeom>
              <a:avLst/>
              <a:gdLst/>
              <a:ahLst/>
              <a:cxnLst>
                <a:cxn ang="0">
                  <a:pos x="3890" y="0"/>
                </a:cxn>
                <a:cxn ang="0">
                  <a:pos x="5834" y="1638"/>
                </a:cxn>
                <a:cxn ang="0">
                  <a:pos x="7779" y="3275"/>
                </a:cxn>
                <a:cxn ang="0">
                  <a:pos x="3890" y="3275"/>
                </a:cxn>
                <a:cxn ang="0">
                  <a:pos x="0" y="3275"/>
                </a:cxn>
                <a:cxn ang="0">
                  <a:pos x="1945" y="1638"/>
                </a:cxn>
                <a:cxn ang="0">
                  <a:pos x="3890" y="0"/>
                </a:cxn>
              </a:cxnLst>
              <a:rect l="0" t="0" r="r" b="b"/>
              <a:pathLst>
                <a:path w="7779" h="3275">
                  <a:moveTo>
                    <a:pt x="3890" y="0"/>
                  </a:moveTo>
                  <a:lnTo>
                    <a:pt x="5834" y="1638"/>
                  </a:lnTo>
                  <a:lnTo>
                    <a:pt x="7779" y="3275"/>
                  </a:lnTo>
                  <a:lnTo>
                    <a:pt x="3890" y="3275"/>
                  </a:lnTo>
                  <a:lnTo>
                    <a:pt x="0" y="3275"/>
                  </a:lnTo>
                  <a:lnTo>
                    <a:pt x="1945" y="1638"/>
                  </a:lnTo>
                  <a:lnTo>
                    <a:pt x="3890" y="0"/>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13"/>
            <p:cNvSpPr>
              <a:spLocks noEditPoints="1"/>
            </p:cNvSpPr>
            <p:nvPr/>
          </p:nvSpPr>
          <p:spPr bwMode="gray">
            <a:xfrm>
              <a:off x="6810487" y="3502025"/>
              <a:ext cx="427038" cy="246063"/>
            </a:xfrm>
            <a:custGeom>
              <a:avLst/>
              <a:gdLst/>
              <a:ahLst/>
              <a:cxnLst>
                <a:cxn ang="0">
                  <a:pos x="7792" y="0"/>
                </a:cxn>
                <a:cxn ang="0">
                  <a:pos x="0" y="0"/>
                </a:cxn>
                <a:cxn ang="0">
                  <a:pos x="0" y="4498"/>
                </a:cxn>
                <a:cxn ang="0">
                  <a:pos x="7792" y="4498"/>
                </a:cxn>
                <a:cxn ang="0">
                  <a:pos x="7792" y="0"/>
                </a:cxn>
                <a:cxn ang="0">
                  <a:pos x="687" y="578"/>
                </a:cxn>
                <a:cxn ang="0">
                  <a:pos x="2079" y="578"/>
                </a:cxn>
                <a:cxn ang="0">
                  <a:pos x="2079" y="1971"/>
                </a:cxn>
                <a:cxn ang="0">
                  <a:pos x="687" y="1971"/>
                </a:cxn>
                <a:cxn ang="0">
                  <a:pos x="687" y="578"/>
                </a:cxn>
                <a:cxn ang="0">
                  <a:pos x="687" y="2473"/>
                </a:cxn>
                <a:cxn ang="0">
                  <a:pos x="2079" y="2473"/>
                </a:cxn>
                <a:cxn ang="0">
                  <a:pos x="2079" y="3866"/>
                </a:cxn>
                <a:cxn ang="0">
                  <a:pos x="687" y="3866"/>
                </a:cxn>
                <a:cxn ang="0">
                  <a:pos x="687" y="2473"/>
                </a:cxn>
                <a:cxn ang="0">
                  <a:pos x="2361" y="2473"/>
                </a:cxn>
                <a:cxn ang="0">
                  <a:pos x="3755" y="2473"/>
                </a:cxn>
                <a:cxn ang="0">
                  <a:pos x="3755" y="3866"/>
                </a:cxn>
                <a:cxn ang="0">
                  <a:pos x="2361" y="3866"/>
                </a:cxn>
                <a:cxn ang="0">
                  <a:pos x="2361" y="2473"/>
                </a:cxn>
                <a:cxn ang="0">
                  <a:pos x="4037" y="2473"/>
                </a:cxn>
                <a:cxn ang="0">
                  <a:pos x="5429" y="2473"/>
                </a:cxn>
                <a:cxn ang="0">
                  <a:pos x="5429" y="3866"/>
                </a:cxn>
                <a:cxn ang="0">
                  <a:pos x="4037" y="3866"/>
                </a:cxn>
                <a:cxn ang="0">
                  <a:pos x="4037" y="2473"/>
                </a:cxn>
                <a:cxn ang="0">
                  <a:pos x="2361" y="578"/>
                </a:cxn>
                <a:cxn ang="0">
                  <a:pos x="3755" y="578"/>
                </a:cxn>
                <a:cxn ang="0">
                  <a:pos x="3755" y="1971"/>
                </a:cxn>
                <a:cxn ang="0">
                  <a:pos x="2361" y="1971"/>
                </a:cxn>
                <a:cxn ang="0">
                  <a:pos x="2361" y="578"/>
                </a:cxn>
                <a:cxn ang="0">
                  <a:pos x="4037" y="578"/>
                </a:cxn>
                <a:cxn ang="0">
                  <a:pos x="5429" y="578"/>
                </a:cxn>
                <a:cxn ang="0">
                  <a:pos x="5429" y="1971"/>
                </a:cxn>
                <a:cxn ang="0">
                  <a:pos x="4037" y="1971"/>
                </a:cxn>
                <a:cxn ang="0">
                  <a:pos x="4037" y="578"/>
                </a:cxn>
                <a:cxn ang="0">
                  <a:pos x="5713" y="578"/>
                </a:cxn>
                <a:cxn ang="0">
                  <a:pos x="7105" y="578"/>
                </a:cxn>
                <a:cxn ang="0">
                  <a:pos x="7105" y="1971"/>
                </a:cxn>
                <a:cxn ang="0">
                  <a:pos x="5713" y="1971"/>
                </a:cxn>
                <a:cxn ang="0">
                  <a:pos x="5713" y="578"/>
                </a:cxn>
                <a:cxn ang="0">
                  <a:pos x="5713" y="2473"/>
                </a:cxn>
                <a:cxn ang="0">
                  <a:pos x="7105" y="2473"/>
                </a:cxn>
                <a:cxn ang="0">
                  <a:pos x="7105" y="3866"/>
                </a:cxn>
                <a:cxn ang="0">
                  <a:pos x="5713" y="3866"/>
                </a:cxn>
                <a:cxn ang="0">
                  <a:pos x="5713" y="2473"/>
                </a:cxn>
              </a:cxnLst>
              <a:rect l="0" t="0" r="r" b="b"/>
              <a:pathLst>
                <a:path w="7792" h="4498">
                  <a:moveTo>
                    <a:pt x="7792" y="0"/>
                  </a:moveTo>
                  <a:lnTo>
                    <a:pt x="0" y="0"/>
                  </a:lnTo>
                  <a:lnTo>
                    <a:pt x="0" y="4498"/>
                  </a:lnTo>
                  <a:lnTo>
                    <a:pt x="7792" y="4498"/>
                  </a:lnTo>
                  <a:lnTo>
                    <a:pt x="7792" y="0"/>
                  </a:lnTo>
                  <a:close/>
                  <a:moveTo>
                    <a:pt x="687" y="578"/>
                  </a:moveTo>
                  <a:lnTo>
                    <a:pt x="2079" y="578"/>
                  </a:lnTo>
                  <a:lnTo>
                    <a:pt x="2079" y="1971"/>
                  </a:lnTo>
                  <a:lnTo>
                    <a:pt x="687" y="1971"/>
                  </a:lnTo>
                  <a:lnTo>
                    <a:pt x="687" y="578"/>
                  </a:lnTo>
                  <a:close/>
                  <a:moveTo>
                    <a:pt x="687" y="2473"/>
                  </a:moveTo>
                  <a:lnTo>
                    <a:pt x="2079" y="2473"/>
                  </a:lnTo>
                  <a:lnTo>
                    <a:pt x="2079" y="3866"/>
                  </a:lnTo>
                  <a:lnTo>
                    <a:pt x="687" y="3866"/>
                  </a:lnTo>
                  <a:lnTo>
                    <a:pt x="687" y="2473"/>
                  </a:lnTo>
                  <a:close/>
                  <a:moveTo>
                    <a:pt x="2361" y="2473"/>
                  </a:moveTo>
                  <a:lnTo>
                    <a:pt x="3755" y="2473"/>
                  </a:lnTo>
                  <a:lnTo>
                    <a:pt x="3755" y="3866"/>
                  </a:lnTo>
                  <a:lnTo>
                    <a:pt x="2361" y="3866"/>
                  </a:lnTo>
                  <a:lnTo>
                    <a:pt x="2361" y="2473"/>
                  </a:lnTo>
                  <a:close/>
                  <a:moveTo>
                    <a:pt x="4037" y="2473"/>
                  </a:moveTo>
                  <a:lnTo>
                    <a:pt x="5429" y="2473"/>
                  </a:lnTo>
                  <a:lnTo>
                    <a:pt x="5429" y="3866"/>
                  </a:lnTo>
                  <a:lnTo>
                    <a:pt x="4037" y="3866"/>
                  </a:lnTo>
                  <a:lnTo>
                    <a:pt x="4037" y="2473"/>
                  </a:lnTo>
                  <a:close/>
                  <a:moveTo>
                    <a:pt x="2361" y="578"/>
                  </a:moveTo>
                  <a:lnTo>
                    <a:pt x="3755" y="578"/>
                  </a:lnTo>
                  <a:lnTo>
                    <a:pt x="3755" y="1971"/>
                  </a:lnTo>
                  <a:lnTo>
                    <a:pt x="2361" y="1971"/>
                  </a:lnTo>
                  <a:lnTo>
                    <a:pt x="2361" y="578"/>
                  </a:lnTo>
                  <a:close/>
                  <a:moveTo>
                    <a:pt x="4037" y="578"/>
                  </a:moveTo>
                  <a:lnTo>
                    <a:pt x="5429" y="578"/>
                  </a:lnTo>
                  <a:lnTo>
                    <a:pt x="5429" y="1971"/>
                  </a:lnTo>
                  <a:lnTo>
                    <a:pt x="4037" y="1971"/>
                  </a:lnTo>
                  <a:lnTo>
                    <a:pt x="4037" y="578"/>
                  </a:lnTo>
                  <a:close/>
                  <a:moveTo>
                    <a:pt x="5713" y="578"/>
                  </a:moveTo>
                  <a:lnTo>
                    <a:pt x="7105" y="578"/>
                  </a:lnTo>
                  <a:lnTo>
                    <a:pt x="7105" y="1971"/>
                  </a:lnTo>
                  <a:lnTo>
                    <a:pt x="5713" y="1971"/>
                  </a:lnTo>
                  <a:lnTo>
                    <a:pt x="5713" y="578"/>
                  </a:lnTo>
                  <a:close/>
                  <a:moveTo>
                    <a:pt x="5713" y="2473"/>
                  </a:moveTo>
                  <a:lnTo>
                    <a:pt x="7105" y="2473"/>
                  </a:lnTo>
                  <a:lnTo>
                    <a:pt x="7105" y="3866"/>
                  </a:lnTo>
                  <a:lnTo>
                    <a:pt x="5713" y="3866"/>
                  </a:lnTo>
                  <a:lnTo>
                    <a:pt x="5713" y="2473"/>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14"/>
            <p:cNvSpPr>
              <a:spLocks noEditPoints="1"/>
            </p:cNvSpPr>
            <p:nvPr/>
          </p:nvSpPr>
          <p:spPr bwMode="gray">
            <a:xfrm>
              <a:off x="6378575" y="3081338"/>
              <a:ext cx="427038" cy="666750"/>
            </a:xfrm>
            <a:custGeom>
              <a:avLst/>
              <a:gdLst/>
              <a:ahLst/>
              <a:cxnLst>
                <a:cxn ang="0">
                  <a:pos x="7792" y="0"/>
                </a:cxn>
                <a:cxn ang="0">
                  <a:pos x="0" y="12190"/>
                </a:cxn>
                <a:cxn ang="0">
                  <a:pos x="687" y="690"/>
                </a:cxn>
                <a:cxn ang="0">
                  <a:pos x="2079" y="2084"/>
                </a:cxn>
                <a:cxn ang="0">
                  <a:pos x="687" y="690"/>
                </a:cxn>
                <a:cxn ang="0">
                  <a:pos x="2079" y="10165"/>
                </a:cxn>
                <a:cxn ang="0">
                  <a:pos x="687" y="11558"/>
                </a:cxn>
                <a:cxn ang="0">
                  <a:pos x="2363" y="10165"/>
                </a:cxn>
                <a:cxn ang="0">
                  <a:pos x="3755" y="11558"/>
                </a:cxn>
                <a:cxn ang="0">
                  <a:pos x="2363" y="10165"/>
                </a:cxn>
                <a:cxn ang="0">
                  <a:pos x="5431" y="10165"/>
                </a:cxn>
                <a:cxn ang="0">
                  <a:pos x="4037" y="11558"/>
                </a:cxn>
                <a:cxn ang="0">
                  <a:pos x="5713" y="10165"/>
                </a:cxn>
                <a:cxn ang="0">
                  <a:pos x="7105" y="11558"/>
                </a:cxn>
                <a:cxn ang="0">
                  <a:pos x="5713" y="10165"/>
                </a:cxn>
                <a:cxn ang="0">
                  <a:pos x="2079" y="8270"/>
                </a:cxn>
                <a:cxn ang="0">
                  <a:pos x="687" y="9663"/>
                </a:cxn>
                <a:cxn ang="0">
                  <a:pos x="2363" y="8270"/>
                </a:cxn>
                <a:cxn ang="0">
                  <a:pos x="3755" y="9663"/>
                </a:cxn>
                <a:cxn ang="0">
                  <a:pos x="2363" y="8270"/>
                </a:cxn>
                <a:cxn ang="0">
                  <a:pos x="5431" y="8270"/>
                </a:cxn>
                <a:cxn ang="0">
                  <a:pos x="4037" y="9663"/>
                </a:cxn>
                <a:cxn ang="0">
                  <a:pos x="5713" y="8270"/>
                </a:cxn>
                <a:cxn ang="0">
                  <a:pos x="7105" y="9663"/>
                </a:cxn>
                <a:cxn ang="0">
                  <a:pos x="5713" y="8270"/>
                </a:cxn>
                <a:cxn ang="0">
                  <a:pos x="2079" y="6376"/>
                </a:cxn>
                <a:cxn ang="0">
                  <a:pos x="687" y="7768"/>
                </a:cxn>
                <a:cxn ang="0">
                  <a:pos x="2363" y="6376"/>
                </a:cxn>
                <a:cxn ang="0">
                  <a:pos x="3755" y="7768"/>
                </a:cxn>
                <a:cxn ang="0">
                  <a:pos x="2363" y="6376"/>
                </a:cxn>
                <a:cxn ang="0">
                  <a:pos x="5431" y="6376"/>
                </a:cxn>
                <a:cxn ang="0">
                  <a:pos x="4037" y="7768"/>
                </a:cxn>
                <a:cxn ang="0">
                  <a:pos x="5713" y="6376"/>
                </a:cxn>
                <a:cxn ang="0">
                  <a:pos x="7105" y="7768"/>
                </a:cxn>
                <a:cxn ang="0">
                  <a:pos x="5713" y="6376"/>
                </a:cxn>
                <a:cxn ang="0">
                  <a:pos x="2079" y="4481"/>
                </a:cxn>
                <a:cxn ang="0">
                  <a:pos x="687" y="5874"/>
                </a:cxn>
                <a:cxn ang="0">
                  <a:pos x="2363" y="4481"/>
                </a:cxn>
                <a:cxn ang="0">
                  <a:pos x="3755" y="5874"/>
                </a:cxn>
                <a:cxn ang="0">
                  <a:pos x="2363" y="4481"/>
                </a:cxn>
                <a:cxn ang="0">
                  <a:pos x="5431" y="4481"/>
                </a:cxn>
                <a:cxn ang="0">
                  <a:pos x="4037" y="5874"/>
                </a:cxn>
                <a:cxn ang="0">
                  <a:pos x="5713" y="4481"/>
                </a:cxn>
                <a:cxn ang="0">
                  <a:pos x="7105" y="5874"/>
                </a:cxn>
                <a:cxn ang="0">
                  <a:pos x="5713" y="4481"/>
                </a:cxn>
                <a:cxn ang="0">
                  <a:pos x="2079" y="2585"/>
                </a:cxn>
                <a:cxn ang="0">
                  <a:pos x="687" y="3979"/>
                </a:cxn>
                <a:cxn ang="0">
                  <a:pos x="2363" y="2585"/>
                </a:cxn>
                <a:cxn ang="0">
                  <a:pos x="3755" y="3979"/>
                </a:cxn>
                <a:cxn ang="0">
                  <a:pos x="2363" y="2585"/>
                </a:cxn>
                <a:cxn ang="0">
                  <a:pos x="5431" y="2585"/>
                </a:cxn>
                <a:cxn ang="0">
                  <a:pos x="4037" y="3979"/>
                </a:cxn>
                <a:cxn ang="0">
                  <a:pos x="2363" y="690"/>
                </a:cxn>
                <a:cxn ang="0">
                  <a:pos x="3755" y="2084"/>
                </a:cxn>
                <a:cxn ang="0">
                  <a:pos x="2363" y="690"/>
                </a:cxn>
                <a:cxn ang="0">
                  <a:pos x="5431" y="690"/>
                </a:cxn>
                <a:cxn ang="0">
                  <a:pos x="4037" y="2084"/>
                </a:cxn>
                <a:cxn ang="0">
                  <a:pos x="5713" y="690"/>
                </a:cxn>
                <a:cxn ang="0">
                  <a:pos x="7105" y="2084"/>
                </a:cxn>
                <a:cxn ang="0">
                  <a:pos x="5713" y="690"/>
                </a:cxn>
                <a:cxn ang="0">
                  <a:pos x="7105" y="2585"/>
                </a:cxn>
                <a:cxn ang="0">
                  <a:pos x="5713" y="3979"/>
                </a:cxn>
              </a:cxnLst>
              <a:rect l="0" t="0" r="r" b="b"/>
              <a:pathLst>
                <a:path w="7792" h="12190">
                  <a:moveTo>
                    <a:pt x="0" y="0"/>
                  </a:moveTo>
                  <a:lnTo>
                    <a:pt x="7792" y="0"/>
                  </a:lnTo>
                  <a:lnTo>
                    <a:pt x="7792" y="12190"/>
                  </a:lnTo>
                  <a:lnTo>
                    <a:pt x="0" y="12190"/>
                  </a:lnTo>
                  <a:lnTo>
                    <a:pt x="0" y="0"/>
                  </a:lnTo>
                  <a:close/>
                  <a:moveTo>
                    <a:pt x="687" y="690"/>
                  </a:moveTo>
                  <a:lnTo>
                    <a:pt x="2079" y="690"/>
                  </a:lnTo>
                  <a:lnTo>
                    <a:pt x="2079" y="2084"/>
                  </a:lnTo>
                  <a:lnTo>
                    <a:pt x="687" y="2084"/>
                  </a:lnTo>
                  <a:lnTo>
                    <a:pt x="687" y="690"/>
                  </a:lnTo>
                  <a:close/>
                  <a:moveTo>
                    <a:pt x="687" y="10165"/>
                  </a:moveTo>
                  <a:lnTo>
                    <a:pt x="2079" y="10165"/>
                  </a:lnTo>
                  <a:lnTo>
                    <a:pt x="2079" y="11558"/>
                  </a:lnTo>
                  <a:lnTo>
                    <a:pt x="687" y="11558"/>
                  </a:lnTo>
                  <a:lnTo>
                    <a:pt x="687" y="10165"/>
                  </a:lnTo>
                  <a:close/>
                  <a:moveTo>
                    <a:pt x="2363" y="10165"/>
                  </a:moveTo>
                  <a:lnTo>
                    <a:pt x="3755" y="10165"/>
                  </a:lnTo>
                  <a:lnTo>
                    <a:pt x="3755" y="11558"/>
                  </a:lnTo>
                  <a:lnTo>
                    <a:pt x="2363" y="11558"/>
                  </a:lnTo>
                  <a:lnTo>
                    <a:pt x="2363" y="10165"/>
                  </a:lnTo>
                  <a:close/>
                  <a:moveTo>
                    <a:pt x="4037" y="10165"/>
                  </a:moveTo>
                  <a:lnTo>
                    <a:pt x="5431" y="10165"/>
                  </a:lnTo>
                  <a:lnTo>
                    <a:pt x="5431" y="11558"/>
                  </a:lnTo>
                  <a:lnTo>
                    <a:pt x="4037" y="11558"/>
                  </a:lnTo>
                  <a:lnTo>
                    <a:pt x="4037" y="10165"/>
                  </a:lnTo>
                  <a:close/>
                  <a:moveTo>
                    <a:pt x="5713" y="10165"/>
                  </a:moveTo>
                  <a:lnTo>
                    <a:pt x="7105" y="10165"/>
                  </a:lnTo>
                  <a:lnTo>
                    <a:pt x="7105" y="11558"/>
                  </a:lnTo>
                  <a:lnTo>
                    <a:pt x="5713" y="11558"/>
                  </a:lnTo>
                  <a:lnTo>
                    <a:pt x="5713" y="10165"/>
                  </a:lnTo>
                  <a:close/>
                  <a:moveTo>
                    <a:pt x="687" y="8270"/>
                  </a:moveTo>
                  <a:lnTo>
                    <a:pt x="2079" y="8270"/>
                  </a:lnTo>
                  <a:lnTo>
                    <a:pt x="2079" y="9663"/>
                  </a:lnTo>
                  <a:lnTo>
                    <a:pt x="687" y="9663"/>
                  </a:lnTo>
                  <a:lnTo>
                    <a:pt x="687" y="8270"/>
                  </a:lnTo>
                  <a:close/>
                  <a:moveTo>
                    <a:pt x="2363" y="8270"/>
                  </a:moveTo>
                  <a:lnTo>
                    <a:pt x="3755" y="8270"/>
                  </a:lnTo>
                  <a:lnTo>
                    <a:pt x="3755" y="9663"/>
                  </a:lnTo>
                  <a:lnTo>
                    <a:pt x="2363" y="9663"/>
                  </a:lnTo>
                  <a:lnTo>
                    <a:pt x="2363" y="8270"/>
                  </a:lnTo>
                  <a:close/>
                  <a:moveTo>
                    <a:pt x="4037" y="8270"/>
                  </a:moveTo>
                  <a:lnTo>
                    <a:pt x="5431" y="8270"/>
                  </a:lnTo>
                  <a:lnTo>
                    <a:pt x="5431" y="9663"/>
                  </a:lnTo>
                  <a:lnTo>
                    <a:pt x="4037" y="9663"/>
                  </a:lnTo>
                  <a:lnTo>
                    <a:pt x="4037" y="8270"/>
                  </a:lnTo>
                  <a:close/>
                  <a:moveTo>
                    <a:pt x="5713" y="8270"/>
                  </a:moveTo>
                  <a:lnTo>
                    <a:pt x="7105" y="8270"/>
                  </a:lnTo>
                  <a:lnTo>
                    <a:pt x="7105" y="9663"/>
                  </a:lnTo>
                  <a:lnTo>
                    <a:pt x="5713" y="9663"/>
                  </a:lnTo>
                  <a:lnTo>
                    <a:pt x="5713" y="8270"/>
                  </a:lnTo>
                  <a:close/>
                  <a:moveTo>
                    <a:pt x="687" y="6376"/>
                  </a:moveTo>
                  <a:lnTo>
                    <a:pt x="2079" y="6376"/>
                  </a:lnTo>
                  <a:lnTo>
                    <a:pt x="2079" y="7768"/>
                  </a:lnTo>
                  <a:lnTo>
                    <a:pt x="687" y="7768"/>
                  </a:lnTo>
                  <a:lnTo>
                    <a:pt x="687" y="6376"/>
                  </a:lnTo>
                  <a:close/>
                  <a:moveTo>
                    <a:pt x="2363" y="6376"/>
                  </a:moveTo>
                  <a:lnTo>
                    <a:pt x="3755" y="6376"/>
                  </a:lnTo>
                  <a:lnTo>
                    <a:pt x="3755" y="7768"/>
                  </a:lnTo>
                  <a:lnTo>
                    <a:pt x="2363" y="7768"/>
                  </a:lnTo>
                  <a:lnTo>
                    <a:pt x="2363" y="6376"/>
                  </a:lnTo>
                  <a:close/>
                  <a:moveTo>
                    <a:pt x="4037" y="6376"/>
                  </a:moveTo>
                  <a:lnTo>
                    <a:pt x="5431" y="6376"/>
                  </a:lnTo>
                  <a:lnTo>
                    <a:pt x="5431" y="7768"/>
                  </a:lnTo>
                  <a:lnTo>
                    <a:pt x="4037" y="7768"/>
                  </a:lnTo>
                  <a:lnTo>
                    <a:pt x="4037" y="6376"/>
                  </a:lnTo>
                  <a:close/>
                  <a:moveTo>
                    <a:pt x="5713" y="6376"/>
                  </a:moveTo>
                  <a:lnTo>
                    <a:pt x="7105" y="6376"/>
                  </a:lnTo>
                  <a:lnTo>
                    <a:pt x="7105" y="7768"/>
                  </a:lnTo>
                  <a:lnTo>
                    <a:pt x="5713" y="7768"/>
                  </a:lnTo>
                  <a:lnTo>
                    <a:pt x="5713" y="6376"/>
                  </a:lnTo>
                  <a:close/>
                  <a:moveTo>
                    <a:pt x="687" y="4481"/>
                  </a:moveTo>
                  <a:lnTo>
                    <a:pt x="2079" y="4481"/>
                  </a:lnTo>
                  <a:lnTo>
                    <a:pt x="2079" y="5874"/>
                  </a:lnTo>
                  <a:lnTo>
                    <a:pt x="687" y="5874"/>
                  </a:lnTo>
                  <a:lnTo>
                    <a:pt x="687" y="4481"/>
                  </a:lnTo>
                  <a:close/>
                  <a:moveTo>
                    <a:pt x="2363" y="4481"/>
                  </a:moveTo>
                  <a:lnTo>
                    <a:pt x="3755" y="4481"/>
                  </a:lnTo>
                  <a:lnTo>
                    <a:pt x="3755" y="5874"/>
                  </a:lnTo>
                  <a:lnTo>
                    <a:pt x="2363" y="5874"/>
                  </a:lnTo>
                  <a:lnTo>
                    <a:pt x="2363" y="4481"/>
                  </a:lnTo>
                  <a:close/>
                  <a:moveTo>
                    <a:pt x="4037" y="4481"/>
                  </a:moveTo>
                  <a:lnTo>
                    <a:pt x="5431" y="4481"/>
                  </a:lnTo>
                  <a:lnTo>
                    <a:pt x="5431" y="5874"/>
                  </a:lnTo>
                  <a:lnTo>
                    <a:pt x="4037" y="5874"/>
                  </a:lnTo>
                  <a:lnTo>
                    <a:pt x="4037" y="4481"/>
                  </a:lnTo>
                  <a:close/>
                  <a:moveTo>
                    <a:pt x="5713" y="4481"/>
                  </a:moveTo>
                  <a:lnTo>
                    <a:pt x="7105" y="4481"/>
                  </a:lnTo>
                  <a:lnTo>
                    <a:pt x="7105" y="5874"/>
                  </a:lnTo>
                  <a:lnTo>
                    <a:pt x="5713" y="5874"/>
                  </a:lnTo>
                  <a:lnTo>
                    <a:pt x="5713" y="4481"/>
                  </a:lnTo>
                  <a:close/>
                  <a:moveTo>
                    <a:pt x="687" y="2585"/>
                  </a:moveTo>
                  <a:lnTo>
                    <a:pt x="2079" y="2585"/>
                  </a:lnTo>
                  <a:lnTo>
                    <a:pt x="2079" y="3979"/>
                  </a:lnTo>
                  <a:lnTo>
                    <a:pt x="687" y="3979"/>
                  </a:lnTo>
                  <a:lnTo>
                    <a:pt x="687" y="2585"/>
                  </a:lnTo>
                  <a:close/>
                  <a:moveTo>
                    <a:pt x="2363" y="2585"/>
                  </a:moveTo>
                  <a:lnTo>
                    <a:pt x="3755" y="2585"/>
                  </a:lnTo>
                  <a:lnTo>
                    <a:pt x="3755" y="3979"/>
                  </a:lnTo>
                  <a:lnTo>
                    <a:pt x="2363" y="3979"/>
                  </a:lnTo>
                  <a:lnTo>
                    <a:pt x="2363" y="2585"/>
                  </a:lnTo>
                  <a:close/>
                  <a:moveTo>
                    <a:pt x="4037" y="2585"/>
                  </a:moveTo>
                  <a:lnTo>
                    <a:pt x="5431" y="2585"/>
                  </a:lnTo>
                  <a:lnTo>
                    <a:pt x="5431" y="3979"/>
                  </a:lnTo>
                  <a:lnTo>
                    <a:pt x="4037" y="3979"/>
                  </a:lnTo>
                  <a:lnTo>
                    <a:pt x="4037" y="2585"/>
                  </a:lnTo>
                  <a:close/>
                  <a:moveTo>
                    <a:pt x="2363" y="690"/>
                  </a:moveTo>
                  <a:lnTo>
                    <a:pt x="3755" y="690"/>
                  </a:lnTo>
                  <a:lnTo>
                    <a:pt x="3755" y="2084"/>
                  </a:lnTo>
                  <a:lnTo>
                    <a:pt x="2363" y="2084"/>
                  </a:lnTo>
                  <a:lnTo>
                    <a:pt x="2363" y="690"/>
                  </a:lnTo>
                  <a:close/>
                  <a:moveTo>
                    <a:pt x="4037" y="690"/>
                  </a:moveTo>
                  <a:lnTo>
                    <a:pt x="5431" y="690"/>
                  </a:lnTo>
                  <a:lnTo>
                    <a:pt x="5431" y="2084"/>
                  </a:lnTo>
                  <a:lnTo>
                    <a:pt x="4037" y="2084"/>
                  </a:lnTo>
                  <a:lnTo>
                    <a:pt x="4037" y="690"/>
                  </a:lnTo>
                  <a:close/>
                  <a:moveTo>
                    <a:pt x="5713" y="690"/>
                  </a:moveTo>
                  <a:lnTo>
                    <a:pt x="7105" y="690"/>
                  </a:lnTo>
                  <a:lnTo>
                    <a:pt x="7105" y="2084"/>
                  </a:lnTo>
                  <a:lnTo>
                    <a:pt x="5713" y="2084"/>
                  </a:lnTo>
                  <a:lnTo>
                    <a:pt x="5713" y="690"/>
                  </a:lnTo>
                  <a:close/>
                  <a:moveTo>
                    <a:pt x="5713" y="2585"/>
                  </a:moveTo>
                  <a:lnTo>
                    <a:pt x="7105" y="2585"/>
                  </a:lnTo>
                  <a:lnTo>
                    <a:pt x="7105" y="3979"/>
                  </a:lnTo>
                  <a:lnTo>
                    <a:pt x="5713" y="3979"/>
                  </a:lnTo>
                  <a:lnTo>
                    <a:pt x="5713" y="2585"/>
                  </a:lnTo>
                  <a:close/>
                </a:path>
              </a:pathLst>
            </a:custGeom>
            <a:grp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0" name="矩形 29"/>
          <p:cNvSpPr/>
          <p:nvPr/>
        </p:nvSpPr>
        <p:spPr bwMode="gray">
          <a:xfrm>
            <a:off x="9574761" y="299710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总部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159"/>
          <p:cNvSpPr/>
          <p:nvPr/>
        </p:nvSpPr>
        <p:spPr bwMode="gray">
          <a:xfrm flipH="1">
            <a:off x="2299120" y="3033194"/>
            <a:ext cx="1486008" cy="77677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accent1">
              <a:lumMod val="20000"/>
              <a:lumOff val="8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sz="1200" b="1">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normAutofit/>
          </a:bodyPr>
          <a:lstStyle/>
          <a:p>
            <a:r>
              <a:rPr lang="en-US" altLang="zh-CN" dirty="0">
                <a:sym typeface="Huawei Sans" panose="020C0503030203020204" pitchFamily="34" charset="0"/>
              </a:rPr>
              <a:t>IPsec</a:t>
            </a:r>
            <a:r>
              <a:rPr lang="zh-CN" altLang="en-US" dirty="0">
                <a:sym typeface="Huawei Sans" panose="020C0503030203020204" pitchFamily="34" charset="0"/>
              </a:rPr>
              <a:t>穿越</a:t>
            </a:r>
            <a:r>
              <a:rPr lang="en-US" altLang="zh-CN" dirty="0">
                <a:sym typeface="Huawei Sans" panose="020C0503030203020204" pitchFamily="34" charset="0"/>
              </a:rPr>
              <a:t>NAT</a:t>
            </a:r>
            <a:r>
              <a:rPr lang="zh-CN" altLang="en-US" dirty="0">
                <a:sym typeface="Huawei Sans" panose="020C0503030203020204" pitchFamily="34" charset="0"/>
              </a:rPr>
              <a:t>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会话保活 </a:t>
            </a:r>
            <a:r>
              <a:rPr lang="en-US" altLang="zh-CN"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占位符 34"/>
          <p:cNvSpPr>
            <a:spLocks noGrp="1"/>
          </p:cNvSpPr>
          <p:nvPr>
            <p:ph type="body" sz="quarter" idx="10"/>
          </p:nvPr>
        </p:nvSpPr>
        <p:spPr bwMode="gray"/>
        <p:txBody>
          <a:bodyPr/>
          <a:lstStyle/>
          <a:p>
            <a:r>
              <a:rPr lang="zh-CN" altLang="en-US" sz="1800" dirty="0"/>
              <a:t>为保证</a:t>
            </a:r>
            <a:r>
              <a:rPr lang="en-US" altLang="zh-CN" sz="1800" dirty="0"/>
              <a:t>NAT</a:t>
            </a:r>
            <a:r>
              <a:rPr lang="zh-CN" altLang="en-US" sz="1800" dirty="0"/>
              <a:t>设备会话表项不老化，</a:t>
            </a:r>
            <a:r>
              <a:rPr lang="en-US" altLang="zh-CN" sz="1800" dirty="0"/>
              <a:t>NAT</a:t>
            </a:r>
            <a:r>
              <a:rPr lang="zh-CN" altLang="en-US" sz="1800" dirty="0"/>
              <a:t>设备内侧设备（网关</a:t>
            </a:r>
            <a:r>
              <a:rPr lang="en-US" altLang="zh-CN" sz="1800" dirty="0"/>
              <a:t>1</a:t>
            </a:r>
            <a:r>
              <a:rPr lang="zh-CN" altLang="en-US" sz="1800" dirty="0"/>
              <a:t>）会定期发送</a:t>
            </a:r>
            <a:r>
              <a:rPr lang="en-US" altLang="zh-CN" sz="1800" dirty="0"/>
              <a:t>NAT </a:t>
            </a:r>
            <a:r>
              <a:rPr lang="en-US" altLang="zh-CN" sz="1800" dirty="0" err="1"/>
              <a:t>Keepalive</a:t>
            </a:r>
            <a:r>
              <a:rPr lang="zh-CN" altLang="en-US" sz="1800" dirty="0"/>
              <a:t>报文，维持</a:t>
            </a:r>
            <a:r>
              <a:rPr lang="en-US" altLang="zh-CN" sz="1800" dirty="0"/>
              <a:t>NAT</a:t>
            </a:r>
            <a:r>
              <a:rPr lang="zh-CN" altLang="en-US" sz="1800" dirty="0"/>
              <a:t>会话的存活，当检测到中间路径存在</a:t>
            </a:r>
            <a:r>
              <a:rPr lang="en-US" altLang="zh-CN" sz="1800" dirty="0"/>
              <a:t>NAT</a:t>
            </a:r>
            <a:r>
              <a:rPr lang="zh-CN" altLang="en-US" sz="1800" dirty="0"/>
              <a:t>设备之后，设备缺省</a:t>
            </a:r>
            <a:r>
              <a:rPr lang="en-US" altLang="zh-CN" sz="1800" dirty="0"/>
              <a:t>20s</a:t>
            </a:r>
            <a:r>
              <a:rPr lang="zh-CN" altLang="en-US" sz="1800" dirty="0"/>
              <a:t>发送一次</a:t>
            </a:r>
            <a:r>
              <a:rPr lang="en-US" altLang="zh-CN" sz="1800" dirty="0"/>
              <a:t>NAT </a:t>
            </a:r>
            <a:r>
              <a:rPr lang="en-US" altLang="zh-CN" sz="1800" dirty="0" err="1"/>
              <a:t>Keepalive</a:t>
            </a:r>
            <a:r>
              <a:rPr lang="zh-CN" altLang="en-US" sz="1800" dirty="0"/>
              <a:t>报文。</a:t>
            </a: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95834" y="3321922"/>
            <a:ext cx="540000" cy="442800"/>
          </a:xfrm>
          <a:prstGeom prst="rect">
            <a:avLst/>
          </a:prstGeom>
        </p:spPr>
      </p:pic>
      <p:grpSp>
        <p:nvGrpSpPr>
          <p:cNvPr id="5" name="组合 35"/>
          <p:cNvGrpSpPr/>
          <p:nvPr/>
        </p:nvGrpSpPr>
        <p:grpSpPr bwMode="gray">
          <a:xfrm>
            <a:off x="6922773" y="3026841"/>
            <a:ext cx="1830006" cy="1037460"/>
            <a:chOff x="3269076" y="1744970"/>
            <a:chExt cx="1860118" cy="1054529"/>
          </a:xfrm>
          <a:solidFill>
            <a:schemeClr val="bg1">
              <a:lumMod val="75000"/>
            </a:schemeClr>
          </a:solidFill>
        </p:grpSpPr>
        <p:sp>
          <p:nvSpPr>
            <p:cNvPr id="6" name="矩形 36"/>
            <p:cNvSpPr/>
            <p:nvPr/>
          </p:nvSpPr>
          <p:spPr bwMode="gray">
            <a:xfrm>
              <a:off x="3495526" y="2457907"/>
              <a:ext cx="1426464" cy="34159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Oval 62"/>
            <p:cNvSpPr/>
            <p:nvPr/>
          </p:nvSpPr>
          <p:spPr bwMode="gray">
            <a:xfrm>
              <a:off x="3452774" y="1920065"/>
              <a:ext cx="761732" cy="698886"/>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Oval 63"/>
            <p:cNvSpPr/>
            <p:nvPr/>
          </p:nvSpPr>
          <p:spPr bwMode="gray">
            <a:xfrm>
              <a:off x="3269076" y="2248790"/>
              <a:ext cx="545661" cy="550709"/>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Oval 64"/>
            <p:cNvSpPr/>
            <p:nvPr/>
          </p:nvSpPr>
          <p:spPr bwMode="gray">
            <a:xfrm>
              <a:off x="4633138" y="2298856"/>
              <a:ext cx="496056" cy="500643"/>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65"/>
            <p:cNvSpPr/>
            <p:nvPr/>
          </p:nvSpPr>
          <p:spPr bwMode="gray">
            <a:xfrm>
              <a:off x="3759782" y="2292552"/>
              <a:ext cx="496056" cy="3761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64"/>
            <p:cNvSpPr/>
            <p:nvPr/>
          </p:nvSpPr>
          <p:spPr bwMode="gray">
            <a:xfrm>
              <a:off x="3924619" y="1744970"/>
              <a:ext cx="998406" cy="1007640"/>
            </a:xfrm>
            <a:prstGeom prst="ellipse">
              <a:avLst/>
            </a:prstGeom>
            <a:grp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784225" eaLnBrk="0" fontAlgn="base" hangingPunct="0">
                <a:spcBef>
                  <a:spcPct val="0"/>
                </a:spcBef>
                <a:spcAft>
                  <a:spcPct val="0"/>
                </a:spcAft>
              </a:pPr>
              <a:endParaRPr lang="zh-CN" altLang="en-US" sz="210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2" name="TextBox 46"/>
          <p:cNvSpPr txBox="1"/>
          <p:nvPr/>
        </p:nvSpPr>
        <p:spPr bwMode="gray">
          <a:xfrm>
            <a:off x="7414364" y="3750586"/>
            <a:ext cx="832280" cy="307777"/>
          </a:xfrm>
          <a:prstGeom prst="rect">
            <a:avLst/>
          </a:prstGeom>
          <a:noFill/>
        </p:spPr>
        <p:txBody>
          <a:bodyPr wrap="none" rtlCol="0">
            <a:spAutoFit/>
          </a:bodyPr>
          <a:lstStyle/>
          <a:p>
            <a:pPr algn="ctr"/>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Can 45"/>
          <p:cNvSpPr/>
          <p:nvPr/>
        </p:nvSpPr>
        <p:spPr bwMode="gray">
          <a:xfrm rot="5400000">
            <a:off x="6272563" y="679919"/>
            <a:ext cx="245885" cy="5719344"/>
          </a:xfrm>
          <a:prstGeom prst="can">
            <a:avLst>
              <a:gd name="adj" fmla="val 64511"/>
            </a:avLst>
          </a:prstGeom>
          <a:solidFill>
            <a:srgbClr val="56C4D2"/>
          </a:solidFill>
          <a:ln w="12700" cap="flat" cmpd="sng" algn="ctr">
            <a:solidFill>
              <a:sysClr val="window" lastClr="FFFFFF"/>
            </a:soli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46"/>
          <p:cNvSpPr txBox="1"/>
          <p:nvPr/>
        </p:nvSpPr>
        <p:spPr bwMode="gray">
          <a:xfrm>
            <a:off x="7246589" y="3397977"/>
            <a:ext cx="1293944" cy="307777"/>
          </a:xfrm>
          <a:prstGeom prst="rect">
            <a:avLst/>
          </a:prstGeom>
          <a:noFill/>
        </p:spPr>
        <p:txBody>
          <a:bodyPr wrap="none" rtlCol="0">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IPsec Tunnel</a:t>
            </a:r>
            <a:endParaRPr lang="zh-CN" altLang="en-US" sz="1400" b="1"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TextBox 63"/>
          <p:cNvSpPr txBox="1"/>
          <p:nvPr/>
        </p:nvSpPr>
        <p:spPr bwMode="gray">
          <a:xfrm>
            <a:off x="2995835" y="377988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TextBox 63"/>
          <p:cNvSpPr txBox="1"/>
          <p:nvPr/>
        </p:nvSpPr>
        <p:spPr bwMode="gray">
          <a:xfrm>
            <a:off x="5619776" y="3779881"/>
            <a:ext cx="797013"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17" name="图片 1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255180" y="3321922"/>
            <a:ext cx="540000" cy="442800"/>
          </a:xfrm>
          <a:prstGeom prst="rect">
            <a:avLst/>
          </a:prstGeom>
        </p:spPr>
      </p:pic>
      <p:sp>
        <p:nvSpPr>
          <p:cNvPr id="18" name="TextBox 63"/>
          <p:cNvSpPr txBox="1"/>
          <p:nvPr/>
        </p:nvSpPr>
        <p:spPr bwMode="gray">
          <a:xfrm>
            <a:off x="9255182" y="3779881"/>
            <a:ext cx="579006" cy="276999"/>
          </a:xfrm>
          <a:prstGeom prst="rect">
            <a:avLst/>
          </a:prstGeom>
          <a:noFill/>
        </p:spPr>
        <p:txBody>
          <a:bodyPr wrap="none" rtlCol="0">
            <a:spAutoFit/>
          </a:bodyPr>
          <a:lstStyle/>
          <a:p>
            <a:pPr algn="ct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网关</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677471" y="3312458"/>
            <a:ext cx="540000" cy="442174"/>
          </a:xfrm>
          <a:prstGeom prst="rect">
            <a:avLst/>
          </a:prstGeom>
        </p:spPr>
      </p:pic>
      <p:sp>
        <p:nvSpPr>
          <p:cNvPr id="20" name="TextBox 43"/>
          <p:cNvSpPr txBox="1"/>
          <p:nvPr/>
        </p:nvSpPr>
        <p:spPr bwMode="gray">
          <a:xfrm>
            <a:off x="3574841" y="3137292"/>
            <a:ext cx="559769"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X</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TextBox 44"/>
          <p:cNvSpPr txBox="1"/>
          <p:nvPr/>
        </p:nvSpPr>
        <p:spPr bwMode="gray">
          <a:xfrm>
            <a:off x="8739731" y="3137292"/>
            <a:ext cx="558166" cy="276999"/>
          </a:xfrm>
          <a:prstGeom prst="rect">
            <a:avLst/>
          </a:prstGeom>
          <a:noFill/>
        </p:spPr>
        <p:txBody>
          <a:bodyPr wrap="none" rtlCol="0">
            <a:spAutoFit/>
          </a:bodyPr>
          <a:lstStyle/>
          <a:p>
            <a:pPr algn="ct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Z</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2" name="TextBox 43"/>
          <p:cNvSpPr txBox="1"/>
          <p:nvPr/>
        </p:nvSpPr>
        <p:spPr bwMode="gray">
          <a:xfrm>
            <a:off x="6204246" y="3137292"/>
            <a:ext cx="556563"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Y</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Freeform 186"/>
          <p:cNvSpPr>
            <a:spLocks noEditPoints="1"/>
          </p:cNvSpPr>
          <p:nvPr/>
        </p:nvSpPr>
        <p:spPr bwMode="gray">
          <a:xfrm>
            <a:off x="2458266" y="3321603"/>
            <a:ext cx="460303" cy="461612"/>
          </a:xfrm>
          <a:custGeom>
            <a:avLst/>
            <a:gdLst/>
            <a:ahLst/>
            <a:cxnLst>
              <a:cxn ang="0">
                <a:pos x="12772" y="618"/>
              </a:cxn>
              <a:cxn ang="0">
                <a:pos x="0" y="15651"/>
              </a:cxn>
              <a:cxn ang="0">
                <a:pos x="1941" y="4867"/>
              </a:cxn>
              <a:cxn ang="0">
                <a:pos x="5964" y="4867"/>
              </a:cxn>
              <a:cxn ang="0">
                <a:pos x="7512" y="618"/>
              </a:cxn>
              <a:cxn ang="0">
                <a:pos x="1277" y="12419"/>
              </a:cxn>
              <a:cxn ang="0">
                <a:pos x="5523" y="7916"/>
              </a:cxn>
              <a:cxn ang="0">
                <a:pos x="4108" y="7916"/>
              </a:cxn>
              <a:cxn ang="0">
                <a:pos x="2692" y="7916"/>
              </a:cxn>
              <a:cxn ang="0">
                <a:pos x="1277" y="7916"/>
              </a:cxn>
              <a:cxn ang="0">
                <a:pos x="5523" y="9417"/>
              </a:cxn>
              <a:cxn ang="0">
                <a:pos x="4108" y="9417"/>
              </a:cxn>
              <a:cxn ang="0">
                <a:pos x="2692" y="9417"/>
              </a:cxn>
              <a:cxn ang="0">
                <a:pos x="1277" y="9417"/>
              </a:cxn>
              <a:cxn ang="0">
                <a:pos x="5523" y="10919"/>
              </a:cxn>
              <a:cxn ang="0">
                <a:pos x="4108" y="10919"/>
              </a:cxn>
              <a:cxn ang="0">
                <a:pos x="2692" y="10919"/>
              </a:cxn>
              <a:cxn ang="0">
                <a:pos x="1277" y="10919"/>
              </a:cxn>
              <a:cxn ang="0">
                <a:pos x="5523" y="12419"/>
              </a:cxn>
              <a:cxn ang="0">
                <a:pos x="4108" y="12419"/>
              </a:cxn>
              <a:cxn ang="0">
                <a:pos x="2692" y="12419"/>
              </a:cxn>
              <a:cxn ang="0">
                <a:pos x="8086" y="1911"/>
              </a:cxn>
              <a:cxn ang="0">
                <a:pos x="8086" y="12419"/>
              </a:cxn>
              <a:cxn ang="0">
                <a:pos x="9500" y="12419"/>
              </a:cxn>
              <a:cxn ang="0">
                <a:pos x="10915" y="12419"/>
              </a:cxn>
              <a:cxn ang="0">
                <a:pos x="12331" y="12419"/>
              </a:cxn>
              <a:cxn ang="0">
                <a:pos x="8086" y="10919"/>
              </a:cxn>
              <a:cxn ang="0">
                <a:pos x="9500" y="10919"/>
              </a:cxn>
              <a:cxn ang="0">
                <a:pos x="10915" y="10919"/>
              </a:cxn>
              <a:cxn ang="0">
                <a:pos x="12331" y="10919"/>
              </a:cxn>
              <a:cxn ang="0">
                <a:pos x="8086" y="9417"/>
              </a:cxn>
              <a:cxn ang="0">
                <a:pos x="9500" y="9417"/>
              </a:cxn>
              <a:cxn ang="0">
                <a:pos x="10915" y="9417"/>
              </a:cxn>
              <a:cxn ang="0">
                <a:pos x="12331" y="9417"/>
              </a:cxn>
              <a:cxn ang="0">
                <a:pos x="8086" y="7916"/>
              </a:cxn>
              <a:cxn ang="0">
                <a:pos x="9500" y="7916"/>
              </a:cxn>
              <a:cxn ang="0">
                <a:pos x="10915" y="7916"/>
              </a:cxn>
              <a:cxn ang="0">
                <a:pos x="12331" y="7916"/>
              </a:cxn>
              <a:cxn ang="0">
                <a:pos x="8086" y="6414"/>
              </a:cxn>
              <a:cxn ang="0">
                <a:pos x="9500" y="6414"/>
              </a:cxn>
              <a:cxn ang="0">
                <a:pos x="10915" y="6414"/>
              </a:cxn>
              <a:cxn ang="0">
                <a:pos x="12331" y="6414"/>
              </a:cxn>
              <a:cxn ang="0">
                <a:pos x="8086" y="4914"/>
              </a:cxn>
              <a:cxn ang="0">
                <a:pos x="9500" y="4914"/>
              </a:cxn>
              <a:cxn ang="0">
                <a:pos x="10915" y="4914"/>
              </a:cxn>
              <a:cxn ang="0">
                <a:pos x="12331" y="4914"/>
              </a:cxn>
              <a:cxn ang="0">
                <a:pos x="8086" y="3413"/>
              </a:cxn>
              <a:cxn ang="0">
                <a:pos x="9500" y="3413"/>
              </a:cxn>
              <a:cxn ang="0">
                <a:pos x="10915" y="3413"/>
              </a:cxn>
              <a:cxn ang="0">
                <a:pos x="9500" y="1911"/>
              </a:cxn>
              <a:cxn ang="0">
                <a:pos x="10915" y="1911"/>
              </a:cxn>
              <a:cxn ang="0">
                <a:pos x="12331" y="1911"/>
              </a:cxn>
              <a:cxn ang="0">
                <a:pos x="12331" y="3413"/>
              </a:cxn>
            </a:cxnLst>
            <a:rect l="0" t="0" r="r" b="b"/>
            <a:pathLst>
              <a:path w="16169" h="15651">
                <a:moveTo>
                  <a:pt x="7512" y="618"/>
                </a:moveTo>
                <a:lnTo>
                  <a:pt x="8749" y="618"/>
                </a:lnTo>
                <a:lnTo>
                  <a:pt x="8749" y="0"/>
                </a:lnTo>
                <a:lnTo>
                  <a:pt x="12772" y="0"/>
                </a:lnTo>
                <a:lnTo>
                  <a:pt x="12772" y="618"/>
                </a:lnTo>
                <a:lnTo>
                  <a:pt x="14010" y="618"/>
                </a:lnTo>
                <a:lnTo>
                  <a:pt x="14010" y="13875"/>
                </a:lnTo>
                <a:lnTo>
                  <a:pt x="16169" y="13875"/>
                </a:lnTo>
                <a:lnTo>
                  <a:pt x="16169" y="15651"/>
                </a:lnTo>
                <a:lnTo>
                  <a:pt x="0" y="15651"/>
                </a:lnTo>
                <a:lnTo>
                  <a:pt x="0" y="13875"/>
                </a:lnTo>
                <a:lnTo>
                  <a:pt x="781" y="13875"/>
                </a:lnTo>
                <a:lnTo>
                  <a:pt x="781" y="6103"/>
                </a:lnTo>
                <a:lnTo>
                  <a:pt x="1941" y="6103"/>
                </a:lnTo>
                <a:lnTo>
                  <a:pt x="1941" y="4867"/>
                </a:lnTo>
                <a:lnTo>
                  <a:pt x="4469" y="4867"/>
                </a:lnTo>
                <a:lnTo>
                  <a:pt x="4469" y="2808"/>
                </a:lnTo>
                <a:lnTo>
                  <a:pt x="5088" y="2808"/>
                </a:lnTo>
                <a:lnTo>
                  <a:pt x="5088" y="4867"/>
                </a:lnTo>
                <a:lnTo>
                  <a:pt x="5964" y="4867"/>
                </a:lnTo>
                <a:lnTo>
                  <a:pt x="5964" y="6103"/>
                </a:lnTo>
                <a:lnTo>
                  <a:pt x="7124" y="6103"/>
                </a:lnTo>
                <a:lnTo>
                  <a:pt x="7124" y="13875"/>
                </a:lnTo>
                <a:lnTo>
                  <a:pt x="7512" y="13875"/>
                </a:lnTo>
                <a:lnTo>
                  <a:pt x="7512" y="618"/>
                </a:lnTo>
                <a:close/>
                <a:moveTo>
                  <a:pt x="1277" y="12419"/>
                </a:moveTo>
                <a:lnTo>
                  <a:pt x="2383" y="12419"/>
                </a:lnTo>
                <a:lnTo>
                  <a:pt x="2383" y="13523"/>
                </a:lnTo>
                <a:lnTo>
                  <a:pt x="1277" y="13523"/>
                </a:lnTo>
                <a:lnTo>
                  <a:pt x="1277" y="12419"/>
                </a:lnTo>
                <a:close/>
                <a:moveTo>
                  <a:pt x="5523" y="7916"/>
                </a:moveTo>
                <a:lnTo>
                  <a:pt x="6628" y="7916"/>
                </a:lnTo>
                <a:lnTo>
                  <a:pt x="6628" y="9020"/>
                </a:lnTo>
                <a:lnTo>
                  <a:pt x="5523" y="9020"/>
                </a:lnTo>
                <a:lnTo>
                  <a:pt x="5523" y="7916"/>
                </a:lnTo>
                <a:close/>
                <a:moveTo>
                  <a:pt x="4108" y="7916"/>
                </a:moveTo>
                <a:lnTo>
                  <a:pt x="5213" y="7916"/>
                </a:lnTo>
                <a:lnTo>
                  <a:pt x="5213" y="9020"/>
                </a:lnTo>
                <a:lnTo>
                  <a:pt x="4108" y="9020"/>
                </a:lnTo>
                <a:lnTo>
                  <a:pt x="4108" y="7916"/>
                </a:lnTo>
                <a:close/>
                <a:moveTo>
                  <a:pt x="2692" y="7916"/>
                </a:moveTo>
                <a:lnTo>
                  <a:pt x="3798" y="7916"/>
                </a:lnTo>
                <a:lnTo>
                  <a:pt x="3798" y="9020"/>
                </a:lnTo>
                <a:lnTo>
                  <a:pt x="2692" y="9020"/>
                </a:lnTo>
                <a:lnTo>
                  <a:pt x="2692" y="7916"/>
                </a:lnTo>
                <a:close/>
                <a:moveTo>
                  <a:pt x="1277" y="7916"/>
                </a:moveTo>
                <a:lnTo>
                  <a:pt x="2383" y="7916"/>
                </a:lnTo>
                <a:lnTo>
                  <a:pt x="2383" y="9020"/>
                </a:lnTo>
                <a:lnTo>
                  <a:pt x="1277" y="9020"/>
                </a:lnTo>
                <a:lnTo>
                  <a:pt x="1277" y="7916"/>
                </a:lnTo>
                <a:close/>
                <a:moveTo>
                  <a:pt x="5523" y="9417"/>
                </a:moveTo>
                <a:lnTo>
                  <a:pt x="6628" y="9417"/>
                </a:lnTo>
                <a:lnTo>
                  <a:pt x="6628" y="10521"/>
                </a:lnTo>
                <a:lnTo>
                  <a:pt x="5523" y="10521"/>
                </a:lnTo>
                <a:lnTo>
                  <a:pt x="5523" y="9417"/>
                </a:lnTo>
                <a:close/>
                <a:moveTo>
                  <a:pt x="4108" y="9417"/>
                </a:moveTo>
                <a:lnTo>
                  <a:pt x="5213" y="9417"/>
                </a:lnTo>
                <a:lnTo>
                  <a:pt x="5213" y="10521"/>
                </a:lnTo>
                <a:lnTo>
                  <a:pt x="4108" y="10521"/>
                </a:lnTo>
                <a:lnTo>
                  <a:pt x="4108" y="9417"/>
                </a:lnTo>
                <a:close/>
                <a:moveTo>
                  <a:pt x="2692" y="9417"/>
                </a:moveTo>
                <a:lnTo>
                  <a:pt x="3798" y="9417"/>
                </a:lnTo>
                <a:lnTo>
                  <a:pt x="3798" y="10521"/>
                </a:lnTo>
                <a:lnTo>
                  <a:pt x="2692" y="10521"/>
                </a:lnTo>
                <a:lnTo>
                  <a:pt x="2692" y="9417"/>
                </a:lnTo>
                <a:close/>
                <a:moveTo>
                  <a:pt x="1277" y="9417"/>
                </a:moveTo>
                <a:lnTo>
                  <a:pt x="2383" y="9417"/>
                </a:lnTo>
                <a:lnTo>
                  <a:pt x="2383" y="10521"/>
                </a:lnTo>
                <a:lnTo>
                  <a:pt x="1277" y="10521"/>
                </a:lnTo>
                <a:lnTo>
                  <a:pt x="1277" y="9417"/>
                </a:lnTo>
                <a:close/>
                <a:moveTo>
                  <a:pt x="5523" y="10919"/>
                </a:moveTo>
                <a:lnTo>
                  <a:pt x="6628" y="10919"/>
                </a:lnTo>
                <a:lnTo>
                  <a:pt x="6628" y="12023"/>
                </a:lnTo>
                <a:lnTo>
                  <a:pt x="5523" y="12023"/>
                </a:lnTo>
                <a:lnTo>
                  <a:pt x="5523" y="10919"/>
                </a:lnTo>
                <a:close/>
                <a:moveTo>
                  <a:pt x="4108" y="10919"/>
                </a:moveTo>
                <a:lnTo>
                  <a:pt x="5213" y="10919"/>
                </a:lnTo>
                <a:lnTo>
                  <a:pt x="5213" y="12023"/>
                </a:lnTo>
                <a:lnTo>
                  <a:pt x="4108" y="12023"/>
                </a:lnTo>
                <a:lnTo>
                  <a:pt x="4108" y="10919"/>
                </a:lnTo>
                <a:close/>
                <a:moveTo>
                  <a:pt x="2692" y="10919"/>
                </a:moveTo>
                <a:lnTo>
                  <a:pt x="3798" y="10919"/>
                </a:lnTo>
                <a:lnTo>
                  <a:pt x="3798" y="12023"/>
                </a:lnTo>
                <a:lnTo>
                  <a:pt x="2692" y="12023"/>
                </a:lnTo>
                <a:lnTo>
                  <a:pt x="2692" y="10919"/>
                </a:lnTo>
                <a:close/>
                <a:moveTo>
                  <a:pt x="1277" y="10919"/>
                </a:moveTo>
                <a:lnTo>
                  <a:pt x="2383" y="10919"/>
                </a:lnTo>
                <a:lnTo>
                  <a:pt x="2383" y="12023"/>
                </a:lnTo>
                <a:lnTo>
                  <a:pt x="1277" y="12023"/>
                </a:lnTo>
                <a:lnTo>
                  <a:pt x="1277" y="10919"/>
                </a:lnTo>
                <a:close/>
                <a:moveTo>
                  <a:pt x="5523" y="12419"/>
                </a:moveTo>
                <a:lnTo>
                  <a:pt x="6628" y="12419"/>
                </a:lnTo>
                <a:lnTo>
                  <a:pt x="6628" y="13523"/>
                </a:lnTo>
                <a:lnTo>
                  <a:pt x="5523" y="13523"/>
                </a:lnTo>
                <a:lnTo>
                  <a:pt x="5523" y="12419"/>
                </a:lnTo>
                <a:close/>
                <a:moveTo>
                  <a:pt x="4108" y="12419"/>
                </a:moveTo>
                <a:lnTo>
                  <a:pt x="5213" y="12419"/>
                </a:lnTo>
                <a:lnTo>
                  <a:pt x="5213" y="13523"/>
                </a:lnTo>
                <a:lnTo>
                  <a:pt x="4108" y="13523"/>
                </a:lnTo>
                <a:lnTo>
                  <a:pt x="4108" y="12419"/>
                </a:lnTo>
                <a:close/>
                <a:moveTo>
                  <a:pt x="2692" y="12419"/>
                </a:moveTo>
                <a:lnTo>
                  <a:pt x="3798" y="12419"/>
                </a:lnTo>
                <a:lnTo>
                  <a:pt x="3798" y="13523"/>
                </a:lnTo>
                <a:lnTo>
                  <a:pt x="2692" y="13523"/>
                </a:lnTo>
                <a:lnTo>
                  <a:pt x="2692" y="12419"/>
                </a:lnTo>
                <a:close/>
                <a:moveTo>
                  <a:pt x="8086" y="1911"/>
                </a:moveTo>
                <a:lnTo>
                  <a:pt x="9191" y="1911"/>
                </a:lnTo>
                <a:lnTo>
                  <a:pt x="9191" y="3015"/>
                </a:lnTo>
                <a:lnTo>
                  <a:pt x="8086" y="3015"/>
                </a:lnTo>
                <a:lnTo>
                  <a:pt x="8086" y="1911"/>
                </a:lnTo>
                <a:close/>
                <a:moveTo>
                  <a:pt x="8086" y="12419"/>
                </a:moveTo>
                <a:lnTo>
                  <a:pt x="9191" y="12419"/>
                </a:lnTo>
                <a:lnTo>
                  <a:pt x="9191" y="13523"/>
                </a:lnTo>
                <a:lnTo>
                  <a:pt x="8086" y="13523"/>
                </a:lnTo>
                <a:lnTo>
                  <a:pt x="8086" y="12419"/>
                </a:lnTo>
                <a:close/>
                <a:moveTo>
                  <a:pt x="9500" y="12419"/>
                </a:moveTo>
                <a:lnTo>
                  <a:pt x="10606" y="12419"/>
                </a:lnTo>
                <a:lnTo>
                  <a:pt x="10606" y="13523"/>
                </a:lnTo>
                <a:lnTo>
                  <a:pt x="9500" y="13523"/>
                </a:lnTo>
                <a:lnTo>
                  <a:pt x="9500" y="12419"/>
                </a:lnTo>
                <a:close/>
                <a:moveTo>
                  <a:pt x="10915" y="12419"/>
                </a:moveTo>
                <a:lnTo>
                  <a:pt x="12021" y="12419"/>
                </a:lnTo>
                <a:lnTo>
                  <a:pt x="12021" y="13523"/>
                </a:lnTo>
                <a:lnTo>
                  <a:pt x="10915" y="13523"/>
                </a:lnTo>
                <a:lnTo>
                  <a:pt x="10915" y="12419"/>
                </a:lnTo>
                <a:close/>
                <a:moveTo>
                  <a:pt x="12331" y="12419"/>
                </a:moveTo>
                <a:lnTo>
                  <a:pt x="13436" y="12419"/>
                </a:lnTo>
                <a:lnTo>
                  <a:pt x="13436" y="13523"/>
                </a:lnTo>
                <a:lnTo>
                  <a:pt x="12331" y="13523"/>
                </a:lnTo>
                <a:lnTo>
                  <a:pt x="12331" y="12419"/>
                </a:lnTo>
                <a:close/>
                <a:moveTo>
                  <a:pt x="8086" y="10919"/>
                </a:moveTo>
                <a:lnTo>
                  <a:pt x="9191" y="10919"/>
                </a:lnTo>
                <a:lnTo>
                  <a:pt x="9191" y="12023"/>
                </a:lnTo>
                <a:lnTo>
                  <a:pt x="8086" y="12023"/>
                </a:lnTo>
                <a:lnTo>
                  <a:pt x="8086" y="10919"/>
                </a:lnTo>
                <a:close/>
                <a:moveTo>
                  <a:pt x="9500" y="10919"/>
                </a:moveTo>
                <a:lnTo>
                  <a:pt x="10606" y="10919"/>
                </a:lnTo>
                <a:lnTo>
                  <a:pt x="10606" y="12023"/>
                </a:lnTo>
                <a:lnTo>
                  <a:pt x="9500" y="12023"/>
                </a:lnTo>
                <a:lnTo>
                  <a:pt x="9500" y="10919"/>
                </a:lnTo>
                <a:close/>
                <a:moveTo>
                  <a:pt x="10915" y="10919"/>
                </a:moveTo>
                <a:lnTo>
                  <a:pt x="12021" y="10919"/>
                </a:lnTo>
                <a:lnTo>
                  <a:pt x="12021" y="12023"/>
                </a:lnTo>
                <a:lnTo>
                  <a:pt x="10915" y="12023"/>
                </a:lnTo>
                <a:lnTo>
                  <a:pt x="10915" y="10919"/>
                </a:lnTo>
                <a:close/>
                <a:moveTo>
                  <a:pt x="12331" y="10919"/>
                </a:moveTo>
                <a:lnTo>
                  <a:pt x="13436" y="10919"/>
                </a:lnTo>
                <a:lnTo>
                  <a:pt x="13436" y="12023"/>
                </a:lnTo>
                <a:lnTo>
                  <a:pt x="12331" y="12023"/>
                </a:lnTo>
                <a:lnTo>
                  <a:pt x="12331" y="10919"/>
                </a:lnTo>
                <a:close/>
                <a:moveTo>
                  <a:pt x="8086" y="9417"/>
                </a:moveTo>
                <a:lnTo>
                  <a:pt x="9191" y="9417"/>
                </a:lnTo>
                <a:lnTo>
                  <a:pt x="9191" y="10521"/>
                </a:lnTo>
                <a:lnTo>
                  <a:pt x="8086" y="10521"/>
                </a:lnTo>
                <a:lnTo>
                  <a:pt x="8086" y="9417"/>
                </a:lnTo>
                <a:close/>
                <a:moveTo>
                  <a:pt x="9500" y="9417"/>
                </a:moveTo>
                <a:lnTo>
                  <a:pt x="10606" y="9417"/>
                </a:lnTo>
                <a:lnTo>
                  <a:pt x="10606" y="10521"/>
                </a:lnTo>
                <a:lnTo>
                  <a:pt x="9500" y="10521"/>
                </a:lnTo>
                <a:lnTo>
                  <a:pt x="9500" y="9417"/>
                </a:lnTo>
                <a:close/>
                <a:moveTo>
                  <a:pt x="10915" y="9417"/>
                </a:moveTo>
                <a:lnTo>
                  <a:pt x="12021" y="9417"/>
                </a:lnTo>
                <a:lnTo>
                  <a:pt x="12021" y="10521"/>
                </a:lnTo>
                <a:lnTo>
                  <a:pt x="10915" y="10521"/>
                </a:lnTo>
                <a:lnTo>
                  <a:pt x="10915" y="9417"/>
                </a:lnTo>
                <a:close/>
                <a:moveTo>
                  <a:pt x="12331" y="9417"/>
                </a:moveTo>
                <a:lnTo>
                  <a:pt x="13436" y="9417"/>
                </a:lnTo>
                <a:lnTo>
                  <a:pt x="13436" y="10521"/>
                </a:lnTo>
                <a:lnTo>
                  <a:pt x="12331" y="10521"/>
                </a:lnTo>
                <a:lnTo>
                  <a:pt x="12331" y="9417"/>
                </a:lnTo>
                <a:close/>
                <a:moveTo>
                  <a:pt x="8086" y="7916"/>
                </a:moveTo>
                <a:lnTo>
                  <a:pt x="9191" y="7916"/>
                </a:lnTo>
                <a:lnTo>
                  <a:pt x="9191" y="9020"/>
                </a:lnTo>
                <a:lnTo>
                  <a:pt x="8086" y="9020"/>
                </a:lnTo>
                <a:lnTo>
                  <a:pt x="8086" y="7916"/>
                </a:lnTo>
                <a:close/>
                <a:moveTo>
                  <a:pt x="9500" y="7916"/>
                </a:moveTo>
                <a:lnTo>
                  <a:pt x="10606" y="7916"/>
                </a:lnTo>
                <a:lnTo>
                  <a:pt x="10606" y="9020"/>
                </a:lnTo>
                <a:lnTo>
                  <a:pt x="9500" y="9020"/>
                </a:lnTo>
                <a:lnTo>
                  <a:pt x="9500" y="7916"/>
                </a:lnTo>
                <a:close/>
                <a:moveTo>
                  <a:pt x="10915" y="7916"/>
                </a:moveTo>
                <a:lnTo>
                  <a:pt x="12021" y="7916"/>
                </a:lnTo>
                <a:lnTo>
                  <a:pt x="12021" y="9020"/>
                </a:lnTo>
                <a:lnTo>
                  <a:pt x="10915" y="9020"/>
                </a:lnTo>
                <a:lnTo>
                  <a:pt x="10915" y="7916"/>
                </a:lnTo>
                <a:close/>
                <a:moveTo>
                  <a:pt x="12331" y="7916"/>
                </a:moveTo>
                <a:lnTo>
                  <a:pt x="13436" y="7916"/>
                </a:lnTo>
                <a:lnTo>
                  <a:pt x="13436" y="9020"/>
                </a:lnTo>
                <a:lnTo>
                  <a:pt x="12331" y="9020"/>
                </a:lnTo>
                <a:lnTo>
                  <a:pt x="12331" y="7916"/>
                </a:lnTo>
                <a:close/>
                <a:moveTo>
                  <a:pt x="8086" y="6414"/>
                </a:moveTo>
                <a:lnTo>
                  <a:pt x="9191" y="6414"/>
                </a:lnTo>
                <a:lnTo>
                  <a:pt x="9191" y="7518"/>
                </a:lnTo>
                <a:lnTo>
                  <a:pt x="8086" y="7518"/>
                </a:lnTo>
                <a:lnTo>
                  <a:pt x="8086" y="6414"/>
                </a:lnTo>
                <a:close/>
                <a:moveTo>
                  <a:pt x="9500" y="6414"/>
                </a:moveTo>
                <a:lnTo>
                  <a:pt x="10606" y="6414"/>
                </a:lnTo>
                <a:lnTo>
                  <a:pt x="10606" y="7518"/>
                </a:lnTo>
                <a:lnTo>
                  <a:pt x="9500" y="7518"/>
                </a:lnTo>
                <a:lnTo>
                  <a:pt x="9500" y="6414"/>
                </a:lnTo>
                <a:close/>
                <a:moveTo>
                  <a:pt x="10915" y="6414"/>
                </a:moveTo>
                <a:lnTo>
                  <a:pt x="12021" y="6414"/>
                </a:lnTo>
                <a:lnTo>
                  <a:pt x="12021" y="7518"/>
                </a:lnTo>
                <a:lnTo>
                  <a:pt x="10915" y="7518"/>
                </a:lnTo>
                <a:lnTo>
                  <a:pt x="10915" y="6414"/>
                </a:lnTo>
                <a:close/>
                <a:moveTo>
                  <a:pt x="12331" y="6414"/>
                </a:moveTo>
                <a:lnTo>
                  <a:pt x="13436" y="6414"/>
                </a:lnTo>
                <a:lnTo>
                  <a:pt x="13436" y="7518"/>
                </a:lnTo>
                <a:lnTo>
                  <a:pt x="12331" y="7518"/>
                </a:lnTo>
                <a:lnTo>
                  <a:pt x="12331" y="6414"/>
                </a:lnTo>
                <a:close/>
                <a:moveTo>
                  <a:pt x="8086" y="4914"/>
                </a:moveTo>
                <a:lnTo>
                  <a:pt x="9191" y="4914"/>
                </a:lnTo>
                <a:lnTo>
                  <a:pt x="9191" y="6018"/>
                </a:lnTo>
                <a:lnTo>
                  <a:pt x="8086" y="6018"/>
                </a:lnTo>
                <a:lnTo>
                  <a:pt x="8086" y="4914"/>
                </a:lnTo>
                <a:close/>
                <a:moveTo>
                  <a:pt x="9500" y="4914"/>
                </a:moveTo>
                <a:lnTo>
                  <a:pt x="10606" y="4914"/>
                </a:lnTo>
                <a:lnTo>
                  <a:pt x="10606" y="6018"/>
                </a:lnTo>
                <a:lnTo>
                  <a:pt x="9500" y="6018"/>
                </a:lnTo>
                <a:lnTo>
                  <a:pt x="9500" y="4914"/>
                </a:lnTo>
                <a:close/>
                <a:moveTo>
                  <a:pt x="10915" y="4914"/>
                </a:moveTo>
                <a:lnTo>
                  <a:pt x="12021" y="4914"/>
                </a:lnTo>
                <a:lnTo>
                  <a:pt x="12021" y="6018"/>
                </a:lnTo>
                <a:lnTo>
                  <a:pt x="10915" y="6018"/>
                </a:lnTo>
                <a:lnTo>
                  <a:pt x="10915" y="4914"/>
                </a:lnTo>
                <a:close/>
                <a:moveTo>
                  <a:pt x="12331" y="4914"/>
                </a:moveTo>
                <a:lnTo>
                  <a:pt x="13436" y="4914"/>
                </a:lnTo>
                <a:lnTo>
                  <a:pt x="13436" y="6018"/>
                </a:lnTo>
                <a:lnTo>
                  <a:pt x="12331" y="6018"/>
                </a:lnTo>
                <a:lnTo>
                  <a:pt x="12331" y="4914"/>
                </a:lnTo>
                <a:close/>
                <a:moveTo>
                  <a:pt x="8086" y="3413"/>
                </a:moveTo>
                <a:lnTo>
                  <a:pt x="9191" y="3413"/>
                </a:lnTo>
                <a:lnTo>
                  <a:pt x="9191" y="4516"/>
                </a:lnTo>
                <a:lnTo>
                  <a:pt x="8086" y="4516"/>
                </a:lnTo>
                <a:lnTo>
                  <a:pt x="8086" y="3413"/>
                </a:lnTo>
                <a:close/>
                <a:moveTo>
                  <a:pt x="9500" y="3413"/>
                </a:moveTo>
                <a:lnTo>
                  <a:pt x="10606" y="3413"/>
                </a:lnTo>
                <a:lnTo>
                  <a:pt x="10606" y="4516"/>
                </a:lnTo>
                <a:lnTo>
                  <a:pt x="9500" y="4516"/>
                </a:lnTo>
                <a:lnTo>
                  <a:pt x="9500" y="3413"/>
                </a:lnTo>
                <a:close/>
                <a:moveTo>
                  <a:pt x="10915" y="3413"/>
                </a:moveTo>
                <a:lnTo>
                  <a:pt x="12021" y="3413"/>
                </a:lnTo>
                <a:lnTo>
                  <a:pt x="12021" y="4516"/>
                </a:lnTo>
                <a:lnTo>
                  <a:pt x="10915" y="4516"/>
                </a:lnTo>
                <a:lnTo>
                  <a:pt x="10915" y="3413"/>
                </a:lnTo>
                <a:close/>
                <a:moveTo>
                  <a:pt x="9500" y="1911"/>
                </a:moveTo>
                <a:lnTo>
                  <a:pt x="10606" y="1911"/>
                </a:lnTo>
                <a:lnTo>
                  <a:pt x="10606" y="3015"/>
                </a:lnTo>
                <a:lnTo>
                  <a:pt x="9500" y="3015"/>
                </a:lnTo>
                <a:lnTo>
                  <a:pt x="9500" y="1911"/>
                </a:lnTo>
                <a:close/>
                <a:moveTo>
                  <a:pt x="10915" y="1911"/>
                </a:moveTo>
                <a:lnTo>
                  <a:pt x="12021" y="1911"/>
                </a:lnTo>
                <a:lnTo>
                  <a:pt x="12021" y="3015"/>
                </a:lnTo>
                <a:lnTo>
                  <a:pt x="10915" y="3015"/>
                </a:lnTo>
                <a:lnTo>
                  <a:pt x="10915" y="1911"/>
                </a:lnTo>
                <a:close/>
                <a:moveTo>
                  <a:pt x="12331" y="1911"/>
                </a:moveTo>
                <a:lnTo>
                  <a:pt x="13436" y="1911"/>
                </a:lnTo>
                <a:lnTo>
                  <a:pt x="13436" y="3015"/>
                </a:lnTo>
                <a:lnTo>
                  <a:pt x="12331" y="3015"/>
                </a:lnTo>
                <a:lnTo>
                  <a:pt x="12331" y="1911"/>
                </a:lnTo>
                <a:close/>
                <a:moveTo>
                  <a:pt x="12331" y="3413"/>
                </a:moveTo>
                <a:lnTo>
                  <a:pt x="13436" y="3413"/>
                </a:lnTo>
                <a:lnTo>
                  <a:pt x="13436" y="4516"/>
                </a:lnTo>
                <a:lnTo>
                  <a:pt x="12331" y="4516"/>
                </a:lnTo>
                <a:lnTo>
                  <a:pt x="12331" y="3413"/>
                </a:lnTo>
                <a:close/>
              </a:path>
            </a:pathLst>
          </a:custGeom>
          <a:solidFill>
            <a:schemeClr val="bg1">
              <a:lumMod val="50000"/>
            </a:schemeClr>
          </a:solidFill>
          <a:ln w="9525">
            <a:noFill/>
            <a:round/>
            <a:headEnd/>
            <a:tailEnd/>
          </a:ln>
        </p:spPr>
        <p:txBody>
          <a:bodyPr/>
          <a:lstStyle/>
          <a:p>
            <a:pPr algn="ctr">
              <a:defRPr/>
            </a:pPr>
            <a:endParaRPr lang="zh-CN" altLang="en-US">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矩形 24"/>
          <p:cNvSpPr/>
          <p:nvPr/>
        </p:nvSpPr>
        <p:spPr bwMode="gray">
          <a:xfrm>
            <a:off x="2615336" y="2997101"/>
            <a:ext cx="543739" cy="307777"/>
          </a:xfrm>
          <a:prstGeom prst="rect">
            <a:avLst/>
          </a:prstGeom>
        </p:spPr>
        <p:txBody>
          <a:bodyPr wrap="none">
            <a:spAutoFit/>
          </a:bodyPr>
          <a:lstStyle/>
          <a:p>
            <a:r>
              <a:rPr lang="zh-CN" altLang="en-US"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分部</a:t>
            </a:r>
            <a:endParaRPr lang="en-US" altLang="zh-CN" sz="14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8" name="直接箭头连接符 37"/>
          <p:cNvCxnSpPr/>
          <p:nvPr/>
        </p:nvCxnSpPr>
        <p:spPr bwMode="gray">
          <a:xfrm>
            <a:off x="2702011" y="4688896"/>
            <a:ext cx="2994406"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椭圆 36"/>
          <p:cNvSpPr>
            <a:spLocks noChangeAspect="1"/>
          </p:cNvSpPr>
          <p:nvPr/>
        </p:nvSpPr>
        <p:spPr bwMode="gray">
          <a:xfrm>
            <a:off x="6164789" y="3402860"/>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椭圆 38"/>
          <p:cNvSpPr>
            <a:spLocks noChangeAspect="1"/>
          </p:cNvSpPr>
          <p:nvPr/>
        </p:nvSpPr>
        <p:spPr bwMode="gray">
          <a:xfrm>
            <a:off x="2296724" y="2618375"/>
            <a:ext cx="252000" cy="252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a:t>
            </a: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43"/>
          <p:cNvSpPr txBox="1"/>
          <p:nvPr/>
        </p:nvSpPr>
        <p:spPr bwMode="gray">
          <a:xfrm>
            <a:off x="2578332" y="2605876"/>
            <a:ext cx="1271502" cy="276999"/>
          </a:xfrm>
          <a:prstGeom prst="rect">
            <a:avLst/>
          </a:prstGeom>
          <a:noFill/>
        </p:spPr>
        <p:txBody>
          <a:bodyPr wrap="none" rtlCol="0">
            <a:spAutoFit/>
          </a:bodyPr>
          <a:lstStyle/>
          <a:p>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p>
        </p:txBody>
      </p:sp>
      <p:cxnSp>
        <p:nvCxnSpPr>
          <p:cNvPr id="50" name="直接箭头连接符 49"/>
          <p:cNvCxnSpPr/>
          <p:nvPr/>
        </p:nvCxnSpPr>
        <p:spPr bwMode="gray">
          <a:xfrm>
            <a:off x="2702011" y="5314539"/>
            <a:ext cx="2994406"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bwMode="gray">
          <a:xfrm>
            <a:off x="2702011" y="5851548"/>
            <a:ext cx="2994406" cy="0"/>
          </a:xfrm>
          <a:prstGeom prst="straightConnector1">
            <a:avLst/>
          </a:prstGeom>
          <a:ln w="25400">
            <a:solidFill>
              <a:srgbClr val="E28189"/>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26" name="表格 25"/>
          <p:cNvGraphicFramePr>
            <a:graphicFrameLocks noGrp="1"/>
          </p:cNvGraphicFramePr>
          <p:nvPr>
            <p:extLst>
              <p:ext uri="{D42A27DB-BD31-4B8C-83A1-F6EECF244321}">
                <p14:modId xmlns:p14="http://schemas.microsoft.com/office/powerpoint/2010/main" val="4093634473"/>
              </p:ext>
            </p:extLst>
          </p:nvPr>
        </p:nvGraphicFramePr>
        <p:xfrm>
          <a:off x="2995835" y="4325664"/>
          <a:ext cx="2406758" cy="274320"/>
        </p:xfrm>
        <a:graphic>
          <a:graphicData uri="http://schemas.openxmlformats.org/drawingml/2006/table">
            <a:tbl>
              <a:tblPr firstRow="1" bandRow="1">
                <a:tableStyleId>{72833802-FEF1-4C79-8D5D-14CF1EAF98D9}</a:tableStyleId>
              </a:tblPr>
              <a:tblGrid>
                <a:gridCol w="335125">
                  <a:extLst>
                    <a:ext uri="{9D8B030D-6E8A-4147-A177-3AD203B41FA5}">
                      <a16:colId xmlns:a16="http://schemas.microsoft.com/office/drawing/2014/main" val="20000"/>
                    </a:ext>
                  </a:extLst>
                </a:gridCol>
                <a:gridCol w="1583480">
                  <a:extLst>
                    <a:ext uri="{9D8B030D-6E8A-4147-A177-3AD203B41FA5}">
                      <a16:colId xmlns:a16="http://schemas.microsoft.com/office/drawing/2014/main" val="20001"/>
                    </a:ext>
                  </a:extLst>
                </a:gridCol>
                <a:gridCol w="488153">
                  <a:extLst>
                    <a:ext uri="{9D8B030D-6E8A-4147-A177-3AD203B41FA5}">
                      <a16:colId xmlns:a16="http://schemas.microsoft.com/office/drawing/2014/main" val="20002"/>
                    </a:ext>
                  </a:extLst>
                </a:gridCol>
              </a:tblGrid>
              <a:tr h="235665">
                <a:tc>
                  <a:txBody>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IP</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C5ECFA"/>
                      </a:solidFill>
                      <a:prstDash val="solid"/>
                      <a:round/>
                      <a:headEnd type="none" w="med" len="med"/>
                      <a:tailEnd type="none" w="med" len="med"/>
                    </a:lnL>
                    <a:lnR w="12700" cap="flat" cmpd="sng" algn="ctr">
                      <a:solidFill>
                        <a:srgbClr val="C5ECFA"/>
                      </a:solidFill>
                      <a:prstDash val="solid"/>
                      <a:round/>
                      <a:headEnd type="none" w="med" len="med"/>
                      <a:tailEnd type="none" w="med" len="med"/>
                    </a:lnR>
                    <a:lnT w="12700" cap="flat" cmpd="sng" algn="ctr">
                      <a:solidFill>
                        <a:srgbClr val="C5ECFA"/>
                      </a:solidFill>
                      <a:prstDash val="solid"/>
                      <a:round/>
                      <a:headEnd type="none" w="med" len="med"/>
                      <a:tailEnd type="none" w="med" len="med"/>
                    </a:lnT>
                    <a:lnB w="12700" cap="flat" cmpd="sng" algn="ctr">
                      <a:solidFill>
                        <a:srgbClr val="C5ECFA"/>
                      </a:solidFill>
                      <a:prstDash val="solid"/>
                      <a:round/>
                      <a:headEnd type="none" w="med" len="med"/>
                      <a:tailEnd type="none" w="med" len="med"/>
                    </a:lnB>
                    <a:solidFill>
                      <a:srgbClr val="F4FBFE"/>
                    </a:solidFill>
                  </a:tcPr>
                </a:tc>
                <a:tc>
                  <a:txBody>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UDP</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port 4500</a:t>
                      </a:r>
                      <a:r>
                        <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rgbClr val="C5ECFA"/>
                      </a:solidFill>
                      <a:prstDash val="solid"/>
                      <a:round/>
                      <a:headEnd type="none" w="med" len="med"/>
                      <a:tailEnd type="none" w="med" len="med"/>
                    </a:lnL>
                    <a:lnR w="12700" cap="flat" cmpd="sng" algn="ctr">
                      <a:solidFill>
                        <a:srgbClr val="C5ECFA"/>
                      </a:solidFill>
                      <a:prstDash val="solid"/>
                      <a:round/>
                      <a:headEnd type="none" w="med" len="med"/>
                      <a:tailEnd type="none" w="med" len="med"/>
                    </a:lnR>
                    <a:lnT w="12700" cap="flat" cmpd="sng" algn="ctr">
                      <a:solidFill>
                        <a:srgbClr val="C5ECFA"/>
                      </a:solidFill>
                      <a:prstDash val="solid"/>
                      <a:round/>
                      <a:headEnd type="none" w="med" len="med"/>
                      <a:tailEnd type="none" w="med" len="med"/>
                    </a:lnT>
                    <a:lnB w="12700" cap="flat" cmpd="sng" algn="ctr">
                      <a:solidFill>
                        <a:srgbClr val="C5ECFA"/>
                      </a:solidFill>
                      <a:prstDash val="solid"/>
                      <a:round/>
                      <a:headEnd type="none" w="med" len="med"/>
                      <a:tailEnd type="none" w="med" len="med"/>
                    </a:lnB>
                    <a:solidFill>
                      <a:srgbClr val="F4FBFE"/>
                    </a:solidFill>
                  </a:tcPr>
                </a:tc>
                <a:tc>
                  <a:txBody>
                    <a:bodyPr/>
                    <a:lstStyle/>
                    <a:p>
                      <a:pPr algn="ctr"/>
                      <a:r>
                        <a:rPr lang="en-US" altLang="zh-CN"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FF</a:t>
                      </a:r>
                      <a:endParaRPr lang="zh-CN" altLang="en-US" sz="120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rgbClr val="C5ECFA"/>
                      </a:solidFill>
                      <a:prstDash val="solid"/>
                      <a:round/>
                      <a:headEnd type="none" w="med" len="med"/>
                      <a:tailEnd type="none" w="med" len="med"/>
                    </a:lnL>
                    <a:lnR w="12700" cap="flat" cmpd="sng" algn="ctr">
                      <a:solidFill>
                        <a:srgbClr val="C5ECFA"/>
                      </a:solidFill>
                      <a:prstDash val="solid"/>
                      <a:round/>
                      <a:headEnd type="none" w="med" len="med"/>
                      <a:tailEnd type="none" w="med" len="med"/>
                    </a:lnR>
                    <a:lnT w="12700" cap="flat" cmpd="sng" algn="ctr">
                      <a:solidFill>
                        <a:srgbClr val="C5ECFA"/>
                      </a:solidFill>
                      <a:prstDash val="solid"/>
                      <a:round/>
                      <a:headEnd type="none" w="med" len="med"/>
                      <a:tailEnd type="none" w="med" len="med"/>
                    </a:lnT>
                    <a:lnB w="12700" cap="flat" cmpd="sng" algn="ctr">
                      <a:solidFill>
                        <a:srgbClr val="C5ECFA"/>
                      </a:solidFill>
                      <a:prstDash val="solid"/>
                      <a:round/>
                      <a:headEnd type="none" w="med" len="med"/>
                      <a:tailEnd type="none" w="med" len="med"/>
                    </a:lnB>
                    <a:solidFill>
                      <a:srgbClr val="F4FBFE"/>
                    </a:solidFill>
                  </a:tcPr>
                </a:tc>
                <a:extLst>
                  <a:ext uri="{0D108BD9-81ED-4DB2-BD59-A6C34878D82A}">
                    <a16:rowId xmlns:a16="http://schemas.microsoft.com/office/drawing/2014/main" val="10000"/>
                  </a:ext>
                </a:extLst>
              </a:tr>
            </a:tbl>
          </a:graphicData>
        </a:graphic>
      </p:graphicFrame>
      <p:grpSp>
        <p:nvGrpSpPr>
          <p:cNvPr id="56" name="Group 3"/>
          <p:cNvGrpSpPr/>
          <p:nvPr/>
        </p:nvGrpSpPr>
        <p:grpSpPr bwMode="gray">
          <a:xfrm rot="5400000">
            <a:off x="4068232" y="4953703"/>
            <a:ext cx="261965" cy="61979"/>
            <a:chOff x="559282" y="6488261"/>
            <a:chExt cx="261965" cy="61979"/>
          </a:xfrm>
          <a:solidFill>
            <a:schemeClr val="bg1">
              <a:lumMod val="50000"/>
            </a:schemeClr>
          </a:solidFill>
        </p:grpSpPr>
        <p:sp>
          <p:nvSpPr>
            <p:cNvPr id="57"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 name="椭圆 27"/>
          <p:cNvSpPr/>
          <p:nvPr/>
        </p:nvSpPr>
        <p:spPr bwMode="gray">
          <a:xfrm>
            <a:off x="5831113" y="4483183"/>
            <a:ext cx="333676" cy="333676"/>
          </a:xfrm>
          <a:custGeom>
            <a:avLst/>
            <a:gdLst>
              <a:gd name="connsiteX0" fmla="*/ 0 w 333676"/>
              <a:gd name="connsiteY0" fmla="*/ 166838 h 333676"/>
              <a:gd name="connsiteX1" fmla="*/ 166838 w 333676"/>
              <a:gd name="connsiteY1" fmla="*/ 0 h 333676"/>
              <a:gd name="connsiteX2" fmla="*/ 333676 w 333676"/>
              <a:gd name="connsiteY2" fmla="*/ 166838 h 333676"/>
              <a:gd name="connsiteX3" fmla="*/ 166838 w 333676"/>
              <a:gd name="connsiteY3" fmla="*/ 333676 h 333676"/>
              <a:gd name="connsiteX4" fmla="*/ 0 w 333676"/>
              <a:gd name="connsiteY4" fmla="*/ 166838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 name="connsiteX4" fmla="*/ 258278 w 333676"/>
              <a:gd name="connsiteY4" fmla="*/ 91440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Lst>
            <a:ahLst/>
            <a:cxnLst>
              <a:cxn ang="0">
                <a:pos x="connsiteX0" y="connsiteY0"/>
              </a:cxn>
              <a:cxn ang="0">
                <a:pos x="connsiteX1" y="connsiteY1"/>
              </a:cxn>
              <a:cxn ang="0">
                <a:pos x="connsiteX2" y="connsiteY2"/>
              </a:cxn>
              <a:cxn ang="0">
                <a:pos x="connsiteX3" y="connsiteY3"/>
              </a:cxn>
            </a:cxnLst>
            <a:rect l="l" t="t" r="r" b="b"/>
            <a:pathLst>
              <a:path w="333676" h="333676">
                <a:moveTo>
                  <a:pt x="166838" y="0"/>
                </a:moveTo>
                <a:cubicBezTo>
                  <a:pt x="258980" y="0"/>
                  <a:pt x="333676" y="74696"/>
                  <a:pt x="333676" y="166838"/>
                </a:cubicBezTo>
                <a:cubicBezTo>
                  <a:pt x="333676" y="258980"/>
                  <a:pt x="258980" y="333676"/>
                  <a:pt x="166838" y="333676"/>
                </a:cubicBezTo>
                <a:cubicBezTo>
                  <a:pt x="74696" y="333676"/>
                  <a:pt x="0" y="258980"/>
                  <a:pt x="0" y="166838"/>
                </a:cubicBezTo>
              </a:path>
            </a:pathLst>
          </a:custGeom>
          <a:noFill/>
          <a:ln w="19050">
            <a:solidFill>
              <a:srgbClr val="28BCF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27"/>
          <p:cNvSpPr/>
          <p:nvPr/>
        </p:nvSpPr>
        <p:spPr bwMode="gray">
          <a:xfrm>
            <a:off x="5831113" y="5117580"/>
            <a:ext cx="333676" cy="333676"/>
          </a:xfrm>
          <a:custGeom>
            <a:avLst/>
            <a:gdLst>
              <a:gd name="connsiteX0" fmla="*/ 0 w 333676"/>
              <a:gd name="connsiteY0" fmla="*/ 166838 h 333676"/>
              <a:gd name="connsiteX1" fmla="*/ 166838 w 333676"/>
              <a:gd name="connsiteY1" fmla="*/ 0 h 333676"/>
              <a:gd name="connsiteX2" fmla="*/ 333676 w 333676"/>
              <a:gd name="connsiteY2" fmla="*/ 166838 h 333676"/>
              <a:gd name="connsiteX3" fmla="*/ 166838 w 333676"/>
              <a:gd name="connsiteY3" fmla="*/ 333676 h 333676"/>
              <a:gd name="connsiteX4" fmla="*/ 0 w 333676"/>
              <a:gd name="connsiteY4" fmla="*/ 166838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 name="connsiteX4" fmla="*/ 258278 w 333676"/>
              <a:gd name="connsiteY4" fmla="*/ 91440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Lst>
            <a:ahLst/>
            <a:cxnLst>
              <a:cxn ang="0">
                <a:pos x="connsiteX0" y="connsiteY0"/>
              </a:cxn>
              <a:cxn ang="0">
                <a:pos x="connsiteX1" y="connsiteY1"/>
              </a:cxn>
              <a:cxn ang="0">
                <a:pos x="connsiteX2" y="connsiteY2"/>
              </a:cxn>
              <a:cxn ang="0">
                <a:pos x="connsiteX3" y="connsiteY3"/>
              </a:cxn>
            </a:cxnLst>
            <a:rect l="l" t="t" r="r" b="b"/>
            <a:pathLst>
              <a:path w="333676" h="333676">
                <a:moveTo>
                  <a:pt x="166838" y="0"/>
                </a:moveTo>
                <a:cubicBezTo>
                  <a:pt x="258980" y="0"/>
                  <a:pt x="333676" y="74696"/>
                  <a:pt x="333676" y="166838"/>
                </a:cubicBezTo>
                <a:cubicBezTo>
                  <a:pt x="333676" y="258980"/>
                  <a:pt x="258980" y="333676"/>
                  <a:pt x="166838" y="333676"/>
                </a:cubicBezTo>
                <a:cubicBezTo>
                  <a:pt x="74696" y="333676"/>
                  <a:pt x="0" y="258980"/>
                  <a:pt x="0" y="166838"/>
                </a:cubicBezTo>
              </a:path>
            </a:pathLst>
          </a:custGeom>
          <a:noFill/>
          <a:ln w="19050">
            <a:solidFill>
              <a:srgbClr val="28BCF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椭圆 27"/>
          <p:cNvSpPr/>
          <p:nvPr/>
        </p:nvSpPr>
        <p:spPr bwMode="gray">
          <a:xfrm>
            <a:off x="5831113" y="5585139"/>
            <a:ext cx="333676" cy="333676"/>
          </a:xfrm>
          <a:custGeom>
            <a:avLst/>
            <a:gdLst>
              <a:gd name="connsiteX0" fmla="*/ 0 w 333676"/>
              <a:gd name="connsiteY0" fmla="*/ 166838 h 333676"/>
              <a:gd name="connsiteX1" fmla="*/ 166838 w 333676"/>
              <a:gd name="connsiteY1" fmla="*/ 0 h 333676"/>
              <a:gd name="connsiteX2" fmla="*/ 333676 w 333676"/>
              <a:gd name="connsiteY2" fmla="*/ 166838 h 333676"/>
              <a:gd name="connsiteX3" fmla="*/ 166838 w 333676"/>
              <a:gd name="connsiteY3" fmla="*/ 333676 h 333676"/>
              <a:gd name="connsiteX4" fmla="*/ 0 w 333676"/>
              <a:gd name="connsiteY4" fmla="*/ 166838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 name="connsiteX4" fmla="*/ 258278 w 333676"/>
              <a:gd name="connsiteY4" fmla="*/ 91440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Lst>
            <a:ahLst/>
            <a:cxnLst>
              <a:cxn ang="0">
                <a:pos x="connsiteX0" y="connsiteY0"/>
              </a:cxn>
              <a:cxn ang="0">
                <a:pos x="connsiteX1" y="connsiteY1"/>
              </a:cxn>
              <a:cxn ang="0">
                <a:pos x="connsiteX2" y="connsiteY2"/>
              </a:cxn>
              <a:cxn ang="0">
                <a:pos x="connsiteX3" y="connsiteY3"/>
              </a:cxn>
            </a:cxnLst>
            <a:rect l="l" t="t" r="r" b="b"/>
            <a:pathLst>
              <a:path w="333676" h="333676">
                <a:moveTo>
                  <a:pt x="166838" y="0"/>
                </a:moveTo>
                <a:cubicBezTo>
                  <a:pt x="258980" y="0"/>
                  <a:pt x="333676" y="74696"/>
                  <a:pt x="333676" y="166838"/>
                </a:cubicBezTo>
                <a:cubicBezTo>
                  <a:pt x="333676" y="258980"/>
                  <a:pt x="258980" y="333676"/>
                  <a:pt x="166838" y="333676"/>
                </a:cubicBezTo>
                <a:cubicBezTo>
                  <a:pt x="74696" y="333676"/>
                  <a:pt x="0" y="258980"/>
                  <a:pt x="0" y="166838"/>
                </a:cubicBezTo>
              </a:path>
            </a:pathLst>
          </a:custGeom>
          <a:noFill/>
          <a:ln w="19050">
            <a:solidFill>
              <a:srgbClr val="28BCF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椭圆 27"/>
          <p:cNvSpPr/>
          <p:nvPr/>
        </p:nvSpPr>
        <p:spPr bwMode="gray">
          <a:xfrm>
            <a:off x="2213471" y="2111572"/>
            <a:ext cx="333676" cy="333676"/>
          </a:xfrm>
          <a:custGeom>
            <a:avLst/>
            <a:gdLst>
              <a:gd name="connsiteX0" fmla="*/ 0 w 333676"/>
              <a:gd name="connsiteY0" fmla="*/ 166838 h 333676"/>
              <a:gd name="connsiteX1" fmla="*/ 166838 w 333676"/>
              <a:gd name="connsiteY1" fmla="*/ 0 h 333676"/>
              <a:gd name="connsiteX2" fmla="*/ 333676 w 333676"/>
              <a:gd name="connsiteY2" fmla="*/ 166838 h 333676"/>
              <a:gd name="connsiteX3" fmla="*/ 166838 w 333676"/>
              <a:gd name="connsiteY3" fmla="*/ 333676 h 333676"/>
              <a:gd name="connsiteX4" fmla="*/ 0 w 333676"/>
              <a:gd name="connsiteY4" fmla="*/ 166838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 name="connsiteX4" fmla="*/ 258278 w 333676"/>
              <a:gd name="connsiteY4" fmla="*/ 91440 h 333676"/>
              <a:gd name="connsiteX0" fmla="*/ 166838 w 333676"/>
              <a:gd name="connsiteY0" fmla="*/ 0 h 333676"/>
              <a:gd name="connsiteX1" fmla="*/ 333676 w 333676"/>
              <a:gd name="connsiteY1" fmla="*/ 166838 h 333676"/>
              <a:gd name="connsiteX2" fmla="*/ 166838 w 333676"/>
              <a:gd name="connsiteY2" fmla="*/ 333676 h 333676"/>
              <a:gd name="connsiteX3" fmla="*/ 0 w 333676"/>
              <a:gd name="connsiteY3" fmla="*/ 166838 h 333676"/>
            </a:gdLst>
            <a:ahLst/>
            <a:cxnLst>
              <a:cxn ang="0">
                <a:pos x="connsiteX0" y="connsiteY0"/>
              </a:cxn>
              <a:cxn ang="0">
                <a:pos x="connsiteX1" y="connsiteY1"/>
              </a:cxn>
              <a:cxn ang="0">
                <a:pos x="connsiteX2" y="connsiteY2"/>
              </a:cxn>
              <a:cxn ang="0">
                <a:pos x="connsiteX3" y="connsiteY3"/>
              </a:cxn>
            </a:cxnLst>
            <a:rect l="l" t="t" r="r" b="b"/>
            <a:pathLst>
              <a:path w="333676" h="333676">
                <a:moveTo>
                  <a:pt x="166838" y="0"/>
                </a:moveTo>
                <a:cubicBezTo>
                  <a:pt x="258980" y="0"/>
                  <a:pt x="333676" y="74696"/>
                  <a:pt x="333676" y="166838"/>
                </a:cubicBezTo>
                <a:cubicBezTo>
                  <a:pt x="333676" y="258980"/>
                  <a:pt x="258980" y="333676"/>
                  <a:pt x="166838" y="333676"/>
                </a:cubicBezTo>
                <a:cubicBezTo>
                  <a:pt x="74696" y="333676"/>
                  <a:pt x="0" y="258980"/>
                  <a:pt x="0" y="166838"/>
                </a:cubicBezTo>
              </a:path>
            </a:pathLst>
          </a:custGeom>
          <a:noFill/>
          <a:ln w="19050">
            <a:solidFill>
              <a:srgbClr val="28BCF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TextBox 43"/>
          <p:cNvSpPr txBox="1"/>
          <p:nvPr/>
        </p:nvSpPr>
        <p:spPr bwMode="gray">
          <a:xfrm>
            <a:off x="2578332" y="2197163"/>
            <a:ext cx="1104790"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刷新</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表项</a:t>
            </a:r>
          </a:p>
        </p:txBody>
      </p:sp>
      <p:sp>
        <p:nvSpPr>
          <p:cNvPr id="49" name="五边形 24"/>
          <p:cNvSpPr/>
          <p:nvPr/>
        </p:nvSpPr>
        <p:spPr bwMode="gray">
          <a:xfrm>
            <a:off x="8753128" y="100152"/>
            <a:ext cx="1526032" cy="213120"/>
          </a:xfrm>
          <a:prstGeom prst="homePlate">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rPr>
              <a:t>使用</a:t>
            </a:r>
            <a:r>
              <a:rPr lang="en-US" altLang="zh-CN" sz="1200" kern="0" dirty="0">
                <a:latin typeface="Huawei Sans" panose="020C0503030203020204" pitchFamily="34" charset="0"/>
                <a:ea typeface="方正兰亭黑简体" panose="02000000000000000000" pitchFamily="2" charset="-122"/>
              </a:rPr>
              <a:t>IPsec</a:t>
            </a:r>
            <a:r>
              <a:rPr lang="zh-CN" altLang="en-US" sz="1200" kern="0" dirty="0">
                <a:latin typeface="Huawei Sans" panose="020C0503030203020204" pitchFamily="34" charset="0"/>
                <a:ea typeface="方正兰亭黑简体" panose="02000000000000000000" pitchFamily="2" charset="-122"/>
              </a:rPr>
              <a:t>承载流量</a:t>
            </a:r>
          </a:p>
        </p:txBody>
      </p:sp>
      <p:sp>
        <p:nvSpPr>
          <p:cNvPr id="51" name="燕尾形 25"/>
          <p:cNvSpPr/>
          <p:nvPr/>
        </p:nvSpPr>
        <p:spPr bwMode="gray">
          <a:xfrm>
            <a:off x="10218141" y="100152"/>
            <a:ext cx="1538223" cy="211431"/>
          </a:xfrm>
          <a:prstGeom prst="chevron">
            <a:avLst/>
          </a:prstGeom>
          <a:solidFill>
            <a:srgbClr val="56C4D2"/>
          </a:solidFill>
          <a:ln w="9525" cap="flat" cmpd="sng" algn="ctr">
            <a:solidFill>
              <a:srgbClr val="56C4D2"/>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en-US" altLang="zh-CN" sz="1200" b="1" kern="0" dirty="0">
                <a:solidFill>
                  <a:schemeClr val="bg1"/>
                </a:solidFill>
                <a:latin typeface="Huawei Sans" panose="020C0503030203020204" pitchFamily="34" charset="0"/>
                <a:ea typeface="方正兰亭黑简体" panose="02000000000000000000" pitchFamily="2" charset="-122"/>
              </a:rPr>
              <a:t>IPsec</a:t>
            </a:r>
            <a:r>
              <a:rPr lang="zh-CN" altLang="en-US" sz="1200" b="1" kern="0" dirty="0">
                <a:solidFill>
                  <a:schemeClr val="bg1"/>
                </a:solidFill>
                <a:latin typeface="Huawei Sans" panose="020C0503030203020204" pitchFamily="34" charset="0"/>
                <a:ea typeface="方正兰亭黑简体" panose="02000000000000000000" pitchFamily="2" charset="-122"/>
              </a:rPr>
              <a:t>穿越</a:t>
            </a:r>
            <a:r>
              <a:rPr lang="en-US" altLang="zh-CN" sz="1200" b="1" kern="0" dirty="0">
                <a:solidFill>
                  <a:schemeClr val="bg1"/>
                </a:solidFill>
                <a:latin typeface="Huawei Sans" panose="020C0503030203020204" pitchFamily="34" charset="0"/>
                <a:ea typeface="方正兰亭黑简体" panose="02000000000000000000" pitchFamily="2" charset="-122"/>
              </a:rPr>
              <a:t>NAT</a:t>
            </a:r>
          </a:p>
        </p:txBody>
      </p:sp>
    </p:spTree>
    <p:extLst>
      <p:ext uri="{BB962C8B-B14F-4D97-AF65-F5344CB8AC3E}">
        <p14:creationId xmlns:p14="http://schemas.microsoft.com/office/powerpoint/2010/main" val="23325743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b="1" dirty="0"/>
              <a:t>广域互联</a:t>
            </a:r>
            <a:r>
              <a:rPr lang="en-US" altLang="zh-CN" b="1" dirty="0"/>
              <a:t>NAT</a:t>
            </a:r>
            <a:r>
              <a:rPr lang="zh-CN" altLang="en-US" b="1" dirty="0"/>
              <a:t>穿越技术</a:t>
            </a:r>
            <a:endParaRPr lang="en-US" altLang="zh-CN" b="1" dirty="0"/>
          </a:p>
          <a:p>
            <a:pPr lvl="1">
              <a:buSzPct val="60000"/>
              <a:buFont typeface="Wingdings" panose="05000000000000000000" pitchFamily="2" charset="2"/>
              <a:buChar char="n"/>
            </a:pPr>
            <a:r>
              <a:rPr lang="en-US" altLang="zh-CN" dirty="0"/>
              <a:t>NAT</a:t>
            </a:r>
            <a:r>
              <a:rPr lang="zh-CN" altLang="en-US" dirty="0"/>
              <a:t>基本原理</a:t>
            </a:r>
            <a:endParaRPr lang="en-US" altLang="zh-CN" dirty="0"/>
          </a:p>
          <a:p>
            <a:pPr lvl="1"/>
            <a:r>
              <a:rPr lang="en-US" altLang="zh-CN" dirty="0">
                <a:solidFill>
                  <a:schemeClr val="bg1">
                    <a:lumMod val="50000"/>
                  </a:schemeClr>
                </a:solidFill>
              </a:rPr>
              <a:t>NAT</a:t>
            </a:r>
            <a:r>
              <a:rPr lang="zh-CN" altLang="en-US" dirty="0">
                <a:solidFill>
                  <a:schemeClr val="bg1">
                    <a:lumMod val="50000"/>
                  </a:schemeClr>
                </a:solidFill>
              </a:rPr>
              <a:t>类型介绍</a:t>
            </a:r>
            <a:endParaRPr lang="en-US" altLang="zh-CN" dirty="0">
              <a:solidFill>
                <a:schemeClr val="bg1">
                  <a:lumMod val="50000"/>
                </a:schemeClr>
              </a:solidFill>
            </a:endParaRPr>
          </a:p>
          <a:p>
            <a:pPr lvl="1"/>
            <a:r>
              <a:rPr lang="en-US" altLang="zh-CN" dirty="0">
                <a:solidFill>
                  <a:schemeClr val="bg1">
                    <a:lumMod val="50000"/>
                  </a:schemeClr>
                </a:solidFill>
              </a:rPr>
              <a:t>NAT</a:t>
            </a:r>
            <a:r>
              <a:rPr lang="zh-CN" altLang="en-US" dirty="0">
                <a:solidFill>
                  <a:schemeClr val="bg1">
                    <a:lumMod val="50000"/>
                  </a:schemeClr>
                </a:solidFill>
              </a:rPr>
              <a:t>穿越技术介绍</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116738902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p:txBody>
          <a:bodyPr/>
          <a:lstStyle/>
          <a:p>
            <a:r>
              <a:rPr lang="en-US" altLang="zh-CN" sz="1800" dirty="0"/>
              <a:t>NAT</a:t>
            </a:r>
            <a:r>
              <a:rPr lang="zh-CN" altLang="en-US" sz="1800" dirty="0"/>
              <a:t>（</a:t>
            </a:r>
            <a:r>
              <a:rPr lang="en-US" altLang="zh-CN" sz="1800" dirty="0"/>
              <a:t>Network Address Translation</a:t>
            </a:r>
            <a:r>
              <a:rPr lang="zh-CN" altLang="zh-CN" sz="1800" dirty="0"/>
              <a:t>，网络地址转换</a:t>
            </a:r>
            <a:r>
              <a:rPr lang="zh-CN" altLang="en-US" sz="1800" dirty="0"/>
              <a:t>）</a:t>
            </a:r>
            <a:r>
              <a:rPr lang="zh-CN" altLang="zh-CN" sz="1800" dirty="0"/>
              <a:t>是</a:t>
            </a:r>
            <a:r>
              <a:rPr lang="en-US" altLang="zh-CN" sz="1800" dirty="0"/>
              <a:t>1994</a:t>
            </a:r>
            <a:r>
              <a:rPr lang="zh-CN" altLang="zh-CN" sz="1800" dirty="0"/>
              <a:t>年提出的。当在专用网内部的一些主机本来已经分配到了本地</a:t>
            </a:r>
            <a:r>
              <a:rPr lang="en-US" altLang="zh-CN" sz="1800" dirty="0"/>
              <a:t>IP</a:t>
            </a:r>
            <a:r>
              <a:rPr lang="zh-CN" altLang="zh-CN" sz="1800" dirty="0"/>
              <a:t>地址</a:t>
            </a:r>
            <a:r>
              <a:rPr lang="zh-CN" altLang="en-US" sz="1800" dirty="0"/>
              <a:t>（</a:t>
            </a:r>
            <a:r>
              <a:rPr lang="zh-CN" altLang="zh-CN" sz="1800" dirty="0"/>
              <a:t>即仅在本专用网内使用的专用地址</a:t>
            </a:r>
            <a:r>
              <a:rPr lang="zh-CN" altLang="en-US" sz="1800" dirty="0"/>
              <a:t>）</a:t>
            </a:r>
            <a:r>
              <a:rPr lang="zh-CN" altLang="zh-CN" sz="1800" dirty="0"/>
              <a:t>，但又想和因特网上的主机通信</a:t>
            </a:r>
            <a:r>
              <a:rPr lang="zh-CN" altLang="en-US" sz="1800" dirty="0"/>
              <a:t>（</a:t>
            </a:r>
            <a:r>
              <a:rPr lang="zh-CN" altLang="zh-CN" sz="1800" dirty="0"/>
              <a:t>并不需要加密</a:t>
            </a:r>
            <a:r>
              <a:rPr lang="zh-CN" altLang="en-US" sz="1800" dirty="0"/>
              <a:t>）</a:t>
            </a:r>
            <a:r>
              <a:rPr lang="zh-CN" altLang="zh-CN" sz="1800" dirty="0"/>
              <a:t>时，可使用</a:t>
            </a:r>
            <a:r>
              <a:rPr lang="en-US" altLang="zh-CN" sz="1800" dirty="0"/>
              <a:t>NAT</a:t>
            </a:r>
            <a:r>
              <a:rPr lang="zh-CN" altLang="zh-CN" sz="1800" dirty="0"/>
              <a:t>。</a:t>
            </a:r>
          </a:p>
          <a:p>
            <a:r>
              <a:rPr lang="en-US" altLang="zh-CN" sz="1800" dirty="0"/>
              <a:t>NAT</a:t>
            </a:r>
            <a:r>
              <a:rPr lang="zh-CN" altLang="en-US" sz="1800" dirty="0"/>
              <a:t>不仅能解决了</a:t>
            </a:r>
            <a:r>
              <a:rPr lang="en-US" altLang="zh-CN" sz="1800" dirty="0" err="1"/>
              <a:t>lP</a:t>
            </a:r>
            <a:r>
              <a:rPr lang="zh-CN" altLang="en-US" sz="1800" dirty="0"/>
              <a:t>地址不足的问题，而且还能够有效地避免来自网络外部的攻击，隐藏并保护网络内部的计算机。</a:t>
            </a:r>
          </a:p>
        </p:txBody>
      </p:sp>
      <p:cxnSp>
        <p:nvCxnSpPr>
          <p:cNvPr id="36" name="Straight Connector 35"/>
          <p:cNvCxnSpPr/>
          <p:nvPr/>
        </p:nvCxnSpPr>
        <p:spPr bwMode="gray">
          <a:xfrm>
            <a:off x="5495203" y="3671903"/>
            <a:ext cx="0" cy="2362886"/>
          </a:xfrm>
          <a:prstGeom prst="line">
            <a:avLst/>
          </a:prstGeom>
          <a:solidFill>
            <a:schemeClr val="accent1"/>
          </a:solidFill>
          <a:ln w="19050" cap="flat" cmpd="sng" algn="ctr">
            <a:solidFill>
              <a:srgbClr val="00B0F0"/>
            </a:solidFill>
            <a:prstDash val="dash"/>
            <a:round/>
            <a:headEnd type="none" w="med" len="med"/>
            <a:tailEnd type="none" w="med" len="med"/>
          </a:ln>
          <a:effectLst/>
        </p:spPr>
      </p:cxnSp>
      <p:sp>
        <p:nvSpPr>
          <p:cNvPr id="19" name="Freeform 159"/>
          <p:cNvSpPr/>
          <p:nvPr/>
        </p:nvSpPr>
        <p:spPr bwMode="gray">
          <a:xfrm flipH="1">
            <a:off x="3054391" y="4136308"/>
            <a:ext cx="2316968" cy="1115114"/>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Title 2"/>
          <p:cNvSpPr>
            <a:spLocks noGrp="1"/>
          </p:cNvSpPr>
          <p:nvPr>
            <p:ph type="title"/>
          </p:nvPr>
        </p:nvSpPr>
        <p:spPr bwMode="gray"/>
        <p:txBody>
          <a:bodyPr/>
          <a:lstStyle/>
          <a:p>
            <a:r>
              <a:rPr lang="en-US" altLang="zh-CN" dirty="0"/>
              <a:t>NAT</a:t>
            </a:r>
            <a:r>
              <a:rPr lang="zh-CN" altLang="en-US" dirty="0"/>
              <a:t>产生背景</a:t>
            </a:r>
          </a:p>
        </p:txBody>
      </p:sp>
      <p:cxnSp>
        <p:nvCxnSpPr>
          <p:cNvPr id="6" name="直接连接符 12"/>
          <p:cNvCxnSpPr>
            <a:stCxn id="7" idx="3"/>
            <a:endCxn id="9" idx="1"/>
          </p:cNvCxnSpPr>
          <p:nvPr/>
        </p:nvCxnSpPr>
        <p:spPr bwMode="gray">
          <a:xfrm>
            <a:off x="5770656" y="4861986"/>
            <a:ext cx="2895647" cy="0"/>
          </a:xfrm>
          <a:prstGeom prst="line">
            <a:avLst/>
          </a:prstGeom>
          <a:solidFill>
            <a:schemeClr val="accent1"/>
          </a:solidFill>
          <a:ln w="19050" cap="flat" cmpd="sng" algn="ctr">
            <a:solidFill>
              <a:schemeClr val="bg1">
                <a:lumMod val="50000"/>
              </a:schemeClr>
            </a:solidFill>
            <a:prstDash val="solid"/>
            <a:round/>
            <a:headEnd type="none" w="med" len="med"/>
            <a:tailEnd type="none" w="med" len="med"/>
          </a:ln>
          <a:effectLst/>
        </p:spPr>
      </p:cxnSp>
      <p:pic>
        <p:nvPicPr>
          <p:cNvPr id="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229456" y="4640586"/>
            <a:ext cx="541200" cy="442799"/>
          </a:xfrm>
          <a:prstGeom prst="rect">
            <a:avLst/>
          </a:prstGeom>
          <a:noFill/>
        </p:spPr>
      </p:pic>
      <p:pic>
        <p:nvPicPr>
          <p:cNvPr id="9" name="图片 8" descr="Web服务器-蓝.png"/>
          <p:cNvPicPr>
            <a:picLocks noChangeAspect="1"/>
          </p:cNvPicPr>
          <p:nvPr/>
        </p:nvPicPr>
        <p:blipFill>
          <a:blip r:embed="rId4" cstate="print"/>
          <a:stretch>
            <a:fillRect/>
          </a:stretch>
        </p:blipFill>
        <p:spPr bwMode="gray">
          <a:xfrm>
            <a:off x="8666303" y="4641077"/>
            <a:ext cx="540000" cy="441818"/>
          </a:xfrm>
          <a:prstGeom prst="rect">
            <a:avLst/>
          </a:prstGeom>
        </p:spPr>
      </p:pic>
      <p:sp>
        <p:nvSpPr>
          <p:cNvPr id="10" name="矩形 26"/>
          <p:cNvSpPr/>
          <p:nvPr/>
        </p:nvSpPr>
        <p:spPr bwMode="gray">
          <a:xfrm>
            <a:off x="5071329" y="5086066"/>
            <a:ext cx="917239" cy="307777"/>
          </a:xfrm>
          <a:prstGeom prst="rect">
            <a:avLst/>
          </a:prstGeom>
        </p:spPr>
        <p:txBody>
          <a:bodyPr wrap="none">
            <a:spAutoFit/>
          </a:bodyPr>
          <a:lstStyle/>
          <a:p>
            <a:pPr algn="ctr" defTabSz="914400" fontAlgn="t">
              <a:spcBef>
                <a:spcPct val="0"/>
              </a:spcBef>
              <a:spcAft>
                <a:spcPct val="0"/>
              </a:spcAft>
            </a:pPr>
            <a:r>
              <a:rPr lang="en-US" altLang="zh-CN" sz="14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400" b="1"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pic>
        <p:nvPicPr>
          <p:cNvPr id="11" name="图片 27" descr="PC.png"/>
          <p:cNvPicPr>
            <a:picLocks noChangeAspect="1"/>
          </p:cNvPicPr>
          <p:nvPr/>
        </p:nvPicPr>
        <p:blipFill>
          <a:blip r:embed="rId5" cstate="print"/>
          <a:stretch>
            <a:fillRect/>
          </a:stretch>
        </p:blipFill>
        <p:spPr bwMode="gray">
          <a:xfrm>
            <a:off x="3606562" y="4136308"/>
            <a:ext cx="539063" cy="414000"/>
          </a:xfrm>
          <a:prstGeom prst="rect">
            <a:avLst/>
          </a:prstGeom>
        </p:spPr>
      </p:pic>
      <p:pic>
        <p:nvPicPr>
          <p:cNvPr id="12" name="图片 30" descr="PC.png"/>
          <p:cNvPicPr>
            <a:picLocks noChangeAspect="1"/>
          </p:cNvPicPr>
          <p:nvPr/>
        </p:nvPicPr>
        <p:blipFill>
          <a:blip r:embed="rId5" cstate="print"/>
          <a:stretch>
            <a:fillRect/>
          </a:stretch>
        </p:blipFill>
        <p:spPr bwMode="gray">
          <a:xfrm>
            <a:off x="3168646" y="4812046"/>
            <a:ext cx="539063" cy="414000"/>
          </a:xfrm>
          <a:prstGeom prst="rect">
            <a:avLst/>
          </a:prstGeom>
        </p:spPr>
      </p:pic>
      <p:pic>
        <p:nvPicPr>
          <p:cNvPr id="13" name="图片 34" descr="汇聚交换机.png"/>
          <p:cNvPicPr>
            <a:picLocks noChangeAspect="1"/>
          </p:cNvPicPr>
          <p:nvPr/>
        </p:nvPicPr>
        <p:blipFill>
          <a:blip r:embed="rId6" cstate="print"/>
          <a:stretch>
            <a:fillRect/>
          </a:stretch>
        </p:blipFill>
        <p:spPr bwMode="gray">
          <a:xfrm>
            <a:off x="4325924" y="4798137"/>
            <a:ext cx="540000" cy="441818"/>
          </a:xfrm>
          <a:prstGeom prst="rect">
            <a:avLst/>
          </a:prstGeom>
        </p:spPr>
      </p:pic>
      <p:sp>
        <p:nvSpPr>
          <p:cNvPr id="17" name="Freeform 159"/>
          <p:cNvSpPr/>
          <p:nvPr/>
        </p:nvSpPr>
        <p:spPr bwMode="gray">
          <a:xfrm flipH="1">
            <a:off x="6517574" y="4449119"/>
            <a:ext cx="1596068" cy="76815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Internet</a:t>
            </a:r>
          </a:p>
        </p:txBody>
      </p:sp>
      <p:sp>
        <p:nvSpPr>
          <p:cNvPr id="39" name="圆角矩形 75"/>
          <p:cNvSpPr/>
          <p:nvPr/>
        </p:nvSpPr>
        <p:spPr bwMode="gray">
          <a:xfrm>
            <a:off x="1961669" y="3476140"/>
            <a:ext cx="8288486" cy="260459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p:txBody>
      </p:sp>
      <p:sp>
        <p:nvSpPr>
          <p:cNvPr id="40" name="圆角矩形 75"/>
          <p:cNvSpPr/>
          <p:nvPr/>
        </p:nvSpPr>
        <p:spPr bwMode="gray">
          <a:xfrm>
            <a:off x="1960219" y="3047941"/>
            <a:ext cx="8310051"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实现私网访问外网</a:t>
            </a:r>
          </a:p>
        </p:txBody>
      </p:sp>
      <p:grpSp>
        <p:nvGrpSpPr>
          <p:cNvPr id="44" name="Group 43"/>
          <p:cNvGrpSpPr/>
          <p:nvPr/>
        </p:nvGrpSpPr>
        <p:grpSpPr bwMode="gray">
          <a:xfrm>
            <a:off x="3383137" y="3942587"/>
            <a:ext cx="1500582" cy="287716"/>
            <a:chOff x="7326837" y="4940248"/>
            <a:chExt cx="1500582" cy="287716"/>
          </a:xfrm>
        </p:grpSpPr>
        <p:sp>
          <p:nvSpPr>
            <p:cNvPr id="45" name="TextBox 120">
              <a:extLst>
                <a:ext uri="{FF2B5EF4-FFF2-40B4-BE49-F238E27FC236}">
                  <a16:creationId xmlns:a16="http://schemas.microsoft.com/office/drawing/2014/main" id="{31930744-3D36-4F81-8426-6F129C1A6804}"/>
                </a:ext>
              </a:extLst>
            </p:cNvPr>
            <p:cNvSpPr txBox="1"/>
            <p:nvPr/>
          </p:nvSpPr>
          <p:spPr bwMode="gray">
            <a:xfrm>
              <a:off x="7326837" y="4940249"/>
              <a:ext cx="93519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私网</a:t>
              </a: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IP</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120">
              <a:extLst>
                <a:ext uri="{FF2B5EF4-FFF2-40B4-BE49-F238E27FC236}">
                  <a16:creationId xmlns:a16="http://schemas.microsoft.com/office/drawing/2014/main" id="{31930744-3D36-4F81-8426-6F129C1A6804}"/>
                </a:ext>
              </a:extLst>
            </p:cNvPr>
            <p:cNvSpPr txBox="1"/>
            <p:nvPr/>
          </p:nvSpPr>
          <p:spPr bwMode="gray">
            <a:xfrm>
              <a:off x="8262595" y="4940248"/>
              <a:ext cx="564824"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grpSp>
      <p:grpSp>
        <p:nvGrpSpPr>
          <p:cNvPr id="47" name="Group 46"/>
          <p:cNvGrpSpPr/>
          <p:nvPr/>
        </p:nvGrpSpPr>
        <p:grpSpPr bwMode="gray">
          <a:xfrm>
            <a:off x="6124082" y="3942587"/>
            <a:ext cx="1570111" cy="287715"/>
            <a:chOff x="7186603" y="4940248"/>
            <a:chExt cx="1570111" cy="287715"/>
          </a:xfrm>
        </p:grpSpPr>
        <p:sp>
          <p:nvSpPr>
            <p:cNvPr id="48" name="TextBox 120">
              <a:extLst>
                <a:ext uri="{FF2B5EF4-FFF2-40B4-BE49-F238E27FC236}">
                  <a16:creationId xmlns:a16="http://schemas.microsoft.com/office/drawing/2014/main" id="{31930744-3D36-4F81-8426-6F129C1A6804}"/>
                </a:ext>
              </a:extLst>
            </p:cNvPr>
            <p:cNvSpPr txBox="1"/>
            <p:nvPr/>
          </p:nvSpPr>
          <p:spPr bwMode="gray">
            <a:xfrm>
              <a:off x="7186603" y="4940248"/>
              <a:ext cx="1007875" cy="287715"/>
            </a:xfrm>
            <a:prstGeom prst="roundRect">
              <a:avLst>
                <a:gd name="adj" fmla="val 6721"/>
              </a:avLst>
            </a:prstGeom>
            <a:solidFill>
              <a:srgbClr val="EC7061"/>
            </a:solidFill>
            <a:ln w="12700">
              <a:solidFill>
                <a:srgbClr val="EC706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 公网</a:t>
              </a: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IP</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TextBox 120">
              <a:extLst>
                <a:ext uri="{FF2B5EF4-FFF2-40B4-BE49-F238E27FC236}">
                  <a16:creationId xmlns:a16="http://schemas.microsoft.com/office/drawing/2014/main" id="{31930744-3D36-4F81-8426-6F129C1A6804}"/>
                </a:ext>
              </a:extLst>
            </p:cNvPr>
            <p:cNvSpPr txBox="1"/>
            <p:nvPr/>
          </p:nvSpPr>
          <p:spPr bwMode="gray">
            <a:xfrm>
              <a:off x="8191890" y="4940248"/>
              <a:ext cx="564824"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grpSp>
      <p:sp>
        <p:nvSpPr>
          <p:cNvPr id="51" name="矩形 26"/>
          <p:cNvSpPr/>
          <p:nvPr/>
        </p:nvSpPr>
        <p:spPr bwMode="gray">
          <a:xfrm>
            <a:off x="5043191" y="3841867"/>
            <a:ext cx="890170" cy="276999"/>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地址转换</a:t>
            </a:r>
          </a:p>
        </p:txBody>
      </p:sp>
      <p:sp>
        <p:nvSpPr>
          <p:cNvPr id="53" name="Freeform 52"/>
          <p:cNvSpPr/>
          <p:nvPr/>
        </p:nvSpPr>
        <p:spPr bwMode="gray">
          <a:xfrm>
            <a:off x="4052609" y="4200841"/>
            <a:ext cx="4669654" cy="554587"/>
          </a:xfrm>
          <a:custGeom>
            <a:avLst/>
            <a:gdLst>
              <a:gd name="connsiteX0" fmla="*/ 0 w 4669654"/>
              <a:gd name="connsiteY0" fmla="*/ 0 h 554587"/>
              <a:gd name="connsiteX1" fmla="*/ 941033 w 4669654"/>
              <a:gd name="connsiteY1" fmla="*/ 497149 h 554587"/>
              <a:gd name="connsiteX2" fmla="*/ 4669654 w 4669654"/>
              <a:gd name="connsiteY2" fmla="*/ 523782 h 554587"/>
            </a:gdLst>
            <a:ahLst/>
            <a:cxnLst>
              <a:cxn ang="0">
                <a:pos x="connsiteX0" y="connsiteY0"/>
              </a:cxn>
              <a:cxn ang="0">
                <a:pos x="connsiteX1" y="connsiteY1"/>
              </a:cxn>
              <a:cxn ang="0">
                <a:pos x="connsiteX2" y="connsiteY2"/>
              </a:cxn>
            </a:cxnLst>
            <a:rect l="l" t="t" r="r" b="b"/>
            <a:pathLst>
              <a:path w="4669654" h="554587">
                <a:moveTo>
                  <a:pt x="0" y="0"/>
                </a:moveTo>
                <a:cubicBezTo>
                  <a:pt x="81378" y="204926"/>
                  <a:pt x="162757" y="409852"/>
                  <a:pt x="941033" y="497149"/>
                </a:cubicBezTo>
                <a:cubicBezTo>
                  <a:pt x="1719309" y="584446"/>
                  <a:pt x="3194481" y="554114"/>
                  <a:pt x="4669654" y="523782"/>
                </a:cubicBezTo>
              </a:path>
            </a:pathLst>
          </a:custGeom>
          <a:noFill/>
          <a:ln w="28575">
            <a:solidFill>
              <a:srgbClr val="00B0F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4" name="Group 53"/>
          <p:cNvGrpSpPr/>
          <p:nvPr/>
        </p:nvGrpSpPr>
        <p:grpSpPr bwMode="gray">
          <a:xfrm>
            <a:off x="3296525" y="5508964"/>
            <a:ext cx="1587194" cy="287716"/>
            <a:chOff x="7240225" y="4940248"/>
            <a:chExt cx="1587194" cy="287716"/>
          </a:xfrm>
        </p:grpSpPr>
        <p:sp>
          <p:nvSpPr>
            <p:cNvPr id="55" name="TextBox 120">
              <a:extLst>
                <a:ext uri="{FF2B5EF4-FFF2-40B4-BE49-F238E27FC236}">
                  <a16:creationId xmlns:a16="http://schemas.microsoft.com/office/drawing/2014/main" id="{31930744-3D36-4F81-8426-6F129C1A6804}"/>
                </a:ext>
              </a:extLst>
            </p:cNvPr>
            <p:cNvSpPr txBox="1"/>
            <p:nvPr/>
          </p:nvSpPr>
          <p:spPr bwMode="gray">
            <a:xfrm>
              <a:off x="7240225" y="4940249"/>
              <a:ext cx="1021811"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私网</a:t>
              </a: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IP</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a16="http://schemas.microsoft.com/office/drawing/2014/main" id="{31930744-3D36-4F81-8426-6F129C1A6804}"/>
                </a:ext>
              </a:extLst>
            </p:cNvPr>
            <p:cNvSpPr txBox="1"/>
            <p:nvPr/>
          </p:nvSpPr>
          <p:spPr bwMode="gray">
            <a:xfrm>
              <a:off x="8262595" y="4940248"/>
              <a:ext cx="564824"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grpSp>
      <p:grpSp>
        <p:nvGrpSpPr>
          <p:cNvPr id="57" name="Group 56"/>
          <p:cNvGrpSpPr/>
          <p:nvPr/>
        </p:nvGrpSpPr>
        <p:grpSpPr bwMode="gray">
          <a:xfrm>
            <a:off x="6124082" y="5508964"/>
            <a:ext cx="1570111" cy="287715"/>
            <a:chOff x="7186603" y="4940248"/>
            <a:chExt cx="1570111" cy="287715"/>
          </a:xfrm>
        </p:grpSpPr>
        <p:sp>
          <p:nvSpPr>
            <p:cNvPr id="58" name="TextBox 120">
              <a:extLst>
                <a:ext uri="{FF2B5EF4-FFF2-40B4-BE49-F238E27FC236}">
                  <a16:creationId xmlns:a16="http://schemas.microsoft.com/office/drawing/2014/main" id="{31930744-3D36-4F81-8426-6F129C1A6804}"/>
                </a:ext>
              </a:extLst>
            </p:cNvPr>
            <p:cNvSpPr txBox="1"/>
            <p:nvPr/>
          </p:nvSpPr>
          <p:spPr bwMode="gray">
            <a:xfrm>
              <a:off x="7186603" y="4940248"/>
              <a:ext cx="1007875" cy="287715"/>
            </a:xfrm>
            <a:prstGeom prst="roundRect">
              <a:avLst>
                <a:gd name="adj" fmla="val 6721"/>
              </a:avLst>
            </a:prstGeom>
            <a:solidFill>
              <a:srgbClr val="EC7061"/>
            </a:solidFill>
            <a:ln w="12700">
              <a:solidFill>
                <a:srgbClr val="EC706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 公网</a:t>
              </a: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IP</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TextBox 120">
              <a:extLst>
                <a:ext uri="{FF2B5EF4-FFF2-40B4-BE49-F238E27FC236}">
                  <a16:creationId xmlns:a16="http://schemas.microsoft.com/office/drawing/2014/main" id="{31930744-3D36-4F81-8426-6F129C1A6804}"/>
                </a:ext>
              </a:extLst>
            </p:cNvPr>
            <p:cNvSpPr txBox="1"/>
            <p:nvPr/>
          </p:nvSpPr>
          <p:spPr bwMode="gray">
            <a:xfrm>
              <a:off x="8191890" y="4940248"/>
              <a:ext cx="564824"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grpSp>
      <p:cxnSp>
        <p:nvCxnSpPr>
          <p:cNvPr id="61" name="Straight Arrow Connector 60"/>
          <p:cNvCxnSpPr/>
          <p:nvPr/>
        </p:nvCxnSpPr>
        <p:spPr bwMode="gray">
          <a:xfrm>
            <a:off x="5008178" y="4086444"/>
            <a:ext cx="968314"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bwMode="gray">
          <a:xfrm>
            <a:off x="5020254" y="5620688"/>
            <a:ext cx="968314" cy="0"/>
          </a:xfrm>
          <a:prstGeom prst="straightConnector1">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矩形 26"/>
          <p:cNvSpPr/>
          <p:nvPr/>
        </p:nvSpPr>
        <p:spPr bwMode="gray">
          <a:xfrm>
            <a:off x="5059326" y="5672404"/>
            <a:ext cx="890170" cy="276999"/>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地址转换</a:t>
            </a:r>
          </a:p>
        </p:txBody>
      </p:sp>
      <p:sp>
        <p:nvSpPr>
          <p:cNvPr id="66" name="Freeform 65"/>
          <p:cNvSpPr/>
          <p:nvPr/>
        </p:nvSpPr>
        <p:spPr bwMode="gray">
          <a:xfrm>
            <a:off x="4052609" y="4436748"/>
            <a:ext cx="4669654" cy="554587"/>
          </a:xfrm>
          <a:custGeom>
            <a:avLst/>
            <a:gdLst>
              <a:gd name="connsiteX0" fmla="*/ 0 w 4669654"/>
              <a:gd name="connsiteY0" fmla="*/ 0 h 554587"/>
              <a:gd name="connsiteX1" fmla="*/ 941033 w 4669654"/>
              <a:gd name="connsiteY1" fmla="*/ 497149 h 554587"/>
              <a:gd name="connsiteX2" fmla="*/ 4669654 w 4669654"/>
              <a:gd name="connsiteY2" fmla="*/ 523782 h 554587"/>
            </a:gdLst>
            <a:ahLst/>
            <a:cxnLst>
              <a:cxn ang="0">
                <a:pos x="connsiteX0" y="connsiteY0"/>
              </a:cxn>
              <a:cxn ang="0">
                <a:pos x="connsiteX1" y="connsiteY1"/>
              </a:cxn>
              <a:cxn ang="0">
                <a:pos x="connsiteX2" y="connsiteY2"/>
              </a:cxn>
            </a:cxnLst>
            <a:rect l="l" t="t" r="r" b="b"/>
            <a:pathLst>
              <a:path w="4669654" h="554587">
                <a:moveTo>
                  <a:pt x="0" y="0"/>
                </a:moveTo>
                <a:cubicBezTo>
                  <a:pt x="81378" y="204926"/>
                  <a:pt x="162757" y="409852"/>
                  <a:pt x="941033" y="497149"/>
                </a:cubicBezTo>
                <a:cubicBezTo>
                  <a:pt x="1719309" y="584446"/>
                  <a:pt x="3194481" y="554114"/>
                  <a:pt x="4669654" y="523782"/>
                </a:cubicBezTo>
              </a:path>
            </a:pathLst>
          </a:custGeom>
          <a:noFill/>
          <a:ln w="28575">
            <a:solidFill>
              <a:srgbClr val="00B0F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3241457" y="4531405"/>
            <a:ext cx="1005403" cy="338554"/>
          </a:xfrm>
          <a:prstGeom prst="rect">
            <a:avLst/>
          </a:prstGeom>
          <a:noFill/>
        </p:spPr>
        <p:txBody>
          <a:bodyPr wrap="none" rtlCol="0">
            <a:spAutoFit/>
          </a:bodyPr>
          <a:lstStyle/>
          <a:p>
            <a:r>
              <a:rPr lang="zh-CN" altLang="en-US" sz="1600" dirty="0"/>
              <a:t>私有网络</a:t>
            </a:r>
          </a:p>
        </p:txBody>
      </p:sp>
    </p:spTree>
    <p:extLst>
      <p:ext uri="{BB962C8B-B14F-4D97-AF65-F5344CB8AC3E}">
        <p14:creationId xmlns:p14="http://schemas.microsoft.com/office/powerpoint/2010/main" val="29006309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bwMode="gray"/>
        <p:txBody>
          <a:bodyPr/>
          <a:lstStyle/>
          <a:p>
            <a:r>
              <a:rPr lang="en-US" altLang="zh-CN" sz="1600" dirty="0">
                <a:cs typeface="+mn-ea"/>
                <a:sym typeface="Huawei Sans" panose="020C0503030203020204" pitchFamily="34" charset="0"/>
              </a:rPr>
              <a:t>NAPT</a:t>
            </a:r>
            <a:r>
              <a:rPr lang="zh-CN" altLang="en-US" sz="1600" dirty="0">
                <a:cs typeface="+mn-ea"/>
                <a:sym typeface="Huawei Sans" panose="020C0503030203020204" pitchFamily="34" charset="0"/>
              </a:rPr>
              <a:t>（</a:t>
            </a:r>
            <a:r>
              <a:rPr lang="en-US" altLang="zh-CN" sz="1600" dirty="0">
                <a:cs typeface="+mn-ea"/>
                <a:sym typeface="Huawei Sans" panose="020C0503030203020204" pitchFamily="34" charset="0"/>
              </a:rPr>
              <a:t>Network Address Port Translation</a:t>
            </a:r>
            <a:r>
              <a:rPr lang="zh-CN" altLang="en-US" sz="1600" dirty="0">
                <a:cs typeface="+mn-ea"/>
                <a:sym typeface="Huawei Sans" panose="020C0503030203020204" pitchFamily="34" charset="0"/>
              </a:rPr>
              <a:t>，</a:t>
            </a:r>
            <a:r>
              <a:rPr lang="zh-CN" altLang="en-US" sz="1600" dirty="0"/>
              <a:t>网络地址端口转换</a:t>
            </a:r>
            <a:r>
              <a:rPr lang="zh-CN" altLang="en-US" sz="1600" dirty="0">
                <a:cs typeface="+mn-ea"/>
                <a:sym typeface="Huawei Sans" panose="020C0503030203020204" pitchFamily="34" charset="0"/>
              </a:rPr>
              <a:t>）：从地址池中选择地址进行地址转换时不仅转换</a:t>
            </a:r>
            <a:r>
              <a:rPr lang="en-US" altLang="zh-CN" sz="1600" dirty="0">
                <a:cs typeface="+mn-ea"/>
                <a:sym typeface="Huawei Sans" panose="020C0503030203020204" pitchFamily="34" charset="0"/>
              </a:rPr>
              <a:t>IP</a:t>
            </a:r>
            <a:r>
              <a:rPr lang="zh-CN" altLang="en-US" sz="1600" dirty="0">
                <a:cs typeface="+mn-ea"/>
                <a:sym typeface="Huawei Sans" panose="020C0503030203020204" pitchFamily="34" charset="0"/>
              </a:rPr>
              <a:t>地址，同时也会对端口号进行转换（</a:t>
            </a:r>
            <a:r>
              <a:rPr lang="en-US" altLang="zh-CN" sz="1600" dirty="0">
                <a:cs typeface="+mn-ea"/>
                <a:sym typeface="Huawei Sans" panose="020C0503030203020204" pitchFamily="34" charset="0"/>
              </a:rPr>
              <a:t>PAT</a:t>
            </a:r>
            <a:r>
              <a:rPr lang="zh-CN" altLang="en-US" sz="1600" dirty="0">
                <a:cs typeface="+mn-ea"/>
                <a:sym typeface="Huawei Sans" panose="020C0503030203020204" pitchFamily="34" charset="0"/>
              </a:rPr>
              <a:t>），从而实现公有地址与私有地址的</a:t>
            </a:r>
            <a:r>
              <a:rPr lang="en-US" altLang="zh-CN" sz="1600" dirty="0">
                <a:cs typeface="+mn-ea"/>
                <a:sym typeface="Huawei Sans" panose="020C0503030203020204" pitchFamily="34" charset="0"/>
              </a:rPr>
              <a:t>1:n</a:t>
            </a:r>
            <a:r>
              <a:rPr lang="zh-CN" altLang="en-US" sz="1600" dirty="0">
                <a:cs typeface="+mn-ea"/>
                <a:sym typeface="Huawei Sans" panose="020C0503030203020204" pitchFamily="34" charset="0"/>
              </a:rPr>
              <a:t>，可以有效提高公有地址利用率。</a:t>
            </a:r>
            <a:endParaRPr lang="en-US" altLang="zh-CN" sz="1600" dirty="0">
              <a:cs typeface="+mn-ea"/>
              <a:sym typeface="Huawei Sans" panose="020C0503030203020204" pitchFamily="34" charset="0"/>
            </a:endParaRPr>
          </a:p>
          <a:p>
            <a:r>
              <a:rPr lang="en-US" altLang="zh-CN" sz="1600" dirty="0">
                <a:cs typeface="+mn-ea"/>
                <a:sym typeface="Huawei Sans" panose="020C0503030203020204" pitchFamily="34" charset="0"/>
              </a:rPr>
              <a:t>Easy-</a:t>
            </a:r>
            <a:r>
              <a:rPr lang="en-US" altLang="zh-CN" sz="1600" dirty="0" err="1">
                <a:cs typeface="+mn-ea"/>
                <a:sym typeface="Huawei Sans" panose="020C0503030203020204" pitchFamily="34" charset="0"/>
              </a:rPr>
              <a:t>ip</a:t>
            </a:r>
            <a:r>
              <a:rPr lang="zh-CN" altLang="en-US" sz="1600" dirty="0">
                <a:cs typeface="+mn-ea"/>
                <a:sym typeface="Huawei Sans" panose="020C0503030203020204" pitchFamily="34" charset="0"/>
              </a:rPr>
              <a:t>是特殊的</a:t>
            </a:r>
            <a:r>
              <a:rPr lang="en-US" altLang="zh-CN" sz="1600" dirty="0">
                <a:cs typeface="+mn-ea"/>
                <a:sym typeface="Huawei Sans" panose="020C0503030203020204" pitchFamily="34" charset="0"/>
              </a:rPr>
              <a:t>NAPT</a:t>
            </a:r>
            <a:r>
              <a:rPr lang="zh-CN" altLang="en-US" sz="1600" dirty="0">
                <a:cs typeface="+mn-ea"/>
                <a:sym typeface="Huawei Sans" panose="020C0503030203020204" pitchFamily="34" charset="0"/>
              </a:rPr>
              <a:t>，</a:t>
            </a:r>
            <a:r>
              <a:rPr lang="en-US" altLang="zh-CN" sz="1600" dirty="0">
                <a:cs typeface="+mn-ea"/>
                <a:sym typeface="Huawei Sans" panose="020C0503030203020204" pitchFamily="34" charset="0"/>
              </a:rPr>
              <a:t>Easy-</a:t>
            </a:r>
            <a:r>
              <a:rPr lang="en-US" altLang="zh-CN" sz="1600" dirty="0" err="1">
                <a:cs typeface="+mn-ea"/>
                <a:sym typeface="Huawei Sans" panose="020C0503030203020204" pitchFamily="34" charset="0"/>
              </a:rPr>
              <a:t>ip</a:t>
            </a:r>
            <a:r>
              <a:rPr lang="zh-CN" altLang="en-US" sz="1600" dirty="0">
                <a:cs typeface="+mn-ea"/>
                <a:sym typeface="Huawei Sans" panose="020C0503030203020204" pitchFamily="34" charset="0"/>
              </a:rPr>
              <a:t>将所有私网会话都映射到一个出口地址上，可以理解为</a:t>
            </a:r>
            <a:r>
              <a:rPr lang="en-US" altLang="zh-CN" sz="1600" dirty="0">
                <a:cs typeface="+mn-ea"/>
                <a:sym typeface="Huawei Sans" panose="020C0503030203020204" pitchFamily="34" charset="0"/>
              </a:rPr>
              <a:t>NAT</a:t>
            </a:r>
            <a:r>
              <a:rPr lang="zh-CN" altLang="en-US" sz="1600" dirty="0">
                <a:cs typeface="+mn-ea"/>
                <a:sym typeface="Huawei Sans" panose="020C0503030203020204" pitchFamily="34" charset="0"/>
              </a:rPr>
              <a:t>地址池只有一个地址的</a:t>
            </a:r>
            <a:r>
              <a:rPr lang="en-US" altLang="zh-CN" sz="1600" dirty="0">
                <a:cs typeface="+mn-ea"/>
                <a:sym typeface="Huawei Sans" panose="020C0503030203020204" pitchFamily="34" charset="0"/>
              </a:rPr>
              <a:t>NAPT</a:t>
            </a:r>
            <a:r>
              <a:rPr lang="zh-CN" altLang="en-US" sz="1600" dirty="0">
                <a:cs typeface="+mn-ea"/>
                <a:sym typeface="Huawei Sans" panose="020C0503030203020204" pitchFamily="34" charset="0"/>
              </a:rPr>
              <a:t>。</a:t>
            </a:r>
            <a:endParaRPr lang="en-US" altLang="zh-CN" sz="1600" dirty="0">
              <a:cs typeface="+mn-ea"/>
              <a:sym typeface="Huawei Sans" panose="020C0503030203020204" pitchFamily="34" charset="0"/>
            </a:endParaRPr>
          </a:p>
        </p:txBody>
      </p:sp>
      <p:cxnSp>
        <p:nvCxnSpPr>
          <p:cNvPr id="13" name="直接连接符 12"/>
          <p:cNvCxnSpPr>
            <a:endCxn id="9" idx="1"/>
          </p:cNvCxnSpPr>
          <p:nvPr/>
        </p:nvCxnSpPr>
        <p:spPr bwMode="gray">
          <a:xfrm>
            <a:off x="3102394" y="4661822"/>
            <a:ext cx="6797582" cy="4941"/>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nvGrpSpPr>
          <p:cNvPr id="55" name="组合 54"/>
          <p:cNvGrpSpPr/>
          <p:nvPr/>
        </p:nvGrpSpPr>
        <p:grpSpPr bwMode="gray">
          <a:xfrm>
            <a:off x="6126278" y="2193438"/>
            <a:ext cx="3394339" cy="1146849"/>
            <a:chOff x="4580326" y="2148755"/>
            <a:chExt cx="1879312" cy="1135498"/>
          </a:xfrm>
        </p:grpSpPr>
        <p:sp>
          <p:nvSpPr>
            <p:cNvPr id="56" name="TextBox 77"/>
            <p:cNvSpPr txBox="1"/>
            <p:nvPr/>
          </p:nvSpPr>
          <p:spPr bwMode="gray">
            <a:xfrm>
              <a:off x="4580326" y="2148755"/>
              <a:ext cx="1879312" cy="1135498"/>
            </a:xfrm>
            <a:prstGeom prst="rect">
              <a:avLst/>
            </a:prstGeom>
            <a:no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57" name="矩形 56"/>
            <p:cNvSpPr/>
            <p:nvPr/>
          </p:nvSpPr>
          <p:spPr bwMode="gray">
            <a:xfrm>
              <a:off x="4592133" y="2165234"/>
              <a:ext cx="1822935" cy="274257"/>
            </a:xfrm>
            <a:prstGeom prst="rect">
              <a:avLst/>
            </a:prstGeom>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0" name="矩形 39"/>
          <p:cNvSpPr/>
          <p:nvPr/>
        </p:nvSpPr>
        <p:spPr bwMode="gray">
          <a:xfrm>
            <a:off x="2680419" y="3252047"/>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sp>
        <p:nvSpPr>
          <p:cNvPr id="2" name="标题 1"/>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rPr>
              <a:t>NAPT</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原理回顾</a:t>
            </a:r>
          </a:p>
        </p:txBody>
      </p:sp>
      <p:pic>
        <p:nvPicPr>
          <p:cNvPr id="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754549" y="4445451"/>
            <a:ext cx="540989" cy="442626"/>
          </a:xfrm>
          <a:prstGeom prst="rect">
            <a:avLst/>
          </a:prstGeom>
          <a:noFill/>
        </p:spPr>
      </p:pic>
      <p:pic>
        <p:nvPicPr>
          <p:cNvPr id="9" name="图片 8" descr="Web服务器-蓝.png"/>
          <p:cNvPicPr>
            <a:picLocks noChangeAspect="1"/>
          </p:cNvPicPr>
          <p:nvPr/>
        </p:nvPicPr>
        <p:blipFill>
          <a:blip r:embed="rId4" cstate="print"/>
          <a:stretch>
            <a:fillRect/>
          </a:stretch>
        </p:blipFill>
        <p:spPr bwMode="gray">
          <a:xfrm>
            <a:off x="9899976" y="4445940"/>
            <a:ext cx="539789" cy="441645"/>
          </a:xfrm>
          <a:prstGeom prst="rect">
            <a:avLst/>
          </a:prstGeom>
        </p:spPr>
      </p:pic>
      <p:sp>
        <p:nvSpPr>
          <p:cNvPr id="23" name="TextBox 77"/>
          <p:cNvSpPr txBox="1"/>
          <p:nvPr/>
        </p:nvSpPr>
        <p:spPr bwMode="gray">
          <a:xfrm>
            <a:off x="9567212" y="4863696"/>
            <a:ext cx="1205317"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TextBox 77"/>
          <p:cNvSpPr txBox="1"/>
          <p:nvPr/>
        </p:nvSpPr>
        <p:spPr bwMode="gray">
          <a:xfrm>
            <a:off x="6281384" y="4650799"/>
            <a:ext cx="1087741"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矩形 26"/>
          <p:cNvSpPr/>
          <p:nvPr/>
        </p:nvSpPr>
        <p:spPr bwMode="gray">
          <a:xfrm>
            <a:off x="5765333" y="4886235"/>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5" name="图片 34" descr="汇聚交换机.png"/>
          <p:cNvPicPr>
            <a:picLocks noChangeAspect="1"/>
          </p:cNvPicPr>
          <p:nvPr/>
        </p:nvPicPr>
        <p:blipFill>
          <a:blip r:embed="rId5" cstate="print"/>
          <a:stretch>
            <a:fillRect/>
          </a:stretch>
        </p:blipFill>
        <p:spPr bwMode="gray">
          <a:xfrm>
            <a:off x="3941157" y="4462902"/>
            <a:ext cx="539789" cy="441645"/>
          </a:xfrm>
          <a:prstGeom prst="rect">
            <a:avLst/>
          </a:prstGeom>
        </p:spPr>
      </p:pic>
      <p:graphicFrame>
        <p:nvGraphicFramePr>
          <p:cNvPr id="32" name="表格 31"/>
          <p:cNvGraphicFramePr>
            <a:graphicFrameLocks noGrp="1"/>
          </p:cNvGraphicFramePr>
          <p:nvPr>
            <p:extLst>
              <p:ext uri="{D42A27DB-BD31-4B8C-83A1-F6EECF244321}">
                <p14:modId xmlns:p14="http://schemas.microsoft.com/office/powerpoint/2010/main" val="598220960"/>
              </p:ext>
            </p:extLst>
          </p:nvPr>
        </p:nvGraphicFramePr>
        <p:xfrm>
          <a:off x="6187889" y="2463053"/>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200.1.2.3:80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43" name="组合 42"/>
          <p:cNvGrpSpPr/>
          <p:nvPr/>
        </p:nvGrpSpPr>
        <p:grpSpPr bwMode="gray">
          <a:xfrm>
            <a:off x="7674330" y="4400076"/>
            <a:ext cx="1570475" cy="504472"/>
            <a:chOff x="7175983" y="2324318"/>
            <a:chExt cx="1571088" cy="504669"/>
          </a:xfrm>
        </p:grpSpPr>
        <p:sp>
          <p:nvSpPr>
            <p:cNvPr id="44" name="Freeform 159"/>
            <p:cNvSpPr/>
            <p:nvPr/>
          </p:nvSpPr>
          <p:spPr bwMode="gray">
            <a:xfrm flipH="1">
              <a:off x="7440181" y="2324318"/>
              <a:ext cx="1048594" cy="5046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TextBox 77"/>
            <p:cNvSpPr txBox="1"/>
            <p:nvPr/>
          </p:nvSpPr>
          <p:spPr bwMode="gray">
            <a:xfrm>
              <a:off x="7175983" y="2450309"/>
              <a:ext cx="1571088" cy="285686"/>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51" name="TextBox 77"/>
          <p:cNvSpPr txBox="1"/>
          <p:nvPr/>
        </p:nvSpPr>
        <p:spPr bwMode="gray">
          <a:xfrm>
            <a:off x="4940883" y="2520685"/>
            <a:ext cx="1115446" cy="661446"/>
          </a:xfrm>
          <a:prstGeom prst="rect">
            <a:avLst/>
          </a:prstGeom>
          <a:no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地址池</a:t>
            </a:r>
            <a:endParaRPr lang="en-US" altLang="zh-CN" sz="1200" dirty="0">
              <a:solidFill>
                <a:prstClr val="black"/>
              </a:solidFill>
              <a:sym typeface="Huawei Sans" panose="020C0503030203020204" pitchFamily="34" charset="0"/>
            </a:endParaRPr>
          </a:p>
          <a:p>
            <a:pPr fontAlgn="ctr"/>
            <a:r>
              <a:rPr lang="en-US" altLang="zh-CN" sz="1200" dirty="0">
                <a:solidFill>
                  <a:srgbClr val="C7000B"/>
                </a:solidFill>
              </a:rPr>
              <a:t>122.1.2.2</a:t>
            </a:r>
            <a:endParaRPr lang="zh-CN" altLang="zh-CN" sz="1200" dirty="0">
              <a:solidFill>
                <a:srgbClr val="C7000B"/>
              </a:solidFill>
            </a:endParaRPr>
          </a:p>
          <a:p>
            <a:pPr fontAlgn="ctr"/>
            <a:r>
              <a:rPr lang="en-US" altLang="zh-CN" sz="1200" dirty="0"/>
              <a:t>122.1.2.3</a:t>
            </a:r>
            <a:endParaRPr lang="zh-CN" altLang="zh-CN" sz="1200" dirty="0"/>
          </a:p>
        </p:txBody>
      </p:sp>
      <p:grpSp>
        <p:nvGrpSpPr>
          <p:cNvPr id="3" name="Group 2"/>
          <p:cNvGrpSpPr/>
          <p:nvPr/>
        </p:nvGrpSpPr>
        <p:grpSpPr bwMode="gray">
          <a:xfrm>
            <a:off x="2968660" y="3736176"/>
            <a:ext cx="3020634" cy="482461"/>
            <a:chOff x="3250482" y="3593963"/>
            <a:chExt cx="3020634" cy="482461"/>
          </a:xfrm>
        </p:grpSpPr>
        <p:sp>
          <p:nvSpPr>
            <p:cNvPr id="37"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192.168.1.1</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38"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1"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10321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80</a:t>
              </a:r>
            </a:p>
          </p:txBody>
        </p:sp>
      </p:grpSp>
      <p:cxnSp>
        <p:nvCxnSpPr>
          <p:cNvPr id="6" name="Elbow Connector 5"/>
          <p:cNvCxnSpPr/>
          <p:nvPr/>
        </p:nvCxnSpPr>
        <p:spPr bwMode="gray">
          <a:xfrm rot="5400000" flipH="1" flipV="1">
            <a:off x="5833001" y="2160011"/>
            <a:ext cx="641" cy="3057335"/>
          </a:xfrm>
          <a:prstGeom prst="bentConnector3">
            <a:avLst>
              <a:gd name="adj1" fmla="val 35763027"/>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bwMode="gray">
          <a:xfrm flipH="1">
            <a:off x="3152899" y="4318887"/>
            <a:ext cx="6768752" cy="0"/>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矩形 26"/>
          <p:cNvSpPr/>
          <p:nvPr/>
        </p:nvSpPr>
        <p:spPr bwMode="gray">
          <a:xfrm>
            <a:off x="5108786" y="3330896"/>
            <a:ext cx="1510452" cy="276999"/>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源端口转换</a:t>
            </a:r>
          </a:p>
        </p:txBody>
      </p:sp>
      <p:grpSp>
        <p:nvGrpSpPr>
          <p:cNvPr id="64" name="Group 63"/>
          <p:cNvGrpSpPr/>
          <p:nvPr/>
        </p:nvGrpSpPr>
        <p:grpSpPr bwMode="gray">
          <a:xfrm>
            <a:off x="6209502" y="3736219"/>
            <a:ext cx="3020634" cy="482461"/>
            <a:chOff x="3250482" y="3593963"/>
            <a:chExt cx="3020634" cy="482461"/>
          </a:xfrm>
        </p:grpSpPr>
        <p:sp>
          <p:nvSpPr>
            <p:cNvPr id="65"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66"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67"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1025</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80</a:t>
              </a:r>
            </a:p>
          </p:txBody>
        </p:sp>
      </p:grpSp>
      <p:grpSp>
        <p:nvGrpSpPr>
          <p:cNvPr id="79" name="Group 78"/>
          <p:cNvGrpSpPr/>
          <p:nvPr/>
        </p:nvGrpSpPr>
        <p:grpSpPr bwMode="gray">
          <a:xfrm>
            <a:off x="2821862" y="5121477"/>
            <a:ext cx="3167432" cy="482418"/>
            <a:chOff x="3103684" y="3594006"/>
            <a:chExt cx="3167432" cy="482418"/>
          </a:xfrm>
        </p:grpSpPr>
        <p:sp>
          <p:nvSpPr>
            <p:cNvPr id="80" name="TextBox 120">
              <a:extLst>
                <a:ext uri="{FF2B5EF4-FFF2-40B4-BE49-F238E27FC236}">
                  <a16:creationId xmlns:a16="http://schemas.microsoft.com/office/drawing/2014/main" id="{31930744-3D36-4F81-8426-6F129C1A6804}"/>
                </a:ext>
              </a:extLst>
            </p:cNvPr>
            <p:cNvSpPr txBox="1"/>
            <p:nvPr/>
          </p:nvSpPr>
          <p:spPr bwMode="gray">
            <a:xfrm>
              <a:off x="3103684" y="3594006"/>
              <a:ext cx="1405598" cy="479524"/>
            </a:xfrm>
            <a:prstGeom prst="roundRect">
              <a:avLst>
                <a:gd name="adj" fmla="val 6721"/>
              </a:avLst>
            </a:prstGeom>
            <a:solidFill>
              <a:srgbClr val="56C4D2"/>
            </a:solidFill>
            <a:ln w="12700">
              <a:solidFill>
                <a:srgbClr val="56C4D2"/>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200.1.2.3</a:t>
              </a:r>
            </a:p>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192.168.1.1</a:t>
              </a:r>
            </a:p>
          </p:txBody>
        </p:sp>
        <p:sp>
          <p:nvSpPr>
            <p:cNvPr id="81"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82" name="TextBox 120">
              <a:extLst>
                <a:ext uri="{FF2B5EF4-FFF2-40B4-BE49-F238E27FC236}">
                  <a16:creationId xmlns:a16="http://schemas.microsoft.com/office/drawing/2014/main" id="{31930744-3D36-4F81-8426-6F129C1A6804}"/>
                </a:ext>
              </a:extLst>
            </p:cNvPr>
            <p:cNvSpPr txBox="1"/>
            <p:nvPr/>
          </p:nvSpPr>
          <p:spPr bwMode="gray">
            <a:xfrm>
              <a:off x="4525834" y="3596900"/>
              <a:ext cx="1172391"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80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10321</a:t>
              </a:r>
            </a:p>
          </p:txBody>
        </p:sp>
      </p:grpSp>
      <p:cxnSp>
        <p:nvCxnSpPr>
          <p:cNvPr id="83" name="Elbow Connector 82"/>
          <p:cNvCxnSpPr/>
          <p:nvPr/>
        </p:nvCxnSpPr>
        <p:spPr bwMode="gray">
          <a:xfrm rot="16200000" flipH="1">
            <a:off x="5830416" y="4202307"/>
            <a:ext cx="641" cy="3057335"/>
          </a:xfrm>
          <a:prstGeom prst="bentConnector3">
            <a:avLst>
              <a:gd name="adj1" fmla="val 35763027"/>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bwMode="gray">
          <a:xfrm flipH="1">
            <a:off x="3152899" y="5704145"/>
            <a:ext cx="6768752" cy="0"/>
          </a:xfrm>
          <a:prstGeom prst="straightConnector1">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86" name="Group 85"/>
          <p:cNvGrpSpPr/>
          <p:nvPr/>
        </p:nvGrpSpPr>
        <p:grpSpPr bwMode="gray">
          <a:xfrm>
            <a:off x="6209502" y="5121477"/>
            <a:ext cx="3020634" cy="482461"/>
            <a:chOff x="3250482" y="3593963"/>
            <a:chExt cx="3020634" cy="482461"/>
          </a:xfrm>
        </p:grpSpPr>
        <p:sp>
          <p:nvSpPr>
            <p:cNvPr id="87"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200.1.2.3</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p:txBody>
        </p:sp>
        <p:sp>
          <p:nvSpPr>
            <p:cNvPr id="88"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89"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80</a:t>
              </a:r>
            </a:p>
            <a:p>
              <a:pPr fontAlgn="auto">
                <a:spcBef>
                  <a:spcPts val="0"/>
                </a:spcBef>
                <a:spcAft>
                  <a:spcPts val="0"/>
                </a:spcAft>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1025</a:t>
              </a:r>
            </a:p>
          </p:txBody>
        </p:sp>
      </p:grpSp>
      <p:pic>
        <p:nvPicPr>
          <p:cNvPr id="92" name="图片 6" descr="PC.png"/>
          <p:cNvPicPr>
            <a:picLocks noChangeAspect="1"/>
          </p:cNvPicPr>
          <p:nvPr/>
        </p:nvPicPr>
        <p:blipFill>
          <a:blip r:embed="rId6" cstate="print"/>
          <a:stretch>
            <a:fillRect/>
          </a:stretch>
        </p:blipFill>
        <p:spPr bwMode="gray">
          <a:xfrm>
            <a:off x="2328124" y="4366474"/>
            <a:ext cx="538853" cy="413838"/>
          </a:xfrm>
          <a:prstGeom prst="rect">
            <a:avLst/>
          </a:prstGeom>
        </p:spPr>
      </p:pic>
      <p:sp>
        <p:nvSpPr>
          <p:cNvPr id="93" name="TextBox 77"/>
          <p:cNvSpPr txBox="1"/>
          <p:nvPr/>
        </p:nvSpPr>
        <p:spPr bwMode="gray">
          <a:xfrm>
            <a:off x="1844675" y="4765236"/>
            <a:ext cx="1493190"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94" name="图片 6" descr="PC.png"/>
          <p:cNvPicPr>
            <a:picLocks noChangeAspect="1"/>
          </p:cNvPicPr>
          <p:nvPr/>
        </p:nvPicPr>
        <p:blipFill>
          <a:blip r:embed="rId6" cstate="print"/>
          <a:stretch>
            <a:fillRect/>
          </a:stretch>
        </p:blipFill>
        <p:spPr bwMode="gray">
          <a:xfrm>
            <a:off x="1255020" y="4386920"/>
            <a:ext cx="538853" cy="413838"/>
          </a:xfrm>
          <a:prstGeom prst="rect">
            <a:avLst/>
          </a:prstGeom>
        </p:spPr>
      </p:pic>
      <p:sp>
        <p:nvSpPr>
          <p:cNvPr id="95" name="TextBox 77"/>
          <p:cNvSpPr txBox="1"/>
          <p:nvPr/>
        </p:nvSpPr>
        <p:spPr bwMode="gray">
          <a:xfrm>
            <a:off x="765316" y="4768666"/>
            <a:ext cx="1493190"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192.168.1.2/24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0" name="Rectangle 29"/>
          <p:cNvSpPr/>
          <p:nvPr/>
        </p:nvSpPr>
        <p:spPr bwMode="gray">
          <a:xfrm>
            <a:off x="817505" y="3248767"/>
            <a:ext cx="5256584" cy="286263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Rectangle 98"/>
          <p:cNvSpPr/>
          <p:nvPr/>
        </p:nvSpPr>
        <p:spPr bwMode="gray">
          <a:xfrm>
            <a:off x="976328" y="4246974"/>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26"/>
          <p:cNvSpPr/>
          <p:nvPr/>
        </p:nvSpPr>
        <p:spPr bwMode="gray">
          <a:xfrm>
            <a:off x="4973873" y="5723903"/>
            <a:ext cx="1892671" cy="461665"/>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目的地址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目的端口转换（回程报文）</a:t>
            </a:r>
          </a:p>
        </p:txBody>
      </p:sp>
    </p:spTree>
    <p:extLst>
      <p:ext uri="{BB962C8B-B14F-4D97-AF65-F5344CB8AC3E}">
        <p14:creationId xmlns:p14="http://schemas.microsoft.com/office/powerpoint/2010/main" val="8265885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77"/>
          <p:cNvSpPr txBox="1"/>
          <p:nvPr/>
        </p:nvSpPr>
        <p:spPr bwMode="gray">
          <a:xfrm>
            <a:off x="7377724" y="2583857"/>
            <a:ext cx="2887637" cy="918758"/>
          </a:xfrm>
          <a:prstGeom prst="rect">
            <a:avLst/>
          </a:prstGeom>
          <a:no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映射表</a:t>
            </a:r>
            <a:endParaRPr lang="en-US" altLang="zh-CN" sz="1200" dirty="0">
              <a:solidFill>
                <a:prstClr val="black"/>
              </a:solidFill>
              <a:sym typeface="Huawei Sans" panose="020C0503030203020204" pitchFamily="34" charset="0"/>
            </a:endParaRPr>
          </a:p>
          <a:p>
            <a:pPr marL="35986" algn="l">
              <a:spcBef>
                <a:spcPts val="200"/>
              </a:spcBef>
            </a:pPr>
            <a:endParaRPr lang="en-US" altLang="zh-CN" sz="1200" dirty="0">
              <a:sym typeface="Huawei Sans" panose="020C0503030203020204" pitchFamily="34" charset="0"/>
            </a:endParaRPr>
          </a:p>
        </p:txBody>
      </p:sp>
      <p:sp>
        <p:nvSpPr>
          <p:cNvPr id="26" name="矩形 25"/>
          <p:cNvSpPr/>
          <p:nvPr/>
        </p:nvSpPr>
        <p:spPr bwMode="gray">
          <a:xfrm>
            <a:off x="2014208" y="3115578"/>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sp>
        <p:nvSpPr>
          <p:cNvPr id="3" name="标题 2"/>
          <p:cNvSpPr>
            <a:spLocks noGrp="1"/>
          </p:cNvSpPr>
          <p:nvPr>
            <p:ph type="title"/>
          </p:nvPr>
        </p:nvSpPr>
        <p:spPr bwMode="gray"/>
        <p:txBody>
          <a:bodyPr/>
          <a:lstStyle/>
          <a:p>
            <a:r>
              <a:rPr lang="en-US" altLang="zh-CN" dirty="0">
                <a:latin typeface="Huawei Sans" panose="020C0503030203020204" pitchFamily="34" charset="0"/>
                <a:ea typeface="方正兰亭黑简体" panose="02000000000000000000" pitchFamily="2" charset="-122"/>
                <a:cs typeface="+mn-ea"/>
                <a:sym typeface="Huawei Sans" panose="020C0503030203020204" pitchFamily="34" charset="0"/>
              </a:rPr>
              <a:t>NAT Server</a:t>
            </a:r>
            <a:r>
              <a:rPr lang="zh-CN" altLang="en-US" dirty="0">
                <a:latin typeface="Huawei Sans" panose="020C0503030203020204" pitchFamily="34" charset="0"/>
                <a:ea typeface="方正兰亭黑简体" panose="02000000000000000000" pitchFamily="2" charset="-122"/>
                <a:cs typeface="+mn-ea"/>
                <a:sym typeface="Huawei Sans" panose="020C0503030203020204" pitchFamily="34" charset="0"/>
              </a:rPr>
              <a:t>原理回顾</a:t>
            </a:r>
          </a:p>
        </p:txBody>
      </p:sp>
      <p:sp>
        <p:nvSpPr>
          <p:cNvPr id="2" name="Text Placeholder 1"/>
          <p:cNvSpPr>
            <a:spLocks noGrp="1"/>
          </p:cNvSpPr>
          <p:nvPr>
            <p:ph type="body" sz="quarter" idx="10"/>
          </p:nvPr>
        </p:nvSpPr>
        <p:spPr bwMode="gray"/>
        <p:txBody>
          <a:bodyPr/>
          <a:lstStyle/>
          <a:p>
            <a:r>
              <a:rPr lang="en-US" altLang="zh-CN" sz="1800" kern="0" dirty="0">
                <a:cs typeface="+mn-ea"/>
                <a:sym typeface="Huawei Sans" panose="020C0503030203020204" pitchFamily="34" charset="0"/>
              </a:rPr>
              <a:t>NAT Server</a:t>
            </a:r>
            <a:r>
              <a:rPr lang="zh-CN" altLang="en-US" sz="1800" kern="0" dirty="0">
                <a:cs typeface="+mn-ea"/>
                <a:sym typeface="Huawei Sans" panose="020C0503030203020204" pitchFamily="34" charset="0"/>
              </a:rPr>
              <a:t>：指定</a:t>
            </a:r>
            <a:r>
              <a:rPr lang="en-US" altLang="zh-CN" sz="1800" kern="0" dirty="0">
                <a:cs typeface="+mn-ea"/>
                <a:sym typeface="Huawei Sans" panose="020C0503030203020204" pitchFamily="34" charset="0"/>
              </a:rPr>
              <a:t>[</a:t>
            </a:r>
            <a:r>
              <a:rPr lang="zh-CN" altLang="en-US" sz="1800" b="1" kern="0" dirty="0">
                <a:cs typeface="+mn-ea"/>
                <a:sym typeface="Huawei Sans" panose="020C0503030203020204" pitchFamily="34" charset="0"/>
              </a:rPr>
              <a:t>公有地址：端口</a:t>
            </a:r>
            <a:r>
              <a:rPr lang="en-US" altLang="zh-CN" sz="1800" kern="0" dirty="0">
                <a:cs typeface="+mn-ea"/>
                <a:sym typeface="Huawei Sans" panose="020C0503030203020204" pitchFamily="34" charset="0"/>
              </a:rPr>
              <a:t>]</a:t>
            </a:r>
            <a:r>
              <a:rPr lang="zh-CN" altLang="en-US" sz="1800" kern="0" dirty="0">
                <a:cs typeface="+mn-ea"/>
                <a:sym typeface="Huawei Sans" panose="020C0503030203020204" pitchFamily="34" charset="0"/>
              </a:rPr>
              <a:t>与</a:t>
            </a:r>
            <a:r>
              <a:rPr lang="en-US" altLang="zh-CN" sz="1800" kern="0" dirty="0">
                <a:cs typeface="+mn-ea"/>
                <a:sym typeface="Huawei Sans" panose="020C0503030203020204" pitchFamily="34" charset="0"/>
              </a:rPr>
              <a:t>[</a:t>
            </a:r>
            <a:r>
              <a:rPr lang="zh-CN" altLang="en-US" sz="1800" b="1" kern="0" dirty="0">
                <a:cs typeface="+mn-ea"/>
                <a:sym typeface="Huawei Sans" panose="020C0503030203020204" pitchFamily="34" charset="0"/>
              </a:rPr>
              <a:t>私有地址：端口</a:t>
            </a:r>
            <a:r>
              <a:rPr lang="en-US" altLang="zh-CN" sz="1800" kern="0" dirty="0">
                <a:cs typeface="+mn-ea"/>
                <a:sym typeface="Huawei Sans" panose="020C0503030203020204" pitchFamily="34" charset="0"/>
              </a:rPr>
              <a:t>]</a:t>
            </a:r>
            <a:r>
              <a:rPr lang="zh-CN" altLang="en-US" sz="1800" kern="0" dirty="0">
                <a:cs typeface="+mn-ea"/>
                <a:sym typeface="Huawei Sans" panose="020C0503030203020204" pitchFamily="34" charset="0"/>
              </a:rPr>
              <a:t>的一对一映射关系，将内部服务器映射到公网，私有网络中的服务器需要对公网提供服务时使用。</a:t>
            </a:r>
            <a:endParaRPr lang="en-US" altLang="zh-CN" sz="1800" kern="0" dirty="0">
              <a:cs typeface="+mn-ea"/>
              <a:sym typeface="Huawei Sans" panose="020C0503030203020204" pitchFamily="34" charset="0"/>
            </a:endParaRPr>
          </a:p>
          <a:p>
            <a:r>
              <a:rPr lang="zh-CN" altLang="en-US" sz="1800" kern="0" dirty="0">
                <a:cs typeface="+mn-ea"/>
                <a:sym typeface="Huawei Sans" panose="020C0503030203020204" pitchFamily="34" charset="0"/>
              </a:rPr>
              <a:t>外网主机主动访问</a:t>
            </a:r>
            <a:r>
              <a:rPr lang="en-US" altLang="zh-CN" sz="1800" kern="0" dirty="0">
                <a:cs typeface="+mn-ea"/>
                <a:sym typeface="Huawei Sans" panose="020C0503030203020204" pitchFamily="34" charset="0"/>
              </a:rPr>
              <a:t>[</a:t>
            </a:r>
            <a:r>
              <a:rPr lang="zh-CN" altLang="en-US" sz="1800" b="1" kern="0" dirty="0">
                <a:cs typeface="+mn-ea"/>
                <a:sym typeface="Huawei Sans" panose="020C0503030203020204" pitchFamily="34" charset="0"/>
              </a:rPr>
              <a:t>公有地址：端口</a:t>
            </a:r>
            <a:r>
              <a:rPr lang="en-US" altLang="zh-CN" sz="1800" kern="0" dirty="0">
                <a:cs typeface="+mn-ea"/>
                <a:sym typeface="Huawei Sans" panose="020C0503030203020204" pitchFamily="34" charset="0"/>
              </a:rPr>
              <a:t>]</a:t>
            </a:r>
            <a:r>
              <a:rPr lang="zh-CN" altLang="en-US" sz="1800" kern="0" dirty="0">
                <a:cs typeface="+mn-ea"/>
                <a:sym typeface="Huawei Sans" panose="020C0503030203020204" pitchFamily="34" charset="0"/>
              </a:rPr>
              <a:t>实现对内部服务器的访问。</a:t>
            </a:r>
            <a:endParaRPr lang="en-US" altLang="zh-CN" sz="1800" kern="0" dirty="0">
              <a:cs typeface="+mn-ea"/>
              <a:sym typeface="Huawei Sans" panose="020C0503030203020204" pitchFamily="34" charset="0"/>
            </a:endParaRPr>
          </a:p>
          <a:p>
            <a:endParaRPr lang="zh-CN" altLang="en-US" dirty="0"/>
          </a:p>
        </p:txBody>
      </p:sp>
      <p:graphicFrame>
        <p:nvGraphicFramePr>
          <p:cNvPr id="28" name="表格 27"/>
          <p:cNvGraphicFramePr>
            <a:graphicFrameLocks noGrp="1"/>
          </p:cNvGraphicFramePr>
          <p:nvPr>
            <p:extLst>
              <p:ext uri="{D42A27DB-BD31-4B8C-83A1-F6EECF244321}">
                <p14:modId xmlns:p14="http://schemas.microsoft.com/office/powerpoint/2010/main" val="2981906223"/>
              </p:ext>
            </p:extLst>
          </p:nvPr>
        </p:nvGraphicFramePr>
        <p:xfrm>
          <a:off x="7497489" y="2840413"/>
          <a:ext cx="2619172" cy="548568"/>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192.168.1.10:80</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122.1.2.1:8080</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5" name="直接连接符 4"/>
          <p:cNvCxnSpPr>
            <a:stCxn id="9" idx="3"/>
          </p:cNvCxnSpPr>
          <p:nvPr/>
        </p:nvCxnSpPr>
        <p:spPr bwMode="gray">
          <a:xfrm>
            <a:off x="2840029" y="4425260"/>
            <a:ext cx="7466582"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685306" y="4170198"/>
            <a:ext cx="623488" cy="510126"/>
          </a:xfrm>
          <a:prstGeom prst="rect">
            <a:avLst/>
          </a:prstGeom>
          <a:noFill/>
        </p:spPr>
      </p:pic>
      <p:grpSp>
        <p:nvGrpSpPr>
          <p:cNvPr id="30" name="组合 29"/>
          <p:cNvGrpSpPr/>
          <p:nvPr/>
        </p:nvGrpSpPr>
        <p:grpSpPr bwMode="gray">
          <a:xfrm>
            <a:off x="9996976" y="4181092"/>
            <a:ext cx="1253620" cy="745147"/>
            <a:chOff x="780661" y="2516840"/>
            <a:chExt cx="1088166" cy="646801"/>
          </a:xfrm>
        </p:grpSpPr>
        <p:pic>
          <p:nvPicPr>
            <p:cNvPr id="8" name="图片 7" descr="PC.png"/>
            <p:cNvPicPr>
              <a:picLocks noChangeAspect="1"/>
            </p:cNvPicPr>
            <p:nvPr/>
          </p:nvPicPr>
          <p:blipFill>
            <a:blip r:embed="rId4" cstate="print"/>
            <a:stretch>
              <a:fillRect/>
            </a:stretch>
          </p:blipFill>
          <p:spPr bwMode="gray">
            <a:xfrm>
              <a:off x="1013624" y="2516840"/>
              <a:ext cx="539063" cy="414000"/>
            </a:xfrm>
            <a:prstGeom prst="rect">
              <a:avLst/>
            </a:prstGeom>
          </p:spPr>
        </p:pic>
        <p:sp>
          <p:nvSpPr>
            <p:cNvPr id="11" name="TextBox 77"/>
            <p:cNvSpPr txBox="1"/>
            <p:nvPr/>
          </p:nvSpPr>
          <p:spPr bwMode="gray">
            <a:xfrm>
              <a:off x="780661" y="2915758"/>
              <a:ext cx="1088166" cy="247883"/>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9" name="图片 8" descr="Web服务器-蓝.png"/>
          <p:cNvPicPr>
            <a:picLocks noChangeAspect="1"/>
          </p:cNvPicPr>
          <p:nvPr/>
        </p:nvPicPr>
        <p:blipFill>
          <a:blip r:embed="rId5" cstate="print"/>
          <a:stretch>
            <a:fillRect/>
          </a:stretch>
        </p:blipFill>
        <p:spPr bwMode="gray">
          <a:xfrm>
            <a:off x="2217922" y="4170763"/>
            <a:ext cx="622106" cy="508996"/>
          </a:xfrm>
          <a:prstGeom prst="rect">
            <a:avLst/>
          </a:prstGeom>
        </p:spPr>
      </p:pic>
      <p:sp>
        <p:nvSpPr>
          <p:cNvPr id="12" name="TextBox 77"/>
          <p:cNvSpPr txBox="1"/>
          <p:nvPr/>
        </p:nvSpPr>
        <p:spPr bwMode="gray">
          <a:xfrm>
            <a:off x="1909235" y="4673078"/>
            <a:ext cx="1253620"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192.168.1.10</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5" name="TextBox 77"/>
          <p:cNvSpPr txBox="1"/>
          <p:nvPr/>
        </p:nvSpPr>
        <p:spPr bwMode="gray">
          <a:xfrm>
            <a:off x="6268032" y="4413585"/>
            <a:ext cx="900805"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6" name="矩形 15"/>
          <p:cNvSpPr/>
          <p:nvPr/>
        </p:nvSpPr>
        <p:spPr bwMode="gray">
          <a:xfrm>
            <a:off x="5736260" y="4678200"/>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18" descr="汇聚交换机.png"/>
          <p:cNvPicPr>
            <a:picLocks noChangeAspect="1"/>
          </p:cNvPicPr>
          <p:nvPr/>
        </p:nvPicPr>
        <p:blipFill>
          <a:blip r:embed="rId6" cstate="print"/>
          <a:stretch>
            <a:fillRect/>
          </a:stretch>
        </p:blipFill>
        <p:spPr bwMode="gray">
          <a:xfrm>
            <a:off x="3628138" y="4165068"/>
            <a:ext cx="622106" cy="508996"/>
          </a:xfrm>
          <a:prstGeom prst="rect">
            <a:avLst/>
          </a:prstGeom>
        </p:spPr>
      </p:pic>
      <p:grpSp>
        <p:nvGrpSpPr>
          <p:cNvPr id="22" name="组合 21"/>
          <p:cNvGrpSpPr/>
          <p:nvPr/>
        </p:nvGrpSpPr>
        <p:grpSpPr bwMode="gray">
          <a:xfrm>
            <a:off x="7861883" y="4230235"/>
            <a:ext cx="1253620" cy="452643"/>
            <a:chOff x="6687693" y="2768077"/>
            <a:chExt cx="1088166" cy="392903"/>
          </a:xfrm>
        </p:grpSpPr>
        <p:sp>
          <p:nvSpPr>
            <p:cNvPr id="23" name="Freeform 159"/>
            <p:cNvSpPr/>
            <p:nvPr/>
          </p:nvSpPr>
          <p:spPr bwMode="gray">
            <a:xfrm flipH="1">
              <a:off x="6870682" y="2768077"/>
              <a:ext cx="751638" cy="39290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77"/>
            <p:cNvSpPr txBox="1"/>
            <p:nvPr/>
          </p:nvSpPr>
          <p:spPr bwMode="gray">
            <a:xfrm>
              <a:off x="6687693" y="2855341"/>
              <a:ext cx="1088166" cy="24788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sp>
        <p:nvSpPr>
          <p:cNvPr id="43" name="Rectangle 42"/>
          <p:cNvSpPr/>
          <p:nvPr/>
        </p:nvSpPr>
        <p:spPr bwMode="gray">
          <a:xfrm>
            <a:off x="1586454" y="3069999"/>
            <a:ext cx="4440454" cy="2862633"/>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Group 47"/>
          <p:cNvGrpSpPr/>
          <p:nvPr/>
        </p:nvGrpSpPr>
        <p:grpSpPr bwMode="gray">
          <a:xfrm>
            <a:off x="2836256" y="3549453"/>
            <a:ext cx="3157600" cy="482418"/>
            <a:chOff x="3113516" y="3594006"/>
            <a:chExt cx="3157600" cy="482418"/>
          </a:xfrm>
        </p:grpSpPr>
        <p:sp>
          <p:nvSpPr>
            <p:cNvPr id="49" name="TextBox 120">
              <a:extLst>
                <a:ext uri="{FF2B5EF4-FFF2-40B4-BE49-F238E27FC236}">
                  <a16:creationId xmlns:a16="http://schemas.microsoft.com/office/drawing/2014/main" id="{31930744-3D36-4F81-8426-6F129C1A6804}"/>
                </a:ext>
              </a:extLst>
            </p:cNvPr>
            <p:cNvSpPr txBox="1"/>
            <p:nvPr/>
          </p:nvSpPr>
          <p:spPr bwMode="gray">
            <a:xfrm>
              <a:off x="3113516" y="3594006"/>
              <a:ext cx="1405598" cy="479524"/>
            </a:xfrm>
            <a:prstGeom prst="roundRect">
              <a:avLst>
                <a:gd name="adj" fmla="val 6721"/>
              </a:avLst>
            </a:prstGeom>
            <a:solidFill>
              <a:srgbClr val="56C4D2"/>
            </a:solidFill>
            <a:ln w="12700">
              <a:solidFill>
                <a:srgbClr val="56C4D2"/>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200.1.2.3</a:t>
              </a:r>
            </a:p>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192.168.1.10</a:t>
              </a:r>
            </a:p>
          </p:txBody>
        </p:sp>
        <p:sp>
          <p:nvSpPr>
            <p:cNvPr id="50"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51" name="TextBox 120">
              <a:extLst>
                <a:ext uri="{FF2B5EF4-FFF2-40B4-BE49-F238E27FC236}">
                  <a16:creationId xmlns:a16="http://schemas.microsoft.com/office/drawing/2014/main" id="{31930744-3D36-4F81-8426-6F129C1A6804}"/>
                </a:ext>
              </a:extLst>
            </p:cNvPr>
            <p:cNvSpPr txBox="1"/>
            <p:nvPr/>
          </p:nvSpPr>
          <p:spPr bwMode="gray">
            <a:xfrm>
              <a:off x="4525834" y="3596900"/>
              <a:ext cx="1172391"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1025</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80</a:t>
              </a:r>
            </a:p>
          </p:txBody>
        </p:sp>
      </p:grpSp>
      <p:cxnSp>
        <p:nvCxnSpPr>
          <p:cNvPr id="52" name="Elbow Connector 51"/>
          <p:cNvCxnSpPr/>
          <p:nvPr/>
        </p:nvCxnSpPr>
        <p:spPr bwMode="gray">
          <a:xfrm rot="5400000" flipH="1" flipV="1">
            <a:off x="5750096" y="1990209"/>
            <a:ext cx="641" cy="3057335"/>
          </a:xfrm>
          <a:prstGeom prst="bentConnector3">
            <a:avLst>
              <a:gd name="adj1" fmla="val 35763027"/>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bwMode="gray">
          <a:xfrm flipH="1">
            <a:off x="3157461" y="4132121"/>
            <a:ext cx="6768752" cy="0"/>
          </a:xfrm>
          <a:prstGeom prst="straightConnector1">
            <a:avLst/>
          </a:prstGeom>
          <a:ln w="28575">
            <a:solidFill>
              <a:srgbClr val="EC706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54" name="Group 53"/>
          <p:cNvGrpSpPr/>
          <p:nvPr/>
        </p:nvGrpSpPr>
        <p:grpSpPr bwMode="gray">
          <a:xfrm>
            <a:off x="6214064" y="3549453"/>
            <a:ext cx="3020634" cy="482461"/>
            <a:chOff x="3250482" y="3593963"/>
            <a:chExt cx="3020634" cy="482461"/>
          </a:xfrm>
        </p:grpSpPr>
        <p:sp>
          <p:nvSpPr>
            <p:cNvPr id="55"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200.1.2.3</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122.1.2.1</a:t>
              </a:r>
            </a:p>
          </p:txBody>
        </p:sp>
        <p:sp>
          <p:nvSpPr>
            <p:cNvPr id="56"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57"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1025</a:t>
              </a:r>
            </a:p>
            <a:p>
              <a:pPr fontAlgn="auto">
                <a:spcBef>
                  <a:spcPts val="0"/>
                </a:spcBef>
                <a:spcAft>
                  <a:spcPts val="0"/>
                </a:spcAft>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8080</a:t>
              </a:r>
            </a:p>
          </p:txBody>
        </p:sp>
      </p:grpSp>
      <p:sp>
        <p:nvSpPr>
          <p:cNvPr id="58" name="矩形 26"/>
          <p:cNvSpPr/>
          <p:nvPr/>
        </p:nvSpPr>
        <p:spPr bwMode="gray">
          <a:xfrm>
            <a:off x="4886433" y="3170116"/>
            <a:ext cx="1892671" cy="276999"/>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目的地址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目的端口转换</a:t>
            </a:r>
          </a:p>
        </p:txBody>
      </p:sp>
      <p:grpSp>
        <p:nvGrpSpPr>
          <p:cNvPr id="59" name="Group 58"/>
          <p:cNvGrpSpPr/>
          <p:nvPr/>
        </p:nvGrpSpPr>
        <p:grpSpPr bwMode="gray">
          <a:xfrm>
            <a:off x="2964573" y="5031776"/>
            <a:ext cx="3157000" cy="479524"/>
            <a:chOff x="3114116" y="3595431"/>
            <a:chExt cx="3157000" cy="479524"/>
          </a:xfrm>
        </p:grpSpPr>
        <p:sp>
          <p:nvSpPr>
            <p:cNvPr id="60" name="TextBox 120">
              <a:extLst>
                <a:ext uri="{FF2B5EF4-FFF2-40B4-BE49-F238E27FC236}">
                  <a16:creationId xmlns:a16="http://schemas.microsoft.com/office/drawing/2014/main" id="{31930744-3D36-4F81-8426-6F129C1A6804}"/>
                </a:ext>
              </a:extLst>
            </p:cNvPr>
            <p:cNvSpPr txBox="1"/>
            <p:nvPr/>
          </p:nvSpPr>
          <p:spPr bwMode="gray">
            <a:xfrm>
              <a:off x="3114116" y="3595431"/>
              <a:ext cx="1440281"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192.168.1.10</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61"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62" name="TextBox 120">
              <a:extLst>
                <a:ext uri="{FF2B5EF4-FFF2-40B4-BE49-F238E27FC236}">
                  <a16:creationId xmlns:a16="http://schemas.microsoft.com/office/drawing/2014/main" id="{31930744-3D36-4F81-8426-6F129C1A6804}"/>
                </a:ext>
              </a:extLst>
            </p:cNvPr>
            <p:cNvSpPr txBox="1"/>
            <p:nvPr/>
          </p:nvSpPr>
          <p:spPr bwMode="gray">
            <a:xfrm>
              <a:off x="4557662" y="3595431"/>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1025</a:t>
              </a:r>
            </a:p>
          </p:txBody>
        </p:sp>
      </p:grpSp>
      <p:cxnSp>
        <p:nvCxnSpPr>
          <p:cNvPr id="63" name="Elbow Connector 62"/>
          <p:cNvCxnSpPr/>
          <p:nvPr/>
        </p:nvCxnSpPr>
        <p:spPr bwMode="gray">
          <a:xfrm rot="16200000" flipH="1">
            <a:off x="5995970" y="4038421"/>
            <a:ext cx="641" cy="3057335"/>
          </a:xfrm>
          <a:prstGeom prst="bentConnector3">
            <a:avLst>
              <a:gd name="adj1" fmla="val 35763027"/>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p:cNvCxnSpPr/>
          <p:nvPr/>
        </p:nvCxnSpPr>
        <p:spPr bwMode="gray">
          <a:xfrm flipH="1">
            <a:off x="3197920" y="4926239"/>
            <a:ext cx="6768752" cy="0"/>
          </a:xfrm>
          <a:prstGeom prst="straightConnector1">
            <a:avLst/>
          </a:prstGeom>
          <a:ln w="28575">
            <a:solidFill>
              <a:srgbClr val="EC706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矩形 26"/>
          <p:cNvSpPr/>
          <p:nvPr/>
        </p:nvSpPr>
        <p:spPr bwMode="gray">
          <a:xfrm>
            <a:off x="5309999" y="5592029"/>
            <a:ext cx="1510452" cy="461665"/>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源端口转换</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（回程报文）</a:t>
            </a:r>
          </a:p>
        </p:txBody>
      </p:sp>
      <p:grpSp>
        <p:nvGrpSpPr>
          <p:cNvPr id="66" name="Group 65"/>
          <p:cNvGrpSpPr/>
          <p:nvPr/>
        </p:nvGrpSpPr>
        <p:grpSpPr bwMode="gray">
          <a:xfrm>
            <a:off x="6341781" y="5031819"/>
            <a:ext cx="3020634" cy="479524"/>
            <a:chOff x="3250482" y="3595431"/>
            <a:chExt cx="3020634" cy="479524"/>
          </a:xfrm>
        </p:grpSpPr>
        <p:sp>
          <p:nvSpPr>
            <p:cNvPr id="67" name="TextBox 120">
              <a:extLst>
                <a:ext uri="{FF2B5EF4-FFF2-40B4-BE49-F238E27FC236}">
                  <a16:creationId xmlns:a16="http://schemas.microsoft.com/office/drawing/2014/main" id="{31930744-3D36-4F81-8426-6F129C1A6804}"/>
                </a:ext>
              </a:extLst>
            </p:cNvPr>
            <p:cNvSpPr txBox="1"/>
            <p:nvPr/>
          </p:nvSpPr>
          <p:spPr bwMode="gray">
            <a:xfrm>
              <a:off x="3250482" y="3595431"/>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122.1.2.1</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68"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69" name="TextBox 120">
              <a:extLst>
                <a:ext uri="{FF2B5EF4-FFF2-40B4-BE49-F238E27FC236}">
                  <a16:creationId xmlns:a16="http://schemas.microsoft.com/office/drawing/2014/main" id="{31930744-3D36-4F81-8426-6F129C1A6804}"/>
                </a:ext>
              </a:extLst>
            </p:cNvPr>
            <p:cNvSpPr txBox="1"/>
            <p:nvPr/>
          </p:nvSpPr>
          <p:spPr bwMode="gray">
            <a:xfrm>
              <a:off x="4557662" y="3595431"/>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8080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1025</a:t>
              </a:r>
            </a:p>
          </p:txBody>
        </p:sp>
      </p:grpSp>
    </p:spTree>
    <p:extLst>
      <p:ext uri="{BB962C8B-B14F-4D97-AF65-F5344CB8AC3E}">
        <p14:creationId xmlns:p14="http://schemas.microsoft.com/office/powerpoint/2010/main" val="39716930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NAT</a:t>
            </a:r>
            <a:r>
              <a:rPr lang="zh-CN" altLang="en-US" dirty="0"/>
              <a:t>地址池的路由发布</a:t>
            </a:r>
          </a:p>
        </p:txBody>
      </p:sp>
      <p:sp>
        <p:nvSpPr>
          <p:cNvPr id="3" name="Text Placeholder 2"/>
          <p:cNvSpPr>
            <a:spLocks noGrp="1"/>
          </p:cNvSpPr>
          <p:nvPr>
            <p:ph type="body" sz="quarter" idx="10"/>
          </p:nvPr>
        </p:nvSpPr>
        <p:spPr bwMode="gray"/>
        <p:txBody>
          <a:bodyPr/>
          <a:lstStyle/>
          <a:p>
            <a:r>
              <a:rPr lang="zh-CN" altLang="en-US" sz="1800" dirty="0"/>
              <a:t>某些情况下</a:t>
            </a:r>
            <a:r>
              <a:rPr lang="en-US" altLang="zh-CN" sz="1800" dirty="0"/>
              <a:t>NAT</a:t>
            </a:r>
            <a:r>
              <a:rPr lang="zh-CN" altLang="en-US" sz="1800" dirty="0"/>
              <a:t>设备不一定是出口设备，因此需要将回程的流量引导至</a:t>
            </a:r>
            <a:r>
              <a:rPr lang="en-US" altLang="zh-CN" sz="1800" dirty="0"/>
              <a:t>NAT</a:t>
            </a:r>
            <a:r>
              <a:rPr lang="zh-CN" altLang="en-US" sz="1800" dirty="0"/>
              <a:t>设备上，此时可以在路由协议中引入</a:t>
            </a:r>
            <a:r>
              <a:rPr lang="en-US" altLang="zh-CN" sz="1800" dirty="0"/>
              <a:t>UNR</a:t>
            </a:r>
            <a:r>
              <a:rPr lang="zh-CN" altLang="en-US" sz="1800" dirty="0"/>
              <a:t>路由的方式解决问题。</a:t>
            </a:r>
            <a:endParaRPr lang="en-US" altLang="zh-CN" sz="1800" dirty="0"/>
          </a:p>
          <a:p>
            <a:r>
              <a:rPr lang="en-US" altLang="zh-CN" sz="1800" dirty="0"/>
              <a:t>UNR</a:t>
            </a:r>
            <a:r>
              <a:rPr lang="zh-CN" altLang="en-US" sz="1800" dirty="0"/>
              <a:t>（</a:t>
            </a:r>
            <a:r>
              <a:rPr lang="en-US" altLang="zh-CN" sz="1800" dirty="0"/>
              <a:t>User Network Route</a:t>
            </a:r>
            <a:r>
              <a:rPr lang="zh-CN" altLang="en-US" sz="1800" dirty="0"/>
              <a:t>，用户网络路由），</a:t>
            </a:r>
            <a:r>
              <a:rPr lang="en-US" altLang="zh-CN" sz="1800" dirty="0"/>
              <a:t>UNR</a:t>
            </a:r>
            <a:r>
              <a:rPr lang="zh-CN" altLang="en-US" sz="1800" dirty="0"/>
              <a:t>是非接口</a:t>
            </a:r>
            <a:r>
              <a:rPr lang="en-US" altLang="zh-CN" sz="1800" dirty="0"/>
              <a:t>IP</a:t>
            </a:r>
            <a:r>
              <a:rPr lang="zh-CN" altLang="en-US" sz="1800" dirty="0"/>
              <a:t>产生的路由，不存在于任何接口上。</a:t>
            </a:r>
            <a:r>
              <a:rPr lang="en-US" altLang="zh-CN" sz="1800" dirty="0"/>
              <a:t>NAT</a:t>
            </a:r>
            <a:r>
              <a:rPr lang="zh-CN" altLang="en-US" sz="1800" dirty="0"/>
              <a:t>场景中，设备会为</a:t>
            </a:r>
            <a:r>
              <a:rPr lang="en-US" altLang="zh-CN" sz="1800" dirty="0"/>
              <a:t>NAT</a:t>
            </a:r>
            <a:r>
              <a:rPr lang="zh-CN" altLang="en-US" sz="1800" dirty="0"/>
              <a:t>地址池中的地址创建</a:t>
            </a:r>
            <a:r>
              <a:rPr lang="en-US" altLang="zh-CN" sz="1800" dirty="0"/>
              <a:t>UNR</a:t>
            </a:r>
            <a:r>
              <a:rPr lang="zh-CN" altLang="en-US" sz="1800" dirty="0"/>
              <a:t>主机路由。比如</a:t>
            </a:r>
            <a:r>
              <a:rPr lang="en-US" altLang="zh-CN" sz="1800" dirty="0"/>
              <a:t>NAT</a:t>
            </a:r>
            <a:r>
              <a:rPr lang="zh-CN" altLang="en-US" sz="1800" dirty="0"/>
              <a:t>地址池中有地址</a:t>
            </a:r>
            <a:r>
              <a:rPr lang="en-US" altLang="zh-CN" sz="1800" dirty="0"/>
              <a:t>122.1.2.2</a:t>
            </a:r>
            <a:r>
              <a:rPr lang="zh-CN" altLang="en-US" sz="1800" dirty="0"/>
              <a:t>和</a:t>
            </a:r>
            <a:r>
              <a:rPr lang="en-US" altLang="zh-CN" sz="1800" dirty="0"/>
              <a:t>122.1.2.3</a:t>
            </a:r>
            <a:r>
              <a:rPr lang="zh-CN" altLang="en-US" sz="1800" dirty="0"/>
              <a:t>，则设备会自动创建</a:t>
            </a:r>
            <a:r>
              <a:rPr lang="en-US" altLang="zh-CN" sz="1800" dirty="0"/>
              <a:t>122.1.2.2/32</a:t>
            </a:r>
            <a:r>
              <a:rPr lang="zh-CN" altLang="en-US" sz="1800" dirty="0"/>
              <a:t>和</a:t>
            </a:r>
            <a:r>
              <a:rPr lang="en-US" altLang="zh-CN" sz="1800" dirty="0"/>
              <a:t>122.1.2.3/32 UNR</a:t>
            </a:r>
            <a:r>
              <a:rPr lang="zh-CN" altLang="en-US" sz="1800" dirty="0"/>
              <a:t>路由。</a:t>
            </a:r>
            <a:endParaRPr lang="en-US" altLang="zh-CN" sz="1800" dirty="0"/>
          </a:p>
        </p:txBody>
      </p:sp>
      <p:cxnSp>
        <p:nvCxnSpPr>
          <p:cNvPr id="4" name="直接连接符 12"/>
          <p:cNvCxnSpPr>
            <a:endCxn id="11" idx="1"/>
          </p:cNvCxnSpPr>
          <p:nvPr/>
        </p:nvCxnSpPr>
        <p:spPr bwMode="gray">
          <a:xfrm>
            <a:off x="3521757" y="5565782"/>
            <a:ext cx="6797582" cy="494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 name="矩形 39"/>
          <p:cNvSpPr/>
          <p:nvPr/>
        </p:nvSpPr>
        <p:spPr bwMode="gray">
          <a:xfrm>
            <a:off x="3642953" y="5819700"/>
            <a:ext cx="619080" cy="307777"/>
          </a:xfrm>
          <a:prstGeom prst="rect">
            <a:avLst/>
          </a:prstGeom>
        </p:spPr>
        <p:txBody>
          <a:bodyPr wrap="none">
            <a:spAutoFit/>
          </a:bodyPr>
          <a:lstStyle/>
          <a:p>
            <a:pPr algn="ctr" defTabSz="914034"/>
            <a:r>
              <a:rPr lang="en-US" altLang="zh-CN" sz="1400" dirty="0">
                <a:latin typeface="Huawei Sans" panose="020C0503030203020204" pitchFamily="34" charset="0"/>
                <a:ea typeface="方正兰亭黑简体" panose="02000000000000000000" pitchFamily="2" charset="-122"/>
                <a:cs typeface="+mn-ea"/>
                <a:sym typeface="Huawei Sans" panose="020C0503030203020204" pitchFamily="34" charset="0"/>
              </a:rPr>
              <a:t>OSPF</a:t>
            </a:r>
            <a:endParaRPr lang="zh-CN" altLang="en-US" sz="14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173912" y="5349411"/>
            <a:ext cx="540989" cy="442626"/>
          </a:xfrm>
          <a:prstGeom prst="rect">
            <a:avLst/>
          </a:prstGeom>
          <a:noFill/>
        </p:spPr>
      </p:pic>
      <p:pic>
        <p:nvPicPr>
          <p:cNvPr id="11" name="图片 8" descr="Web服务器-蓝.png"/>
          <p:cNvPicPr>
            <a:picLocks noChangeAspect="1"/>
          </p:cNvPicPr>
          <p:nvPr/>
        </p:nvPicPr>
        <p:blipFill>
          <a:blip r:embed="rId4" cstate="print"/>
          <a:stretch>
            <a:fillRect/>
          </a:stretch>
        </p:blipFill>
        <p:spPr bwMode="gray">
          <a:xfrm>
            <a:off x="10319339" y="5349900"/>
            <a:ext cx="539789" cy="441645"/>
          </a:xfrm>
          <a:prstGeom prst="rect">
            <a:avLst/>
          </a:prstGeom>
        </p:spPr>
      </p:pic>
      <p:sp>
        <p:nvSpPr>
          <p:cNvPr id="12" name="TextBox 77"/>
          <p:cNvSpPr txBox="1"/>
          <p:nvPr/>
        </p:nvSpPr>
        <p:spPr bwMode="gray">
          <a:xfrm>
            <a:off x="9986575" y="5767656"/>
            <a:ext cx="1205317"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矩形 26"/>
          <p:cNvSpPr/>
          <p:nvPr/>
        </p:nvSpPr>
        <p:spPr bwMode="gray">
          <a:xfrm>
            <a:off x="6069637" y="5807041"/>
            <a:ext cx="800219" cy="276999"/>
          </a:xfrm>
          <a:prstGeom prst="rect">
            <a:avLst/>
          </a:prstGeom>
        </p:spPr>
        <p:txBody>
          <a:bodyPr wrap="none">
            <a:spAutoFit/>
          </a:bodyPr>
          <a:lstStyle/>
          <a:p>
            <a:pPr algn="ctr" defTabSz="914034"/>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出口设备</a:t>
            </a:r>
          </a:p>
        </p:txBody>
      </p:sp>
      <p:pic>
        <p:nvPicPr>
          <p:cNvPr id="15" name="图片 34" descr="汇聚交换机.png"/>
          <p:cNvPicPr>
            <a:picLocks noChangeAspect="1"/>
          </p:cNvPicPr>
          <p:nvPr/>
        </p:nvPicPr>
        <p:blipFill>
          <a:blip r:embed="rId5" cstate="print"/>
          <a:stretch>
            <a:fillRect/>
          </a:stretch>
        </p:blipFill>
        <p:spPr bwMode="gray">
          <a:xfrm>
            <a:off x="4360520" y="5366862"/>
            <a:ext cx="539789" cy="441645"/>
          </a:xfrm>
          <a:prstGeom prst="rect">
            <a:avLst/>
          </a:prstGeom>
        </p:spPr>
      </p:pic>
      <p:grpSp>
        <p:nvGrpSpPr>
          <p:cNvPr id="18" name="组合 42"/>
          <p:cNvGrpSpPr/>
          <p:nvPr/>
        </p:nvGrpSpPr>
        <p:grpSpPr bwMode="gray">
          <a:xfrm>
            <a:off x="8093693" y="5304036"/>
            <a:ext cx="1570475" cy="504472"/>
            <a:chOff x="7175983" y="2324318"/>
            <a:chExt cx="1571088" cy="504669"/>
          </a:xfrm>
        </p:grpSpPr>
        <p:sp>
          <p:nvSpPr>
            <p:cNvPr id="19" name="Freeform 159"/>
            <p:cNvSpPr/>
            <p:nvPr/>
          </p:nvSpPr>
          <p:spPr bwMode="gray">
            <a:xfrm flipH="1">
              <a:off x="7440181" y="2324318"/>
              <a:ext cx="1048594" cy="5046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77"/>
            <p:cNvSpPr txBox="1"/>
            <p:nvPr/>
          </p:nvSpPr>
          <p:spPr bwMode="gray">
            <a:xfrm>
              <a:off x="7175983" y="2450309"/>
              <a:ext cx="1571088" cy="285686"/>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grpSp>
        <p:nvGrpSpPr>
          <p:cNvPr id="21" name="组合 10"/>
          <p:cNvGrpSpPr/>
          <p:nvPr/>
        </p:nvGrpSpPr>
        <p:grpSpPr bwMode="gray">
          <a:xfrm>
            <a:off x="4183557" y="4267687"/>
            <a:ext cx="1115446" cy="690352"/>
            <a:chOff x="4580327" y="2148756"/>
            <a:chExt cx="1571474" cy="752667"/>
          </a:xfrm>
        </p:grpSpPr>
        <p:sp>
          <p:nvSpPr>
            <p:cNvPr id="22" name="TextBox 77"/>
            <p:cNvSpPr txBox="1"/>
            <p:nvPr/>
          </p:nvSpPr>
          <p:spPr bwMode="gray">
            <a:xfrm>
              <a:off x="4580327" y="2148756"/>
              <a:ext cx="1571474" cy="752667"/>
            </a:xfrm>
            <a:prstGeom prst="rect">
              <a:avLst/>
            </a:prstGeom>
            <a:no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23" name="矩形 51"/>
            <p:cNvSpPr/>
            <p:nvPr/>
          </p:nvSpPr>
          <p:spPr bwMode="gray">
            <a:xfrm>
              <a:off x="4592134" y="2165234"/>
              <a:ext cx="1550102" cy="704673"/>
            </a:xfrm>
            <a:prstGeom prst="rect">
              <a:avLst/>
            </a:prstGeom>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地址池</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fontAlgn="ctr"/>
              <a:r>
                <a:rPr lang="en-US" altLang="zh-CN" sz="1200" dirty="0">
                  <a:latin typeface="Huawei Sans" panose="020C0503030203020204" pitchFamily="34" charset="0"/>
                  <a:ea typeface="方正兰亭黑简体" panose="02000000000000000000" pitchFamily="2" charset="-122"/>
                </a:rPr>
                <a:t>122.1.2.2</a:t>
              </a:r>
            </a:p>
            <a:p>
              <a:pPr algn="ctr" fontAlgn="ctr"/>
              <a:r>
                <a:rPr lang="en-US" altLang="zh-CN" sz="1200" dirty="0">
                  <a:latin typeface="Huawei Sans" panose="020C0503030203020204" pitchFamily="34" charset="0"/>
                  <a:ea typeface="方正兰亭黑简体" panose="02000000000000000000" pitchFamily="2" charset="-122"/>
                </a:rPr>
                <a:t>122.1.2.3</a:t>
              </a:r>
              <a:endParaRPr lang="zh-CN" altLang="zh-CN" sz="1200" dirty="0">
                <a:latin typeface="Huawei Sans" panose="020C0503030203020204" pitchFamily="34" charset="0"/>
                <a:ea typeface="方正兰亭黑简体" panose="02000000000000000000" pitchFamily="2" charset="-122"/>
              </a:endParaRPr>
            </a:p>
          </p:txBody>
        </p:sp>
      </p:grpSp>
      <p:pic>
        <p:nvPicPr>
          <p:cNvPr id="46" name="图片 6" descr="PC.png"/>
          <p:cNvPicPr>
            <a:picLocks noChangeAspect="1"/>
          </p:cNvPicPr>
          <p:nvPr/>
        </p:nvPicPr>
        <p:blipFill>
          <a:blip r:embed="rId6" cstate="print"/>
          <a:stretch>
            <a:fillRect/>
          </a:stretch>
        </p:blipFill>
        <p:spPr bwMode="gray">
          <a:xfrm>
            <a:off x="2711216" y="5270434"/>
            <a:ext cx="538853" cy="413838"/>
          </a:xfrm>
          <a:prstGeom prst="rect">
            <a:avLst/>
          </a:prstGeom>
        </p:spPr>
      </p:pic>
      <p:pic>
        <p:nvPicPr>
          <p:cNvPr id="48" name="图片 6" descr="PC.png"/>
          <p:cNvPicPr>
            <a:picLocks noChangeAspect="1"/>
          </p:cNvPicPr>
          <p:nvPr/>
        </p:nvPicPr>
        <p:blipFill>
          <a:blip r:embed="rId6" cstate="print"/>
          <a:stretch>
            <a:fillRect/>
          </a:stretch>
        </p:blipFill>
        <p:spPr bwMode="gray">
          <a:xfrm>
            <a:off x="1638112" y="5290880"/>
            <a:ext cx="538853" cy="413838"/>
          </a:xfrm>
          <a:prstGeom prst="rect">
            <a:avLst/>
          </a:prstGeom>
        </p:spPr>
      </p:pic>
      <p:sp>
        <p:nvSpPr>
          <p:cNvPr id="51" name="TextBox 77"/>
          <p:cNvSpPr txBox="1"/>
          <p:nvPr/>
        </p:nvSpPr>
        <p:spPr bwMode="gray">
          <a:xfrm>
            <a:off x="4187788" y="3373215"/>
            <a:ext cx="2245601" cy="686245"/>
          </a:xfrm>
          <a:prstGeom prst="rect">
            <a:avLst/>
          </a:prstGeom>
          <a:no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IP</a:t>
            </a:r>
            <a:r>
              <a:rPr lang="zh-CN" altLang="en-US" sz="1200" dirty="0">
                <a:solidFill>
                  <a:prstClr val="black"/>
                </a:solidFill>
                <a:sym typeface="Huawei Sans" panose="020C0503030203020204" pitchFamily="34" charset="0"/>
              </a:rPr>
              <a:t>路由表</a:t>
            </a:r>
            <a:endParaRPr lang="en-US" altLang="zh-CN" sz="1200" dirty="0">
              <a:solidFill>
                <a:prstClr val="black"/>
              </a:solidFill>
              <a:sym typeface="Huawei Sans" panose="020C0503030203020204" pitchFamily="34" charset="0"/>
            </a:endParaRPr>
          </a:p>
          <a:p>
            <a:pPr fontAlgn="ctr"/>
            <a:r>
              <a:rPr lang="en-US" altLang="zh-CN" sz="1200" dirty="0"/>
              <a:t>122.1.2.2/32  UNR  NH: Local</a:t>
            </a:r>
          </a:p>
          <a:p>
            <a:pPr fontAlgn="ctr"/>
            <a:r>
              <a:rPr lang="en-US" altLang="zh-CN" sz="1200" dirty="0"/>
              <a:t>122.1.2.3/32  UNR  NH: Local</a:t>
            </a:r>
            <a:endParaRPr lang="zh-CN" altLang="zh-CN" sz="1200" dirty="0"/>
          </a:p>
        </p:txBody>
      </p:sp>
      <p:pic>
        <p:nvPicPr>
          <p:cNvPr id="5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350582" y="4271441"/>
            <a:ext cx="540989" cy="442626"/>
          </a:xfrm>
          <a:prstGeom prst="rect">
            <a:avLst/>
          </a:prstGeom>
          <a:noFill/>
        </p:spPr>
      </p:pic>
      <p:cxnSp>
        <p:nvCxnSpPr>
          <p:cNvPr id="57" name="直接连接符 12"/>
          <p:cNvCxnSpPr>
            <a:stCxn id="15" idx="0"/>
            <a:endCxn id="56" idx="1"/>
          </p:cNvCxnSpPr>
          <p:nvPr/>
        </p:nvCxnSpPr>
        <p:spPr bwMode="gray">
          <a:xfrm flipV="1">
            <a:off x="4630415" y="4492754"/>
            <a:ext cx="720167" cy="874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1" name="矩形 26"/>
          <p:cNvSpPr/>
          <p:nvPr/>
        </p:nvSpPr>
        <p:spPr bwMode="gray">
          <a:xfrm>
            <a:off x="5214555" y="4702182"/>
            <a:ext cx="813043"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cxnSp>
        <p:nvCxnSpPr>
          <p:cNvPr id="62" name="直接连接符 12"/>
          <p:cNvCxnSpPr>
            <a:stCxn id="10" idx="0"/>
            <a:endCxn id="56" idx="3"/>
          </p:cNvCxnSpPr>
          <p:nvPr/>
        </p:nvCxnSpPr>
        <p:spPr bwMode="gray">
          <a:xfrm flipH="1" flipV="1">
            <a:off x="5891571" y="4492754"/>
            <a:ext cx="552836" cy="85665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5" name="Rectangle 64"/>
          <p:cNvSpPr/>
          <p:nvPr/>
        </p:nvSpPr>
        <p:spPr bwMode="gray">
          <a:xfrm>
            <a:off x="1210122" y="4189344"/>
            <a:ext cx="5256584" cy="2035727"/>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Rectangle 65"/>
          <p:cNvSpPr/>
          <p:nvPr/>
        </p:nvSpPr>
        <p:spPr bwMode="gray">
          <a:xfrm>
            <a:off x="1378813" y="5156780"/>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Freeform 71"/>
          <p:cNvSpPr/>
          <p:nvPr/>
        </p:nvSpPr>
        <p:spPr bwMode="gray">
          <a:xfrm rot="10800000">
            <a:off x="3958596" y="3824198"/>
            <a:ext cx="317098" cy="818272"/>
          </a:xfrm>
          <a:custGeom>
            <a:avLst/>
            <a:gdLst>
              <a:gd name="connsiteX0" fmla="*/ 0 w 524933"/>
              <a:gd name="connsiteY0" fmla="*/ 0 h 922867"/>
              <a:gd name="connsiteX1" fmla="*/ 524933 w 524933"/>
              <a:gd name="connsiteY1" fmla="*/ 330200 h 922867"/>
              <a:gd name="connsiteX2" fmla="*/ 0 w 524933"/>
              <a:gd name="connsiteY2" fmla="*/ 922867 h 922867"/>
            </a:gdLst>
            <a:ahLst/>
            <a:cxnLst>
              <a:cxn ang="0">
                <a:pos x="connsiteX0" y="connsiteY0"/>
              </a:cxn>
              <a:cxn ang="0">
                <a:pos x="connsiteX1" y="connsiteY1"/>
              </a:cxn>
              <a:cxn ang="0">
                <a:pos x="connsiteX2" y="connsiteY2"/>
              </a:cxn>
            </a:cxnLst>
            <a:rect l="l" t="t" r="r" b="b"/>
            <a:pathLst>
              <a:path w="524933" h="922867">
                <a:moveTo>
                  <a:pt x="0" y="0"/>
                </a:moveTo>
                <a:cubicBezTo>
                  <a:pt x="262466" y="88194"/>
                  <a:pt x="524933" y="176389"/>
                  <a:pt x="524933" y="330200"/>
                </a:cubicBezTo>
                <a:cubicBezTo>
                  <a:pt x="524933" y="484011"/>
                  <a:pt x="262466" y="703439"/>
                  <a:pt x="0" y="922867"/>
                </a:cubicBezTo>
              </a:path>
            </a:pathLst>
          </a:custGeom>
          <a:noFill/>
          <a:ln w="19050">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TextBox 72"/>
          <p:cNvSpPr txBox="1"/>
          <p:nvPr/>
        </p:nvSpPr>
        <p:spPr bwMode="gray">
          <a:xfrm>
            <a:off x="2585273" y="4239973"/>
            <a:ext cx="1476155"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配置地址池后自动产生</a:t>
            </a:r>
            <a:r>
              <a:rPr lang="en-US" altLang="zh-CN" sz="1200" dirty="0">
                <a:latin typeface="Huawei Sans" panose="020C0503030203020204" pitchFamily="34" charset="0"/>
                <a:ea typeface="方正兰亭黑简体" panose="02000000000000000000" pitchFamily="2" charset="-122"/>
              </a:rPr>
              <a:t>32</a:t>
            </a:r>
            <a:r>
              <a:rPr lang="zh-CN" altLang="en-US" sz="1200" dirty="0">
                <a:latin typeface="Huawei Sans" panose="020C0503030203020204" pitchFamily="34" charset="0"/>
                <a:ea typeface="方正兰亭黑简体" panose="02000000000000000000" pitchFamily="2" charset="-122"/>
              </a:rPr>
              <a:t>为</a:t>
            </a:r>
            <a:r>
              <a:rPr lang="en-US" altLang="zh-CN" sz="1200" dirty="0">
                <a:latin typeface="Huawei Sans" panose="020C0503030203020204" pitchFamily="34" charset="0"/>
                <a:ea typeface="方正兰亭黑简体" panose="02000000000000000000" pitchFamily="2" charset="-122"/>
              </a:rPr>
              <a:t>UNR</a:t>
            </a:r>
            <a:r>
              <a:rPr lang="zh-CN" altLang="en-US" sz="1200" dirty="0">
                <a:latin typeface="Huawei Sans" panose="020C0503030203020204" pitchFamily="34" charset="0"/>
                <a:ea typeface="方正兰亭黑简体" panose="02000000000000000000" pitchFamily="2" charset="-122"/>
              </a:rPr>
              <a:t>路由</a:t>
            </a:r>
          </a:p>
        </p:txBody>
      </p:sp>
      <p:sp>
        <p:nvSpPr>
          <p:cNvPr id="80" name="TextBox 77"/>
          <p:cNvSpPr txBox="1"/>
          <p:nvPr/>
        </p:nvSpPr>
        <p:spPr bwMode="gray">
          <a:xfrm>
            <a:off x="6654903" y="4610750"/>
            <a:ext cx="2245601" cy="686245"/>
          </a:xfrm>
          <a:prstGeom prst="rect">
            <a:avLst/>
          </a:prstGeom>
          <a:no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IP</a:t>
            </a:r>
            <a:r>
              <a:rPr lang="zh-CN" altLang="en-US" sz="1200" dirty="0">
                <a:solidFill>
                  <a:prstClr val="black"/>
                </a:solidFill>
                <a:sym typeface="Huawei Sans" panose="020C0503030203020204" pitchFamily="34" charset="0"/>
              </a:rPr>
              <a:t>路由表</a:t>
            </a:r>
            <a:endParaRPr lang="en-US" altLang="zh-CN" sz="1200" dirty="0">
              <a:solidFill>
                <a:prstClr val="black"/>
              </a:solidFill>
              <a:sym typeface="Huawei Sans" panose="020C0503030203020204" pitchFamily="34" charset="0"/>
            </a:endParaRPr>
          </a:p>
          <a:p>
            <a:pPr fontAlgn="ctr"/>
            <a:r>
              <a:rPr lang="en-US" altLang="zh-CN" sz="1200" dirty="0"/>
              <a:t>122.1.2.2/32  OSPF  NH: R1</a:t>
            </a:r>
          </a:p>
          <a:p>
            <a:pPr fontAlgn="ctr"/>
            <a:r>
              <a:rPr lang="en-US" altLang="zh-CN" sz="1200" dirty="0"/>
              <a:t>122.1.2.3/32  OSPF  NH: R1</a:t>
            </a:r>
            <a:endParaRPr lang="zh-CN" altLang="zh-CN" sz="1200" dirty="0"/>
          </a:p>
        </p:txBody>
      </p:sp>
      <p:sp>
        <p:nvSpPr>
          <p:cNvPr id="81" name="矩形 26"/>
          <p:cNvSpPr/>
          <p:nvPr/>
        </p:nvSpPr>
        <p:spPr bwMode="gray">
          <a:xfrm>
            <a:off x="5869272" y="4202550"/>
            <a:ext cx="372218"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R1</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82" name="Freeform 81"/>
          <p:cNvSpPr/>
          <p:nvPr/>
        </p:nvSpPr>
        <p:spPr bwMode="gray">
          <a:xfrm>
            <a:off x="6407439" y="3842231"/>
            <a:ext cx="728134" cy="931333"/>
          </a:xfrm>
          <a:custGeom>
            <a:avLst/>
            <a:gdLst>
              <a:gd name="connsiteX0" fmla="*/ 0 w 728134"/>
              <a:gd name="connsiteY0" fmla="*/ 0 h 931333"/>
              <a:gd name="connsiteX1" fmla="*/ 601134 w 728134"/>
              <a:gd name="connsiteY1" fmla="*/ 262466 h 931333"/>
              <a:gd name="connsiteX2" fmla="*/ 728134 w 728134"/>
              <a:gd name="connsiteY2" fmla="*/ 931333 h 931333"/>
            </a:gdLst>
            <a:ahLst/>
            <a:cxnLst>
              <a:cxn ang="0">
                <a:pos x="connsiteX0" y="connsiteY0"/>
              </a:cxn>
              <a:cxn ang="0">
                <a:pos x="connsiteX1" y="connsiteY1"/>
              </a:cxn>
              <a:cxn ang="0">
                <a:pos x="connsiteX2" y="connsiteY2"/>
              </a:cxn>
            </a:cxnLst>
            <a:rect l="l" t="t" r="r" b="b"/>
            <a:pathLst>
              <a:path w="728134" h="931333">
                <a:moveTo>
                  <a:pt x="0" y="0"/>
                </a:moveTo>
                <a:cubicBezTo>
                  <a:pt x="239889" y="53622"/>
                  <a:pt x="479778" y="107244"/>
                  <a:pt x="601134" y="262466"/>
                </a:cubicBezTo>
                <a:cubicBezTo>
                  <a:pt x="722490" y="417688"/>
                  <a:pt x="725312" y="674510"/>
                  <a:pt x="728134" y="931333"/>
                </a:cubicBezTo>
              </a:path>
            </a:pathLst>
          </a:custGeom>
          <a:noFill/>
          <a:ln w="19050">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TextBox 82"/>
          <p:cNvSpPr txBox="1"/>
          <p:nvPr/>
        </p:nvSpPr>
        <p:spPr bwMode="gray">
          <a:xfrm>
            <a:off x="7059122" y="3995658"/>
            <a:ext cx="897582" cy="461665"/>
          </a:xfrm>
          <a:prstGeom prst="rect">
            <a:avLst/>
          </a:prstGeom>
          <a:noFill/>
        </p:spPr>
        <p:txBody>
          <a:bodyPr wrap="square" rtlCol="0">
            <a:spAutoFit/>
          </a:bodyPr>
          <a:lstStyle/>
          <a:p>
            <a:r>
              <a:rPr lang="zh-CN" altLang="en-US" sz="1200" dirty="0">
                <a:latin typeface="Huawei Sans" panose="020C0503030203020204" pitchFamily="34" charset="0"/>
                <a:ea typeface="方正兰亭黑简体" panose="02000000000000000000" pitchFamily="2" charset="-122"/>
              </a:rPr>
              <a:t>通过</a:t>
            </a:r>
            <a:r>
              <a:rPr lang="en-US" altLang="zh-CN" sz="1200" dirty="0">
                <a:latin typeface="Huawei Sans" panose="020C0503030203020204" pitchFamily="34" charset="0"/>
                <a:ea typeface="方正兰亭黑简体" panose="02000000000000000000" pitchFamily="2" charset="-122"/>
              </a:rPr>
              <a:t>OSPF</a:t>
            </a:r>
            <a:r>
              <a:rPr lang="zh-CN" altLang="en-US" sz="1200" dirty="0">
                <a:latin typeface="Huawei Sans" panose="020C0503030203020204" pitchFamily="34" charset="0"/>
                <a:ea typeface="方正兰亭黑简体" panose="02000000000000000000" pitchFamily="2" charset="-122"/>
              </a:rPr>
              <a:t>传递路由</a:t>
            </a:r>
          </a:p>
        </p:txBody>
      </p:sp>
      <p:sp>
        <p:nvSpPr>
          <p:cNvPr id="85" name="Freeform 84"/>
          <p:cNvSpPr/>
          <p:nvPr/>
        </p:nvSpPr>
        <p:spPr bwMode="gray">
          <a:xfrm>
            <a:off x="3270604" y="4450462"/>
            <a:ext cx="7171267" cy="1134284"/>
          </a:xfrm>
          <a:custGeom>
            <a:avLst/>
            <a:gdLst>
              <a:gd name="connsiteX0" fmla="*/ 0 w 7171267"/>
              <a:gd name="connsiteY0" fmla="*/ 1210822 h 1223238"/>
              <a:gd name="connsiteX1" fmla="*/ 1143000 w 7171267"/>
              <a:gd name="connsiteY1" fmla="*/ 1049955 h 1223238"/>
              <a:gd name="connsiteX2" fmla="*/ 2379133 w 7171267"/>
              <a:gd name="connsiteY2" fmla="*/ 88 h 1223238"/>
              <a:gd name="connsiteX3" fmla="*/ 3699933 w 7171267"/>
              <a:gd name="connsiteY3" fmla="*/ 990688 h 1223238"/>
              <a:gd name="connsiteX4" fmla="*/ 7171267 w 7171267"/>
              <a:gd name="connsiteY4" fmla="*/ 1058422 h 122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71267" h="1223238">
                <a:moveTo>
                  <a:pt x="0" y="1210822"/>
                </a:moveTo>
                <a:cubicBezTo>
                  <a:pt x="373239" y="1231283"/>
                  <a:pt x="746478" y="1251744"/>
                  <a:pt x="1143000" y="1049955"/>
                </a:cubicBezTo>
                <a:cubicBezTo>
                  <a:pt x="1539522" y="848166"/>
                  <a:pt x="1952978" y="9966"/>
                  <a:pt x="2379133" y="88"/>
                </a:cubicBezTo>
                <a:cubicBezTo>
                  <a:pt x="2805288" y="-9790"/>
                  <a:pt x="2901244" y="814299"/>
                  <a:pt x="3699933" y="990688"/>
                </a:cubicBezTo>
                <a:cubicBezTo>
                  <a:pt x="4498622" y="1167077"/>
                  <a:pt x="5834944" y="1112749"/>
                  <a:pt x="7171267" y="1058422"/>
                </a:cubicBezTo>
              </a:path>
            </a:pathLst>
          </a:custGeom>
          <a:noFill/>
          <a:ln w="19050">
            <a:solidFill>
              <a:srgbClr val="00B0F0"/>
            </a:solidFill>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865338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bwMode="gray"/>
        <p:txBody>
          <a:bodyPr/>
          <a:lstStyle/>
          <a:p>
            <a:r>
              <a:rPr lang="en-US" altLang="zh-CN" dirty="0"/>
              <a:t>NAT</a:t>
            </a:r>
            <a:r>
              <a:rPr lang="zh-CN" altLang="en-US" dirty="0"/>
              <a:t>映射表的安全隐患</a:t>
            </a:r>
          </a:p>
        </p:txBody>
      </p:sp>
      <p:sp>
        <p:nvSpPr>
          <p:cNvPr id="4" name="Text Placeholder 3"/>
          <p:cNvSpPr>
            <a:spLocks noGrp="1"/>
          </p:cNvSpPr>
          <p:nvPr>
            <p:ph type="body" sz="quarter" idx="10"/>
          </p:nvPr>
        </p:nvSpPr>
        <p:spPr bwMode="gray"/>
        <p:txBody>
          <a:bodyPr/>
          <a:lstStyle/>
          <a:p>
            <a:r>
              <a:rPr lang="zh-CN" altLang="en-US" sz="1600" dirty="0"/>
              <a:t>数据通过</a:t>
            </a:r>
            <a:r>
              <a:rPr lang="en-US" altLang="zh-CN" sz="1600" dirty="0"/>
              <a:t>NAT</a:t>
            </a:r>
            <a:r>
              <a:rPr lang="zh-CN" altLang="en-US" sz="1600" dirty="0"/>
              <a:t>设备后，</a:t>
            </a:r>
            <a:r>
              <a:rPr lang="en-US" altLang="zh-CN" sz="1600" dirty="0"/>
              <a:t>NAT</a:t>
            </a:r>
            <a:r>
              <a:rPr lang="zh-CN" altLang="en-US" sz="1600" dirty="0"/>
              <a:t>设备会建立</a:t>
            </a:r>
            <a:r>
              <a:rPr lang="en-US" altLang="zh-CN" sz="1600" dirty="0"/>
              <a:t>NAT</a:t>
            </a:r>
            <a:r>
              <a:rPr lang="zh-CN" altLang="en-US" sz="1600" dirty="0"/>
              <a:t>映射表。当</a:t>
            </a:r>
            <a:r>
              <a:rPr lang="en-US" altLang="zh-CN" sz="1600" dirty="0"/>
              <a:t>NAT</a:t>
            </a:r>
            <a:r>
              <a:rPr lang="zh-CN" altLang="en-US" sz="1600" dirty="0"/>
              <a:t>设备收到回程报文后根据映射表决定是否是合法回程报文，然后决定是否进行转发。</a:t>
            </a:r>
            <a:endParaRPr lang="en-US" altLang="zh-CN" sz="1600" dirty="0"/>
          </a:p>
          <a:p>
            <a:r>
              <a:rPr lang="zh-CN" altLang="en-US" sz="1600" dirty="0">
                <a:solidFill>
                  <a:srgbClr val="C7000B"/>
                </a:solidFill>
              </a:rPr>
              <a:t>如果外部主机以</a:t>
            </a:r>
            <a:r>
              <a:rPr lang="en-US" altLang="zh-CN" sz="1600" dirty="0">
                <a:solidFill>
                  <a:srgbClr val="C7000B"/>
                </a:solidFill>
              </a:rPr>
              <a:t>NAT</a:t>
            </a:r>
            <a:r>
              <a:rPr lang="zh-CN" altLang="en-US" sz="1600" dirty="0">
                <a:solidFill>
                  <a:srgbClr val="C7000B"/>
                </a:solidFill>
              </a:rPr>
              <a:t>映射表中的公网</a:t>
            </a:r>
            <a:r>
              <a:rPr lang="en-US" altLang="zh-CN" sz="1600" dirty="0">
                <a:solidFill>
                  <a:srgbClr val="C7000B"/>
                </a:solidFill>
              </a:rPr>
              <a:t>IP+</a:t>
            </a:r>
            <a:r>
              <a:rPr lang="zh-CN" altLang="en-US" sz="1600" dirty="0">
                <a:solidFill>
                  <a:srgbClr val="C7000B"/>
                </a:solidFill>
              </a:rPr>
              <a:t>端口为目标发送数据，数据是否会被转发？</a:t>
            </a:r>
            <a:endParaRPr lang="en-US" altLang="zh-CN" sz="1600" dirty="0">
              <a:solidFill>
                <a:srgbClr val="C7000B"/>
              </a:solidFill>
            </a:endParaRPr>
          </a:p>
        </p:txBody>
      </p:sp>
      <p:cxnSp>
        <p:nvCxnSpPr>
          <p:cNvPr id="5" name="直接连接符 12"/>
          <p:cNvCxnSpPr>
            <a:endCxn id="11" idx="1"/>
          </p:cNvCxnSpPr>
          <p:nvPr/>
        </p:nvCxnSpPr>
        <p:spPr bwMode="gray">
          <a:xfrm>
            <a:off x="3150846" y="4676507"/>
            <a:ext cx="6797582" cy="494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9" name="矩形 39"/>
          <p:cNvSpPr/>
          <p:nvPr/>
        </p:nvSpPr>
        <p:spPr bwMode="gray">
          <a:xfrm>
            <a:off x="1617975" y="3608328"/>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pic>
        <p:nvPicPr>
          <p:cNvPr id="10"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5803001" y="4460136"/>
            <a:ext cx="540989" cy="442626"/>
          </a:xfrm>
          <a:prstGeom prst="rect">
            <a:avLst/>
          </a:prstGeom>
          <a:noFill/>
        </p:spPr>
      </p:pic>
      <p:pic>
        <p:nvPicPr>
          <p:cNvPr id="11" name="图片 8" descr="Web服务器-蓝.png"/>
          <p:cNvPicPr>
            <a:picLocks noChangeAspect="1"/>
          </p:cNvPicPr>
          <p:nvPr/>
        </p:nvPicPr>
        <p:blipFill>
          <a:blip r:embed="rId5" cstate="print"/>
          <a:stretch>
            <a:fillRect/>
          </a:stretch>
        </p:blipFill>
        <p:spPr bwMode="gray">
          <a:xfrm>
            <a:off x="9948428" y="4460625"/>
            <a:ext cx="539789" cy="441645"/>
          </a:xfrm>
          <a:prstGeom prst="rect">
            <a:avLst/>
          </a:prstGeom>
        </p:spPr>
      </p:pic>
      <p:sp>
        <p:nvSpPr>
          <p:cNvPr id="12" name="TextBox 77"/>
          <p:cNvSpPr txBox="1"/>
          <p:nvPr/>
        </p:nvSpPr>
        <p:spPr bwMode="gray">
          <a:xfrm>
            <a:off x="9615664" y="4878381"/>
            <a:ext cx="1205317"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3" name="TextBox 77"/>
          <p:cNvSpPr txBox="1"/>
          <p:nvPr/>
        </p:nvSpPr>
        <p:spPr bwMode="gray">
          <a:xfrm>
            <a:off x="6329836" y="4665484"/>
            <a:ext cx="1087741"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4" name="矩形 26"/>
          <p:cNvSpPr/>
          <p:nvPr/>
        </p:nvSpPr>
        <p:spPr bwMode="gray">
          <a:xfrm>
            <a:off x="5366767" y="4646884"/>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5" name="图片 34" descr="汇聚交换机.png"/>
          <p:cNvPicPr>
            <a:picLocks noChangeAspect="1"/>
          </p:cNvPicPr>
          <p:nvPr/>
        </p:nvPicPr>
        <p:blipFill>
          <a:blip r:embed="rId6" cstate="print"/>
          <a:stretch>
            <a:fillRect/>
          </a:stretch>
        </p:blipFill>
        <p:spPr bwMode="gray">
          <a:xfrm>
            <a:off x="3989609" y="4477587"/>
            <a:ext cx="539789" cy="441645"/>
          </a:xfrm>
          <a:prstGeom prst="rect">
            <a:avLst/>
          </a:prstGeom>
        </p:spPr>
      </p:pic>
      <p:grpSp>
        <p:nvGrpSpPr>
          <p:cNvPr id="18" name="组合 42"/>
          <p:cNvGrpSpPr/>
          <p:nvPr/>
        </p:nvGrpSpPr>
        <p:grpSpPr bwMode="gray">
          <a:xfrm>
            <a:off x="7722782" y="4414761"/>
            <a:ext cx="1570475" cy="504472"/>
            <a:chOff x="7175983" y="2324318"/>
            <a:chExt cx="1571088" cy="504669"/>
          </a:xfrm>
        </p:grpSpPr>
        <p:sp>
          <p:nvSpPr>
            <p:cNvPr id="19" name="Freeform 159"/>
            <p:cNvSpPr/>
            <p:nvPr/>
          </p:nvSpPr>
          <p:spPr bwMode="gray">
            <a:xfrm flipH="1">
              <a:off x="7440181" y="2324318"/>
              <a:ext cx="1048594" cy="5046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TextBox 77"/>
            <p:cNvSpPr txBox="1"/>
            <p:nvPr/>
          </p:nvSpPr>
          <p:spPr bwMode="gray">
            <a:xfrm>
              <a:off x="7175983" y="2450309"/>
              <a:ext cx="1571088" cy="285686"/>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45" name="图片 6" descr="PC.png"/>
          <p:cNvPicPr>
            <a:picLocks noChangeAspect="1"/>
          </p:cNvPicPr>
          <p:nvPr/>
        </p:nvPicPr>
        <p:blipFill>
          <a:blip r:embed="rId7" cstate="print"/>
          <a:stretch>
            <a:fillRect/>
          </a:stretch>
        </p:blipFill>
        <p:spPr bwMode="gray">
          <a:xfrm>
            <a:off x="2376576" y="4381159"/>
            <a:ext cx="538853" cy="413838"/>
          </a:xfrm>
          <a:prstGeom prst="rect">
            <a:avLst/>
          </a:prstGeom>
        </p:spPr>
      </p:pic>
      <p:sp>
        <p:nvSpPr>
          <p:cNvPr id="46" name="TextBox 77"/>
          <p:cNvSpPr txBox="1"/>
          <p:nvPr/>
        </p:nvSpPr>
        <p:spPr bwMode="gray">
          <a:xfrm>
            <a:off x="1960683" y="4780412"/>
            <a:ext cx="125259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47" name="图片 6" descr="PC.png"/>
          <p:cNvPicPr>
            <a:picLocks noChangeAspect="1"/>
          </p:cNvPicPr>
          <p:nvPr/>
        </p:nvPicPr>
        <p:blipFill>
          <a:blip r:embed="rId7" cstate="print"/>
          <a:stretch>
            <a:fillRect/>
          </a:stretch>
        </p:blipFill>
        <p:spPr bwMode="gray">
          <a:xfrm>
            <a:off x="1303472" y="4401605"/>
            <a:ext cx="538853" cy="413838"/>
          </a:xfrm>
          <a:prstGeom prst="rect">
            <a:avLst/>
          </a:prstGeom>
        </p:spPr>
      </p:pic>
      <p:sp>
        <p:nvSpPr>
          <p:cNvPr id="48" name="TextBox 77"/>
          <p:cNvSpPr txBox="1"/>
          <p:nvPr/>
        </p:nvSpPr>
        <p:spPr bwMode="gray">
          <a:xfrm>
            <a:off x="900673" y="4784866"/>
            <a:ext cx="123004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192.168.1.2/24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9" name="Rectangle 48"/>
          <p:cNvSpPr/>
          <p:nvPr/>
        </p:nvSpPr>
        <p:spPr bwMode="gray">
          <a:xfrm>
            <a:off x="865957" y="3263452"/>
            <a:ext cx="5256584" cy="208516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Rectangle 49"/>
          <p:cNvSpPr/>
          <p:nvPr/>
        </p:nvSpPr>
        <p:spPr bwMode="gray">
          <a:xfrm>
            <a:off x="1003264" y="4261659"/>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TextBox 77"/>
          <p:cNvSpPr txBox="1"/>
          <p:nvPr/>
        </p:nvSpPr>
        <p:spPr bwMode="gray">
          <a:xfrm>
            <a:off x="3108957" y="2281334"/>
            <a:ext cx="1115446" cy="661446"/>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地址池</a:t>
            </a:r>
            <a:endParaRPr lang="en-US" altLang="zh-CN" sz="1200" dirty="0">
              <a:solidFill>
                <a:prstClr val="black"/>
              </a:solidFill>
              <a:sym typeface="Huawei Sans" panose="020C0503030203020204" pitchFamily="34" charset="0"/>
            </a:endParaRPr>
          </a:p>
          <a:p>
            <a:pPr fontAlgn="ctr"/>
            <a:r>
              <a:rPr lang="en-US" altLang="zh-CN" sz="1200" dirty="0">
                <a:solidFill>
                  <a:schemeClr val="tx1"/>
                </a:solidFill>
              </a:rPr>
              <a:t>122.1.2.2</a:t>
            </a:r>
            <a:endParaRPr lang="zh-CN" altLang="zh-CN" sz="1200" dirty="0">
              <a:solidFill>
                <a:schemeClr val="tx1"/>
              </a:solidFill>
            </a:endParaRPr>
          </a:p>
          <a:p>
            <a:pPr fontAlgn="ctr"/>
            <a:r>
              <a:rPr lang="en-US" altLang="zh-CN" sz="1200" dirty="0"/>
              <a:t>122.1.2.3</a:t>
            </a:r>
            <a:endParaRPr lang="zh-CN" altLang="zh-CN" sz="1200" dirty="0"/>
          </a:p>
        </p:txBody>
      </p:sp>
      <p:cxnSp>
        <p:nvCxnSpPr>
          <p:cNvPr id="53" name="Straight Arrow Connector 52"/>
          <p:cNvCxnSpPr/>
          <p:nvPr/>
        </p:nvCxnSpPr>
        <p:spPr bwMode="gray">
          <a:xfrm flipH="1">
            <a:off x="3229662" y="4436948"/>
            <a:ext cx="6673299" cy="0"/>
          </a:xfrm>
          <a:prstGeom prst="straightConnector1">
            <a:avLst/>
          </a:prstGeom>
          <a:ln w="28575">
            <a:solidFill>
              <a:schemeClr val="bg1">
                <a:lumMod val="5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gray">
          <a:xfrm flipH="1">
            <a:off x="3213277" y="4919232"/>
            <a:ext cx="6689684" cy="3967"/>
          </a:xfrm>
          <a:prstGeom prst="straightConnector1">
            <a:avLst/>
          </a:prstGeom>
          <a:ln w="28575">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TextBox 77"/>
          <p:cNvSpPr txBox="1"/>
          <p:nvPr/>
        </p:nvSpPr>
        <p:spPr bwMode="gray">
          <a:xfrm>
            <a:off x="1983944" y="4233235"/>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6" name="TextBox 77"/>
          <p:cNvSpPr txBox="1"/>
          <p:nvPr/>
        </p:nvSpPr>
        <p:spPr bwMode="gray">
          <a:xfrm>
            <a:off x="937093" y="4233235"/>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PC2</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0" name="图片 6" descr="PC.png"/>
          <p:cNvPicPr>
            <a:picLocks noChangeAspect="1"/>
          </p:cNvPicPr>
          <p:nvPr/>
        </p:nvPicPr>
        <p:blipFill>
          <a:blip r:embed="rId7" cstate="print"/>
          <a:stretch>
            <a:fillRect/>
          </a:stretch>
        </p:blipFill>
        <p:spPr bwMode="gray">
          <a:xfrm>
            <a:off x="9559162" y="3154423"/>
            <a:ext cx="538853" cy="413838"/>
          </a:xfrm>
          <a:prstGeom prst="rect">
            <a:avLst/>
          </a:prstGeom>
        </p:spPr>
      </p:pic>
      <p:cxnSp>
        <p:nvCxnSpPr>
          <p:cNvPr id="61" name="直接连接符 12"/>
          <p:cNvCxnSpPr>
            <a:stCxn id="19" idx="1"/>
            <a:endCxn id="60" idx="2"/>
          </p:cNvCxnSpPr>
          <p:nvPr/>
        </p:nvCxnSpPr>
        <p:spPr bwMode="gray">
          <a:xfrm flipV="1">
            <a:off x="8581350" y="3568261"/>
            <a:ext cx="1247239" cy="91709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5" name="矩形 39"/>
          <p:cNvSpPr/>
          <p:nvPr/>
        </p:nvSpPr>
        <p:spPr bwMode="gray">
          <a:xfrm>
            <a:off x="10040066" y="3222842"/>
            <a:ext cx="800219" cy="276999"/>
          </a:xfrm>
          <a:prstGeom prst="rect">
            <a:avLst/>
          </a:prstGeom>
        </p:spPr>
        <p:txBody>
          <a:bodyPr wrap="none">
            <a:spAutoFit/>
          </a:bodyPr>
          <a:lstStyle/>
          <a:p>
            <a:pPr algn="ctr" defTabSz="914034"/>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外部主机</a:t>
            </a:r>
          </a:p>
        </p:txBody>
      </p:sp>
      <p:grpSp>
        <p:nvGrpSpPr>
          <p:cNvPr id="66" name="Group 65"/>
          <p:cNvGrpSpPr/>
          <p:nvPr/>
        </p:nvGrpSpPr>
        <p:grpSpPr bwMode="gray">
          <a:xfrm>
            <a:off x="8345562" y="2803041"/>
            <a:ext cx="2808724" cy="292271"/>
            <a:chOff x="3394498" y="3689867"/>
            <a:chExt cx="2808724" cy="292271"/>
          </a:xfrm>
        </p:grpSpPr>
        <p:sp>
          <p:nvSpPr>
            <p:cNvPr id="67" name="TextBox 120">
              <a:extLst>
                <a:ext uri="{FF2B5EF4-FFF2-40B4-BE49-F238E27FC236}">
                  <a16:creationId xmlns:a16="http://schemas.microsoft.com/office/drawing/2014/main" id="{31930744-3D36-4F81-8426-6F129C1A6804}"/>
                </a:ext>
              </a:extLst>
            </p:cNvPr>
            <p:cNvSpPr txBox="1"/>
            <p:nvPr/>
          </p:nvSpPr>
          <p:spPr bwMode="gray">
            <a:xfrm>
              <a:off x="3394498" y="3689867"/>
              <a:ext cx="115989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p:txBody>
        </p:sp>
        <p:sp>
          <p:nvSpPr>
            <p:cNvPr id="68" name="TextBox 120">
              <a:extLst>
                <a:ext uri="{FF2B5EF4-FFF2-40B4-BE49-F238E27FC236}">
                  <a16:creationId xmlns:a16="http://schemas.microsoft.com/office/drawing/2014/main" id="{31930744-3D36-4F81-8426-6F129C1A6804}"/>
                </a:ext>
              </a:extLst>
            </p:cNvPr>
            <p:cNvSpPr txBox="1"/>
            <p:nvPr/>
          </p:nvSpPr>
          <p:spPr bwMode="gray">
            <a:xfrm>
              <a:off x="5638398" y="3694423"/>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69" name="TextBox 120">
              <a:extLst>
                <a:ext uri="{FF2B5EF4-FFF2-40B4-BE49-F238E27FC236}">
                  <a16:creationId xmlns:a16="http://schemas.microsoft.com/office/drawing/2014/main" id="{31930744-3D36-4F81-8426-6F129C1A6804}"/>
                </a:ext>
              </a:extLst>
            </p:cNvPr>
            <p:cNvSpPr txBox="1"/>
            <p:nvPr/>
          </p:nvSpPr>
          <p:spPr bwMode="gray">
            <a:xfrm>
              <a:off x="4557663" y="3692804"/>
              <a:ext cx="1069084"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sp>
        <p:nvSpPr>
          <p:cNvPr id="70" name="doubts-button_84264"/>
          <p:cNvSpPr>
            <a:spLocks noChangeAspect="1"/>
          </p:cNvSpPr>
          <p:nvPr/>
        </p:nvSpPr>
        <p:spPr bwMode="gray">
          <a:xfrm>
            <a:off x="6248846" y="4450527"/>
            <a:ext cx="222608" cy="222299"/>
          </a:xfrm>
          <a:custGeom>
            <a:avLst/>
            <a:gdLst>
              <a:gd name="connsiteX0" fmla="*/ 303714 w 607568"/>
              <a:gd name="connsiteY0" fmla="*/ 416619 h 606722"/>
              <a:gd name="connsiteX1" fmla="*/ 339491 w 607568"/>
              <a:gd name="connsiteY1" fmla="*/ 452325 h 606722"/>
              <a:gd name="connsiteX2" fmla="*/ 303714 w 607568"/>
              <a:gd name="connsiteY2" fmla="*/ 488031 h 606722"/>
              <a:gd name="connsiteX3" fmla="*/ 267937 w 607568"/>
              <a:gd name="connsiteY3" fmla="*/ 452325 h 606722"/>
              <a:gd name="connsiteX4" fmla="*/ 303714 w 607568"/>
              <a:gd name="connsiteY4" fmla="*/ 416619 h 606722"/>
              <a:gd name="connsiteX5" fmla="*/ 303720 w 607568"/>
              <a:gd name="connsiteY5" fmla="*/ 113963 h 606722"/>
              <a:gd name="connsiteX6" fmla="*/ 413725 w 607568"/>
              <a:gd name="connsiteY6" fmla="*/ 223690 h 606722"/>
              <a:gd name="connsiteX7" fmla="*/ 329273 w 607568"/>
              <a:gd name="connsiteY7" fmla="*/ 330482 h 606722"/>
              <a:gd name="connsiteX8" fmla="*/ 329273 w 607568"/>
              <a:gd name="connsiteY8" fmla="*/ 365697 h 606722"/>
              <a:gd name="connsiteX9" fmla="*/ 303720 w 607568"/>
              <a:gd name="connsiteY9" fmla="*/ 391215 h 606722"/>
              <a:gd name="connsiteX10" fmla="*/ 278167 w 607568"/>
              <a:gd name="connsiteY10" fmla="*/ 365697 h 606722"/>
              <a:gd name="connsiteX11" fmla="*/ 278167 w 607568"/>
              <a:gd name="connsiteY11" fmla="*/ 307899 h 606722"/>
              <a:gd name="connsiteX12" fmla="*/ 303720 w 607568"/>
              <a:gd name="connsiteY12" fmla="*/ 282381 h 606722"/>
              <a:gd name="connsiteX13" fmla="*/ 362619 w 607568"/>
              <a:gd name="connsiteY13" fmla="*/ 223690 h 606722"/>
              <a:gd name="connsiteX14" fmla="*/ 303720 w 607568"/>
              <a:gd name="connsiteY14" fmla="*/ 164999 h 606722"/>
              <a:gd name="connsiteX15" fmla="*/ 244949 w 607568"/>
              <a:gd name="connsiteY15" fmla="*/ 223690 h 606722"/>
              <a:gd name="connsiteX16" fmla="*/ 219396 w 607568"/>
              <a:gd name="connsiteY16" fmla="*/ 249208 h 606722"/>
              <a:gd name="connsiteX17" fmla="*/ 193843 w 607568"/>
              <a:gd name="connsiteY17" fmla="*/ 223690 h 606722"/>
              <a:gd name="connsiteX18" fmla="*/ 303720 w 607568"/>
              <a:gd name="connsiteY18" fmla="*/ 113963 h 606722"/>
              <a:gd name="connsiteX19" fmla="*/ 303720 w 607568"/>
              <a:gd name="connsiteY19" fmla="*/ 51038 h 606722"/>
              <a:gd name="connsiteX20" fmla="*/ 51110 w 607568"/>
              <a:gd name="connsiteY20" fmla="*/ 303297 h 606722"/>
              <a:gd name="connsiteX21" fmla="*/ 303720 w 607568"/>
              <a:gd name="connsiteY21" fmla="*/ 555684 h 606722"/>
              <a:gd name="connsiteX22" fmla="*/ 556458 w 607568"/>
              <a:gd name="connsiteY22" fmla="*/ 303297 h 606722"/>
              <a:gd name="connsiteX23" fmla="*/ 303720 w 607568"/>
              <a:gd name="connsiteY23" fmla="*/ 51038 h 606722"/>
              <a:gd name="connsiteX24" fmla="*/ 303720 w 607568"/>
              <a:gd name="connsiteY24" fmla="*/ 0 h 606722"/>
              <a:gd name="connsiteX25" fmla="*/ 607568 w 607568"/>
              <a:gd name="connsiteY25" fmla="*/ 303297 h 606722"/>
              <a:gd name="connsiteX26" fmla="*/ 303720 w 607568"/>
              <a:gd name="connsiteY26" fmla="*/ 606722 h 606722"/>
              <a:gd name="connsiteX27" fmla="*/ 0 w 607568"/>
              <a:gd name="connsiteY27" fmla="*/ 303297 h 606722"/>
              <a:gd name="connsiteX28" fmla="*/ 303720 w 607568"/>
              <a:gd name="connsiteY2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7568" h="606722">
                <a:moveTo>
                  <a:pt x="303714" y="416619"/>
                </a:moveTo>
                <a:cubicBezTo>
                  <a:pt x="323473" y="416619"/>
                  <a:pt x="339491" y="432605"/>
                  <a:pt x="339491" y="452325"/>
                </a:cubicBezTo>
                <a:cubicBezTo>
                  <a:pt x="339491" y="472045"/>
                  <a:pt x="323473" y="488031"/>
                  <a:pt x="303714" y="488031"/>
                </a:cubicBezTo>
                <a:cubicBezTo>
                  <a:pt x="283955" y="488031"/>
                  <a:pt x="267937" y="472045"/>
                  <a:pt x="267937" y="452325"/>
                </a:cubicBezTo>
                <a:cubicBezTo>
                  <a:pt x="267937" y="432605"/>
                  <a:pt x="283955" y="416619"/>
                  <a:pt x="303714" y="416619"/>
                </a:cubicBezTo>
                <a:close/>
                <a:moveTo>
                  <a:pt x="303720" y="113963"/>
                </a:moveTo>
                <a:cubicBezTo>
                  <a:pt x="364408" y="113963"/>
                  <a:pt x="413725" y="163212"/>
                  <a:pt x="413725" y="223690"/>
                </a:cubicBezTo>
                <a:cubicBezTo>
                  <a:pt x="413725" y="275491"/>
                  <a:pt x="377696" y="318999"/>
                  <a:pt x="329273" y="330482"/>
                </a:cubicBezTo>
                <a:lnTo>
                  <a:pt x="329273" y="365697"/>
                </a:lnTo>
                <a:cubicBezTo>
                  <a:pt x="329273" y="379732"/>
                  <a:pt x="317902" y="391215"/>
                  <a:pt x="303720" y="391215"/>
                </a:cubicBezTo>
                <a:cubicBezTo>
                  <a:pt x="289666" y="391215"/>
                  <a:pt x="278167" y="379732"/>
                  <a:pt x="278167" y="365697"/>
                </a:cubicBezTo>
                <a:lnTo>
                  <a:pt x="278167" y="307899"/>
                </a:lnTo>
                <a:cubicBezTo>
                  <a:pt x="278167" y="293864"/>
                  <a:pt x="289666" y="282381"/>
                  <a:pt x="303720" y="282381"/>
                </a:cubicBezTo>
                <a:cubicBezTo>
                  <a:pt x="336172" y="282381"/>
                  <a:pt x="362619" y="256097"/>
                  <a:pt x="362619" y="223690"/>
                </a:cubicBezTo>
                <a:cubicBezTo>
                  <a:pt x="362619" y="191282"/>
                  <a:pt x="336172" y="164999"/>
                  <a:pt x="303720" y="164999"/>
                </a:cubicBezTo>
                <a:cubicBezTo>
                  <a:pt x="271396" y="164999"/>
                  <a:pt x="244949" y="191282"/>
                  <a:pt x="244949" y="223690"/>
                </a:cubicBezTo>
                <a:cubicBezTo>
                  <a:pt x="244949" y="237725"/>
                  <a:pt x="233578" y="249208"/>
                  <a:pt x="219396" y="249208"/>
                </a:cubicBezTo>
                <a:cubicBezTo>
                  <a:pt x="205342" y="249208"/>
                  <a:pt x="193843" y="237725"/>
                  <a:pt x="193843" y="223690"/>
                </a:cubicBezTo>
                <a:cubicBezTo>
                  <a:pt x="193843" y="163212"/>
                  <a:pt x="243160" y="113963"/>
                  <a:pt x="303720" y="113963"/>
                </a:cubicBezTo>
                <a:close/>
                <a:moveTo>
                  <a:pt x="303720" y="51038"/>
                </a:moveTo>
                <a:cubicBezTo>
                  <a:pt x="164446" y="51038"/>
                  <a:pt x="51110" y="164217"/>
                  <a:pt x="51110" y="303297"/>
                </a:cubicBezTo>
                <a:cubicBezTo>
                  <a:pt x="51110" y="442505"/>
                  <a:pt x="164446" y="555684"/>
                  <a:pt x="303720" y="555684"/>
                </a:cubicBezTo>
                <a:cubicBezTo>
                  <a:pt x="443122" y="555684"/>
                  <a:pt x="556458" y="442505"/>
                  <a:pt x="556458" y="303297"/>
                </a:cubicBezTo>
                <a:cubicBezTo>
                  <a:pt x="556458" y="164217"/>
                  <a:pt x="443122" y="51038"/>
                  <a:pt x="303720" y="51038"/>
                </a:cubicBezTo>
                <a:close/>
                <a:moveTo>
                  <a:pt x="303720" y="0"/>
                </a:moveTo>
                <a:cubicBezTo>
                  <a:pt x="471233" y="0"/>
                  <a:pt x="607568" y="136145"/>
                  <a:pt x="607568" y="303297"/>
                </a:cubicBezTo>
                <a:cubicBezTo>
                  <a:pt x="607568" y="470577"/>
                  <a:pt x="471233" y="606722"/>
                  <a:pt x="303720" y="606722"/>
                </a:cubicBezTo>
                <a:cubicBezTo>
                  <a:pt x="136335" y="606722"/>
                  <a:pt x="0" y="470577"/>
                  <a:pt x="0" y="303297"/>
                </a:cubicBezTo>
                <a:cubicBezTo>
                  <a:pt x="0" y="136145"/>
                  <a:pt x="136335" y="0"/>
                  <a:pt x="303720" y="0"/>
                </a:cubicBezTo>
                <a:close/>
              </a:path>
            </a:pathLst>
          </a:custGeom>
          <a:solidFill>
            <a:srgbClr val="EC7061"/>
          </a:solidFill>
          <a:ln>
            <a:solidFill>
              <a:srgbClr val="EC7061"/>
            </a:solidFill>
          </a:ln>
        </p:spPr>
      </p:sp>
      <p:grpSp>
        <p:nvGrpSpPr>
          <p:cNvPr id="37" name="组合 54"/>
          <p:cNvGrpSpPr/>
          <p:nvPr/>
        </p:nvGrpSpPr>
        <p:grpSpPr bwMode="gray">
          <a:xfrm>
            <a:off x="4304666" y="2283973"/>
            <a:ext cx="3394339" cy="1146849"/>
            <a:chOff x="4580326" y="2148755"/>
            <a:chExt cx="1879312" cy="1135498"/>
          </a:xfrm>
          <a:solidFill>
            <a:schemeClr val="bg1"/>
          </a:solidFill>
        </p:grpSpPr>
        <p:sp>
          <p:nvSpPr>
            <p:cNvPr id="38" name="TextBox 77"/>
            <p:cNvSpPr txBox="1"/>
            <p:nvPr/>
          </p:nvSpPr>
          <p:spPr bwMode="gray">
            <a:xfrm>
              <a:off x="4580326" y="2148755"/>
              <a:ext cx="1879312" cy="1135498"/>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39" name="矩形 56"/>
            <p:cNvSpPr/>
            <p:nvPr/>
          </p:nvSpPr>
          <p:spPr bwMode="gray">
            <a:xfrm>
              <a:off x="4592133" y="2165234"/>
              <a:ext cx="1822935" cy="274257"/>
            </a:xfrm>
            <a:prstGeom prst="rect">
              <a:avLst/>
            </a:prstGeom>
            <a:grpFill/>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40" name="表格 31"/>
          <p:cNvGraphicFramePr>
            <a:graphicFrameLocks noGrp="1"/>
          </p:cNvGraphicFramePr>
          <p:nvPr>
            <p:extLst>
              <p:ext uri="{D42A27DB-BD31-4B8C-83A1-F6EECF244321}">
                <p14:modId xmlns:p14="http://schemas.microsoft.com/office/powerpoint/2010/main" val="2530071637"/>
              </p:ext>
            </p:extLst>
          </p:nvPr>
        </p:nvGraphicFramePr>
        <p:xfrm>
          <a:off x="4366277" y="2553588"/>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200.1.2.3:80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pSp>
        <p:nvGrpSpPr>
          <p:cNvPr id="41" name="Group 40"/>
          <p:cNvGrpSpPr/>
          <p:nvPr/>
        </p:nvGrpSpPr>
        <p:grpSpPr bwMode="gray">
          <a:xfrm>
            <a:off x="3008004" y="3824850"/>
            <a:ext cx="3020634" cy="482461"/>
            <a:chOff x="3250482" y="3593963"/>
            <a:chExt cx="3020634" cy="482461"/>
          </a:xfrm>
        </p:grpSpPr>
        <p:sp>
          <p:nvSpPr>
            <p:cNvPr id="42"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192.168.1.1</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43"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4"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10321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80</a:t>
              </a:r>
            </a:p>
          </p:txBody>
        </p:sp>
      </p:grpSp>
      <p:grpSp>
        <p:nvGrpSpPr>
          <p:cNvPr id="51" name="Group 50"/>
          <p:cNvGrpSpPr/>
          <p:nvPr/>
        </p:nvGrpSpPr>
        <p:grpSpPr bwMode="gray">
          <a:xfrm>
            <a:off x="6248846" y="3824893"/>
            <a:ext cx="3020634" cy="482461"/>
            <a:chOff x="3250482" y="3593963"/>
            <a:chExt cx="3020634" cy="482461"/>
          </a:xfrm>
        </p:grpSpPr>
        <p:sp>
          <p:nvSpPr>
            <p:cNvPr id="57"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58"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59"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1025</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80</a:t>
              </a:r>
            </a:p>
          </p:txBody>
        </p:sp>
      </p:grpSp>
      <p:sp>
        <p:nvSpPr>
          <p:cNvPr id="64" name="Freeform 63"/>
          <p:cNvSpPr/>
          <p:nvPr/>
        </p:nvSpPr>
        <p:spPr bwMode="gray">
          <a:xfrm>
            <a:off x="6415977" y="3575325"/>
            <a:ext cx="3141133" cy="973666"/>
          </a:xfrm>
          <a:custGeom>
            <a:avLst/>
            <a:gdLst>
              <a:gd name="connsiteX0" fmla="*/ 3141133 w 3141133"/>
              <a:gd name="connsiteY0" fmla="*/ 0 h 973666"/>
              <a:gd name="connsiteX1" fmla="*/ 2032000 w 3141133"/>
              <a:gd name="connsiteY1" fmla="*/ 804333 h 973666"/>
              <a:gd name="connsiteX2" fmla="*/ 0 w 3141133"/>
              <a:gd name="connsiteY2" fmla="*/ 973666 h 973666"/>
            </a:gdLst>
            <a:ahLst/>
            <a:cxnLst>
              <a:cxn ang="0">
                <a:pos x="connsiteX0" y="connsiteY0"/>
              </a:cxn>
              <a:cxn ang="0">
                <a:pos x="connsiteX1" y="connsiteY1"/>
              </a:cxn>
              <a:cxn ang="0">
                <a:pos x="connsiteX2" y="connsiteY2"/>
              </a:cxn>
            </a:cxnLst>
            <a:rect l="l" t="t" r="r" b="b"/>
            <a:pathLst>
              <a:path w="3141133" h="973666">
                <a:moveTo>
                  <a:pt x="3141133" y="0"/>
                </a:moveTo>
                <a:cubicBezTo>
                  <a:pt x="2848327" y="321027"/>
                  <a:pt x="2555522" y="642055"/>
                  <a:pt x="2032000" y="804333"/>
                </a:cubicBezTo>
                <a:cubicBezTo>
                  <a:pt x="1508478" y="966611"/>
                  <a:pt x="754239" y="970138"/>
                  <a:pt x="0" y="97366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2" name="Elbow Connector 61"/>
          <p:cNvCxnSpPr/>
          <p:nvPr/>
        </p:nvCxnSpPr>
        <p:spPr bwMode="gray">
          <a:xfrm rot="5400000" flipH="1" flipV="1">
            <a:off x="5909028" y="2268046"/>
            <a:ext cx="641" cy="3057335"/>
          </a:xfrm>
          <a:prstGeom prst="bentConnector3">
            <a:avLst>
              <a:gd name="adj1" fmla="val 35763027"/>
            </a:avLst>
          </a:prstGeom>
          <a:ln w="19050">
            <a:solidFill>
              <a:srgbClr val="56C4D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矩形 26"/>
          <p:cNvSpPr/>
          <p:nvPr/>
        </p:nvSpPr>
        <p:spPr bwMode="gray">
          <a:xfrm>
            <a:off x="5184813" y="3438931"/>
            <a:ext cx="1510452" cy="276999"/>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源端口转换</a:t>
            </a:r>
          </a:p>
        </p:txBody>
      </p:sp>
      <p:grpSp>
        <p:nvGrpSpPr>
          <p:cNvPr id="81" name="Group 80"/>
          <p:cNvGrpSpPr/>
          <p:nvPr/>
        </p:nvGrpSpPr>
        <p:grpSpPr bwMode="gray">
          <a:xfrm>
            <a:off x="2867866" y="5027452"/>
            <a:ext cx="3167432" cy="482418"/>
            <a:chOff x="3103684" y="3594006"/>
            <a:chExt cx="3167432" cy="482418"/>
          </a:xfrm>
        </p:grpSpPr>
        <p:sp>
          <p:nvSpPr>
            <p:cNvPr id="82" name="TextBox 120">
              <a:extLst>
                <a:ext uri="{FF2B5EF4-FFF2-40B4-BE49-F238E27FC236}">
                  <a16:creationId xmlns:a16="http://schemas.microsoft.com/office/drawing/2014/main" id="{31930744-3D36-4F81-8426-6F129C1A6804}"/>
                </a:ext>
              </a:extLst>
            </p:cNvPr>
            <p:cNvSpPr txBox="1"/>
            <p:nvPr/>
          </p:nvSpPr>
          <p:spPr bwMode="gray">
            <a:xfrm>
              <a:off x="3103684" y="3594006"/>
              <a:ext cx="1405598" cy="479524"/>
            </a:xfrm>
            <a:prstGeom prst="roundRect">
              <a:avLst>
                <a:gd name="adj" fmla="val 6721"/>
              </a:avLst>
            </a:prstGeom>
            <a:solidFill>
              <a:srgbClr val="56C4D2"/>
            </a:solidFill>
            <a:ln w="12700">
              <a:solidFill>
                <a:srgbClr val="56C4D2"/>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200.1.2.3</a:t>
              </a:r>
            </a:p>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192.168.1.1</a:t>
              </a:r>
            </a:p>
          </p:txBody>
        </p:sp>
        <p:sp>
          <p:nvSpPr>
            <p:cNvPr id="83"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84" name="TextBox 120">
              <a:extLst>
                <a:ext uri="{FF2B5EF4-FFF2-40B4-BE49-F238E27FC236}">
                  <a16:creationId xmlns:a16="http://schemas.microsoft.com/office/drawing/2014/main" id="{31930744-3D36-4F81-8426-6F129C1A6804}"/>
                </a:ext>
              </a:extLst>
            </p:cNvPr>
            <p:cNvSpPr txBox="1"/>
            <p:nvPr/>
          </p:nvSpPr>
          <p:spPr bwMode="gray">
            <a:xfrm>
              <a:off x="4525834" y="3596900"/>
              <a:ext cx="1172391"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80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10321</a:t>
              </a:r>
            </a:p>
          </p:txBody>
        </p:sp>
      </p:grpSp>
      <p:cxnSp>
        <p:nvCxnSpPr>
          <p:cNvPr id="85" name="Elbow Connector 84"/>
          <p:cNvCxnSpPr/>
          <p:nvPr/>
        </p:nvCxnSpPr>
        <p:spPr bwMode="gray">
          <a:xfrm rot="16200000" flipH="1">
            <a:off x="5876420" y="4108282"/>
            <a:ext cx="641" cy="3057335"/>
          </a:xfrm>
          <a:prstGeom prst="bentConnector3">
            <a:avLst>
              <a:gd name="adj1" fmla="val 35763027"/>
            </a:avLst>
          </a:prstGeom>
          <a:ln w="19050">
            <a:solidFill>
              <a:srgbClr val="56C4D2"/>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6" name="Group 85"/>
          <p:cNvGrpSpPr/>
          <p:nvPr/>
        </p:nvGrpSpPr>
        <p:grpSpPr bwMode="gray">
          <a:xfrm>
            <a:off x="6255506" y="5027452"/>
            <a:ext cx="3020634" cy="482461"/>
            <a:chOff x="3250482" y="3593963"/>
            <a:chExt cx="3020634" cy="482461"/>
          </a:xfrm>
        </p:grpSpPr>
        <p:sp>
          <p:nvSpPr>
            <p:cNvPr id="87"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200.1.2.3</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p:txBody>
        </p:sp>
        <p:sp>
          <p:nvSpPr>
            <p:cNvPr id="88"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89"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fontAlgn="auto">
                <a:spcBef>
                  <a:spcPts val="0"/>
                </a:spcBef>
                <a:spcAft>
                  <a:spcPts val="0"/>
                </a:spcAft>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80</a:t>
              </a:r>
            </a:p>
            <a:p>
              <a:pPr fontAlgn="auto">
                <a:spcBef>
                  <a:spcPts val="0"/>
                </a:spcBef>
                <a:spcAft>
                  <a:spcPts val="0"/>
                </a:spcAft>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1025</a:t>
              </a:r>
            </a:p>
          </p:txBody>
        </p:sp>
      </p:grpSp>
      <p:sp>
        <p:nvSpPr>
          <p:cNvPr id="90" name="矩形 26"/>
          <p:cNvSpPr/>
          <p:nvPr/>
        </p:nvSpPr>
        <p:spPr bwMode="gray">
          <a:xfrm>
            <a:off x="5030510" y="5672410"/>
            <a:ext cx="1892671" cy="461665"/>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目的地址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目的端口转换（回程报文）</a:t>
            </a:r>
          </a:p>
        </p:txBody>
      </p:sp>
    </p:spTree>
    <p:custDataLst>
      <p:tags r:id="rId1"/>
    </p:custDataLst>
    <p:extLst>
      <p:ext uri="{BB962C8B-B14F-4D97-AF65-F5344CB8AC3E}">
        <p14:creationId xmlns:p14="http://schemas.microsoft.com/office/powerpoint/2010/main" val="31344586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b="1" dirty="0"/>
              <a:t>广域互联</a:t>
            </a:r>
            <a:r>
              <a:rPr lang="en-US" altLang="zh-CN" b="1" dirty="0"/>
              <a:t>NAT</a:t>
            </a:r>
            <a:r>
              <a:rPr lang="zh-CN" altLang="en-US" b="1" dirty="0"/>
              <a:t>穿越技术</a:t>
            </a:r>
            <a:endParaRPr lang="en-US" altLang="zh-CN" b="1" dirty="0"/>
          </a:p>
          <a:p>
            <a:pPr lvl="1"/>
            <a:r>
              <a:rPr lang="en-US" altLang="zh-CN" dirty="0">
                <a:solidFill>
                  <a:schemeClr val="bg1">
                    <a:lumMod val="50000"/>
                  </a:schemeClr>
                </a:solidFill>
              </a:rPr>
              <a:t>NAT</a:t>
            </a:r>
            <a:r>
              <a:rPr lang="zh-CN" altLang="en-US" dirty="0">
                <a:solidFill>
                  <a:schemeClr val="bg1">
                    <a:lumMod val="50000"/>
                  </a:schemeClr>
                </a:solidFill>
              </a:rPr>
              <a:t>基本原理</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NAT</a:t>
            </a:r>
            <a:r>
              <a:rPr lang="zh-CN" altLang="en-US" dirty="0"/>
              <a:t>类型介绍</a:t>
            </a:r>
            <a:endParaRPr lang="en-US" altLang="zh-CN" dirty="0"/>
          </a:p>
          <a:p>
            <a:pPr lvl="1"/>
            <a:r>
              <a:rPr lang="en-US" altLang="zh-CN" dirty="0">
                <a:solidFill>
                  <a:schemeClr val="bg1">
                    <a:lumMod val="50000"/>
                  </a:schemeClr>
                </a:solidFill>
              </a:rPr>
              <a:t>NAT</a:t>
            </a:r>
            <a:r>
              <a:rPr lang="zh-CN" altLang="en-US" dirty="0">
                <a:solidFill>
                  <a:schemeClr val="bg1">
                    <a:lumMod val="50000"/>
                  </a:schemeClr>
                </a:solidFill>
              </a:rPr>
              <a:t>穿越技术介绍</a:t>
            </a:r>
            <a:endParaRPr lang="en-US" altLang="zh-CN" dirty="0">
              <a:solidFill>
                <a:schemeClr val="bg1">
                  <a:lumMod val="50000"/>
                </a:schemeClr>
              </a:solidFill>
            </a:endParaRPr>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32071662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NAT</a:t>
            </a:r>
            <a:r>
              <a:rPr lang="zh-CN" altLang="en-US" dirty="0"/>
              <a:t>类型基本概念</a:t>
            </a:r>
          </a:p>
        </p:txBody>
      </p:sp>
      <p:sp>
        <p:nvSpPr>
          <p:cNvPr id="3" name="Text Placeholder 2"/>
          <p:cNvSpPr>
            <a:spLocks noGrp="1"/>
          </p:cNvSpPr>
          <p:nvPr>
            <p:ph type="body" sz="quarter" idx="10"/>
          </p:nvPr>
        </p:nvSpPr>
        <p:spPr bwMode="gray"/>
        <p:txBody>
          <a:bodyPr/>
          <a:lstStyle/>
          <a:p>
            <a:r>
              <a:rPr lang="en-US" altLang="zh-CN" sz="1800" dirty="0"/>
              <a:t>NAT</a:t>
            </a:r>
            <a:r>
              <a:rPr lang="zh-CN" altLang="en-US" sz="1800" dirty="0"/>
              <a:t>可以分成两大类：</a:t>
            </a:r>
            <a:r>
              <a:rPr lang="en-US" altLang="zh-CN" sz="1800" dirty="0"/>
              <a:t>Cone NAT</a:t>
            </a:r>
            <a:r>
              <a:rPr lang="zh-CN" altLang="en-US" sz="1800" dirty="0"/>
              <a:t>（圆锥型</a:t>
            </a:r>
            <a:r>
              <a:rPr lang="en-US" altLang="zh-CN" sz="1800" dirty="0"/>
              <a:t>NAT</a:t>
            </a:r>
            <a:r>
              <a:rPr lang="zh-CN" altLang="en-US" sz="1800" dirty="0"/>
              <a:t>）与</a:t>
            </a:r>
            <a:r>
              <a:rPr lang="en-US" altLang="zh-CN" sz="1800" dirty="0"/>
              <a:t>Symmetric NAT</a:t>
            </a:r>
            <a:r>
              <a:rPr lang="zh-CN" altLang="en-US" sz="1800" dirty="0"/>
              <a:t>（对称型</a:t>
            </a:r>
            <a:r>
              <a:rPr lang="en-US" altLang="zh-CN" sz="1800" dirty="0"/>
              <a:t>NAT</a:t>
            </a:r>
            <a:r>
              <a:rPr lang="zh-CN" altLang="en-US" sz="1800" dirty="0"/>
              <a:t>）。</a:t>
            </a:r>
            <a:endParaRPr lang="en-US" altLang="zh-CN" sz="1800" dirty="0"/>
          </a:p>
          <a:p>
            <a:r>
              <a:rPr lang="en-US" altLang="zh-CN" sz="1800" dirty="0"/>
              <a:t>Cone NAT</a:t>
            </a:r>
            <a:r>
              <a:rPr lang="zh-CN" altLang="en-US" sz="1800" dirty="0"/>
              <a:t>又可以分为</a:t>
            </a:r>
            <a:r>
              <a:rPr lang="en-US" altLang="zh-CN" sz="1800" dirty="0"/>
              <a:t>Full Cone NAT</a:t>
            </a:r>
            <a:r>
              <a:rPr lang="zh-CN" altLang="en-US" sz="1800" dirty="0"/>
              <a:t>（完全圆锥型）、</a:t>
            </a:r>
            <a:r>
              <a:rPr lang="en-US" altLang="zh-CN" sz="1800" dirty="0"/>
              <a:t>Restricted Cone NAT</a:t>
            </a:r>
            <a:r>
              <a:rPr lang="zh-CN" altLang="en-US" sz="1800" dirty="0"/>
              <a:t>（限制圆锥型）、</a:t>
            </a:r>
            <a:r>
              <a:rPr lang="en-US" altLang="zh-CN" sz="1800" dirty="0"/>
              <a:t>Port -Restricted Cone NAT</a:t>
            </a:r>
            <a:r>
              <a:rPr lang="zh-CN" altLang="en-US" sz="1800" dirty="0"/>
              <a:t>（端口限制圆锥型）。</a:t>
            </a:r>
            <a:endParaRPr lang="en-US" altLang="zh-CN" sz="1800" dirty="0"/>
          </a:p>
          <a:p>
            <a:r>
              <a:rPr lang="en-US" altLang="zh-CN" sz="1800" dirty="0"/>
              <a:t>NAT</a:t>
            </a:r>
            <a:r>
              <a:rPr lang="zh-CN" altLang="en-US" sz="1800" dirty="0"/>
              <a:t>类型相关概念</a:t>
            </a:r>
            <a:endParaRPr lang="en-US" altLang="zh-CN" sz="1800" dirty="0"/>
          </a:p>
          <a:p>
            <a:pPr lvl="1"/>
            <a:r>
              <a:rPr lang="zh-CN" altLang="en-US" sz="1600" b="1" dirty="0"/>
              <a:t>内部</a:t>
            </a:r>
            <a:r>
              <a:rPr lang="en-US" altLang="zh-CN" sz="1600" b="1" dirty="0"/>
              <a:t>Tuple</a:t>
            </a:r>
            <a:r>
              <a:rPr lang="zh-CN" altLang="en-US" sz="1600" b="1" dirty="0"/>
              <a:t>：</a:t>
            </a:r>
            <a:r>
              <a:rPr lang="zh-CN" altLang="en-US" sz="1600" dirty="0"/>
              <a:t>内部主机的私有地址和端口号所构成的二元组，即内部主机所发送报文的源地址、端口所构成的二元组。</a:t>
            </a:r>
          </a:p>
          <a:p>
            <a:pPr lvl="1"/>
            <a:r>
              <a:rPr lang="zh-CN" altLang="en-US" sz="1600" b="1" dirty="0"/>
              <a:t>外部</a:t>
            </a:r>
            <a:r>
              <a:rPr lang="en-US" altLang="zh-CN" sz="1600" b="1" dirty="0"/>
              <a:t>Tuple</a:t>
            </a:r>
            <a:r>
              <a:rPr lang="zh-CN" altLang="en-US" sz="1600" b="1" dirty="0"/>
              <a:t>：</a:t>
            </a:r>
            <a:r>
              <a:rPr lang="zh-CN" altLang="en-US" sz="1600" dirty="0"/>
              <a:t>内部</a:t>
            </a:r>
            <a:r>
              <a:rPr lang="en-US" altLang="zh-CN" sz="1600" dirty="0"/>
              <a:t>Tuple</a:t>
            </a:r>
            <a:r>
              <a:rPr lang="zh-CN" altLang="en-US" sz="1600" dirty="0"/>
              <a:t>经过</a:t>
            </a:r>
            <a:r>
              <a:rPr lang="en-US" altLang="zh-CN" sz="1600" dirty="0"/>
              <a:t>NAT</a:t>
            </a:r>
            <a:r>
              <a:rPr lang="zh-CN" altLang="en-US" sz="1600" dirty="0"/>
              <a:t>的源地址</a:t>
            </a:r>
            <a:r>
              <a:rPr lang="en-US" altLang="zh-CN" sz="1600" dirty="0"/>
              <a:t>/</a:t>
            </a:r>
            <a:r>
              <a:rPr lang="zh-CN" altLang="en-US" sz="1600" dirty="0"/>
              <a:t>端口转换之后，所获得的外部地址、端口所构成的二元组，即外部主机收到经</a:t>
            </a:r>
            <a:r>
              <a:rPr lang="en-US" altLang="zh-CN" sz="1600" dirty="0"/>
              <a:t>NAT</a:t>
            </a:r>
            <a:r>
              <a:rPr lang="zh-CN" altLang="en-US" sz="1600" dirty="0"/>
              <a:t>转换之后的报文时，所看到的该报文的源地址和源端口。</a:t>
            </a:r>
          </a:p>
          <a:p>
            <a:pPr lvl="1"/>
            <a:r>
              <a:rPr lang="zh-CN" altLang="en-US" sz="1600" b="1" dirty="0"/>
              <a:t>目标</a:t>
            </a:r>
            <a:r>
              <a:rPr lang="en-US" altLang="zh-CN" sz="1600" b="1" dirty="0"/>
              <a:t>Tuple</a:t>
            </a:r>
            <a:r>
              <a:rPr lang="zh-CN" altLang="en-US" sz="1600" b="1" dirty="0"/>
              <a:t>：</a:t>
            </a:r>
            <a:r>
              <a:rPr lang="zh-CN" altLang="en-US" sz="1600" dirty="0"/>
              <a:t>外部主机的地址、端口所构成的二元组，即内部主机所发送报文的目标地址、端口所构成的二元组。</a:t>
            </a:r>
            <a:endParaRPr lang="en-US" altLang="zh-CN" dirty="0"/>
          </a:p>
        </p:txBody>
      </p:sp>
      <p:grpSp>
        <p:nvGrpSpPr>
          <p:cNvPr id="4" name="Group 3"/>
          <p:cNvGrpSpPr/>
          <p:nvPr/>
        </p:nvGrpSpPr>
        <p:grpSpPr bwMode="gray">
          <a:xfrm>
            <a:off x="1055440" y="5126353"/>
            <a:ext cx="3020634" cy="482461"/>
            <a:chOff x="3250482" y="3593963"/>
            <a:chExt cx="3020634" cy="482461"/>
          </a:xfrm>
        </p:grpSpPr>
        <p:sp>
          <p:nvSpPr>
            <p:cNvPr id="5"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192.168.1.1</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6"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7"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10321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80</a:t>
              </a:r>
            </a:p>
          </p:txBody>
        </p:sp>
      </p:grpSp>
      <p:cxnSp>
        <p:nvCxnSpPr>
          <p:cNvPr id="8" name="Elbow Connector 7"/>
          <p:cNvCxnSpPr/>
          <p:nvPr/>
        </p:nvCxnSpPr>
        <p:spPr bwMode="gray">
          <a:xfrm rot="5400000" flipH="1" flipV="1">
            <a:off x="3919781" y="3550188"/>
            <a:ext cx="641" cy="3057335"/>
          </a:xfrm>
          <a:prstGeom prst="bentConnector3">
            <a:avLst>
              <a:gd name="adj1" fmla="val 35763027"/>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 name="矩形 26"/>
          <p:cNvSpPr/>
          <p:nvPr/>
        </p:nvSpPr>
        <p:spPr bwMode="gray">
          <a:xfrm>
            <a:off x="3195566" y="4721073"/>
            <a:ext cx="1510452" cy="276999"/>
          </a:xfrm>
          <a:prstGeom prst="rect">
            <a:avLst/>
          </a:prstGeom>
          <a:solidFill>
            <a:schemeClr val="bg1"/>
          </a:solid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源地址</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源端口转换</a:t>
            </a:r>
          </a:p>
        </p:txBody>
      </p:sp>
      <p:grpSp>
        <p:nvGrpSpPr>
          <p:cNvPr id="10" name="Group 9"/>
          <p:cNvGrpSpPr/>
          <p:nvPr/>
        </p:nvGrpSpPr>
        <p:grpSpPr bwMode="gray">
          <a:xfrm>
            <a:off x="4296282" y="5126396"/>
            <a:ext cx="3020634" cy="482461"/>
            <a:chOff x="3250482" y="3593963"/>
            <a:chExt cx="3020634" cy="482461"/>
          </a:xfrm>
        </p:grpSpPr>
        <p:sp>
          <p:nvSpPr>
            <p:cNvPr id="11" name="TextBox 120">
              <a:extLst>
                <a:ext uri="{FF2B5EF4-FFF2-40B4-BE49-F238E27FC236}">
                  <a16:creationId xmlns:a16="http://schemas.microsoft.com/office/drawing/2014/main" id="{31930744-3D36-4F81-8426-6F129C1A6804}"/>
                </a:ext>
              </a:extLst>
            </p:cNvPr>
            <p:cNvSpPr txBox="1"/>
            <p:nvPr/>
          </p:nvSpPr>
          <p:spPr bwMode="gray">
            <a:xfrm>
              <a:off x="3250482" y="3593963"/>
              <a:ext cx="1303915"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122.1.2.2</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200.1.2.3</a:t>
              </a:r>
            </a:p>
          </p:txBody>
        </p:sp>
        <p:sp>
          <p:nvSpPr>
            <p:cNvPr id="12" name="TextBox 120">
              <a:extLst>
                <a:ext uri="{FF2B5EF4-FFF2-40B4-BE49-F238E27FC236}">
                  <a16:creationId xmlns:a16="http://schemas.microsoft.com/office/drawing/2014/main" id="{31930744-3D36-4F81-8426-6F129C1A6804}"/>
                </a:ext>
              </a:extLst>
            </p:cNvPr>
            <p:cNvSpPr txBox="1"/>
            <p:nvPr/>
          </p:nvSpPr>
          <p:spPr bwMode="gray">
            <a:xfrm>
              <a:off x="5706292" y="3596900"/>
              <a:ext cx="564824" cy="476587"/>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13" name="TextBox 120">
              <a:extLst>
                <a:ext uri="{FF2B5EF4-FFF2-40B4-BE49-F238E27FC236}">
                  <a16:creationId xmlns:a16="http://schemas.microsoft.com/office/drawing/2014/main" id="{31930744-3D36-4F81-8426-6F129C1A6804}"/>
                </a:ext>
              </a:extLst>
            </p:cNvPr>
            <p:cNvSpPr txBox="1"/>
            <p:nvPr/>
          </p:nvSpPr>
          <p:spPr bwMode="gray">
            <a:xfrm>
              <a:off x="4557662" y="3596900"/>
              <a:ext cx="114056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 Port: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1025</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80</a:t>
              </a:r>
            </a:p>
          </p:txBody>
        </p:sp>
      </p:grpSp>
      <p:sp>
        <p:nvSpPr>
          <p:cNvPr id="14" name="Rectangle 13"/>
          <p:cNvSpPr/>
          <p:nvPr/>
        </p:nvSpPr>
        <p:spPr bwMode="gray">
          <a:xfrm>
            <a:off x="1055440" y="5115556"/>
            <a:ext cx="2447743" cy="254965"/>
          </a:xfrm>
          <a:prstGeom prst="rect">
            <a:avLst/>
          </a:prstGeom>
          <a:no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Rectangle 14"/>
          <p:cNvSpPr/>
          <p:nvPr/>
        </p:nvSpPr>
        <p:spPr bwMode="gray">
          <a:xfrm>
            <a:off x="4294609" y="5119273"/>
            <a:ext cx="2447743" cy="226401"/>
          </a:xfrm>
          <a:prstGeom prst="rect">
            <a:avLst/>
          </a:prstGeom>
          <a:no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Rectangle 15"/>
          <p:cNvSpPr/>
          <p:nvPr/>
        </p:nvSpPr>
        <p:spPr bwMode="gray">
          <a:xfrm>
            <a:off x="1055440" y="5359724"/>
            <a:ext cx="2447743" cy="254965"/>
          </a:xfrm>
          <a:prstGeom prst="rect">
            <a:avLst/>
          </a:prstGeom>
          <a:no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16"/>
          <p:cNvSpPr/>
          <p:nvPr/>
        </p:nvSpPr>
        <p:spPr bwMode="gray">
          <a:xfrm>
            <a:off x="4294608" y="5354547"/>
            <a:ext cx="2447743" cy="254965"/>
          </a:xfrm>
          <a:prstGeom prst="rect">
            <a:avLst/>
          </a:prstGeom>
          <a:no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ular Callout 17"/>
          <p:cNvSpPr/>
          <p:nvPr/>
        </p:nvSpPr>
        <p:spPr bwMode="gray">
          <a:xfrm>
            <a:off x="1277372" y="4758317"/>
            <a:ext cx="962677" cy="276999"/>
          </a:xfrm>
          <a:prstGeom prst="wedgeRectCallout">
            <a:avLst>
              <a:gd name="adj1" fmla="val 29073"/>
              <a:gd name="adj2" fmla="val 8206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内部</a:t>
            </a:r>
            <a:r>
              <a:rPr lang="en-US" altLang="zh-CN" sz="1200" dirty="0">
                <a:solidFill>
                  <a:schemeClr val="tx1"/>
                </a:solidFill>
              </a:rPr>
              <a:t>Tuple</a:t>
            </a:r>
            <a:endParaRPr lang="zh-CN" altLang="en-US" sz="1200" dirty="0">
              <a:solidFill>
                <a:schemeClr val="tx1"/>
              </a:solidFill>
            </a:endParaRPr>
          </a:p>
        </p:txBody>
      </p:sp>
      <p:sp>
        <p:nvSpPr>
          <p:cNvPr id="19" name="Rectangular Callout 18"/>
          <p:cNvSpPr/>
          <p:nvPr/>
        </p:nvSpPr>
        <p:spPr bwMode="gray">
          <a:xfrm>
            <a:off x="5499170" y="4786836"/>
            <a:ext cx="956870" cy="276999"/>
          </a:xfrm>
          <a:prstGeom prst="wedgeRectCallout">
            <a:avLst>
              <a:gd name="adj1" fmla="val -34320"/>
              <a:gd name="adj2" fmla="val 8569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外部</a:t>
            </a:r>
            <a:r>
              <a:rPr lang="en-US" altLang="zh-CN" sz="1200" dirty="0">
                <a:solidFill>
                  <a:schemeClr val="tx1"/>
                </a:solidFill>
              </a:rPr>
              <a:t>Tuple</a:t>
            </a:r>
            <a:endParaRPr lang="zh-CN" altLang="en-US" sz="1200" dirty="0">
              <a:solidFill>
                <a:schemeClr val="tx1"/>
              </a:solidFill>
            </a:endParaRPr>
          </a:p>
        </p:txBody>
      </p:sp>
      <p:sp>
        <p:nvSpPr>
          <p:cNvPr id="20" name="Rectangular Callout 19"/>
          <p:cNvSpPr/>
          <p:nvPr/>
        </p:nvSpPr>
        <p:spPr bwMode="gray">
          <a:xfrm>
            <a:off x="1971386" y="5707304"/>
            <a:ext cx="956261" cy="276999"/>
          </a:xfrm>
          <a:prstGeom prst="wedgeRectCallout">
            <a:avLst>
              <a:gd name="adj1" fmla="val -11240"/>
              <a:gd name="adj2" fmla="val -1074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sp>
        <p:nvSpPr>
          <p:cNvPr id="21" name="Rectangular Callout 20"/>
          <p:cNvSpPr/>
          <p:nvPr/>
        </p:nvSpPr>
        <p:spPr bwMode="gray">
          <a:xfrm>
            <a:off x="4906915" y="5703588"/>
            <a:ext cx="912752" cy="276999"/>
          </a:xfrm>
          <a:prstGeom prst="wedgeRectCallout">
            <a:avLst>
              <a:gd name="adj1" fmla="val 20003"/>
              <a:gd name="adj2" fmla="val -10743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grpSp>
        <p:nvGrpSpPr>
          <p:cNvPr id="22" name="组合 54"/>
          <p:cNvGrpSpPr/>
          <p:nvPr/>
        </p:nvGrpSpPr>
        <p:grpSpPr bwMode="gray">
          <a:xfrm>
            <a:off x="7579465" y="4721073"/>
            <a:ext cx="3394339" cy="1146849"/>
            <a:chOff x="4580326" y="2148755"/>
            <a:chExt cx="1879312" cy="1135498"/>
          </a:xfrm>
          <a:solidFill>
            <a:schemeClr val="bg1"/>
          </a:solidFill>
        </p:grpSpPr>
        <p:sp>
          <p:nvSpPr>
            <p:cNvPr id="23" name="TextBox 77"/>
            <p:cNvSpPr txBox="1"/>
            <p:nvPr/>
          </p:nvSpPr>
          <p:spPr bwMode="gray">
            <a:xfrm>
              <a:off x="4580326" y="2148755"/>
              <a:ext cx="1879312" cy="1135498"/>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24" name="矩形 56"/>
            <p:cNvSpPr/>
            <p:nvPr/>
          </p:nvSpPr>
          <p:spPr bwMode="gray">
            <a:xfrm>
              <a:off x="4592133" y="2165234"/>
              <a:ext cx="1822935" cy="274257"/>
            </a:xfrm>
            <a:prstGeom prst="rect">
              <a:avLst/>
            </a:prstGeom>
            <a:grpFill/>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25" name="表格 31"/>
          <p:cNvGraphicFramePr>
            <a:graphicFrameLocks noGrp="1"/>
          </p:cNvGraphicFramePr>
          <p:nvPr>
            <p:extLst>
              <p:ext uri="{D42A27DB-BD31-4B8C-83A1-F6EECF244321}">
                <p14:modId xmlns:p14="http://schemas.microsoft.com/office/powerpoint/2010/main" val="194097440"/>
              </p:ext>
            </p:extLst>
          </p:nvPr>
        </p:nvGraphicFramePr>
        <p:xfrm>
          <a:off x="7641076" y="4990688"/>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200.1.2.3:80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26" name="Rectangular Callout 25"/>
          <p:cNvSpPr/>
          <p:nvPr/>
        </p:nvSpPr>
        <p:spPr bwMode="gray">
          <a:xfrm>
            <a:off x="7315348" y="4926150"/>
            <a:ext cx="956870" cy="276999"/>
          </a:xfrm>
          <a:prstGeom prst="wedgeRectCallout">
            <a:avLst>
              <a:gd name="adj1" fmla="val 47214"/>
              <a:gd name="adj2" fmla="val 10652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内部</a:t>
            </a:r>
            <a:r>
              <a:rPr lang="en-US" altLang="zh-CN" sz="1200" dirty="0">
                <a:solidFill>
                  <a:schemeClr val="tx1"/>
                </a:solidFill>
              </a:rPr>
              <a:t>Tuple</a:t>
            </a:r>
            <a:endParaRPr lang="zh-CN" altLang="en-US" sz="1200" dirty="0">
              <a:solidFill>
                <a:schemeClr val="tx1"/>
              </a:solidFill>
            </a:endParaRPr>
          </a:p>
        </p:txBody>
      </p:sp>
      <p:sp>
        <p:nvSpPr>
          <p:cNvPr id="27" name="Rectangular Callout 26"/>
          <p:cNvSpPr/>
          <p:nvPr/>
        </p:nvSpPr>
        <p:spPr bwMode="gray">
          <a:xfrm>
            <a:off x="10690082" y="5590923"/>
            <a:ext cx="956869" cy="276999"/>
          </a:xfrm>
          <a:prstGeom prst="wedgeRectCallout">
            <a:avLst>
              <a:gd name="adj1" fmla="val -33411"/>
              <a:gd name="adj2" fmla="val -11049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外部</a:t>
            </a:r>
            <a:r>
              <a:rPr lang="en-US" altLang="zh-CN" sz="1200" dirty="0">
                <a:solidFill>
                  <a:schemeClr val="tx1"/>
                </a:solidFill>
              </a:rPr>
              <a:t>Tuple</a:t>
            </a:r>
            <a:endParaRPr lang="zh-CN" altLang="en-US" sz="1200" dirty="0">
              <a:solidFill>
                <a:schemeClr val="tx1"/>
              </a:solidFill>
            </a:endParaRPr>
          </a:p>
        </p:txBody>
      </p:sp>
      <p:sp>
        <p:nvSpPr>
          <p:cNvPr id="28" name="Rectangular Callout 27"/>
          <p:cNvSpPr/>
          <p:nvPr/>
        </p:nvSpPr>
        <p:spPr bwMode="gray">
          <a:xfrm>
            <a:off x="7326363" y="5765328"/>
            <a:ext cx="956870" cy="276999"/>
          </a:xfrm>
          <a:prstGeom prst="wedgeRectCallout">
            <a:avLst>
              <a:gd name="adj1" fmla="val 47215"/>
              <a:gd name="adj2" fmla="val -952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spTree>
    <p:extLst>
      <p:ext uri="{BB962C8B-B14F-4D97-AF65-F5344CB8AC3E}">
        <p14:creationId xmlns:p14="http://schemas.microsoft.com/office/powerpoint/2010/main" val="32770463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bwMode="gray"/>
        <p:txBody>
          <a:bodyPr/>
          <a:lstStyle/>
          <a:p>
            <a:r>
              <a:rPr lang="en-US" altLang="zh-CN" sz="1600" dirty="0"/>
              <a:t>Full Cone NAT</a:t>
            </a:r>
            <a:r>
              <a:rPr lang="zh-CN" altLang="en-US" sz="1600" dirty="0"/>
              <a:t>（完全圆锥型）：同一内部</a:t>
            </a:r>
            <a:r>
              <a:rPr lang="en-US" altLang="zh-CN" sz="1600" dirty="0"/>
              <a:t>Tuple</a:t>
            </a:r>
            <a:r>
              <a:rPr lang="zh-CN" altLang="en-US" sz="1600" dirty="0"/>
              <a:t>请求被</a:t>
            </a:r>
            <a:r>
              <a:rPr lang="en-US" altLang="zh-CN" sz="1600" dirty="0"/>
              <a:t>NAT</a:t>
            </a:r>
            <a:r>
              <a:rPr lang="zh-CN" altLang="en-US" sz="1600" dirty="0"/>
              <a:t>转换至同一外部</a:t>
            </a:r>
            <a:r>
              <a:rPr lang="en-US" altLang="zh-CN" sz="1600" dirty="0"/>
              <a:t>Tuple</a:t>
            </a:r>
            <a:r>
              <a:rPr lang="zh-CN" altLang="en-US" sz="1600" dirty="0"/>
              <a:t>，任意外部主机就都能以外部</a:t>
            </a:r>
            <a:r>
              <a:rPr lang="en-US" altLang="zh-CN" sz="1600" dirty="0"/>
              <a:t>Tuple</a:t>
            </a:r>
            <a:r>
              <a:rPr lang="zh-CN" altLang="en-US" sz="1600" dirty="0"/>
              <a:t>中的地址和端口为目标发送报文，</a:t>
            </a:r>
            <a:r>
              <a:rPr lang="en-US" altLang="zh-CN" sz="1600" dirty="0"/>
              <a:t>NAT</a:t>
            </a:r>
            <a:r>
              <a:rPr lang="zh-CN" altLang="en-US" sz="1600" dirty="0"/>
              <a:t>设备对收到的报文能正确转发。</a:t>
            </a:r>
            <a:r>
              <a:rPr lang="en-US" altLang="zh-CN" sz="1600" dirty="0"/>
              <a:t>Full Cone NAT</a:t>
            </a:r>
            <a:r>
              <a:rPr lang="zh-CN" altLang="en-US" sz="1600" dirty="0"/>
              <a:t>处理方法简单，但安全性有缺陷。</a:t>
            </a:r>
          </a:p>
        </p:txBody>
      </p:sp>
      <p:sp>
        <p:nvSpPr>
          <p:cNvPr id="23" name="Isosceles Triangle 22">
            <a:extLst>
              <a:ext uri="{FF2B5EF4-FFF2-40B4-BE49-F238E27FC236}">
                <a16:creationId xmlns:a16="http://schemas.microsoft.com/office/drawing/2014/main" id="{D009E5CC-F89C-443F-9D76-661881313A0C}"/>
              </a:ext>
            </a:extLst>
          </p:cNvPr>
          <p:cNvSpPr/>
          <p:nvPr/>
        </p:nvSpPr>
        <p:spPr bwMode="gray">
          <a:xfrm rot="16200000">
            <a:off x="6161239" y="4010479"/>
            <a:ext cx="643196" cy="891510"/>
          </a:xfrm>
          <a:custGeom>
            <a:avLst/>
            <a:gdLst>
              <a:gd name="connsiteX0" fmla="*/ 0 w 1225579"/>
              <a:gd name="connsiteY0" fmla="*/ 1739918 h 1739918"/>
              <a:gd name="connsiteX1" fmla="*/ 612790 w 1225579"/>
              <a:gd name="connsiteY1" fmla="*/ 0 h 1739918"/>
              <a:gd name="connsiteX2" fmla="*/ 1225579 w 1225579"/>
              <a:gd name="connsiteY2" fmla="*/ 1739918 h 1739918"/>
              <a:gd name="connsiteX3" fmla="*/ 0 w 1225579"/>
              <a:gd name="connsiteY3" fmla="*/ 1739918 h 1739918"/>
              <a:gd name="connsiteX0" fmla="*/ 0 w 1225579"/>
              <a:gd name="connsiteY0" fmla="*/ 1739918 h 1739918"/>
              <a:gd name="connsiteX1" fmla="*/ 612790 w 1225579"/>
              <a:gd name="connsiteY1" fmla="*/ 0 h 1739918"/>
              <a:gd name="connsiteX2" fmla="*/ 1225579 w 1225579"/>
              <a:gd name="connsiteY2" fmla="*/ 1739918 h 1739918"/>
              <a:gd name="connsiteX3" fmla="*/ 0 w 1225579"/>
              <a:gd name="connsiteY3" fmla="*/ 1739918 h 1739918"/>
              <a:gd name="connsiteX0" fmla="*/ 0 w 1225579"/>
              <a:gd name="connsiteY0" fmla="*/ 1739918 h 1911243"/>
              <a:gd name="connsiteX1" fmla="*/ 612790 w 1225579"/>
              <a:gd name="connsiteY1" fmla="*/ 0 h 1911243"/>
              <a:gd name="connsiteX2" fmla="*/ 1225579 w 1225579"/>
              <a:gd name="connsiteY2" fmla="*/ 1739918 h 1911243"/>
              <a:gd name="connsiteX3" fmla="*/ 0 w 1225579"/>
              <a:gd name="connsiteY3" fmla="*/ 1739918 h 1911243"/>
              <a:gd name="connsiteX0" fmla="*/ 0 w 1225579"/>
              <a:gd name="connsiteY0" fmla="*/ 1739918 h 1999652"/>
              <a:gd name="connsiteX1" fmla="*/ 612790 w 1225579"/>
              <a:gd name="connsiteY1" fmla="*/ 0 h 1999652"/>
              <a:gd name="connsiteX2" fmla="*/ 1225579 w 1225579"/>
              <a:gd name="connsiteY2" fmla="*/ 1739918 h 1999652"/>
              <a:gd name="connsiteX3" fmla="*/ 0 w 1225579"/>
              <a:gd name="connsiteY3" fmla="*/ 1739918 h 1999652"/>
            </a:gdLst>
            <a:ahLst/>
            <a:cxnLst>
              <a:cxn ang="0">
                <a:pos x="connsiteX0" y="connsiteY0"/>
              </a:cxn>
              <a:cxn ang="0">
                <a:pos x="connsiteX1" y="connsiteY1"/>
              </a:cxn>
              <a:cxn ang="0">
                <a:pos x="connsiteX2" y="connsiteY2"/>
              </a:cxn>
              <a:cxn ang="0">
                <a:pos x="connsiteX3" y="connsiteY3"/>
              </a:cxn>
            </a:cxnLst>
            <a:rect l="l" t="t" r="r" b="b"/>
            <a:pathLst>
              <a:path w="1225579" h="1999652">
                <a:moveTo>
                  <a:pt x="0" y="1739918"/>
                </a:moveTo>
                <a:lnTo>
                  <a:pt x="612790" y="0"/>
                </a:lnTo>
                <a:lnTo>
                  <a:pt x="1225579" y="1739918"/>
                </a:lnTo>
                <a:cubicBezTo>
                  <a:pt x="772229" y="2125401"/>
                  <a:pt x="291985" y="2044718"/>
                  <a:pt x="0" y="1739918"/>
                </a:cubicBezTo>
                <a:close/>
              </a:path>
            </a:pathLst>
          </a:custGeom>
          <a:solidFill>
            <a:srgbClr val="F4FB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圆角矩形 75"/>
          <p:cNvSpPr/>
          <p:nvPr/>
        </p:nvSpPr>
        <p:spPr bwMode="gray">
          <a:xfrm>
            <a:off x="743804" y="2387536"/>
            <a:ext cx="10723846" cy="352637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内网</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与</a:t>
            </a:r>
            <a:r>
              <a:rPr lang="en-US" altLang="zh-CN" sz="1400" dirty="0">
                <a:solidFill>
                  <a:prstClr val="black"/>
                </a:solidFill>
                <a:sym typeface="Huawei Sans" panose="020C0503030203020204" pitchFamily="34" charset="0"/>
              </a:rPr>
              <a:t>Web</a:t>
            </a:r>
            <a:r>
              <a:rPr lang="zh-CN" altLang="en-US" sz="1400" dirty="0">
                <a:solidFill>
                  <a:prstClr val="black"/>
                </a:solidFill>
                <a:sym typeface="Huawei Sans" panose="020C0503030203020204" pitchFamily="34" charset="0"/>
              </a:rPr>
              <a:t>服务器通信以后，</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设备生成</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映射表，如果是</a:t>
            </a:r>
            <a:r>
              <a:rPr lang="en-US" altLang="zh-CN" sz="1400" dirty="0">
                <a:solidFill>
                  <a:prstClr val="black"/>
                </a:solidFill>
                <a:sym typeface="Huawei Sans" panose="020C0503030203020204" pitchFamily="34" charset="0"/>
              </a:rPr>
              <a:t>Full Cone NAT</a:t>
            </a:r>
            <a:r>
              <a:rPr lang="zh-CN" altLang="en-US" sz="1400" dirty="0">
                <a:solidFill>
                  <a:prstClr val="black"/>
                </a:solidFill>
                <a:sym typeface="Huawei Sans" panose="020C0503030203020204" pitchFamily="34" charset="0"/>
              </a:rPr>
              <a:t>类型，则攻击者以外部</a:t>
            </a:r>
            <a:r>
              <a:rPr lang="en-US" altLang="zh-CN" sz="1400" dirty="0">
                <a:solidFill>
                  <a:prstClr val="black"/>
                </a:solidFill>
                <a:sym typeface="Huawei Sans" panose="020C0503030203020204" pitchFamily="34" charset="0"/>
              </a:rPr>
              <a:t>Tuple</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122.1.2.2:1025</a:t>
            </a:r>
            <a:r>
              <a:rPr lang="zh-CN" altLang="en-US" sz="1400" dirty="0">
                <a:solidFill>
                  <a:prstClr val="black"/>
                </a:solidFill>
                <a:sym typeface="Huawei Sans" panose="020C0503030203020204" pitchFamily="34" charset="0"/>
              </a:rPr>
              <a:t>）为目标发送数据，则数据会被发送给</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a:t>
            </a:r>
            <a:endParaRPr lang="en-US" altLang="zh-CN" sz="1399" dirty="0">
              <a:solidFill>
                <a:prstClr val="black"/>
              </a:solidFill>
              <a:latin typeface="方正兰亭黑简体"/>
              <a:sym typeface="Huawei Sans" panose="020C0503030203020204" pitchFamily="34" charset="0"/>
            </a:endParaRPr>
          </a:p>
        </p:txBody>
      </p:sp>
      <p:sp>
        <p:nvSpPr>
          <p:cNvPr id="2" name="Title 1"/>
          <p:cNvSpPr>
            <a:spLocks noGrp="1"/>
          </p:cNvSpPr>
          <p:nvPr>
            <p:ph type="title"/>
          </p:nvPr>
        </p:nvSpPr>
        <p:spPr bwMode="gray"/>
        <p:txBody>
          <a:bodyPr/>
          <a:lstStyle/>
          <a:p>
            <a:r>
              <a:rPr lang="en-US" altLang="zh-CN" dirty="0"/>
              <a:t>Full Cone NAT</a:t>
            </a:r>
            <a:r>
              <a:rPr lang="zh-CN" altLang="en-US" dirty="0"/>
              <a:t>介绍</a:t>
            </a:r>
          </a:p>
        </p:txBody>
      </p:sp>
      <p:sp>
        <p:nvSpPr>
          <p:cNvPr id="5" name="圆角矩形 75"/>
          <p:cNvSpPr/>
          <p:nvPr/>
        </p:nvSpPr>
        <p:spPr bwMode="gray">
          <a:xfrm>
            <a:off x="742353" y="1959338"/>
            <a:ext cx="10751747"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Full Cone NAT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12"/>
          <p:cNvCxnSpPr>
            <a:endCxn id="9" idx="1"/>
          </p:cNvCxnSpPr>
          <p:nvPr/>
        </p:nvCxnSpPr>
        <p:spPr bwMode="gray">
          <a:xfrm>
            <a:off x="3245034" y="4461589"/>
            <a:ext cx="6797582" cy="494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 name="矩形 39"/>
          <p:cNvSpPr/>
          <p:nvPr/>
        </p:nvSpPr>
        <p:spPr bwMode="gray">
          <a:xfrm>
            <a:off x="1712163" y="3393410"/>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pic>
        <p:nvPicPr>
          <p:cNvPr id="8" name="Picture 2" descr="G:\做的项目\公共\扁平图标切换\更新2015_01_21\oss扁平图标库2015_01_21更新-04.png"/>
          <p:cNvPicPr>
            <a:picLocks noChangeAspect="1" noChangeArrowheads="1"/>
          </p:cNvPicPr>
          <p:nvPr/>
        </p:nvPicPr>
        <p:blipFill>
          <a:blip r:embed="rId4" cstate="print"/>
          <a:stretch>
            <a:fillRect/>
          </a:stretch>
        </p:blipFill>
        <p:spPr bwMode="gray">
          <a:xfrm>
            <a:off x="5897189" y="4245218"/>
            <a:ext cx="540989" cy="442626"/>
          </a:xfrm>
          <a:prstGeom prst="rect">
            <a:avLst/>
          </a:prstGeom>
          <a:noFill/>
        </p:spPr>
      </p:pic>
      <p:pic>
        <p:nvPicPr>
          <p:cNvPr id="9" name="图片 8" descr="Web服务器-蓝.png"/>
          <p:cNvPicPr>
            <a:picLocks noChangeAspect="1"/>
          </p:cNvPicPr>
          <p:nvPr/>
        </p:nvPicPr>
        <p:blipFill>
          <a:blip r:embed="rId5" cstate="print"/>
          <a:stretch>
            <a:fillRect/>
          </a:stretch>
        </p:blipFill>
        <p:spPr bwMode="gray">
          <a:xfrm>
            <a:off x="10042616" y="4245707"/>
            <a:ext cx="539789" cy="441645"/>
          </a:xfrm>
          <a:prstGeom prst="rect">
            <a:avLst/>
          </a:prstGeom>
        </p:spPr>
      </p:pic>
      <p:sp>
        <p:nvSpPr>
          <p:cNvPr id="10" name="TextBox 77"/>
          <p:cNvSpPr txBox="1"/>
          <p:nvPr/>
        </p:nvSpPr>
        <p:spPr bwMode="gray">
          <a:xfrm>
            <a:off x="9709852" y="4663463"/>
            <a:ext cx="1205317"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TextBox 77"/>
          <p:cNvSpPr txBox="1"/>
          <p:nvPr/>
        </p:nvSpPr>
        <p:spPr bwMode="gray">
          <a:xfrm>
            <a:off x="6424024" y="4450566"/>
            <a:ext cx="1087741"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矩形 26"/>
          <p:cNvSpPr/>
          <p:nvPr/>
        </p:nvSpPr>
        <p:spPr bwMode="gray">
          <a:xfrm>
            <a:off x="5907973" y="4686002"/>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3" name="图片 34" descr="汇聚交换机.png"/>
          <p:cNvPicPr>
            <a:picLocks noChangeAspect="1"/>
          </p:cNvPicPr>
          <p:nvPr/>
        </p:nvPicPr>
        <p:blipFill>
          <a:blip r:embed="rId6" cstate="print"/>
          <a:stretch>
            <a:fillRect/>
          </a:stretch>
        </p:blipFill>
        <p:spPr bwMode="gray">
          <a:xfrm>
            <a:off x="4083797" y="4262669"/>
            <a:ext cx="539789" cy="441645"/>
          </a:xfrm>
          <a:prstGeom prst="rect">
            <a:avLst/>
          </a:prstGeom>
        </p:spPr>
      </p:pic>
      <p:grpSp>
        <p:nvGrpSpPr>
          <p:cNvPr id="14" name="组合 42"/>
          <p:cNvGrpSpPr/>
          <p:nvPr/>
        </p:nvGrpSpPr>
        <p:grpSpPr bwMode="gray">
          <a:xfrm>
            <a:off x="7816970" y="4199843"/>
            <a:ext cx="1570475" cy="504472"/>
            <a:chOff x="7175983" y="2324318"/>
            <a:chExt cx="1571088" cy="504669"/>
          </a:xfrm>
        </p:grpSpPr>
        <p:sp>
          <p:nvSpPr>
            <p:cNvPr id="15" name="Freeform 159"/>
            <p:cNvSpPr/>
            <p:nvPr/>
          </p:nvSpPr>
          <p:spPr bwMode="gray">
            <a:xfrm flipH="1">
              <a:off x="7440181" y="2324318"/>
              <a:ext cx="1048594" cy="5046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77"/>
            <p:cNvSpPr txBox="1"/>
            <p:nvPr/>
          </p:nvSpPr>
          <p:spPr bwMode="gray">
            <a:xfrm>
              <a:off x="7175983" y="2450309"/>
              <a:ext cx="1571088" cy="285686"/>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17" name="图片 6" descr="PC.png"/>
          <p:cNvPicPr>
            <a:picLocks noChangeAspect="1"/>
          </p:cNvPicPr>
          <p:nvPr/>
        </p:nvPicPr>
        <p:blipFill>
          <a:blip r:embed="rId7" cstate="print"/>
          <a:stretch>
            <a:fillRect/>
          </a:stretch>
        </p:blipFill>
        <p:spPr bwMode="gray">
          <a:xfrm>
            <a:off x="2470764" y="4166241"/>
            <a:ext cx="538853" cy="413838"/>
          </a:xfrm>
          <a:prstGeom prst="rect">
            <a:avLst/>
          </a:prstGeom>
        </p:spPr>
      </p:pic>
      <p:sp>
        <p:nvSpPr>
          <p:cNvPr id="18" name="TextBox 77"/>
          <p:cNvSpPr txBox="1"/>
          <p:nvPr/>
        </p:nvSpPr>
        <p:spPr bwMode="gray">
          <a:xfrm>
            <a:off x="2054871" y="4565494"/>
            <a:ext cx="125259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6" descr="PC.png"/>
          <p:cNvPicPr>
            <a:picLocks noChangeAspect="1"/>
          </p:cNvPicPr>
          <p:nvPr/>
        </p:nvPicPr>
        <p:blipFill>
          <a:blip r:embed="rId7" cstate="print"/>
          <a:stretch>
            <a:fillRect/>
          </a:stretch>
        </p:blipFill>
        <p:spPr bwMode="gray">
          <a:xfrm>
            <a:off x="1397660" y="4186687"/>
            <a:ext cx="538853" cy="413838"/>
          </a:xfrm>
          <a:prstGeom prst="rect">
            <a:avLst/>
          </a:prstGeom>
        </p:spPr>
      </p:pic>
      <p:sp>
        <p:nvSpPr>
          <p:cNvPr id="20" name="TextBox 77"/>
          <p:cNvSpPr txBox="1"/>
          <p:nvPr/>
        </p:nvSpPr>
        <p:spPr bwMode="gray">
          <a:xfrm>
            <a:off x="994861" y="4569948"/>
            <a:ext cx="123004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192.168.1.2/24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Rectangle 20"/>
          <p:cNvSpPr/>
          <p:nvPr/>
        </p:nvSpPr>
        <p:spPr bwMode="gray">
          <a:xfrm>
            <a:off x="960145" y="3048534"/>
            <a:ext cx="5256584" cy="208516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p:cNvSpPr/>
          <p:nvPr/>
        </p:nvSpPr>
        <p:spPr bwMode="gray">
          <a:xfrm>
            <a:off x="1097452" y="4046741"/>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7"/>
          <p:cNvSpPr txBox="1"/>
          <p:nvPr/>
        </p:nvSpPr>
        <p:spPr bwMode="gray">
          <a:xfrm>
            <a:off x="3323850" y="2946980"/>
            <a:ext cx="1115446" cy="661446"/>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地址池</a:t>
            </a:r>
            <a:endParaRPr lang="en-US" altLang="zh-CN" sz="1200" dirty="0">
              <a:solidFill>
                <a:prstClr val="black"/>
              </a:solidFill>
              <a:sym typeface="Huawei Sans" panose="020C0503030203020204" pitchFamily="34" charset="0"/>
            </a:endParaRPr>
          </a:p>
          <a:p>
            <a:pPr fontAlgn="ctr"/>
            <a:r>
              <a:rPr lang="en-US" altLang="zh-CN" sz="1200" dirty="0">
                <a:solidFill>
                  <a:schemeClr val="tx1"/>
                </a:solidFill>
              </a:rPr>
              <a:t>122.1.2.2</a:t>
            </a:r>
            <a:endParaRPr lang="zh-CN" altLang="zh-CN" sz="1200" dirty="0">
              <a:solidFill>
                <a:schemeClr val="tx1"/>
              </a:solidFill>
            </a:endParaRPr>
          </a:p>
          <a:p>
            <a:pPr fontAlgn="ctr"/>
            <a:r>
              <a:rPr lang="en-US" altLang="zh-CN" sz="1200" dirty="0"/>
              <a:t>122.1.2.3</a:t>
            </a:r>
            <a:endParaRPr lang="zh-CN" altLang="zh-CN" sz="1200" dirty="0"/>
          </a:p>
        </p:txBody>
      </p:sp>
      <p:sp>
        <p:nvSpPr>
          <p:cNvPr id="28" name="TextBox 77"/>
          <p:cNvSpPr txBox="1"/>
          <p:nvPr/>
        </p:nvSpPr>
        <p:spPr bwMode="gray">
          <a:xfrm>
            <a:off x="2078132" y="4018317"/>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9" name="TextBox 77"/>
          <p:cNvSpPr txBox="1"/>
          <p:nvPr/>
        </p:nvSpPr>
        <p:spPr bwMode="gray">
          <a:xfrm>
            <a:off x="1031281" y="4018317"/>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PC2</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30" name="图片 6" descr="PC.png"/>
          <p:cNvPicPr>
            <a:picLocks noChangeAspect="1"/>
          </p:cNvPicPr>
          <p:nvPr/>
        </p:nvPicPr>
        <p:blipFill>
          <a:blip r:embed="rId7" cstate="print"/>
          <a:stretch>
            <a:fillRect/>
          </a:stretch>
        </p:blipFill>
        <p:spPr bwMode="gray">
          <a:xfrm>
            <a:off x="9653350" y="2939505"/>
            <a:ext cx="538853" cy="413838"/>
          </a:xfrm>
          <a:prstGeom prst="rect">
            <a:avLst/>
          </a:prstGeom>
        </p:spPr>
      </p:pic>
      <p:cxnSp>
        <p:nvCxnSpPr>
          <p:cNvPr id="31" name="直接连接符 12"/>
          <p:cNvCxnSpPr>
            <a:stCxn id="15" idx="1"/>
            <a:endCxn id="30" idx="2"/>
          </p:cNvCxnSpPr>
          <p:nvPr/>
        </p:nvCxnSpPr>
        <p:spPr bwMode="gray">
          <a:xfrm flipV="1">
            <a:off x="8675538" y="3353343"/>
            <a:ext cx="1247239" cy="91709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Freeform 31"/>
          <p:cNvSpPr/>
          <p:nvPr/>
        </p:nvSpPr>
        <p:spPr bwMode="gray">
          <a:xfrm>
            <a:off x="3167152" y="3359932"/>
            <a:ext cx="6604665" cy="1018824"/>
          </a:xfrm>
          <a:custGeom>
            <a:avLst/>
            <a:gdLst>
              <a:gd name="connsiteX0" fmla="*/ 3141133 w 3141133"/>
              <a:gd name="connsiteY0" fmla="*/ 0 h 973666"/>
              <a:gd name="connsiteX1" fmla="*/ 2032000 w 3141133"/>
              <a:gd name="connsiteY1" fmla="*/ 804333 h 973666"/>
              <a:gd name="connsiteX2" fmla="*/ 0 w 3141133"/>
              <a:gd name="connsiteY2" fmla="*/ 973666 h 973666"/>
            </a:gdLst>
            <a:ahLst/>
            <a:cxnLst>
              <a:cxn ang="0">
                <a:pos x="connsiteX0" y="connsiteY0"/>
              </a:cxn>
              <a:cxn ang="0">
                <a:pos x="connsiteX1" y="connsiteY1"/>
              </a:cxn>
              <a:cxn ang="0">
                <a:pos x="connsiteX2" y="connsiteY2"/>
              </a:cxn>
            </a:cxnLst>
            <a:rect l="l" t="t" r="r" b="b"/>
            <a:pathLst>
              <a:path w="3141133" h="973666">
                <a:moveTo>
                  <a:pt x="3141133" y="0"/>
                </a:moveTo>
                <a:cubicBezTo>
                  <a:pt x="2848327" y="321027"/>
                  <a:pt x="2555522" y="642055"/>
                  <a:pt x="2032000" y="804333"/>
                </a:cubicBezTo>
                <a:cubicBezTo>
                  <a:pt x="1508478" y="966611"/>
                  <a:pt x="754239" y="970138"/>
                  <a:pt x="0" y="97366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9"/>
          <p:cNvSpPr/>
          <p:nvPr/>
        </p:nvSpPr>
        <p:spPr bwMode="gray">
          <a:xfrm>
            <a:off x="10195305" y="2931745"/>
            <a:ext cx="833883" cy="461665"/>
          </a:xfrm>
          <a:prstGeom prst="rect">
            <a:avLst/>
          </a:prstGeom>
        </p:spPr>
        <p:txBody>
          <a:bodyPr wrap="none">
            <a:spAutoFit/>
          </a:bodyPr>
          <a:lstStyle/>
          <a:p>
            <a:pPr algn="ctr" defTabSz="914034"/>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外部主机</a:t>
            </a:r>
            <a:endPar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034"/>
            <a:r>
              <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202.2.2.1</a:t>
            </a:r>
            <a:endPar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4" name="Group 33"/>
          <p:cNvGrpSpPr/>
          <p:nvPr/>
        </p:nvGrpSpPr>
        <p:grpSpPr bwMode="gray">
          <a:xfrm>
            <a:off x="8439750" y="2590401"/>
            <a:ext cx="2808724" cy="287715"/>
            <a:chOff x="3394498" y="3692145"/>
            <a:chExt cx="2808724" cy="287715"/>
          </a:xfrm>
        </p:grpSpPr>
        <p:sp>
          <p:nvSpPr>
            <p:cNvPr id="35" name="TextBox 120">
              <a:extLst>
                <a:ext uri="{FF2B5EF4-FFF2-40B4-BE49-F238E27FC236}">
                  <a16:creationId xmlns:a16="http://schemas.microsoft.com/office/drawing/2014/main" id="{31930744-3D36-4F81-8426-6F129C1A6804}"/>
                </a:ext>
              </a:extLst>
            </p:cNvPr>
            <p:cNvSpPr txBox="1"/>
            <p:nvPr/>
          </p:nvSpPr>
          <p:spPr bwMode="gray">
            <a:xfrm>
              <a:off x="3394498" y="3692145"/>
              <a:ext cx="115989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p:txBody>
        </p:sp>
        <p:sp>
          <p:nvSpPr>
            <p:cNvPr id="36" name="TextBox 120">
              <a:extLst>
                <a:ext uri="{FF2B5EF4-FFF2-40B4-BE49-F238E27FC236}">
                  <a16:creationId xmlns:a16="http://schemas.microsoft.com/office/drawing/2014/main" id="{31930744-3D36-4F81-8426-6F129C1A6804}"/>
                </a:ext>
              </a:extLst>
            </p:cNvPr>
            <p:cNvSpPr txBox="1"/>
            <p:nvPr/>
          </p:nvSpPr>
          <p:spPr bwMode="gray">
            <a:xfrm>
              <a:off x="5638398" y="3692145"/>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7" name="TextBox 120">
              <a:extLst>
                <a:ext uri="{FF2B5EF4-FFF2-40B4-BE49-F238E27FC236}">
                  <a16:creationId xmlns:a16="http://schemas.microsoft.com/office/drawing/2014/main" id="{31930744-3D36-4F81-8426-6F129C1A6804}"/>
                </a:ext>
              </a:extLst>
            </p:cNvPr>
            <p:cNvSpPr txBox="1"/>
            <p:nvPr/>
          </p:nvSpPr>
          <p:spPr bwMode="gray">
            <a:xfrm>
              <a:off x="4557663" y="3692145"/>
              <a:ext cx="1069084"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grpSp>
        <p:nvGrpSpPr>
          <p:cNvPr id="44" name="组合 54"/>
          <p:cNvGrpSpPr/>
          <p:nvPr/>
        </p:nvGrpSpPr>
        <p:grpSpPr bwMode="gray">
          <a:xfrm>
            <a:off x="4474578" y="2930453"/>
            <a:ext cx="3394339" cy="1146849"/>
            <a:chOff x="4580326" y="2148755"/>
            <a:chExt cx="1879312" cy="1135498"/>
          </a:xfrm>
          <a:solidFill>
            <a:schemeClr val="bg1"/>
          </a:solidFill>
        </p:grpSpPr>
        <p:sp>
          <p:nvSpPr>
            <p:cNvPr id="45" name="TextBox 77"/>
            <p:cNvSpPr txBox="1"/>
            <p:nvPr/>
          </p:nvSpPr>
          <p:spPr bwMode="gray">
            <a:xfrm>
              <a:off x="4580326" y="2148755"/>
              <a:ext cx="1879312" cy="1135498"/>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46" name="矩形 56"/>
            <p:cNvSpPr/>
            <p:nvPr/>
          </p:nvSpPr>
          <p:spPr bwMode="gray">
            <a:xfrm>
              <a:off x="4592133" y="2165234"/>
              <a:ext cx="1822935" cy="274257"/>
            </a:xfrm>
            <a:prstGeom prst="rect">
              <a:avLst/>
            </a:prstGeom>
            <a:grpFill/>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47" name="表格 31"/>
          <p:cNvGraphicFramePr>
            <a:graphicFrameLocks noGrp="1"/>
          </p:cNvGraphicFramePr>
          <p:nvPr>
            <p:extLst>
              <p:ext uri="{D42A27DB-BD31-4B8C-83A1-F6EECF244321}">
                <p14:modId xmlns:p14="http://schemas.microsoft.com/office/powerpoint/2010/main" val="2050758538"/>
              </p:ext>
            </p:extLst>
          </p:nvPr>
        </p:nvGraphicFramePr>
        <p:xfrm>
          <a:off x="4536189" y="3200068"/>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200.1.2.3:80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1" name="Rectangular Callout 40"/>
          <p:cNvSpPr/>
          <p:nvPr/>
        </p:nvSpPr>
        <p:spPr bwMode="gray">
          <a:xfrm>
            <a:off x="4347272" y="3061567"/>
            <a:ext cx="898646" cy="276999"/>
          </a:xfrm>
          <a:prstGeom prst="wedgeRectCallout">
            <a:avLst>
              <a:gd name="adj1" fmla="val 43183"/>
              <a:gd name="adj2" fmla="val 1309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内部</a:t>
            </a:r>
            <a:r>
              <a:rPr lang="en-US" altLang="zh-CN" sz="1200" dirty="0">
                <a:solidFill>
                  <a:schemeClr val="tx1"/>
                </a:solidFill>
              </a:rPr>
              <a:t>Tuple</a:t>
            </a:r>
            <a:endParaRPr lang="zh-CN" altLang="en-US" sz="1200" dirty="0">
              <a:solidFill>
                <a:schemeClr val="tx1"/>
              </a:solidFill>
            </a:endParaRPr>
          </a:p>
        </p:txBody>
      </p:sp>
      <p:sp>
        <p:nvSpPr>
          <p:cNvPr id="42" name="Rectangular Callout 41"/>
          <p:cNvSpPr/>
          <p:nvPr/>
        </p:nvSpPr>
        <p:spPr bwMode="gray">
          <a:xfrm>
            <a:off x="7900757" y="3346167"/>
            <a:ext cx="945971" cy="276999"/>
          </a:xfrm>
          <a:prstGeom prst="wedgeRectCallout">
            <a:avLst>
              <a:gd name="adj1" fmla="val -66669"/>
              <a:gd name="adj2" fmla="val 3010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外部</a:t>
            </a:r>
            <a:r>
              <a:rPr lang="en-US" altLang="zh-CN" sz="1200" dirty="0">
                <a:solidFill>
                  <a:schemeClr val="tx1"/>
                </a:solidFill>
              </a:rPr>
              <a:t>Tuple</a:t>
            </a:r>
            <a:endParaRPr lang="zh-CN" altLang="en-US" sz="1200" dirty="0">
              <a:solidFill>
                <a:schemeClr val="tx1"/>
              </a:solidFill>
            </a:endParaRPr>
          </a:p>
        </p:txBody>
      </p:sp>
      <p:sp>
        <p:nvSpPr>
          <p:cNvPr id="49" name="Rectangular Callout 48"/>
          <p:cNvSpPr/>
          <p:nvPr/>
        </p:nvSpPr>
        <p:spPr bwMode="gray">
          <a:xfrm>
            <a:off x="4338252" y="3974708"/>
            <a:ext cx="878372" cy="276999"/>
          </a:xfrm>
          <a:prstGeom prst="wedgeRectCallout">
            <a:avLst>
              <a:gd name="adj1" fmla="val 47215"/>
              <a:gd name="adj2" fmla="val -952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spTree>
    <p:custDataLst>
      <p:tags r:id="rId1"/>
    </p:custDataLst>
    <p:extLst>
      <p:ext uri="{BB962C8B-B14F-4D97-AF65-F5344CB8AC3E}">
        <p14:creationId xmlns:p14="http://schemas.microsoft.com/office/powerpoint/2010/main" val="35117498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Isosceles Triangle 22">
            <a:extLst>
              <a:ext uri="{FF2B5EF4-FFF2-40B4-BE49-F238E27FC236}">
                <a16:creationId xmlns:a16="http://schemas.microsoft.com/office/drawing/2014/main" id="{27A6E5B5-E94C-45B9-8C74-5CB8B4E08F3B}"/>
              </a:ext>
            </a:extLst>
          </p:cNvPr>
          <p:cNvSpPr/>
          <p:nvPr/>
        </p:nvSpPr>
        <p:spPr bwMode="gray">
          <a:xfrm rot="16200000">
            <a:off x="6161239" y="4297563"/>
            <a:ext cx="643196" cy="891510"/>
          </a:xfrm>
          <a:custGeom>
            <a:avLst/>
            <a:gdLst>
              <a:gd name="connsiteX0" fmla="*/ 0 w 1225579"/>
              <a:gd name="connsiteY0" fmla="*/ 1739918 h 1739918"/>
              <a:gd name="connsiteX1" fmla="*/ 612790 w 1225579"/>
              <a:gd name="connsiteY1" fmla="*/ 0 h 1739918"/>
              <a:gd name="connsiteX2" fmla="*/ 1225579 w 1225579"/>
              <a:gd name="connsiteY2" fmla="*/ 1739918 h 1739918"/>
              <a:gd name="connsiteX3" fmla="*/ 0 w 1225579"/>
              <a:gd name="connsiteY3" fmla="*/ 1739918 h 1739918"/>
              <a:gd name="connsiteX0" fmla="*/ 0 w 1225579"/>
              <a:gd name="connsiteY0" fmla="*/ 1739918 h 1739918"/>
              <a:gd name="connsiteX1" fmla="*/ 612790 w 1225579"/>
              <a:gd name="connsiteY1" fmla="*/ 0 h 1739918"/>
              <a:gd name="connsiteX2" fmla="*/ 1225579 w 1225579"/>
              <a:gd name="connsiteY2" fmla="*/ 1739918 h 1739918"/>
              <a:gd name="connsiteX3" fmla="*/ 0 w 1225579"/>
              <a:gd name="connsiteY3" fmla="*/ 1739918 h 1739918"/>
              <a:gd name="connsiteX0" fmla="*/ 0 w 1225579"/>
              <a:gd name="connsiteY0" fmla="*/ 1739918 h 1911243"/>
              <a:gd name="connsiteX1" fmla="*/ 612790 w 1225579"/>
              <a:gd name="connsiteY1" fmla="*/ 0 h 1911243"/>
              <a:gd name="connsiteX2" fmla="*/ 1225579 w 1225579"/>
              <a:gd name="connsiteY2" fmla="*/ 1739918 h 1911243"/>
              <a:gd name="connsiteX3" fmla="*/ 0 w 1225579"/>
              <a:gd name="connsiteY3" fmla="*/ 1739918 h 1911243"/>
              <a:gd name="connsiteX0" fmla="*/ 0 w 1225579"/>
              <a:gd name="connsiteY0" fmla="*/ 1739918 h 1999652"/>
              <a:gd name="connsiteX1" fmla="*/ 612790 w 1225579"/>
              <a:gd name="connsiteY1" fmla="*/ 0 h 1999652"/>
              <a:gd name="connsiteX2" fmla="*/ 1225579 w 1225579"/>
              <a:gd name="connsiteY2" fmla="*/ 1739918 h 1999652"/>
              <a:gd name="connsiteX3" fmla="*/ 0 w 1225579"/>
              <a:gd name="connsiteY3" fmla="*/ 1739918 h 1999652"/>
            </a:gdLst>
            <a:ahLst/>
            <a:cxnLst>
              <a:cxn ang="0">
                <a:pos x="connsiteX0" y="connsiteY0"/>
              </a:cxn>
              <a:cxn ang="0">
                <a:pos x="connsiteX1" y="connsiteY1"/>
              </a:cxn>
              <a:cxn ang="0">
                <a:pos x="connsiteX2" y="connsiteY2"/>
              </a:cxn>
              <a:cxn ang="0">
                <a:pos x="connsiteX3" y="connsiteY3"/>
              </a:cxn>
            </a:cxnLst>
            <a:rect l="l" t="t" r="r" b="b"/>
            <a:pathLst>
              <a:path w="1225579" h="1999652">
                <a:moveTo>
                  <a:pt x="0" y="1739918"/>
                </a:moveTo>
                <a:lnTo>
                  <a:pt x="612790" y="0"/>
                </a:lnTo>
                <a:lnTo>
                  <a:pt x="1225579" y="1739918"/>
                </a:lnTo>
                <a:cubicBezTo>
                  <a:pt x="772229" y="2125401"/>
                  <a:pt x="291985" y="2044718"/>
                  <a:pt x="0" y="1739918"/>
                </a:cubicBezTo>
                <a:close/>
              </a:path>
            </a:pathLst>
          </a:custGeom>
          <a:solidFill>
            <a:srgbClr val="F4FB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bwMode="gray"/>
        <p:txBody>
          <a:bodyPr/>
          <a:lstStyle/>
          <a:p>
            <a:r>
              <a:rPr lang="en-US" altLang="zh-CN" dirty="0"/>
              <a:t>Restricted Cone NAT</a:t>
            </a:r>
            <a:r>
              <a:rPr lang="zh-CN" altLang="en-US" dirty="0"/>
              <a:t>介绍</a:t>
            </a:r>
          </a:p>
        </p:txBody>
      </p:sp>
      <p:sp>
        <p:nvSpPr>
          <p:cNvPr id="3" name="Text Placeholder 2"/>
          <p:cNvSpPr>
            <a:spLocks noGrp="1"/>
          </p:cNvSpPr>
          <p:nvPr>
            <p:ph type="body" sz="quarter" idx="10"/>
          </p:nvPr>
        </p:nvSpPr>
        <p:spPr bwMode="gray"/>
        <p:txBody>
          <a:bodyPr/>
          <a:lstStyle/>
          <a:p>
            <a:r>
              <a:rPr lang="en-US" altLang="zh-CN" sz="1600" dirty="0"/>
              <a:t>Restricted Cone NAT</a:t>
            </a:r>
            <a:r>
              <a:rPr lang="zh-CN" altLang="en-US" sz="1600" dirty="0"/>
              <a:t>（限制圆锥型）：</a:t>
            </a:r>
            <a:r>
              <a:rPr lang="en-US" altLang="zh-CN" sz="1600" dirty="0"/>
              <a:t>Full Cone NAT</a:t>
            </a:r>
            <a:r>
              <a:rPr lang="zh-CN" altLang="en-US" sz="1600" dirty="0"/>
              <a:t>的受限版本，于</a:t>
            </a:r>
            <a:r>
              <a:rPr lang="en-US" altLang="zh-CN" sz="1600" dirty="0"/>
              <a:t>Full Cone NAT</a:t>
            </a:r>
            <a:r>
              <a:rPr lang="zh-CN" altLang="en-US" sz="1600" dirty="0"/>
              <a:t>概念类似，主要区别是</a:t>
            </a:r>
            <a:r>
              <a:rPr lang="en-US" altLang="zh-CN" sz="1600" dirty="0"/>
              <a:t>NAT</a:t>
            </a:r>
            <a:r>
              <a:rPr lang="zh-CN" altLang="en-US" sz="1600" dirty="0"/>
              <a:t>设备收到外部主机的报文时，除了查看报文目的地址</a:t>
            </a:r>
            <a:r>
              <a:rPr lang="en-US" altLang="zh-CN" sz="1600" dirty="0"/>
              <a:t>+</a:t>
            </a:r>
            <a:r>
              <a:rPr lang="zh-CN" altLang="en-US" sz="1600" dirty="0"/>
              <a:t>端口是否与外部</a:t>
            </a:r>
            <a:r>
              <a:rPr lang="en-US" altLang="zh-CN" sz="1600" dirty="0"/>
              <a:t>Tuple</a:t>
            </a:r>
            <a:r>
              <a:rPr lang="zh-CN" altLang="en-US" sz="1600" dirty="0"/>
              <a:t>一致外，还会查看报文源</a:t>
            </a:r>
            <a:r>
              <a:rPr lang="en-US" altLang="zh-CN" sz="1600" dirty="0"/>
              <a:t>IP</a:t>
            </a:r>
            <a:r>
              <a:rPr lang="zh-CN" altLang="en-US" sz="1600" dirty="0"/>
              <a:t>是否与目标</a:t>
            </a:r>
            <a:r>
              <a:rPr lang="en-US" altLang="zh-CN" sz="1600" dirty="0"/>
              <a:t>Tuple</a:t>
            </a:r>
            <a:r>
              <a:rPr lang="zh-CN" altLang="en-US" sz="1600" dirty="0"/>
              <a:t>中的</a:t>
            </a:r>
            <a:r>
              <a:rPr lang="en-US" altLang="zh-CN" sz="1600" dirty="0"/>
              <a:t>IP</a:t>
            </a:r>
            <a:r>
              <a:rPr lang="zh-CN" altLang="en-US" sz="1600" dirty="0"/>
              <a:t>地址一致，如果都一致则转发。</a:t>
            </a:r>
          </a:p>
        </p:txBody>
      </p:sp>
      <p:sp>
        <p:nvSpPr>
          <p:cNvPr id="4" name="圆角矩形 75"/>
          <p:cNvSpPr/>
          <p:nvPr/>
        </p:nvSpPr>
        <p:spPr bwMode="gray">
          <a:xfrm>
            <a:off x="808352" y="2600189"/>
            <a:ext cx="10545068" cy="352637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内网</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与</a:t>
            </a:r>
            <a:r>
              <a:rPr lang="en-US" altLang="zh-CN" sz="1400" dirty="0">
                <a:solidFill>
                  <a:prstClr val="black"/>
                </a:solidFill>
                <a:sym typeface="Huawei Sans" panose="020C0503030203020204" pitchFamily="34" charset="0"/>
              </a:rPr>
              <a:t>Web</a:t>
            </a:r>
            <a:r>
              <a:rPr lang="zh-CN" altLang="en-US" sz="1400" dirty="0">
                <a:solidFill>
                  <a:prstClr val="black"/>
                </a:solidFill>
                <a:sym typeface="Huawei Sans" panose="020C0503030203020204" pitchFamily="34" charset="0"/>
              </a:rPr>
              <a:t>服务器通信以后，</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设备生成</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映射表，如果是</a:t>
            </a:r>
            <a:r>
              <a:rPr lang="en-US" altLang="zh-CN" sz="1400" dirty="0">
                <a:solidFill>
                  <a:prstClr val="black"/>
                </a:solidFill>
                <a:sym typeface="Huawei Sans" panose="020C0503030203020204" pitchFamily="34" charset="0"/>
              </a:rPr>
              <a:t>Restricted Cone NAT</a:t>
            </a:r>
            <a:r>
              <a:rPr lang="zh-CN" altLang="en-US" sz="1400" dirty="0">
                <a:solidFill>
                  <a:prstClr val="black"/>
                </a:solidFill>
                <a:sym typeface="Huawei Sans" panose="020C0503030203020204" pitchFamily="34" charset="0"/>
              </a:rPr>
              <a:t>类型，则攻击者需要以外部</a:t>
            </a:r>
            <a:r>
              <a:rPr lang="en-US" altLang="zh-CN" sz="1400" dirty="0">
                <a:solidFill>
                  <a:prstClr val="black"/>
                </a:solidFill>
                <a:sym typeface="Huawei Sans" panose="020C0503030203020204" pitchFamily="34" charset="0"/>
              </a:rPr>
              <a:t>Tuple</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122.1.2.2:1025</a:t>
            </a:r>
            <a:r>
              <a:rPr lang="zh-CN" altLang="en-US" sz="1400" dirty="0">
                <a:solidFill>
                  <a:prstClr val="black"/>
                </a:solidFill>
                <a:sym typeface="Huawei Sans" panose="020C0503030203020204" pitchFamily="34" charset="0"/>
              </a:rPr>
              <a:t>）为目标地址</a:t>
            </a:r>
            <a:r>
              <a:rPr lang="en-US" altLang="zh-CN" sz="1400" dirty="0">
                <a:solidFill>
                  <a:prstClr val="black"/>
                </a:solidFill>
                <a:sym typeface="Huawei Sans" panose="020C0503030203020204" pitchFamily="34" charset="0"/>
              </a:rPr>
              <a:t>+</a:t>
            </a:r>
            <a:r>
              <a:rPr lang="zh-CN" altLang="en-US" sz="1400" dirty="0">
                <a:solidFill>
                  <a:prstClr val="black"/>
                </a:solidFill>
                <a:sym typeface="Huawei Sans" panose="020C0503030203020204" pitchFamily="34" charset="0"/>
              </a:rPr>
              <a:t>端口，以目标</a:t>
            </a:r>
            <a:r>
              <a:rPr lang="en-US" altLang="zh-CN" sz="1400" dirty="0">
                <a:solidFill>
                  <a:prstClr val="black"/>
                </a:solidFill>
                <a:sym typeface="Huawei Sans" panose="020C0503030203020204" pitchFamily="34" charset="0"/>
              </a:rPr>
              <a:t>Tuple IP</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200.1.2.3</a:t>
            </a:r>
            <a:r>
              <a:rPr lang="zh-CN" altLang="en-US" sz="1400" dirty="0">
                <a:solidFill>
                  <a:prstClr val="black"/>
                </a:solidFill>
                <a:sym typeface="Huawei Sans" panose="020C0503030203020204" pitchFamily="34" charset="0"/>
              </a:rPr>
              <a:t>）为源发送数据，数据才会被发送给</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a:t>
            </a:r>
            <a:endParaRPr lang="en-US" altLang="zh-CN" sz="1399" dirty="0">
              <a:solidFill>
                <a:prstClr val="black"/>
              </a:solidFill>
              <a:latin typeface="方正兰亭黑简体"/>
              <a:sym typeface="Huawei Sans" panose="020C0503030203020204" pitchFamily="34" charset="0"/>
            </a:endParaRPr>
          </a:p>
        </p:txBody>
      </p:sp>
      <p:sp>
        <p:nvSpPr>
          <p:cNvPr id="5" name="圆角矩形 75"/>
          <p:cNvSpPr/>
          <p:nvPr/>
        </p:nvSpPr>
        <p:spPr bwMode="gray">
          <a:xfrm>
            <a:off x="806902" y="2171991"/>
            <a:ext cx="1057250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Restricted Cone NAT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12"/>
          <p:cNvCxnSpPr>
            <a:endCxn id="9" idx="1"/>
          </p:cNvCxnSpPr>
          <p:nvPr/>
        </p:nvCxnSpPr>
        <p:spPr bwMode="gray">
          <a:xfrm>
            <a:off x="3245034" y="4748673"/>
            <a:ext cx="6797582" cy="494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 name="矩形 39"/>
          <p:cNvSpPr/>
          <p:nvPr/>
        </p:nvSpPr>
        <p:spPr bwMode="gray">
          <a:xfrm>
            <a:off x="1712163" y="3680494"/>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897189" y="4532302"/>
            <a:ext cx="540989" cy="442626"/>
          </a:xfrm>
          <a:prstGeom prst="rect">
            <a:avLst/>
          </a:prstGeom>
          <a:noFill/>
        </p:spPr>
      </p:pic>
      <p:pic>
        <p:nvPicPr>
          <p:cNvPr id="9" name="图片 8" descr="Web服务器-蓝.png"/>
          <p:cNvPicPr>
            <a:picLocks noChangeAspect="1"/>
          </p:cNvPicPr>
          <p:nvPr/>
        </p:nvPicPr>
        <p:blipFill>
          <a:blip r:embed="rId4" cstate="print"/>
          <a:stretch>
            <a:fillRect/>
          </a:stretch>
        </p:blipFill>
        <p:spPr bwMode="gray">
          <a:xfrm>
            <a:off x="10042616" y="4532791"/>
            <a:ext cx="539789" cy="441645"/>
          </a:xfrm>
          <a:prstGeom prst="rect">
            <a:avLst/>
          </a:prstGeom>
        </p:spPr>
      </p:pic>
      <p:sp>
        <p:nvSpPr>
          <p:cNvPr id="10" name="TextBox 77"/>
          <p:cNvSpPr txBox="1"/>
          <p:nvPr/>
        </p:nvSpPr>
        <p:spPr bwMode="gray">
          <a:xfrm>
            <a:off x="9709852" y="4950547"/>
            <a:ext cx="1205317"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TextBox 77"/>
          <p:cNvSpPr txBox="1"/>
          <p:nvPr/>
        </p:nvSpPr>
        <p:spPr bwMode="gray">
          <a:xfrm>
            <a:off x="6424024" y="4737650"/>
            <a:ext cx="1087741"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矩形 26"/>
          <p:cNvSpPr/>
          <p:nvPr/>
        </p:nvSpPr>
        <p:spPr bwMode="gray">
          <a:xfrm>
            <a:off x="5907973" y="4973086"/>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3" name="图片 34" descr="汇聚交换机.png"/>
          <p:cNvPicPr>
            <a:picLocks noChangeAspect="1"/>
          </p:cNvPicPr>
          <p:nvPr/>
        </p:nvPicPr>
        <p:blipFill>
          <a:blip r:embed="rId5" cstate="print"/>
          <a:stretch>
            <a:fillRect/>
          </a:stretch>
        </p:blipFill>
        <p:spPr bwMode="gray">
          <a:xfrm>
            <a:off x="4083797" y="4549753"/>
            <a:ext cx="539789" cy="441645"/>
          </a:xfrm>
          <a:prstGeom prst="rect">
            <a:avLst/>
          </a:prstGeom>
        </p:spPr>
      </p:pic>
      <p:grpSp>
        <p:nvGrpSpPr>
          <p:cNvPr id="14" name="组合 42"/>
          <p:cNvGrpSpPr/>
          <p:nvPr/>
        </p:nvGrpSpPr>
        <p:grpSpPr bwMode="gray">
          <a:xfrm>
            <a:off x="7816970" y="4486927"/>
            <a:ext cx="1570475" cy="504472"/>
            <a:chOff x="7175983" y="2324318"/>
            <a:chExt cx="1571088" cy="504669"/>
          </a:xfrm>
        </p:grpSpPr>
        <p:sp>
          <p:nvSpPr>
            <p:cNvPr id="15" name="Freeform 159"/>
            <p:cNvSpPr/>
            <p:nvPr/>
          </p:nvSpPr>
          <p:spPr bwMode="gray">
            <a:xfrm flipH="1">
              <a:off x="7440181" y="2324318"/>
              <a:ext cx="1048594" cy="5046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77"/>
            <p:cNvSpPr txBox="1"/>
            <p:nvPr/>
          </p:nvSpPr>
          <p:spPr bwMode="gray">
            <a:xfrm>
              <a:off x="7175983" y="2450309"/>
              <a:ext cx="1571088" cy="285686"/>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17" name="图片 6" descr="PC.png"/>
          <p:cNvPicPr>
            <a:picLocks noChangeAspect="1"/>
          </p:cNvPicPr>
          <p:nvPr/>
        </p:nvPicPr>
        <p:blipFill>
          <a:blip r:embed="rId6" cstate="print"/>
          <a:stretch>
            <a:fillRect/>
          </a:stretch>
        </p:blipFill>
        <p:spPr bwMode="gray">
          <a:xfrm>
            <a:off x="2470764" y="4453325"/>
            <a:ext cx="538853" cy="413838"/>
          </a:xfrm>
          <a:prstGeom prst="rect">
            <a:avLst/>
          </a:prstGeom>
        </p:spPr>
      </p:pic>
      <p:sp>
        <p:nvSpPr>
          <p:cNvPr id="18" name="TextBox 77"/>
          <p:cNvSpPr txBox="1"/>
          <p:nvPr/>
        </p:nvSpPr>
        <p:spPr bwMode="gray">
          <a:xfrm>
            <a:off x="2054871" y="4852578"/>
            <a:ext cx="125259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6" descr="PC.png"/>
          <p:cNvPicPr>
            <a:picLocks noChangeAspect="1"/>
          </p:cNvPicPr>
          <p:nvPr/>
        </p:nvPicPr>
        <p:blipFill>
          <a:blip r:embed="rId6" cstate="print"/>
          <a:stretch>
            <a:fillRect/>
          </a:stretch>
        </p:blipFill>
        <p:spPr bwMode="gray">
          <a:xfrm>
            <a:off x="1397660" y="4473771"/>
            <a:ext cx="538853" cy="413838"/>
          </a:xfrm>
          <a:prstGeom prst="rect">
            <a:avLst/>
          </a:prstGeom>
        </p:spPr>
      </p:pic>
      <p:sp>
        <p:nvSpPr>
          <p:cNvPr id="20" name="TextBox 77"/>
          <p:cNvSpPr txBox="1"/>
          <p:nvPr/>
        </p:nvSpPr>
        <p:spPr bwMode="gray">
          <a:xfrm>
            <a:off x="994861" y="4857032"/>
            <a:ext cx="123004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192.168.1.2/24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Rectangle 20"/>
          <p:cNvSpPr/>
          <p:nvPr/>
        </p:nvSpPr>
        <p:spPr bwMode="gray">
          <a:xfrm>
            <a:off x="960145" y="3335618"/>
            <a:ext cx="5256584" cy="208516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p:cNvSpPr/>
          <p:nvPr/>
        </p:nvSpPr>
        <p:spPr bwMode="gray">
          <a:xfrm>
            <a:off x="1097452" y="4333825"/>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7"/>
          <p:cNvSpPr txBox="1"/>
          <p:nvPr/>
        </p:nvSpPr>
        <p:spPr bwMode="gray">
          <a:xfrm>
            <a:off x="3323850" y="3234064"/>
            <a:ext cx="1115446" cy="661446"/>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地址池</a:t>
            </a:r>
            <a:endParaRPr lang="en-US" altLang="zh-CN" sz="1200" dirty="0">
              <a:solidFill>
                <a:prstClr val="black"/>
              </a:solidFill>
              <a:sym typeface="Huawei Sans" panose="020C0503030203020204" pitchFamily="34" charset="0"/>
            </a:endParaRPr>
          </a:p>
          <a:p>
            <a:pPr fontAlgn="ctr"/>
            <a:r>
              <a:rPr lang="en-US" altLang="zh-CN" sz="1200" dirty="0">
                <a:solidFill>
                  <a:schemeClr val="tx1"/>
                </a:solidFill>
              </a:rPr>
              <a:t>122.1.2.2</a:t>
            </a:r>
            <a:endParaRPr lang="zh-CN" altLang="zh-CN" sz="1200" dirty="0">
              <a:solidFill>
                <a:schemeClr val="tx1"/>
              </a:solidFill>
            </a:endParaRPr>
          </a:p>
          <a:p>
            <a:pPr fontAlgn="ctr"/>
            <a:r>
              <a:rPr lang="en-US" altLang="zh-CN" sz="1200" dirty="0"/>
              <a:t>122.1.2.3</a:t>
            </a:r>
            <a:endParaRPr lang="zh-CN" altLang="zh-CN" sz="1200" dirty="0"/>
          </a:p>
        </p:txBody>
      </p:sp>
      <p:sp>
        <p:nvSpPr>
          <p:cNvPr id="26" name="TextBox 77"/>
          <p:cNvSpPr txBox="1"/>
          <p:nvPr/>
        </p:nvSpPr>
        <p:spPr bwMode="gray">
          <a:xfrm>
            <a:off x="2078132" y="4305401"/>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TextBox 77"/>
          <p:cNvSpPr txBox="1"/>
          <p:nvPr/>
        </p:nvSpPr>
        <p:spPr bwMode="gray">
          <a:xfrm>
            <a:off x="1031281" y="4305401"/>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PC2</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8" name="图片 6" descr="PC.png"/>
          <p:cNvPicPr>
            <a:picLocks noChangeAspect="1"/>
          </p:cNvPicPr>
          <p:nvPr/>
        </p:nvPicPr>
        <p:blipFill>
          <a:blip r:embed="rId6" cstate="print"/>
          <a:stretch>
            <a:fillRect/>
          </a:stretch>
        </p:blipFill>
        <p:spPr bwMode="gray">
          <a:xfrm>
            <a:off x="9653350" y="3226589"/>
            <a:ext cx="538853" cy="413838"/>
          </a:xfrm>
          <a:prstGeom prst="rect">
            <a:avLst/>
          </a:prstGeom>
        </p:spPr>
      </p:pic>
      <p:cxnSp>
        <p:nvCxnSpPr>
          <p:cNvPr id="29" name="直接连接符 12"/>
          <p:cNvCxnSpPr>
            <a:stCxn id="15" idx="1"/>
            <a:endCxn id="28" idx="2"/>
          </p:cNvCxnSpPr>
          <p:nvPr/>
        </p:nvCxnSpPr>
        <p:spPr bwMode="gray">
          <a:xfrm flipV="1">
            <a:off x="8675538" y="3640427"/>
            <a:ext cx="1247239" cy="91709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0" name="Freeform 29"/>
          <p:cNvSpPr/>
          <p:nvPr/>
        </p:nvSpPr>
        <p:spPr bwMode="gray">
          <a:xfrm>
            <a:off x="3046633" y="3647016"/>
            <a:ext cx="6725184" cy="995010"/>
          </a:xfrm>
          <a:custGeom>
            <a:avLst/>
            <a:gdLst>
              <a:gd name="connsiteX0" fmla="*/ 3141133 w 3141133"/>
              <a:gd name="connsiteY0" fmla="*/ 0 h 973666"/>
              <a:gd name="connsiteX1" fmla="*/ 2032000 w 3141133"/>
              <a:gd name="connsiteY1" fmla="*/ 804333 h 973666"/>
              <a:gd name="connsiteX2" fmla="*/ 0 w 3141133"/>
              <a:gd name="connsiteY2" fmla="*/ 973666 h 973666"/>
            </a:gdLst>
            <a:ahLst/>
            <a:cxnLst>
              <a:cxn ang="0">
                <a:pos x="connsiteX0" y="connsiteY0"/>
              </a:cxn>
              <a:cxn ang="0">
                <a:pos x="connsiteX1" y="connsiteY1"/>
              </a:cxn>
              <a:cxn ang="0">
                <a:pos x="connsiteX2" y="connsiteY2"/>
              </a:cxn>
            </a:cxnLst>
            <a:rect l="l" t="t" r="r" b="b"/>
            <a:pathLst>
              <a:path w="3141133" h="973666">
                <a:moveTo>
                  <a:pt x="3141133" y="0"/>
                </a:moveTo>
                <a:cubicBezTo>
                  <a:pt x="2848327" y="321027"/>
                  <a:pt x="2555522" y="642055"/>
                  <a:pt x="2032000" y="804333"/>
                </a:cubicBezTo>
                <a:cubicBezTo>
                  <a:pt x="1508478" y="966611"/>
                  <a:pt x="754239" y="970138"/>
                  <a:pt x="0" y="97366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9"/>
          <p:cNvSpPr/>
          <p:nvPr/>
        </p:nvSpPr>
        <p:spPr bwMode="gray">
          <a:xfrm>
            <a:off x="10200852" y="3201945"/>
            <a:ext cx="833883" cy="461665"/>
          </a:xfrm>
          <a:prstGeom prst="rect">
            <a:avLst/>
          </a:prstGeom>
        </p:spPr>
        <p:txBody>
          <a:bodyPr wrap="none">
            <a:spAutoFit/>
          </a:bodyPr>
          <a:lstStyle/>
          <a:p>
            <a:pPr algn="ctr" defTabSz="914034"/>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外部主机</a:t>
            </a:r>
            <a:endPar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034"/>
            <a:r>
              <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2" name="Group 31"/>
          <p:cNvGrpSpPr/>
          <p:nvPr/>
        </p:nvGrpSpPr>
        <p:grpSpPr bwMode="gray">
          <a:xfrm>
            <a:off x="8340397" y="2701825"/>
            <a:ext cx="2921092" cy="482575"/>
            <a:chOff x="3282130" y="3593849"/>
            <a:chExt cx="2921092" cy="482575"/>
          </a:xfrm>
        </p:grpSpPr>
        <p:sp>
          <p:nvSpPr>
            <p:cNvPr id="33" name="TextBox 120">
              <a:extLst>
                <a:ext uri="{FF2B5EF4-FFF2-40B4-BE49-F238E27FC236}">
                  <a16:creationId xmlns:a16="http://schemas.microsoft.com/office/drawing/2014/main" id="{31930744-3D36-4F81-8426-6F129C1A6804}"/>
                </a:ext>
              </a:extLst>
            </p:cNvPr>
            <p:cNvSpPr txBox="1"/>
            <p:nvPr/>
          </p:nvSpPr>
          <p:spPr bwMode="gray">
            <a:xfrm>
              <a:off x="3282130" y="3593849"/>
              <a:ext cx="1202381"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200.1.2.3</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5638398" y="3596901"/>
              <a:ext cx="564824" cy="476472"/>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5" name="TextBox 120">
              <a:extLst>
                <a:ext uri="{FF2B5EF4-FFF2-40B4-BE49-F238E27FC236}">
                  <a16:creationId xmlns:a16="http://schemas.microsoft.com/office/drawing/2014/main" id="{31930744-3D36-4F81-8426-6F129C1A6804}"/>
                </a:ext>
              </a:extLst>
            </p:cNvPr>
            <p:cNvSpPr txBox="1"/>
            <p:nvPr/>
          </p:nvSpPr>
          <p:spPr bwMode="gray">
            <a:xfrm>
              <a:off x="4500604" y="3596900"/>
              <a:ext cx="112614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 Port</a:t>
              </a:r>
              <a:r>
                <a:rPr kumimoji="0" lang="zh-CN" altLang="en-US"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2050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grpSp>
        <p:nvGrpSpPr>
          <p:cNvPr id="37" name="组合 54"/>
          <p:cNvGrpSpPr/>
          <p:nvPr/>
        </p:nvGrpSpPr>
        <p:grpSpPr bwMode="gray">
          <a:xfrm>
            <a:off x="4474578" y="3217537"/>
            <a:ext cx="3394339" cy="1146849"/>
            <a:chOff x="4580326" y="2148755"/>
            <a:chExt cx="1879312" cy="1135498"/>
          </a:xfrm>
          <a:solidFill>
            <a:schemeClr val="bg1"/>
          </a:solidFill>
        </p:grpSpPr>
        <p:sp>
          <p:nvSpPr>
            <p:cNvPr id="38" name="TextBox 77"/>
            <p:cNvSpPr txBox="1"/>
            <p:nvPr/>
          </p:nvSpPr>
          <p:spPr bwMode="gray">
            <a:xfrm>
              <a:off x="4580326" y="2148755"/>
              <a:ext cx="1879312" cy="1135498"/>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39" name="矩形 56"/>
            <p:cNvSpPr/>
            <p:nvPr/>
          </p:nvSpPr>
          <p:spPr bwMode="gray">
            <a:xfrm>
              <a:off x="4592133" y="2165234"/>
              <a:ext cx="1822935" cy="274257"/>
            </a:xfrm>
            <a:prstGeom prst="rect">
              <a:avLst/>
            </a:prstGeom>
            <a:grpFill/>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40" name="表格 31"/>
          <p:cNvGraphicFramePr>
            <a:graphicFrameLocks noGrp="1"/>
          </p:cNvGraphicFramePr>
          <p:nvPr>
            <p:extLst>
              <p:ext uri="{D42A27DB-BD31-4B8C-83A1-F6EECF244321}">
                <p14:modId xmlns:p14="http://schemas.microsoft.com/office/powerpoint/2010/main" val="1288966281"/>
              </p:ext>
            </p:extLst>
          </p:nvPr>
        </p:nvGraphicFramePr>
        <p:xfrm>
          <a:off x="4536189" y="3487152"/>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:80</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3" name="Rectangular Callout 42"/>
          <p:cNvSpPr/>
          <p:nvPr/>
        </p:nvSpPr>
        <p:spPr bwMode="gray">
          <a:xfrm>
            <a:off x="4305732" y="3348651"/>
            <a:ext cx="881634" cy="276999"/>
          </a:xfrm>
          <a:prstGeom prst="wedgeRectCallout">
            <a:avLst>
              <a:gd name="adj1" fmla="val 43183"/>
              <a:gd name="adj2" fmla="val 1309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内部</a:t>
            </a:r>
            <a:r>
              <a:rPr lang="en-US" altLang="zh-CN" sz="1200" dirty="0">
                <a:solidFill>
                  <a:schemeClr val="tx1"/>
                </a:solidFill>
              </a:rPr>
              <a:t>Tuple</a:t>
            </a:r>
            <a:endParaRPr lang="zh-CN" altLang="en-US" sz="1200" dirty="0">
              <a:solidFill>
                <a:schemeClr val="tx1"/>
              </a:solidFill>
            </a:endParaRPr>
          </a:p>
        </p:txBody>
      </p:sp>
      <p:sp>
        <p:nvSpPr>
          <p:cNvPr id="44" name="Rectangular Callout 43"/>
          <p:cNvSpPr/>
          <p:nvPr/>
        </p:nvSpPr>
        <p:spPr bwMode="gray">
          <a:xfrm>
            <a:off x="7900757" y="3633251"/>
            <a:ext cx="886795" cy="276999"/>
          </a:xfrm>
          <a:prstGeom prst="wedgeRectCallout">
            <a:avLst>
              <a:gd name="adj1" fmla="val -66669"/>
              <a:gd name="adj2" fmla="val 3010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外部</a:t>
            </a:r>
            <a:r>
              <a:rPr lang="en-US" altLang="zh-CN" sz="1200" dirty="0">
                <a:solidFill>
                  <a:schemeClr val="tx1"/>
                </a:solidFill>
              </a:rPr>
              <a:t>Tuple</a:t>
            </a:r>
            <a:endParaRPr lang="zh-CN" altLang="en-US" sz="1200" dirty="0">
              <a:solidFill>
                <a:schemeClr val="tx1"/>
              </a:solidFill>
            </a:endParaRPr>
          </a:p>
        </p:txBody>
      </p:sp>
      <p:sp>
        <p:nvSpPr>
          <p:cNvPr id="46" name="Rectangular Callout 45"/>
          <p:cNvSpPr/>
          <p:nvPr/>
        </p:nvSpPr>
        <p:spPr bwMode="gray">
          <a:xfrm>
            <a:off x="4277994" y="4261792"/>
            <a:ext cx="900352" cy="276999"/>
          </a:xfrm>
          <a:prstGeom prst="wedgeRectCallout">
            <a:avLst>
              <a:gd name="adj1" fmla="val 47215"/>
              <a:gd name="adj2" fmla="val -952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spTree>
    <p:extLst>
      <p:ext uri="{BB962C8B-B14F-4D97-AF65-F5344CB8AC3E}">
        <p14:creationId xmlns:p14="http://schemas.microsoft.com/office/powerpoint/2010/main" val="18309257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Isosceles Triangle 22">
            <a:extLst>
              <a:ext uri="{FF2B5EF4-FFF2-40B4-BE49-F238E27FC236}">
                <a16:creationId xmlns:a16="http://schemas.microsoft.com/office/drawing/2014/main" id="{9D9DBD02-F67C-438B-97F0-B5C09750AC7C}"/>
              </a:ext>
            </a:extLst>
          </p:cNvPr>
          <p:cNvSpPr/>
          <p:nvPr/>
        </p:nvSpPr>
        <p:spPr bwMode="gray">
          <a:xfrm rot="16200000">
            <a:off x="6182505" y="4191244"/>
            <a:ext cx="643196" cy="891510"/>
          </a:xfrm>
          <a:custGeom>
            <a:avLst/>
            <a:gdLst>
              <a:gd name="connsiteX0" fmla="*/ 0 w 1225579"/>
              <a:gd name="connsiteY0" fmla="*/ 1739918 h 1739918"/>
              <a:gd name="connsiteX1" fmla="*/ 612790 w 1225579"/>
              <a:gd name="connsiteY1" fmla="*/ 0 h 1739918"/>
              <a:gd name="connsiteX2" fmla="*/ 1225579 w 1225579"/>
              <a:gd name="connsiteY2" fmla="*/ 1739918 h 1739918"/>
              <a:gd name="connsiteX3" fmla="*/ 0 w 1225579"/>
              <a:gd name="connsiteY3" fmla="*/ 1739918 h 1739918"/>
              <a:gd name="connsiteX0" fmla="*/ 0 w 1225579"/>
              <a:gd name="connsiteY0" fmla="*/ 1739918 h 1739918"/>
              <a:gd name="connsiteX1" fmla="*/ 612790 w 1225579"/>
              <a:gd name="connsiteY1" fmla="*/ 0 h 1739918"/>
              <a:gd name="connsiteX2" fmla="*/ 1225579 w 1225579"/>
              <a:gd name="connsiteY2" fmla="*/ 1739918 h 1739918"/>
              <a:gd name="connsiteX3" fmla="*/ 0 w 1225579"/>
              <a:gd name="connsiteY3" fmla="*/ 1739918 h 1739918"/>
              <a:gd name="connsiteX0" fmla="*/ 0 w 1225579"/>
              <a:gd name="connsiteY0" fmla="*/ 1739918 h 1911243"/>
              <a:gd name="connsiteX1" fmla="*/ 612790 w 1225579"/>
              <a:gd name="connsiteY1" fmla="*/ 0 h 1911243"/>
              <a:gd name="connsiteX2" fmla="*/ 1225579 w 1225579"/>
              <a:gd name="connsiteY2" fmla="*/ 1739918 h 1911243"/>
              <a:gd name="connsiteX3" fmla="*/ 0 w 1225579"/>
              <a:gd name="connsiteY3" fmla="*/ 1739918 h 1911243"/>
              <a:gd name="connsiteX0" fmla="*/ 0 w 1225579"/>
              <a:gd name="connsiteY0" fmla="*/ 1739918 h 1999652"/>
              <a:gd name="connsiteX1" fmla="*/ 612790 w 1225579"/>
              <a:gd name="connsiteY1" fmla="*/ 0 h 1999652"/>
              <a:gd name="connsiteX2" fmla="*/ 1225579 w 1225579"/>
              <a:gd name="connsiteY2" fmla="*/ 1739918 h 1999652"/>
              <a:gd name="connsiteX3" fmla="*/ 0 w 1225579"/>
              <a:gd name="connsiteY3" fmla="*/ 1739918 h 1999652"/>
            </a:gdLst>
            <a:ahLst/>
            <a:cxnLst>
              <a:cxn ang="0">
                <a:pos x="connsiteX0" y="connsiteY0"/>
              </a:cxn>
              <a:cxn ang="0">
                <a:pos x="connsiteX1" y="connsiteY1"/>
              </a:cxn>
              <a:cxn ang="0">
                <a:pos x="connsiteX2" y="connsiteY2"/>
              </a:cxn>
              <a:cxn ang="0">
                <a:pos x="connsiteX3" y="connsiteY3"/>
              </a:cxn>
            </a:cxnLst>
            <a:rect l="l" t="t" r="r" b="b"/>
            <a:pathLst>
              <a:path w="1225579" h="1999652">
                <a:moveTo>
                  <a:pt x="0" y="1739918"/>
                </a:moveTo>
                <a:lnTo>
                  <a:pt x="612790" y="0"/>
                </a:lnTo>
                <a:lnTo>
                  <a:pt x="1225579" y="1739918"/>
                </a:lnTo>
                <a:cubicBezTo>
                  <a:pt x="772229" y="2125401"/>
                  <a:pt x="291985" y="2044718"/>
                  <a:pt x="0" y="1739918"/>
                </a:cubicBezTo>
                <a:close/>
              </a:path>
            </a:pathLst>
          </a:custGeom>
          <a:solidFill>
            <a:srgbClr val="F4FBF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bwMode="gray"/>
        <p:txBody>
          <a:bodyPr/>
          <a:lstStyle/>
          <a:p>
            <a:r>
              <a:rPr lang="en-US" altLang="zh-CN" dirty="0"/>
              <a:t>Port Restricted Cone NAT</a:t>
            </a:r>
            <a:r>
              <a:rPr lang="zh-CN" altLang="en-US" dirty="0"/>
              <a:t>介绍</a:t>
            </a:r>
          </a:p>
        </p:txBody>
      </p:sp>
      <p:sp>
        <p:nvSpPr>
          <p:cNvPr id="3" name="Text Placeholder 2"/>
          <p:cNvSpPr>
            <a:spLocks noGrp="1"/>
          </p:cNvSpPr>
          <p:nvPr>
            <p:ph type="body" sz="quarter" idx="10"/>
          </p:nvPr>
        </p:nvSpPr>
        <p:spPr bwMode="gray"/>
        <p:txBody>
          <a:bodyPr/>
          <a:lstStyle/>
          <a:p>
            <a:r>
              <a:rPr lang="en-US" altLang="zh-CN" sz="1600" dirty="0"/>
              <a:t>Port Restricted Cone NAT</a:t>
            </a:r>
            <a:r>
              <a:rPr lang="zh-CN" altLang="en-US" sz="1600" dirty="0"/>
              <a:t>（端口限制圆锥型）：</a:t>
            </a:r>
            <a:r>
              <a:rPr lang="en-US" altLang="zh-CN" sz="1600" dirty="0"/>
              <a:t>Restricted Cone NAT</a:t>
            </a:r>
            <a:r>
              <a:rPr lang="zh-CN" altLang="en-US" sz="1600" dirty="0"/>
              <a:t>的进一步受限版本，此类</a:t>
            </a:r>
            <a:r>
              <a:rPr lang="en-US" altLang="zh-CN" sz="1600" dirty="0"/>
              <a:t>NAT</a:t>
            </a:r>
            <a:r>
              <a:rPr lang="zh-CN" altLang="en-US" sz="1600" dirty="0"/>
              <a:t>对于收到的外部主机回包除了检查数据源</a:t>
            </a:r>
            <a:r>
              <a:rPr lang="en-US" altLang="zh-CN" sz="1600" dirty="0"/>
              <a:t>IP+</a:t>
            </a:r>
            <a:r>
              <a:rPr lang="zh-CN" altLang="en-US" sz="1600" dirty="0"/>
              <a:t>端口与外部</a:t>
            </a:r>
            <a:r>
              <a:rPr lang="en-US" altLang="zh-CN" sz="1600" dirty="0"/>
              <a:t>Tuple</a:t>
            </a:r>
            <a:r>
              <a:rPr lang="zh-CN" altLang="en-US" sz="1600" dirty="0"/>
              <a:t>是否一致外，还需要检查数据目的</a:t>
            </a:r>
            <a:r>
              <a:rPr lang="en-US" altLang="zh-CN" sz="1600" dirty="0"/>
              <a:t>IP+</a:t>
            </a:r>
            <a:r>
              <a:rPr lang="zh-CN" altLang="en-US" sz="1600" dirty="0"/>
              <a:t>端口是否与目标</a:t>
            </a:r>
            <a:r>
              <a:rPr lang="en-US" altLang="zh-CN" sz="1600" dirty="0"/>
              <a:t>Tuple</a:t>
            </a:r>
            <a:r>
              <a:rPr lang="zh-CN" altLang="en-US" sz="1600" dirty="0"/>
              <a:t>一致，如果都一致则转发，此类</a:t>
            </a:r>
            <a:r>
              <a:rPr lang="en-US" altLang="zh-CN" sz="1600" dirty="0"/>
              <a:t>NAT</a:t>
            </a:r>
            <a:r>
              <a:rPr lang="zh-CN" altLang="en-US" sz="1600" dirty="0"/>
              <a:t>安全性很高。</a:t>
            </a:r>
          </a:p>
        </p:txBody>
      </p:sp>
      <p:sp>
        <p:nvSpPr>
          <p:cNvPr id="4" name="圆角矩形 75"/>
          <p:cNvSpPr/>
          <p:nvPr/>
        </p:nvSpPr>
        <p:spPr bwMode="gray">
          <a:xfrm>
            <a:off x="829618" y="2568301"/>
            <a:ext cx="10545068" cy="352637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内网</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与</a:t>
            </a:r>
            <a:r>
              <a:rPr lang="en-US" altLang="zh-CN" sz="1400" dirty="0">
                <a:solidFill>
                  <a:prstClr val="black"/>
                </a:solidFill>
                <a:sym typeface="Huawei Sans" panose="020C0503030203020204" pitchFamily="34" charset="0"/>
              </a:rPr>
              <a:t>Web</a:t>
            </a:r>
            <a:r>
              <a:rPr lang="zh-CN" altLang="en-US" sz="1400" dirty="0">
                <a:solidFill>
                  <a:prstClr val="black"/>
                </a:solidFill>
                <a:sym typeface="Huawei Sans" panose="020C0503030203020204" pitchFamily="34" charset="0"/>
              </a:rPr>
              <a:t>服务器通信以后，</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设备生成</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映射表，如果是</a:t>
            </a:r>
            <a:r>
              <a:rPr lang="en-US" altLang="zh-CN" sz="1400" dirty="0">
                <a:solidFill>
                  <a:prstClr val="black"/>
                </a:solidFill>
                <a:sym typeface="Huawei Sans" panose="020C0503030203020204" pitchFamily="34" charset="0"/>
              </a:rPr>
              <a:t>Port Restricted Cone NAT</a:t>
            </a:r>
            <a:r>
              <a:rPr lang="zh-CN" altLang="en-US" sz="1400" dirty="0">
                <a:solidFill>
                  <a:prstClr val="black"/>
                </a:solidFill>
                <a:sym typeface="Huawei Sans" panose="020C0503030203020204" pitchFamily="34" charset="0"/>
              </a:rPr>
              <a:t>类型，则攻击者需要以外部</a:t>
            </a:r>
            <a:r>
              <a:rPr lang="en-US" altLang="zh-CN" sz="1400" dirty="0">
                <a:solidFill>
                  <a:prstClr val="black"/>
                </a:solidFill>
                <a:sym typeface="Huawei Sans" panose="020C0503030203020204" pitchFamily="34" charset="0"/>
              </a:rPr>
              <a:t>Tuple</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122.1.2.2:1025</a:t>
            </a:r>
            <a:r>
              <a:rPr lang="zh-CN" altLang="en-US" sz="1400" dirty="0">
                <a:solidFill>
                  <a:prstClr val="black"/>
                </a:solidFill>
                <a:sym typeface="Huawei Sans" panose="020C0503030203020204" pitchFamily="34" charset="0"/>
              </a:rPr>
              <a:t>）为目标地址</a:t>
            </a:r>
            <a:r>
              <a:rPr lang="en-US" altLang="zh-CN" sz="1400" dirty="0">
                <a:solidFill>
                  <a:prstClr val="black"/>
                </a:solidFill>
                <a:sym typeface="Huawei Sans" panose="020C0503030203020204" pitchFamily="34" charset="0"/>
              </a:rPr>
              <a:t>+</a:t>
            </a:r>
            <a:r>
              <a:rPr lang="zh-CN" altLang="en-US" sz="1400" dirty="0">
                <a:solidFill>
                  <a:prstClr val="black"/>
                </a:solidFill>
                <a:sym typeface="Huawei Sans" panose="020C0503030203020204" pitchFamily="34" charset="0"/>
              </a:rPr>
              <a:t>端口，以目标</a:t>
            </a:r>
            <a:r>
              <a:rPr lang="en-US" altLang="zh-CN" sz="1400" dirty="0">
                <a:solidFill>
                  <a:prstClr val="black"/>
                </a:solidFill>
                <a:sym typeface="Huawei Sans" panose="020C0503030203020204" pitchFamily="34" charset="0"/>
              </a:rPr>
              <a:t>Tuple</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200.1.2.3:80</a:t>
            </a:r>
            <a:r>
              <a:rPr lang="zh-CN" altLang="en-US" sz="1400" dirty="0">
                <a:solidFill>
                  <a:prstClr val="black"/>
                </a:solidFill>
                <a:sym typeface="Huawei Sans" panose="020C0503030203020204" pitchFamily="34" charset="0"/>
              </a:rPr>
              <a:t>）为源发送数据，数据才会被发送给</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a:t>
            </a:r>
            <a:endParaRPr lang="en-US" altLang="zh-CN" sz="1399" dirty="0">
              <a:solidFill>
                <a:prstClr val="black"/>
              </a:solidFill>
              <a:latin typeface="方正兰亭黑简体"/>
              <a:sym typeface="Huawei Sans" panose="020C0503030203020204" pitchFamily="34" charset="0"/>
            </a:endParaRPr>
          </a:p>
        </p:txBody>
      </p:sp>
      <p:sp>
        <p:nvSpPr>
          <p:cNvPr id="5" name="圆角矩形 75"/>
          <p:cNvSpPr/>
          <p:nvPr/>
        </p:nvSpPr>
        <p:spPr bwMode="gray">
          <a:xfrm>
            <a:off x="828168" y="2140103"/>
            <a:ext cx="1057250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Port Restricted Cone NAT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12"/>
          <p:cNvCxnSpPr>
            <a:endCxn id="9" idx="1"/>
          </p:cNvCxnSpPr>
          <p:nvPr/>
        </p:nvCxnSpPr>
        <p:spPr bwMode="gray">
          <a:xfrm>
            <a:off x="3266300" y="4642354"/>
            <a:ext cx="6797582" cy="4941"/>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 name="矩形 39"/>
          <p:cNvSpPr/>
          <p:nvPr/>
        </p:nvSpPr>
        <p:spPr bwMode="gray">
          <a:xfrm>
            <a:off x="1733429" y="3574175"/>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918455" y="4425983"/>
            <a:ext cx="540989" cy="442626"/>
          </a:xfrm>
          <a:prstGeom prst="rect">
            <a:avLst/>
          </a:prstGeom>
          <a:noFill/>
        </p:spPr>
      </p:pic>
      <p:pic>
        <p:nvPicPr>
          <p:cNvPr id="9" name="图片 8" descr="Web服务器-蓝.png"/>
          <p:cNvPicPr>
            <a:picLocks noChangeAspect="1"/>
          </p:cNvPicPr>
          <p:nvPr/>
        </p:nvPicPr>
        <p:blipFill>
          <a:blip r:embed="rId4" cstate="print"/>
          <a:stretch>
            <a:fillRect/>
          </a:stretch>
        </p:blipFill>
        <p:spPr bwMode="gray">
          <a:xfrm>
            <a:off x="10063882" y="4426472"/>
            <a:ext cx="539789" cy="441645"/>
          </a:xfrm>
          <a:prstGeom prst="rect">
            <a:avLst/>
          </a:prstGeom>
        </p:spPr>
      </p:pic>
      <p:sp>
        <p:nvSpPr>
          <p:cNvPr id="10" name="TextBox 77"/>
          <p:cNvSpPr txBox="1"/>
          <p:nvPr/>
        </p:nvSpPr>
        <p:spPr bwMode="gray">
          <a:xfrm>
            <a:off x="9731118" y="4844228"/>
            <a:ext cx="1205317"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TextBox 77"/>
          <p:cNvSpPr txBox="1"/>
          <p:nvPr/>
        </p:nvSpPr>
        <p:spPr bwMode="gray">
          <a:xfrm>
            <a:off x="6445290" y="4631331"/>
            <a:ext cx="1087741"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矩形 26"/>
          <p:cNvSpPr/>
          <p:nvPr/>
        </p:nvSpPr>
        <p:spPr bwMode="gray">
          <a:xfrm>
            <a:off x="5929239" y="4866767"/>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3" name="图片 34" descr="汇聚交换机.png"/>
          <p:cNvPicPr>
            <a:picLocks noChangeAspect="1"/>
          </p:cNvPicPr>
          <p:nvPr/>
        </p:nvPicPr>
        <p:blipFill>
          <a:blip r:embed="rId5" cstate="print"/>
          <a:stretch>
            <a:fillRect/>
          </a:stretch>
        </p:blipFill>
        <p:spPr bwMode="gray">
          <a:xfrm>
            <a:off x="4105063" y="4443434"/>
            <a:ext cx="539789" cy="441645"/>
          </a:xfrm>
          <a:prstGeom prst="rect">
            <a:avLst/>
          </a:prstGeom>
        </p:spPr>
      </p:pic>
      <p:grpSp>
        <p:nvGrpSpPr>
          <p:cNvPr id="14" name="组合 42"/>
          <p:cNvGrpSpPr/>
          <p:nvPr/>
        </p:nvGrpSpPr>
        <p:grpSpPr bwMode="gray">
          <a:xfrm>
            <a:off x="7838236" y="4380608"/>
            <a:ext cx="1570475" cy="504472"/>
            <a:chOff x="7175983" y="2324318"/>
            <a:chExt cx="1571088" cy="504669"/>
          </a:xfrm>
        </p:grpSpPr>
        <p:sp>
          <p:nvSpPr>
            <p:cNvPr id="15" name="Freeform 159"/>
            <p:cNvSpPr/>
            <p:nvPr/>
          </p:nvSpPr>
          <p:spPr bwMode="gray">
            <a:xfrm flipH="1">
              <a:off x="7440181" y="2324318"/>
              <a:ext cx="1048594" cy="50466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TextBox 77"/>
            <p:cNvSpPr txBox="1"/>
            <p:nvPr/>
          </p:nvSpPr>
          <p:spPr bwMode="gray">
            <a:xfrm>
              <a:off x="7175983" y="2450309"/>
              <a:ext cx="1571088" cy="285686"/>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pic>
        <p:nvPicPr>
          <p:cNvPr id="17" name="图片 6" descr="PC.png"/>
          <p:cNvPicPr>
            <a:picLocks noChangeAspect="1"/>
          </p:cNvPicPr>
          <p:nvPr/>
        </p:nvPicPr>
        <p:blipFill>
          <a:blip r:embed="rId6" cstate="print"/>
          <a:stretch>
            <a:fillRect/>
          </a:stretch>
        </p:blipFill>
        <p:spPr bwMode="gray">
          <a:xfrm>
            <a:off x="2492030" y="4347006"/>
            <a:ext cx="538853" cy="413838"/>
          </a:xfrm>
          <a:prstGeom prst="rect">
            <a:avLst/>
          </a:prstGeom>
        </p:spPr>
      </p:pic>
      <p:sp>
        <p:nvSpPr>
          <p:cNvPr id="18" name="TextBox 77"/>
          <p:cNvSpPr txBox="1"/>
          <p:nvPr/>
        </p:nvSpPr>
        <p:spPr bwMode="gray">
          <a:xfrm>
            <a:off x="2076137" y="4746259"/>
            <a:ext cx="125259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6" descr="PC.png"/>
          <p:cNvPicPr>
            <a:picLocks noChangeAspect="1"/>
          </p:cNvPicPr>
          <p:nvPr/>
        </p:nvPicPr>
        <p:blipFill>
          <a:blip r:embed="rId6" cstate="print"/>
          <a:stretch>
            <a:fillRect/>
          </a:stretch>
        </p:blipFill>
        <p:spPr bwMode="gray">
          <a:xfrm>
            <a:off x="1418926" y="4367452"/>
            <a:ext cx="538853" cy="413838"/>
          </a:xfrm>
          <a:prstGeom prst="rect">
            <a:avLst/>
          </a:prstGeom>
        </p:spPr>
      </p:pic>
      <p:sp>
        <p:nvSpPr>
          <p:cNvPr id="20" name="TextBox 77"/>
          <p:cNvSpPr txBox="1"/>
          <p:nvPr/>
        </p:nvSpPr>
        <p:spPr bwMode="gray">
          <a:xfrm>
            <a:off x="1016127" y="4750713"/>
            <a:ext cx="123004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192.168.1.2/24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Rectangle 20"/>
          <p:cNvSpPr/>
          <p:nvPr/>
        </p:nvSpPr>
        <p:spPr bwMode="gray">
          <a:xfrm>
            <a:off x="981411" y="3229299"/>
            <a:ext cx="5256584" cy="208516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p:cNvSpPr/>
          <p:nvPr/>
        </p:nvSpPr>
        <p:spPr bwMode="gray">
          <a:xfrm>
            <a:off x="1118718" y="4227506"/>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7"/>
          <p:cNvSpPr txBox="1"/>
          <p:nvPr/>
        </p:nvSpPr>
        <p:spPr bwMode="gray">
          <a:xfrm>
            <a:off x="3345116" y="3127745"/>
            <a:ext cx="1115446" cy="661446"/>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地址池</a:t>
            </a:r>
            <a:endParaRPr lang="en-US" altLang="zh-CN" sz="1200" dirty="0">
              <a:solidFill>
                <a:prstClr val="black"/>
              </a:solidFill>
              <a:sym typeface="Huawei Sans" panose="020C0503030203020204" pitchFamily="34" charset="0"/>
            </a:endParaRPr>
          </a:p>
          <a:p>
            <a:pPr fontAlgn="ctr"/>
            <a:r>
              <a:rPr lang="en-US" altLang="zh-CN" sz="1200" dirty="0">
                <a:solidFill>
                  <a:schemeClr val="tx1"/>
                </a:solidFill>
              </a:rPr>
              <a:t>122.1.2.2</a:t>
            </a:r>
            <a:endParaRPr lang="zh-CN" altLang="zh-CN" sz="1200" dirty="0">
              <a:solidFill>
                <a:schemeClr val="tx1"/>
              </a:solidFill>
            </a:endParaRPr>
          </a:p>
          <a:p>
            <a:pPr fontAlgn="ctr"/>
            <a:r>
              <a:rPr lang="en-US" altLang="zh-CN" sz="1200" dirty="0"/>
              <a:t>122.1.2.3</a:t>
            </a:r>
            <a:endParaRPr lang="zh-CN" altLang="zh-CN" sz="1200" dirty="0"/>
          </a:p>
        </p:txBody>
      </p:sp>
      <p:sp>
        <p:nvSpPr>
          <p:cNvPr id="26" name="TextBox 77"/>
          <p:cNvSpPr txBox="1"/>
          <p:nvPr/>
        </p:nvSpPr>
        <p:spPr bwMode="gray">
          <a:xfrm>
            <a:off x="2099398" y="4199082"/>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TextBox 77"/>
          <p:cNvSpPr txBox="1"/>
          <p:nvPr/>
        </p:nvSpPr>
        <p:spPr bwMode="gray">
          <a:xfrm>
            <a:off x="1052547" y="4199082"/>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PC2</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8" name="图片 6" descr="PC.png"/>
          <p:cNvPicPr>
            <a:picLocks noChangeAspect="1"/>
          </p:cNvPicPr>
          <p:nvPr/>
        </p:nvPicPr>
        <p:blipFill>
          <a:blip r:embed="rId6" cstate="print"/>
          <a:stretch>
            <a:fillRect/>
          </a:stretch>
        </p:blipFill>
        <p:spPr bwMode="gray">
          <a:xfrm>
            <a:off x="9674616" y="3120270"/>
            <a:ext cx="538853" cy="413838"/>
          </a:xfrm>
          <a:prstGeom prst="rect">
            <a:avLst/>
          </a:prstGeom>
        </p:spPr>
      </p:pic>
      <p:cxnSp>
        <p:nvCxnSpPr>
          <p:cNvPr id="29" name="直接连接符 12"/>
          <p:cNvCxnSpPr>
            <a:stCxn id="15" idx="1"/>
            <a:endCxn id="28" idx="2"/>
          </p:cNvCxnSpPr>
          <p:nvPr/>
        </p:nvCxnSpPr>
        <p:spPr bwMode="gray">
          <a:xfrm flipV="1">
            <a:off x="8696804" y="3534108"/>
            <a:ext cx="1247239" cy="917093"/>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0" name="Freeform 29"/>
          <p:cNvSpPr/>
          <p:nvPr/>
        </p:nvSpPr>
        <p:spPr bwMode="gray">
          <a:xfrm>
            <a:off x="3067899" y="3540697"/>
            <a:ext cx="6725184" cy="995010"/>
          </a:xfrm>
          <a:custGeom>
            <a:avLst/>
            <a:gdLst>
              <a:gd name="connsiteX0" fmla="*/ 3141133 w 3141133"/>
              <a:gd name="connsiteY0" fmla="*/ 0 h 973666"/>
              <a:gd name="connsiteX1" fmla="*/ 2032000 w 3141133"/>
              <a:gd name="connsiteY1" fmla="*/ 804333 h 973666"/>
              <a:gd name="connsiteX2" fmla="*/ 0 w 3141133"/>
              <a:gd name="connsiteY2" fmla="*/ 973666 h 973666"/>
            </a:gdLst>
            <a:ahLst/>
            <a:cxnLst>
              <a:cxn ang="0">
                <a:pos x="connsiteX0" y="connsiteY0"/>
              </a:cxn>
              <a:cxn ang="0">
                <a:pos x="connsiteX1" y="connsiteY1"/>
              </a:cxn>
              <a:cxn ang="0">
                <a:pos x="connsiteX2" y="connsiteY2"/>
              </a:cxn>
            </a:cxnLst>
            <a:rect l="l" t="t" r="r" b="b"/>
            <a:pathLst>
              <a:path w="3141133" h="973666">
                <a:moveTo>
                  <a:pt x="3141133" y="0"/>
                </a:moveTo>
                <a:cubicBezTo>
                  <a:pt x="2848327" y="321027"/>
                  <a:pt x="2555522" y="642055"/>
                  <a:pt x="2032000" y="804333"/>
                </a:cubicBezTo>
                <a:cubicBezTo>
                  <a:pt x="1508478" y="966611"/>
                  <a:pt x="754239" y="970138"/>
                  <a:pt x="0" y="97366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9"/>
          <p:cNvSpPr/>
          <p:nvPr/>
        </p:nvSpPr>
        <p:spPr bwMode="gray">
          <a:xfrm>
            <a:off x="10222118" y="3095626"/>
            <a:ext cx="833883" cy="461665"/>
          </a:xfrm>
          <a:prstGeom prst="rect">
            <a:avLst/>
          </a:prstGeom>
        </p:spPr>
        <p:txBody>
          <a:bodyPr wrap="none">
            <a:spAutoFit/>
          </a:bodyPr>
          <a:lstStyle/>
          <a:p>
            <a:pPr algn="ctr" defTabSz="914034"/>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外部主机</a:t>
            </a:r>
            <a:endPar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034"/>
            <a:r>
              <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2" name="Group 31"/>
          <p:cNvGrpSpPr/>
          <p:nvPr/>
        </p:nvGrpSpPr>
        <p:grpSpPr bwMode="gray">
          <a:xfrm>
            <a:off x="8361663" y="2595506"/>
            <a:ext cx="2921092" cy="482575"/>
            <a:chOff x="3282130" y="3593849"/>
            <a:chExt cx="2921092" cy="482575"/>
          </a:xfrm>
        </p:grpSpPr>
        <p:sp>
          <p:nvSpPr>
            <p:cNvPr id="33" name="TextBox 120">
              <a:extLst>
                <a:ext uri="{FF2B5EF4-FFF2-40B4-BE49-F238E27FC236}">
                  <a16:creationId xmlns:a16="http://schemas.microsoft.com/office/drawing/2014/main" id="{31930744-3D36-4F81-8426-6F129C1A6804}"/>
                </a:ext>
              </a:extLst>
            </p:cNvPr>
            <p:cNvSpPr txBox="1"/>
            <p:nvPr/>
          </p:nvSpPr>
          <p:spPr bwMode="gray">
            <a:xfrm>
              <a:off x="3282130" y="3593849"/>
              <a:ext cx="1202381"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200.1.2.3</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122.1.2.2</a:t>
              </a: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5638398" y="3596901"/>
              <a:ext cx="564824" cy="476472"/>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5" name="TextBox 120">
              <a:extLst>
                <a:ext uri="{FF2B5EF4-FFF2-40B4-BE49-F238E27FC236}">
                  <a16:creationId xmlns:a16="http://schemas.microsoft.com/office/drawing/2014/main" id="{31930744-3D36-4F81-8426-6F129C1A6804}"/>
                </a:ext>
              </a:extLst>
            </p:cNvPr>
            <p:cNvSpPr txBox="1"/>
            <p:nvPr/>
          </p:nvSpPr>
          <p:spPr bwMode="gray">
            <a:xfrm>
              <a:off x="4500604" y="3596900"/>
              <a:ext cx="112614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 Port</a:t>
              </a:r>
              <a:r>
                <a:rPr kumimoji="0" lang="zh-CN" altLang="en-US"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80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grpSp>
        <p:nvGrpSpPr>
          <p:cNvPr id="37" name="组合 54"/>
          <p:cNvGrpSpPr/>
          <p:nvPr/>
        </p:nvGrpSpPr>
        <p:grpSpPr bwMode="gray">
          <a:xfrm>
            <a:off x="4495844" y="3111218"/>
            <a:ext cx="3394339" cy="1146849"/>
            <a:chOff x="4580326" y="2148755"/>
            <a:chExt cx="1879312" cy="1135498"/>
          </a:xfrm>
          <a:solidFill>
            <a:schemeClr val="bg1"/>
          </a:solidFill>
        </p:grpSpPr>
        <p:sp>
          <p:nvSpPr>
            <p:cNvPr id="38" name="TextBox 77"/>
            <p:cNvSpPr txBox="1"/>
            <p:nvPr/>
          </p:nvSpPr>
          <p:spPr bwMode="gray">
            <a:xfrm>
              <a:off x="4580326" y="2148755"/>
              <a:ext cx="1879312" cy="1135498"/>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39" name="矩形 56"/>
            <p:cNvSpPr/>
            <p:nvPr/>
          </p:nvSpPr>
          <p:spPr bwMode="gray">
            <a:xfrm>
              <a:off x="4592133" y="2165234"/>
              <a:ext cx="1822935" cy="274257"/>
            </a:xfrm>
            <a:prstGeom prst="rect">
              <a:avLst/>
            </a:prstGeom>
            <a:grpFill/>
          </p:spPr>
          <p:txBody>
            <a:bodyPr wrap="square">
              <a:spAutoFit/>
            </a:bodyPr>
            <a:lstStyle/>
            <a:p>
              <a:pPr marL="35986" algn="ctr">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40" name="表格 31"/>
          <p:cNvGraphicFramePr>
            <a:graphicFrameLocks noGrp="1"/>
          </p:cNvGraphicFramePr>
          <p:nvPr>
            <p:extLst>
              <p:ext uri="{D42A27DB-BD31-4B8C-83A1-F6EECF244321}">
                <p14:modId xmlns:p14="http://schemas.microsoft.com/office/powerpoint/2010/main" val="2669332102"/>
              </p:ext>
            </p:extLst>
          </p:nvPr>
        </p:nvGraphicFramePr>
        <p:xfrm>
          <a:off x="4557455" y="3380833"/>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200.1.2.3:80</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3" name="Rectangular Callout 42"/>
          <p:cNvSpPr/>
          <p:nvPr/>
        </p:nvSpPr>
        <p:spPr bwMode="gray">
          <a:xfrm>
            <a:off x="4317270" y="3242332"/>
            <a:ext cx="891362" cy="276999"/>
          </a:xfrm>
          <a:prstGeom prst="wedgeRectCallout">
            <a:avLst>
              <a:gd name="adj1" fmla="val 43183"/>
              <a:gd name="adj2" fmla="val 1309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内部</a:t>
            </a:r>
            <a:r>
              <a:rPr lang="en-US" altLang="zh-CN" sz="1200" dirty="0">
                <a:solidFill>
                  <a:schemeClr val="tx1"/>
                </a:solidFill>
              </a:rPr>
              <a:t>Tuple</a:t>
            </a:r>
            <a:endParaRPr lang="zh-CN" altLang="en-US" sz="1200" dirty="0">
              <a:solidFill>
                <a:schemeClr val="tx1"/>
              </a:solidFill>
            </a:endParaRPr>
          </a:p>
        </p:txBody>
      </p:sp>
      <p:sp>
        <p:nvSpPr>
          <p:cNvPr id="44" name="Rectangular Callout 43"/>
          <p:cNvSpPr/>
          <p:nvPr/>
        </p:nvSpPr>
        <p:spPr bwMode="gray">
          <a:xfrm>
            <a:off x="7922023" y="3526932"/>
            <a:ext cx="945971" cy="276999"/>
          </a:xfrm>
          <a:prstGeom prst="wedgeRectCallout">
            <a:avLst>
              <a:gd name="adj1" fmla="val -66669"/>
              <a:gd name="adj2" fmla="val 3010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外部</a:t>
            </a:r>
            <a:r>
              <a:rPr lang="en-US" altLang="zh-CN" sz="1200" dirty="0">
                <a:solidFill>
                  <a:schemeClr val="tx1"/>
                </a:solidFill>
              </a:rPr>
              <a:t>Tuple</a:t>
            </a:r>
            <a:endParaRPr lang="zh-CN" altLang="en-US" sz="1200" dirty="0">
              <a:solidFill>
                <a:schemeClr val="tx1"/>
              </a:solidFill>
            </a:endParaRPr>
          </a:p>
        </p:txBody>
      </p:sp>
      <p:sp>
        <p:nvSpPr>
          <p:cNvPr id="46" name="Rectangular Callout 45"/>
          <p:cNvSpPr/>
          <p:nvPr/>
        </p:nvSpPr>
        <p:spPr bwMode="gray">
          <a:xfrm>
            <a:off x="4325443" y="4155473"/>
            <a:ext cx="874169" cy="276999"/>
          </a:xfrm>
          <a:prstGeom prst="wedgeRectCallout">
            <a:avLst>
              <a:gd name="adj1" fmla="val 47215"/>
              <a:gd name="adj2" fmla="val -952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spTree>
    <p:extLst>
      <p:ext uri="{BB962C8B-B14F-4D97-AF65-F5344CB8AC3E}">
        <p14:creationId xmlns:p14="http://schemas.microsoft.com/office/powerpoint/2010/main" val="27870671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Symmetric NAT</a:t>
            </a:r>
            <a:endParaRPr lang="zh-CN" altLang="en-US" dirty="0"/>
          </a:p>
        </p:txBody>
      </p:sp>
      <p:sp>
        <p:nvSpPr>
          <p:cNvPr id="3" name="Text Placeholder 2"/>
          <p:cNvSpPr>
            <a:spLocks noGrp="1"/>
          </p:cNvSpPr>
          <p:nvPr>
            <p:ph type="body" sz="quarter" idx="10"/>
          </p:nvPr>
        </p:nvSpPr>
        <p:spPr bwMode="gray"/>
        <p:txBody>
          <a:bodyPr/>
          <a:lstStyle/>
          <a:p>
            <a:r>
              <a:rPr lang="en-US" altLang="zh-CN" sz="1600" dirty="0"/>
              <a:t>Symmetric NAT</a:t>
            </a:r>
            <a:r>
              <a:rPr lang="zh-CN" altLang="en-US" sz="1600" dirty="0"/>
              <a:t>（对称型</a:t>
            </a:r>
            <a:r>
              <a:rPr lang="en-US" altLang="zh-CN" sz="1600" dirty="0"/>
              <a:t>NAT</a:t>
            </a:r>
            <a:r>
              <a:rPr lang="zh-CN" altLang="en-US" sz="1600" dirty="0"/>
              <a:t>）：此类</a:t>
            </a:r>
            <a:r>
              <a:rPr lang="en-US" altLang="zh-CN" sz="1600" dirty="0"/>
              <a:t>NAT</a:t>
            </a:r>
            <a:r>
              <a:rPr lang="zh-CN" altLang="en-US" sz="1600" dirty="0"/>
              <a:t>在进行转换时，同一内部</a:t>
            </a:r>
            <a:r>
              <a:rPr lang="en-US" altLang="zh-CN" sz="1600" dirty="0"/>
              <a:t>Tuple</a:t>
            </a:r>
            <a:r>
              <a:rPr lang="zh-CN" altLang="en-US" sz="1600" dirty="0"/>
              <a:t>加上同一目标</a:t>
            </a:r>
            <a:r>
              <a:rPr lang="en-US" altLang="zh-CN" sz="1600" dirty="0"/>
              <a:t>Tuple</a:t>
            </a:r>
            <a:r>
              <a:rPr lang="zh-CN" altLang="en-US" sz="1600" dirty="0"/>
              <a:t>才会被</a:t>
            </a:r>
            <a:r>
              <a:rPr lang="en-US" altLang="zh-CN" sz="1600" dirty="0"/>
              <a:t>NAT</a:t>
            </a:r>
            <a:r>
              <a:rPr lang="zh-CN" altLang="en-US" sz="1600" dirty="0"/>
              <a:t>转换成同一外部</a:t>
            </a:r>
            <a:r>
              <a:rPr lang="en-US" altLang="zh-CN" sz="1600" dirty="0"/>
              <a:t>Tuple</a:t>
            </a:r>
            <a:r>
              <a:rPr lang="zh-CN" altLang="en-US" sz="1600" dirty="0"/>
              <a:t>，否则会转换成不同外部</a:t>
            </a:r>
            <a:r>
              <a:rPr lang="en-US" altLang="zh-CN" sz="1600" dirty="0"/>
              <a:t>Tuple</a:t>
            </a:r>
            <a:r>
              <a:rPr lang="zh-CN" altLang="en-US" sz="1600" dirty="0"/>
              <a:t>。对于返回数据的处理和</a:t>
            </a:r>
            <a:r>
              <a:rPr lang="en-US" altLang="zh-CN" sz="1600" dirty="0"/>
              <a:t>Port Restricted Cone NAT</a:t>
            </a:r>
            <a:r>
              <a:rPr lang="zh-CN" altLang="en-US" sz="1600" dirty="0"/>
              <a:t>类似，需要查看回程数据的源</a:t>
            </a:r>
            <a:r>
              <a:rPr lang="en-US" altLang="zh-CN" sz="1600" dirty="0"/>
              <a:t>IP+</a:t>
            </a:r>
            <a:r>
              <a:rPr lang="zh-CN" altLang="en-US" sz="1600" dirty="0"/>
              <a:t>端口，目的</a:t>
            </a:r>
            <a:r>
              <a:rPr lang="en-US" altLang="zh-CN" sz="1600" dirty="0"/>
              <a:t>IP+</a:t>
            </a:r>
            <a:r>
              <a:rPr lang="zh-CN" altLang="en-US" sz="1600" dirty="0"/>
              <a:t>端口与外部</a:t>
            </a:r>
            <a:r>
              <a:rPr lang="en-US" altLang="zh-CN" sz="1600" dirty="0"/>
              <a:t>Tuple</a:t>
            </a:r>
            <a:r>
              <a:rPr lang="zh-CN" altLang="en-US" sz="1600" dirty="0"/>
              <a:t>和目标</a:t>
            </a:r>
            <a:r>
              <a:rPr lang="en-US" altLang="zh-CN" sz="1600" dirty="0"/>
              <a:t>Tuple</a:t>
            </a:r>
            <a:r>
              <a:rPr lang="zh-CN" altLang="en-US" sz="1600" dirty="0"/>
              <a:t>是否一致。</a:t>
            </a:r>
          </a:p>
        </p:txBody>
      </p:sp>
      <p:sp>
        <p:nvSpPr>
          <p:cNvPr id="4" name="圆角矩形 75"/>
          <p:cNvSpPr/>
          <p:nvPr/>
        </p:nvSpPr>
        <p:spPr bwMode="gray">
          <a:xfrm>
            <a:off x="808352" y="2589557"/>
            <a:ext cx="10545068" cy="352637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r>
              <a:rPr lang="zh-CN" altLang="en-US" sz="1400" dirty="0">
                <a:solidFill>
                  <a:prstClr val="black"/>
                </a:solidFill>
                <a:sym typeface="Huawei Sans" panose="020C0503030203020204" pitchFamily="34" charset="0"/>
              </a:rPr>
              <a:t>内网</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与</a:t>
            </a:r>
            <a:r>
              <a:rPr lang="en-US" altLang="zh-CN" sz="1400" dirty="0">
                <a:solidFill>
                  <a:prstClr val="black"/>
                </a:solidFill>
                <a:sym typeface="Huawei Sans" panose="020C0503030203020204" pitchFamily="34" charset="0"/>
              </a:rPr>
              <a:t>Web</a:t>
            </a:r>
            <a:r>
              <a:rPr lang="zh-CN" altLang="en-US" sz="1400" dirty="0">
                <a:solidFill>
                  <a:prstClr val="black"/>
                </a:solidFill>
                <a:sym typeface="Huawei Sans" panose="020C0503030203020204" pitchFamily="34" charset="0"/>
              </a:rPr>
              <a:t>服务器和</a:t>
            </a:r>
            <a:r>
              <a:rPr lang="en-US" altLang="zh-CN" sz="1400" dirty="0">
                <a:solidFill>
                  <a:prstClr val="black"/>
                </a:solidFill>
                <a:sym typeface="Huawei Sans" panose="020C0503030203020204" pitchFamily="34" charset="0"/>
              </a:rPr>
              <a:t>DNS</a:t>
            </a:r>
            <a:r>
              <a:rPr lang="zh-CN" altLang="en-US" sz="1400" dirty="0">
                <a:solidFill>
                  <a:prstClr val="black"/>
                </a:solidFill>
                <a:sym typeface="Huawei Sans" panose="020C0503030203020204" pitchFamily="34" charset="0"/>
              </a:rPr>
              <a:t>服务器通信时，</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设备对于不同的目标会生成不同</a:t>
            </a:r>
            <a:r>
              <a:rPr lang="en-US" altLang="zh-CN" sz="1400" dirty="0">
                <a:solidFill>
                  <a:prstClr val="black"/>
                </a:solidFill>
                <a:sym typeface="Huawei Sans" panose="020C0503030203020204" pitchFamily="34" charset="0"/>
              </a:rPr>
              <a:t>NAT</a:t>
            </a:r>
            <a:r>
              <a:rPr lang="zh-CN" altLang="en-US" sz="1400" dirty="0">
                <a:solidFill>
                  <a:prstClr val="black"/>
                </a:solidFill>
                <a:sym typeface="Huawei Sans" panose="020C0503030203020204" pitchFamily="34" charset="0"/>
              </a:rPr>
              <a:t>映射表项，即使源</a:t>
            </a:r>
            <a:r>
              <a:rPr lang="en-US" altLang="zh-CN" sz="1400" dirty="0">
                <a:solidFill>
                  <a:prstClr val="black"/>
                </a:solidFill>
                <a:sym typeface="Huawei Sans" panose="020C0503030203020204" pitchFamily="34" charset="0"/>
              </a:rPr>
              <a:t>IP+</a:t>
            </a:r>
            <a:r>
              <a:rPr lang="zh-CN" altLang="en-US" sz="1400" dirty="0">
                <a:solidFill>
                  <a:prstClr val="black"/>
                </a:solidFill>
                <a:sym typeface="Huawei Sans" panose="020C0503030203020204" pitchFamily="34" charset="0"/>
              </a:rPr>
              <a:t>端口都一致。攻击者需要以外部</a:t>
            </a:r>
            <a:r>
              <a:rPr lang="en-US" altLang="zh-CN" sz="1400" dirty="0">
                <a:solidFill>
                  <a:prstClr val="black"/>
                </a:solidFill>
                <a:sym typeface="Huawei Sans" panose="020C0503030203020204" pitchFamily="34" charset="0"/>
              </a:rPr>
              <a:t>Tuple</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122.1.2.3:1025</a:t>
            </a:r>
            <a:r>
              <a:rPr lang="zh-CN" altLang="en-US" sz="1400" dirty="0">
                <a:solidFill>
                  <a:prstClr val="black"/>
                </a:solidFill>
                <a:sym typeface="Huawei Sans" panose="020C0503030203020204" pitchFamily="34" charset="0"/>
              </a:rPr>
              <a:t>）为目标地址</a:t>
            </a:r>
            <a:r>
              <a:rPr lang="en-US" altLang="zh-CN" sz="1400" dirty="0">
                <a:solidFill>
                  <a:prstClr val="black"/>
                </a:solidFill>
                <a:sym typeface="Huawei Sans" panose="020C0503030203020204" pitchFamily="34" charset="0"/>
              </a:rPr>
              <a:t>+</a:t>
            </a:r>
            <a:r>
              <a:rPr lang="zh-CN" altLang="en-US" sz="1400" dirty="0">
                <a:solidFill>
                  <a:prstClr val="black"/>
                </a:solidFill>
                <a:sym typeface="Huawei Sans" panose="020C0503030203020204" pitchFamily="34" charset="0"/>
              </a:rPr>
              <a:t>端口，以目标</a:t>
            </a:r>
            <a:r>
              <a:rPr lang="en-US" altLang="zh-CN" sz="1400" dirty="0">
                <a:solidFill>
                  <a:prstClr val="black"/>
                </a:solidFill>
                <a:sym typeface="Huawei Sans" panose="020C0503030203020204" pitchFamily="34" charset="0"/>
              </a:rPr>
              <a:t>Tuple</a:t>
            </a:r>
            <a:r>
              <a:rPr lang="zh-CN" altLang="en-US" sz="1400" dirty="0">
                <a:solidFill>
                  <a:prstClr val="black"/>
                </a:solidFill>
                <a:sym typeface="Huawei Sans" panose="020C0503030203020204" pitchFamily="34" charset="0"/>
              </a:rPr>
              <a:t>（</a:t>
            </a:r>
            <a:r>
              <a:rPr lang="en-US" altLang="zh-CN" sz="1400" dirty="0">
                <a:solidFill>
                  <a:prstClr val="black"/>
                </a:solidFill>
                <a:sym typeface="Huawei Sans" panose="020C0503030203020204" pitchFamily="34" charset="0"/>
              </a:rPr>
              <a:t>200.1.2.3:53</a:t>
            </a:r>
            <a:r>
              <a:rPr lang="zh-CN" altLang="en-US" sz="1400" dirty="0">
                <a:solidFill>
                  <a:prstClr val="black"/>
                </a:solidFill>
                <a:sym typeface="Huawei Sans" panose="020C0503030203020204" pitchFamily="34" charset="0"/>
              </a:rPr>
              <a:t>）为源发送数据，数据才会被发送给</a:t>
            </a:r>
            <a:r>
              <a:rPr lang="en-US" altLang="zh-CN" sz="1400" dirty="0">
                <a:solidFill>
                  <a:prstClr val="black"/>
                </a:solidFill>
                <a:sym typeface="Huawei Sans" panose="020C0503030203020204" pitchFamily="34" charset="0"/>
              </a:rPr>
              <a:t>PC1</a:t>
            </a:r>
            <a:r>
              <a:rPr lang="zh-CN" altLang="en-US" sz="1400" dirty="0">
                <a:solidFill>
                  <a:prstClr val="black"/>
                </a:solidFill>
                <a:sym typeface="Huawei Sans" panose="020C0503030203020204" pitchFamily="34" charset="0"/>
              </a:rPr>
              <a:t>。</a:t>
            </a:r>
            <a:endParaRPr lang="en-US" altLang="zh-CN" sz="1399" dirty="0">
              <a:solidFill>
                <a:prstClr val="black"/>
              </a:solidFill>
              <a:latin typeface="方正兰亭黑简体"/>
              <a:sym typeface="Huawei Sans" panose="020C0503030203020204" pitchFamily="34" charset="0"/>
            </a:endParaRPr>
          </a:p>
        </p:txBody>
      </p:sp>
      <p:sp>
        <p:nvSpPr>
          <p:cNvPr id="5" name="圆角矩形 75"/>
          <p:cNvSpPr/>
          <p:nvPr/>
        </p:nvSpPr>
        <p:spPr bwMode="gray">
          <a:xfrm>
            <a:off x="806902" y="2161359"/>
            <a:ext cx="1057250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Symmetric NAT</a:t>
            </a:r>
            <a:endPar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 name="直接连接符 12"/>
          <p:cNvCxnSpPr>
            <a:stCxn id="15" idx="8"/>
            <a:endCxn id="9" idx="1"/>
          </p:cNvCxnSpPr>
          <p:nvPr/>
        </p:nvCxnSpPr>
        <p:spPr bwMode="gray">
          <a:xfrm flipV="1">
            <a:off x="9129251" y="4211982"/>
            <a:ext cx="740641" cy="447825"/>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 name="矩形 39"/>
          <p:cNvSpPr/>
          <p:nvPr/>
        </p:nvSpPr>
        <p:spPr bwMode="gray">
          <a:xfrm>
            <a:off x="1712163" y="3595431"/>
            <a:ext cx="800219" cy="276999"/>
          </a:xfrm>
          <a:prstGeom prst="rect">
            <a:avLst/>
          </a:prstGeom>
        </p:spPr>
        <p:txBody>
          <a:bodyPr wrap="none">
            <a:spAutoFit/>
          </a:bodyPr>
          <a:lstStyle/>
          <a:p>
            <a:pPr algn="ctr" defTabSz="914034"/>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私有网络</a:t>
            </a:r>
          </a:p>
        </p:txBody>
      </p:sp>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897189" y="4447239"/>
            <a:ext cx="540989" cy="442626"/>
          </a:xfrm>
          <a:prstGeom prst="rect">
            <a:avLst/>
          </a:prstGeom>
          <a:noFill/>
        </p:spPr>
      </p:pic>
      <p:pic>
        <p:nvPicPr>
          <p:cNvPr id="9" name="图片 8" descr="Web服务器-蓝.png"/>
          <p:cNvPicPr>
            <a:picLocks noChangeAspect="1"/>
          </p:cNvPicPr>
          <p:nvPr/>
        </p:nvPicPr>
        <p:blipFill>
          <a:blip r:embed="rId4" cstate="print"/>
          <a:stretch>
            <a:fillRect/>
          </a:stretch>
        </p:blipFill>
        <p:spPr bwMode="gray">
          <a:xfrm>
            <a:off x="9869892" y="3991159"/>
            <a:ext cx="539789" cy="441645"/>
          </a:xfrm>
          <a:prstGeom prst="rect">
            <a:avLst/>
          </a:prstGeom>
        </p:spPr>
      </p:pic>
      <p:sp>
        <p:nvSpPr>
          <p:cNvPr id="10" name="TextBox 77"/>
          <p:cNvSpPr txBox="1"/>
          <p:nvPr/>
        </p:nvSpPr>
        <p:spPr bwMode="gray">
          <a:xfrm>
            <a:off x="10288672" y="3950857"/>
            <a:ext cx="1024598"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Web</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200.1.2.2</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1" name="TextBox 77"/>
          <p:cNvSpPr txBox="1"/>
          <p:nvPr/>
        </p:nvSpPr>
        <p:spPr bwMode="gray">
          <a:xfrm>
            <a:off x="6424024" y="4652587"/>
            <a:ext cx="1087741" cy="285574"/>
          </a:xfrm>
          <a:prstGeom prst="rect">
            <a:avLst/>
          </a:prstGeom>
          <a:noFill/>
          <a:ln w="9525">
            <a:noFill/>
            <a:miter lim="800000"/>
            <a:headEnd/>
            <a:tailEnd/>
          </a:ln>
        </p:spPr>
        <p:txBody>
          <a:bodyPr wrap="square" lIns="99941" tIns="49966" rIns="99941" bIns="49966" rtlCol="0">
            <a:spAutoFit/>
          </a:bodyPr>
          <a:lstStyle/>
          <a:p>
            <a:pP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122.1.2.1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12" name="矩形 26"/>
          <p:cNvSpPr/>
          <p:nvPr/>
        </p:nvSpPr>
        <p:spPr bwMode="gray">
          <a:xfrm>
            <a:off x="5907973" y="4888023"/>
            <a:ext cx="505267" cy="276999"/>
          </a:xfrm>
          <a:prstGeom prst="rect">
            <a:avLst/>
          </a:prstGeom>
        </p:spPr>
        <p:txBody>
          <a:bodyPr wrap="none">
            <a:spAutoFit/>
          </a:bodyPr>
          <a:lstStyle/>
          <a:p>
            <a:pPr algn="ctr" defTabSz="914034"/>
            <a:r>
              <a:rPr lang="en-US" altLang="zh-CN" sz="1200" b="1"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b="1"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3" name="图片 34" descr="汇聚交换机.png"/>
          <p:cNvPicPr>
            <a:picLocks noChangeAspect="1"/>
          </p:cNvPicPr>
          <p:nvPr/>
        </p:nvPicPr>
        <p:blipFill>
          <a:blip r:embed="rId5" cstate="print"/>
          <a:stretch>
            <a:fillRect/>
          </a:stretch>
        </p:blipFill>
        <p:spPr bwMode="gray">
          <a:xfrm>
            <a:off x="4083797" y="4449724"/>
            <a:ext cx="539789" cy="441645"/>
          </a:xfrm>
          <a:prstGeom prst="rect">
            <a:avLst/>
          </a:prstGeom>
        </p:spPr>
      </p:pic>
      <p:sp>
        <p:nvSpPr>
          <p:cNvPr id="15" name="Freeform 159"/>
          <p:cNvSpPr/>
          <p:nvPr/>
        </p:nvSpPr>
        <p:spPr bwMode="gray">
          <a:xfrm flipH="1">
            <a:off x="8081066" y="4315305"/>
            <a:ext cx="1048185" cy="50447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Internet</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7" name="图片 6" descr="PC.png"/>
          <p:cNvPicPr>
            <a:picLocks noChangeAspect="1"/>
          </p:cNvPicPr>
          <p:nvPr/>
        </p:nvPicPr>
        <p:blipFill>
          <a:blip r:embed="rId6" cstate="print"/>
          <a:stretch>
            <a:fillRect/>
          </a:stretch>
        </p:blipFill>
        <p:spPr bwMode="gray">
          <a:xfrm>
            <a:off x="2470764" y="4368262"/>
            <a:ext cx="538853" cy="413838"/>
          </a:xfrm>
          <a:prstGeom prst="rect">
            <a:avLst/>
          </a:prstGeom>
        </p:spPr>
      </p:pic>
      <p:sp>
        <p:nvSpPr>
          <p:cNvPr id="18" name="TextBox 77"/>
          <p:cNvSpPr txBox="1"/>
          <p:nvPr/>
        </p:nvSpPr>
        <p:spPr bwMode="gray">
          <a:xfrm>
            <a:off x="2054871" y="4767515"/>
            <a:ext cx="125259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9" name="图片 6" descr="PC.png"/>
          <p:cNvPicPr>
            <a:picLocks noChangeAspect="1"/>
          </p:cNvPicPr>
          <p:nvPr/>
        </p:nvPicPr>
        <p:blipFill>
          <a:blip r:embed="rId6" cstate="print"/>
          <a:stretch>
            <a:fillRect/>
          </a:stretch>
        </p:blipFill>
        <p:spPr bwMode="gray">
          <a:xfrm>
            <a:off x="1397660" y="4388708"/>
            <a:ext cx="538853" cy="413838"/>
          </a:xfrm>
          <a:prstGeom prst="rect">
            <a:avLst/>
          </a:prstGeom>
        </p:spPr>
      </p:pic>
      <p:sp>
        <p:nvSpPr>
          <p:cNvPr id="20" name="TextBox 77"/>
          <p:cNvSpPr txBox="1"/>
          <p:nvPr/>
        </p:nvSpPr>
        <p:spPr bwMode="gray">
          <a:xfrm>
            <a:off x="994861" y="4771969"/>
            <a:ext cx="1230044"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192.168.1.2/24</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1" name="Rectangle 20"/>
          <p:cNvSpPr/>
          <p:nvPr/>
        </p:nvSpPr>
        <p:spPr bwMode="gray">
          <a:xfrm>
            <a:off x="960145" y="3250555"/>
            <a:ext cx="5256584" cy="208516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ctangle 21"/>
          <p:cNvSpPr/>
          <p:nvPr/>
        </p:nvSpPr>
        <p:spPr bwMode="gray">
          <a:xfrm>
            <a:off x="1097452" y="4248762"/>
            <a:ext cx="2136863" cy="845996"/>
          </a:xfrm>
          <a:prstGeom prst="rect">
            <a:avLst/>
          </a:prstGeom>
          <a:no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77"/>
          <p:cNvSpPr txBox="1"/>
          <p:nvPr/>
        </p:nvSpPr>
        <p:spPr bwMode="gray">
          <a:xfrm>
            <a:off x="3068312" y="3436895"/>
            <a:ext cx="1115446" cy="661446"/>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地址池</a:t>
            </a:r>
            <a:endParaRPr lang="en-US" altLang="zh-CN" sz="1200" dirty="0">
              <a:solidFill>
                <a:prstClr val="black"/>
              </a:solidFill>
              <a:sym typeface="Huawei Sans" panose="020C0503030203020204" pitchFamily="34" charset="0"/>
            </a:endParaRPr>
          </a:p>
          <a:p>
            <a:pPr fontAlgn="ctr"/>
            <a:r>
              <a:rPr lang="en-US" altLang="zh-CN" sz="1200" dirty="0">
                <a:solidFill>
                  <a:schemeClr val="tx1"/>
                </a:solidFill>
              </a:rPr>
              <a:t>122.1.2.2</a:t>
            </a:r>
            <a:endParaRPr lang="zh-CN" altLang="zh-CN" sz="1200" dirty="0">
              <a:solidFill>
                <a:schemeClr val="tx1"/>
              </a:solidFill>
            </a:endParaRPr>
          </a:p>
          <a:p>
            <a:pPr fontAlgn="ctr"/>
            <a:r>
              <a:rPr lang="en-US" altLang="zh-CN" sz="1200" dirty="0"/>
              <a:t>122.1.2.3</a:t>
            </a:r>
            <a:endParaRPr lang="zh-CN" altLang="zh-CN" sz="1200" dirty="0"/>
          </a:p>
        </p:txBody>
      </p:sp>
      <p:sp>
        <p:nvSpPr>
          <p:cNvPr id="26" name="TextBox 77"/>
          <p:cNvSpPr txBox="1"/>
          <p:nvPr/>
        </p:nvSpPr>
        <p:spPr bwMode="gray">
          <a:xfrm>
            <a:off x="2078132" y="4220338"/>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PC1</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7" name="TextBox 77"/>
          <p:cNvSpPr txBox="1"/>
          <p:nvPr/>
        </p:nvSpPr>
        <p:spPr bwMode="gray">
          <a:xfrm>
            <a:off x="1031281" y="4220338"/>
            <a:ext cx="483683" cy="285574"/>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PC2</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28" name="图片 6" descr="PC.png"/>
          <p:cNvPicPr>
            <a:picLocks noChangeAspect="1"/>
          </p:cNvPicPr>
          <p:nvPr/>
        </p:nvPicPr>
        <p:blipFill>
          <a:blip r:embed="rId6" cstate="print"/>
          <a:stretch>
            <a:fillRect/>
          </a:stretch>
        </p:blipFill>
        <p:spPr bwMode="gray">
          <a:xfrm>
            <a:off x="9653350" y="3141526"/>
            <a:ext cx="538853" cy="413838"/>
          </a:xfrm>
          <a:prstGeom prst="rect">
            <a:avLst/>
          </a:prstGeom>
        </p:spPr>
      </p:pic>
      <p:cxnSp>
        <p:nvCxnSpPr>
          <p:cNvPr id="29" name="直接连接符 12"/>
          <p:cNvCxnSpPr>
            <a:stCxn id="15" idx="1"/>
            <a:endCxn id="28" idx="2"/>
          </p:cNvCxnSpPr>
          <p:nvPr/>
        </p:nvCxnSpPr>
        <p:spPr bwMode="gray">
          <a:xfrm flipV="1">
            <a:off x="8675539" y="3555364"/>
            <a:ext cx="1247238" cy="83053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0" name="Freeform 29"/>
          <p:cNvSpPr/>
          <p:nvPr/>
        </p:nvSpPr>
        <p:spPr bwMode="gray">
          <a:xfrm>
            <a:off x="3046633" y="3561953"/>
            <a:ext cx="6725184" cy="995010"/>
          </a:xfrm>
          <a:custGeom>
            <a:avLst/>
            <a:gdLst>
              <a:gd name="connsiteX0" fmla="*/ 3141133 w 3141133"/>
              <a:gd name="connsiteY0" fmla="*/ 0 h 973666"/>
              <a:gd name="connsiteX1" fmla="*/ 2032000 w 3141133"/>
              <a:gd name="connsiteY1" fmla="*/ 804333 h 973666"/>
              <a:gd name="connsiteX2" fmla="*/ 0 w 3141133"/>
              <a:gd name="connsiteY2" fmla="*/ 973666 h 973666"/>
            </a:gdLst>
            <a:ahLst/>
            <a:cxnLst>
              <a:cxn ang="0">
                <a:pos x="connsiteX0" y="connsiteY0"/>
              </a:cxn>
              <a:cxn ang="0">
                <a:pos x="connsiteX1" y="connsiteY1"/>
              </a:cxn>
              <a:cxn ang="0">
                <a:pos x="connsiteX2" y="connsiteY2"/>
              </a:cxn>
            </a:cxnLst>
            <a:rect l="l" t="t" r="r" b="b"/>
            <a:pathLst>
              <a:path w="3141133" h="973666">
                <a:moveTo>
                  <a:pt x="3141133" y="0"/>
                </a:moveTo>
                <a:cubicBezTo>
                  <a:pt x="2848327" y="321027"/>
                  <a:pt x="2555522" y="642055"/>
                  <a:pt x="2032000" y="804333"/>
                </a:cubicBezTo>
                <a:cubicBezTo>
                  <a:pt x="1508478" y="966611"/>
                  <a:pt x="754239" y="970138"/>
                  <a:pt x="0" y="97366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9"/>
          <p:cNvSpPr/>
          <p:nvPr/>
        </p:nvSpPr>
        <p:spPr bwMode="gray">
          <a:xfrm>
            <a:off x="10200852" y="3116882"/>
            <a:ext cx="833883" cy="461665"/>
          </a:xfrm>
          <a:prstGeom prst="rect">
            <a:avLst/>
          </a:prstGeom>
        </p:spPr>
        <p:txBody>
          <a:bodyPr wrap="none">
            <a:spAutoFit/>
          </a:bodyPr>
          <a:lstStyle/>
          <a:p>
            <a:pPr algn="ctr" defTabSz="914034"/>
            <a:r>
              <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外部主机</a:t>
            </a:r>
            <a:endPar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914034"/>
            <a:r>
              <a:rPr lang="en-US" altLang="zh-CN"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b="1"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32" name="Group 31"/>
          <p:cNvGrpSpPr/>
          <p:nvPr/>
        </p:nvGrpSpPr>
        <p:grpSpPr bwMode="gray">
          <a:xfrm>
            <a:off x="8340397" y="2616762"/>
            <a:ext cx="2921092" cy="482575"/>
            <a:chOff x="3282130" y="3593849"/>
            <a:chExt cx="2921092" cy="482575"/>
          </a:xfrm>
        </p:grpSpPr>
        <p:sp>
          <p:nvSpPr>
            <p:cNvPr id="33" name="TextBox 120">
              <a:extLst>
                <a:ext uri="{FF2B5EF4-FFF2-40B4-BE49-F238E27FC236}">
                  <a16:creationId xmlns:a16="http://schemas.microsoft.com/office/drawing/2014/main" id="{31930744-3D36-4F81-8426-6F129C1A6804}"/>
                </a:ext>
              </a:extLst>
            </p:cNvPr>
            <p:cNvSpPr txBox="1"/>
            <p:nvPr/>
          </p:nvSpPr>
          <p:spPr bwMode="gray">
            <a:xfrm>
              <a:off x="3282130" y="3593849"/>
              <a:ext cx="1202381" cy="479524"/>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200.1.2.3</a:t>
              </a:r>
            </a:p>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rgbClr val="C7000B"/>
                  </a:solidFill>
                  <a:latin typeface="Huawei Sans" panose="020C0503030203020204" pitchFamily="34" charset="0"/>
                  <a:ea typeface="方正兰亭黑简体" panose="02000000000000000000" pitchFamily="2" charset="-122"/>
                  <a:sym typeface="Huawei Sans" panose="020C0503030203020204" pitchFamily="34" charset="0"/>
                </a:rPr>
                <a:t>122.1.2.3</a:t>
              </a: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5638398" y="3596901"/>
              <a:ext cx="564824" cy="476472"/>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5" name="TextBox 120">
              <a:extLst>
                <a:ext uri="{FF2B5EF4-FFF2-40B4-BE49-F238E27FC236}">
                  <a16:creationId xmlns:a16="http://schemas.microsoft.com/office/drawing/2014/main" id="{31930744-3D36-4F81-8426-6F129C1A6804}"/>
                </a:ext>
              </a:extLst>
            </p:cNvPr>
            <p:cNvSpPr txBox="1"/>
            <p:nvPr/>
          </p:nvSpPr>
          <p:spPr bwMode="gray">
            <a:xfrm>
              <a:off x="4500604" y="3596900"/>
              <a:ext cx="1126143" cy="479524"/>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 Port</a:t>
              </a:r>
              <a:r>
                <a:rPr kumimoji="0" lang="zh-CN" altLang="en-US"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53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sp>
        <p:nvSpPr>
          <p:cNvPr id="38" name="TextBox 77"/>
          <p:cNvSpPr txBox="1"/>
          <p:nvPr/>
        </p:nvSpPr>
        <p:spPr bwMode="gray">
          <a:xfrm>
            <a:off x="4474578" y="2619814"/>
            <a:ext cx="3394339" cy="1659510"/>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映射表</a:t>
            </a:r>
            <a:endParaRPr lang="en-US" altLang="zh-CN" sz="1200" dirty="0">
              <a:solidFill>
                <a:prstClr val="black"/>
              </a:solidFill>
              <a:sym typeface="Huawei Sans" panose="020C0503030203020204" pitchFamily="34" charset="0"/>
            </a:endParaRPr>
          </a:p>
          <a:p>
            <a:pPr marL="35986" algn="l">
              <a:spcBef>
                <a:spcPts val="200"/>
              </a:spcBef>
            </a:pPr>
            <a:endParaRPr lang="en-US" altLang="zh-CN" sz="1200" dirty="0">
              <a:sym typeface="Huawei Sans" panose="020C0503030203020204" pitchFamily="34" charset="0"/>
            </a:endParaRPr>
          </a:p>
        </p:txBody>
      </p:sp>
      <p:graphicFrame>
        <p:nvGraphicFramePr>
          <p:cNvPr id="40" name="表格 31"/>
          <p:cNvGraphicFramePr>
            <a:graphicFrameLocks noGrp="1"/>
          </p:cNvGraphicFramePr>
          <p:nvPr>
            <p:extLst>
              <p:ext uri="{D42A27DB-BD31-4B8C-83A1-F6EECF244321}">
                <p14:modId xmlns:p14="http://schemas.microsoft.com/office/powerpoint/2010/main" val="4114188989"/>
              </p:ext>
            </p:extLst>
          </p:nvPr>
        </p:nvGraphicFramePr>
        <p:xfrm>
          <a:off x="4530907" y="3685942"/>
          <a:ext cx="3273552" cy="548568"/>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122.1.2.3:2231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200.1.2.3:53</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47" name="表格 31"/>
          <p:cNvGraphicFramePr>
            <a:graphicFrameLocks noGrp="1"/>
          </p:cNvGraphicFramePr>
          <p:nvPr>
            <p:extLst>
              <p:ext uri="{D42A27DB-BD31-4B8C-83A1-F6EECF244321}">
                <p14:modId xmlns:p14="http://schemas.microsoft.com/office/powerpoint/2010/main" val="945146032"/>
              </p:ext>
            </p:extLst>
          </p:nvPr>
        </p:nvGraphicFramePr>
        <p:xfrm>
          <a:off x="4533900" y="2825012"/>
          <a:ext cx="3273552" cy="822852"/>
        </p:xfrm>
        <a:graphic>
          <a:graphicData uri="http://schemas.openxmlformats.org/drawingml/2006/table">
            <a:tbl>
              <a:tblPr firstRow="1" bandRow="1"/>
              <a:tblGrid>
                <a:gridCol w="522381">
                  <a:extLst>
                    <a:ext uri="{9D8B030D-6E8A-4147-A177-3AD203B41FA5}">
                      <a16:colId xmlns:a16="http://schemas.microsoft.com/office/drawing/2014/main" val="20000"/>
                    </a:ext>
                  </a:extLst>
                </a:gridCol>
                <a:gridCol w="1485168">
                  <a:extLst>
                    <a:ext uri="{9D8B030D-6E8A-4147-A177-3AD203B41FA5}">
                      <a16:colId xmlns:a16="http://schemas.microsoft.com/office/drawing/2014/main" val="20001"/>
                    </a:ext>
                  </a:extLst>
                </a:gridCol>
                <a:gridCol w="1266003">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192.168.1.1:10321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122.1.2.2:1025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200.1.2.2:80</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cxnSp>
        <p:nvCxnSpPr>
          <p:cNvPr id="50" name="直接连接符 12"/>
          <p:cNvCxnSpPr>
            <a:stCxn id="8" idx="3"/>
            <a:endCxn id="15" idx="21"/>
          </p:cNvCxnSpPr>
          <p:nvPr/>
        </p:nvCxnSpPr>
        <p:spPr bwMode="gray">
          <a:xfrm>
            <a:off x="6438178" y="4668552"/>
            <a:ext cx="1642888" cy="43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4" name="直接连接符 12"/>
          <p:cNvCxnSpPr>
            <a:stCxn id="13" idx="3"/>
            <a:endCxn id="8" idx="1"/>
          </p:cNvCxnSpPr>
          <p:nvPr/>
        </p:nvCxnSpPr>
        <p:spPr bwMode="gray">
          <a:xfrm flipV="1">
            <a:off x="4623586" y="4668552"/>
            <a:ext cx="1273603" cy="199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7" name="直接连接符 12"/>
          <p:cNvCxnSpPr>
            <a:stCxn id="22" idx="3"/>
            <a:endCxn id="13" idx="1"/>
          </p:cNvCxnSpPr>
          <p:nvPr/>
        </p:nvCxnSpPr>
        <p:spPr bwMode="gray">
          <a:xfrm flipV="1">
            <a:off x="3234315" y="4670547"/>
            <a:ext cx="849482" cy="1213"/>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2" name="图片 20" descr="交换机.png"/>
          <p:cNvPicPr>
            <a:picLocks noChangeAspect="1"/>
          </p:cNvPicPr>
          <p:nvPr/>
        </p:nvPicPr>
        <p:blipFill>
          <a:blip r:embed="rId7" cstate="print"/>
          <a:stretch>
            <a:fillRect/>
          </a:stretch>
        </p:blipFill>
        <p:spPr bwMode="gray">
          <a:xfrm>
            <a:off x="9869892" y="4834055"/>
            <a:ext cx="539999" cy="441816"/>
          </a:xfrm>
          <a:prstGeom prst="rect">
            <a:avLst/>
          </a:prstGeom>
        </p:spPr>
      </p:pic>
      <p:sp>
        <p:nvSpPr>
          <p:cNvPr id="63" name="TextBox 77"/>
          <p:cNvSpPr txBox="1"/>
          <p:nvPr/>
        </p:nvSpPr>
        <p:spPr bwMode="gray">
          <a:xfrm>
            <a:off x="10328822" y="4825030"/>
            <a:ext cx="1024598" cy="470240"/>
          </a:xfrm>
          <a:prstGeom prst="rect">
            <a:avLst/>
          </a:prstGeom>
          <a:noFill/>
          <a:ln w="9525">
            <a:noFill/>
            <a:miter lim="800000"/>
            <a:headEnd/>
            <a:tailEnd/>
          </a:ln>
        </p:spPr>
        <p:txBody>
          <a:bodyPr wrap="square" lIns="99941" tIns="49966" rIns="99941" bIns="49966" rtlCol="0">
            <a:spAutoFit/>
          </a:bodyPr>
          <a:lstStyle/>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DNS</a:t>
            </a:r>
            <a:r>
              <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a:t>
            </a:r>
            <a:endPar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p>
            <a:pPr algn="ctr" defTabSz="1001248" eaLnBrk="0" hangingPunct="0"/>
            <a:r>
              <a:rPr lang="en-US" altLang="zh-CN"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rPr>
              <a:t>200.1.2.3</a:t>
            </a:r>
            <a:endParaRPr lang="zh-CN" altLang="en-US" sz="1200" dirty="0">
              <a:solidFill>
                <a:srgbClr val="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cxnSp>
        <p:nvCxnSpPr>
          <p:cNvPr id="64" name="直接连接符 12"/>
          <p:cNvCxnSpPr>
            <a:stCxn id="15" idx="8"/>
            <a:endCxn id="62" idx="1"/>
          </p:cNvCxnSpPr>
          <p:nvPr/>
        </p:nvCxnSpPr>
        <p:spPr bwMode="gray">
          <a:xfrm>
            <a:off x="9129251" y="4659807"/>
            <a:ext cx="740641" cy="39515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7" name="Rectangular Callout 66"/>
          <p:cNvSpPr/>
          <p:nvPr/>
        </p:nvSpPr>
        <p:spPr bwMode="gray">
          <a:xfrm>
            <a:off x="7950974" y="3612952"/>
            <a:ext cx="892980" cy="276999"/>
          </a:xfrm>
          <a:prstGeom prst="wedgeRectCallout">
            <a:avLst>
              <a:gd name="adj1" fmla="val -71708"/>
              <a:gd name="adj2" fmla="val 239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外部</a:t>
            </a:r>
            <a:r>
              <a:rPr lang="en-US" altLang="zh-CN" sz="1200" dirty="0">
                <a:solidFill>
                  <a:schemeClr val="tx1"/>
                </a:solidFill>
              </a:rPr>
              <a:t>Tuple</a:t>
            </a:r>
            <a:endParaRPr lang="zh-CN" altLang="en-US" sz="1200" dirty="0">
              <a:solidFill>
                <a:schemeClr val="tx1"/>
              </a:solidFill>
            </a:endParaRPr>
          </a:p>
        </p:txBody>
      </p:sp>
      <p:sp>
        <p:nvSpPr>
          <p:cNvPr id="68" name="Rectangular Callout 67"/>
          <p:cNvSpPr/>
          <p:nvPr/>
        </p:nvSpPr>
        <p:spPr bwMode="gray">
          <a:xfrm>
            <a:off x="4507918" y="4228913"/>
            <a:ext cx="876254" cy="276999"/>
          </a:xfrm>
          <a:prstGeom prst="wedgeRectCallout">
            <a:avLst>
              <a:gd name="adj1" fmla="val 47215"/>
              <a:gd name="adj2" fmla="val -9521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目标</a:t>
            </a:r>
            <a:r>
              <a:rPr lang="en-US" altLang="zh-CN" sz="1200" dirty="0">
                <a:solidFill>
                  <a:schemeClr val="tx1"/>
                </a:solidFill>
              </a:rPr>
              <a:t>Tuple</a:t>
            </a:r>
            <a:endParaRPr lang="zh-CN" altLang="en-US" sz="1200" dirty="0">
              <a:solidFill>
                <a:schemeClr val="tx1"/>
              </a:solidFill>
            </a:endParaRPr>
          </a:p>
        </p:txBody>
      </p:sp>
      <p:sp>
        <p:nvSpPr>
          <p:cNvPr id="69" name="Rectangular Callout 68"/>
          <p:cNvSpPr/>
          <p:nvPr/>
        </p:nvSpPr>
        <p:spPr bwMode="gray">
          <a:xfrm>
            <a:off x="4289272" y="2745789"/>
            <a:ext cx="890437" cy="276999"/>
          </a:xfrm>
          <a:prstGeom prst="wedgeRectCallout">
            <a:avLst>
              <a:gd name="adj1" fmla="val 44191"/>
              <a:gd name="adj2" fmla="val 9429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rPr>
              <a:t>内部</a:t>
            </a:r>
            <a:r>
              <a:rPr lang="en-US" altLang="zh-CN" sz="1200" dirty="0">
                <a:solidFill>
                  <a:schemeClr val="tx1"/>
                </a:solidFill>
              </a:rPr>
              <a:t>Tuple</a:t>
            </a:r>
            <a:endParaRPr lang="zh-CN" altLang="en-US" sz="1200" dirty="0">
              <a:solidFill>
                <a:schemeClr val="tx1"/>
              </a:solidFill>
            </a:endParaRPr>
          </a:p>
        </p:txBody>
      </p:sp>
    </p:spTree>
    <p:extLst>
      <p:ext uri="{BB962C8B-B14F-4D97-AF65-F5344CB8AC3E}">
        <p14:creationId xmlns:p14="http://schemas.microsoft.com/office/powerpoint/2010/main" val="2587386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NAT</a:t>
            </a:r>
            <a:r>
              <a:rPr lang="zh-CN" altLang="en-US" dirty="0"/>
              <a:t>类型的应用场景</a:t>
            </a:r>
          </a:p>
        </p:txBody>
      </p:sp>
      <p:sp>
        <p:nvSpPr>
          <p:cNvPr id="3" name="Text Placeholder 2"/>
          <p:cNvSpPr>
            <a:spLocks noGrp="1"/>
          </p:cNvSpPr>
          <p:nvPr>
            <p:ph type="body" sz="quarter" idx="10"/>
          </p:nvPr>
        </p:nvSpPr>
        <p:spPr bwMode="gray"/>
        <p:txBody>
          <a:bodyPr/>
          <a:lstStyle/>
          <a:p>
            <a:r>
              <a:rPr lang="zh-CN" altLang="en-US" sz="1800" dirty="0"/>
              <a:t>现网中</a:t>
            </a:r>
            <a:r>
              <a:rPr lang="en-US" altLang="zh-CN" sz="1800" dirty="0"/>
              <a:t>NAPT</a:t>
            </a:r>
            <a:r>
              <a:rPr lang="zh-CN" altLang="en-US" sz="1800" dirty="0"/>
              <a:t>或</a:t>
            </a:r>
            <a:r>
              <a:rPr lang="en-US" altLang="zh-CN" sz="1800" dirty="0"/>
              <a:t>Easy-IP</a:t>
            </a:r>
            <a:r>
              <a:rPr lang="zh-CN" altLang="en-US" sz="1800" dirty="0"/>
              <a:t>技术一般使用的是</a:t>
            </a:r>
            <a:r>
              <a:rPr lang="en-US" altLang="zh-CN" sz="1800" dirty="0"/>
              <a:t>Symmetric NAT</a:t>
            </a:r>
            <a:r>
              <a:rPr lang="zh-CN" altLang="en-US" sz="1800" dirty="0"/>
              <a:t>类型。</a:t>
            </a:r>
            <a:endParaRPr lang="en-US" altLang="zh-CN" sz="1800" dirty="0"/>
          </a:p>
          <a:p>
            <a:r>
              <a:rPr lang="zh-CN" altLang="en-US" sz="1800" dirty="0"/>
              <a:t>现网中可能会存在</a:t>
            </a:r>
            <a:r>
              <a:rPr lang="en-US" altLang="zh-CN" sz="1800" dirty="0"/>
              <a:t>NAT</a:t>
            </a:r>
            <a:r>
              <a:rPr lang="zh-CN" altLang="en-US" sz="1800" dirty="0"/>
              <a:t>穿越的要求，此时可以使用</a:t>
            </a:r>
            <a:r>
              <a:rPr lang="en-US" altLang="zh-CN" sz="1800" dirty="0"/>
              <a:t>Cone NAT</a:t>
            </a:r>
            <a:r>
              <a:rPr lang="zh-CN" altLang="en-US" sz="1800" dirty="0"/>
              <a:t>支持</a:t>
            </a:r>
            <a:r>
              <a:rPr lang="en-US" altLang="zh-CN" sz="1800" dirty="0"/>
              <a:t>NAT</a:t>
            </a:r>
            <a:r>
              <a:rPr lang="zh-CN" altLang="en-US" sz="1800" dirty="0"/>
              <a:t>穿越技术。</a:t>
            </a:r>
          </a:p>
        </p:txBody>
      </p:sp>
      <p:sp>
        <p:nvSpPr>
          <p:cNvPr id="4" name="圆角矩形 75"/>
          <p:cNvSpPr/>
          <p:nvPr/>
        </p:nvSpPr>
        <p:spPr bwMode="gray">
          <a:xfrm>
            <a:off x="839416" y="2849086"/>
            <a:ext cx="10545068" cy="299218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399" dirty="0">
              <a:solidFill>
                <a:prstClr val="black"/>
              </a:solidFill>
              <a:latin typeface="方正兰亭黑简体"/>
              <a:sym typeface="Huawei Sans" panose="020C0503030203020204" pitchFamily="34" charset="0"/>
            </a:endParaRPr>
          </a:p>
        </p:txBody>
      </p:sp>
      <p:sp>
        <p:nvSpPr>
          <p:cNvPr id="5" name="圆角矩形 75"/>
          <p:cNvSpPr/>
          <p:nvPr/>
        </p:nvSpPr>
        <p:spPr bwMode="gray">
          <a:xfrm>
            <a:off x="849434" y="2420888"/>
            <a:ext cx="1057250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穿越技术应用场景</a:t>
            </a:r>
          </a:p>
        </p:txBody>
      </p:sp>
      <p:pic>
        <p:nvPicPr>
          <p:cNvPr id="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800996" y="4869076"/>
            <a:ext cx="540989" cy="442626"/>
          </a:xfrm>
          <a:prstGeom prst="rect">
            <a:avLst/>
          </a:prstGeom>
          <a:noFill/>
        </p:spPr>
      </p:pic>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159895" y="4873796"/>
            <a:ext cx="540989" cy="442626"/>
          </a:xfrm>
          <a:prstGeom prst="rect">
            <a:avLst/>
          </a:prstGeom>
          <a:noFill/>
        </p:spPr>
      </p:pic>
      <p:pic>
        <p:nvPicPr>
          <p:cNvPr id="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800996" y="3135498"/>
            <a:ext cx="540989" cy="442626"/>
          </a:xfrm>
          <a:prstGeom prst="rect">
            <a:avLst/>
          </a:prstGeom>
          <a:noFill/>
        </p:spPr>
      </p:pic>
      <p:pic>
        <p:nvPicPr>
          <p:cNvPr id="10"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159896" y="3135498"/>
            <a:ext cx="540989" cy="442626"/>
          </a:xfrm>
          <a:prstGeom prst="rect">
            <a:avLst/>
          </a:prstGeom>
          <a:noFill/>
        </p:spPr>
      </p:pic>
      <p:pic>
        <p:nvPicPr>
          <p:cNvPr id="1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030002" y="3929278"/>
            <a:ext cx="540989" cy="442626"/>
          </a:xfrm>
          <a:prstGeom prst="rect">
            <a:avLst/>
          </a:prstGeom>
          <a:noFill/>
        </p:spPr>
      </p:pic>
      <p:sp>
        <p:nvSpPr>
          <p:cNvPr id="12" name="Freeform 159"/>
          <p:cNvSpPr/>
          <p:nvPr/>
        </p:nvSpPr>
        <p:spPr bwMode="gray">
          <a:xfrm flipH="1">
            <a:off x="3494338" y="3855784"/>
            <a:ext cx="1127952" cy="589613"/>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pic>
        <p:nvPicPr>
          <p:cNvPr id="13" name="图片 73" descr="PC.png"/>
          <p:cNvPicPr>
            <a:picLocks noChangeAspect="1"/>
          </p:cNvPicPr>
          <p:nvPr/>
        </p:nvPicPr>
        <p:blipFill>
          <a:blip r:embed="rId4" cstate="print"/>
          <a:stretch>
            <a:fillRect/>
          </a:stretch>
        </p:blipFill>
        <p:spPr bwMode="gray">
          <a:xfrm>
            <a:off x="8578872" y="3149811"/>
            <a:ext cx="539063" cy="414000"/>
          </a:xfrm>
          <a:prstGeom prst="rect">
            <a:avLst/>
          </a:prstGeom>
        </p:spPr>
      </p:pic>
      <p:pic>
        <p:nvPicPr>
          <p:cNvPr id="14" name="图片 73" descr="PC.png"/>
          <p:cNvPicPr>
            <a:picLocks noChangeAspect="1"/>
          </p:cNvPicPr>
          <p:nvPr/>
        </p:nvPicPr>
        <p:blipFill>
          <a:blip r:embed="rId4" cstate="print"/>
          <a:stretch>
            <a:fillRect/>
          </a:stretch>
        </p:blipFill>
        <p:spPr bwMode="gray">
          <a:xfrm>
            <a:off x="8578872" y="4883389"/>
            <a:ext cx="539063" cy="414000"/>
          </a:xfrm>
          <a:prstGeom prst="rect">
            <a:avLst/>
          </a:prstGeom>
        </p:spPr>
      </p:pic>
      <p:cxnSp>
        <p:nvCxnSpPr>
          <p:cNvPr id="15" name="直接连接符 12"/>
          <p:cNvCxnSpPr>
            <a:stCxn id="11" idx="3"/>
          </p:cNvCxnSpPr>
          <p:nvPr/>
        </p:nvCxnSpPr>
        <p:spPr bwMode="gray">
          <a:xfrm flipV="1">
            <a:off x="2570991" y="4150590"/>
            <a:ext cx="971179" cy="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直接连接符 12"/>
          <p:cNvCxnSpPr>
            <a:stCxn id="10" idx="1"/>
            <a:endCxn id="12" idx="4"/>
          </p:cNvCxnSpPr>
          <p:nvPr/>
        </p:nvCxnSpPr>
        <p:spPr bwMode="gray">
          <a:xfrm flipH="1">
            <a:off x="4279292" y="3356811"/>
            <a:ext cx="880604" cy="55786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直接连接符 12"/>
          <p:cNvCxnSpPr>
            <a:stCxn id="8" idx="1"/>
            <a:endCxn id="12" idx="14"/>
          </p:cNvCxnSpPr>
          <p:nvPr/>
        </p:nvCxnSpPr>
        <p:spPr bwMode="gray">
          <a:xfrm flipH="1" flipV="1">
            <a:off x="4436955" y="4445397"/>
            <a:ext cx="722940" cy="64971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直接连接符 12"/>
          <p:cNvCxnSpPr>
            <a:stCxn id="9" idx="1"/>
            <a:endCxn id="10" idx="3"/>
          </p:cNvCxnSpPr>
          <p:nvPr/>
        </p:nvCxnSpPr>
        <p:spPr bwMode="gray">
          <a:xfrm flipH="1">
            <a:off x="5700885" y="3356811"/>
            <a:ext cx="1100111"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7" name="直接连接符 12"/>
          <p:cNvCxnSpPr>
            <a:stCxn id="7" idx="1"/>
            <a:endCxn id="8" idx="3"/>
          </p:cNvCxnSpPr>
          <p:nvPr/>
        </p:nvCxnSpPr>
        <p:spPr bwMode="gray">
          <a:xfrm flipH="1">
            <a:off x="5700884" y="5090389"/>
            <a:ext cx="1100112" cy="472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0" name="直接连接符 12"/>
          <p:cNvCxnSpPr>
            <a:stCxn id="13" idx="1"/>
            <a:endCxn id="9" idx="3"/>
          </p:cNvCxnSpPr>
          <p:nvPr/>
        </p:nvCxnSpPr>
        <p:spPr bwMode="gray">
          <a:xfrm flipH="1">
            <a:off x="7341985" y="3356811"/>
            <a:ext cx="123688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12"/>
          <p:cNvCxnSpPr>
            <a:stCxn id="14" idx="1"/>
            <a:endCxn id="7" idx="3"/>
          </p:cNvCxnSpPr>
          <p:nvPr/>
        </p:nvCxnSpPr>
        <p:spPr bwMode="gray">
          <a:xfrm flipH="1">
            <a:off x="7341985" y="5090389"/>
            <a:ext cx="1236887"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9" name="矩形 26"/>
          <p:cNvSpPr/>
          <p:nvPr/>
        </p:nvSpPr>
        <p:spPr bwMode="gray">
          <a:xfrm>
            <a:off x="5031882" y="3544159"/>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40" name="矩形 26"/>
          <p:cNvSpPr/>
          <p:nvPr/>
        </p:nvSpPr>
        <p:spPr bwMode="gray">
          <a:xfrm>
            <a:off x="5039726" y="5348835"/>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41" name="矩形 26"/>
          <p:cNvSpPr/>
          <p:nvPr/>
        </p:nvSpPr>
        <p:spPr bwMode="gray">
          <a:xfrm>
            <a:off x="8658818" y="3542475"/>
            <a:ext cx="367409"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PC</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2" name="矩形 26"/>
          <p:cNvSpPr/>
          <p:nvPr/>
        </p:nvSpPr>
        <p:spPr bwMode="gray">
          <a:xfrm>
            <a:off x="8658818" y="5311702"/>
            <a:ext cx="367409"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PC</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Rectangular Callout 42"/>
          <p:cNvSpPr/>
          <p:nvPr/>
        </p:nvSpPr>
        <p:spPr bwMode="gray">
          <a:xfrm>
            <a:off x="4059785" y="3005179"/>
            <a:ext cx="914562" cy="378820"/>
          </a:xfrm>
          <a:prstGeom prst="wedgeRectCallout">
            <a:avLst>
              <a:gd name="adj1" fmla="val 65326"/>
              <a:gd name="adj2" fmla="val 20581"/>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rPr>
              <a:t>Full Cone NAT</a:t>
            </a:r>
            <a:r>
              <a:rPr lang="zh-CN" altLang="en-US" sz="1200" dirty="0">
                <a:solidFill>
                  <a:schemeClr val="tx1"/>
                </a:solidFill>
              </a:rPr>
              <a:t>类型</a:t>
            </a:r>
          </a:p>
        </p:txBody>
      </p:sp>
      <p:sp>
        <p:nvSpPr>
          <p:cNvPr id="44" name="Rectangular Callout 43"/>
          <p:cNvSpPr/>
          <p:nvPr/>
        </p:nvSpPr>
        <p:spPr bwMode="gray">
          <a:xfrm>
            <a:off x="4059784" y="4968310"/>
            <a:ext cx="914562" cy="378820"/>
          </a:xfrm>
          <a:prstGeom prst="wedgeRectCallout">
            <a:avLst>
              <a:gd name="adj1" fmla="val 64355"/>
              <a:gd name="adj2" fmla="val 112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rPr>
              <a:t>Full Cone NAT</a:t>
            </a:r>
            <a:r>
              <a:rPr lang="zh-CN" altLang="en-US" sz="1200" dirty="0">
                <a:solidFill>
                  <a:schemeClr val="tx1"/>
                </a:solidFill>
              </a:rPr>
              <a:t>类型</a:t>
            </a:r>
          </a:p>
        </p:txBody>
      </p:sp>
      <p:sp>
        <p:nvSpPr>
          <p:cNvPr id="45" name="Freeform 44"/>
          <p:cNvSpPr/>
          <p:nvPr/>
        </p:nvSpPr>
        <p:spPr bwMode="gray">
          <a:xfrm>
            <a:off x="4604766" y="3501572"/>
            <a:ext cx="3955762" cy="1461420"/>
          </a:xfrm>
          <a:custGeom>
            <a:avLst/>
            <a:gdLst>
              <a:gd name="connsiteX0" fmla="*/ 3920251 w 3955762"/>
              <a:gd name="connsiteY0" fmla="*/ 1606528 h 1665471"/>
              <a:gd name="connsiteX1" fmla="*/ 1177051 w 3955762"/>
              <a:gd name="connsiteY1" fmla="*/ 1606528 h 1665471"/>
              <a:gd name="connsiteX2" fmla="*/ 40709 w 3955762"/>
              <a:gd name="connsiteY2" fmla="*/ 993969 h 1665471"/>
              <a:gd name="connsiteX3" fmla="*/ 466838 w 3955762"/>
              <a:gd name="connsiteY3" fmla="*/ 123958 h 1665471"/>
              <a:gd name="connsiteX4" fmla="*/ 2473191 w 3955762"/>
              <a:gd name="connsiteY4" fmla="*/ 8548 h 1665471"/>
              <a:gd name="connsiteX5" fmla="*/ 3955762 w 3955762"/>
              <a:gd name="connsiteY5" fmla="*/ 8548 h 1665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55762" h="1665471">
                <a:moveTo>
                  <a:pt x="3920251" y="1606528"/>
                </a:moveTo>
                <a:cubicBezTo>
                  <a:pt x="2871946" y="1657574"/>
                  <a:pt x="1823641" y="1708621"/>
                  <a:pt x="1177051" y="1606528"/>
                </a:cubicBezTo>
                <a:cubicBezTo>
                  <a:pt x="530461" y="1504435"/>
                  <a:pt x="159078" y="1241064"/>
                  <a:pt x="40709" y="993969"/>
                </a:cubicBezTo>
                <a:cubicBezTo>
                  <a:pt x="-77660" y="746874"/>
                  <a:pt x="61424" y="288195"/>
                  <a:pt x="466838" y="123958"/>
                </a:cubicBezTo>
                <a:cubicBezTo>
                  <a:pt x="872252" y="-40279"/>
                  <a:pt x="1891704" y="27783"/>
                  <a:pt x="2473191" y="8548"/>
                </a:cubicBezTo>
                <a:cubicBezTo>
                  <a:pt x="3054678" y="-10687"/>
                  <a:pt x="3955762" y="8548"/>
                  <a:pt x="3955762" y="8548"/>
                </a:cubicBezTo>
              </a:path>
            </a:pathLst>
          </a:custGeom>
          <a:noFill/>
          <a:ln w="28575">
            <a:solidFill>
              <a:srgbClr val="56C4D2"/>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630131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b="1" dirty="0"/>
              <a:t>广域互联</a:t>
            </a:r>
            <a:r>
              <a:rPr lang="en-US" altLang="zh-CN" b="1" dirty="0"/>
              <a:t>NAT</a:t>
            </a:r>
            <a:r>
              <a:rPr lang="zh-CN" altLang="en-US" b="1" dirty="0"/>
              <a:t>穿越技术</a:t>
            </a:r>
            <a:endParaRPr lang="en-US" altLang="zh-CN" b="1" dirty="0"/>
          </a:p>
          <a:p>
            <a:pPr lvl="1"/>
            <a:r>
              <a:rPr lang="en-US" altLang="zh-CN" dirty="0">
                <a:solidFill>
                  <a:schemeClr val="bg1">
                    <a:lumMod val="50000"/>
                  </a:schemeClr>
                </a:solidFill>
              </a:rPr>
              <a:t>NAT</a:t>
            </a:r>
            <a:r>
              <a:rPr lang="zh-CN" altLang="en-US" dirty="0">
                <a:solidFill>
                  <a:schemeClr val="bg1">
                    <a:lumMod val="50000"/>
                  </a:schemeClr>
                </a:solidFill>
              </a:rPr>
              <a:t>基本原理</a:t>
            </a:r>
            <a:endParaRPr lang="en-US" altLang="zh-CN" dirty="0">
              <a:solidFill>
                <a:schemeClr val="bg1">
                  <a:lumMod val="50000"/>
                </a:schemeClr>
              </a:solidFill>
            </a:endParaRPr>
          </a:p>
          <a:p>
            <a:pPr lvl="1"/>
            <a:r>
              <a:rPr lang="en-US" altLang="zh-CN" dirty="0">
                <a:solidFill>
                  <a:schemeClr val="bg1">
                    <a:lumMod val="50000"/>
                  </a:schemeClr>
                </a:solidFill>
              </a:rPr>
              <a:t>NAT</a:t>
            </a:r>
            <a:r>
              <a:rPr lang="zh-CN" altLang="en-US" dirty="0">
                <a:solidFill>
                  <a:schemeClr val="bg1">
                    <a:lumMod val="50000"/>
                  </a:schemeClr>
                </a:solidFill>
              </a:rPr>
              <a:t>类型介绍</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NAT</a:t>
            </a:r>
            <a:r>
              <a:rPr lang="zh-CN" altLang="en-US" dirty="0"/>
              <a:t>穿越技术介绍</a:t>
            </a:r>
            <a:endParaRPr lang="en-US" altLang="zh-CN" dirty="0"/>
          </a:p>
          <a:p>
            <a:r>
              <a:rPr lang="zh-CN" altLang="en-US" dirty="0">
                <a:solidFill>
                  <a:schemeClr val="bg1">
                    <a:lumMod val="50000"/>
                  </a:schemeClr>
                </a:solidFill>
              </a:rPr>
              <a:t>广域互联智能选路技术</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6350999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Freeform 159"/>
          <p:cNvSpPr/>
          <p:nvPr/>
        </p:nvSpPr>
        <p:spPr bwMode="gray">
          <a:xfrm flipH="1">
            <a:off x="8195820" y="4369835"/>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3" name="Title 2"/>
          <p:cNvSpPr>
            <a:spLocks noGrp="1"/>
          </p:cNvSpPr>
          <p:nvPr>
            <p:ph type="title"/>
          </p:nvPr>
        </p:nvSpPr>
        <p:spPr bwMode="gray"/>
        <p:txBody>
          <a:bodyPr/>
          <a:lstStyle/>
          <a:p>
            <a:r>
              <a:rPr lang="en-US" altLang="zh-CN" dirty="0"/>
              <a:t>NAT</a:t>
            </a:r>
            <a:r>
              <a:rPr lang="zh-CN" altLang="en-US" dirty="0"/>
              <a:t>穿越背景</a:t>
            </a:r>
          </a:p>
        </p:txBody>
      </p:sp>
      <p:sp>
        <p:nvSpPr>
          <p:cNvPr id="4" name="Text Placeholder 3"/>
          <p:cNvSpPr>
            <a:spLocks noGrp="1"/>
          </p:cNvSpPr>
          <p:nvPr>
            <p:ph type="body" sz="quarter" idx="10"/>
          </p:nvPr>
        </p:nvSpPr>
        <p:spPr bwMode="gray"/>
        <p:txBody>
          <a:bodyPr/>
          <a:lstStyle/>
          <a:p>
            <a:r>
              <a:rPr lang="en-US" altLang="zh-CN" sz="1800" dirty="0"/>
              <a:t>NAT</a:t>
            </a:r>
            <a:r>
              <a:rPr lang="zh-CN" altLang="en-US" sz="1800" dirty="0"/>
              <a:t>技术虽然能使私网访问公网，但是</a:t>
            </a:r>
            <a:r>
              <a:rPr lang="en-US" altLang="zh-CN" sz="1800" dirty="0"/>
              <a:t>NAT</a:t>
            </a:r>
            <a:r>
              <a:rPr lang="zh-CN" altLang="en-US" sz="1800" dirty="0"/>
              <a:t>技术也有一定缺陷：</a:t>
            </a:r>
            <a:endParaRPr lang="en-US" altLang="zh-CN" sz="1800" dirty="0"/>
          </a:p>
          <a:p>
            <a:pPr lvl="1"/>
            <a:r>
              <a:rPr lang="en-US" altLang="zh-CN" sz="1600" dirty="0"/>
              <a:t>NAT</a:t>
            </a:r>
            <a:r>
              <a:rPr lang="zh-CN" altLang="en-US" sz="1600" dirty="0"/>
              <a:t>对于私网访问公网的流量会生成</a:t>
            </a:r>
            <a:r>
              <a:rPr lang="en-US" altLang="zh-CN" sz="1600" dirty="0"/>
              <a:t>NAT</a:t>
            </a:r>
            <a:r>
              <a:rPr lang="zh-CN" altLang="en-US" sz="1600" dirty="0"/>
              <a:t>映射表项，这些表项有老化时间，如果两端会话长期静默，则连接会中断。</a:t>
            </a:r>
            <a:endParaRPr lang="en-US" altLang="zh-CN" sz="1600" dirty="0"/>
          </a:p>
          <a:p>
            <a:pPr lvl="1"/>
            <a:r>
              <a:rPr lang="en-US" altLang="zh-CN" sz="1600" dirty="0"/>
              <a:t>NAT</a:t>
            </a:r>
            <a:r>
              <a:rPr lang="zh-CN" altLang="en-US" sz="1600" dirty="0"/>
              <a:t>由于隐藏了私网</a:t>
            </a:r>
            <a:r>
              <a:rPr lang="en-US" altLang="zh-CN" sz="1600" dirty="0"/>
              <a:t>IP</a:t>
            </a:r>
            <a:r>
              <a:rPr lang="zh-CN" altLang="en-US" sz="1600" dirty="0"/>
              <a:t>地址，对于一些服务器来说，为了防止</a:t>
            </a:r>
            <a:r>
              <a:rPr lang="en-US" altLang="zh-CN" sz="1600" dirty="0"/>
              <a:t>DOS</a:t>
            </a:r>
            <a:r>
              <a:rPr lang="zh-CN" altLang="en-US" sz="1600" dirty="0"/>
              <a:t>攻击，会限制同一</a:t>
            </a:r>
            <a:r>
              <a:rPr lang="en-US" altLang="zh-CN" sz="1600" dirty="0"/>
              <a:t>IP</a:t>
            </a:r>
            <a:r>
              <a:rPr lang="zh-CN" altLang="en-US" sz="1600" dirty="0"/>
              <a:t>的访问频率。部分应用也没法有效溯源原始</a:t>
            </a:r>
            <a:r>
              <a:rPr lang="en-US" altLang="zh-CN" sz="1600" dirty="0"/>
              <a:t>I</a:t>
            </a:r>
            <a:r>
              <a:rPr lang="zh-CN" altLang="en-US" sz="1600" dirty="0"/>
              <a:t>设备，导致网络管理定位困难。</a:t>
            </a:r>
            <a:endParaRPr lang="en-US" altLang="zh-CN" sz="1600" dirty="0"/>
          </a:p>
          <a:p>
            <a:r>
              <a:rPr lang="zh-CN" altLang="en-US" sz="1800" dirty="0"/>
              <a:t>为了解决</a:t>
            </a:r>
            <a:r>
              <a:rPr lang="en-US" altLang="zh-CN" sz="1800" dirty="0"/>
              <a:t>IP</a:t>
            </a:r>
            <a:r>
              <a:rPr lang="zh-CN" altLang="en-US" sz="1800" dirty="0"/>
              <a:t>端到端应用在</a:t>
            </a:r>
            <a:r>
              <a:rPr lang="en-US" altLang="zh-CN" sz="1800" dirty="0"/>
              <a:t>NAT</a:t>
            </a:r>
            <a:r>
              <a:rPr lang="zh-CN" altLang="en-US" sz="1800" dirty="0"/>
              <a:t>环境下遇到的问题，产生了多种</a:t>
            </a:r>
            <a:r>
              <a:rPr lang="en-US" altLang="zh-CN" sz="1800" dirty="0"/>
              <a:t>NAT</a:t>
            </a:r>
            <a:r>
              <a:rPr lang="zh-CN" altLang="en-US" sz="1800" dirty="0"/>
              <a:t>穿越技术。</a:t>
            </a:r>
            <a:endParaRPr lang="en-US" altLang="zh-CN" sz="1800" dirty="0"/>
          </a:p>
          <a:p>
            <a:pPr lvl="1"/>
            <a:endParaRPr lang="zh-CN" altLang="en-US" sz="1600" dirty="0"/>
          </a:p>
        </p:txBody>
      </p:sp>
      <p:sp>
        <p:nvSpPr>
          <p:cNvPr id="20" name="Freeform 159"/>
          <p:cNvSpPr/>
          <p:nvPr/>
        </p:nvSpPr>
        <p:spPr bwMode="gray">
          <a:xfrm flipH="1">
            <a:off x="2231602" y="4373334"/>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5" name="圆角矩形 75"/>
          <p:cNvSpPr/>
          <p:nvPr/>
        </p:nvSpPr>
        <p:spPr bwMode="gray">
          <a:xfrm>
            <a:off x="1582206" y="3673274"/>
            <a:ext cx="9254351" cy="245250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p:txBody>
      </p:sp>
      <p:sp>
        <p:nvSpPr>
          <p:cNvPr id="6" name="圆角矩形 75"/>
          <p:cNvSpPr/>
          <p:nvPr/>
        </p:nvSpPr>
        <p:spPr bwMode="gray">
          <a:xfrm>
            <a:off x="1575186" y="3244272"/>
            <a:ext cx="9278429"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穿越</a:t>
            </a:r>
          </a:p>
        </p:txBody>
      </p:sp>
      <p:pic>
        <p:nvPicPr>
          <p:cNvPr id="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864043" y="4776357"/>
            <a:ext cx="540989" cy="442626"/>
          </a:xfrm>
          <a:prstGeom prst="rect">
            <a:avLst/>
          </a:prstGeom>
          <a:noFill/>
        </p:spPr>
      </p:pic>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7719386" y="4771637"/>
            <a:ext cx="540989" cy="442626"/>
          </a:xfrm>
          <a:prstGeom prst="rect">
            <a:avLst/>
          </a:prstGeom>
          <a:noFill/>
        </p:spPr>
      </p:pic>
      <p:sp>
        <p:nvSpPr>
          <p:cNvPr id="9" name="Freeform 159"/>
          <p:cNvSpPr/>
          <p:nvPr/>
        </p:nvSpPr>
        <p:spPr bwMode="gray">
          <a:xfrm flipH="1">
            <a:off x="5228038" y="4382199"/>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pic>
        <p:nvPicPr>
          <p:cNvPr id="10" name="图片 73" descr="PC.png"/>
          <p:cNvPicPr>
            <a:picLocks noChangeAspect="1"/>
          </p:cNvPicPr>
          <p:nvPr/>
        </p:nvPicPr>
        <p:blipFill>
          <a:blip r:embed="rId4" cstate="print"/>
          <a:stretch>
            <a:fillRect/>
          </a:stretch>
        </p:blipFill>
        <p:spPr bwMode="gray">
          <a:xfrm>
            <a:off x="2194289" y="4789217"/>
            <a:ext cx="539063" cy="414000"/>
          </a:xfrm>
          <a:prstGeom prst="rect">
            <a:avLst/>
          </a:prstGeom>
        </p:spPr>
      </p:pic>
      <p:pic>
        <p:nvPicPr>
          <p:cNvPr id="11" name="图片 73" descr="PC.png"/>
          <p:cNvPicPr>
            <a:picLocks noChangeAspect="1"/>
          </p:cNvPicPr>
          <p:nvPr/>
        </p:nvPicPr>
        <p:blipFill>
          <a:blip r:embed="rId4" cstate="print"/>
          <a:stretch>
            <a:fillRect/>
          </a:stretch>
        </p:blipFill>
        <p:spPr bwMode="gray">
          <a:xfrm>
            <a:off x="9391066" y="4785653"/>
            <a:ext cx="539063" cy="414000"/>
          </a:xfrm>
          <a:prstGeom prst="rect">
            <a:avLst/>
          </a:prstGeom>
        </p:spPr>
      </p:pic>
      <p:cxnSp>
        <p:nvCxnSpPr>
          <p:cNvPr id="12" name="直接连接符 12"/>
          <p:cNvCxnSpPr>
            <a:stCxn id="9" idx="21"/>
            <a:endCxn id="7" idx="3"/>
          </p:cNvCxnSpPr>
          <p:nvPr/>
        </p:nvCxnSpPr>
        <p:spPr bwMode="gray">
          <a:xfrm flipH="1" flipV="1">
            <a:off x="4405032" y="4997670"/>
            <a:ext cx="823006" cy="1026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12"/>
          <p:cNvCxnSpPr>
            <a:stCxn id="8" idx="1"/>
            <a:endCxn id="9" idx="8"/>
          </p:cNvCxnSpPr>
          <p:nvPr/>
        </p:nvCxnSpPr>
        <p:spPr bwMode="gray">
          <a:xfrm flipH="1" flipV="1">
            <a:off x="6935443" y="4991690"/>
            <a:ext cx="783943" cy="12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 name="直接连接符 12"/>
          <p:cNvCxnSpPr>
            <a:stCxn id="7" idx="1"/>
            <a:endCxn id="10" idx="3"/>
          </p:cNvCxnSpPr>
          <p:nvPr/>
        </p:nvCxnSpPr>
        <p:spPr bwMode="gray">
          <a:xfrm flipH="1" flipV="1">
            <a:off x="2733352" y="4996217"/>
            <a:ext cx="1130691" cy="145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 name="直接连接符 12"/>
          <p:cNvCxnSpPr>
            <a:stCxn id="11" idx="1"/>
            <a:endCxn id="8" idx="3"/>
          </p:cNvCxnSpPr>
          <p:nvPr/>
        </p:nvCxnSpPr>
        <p:spPr bwMode="gray">
          <a:xfrm flipH="1">
            <a:off x="8260375" y="4992653"/>
            <a:ext cx="1130691" cy="29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4" name="Freeform 23"/>
          <p:cNvSpPr/>
          <p:nvPr/>
        </p:nvSpPr>
        <p:spPr bwMode="gray">
          <a:xfrm>
            <a:off x="2802095" y="4723145"/>
            <a:ext cx="6604987" cy="204253"/>
          </a:xfrm>
          <a:custGeom>
            <a:avLst/>
            <a:gdLst>
              <a:gd name="connsiteX0" fmla="*/ 0 w 6604987"/>
              <a:gd name="connsiteY0" fmla="*/ 204253 h 204253"/>
              <a:gd name="connsiteX1" fmla="*/ 3036164 w 6604987"/>
              <a:gd name="connsiteY1" fmla="*/ 67 h 204253"/>
              <a:gd name="connsiteX2" fmla="*/ 6604987 w 6604987"/>
              <a:gd name="connsiteY2" fmla="*/ 186498 h 204253"/>
            </a:gdLst>
            <a:ahLst/>
            <a:cxnLst>
              <a:cxn ang="0">
                <a:pos x="connsiteX0" y="connsiteY0"/>
              </a:cxn>
              <a:cxn ang="0">
                <a:pos x="connsiteX1" y="connsiteY1"/>
              </a:cxn>
              <a:cxn ang="0">
                <a:pos x="connsiteX2" y="connsiteY2"/>
              </a:cxn>
            </a:cxnLst>
            <a:rect l="l" t="t" r="r" b="b"/>
            <a:pathLst>
              <a:path w="6604987" h="204253">
                <a:moveTo>
                  <a:pt x="0" y="204253"/>
                </a:moveTo>
                <a:cubicBezTo>
                  <a:pt x="967666" y="103639"/>
                  <a:pt x="1935333" y="3026"/>
                  <a:pt x="3036164" y="67"/>
                </a:cubicBezTo>
                <a:cubicBezTo>
                  <a:pt x="4136995" y="-2892"/>
                  <a:pt x="5370991" y="91803"/>
                  <a:pt x="6604987" y="186498"/>
                </a:cubicBezTo>
              </a:path>
            </a:pathLst>
          </a:custGeom>
          <a:noFill/>
          <a:ln w="28575">
            <a:solidFill>
              <a:srgbClr val="FFC000"/>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6"/>
          <p:cNvSpPr/>
          <p:nvPr/>
        </p:nvSpPr>
        <p:spPr bwMode="gray">
          <a:xfrm>
            <a:off x="3730295" y="5255112"/>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26" name="矩形 26"/>
          <p:cNvSpPr/>
          <p:nvPr/>
        </p:nvSpPr>
        <p:spPr bwMode="gray">
          <a:xfrm>
            <a:off x="7591373" y="5255112"/>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Tree>
    <p:extLst>
      <p:ext uri="{BB962C8B-B14F-4D97-AF65-F5344CB8AC3E}">
        <p14:creationId xmlns:p14="http://schemas.microsoft.com/office/powerpoint/2010/main" val="33424543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a:t>现有</a:t>
            </a:r>
            <a:r>
              <a:rPr lang="en-US" altLang="zh-CN" dirty="0"/>
              <a:t>NAT</a:t>
            </a:r>
            <a:r>
              <a:rPr lang="zh-CN" altLang="en-US" dirty="0"/>
              <a:t>穿越技术</a:t>
            </a:r>
          </a:p>
        </p:txBody>
      </p:sp>
      <p:sp>
        <p:nvSpPr>
          <p:cNvPr id="3" name="内容占位符 2"/>
          <p:cNvSpPr>
            <a:spLocks noGrp="1"/>
          </p:cNvSpPr>
          <p:nvPr>
            <p:ph type="body" sz="quarter" idx="10"/>
          </p:nvPr>
        </p:nvSpPr>
        <p:spPr bwMode="gray"/>
        <p:txBody>
          <a:bodyPr/>
          <a:lstStyle/>
          <a:p>
            <a:r>
              <a:rPr lang="zh-CN" altLang="en-US" sz="2000" b="0" dirty="0"/>
              <a:t>目前</a:t>
            </a:r>
            <a:r>
              <a:rPr lang="en-US" altLang="zh-CN" sz="2000" b="0" dirty="0"/>
              <a:t>NAT</a:t>
            </a:r>
            <a:r>
              <a:rPr lang="zh-CN" altLang="en-US" sz="2000" b="0" dirty="0"/>
              <a:t>穿越的方法很多，主要包括以下几种：</a:t>
            </a:r>
            <a:endParaRPr lang="en-US" altLang="zh-CN" sz="2000" b="0" dirty="0"/>
          </a:p>
          <a:p>
            <a:pPr lvl="1"/>
            <a:r>
              <a:rPr lang="en-US" altLang="zh-CN" sz="1800" b="0" dirty="0">
                <a:solidFill>
                  <a:schemeClr val="bg1">
                    <a:lumMod val="50000"/>
                  </a:schemeClr>
                </a:solidFill>
              </a:rPr>
              <a:t>UPnP</a:t>
            </a:r>
            <a:r>
              <a:rPr lang="zh-CN" altLang="en-US" sz="1800" b="0" dirty="0">
                <a:solidFill>
                  <a:schemeClr val="bg1">
                    <a:lumMod val="50000"/>
                  </a:schemeClr>
                </a:solidFill>
              </a:rPr>
              <a:t>（</a:t>
            </a:r>
            <a:r>
              <a:rPr lang="en-US" altLang="zh-CN" sz="1800" b="0" dirty="0">
                <a:solidFill>
                  <a:schemeClr val="bg1">
                    <a:lumMod val="50000"/>
                  </a:schemeClr>
                </a:solidFill>
              </a:rPr>
              <a:t>Universal Plug and Play</a:t>
            </a:r>
            <a:r>
              <a:rPr lang="zh-CN" altLang="en-US" sz="1800" b="0" dirty="0">
                <a:solidFill>
                  <a:schemeClr val="bg1">
                    <a:lumMod val="50000"/>
                  </a:schemeClr>
                </a:solidFill>
              </a:rPr>
              <a:t>）</a:t>
            </a:r>
            <a:endParaRPr lang="en-US" altLang="zh-CN" sz="1800" b="0" dirty="0">
              <a:solidFill>
                <a:schemeClr val="bg1">
                  <a:lumMod val="50000"/>
                </a:schemeClr>
              </a:solidFill>
            </a:endParaRPr>
          </a:p>
          <a:p>
            <a:pPr lvl="1"/>
            <a:r>
              <a:rPr lang="en-US" altLang="zh-CN" sz="1800" b="0" dirty="0">
                <a:solidFill>
                  <a:srgbClr val="C7000B"/>
                </a:solidFill>
              </a:rPr>
              <a:t>ALG</a:t>
            </a:r>
            <a:r>
              <a:rPr lang="zh-CN" altLang="en-US" sz="1800" b="0" dirty="0">
                <a:solidFill>
                  <a:srgbClr val="C7000B"/>
                </a:solidFill>
              </a:rPr>
              <a:t>（</a:t>
            </a:r>
            <a:r>
              <a:rPr lang="en-US" altLang="zh-CN" sz="1800" b="0" dirty="0">
                <a:solidFill>
                  <a:srgbClr val="C7000B"/>
                </a:solidFill>
              </a:rPr>
              <a:t>Application Layer </a:t>
            </a:r>
            <a:r>
              <a:rPr lang="en-US" altLang="zh-CN" sz="1800" b="0" dirty="0" err="1">
                <a:solidFill>
                  <a:srgbClr val="C7000B"/>
                </a:solidFill>
              </a:rPr>
              <a:t>Gatewqy</a:t>
            </a:r>
            <a:r>
              <a:rPr lang="zh-CN" altLang="en-US" sz="1800" b="0" dirty="0">
                <a:solidFill>
                  <a:srgbClr val="C7000B"/>
                </a:solidFill>
              </a:rPr>
              <a:t>）</a:t>
            </a:r>
            <a:endParaRPr lang="en-US" altLang="zh-CN" sz="1800" b="0" dirty="0">
              <a:solidFill>
                <a:srgbClr val="C7000B"/>
              </a:solidFill>
            </a:endParaRPr>
          </a:p>
          <a:p>
            <a:pPr lvl="1"/>
            <a:r>
              <a:rPr lang="en-US" altLang="zh-CN" sz="1800" b="0" dirty="0">
                <a:solidFill>
                  <a:schemeClr val="bg1">
                    <a:lumMod val="50000"/>
                  </a:schemeClr>
                </a:solidFill>
              </a:rPr>
              <a:t>MIDCOM</a:t>
            </a:r>
            <a:r>
              <a:rPr lang="zh-CN" altLang="en-US" sz="1800" b="0" dirty="0">
                <a:solidFill>
                  <a:schemeClr val="bg1">
                    <a:lumMod val="50000"/>
                  </a:schemeClr>
                </a:solidFill>
              </a:rPr>
              <a:t>（</a:t>
            </a:r>
            <a:r>
              <a:rPr lang="en-US" altLang="zh-CN" sz="1800" b="0" dirty="0">
                <a:solidFill>
                  <a:schemeClr val="bg1">
                    <a:lumMod val="50000"/>
                  </a:schemeClr>
                </a:solidFill>
              </a:rPr>
              <a:t>Middlebox Communications</a:t>
            </a:r>
            <a:r>
              <a:rPr lang="zh-CN" altLang="en-US" sz="1800" b="0" dirty="0">
                <a:solidFill>
                  <a:schemeClr val="bg1">
                    <a:lumMod val="50000"/>
                  </a:schemeClr>
                </a:solidFill>
              </a:rPr>
              <a:t>）</a:t>
            </a:r>
            <a:endParaRPr lang="en-US" altLang="zh-CN" sz="1800" b="0" dirty="0">
              <a:solidFill>
                <a:schemeClr val="bg1">
                  <a:lumMod val="50000"/>
                </a:schemeClr>
              </a:solidFill>
            </a:endParaRPr>
          </a:p>
          <a:p>
            <a:pPr lvl="1"/>
            <a:r>
              <a:rPr lang="en-US" altLang="zh-CN" sz="1800" b="0" dirty="0">
                <a:solidFill>
                  <a:schemeClr val="bg1">
                    <a:lumMod val="50000"/>
                  </a:schemeClr>
                </a:solidFill>
              </a:rPr>
              <a:t>Full Proxy</a:t>
            </a:r>
          </a:p>
          <a:p>
            <a:pPr lvl="1"/>
            <a:r>
              <a:rPr lang="en-US" altLang="zh-CN" sz="1800" b="0" dirty="0">
                <a:solidFill>
                  <a:srgbClr val="C7000B"/>
                </a:solidFill>
              </a:rPr>
              <a:t>STUN</a:t>
            </a:r>
            <a:r>
              <a:rPr lang="zh-CN" altLang="en-US" sz="1800" b="0" dirty="0">
                <a:solidFill>
                  <a:srgbClr val="C7000B"/>
                </a:solidFill>
              </a:rPr>
              <a:t>（</a:t>
            </a:r>
            <a:r>
              <a:rPr lang="en-US" altLang="zh-CN" sz="1800" b="0" dirty="0">
                <a:solidFill>
                  <a:srgbClr val="C7000B"/>
                </a:solidFill>
              </a:rPr>
              <a:t>Simple Traversal of UDP Through Network Address Translators</a:t>
            </a:r>
            <a:r>
              <a:rPr lang="zh-CN" altLang="en-US" sz="1800" b="0" dirty="0">
                <a:solidFill>
                  <a:srgbClr val="C7000B"/>
                </a:solidFill>
              </a:rPr>
              <a:t>）</a:t>
            </a:r>
            <a:endParaRPr lang="en-US" altLang="zh-CN" sz="1800" b="0" dirty="0">
              <a:solidFill>
                <a:srgbClr val="C7000B"/>
              </a:solidFill>
            </a:endParaRPr>
          </a:p>
          <a:p>
            <a:pPr lvl="1"/>
            <a:r>
              <a:rPr lang="en-US" altLang="zh-CN" sz="1800" b="0" dirty="0">
                <a:solidFill>
                  <a:schemeClr val="bg1">
                    <a:lumMod val="50000"/>
                  </a:schemeClr>
                </a:solidFill>
              </a:rPr>
              <a:t>TURN</a:t>
            </a:r>
            <a:r>
              <a:rPr lang="zh-CN" altLang="en-US" sz="1800" b="0" dirty="0">
                <a:solidFill>
                  <a:schemeClr val="bg1">
                    <a:lumMod val="50000"/>
                  </a:schemeClr>
                </a:solidFill>
              </a:rPr>
              <a:t>（</a:t>
            </a:r>
            <a:r>
              <a:rPr lang="en-US" altLang="zh-CN" sz="1800" b="0" dirty="0">
                <a:solidFill>
                  <a:schemeClr val="bg1">
                    <a:lumMod val="50000"/>
                  </a:schemeClr>
                </a:solidFill>
              </a:rPr>
              <a:t>Traversal Using Relay NAT</a:t>
            </a:r>
            <a:r>
              <a:rPr lang="zh-CN" altLang="en-US" sz="1800" b="0" dirty="0">
                <a:solidFill>
                  <a:schemeClr val="bg1">
                    <a:lumMod val="50000"/>
                  </a:schemeClr>
                </a:solidFill>
              </a:rPr>
              <a:t>）</a:t>
            </a:r>
            <a:endParaRPr lang="en-US" altLang="zh-CN" sz="1800" b="0" dirty="0">
              <a:solidFill>
                <a:schemeClr val="bg1">
                  <a:lumMod val="50000"/>
                </a:schemeClr>
              </a:solidFill>
            </a:endParaRPr>
          </a:p>
          <a:p>
            <a:pPr lvl="1"/>
            <a:r>
              <a:rPr lang="en-US" altLang="zh-CN" sz="1800" dirty="0">
                <a:solidFill>
                  <a:schemeClr val="bg1">
                    <a:lumMod val="50000"/>
                  </a:schemeClr>
                </a:solidFill>
              </a:rPr>
              <a:t>ICE</a:t>
            </a:r>
            <a:r>
              <a:rPr lang="zh-CN" altLang="en-US" sz="1800" dirty="0">
                <a:solidFill>
                  <a:schemeClr val="bg1">
                    <a:lumMod val="50000"/>
                  </a:schemeClr>
                </a:solidFill>
              </a:rPr>
              <a:t>（</a:t>
            </a:r>
            <a:r>
              <a:rPr lang="en-US" altLang="zh-CN" sz="1800" dirty="0">
                <a:solidFill>
                  <a:schemeClr val="bg1">
                    <a:lumMod val="50000"/>
                  </a:schemeClr>
                </a:solidFill>
              </a:rPr>
              <a:t>Interactive Connectivity Establish</a:t>
            </a:r>
            <a:r>
              <a:rPr lang="zh-CN" altLang="en-US" sz="1800" dirty="0">
                <a:solidFill>
                  <a:schemeClr val="bg1">
                    <a:lumMod val="50000"/>
                  </a:schemeClr>
                </a:solidFill>
              </a:rPr>
              <a:t>）</a:t>
            </a:r>
            <a:endParaRPr lang="en-US" altLang="zh-CN" sz="1800" dirty="0">
              <a:solidFill>
                <a:schemeClr val="bg1">
                  <a:lumMod val="50000"/>
                </a:schemeClr>
              </a:solidFill>
            </a:endParaRPr>
          </a:p>
          <a:p>
            <a:pPr lvl="1"/>
            <a:r>
              <a:rPr lang="en-US" altLang="zh-CN" sz="1800" b="0" dirty="0">
                <a:solidFill>
                  <a:schemeClr val="bg1">
                    <a:lumMod val="50000"/>
                  </a:schemeClr>
                </a:solidFill>
              </a:rPr>
              <a:t>STUNT</a:t>
            </a:r>
          </a:p>
          <a:p>
            <a:r>
              <a:rPr lang="zh-CN" altLang="en-US" sz="2000" dirty="0"/>
              <a:t>本课程主要介绍</a:t>
            </a:r>
            <a:r>
              <a:rPr lang="en-US" altLang="zh-CN" sz="2000" dirty="0"/>
              <a:t>ALG</a:t>
            </a:r>
            <a:r>
              <a:rPr lang="zh-CN" altLang="en-US" sz="2000" dirty="0"/>
              <a:t>，</a:t>
            </a:r>
            <a:r>
              <a:rPr lang="en-US" altLang="zh-CN" sz="2000" dirty="0"/>
              <a:t>STUN</a:t>
            </a:r>
            <a:r>
              <a:rPr lang="zh-CN" altLang="en-US" sz="2000" dirty="0"/>
              <a:t>这两种穿越技术。</a:t>
            </a:r>
            <a:endParaRPr lang="en-US" altLang="zh-CN" sz="2000" b="0" dirty="0"/>
          </a:p>
        </p:txBody>
      </p:sp>
      <p:sp>
        <p:nvSpPr>
          <p:cNvPr id="4" name="日期占位符 3"/>
          <p:cNvSpPr>
            <a:spLocks noGrp="1"/>
          </p:cNvSpPr>
          <p:nvPr>
            <p:ph type="dt" sz="half" idx="4294967295"/>
          </p:nvPr>
        </p:nvSpPr>
        <p:spPr bwMode="gray">
          <a:xfrm>
            <a:off x="10094913" y="6489700"/>
            <a:ext cx="2097087" cy="455613"/>
          </a:xfrm>
          <a:prstGeom prst="rect">
            <a:avLst/>
          </a:prstGeom>
        </p:spPr>
        <p:txBody>
          <a:bodyPr/>
          <a:lstStyle/>
          <a:p>
            <a:r>
              <a:rPr lang="de-DE"/>
              <a:t>Page </a:t>
            </a:r>
            <a:fld id="{4780C888-D246-4D83-BA9A-935D9575F7D7}" type="slidenum">
              <a:rPr lang="de-DE" smtClean="0"/>
              <a:pPr/>
              <a:t>73</a:t>
            </a:fld>
            <a:endParaRPr lang="en-GB"/>
          </a:p>
        </p:txBody>
      </p:sp>
    </p:spTree>
    <p:extLst>
      <p:ext uri="{BB962C8B-B14F-4D97-AF65-F5344CB8AC3E}">
        <p14:creationId xmlns:p14="http://schemas.microsoft.com/office/powerpoint/2010/main" val="309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NAT ALG</a:t>
            </a:r>
            <a:r>
              <a:rPr lang="zh-CN" altLang="en-US" dirty="0"/>
              <a:t>产生背景</a:t>
            </a:r>
          </a:p>
        </p:txBody>
      </p:sp>
      <p:sp>
        <p:nvSpPr>
          <p:cNvPr id="3" name="Text Placeholder 2"/>
          <p:cNvSpPr>
            <a:spLocks noGrp="1"/>
          </p:cNvSpPr>
          <p:nvPr>
            <p:ph type="body" sz="quarter" idx="10"/>
          </p:nvPr>
        </p:nvSpPr>
        <p:spPr bwMode="gray"/>
        <p:txBody>
          <a:bodyPr/>
          <a:lstStyle/>
          <a:p>
            <a:r>
              <a:rPr lang="zh-CN" altLang="en-US" sz="1800" dirty="0"/>
              <a:t>现网提供各类服务（比如</a:t>
            </a:r>
            <a:r>
              <a:rPr lang="en-US" altLang="zh-CN" sz="1800" dirty="0"/>
              <a:t>HTTP</a:t>
            </a:r>
            <a:r>
              <a:rPr lang="zh-CN" altLang="en-US" sz="1800" dirty="0"/>
              <a:t>，</a:t>
            </a:r>
            <a:r>
              <a:rPr lang="en-US" altLang="zh-CN" sz="1800" dirty="0"/>
              <a:t>DNS</a:t>
            </a:r>
            <a:r>
              <a:rPr lang="zh-CN" altLang="en-US" sz="1800" dirty="0"/>
              <a:t>，</a:t>
            </a:r>
            <a:r>
              <a:rPr lang="en-US" altLang="zh-CN" sz="1800" dirty="0"/>
              <a:t>FTP</a:t>
            </a:r>
            <a:r>
              <a:rPr lang="zh-CN" altLang="en-US" sz="1800" dirty="0"/>
              <a:t>等）的服务器一般部署在私网，因此需要在</a:t>
            </a:r>
            <a:r>
              <a:rPr lang="en-US" altLang="zh-CN" sz="1800" dirty="0"/>
              <a:t>NAT</a:t>
            </a:r>
            <a:r>
              <a:rPr lang="zh-CN" altLang="en-US" sz="1800" dirty="0"/>
              <a:t>上部署</a:t>
            </a:r>
            <a:r>
              <a:rPr lang="en-US" altLang="zh-CN" sz="1800" dirty="0"/>
              <a:t>NAT Server</a:t>
            </a:r>
            <a:r>
              <a:rPr lang="zh-CN" altLang="en-US" sz="1800" dirty="0"/>
              <a:t>功能使得外网用户能够访问这些服务。但是部分服务用到的协议是多通道协议，比如</a:t>
            </a:r>
            <a:r>
              <a:rPr lang="en-US" altLang="zh-CN" sz="1800" dirty="0"/>
              <a:t>FTP</a:t>
            </a:r>
            <a:r>
              <a:rPr lang="zh-CN" altLang="en-US" sz="1800" dirty="0"/>
              <a:t>、</a:t>
            </a:r>
            <a:r>
              <a:rPr lang="en-US" altLang="zh-CN" sz="1800" dirty="0"/>
              <a:t>DNS</a:t>
            </a:r>
            <a:r>
              <a:rPr lang="zh-CN" altLang="en-US" sz="1800" dirty="0"/>
              <a:t>、</a:t>
            </a:r>
            <a:r>
              <a:rPr lang="en-US" altLang="zh-CN" sz="1800" dirty="0"/>
              <a:t>SIP</a:t>
            </a:r>
            <a:r>
              <a:rPr lang="zh-CN" altLang="en-US" sz="1800" dirty="0"/>
              <a:t>等，部署</a:t>
            </a:r>
            <a:r>
              <a:rPr lang="en-US" altLang="zh-CN" sz="1800" dirty="0"/>
              <a:t>NAT Server</a:t>
            </a:r>
            <a:r>
              <a:rPr lang="zh-CN" altLang="en-US" sz="1800" dirty="0"/>
              <a:t>不能使外网用户访问这些服务。对于这些多通道协议，可以使用</a:t>
            </a:r>
            <a:r>
              <a:rPr lang="en-US" altLang="zh-CN" sz="1800" dirty="0"/>
              <a:t>NAT ALG</a:t>
            </a:r>
            <a:r>
              <a:rPr lang="zh-CN" altLang="en-US" sz="1800" dirty="0"/>
              <a:t>解决问题。</a:t>
            </a:r>
            <a:endParaRPr lang="en-US" altLang="zh-CN" sz="1800" dirty="0"/>
          </a:p>
          <a:p>
            <a:endParaRPr lang="zh-CN" altLang="en-US" sz="1800" dirty="0"/>
          </a:p>
        </p:txBody>
      </p:sp>
      <p:sp>
        <p:nvSpPr>
          <p:cNvPr id="13" name="圆角矩形 75"/>
          <p:cNvSpPr/>
          <p:nvPr/>
        </p:nvSpPr>
        <p:spPr bwMode="gray">
          <a:xfrm>
            <a:off x="971404" y="2761599"/>
            <a:ext cx="10450534" cy="3352221"/>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r>
              <a:rPr lang="en-US" altLang="zh-CN" sz="1400" dirty="0">
                <a:solidFill>
                  <a:prstClr val="black"/>
                </a:solidFill>
                <a:sym typeface="Huawei Sans" panose="020C0503030203020204" pitchFamily="34" charset="0"/>
              </a:rPr>
              <a:t>FTP</a:t>
            </a:r>
            <a:r>
              <a:rPr lang="zh-CN" altLang="en-US" sz="1400" dirty="0">
                <a:solidFill>
                  <a:prstClr val="black"/>
                </a:solidFill>
                <a:sym typeface="Huawei Sans" panose="020C0503030203020204" pitchFamily="34" charset="0"/>
              </a:rPr>
              <a:t>无论使用主动模式还是被动模式都无法解决多通道协议导致外网无法访问</a:t>
            </a:r>
            <a:r>
              <a:rPr lang="en-US" altLang="zh-CN" sz="1400" dirty="0">
                <a:solidFill>
                  <a:prstClr val="black"/>
                </a:solidFill>
                <a:sym typeface="Huawei Sans" panose="020C0503030203020204" pitchFamily="34" charset="0"/>
              </a:rPr>
              <a:t>FTP</a:t>
            </a:r>
            <a:r>
              <a:rPr lang="zh-CN" altLang="en-US" sz="1400" dirty="0">
                <a:solidFill>
                  <a:prstClr val="black"/>
                </a:solidFill>
                <a:sym typeface="Huawei Sans" panose="020C0503030203020204" pitchFamily="34" charset="0"/>
              </a:rPr>
              <a:t>服务器的问题。</a:t>
            </a:r>
            <a:endParaRPr lang="en-US" altLang="zh-CN" sz="1399" dirty="0">
              <a:solidFill>
                <a:prstClr val="black"/>
              </a:solidFill>
              <a:latin typeface="方正兰亭黑简体"/>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p:txBody>
      </p:sp>
      <p:sp>
        <p:nvSpPr>
          <p:cNvPr id="14" name="圆角矩形 75"/>
          <p:cNvSpPr/>
          <p:nvPr/>
        </p:nvSpPr>
        <p:spPr bwMode="gray">
          <a:xfrm>
            <a:off x="947428" y="2333401"/>
            <a:ext cx="1047772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多通道协议对于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的挑战（</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6" name="Freeform 159"/>
          <p:cNvSpPr/>
          <p:nvPr/>
        </p:nvSpPr>
        <p:spPr bwMode="gray">
          <a:xfrm flipH="1">
            <a:off x="8025925" y="3380887"/>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17" name="Freeform 159"/>
          <p:cNvSpPr/>
          <p:nvPr/>
        </p:nvSpPr>
        <p:spPr bwMode="gray">
          <a:xfrm flipH="1">
            <a:off x="2061707" y="3384386"/>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1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694148" y="3787409"/>
            <a:ext cx="540989" cy="442626"/>
          </a:xfrm>
          <a:prstGeom prst="rect">
            <a:avLst/>
          </a:prstGeom>
          <a:noFill/>
        </p:spPr>
      </p:pic>
      <p:pic>
        <p:nvPicPr>
          <p:cNvPr id="1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7549491" y="3782689"/>
            <a:ext cx="540989" cy="442626"/>
          </a:xfrm>
          <a:prstGeom prst="rect">
            <a:avLst/>
          </a:prstGeom>
          <a:noFill/>
        </p:spPr>
      </p:pic>
      <p:sp>
        <p:nvSpPr>
          <p:cNvPr id="20" name="Freeform 159"/>
          <p:cNvSpPr/>
          <p:nvPr/>
        </p:nvSpPr>
        <p:spPr bwMode="gray">
          <a:xfrm flipH="1">
            <a:off x="5058143" y="3393251"/>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pic>
        <p:nvPicPr>
          <p:cNvPr id="21" name="图片 73" descr="PC.png"/>
          <p:cNvPicPr>
            <a:picLocks noChangeAspect="1"/>
          </p:cNvPicPr>
          <p:nvPr/>
        </p:nvPicPr>
        <p:blipFill>
          <a:blip r:embed="rId4" cstate="print"/>
          <a:stretch>
            <a:fillRect/>
          </a:stretch>
        </p:blipFill>
        <p:spPr bwMode="gray">
          <a:xfrm>
            <a:off x="2024394" y="3800269"/>
            <a:ext cx="539063" cy="414000"/>
          </a:xfrm>
          <a:prstGeom prst="rect">
            <a:avLst/>
          </a:prstGeom>
        </p:spPr>
      </p:pic>
      <p:cxnSp>
        <p:nvCxnSpPr>
          <p:cNvPr id="23" name="直接连接符 12"/>
          <p:cNvCxnSpPr>
            <a:stCxn id="20" idx="21"/>
            <a:endCxn id="18" idx="3"/>
          </p:cNvCxnSpPr>
          <p:nvPr/>
        </p:nvCxnSpPr>
        <p:spPr bwMode="gray">
          <a:xfrm flipH="1" flipV="1">
            <a:off x="4235137" y="4008722"/>
            <a:ext cx="823006" cy="1026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直接连接符 12"/>
          <p:cNvCxnSpPr>
            <a:stCxn id="19" idx="1"/>
            <a:endCxn id="20" idx="8"/>
          </p:cNvCxnSpPr>
          <p:nvPr/>
        </p:nvCxnSpPr>
        <p:spPr bwMode="gray">
          <a:xfrm flipH="1" flipV="1">
            <a:off x="6765548" y="4002742"/>
            <a:ext cx="783943" cy="12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 name="直接连接符 12"/>
          <p:cNvCxnSpPr>
            <a:stCxn id="18" idx="1"/>
            <a:endCxn id="21" idx="3"/>
          </p:cNvCxnSpPr>
          <p:nvPr/>
        </p:nvCxnSpPr>
        <p:spPr bwMode="gray">
          <a:xfrm flipH="1" flipV="1">
            <a:off x="2563457" y="4007269"/>
            <a:ext cx="1130691" cy="145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6" name="直接连接符 12"/>
          <p:cNvCxnSpPr>
            <a:stCxn id="15" idx="1"/>
            <a:endCxn id="19" idx="3"/>
          </p:cNvCxnSpPr>
          <p:nvPr/>
        </p:nvCxnSpPr>
        <p:spPr bwMode="gray">
          <a:xfrm flipH="1" flipV="1">
            <a:off x="8090480" y="4004002"/>
            <a:ext cx="1152927" cy="512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8" name="矩形 26"/>
          <p:cNvSpPr/>
          <p:nvPr/>
        </p:nvSpPr>
        <p:spPr bwMode="gray">
          <a:xfrm>
            <a:off x="4170582" y="3732127"/>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29" name="矩形 26"/>
          <p:cNvSpPr/>
          <p:nvPr/>
        </p:nvSpPr>
        <p:spPr bwMode="gray">
          <a:xfrm>
            <a:off x="6829446" y="3749478"/>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5" name="图片 23" descr="FTP服务器-蓝.png"/>
          <p:cNvPicPr>
            <a:picLocks noChangeAspect="1"/>
          </p:cNvPicPr>
          <p:nvPr/>
        </p:nvPicPr>
        <p:blipFill>
          <a:blip r:embed="rId5" cstate="print"/>
          <a:stretch>
            <a:fillRect/>
          </a:stretch>
        </p:blipFill>
        <p:spPr bwMode="gray">
          <a:xfrm>
            <a:off x="9243407" y="3788217"/>
            <a:ext cx="540000" cy="441818"/>
          </a:xfrm>
          <a:prstGeom prst="rect">
            <a:avLst/>
          </a:prstGeom>
        </p:spPr>
      </p:pic>
      <p:grpSp>
        <p:nvGrpSpPr>
          <p:cNvPr id="32" name="Group 31"/>
          <p:cNvGrpSpPr/>
          <p:nvPr/>
        </p:nvGrpSpPr>
        <p:grpSpPr bwMode="gray">
          <a:xfrm>
            <a:off x="1905799" y="4347456"/>
            <a:ext cx="2264783" cy="287715"/>
            <a:chOff x="3926787" y="3692862"/>
            <a:chExt cx="2264783" cy="287715"/>
          </a:xfrm>
        </p:grpSpPr>
        <p:sp>
          <p:nvSpPr>
            <p:cNvPr id="33" name="TextBox 120">
              <a:extLst>
                <a:ext uri="{FF2B5EF4-FFF2-40B4-BE49-F238E27FC236}">
                  <a16:creationId xmlns:a16="http://schemas.microsoft.com/office/drawing/2014/main" id="{31930744-3D36-4F81-8426-6F129C1A6804}"/>
                </a:ext>
              </a:extLst>
            </p:cNvPr>
            <p:cNvSpPr txBox="1"/>
            <p:nvPr/>
          </p:nvSpPr>
          <p:spPr bwMode="gray">
            <a:xfrm>
              <a:off x="3926787" y="3692862"/>
              <a:ext cx="79985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5626746" y="3692862"/>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5" name="TextBox 120">
              <a:extLst>
                <a:ext uri="{FF2B5EF4-FFF2-40B4-BE49-F238E27FC236}">
                  <a16:creationId xmlns:a16="http://schemas.microsoft.com/office/drawing/2014/main" id="{31930744-3D36-4F81-8426-6F129C1A6804}"/>
                </a:ext>
              </a:extLst>
            </p:cNvPr>
            <p:cNvSpPr txBox="1"/>
            <p:nvPr/>
          </p:nvSpPr>
          <p:spPr bwMode="gray">
            <a:xfrm>
              <a:off x="4726645" y="3692862"/>
              <a:ext cx="90010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21</a:t>
              </a:r>
            </a:p>
          </p:txBody>
        </p:sp>
      </p:grpSp>
      <p:sp>
        <p:nvSpPr>
          <p:cNvPr id="36" name="矩形 26"/>
          <p:cNvSpPr/>
          <p:nvPr/>
        </p:nvSpPr>
        <p:spPr bwMode="gray">
          <a:xfrm>
            <a:off x="2494347" y="3948316"/>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矩形 26"/>
          <p:cNvSpPr/>
          <p:nvPr/>
        </p:nvSpPr>
        <p:spPr bwMode="gray">
          <a:xfrm>
            <a:off x="4157398" y="3948933"/>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26"/>
          <p:cNvSpPr/>
          <p:nvPr/>
        </p:nvSpPr>
        <p:spPr bwMode="gray">
          <a:xfrm>
            <a:off x="7222181" y="3948316"/>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IP3</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26"/>
          <p:cNvSpPr/>
          <p:nvPr/>
        </p:nvSpPr>
        <p:spPr bwMode="gray">
          <a:xfrm>
            <a:off x="8905288" y="3966252"/>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IP4</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40" name="Group 39"/>
          <p:cNvGrpSpPr/>
          <p:nvPr/>
        </p:nvGrpSpPr>
        <p:grpSpPr bwMode="gray">
          <a:xfrm>
            <a:off x="5284708" y="4350393"/>
            <a:ext cx="2264783" cy="287715"/>
            <a:chOff x="3926787" y="3692862"/>
            <a:chExt cx="2264783" cy="287715"/>
          </a:xfrm>
        </p:grpSpPr>
        <p:sp>
          <p:nvSpPr>
            <p:cNvPr id="41" name="TextBox 120">
              <a:extLst>
                <a:ext uri="{FF2B5EF4-FFF2-40B4-BE49-F238E27FC236}">
                  <a16:creationId xmlns:a16="http://schemas.microsoft.com/office/drawing/2014/main" id="{31930744-3D36-4F81-8426-6F129C1A6804}"/>
                </a:ext>
              </a:extLst>
            </p:cNvPr>
            <p:cNvSpPr txBox="1"/>
            <p:nvPr/>
          </p:nvSpPr>
          <p:spPr bwMode="gray">
            <a:xfrm>
              <a:off x="3926787" y="3692862"/>
              <a:ext cx="79985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42" name="TextBox 120">
              <a:extLst>
                <a:ext uri="{FF2B5EF4-FFF2-40B4-BE49-F238E27FC236}">
                  <a16:creationId xmlns:a16="http://schemas.microsoft.com/office/drawing/2014/main" id="{31930744-3D36-4F81-8426-6F129C1A6804}"/>
                </a:ext>
              </a:extLst>
            </p:cNvPr>
            <p:cNvSpPr txBox="1"/>
            <p:nvPr/>
          </p:nvSpPr>
          <p:spPr bwMode="gray">
            <a:xfrm>
              <a:off x="5626746" y="3692862"/>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3" name="TextBox 120">
              <a:extLst>
                <a:ext uri="{FF2B5EF4-FFF2-40B4-BE49-F238E27FC236}">
                  <a16:creationId xmlns:a16="http://schemas.microsoft.com/office/drawing/2014/main" id="{31930744-3D36-4F81-8426-6F129C1A6804}"/>
                </a:ext>
              </a:extLst>
            </p:cNvPr>
            <p:cNvSpPr txBox="1"/>
            <p:nvPr/>
          </p:nvSpPr>
          <p:spPr bwMode="gray">
            <a:xfrm>
              <a:off x="4726645" y="3692862"/>
              <a:ext cx="90010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21</a:t>
              </a:r>
            </a:p>
          </p:txBody>
        </p:sp>
      </p:grpSp>
      <p:grpSp>
        <p:nvGrpSpPr>
          <p:cNvPr id="44" name="Group 43"/>
          <p:cNvGrpSpPr/>
          <p:nvPr/>
        </p:nvGrpSpPr>
        <p:grpSpPr bwMode="gray">
          <a:xfrm>
            <a:off x="8088071" y="4342293"/>
            <a:ext cx="2264783" cy="287715"/>
            <a:chOff x="3926787" y="3692862"/>
            <a:chExt cx="2264783" cy="287715"/>
          </a:xfrm>
        </p:grpSpPr>
        <p:sp>
          <p:nvSpPr>
            <p:cNvPr id="45" name="TextBox 120">
              <a:extLst>
                <a:ext uri="{FF2B5EF4-FFF2-40B4-BE49-F238E27FC236}">
                  <a16:creationId xmlns:a16="http://schemas.microsoft.com/office/drawing/2014/main" id="{31930744-3D36-4F81-8426-6F129C1A6804}"/>
                </a:ext>
              </a:extLst>
            </p:cNvPr>
            <p:cNvSpPr txBox="1"/>
            <p:nvPr/>
          </p:nvSpPr>
          <p:spPr bwMode="gray">
            <a:xfrm>
              <a:off x="3926787" y="3692862"/>
              <a:ext cx="79985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IP4</a:t>
              </a:r>
            </a:p>
          </p:txBody>
        </p:sp>
        <p:sp>
          <p:nvSpPr>
            <p:cNvPr id="46" name="TextBox 120">
              <a:extLst>
                <a:ext uri="{FF2B5EF4-FFF2-40B4-BE49-F238E27FC236}">
                  <a16:creationId xmlns:a16="http://schemas.microsoft.com/office/drawing/2014/main" id="{31930744-3D36-4F81-8426-6F129C1A6804}"/>
                </a:ext>
              </a:extLst>
            </p:cNvPr>
            <p:cNvSpPr txBox="1"/>
            <p:nvPr/>
          </p:nvSpPr>
          <p:spPr bwMode="gray">
            <a:xfrm>
              <a:off x="5626746" y="3692862"/>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7" name="TextBox 120">
              <a:extLst>
                <a:ext uri="{FF2B5EF4-FFF2-40B4-BE49-F238E27FC236}">
                  <a16:creationId xmlns:a16="http://schemas.microsoft.com/office/drawing/2014/main" id="{31930744-3D36-4F81-8426-6F129C1A6804}"/>
                </a:ext>
              </a:extLst>
            </p:cNvPr>
            <p:cNvSpPr txBox="1"/>
            <p:nvPr/>
          </p:nvSpPr>
          <p:spPr bwMode="gray">
            <a:xfrm>
              <a:off x="4726645" y="3692862"/>
              <a:ext cx="90010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21</a:t>
              </a:r>
            </a:p>
          </p:txBody>
        </p:sp>
      </p:grpSp>
      <p:cxnSp>
        <p:nvCxnSpPr>
          <p:cNvPr id="50" name="Straight Arrow Connector 49"/>
          <p:cNvCxnSpPr/>
          <p:nvPr/>
        </p:nvCxnSpPr>
        <p:spPr bwMode="gray">
          <a:xfrm>
            <a:off x="4235137" y="4487786"/>
            <a:ext cx="958918"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bwMode="gray">
          <a:xfrm>
            <a:off x="7619513" y="4487786"/>
            <a:ext cx="406412"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Rectangular Callout 55"/>
          <p:cNvSpPr/>
          <p:nvPr/>
        </p:nvSpPr>
        <p:spPr bwMode="gray">
          <a:xfrm>
            <a:off x="9824967" y="3578220"/>
            <a:ext cx="1271844" cy="689735"/>
          </a:xfrm>
          <a:prstGeom prst="wedgeRectCallout">
            <a:avLst>
              <a:gd name="adj1" fmla="val 9935"/>
              <a:gd name="adj2" fmla="val 105948"/>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管理通道建立，告知客户端数据通道所用端口</a:t>
            </a:r>
          </a:p>
        </p:txBody>
      </p:sp>
      <p:cxnSp>
        <p:nvCxnSpPr>
          <p:cNvPr id="57" name="Straight Arrow Connector 56"/>
          <p:cNvCxnSpPr/>
          <p:nvPr/>
        </p:nvCxnSpPr>
        <p:spPr bwMode="gray">
          <a:xfrm flipH="1">
            <a:off x="2349739" y="4848186"/>
            <a:ext cx="7659897" cy="0"/>
          </a:xfrm>
          <a:prstGeom prst="straightConnector1">
            <a:avLst/>
          </a:prstGeom>
          <a:ln w="285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2" name="Group 61"/>
          <p:cNvGrpSpPr/>
          <p:nvPr/>
        </p:nvGrpSpPr>
        <p:grpSpPr bwMode="gray">
          <a:xfrm>
            <a:off x="1693896" y="5034101"/>
            <a:ext cx="2476686" cy="287715"/>
            <a:chOff x="3714884" y="3692862"/>
            <a:chExt cx="2476686" cy="287715"/>
          </a:xfrm>
        </p:grpSpPr>
        <p:sp>
          <p:nvSpPr>
            <p:cNvPr id="63" name="TextBox 120">
              <a:extLst>
                <a:ext uri="{FF2B5EF4-FFF2-40B4-BE49-F238E27FC236}">
                  <a16:creationId xmlns:a16="http://schemas.microsoft.com/office/drawing/2014/main" id="{31930744-3D36-4F81-8426-6F129C1A6804}"/>
                </a:ext>
              </a:extLst>
            </p:cNvPr>
            <p:cNvSpPr txBox="1"/>
            <p:nvPr/>
          </p:nvSpPr>
          <p:spPr bwMode="gray">
            <a:xfrm>
              <a:off x="3714884" y="3692862"/>
              <a:ext cx="79985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64" name="TextBox 120">
              <a:extLst>
                <a:ext uri="{FF2B5EF4-FFF2-40B4-BE49-F238E27FC236}">
                  <a16:creationId xmlns:a16="http://schemas.microsoft.com/office/drawing/2014/main" id="{31930744-3D36-4F81-8426-6F129C1A6804}"/>
                </a:ext>
              </a:extLst>
            </p:cNvPr>
            <p:cNvSpPr txBox="1"/>
            <p:nvPr/>
          </p:nvSpPr>
          <p:spPr bwMode="gray">
            <a:xfrm>
              <a:off x="5626746" y="3692862"/>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65" name="TextBox 120">
              <a:extLst>
                <a:ext uri="{FF2B5EF4-FFF2-40B4-BE49-F238E27FC236}">
                  <a16:creationId xmlns:a16="http://schemas.microsoft.com/office/drawing/2014/main" id="{31930744-3D36-4F81-8426-6F129C1A6804}"/>
                </a:ext>
              </a:extLst>
            </p:cNvPr>
            <p:cNvSpPr txBox="1"/>
            <p:nvPr/>
          </p:nvSpPr>
          <p:spPr bwMode="gray">
            <a:xfrm>
              <a:off x="4515335" y="3692862"/>
              <a:ext cx="111141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sp>
        <p:nvSpPr>
          <p:cNvPr id="66" name="Rectangle 65"/>
          <p:cNvSpPr/>
          <p:nvPr/>
        </p:nvSpPr>
        <p:spPr bwMode="gray">
          <a:xfrm>
            <a:off x="1037589" y="2876801"/>
            <a:ext cx="1122083" cy="21530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被动模式</a:t>
            </a:r>
          </a:p>
        </p:txBody>
      </p:sp>
      <p:grpSp>
        <p:nvGrpSpPr>
          <p:cNvPr id="67" name="Group 66"/>
          <p:cNvGrpSpPr/>
          <p:nvPr/>
        </p:nvGrpSpPr>
        <p:grpSpPr bwMode="gray">
          <a:xfrm>
            <a:off x="5072805" y="5031105"/>
            <a:ext cx="2476686" cy="287715"/>
            <a:chOff x="3714884" y="3692862"/>
            <a:chExt cx="2476686" cy="287715"/>
          </a:xfrm>
        </p:grpSpPr>
        <p:sp>
          <p:nvSpPr>
            <p:cNvPr id="68" name="TextBox 120">
              <a:extLst>
                <a:ext uri="{FF2B5EF4-FFF2-40B4-BE49-F238E27FC236}">
                  <a16:creationId xmlns:a16="http://schemas.microsoft.com/office/drawing/2014/main" id="{31930744-3D36-4F81-8426-6F129C1A6804}"/>
                </a:ext>
              </a:extLst>
            </p:cNvPr>
            <p:cNvSpPr txBox="1"/>
            <p:nvPr/>
          </p:nvSpPr>
          <p:spPr bwMode="gray">
            <a:xfrm>
              <a:off x="3714884" y="3692862"/>
              <a:ext cx="799859"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69" name="TextBox 120">
              <a:extLst>
                <a:ext uri="{FF2B5EF4-FFF2-40B4-BE49-F238E27FC236}">
                  <a16:creationId xmlns:a16="http://schemas.microsoft.com/office/drawing/2014/main" id="{31930744-3D36-4F81-8426-6F129C1A6804}"/>
                </a:ext>
              </a:extLst>
            </p:cNvPr>
            <p:cNvSpPr txBox="1"/>
            <p:nvPr/>
          </p:nvSpPr>
          <p:spPr bwMode="gray">
            <a:xfrm>
              <a:off x="5626746" y="3692862"/>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70" name="TextBox 120">
              <a:extLst>
                <a:ext uri="{FF2B5EF4-FFF2-40B4-BE49-F238E27FC236}">
                  <a16:creationId xmlns:a16="http://schemas.microsoft.com/office/drawing/2014/main" id="{31930744-3D36-4F81-8426-6F129C1A6804}"/>
                </a:ext>
              </a:extLst>
            </p:cNvPr>
            <p:cNvSpPr txBox="1"/>
            <p:nvPr/>
          </p:nvSpPr>
          <p:spPr bwMode="gray">
            <a:xfrm>
              <a:off x="4515335" y="3692862"/>
              <a:ext cx="111141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cxnSp>
        <p:nvCxnSpPr>
          <p:cNvPr id="71" name="Straight Arrow Connector 70"/>
          <p:cNvCxnSpPr/>
          <p:nvPr/>
        </p:nvCxnSpPr>
        <p:spPr bwMode="gray">
          <a:xfrm>
            <a:off x="4223585" y="5191060"/>
            <a:ext cx="823006"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bwMode="gray">
          <a:xfrm>
            <a:off x="7616779" y="5180953"/>
            <a:ext cx="406412"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sp>
        <p:nvSpPr>
          <p:cNvPr id="75" name="十字形 19"/>
          <p:cNvSpPr/>
          <p:nvPr/>
        </p:nvSpPr>
        <p:spPr bwMode="gray">
          <a:xfrm rot="2785165">
            <a:off x="7704927" y="5091454"/>
            <a:ext cx="199212" cy="199212"/>
          </a:xfrm>
          <a:prstGeom prst="plus">
            <a:avLst>
              <a:gd name="adj" fmla="val 39697"/>
            </a:avLst>
          </a:prstGeom>
          <a:solidFill>
            <a:srgbClr val="EC7061"/>
          </a:solidFill>
          <a:ln>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900">
              <a:solidFill>
                <a:prstClr val="white"/>
              </a:solidFill>
            </a:endParaRPr>
          </a:p>
        </p:txBody>
      </p:sp>
      <p:sp>
        <p:nvSpPr>
          <p:cNvPr id="76" name="Rectangular Callout 75"/>
          <p:cNvSpPr/>
          <p:nvPr/>
        </p:nvSpPr>
        <p:spPr bwMode="gray">
          <a:xfrm>
            <a:off x="8357625" y="5079962"/>
            <a:ext cx="1398019" cy="578291"/>
          </a:xfrm>
          <a:prstGeom prst="wedgeRectCallout">
            <a:avLst>
              <a:gd name="adj1" fmla="val -71646"/>
              <a:gd name="adj2" fmla="val -37145"/>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映射表内无相关信息，数据通道建立失败</a:t>
            </a:r>
          </a:p>
        </p:txBody>
      </p:sp>
      <p:sp>
        <p:nvSpPr>
          <p:cNvPr id="77" name="Rectangular Callout 76"/>
          <p:cNvSpPr/>
          <p:nvPr/>
        </p:nvSpPr>
        <p:spPr bwMode="gray">
          <a:xfrm>
            <a:off x="3592124" y="5223025"/>
            <a:ext cx="1300611" cy="497612"/>
          </a:xfrm>
          <a:prstGeom prst="wedgeRectCallout">
            <a:avLst>
              <a:gd name="adj1" fmla="val -68435"/>
              <a:gd name="adj2" fmla="val -4590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服务器分配的随机目标端口</a:t>
            </a:r>
          </a:p>
        </p:txBody>
      </p:sp>
      <p:sp>
        <p:nvSpPr>
          <p:cNvPr id="78" name="Rectangle 77"/>
          <p:cNvSpPr/>
          <p:nvPr/>
        </p:nvSpPr>
        <p:spPr bwMode="gray">
          <a:xfrm>
            <a:off x="10003340" y="4652034"/>
            <a:ext cx="1371366" cy="3853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管理通道建立，交互</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控制报文</a:t>
            </a:r>
          </a:p>
        </p:txBody>
      </p:sp>
      <p:sp>
        <p:nvSpPr>
          <p:cNvPr id="79" name="Rectangle 78"/>
          <p:cNvSpPr/>
          <p:nvPr/>
        </p:nvSpPr>
        <p:spPr bwMode="gray">
          <a:xfrm>
            <a:off x="984669" y="4650607"/>
            <a:ext cx="1371366" cy="3853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管理通道建立，交互</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控制报文</a:t>
            </a:r>
          </a:p>
        </p:txBody>
      </p:sp>
      <p:grpSp>
        <p:nvGrpSpPr>
          <p:cNvPr id="61" name="组合 54">
            <a:extLst>
              <a:ext uri="{FF2B5EF4-FFF2-40B4-BE49-F238E27FC236}">
                <a16:creationId xmlns:a16="http://schemas.microsoft.com/office/drawing/2014/main" id="{D29413E8-E020-4D2A-9ABC-68A1880C8958}"/>
              </a:ext>
            </a:extLst>
          </p:cNvPr>
          <p:cNvGrpSpPr/>
          <p:nvPr/>
        </p:nvGrpSpPr>
        <p:grpSpPr bwMode="gray">
          <a:xfrm>
            <a:off x="6319181" y="2820235"/>
            <a:ext cx="3292513" cy="898540"/>
            <a:chOff x="4636703" y="2148756"/>
            <a:chExt cx="1822935" cy="889647"/>
          </a:xfrm>
          <a:solidFill>
            <a:schemeClr val="bg1"/>
          </a:solidFill>
        </p:grpSpPr>
        <p:sp>
          <p:nvSpPr>
            <p:cNvPr id="72" name="TextBox 77">
              <a:extLst>
                <a:ext uri="{FF2B5EF4-FFF2-40B4-BE49-F238E27FC236}">
                  <a16:creationId xmlns:a16="http://schemas.microsoft.com/office/drawing/2014/main" id="{CEEDE113-1ABB-49BF-B410-39FD95D82C54}"/>
                </a:ext>
              </a:extLst>
            </p:cNvPr>
            <p:cNvSpPr txBox="1"/>
            <p:nvPr/>
          </p:nvSpPr>
          <p:spPr bwMode="gray">
            <a:xfrm>
              <a:off x="4636703" y="2148756"/>
              <a:ext cx="1822935" cy="889647"/>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73" name="矩形 56">
              <a:extLst>
                <a:ext uri="{FF2B5EF4-FFF2-40B4-BE49-F238E27FC236}">
                  <a16:creationId xmlns:a16="http://schemas.microsoft.com/office/drawing/2014/main" id="{F9D8D371-DF28-4E49-967D-F1F5E2FCED42}"/>
                </a:ext>
              </a:extLst>
            </p:cNvPr>
            <p:cNvSpPr/>
            <p:nvPr/>
          </p:nvSpPr>
          <p:spPr bwMode="gray">
            <a:xfrm>
              <a:off x="4684807" y="2165234"/>
              <a:ext cx="1730260" cy="274257"/>
            </a:xfrm>
            <a:prstGeom prst="rect">
              <a:avLst/>
            </a:prstGeom>
            <a:grpFill/>
          </p:spPr>
          <p:txBody>
            <a:bodyPr wrap="square">
              <a:spAutoFit/>
            </a:bodyPr>
            <a:lstStyle/>
            <a:p>
              <a:pPr marL="35986" algn="ctr" fontAlgn="auto">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80" name="表格 31">
            <a:extLst>
              <a:ext uri="{FF2B5EF4-FFF2-40B4-BE49-F238E27FC236}">
                <a16:creationId xmlns:a16="http://schemas.microsoft.com/office/drawing/2014/main" id="{3B50FB2B-8D0A-4933-B5A8-2CDA50C36746}"/>
              </a:ext>
            </a:extLst>
          </p:cNvPr>
          <p:cNvGraphicFramePr>
            <a:graphicFrameLocks noGrp="1"/>
          </p:cNvGraphicFramePr>
          <p:nvPr>
            <p:extLst>
              <p:ext uri="{D42A27DB-BD31-4B8C-83A1-F6EECF244321}">
                <p14:modId xmlns:p14="http://schemas.microsoft.com/office/powerpoint/2010/main" val="3499530772"/>
              </p:ext>
            </p:extLst>
          </p:nvPr>
        </p:nvGraphicFramePr>
        <p:xfrm>
          <a:off x="6427390" y="3132864"/>
          <a:ext cx="3125128" cy="548568"/>
        </p:xfrm>
        <a:graphic>
          <a:graphicData uri="http://schemas.openxmlformats.org/drawingml/2006/table">
            <a:tbl>
              <a:tblPr firstRow="1" bandRow="1"/>
              <a:tblGrid>
                <a:gridCol w="498696">
                  <a:extLst>
                    <a:ext uri="{9D8B030D-6E8A-4147-A177-3AD203B41FA5}">
                      <a16:colId xmlns:a16="http://schemas.microsoft.com/office/drawing/2014/main" val="20000"/>
                    </a:ext>
                  </a:extLst>
                </a:gridCol>
                <a:gridCol w="1325616">
                  <a:extLst>
                    <a:ext uri="{9D8B030D-6E8A-4147-A177-3AD203B41FA5}">
                      <a16:colId xmlns:a16="http://schemas.microsoft.com/office/drawing/2014/main" val="20001"/>
                    </a:ext>
                  </a:extLst>
                </a:gridCol>
                <a:gridCol w="1300816">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 4:21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 3:21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423431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2" name="Straight Arrow Connector 71"/>
          <p:cNvCxnSpPr/>
          <p:nvPr/>
        </p:nvCxnSpPr>
        <p:spPr bwMode="gray">
          <a:xfrm flipH="1">
            <a:off x="2295651" y="5062968"/>
            <a:ext cx="6847645" cy="0"/>
          </a:xfrm>
          <a:prstGeom prst="straightConnector1">
            <a:avLst/>
          </a:prstGeom>
          <a:ln w="28575">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bwMode="gray"/>
        <p:txBody>
          <a:bodyPr/>
          <a:lstStyle/>
          <a:p>
            <a:r>
              <a:rPr lang="en-US" altLang="zh-CN" dirty="0"/>
              <a:t>NAT ALG</a:t>
            </a:r>
            <a:r>
              <a:rPr lang="zh-CN" altLang="en-US" dirty="0"/>
              <a:t>工作原理</a:t>
            </a:r>
          </a:p>
        </p:txBody>
      </p:sp>
      <p:sp>
        <p:nvSpPr>
          <p:cNvPr id="3" name="Text Placeholder 2"/>
          <p:cNvSpPr>
            <a:spLocks noGrp="1"/>
          </p:cNvSpPr>
          <p:nvPr>
            <p:ph type="body" sz="quarter" idx="10"/>
          </p:nvPr>
        </p:nvSpPr>
        <p:spPr bwMode="gray"/>
        <p:txBody>
          <a:bodyPr/>
          <a:lstStyle/>
          <a:p>
            <a:r>
              <a:rPr lang="en-US" altLang="zh-CN" sz="1800" dirty="0"/>
              <a:t>NAT ALG</a:t>
            </a:r>
            <a:r>
              <a:rPr lang="zh-CN" altLang="en-US" sz="1800" dirty="0"/>
              <a:t>（</a:t>
            </a:r>
            <a:r>
              <a:rPr lang="en-US" altLang="zh-CN" sz="1800" dirty="0"/>
              <a:t>Application Level Gateway</a:t>
            </a:r>
            <a:r>
              <a:rPr lang="zh-CN" altLang="en-US" sz="1800" dirty="0"/>
              <a:t>）可以对报文的载荷字段进行解析，识别并转换其中包含的重要信息（比如</a:t>
            </a:r>
            <a:r>
              <a:rPr lang="en-US" altLang="zh-CN" sz="1800" dirty="0"/>
              <a:t>FTP</a:t>
            </a:r>
            <a:r>
              <a:rPr lang="zh-CN" altLang="en-US" sz="1800" dirty="0"/>
              <a:t>数据通道目标端口），基于这些重要信息形成</a:t>
            </a:r>
            <a:r>
              <a:rPr lang="en-US" altLang="zh-CN" sz="1800" dirty="0"/>
              <a:t>NAT</a:t>
            </a:r>
            <a:r>
              <a:rPr lang="zh-CN" altLang="en-US" sz="1800" dirty="0"/>
              <a:t>映射表项，帮助外部主机访问私网服务器。</a:t>
            </a:r>
          </a:p>
        </p:txBody>
      </p:sp>
      <p:sp>
        <p:nvSpPr>
          <p:cNvPr id="4" name="圆角矩形 75"/>
          <p:cNvSpPr/>
          <p:nvPr/>
        </p:nvSpPr>
        <p:spPr bwMode="gray">
          <a:xfrm>
            <a:off x="968190" y="2330534"/>
            <a:ext cx="10450534" cy="381729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endParaRPr>
          </a:p>
        </p:txBody>
      </p:sp>
      <p:sp>
        <p:nvSpPr>
          <p:cNvPr id="5" name="圆角矩形 75"/>
          <p:cNvSpPr/>
          <p:nvPr/>
        </p:nvSpPr>
        <p:spPr bwMode="gray">
          <a:xfrm>
            <a:off x="944214" y="1902336"/>
            <a:ext cx="1047772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多通道协议对于</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的挑战（</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FTP</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 name="Freeform 159"/>
          <p:cNvSpPr/>
          <p:nvPr/>
        </p:nvSpPr>
        <p:spPr bwMode="gray">
          <a:xfrm flipH="1">
            <a:off x="7971837" y="3245175"/>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sp>
        <p:nvSpPr>
          <p:cNvPr id="7" name="Freeform 159"/>
          <p:cNvSpPr/>
          <p:nvPr/>
        </p:nvSpPr>
        <p:spPr bwMode="gray">
          <a:xfrm flipH="1">
            <a:off x="2007619" y="3248674"/>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640060" y="3651697"/>
            <a:ext cx="540989" cy="442626"/>
          </a:xfrm>
          <a:prstGeom prst="rect">
            <a:avLst/>
          </a:prstGeom>
          <a:noFill/>
        </p:spPr>
      </p:pic>
      <p:pic>
        <p:nvPicPr>
          <p:cNvPr id="9"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7495403" y="3646977"/>
            <a:ext cx="540989" cy="442626"/>
          </a:xfrm>
          <a:prstGeom prst="rect">
            <a:avLst/>
          </a:prstGeom>
          <a:noFill/>
        </p:spPr>
      </p:pic>
      <p:sp>
        <p:nvSpPr>
          <p:cNvPr id="10" name="Freeform 159"/>
          <p:cNvSpPr/>
          <p:nvPr/>
        </p:nvSpPr>
        <p:spPr bwMode="gray">
          <a:xfrm flipH="1">
            <a:off x="5004055" y="3257539"/>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solidFill>
                <a:schemeClr val="tx1"/>
              </a:solidFill>
            </a:endParaRPr>
          </a:p>
        </p:txBody>
      </p:sp>
      <p:pic>
        <p:nvPicPr>
          <p:cNvPr id="11" name="图片 73" descr="PC.png"/>
          <p:cNvPicPr>
            <a:picLocks noChangeAspect="1"/>
          </p:cNvPicPr>
          <p:nvPr/>
        </p:nvPicPr>
        <p:blipFill>
          <a:blip r:embed="rId4" cstate="print"/>
          <a:stretch>
            <a:fillRect/>
          </a:stretch>
        </p:blipFill>
        <p:spPr bwMode="gray">
          <a:xfrm>
            <a:off x="1970306" y="3664557"/>
            <a:ext cx="539063" cy="414000"/>
          </a:xfrm>
          <a:prstGeom prst="rect">
            <a:avLst/>
          </a:prstGeom>
        </p:spPr>
      </p:pic>
      <p:cxnSp>
        <p:nvCxnSpPr>
          <p:cNvPr id="12" name="直接连接符 12"/>
          <p:cNvCxnSpPr>
            <a:stCxn id="10" idx="21"/>
            <a:endCxn id="8" idx="3"/>
          </p:cNvCxnSpPr>
          <p:nvPr/>
        </p:nvCxnSpPr>
        <p:spPr bwMode="gray">
          <a:xfrm flipH="1" flipV="1">
            <a:off x="4181049" y="3873010"/>
            <a:ext cx="823006" cy="1026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直接连接符 12"/>
          <p:cNvCxnSpPr>
            <a:stCxn id="9" idx="1"/>
            <a:endCxn id="10" idx="8"/>
          </p:cNvCxnSpPr>
          <p:nvPr/>
        </p:nvCxnSpPr>
        <p:spPr bwMode="gray">
          <a:xfrm flipH="1" flipV="1">
            <a:off x="6711460" y="3867030"/>
            <a:ext cx="783943" cy="12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 name="直接连接符 12"/>
          <p:cNvCxnSpPr>
            <a:stCxn id="8" idx="1"/>
            <a:endCxn id="11" idx="3"/>
          </p:cNvCxnSpPr>
          <p:nvPr/>
        </p:nvCxnSpPr>
        <p:spPr bwMode="gray">
          <a:xfrm flipH="1" flipV="1">
            <a:off x="2509369" y="3871557"/>
            <a:ext cx="1130691" cy="145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直接连接符 12"/>
          <p:cNvCxnSpPr>
            <a:stCxn id="18" idx="1"/>
            <a:endCxn id="9" idx="3"/>
          </p:cNvCxnSpPr>
          <p:nvPr/>
        </p:nvCxnSpPr>
        <p:spPr bwMode="gray">
          <a:xfrm flipH="1" flipV="1">
            <a:off x="8036392" y="3868290"/>
            <a:ext cx="1152927" cy="512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6" name="矩形 26"/>
          <p:cNvSpPr/>
          <p:nvPr/>
        </p:nvSpPr>
        <p:spPr bwMode="gray">
          <a:xfrm>
            <a:off x="4116494" y="3596415"/>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17" name="矩形 26"/>
          <p:cNvSpPr/>
          <p:nvPr/>
        </p:nvSpPr>
        <p:spPr bwMode="gray">
          <a:xfrm>
            <a:off x="6775358" y="3613766"/>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endPar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18" name="图片 23" descr="FTP服务器-蓝.png"/>
          <p:cNvPicPr>
            <a:picLocks noChangeAspect="1"/>
          </p:cNvPicPr>
          <p:nvPr/>
        </p:nvPicPr>
        <p:blipFill>
          <a:blip r:embed="rId5" cstate="print"/>
          <a:stretch>
            <a:fillRect/>
          </a:stretch>
        </p:blipFill>
        <p:spPr bwMode="gray">
          <a:xfrm>
            <a:off x="9189319" y="3652505"/>
            <a:ext cx="540000" cy="441818"/>
          </a:xfrm>
          <a:prstGeom prst="rect">
            <a:avLst/>
          </a:prstGeom>
        </p:spPr>
      </p:pic>
      <p:grpSp>
        <p:nvGrpSpPr>
          <p:cNvPr id="19" name="Group 18"/>
          <p:cNvGrpSpPr/>
          <p:nvPr/>
        </p:nvGrpSpPr>
        <p:grpSpPr bwMode="gray">
          <a:xfrm>
            <a:off x="1851711" y="4208749"/>
            <a:ext cx="2264783" cy="293705"/>
            <a:chOff x="3926787" y="3689867"/>
            <a:chExt cx="2264783" cy="293705"/>
          </a:xfrm>
        </p:grpSpPr>
        <p:sp>
          <p:nvSpPr>
            <p:cNvPr id="20" name="TextBox 120">
              <a:extLst>
                <a:ext uri="{FF2B5EF4-FFF2-40B4-BE49-F238E27FC236}">
                  <a16:creationId xmlns:a16="http://schemas.microsoft.com/office/drawing/2014/main" id="{31930744-3D36-4F81-8426-6F129C1A6804}"/>
                </a:ext>
              </a:extLst>
            </p:cNvPr>
            <p:cNvSpPr txBox="1"/>
            <p:nvPr/>
          </p:nvSpPr>
          <p:spPr bwMode="gray">
            <a:xfrm>
              <a:off x="3926787"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21" name="TextBox 120">
              <a:extLst>
                <a:ext uri="{FF2B5EF4-FFF2-40B4-BE49-F238E27FC236}">
                  <a16:creationId xmlns:a16="http://schemas.microsoft.com/office/drawing/2014/main" id="{31930744-3D36-4F81-8426-6F129C1A6804}"/>
                </a:ext>
              </a:extLst>
            </p:cNvPr>
            <p:cNvSpPr txBox="1"/>
            <p:nvPr/>
          </p:nvSpPr>
          <p:spPr bwMode="gray">
            <a:xfrm>
              <a:off x="5626746" y="3695857"/>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22" name="TextBox 120">
              <a:extLst>
                <a:ext uri="{FF2B5EF4-FFF2-40B4-BE49-F238E27FC236}">
                  <a16:creationId xmlns:a16="http://schemas.microsoft.com/office/drawing/2014/main" id="{31930744-3D36-4F81-8426-6F129C1A6804}"/>
                </a:ext>
              </a:extLst>
            </p:cNvPr>
            <p:cNvSpPr txBox="1"/>
            <p:nvPr/>
          </p:nvSpPr>
          <p:spPr bwMode="gray">
            <a:xfrm>
              <a:off x="4726645" y="3692804"/>
              <a:ext cx="90010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21</a:t>
              </a:r>
            </a:p>
          </p:txBody>
        </p:sp>
      </p:grpSp>
      <p:sp>
        <p:nvSpPr>
          <p:cNvPr id="23" name="矩形 26"/>
          <p:cNvSpPr/>
          <p:nvPr/>
        </p:nvSpPr>
        <p:spPr bwMode="gray">
          <a:xfrm>
            <a:off x="2440259" y="3812604"/>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4" name="矩形 26"/>
          <p:cNvSpPr/>
          <p:nvPr/>
        </p:nvSpPr>
        <p:spPr bwMode="gray">
          <a:xfrm>
            <a:off x="4103310" y="3813221"/>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5" name="矩形 26"/>
          <p:cNvSpPr/>
          <p:nvPr/>
        </p:nvSpPr>
        <p:spPr bwMode="gray">
          <a:xfrm>
            <a:off x="7168093" y="3812604"/>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IP3</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26" name="矩形 26"/>
          <p:cNvSpPr/>
          <p:nvPr/>
        </p:nvSpPr>
        <p:spPr bwMode="gray">
          <a:xfrm>
            <a:off x="8851200" y="3830540"/>
            <a:ext cx="402674"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IP4</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pSp>
        <p:nvGrpSpPr>
          <p:cNvPr id="27" name="Group 26"/>
          <p:cNvGrpSpPr/>
          <p:nvPr/>
        </p:nvGrpSpPr>
        <p:grpSpPr bwMode="gray">
          <a:xfrm>
            <a:off x="5230620" y="4211686"/>
            <a:ext cx="2264783" cy="293705"/>
            <a:chOff x="3926787" y="3689867"/>
            <a:chExt cx="2264783" cy="293705"/>
          </a:xfrm>
        </p:grpSpPr>
        <p:sp>
          <p:nvSpPr>
            <p:cNvPr id="28" name="TextBox 120">
              <a:extLst>
                <a:ext uri="{FF2B5EF4-FFF2-40B4-BE49-F238E27FC236}">
                  <a16:creationId xmlns:a16="http://schemas.microsoft.com/office/drawing/2014/main" id="{31930744-3D36-4F81-8426-6F129C1A6804}"/>
                </a:ext>
              </a:extLst>
            </p:cNvPr>
            <p:cNvSpPr txBox="1"/>
            <p:nvPr/>
          </p:nvSpPr>
          <p:spPr bwMode="gray">
            <a:xfrm>
              <a:off x="3926787"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29" name="TextBox 120">
              <a:extLst>
                <a:ext uri="{FF2B5EF4-FFF2-40B4-BE49-F238E27FC236}">
                  <a16:creationId xmlns:a16="http://schemas.microsoft.com/office/drawing/2014/main" id="{31930744-3D36-4F81-8426-6F129C1A6804}"/>
                </a:ext>
              </a:extLst>
            </p:cNvPr>
            <p:cNvSpPr txBox="1"/>
            <p:nvPr/>
          </p:nvSpPr>
          <p:spPr bwMode="gray">
            <a:xfrm>
              <a:off x="5626746" y="3695857"/>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0" name="TextBox 120">
              <a:extLst>
                <a:ext uri="{FF2B5EF4-FFF2-40B4-BE49-F238E27FC236}">
                  <a16:creationId xmlns:a16="http://schemas.microsoft.com/office/drawing/2014/main" id="{31930744-3D36-4F81-8426-6F129C1A6804}"/>
                </a:ext>
              </a:extLst>
            </p:cNvPr>
            <p:cNvSpPr txBox="1"/>
            <p:nvPr/>
          </p:nvSpPr>
          <p:spPr bwMode="gray">
            <a:xfrm>
              <a:off x="4726645" y="3692804"/>
              <a:ext cx="90010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21</a:t>
              </a:r>
            </a:p>
          </p:txBody>
        </p:sp>
      </p:grpSp>
      <p:grpSp>
        <p:nvGrpSpPr>
          <p:cNvPr id="31" name="Group 30"/>
          <p:cNvGrpSpPr/>
          <p:nvPr/>
        </p:nvGrpSpPr>
        <p:grpSpPr bwMode="gray">
          <a:xfrm>
            <a:off x="8033983" y="4203586"/>
            <a:ext cx="2264783" cy="293705"/>
            <a:chOff x="3926787" y="3689867"/>
            <a:chExt cx="2264783" cy="293705"/>
          </a:xfrm>
        </p:grpSpPr>
        <p:sp>
          <p:nvSpPr>
            <p:cNvPr id="32" name="TextBox 120">
              <a:extLst>
                <a:ext uri="{FF2B5EF4-FFF2-40B4-BE49-F238E27FC236}">
                  <a16:creationId xmlns:a16="http://schemas.microsoft.com/office/drawing/2014/main" id="{31930744-3D36-4F81-8426-6F129C1A6804}"/>
                </a:ext>
              </a:extLst>
            </p:cNvPr>
            <p:cNvSpPr txBox="1"/>
            <p:nvPr/>
          </p:nvSpPr>
          <p:spPr bwMode="gray">
            <a:xfrm>
              <a:off x="3926787"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IP4</a:t>
              </a:r>
            </a:p>
          </p:txBody>
        </p:sp>
        <p:sp>
          <p:nvSpPr>
            <p:cNvPr id="33" name="TextBox 120">
              <a:extLst>
                <a:ext uri="{FF2B5EF4-FFF2-40B4-BE49-F238E27FC236}">
                  <a16:creationId xmlns:a16="http://schemas.microsoft.com/office/drawing/2014/main" id="{31930744-3D36-4F81-8426-6F129C1A6804}"/>
                </a:ext>
              </a:extLst>
            </p:cNvPr>
            <p:cNvSpPr txBox="1"/>
            <p:nvPr/>
          </p:nvSpPr>
          <p:spPr bwMode="gray">
            <a:xfrm>
              <a:off x="5626746" y="3695857"/>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34" name="TextBox 120">
              <a:extLst>
                <a:ext uri="{FF2B5EF4-FFF2-40B4-BE49-F238E27FC236}">
                  <a16:creationId xmlns:a16="http://schemas.microsoft.com/office/drawing/2014/main" id="{31930744-3D36-4F81-8426-6F129C1A6804}"/>
                </a:ext>
              </a:extLst>
            </p:cNvPr>
            <p:cNvSpPr txBox="1"/>
            <p:nvPr/>
          </p:nvSpPr>
          <p:spPr bwMode="gray">
            <a:xfrm>
              <a:off x="4726645" y="3692804"/>
              <a:ext cx="90010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21</a:t>
              </a:r>
            </a:p>
          </p:txBody>
        </p:sp>
      </p:grpSp>
      <p:cxnSp>
        <p:nvCxnSpPr>
          <p:cNvPr id="36" name="Straight Arrow Connector 35"/>
          <p:cNvCxnSpPr/>
          <p:nvPr/>
        </p:nvCxnSpPr>
        <p:spPr bwMode="gray">
          <a:xfrm>
            <a:off x="4181049" y="4352074"/>
            <a:ext cx="958918"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bwMode="gray">
          <a:xfrm>
            <a:off x="7565425" y="4352074"/>
            <a:ext cx="406412"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bwMode="gray">
          <a:xfrm flipH="1">
            <a:off x="2295651" y="4712474"/>
            <a:ext cx="7659897" cy="0"/>
          </a:xfrm>
          <a:prstGeom prst="straightConnector1">
            <a:avLst/>
          </a:prstGeom>
          <a:ln w="285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bwMode="gray">
          <a:xfrm>
            <a:off x="9925880" y="4503281"/>
            <a:ext cx="1371366" cy="3853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管理通道建立，交互</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控制报文</a:t>
            </a:r>
          </a:p>
        </p:txBody>
      </p:sp>
      <p:grpSp>
        <p:nvGrpSpPr>
          <p:cNvPr id="42" name="Group 41"/>
          <p:cNvGrpSpPr/>
          <p:nvPr/>
        </p:nvGrpSpPr>
        <p:grpSpPr bwMode="gray">
          <a:xfrm>
            <a:off x="1655418" y="5364403"/>
            <a:ext cx="2476686" cy="293705"/>
            <a:chOff x="3714884" y="3689867"/>
            <a:chExt cx="2476686" cy="293705"/>
          </a:xfrm>
        </p:grpSpPr>
        <p:sp>
          <p:nvSpPr>
            <p:cNvPr id="43" name="TextBox 120">
              <a:extLst>
                <a:ext uri="{FF2B5EF4-FFF2-40B4-BE49-F238E27FC236}">
                  <a16:creationId xmlns:a16="http://schemas.microsoft.com/office/drawing/2014/main" id="{31930744-3D36-4F81-8426-6F129C1A6804}"/>
                </a:ext>
              </a:extLst>
            </p:cNvPr>
            <p:cNvSpPr txBox="1"/>
            <p:nvPr/>
          </p:nvSpPr>
          <p:spPr bwMode="gray">
            <a:xfrm>
              <a:off x="3714884"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44" name="TextBox 120">
              <a:extLst>
                <a:ext uri="{FF2B5EF4-FFF2-40B4-BE49-F238E27FC236}">
                  <a16:creationId xmlns:a16="http://schemas.microsoft.com/office/drawing/2014/main" id="{31930744-3D36-4F81-8426-6F129C1A6804}"/>
                </a:ext>
              </a:extLst>
            </p:cNvPr>
            <p:cNvSpPr txBox="1"/>
            <p:nvPr/>
          </p:nvSpPr>
          <p:spPr bwMode="gray">
            <a:xfrm>
              <a:off x="5626746" y="3695857"/>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45" name="TextBox 120">
              <a:extLst>
                <a:ext uri="{FF2B5EF4-FFF2-40B4-BE49-F238E27FC236}">
                  <a16:creationId xmlns:a16="http://schemas.microsoft.com/office/drawing/2014/main" id="{31930744-3D36-4F81-8426-6F129C1A6804}"/>
                </a:ext>
              </a:extLst>
            </p:cNvPr>
            <p:cNvSpPr txBox="1"/>
            <p:nvPr/>
          </p:nvSpPr>
          <p:spPr bwMode="gray">
            <a:xfrm>
              <a:off x="4515335" y="3692804"/>
              <a:ext cx="111141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sp>
        <p:nvSpPr>
          <p:cNvPr id="46" name="Rectangle 45"/>
          <p:cNvSpPr/>
          <p:nvPr/>
        </p:nvSpPr>
        <p:spPr bwMode="gray">
          <a:xfrm>
            <a:off x="1034375" y="2445736"/>
            <a:ext cx="1122083" cy="215304"/>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被动模式</a:t>
            </a:r>
          </a:p>
        </p:txBody>
      </p:sp>
      <p:grpSp>
        <p:nvGrpSpPr>
          <p:cNvPr id="47" name="Group 46"/>
          <p:cNvGrpSpPr/>
          <p:nvPr/>
        </p:nvGrpSpPr>
        <p:grpSpPr bwMode="gray">
          <a:xfrm>
            <a:off x="5034327" y="5361407"/>
            <a:ext cx="2476686" cy="293705"/>
            <a:chOff x="3714884" y="3689867"/>
            <a:chExt cx="2476686" cy="293705"/>
          </a:xfrm>
        </p:grpSpPr>
        <p:sp>
          <p:nvSpPr>
            <p:cNvPr id="48" name="TextBox 120">
              <a:extLst>
                <a:ext uri="{FF2B5EF4-FFF2-40B4-BE49-F238E27FC236}">
                  <a16:creationId xmlns:a16="http://schemas.microsoft.com/office/drawing/2014/main" id="{31930744-3D36-4F81-8426-6F129C1A6804}"/>
                </a:ext>
              </a:extLst>
            </p:cNvPr>
            <p:cNvSpPr txBox="1"/>
            <p:nvPr/>
          </p:nvSpPr>
          <p:spPr bwMode="gray">
            <a:xfrm>
              <a:off x="3714884"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IP3</a:t>
              </a:r>
            </a:p>
          </p:txBody>
        </p:sp>
        <p:sp>
          <p:nvSpPr>
            <p:cNvPr id="49" name="TextBox 120">
              <a:extLst>
                <a:ext uri="{FF2B5EF4-FFF2-40B4-BE49-F238E27FC236}">
                  <a16:creationId xmlns:a16="http://schemas.microsoft.com/office/drawing/2014/main" id="{31930744-3D36-4F81-8426-6F129C1A6804}"/>
                </a:ext>
              </a:extLst>
            </p:cNvPr>
            <p:cNvSpPr txBox="1"/>
            <p:nvPr/>
          </p:nvSpPr>
          <p:spPr bwMode="gray">
            <a:xfrm>
              <a:off x="5626746" y="3695857"/>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50" name="TextBox 120">
              <a:extLst>
                <a:ext uri="{FF2B5EF4-FFF2-40B4-BE49-F238E27FC236}">
                  <a16:creationId xmlns:a16="http://schemas.microsoft.com/office/drawing/2014/main" id="{31930744-3D36-4F81-8426-6F129C1A6804}"/>
                </a:ext>
              </a:extLst>
            </p:cNvPr>
            <p:cNvSpPr txBox="1"/>
            <p:nvPr/>
          </p:nvSpPr>
          <p:spPr bwMode="gray">
            <a:xfrm>
              <a:off x="4515335" y="3692804"/>
              <a:ext cx="111141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cxnSp>
        <p:nvCxnSpPr>
          <p:cNvPr id="51" name="Straight Arrow Connector 50"/>
          <p:cNvCxnSpPr/>
          <p:nvPr/>
        </p:nvCxnSpPr>
        <p:spPr bwMode="gray">
          <a:xfrm>
            <a:off x="4185107" y="5524357"/>
            <a:ext cx="823006"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bwMode="gray">
          <a:xfrm>
            <a:off x="7578301" y="5514250"/>
            <a:ext cx="406412" cy="0"/>
          </a:xfrm>
          <a:prstGeom prst="straightConnector1">
            <a:avLst/>
          </a:prstGeom>
          <a:ln w="28575">
            <a:prstDash val="solid"/>
            <a:tailEnd type="triangle"/>
          </a:ln>
        </p:spPr>
        <p:style>
          <a:lnRef idx="1">
            <a:schemeClr val="accent1"/>
          </a:lnRef>
          <a:fillRef idx="0">
            <a:schemeClr val="accent1"/>
          </a:fillRef>
          <a:effectRef idx="0">
            <a:schemeClr val="accent1"/>
          </a:effectRef>
          <a:fontRef idx="minor">
            <a:schemeClr val="tx1"/>
          </a:fontRef>
        </p:style>
      </p:cxnSp>
      <p:sp>
        <p:nvSpPr>
          <p:cNvPr id="55" name="Rectangular Callout 54"/>
          <p:cNvSpPr/>
          <p:nvPr/>
        </p:nvSpPr>
        <p:spPr bwMode="gray">
          <a:xfrm>
            <a:off x="2533471" y="4775002"/>
            <a:ext cx="1300611" cy="497612"/>
          </a:xfrm>
          <a:prstGeom prst="wedgeRectCallout">
            <a:avLst>
              <a:gd name="adj1" fmla="val 1788"/>
              <a:gd name="adj2" fmla="val 7665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服务器分配的随机目标端口</a:t>
            </a:r>
          </a:p>
        </p:txBody>
      </p:sp>
      <p:sp>
        <p:nvSpPr>
          <p:cNvPr id="56" name="Rectangular Callout 55"/>
          <p:cNvSpPr/>
          <p:nvPr/>
        </p:nvSpPr>
        <p:spPr bwMode="gray">
          <a:xfrm>
            <a:off x="5618339" y="3628405"/>
            <a:ext cx="1223978" cy="461198"/>
          </a:xfrm>
          <a:prstGeom prst="wedgeRectCallout">
            <a:avLst>
              <a:gd name="adj1" fmla="val 99445"/>
              <a:gd name="adj2" fmla="val 1332"/>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开启</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NAT ALG</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58" name="Rectangle 57"/>
          <p:cNvSpPr/>
          <p:nvPr/>
        </p:nvSpPr>
        <p:spPr bwMode="gray">
          <a:xfrm>
            <a:off x="1006099" y="4503197"/>
            <a:ext cx="1371366" cy="385346"/>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管理通道建立，交互</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控制报文</a:t>
            </a:r>
          </a:p>
        </p:txBody>
      </p:sp>
      <p:grpSp>
        <p:nvGrpSpPr>
          <p:cNvPr id="60" name="Group 59"/>
          <p:cNvGrpSpPr/>
          <p:nvPr/>
        </p:nvGrpSpPr>
        <p:grpSpPr bwMode="gray">
          <a:xfrm>
            <a:off x="8019904" y="5348050"/>
            <a:ext cx="2476686" cy="293705"/>
            <a:chOff x="3714884" y="3689867"/>
            <a:chExt cx="2476686" cy="293705"/>
          </a:xfrm>
        </p:grpSpPr>
        <p:sp>
          <p:nvSpPr>
            <p:cNvPr id="61" name="TextBox 120">
              <a:extLst>
                <a:ext uri="{FF2B5EF4-FFF2-40B4-BE49-F238E27FC236}">
                  <a16:creationId xmlns:a16="http://schemas.microsoft.com/office/drawing/2014/main" id="{31930744-3D36-4F81-8426-6F129C1A6804}"/>
                </a:ext>
              </a:extLst>
            </p:cNvPr>
            <p:cNvSpPr txBox="1"/>
            <p:nvPr/>
          </p:nvSpPr>
          <p:spPr bwMode="gray">
            <a:xfrm>
              <a:off x="3714884"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a:t>
              </a:r>
              <a:r>
                <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IP4</a:t>
              </a:r>
            </a:p>
          </p:txBody>
        </p:sp>
        <p:sp>
          <p:nvSpPr>
            <p:cNvPr id="62" name="TextBox 120">
              <a:extLst>
                <a:ext uri="{FF2B5EF4-FFF2-40B4-BE49-F238E27FC236}">
                  <a16:creationId xmlns:a16="http://schemas.microsoft.com/office/drawing/2014/main" id="{31930744-3D36-4F81-8426-6F129C1A6804}"/>
                </a:ext>
              </a:extLst>
            </p:cNvPr>
            <p:cNvSpPr txBox="1"/>
            <p:nvPr/>
          </p:nvSpPr>
          <p:spPr bwMode="gray">
            <a:xfrm>
              <a:off x="5626746" y="3695857"/>
              <a:ext cx="564824"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Data</a:t>
              </a:r>
            </a:p>
          </p:txBody>
        </p:sp>
        <p:sp>
          <p:nvSpPr>
            <p:cNvPr id="63" name="TextBox 120">
              <a:extLst>
                <a:ext uri="{FF2B5EF4-FFF2-40B4-BE49-F238E27FC236}">
                  <a16:creationId xmlns:a16="http://schemas.microsoft.com/office/drawing/2014/main" id="{31930744-3D36-4F81-8426-6F129C1A6804}"/>
                </a:ext>
              </a:extLst>
            </p:cNvPr>
            <p:cNvSpPr txBox="1"/>
            <p:nvPr/>
          </p:nvSpPr>
          <p:spPr bwMode="gray">
            <a:xfrm>
              <a:off x="4515335" y="3692804"/>
              <a:ext cx="1111411" cy="287715"/>
            </a:xfrm>
            <a:prstGeom prst="roundRect">
              <a:avLst>
                <a:gd name="adj" fmla="val 6721"/>
              </a:avLst>
            </a:prstGeom>
            <a:solidFill>
              <a:srgbClr val="92D050"/>
            </a:solidFill>
            <a:ln w="12700">
              <a:solidFill>
                <a:srgbClr val="92D05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rgbClr val="C7000B"/>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1025</a:t>
              </a:r>
            </a:p>
          </p:txBody>
        </p:sp>
      </p:grpSp>
      <p:cxnSp>
        <p:nvCxnSpPr>
          <p:cNvPr id="64" name="Straight Arrow Connector 63"/>
          <p:cNvCxnSpPr/>
          <p:nvPr/>
        </p:nvCxnSpPr>
        <p:spPr bwMode="gray">
          <a:xfrm flipH="1">
            <a:off x="2295651" y="5960455"/>
            <a:ext cx="7659897" cy="0"/>
          </a:xfrm>
          <a:prstGeom prst="straightConnector1">
            <a:avLst/>
          </a:prstGeom>
          <a:ln w="28575">
            <a:solidFill>
              <a:srgbClr val="FFC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bwMode="gray">
          <a:xfrm>
            <a:off x="1125370" y="5776951"/>
            <a:ext cx="1170281" cy="31872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数据通道建立</a:t>
            </a:r>
          </a:p>
        </p:txBody>
      </p:sp>
      <p:sp>
        <p:nvSpPr>
          <p:cNvPr id="67" name="Rectangle 66"/>
          <p:cNvSpPr/>
          <p:nvPr/>
        </p:nvSpPr>
        <p:spPr bwMode="gray">
          <a:xfrm>
            <a:off x="9955548" y="5776951"/>
            <a:ext cx="1170281" cy="31872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数据通道建立</a:t>
            </a:r>
          </a:p>
        </p:txBody>
      </p:sp>
      <p:grpSp>
        <p:nvGrpSpPr>
          <p:cNvPr id="68" name="Group 67"/>
          <p:cNvGrpSpPr/>
          <p:nvPr/>
        </p:nvGrpSpPr>
        <p:grpSpPr bwMode="gray">
          <a:xfrm>
            <a:off x="9159530" y="4914061"/>
            <a:ext cx="1966299" cy="292765"/>
            <a:chOff x="3926787" y="3684817"/>
            <a:chExt cx="1966299" cy="292765"/>
          </a:xfrm>
        </p:grpSpPr>
        <p:sp>
          <p:nvSpPr>
            <p:cNvPr id="69" name="TextBox 120">
              <a:extLst>
                <a:ext uri="{FF2B5EF4-FFF2-40B4-BE49-F238E27FC236}">
                  <a16:creationId xmlns:a16="http://schemas.microsoft.com/office/drawing/2014/main" id="{31930744-3D36-4F81-8426-6F129C1A6804}"/>
                </a:ext>
              </a:extLst>
            </p:cNvPr>
            <p:cNvSpPr txBox="1"/>
            <p:nvPr/>
          </p:nvSpPr>
          <p:spPr bwMode="gray">
            <a:xfrm>
              <a:off x="3926787" y="3689867"/>
              <a:ext cx="799859" cy="287715"/>
            </a:xfrm>
            <a:prstGeom prst="roundRect">
              <a:avLst>
                <a:gd name="adj" fmla="val 6721"/>
              </a:avLst>
            </a:prstGeom>
            <a:solidFill>
              <a:srgbClr val="5B9BD5"/>
            </a:solidFill>
            <a:ln w="12700">
              <a:solidFill>
                <a:schemeClr val="accent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头部</a:t>
              </a:r>
              <a:endParaRPr lang="en-US" altLang="zh-CN" sz="1200" kern="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TextBox 120">
              <a:extLst>
                <a:ext uri="{FF2B5EF4-FFF2-40B4-BE49-F238E27FC236}">
                  <a16:creationId xmlns:a16="http://schemas.microsoft.com/office/drawing/2014/main" id="{31930744-3D36-4F81-8426-6F129C1A6804}"/>
                </a:ext>
              </a:extLst>
            </p:cNvPr>
            <p:cNvSpPr txBox="1"/>
            <p:nvPr/>
          </p:nvSpPr>
          <p:spPr bwMode="gray">
            <a:xfrm>
              <a:off x="4740958" y="3684817"/>
              <a:ext cx="1152128" cy="287715"/>
            </a:xfrm>
            <a:prstGeom prst="roundRect">
              <a:avLst>
                <a:gd name="adj" fmla="val 6721"/>
              </a:avLst>
            </a:prstGeom>
            <a:solidFill>
              <a:srgbClr val="FFC000"/>
            </a:solidFill>
            <a:ln w="12700">
              <a:solidFill>
                <a:srgbClr val="FFC000"/>
              </a:solidFill>
            </a:ln>
          </p:spPr>
          <p:txBody>
            <a:bodyPr wrap="square"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FTP</a:t>
              </a:r>
              <a:r>
                <a:rPr kumimoji="0" lang="zh-CN" altLang="en-US"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控制报文</a:t>
              </a:r>
              <a:endParaRPr kumimoji="0" lang="en-US" altLang="zh-CN" sz="1200" b="0" i="0" u="none" strike="noStrike" kern="0" cap="none" spc="0" normalizeH="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71" name="组合 54">
            <a:extLst>
              <a:ext uri="{FF2B5EF4-FFF2-40B4-BE49-F238E27FC236}">
                <a16:creationId xmlns:a16="http://schemas.microsoft.com/office/drawing/2014/main" id="{C78F7449-B018-4436-BE3B-CB1CCBA24023}"/>
              </a:ext>
            </a:extLst>
          </p:cNvPr>
          <p:cNvGrpSpPr/>
          <p:nvPr/>
        </p:nvGrpSpPr>
        <p:grpSpPr bwMode="gray">
          <a:xfrm>
            <a:off x="6863697" y="2424613"/>
            <a:ext cx="3292513" cy="1122051"/>
            <a:chOff x="4636703" y="2148756"/>
            <a:chExt cx="1822935" cy="889647"/>
          </a:xfrm>
          <a:solidFill>
            <a:schemeClr val="bg1"/>
          </a:solidFill>
        </p:grpSpPr>
        <p:sp>
          <p:nvSpPr>
            <p:cNvPr id="73" name="TextBox 77">
              <a:extLst>
                <a:ext uri="{FF2B5EF4-FFF2-40B4-BE49-F238E27FC236}">
                  <a16:creationId xmlns:a16="http://schemas.microsoft.com/office/drawing/2014/main" id="{536192D0-39C5-4E86-8A10-F33663D27C5F}"/>
                </a:ext>
              </a:extLst>
            </p:cNvPr>
            <p:cNvSpPr txBox="1"/>
            <p:nvPr/>
          </p:nvSpPr>
          <p:spPr bwMode="gray">
            <a:xfrm>
              <a:off x="4636703" y="2148756"/>
              <a:ext cx="1822935" cy="889647"/>
            </a:xfrm>
            <a:prstGeom prst="rect">
              <a:avLst/>
            </a:prstGeom>
            <a:grp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lgn="l">
                <a:spcBef>
                  <a:spcPts val="200"/>
                </a:spcBef>
              </a:pPr>
              <a:endParaRPr lang="en-US" altLang="zh-CN" sz="1200" dirty="0">
                <a:sym typeface="Huawei Sans" panose="020C0503030203020204" pitchFamily="34" charset="0"/>
              </a:endParaRPr>
            </a:p>
          </p:txBody>
        </p:sp>
        <p:sp>
          <p:nvSpPr>
            <p:cNvPr id="74" name="矩形 56">
              <a:extLst>
                <a:ext uri="{FF2B5EF4-FFF2-40B4-BE49-F238E27FC236}">
                  <a16:creationId xmlns:a16="http://schemas.microsoft.com/office/drawing/2014/main" id="{E1F09A08-4564-4633-9398-A5BE65DBE6D9}"/>
                </a:ext>
              </a:extLst>
            </p:cNvPr>
            <p:cNvSpPr/>
            <p:nvPr/>
          </p:nvSpPr>
          <p:spPr bwMode="gray">
            <a:xfrm>
              <a:off x="4684807" y="2165234"/>
              <a:ext cx="1730260" cy="274257"/>
            </a:xfrm>
            <a:prstGeom prst="rect">
              <a:avLst/>
            </a:prstGeom>
            <a:grpFill/>
          </p:spPr>
          <p:txBody>
            <a:bodyPr wrap="square">
              <a:spAutoFit/>
            </a:bodyPr>
            <a:lstStyle/>
            <a:p>
              <a:pPr marL="35986" algn="ctr" fontAlgn="auto">
                <a:spcBef>
                  <a:spcPts val="200"/>
                </a:spcBef>
              </a:pPr>
              <a:r>
                <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NAT </a:t>
              </a:r>
              <a:r>
                <a:rPr lang="zh-CN" altLang="en-US"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映射表</a:t>
              </a:r>
              <a:endParaRPr lang="en-US" altLang="zh-CN" sz="12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aphicFrame>
        <p:nvGraphicFramePr>
          <p:cNvPr id="75" name="表格 31">
            <a:extLst>
              <a:ext uri="{FF2B5EF4-FFF2-40B4-BE49-F238E27FC236}">
                <a16:creationId xmlns:a16="http://schemas.microsoft.com/office/drawing/2014/main" id="{05DC45B9-BF89-4053-A857-EAA339BAD551}"/>
              </a:ext>
            </a:extLst>
          </p:cNvPr>
          <p:cNvGraphicFramePr>
            <a:graphicFrameLocks noGrp="1"/>
          </p:cNvGraphicFramePr>
          <p:nvPr>
            <p:extLst>
              <p:ext uri="{D42A27DB-BD31-4B8C-83A1-F6EECF244321}">
                <p14:modId xmlns:p14="http://schemas.microsoft.com/office/powerpoint/2010/main" val="2316197682"/>
              </p:ext>
            </p:extLst>
          </p:nvPr>
        </p:nvGraphicFramePr>
        <p:xfrm>
          <a:off x="6947389" y="2673397"/>
          <a:ext cx="3125128" cy="822852"/>
        </p:xfrm>
        <a:graphic>
          <a:graphicData uri="http://schemas.openxmlformats.org/drawingml/2006/table">
            <a:tbl>
              <a:tblPr firstRow="1" bandRow="1"/>
              <a:tblGrid>
                <a:gridCol w="498696">
                  <a:extLst>
                    <a:ext uri="{9D8B030D-6E8A-4147-A177-3AD203B41FA5}">
                      <a16:colId xmlns:a16="http://schemas.microsoft.com/office/drawing/2014/main" val="20000"/>
                    </a:ext>
                  </a:extLst>
                </a:gridCol>
                <a:gridCol w="1325616">
                  <a:extLst>
                    <a:ext uri="{9D8B030D-6E8A-4147-A177-3AD203B41FA5}">
                      <a16:colId xmlns:a16="http://schemas.microsoft.com/office/drawing/2014/main" val="20001"/>
                    </a:ext>
                  </a:extLst>
                </a:gridCol>
                <a:gridCol w="1300816">
                  <a:extLst>
                    <a:ext uri="{9D8B030D-6E8A-4147-A177-3AD203B41FA5}">
                      <a16:colId xmlns:a16="http://schemas.microsoft.com/office/drawing/2014/main" val="20002"/>
                    </a:ext>
                  </a:extLst>
                </a:gridCol>
              </a:tblGrid>
              <a:tr h="274213">
                <a:tc>
                  <a:txBody>
                    <a:bodyPr/>
                    <a:lstStyle/>
                    <a:p>
                      <a:pPr marL="0" algn="ctr" defTabSz="914034" rtl="0" eaLnBrk="1" latinLnBrk="0" hangingPunct="1"/>
                      <a:endPar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源</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 4:21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 3:21</a:t>
                      </a:r>
                      <a:endParaRPr lang="zh-CN" altLang="en-US" sz="1200" b="0" kern="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目的</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 4:1025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 3:1025</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1511753"/>
                  </a:ext>
                </a:extLst>
              </a:tr>
            </a:tbl>
          </a:graphicData>
        </a:graphic>
      </p:graphicFrame>
      <p:sp>
        <p:nvSpPr>
          <p:cNvPr id="38" name="Rectangular Callout 37"/>
          <p:cNvSpPr/>
          <p:nvPr/>
        </p:nvSpPr>
        <p:spPr bwMode="gray">
          <a:xfrm>
            <a:off x="9955896" y="3443709"/>
            <a:ext cx="1267914" cy="689735"/>
          </a:xfrm>
          <a:prstGeom prst="wedgeRectCallout">
            <a:avLst>
              <a:gd name="adj1" fmla="val 5180"/>
              <a:gd name="adj2" fmla="val 97207"/>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管理通道建立，告知客户端数据通道所用端口</a:t>
            </a:r>
          </a:p>
        </p:txBody>
      </p:sp>
      <p:sp>
        <p:nvSpPr>
          <p:cNvPr id="57" name="Rectangular Callout 56"/>
          <p:cNvSpPr/>
          <p:nvPr/>
        </p:nvSpPr>
        <p:spPr bwMode="gray">
          <a:xfrm>
            <a:off x="5066625" y="2532300"/>
            <a:ext cx="1683421" cy="764106"/>
          </a:xfrm>
          <a:prstGeom prst="wedgeRectCallout">
            <a:avLst>
              <a:gd name="adj1" fmla="val 68764"/>
              <a:gd name="adj2" fmla="val 50929"/>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NAT ALG</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读取</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控制报文，得知</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FTP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数据通道目标端口为</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1025</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，生成</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映射表</a:t>
            </a:r>
          </a:p>
        </p:txBody>
      </p:sp>
    </p:spTree>
    <p:extLst>
      <p:ext uri="{BB962C8B-B14F-4D97-AF65-F5344CB8AC3E}">
        <p14:creationId xmlns:p14="http://schemas.microsoft.com/office/powerpoint/2010/main" val="17951191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NAT ALG</a:t>
            </a:r>
            <a:r>
              <a:rPr lang="zh-CN" altLang="en-US" dirty="0"/>
              <a:t>的缺陷</a:t>
            </a:r>
          </a:p>
        </p:txBody>
      </p:sp>
      <p:sp>
        <p:nvSpPr>
          <p:cNvPr id="3" name="Text Placeholder 2"/>
          <p:cNvSpPr>
            <a:spLocks noGrp="1"/>
          </p:cNvSpPr>
          <p:nvPr>
            <p:ph type="body" sz="quarter" idx="10"/>
          </p:nvPr>
        </p:nvSpPr>
        <p:spPr bwMode="gray"/>
        <p:txBody>
          <a:bodyPr/>
          <a:lstStyle/>
          <a:p>
            <a:r>
              <a:rPr lang="zh-CN" altLang="en-US" dirty="0"/>
              <a:t>由于</a:t>
            </a:r>
            <a:r>
              <a:rPr lang="en-US" altLang="zh-CN" dirty="0"/>
              <a:t>NAT ALG</a:t>
            </a:r>
            <a:r>
              <a:rPr lang="zh-CN" altLang="en-US" dirty="0"/>
              <a:t>需要读取协议报文内容，对于新协议需要升级</a:t>
            </a:r>
            <a:r>
              <a:rPr lang="en-US" altLang="zh-CN" dirty="0"/>
              <a:t>NAT ALG</a:t>
            </a:r>
            <a:r>
              <a:rPr lang="zh-CN" altLang="en-US" dirty="0"/>
              <a:t>特性，</a:t>
            </a:r>
            <a:r>
              <a:rPr lang="en-US" altLang="zh-CN" dirty="0"/>
              <a:t>NAT ALG</a:t>
            </a:r>
            <a:r>
              <a:rPr lang="zh-CN" altLang="en-US" dirty="0"/>
              <a:t>基本不支持私有多通道协议。</a:t>
            </a:r>
            <a:endParaRPr lang="en-US" altLang="zh-CN" dirty="0"/>
          </a:p>
          <a:p>
            <a:r>
              <a:rPr lang="zh-CN" altLang="en-US" dirty="0"/>
              <a:t>现网有大量设备不支持</a:t>
            </a:r>
            <a:r>
              <a:rPr lang="en-US" altLang="zh-CN" dirty="0"/>
              <a:t>NAT ALG</a:t>
            </a:r>
            <a:r>
              <a:rPr lang="zh-CN" altLang="en-US" dirty="0"/>
              <a:t>功能，导致部署成本比较高。</a:t>
            </a:r>
            <a:endParaRPr lang="en-US" altLang="zh-CN" dirty="0"/>
          </a:p>
          <a:p>
            <a:r>
              <a:rPr lang="en-US" altLang="zh-CN" dirty="0"/>
              <a:t>NAT ALG</a:t>
            </a:r>
            <a:r>
              <a:rPr lang="zh-CN" altLang="en-US" dirty="0"/>
              <a:t>主要解决多通道协议在</a:t>
            </a:r>
            <a:r>
              <a:rPr lang="en-US" altLang="zh-CN" dirty="0"/>
              <a:t>NAT Server</a:t>
            </a:r>
            <a:r>
              <a:rPr lang="zh-CN" altLang="en-US" dirty="0"/>
              <a:t>场景下的问题，对于私网主机互通无法很好支持。</a:t>
            </a:r>
          </a:p>
        </p:txBody>
      </p:sp>
    </p:spTree>
    <p:extLst>
      <p:ext uri="{BB962C8B-B14F-4D97-AF65-F5344CB8AC3E}">
        <p14:creationId xmlns:p14="http://schemas.microsoft.com/office/powerpoint/2010/main" val="26426973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STUN</a:t>
            </a:r>
            <a:r>
              <a:rPr lang="zh-CN" altLang="en-US" dirty="0"/>
              <a:t>简介</a:t>
            </a:r>
          </a:p>
        </p:txBody>
      </p:sp>
      <p:sp>
        <p:nvSpPr>
          <p:cNvPr id="3" name="Text Placeholder 2"/>
          <p:cNvSpPr>
            <a:spLocks noGrp="1"/>
          </p:cNvSpPr>
          <p:nvPr>
            <p:ph type="body" sz="quarter" idx="10"/>
          </p:nvPr>
        </p:nvSpPr>
        <p:spPr bwMode="gray"/>
        <p:txBody>
          <a:bodyPr/>
          <a:lstStyle/>
          <a:p>
            <a:r>
              <a:rPr lang="en-US" altLang="zh-CN" sz="1800" dirty="0"/>
              <a:t>NAT</a:t>
            </a:r>
            <a:r>
              <a:rPr lang="zh-CN" altLang="en-US" sz="1800" dirty="0"/>
              <a:t>穿越技术除了使用</a:t>
            </a:r>
            <a:r>
              <a:rPr lang="en-US" altLang="zh-CN" sz="1800" dirty="0"/>
              <a:t>NAT ALG</a:t>
            </a:r>
            <a:r>
              <a:rPr lang="zh-CN" altLang="en-US" sz="1800" dirty="0"/>
              <a:t>之外，还有一种思路是利用</a:t>
            </a:r>
            <a:r>
              <a:rPr lang="en-US" altLang="zh-CN" sz="1800" dirty="0"/>
              <a:t>Cone NAT</a:t>
            </a:r>
            <a:r>
              <a:rPr lang="zh-CN" altLang="en-US" sz="1800" dirty="0"/>
              <a:t>的特性，通过事先建立</a:t>
            </a:r>
            <a:r>
              <a:rPr lang="en-US" altLang="zh-CN" sz="1800" dirty="0"/>
              <a:t>NAT</a:t>
            </a:r>
            <a:r>
              <a:rPr lang="zh-CN" altLang="en-US" sz="1800" dirty="0"/>
              <a:t>映射表项在</a:t>
            </a:r>
            <a:r>
              <a:rPr lang="en-US" altLang="zh-CN" sz="1800" dirty="0"/>
              <a:t>NAT</a:t>
            </a:r>
            <a:r>
              <a:rPr lang="zh-CN" altLang="en-US" sz="1800" dirty="0"/>
              <a:t>设备上“打洞”，通过</a:t>
            </a:r>
            <a:r>
              <a:rPr lang="en-US" altLang="zh-CN" sz="1800" dirty="0"/>
              <a:t>NAT</a:t>
            </a:r>
            <a:r>
              <a:rPr lang="zh-CN" altLang="en-US" sz="1800" dirty="0"/>
              <a:t>映射表项在私网之间建立连接。</a:t>
            </a:r>
            <a:endParaRPr lang="en-US" altLang="zh-CN" sz="1800" dirty="0"/>
          </a:p>
          <a:p>
            <a:r>
              <a:rPr lang="en-US" altLang="zh-CN" sz="1800" dirty="0"/>
              <a:t>STUN</a:t>
            </a:r>
            <a:r>
              <a:rPr lang="zh-CN" altLang="en-US" sz="1800" dirty="0"/>
              <a:t>（</a:t>
            </a:r>
            <a:r>
              <a:rPr lang="en-US" altLang="zh-CN" sz="1800" dirty="0"/>
              <a:t>Session Traversal Utilities for NAT</a:t>
            </a:r>
            <a:r>
              <a:rPr lang="zh-CN" altLang="en-US" sz="1800" dirty="0"/>
              <a:t>）的主要作用是获取</a:t>
            </a:r>
            <a:r>
              <a:rPr lang="en-US" altLang="zh-CN" sz="1800" dirty="0"/>
              <a:t>NAT</a:t>
            </a:r>
            <a:r>
              <a:rPr lang="zh-CN" altLang="en-US" sz="1800" dirty="0"/>
              <a:t>设备上的“打洞信息”（即私网</a:t>
            </a:r>
            <a:r>
              <a:rPr lang="en-US" altLang="zh-CN" sz="1800" dirty="0"/>
              <a:t>IP+</a:t>
            </a:r>
            <a:r>
              <a:rPr lang="zh-CN" altLang="en-US" sz="1800" dirty="0"/>
              <a:t>端口与</a:t>
            </a:r>
            <a:r>
              <a:rPr lang="en-US" altLang="zh-CN" sz="1800" dirty="0"/>
              <a:t>NAT</a:t>
            </a:r>
            <a:r>
              <a:rPr lang="zh-CN" altLang="en-US" sz="1800" dirty="0"/>
              <a:t>后的公网</a:t>
            </a:r>
            <a:r>
              <a:rPr lang="en-US" altLang="zh-CN" sz="1800" dirty="0"/>
              <a:t>IP+</a:t>
            </a:r>
            <a:r>
              <a:rPr lang="zh-CN" altLang="en-US" sz="1800" dirty="0"/>
              <a:t>端口的映射关系），</a:t>
            </a:r>
            <a:r>
              <a:rPr lang="en-US" altLang="zh-CN" sz="1800" dirty="0"/>
              <a:t>NAT</a:t>
            </a:r>
            <a:r>
              <a:rPr lang="zh-CN" altLang="en-US" sz="1800" dirty="0"/>
              <a:t>穿越的数据通道需要使用其他方式建立。</a:t>
            </a:r>
          </a:p>
        </p:txBody>
      </p:sp>
      <p:sp>
        <p:nvSpPr>
          <p:cNvPr id="4" name="圆角矩形 75"/>
          <p:cNvSpPr/>
          <p:nvPr/>
        </p:nvSpPr>
        <p:spPr bwMode="gray">
          <a:xfrm>
            <a:off x="827388" y="3586548"/>
            <a:ext cx="10450534" cy="256034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5" name="圆角矩形 75"/>
          <p:cNvSpPr/>
          <p:nvPr/>
        </p:nvSpPr>
        <p:spPr bwMode="gray">
          <a:xfrm>
            <a:off x="803412" y="3158350"/>
            <a:ext cx="1047772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穿越</a:t>
            </a:r>
          </a:p>
        </p:txBody>
      </p:sp>
      <p:sp>
        <p:nvSpPr>
          <p:cNvPr id="20" name="Freeform 159"/>
          <p:cNvSpPr/>
          <p:nvPr/>
        </p:nvSpPr>
        <p:spPr bwMode="gray">
          <a:xfrm flipH="1">
            <a:off x="8156353" y="4470588"/>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21" name="Freeform 159"/>
          <p:cNvSpPr/>
          <p:nvPr/>
        </p:nvSpPr>
        <p:spPr bwMode="gray">
          <a:xfrm flipH="1">
            <a:off x="2192135" y="4474087"/>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pic>
        <p:nvPicPr>
          <p:cNvPr id="2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3824576" y="4877110"/>
            <a:ext cx="540989" cy="442626"/>
          </a:xfrm>
          <a:prstGeom prst="rect">
            <a:avLst/>
          </a:prstGeom>
          <a:noFill/>
        </p:spPr>
      </p:pic>
      <p:pic>
        <p:nvPicPr>
          <p:cNvPr id="2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7679919" y="4872390"/>
            <a:ext cx="540989" cy="442626"/>
          </a:xfrm>
          <a:prstGeom prst="rect">
            <a:avLst/>
          </a:prstGeom>
          <a:noFill/>
        </p:spPr>
      </p:pic>
      <p:sp>
        <p:nvSpPr>
          <p:cNvPr id="24" name="Freeform 159"/>
          <p:cNvSpPr/>
          <p:nvPr/>
        </p:nvSpPr>
        <p:spPr bwMode="gray">
          <a:xfrm flipH="1">
            <a:off x="5188571" y="4482952"/>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pic>
        <p:nvPicPr>
          <p:cNvPr id="25" name="图片 73" descr="PC.png"/>
          <p:cNvPicPr>
            <a:picLocks noChangeAspect="1"/>
          </p:cNvPicPr>
          <p:nvPr/>
        </p:nvPicPr>
        <p:blipFill>
          <a:blip r:embed="rId4" cstate="print"/>
          <a:stretch>
            <a:fillRect/>
          </a:stretch>
        </p:blipFill>
        <p:spPr bwMode="gray">
          <a:xfrm>
            <a:off x="2154822" y="4889970"/>
            <a:ext cx="539063" cy="414000"/>
          </a:xfrm>
          <a:prstGeom prst="rect">
            <a:avLst/>
          </a:prstGeom>
        </p:spPr>
      </p:pic>
      <p:pic>
        <p:nvPicPr>
          <p:cNvPr id="26" name="图片 73" descr="PC.png"/>
          <p:cNvPicPr>
            <a:picLocks noChangeAspect="1"/>
          </p:cNvPicPr>
          <p:nvPr/>
        </p:nvPicPr>
        <p:blipFill>
          <a:blip r:embed="rId4" cstate="print"/>
          <a:stretch>
            <a:fillRect/>
          </a:stretch>
        </p:blipFill>
        <p:spPr bwMode="gray">
          <a:xfrm>
            <a:off x="9351599" y="4886406"/>
            <a:ext cx="539063" cy="414000"/>
          </a:xfrm>
          <a:prstGeom prst="rect">
            <a:avLst/>
          </a:prstGeom>
        </p:spPr>
      </p:pic>
      <p:cxnSp>
        <p:nvCxnSpPr>
          <p:cNvPr id="27" name="直接连接符 12"/>
          <p:cNvCxnSpPr>
            <a:stCxn id="24" idx="21"/>
            <a:endCxn id="22" idx="3"/>
          </p:cNvCxnSpPr>
          <p:nvPr/>
        </p:nvCxnSpPr>
        <p:spPr bwMode="gray">
          <a:xfrm flipH="1" flipV="1">
            <a:off x="4365565" y="5098423"/>
            <a:ext cx="823006" cy="1026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8" name="直接连接符 12"/>
          <p:cNvCxnSpPr>
            <a:stCxn id="23" idx="1"/>
            <a:endCxn id="24" idx="8"/>
          </p:cNvCxnSpPr>
          <p:nvPr/>
        </p:nvCxnSpPr>
        <p:spPr bwMode="gray">
          <a:xfrm flipH="1" flipV="1">
            <a:off x="6895976" y="5092443"/>
            <a:ext cx="783943" cy="126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9" name="直接连接符 12"/>
          <p:cNvCxnSpPr>
            <a:stCxn id="22" idx="1"/>
            <a:endCxn id="25" idx="3"/>
          </p:cNvCxnSpPr>
          <p:nvPr/>
        </p:nvCxnSpPr>
        <p:spPr bwMode="gray">
          <a:xfrm flipH="1" flipV="1">
            <a:off x="2693885" y="5096970"/>
            <a:ext cx="1130691" cy="1453"/>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0" name="直接连接符 12"/>
          <p:cNvCxnSpPr>
            <a:stCxn id="26" idx="1"/>
            <a:endCxn id="23" idx="3"/>
          </p:cNvCxnSpPr>
          <p:nvPr/>
        </p:nvCxnSpPr>
        <p:spPr bwMode="gray">
          <a:xfrm flipH="1">
            <a:off x="8220908" y="5093406"/>
            <a:ext cx="1130691" cy="297"/>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2" name="矩形 26"/>
          <p:cNvSpPr/>
          <p:nvPr/>
        </p:nvSpPr>
        <p:spPr bwMode="gray">
          <a:xfrm>
            <a:off x="3690828" y="5355865"/>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33" name="矩形 26"/>
          <p:cNvSpPr/>
          <p:nvPr/>
        </p:nvSpPr>
        <p:spPr bwMode="gray">
          <a:xfrm>
            <a:off x="7551906" y="5355865"/>
            <a:ext cx="797013"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36" name="矩形 26"/>
          <p:cNvSpPr/>
          <p:nvPr/>
        </p:nvSpPr>
        <p:spPr bwMode="gray">
          <a:xfrm>
            <a:off x="2623129" y="5048378"/>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IP1</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7" name="矩形 26"/>
          <p:cNvSpPr/>
          <p:nvPr/>
        </p:nvSpPr>
        <p:spPr bwMode="gray">
          <a:xfrm>
            <a:off x="4308290" y="4854926"/>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IP2</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8" name="矩形 26"/>
          <p:cNvSpPr/>
          <p:nvPr/>
        </p:nvSpPr>
        <p:spPr bwMode="gray">
          <a:xfrm>
            <a:off x="7189742" y="4837380"/>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IP3</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Port3</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26"/>
          <p:cNvSpPr/>
          <p:nvPr/>
        </p:nvSpPr>
        <p:spPr bwMode="gray">
          <a:xfrm>
            <a:off x="8881805" y="5048378"/>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IP4</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Port4</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Freeform 40"/>
          <p:cNvSpPr/>
          <p:nvPr/>
        </p:nvSpPr>
        <p:spPr bwMode="gray">
          <a:xfrm>
            <a:off x="2710901" y="4318201"/>
            <a:ext cx="6604987" cy="690317"/>
          </a:xfrm>
          <a:custGeom>
            <a:avLst/>
            <a:gdLst>
              <a:gd name="connsiteX0" fmla="*/ 0 w 6604987"/>
              <a:gd name="connsiteY0" fmla="*/ 204253 h 204253"/>
              <a:gd name="connsiteX1" fmla="*/ 3036164 w 6604987"/>
              <a:gd name="connsiteY1" fmla="*/ 67 h 204253"/>
              <a:gd name="connsiteX2" fmla="*/ 6604987 w 6604987"/>
              <a:gd name="connsiteY2" fmla="*/ 186498 h 204253"/>
            </a:gdLst>
            <a:ahLst/>
            <a:cxnLst>
              <a:cxn ang="0">
                <a:pos x="connsiteX0" y="connsiteY0"/>
              </a:cxn>
              <a:cxn ang="0">
                <a:pos x="connsiteX1" y="connsiteY1"/>
              </a:cxn>
              <a:cxn ang="0">
                <a:pos x="connsiteX2" y="connsiteY2"/>
              </a:cxn>
            </a:cxnLst>
            <a:rect l="l" t="t" r="r" b="b"/>
            <a:pathLst>
              <a:path w="6604987" h="204253">
                <a:moveTo>
                  <a:pt x="0" y="204253"/>
                </a:moveTo>
                <a:cubicBezTo>
                  <a:pt x="967666" y="103639"/>
                  <a:pt x="1935333" y="3026"/>
                  <a:pt x="3036164" y="67"/>
                </a:cubicBezTo>
                <a:cubicBezTo>
                  <a:pt x="4136995" y="-2892"/>
                  <a:pt x="5370991" y="91803"/>
                  <a:pt x="6604987" y="186498"/>
                </a:cubicBezTo>
              </a:path>
            </a:pathLst>
          </a:custGeom>
          <a:noFill/>
          <a:ln w="28575">
            <a:solidFill>
              <a:srgbClr val="FFC000"/>
            </a:solidFill>
            <a:prstDash val="dash"/>
            <a:headEnd type="triangl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77"/>
          <p:cNvSpPr txBox="1"/>
          <p:nvPr/>
        </p:nvSpPr>
        <p:spPr bwMode="gray">
          <a:xfrm>
            <a:off x="2549886" y="3850030"/>
            <a:ext cx="2954043" cy="918758"/>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映射表</a:t>
            </a:r>
            <a:endParaRPr lang="en-US" altLang="zh-CN" sz="1200" dirty="0">
              <a:solidFill>
                <a:prstClr val="black"/>
              </a:solidFill>
              <a:sym typeface="Huawei Sans" panose="020C0503030203020204" pitchFamily="34" charset="0"/>
            </a:endParaRPr>
          </a:p>
          <a:p>
            <a:pPr marL="35986" algn="l">
              <a:spcBef>
                <a:spcPts val="200"/>
              </a:spcBef>
            </a:pPr>
            <a:endParaRPr lang="en-US" altLang="zh-CN" sz="1200" dirty="0">
              <a:sym typeface="Huawei Sans" panose="020C0503030203020204" pitchFamily="34" charset="0"/>
            </a:endParaRPr>
          </a:p>
        </p:txBody>
      </p:sp>
      <p:sp>
        <p:nvSpPr>
          <p:cNvPr id="34" name="TextBox 77"/>
          <p:cNvSpPr txBox="1"/>
          <p:nvPr/>
        </p:nvSpPr>
        <p:spPr bwMode="gray">
          <a:xfrm>
            <a:off x="6594357" y="3850030"/>
            <a:ext cx="2954043" cy="918758"/>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映射表</a:t>
            </a:r>
            <a:endParaRPr lang="en-US" altLang="zh-CN" sz="1200" dirty="0">
              <a:solidFill>
                <a:prstClr val="black"/>
              </a:solidFill>
              <a:sym typeface="Huawei Sans" panose="020C0503030203020204" pitchFamily="34" charset="0"/>
            </a:endParaRPr>
          </a:p>
          <a:p>
            <a:pPr marL="35986" algn="l">
              <a:spcBef>
                <a:spcPts val="200"/>
              </a:spcBef>
            </a:pPr>
            <a:endParaRPr lang="en-US" altLang="zh-CN" sz="1200" dirty="0">
              <a:sym typeface="Huawei Sans" panose="020C0503030203020204" pitchFamily="34" charset="0"/>
            </a:endParaRPr>
          </a:p>
        </p:txBody>
      </p:sp>
      <p:graphicFrame>
        <p:nvGraphicFramePr>
          <p:cNvPr id="19" name="表格 27"/>
          <p:cNvGraphicFramePr>
            <a:graphicFrameLocks noGrp="1"/>
          </p:cNvGraphicFramePr>
          <p:nvPr>
            <p:extLst>
              <p:ext uri="{D42A27DB-BD31-4B8C-83A1-F6EECF244321}">
                <p14:modId xmlns:p14="http://schemas.microsoft.com/office/powerpoint/2010/main" val="1897688613"/>
              </p:ext>
            </p:extLst>
          </p:nvPr>
        </p:nvGraphicFramePr>
        <p:xfrm>
          <a:off x="2669651" y="4106586"/>
          <a:ext cx="2619172" cy="548568"/>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IP1:Port1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IP2:Port2</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5" name="表格 27"/>
          <p:cNvGraphicFramePr>
            <a:graphicFrameLocks noGrp="1"/>
          </p:cNvGraphicFramePr>
          <p:nvPr>
            <p:extLst>
              <p:ext uri="{D42A27DB-BD31-4B8C-83A1-F6EECF244321}">
                <p14:modId xmlns:p14="http://schemas.microsoft.com/office/powerpoint/2010/main" val="1990226148"/>
              </p:ext>
            </p:extLst>
          </p:nvPr>
        </p:nvGraphicFramePr>
        <p:xfrm>
          <a:off x="6714122" y="4106586"/>
          <a:ext cx="2619172" cy="548568"/>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IP4:Port4</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IP3:Port3</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3559364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bwMode="gray"/>
        <p:txBody>
          <a:bodyPr/>
          <a:lstStyle/>
          <a:p>
            <a:r>
              <a:rPr lang="en-US" altLang="zh-CN" dirty="0"/>
              <a:t>STUN</a:t>
            </a:r>
            <a:r>
              <a:rPr lang="zh-CN" altLang="en-US" dirty="0"/>
              <a:t>基本原理</a:t>
            </a:r>
          </a:p>
        </p:txBody>
      </p:sp>
      <p:sp>
        <p:nvSpPr>
          <p:cNvPr id="3" name="Text Placeholder 2"/>
          <p:cNvSpPr>
            <a:spLocks noGrp="1"/>
          </p:cNvSpPr>
          <p:nvPr>
            <p:ph type="body" sz="quarter" idx="10"/>
          </p:nvPr>
        </p:nvSpPr>
        <p:spPr bwMode="gray"/>
        <p:txBody>
          <a:bodyPr/>
          <a:lstStyle/>
          <a:p>
            <a:r>
              <a:rPr lang="en-US" altLang="zh-CN" sz="1800" dirty="0"/>
              <a:t>STUN</a:t>
            </a:r>
            <a:r>
              <a:rPr lang="zh-CN" altLang="en-US" sz="1800" dirty="0"/>
              <a:t>采用客户端</a:t>
            </a:r>
            <a:r>
              <a:rPr lang="en-US" altLang="zh-CN" sz="1800" dirty="0"/>
              <a:t>/</a:t>
            </a:r>
            <a:r>
              <a:rPr lang="zh-CN" altLang="en-US" sz="1800" dirty="0"/>
              <a:t>服务器通信模式，通过</a:t>
            </a:r>
            <a:r>
              <a:rPr lang="en-US" altLang="zh-CN" sz="1800" dirty="0"/>
              <a:t>STUN</a:t>
            </a:r>
            <a:r>
              <a:rPr lang="zh-CN" altLang="en-US" sz="1800" dirty="0"/>
              <a:t>客户端与</a:t>
            </a:r>
            <a:r>
              <a:rPr lang="en-US" altLang="zh-CN" sz="1800" dirty="0"/>
              <a:t>STUN</a:t>
            </a:r>
            <a:r>
              <a:rPr lang="zh-CN" altLang="en-US" sz="1800" dirty="0"/>
              <a:t>服务器之间的报文交互，可以发现</a:t>
            </a:r>
            <a:r>
              <a:rPr lang="en-US" altLang="zh-CN" sz="1800" dirty="0"/>
              <a:t>NAT</a:t>
            </a:r>
            <a:r>
              <a:rPr lang="zh-CN" altLang="en-US" sz="1800" dirty="0"/>
              <a:t>设备的存在，并确定</a:t>
            </a:r>
            <a:r>
              <a:rPr lang="en-US" altLang="zh-CN" sz="1800" dirty="0"/>
              <a:t>NAT</a:t>
            </a:r>
            <a:r>
              <a:rPr lang="zh-CN" altLang="en-US" sz="1800" dirty="0"/>
              <a:t>设备分配的</a:t>
            </a:r>
            <a:r>
              <a:rPr lang="en-US" altLang="zh-CN" sz="1800" dirty="0"/>
              <a:t>IP</a:t>
            </a:r>
            <a:r>
              <a:rPr lang="zh-CN" altLang="en-US" sz="1800" dirty="0"/>
              <a:t>地址和端口号。</a:t>
            </a:r>
          </a:p>
        </p:txBody>
      </p:sp>
      <p:sp>
        <p:nvSpPr>
          <p:cNvPr id="4" name="圆角矩形 75"/>
          <p:cNvSpPr/>
          <p:nvPr/>
        </p:nvSpPr>
        <p:spPr bwMode="gray">
          <a:xfrm>
            <a:off x="958318" y="2357346"/>
            <a:ext cx="10450534" cy="382027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5" name="圆角矩形 75"/>
          <p:cNvSpPr/>
          <p:nvPr/>
        </p:nvSpPr>
        <p:spPr bwMode="gray">
          <a:xfrm>
            <a:off x="958318" y="1929148"/>
            <a:ext cx="10450534"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STUN</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基本原理</a:t>
            </a:r>
          </a:p>
        </p:txBody>
      </p:sp>
      <p:sp>
        <p:nvSpPr>
          <p:cNvPr id="7" name="Freeform 159"/>
          <p:cNvSpPr/>
          <p:nvPr/>
        </p:nvSpPr>
        <p:spPr bwMode="gray">
          <a:xfrm flipH="1">
            <a:off x="1991544" y="3487593"/>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10" name="Freeform 159"/>
          <p:cNvSpPr/>
          <p:nvPr/>
        </p:nvSpPr>
        <p:spPr bwMode="gray">
          <a:xfrm flipH="1">
            <a:off x="5483932" y="3496458"/>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cxnSp>
        <p:nvCxnSpPr>
          <p:cNvPr id="14" name="直接连接符 12"/>
          <p:cNvCxnSpPr>
            <a:cxnSpLocks/>
            <a:stCxn id="28" idx="1"/>
            <a:endCxn id="10" idx="8"/>
          </p:cNvCxnSpPr>
          <p:nvPr/>
        </p:nvCxnSpPr>
        <p:spPr bwMode="gray">
          <a:xfrm flipH="1">
            <a:off x="7191337" y="4098480"/>
            <a:ext cx="1892066" cy="746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直接连接符 12"/>
          <p:cNvCxnSpPr>
            <a:cxnSpLocks/>
            <a:stCxn id="8" idx="1"/>
            <a:endCxn id="58" idx="3"/>
          </p:cNvCxnSpPr>
          <p:nvPr/>
        </p:nvCxnSpPr>
        <p:spPr bwMode="gray">
          <a:xfrm flipH="1">
            <a:off x="3828677" y="4111929"/>
            <a:ext cx="118720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 name="TextBox 77"/>
          <p:cNvSpPr txBox="1"/>
          <p:nvPr/>
        </p:nvSpPr>
        <p:spPr bwMode="gray">
          <a:xfrm>
            <a:off x="3562998" y="2428175"/>
            <a:ext cx="2954043" cy="918758"/>
          </a:xfrm>
          <a:prstGeom prst="rect">
            <a:avLst/>
          </a:prstGeom>
          <a:solidFill>
            <a:schemeClr val="bg1"/>
          </a:solidFill>
          <a:ln w="12700" cap="flat" cmpd="sng" algn="ctr">
            <a:solidFill>
              <a:sysClr val="window" lastClr="FFFFFF">
                <a:lumMod val="75000"/>
              </a:sysClr>
            </a:solidFill>
            <a:prstDash val="sysDash"/>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defPPr>
              <a:defRPr lang="en-US"/>
            </a:defPPr>
            <a:lvl1pPr algn="ctr">
              <a:defRPr sz="800" kern="0">
                <a:solidFill>
                  <a:srgbClr val="1D1D1A"/>
                </a:solidFill>
                <a:latin typeface="Huawei Sans" panose="020C0503030203020204" pitchFamily="34" charset="0"/>
                <a:ea typeface="方正兰亭黑简体" panose="02000000000000000000" pitchFamily="2" charset="-122"/>
              </a:defRPr>
            </a:lvl1pPr>
          </a:lstStyle>
          <a:p>
            <a:pPr marL="35986" fontAlgn="auto">
              <a:spcBef>
                <a:spcPts val="200"/>
              </a:spcBef>
            </a:pPr>
            <a:r>
              <a:rPr lang="en-US" altLang="zh-CN" sz="1200" dirty="0">
                <a:solidFill>
                  <a:prstClr val="black"/>
                </a:solidFill>
                <a:sym typeface="Huawei Sans" panose="020C0503030203020204" pitchFamily="34" charset="0"/>
              </a:rPr>
              <a:t>NAT</a:t>
            </a:r>
            <a:r>
              <a:rPr lang="zh-CN" altLang="en-US" sz="1200" dirty="0">
                <a:solidFill>
                  <a:prstClr val="black"/>
                </a:solidFill>
                <a:sym typeface="Huawei Sans" panose="020C0503030203020204" pitchFamily="34" charset="0"/>
              </a:rPr>
              <a:t>映射表</a:t>
            </a:r>
            <a:endParaRPr lang="en-US" altLang="zh-CN" sz="1200" dirty="0">
              <a:solidFill>
                <a:prstClr val="black"/>
              </a:solidFill>
              <a:sym typeface="Huawei Sans" panose="020C0503030203020204" pitchFamily="34" charset="0"/>
            </a:endParaRPr>
          </a:p>
          <a:p>
            <a:pPr marL="35986" algn="l">
              <a:spcBef>
                <a:spcPts val="200"/>
              </a:spcBef>
            </a:pPr>
            <a:endParaRPr lang="en-US" altLang="zh-CN" sz="1200" dirty="0">
              <a:sym typeface="Huawei Sans" panose="020C0503030203020204" pitchFamily="34" charset="0"/>
            </a:endParaRPr>
          </a:p>
        </p:txBody>
      </p:sp>
      <p:sp>
        <p:nvSpPr>
          <p:cNvPr id="21" name="矩形 26"/>
          <p:cNvSpPr/>
          <p:nvPr/>
        </p:nvSpPr>
        <p:spPr bwMode="gray">
          <a:xfrm>
            <a:off x="3754671" y="3889738"/>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IP1</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graphicFrame>
        <p:nvGraphicFramePr>
          <p:cNvPr id="26" name="表格 27"/>
          <p:cNvGraphicFramePr>
            <a:graphicFrameLocks noGrp="1"/>
          </p:cNvGraphicFramePr>
          <p:nvPr>
            <p:extLst>
              <p:ext uri="{D42A27DB-BD31-4B8C-83A1-F6EECF244321}">
                <p14:modId xmlns:p14="http://schemas.microsoft.com/office/powerpoint/2010/main" val="2522748301"/>
              </p:ext>
            </p:extLst>
          </p:nvPr>
        </p:nvGraphicFramePr>
        <p:xfrm>
          <a:off x="3682763" y="2684731"/>
          <a:ext cx="2619172" cy="548568"/>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IP1:Port1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IP2:Port2</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9083403" y="3877167"/>
            <a:ext cx="540989" cy="442626"/>
          </a:xfrm>
          <a:prstGeom prst="rect">
            <a:avLst/>
          </a:prstGeom>
          <a:noFill/>
        </p:spPr>
      </p:pic>
      <p:sp>
        <p:nvSpPr>
          <p:cNvPr id="29" name="矩形 26"/>
          <p:cNvSpPr/>
          <p:nvPr/>
        </p:nvSpPr>
        <p:spPr bwMode="gray">
          <a:xfrm>
            <a:off x="9664063" y="3975876"/>
            <a:ext cx="1043876" cy="276999"/>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服务器</a:t>
            </a:r>
          </a:p>
        </p:txBody>
      </p:sp>
      <p:sp>
        <p:nvSpPr>
          <p:cNvPr id="30" name="矩形 26"/>
          <p:cNvSpPr/>
          <p:nvPr/>
        </p:nvSpPr>
        <p:spPr bwMode="gray">
          <a:xfrm>
            <a:off x="3013548" y="4352449"/>
            <a:ext cx="1043876"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客户端</a:t>
            </a:r>
          </a:p>
        </p:txBody>
      </p:sp>
      <p:sp>
        <p:nvSpPr>
          <p:cNvPr id="42" name="矩形 26"/>
          <p:cNvSpPr/>
          <p:nvPr/>
        </p:nvSpPr>
        <p:spPr bwMode="gray">
          <a:xfrm>
            <a:off x="4562290" y="3371990"/>
            <a:ext cx="890170" cy="276999"/>
          </a:xfrm>
          <a:prstGeom prst="rect">
            <a:avLst/>
          </a:prstGeom>
          <a:no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地址转换</a:t>
            </a:r>
          </a:p>
        </p:txBody>
      </p:sp>
      <p:cxnSp>
        <p:nvCxnSpPr>
          <p:cNvPr id="43" name="Straight Arrow Connector 42"/>
          <p:cNvCxnSpPr/>
          <p:nvPr/>
        </p:nvCxnSpPr>
        <p:spPr bwMode="gray">
          <a:xfrm>
            <a:off x="4623630" y="3611638"/>
            <a:ext cx="788294"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gray">
          <a:xfrm>
            <a:off x="1493507" y="3478642"/>
            <a:ext cx="3056852" cy="287716"/>
            <a:chOff x="1107541" y="4590980"/>
            <a:chExt cx="3056852" cy="287716"/>
          </a:xfrm>
        </p:grpSpPr>
        <p:sp>
          <p:nvSpPr>
            <p:cNvPr id="37" name="TextBox 120">
              <a:extLst>
                <a:ext uri="{FF2B5EF4-FFF2-40B4-BE49-F238E27FC236}">
                  <a16:creationId xmlns:a16="http://schemas.microsoft.com/office/drawing/2014/main" id="{31930744-3D36-4F81-8426-6F129C1A6804}"/>
                </a:ext>
              </a:extLst>
            </p:cNvPr>
            <p:cNvSpPr txBox="1"/>
            <p:nvPr/>
          </p:nvSpPr>
          <p:spPr bwMode="gray">
            <a:xfrm>
              <a:off x="1107541" y="4590980"/>
              <a:ext cx="739987"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IP1</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TextBox 120">
              <a:extLst>
                <a:ext uri="{FF2B5EF4-FFF2-40B4-BE49-F238E27FC236}">
                  <a16:creationId xmlns:a16="http://schemas.microsoft.com/office/drawing/2014/main" id="{31930744-3D36-4F81-8426-6F129C1A6804}"/>
                </a:ext>
              </a:extLst>
            </p:cNvPr>
            <p:cNvSpPr txBox="1"/>
            <p:nvPr/>
          </p:nvSpPr>
          <p:spPr bwMode="gray">
            <a:xfrm>
              <a:off x="2934771" y="4590981"/>
              <a:ext cx="1229622"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STUN</a:t>
              </a:r>
              <a:r>
                <a:rPr kumimoji="0" lang="zh-CN" alt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绑定请求</a:t>
              </a:r>
              <a:endPar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a16="http://schemas.microsoft.com/office/drawing/2014/main" id="{31930744-3D36-4F81-8426-6F129C1A6804}"/>
                </a:ext>
              </a:extLst>
            </p:cNvPr>
            <p:cNvSpPr txBox="1"/>
            <p:nvPr/>
          </p:nvSpPr>
          <p:spPr bwMode="gray">
            <a:xfrm>
              <a:off x="1851292" y="4590980"/>
              <a:ext cx="1083480" cy="287715"/>
            </a:xfrm>
            <a:prstGeom prst="roundRect">
              <a:avLst>
                <a:gd name="adj" fmla="val 6721"/>
              </a:avLst>
            </a:prstGeom>
            <a:solidFill>
              <a:srgbClr val="56C4D2"/>
            </a:solidFill>
            <a:ln w="12700">
              <a:solidFill>
                <a:srgbClr val="56C4D2"/>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Port1</a:t>
              </a:r>
            </a:p>
          </p:txBody>
        </p:sp>
      </p:grpSp>
      <p:grpSp>
        <p:nvGrpSpPr>
          <p:cNvPr id="48" name="Group 47"/>
          <p:cNvGrpSpPr/>
          <p:nvPr/>
        </p:nvGrpSpPr>
        <p:grpSpPr bwMode="gray">
          <a:xfrm>
            <a:off x="5464391" y="3483979"/>
            <a:ext cx="2978455" cy="287716"/>
            <a:chOff x="5060259" y="4578844"/>
            <a:chExt cx="2978455" cy="287716"/>
          </a:xfrm>
        </p:grpSpPr>
        <p:sp>
          <p:nvSpPr>
            <p:cNvPr id="40" name="TextBox 120">
              <a:extLst>
                <a:ext uri="{FF2B5EF4-FFF2-40B4-BE49-F238E27FC236}">
                  <a16:creationId xmlns:a16="http://schemas.microsoft.com/office/drawing/2014/main" id="{31930744-3D36-4F81-8426-6F129C1A6804}"/>
                </a:ext>
              </a:extLst>
            </p:cNvPr>
            <p:cNvSpPr txBox="1"/>
            <p:nvPr/>
          </p:nvSpPr>
          <p:spPr bwMode="gray">
            <a:xfrm>
              <a:off x="5060259" y="4578845"/>
              <a:ext cx="708595" cy="287715"/>
            </a:xfrm>
            <a:prstGeom prst="roundRect">
              <a:avLst>
                <a:gd name="adj" fmla="val 6721"/>
              </a:avLst>
            </a:prstGeom>
            <a:solidFill>
              <a:srgbClr val="EC7061"/>
            </a:solidFill>
            <a:ln w="12700">
              <a:solidFill>
                <a:srgbClr val="EC706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SIP: IP2</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a:extLst>
                <a:ext uri="{FF2B5EF4-FFF2-40B4-BE49-F238E27FC236}">
                  <a16:creationId xmlns:a16="http://schemas.microsoft.com/office/drawing/2014/main" id="{31930744-3D36-4F81-8426-6F129C1A6804}"/>
                </a:ext>
              </a:extLst>
            </p:cNvPr>
            <p:cNvSpPr txBox="1"/>
            <p:nvPr/>
          </p:nvSpPr>
          <p:spPr bwMode="gray">
            <a:xfrm>
              <a:off x="6832467" y="4578845"/>
              <a:ext cx="1206247"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STUN</a:t>
              </a:r>
              <a:r>
                <a:rPr lang="zh-CN" altLang="en-US" sz="1200"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rPr>
                <a:t>绑定请求</a:t>
              </a:r>
              <a:endParaRPr lang="en-US" altLang="zh-CN" sz="1200" kern="0" dirty="0">
                <a:solidFill>
                  <a:prstClr val="white">
                    <a:lumMod val="50000"/>
                  </a:prst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TextBox 120">
              <a:extLst>
                <a:ext uri="{FF2B5EF4-FFF2-40B4-BE49-F238E27FC236}">
                  <a16:creationId xmlns:a16="http://schemas.microsoft.com/office/drawing/2014/main" id="{31930744-3D36-4F81-8426-6F129C1A6804}"/>
                </a:ext>
              </a:extLst>
            </p:cNvPr>
            <p:cNvSpPr txBox="1"/>
            <p:nvPr/>
          </p:nvSpPr>
          <p:spPr bwMode="gray">
            <a:xfrm>
              <a:off x="5767674" y="4578844"/>
              <a:ext cx="1081300" cy="287715"/>
            </a:xfrm>
            <a:prstGeom prst="roundRect">
              <a:avLst>
                <a:gd name="adj" fmla="val 6721"/>
              </a:avLst>
            </a:prstGeom>
            <a:solidFill>
              <a:srgbClr val="EC7061"/>
            </a:solidFill>
            <a:ln w="12700">
              <a:solidFill>
                <a:srgbClr val="EC7061"/>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Port2</a:t>
              </a:r>
            </a:p>
          </p:txBody>
        </p:sp>
      </p:grpSp>
      <p:cxnSp>
        <p:nvCxnSpPr>
          <p:cNvPr id="50" name="Straight Arrow Connector 49"/>
          <p:cNvCxnSpPr/>
          <p:nvPr/>
        </p:nvCxnSpPr>
        <p:spPr bwMode="gray">
          <a:xfrm>
            <a:off x="8512062" y="3624060"/>
            <a:ext cx="752290"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1" name="Rectangular Callout 50"/>
          <p:cNvSpPr/>
          <p:nvPr/>
        </p:nvSpPr>
        <p:spPr bwMode="gray">
          <a:xfrm>
            <a:off x="9537454" y="2943589"/>
            <a:ext cx="1503599" cy="677053"/>
          </a:xfrm>
          <a:prstGeom prst="wedgeRectCallout">
            <a:avLst>
              <a:gd name="adj1" fmla="val -57499"/>
              <a:gd name="adj2" fmla="val 51074"/>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fontAlgn="auto"/>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读取数据包源</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与源端口，并放入</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绑定响应报文</a:t>
            </a:r>
          </a:p>
        </p:txBody>
      </p:sp>
      <p:cxnSp>
        <p:nvCxnSpPr>
          <p:cNvPr id="53" name="Straight Arrow Connector 52"/>
          <p:cNvCxnSpPr/>
          <p:nvPr/>
        </p:nvCxnSpPr>
        <p:spPr bwMode="gray">
          <a:xfrm flipH="1">
            <a:off x="4580663" y="4784932"/>
            <a:ext cx="802997"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nvGrpSpPr>
          <p:cNvPr id="54" name="Group 53"/>
          <p:cNvGrpSpPr/>
          <p:nvPr/>
        </p:nvGrpSpPr>
        <p:grpSpPr bwMode="gray">
          <a:xfrm>
            <a:off x="5417641" y="4638323"/>
            <a:ext cx="3126631" cy="287716"/>
            <a:chOff x="4994087" y="4578844"/>
            <a:chExt cx="3126631" cy="287716"/>
          </a:xfrm>
        </p:grpSpPr>
        <p:sp>
          <p:nvSpPr>
            <p:cNvPr id="55" name="TextBox 120">
              <a:extLst>
                <a:ext uri="{FF2B5EF4-FFF2-40B4-BE49-F238E27FC236}">
                  <a16:creationId xmlns:a16="http://schemas.microsoft.com/office/drawing/2014/main" id="{31930744-3D36-4F81-8426-6F129C1A6804}"/>
                </a:ext>
              </a:extLst>
            </p:cNvPr>
            <p:cNvSpPr txBox="1"/>
            <p:nvPr/>
          </p:nvSpPr>
          <p:spPr bwMode="gray">
            <a:xfrm>
              <a:off x="4994087" y="4578845"/>
              <a:ext cx="774768" cy="287715"/>
            </a:xfrm>
            <a:prstGeom prst="roundRect">
              <a:avLst>
                <a:gd name="adj" fmla="val 6721"/>
              </a:avLst>
            </a:prstGeom>
            <a:solidFill>
              <a:schemeClr val="bg1">
                <a:lumMod val="50000"/>
              </a:schemeClr>
            </a:solidFill>
            <a:ln w="12700">
              <a:solidFill>
                <a:schemeClr val="bg1">
                  <a:lumMod val="50000"/>
                </a:schemeClr>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IP2</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120">
              <a:extLst>
                <a:ext uri="{FF2B5EF4-FFF2-40B4-BE49-F238E27FC236}">
                  <a16:creationId xmlns:a16="http://schemas.microsoft.com/office/drawing/2014/main" id="{31930744-3D36-4F81-8426-6F129C1A6804}"/>
                </a:ext>
              </a:extLst>
            </p:cNvPr>
            <p:cNvSpPr txBox="1"/>
            <p:nvPr/>
          </p:nvSpPr>
          <p:spPr bwMode="gray">
            <a:xfrm>
              <a:off x="6877395" y="4578845"/>
              <a:ext cx="1243323"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STUN</a:t>
              </a:r>
              <a:r>
                <a:rPr kumimoji="0" lang="zh-CN" alt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绑定响应</a:t>
              </a:r>
              <a:endPar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TextBox 120">
              <a:extLst>
                <a:ext uri="{FF2B5EF4-FFF2-40B4-BE49-F238E27FC236}">
                  <a16:creationId xmlns:a16="http://schemas.microsoft.com/office/drawing/2014/main" id="{31930744-3D36-4F81-8426-6F129C1A6804}"/>
                </a:ext>
              </a:extLst>
            </p:cNvPr>
            <p:cNvSpPr txBox="1"/>
            <p:nvPr/>
          </p:nvSpPr>
          <p:spPr bwMode="gray">
            <a:xfrm>
              <a:off x="5767673" y="4578844"/>
              <a:ext cx="1120575" cy="287715"/>
            </a:xfrm>
            <a:prstGeom prst="roundRect">
              <a:avLst>
                <a:gd name="adj" fmla="val 6721"/>
              </a:avLst>
            </a:prstGeom>
            <a:solidFill>
              <a:schemeClr val="bg1">
                <a:lumMod val="50000"/>
              </a:schemeClr>
            </a:solidFill>
            <a:ln w="12700">
              <a:solidFill>
                <a:schemeClr val="bg1">
                  <a:lumMod val="50000"/>
                </a:schemeClr>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a:t>
              </a: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Port2</a:t>
              </a:r>
            </a:p>
          </p:txBody>
        </p:sp>
      </p:grpSp>
      <p:sp>
        <p:nvSpPr>
          <p:cNvPr id="59" name="Freeform 58"/>
          <p:cNvSpPr/>
          <p:nvPr/>
        </p:nvSpPr>
        <p:spPr bwMode="gray">
          <a:xfrm>
            <a:off x="8705607" y="3678144"/>
            <a:ext cx="774769" cy="1008002"/>
          </a:xfrm>
          <a:custGeom>
            <a:avLst/>
            <a:gdLst>
              <a:gd name="connsiteX0" fmla="*/ 853440 w 1063601"/>
              <a:gd name="connsiteY0" fmla="*/ 0 h 373380"/>
              <a:gd name="connsiteX1" fmla="*/ 1005840 w 1063601"/>
              <a:gd name="connsiteY1" fmla="*/ 236220 h 373380"/>
              <a:gd name="connsiteX2" fmla="*/ 0 w 1063601"/>
              <a:gd name="connsiteY2" fmla="*/ 373380 h 373380"/>
            </a:gdLst>
            <a:ahLst/>
            <a:cxnLst>
              <a:cxn ang="0">
                <a:pos x="connsiteX0" y="connsiteY0"/>
              </a:cxn>
              <a:cxn ang="0">
                <a:pos x="connsiteX1" y="connsiteY1"/>
              </a:cxn>
              <a:cxn ang="0">
                <a:pos x="connsiteX2" y="connsiteY2"/>
              </a:cxn>
            </a:cxnLst>
            <a:rect l="l" t="t" r="r" b="b"/>
            <a:pathLst>
              <a:path w="1063601" h="373380">
                <a:moveTo>
                  <a:pt x="853440" y="0"/>
                </a:moveTo>
                <a:cubicBezTo>
                  <a:pt x="1000760" y="86995"/>
                  <a:pt x="1148080" y="173990"/>
                  <a:pt x="1005840" y="236220"/>
                </a:cubicBezTo>
                <a:cubicBezTo>
                  <a:pt x="863600" y="298450"/>
                  <a:pt x="431800" y="335915"/>
                  <a:pt x="0" y="373380"/>
                </a:cubicBezTo>
              </a:path>
            </a:pathLst>
          </a:custGeom>
          <a:ln w="1905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0" name="矩形 26"/>
          <p:cNvSpPr/>
          <p:nvPr/>
        </p:nvSpPr>
        <p:spPr bwMode="gray">
          <a:xfrm>
            <a:off x="4562290" y="4768853"/>
            <a:ext cx="890170" cy="276999"/>
          </a:xfrm>
          <a:prstGeom prst="rect">
            <a:avLst/>
          </a:prstGeom>
          <a:noFill/>
        </p:spPr>
        <p:txBody>
          <a:bodyPr wrap="square">
            <a:spAutoFit/>
          </a:bodyPr>
          <a:lstStyle/>
          <a:p>
            <a:pPr algn="ctr" defTabSz="914400" fontAlgn="t">
              <a:spcBef>
                <a:spcPct val="0"/>
              </a:spcBef>
              <a:spcAft>
                <a:spcPct val="0"/>
              </a:spcAft>
            </a:pP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地址转换</a:t>
            </a:r>
          </a:p>
        </p:txBody>
      </p:sp>
      <p:grpSp>
        <p:nvGrpSpPr>
          <p:cNvPr id="61" name="Group 60"/>
          <p:cNvGrpSpPr/>
          <p:nvPr/>
        </p:nvGrpSpPr>
        <p:grpSpPr bwMode="gray">
          <a:xfrm>
            <a:off x="1461377" y="4615827"/>
            <a:ext cx="3091705" cy="287716"/>
            <a:chOff x="905024" y="4590980"/>
            <a:chExt cx="3091705" cy="287716"/>
          </a:xfrm>
        </p:grpSpPr>
        <p:sp>
          <p:nvSpPr>
            <p:cNvPr id="62" name="TextBox 120">
              <a:extLst>
                <a:ext uri="{FF2B5EF4-FFF2-40B4-BE49-F238E27FC236}">
                  <a16:creationId xmlns:a16="http://schemas.microsoft.com/office/drawing/2014/main" id="{31930744-3D36-4F81-8426-6F129C1A6804}"/>
                </a:ext>
              </a:extLst>
            </p:cNvPr>
            <p:cNvSpPr txBox="1"/>
            <p:nvPr/>
          </p:nvSpPr>
          <p:spPr bwMode="gray">
            <a:xfrm>
              <a:off x="905024" y="4590980"/>
              <a:ext cx="739987" cy="287715"/>
            </a:xfrm>
            <a:prstGeom prst="roundRect">
              <a:avLst>
                <a:gd name="adj" fmla="val 6721"/>
              </a:avLst>
            </a:prstGeom>
            <a:solidFill>
              <a:schemeClr val="bg1">
                <a:lumMod val="75000"/>
              </a:schemeClr>
            </a:solidFill>
            <a:ln w="12700">
              <a:solidFill>
                <a:schemeClr val="bg1">
                  <a:lumMod val="75000"/>
                </a:schemeClr>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altLang="zh-CN" sz="1200" kern="0"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DIP: IP1</a:t>
              </a:r>
              <a:endParaRPr kumimoji="0" lang="en-US" altLang="zh-CN" sz="1200" b="0" i="0" u="none" strike="noStrike" kern="0" cap="none" spc="0" normalizeH="0" baseline="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TextBox 120">
              <a:extLst>
                <a:ext uri="{FF2B5EF4-FFF2-40B4-BE49-F238E27FC236}">
                  <a16:creationId xmlns:a16="http://schemas.microsoft.com/office/drawing/2014/main" id="{31930744-3D36-4F81-8426-6F129C1A6804}"/>
                </a:ext>
              </a:extLst>
            </p:cNvPr>
            <p:cNvSpPr txBox="1"/>
            <p:nvPr/>
          </p:nvSpPr>
          <p:spPr bwMode="gray">
            <a:xfrm>
              <a:off x="2783247" y="4590981"/>
              <a:ext cx="1213482" cy="287715"/>
            </a:xfrm>
            <a:prstGeom prst="roundRect">
              <a:avLst>
                <a:gd name="adj" fmla="val 6721"/>
              </a:avLst>
            </a:prstGeom>
            <a:solidFill>
              <a:srgbClr val="FFC000"/>
            </a:solidFill>
            <a:ln w="12700">
              <a:solidFill>
                <a:srgbClr val="FFC000"/>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STUN</a:t>
              </a:r>
              <a:r>
                <a:rPr kumimoji="0" lang="zh-CN" alt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绑定响应</a:t>
              </a:r>
              <a:endPar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TextBox 120">
              <a:extLst>
                <a:ext uri="{FF2B5EF4-FFF2-40B4-BE49-F238E27FC236}">
                  <a16:creationId xmlns:a16="http://schemas.microsoft.com/office/drawing/2014/main" id="{31930744-3D36-4F81-8426-6F129C1A6804}"/>
                </a:ext>
              </a:extLst>
            </p:cNvPr>
            <p:cNvSpPr txBox="1"/>
            <p:nvPr/>
          </p:nvSpPr>
          <p:spPr bwMode="gray">
            <a:xfrm>
              <a:off x="1648774" y="4590980"/>
              <a:ext cx="1126643" cy="287715"/>
            </a:xfrm>
            <a:prstGeom prst="roundRect">
              <a:avLst>
                <a:gd name="adj" fmla="val 6721"/>
              </a:avLst>
            </a:prstGeom>
            <a:solidFill>
              <a:schemeClr val="bg1">
                <a:lumMod val="75000"/>
              </a:schemeClr>
            </a:solidFill>
            <a:ln w="12700">
              <a:solidFill>
                <a:schemeClr val="bg1">
                  <a:lumMod val="75000"/>
                </a:schemeClr>
              </a:solidFill>
            </a:ln>
          </p:spPr>
          <p:txBody>
            <a:bodyPr wrap="square"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noProof="0" dirty="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D Port: </a:t>
              </a:r>
              <a:r>
                <a:rPr kumimoji="0" lang="en-US" altLang="zh-CN" sz="1200" b="0" i="0" u="none" strike="noStrike" kern="0" cap="none" spc="0" normalizeH="0" noProof="0" dirty="0">
                  <a:ln>
                    <a:noFill/>
                  </a:ln>
                  <a:solidFill>
                    <a:schemeClr val="bg1"/>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Port1</a:t>
              </a:r>
            </a:p>
          </p:txBody>
        </p:sp>
      </p:grpSp>
      <p:sp>
        <p:nvSpPr>
          <p:cNvPr id="69" name="Rectangular Callout 68"/>
          <p:cNvSpPr/>
          <p:nvPr/>
        </p:nvSpPr>
        <p:spPr bwMode="gray">
          <a:xfrm>
            <a:off x="2730618" y="5024535"/>
            <a:ext cx="1525494" cy="661415"/>
          </a:xfrm>
          <a:prstGeom prst="wedgeRectCallout">
            <a:avLst>
              <a:gd name="adj1" fmla="val -15501"/>
              <a:gd name="adj2" fmla="val -74060"/>
            </a:avLst>
          </a:prstGeom>
          <a:solidFill>
            <a:schemeClr val="bg1"/>
          </a:solidFill>
          <a:ln>
            <a:solidFill>
              <a:schemeClr val="bg1">
                <a:lumMod val="75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034"/>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客户端记录内网</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端口与外网</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IP+</a:t>
            </a:r>
            <a:r>
              <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端口的对应关系</a:t>
            </a:r>
            <a:r>
              <a:rPr lang="en-US" altLang="zh-CN"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rPr>
              <a:t> </a:t>
            </a:r>
            <a:endParaRPr lang="zh-CN" altLang="en-US" sz="1200" dirty="0">
              <a:solidFill>
                <a:schemeClr val="tx1"/>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6" name="Trapezoid 45">
            <a:extLst>
              <a:ext uri="{FF2B5EF4-FFF2-40B4-BE49-F238E27FC236}">
                <a16:creationId xmlns:a16="http://schemas.microsoft.com/office/drawing/2014/main" id="{59CD654C-3EBC-4E7A-A211-CE311B6DE28B}"/>
              </a:ext>
            </a:extLst>
          </p:cNvPr>
          <p:cNvSpPr/>
          <p:nvPr/>
        </p:nvSpPr>
        <p:spPr bwMode="gray">
          <a:xfrm>
            <a:off x="6794209" y="4929399"/>
            <a:ext cx="2280794" cy="369151"/>
          </a:xfrm>
          <a:prstGeom prst="trapezoid">
            <a:avLst>
              <a:gd name="adj" fmla="val 143107"/>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120">
            <a:extLst>
              <a:ext uri="{FF2B5EF4-FFF2-40B4-BE49-F238E27FC236}">
                <a16:creationId xmlns:a16="http://schemas.microsoft.com/office/drawing/2014/main" id="{100E18FA-806F-48DF-BCBE-AC82F4F78B21}"/>
              </a:ext>
            </a:extLst>
          </p:cNvPr>
          <p:cNvSpPr txBox="1"/>
          <p:nvPr/>
        </p:nvSpPr>
        <p:spPr bwMode="gray">
          <a:xfrm>
            <a:off x="6775306" y="5318606"/>
            <a:ext cx="2280794" cy="287715"/>
          </a:xfrm>
          <a:prstGeom prst="roundRect">
            <a:avLst>
              <a:gd name="adj" fmla="val 6721"/>
            </a:avLst>
          </a:prstGeom>
          <a:noFill/>
          <a:ln w="12700">
            <a:solidFill>
              <a:srgbClr val="FFC000"/>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IP=IP2</a:t>
            </a:r>
            <a:r>
              <a:rPr kumimoji="0" lang="zh-CN" altLang="en-US"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a:t>
            </a: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Port=Port2</a:t>
            </a:r>
          </a:p>
        </p:txBody>
      </p:sp>
      <p:pic>
        <p:nvPicPr>
          <p:cNvPr id="58" name="Picture 2" descr="G:\做的项目\公共\扁平图标切换\更新2015_01_21\oss扁平图标库2015_01_21更新-04.png">
            <a:extLst>
              <a:ext uri="{FF2B5EF4-FFF2-40B4-BE49-F238E27FC236}">
                <a16:creationId xmlns:a16="http://schemas.microsoft.com/office/drawing/2014/main" id="{0D60A07E-26A8-40D6-81E9-39B09364352A}"/>
              </a:ext>
            </a:extLst>
          </p:cNvPr>
          <p:cNvPicPr>
            <a:picLocks noChangeAspect="1" noChangeArrowheads="1"/>
          </p:cNvPicPr>
          <p:nvPr/>
        </p:nvPicPr>
        <p:blipFill>
          <a:blip r:embed="rId3" cstate="print"/>
          <a:stretch>
            <a:fillRect/>
          </a:stretch>
        </p:blipFill>
        <p:spPr bwMode="gray">
          <a:xfrm>
            <a:off x="3287688" y="3890616"/>
            <a:ext cx="540989" cy="442626"/>
          </a:xfrm>
          <a:prstGeom prst="rect">
            <a:avLst/>
          </a:prstGeom>
          <a:noFill/>
        </p:spPr>
      </p:pic>
      <p:pic>
        <p:nvPicPr>
          <p:cNvPr id="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015880" y="3890616"/>
            <a:ext cx="540989" cy="442626"/>
          </a:xfrm>
          <a:prstGeom prst="rect">
            <a:avLst/>
          </a:prstGeom>
          <a:noFill/>
        </p:spPr>
      </p:pic>
      <p:sp>
        <p:nvSpPr>
          <p:cNvPr id="17" name="矩形 26"/>
          <p:cNvSpPr/>
          <p:nvPr/>
        </p:nvSpPr>
        <p:spPr bwMode="gray">
          <a:xfrm>
            <a:off x="4934029" y="4371142"/>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22" name="矩形 26"/>
          <p:cNvSpPr/>
          <p:nvPr/>
        </p:nvSpPr>
        <p:spPr bwMode="gray">
          <a:xfrm>
            <a:off x="5488075" y="3879549"/>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IP2</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5" name="图片 73" descr="PC.png">
            <a:extLst>
              <a:ext uri="{FF2B5EF4-FFF2-40B4-BE49-F238E27FC236}">
                <a16:creationId xmlns:a16="http://schemas.microsoft.com/office/drawing/2014/main" id="{8C013DA5-78C7-468E-B769-744CC0B3CB00}"/>
              </a:ext>
            </a:extLst>
          </p:cNvPr>
          <p:cNvPicPr>
            <a:picLocks noChangeAspect="1"/>
          </p:cNvPicPr>
          <p:nvPr/>
        </p:nvPicPr>
        <p:blipFill>
          <a:blip r:embed="rId4" cstate="print"/>
          <a:stretch>
            <a:fillRect/>
          </a:stretch>
        </p:blipFill>
        <p:spPr bwMode="gray">
          <a:xfrm>
            <a:off x="1826413" y="3907347"/>
            <a:ext cx="539063" cy="414000"/>
          </a:xfrm>
          <a:prstGeom prst="rect">
            <a:avLst/>
          </a:prstGeom>
        </p:spPr>
      </p:pic>
      <p:cxnSp>
        <p:nvCxnSpPr>
          <p:cNvPr id="66" name="直接连接符 12">
            <a:extLst>
              <a:ext uri="{FF2B5EF4-FFF2-40B4-BE49-F238E27FC236}">
                <a16:creationId xmlns:a16="http://schemas.microsoft.com/office/drawing/2014/main" id="{2B62297C-0929-4BAD-A8B0-7CA71BE19739}"/>
              </a:ext>
            </a:extLst>
          </p:cNvPr>
          <p:cNvCxnSpPr>
            <a:cxnSpLocks/>
            <a:stCxn id="58" idx="1"/>
            <a:endCxn id="65" idx="3"/>
          </p:cNvCxnSpPr>
          <p:nvPr/>
        </p:nvCxnSpPr>
        <p:spPr bwMode="gray">
          <a:xfrm flipH="1">
            <a:off x="2365476" y="4111929"/>
            <a:ext cx="922212" cy="241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7" name="直接连接符 12">
            <a:extLst>
              <a:ext uri="{FF2B5EF4-FFF2-40B4-BE49-F238E27FC236}">
                <a16:creationId xmlns:a16="http://schemas.microsoft.com/office/drawing/2014/main" id="{F79C53FA-66B4-4C72-B102-9E1999701A63}"/>
              </a:ext>
            </a:extLst>
          </p:cNvPr>
          <p:cNvCxnSpPr>
            <a:cxnSpLocks/>
            <a:endCxn id="8" idx="3"/>
          </p:cNvCxnSpPr>
          <p:nvPr/>
        </p:nvCxnSpPr>
        <p:spPr bwMode="gray">
          <a:xfrm flipH="1" flipV="1">
            <a:off x="5556869" y="4111929"/>
            <a:ext cx="699837" cy="639"/>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0" name="TextBox 120">
            <a:extLst>
              <a:ext uri="{FF2B5EF4-FFF2-40B4-BE49-F238E27FC236}">
                <a16:creationId xmlns:a16="http://schemas.microsoft.com/office/drawing/2014/main" id="{E21D9AA7-1D3A-44F5-9E0F-99149FD679E1}"/>
              </a:ext>
            </a:extLst>
          </p:cNvPr>
          <p:cNvSpPr txBox="1"/>
          <p:nvPr/>
        </p:nvSpPr>
        <p:spPr bwMode="gray">
          <a:xfrm>
            <a:off x="2583494" y="5752471"/>
            <a:ext cx="1819742" cy="287715"/>
          </a:xfrm>
          <a:prstGeom prst="roundRect">
            <a:avLst>
              <a:gd name="adj" fmla="val 6721"/>
            </a:avLst>
          </a:prstGeom>
          <a:noFill/>
          <a:ln w="12700">
            <a:solidFill>
              <a:srgbClr val="EC7061"/>
            </a:solidFill>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prstClr val="white">
                    <a:lumMod val="50000"/>
                  </a:prstClr>
                </a:solidFill>
                <a:effectLst/>
                <a:uLnTx/>
                <a:uFillTx/>
                <a:latin typeface="Huawei Sans" panose="020C0503030203020204" pitchFamily="34" charset="0"/>
                <a:ea typeface="方正兰亭黑简体" panose="02000000000000000000" pitchFamily="2" charset="-122"/>
                <a:sym typeface="Huawei Sans" panose="020C0503030203020204" pitchFamily="34" charset="0"/>
              </a:rPr>
              <a:t>IP1:Port1 &lt;-&gt; IP2:Port2</a:t>
            </a:r>
          </a:p>
        </p:txBody>
      </p:sp>
    </p:spTree>
    <p:extLst>
      <p:ext uri="{BB962C8B-B14F-4D97-AF65-F5344CB8AC3E}">
        <p14:creationId xmlns:p14="http://schemas.microsoft.com/office/powerpoint/2010/main" val="287568658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9" name="表格 27"/>
          <p:cNvGraphicFramePr>
            <a:graphicFrameLocks noGrp="1"/>
          </p:cNvGraphicFramePr>
          <p:nvPr>
            <p:extLst>
              <p:ext uri="{D42A27DB-BD31-4B8C-83A1-F6EECF244321}">
                <p14:modId xmlns:p14="http://schemas.microsoft.com/office/powerpoint/2010/main" val="1767623738"/>
              </p:ext>
            </p:extLst>
          </p:nvPr>
        </p:nvGraphicFramePr>
        <p:xfrm>
          <a:off x="8420599" y="4297258"/>
          <a:ext cx="2619172" cy="548568"/>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IP4:Port4</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IP3:Port3</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18" name="圆角矩形 75"/>
          <p:cNvSpPr/>
          <p:nvPr/>
        </p:nvSpPr>
        <p:spPr bwMode="gray">
          <a:xfrm>
            <a:off x="962902" y="2309026"/>
            <a:ext cx="10450534" cy="374826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a:p>
            <a:pPr marL="177800" indent="-177800" algn="just" defTabSz="914112" fontAlgn="auto">
              <a:lnSpc>
                <a:spcPts val="2600"/>
              </a:lnSpc>
              <a:spcBef>
                <a:spcPts val="0"/>
              </a:spcBef>
              <a:spcAft>
                <a:spcPts val="600"/>
              </a:spcAft>
              <a:buFont typeface="Arial" panose="020B0604020202020204" pitchFamily="34" charset="0"/>
              <a:buChar char="•"/>
            </a:pPr>
            <a:endParaRPr lang="en-US" altLang="zh-CN" sz="1400" dirty="0">
              <a:solidFill>
                <a:prstClr val="black"/>
              </a:solidFill>
              <a:sym typeface="Huawei Sans" panose="020C0503030203020204" pitchFamily="34" charset="0"/>
            </a:endParaRPr>
          </a:p>
        </p:txBody>
      </p:sp>
      <p:sp>
        <p:nvSpPr>
          <p:cNvPr id="2" name="Title 1"/>
          <p:cNvSpPr>
            <a:spLocks noGrp="1"/>
          </p:cNvSpPr>
          <p:nvPr>
            <p:ph type="title"/>
          </p:nvPr>
        </p:nvSpPr>
        <p:spPr bwMode="gray"/>
        <p:txBody>
          <a:bodyPr/>
          <a:lstStyle/>
          <a:p>
            <a:r>
              <a:rPr lang="en-US" altLang="zh-CN" dirty="0"/>
              <a:t>STUN</a:t>
            </a:r>
            <a:r>
              <a:rPr lang="zh-CN" altLang="en-US" dirty="0"/>
              <a:t>应用举例</a:t>
            </a:r>
          </a:p>
        </p:txBody>
      </p:sp>
      <p:sp>
        <p:nvSpPr>
          <p:cNvPr id="3" name="Text Placeholder 2"/>
          <p:cNvSpPr>
            <a:spLocks noGrp="1"/>
          </p:cNvSpPr>
          <p:nvPr>
            <p:ph type="body" sz="quarter" idx="10"/>
          </p:nvPr>
        </p:nvSpPr>
        <p:spPr bwMode="gray"/>
        <p:txBody>
          <a:bodyPr/>
          <a:lstStyle/>
          <a:p>
            <a:r>
              <a:rPr lang="en-US" altLang="zh-CN" sz="1800" dirty="0"/>
              <a:t>SDWAN</a:t>
            </a:r>
            <a:r>
              <a:rPr lang="zh-CN" altLang="en-US" sz="1800" dirty="0"/>
              <a:t>场景下，可以通过</a:t>
            </a:r>
            <a:r>
              <a:rPr lang="en-US" altLang="zh-CN" sz="1800" dirty="0"/>
              <a:t>STUN</a:t>
            </a:r>
            <a:r>
              <a:rPr lang="zh-CN" altLang="en-US" sz="1800" dirty="0"/>
              <a:t>将</a:t>
            </a:r>
            <a:r>
              <a:rPr lang="en-US" altLang="zh-CN" sz="1800" dirty="0"/>
              <a:t>NAT</a:t>
            </a:r>
            <a:r>
              <a:rPr lang="zh-CN" altLang="en-US" sz="1800" dirty="0"/>
              <a:t>后的设备互联，建立数据通道。</a:t>
            </a:r>
          </a:p>
        </p:txBody>
      </p:sp>
      <p:cxnSp>
        <p:nvCxnSpPr>
          <p:cNvPr id="9" name="直接连接符 12"/>
          <p:cNvCxnSpPr>
            <a:stCxn id="15" idx="2"/>
          </p:cNvCxnSpPr>
          <p:nvPr/>
        </p:nvCxnSpPr>
        <p:spPr bwMode="gray">
          <a:xfrm flipH="1">
            <a:off x="6191058" y="2941192"/>
            <a:ext cx="1" cy="197869"/>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5"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5920564" y="2498566"/>
            <a:ext cx="540989" cy="442626"/>
          </a:xfrm>
          <a:prstGeom prst="rect">
            <a:avLst/>
          </a:prstGeom>
          <a:noFill/>
        </p:spPr>
      </p:pic>
      <p:sp>
        <p:nvSpPr>
          <p:cNvPr id="19" name="圆角矩形 75"/>
          <p:cNvSpPr/>
          <p:nvPr/>
        </p:nvSpPr>
        <p:spPr bwMode="gray">
          <a:xfrm>
            <a:off x="962902" y="1880828"/>
            <a:ext cx="10453748"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穿越举例</a:t>
            </a:r>
          </a:p>
        </p:txBody>
      </p:sp>
      <p:graphicFrame>
        <p:nvGraphicFramePr>
          <p:cNvPr id="14" name="表格 27"/>
          <p:cNvGraphicFramePr>
            <a:graphicFrameLocks noGrp="1"/>
          </p:cNvGraphicFramePr>
          <p:nvPr>
            <p:extLst>
              <p:ext uri="{D42A27DB-BD31-4B8C-83A1-F6EECF244321}">
                <p14:modId xmlns:p14="http://schemas.microsoft.com/office/powerpoint/2010/main" val="2391522050"/>
              </p:ext>
            </p:extLst>
          </p:nvPr>
        </p:nvGraphicFramePr>
        <p:xfrm>
          <a:off x="1438775" y="4290884"/>
          <a:ext cx="2619172" cy="548568"/>
        </p:xfrm>
        <a:graphic>
          <a:graphicData uri="http://schemas.openxmlformats.org/drawingml/2006/table">
            <a:tbl>
              <a:tblPr firstRow="1" bandRow="1"/>
              <a:tblGrid>
                <a:gridCol w="1308688">
                  <a:extLst>
                    <a:ext uri="{9D8B030D-6E8A-4147-A177-3AD203B41FA5}">
                      <a16:colId xmlns:a16="http://schemas.microsoft.com/office/drawing/2014/main" val="20000"/>
                    </a:ext>
                  </a:extLst>
                </a:gridCol>
                <a:gridCol w="1310484">
                  <a:extLst>
                    <a:ext uri="{9D8B030D-6E8A-4147-A177-3AD203B41FA5}">
                      <a16:colId xmlns:a16="http://schemas.microsoft.com/office/drawing/2014/main" val="20001"/>
                    </a:ext>
                  </a:extLst>
                </a:gridCol>
              </a:tblGrid>
              <a:tr h="274213">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私有地址：端口</a:t>
                      </a: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algn="ctr" defTabSz="914034" rtl="0" eaLnBrk="1" latinLnBrk="0" hangingPunct="1"/>
                      <a:r>
                        <a:rPr lang="zh-CN" altLang="en-US" sz="1200" b="1" kern="1200" dirty="0">
                          <a:solidFill>
                            <a:sysClr val="windowText" lastClr="000000"/>
                          </a:solidFill>
                          <a:latin typeface="Huawei Sans" panose="020C0503030203020204" pitchFamily="34" charset="0"/>
                          <a:ea typeface="方正兰亭黑简体" panose="02000000000000000000" pitchFamily="2" charset="-122"/>
                          <a:cs typeface="+mn-ea"/>
                          <a:sym typeface="Huawei Sans" panose="020C0503030203020204" pitchFamily="34" charset="0"/>
                        </a:rPr>
                        <a:t>公有地址：端口</a:t>
                      </a: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213">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IP1:Port1</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marL="0" algn="ctr" defTabSz="914034" rtl="0" eaLnBrk="1" latinLnBrk="0" hangingPunct="1"/>
                      <a:r>
                        <a:rPr lang="en-US" altLang="zh-CN"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rPr>
                        <a:t>IP2:Port2</a:t>
                      </a:r>
                      <a:endParaRPr lang="zh-CN" altLang="en-US" sz="1200" b="0" kern="1200" dirty="0">
                        <a:solidFill>
                          <a:srgbClr val="C7000B"/>
                        </a:solidFill>
                        <a:latin typeface="Huawei Sans" panose="020C0503030203020204" pitchFamily="34" charset="0"/>
                        <a:ea typeface="方正兰亭黑简体" panose="02000000000000000000" pitchFamily="2" charset="-122"/>
                        <a:cs typeface="+mn-ea"/>
                        <a:sym typeface="Huawei Sans" panose="020C0503030203020204" pitchFamily="34" charset="0"/>
                      </a:endParaRPr>
                    </a:p>
                  </a:txBody>
                  <a:tcPr marL="91404" marR="91404" marT="45702" marB="45702">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5" name="Freeform 159"/>
          <p:cNvSpPr/>
          <p:nvPr/>
        </p:nvSpPr>
        <p:spPr bwMode="gray">
          <a:xfrm flipH="1">
            <a:off x="8944478" y="3063391"/>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26" name="Freeform 159"/>
          <p:cNvSpPr/>
          <p:nvPr/>
        </p:nvSpPr>
        <p:spPr bwMode="gray">
          <a:xfrm flipH="1">
            <a:off x="1617488" y="3063391"/>
            <a:ext cx="1696995" cy="88706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私网</a:t>
            </a:r>
            <a:endParaRPr lang="en-US" sz="1400" dirty="0">
              <a:solidFill>
                <a:schemeClr val="tx1"/>
              </a:solidFill>
            </a:endParaRPr>
          </a:p>
        </p:txBody>
      </p:sp>
      <p:sp>
        <p:nvSpPr>
          <p:cNvPr id="29" name="Freeform 159"/>
          <p:cNvSpPr/>
          <p:nvPr/>
        </p:nvSpPr>
        <p:spPr bwMode="gray">
          <a:xfrm flipH="1">
            <a:off x="5337355" y="3075755"/>
            <a:ext cx="1707405" cy="89251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cxnSp>
        <p:nvCxnSpPr>
          <p:cNvPr id="32" name="直接连接符 12"/>
          <p:cNvCxnSpPr>
            <a:cxnSpLocks/>
            <a:stCxn id="39" idx="3"/>
            <a:endCxn id="27" idx="3"/>
          </p:cNvCxnSpPr>
          <p:nvPr/>
        </p:nvCxnSpPr>
        <p:spPr bwMode="gray">
          <a:xfrm flipH="1" flipV="1">
            <a:off x="5460292" y="3691226"/>
            <a:ext cx="496648" cy="1093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3" name="直接连接符 12"/>
          <p:cNvCxnSpPr>
            <a:cxnSpLocks/>
            <a:stCxn id="28" idx="1"/>
            <a:endCxn id="40" idx="1"/>
          </p:cNvCxnSpPr>
          <p:nvPr/>
        </p:nvCxnSpPr>
        <p:spPr bwMode="gray">
          <a:xfrm flipH="1" flipV="1">
            <a:off x="6418826" y="3680102"/>
            <a:ext cx="497121" cy="64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4" name="直接连接符 12"/>
          <p:cNvCxnSpPr>
            <a:stCxn id="27" idx="1"/>
            <a:endCxn id="68" idx="3"/>
          </p:cNvCxnSpPr>
          <p:nvPr/>
        </p:nvCxnSpPr>
        <p:spPr bwMode="gray">
          <a:xfrm flipH="1" flipV="1">
            <a:off x="3531337" y="3686506"/>
            <a:ext cx="1387966" cy="472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5" name="直接连接符 12"/>
          <p:cNvCxnSpPr>
            <a:stCxn id="73" idx="1"/>
            <a:endCxn id="28" idx="3"/>
          </p:cNvCxnSpPr>
          <p:nvPr/>
        </p:nvCxnSpPr>
        <p:spPr bwMode="gray">
          <a:xfrm flipH="1" flipV="1">
            <a:off x="7456936" y="3686506"/>
            <a:ext cx="1368422" cy="6712"/>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6" name="矩形 26"/>
          <p:cNvSpPr/>
          <p:nvPr/>
        </p:nvSpPr>
        <p:spPr bwMode="gray">
          <a:xfrm>
            <a:off x="4794931" y="3244991"/>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37" name="矩形 26"/>
          <p:cNvSpPr/>
          <p:nvPr/>
        </p:nvSpPr>
        <p:spPr bwMode="gray">
          <a:xfrm>
            <a:off x="6817337" y="3229327"/>
            <a:ext cx="797013"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设备</a:t>
            </a:r>
          </a:p>
        </p:txBody>
      </p:sp>
      <p:sp>
        <p:nvSpPr>
          <p:cNvPr id="38" name="矩形 26"/>
          <p:cNvSpPr/>
          <p:nvPr/>
        </p:nvSpPr>
        <p:spPr bwMode="gray">
          <a:xfrm>
            <a:off x="3459154" y="3441637"/>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IP1</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Port1</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39" name="矩形 26"/>
          <p:cNvSpPr/>
          <p:nvPr/>
        </p:nvSpPr>
        <p:spPr bwMode="gray">
          <a:xfrm>
            <a:off x="5395568" y="3471330"/>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IP2</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Port2</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0" name="矩形 26"/>
          <p:cNvSpPr/>
          <p:nvPr/>
        </p:nvSpPr>
        <p:spPr bwMode="gray">
          <a:xfrm>
            <a:off x="6418826" y="3449269"/>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IP3</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Port3</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1" name="矩形 26"/>
          <p:cNvSpPr/>
          <p:nvPr/>
        </p:nvSpPr>
        <p:spPr bwMode="gray">
          <a:xfrm>
            <a:off x="8299711" y="3432682"/>
            <a:ext cx="561372" cy="461665"/>
          </a:xfrm>
          <a:prstGeom prst="rect">
            <a:avLst/>
          </a:prstGeom>
        </p:spPr>
        <p:txBody>
          <a:bodyPr wrap="none">
            <a:spAutoFit/>
          </a:bodyPr>
          <a:lstStyle/>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IP4</a:t>
            </a:r>
          </a:p>
          <a:p>
            <a:pPr algn="ctr" defTabSz="914034"/>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Port4</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sp>
        <p:nvSpPr>
          <p:cNvPr id="43" name="矩形 26"/>
          <p:cNvSpPr/>
          <p:nvPr/>
        </p:nvSpPr>
        <p:spPr bwMode="gray">
          <a:xfrm>
            <a:off x="6392855" y="2435105"/>
            <a:ext cx="1043876"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服务器</a:t>
            </a:r>
          </a:p>
        </p:txBody>
      </p:sp>
      <p:sp>
        <p:nvSpPr>
          <p:cNvPr id="44" name="矩形 26"/>
          <p:cNvSpPr/>
          <p:nvPr/>
        </p:nvSpPr>
        <p:spPr bwMode="gray">
          <a:xfrm>
            <a:off x="2597076" y="3918329"/>
            <a:ext cx="1043876"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客户端</a:t>
            </a:r>
          </a:p>
        </p:txBody>
      </p:sp>
      <p:sp>
        <p:nvSpPr>
          <p:cNvPr id="45" name="矩形 26"/>
          <p:cNvSpPr/>
          <p:nvPr/>
        </p:nvSpPr>
        <p:spPr bwMode="gray">
          <a:xfrm>
            <a:off x="8766189" y="3943218"/>
            <a:ext cx="1043876" cy="276999"/>
          </a:xfrm>
          <a:prstGeom prst="rect">
            <a:avLst/>
          </a:prstGeom>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客户端</a:t>
            </a:r>
          </a:p>
        </p:txBody>
      </p:sp>
      <p:sp>
        <p:nvSpPr>
          <p:cNvPr id="48" name="Freeform 47"/>
          <p:cNvSpPr/>
          <p:nvPr/>
        </p:nvSpPr>
        <p:spPr bwMode="gray">
          <a:xfrm>
            <a:off x="3606559" y="2756520"/>
            <a:ext cx="2294940"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Freeform 48"/>
          <p:cNvSpPr/>
          <p:nvPr/>
        </p:nvSpPr>
        <p:spPr bwMode="gray">
          <a:xfrm flipH="1">
            <a:off x="6480495" y="2740988"/>
            <a:ext cx="2321351"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26"/>
          <p:cNvSpPr/>
          <p:nvPr/>
        </p:nvSpPr>
        <p:spPr bwMode="gray">
          <a:xfrm rot="20818920">
            <a:off x="3710001" y="2926324"/>
            <a:ext cx="1325185" cy="550247"/>
          </a:xfrm>
          <a:prstGeom prst="rightArrow">
            <a:avLst/>
          </a:prstGeom>
          <a:solidFill>
            <a:srgbClr val="56C4D2"/>
          </a:solidFill>
          <a:ln>
            <a:solidFill>
              <a:srgbClr val="56C4D2"/>
            </a:solidFill>
          </a:ln>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绑定请求</a:t>
            </a:r>
          </a:p>
        </p:txBody>
      </p:sp>
      <p:sp>
        <p:nvSpPr>
          <p:cNvPr id="51" name="矩形 26"/>
          <p:cNvSpPr/>
          <p:nvPr/>
        </p:nvSpPr>
        <p:spPr bwMode="gray">
          <a:xfrm rot="653494">
            <a:off x="7518584" y="2950412"/>
            <a:ext cx="1325185" cy="550247"/>
          </a:xfrm>
          <a:prstGeom prst="leftArrow">
            <a:avLst/>
          </a:prstGeom>
          <a:solidFill>
            <a:srgbClr val="56C4D2"/>
          </a:solidFill>
          <a:ln>
            <a:solidFill>
              <a:srgbClr val="56C4D2"/>
            </a:solidFill>
          </a:ln>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绑定请求</a:t>
            </a:r>
          </a:p>
        </p:txBody>
      </p:sp>
      <p:sp>
        <p:nvSpPr>
          <p:cNvPr id="52" name="Freeform 51"/>
          <p:cNvSpPr/>
          <p:nvPr/>
        </p:nvSpPr>
        <p:spPr bwMode="gray">
          <a:xfrm>
            <a:off x="3643282" y="3000033"/>
            <a:ext cx="2379392"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Freeform 54"/>
          <p:cNvSpPr/>
          <p:nvPr/>
        </p:nvSpPr>
        <p:spPr bwMode="gray">
          <a:xfrm flipH="1">
            <a:off x="6359321" y="2997735"/>
            <a:ext cx="2424351" cy="861060"/>
          </a:xfrm>
          <a:custGeom>
            <a:avLst/>
            <a:gdLst>
              <a:gd name="connsiteX0" fmla="*/ 0 w 1379220"/>
              <a:gd name="connsiteY0" fmla="*/ 861060 h 861060"/>
              <a:gd name="connsiteX1" fmla="*/ 876300 w 1379220"/>
              <a:gd name="connsiteY1" fmla="*/ 586740 h 861060"/>
              <a:gd name="connsiteX2" fmla="*/ 1379220 w 1379220"/>
              <a:gd name="connsiteY2" fmla="*/ 0 h 861060"/>
            </a:gdLst>
            <a:ahLst/>
            <a:cxnLst>
              <a:cxn ang="0">
                <a:pos x="connsiteX0" y="connsiteY0"/>
              </a:cxn>
              <a:cxn ang="0">
                <a:pos x="connsiteX1" y="connsiteY1"/>
              </a:cxn>
              <a:cxn ang="0">
                <a:pos x="connsiteX2" y="connsiteY2"/>
              </a:cxn>
            </a:cxnLst>
            <a:rect l="l" t="t" r="r" b="b"/>
            <a:pathLst>
              <a:path w="1379220" h="861060">
                <a:moveTo>
                  <a:pt x="0" y="861060"/>
                </a:moveTo>
                <a:cubicBezTo>
                  <a:pt x="323215" y="795655"/>
                  <a:pt x="646430" y="730250"/>
                  <a:pt x="876300" y="586740"/>
                </a:cubicBezTo>
                <a:cubicBezTo>
                  <a:pt x="1106170" y="443230"/>
                  <a:pt x="1242695" y="221615"/>
                  <a:pt x="1379220" y="0"/>
                </a:cubicBezTo>
              </a:path>
            </a:pathLst>
          </a:custGeom>
          <a:noFill/>
          <a:ln w="19050">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26"/>
          <p:cNvSpPr/>
          <p:nvPr/>
        </p:nvSpPr>
        <p:spPr bwMode="gray">
          <a:xfrm rot="21135608">
            <a:off x="3602723" y="3746659"/>
            <a:ext cx="1325185" cy="550247"/>
          </a:xfrm>
          <a:prstGeom prst="leftArrow">
            <a:avLst/>
          </a:prstGeom>
          <a:solidFill>
            <a:srgbClr val="FFC000"/>
          </a:solidFill>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绑定响应</a:t>
            </a:r>
          </a:p>
        </p:txBody>
      </p:sp>
      <p:sp>
        <p:nvSpPr>
          <p:cNvPr id="57" name="矩形 26"/>
          <p:cNvSpPr/>
          <p:nvPr/>
        </p:nvSpPr>
        <p:spPr bwMode="gray">
          <a:xfrm rot="703320">
            <a:off x="7454168" y="3718777"/>
            <a:ext cx="1325185" cy="550247"/>
          </a:xfrm>
          <a:prstGeom prst="rightArrow">
            <a:avLst/>
          </a:prstGeom>
          <a:solidFill>
            <a:srgbClr val="FFC000"/>
          </a:solidFill>
        </p:spPr>
        <p:txBody>
          <a:bodyPr wrap="none">
            <a:spAutoFit/>
          </a:bodyPr>
          <a:lstStyle/>
          <a:p>
            <a:pPr algn="ctr" defTabSz="914034" fontAlgn="auto"/>
            <a:r>
              <a:rPr lang="en-US" altLang="zh-CN"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solidFill>
                  <a:schemeClr val="bg1"/>
                </a:solidFill>
                <a:latin typeface="Huawei Sans" panose="020C0503030203020204" pitchFamily="34" charset="0"/>
                <a:ea typeface="方正兰亭黑简体" panose="02000000000000000000" pitchFamily="2" charset="-122"/>
                <a:cs typeface="+mn-ea"/>
                <a:sym typeface="Huawei Sans" panose="020C0503030203020204" pitchFamily="34" charset="0"/>
              </a:rPr>
              <a:t>绑定响应</a:t>
            </a:r>
          </a:p>
        </p:txBody>
      </p:sp>
      <p:cxnSp>
        <p:nvCxnSpPr>
          <p:cNvPr id="61" name="Straight Arrow Connector 60"/>
          <p:cNvCxnSpPr>
            <a:cxnSpLocks/>
          </p:cNvCxnSpPr>
          <p:nvPr/>
        </p:nvCxnSpPr>
        <p:spPr bwMode="gray">
          <a:xfrm>
            <a:off x="3260842" y="4916197"/>
            <a:ext cx="5895498" cy="0"/>
          </a:xfrm>
          <a:prstGeom prst="straightConnector1">
            <a:avLst/>
          </a:prstGeom>
          <a:ln w="19050">
            <a:solidFill>
              <a:srgbClr val="41719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2" name="矩形 26"/>
          <p:cNvSpPr/>
          <p:nvPr/>
        </p:nvSpPr>
        <p:spPr bwMode="gray">
          <a:xfrm>
            <a:off x="5241741" y="4621238"/>
            <a:ext cx="1856597" cy="276999"/>
          </a:xfrm>
          <a:prstGeom prst="rect">
            <a:avLst/>
          </a:prstGeom>
          <a:noFill/>
        </p:spPr>
        <p:txBody>
          <a:bodyPr wrap="none">
            <a:spAutoFit/>
          </a:bodyPr>
          <a:lstStyle/>
          <a:p>
            <a:pPr algn="ctr" defTabSz="914034" fontAlgn="auto"/>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通过</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BGP</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学习对端的</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endPar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endParaRPr>
          </a:p>
        </p:txBody>
      </p:sp>
      <p:pic>
        <p:nvPicPr>
          <p:cNvPr id="6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2990348" y="3465193"/>
            <a:ext cx="540989" cy="442626"/>
          </a:xfrm>
          <a:prstGeom prst="rect">
            <a:avLst/>
          </a:prstGeom>
          <a:noFill/>
        </p:spPr>
      </p:pic>
      <p:pic>
        <p:nvPicPr>
          <p:cNvPr id="73"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8825358" y="3471905"/>
            <a:ext cx="540989" cy="442626"/>
          </a:xfrm>
          <a:prstGeom prst="rect">
            <a:avLst/>
          </a:prstGeom>
          <a:noFill/>
        </p:spPr>
      </p:pic>
      <p:cxnSp>
        <p:nvCxnSpPr>
          <p:cNvPr id="76" name="Straight Arrow Connector 75"/>
          <p:cNvCxnSpPr>
            <a:cxnSpLocks/>
          </p:cNvCxnSpPr>
          <p:nvPr/>
        </p:nvCxnSpPr>
        <p:spPr bwMode="gray">
          <a:xfrm>
            <a:off x="3260842" y="5211157"/>
            <a:ext cx="5895498" cy="0"/>
          </a:xfrm>
          <a:prstGeom prst="straightConnector1">
            <a:avLst/>
          </a:prstGeom>
          <a:ln w="19050">
            <a:solidFill>
              <a:srgbClr val="41719C"/>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cxnSpLocks/>
          </p:cNvCxnSpPr>
          <p:nvPr/>
        </p:nvCxnSpPr>
        <p:spPr bwMode="gray">
          <a:xfrm>
            <a:off x="3260842" y="5512708"/>
            <a:ext cx="5895498" cy="0"/>
          </a:xfrm>
          <a:prstGeom prst="straightConnector1">
            <a:avLst/>
          </a:prstGeom>
          <a:ln w="19050">
            <a:solidFill>
              <a:srgbClr val="41719C"/>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8" name="矩形 26"/>
          <p:cNvSpPr/>
          <p:nvPr/>
        </p:nvSpPr>
        <p:spPr bwMode="gray">
          <a:xfrm>
            <a:off x="5571157" y="4952201"/>
            <a:ext cx="1197764" cy="276999"/>
          </a:xfrm>
          <a:prstGeom prst="rect">
            <a:avLst/>
          </a:prstGeom>
          <a:noFill/>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绑定请求</a:t>
            </a:r>
          </a:p>
        </p:txBody>
      </p:sp>
      <p:sp>
        <p:nvSpPr>
          <p:cNvPr id="79" name="矩形 26"/>
          <p:cNvSpPr/>
          <p:nvPr/>
        </p:nvSpPr>
        <p:spPr bwMode="gray">
          <a:xfrm>
            <a:off x="5589286" y="5251266"/>
            <a:ext cx="1197764" cy="276999"/>
          </a:xfrm>
          <a:prstGeom prst="rect">
            <a:avLst/>
          </a:prstGeom>
          <a:noFill/>
        </p:spPr>
        <p:txBody>
          <a:bodyPr wrap="none">
            <a:spAutoFit/>
          </a:bodyPr>
          <a:lstStyle/>
          <a:p>
            <a:pPr algn="ctr" defTabSz="914034" fontAlgn="auto"/>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STUN</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绑定响应</a:t>
            </a:r>
          </a:p>
        </p:txBody>
      </p:sp>
      <p:cxnSp>
        <p:nvCxnSpPr>
          <p:cNvPr id="80" name="Straight Arrow Connector 79"/>
          <p:cNvCxnSpPr>
            <a:cxnSpLocks/>
          </p:cNvCxnSpPr>
          <p:nvPr/>
        </p:nvCxnSpPr>
        <p:spPr bwMode="gray">
          <a:xfrm>
            <a:off x="3260842" y="5818952"/>
            <a:ext cx="5931502" cy="0"/>
          </a:xfrm>
          <a:prstGeom prst="straightConnector1">
            <a:avLst/>
          </a:prstGeom>
          <a:ln w="38100">
            <a:solidFill>
              <a:srgbClr val="EC706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7" name="椭圆 50">
            <a:extLst>
              <a:ext uri="{FF2B5EF4-FFF2-40B4-BE49-F238E27FC236}">
                <a16:creationId xmlns:a16="http://schemas.microsoft.com/office/drawing/2014/main" id="{4C36BF72-2DED-43F7-8CCF-C6A3E533747D}"/>
              </a:ext>
            </a:extLst>
          </p:cNvPr>
          <p:cNvSpPr/>
          <p:nvPr/>
        </p:nvSpPr>
        <p:spPr bwMode="gray">
          <a:xfrm>
            <a:off x="3622764" y="3139504"/>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椭圆 50">
            <a:extLst>
              <a:ext uri="{FF2B5EF4-FFF2-40B4-BE49-F238E27FC236}">
                <a16:creationId xmlns:a16="http://schemas.microsoft.com/office/drawing/2014/main" id="{7FDF1A6C-F405-4D6B-A7AD-26487C8E28ED}"/>
              </a:ext>
            </a:extLst>
          </p:cNvPr>
          <p:cNvSpPr/>
          <p:nvPr/>
        </p:nvSpPr>
        <p:spPr bwMode="gray">
          <a:xfrm>
            <a:off x="8747031" y="3119896"/>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50">
            <a:extLst>
              <a:ext uri="{FF2B5EF4-FFF2-40B4-BE49-F238E27FC236}">
                <a16:creationId xmlns:a16="http://schemas.microsoft.com/office/drawing/2014/main" id="{76B7D261-79AF-4460-B1D3-4994C5E70729}"/>
              </a:ext>
            </a:extLst>
          </p:cNvPr>
          <p:cNvSpPr/>
          <p:nvPr/>
        </p:nvSpPr>
        <p:spPr bwMode="gray">
          <a:xfrm>
            <a:off x="4858720" y="3942535"/>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椭圆 50">
            <a:extLst>
              <a:ext uri="{FF2B5EF4-FFF2-40B4-BE49-F238E27FC236}">
                <a16:creationId xmlns:a16="http://schemas.microsoft.com/office/drawing/2014/main" id="{AA63C9A1-35CE-40B2-A604-DA3F73FD4CFD}"/>
              </a:ext>
            </a:extLst>
          </p:cNvPr>
          <p:cNvSpPr/>
          <p:nvPr/>
        </p:nvSpPr>
        <p:spPr bwMode="gray">
          <a:xfrm>
            <a:off x="7356140" y="3916890"/>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椭圆 50">
            <a:extLst>
              <a:ext uri="{FF2B5EF4-FFF2-40B4-BE49-F238E27FC236}">
                <a16:creationId xmlns:a16="http://schemas.microsoft.com/office/drawing/2014/main" id="{E5B8A0CE-E709-4F45-926C-52B71EF4790B}"/>
              </a:ext>
            </a:extLst>
          </p:cNvPr>
          <p:cNvSpPr/>
          <p:nvPr/>
        </p:nvSpPr>
        <p:spPr bwMode="gray">
          <a:xfrm>
            <a:off x="5018446" y="4664189"/>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50">
            <a:extLst>
              <a:ext uri="{FF2B5EF4-FFF2-40B4-BE49-F238E27FC236}">
                <a16:creationId xmlns:a16="http://schemas.microsoft.com/office/drawing/2014/main" id="{EDE7F19F-8C17-4AA8-8AFC-2543064DBF02}"/>
              </a:ext>
            </a:extLst>
          </p:cNvPr>
          <p:cNvSpPr/>
          <p:nvPr/>
        </p:nvSpPr>
        <p:spPr bwMode="gray">
          <a:xfrm>
            <a:off x="5018446" y="4957669"/>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椭圆 50">
            <a:extLst>
              <a:ext uri="{FF2B5EF4-FFF2-40B4-BE49-F238E27FC236}">
                <a16:creationId xmlns:a16="http://schemas.microsoft.com/office/drawing/2014/main" id="{5B0DD743-BCBE-4DB5-8748-B4B3FC4003CA}"/>
              </a:ext>
            </a:extLst>
          </p:cNvPr>
          <p:cNvSpPr/>
          <p:nvPr/>
        </p:nvSpPr>
        <p:spPr bwMode="gray">
          <a:xfrm>
            <a:off x="5018446" y="5270347"/>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矩形 26"/>
          <p:cNvSpPr/>
          <p:nvPr/>
        </p:nvSpPr>
        <p:spPr bwMode="gray">
          <a:xfrm>
            <a:off x="5251052" y="5564269"/>
            <a:ext cx="1874231" cy="276999"/>
          </a:xfrm>
          <a:prstGeom prst="rect">
            <a:avLst/>
          </a:prstGeom>
          <a:noFill/>
        </p:spPr>
        <p:txBody>
          <a:bodyPr wrap="none">
            <a:spAutoFit/>
          </a:bodyPr>
          <a:lstStyle/>
          <a:p>
            <a:pPr algn="ctr" defTabSz="914034" fontAlgn="auto"/>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建立</a:t>
            </a:r>
            <a:r>
              <a:rPr lang="en-US" altLang="zh-CN" sz="1200" dirty="0">
                <a:latin typeface="Huawei Sans" panose="020C0503030203020204" pitchFamily="34" charset="0"/>
                <a:ea typeface="方正兰亭黑简体" panose="02000000000000000000" pitchFamily="2" charset="-122"/>
                <a:cs typeface="+mn-ea"/>
                <a:sym typeface="Huawei Sans" panose="020C0503030203020204" pitchFamily="34" charset="0"/>
              </a:rPr>
              <a:t>NAT</a:t>
            </a:r>
            <a:r>
              <a:rPr lang="zh-CN" altLang="en-US" sz="1200" dirty="0">
                <a:latin typeface="Huawei Sans" panose="020C0503030203020204" pitchFamily="34" charset="0"/>
                <a:ea typeface="方正兰亭黑简体" panose="02000000000000000000" pitchFamily="2" charset="-122"/>
                <a:cs typeface="+mn-ea"/>
                <a:sym typeface="Huawei Sans" panose="020C0503030203020204" pitchFamily="34" charset="0"/>
              </a:rPr>
              <a:t>穿越的数据通道</a:t>
            </a:r>
          </a:p>
        </p:txBody>
      </p:sp>
      <p:sp>
        <p:nvSpPr>
          <p:cNvPr id="66" name="椭圆 50">
            <a:extLst>
              <a:ext uri="{FF2B5EF4-FFF2-40B4-BE49-F238E27FC236}">
                <a16:creationId xmlns:a16="http://schemas.microsoft.com/office/drawing/2014/main" id="{7AB8E6D0-969B-4C9D-B103-AF10FE31D98C}"/>
              </a:ext>
            </a:extLst>
          </p:cNvPr>
          <p:cNvSpPr/>
          <p:nvPr/>
        </p:nvSpPr>
        <p:spPr bwMode="gray">
          <a:xfrm>
            <a:off x="5027789" y="5594151"/>
            <a:ext cx="180000" cy="180000"/>
          </a:xfrm>
          <a:prstGeom prst="ellipse">
            <a:avLst/>
          </a:prstGeom>
          <a:solidFill>
            <a:srgbClr val="FFC000"/>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algn="ctr" fontAlgn="auto"/>
            <a:r>
              <a:rPr lang="en-US" altLang="zh-CN"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6</a:t>
            </a:r>
            <a:endParaRPr lang="zh-CN" altLang="en-US" sz="11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4919303" y="3469913"/>
            <a:ext cx="540989" cy="442626"/>
          </a:xfrm>
          <a:prstGeom prst="rect">
            <a:avLst/>
          </a:prstGeom>
          <a:noFill/>
        </p:spPr>
      </p:pic>
      <p:pic>
        <p:nvPicPr>
          <p:cNvPr id="28"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6915947" y="3465193"/>
            <a:ext cx="540989" cy="442626"/>
          </a:xfrm>
          <a:prstGeom prst="rect">
            <a:avLst/>
          </a:prstGeom>
          <a:noFill/>
        </p:spPr>
      </p:pic>
      <p:pic>
        <p:nvPicPr>
          <p:cNvPr id="101" name="图片 73" descr="PC.png">
            <a:extLst>
              <a:ext uri="{FF2B5EF4-FFF2-40B4-BE49-F238E27FC236}">
                <a16:creationId xmlns:a16="http://schemas.microsoft.com/office/drawing/2014/main" id="{A488EABC-CA47-4D1A-97FF-A3B14AF2B84E}"/>
              </a:ext>
            </a:extLst>
          </p:cNvPr>
          <p:cNvPicPr>
            <a:picLocks noChangeAspect="1"/>
          </p:cNvPicPr>
          <p:nvPr/>
        </p:nvPicPr>
        <p:blipFill>
          <a:blip r:embed="rId4" cstate="print"/>
          <a:stretch>
            <a:fillRect/>
          </a:stretch>
        </p:blipFill>
        <p:spPr bwMode="gray">
          <a:xfrm>
            <a:off x="1452481" y="3471905"/>
            <a:ext cx="539063" cy="414000"/>
          </a:xfrm>
          <a:prstGeom prst="rect">
            <a:avLst/>
          </a:prstGeom>
        </p:spPr>
      </p:pic>
      <p:pic>
        <p:nvPicPr>
          <p:cNvPr id="102" name="图片 73" descr="PC.png">
            <a:extLst>
              <a:ext uri="{FF2B5EF4-FFF2-40B4-BE49-F238E27FC236}">
                <a16:creationId xmlns:a16="http://schemas.microsoft.com/office/drawing/2014/main" id="{8C8943F5-1624-400F-B2CF-F3682FB9E041}"/>
              </a:ext>
            </a:extLst>
          </p:cNvPr>
          <p:cNvPicPr>
            <a:picLocks noChangeAspect="1"/>
          </p:cNvPicPr>
          <p:nvPr/>
        </p:nvPicPr>
        <p:blipFill>
          <a:blip r:embed="rId4" cstate="print"/>
          <a:stretch>
            <a:fillRect/>
          </a:stretch>
        </p:blipFill>
        <p:spPr bwMode="gray">
          <a:xfrm>
            <a:off x="10334342" y="3480964"/>
            <a:ext cx="539063" cy="414000"/>
          </a:xfrm>
          <a:prstGeom prst="rect">
            <a:avLst/>
          </a:prstGeom>
        </p:spPr>
      </p:pic>
      <p:cxnSp>
        <p:nvCxnSpPr>
          <p:cNvPr id="103" name="直接连接符 12">
            <a:extLst>
              <a:ext uri="{FF2B5EF4-FFF2-40B4-BE49-F238E27FC236}">
                <a16:creationId xmlns:a16="http://schemas.microsoft.com/office/drawing/2014/main" id="{D5645679-DA1D-4A66-B18E-210CF290E05B}"/>
              </a:ext>
            </a:extLst>
          </p:cNvPr>
          <p:cNvCxnSpPr>
            <a:cxnSpLocks/>
            <a:stCxn id="68" idx="1"/>
            <a:endCxn id="101" idx="3"/>
          </p:cNvCxnSpPr>
          <p:nvPr/>
        </p:nvCxnSpPr>
        <p:spPr bwMode="gray">
          <a:xfrm flipH="1" flipV="1">
            <a:off x="1991544" y="3678905"/>
            <a:ext cx="998804" cy="7601"/>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6" name="直接连接符 12">
            <a:extLst>
              <a:ext uri="{FF2B5EF4-FFF2-40B4-BE49-F238E27FC236}">
                <a16:creationId xmlns:a16="http://schemas.microsoft.com/office/drawing/2014/main" id="{B0A4640B-9907-4829-99A4-DCD28F554716}"/>
              </a:ext>
            </a:extLst>
          </p:cNvPr>
          <p:cNvCxnSpPr>
            <a:cxnSpLocks/>
            <a:stCxn id="102" idx="1"/>
            <a:endCxn id="73" idx="3"/>
          </p:cNvCxnSpPr>
          <p:nvPr/>
        </p:nvCxnSpPr>
        <p:spPr bwMode="gray">
          <a:xfrm flipH="1">
            <a:off x="9366347" y="3687964"/>
            <a:ext cx="967995" cy="525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5597751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b="1" dirty="0"/>
              <a:t>广域互联智能选路技术</a:t>
            </a:r>
            <a:endParaRPr lang="en-US" altLang="zh-CN" b="1" dirty="0"/>
          </a:p>
          <a:p>
            <a:pPr lvl="1">
              <a:buSzPct val="60000"/>
              <a:buFont typeface="Wingdings" panose="05000000000000000000" pitchFamily="2" charset="2"/>
              <a:buChar char="n"/>
            </a:pPr>
            <a:r>
              <a:rPr lang="en-US" altLang="zh-CN" dirty="0"/>
              <a:t>SAC</a:t>
            </a:r>
            <a:r>
              <a:rPr lang="zh-CN" altLang="en-US" dirty="0"/>
              <a:t>介绍</a:t>
            </a:r>
            <a:endParaRPr lang="en-US" altLang="zh-CN" dirty="0"/>
          </a:p>
          <a:p>
            <a:pPr lvl="1"/>
            <a:r>
              <a:rPr lang="en-US" altLang="zh-CN" dirty="0">
                <a:solidFill>
                  <a:schemeClr val="bg1">
                    <a:lumMod val="50000"/>
                  </a:schemeClr>
                </a:solidFill>
              </a:rPr>
              <a:t>SRP</a:t>
            </a:r>
            <a:r>
              <a:rPr lang="zh-CN" altLang="en-US" dirty="0">
                <a:solidFill>
                  <a:schemeClr val="bg1">
                    <a:lumMod val="50000"/>
                  </a:schemeClr>
                </a:solidFill>
              </a:rPr>
              <a:t>介绍</a:t>
            </a:r>
            <a:endParaRPr lang="en-US" altLang="zh-CN" dirty="0">
              <a:solidFill>
                <a:schemeClr val="bg1">
                  <a:lumMod val="50000"/>
                </a:schemeClr>
              </a:solidFill>
            </a:endParaRPr>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18756356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C77D2E-C642-4157-A68C-E544AB72F954}"/>
              </a:ext>
            </a:extLst>
          </p:cNvPr>
          <p:cNvSpPr>
            <a:spLocks noGrp="1"/>
          </p:cNvSpPr>
          <p:nvPr>
            <p:ph type="title"/>
          </p:nvPr>
        </p:nvSpPr>
        <p:spPr bwMode="gray"/>
        <p:txBody>
          <a:bodyPr/>
          <a:lstStyle/>
          <a:p>
            <a:r>
              <a:rPr lang="zh-CN" altLang="en-US" dirty="0"/>
              <a:t>智能选路简介</a:t>
            </a:r>
            <a:endParaRPr lang="en-US" dirty="0"/>
          </a:p>
        </p:txBody>
      </p:sp>
      <p:sp>
        <p:nvSpPr>
          <p:cNvPr id="4" name="Text Placeholder 3">
            <a:extLst>
              <a:ext uri="{FF2B5EF4-FFF2-40B4-BE49-F238E27FC236}">
                <a16:creationId xmlns:a16="http://schemas.microsoft.com/office/drawing/2014/main" id="{40355E2A-CB4E-44D7-8EE6-840FEF6CD210}"/>
              </a:ext>
            </a:extLst>
          </p:cNvPr>
          <p:cNvSpPr>
            <a:spLocks noGrp="1"/>
          </p:cNvSpPr>
          <p:nvPr>
            <p:ph type="body" sz="quarter" idx="10"/>
          </p:nvPr>
        </p:nvSpPr>
        <p:spPr bwMode="gray"/>
        <p:txBody>
          <a:bodyPr/>
          <a:lstStyle/>
          <a:p>
            <a:r>
              <a:rPr lang="zh-CN" altLang="en-US" dirty="0"/>
              <a:t>云计算时代，网络不能再满足用户的需求，用户希望能够基于应用了解现网的情况，并根据应用的现状调整网络。</a:t>
            </a:r>
            <a:endParaRPr lang="en-US" altLang="zh-CN" dirty="0"/>
          </a:p>
          <a:p>
            <a:r>
              <a:rPr lang="zh-CN" altLang="en-US" dirty="0"/>
              <a:t>这种需求对于原有的网络提出了挑战：</a:t>
            </a:r>
            <a:endParaRPr lang="en-US" altLang="zh-CN" dirty="0"/>
          </a:p>
          <a:p>
            <a:pPr lvl="1"/>
            <a:r>
              <a:rPr lang="zh-CN" altLang="en-US" dirty="0"/>
              <a:t>传统的网络无法很好的识别应用</a:t>
            </a:r>
            <a:endParaRPr lang="en-US" altLang="zh-CN" dirty="0"/>
          </a:p>
          <a:p>
            <a:pPr lvl="1"/>
            <a:r>
              <a:rPr lang="zh-CN" altLang="en-US" dirty="0"/>
              <a:t>传统的网络无法基于应用调整。</a:t>
            </a:r>
            <a:endParaRPr lang="en-US" altLang="zh-CN" dirty="0"/>
          </a:p>
          <a:p>
            <a:r>
              <a:rPr lang="zh-CN" altLang="en-US" dirty="0"/>
              <a:t>为了应对挑战产生了两种技术：</a:t>
            </a:r>
            <a:endParaRPr lang="en-US" altLang="zh-CN" dirty="0"/>
          </a:p>
          <a:p>
            <a:pPr lvl="1"/>
            <a:r>
              <a:rPr lang="en-US" altLang="zh-CN" dirty="0"/>
              <a:t>SAC</a:t>
            </a:r>
            <a:r>
              <a:rPr lang="zh-CN" altLang="en-US" dirty="0"/>
              <a:t>（</a:t>
            </a:r>
            <a:r>
              <a:rPr lang="en-US" altLang="zh-CN" dirty="0"/>
              <a:t>Smart Application Control</a:t>
            </a:r>
            <a:r>
              <a:rPr lang="zh-CN" altLang="en-US" dirty="0"/>
              <a:t>，智能应用控制），该技术能够灵活的识别应用</a:t>
            </a:r>
            <a:endParaRPr lang="en-US" altLang="zh-CN" dirty="0"/>
          </a:p>
          <a:p>
            <a:pPr lvl="1"/>
            <a:r>
              <a:rPr lang="en-US" altLang="zh-CN" dirty="0"/>
              <a:t>SPR</a:t>
            </a:r>
            <a:r>
              <a:rPr lang="zh-CN" altLang="en-US" dirty="0"/>
              <a:t>（</a:t>
            </a:r>
            <a:r>
              <a:rPr lang="en-US" altLang="zh-CN" dirty="0"/>
              <a:t>Smart Policy Routing</a:t>
            </a:r>
            <a:r>
              <a:rPr lang="zh-CN" altLang="en-US" dirty="0"/>
              <a:t>，智能策略路由），该技术能够基于网络的状况或者应用的状况切换转发路径。</a:t>
            </a:r>
            <a:endParaRPr lang="en-US" dirty="0"/>
          </a:p>
        </p:txBody>
      </p:sp>
    </p:spTree>
    <p:extLst>
      <p:ext uri="{BB962C8B-B14F-4D97-AF65-F5344CB8AC3E}">
        <p14:creationId xmlns:p14="http://schemas.microsoft.com/office/powerpoint/2010/main" val="34457099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0F31-756B-4378-A2BE-D91739B2F980}"/>
              </a:ext>
            </a:extLst>
          </p:cNvPr>
          <p:cNvSpPr>
            <a:spLocks noGrp="1"/>
          </p:cNvSpPr>
          <p:nvPr>
            <p:ph type="title"/>
          </p:nvPr>
        </p:nvSpPr>
        <p:spPr bwMode="gray"/>
        <p:txBody>
          <a:bodyPr/>
          <a:lstStyle/>
          <a:p>
            <a:r>
              <a:rPr lang="en-US"/>
              <a:t>SAC</a:t>
            </a:r>
            <a:r>
              <a:rPr lang="zh-CN" altLang="en-US"/>
              <a:t>简介</a:t>
            </a:r>
            <a:endParaRPr lang="en-US" dirty="0"/>
          </a:p>
        </p:txBody>
      </p:sp>
      <p:sp>
        <p:nvSpPr>
          <p:cNvPr id="3" name="Text Placeholder 2">
            <a:extLst>
              <a:ext uri="{FF2B5EF4-FFF2-40B4-BE49-F238E27FC236}">
                <a16:creationId xmlns:a16="http://schemas.microsoft.com/office/drawing/2014/main" id="{B78BAFD1-B2F1-49BC-ACA1-61F7240422B4}"/>
              </a:ext>
            </a:extLst>
          </p:cNvPr>
          <p:cNvSpPr>
            <a:spLocks noGrp="1"/>
          </p:cNvSpPr>
          <p:nvPr>
            <p:ph type="body" sz="quarter" idx="10"/>
          </p:nvPr>
        </p:nvSpPr>
        <p:spPr bwMode="gray"/>
        <p:txBody>
          <a:bodyPr/>
          <a:lstStyle/>
          <a:p>
            <a:r>
              <a:rPr lang="zh-CN" altLang="en-US" dirty="0"/>
              <a:t>传统网络主要是以流量为维度管理网络，但在云计算时代，业务变得原来越重要，网络不能再只基于过去的五元组管理网络，而需要以应用为维度管理监控网络。</a:t>
            </a:r>
            <a:endParaRPr lang="en-US" altLang="zh-CN" dirty="0"/>
          </a:p>
          <a:p>
            <a:r>
              <a:rPr lang="zh-CN" altLang="en-US" dirty="0"/>
              <a:t>传统路由交换设备没有办法识别应用层的信息，以应用为维度管理网络存在较大难度。</a:t>
            </a:r>
            <a:r>
              <a:rPr lang="en-US" altLang="zh-CN" dirty="0"/>
              <a:t>SAC</a:t>
            </a:r>
            <a:r>
              <a:rPr lang="zh-CN" altLang="en-US" dirty="0"/>
              <a:t>（</a:t>
            </a:r>
            <a:r>
              <a:rPr lang="en-US" altLang="zh-CN" dirty="0"/>
              <a:t>Smart Application Control</a:t>
            </a:r>
            <a:r>
              <a:rPr lang="zh-CN" altLang="en-US" dirty="0"/>
              <a:t>，智能应用控制）技术能够帮助路由交换设备识别分类应用。</a:t>
            </a:r>
            <a:endParaRPr lang="en-US" altLang="zh-CN" dirty="0"/>
          </a:p>
          <a:p>
            <a:r>
              <a:rPr lang="en-US" altLang="zh-CN" dirty="0"/>
              <a:t>SAC</a:t>
            </a:r>
            <a:r>
              <a:rPr lang="zh-CN" altLang="en-US" dirty="0"/>
              <a:t>指利用</a:t>
            </a:r>
            <a:r>
              <a:rPr lang="en-US" altLang="zh-CN" dirty="0"/>
              <a:t>SA</a:t>
            </a:r>
            <a:r>
              <a:rPr lang="zh-CN" altLang="en-US" dirty="0"/>
              <a:t>（</a:t>
            </a:r>
            <a:r>
              <a:rPr lang="en-US" altLang="zh-CN" dirty="0"/>
              <a:t>Service Awareness</a:t>
            </a:r>
            <a:r>
              <a:rPr lang="zh-CN" altLang="en-US" dirty="0"/>
              <a:t>，业务感知技术）和</a:t>
            </a:r>
            <a:r>
              <a:rPr lang="en-US" altLang="zh-CN" dirty="0"/>
              <a:t>FPI</a:t>
            </a:r>
            <a:r>
              <a:rPr lang="zh-CN" altLang="en-US" dirty="0"/>
              <a:t>（</a:t>
            </a:r>
            <a:r>
              <a:rPr lang="en-US" altLang="zh-CN" dirty="0"/>
              <a:t>First Packet Identification</a:t>
            </a:r>
            <a:r>
              <a:rPr lang="zh-CN" altLang="en-US" dirty="0"/>
              <a:t>，首包识别技术），对报文中的第</a:t>
            </a:r>
            <a:r>
              <a:rPr lang="en-US" altLang="zh-CN" dirty="0"/>
              <a:t>4</a:t>
            </a:r>
            <a:r>
              <a:rPr lang="zh-CN" altLang="en-US" dirty="0"/>
              <a:t>～</a:t>
            </a:r>
            <a:r>
              <a:rPr lang="en-US" altLang="zh-CN" dirty="0"/>
              <a:t>7</a:t>
            </a:r>
            <a:r>
              <a:rPr lang="zh-CN" altLang="en-US" dirty="0"/>
              <a:t>层内容（如</a:t>
            </a:r>
            <a:r>
              <a:rPr lang="en-US" altLang="zh-CN" dirty="0"/>
              <a:t>HTTP</a:t>
            </a:r>
            <a:r>
              <a:rPr lang="zh-CN" altLang="en-US" dirty="0"/>
              <a:t>、</a:t>
            </a:r>
            <a:r>
              <a:rPr lang="en-US" altLang="zh-CN" dirty="0"/>
              <a:t>RTP</a:t>
            </a:r>
            <a:r>
              <a:rPr lang="zh-CN" altLang="en-US" dirty="0"/>
              <a:t>）进行检测和识别，</a:t>
            </a:r>
            <a:endParaRPr lang="en-US" altLang="zh-CN" dirty="0"/>
          </a:p>
        </p:txBody>
      </p:sp>
    </p:spTree>
    <p:extLst>
      <p:ext uri="{BB962C8B-B14F-4D97-AF65-F5344CB8AC3E}">
        <p14:creationId xmlns:p14="http://schemas.microsoft.com/office/powerpoint/2010/main" val="7466681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BEDAA-4EDB-41D0-B312-0149B70289CE}"/>
              </a:ext>
            </a:extLst>
          </p:cNvPr>
          <p:cNvSpPr>
            <a:spLocks noGrp="1"/>
          </p:cNvSpPr>
          <p:nvPr>
            <p:ph type="title"/>
          </p:nvPr>
        </p:nvSpPr>
        <p:spPr bwMode="gray"/>
        <p:txBody>
          <a:bodyPr/>
          <a:lstStyle/>
          <a:p>
            <a:r>
              <a:rPr lang="en-US" dirty="0"/>
              <a:t>SAC</a:t>
            </a:r>
            <a:r>
              <a:rPr lang="zh-CN" altLang="en-US" dirty="0"/>
              <a:t>特征库介绍</a:t>
            </a:r>
            <a:endParaRPr lang="en-US" dirty="0"/>
          </a:p>
        </p:txBody>
      </p:sp>
      <p:sp>
        <p:nvSpPr>
          <p:cNvPr id="3" name="Text Placeholder 2">
            <a:extLst>
              <a:ext uri="{FF2B5EF4-FFF2-40B4-BE49-F238E27FC236}">
                <a16:creationId xmlns:a16="http://schemas.microsoft.com/office/drawing/2014/main" id="{544D7983-BBFA-4170-85FC-78CDD432ABBA}"/>
              </a:ext>
            </a:extLst>
          </p:cNvPr>
          <p:cNvSpPr>
            <a:spLocks noGrp="1"/>
          </p:cNvSpPr>
          <p:nvPr>
            <p:ph type="body" sz="quarter" idx="10"/>
          </p:nvPr>
        </p:nvSpPr>
        <p:spPr bwMode="gray"/>
        <p:txBody>
          <a:bodyPr/>
          <a:lstStyle/>
          <a:p>
            <a:r>
              <a:rPr lang="zh-CN" altLang="en-US" sz="1800" dirty="0"/>
              <a:t>特征识别是业务感知技术（</a:t>
            </a:r>
            <a:r>
              <a:rPr lang="en-US" altLang="zh-CN" sz="1800" dirty="0"/>
              <a:t>SA</a:t>
            </a:r>
            <a:r>
              <a:rPr lang="zh-CN" altLang="en-US" sz="1800" dirty="0"/>
              <a:t>）的最基本功能。不同的应用程序通常会采用不同的协议，而不同的应用协议具有各自的特征，能标识该协议的特征称为特征码。系统对流经设备的业务流进行分析，将分析结果和设备上的特征库进行对比，通过匹配数据报文中的特征码来识别出应用程序。</a:t>
            </a:r>
            <a:endParaRPr lang="en-US" altLang="zh-CN" sz="1800" dirty="0"/>
          </a:p>
          <a:p>
            <a:r>
              <a:rPr lang="en-US" altLang="zh-CN" sz="1800" dirty="0"/>
              <a:t>SAC</a:t>
            </a:r>
            <a:r>
              <a:rPr lang="zh-CN" altLang="en-US" sz="1800" dirty="0"/>
              <a:t>特征库包含了</a:t>
            </a:r>
            <a:r>
              <a:rPr lang="en-US" altLang="zh-CN" sz="1800" dirty="0"/>
              <a:t>FPI</a:t>
            </a:r>
            <a:r>
              <a:rPr lang="zh-CN" altLang="en-US" sz="1800" dirty="0"/>
              <a:t>特征库和</a:t>
            </a:r>
            <a:r>
              <a:rPr lang="en-US" altLang="zh-CN" sz="1800" dirty="0"/>
              <a:t>SA</a:t>
            </a:r>
            <a:r>
              <a:rPr lang="zh-CN" altLang="en-US" sz="1800" dirty="0"/>
              <a:t>特征库，</a:t>
            </a:r>
            <a:r>
              <a:rPr lang="en-US" altLang="zh-CN" sz="1800" dirty="0"/>
              <a:t>FPI</a:t>
            </a:r>
            <a:r>
              <a:rPr lang="zh-CN" altLang="en-US" sz="1800" dirty="0"/>
              <a:t>的特征码是指可以用于</a:t>
            </a:r>
            <a:r>
              <a:rPr lang="en-US" altLang="zh-CN" sz="1800" dirty="0"/>
              <a:t>FPI</a:t>
            </a:r>
            <a:r>
              <a:rPr lang="zh-CN" altLang="en-US" sz="1800" dirty="0"/>
              <a:t>应用识别的特征码，</a:t>
            </a:r>
            <a:r>
              <a:rPr lang="en-US" altLang="zh-CN" sz="1800" dirty="0"/>
              <a:t>SA</a:t>
            </a:r>
            <a:r>
              <a:rPr lang="zh-CN" altLang="en-US" sz="1800" dirty="0"/>
              <a:t>的特征码是指可以用于</a:t>
            </a:r>
            <a:r>
              <a:rPr lang="en-US" altLang="zh-CN" sz="1800" dirty="0"/>
              <a:t>SA</a:t>
            </a:r>
            <a:r>
              <a:rPr lang="zh-CN" altLang="en-US" sz="1800" dirty="0"/>
              <a:t>应用识别的特征码。</a:t>
            </a:r>
            <a:endParaRPr lang="en-US" altLang="zh-CN" sz="1800" dirty="0"/>
          </a:p>
          <a:p>
            <a:r>
              <a:rPr lang="en-US" sz="1800" dirty="0"/>
              <a:t>SAC</a:t>
            </a:r>
            <a:r>
              <a:rPr lang="zh-CN" altLang="en-US" sz="1800" dirty="0"/>
              <a:t>工作机制：</a:t>
            </a:r>
            <a:endParaRPr lang="en-US" sz="1800" dirty="0"/>
          </a:p>
        </p:txBody>
      </p:sp>
      <p:grpSp>
        <p:nvGrpSpPr>
          <p:cNvPr id="28" name="Group 27">
            <a:extLst>
              <a:ext uri="{FF2B5EF4-FFF2-40B4-BE49-F238E27FC236}">
                <a16:creationId xmlns:a16="http://schemas.microsoft.com/office/drawing/2014/main" id="{7C29CA0C-4103-47FF-A0FB-9812FA5FA775}"/>
              </a:ext>
            </a:extLst>
          </p:cNvPr>
          <p:cNvGrpSpPr/>
          <p:nvPr/>
        </p:nvGrpSpPr>
        <p:grpSpPr bwMode="gray">
          <a:xfrm>
            <a:off x="2315580" y="3581204"/>
            <a:ext cx="7128792" cy="2448874"/>
            <a:chOff x="2027548" y="2960647"/>
            <a:chExt cx="7128792" cy="2448874"/>
          </a:xfrm>
        </p:grpSpPr>
        <p:sp>
          <p:nvSpPr>
            <p:cNvPr id="4" name="TextBox 120">
              <a:extLst>
                <a:ext uri="{FF2B5EF4-FFF2-40B4-BE49-F238E27FC236}">
                  <a16:creationId xmlns:a16="http://schemas.microsoft.com/office/drawing/2014/main" id="{5D4CE21D-D88F-4B05-B54D-983C4D302106}"/>
                </a:ext>
              </a:extLst>
            </p:cNvPr>
            <p:cNvSpPr txBox="1"/>
            <p:nvPr/>
          </p:nvSpPr>
          <p:spPr bwMode="gray">
            <a:xfrm>
              <a:off x="3599786" y="3897107"/>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TextBox 120">
              <a:extLst>
                <a:ext uri="{FF2B5EF4-FFF2-40B4-BE49-F238E27FC236}">
                  <a16:creationId xmlns:a16="http://schemas.microsoft.com/office/drawing/2014/main" id="{FCEF1C0F-62C3-49B2-AFEC-2A8DD1B6B529}"/>
                </a:ext>
              </a:extLst>
            </p:cNvPr>
            <p:cNvSpPr txBox="1"/>
            <p:nvPr/>
          </p:nvSpPr>
          <p:spPr bwMode="gray">
            <a:xfrm>
              <a:off x="3375178" y="3897369"/>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TextBox 120">
              <a:extLst>
                <a:ext uri="{FF2B5EF4-FFF2-40B4-BE49-F238E27FC236}">
                  <a16:creationId xmlns:a16="http://schemas.microsoft.com/office/drawing/2014/main" id="{D4908AD0-89F2-41C0-B630-D0735058C095}"/>
                </a:ext>
              </a:extLst>
            </p:cNvPr>
            <p:cNvSpPr txBox="1"/>
            <p:nvPr/>
          </p:nvSpPr>
          <p:spPr bwMode="gray">
            <a:xfrm>
              <a:off x="3150573" y="389697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120">
              <a:extLst>
                <a:ext uri="{FF2B5EF4-FFF2-40B4-BE49-F238E27FC236}">
                  <a16:creationId xmlns:a16="http://schemas.microsoft.com/office/drawing/2014/main" id="{A8C4F112-1A6A-40C5-96B0-C1C7A80E876F}"/>
                </a:ext>
              </a:extLst>
            </p:cNvPr>
            <p:cNvSpPr txBox="1"/>
            <p:nvPr/>
          </p:nvSpPr>
          <p:spPr bwMode="gray">
            <a:xfrm>
              <a:off x="2925968" y="389723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20">
              <a:extLst>
                <a:ext uri="{FF2B5EF4-FFF2-40B4-BE49-F238E27FC236}">
                  <a16:creationId xmlns:a16="http://schemas.microsoft.com/office/drawing/2014/main" id="{CB3AC548-0294-49E7-B277-C0F95E9C54F7}"/>
                </a:ext>
              </a:extLst>
            </p:cNvPr>
            <p:cNvSpPr txBox="1"/>
            <p:nvPr/>
          </p:nvSpPr>
          <p:spPr bwMode="gray">
            <a:xfrm>
              <a:off x="2701363" y="389697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id="{7C9A30E2-D247-40C4-BEBD-3AEBFA7F0CC3}"/>
                </a:ext>
              </a:extLst>
            </p:cNvPr>
            <p:cNvSpPr txBox="1"/>
            <p:nvPr/>
          </p:nvSpPr>
          <p:spPr bwMode="gray">
            <a:xfrm>
              <a:off x="2476758" y="389723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id="{15E44997-748B-41E2-BF89-D28D9CC2C3EF}"/>
                </a:ext>
              </a:extLst>
            </p:cNvPr>
            <p:cNvSpPr txBox="1"/>
            <p:nvPr/>
          </p:nvSpPr>
          <p:spPr bwMode="gray">
            <a:xfrm>
              <a:off x="2252153" y="389697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a16="http://schemas.microsoft.com/office/drawing/2014/main" id="{4F2E263C-28EA-4096-8FC0-5C2C25ADE85A}"/>
                </a:ext>
              </a:extLst>
            </p:cNvPr>
            <p:cNvSpPr txBox="1"/>
            <p:nvPr/>
          </p:nvSpPr>
          <p:spPr bwMode="gray">
            <a:xfrm>
              <a:off x="2027548" y="389723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Rectangle 11">
              <a:extLst>
                <a:ext uri="{FF2B5EF4-FFF2-40B4-BE49-F238E27FC236}">
                  <a16:creationId xmlns:a16="http://schemas.microsoft.com/office/drawing/2014/main" id="{8697F1CF-3D88-4CFB-BF58-4A4FD38BA9EC}"/>
                </a:ext>
              </a:extLst>
            </p:cNvPr>
            <p:cNvSpPr/>
            <p:nvPr/>
          </p:nvSpPr>
          <p:spPr bwMode="gray">
            <a:xfrm>
              <a:off x="4794780" y="3767459"/>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sz="1400" dirty="0">
                  <a:solidFill>
                    <a:schemeClr val="tx1"/>
                  </a:solidFill>
                  <a:latin typeface="Huawei Sans" panose="020C0503030203020204" pitchFamily="34" charset="0"/>
                  <a:ea typeface="方正兰亭黑简体" panose="02000000000000000000" pitchFamily="2" charset="-122"/>
                </a:rPr>
                <a:t>SAC</a:t>
              </a:r>
              <a:r>
                <a:rPr lang="zh-CN" altLang="en-US" sz="1400" dirty="0">
                  <a:solidFill>
                    <a:schemeClr val="tx1"/>
                  </a:solidFill>
                  <a:latin typeface="Huawei Sans" panose="020C0503030203020204" pitchFamily="34" charset="0"/>
                  <a:ea typeface="方正兰亭黑简体" panose="02000000000000000000" pitchFamily="2" charset="-122"/>
                </a:rPr>
                <a:t>检测</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3" name="Rectangle 12">
              <a:extLst>
                <a:ext uri="{FF2B5EF4-FFF2-40B4-BE49-F238E27FC236}">
                  <a16:creationId xmlns:a16="http://schemas.microsoft.com/office/drawing/2014/main" id="{D5AF679D-3509-404B-8BEA-076507C51CC0}"/>
                </a:ext>
              </a:extLst>
            </p:cNvPr>
            <p:cNvSpPr/>
            <p:nvPr/>
          </p:nvSpPr>
          <p:spPr bwMode="gray">
            <a:xfrm>
              <a:off x="4788797" y="4941168"/>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特征码库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4" name="Rectangle 13">
              <a:extLst>
                <a:ext uri="{FF2B5EF4-FFF2-40B4-BE49-F238E27FC236}">
                  <a16:creationId xmlns:a16="http://schemas.microsoft.com/office/drawing/2014/main" id="{6E499F67-5A4C-4315-B856-822648AF8A71}"/>
                </a:ext>
              </a:extLst>
            </p:cNvPr>
            <p:cNvSpPr/>
            <p:nvPr/>
          </p:nvSpPr>
          <p:spPr bwMode="gray">
            <a:xfrm>
              <a:off x="7860196" y="4724843"/>
              <a:ext cx="1296144"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语音视频优化</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5" name="Rectangle 14">
              <a:extLst>
                <a:ext uri="{FF2B5EF4-FFF2-40B4-BE49-F238E27FC236}">
                  <a16:creationId xmlns:a16="http://schemas.microsoft.com/office/drawing/2014/main" id="{6602DA75-AAE7-410F-9B3C-E5BA366DB423}"/>
                </a:ext>
              </a:extLst>
            </p:cNvPr>
            <p:cNvSpPr/>
            <p:nvPr/>
          </p:nvSpPr>
          <p:spPr bwMode="gray">
            <a:xfrm>
              <a:off x="7860196" y="2960647"/>
              <a:ext cx="1296144"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QoS</a:t>
              </a:r>
              <a:r>
                <a:rPr lang="zh-CN" altLang="en-US" sz="1400" dirty="0">
                  <a:solidFill>
                    <a:schemeClr val="tx1"/>
                  </a:solidFill>
                  <a:latin typeface="Huawei Sans" panose="020C0503030203020204" pitchFamily="34" charset="0"/>
                  <a:ea typeface="方正兰亭黑简体" panose="02000000000000000000" pitchFamily="2" charset="-122"/>
                </a:rPr>
                <a:t>策略</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6" name="Rectangle 15">
              <a:extLst>
                <a:ext uri="{FF2B5EF4-FFF2-40B4-BE49-F238E27FC236}">
                  <a16:creationId xmlns:a16="http://schemas.microsoft.com/office/drawing/2014/main" id="{D22B9BCA-DC6B-4995-B646-AF0DF096D473}"/>
                </a:ext>
              </a:extLst>
            </p:cNvPr>
            <p:cNvSpPr/>
            <p:nvPr/>
          </p:nvSpPr>
          <p:spPr bwMode="gray">
            <a:xfrm>
              <a:off x="7860196" y="3767459"/>
              <a:ext cx="1296144"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流量策略</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7" name="Arrow: Right 16">
              <a:extLst>
                <a:ext uri="{FF2B5EF4-FFF2-40B4-BE49-F238E27FC236}">
                  <a16:creationId xmlns:a16="http://schemas.microsoft.com/office/drawing/2014/main" id="{1D9EAA1E-4F1E-41DB-ADAF-FF6CEA49F8F3}"/>
                </a:ext>
              </a:extLst>
            </p:cNvPr>
            <p:cNvSpPr/>
            <p:nvPr/>
          </p:nvSpPr>
          <p:spPr bwMode="gray">
            <a:xfrm>
              <a:off x="3961812" y="3766366"/>
              <a:ext cx="694028"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A7E25899-6484-4C26-84AE-44194DB846FF}"/>
                </a:ext>
              </a:extLst>
            </p:cNvPr>
            <p:cNvSpPr/>
            <p:nvPr/>
          </p:nvSpPr>
          <p:spPr bwMode="gray">
            <a:xfrm rot="5400000">
              <a:off x="5116680" y="432413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84479109-0884-4B68-816A-01FF2E0AA52E}"/>
                </a:ext>
              </a:extLst>
            </p:cNvPr>
            <p:cNvSpPr/>
            <p:nvPr/>
          </p:nvSpPr>
          <p:spPr bwMode="gray">
            <a:xfrm rot="20422266">
              <a:off x="6155043" y="3272984"/>
              <a:ext cx="1441287" cy="369444"/>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Right 20">
              <a:extLst>
                <a:ext uri="{FF2B5EF4-FFF2-40B4-BE49-F238E27FC236}">
                  <a16:creationId xmlns:a16="http://schemas.microsoft.com/office/drawing/2014/main" id="{18635D01-5947-47F7-B72C-33FD45C36ECC}"/>
                </a:ext>
              </a:extLst>
            </p:cNvPr>
            <p:cNvSpPr/>
            <p:nvPr/>
          </p:nvSpPr>
          <p:spPr bwMode="gray">
            <a:xfrm rot="1436104">
              <a:off x="6167653" y="4446830"/>
              <a:ext cx="1412602" cy="369444"/>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Arrow: Right 21">
              <a:extLst>
                <a:ext uri="{FF2B5EF4-FFF2-40B4-BE49-F238E27FC236}">
                  <a16:creationId xmlns:a16="http://schemas.microsoft.com/office/drawing/2014/main" id="{B479D00C-86D3-4CC8-A964-51FDD8DA71FE}"/>
                </a:ext>
              </a:extLst>
            </p:cNvPr>
            <p:cNvSpPr/>
            <p:nvPr/>
          </p:nvSpPr>
          <p:spPr bwMode="gray">
            <a:xfrm>
              <a:off x="6171959" y="3846003"/>
              <a:ext cx="1559441" cy="369444"/>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3E145BE-994D-41AC-8F8A-286313B68A23}"/>
                </a:ext>
              </a:extLst>
            </p:cNvPr>
            <p:cNvSpPr txBox="1"/>
            <p:nvPr/>
          </p:nvSpPr>
          <p:spPr bwMode="gray">
            <a:xfrm>
              <a:off x="2549343" y="3593092"/>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业务流量</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23">
              <a:extLst>
                <a:ext uri="{FF2B5EF4-FFF2-40B4-BE49-F238E27FC236}">
                  <a16:creationId xmlns:a16="http://schemas.microsoft.com/office/drawing/2014/main" id="{B9531418-A458-4323-8224-BAB41CF49B84}"/>
                </a:ext>
              </a:extLst>
            </p:cNvPr>
            <p:cNvSpPr txBox="1"/>
            <p:nvPr/>
          </p:nvSpPr>
          <p:spPr bwMode="gray">
            <a:xfrm>
              <a:off x="4210952" y="4400054"/>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5" name="TextBox 24">
              <a:extLst>
                <a:ext uri="{FF2B5EF4-FFF2-40B4-BE49-F238E27FC236}">
                  <a16:creationId xmlns:a16="http://schemas.microsoft.com/office/drawing/2014/main" id="{34F69145-BB06-4760-8E02-68C4AB526AE2}"/>
                </a:ext>
              </a:extLst>
            </p:cNvPr>
            <p:cNvSpPr txBox="1"/>
            <p:nvPr/>
          </p:nvSpPr>
          <p:spPr bwMode="gray">
            <a:xfrm rot="1472199">
              <a:off x="5730107" y="4558486"/>
              <a:ext cx="1620957"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匹配到语音，视频</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6" name="TextBox 25">
              <a:extLst>
                <a:ext uri="{FF2B5EF4-FFF2-40B4-BE49-F238E27FC236}">
                  <a16:creationId xmlns:a16="http://schemas.microsoft.com/office/drawing/2014/main" id="{3AB2EBC3-1203-4E1A-89A3-AE54B444A737}"/>
                </a:ext>
              </a:extLst>
            </p:cNvPr>
            <p:cNvSpPr txBox="1"/>
            <p:nvPr/>
          </p:nvSpPr>
          <p:spPr bwMode="gray">
            <a:xfrm rot="20387012">
              <a:off x="5811216" y="3163131"/>
              <a:ext cx="1620957"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匹配到自定义业务</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7" name="TextBox 26">
              <a:extLst>
                <a:ext uri="{FF2B5EF4-FFF2-40B4-BE49-F238E27FC236}">
                  <a16:creationId xmlns:a16="http://schemas.microsoft.com/office/drawing/2014/main" id="{27FD58EE-593A-479F-A5D6-321DD569CC16}"/>
                </a:ext>
              </a:extLst>
            </p:cNvPr>
            <p:cNvSpPr txBox="1"/>
            <p:nvPr/>
          </p:nvSpPr>
          <p:spPr bwMode="gray">
            <a:xfrm>
              <a:off x="6187285" y="3661283"/>
              <a:ext cx="1441420"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匹配到网页业务</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370990429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7C072-4F87-4C0C-82F0-2FBE60989595}"/>
              </a:ext>
            </a:extLst>
          </p:cNvPr>
          <p:cNvSpPr>
            <a:spLocks noGrp="1"/>
          </p:cNvSpPr>
          <p:nvPr>
            <p:ph type="title"/>
          </p:nvPr>
        </p:nvSpPr>
        <p:spPr bwMode="gray"/>
        <p:txBody>
          <a:bodyPr/>
          <a:lstStyle/>
          <a:p>
            <a:r>
              <a:rPr lang="en-US" dirty="0"/>
              <a:t>SAC</a:t>
            </a:r>
            <a:r>
              <a:rPr lang="zh-CN" altLang="en-US" dirty="0"/>
              <a:t>应用识别流程</a:t>
            </a:r>
            <a:endParaRPr lang="en-US" dirty="0"/>
          </a:p>
        </p:txBody>
      </p:sp>
      <p:sp>
        <p:nvSpPr>
          <p:cNvPr id="3" name="Text Placeholder 2">
            <a:extLst>
              <a:ext uri="{FF2B5EF4-FFF2-40B4-BE49-F238E27FC236}">
                <a16:creationId xmlns:a16="http://schemas.microsoft.com/office/drawing/2014/main" id="{B20E815F-667E-4813-8A28-15CFAD11196E}"/>
              </a:ext>
            </a:extLst>
          </p:cNvPr>
          <p:cNvSpPr>
            <a:spLocks noGrp="1"/>
          </p:cNvSpPr>
          <p:nvPr>
            <p:ph type="body" sz="quarter" idx="10"/>
          </p:nvPr>
        </p:nvSpPr>
        <p:spPr bwMode="gray"/>
        <p:txBody>
          <a:bodyPr/>
          <a:lstStyle/>
          <a:p>
            <a:r>
              <a:rPr lang="en-US" altLang="zh-CN" sz="1800" dirty="0"/>
              <a:t>SAC</a:t>
            </a:r>
            <a:r>
              <a:rPr lang="zh-CN" altLang="en-US" sz="1800" dirty="0"/>
              <a:t>应用识别会先判断是否已被识别，发现应用未识别则依次查看</a:t>
            </a:r>
            <a:r>
              <a:rPr lang="en-US" altLang="zh-CN" sz="1800" dirty="0"/>
              <a:t>FPI</a:t>
            </a:r>
            <a:r>
              <a:rPr lang="zh-CN" altLang="en-US" sz="1800" dirty="0"/>
              <a:t>特征库和</a:t>
            </a:r>
            <a:r>
              <a:rPr lang="en-US" altLang="zh-CN" sz="1800" dirty="0"/>
              <a:t>SA</a:t>
            </a:r>
            <a:r>
              <a:rPr lang="zh-CN" altLang="en-US" sz="1800" dirty="0"/>
              <a:t>特征库。</a:t>
            </a:r>
            <a:endParaRPr lang="en-US" altLang="zh-CN" sz="1800" dirty="0"/>
          </a:p>
          <a:p>
            <a:endParaRPr lang="en-US" sz="1800" dirty="0"/>
          </a:p>
        </p:txBody>
      </p:sp>
      <p:grpSp>
        <p:nvGrpSpPr>
          <p:cNvPr id="54" name="Group 53">
            <a:extLst>
              <a:ext uri="{FF2B5EF4-FFF2-40B4-BE49-F238E27FC236}">
                <a16:creationId xmlns:a16="http://schemas.microsoft.com/office/drawing/2014/main" id="{B4A25D2B-9FDA-432E-8F7E-3B6C6F7BF43B}"/>
              </a:ext>
            </a:extLst>
          </p:cNvPr>
          <p:cNvGrpSpPr/>
          <p:nvPr/>
        </p:nvGrpSpPr>
        <p:grpSpPr bwMode="gray">
          <a:xfrm>
            <a:off x="1734879" y="1927552"/>
            <a:ext cx="8722242" cy="3998924"/>
            <a:chOff x="2063552" y="2096852"/>
            <a:chExt cx="8722242" cy="3998924"/>
          </a:xfrm>
        </p:grpSpPr>
        <p:sp>
          <p:nvSpPr>
            <p:cNvPr id="35" name="Rectangle 34">
              <a:extLst>
                <a:ext uri="{FF2B5EF4-FFF2-40B4-BE49-F238E27FC236}">
                  <a16:creationId xmlns:a16="http://schemas.microsoft.com/office/drawing/2014/main" id="{A388A1C4-E64F-4F03-810F-2BFF5415D340}"/>
                </a:ext>
              </a:extLst>
            </p:cNvPr>
            <p:cNvSpPr/>
            <p:nvPr/>
          </p:nvSpPr>
          <p:spPr bwMode="gray">
            <a:xfrm>
              <a:off x="4043808" y="2096852"/>
              <a:ext cx="5976628" cy="3998924"/>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1600" b="1" dirty="0">
                  <a:solidFill>
                    <a:schemeClr val="tx1"/>
                  </a:solidFill>
                </a:rPr>
                <a:t>网络设备</a:t>
              </a:r>
              <a:endParaRPr lang="en-US" sz="1600" b="1" dirty="0">
                <a:solidFill>
                  <a:schemeClr val="tx1"/>
                </a:solidFill>
              </a:endParaRPr>
            </a:p>
          </p:txBody>
        </p:sp>
        <p:sp>
          <p:nvSpPr>
            <p:cNvPr id="5" name="TextBox 120">
              <a:extLst>
                <a:ext uri="{FF2B5EF4-FFF2-40B4-BE49-F238E27FC236}">
                  <a16:creationId xmlns:a16="http://schemas.microsoft.com/office/drawing/2014/main" id="{E683D4BD-B365-442D-B432-DE77CE630759}"/>
                </a:ext>
              </a:extLst>
            </p:cNvPr>
            <p:cNvSpPr txBox="1"/>
            <p:nvPr/>
          </p:nvSpPr>
          <p:spPr bwMode="gray">
            <a:xfrm>
              <a:off x="3635790" y="2582001"/>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TextBox 120">
              <a:extLst>
                <a:ext uri="{FF2B5EF4-FFF2-40B4-BE49-F238E27FC236}">
                  <a16:creationId xmlns:a16="http://schemas.microsoft.com/office/drawing/2014/main" id="{44FA51F1-BCA0-4EDD-8343-D69EE5E7D4A7}"/>
                </a:ext>
              </a:extLst>
            </p:cNvPr>
            <p:cNvSpPr txBox="1"/>
            <p:nvPr/>
          </p:nvSpPr>
          <p:spPr bwMode="gray">
            <a:xfrm>
              <a:off x="3411182" y="2582263"/>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120">
              <a:extLst>
                <a:ext uri="{FF2B5EF4-FFF2-40B4-BE49-F238E27FC236}">
                  <a16:creationId xmlns:a16="http://schemas.microsoft.com/office/drawing/2014/main" id="{E62FC933-5C80-4812-8C4B-6AE73073F1F1}"/>
                </a:ext>
              </a:extLst>
            </p:cNvPr>
            <p:cNvSpPr txBox="1"/>
            <p:nvPr/>
          </p:nvSpPr>
          <p:spPr bwMode="gray">
            <a:xfrm>
              <a:off x="3186577" y="2581870"/>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20">
              <a:extLst>
                <a:ext uri="{FF2B5EF4-FFF2-40B4-BE49-F238E27FC236}">
                  <a16:creationId xmlns:a16="http://schemas.microsoft.com/office/drawing/2014/main" id="{103F94A7-0A9C-4F41-B81E-28589B15B771}"/>
                </a:ext>
              </a:extLst>
            </p:cNvPr>
            <p:cNvSpPr txBox="1"/>
            <p:nvPr/>
          </p:nvSpPr>
          <p:spPr bwMode="gray">
            <a:xfrm>
              <a:off x="2961972" y="2582132"/>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id="{46050D66-AEFE-40B2-B5E2-77A7406CA67B}"/>
                </a:ext>
              </a:extLst>
            </p:cNvPr>
            <p:cNvSpPr txBox="1"/>
            <p:nvPr/>
          </p:nvSpPr>
          <p:spPr bwMode="gray">
            <a:xfrm>
              <a:off x="2737367" y="2581870"/>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id="{4EB5BEB1-E52B-4323-A52C-3535B784508D}"/>
                </a:ext>
              </a:extLst>
            </p:cNvPr>
            <p:cNvSpPr txBox="1"/>
            <p:nvPr/>
          </p:nvSpPr>
          <p:spPr bwMode="gray">
            <a:xfrm>
              <a:off x="2512762" y="2582132"/>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a16="http://schemas.microsoft.com/office/drawing/2014/main" id="{7B547453-4846-4769-BB5A-21D8A3CF5797}"/>
                </a:ext>
              </a:extLst>
            </p:cNvPr>
            <p:cNvSpPr txBox="1"/>
            <p:nvPr/>
          </p:nvSpPr>
          <p:spPr bwMode="gray">
            <a:xfrm>
              <a:off x="2288157" y="2581870"/>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20">
              <a:extLst>
                <a:ext uri="{FF2B5EF4-FFF2-40B4-BE49-F238E27FC236}">
                  <a16:creationId xmlns:a16="http://schemas.microsoft.com/office/drawing/2014/main" id="{5827FBBE-B69C-4C0F-82FD-BCE767649CFC}"/>
                </a:ext>
              </a:extLst>
            </p:cNvPr>
            <p:cNvSpPr txBox="1"/>
            <p:nvPr/>
          </p:nvSpPr>
          <p:spPr bwMode="gray">
            <a:xfrm>
              <a:off x="2063552" y="258213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Rectangle 13">
              <a:extLst>
                <a:ext uri="{FF2B5EF4-FFF2-40B4-BE49-F238E27FC236}">
                  <a16:creationId xmlns:a16="http://schemas.microsoft.com/office/drawing/2014/main" id="{7168D941-0B48-427D-9716-993DAD9E9FE4}"/>
                </a:ext>
              </a:extLst>
            </p:cNvPr>
            <p:cNvSpPr/>
            <p:nvPr/>
          </p:nvSpPr>
          <p:spPr bwMode="gray">
            <a:xfrm>
              <a:off x="5457427" y="3860770"/>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FPI</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8" name="Arrow: Right 17">
              <a:extLst>
                <a:ext uri="{FF2B5EF4-FFF2-40B4-BE49-F238E27FC236}">
                  <a16:creationId xmlns:a16="http://schemas.microsoft.com/office/drawing/2014/main" id="{D494DCC8-8B78-4796-9E05-055865B5787B}"/>
                </a:ext>
              </a:extLst>
            </p:cNvPr>
            <p:cNvSpPr/>
            <p:nvPr/>
          </p:nvSpPr>
          <p:spPr bwMode="gray">
            <a:xfrm>
              <a:off x="3893525" y="2451260"/>
              <a:ext cx="151193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F763D633-1B71-47C1-8A63-3DEF9C311235}"/>
                </a:ext>
              </a:extLst>
            </p:cNvPr>
            <p:cNvSpPr/>
            <p:nvPr/>
          </p:nvSpPr>
          <p:spPr bwMode="gray">
            <a:xfrm rot="5400000">
              <a:off x="5785310" y="317061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D37B098-4904-4F5A-8D0F-7885B732F69E}"/>
                </a:ext>
              </a:extLst>
            </p:cNvPr>
            <p:cNvSpPr txBox="1"/>
            <p:nvPr/>
          </p:nvSpPr>
          <p:spPr bwMode="gray">
            <a:xfrm>
              <a:off x="2585347" y="227798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业务流量</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23">
              <a:extLst>
                <a:ext uri="{FF2B5EF4-FFF2-40B4-BE49-F238E27FC236}">
                  <a16:creationId xmlns:a16="http://schemas.microsoft.com/office/drawing/2014/main" id="{F4379920-35E2-4561-8955-1918FBE82D17}"/>
                </a:ext>
              </a:extLst>
            </p:cNvPr>
            <p:cNvSpPr txBox="1"/>
            <p:nvPr/>
          </p:nvSpPr>
          <p:spPr bwMode="gray">
            <a:xfrm>
              <a:off x="4879582" y="331965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8" name="Rectangle 27">
              <a:extLst>
                <a:ext uri="{FF2B5EF4-FFF2-40B4-BE49-F238E27FC236}">
                  <a16:creationId xmlns:a16="http://schemas.microsoft.com/office/drawing/2014/main" id="{F12044E1-0E5D-40A9-8026-0F7E448EE062}"/>
                </a:ext>
              </a:extLst>
            </p:cNvPr>
            <p:cNvSpPr/>
            <p:nvPr/>
          </p:nvSpPr>
          <p:spPr bwMode="gray">
            <a:xfrm>
              <a:off x="5457425" y="5012875"/>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SA</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29" name="Arrow: Right 28">
              <a:extLst>
                <a:ext uri="{FF2B5EF4-FFF2-40B4-BE49-F238E27FC236}">
                  <a16:creationId xmlns:a16="http://schemas.microsoft.com/office/drawing/2014/main" id="{E0677CB5-4C84-4A4B-87F5-551B0BC3A18B}"/>
                </a:ext>
              </a:extLst>
            </p:cNvPr>
            <p:cNvSpPr/>
            <p:nvPr/>
          </p:nvSpPr>
          <p:spPr bwMode="gray">
            <a:xfrm rot="5400000">
              <a:off x="5794208" y="4417441"/>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120">
              <a:extLst>
                <a:ext uri="{FF2B5EF4-FFF2-40B4-BE49-F238E27FC236}">
                  <a16:creationId xmlns:a16="http://schemas.microsoft.com/office/drawing/2014/main" id="{3FAED4F3-E1C1-498E-A371-6B66D1E2C857}"/>
                </a:ext>
              </a:extLst>
            </p:cNvPr>
            <p:cNvSpPr txBox="1"/>
            <p:nvPr/>
          </p:nvSpPr>
          <p:spPr bwMode="gray">
            <a:xfrm>
              <a:off x="7986824" y="2581608"/>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a:extLst>
                <a:ext uri="{FF2B5EF4-FFF2-40B4-BE49-F238E27FC236}">
                  <a16:creationId xmlns:a16="http://schemas.microsoft.com/office/drawing/2014/main" id="{2211E423-2C2A-469E-9151-A6EE7AF59AFF}"/>
                </a:ext>
              </a:extLst>
            </p:cNvPr>
            <p:cNvSpPr txBox="1"/>
            <p:nvPr/>
          </p:nvSpPr>
          <p:spPr bwMode="gray">
            <a:xfrm>
              <a:off x="7762216" y="2581870"/>
              <a:ext cx="155954" cy="287715"/>
            </a:xfrm>
            <a:prstGeom prst="roundRect">
              <a:avLst>
                <a:gd name="adj" fmla="val 6721"/>
              </a:avLst>
            </a:prstGeom>
            <a:solidFill>
              <a:srgbClr val="00B0F0"/>
            </a:solidFill>
            <a:ln w="12700">
              <a:solidFill>
                <a:srgbClr val="00B0F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Arrow: Right 31">
              <a:extLst>
                <a:ext uri="{FF2B5EF4-FFF2-40B4-BE49-F238E27FC236}">
                  <a16:creationId xmlns:a16="http://schemas.microsoft.com/office/drawing/2014/main" id="{AE314E12-57D4-441B-9A56-5205FA2C7A3C}"/>
                </a:ext>
              </a:extLst>
            </p:cNvPr>
            <p:cNvSpPr/>
            <p:nvPr/>
          </p:nvSpPr>
          <p:spPr bwMode="gray">
            <a:xfrm>
              <a:off x="6819667" y="2451260"/>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9E125AC-E0CB-4980-96F1-F8FE12298811}"/>
                </a:ext>
              </a:extLst>
            </p:cNvPr>
            <p:cNvSpPr txBox="1"/>
            <p:nvPr/>
          </p:nvSpPr>
          <p:spPr bwMode="gray">
            <a:xfrm>
              <a:off x="4873064" y="4566772"/>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4" name="Rectangle 33">
              <a:extLst>
                <a:ext uri="{FF2B5EF4-FFF2-40B4-BE49-F238E27FC236}">
                  <a16:creationId xmlns:a16="http://schemas.microsoft.com/office/drawing/2014/main" id="{D5CD1241-76ED-41C9-BB3F-9EF49D2360D7}"/>
                </a:ext>
              </a:extLst>
            </p:cNvPr>
            <p:cNvSpPr/>
            <p:nvPr/>
          </p:nvSpPr>
          <p:spPr bwMode="gray">
            <a:xfrm>
              <a:off x="5474113" y="2493709"/>
              <a:ext cx="1276900"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应用识别记录</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37" name="Arrow: Right 36">
              <a:extLst>
                <a:ext uri="{FF2B5EF4-FFF2-40B4-BE49-F238E27FC236}">
                  <a16:creationId xmlns:a16="http://schemas.microsoft.com/office/drawing/2014/main" id="{B9B8A55C-8576-421F-A99D-03AE65C23CD2}"/>
                </a:ext>
              </a:extLst>
            </p:cNvPr>
            <p:cNvSpPr/>
            <p:nvPr/>
          </p:nvSpPr>
          <p:spPr bwMode="gray">
            <a:xfrm>
              <a:off x="6819667" y="3802095"/>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Arrow: Right 37">
              <a:extLst>
                <a:ext uri="{FF2B5EF4-FFF2-40B4-BE49-F238E27FC236}">
                  <a16:creationId xmlns:a16="http://schemas.microsoft.com/office/drawing/2014/main" id="{39F089D9-0CD4-440E-A919-1ACF8CEA55F5}"/>
                </a:ext>
              </a:extLst>
            </p:cNvPr>
            <p:cNvSpPr/>
            <p:nvPr/>
          </p:nvSpPr>
          <p:spPr bwMode="gray">
            <a:xfrm>
              <a:off x="6818657" y="4970983"/>
              <a:ext cx="797562"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120">
              <a:extLst>
                <a:ext uri="{FF2B5EF4-FFF2-40B4-BE49-F238E27FC236}">
                  <a16:creationId xmlns:a16="http://schemas.microsoft.com/office/drawing/2014/main" id="{04653CF4-0AA0-4B10-B5A4-33CB760E8463}"/>
                </a:ext>
              </a:extLst>
            </p:cNvPr>
            <p:cNvSpPr txBox="1"/>
            <p:nvPr/>
          </p:nvSpPr>
          <p:spPr bwMode="gray">
            <a:xfrm>
              <a:off x="7988187" y="3753091"/>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TextBox 120">
              <a:extLst>
                <a:ext uri="{FF2B5EF4-FFF2-40B4-BE49-F238E27FC236}">
                  <a16:creationId xmlns:a16="http://schemas.microsoft.com/office/drawing/2014/main" id="{BBAADA86-5619-4C12-9AEF-4094FFBA0B4D}"/>
                </a:ext>
              </a:extLst>
            </p:cNvPr>
            <p:cNvSpPr txBox="1"/>
            <p:nvPr/>
          </p:nvSpPr>
          <p:spPr bwMode="gray">
            <a:xfrm>
              <a:off x="7763582" y="3753353"/>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TextBox 120">
              <a:extLst>
                <a:ext uri="{FF2B5EF4-FFF2-40B4-BE49-F238E27FC236}">
                  <a16:creationId xmlns:a16="http://schemas.microsoft.com/office/drawing/2014/main" id="{86E1A398-84BB-4ED0-9B8D-332FCE1FD802}"/>
                </a:ext>
              </a:extLst>
            </p:cNvPr>
            <p:cNvSpPr txBox="1"/>
            <p:nvPr/>
          </p:nvSpPr>
          <p:spPr bwMode="gray">
            <a:xfrm>
              <a:off x="7985541" y="4113076"/>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TextBox 120">
              <a:extLst>
                <a:ext uri="{FF2B5EF4-FFF2-40B4-BE49-F238E27FC236}">
                  <a16:creationId xmlns:a16="http://schemas.microsoft.com/office/drawing/2014/main" id="{A65F476D-37A4-44E0-AAB8-A451BCB14F7F}"/>
                </a:ext>
              </a:extLst>
            </p:cNvPr>
            <p:cNvSpPr txBox="1"/>
            <p:nvPr/>
          </p:nvSpPr>
          <p:spPr bwMode="gray">
            <a:xfrm>
              <a:off x="7760936" y="4113338"/>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TextBox 120">
              <a:extLst>
                <a:ext uri="{FF2B5EF4-FFF2-40B4-BE49-F238E27FC236}">
                  <a16:creationId xmlns:a16="http://schemas.microsoft.com/office/drawing/2014/main" id="{CE7E6A29-7E1B-44DF-A052-FA5C10420702}"/>
                </a:ext>
              </a:extLst>
            </p:cNvPr>
            <p:cNvSpPr txBox="1"/>
            <p:nvPr/>
          </p:nvSpPr>
          <p:spPr bwMode="gray">
            <a:xfrm>
              <a:off x="7991742" y="5085184"/>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TextBox 120">
              <a:extLst>
                <a:ext uri="{FF2B5EF4-FFF2-40B4-BE49-F238E27FC236}">
                  <a16:creationId xmlns:a16="http://schemas.microsoft.com/office/drawing/2014/main" id="{DDAD3BDA-A093-446C-8CA6-6F8FD95A4606}"/>
                </a:ext>
              </a:extLst>
            </p:cNvPr>
            <p:cNvSpPr txBox="1"/>
            <p:nvPr/>
          </p:nvSpPr>
          <p:spPr bwMode="gray">
            <a:xfrm>
              <a:off x="7767137" y="508544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Left Brace 44">
              <a:extLst>
                <a:ext uri="{FF2B5EF4-FFF2-40B4-BE49-F238E27FC236}">
                  <a16:creationId xmlns:a16="http://schemas.microsoft.com/office/drawing/2014/main" id="{47BE1DC0-CEC3-4DEE-AB80-73035B75BC3C}"/>
                </a:ext>
              </a:extLst>
            </p:cNvPr>
            <p:cNvSpPr/>
            <p:nvPr/>
          </p:nvSpPr>
          <p:spPr bwMode="gray">
            <a:xfrm>
              <a:off x="4539710" y="3376892"/>
              <a:ext cx="352322" cy="2247620"/>
            </a:xfrm>
            <a:prstGeom prst="leftBrace">
              <a:avLst/>
            </a:prstGeom>
            <a:ln>
              <a:solidFill>
                <a:srgbClr val="56C4D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E65424AB-347C-41C9-88F3-CE019432725C}"/>
                </a:ext>
              </a:extLst>
            </p:cNvPr>
            <p:cNvSpPr txBox="1"/>
            <p:nvPr/>
          </p:nvSpPr>
          <p:spPr bwMode="gray">
            <a:xfrm rot="16200000">
              <a:off x="3890889" y="4346813"/>
              <a:ext cx="865943" cy="307777"/>
            </a:xfrm>
            <a:prstGeom prst="rect">
              <a:avLst/>
            </a:prstGeom>
            <a:noFill/>
            <a:ln>
              <a:noFill/>
            </a:ln>
          </p:spPr>
          <p:txBody>
            <a:bodyPr wrap="none" rtlCol="0">
              <a:spAutoFit/>
            </a:bodyPr>
            <a:lstStyle/>
            <a:p>
              <a:pPr fontAlgn="auto"/>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SAC</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检测</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7" name="Rectangular Callout 72">
              <a:extLst>
                <a:ext uri="{FF2B5EF4-FFF2-40B4-BE49-F238E27FC236}">
                  <a16:creationId xmlns:a16="http://schemas.microsoft.com/office/drawing/2014/main" id="{D5325311-6EDD-4345-9AFA-845899D02D34}"/>
                </a:ext>
              </a:extLst>
            </p:cNvPr>
            <p:cNvSpPr/>
            <p:nvPr/>
          </p:nvSpPr>
          <p:spPr bwMode="gray">
            <a:xfrm>
              <a:off x="6811315" y="3074135"/>
              <a:ext cx="1149902" cy="417326"/>
            </a:xfrm>
            <a:prstGeom prst="wedgeRectCallout">
              <a:avLst>
                <a:gd name="adj1" fmla="val -20799"/>
                <a:gd name="adj2" fmla="val -104126"/>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已识别应用，直接三层转发</a:t>
              </a:r>
            </a:p>
          </p:txBody>
        </p:sp>
        <p:sp>
          <p:nvSpPr>
            <p:cNvPr id="48" name="TextBox 47">
              <a:extLst>
                <a:ext uri="{FF2B5EF4-FFF2-40B4-BE49-F238E27FC236}">
                  <a16:creationId xmlns:a16="http://schemas.microsoft.com/office/drawing/2014/main" id="{66E57629-4F1A-49F6-B417-9CD481A74BE8}"/>
                </a:ext>
              </a:extLst>
            </p:cNvPr>
            <p:cNvSpPr txBox="1"/>
            <p:nvPr/>
          </p:nvSpPr>
          <p:spPr bwMode="gray">
            <a:xfrm>
              <a:off x="8147105" y="3764148"/>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语音</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9" name="TextBox 48">
              <a:extLst>
                <a:ext uri="{FF2B5EF4-FFF2-40B4-BE49-F238E27FC236}">
                  <a16:creationId xmlns:a16="http://schemas.microsoft.com/office/drawing/2014/main" id="{F0A8A812-AA5E-406C-87C9-23B32EABB00A}"/>
                </a:ext>
              </a:extLst>
            </p:cNvPr>
            <p:cNvSpPr txBox="1"/>
            <p:nvPr/>
          </p:nvSpPr>
          <p:spPr bwMode="gray">
            <a:xfrm>
              <a:off x="8141495" y="5065122"/>
              <a:ext cx="554960"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视频</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TextBox 49">
              <a:extLst>
                <a:ext uri="{FF2B5EF4-FFF2-40B4-BE49-F238E27FC236}">
                  <a16:creationId xmlns:a16="http://schemas.microsoft.com/office/drawing/2014/main" id="{7488FF15-9725-4D5E-9196-429D737CA5FF}"/>
                </a:ext>
              </a:extLst>
            </p:cNvPr>
            <p:cNvSpPr txBox="1"/>
            <p:nvPr/>
          </p:nvSpPr>
          <p:spPr bwMode="gray">
            <a:xfrm>
              <a:off x="8147105" y="4103044"/>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网页</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TextBox 50">
              <a:extLst>
                <a:ext uri="{FF2B5EF4-FFF2-40B4-BE49-F238E27FC236}">
                  <a16:creationId xmlns:a16="http://schemas.microsoft.com/office/drawing/2014/main" id="{CB152BFA-42E6-45C2-8D62-478459E9759C}"/>
                </a:ext>
              </a:extLst>
            </p:cNvPr>
            <p:cNvSpPr txBox="1"/>
            <p:nvPr/>
          </p:nvSpPr>
          <p:spPr bwMode="gray">
            <a:xfrm>
              <a:off x="8128239" y="2589450"/>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下载</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Rectangle 51">
              <a:extLst>
                <a:ext uri="{FF2B5EF4-FFF2-40B4-BE49-F238E27FC236}">
                  <a16:creationId xmlns:a16="http://schemas.microsoft.com/office/drawing/2014/main" id="{DC0CBBA8-9BCB-4AB7-8D27-7F05AC15A96F}"/>
                </a:ext>
              </a:extLst>
            </p:cNvPr>
            <p:cNvSpPr/>
            <p:nvPr/>
          </p:nvSpPr>
          <p:spPr bwMode="gray">
            <a:xfrm rot="16200000">
              <a:off x="7577985" y="3809522"/>
              <a:ext cx="3005992"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转发表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53" name="Arrow: Right 52">
              <a:extLst>
                <a:ext uri="{FF2B5EF4-FFF2-40B4-BE49-F238E27FC236}">
                  <a16:creationId xmlns:a16="http://schemas.microsoft.com/office/drawing/2014/main" id="{1F46A424-3EDC-4E31-8B2A-3BD482FA7B68}"/>
                </a:ext>
              </a:extLst>
            </p:cNvPr>
            <p:cNvSpPr/>
            <p:nvPr/>
          </p:nvSpPr>
          <p:spPr bwMode="gray">
            <a:xfrm>
              <a:off x="9448625" y="3806130"/>
              <a:ext cx="1337169"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369266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609B-CB52-41AC-A6AF-D6854C5CEF55}"/>
              </a:ext>
            </a:extLst>
          </p:cNvPr>
          <p:cNvSpPr>
            <a:spLocks noGrp="1"/>
          </p:cNvSpPr>
          <p:nvPr>
            <p:ph type="title"/>
          </p:nvPr>
        </p:nvSpPr>
        <p:spPr bwMode="gray"/>
        <p:txBody>
          <a:bodyPr/>
          <a:lstStyle/>
          <a:p>
            <a:r>
              <a:rPr lang="en-US" dirty="0"/>
              <a:t>SA</a:t>
            </a:r>
            <a:r>
              <a:rPr lang="zh-CN" altLang="en-US" dirty="0"/>
              <a:t>介绍</a:t>
            </a:r>
            <a:endParaRPr lang="en-US" dirty="0"/>
          </a:p>
        </p:txBody>
      </p:sp>
      <p:sp>
        <p:nvSpPr>
          <p:cNvPr id="3" name="Text Placeholder 2">
            <a:extLst>
              <a:ext uri="{FF2B5EF4-FFF2-40B4-BE49-F238E27FC236}">
                <a16:creationId xmlns:a16="http://schemas.microsoft.com/office/drawing/2014/main" id="{D9491D10-9155-4ADB-A1AA-2B0EC0B26332}"/>
              </a:ext>
            </a:extLst>
          </p:cNvPr>
          <p:cNvSpPr>
            <a:spLocks noGrp="1"/>
          </p:cNvSpPr>
          <p:nvPr>
            <p:ph type="body" sz="quarter" idx="10"/>
          </p:nvPr>
        </p:nvSpPr>
        <p:spPr bwMode="gray"/>
        <p:txBody>
          <a:bodyPr/>
          <a:lstStyle/>
          <a:p>
            <a:r>
              <a:rPr lang="zh-CN" altLang="en-US" sz="1800" dirty="0"/>
              <a:t>当设备接收数据后，可以使用</a:t>
            </a:r>
            <a:r>
              <a:rPr lang="en-US" altLang="zh-CN" sz="1800" dirty="0"/>
              <a:t>SA</a:t>
            </a:r>
            <a:r>
              <a:rPr lang="zh-CN" altLang="en-US" sz="1800" dirty="0"/>
              <a:t>（</a:t>
            </a:r>
            <a:r>
              <a:rPr lang="en-US" altLang="zh-CN" sz="1800" dirty="0"/>
              <a:t>Service Awareness</a:t>
            </a:r>
            <a:r>
              <a:rPr lang="zh-CN" altLang="en-US" sz="1800" dirty="0"/>
              <a:t>，业务感知）技术匹配应用。</a:t>
            </a:r>
            <a:endParaRPr lang="en-US" altLang="zh-CN" sz="1800" dirty="0"/>
          </a:p>
          <a:p>
            <a:r>
              <a:rPr lang="en-US" sz="1800" dirty="0"/>
              <a:t>SA</a:t>
            </a:r>
            <a:r>
              <a:rPr lang="zh-CN" altLang="en-US" sz="1800" dirty="0"/>
              <a:t>使用</a:t>
            </a:r>
            <a:r>
              <a:rPr lang="en-US" altLang="zh-CN" sz="1800" dirty="0"/>
              <a:t>SA</a:t>
            </a:r>
            <a:r>
              <a:rPr lang="zh-CN" altLang="en-US" sz="1800" dirty="0"/>
              <a:t>特征库感知业务，现有的</a:t>
            </a:r>
            <a:r>
              <a:rPr lang="en-US" altLang="zh-CN" sz="1800" dirty="0"/>
              <a:t>SA</a:t>
            </a:r>
            <a:r>
              <a:rPr lang="zh-CN" altLang="en-US" sz="1800" dirty="0"/>
              <a:t>特征库内置了</a:t>
            </a:r>
            <a:r>
              <a:rPr lang="en-US" altLang="zh-CN" sz="1800" dirty="0"/>
              <a:t>6000+</a:t>
            </a:r>
            <a:r>
              <a:rPr lang="zh-CN" altLang="en-US" sz="1800" dirty="0"/>
              <a:t>应用，对于公有应用有非常高的识别率。</a:t>
            </a:r>
            <a:r>
              <a:rPr lang="en-US" altLang="zh-CN" sz="1800" dirty="0"/>
              <a:t>SA</a:t>
            </a:r>
            <a:r>
              <a:rPr lang="zh-CN" altLang="en-US" sz="1800" dirty="0"/>
              <a:t>特征库一般不能手工修改，只能通过在线或本地升级更新</a:t>
            </a:r>
            <a:r>
              <a:rPr lang="en-US" altLang="zh-CN" sz="1800" dirty="0"/>
              <a:t>SA</a:t>
            </a:r>
            <a:r>
              <a:rPr lang="zh-CN" altLang="en-US" sz="1800" dirty="0"/>
              <a:t>特征库。</a:t>
            </a:r>
            <a:endParaRPr lang="en-US" sz="1800" dirty="0"/>
          </a:p>
        </p:txBody>
      </p:sp>
      <p:grpSp>
        <p:nvGrpSpPr>
          <p:cNvPr id="4" name="Group 3">
            <a:extLst>
              <a:ext uri="{FF2B5EF4-FFF2-40B4-BE49-F238E27FC236}">
                <a16:creationId xmlns:a16="http://schemas.microsoft.com/office/drawing/2014/main" id="{DC298554-A31E-4869-9A11-6AFEFEC3F52B}"/>
              </a:ext>
            </a:extLst>
          </p:cNvPr>
          <p:cNvGrpSpPr/>
          <p:nvPr/>
        </p:nvGrpSpPr>
        <p:grpSpPr bwMode="gray">
          <a:xfrm>
            <a:off x="2706881" y="2657036"/>
            <a:ext cx="6033615" cy="2210220"/>
            <a:chOff x="2706881" y="3032956"/>
            <a:chExt cx="6033615" cy="2210220"/>
          </a:xfrm>
        </p:grpSpPr>
        <p:grpSp>
          <p:nvGrpSpPr>
            <p:cNvPr id="5" name="Group 4">
              <a:extLst>
                <a:ext uri="{FF2B5EF4-FFF2-40B4-BE49-F238E27FC236}">
                  <a16:creationId xmlns:a16="http://schemas.microsoft.com/office/drawing/2014/main" id="{EDECFDBD-9692-4327-91C2-A9BFB9C71DE9}"/>
                </a:ext>
              </a:extLst>
            </p:cNvPr>
            <p:cNvGrpSpPr/>
            <p:nvPr/>
          </p:nvGrpSpPr>
          <p:grpSpPr bwMode="gray">
            <a:xfrm>
              <a:off x="2706881" y="3032956"/>
              <a:ext cx="4011005" cy="1289401"/>
              <a:chOff x="2706881" y="3032956"/>
              <a:chExt cx="4011005" cy="1289401"/>
            </a:xfrm>
          </p:grpSpPr>
          <p:sp>
            <p:nvSpPr>
              <p:cNvPr id="20" name="TextBox 120">
                <a:extLst>
                  <a:ext uri="{FF2B5EF4-FFF2-40B4-BE49-F238E27FC236}">
                    <a16:creationId xmlns:a16="http://schemas.microsoft.com/office/drawing/2014/main" id="{D128DF8F-46BC-489D-B539-3E17552CCCBA}"/>
                  </a:ext>
                </a:extLst>
              </p:cNvPr>
              <p:cNvSpPr txBox="1"/>
              <p:nvPr/>
            </p:nvSpPr>
            <p:spPr bwMode="gray">
              <a:xfrm>
                <a:off x="4279119" y="3336971"/>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TextBox 120">
                <a:extLst>
                  <a:ext uri="{FF2B5EF4-FFF2-40B4-BE49-F238E27FC236}">
                    <a16:creationId xmlns:a16="http://schemas.microsoft.com/office/drawing/2014/main" id="{603740D8-60BF-4D78-BC62-71B8B91E5956}"/>
                  </a:ext>
                </a:extLst>
              </p:cNvPr>
              <p:cNvSpPr txBox="1"/>
              <p:nvPr/>
            </p:nvSpPr>
            <p:spPr bwMode="gray">
              <a:xfrm>
                <a:off x="4054511" y="3337233"/>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TextBox 120">
                <a:extLst>
                  <a:ext uri="{FF2B5EF4-FFF2-40B4-BE49-F238E27FC236}">
                    <a16:creationId xmlns:a16="http://schemas.microsoft.com/office/drawing/2014/main" id="{C03D18D5-7224-4E15-954F-67BA848F6778}"/>
                  </a:ext>
                </a:extLst>
              </p:cNvPr>
              <p:cNvSpPr txBox="1"/>
              <p:nvPr/>
            </p:nvSpPr>
            <p:spPr bwMode="gray">
              <a:xfrm>
                <a:off x="3829906" y="3336840"/>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20">
                <a:extLst>
                  <a:ext uri="{FF2B5EF4-FFF2-40B4-BE49-F238E27FC236}">
                    <a16:creationId xmlns:a16="http://schemas.microsoft.com/office/drawing/2014/main" id="{15327F61-3A5F-400B-8499-30ACE2D8845A}"/>
                  </a:ext>
                </a:extLst>
              </p:cNvPr>
              <p:cNvSpPr txBox="1"/>
              <p:nvPr/>
            </p:nvSpPr>
            <p:spPr bwMode="gray">
              <a:xfrm>
                <a:off x="3605301" y="333710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120">
                <a:extLst>
                  <a:ext uri="{FF2B5EF4-FFF2-40B4-BE49-F238E27FC236}">
                    <a16:creationId xmlns:a16="http://schemas.microsoft.com/office/drawing/2014/main" id="{6561C9EF-6379-4EE5-982A-C1B0276BC4D1}"/>
                  </a:ext>
                </a:extLst>
              </p:cNvPr>
              <p:cNvSpPr txBox="1"/>
              <p:nvPr/>
            </p:nvSpPr>
            <p:spPr bwMode="gray">
              <a:xfrm>
                <a:off x="3380696" y="3336840"/>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TextBox 120">
                <a:extLst>
                  <a:ext uri="{FF2B5EF4-FFF2-40B4-BE49-F238E27FC236}">
                    <a16:creationId xmlns:a16="http://schemas.microsoft.com/office/drawing/2014/main" id="{03C2FF5E-4510-45C7-8C31-612A8E1165C3}"/>
                  </a:ext>
                </a:extLst>
              </p:cNvPr>
              <p:cNvSpPr txBox="1"/>
              <p:nvPr/>
            </p:nvSpPr>
            <p:spPr bwMode="gray">
              <a:xfrm>
                <a:off x="3156091" y="333710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TextBox 120">
                <a:extLst>
                  <a:ext uri="{FF2B5EF4-FFF2-40B4-BE49-F238E27FC236}">
                    <a16:creationId xmlns:a16="http://schemas.microsoft.com/office/drawing/2014/main" id="{0CAF2E3E-7085-4DDA-A6BE-0195C63892F9}"/>
                  </a:ext>
                </a:extLst>
              </p:cNvPr>
              <p:cNvSpPr txBox="1"/>
              <p:nvPr/>
            </p:nvSpPr>
            <p:spPr bwMode="gray">
              <a:xfrm>
                <a:off x="2931486" y="3336840"/>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20">
                <a:extLst>
                  <a:ext uri="{FF2B5EF4-FFF2-40B4-BE49-F238E27FC236}">
                    <a16:creationId xmlns:a16="http://schemas.microsoft.com/office/drawing/2014/main" id="{109A87B2-EBC9-4E02-812C-435A0904EDED}"/>
                  </a:ext>
                </a:extLst>
              </p:cNvPr>
              <p:cNvSpPr txBox="1"/>
              <p:nvPr/>
            </p:nvSpPr>
            <p:spPr bwMode="gray">
              <a:xfrm>
                <a:off x="2706881" y="3337102"/>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Rectangle 27">
                <a:extLst>
                  <a:ext uri="{FF2B5EF4-FFF2-40B4-BE49-F238E27FC236}">
                    <a16:creationId xmlns:a16="http://schemas.microsoft.com/office/drawing/2014/main" id="{2C56E908-A63E-4B05-98C0-A78ED33CB664}"/>
                  </a:ext>
                </a:extLst>
              </p:cNvPr>
              <p:cNvSpPr/>
              <p:nvPr/>
            </p:nvSpPr>
            <p:spPr bwMode="gray">
              <a:xfrm>
                <a:off x="5474113" y="3207323"/>
                <a:ext cx="124377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SAC</a:t>
                </a:r>
                <a:r>
                  <a:rPr lang="zh-CN" altLang="en-US" sz="1400" dirty="0">
                    <a:solidFill>
                      <a:schemeClr val="tx1"/>
                    </a:solidFill>
                    <a:latin typeface="Huawei Sans" panose="020C0503030203020204" pitchFamily="34" charset="0"/>
                    <a:ea typeface="方正兰亭黑简体" panose="02000000000000000000" pitchFamily="2" charset="-122"/>
                  </a:rPr>
                  <a:t>检测</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29" name="Arrow: Right 28">
                <a:extLst>
                  <a:ext uri="{FF2B5EF4-FFF2-40B4-BE49-F238E27FC236}">
                    <a16:creationId xmlns:a16="http://schemas.microsoft.com/office/drawing/2014/main" id="{1EA99028-D679-46B9-A8B1-95E772794EA4}"/>
                  </a:ext>
                </a:extLst>
              </p:cNvPr>
              <p:cNvSpPr/>
              <p:nvPr/>
            </p:nvSpPr>
            <p:spPr bwMode="gray">
              <a:xfrm>
                <a:off x="4641145" y="3206230"/>
                <a:ext cx="694028"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870F06B4-C7E3-4543-9D0D-C2C110D8460A}"/>
                  </a:ext>
                </a:extLst>
              </p:cNvPr>
              <p:cNvSpPr/>
              <p:nvPr/>
            </p:nvSpPr>
            <p:spPr bwMode="gray">
              <a:xfrm rot="5400000">
                <a:off x="5796013" y="3763995"/>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F08A1DFE-4593-4B56-B1F1-32DB5F7B440C}"/>
                  </a:ext>
                </a:extLst>
              </p:cNvPr>
              <p:cNvSpPr txBox="1"/>
              <p:nvPr/>
            </p:nvSpPr>
            <p:spPr bwMode="gray">
              <a:xfrm>
                <a:off x="3228676" y="303295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业务流量</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2" name="TextBox 31">
                <a:extLst>
                  <a:ext uri="{FF2B5EF4-FFF2-40B4-BE49-F238E27FC236}">
                    <a16:creationId xmlns:a16="http://schemas.microsoft.com/office/drawing/2014/main" id="{DE126DCB-D31D-4604-B1DA-BFCFCD35CCF2}"/>
                  </a:ext>
                </a:extLst>
              </p:cNvPr>
              <p:cNvSpPr txBox="1"/>
              <p:nvPr/>
            </p:nvSpPr>
            <p:spPr bwMode="gray">
              <a:xfrm>
                <a:off x="4890285" y="3839918"/>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6" name="Rectangle 5">
              <a:extLst>
                <a:ext uri="{FF2B5EF4-FFF2-40B4-BE49-F238E27FC236}">
                  <a16:creationId xmlns:a16="http://schemas.microsoft.com/office/drawing/2014/main" id="{A5EBFA0E-0B30-4154-99C6-55488DB5A61E}"/>
                </a:ext>
              </a:extLst>
            </p:cNvPr>
            <p:cNvSpPr/>
            <p:nvPr/>
          </p:nvSpPr>
          <p:spPr bwMode="gray">
            <a:xfrm>
              <a:off x="5602646" y="4375490"/>
              <a:ext cx="1007523" cy="468353"/>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SA</a:t>
              </a:r>
              <a:r>
                <a:rPr lang="zh-CN" altLang="en-US" sz="1400" dirty="0">
                  <a:solidFill>
                    <a:schemeClr val="tx1"/>
                  </a:solidFill>
                  <a:latin typeface="Huawei Sans" panose="020C0503030203020204" pitchFamily="34" charset="0"/>
                  <a:ea typeface="方正兰亭黑简体" panose="02000000000000000000" pitchFamily="2" charset="-122"/>
                </a:rPr>
                <a:t>行为特征匹配</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7" name="TextBox 120">
              <a:extLst>
                <a:ext uri="{FF2B5EF4-FFF2-40B4-BE49-F238E27FC236}">
                  <a16:creationId xmlns:a16="http://schemas.microsoft.com/office/drawing/2014/main" id="{6DE7FCC8-2687-487F-9A4B-C9C49E8DBCF6}"/>
                </a:ext>
              </a:extLst>
            </p:cNvPr>
            <p:cNvSpPr txBox="1"/>
            <p:nvPr/>
          </p:nvSpPr>
          <p:spPr bwMode="gray">
            <a:xfrm>
              <a:off x="8027567" y="4087775"/>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20">
              <a:extLst>
                <a:ext uri="{FF2B5EF4-FFF2-40B4-BE49-F238E27FC236}">
                  <a16:creationId xmlns:a16="http://schemas.microsoft.com/office/drawing/2014/main" id="{23B78D42-79F9-4556-A80B-F2DA5016B9CB}"/>
                </a:ext>
              </a:extLst>
            </p:cNvPr>
            <p:cNvSpPr txBox="1"/>
            <p:nvPr/>
          </p:nvSpPr>
          <p:spPr bwMode="gray">
            <a:xfrm>
              <a:off x="7802959" y="4088037"/>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id="{91824A1D-BFAB-425C-AFA2-3283CFA3E8BF}"/>
                </a:ext>
              </a:extLst>
            </p:cNvPr>
            <p:cNvSpPr txBox="1"/>
            <p:nvPr/>
          </p:nvSpPr>
          <p:spPr bwMode="gray">
            <a:xfrm>
              <a:off x="7578354" y="4087644"/>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id="{63CE884A-E44A-4B09-BBBC-05F9AECC4797}"/>
                </a:ext>
              </a:extLst>
            </p:cNvPr>
            <p:cNvSpPr txBox="1"/>
            <p:nvPr/>
          </p:nvSpPr>
          <p:spPr bwMode="gray">
            <a:xfrm>
              <a:off x="8027567" y="450355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a16="http://schemas.microsoft.com/office/drawing/2014/main" id="{44A64985-0E9F-47CD-82CA-4E283570A516}"/>
                </a:ext>
              </a:extLst>
            </p:cNvPr>
            <p:cNvSpPr txBox="1"/>
            <p:nvPr/>
          </p:nvSpPr>
          <p:spPr bwMode="gray">
            <a:xfrm>
              <a:off x="7802962" y="450329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20">
              <a:extLst>
                <a:ext uri="{FF2B5EF4-FFF2-40B4-BE49-F238E27FC236}">
                  <a16:creationId xmlns:a16="http://schemas.microsoft.com/office/drawing/2014/main" id="{9DDC32B7-8497-49DA-8FC5-5FFE52E45D3A}"/>
                </a:ext>
              </a:extLst>
            </p:cNvPr>
            <p:cNvSpPr txBox="1"/>
            <p:nvPr/>
          </p:nvSpPr>
          <p:spPr bwMode="gray">
            <a:xfrm>
              <a:off x="7578357" y="450355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20">
              <a:extLst>
                <a:ext uri="{FF2B5EF4-FFF2-40B4-BE49-F238E27FC236}">
                  <a16:creationId xmlns:a16="http://schemas.microsoft.com/office/drawing/2014/main" id="{22BA4963-EB16-4C04-9857-54DEE872C453}"/>
                </a:ext>
              </a:extLst>
            </p:cNvPr>
            <p:cNvSpPr txBox="1"/>
            <p:nvPr/>
          </p:nvSpPr>
          <p:spPr bwMode="gray">
            <a:xfrm>
              <a:off x="8027567" y="4935399"/>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TextBox 120">
              <a:extLst>
                <a:ext uri="{FF2B5EF4-FFF2-40B4-BE49-F238E27FC236}">
                  <a16:creationId xmlns:a16="http://schemas.microsoft.com/office/drawing/2014/main" id="{F4CDAC85-00A5-4006-A1F9-71B18AA7EAA8}"/>
                </a:ext>
              </a:extLst>
            </p:cNvPr>
            <p:cNvSpPr txBox="1"/>
            <p:nvPr/>
          </p:nvSpPr>
          <p:spPr bwMode="gray">
            <a:xfrm>
              <a:off x="7802962" y="4935661"/>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Arrow: Right 14">
              <a:extLst>
                <a:ext uri="{FF2B5EF4-FFF2-40B4-BE49-F238E27FC236}">
                  <a16:creationId xmlns:a16="http://schemas.microsoft.com/office/drawing/2014/main" id="{1078DE77-811B-49F3-BDD5-7689F8C7A8E2}"/>
                </a:ext>
              </a:extLst>
            </p:cNvPr>
            <p:cNvSpPr/>
            <p:nvPr/>
          </p:nvSpPr>
          <p:spPr bwMode="gray">
            <a:xfrm>
              <a:off x="6800258" y="4345306"/>
              <a:ext cx="588004" cy="528719"/>
            </a:xfrm>
            <a:prstGeom prst="rightArrow">
              <a:avLst/>
            </a:prstGeom>
            <a:solidFill>
              <a:srgbClr val="BEE9EE"/>
            </a:solidFill>
            <a:ln>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CA0B794-1D6C-4DC2-A09D-EE0DE97D817F}"/>
                </a:ext>
              </a:extLst>
            </p:cNvPr>
            <p:cNvSpPr txBox="1"/>
            <p:nvPr/>
          </p:nvSpPr>
          <p:spPr bwMode="gray">
            <a:xfrm>
              <a:off x="8183521" y="4077612"/>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语音</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7" name="TextBox 16">
              <a:extLst>
                <a:ext uri="{FF2B5EF4-FFF2-40B4-BE49-F238E27FC236}">
                  <a16:creationId xmlns:a16="http://schemas.microsoft.com/office/drawing/2014/main" id="{1528C01C-91F9-4867-9A7B-007938128B41}"/>
                </a:ext>
              </a:extLst>
            </p:cNvPr>
            <p:cNvSpPr txBox="1"/>
            <p:nvPr/>
          </p:nvSpPr>
          <p:spPr bwMode="gray">
            <a:xfrm>
              <a:off x="8185536" y="4507750"/>
              <a:ext cx="554960"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视频</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 name="TextBox 17">
              <a:extLst>
                <a:ext uri="{FF2B5EF4-FFF2-40B4-BE49-F238E27FC236}">
                  <a16:creationId xmlns:a16="http://schemas.microsoft.com/office/drawing/2014/main" id="{7E18C299-DFB7-49FF-B9CB-8C9A9DE54732}"/>
                </a:ext>
              </a:extLst>
            </p:cNvPr>
            <p:cNvSpPr txBox="1"/>
            <p:nvPr/>
          </p:nvSpPr>
          <p:spPr bwMode="gray">
            <a:xfrm>
              <a:off x="8177910" y="4935399"/>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网页</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 name="Trapezoid 18">
              <a:extLst>
                <a:ext uri="{FF2B5EF4-FFF2-40B4-BE49-F238E27FC236}">
                  <a16:creationId xmlns:a16="http://schemas.microsoft.com/office/drawing/2014/main" id="{D9E069D0-B71B-4616-BB98-F491A4E207C8}"/>
                </a:ext>
              </a:extLst>
            </p:cNvPr>
            <p:cNvSpPr/>
            <p:nvPr/>
          </p:nvSpPr>
          <p:spPr bwMode="gray">
            <a:xfrm>
              <a:off x="4955603" y="4874025"/>
              <a:ext cx="2280794" cy="369151"/>
            </a:xfrm>
            <a:prstGeom prst="trapezoid">
              <a:avLst>
                <a:gd name="adj" fmla="val 175771"/>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33" name="Table 44">
            <a:extLst>
              <a:ext uri="{FF2B5EF4-FFF2-40B4-BE49-F238E27FC236}">
                <a16:creationId xmlns:a16="http://schemas.microsoft.com/office/drawing/2014/main" id="{3FB06C3F-F61D-472A-8239-9A2EFC17D5D8}"/>
              </a:ext>
            </a:extLst>
          </p:cNvPr>
          <p:cNvGraphicFramePr>
            <a:graphicFrameLocks noGrp="1"/>
          </p:cNvGraphicFramePr>
          <p:nvPr/>
        </p:nvGraphicFramePr>
        <p:xfrm>
          <a:off x="4859727" y="4897438"/>
          <a:ext cx="2472545" cy="1056880"/>
        </p:xfrm>
        <a:graphic>
          <a:graphicData uri="http://schemas.openxmlformats.org/drawingml/2006/table">
            <a:tbl>
              <a:tblPr firstRow="1" bandRow="1">
                <a:tableStyleId>{5C22544A-7EE6-4342-B048-85BDC9FD1C3A}</a:tableStyleId>
              </a:tblPr>
              <a:tblGrid>
                <a:gridCol w="1889996">
                  <a:extLst>
                    <a:ext uri="{9D8B030D-6E8A-4147-A177-3AD203B41FA5}">
                      <a16:colId xmlns:a16="http://schemas.microsoft.com/office/drawing/2014/main" val="1378685392"/>
                    </a:ext>
                  </a:extLst>
                </a:gridCol>
                <a:gridCol w="582549">
                  <a:extLst>
                    <a:ext uri="{9D8B030D-6E8A-4147-A177-3AD203B41FA5}">
                      <a16:colId xmlns:a16="http://schemas.microsoft.com/office/drawing/2014/main" val="596258084"/>
                    </a:ext>
                  </a:extLst>
                </a:gridCol>
              </a:tblGrid>
              <a:tr h="206270">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匹配条件</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应用</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2512102"/>
                  </a:ext>
                </a:extLst>
              </a:tr>
              <a:tr h="206270">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域名，</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rPr>
                        <a:t>Server IP</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，协议</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aseline="0" dirty="0">
                          <a:solidFill>
                            <a:schemeClr val="bg1"/>
                          </a:solidFill>
                          <a:latin typeface="Huawei Sans" panose="020C0503030203020204" pitchFamily="34" charset="0"/>
                          <a:ea typeface="方正兰亭黑简体" panose="02000000000000000000" pitchFamily="2" charset="-122"/>
                        </a:rPr>
                        <a:t>语音</a:t>
                      </a:r>
                      <a:endParaRPr lang="en-US" sz="1400" baseline="0" dirty="0">
                        <a:solidFill>
                          <a:schemeClr val="bg1"/>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297895530"/>
                  </a:ext>
                </a:extLst>
              </a:tr>
              <a:tr h="206270">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域名，</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rPr>
                        <a:t>Server IP</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，协议</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网页</a:t>
                      </a:r>
                      <a:endParaRPr lang="en-US" sz="1400" b="0" baseline="0" dirty="0">
                        <a:solidFill>
                          <a:schemeClr val="bg1"/>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extLst>
                  <a:ext uri="{0D108BD9-81ED-4DB2-BD59-A6C34878D82A}">
                    <a16:rowId xmlns:a16="http://schemas.microsoft.com/office/drawing/2014/main" val="4284125827"/>
                  </a:ext>
                </a:extLst>
              </a:tr>
              <a:tr h="206270">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域名，</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rPr>
                        <a:t>Server IP</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，协议</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zh-CN" altLang="en-US" sz="140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视频</a:t>
                      </a:r>
                      <a:endParaRPr lang="en-US" sz="1400" baseline="0" dirty="0">
                        <a:solidFill>
                          <a:schemeClr val="bg1"/>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extLst>
                  <a:ext uri="{0D108BD9-81ED-4DB2-BD59-A6C34878D82A}">
                    <a16:rowId xmlns:a16="http://schemas.microsoft.com/office/drawing/2014/main" val="2659925939"/>
                  </a:ext>
                </a:extLst>
              </a:tr>
            </a:tbl>
          </a:graphicData>
        </a:graphic>
      </p:graphicFrame>
    </p:spTree>
    <p:extLst>
      <p:ext uri="{BB962C8B-B14F-4D97-AF65-F5344CB8AC3E}">
        <p14:creationId xmlns:p14="http://schemas.microsoft.com/office/powerpoint/2010/main" val="298579013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513F0-4FFF-4CB3-BB7B-A954B58E219E}"/>
              </a:ext>
            </a:extLst>
          </p:cNvPr>
          <p:cNvSpPr>
            <a:spLocks noGrp="1"/>
          </p:cNvSpPr>
          <p:nvPr>
            <p:ph type="title"/>
          </p:nvPr>
        </p:nvSpPr>
        <p:spPr bwMode="gray"/>
        <p:txBody>
          <a:bodyPr/>
          <a:lstStyle/>
          <a:p>
            <a:r>
              <a:rPr lang="en-US" dirty="0"/>
              <a:t>FPI</a:t>
            </a:r>
            <a:r>
              <a:rPr lang="zh-CN" altLang="en-US" dirty="0"/>
              <a:t>介绍</a:t>
            </a:r>
            <a:endParaRPr lang="en-US" dirty="0"/>
          </a:p>
        </p:txBody>
      </p:sp>
      <p:sp>
        <p:nvSpPr>
          <p:cNvPr id="3" name="Text Placeholder 2">
            <a:extLst>
              <a:ext uri="{FF2B5EF4-FFF2-40B4-BE49-F238E27FC236}">
                <a16:creationId xmlns:a16="http://schemas.microsoft.com/office/drawing/2014/main" id="{CDEAE019-C315-4650-ACC3-1EF3092E225E}"/>
              </a:ext>
            </a:extLst>
          </p:cNvPr>
          <p:cNvSpPr>
            <a:spLocks noGrp="1"/>
          </p:cNvSpPr>
          <p:nvPr>
            <p:ph type="body" sz="quarter" idx="10"/>
          </p:nvPr>
        </p:nvSpPr>
        <p:spPr bwMode="gray"/>
        <p:txBody>
          <a:bodyPr/>
          <a:lstStyle/>
          <a:p>
            <a:r>
              <a:rPr lang="zh-CN" altLang="en-US" sz="1800" dirty="0"/>
              <a:t>通过</a:t>
            </a:r>
            <a:r>
              <a:rPr lang="en-US" altLang="zh-CN" sz="1800" dirty="0"/>
              <a:t>SA</a:t>
            </a:r>
            <a:r>
              <a:rPr lang="zh-CN" altLang="en-US" sz="1800" dirty="0"/>
              <a:t>特征码匹配应用存在一定问题，特征码可能无法识别出最初几个报文对应的应用，这有可能导致报文处理前后不一致。</a:t>
            </a:r>
            <a:r>
              <a:rPr lang="en-US" altLang="zh-CN" sz="1800" dirty="0"/>
              <a:t>FPI</a:t>
            </a:r>
            <a:r>
              <a:rPr lang="zh-CN" altLang="en-US" sz="1800" dirty="0"/>
              <a:t>功能能够让设备通过匹配一条流量的第一个报文就识别出对应应用。</a:t>
            </a:r>
            <a:endParaRPr lang="en-US" altLang="zh-CN" sz="1800" dirty="0"/>
          </a:p>
          <a:p>
            <a:r>
              <a:rPr lang="en-US" sz="1800" dirty="0"/>
              <a:t>FPI</a:t>
            </a:r>
            <a:r>
              <a:rPr lang="zh-CN" altLang="en-US" sz="1800" dirty="0"/>
              <a:t>通过五元组，</a:t>
            </a:r>
            <a:r>
              <a:rPr lang="en-US" altLang="zh-CN" sz="1800" dirty="0"/>
              <a:t>DSCP</a:t>
            </a:r>
            <a:r>
              <a:rPr lang="zh-CN" altLang="en-US" sz="1800" dirty="0"/>
              <a:t>值，协议，</a:t>
            </a:r>
            <a:r>
              <a:rPr lang="en-US" altLang="zh-CN" sz="1800" dirty="0"/>
              <a:t>DNS</a:t>
            </a:r>
            <a:r>
              <a:rPr lang="zh-CN" altLang="en-US" sz="1800" dirty="0"/>
              <a:t>域名等信息识别应用。系统自带预定义</a:t>
            </a:r>
            <a:r>
              <a:rPr lang="en-US" altLang="zh-CN" sz="1800" dirty="0"/>
              <a:t>FPI</a:t>
            </a:r>
            <a:r>
              <a:rPr lang="zh-CN" altLang="en-US" sz="1800" dirty="0"/>
              <a:t>库，用于帮助</a:t>
            </a:r>
            <a:r>
              <a:rPr lang="en-US" altLang="zh-CN" sz="1800" dirty="0"/>
              <a:t>SAC</a:t>
            </a:r>
            <a:r>
              <a:rPr lang="zh-CN" altLang="en-US" sz="1800" dirty="0"/>
              <a:t>识别应用，用户也可以通过自定义</a:t>
            </a:r>
            <a:r>
              <a:rPr lang="en-US" altLang="zh-CN" sz="1800" dirty="0"/>
              <a:t>FPI</a:t>
            </a:r>
            <a:r>
              <a:rPr lang="zh-CN" altLang="en-US" sz="1800" dirty="0"/>
              <a:t>应用识别一些新应用。</a:t>
            </a:r>
            <a:endParaRPr lang="en-US" sz="1800" dirty="0"/>
          </a:p>
        </p:txBody>
      </p:sp>
      <p:grpSp>
        <p:nvGrpSpPr>
          <p:cNvPr id="47" name="Group 46">
            <a:extLst>
              <a:ext uri="{FF2B5EF4-FFF2-40B4-BE49-F238E27FC236}">
                <a16:creationId xmlns:a16="http://schemas.microsoft.com/office/drawing/2014/main" id="{F9FB75BF-F07B-44DB-BDEE-5BA7A4AB5186}"/>
              </a:ext>
            </a:extLst>
          </p:cNvPr>
          <p:cNvGrpSpPr/>
          <p:nvPr/>
        </p:nvGrpSpPr>
        <p:grpSpPr bwMode="gray">
          <a:xfrm>
            <a:off x="2706881" y="2880556"/>
            <a:ext cx="6033615" cy="2210220"/>
            <a:chOff x="2706881" y="3032956"/>
            <a:chExt cx="6033615" cy="2210220"/>
          </a:xfrm>
        </p:grpSpPr>
        <p:grpSp>
          <p:nvGrpSpPr>
            <p:cNvPr id="46" name="Group 45">
              <a:extLst>
                <a:ext uri="{FF2B5EF4-FFF2-40B4-BE49-F238E27FC236}">
                  <a16:creationId xmlns:a16="http://schemas.microsoft.com/office/drawing/2014/main" id="{D14472A7-B8F2-4BD6-B658-34CCB4A53EDA}"/>
                </a:ext>
              </a:extLst>
            </p:cNvPr>
            <p:cNvGrpSpPr/>
            <p:nvPr/>
          </p:nvGrpSpPr>
          <p:grpSpPr bwMode="gray">
            <a:xfrm>
              <a:off x="2706881" y="3032956"/>
              <a:ext cx="4011005" cy="1289401"/>
              <a:chOff x="2706881" y="3032956"/>
              <a:chExt cx="4011005" cy="1289401"/>
            </a:xfrm>
          </p:grpSpPr>
          <p:sp>
            <p:nvSpPr>
              <p:cNvPr id="5" name="TextBox 120">
                <a:extLst>
                  <a:ext uri="{FF2B5EF4-FFF2-40B4-BE49-F238E27FC236}">
                    <a16:creationId xmlns:a16="http://schemas.microsoft.com/office/drawing/2014/main" id="{61907984-5B83-4195-AE7D-2761186704EF}"/>
                  </a:ext>
                </a:extLst>
              </p:cNvPr>
              <p:cNvSpPr txBox="1"/>
              <p:nvPr/>
            </p:nvSpPr>
            <p:spPr bwMode="gray">
              <a:xfrm>
                <a:off x="4279119" y="3336971"/>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TextBox 120">
                <a:extLst>
                  <a:ext uri="{FF2B5EF4-FFF2-40B4-BE49-F238E27FC236}">
                    <a16:creationId xmlns:a16="http://schemas.microsoft.com/office/drawing/2014/main" id="{D7EA717A-E3EF-4C9E-A742-F8FE9CC5C076}"/>
                  </a:ext>
                </a:extLst>
              </p:cNvPr>
              <p:cNvSpPr txBox="1"/>
              <p:nvPr/>
            </p:nvSpPr>
            <p:spPr bwMode="gray">
              <a:xfrm>
                <a:off x="4054511" y="3337233"/>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TextBox 120">
                <a:extLst>
                  <a:ext uri="{FF2B5EF4-FFF2-40B4-BE49-F238E27FC236}">
                    <a16:creationId xmlns:a16="http://schemas.microsoft.com/office/drawing/2014/main" id="{5868F000-DD87-403A-BC54-B31F7CBF642A}"/>
                  </a:ext>
                </a:extLst>
              </p:cNvPr>
              <p:cNvSpPr txBox="1"/>
              <p:nvPr/>
            </p:nvSpPr>
            <p:spPr bwMode="gray">
              <a:xfrm>
                <a:off x="3829906" y="3336840"/>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TextBox 120">
                <a:extLst>
                  <a:ext uri="{FF2B5EF4-FFF2-40B4-BE49-F238E27FC236}">
                    <a16:creationId xmlns:a16="http://schemas.microsoft.com/office/drawing/2014/main" id="{2C4CAB86-0420-4DCD-B92A-6C0F173DD13D}"/>
                  </a:ext>
                </a:extLst>
              </p:cNvPr>
              <p:cNvSpPr txBox="1"/>
              <p:nvPr/>
            </p:nvSpPr>
            <p:spPr bwMode="gray">
              <a:xfrm>
                <a:off x="3605301" y="333710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TextBox 120">
                <a:extLst>
                  <a:ext uri="{FF2B5EF4-FFF2-40B4-BE49-F238E27FC236}">
                    <a16:creationId xmlns:a16="http://schemas.microsoft.com/office/drawing/2014/main" id="{3BCC8AEF-435D-46C0-B14D-B1293C4D3CFF}"/>
                  </a:ext>
                </a:extLst>
              </p:cNvPr>
              <p:cNvSpPr txBox="1"/>
              <p:nvPr/>
            </p:nvSpPr>
            <p:spPr bwMode="gray">
              <a:xfrm>
                <a:off x="3380696" y="3336840"/>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TextBox 120">
                <a:extLst>
                  <a:ext uri="{FF2B5EF4-FFF2-40B4-BE49-F238E27FC236}">
                    <a16:creationId xmlns:a16="http://schemas.microsoft.com/office/drawing/2014/main" id="{DB9A7F56-75CF-4723-A750-D6E62741ABE8}"/>
                  </a:ext>
                </a:extLst>
              </p:cNvPr>
              <p:cNvSpPr txBox="1"/>
              <p:nvPr/>
            </p:nvSpPr>
            <p:spPr bwMode="gray">
              <a:xfrm>
                <a:off x="3156091" y="3337102"/>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TextBox 120">
                <a:extLst>
                  <a:ext uri="{FF2B5EF4-FFF2-40B4-BE49-F238E27FC236}">
                    <a16:creationId xmlns:a16="http://schemas.microsoft.com/office/drawing/2014/main" id="{4D3A4276-D2CD-4512-AB25-ECDE375E727A}"/>
                  </a:ext>
                </a:extLst>
              </p:cNvPr>
              <p:cNvSpPr txBox="1"/>
              <p:nvPr/>
            </p:nvSpPr>
            <p:spPr bwMode="gray">
              <a:xfrm>
                <a:off x="2931486" y="3336840"/>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TextBox 120">
                <a:extLst>
                  <a:ext uri="{FF2B5EF4-FFF2-40B4-BE49-F238E27FC236}">
                    <a16:creationId xmlns:a16="http://schemas.microsoft.com/office/drawing/2014/main" id="{DCC54017-684C-491E-BF5F-74A73A00F5F4}"/>
                  </a:ext>
                </a:extLst>
              </p:cNvPr>
              <p:cNvSpPr txBox="1"/>
              <p:nvPr/>
            </p:nvSpPr>
            <p:spPr bwMode="gray">
              <a:xfrm>
                <a:off x="2706881" y="3337102"/>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Rectangle 12">
                <a:extLst>
                  <a:ext uri="{FF2B5EF4-FFF2-40B4-BE49-F238E27FC236}">
                    <a16:creationId xmlns:a16="http://schemas.microsoft.com/office/drawing/2014/main" id="{6185E845-13BB-4CE8-99B8-28758AFD2CC9}"/>
                  </a:ext>
                </a:extLst>
              </p:cNvPr>
              <p:cNvSpPr/>
              <p:nvPr/>
            </p:nvSpPr>
            <p:spPr bwMode="gray">
              <a:xfrm>
                <a:off x="5474113" y="3207323"/>
                <a:ext cx="1243773" cy="468353"/>
              </a:xfrm>
              <a:prstGeom prst="rect">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sz="1400" dirty="0">
                    <a:solidFill>
                      <a:schemeClr val="tx1"/>
                    </a:solidFill>
                    <a:latin typeface="Huawei Sans" panose="020C0503030203020204" pitchFamily="34" charset="0"/>
                    <a:ea typeface="方正兰亭黑简体" panose="02000000000000000000" pitchFamily="2" charset="-122"/>
                  </a:rPr>
                  <a:t>SAC</a:t>
                </a:r>
                <a:r>
                  <a:rPr lang="zh-CN" altLang="en-US" sz="1400" dirty="0">
                    <a:solidFill>
                      <a:schemeClr val="tx1"/>
                    </a:solidFill>
                    <a:latin typeface="Huawei Sans" panose="020C0503030203020204" pitchFamily="34" charset="0"/>
                    <a:ea typeface="方正兰亭黑简体" panose="02000000000000000000" pitchFamily="2" charset="-122"/>
                  </a:rPr>
                  <a:t>检测</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18" name="Arrow: Right 17">
                <a:extLst>
                  <a:ext uri="{FF2B5EF4-FFF2-40B4-BE49-F238E27FC236}">
                    <a16:creationId xmlns:a16="http://schemas.microsoft.com/office/drawing/2014/main" id="{E69F3793-4EB4-4568-9561-E34886477611}"/>
                  </a:ext>
                </a:extLst>
              </p:cNvPr>
              <p:cNvSpPr/>
              <p:nvPr/>
            </p:nvSpPr>
            <p:spPr bwMode="gray">
              <a:xfrm>
                <a:off x="4641145" y="3206230"/>
                <a:ext cx="694028"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Arrow: Right 18">
                <a:extLst>
                  <a:ext uri="{FF2B5EF4-FFF2-40B4-BE49-F238E27FC236}">
                    <a16:creationId xmlns:a16="http://schemas.microsoft.com/office/drawing/2014/main" id="{77198DF1-8B9B-4989-8C7F-E0435A9CAE77}"/>
                  </a:ext>
                </a:extLst>
              </p:cNvPr>
              <p:cNvSpPr/>
              <p:nvPr/>
            </p:nvSpPr>
            <p:spPr bwMode="gray">
              <a:xfrm rot="5400000">
                <a:off x="5796013" y="3763995"/>
                <a:ext cx="588004" cy="528719"/>
              </a:xfrm>
              <a:prstGeom prst="rightArrow">
                <a:avLst/>
              </a:prstGeom>
              <a:solidFill>
                <a:srgbClr val="FFF2CC"/>
              </a:solidFill>
              <a:ln>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16B284D-257C-4BB8-85A3-B711EB0BEDFD}"/>
                  </a:ext>
                </a:extLst>
              </p:cNvPr>
              <p:cNvSpPr txBox="1"/>
              <p:nvPr/>
            </p:nvSpPr>
            <p:spPr bwMode="gray">
              <a:xfrm>
                <a:off x="3228676" y="3032956"/>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业务流量</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 name="TextBox 23">
                <a:extLst>
                  <a:ext uri="{FF2B5EF4-FFF2-40B4-BE49-F238E27FC236}">
                    <a16:creationId xmlns:a16="http://schemas.microsoft.com/office/drawing/2014/main" id="{5963524F-6B39-4EA9-BAF8-0A3226D9CFDC}"/>
                  </a:ext>
                </a:extLst>
              </p:cNvPr>
              <p:cNvSpPr txBox="1"/>
              <p:nvPr/>
            </p:nvSpPr>
            <p:spPr bwMode="gray">
              <a:xfrm>
                <a:off x="4890285" y="3839918"/>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特征匹配</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28" name="Rectangle 27">
              <a:extLst>
                <a:ext uri="{FF2B5EF4-FFF2-40B4-BE49-F238E27FC236}">
                  <a16:creationId xmlns:a16="http://schemas.microsoft.com/office/drawing/2014/main" id="{CF7FF933-A5E9-4220-AD32-BA5A8C2979CE}"/>
                </a:ext>
              </a:extLst>
            </p:cNvPr>
            <p:cNvSpPr/>
            <p:nvPr/>
          </p:nvSpPr>
          <p:spPr bwMode="gray">
            <a:xfrm>
              <a:off x="5602646" y="4375490"/>
              <a:ext cx="1007523" cy="468353"/>
            </a:xfrm>
            <a:prstGeom prst="rect">
              <a:avLst/>
            </a:prstGeom>
            <a:solidFill>
              <a:srgbClr val="F4FBFE"/>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FPI</a:t>
              </a:r>
              <a:r>
                <a:rPr lang="zh-CN" altLang="en-US" sz="1400" dirty="0">
                  <a:solidFill>
                    <a:schemeClr val="tx1"/>
                  </a:solidFill>
                  <a:latin typeface="Huawei Sans" panose="020C0503030203020204" pitchFamily="34" charset="0"/>
                  <a:ea typeface="方正兰亭黑简体" panose="02000000000000000000" pitchFamily="2" charset="-122"/>
                </a:rPr>
                <a:t>特征库</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30" name="TextBox 120">
              <a:extLst>
                <a:ext uri="{FF2B5EF4-FFF2-40B4-BE49-F238E27FC236}">
                  <a16:creationId xmlns:a16="http://schemas.microsoft.com/office/drawing/2014/main" id="{5F7F5FF1-D092-45D0-AAEF-EDC4FBF33EE2}"/>
                </a:ext>
              </a:extLst>
            </p:cNvPr>
            <p:cNvSpPr txBox="1"/>
            <p:nvPr/>
          </p:nvSpPr>
          <p:spPr bwMode="gray">
            <a:xfrm>
              <a:off x="8027567" y="4087775"/>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20">
              <a:extLst>
                <a:ext uri="{FF2B5EF4-FFF2-40B4-BE49-F238E27FC236}">
                  <a16:creationId xmlns:a16="http://schemas.microsoft.com/office/drawing/2014/main" id="{69296F0C-E8E2-4885-B477-ACEA9B35FD12}"/>
                </a:ext>
              </a:extLst>
            </p:cNvPr>
            <p:cNvSpPr txBox="1"/>
            <p:nvPr/>
          </p:nvSpPr>
          <p:spPr bwMode="gray">
            <a:xfrm>
              <a:off x="7802959" y="4088037"/>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120">
              <a:extLst>
                <a:ext uri="{FF2B5EF4-FFF2-40B4-BE49-F238E27FC236}">
                  <a16:creationId xmlns:a16="http://schemas.microsoft.com/office/drawing/2014/main" id="{CB9514BB-C973-4BC1-BEEF-A4162B4081A1}"/>
                </a:ext>
              </a:extLst>
            </p:cNvPr>
            <p:cNvSpPr txBox="1"/>
            <p:nvPr/>
          </p:nvSpPr>
          <p:spPr bwMode="gray">
            <a:xfrm>
              <a:off x="7578354" y="4087644"/>
              <a:ext cx="155954" cy="287715"/>
            </a:xfrm>
            <a:prstGeom prst="roundRect">
              <a:avLst>
                <a:gd name="adj" fmla="val 6721"/>
              </a:avLst>
            </a:prstGeom>
            <a:solidFill>
              <a:srgbClr val="EC7061"/>
            </a:solidFill>
            <a:ln w="12700">
              <a:solidFill>
                <a:srgbClr val="EC7061"/>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TextBox 120">
              <a:extLst>
                <a:ext uri="{FF2B5EF4-FFF2-40B4-BE49-F238E27FC236}">
                  <a16:creationId xmlns:a16="http://schemas.microsoft.com/office/drawing/2014/main" id="{ECAB02B1-1A9C-4D3B-ABDC-AB30B24D1648}"/>
                </a:ext>
              </a:extLst>
            </p:cNvPr>
            <p:cNvSpPr txBox="1"/>
            <p:nvPr/>
          </p:nvSpPr>
          <p:spPr bwMode="gray">
            <a:xfrm>
              <a:off x="8027567" y="450355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TextBox 120">
              <a:extLst>
                <a:ext uri="{FF2B5EF4-FFF2-40B4-BE49-F238E27FC236}">
                  <a16:creationId xmlns:a16="http://schemas.microsoft.com/office/drawing/2014/main" id="{23EA7E1D-3602-4CDF-957D-E6DCF7C946DD}"/>
                </a:ext>
              </a:extLst>
            </p:cNvPr>
            <p:cNvSpPr txBox="1"/>
            <p:nvPr/>
          </p:nvSpPr>
          <p:spPr bwMode="gray">
            <a:xfrm>
              <a:off x="7802962" y="4503296"/>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TextBox 120">
              <a:extLst>
                <a:ext uri="{FF2B5EF4-FFF2-40B4-BE49-F238E27FC236}">
                  <a16:creationId xmlns:a16="http://schemas.microsoft.com/office/drawing/2014/main" id="{D25F6C0B-9970-4CE9-84B2-F82269F21C8A}"/>
                </a:ext>
              </a:extLst>
            </p:cNvPr>
            <p:cNvSpPr txBox="1"/>
            <p:nvPr/>
          </p:nvSpPr>
          <p:spPr bwMode="gray">
            <a:xfrm>
              <a:off x="7578357" y="4503558"/>
              <a:ext cx="155954" cy="287715"/>
            </a:xfrm>
            <a:prstGeom prst="roundRect">
              <a:avLst>
                <a:gd name="adj" fmla="val 6721"/>
              </a:avLst>
            </a:prstGeom>
            <a:solidFill>
              <a:srgbClr val="8BC9A0"/>
            </a:solidFill>
            <a:ln w="12700">
              <a:solidFill>
                <a:srgbClr val="8BC9A0"/>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TextBox 120">
              <a:extLst>
                <a:ext uri="{FF2B5EF4-FFF2-40B4-BE49-F238E27FC236}">
                  <a16:creationId xmlns:a16="http://schemas.microsoft.com/office/drawing/2014/main" id="{EFBF671C-3D1E-49F1-AA2D-00DB5C032C25}"/>
                </a:ext>
              </a:extLst>
            </p:cNvPr>
            <p:cNvSpPr txBox="1"/>
            <p:nvPr/>
          </p:nvSpPr>
          <p:spPr bwMode="gray">
            <a:xfrm>
              <a:off x="8027567" y="4935399"/>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TextBox 120">
              <a:extLst>
                <a:ext uri="{FF2B5EF4-FFF2-40B4-BE49-F238E27FC236}">
                  <a16:creationId xmlns:a16="http://schemas.microsoft.com/office/drawing/2014/main" id="{BBFEC88E-B9E4-46AA-8949-720CA9068F68}"/>
                </a:ext>
              </a:extLst>
            </p:cNvPr>
            <p:cNvSpPr txBox="1"/>
            <p:nvPr/>
          </p:nvSpPr>
          <p:spPr bwMode="gray">
            <a:xfrm>
              <a:off x="7802962" y="4935661"/>
              <a:ext cx="155954" cy="287715"/>
            </a:xfrm>
            <a:prstGeom prst="roundRect">
              <a:avLst>
                <a:gd name="adj" fmla="val 6721"/>
              </a:avLst>
            </a:prstGeom>
            <a:solidFill>
              <a:srgbClr val="FFD17D"/>
            </a:solidFill>
            <a:ln w="12700">
              <a:solidFill>
                <a:srgbClr val="FFD17D"/>
              </a:solidFill>
            </a:ln>
          </p:spPr>
          <p:txBody>
            <a:bodyPr wrap="square" rtlCol="0" anchor="ctr">
              <a:spAutoFit/>
            </a:bodyPr>
            <a:lstStyle/>
            <a:p>
              <a:pPr fontAlgn="auto"/>
              <a:endParaRPr lang="en-US" altLang="zh-CN" sz="12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Arrow: Right 37">
              <a:extLst>
                <a:ext uri="{FF2B5EF4-FFF2-40B4-BE49-F238E27FC236}">
                  <a16:creationId xmlns:a16="http://schemas.microsoft.com/office/drawing/2014/main" id="{4BFEB8FB-AC17-4D01-979C-907FD37E7817}"/>
                </a:ext>
              </a:extLst>
            </p:cNvPr>
            <p:cNvSpPr/>
            <p:nvPr/>
          </p:nvSpPr>
          <p:spPr bwMode="gray">
            <a:xfrm>
              <a:off x="6800258" y="4345306"/>
              <a:ext cx="588004" cy="528719"/>
            </a:xfrm>
            <a:prstGeom prst="rightArrow">
              <a:avLst/>
            </a:prstGeom>
            <a:solidFill>
              <a:srgbClr val="99DFF9"/>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C6683B12-9982-4608-8F5B-F28319B3603B}"/>
                </a:ext>
              </a:extLst>
            </p:cNvPr>
            <p:cNvSpPr txBox="1"/>
            <p:nvPr/>
          </p:nvSpPr>
          <p:spPr bwMode="gray">
            <a:xfrm>
              <a:off x="8183521" y="4077612"/>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语音</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0" name="TextBox 39">
              <a:extLst>
                <a:ext uri="{FF2B5EF4-FFF2-40B4-BE49-F238E27FC236}">
                  <a16:creationId xmlns:a16="http://schemas.microsoft.com/office/drawing/2014/main" id="{E9B0F8AE-FD3C-480D-8D2D-C64EF420040C}"/>
                </a:ext>
              </a:extLst>
            </p:cNvPr>
            <p:cNvSpPr txBox="1"/>
            <p:nvPr/>
          </p:nvSpPr>
          <p:spPr bwMode="gray">
            <a:xfrm>
              <a:off x="8185536" y="4507750"/>
              <a:ext cx="554960"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视频</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1" name="TextBox 40">
              <a:extLst>
                <a:ext uri="{FF2B5EF4-FFF2-40B4-BE49-F238E27FC236}">
                  <a16:creationId xmlns:a16="http://schemas.microsoft.com/office/drawing/2014/main" id="{23AAB3BC-A7FF-42AD-9C10-A0D0A5F6CDB6}"/>
                </a:ext>
              </a:extLst>
            </p:cNvPr>
            <p:cNvSpPr txBox="1"/>
            <p:nvPr/>
          </p:nvSpPr>
          <p:spPr bwMode="gray">
            <a:xfrm>
              <a:off x="8177910" y="4935399"/>
              <a:ext cx="543739"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网页</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2" name="Trapezoid 41">
              <a:extLst>
                <a:ext uri="{FF2B5EF4-FFF2-40B4-BE49-F238E27FC236}">
                  <a16:creationId xmlns:a16="http://schemas.microsoft.com/office/drawing/2014/main" id="{E8EA93EE-F19D-4B06-8AB9-D3C7A84F5DB1}"/>
                </a:ext>
              </a:extLst>
            </p:cNvPr>
            <p:cNvSpPr/>
            <p:nvPr/>
          </p:nvSpPr>
          <p:spPr bwMode="gray">
            <a:xfrm>
              <a:off x="4955603" y="4874025"/>
              <a:ext cx="2280794" cy="369151"/>
            </a:xfrm>
            <a:prstGeom prst="trapezoid">
              <a:avLst>
                <a:gd name="adj" fmla="val 175771"/>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44" name="Table 44">
            <a:extLst>
              <a:ext uri="{FF2B5EF4-FFF2-40B4-BE49-F238E27FC236}">
                <a16:creationId xmlns:a16="http://schemas.microsoft.com/office/drawing/2014/main" id="{E86E4827-AEBE-4151-AB6C-AF74607BB403}"/>
              </a:ext>
            </a:extLst>
          </p:cNvPr>
          <p:cNvGraphicFramePr>
            <a:graphicFrameLocks noGrp="1"/>
          </p:cNvGraphicFramePr>
          <p:nvPr/>
        </p:nvGraphicFramePr>
        <p:xfrm>
          <a:off x="4955603" y="5120958"/>
          <a:ext cx="2280794" cy="1056880"/>
        </p:xfrm>
        <a:graphic>
          <a:graphicData uri="http://schemas.openxmlformats.org/drawingml/2006/table">
            <a:tbl>
              <a:tblPr firstRow="1" bandRow="1">
                <a:tableStyleId>{5C22544A-7EE6-4342-B048-85BDC9FD1C3A}</a:tableStyleId>
              </a:tblPr>
              <a:tblGrid>
                <a:gridCol w="1743423">
                  <a:extLst>
                    <a:ext uri="{9D8B030D-6E8A-4147-A177-3AD203B41FA5}">
                      <a16:colId xmlns:a16="http://schemas.microsoft.com/office/drawing/2014/main" val="1378685392"/>
                    </a:ext>
                  </a:extLst>
                </a:gridCol>
                <a:gridCol w="537371">
                  <a:extLst>
                    <a:ext uri="{9D8B030D-6E8A-4147-A177-3AD203B41FA5}">
                      <a16:colId xmlns:a16="http://schemas.microsoft.com/office/drawing/2014/main" val="596258084"/>
                    </a:ext>
                  </a:extLst>
                </a:gridCol>
              </a:tblGrid>
              <a:tr h="206270">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匹配条件</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rPr>
                        <a:t>应用</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2512102"/>
                  </a:ext>
                </a:extLst>
              </a:tr>
              <a:tr h="206270">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目标</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IP1</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EF</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 </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aseline="0" dirty="0">
                          <a:solidFill>
                            <a:schemeClr val="bg1"/>
                          </a:solidFill>
                          <a:latin typeface="Huawei Sans" panose="020C0503030203020204" pitchFamily="34" charset="0"/>
                          <a:ea typeface="方正兰亭黑简体" panose="02000000000000000000" pitchFamily="2" charset="-122"/>
                        </a:rPr>
                        <a:t>语音</a:t>
                      </a:r>
                      <a:endParaRPr lang="en-US" sz="1400" baseline="0" dirty="0">
                        <a:solidFill>
                          <a:schemeClr val="bg1"/>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C7061"/>
                    </a:solidFill>
                  </a:tcPr>
                </a:tc>
                <a:extLst>
                  <a:ext uri="{0D108BD9-81ED-4DB2-BD59-A6C34878D82A}">
                    <a16:rowId xmlns:a16="http://schemas.microsoft.com/office/drawing/2014/main" val="297895530"/>
                  </a:ext>
                </a:extLst>
              </a:tr>
              <a:tr h="206270">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目标</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Port1</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，协议号</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6</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400" b="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网页</a:t>
                      </a:r>
                      <a:endParaRPr lang="en-US" sz="1400" b="0" baseline="0" dirty="0">
                        <a:solidFill>
                          <a:schemeClr val="bg1"/>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17D"/>
                    </a:solidFill>
                  </a:tcPr>
                </a:tc>
                <a:extLst>
                  <a:ext uri="{0D108BD9-81ED-4DB2-BD59-A6C34878D82A}">
                    <a16:rowId xmlns:a16="http://schemas.microsoft.com/office/drawing/2014/main" val="4284125827"/>
                  </a:ext>
                </a:extLst>
              </a:tr>
              <a:tr h="206270">
                <a:tc>
                  <a:txBody>
                    <a:bodyPr/>
                    <a:lstStyle/>
                    <a:p>
                      <a:pPr algn="ct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目标</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IP2</a:t>
                      </a:r>
                      <a:r>
                        <a:rPr lang="zh-CN" altLang="en-US"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baseline="0" dirty="0">
                          <a:solidFill>
                            <a:sysClr val="windowText" lastClr="000000"/>
                          </a:solidFill>
                          <a:latin typeface="Huawei Sans" panose="020C0503030203020204" pitchFamily="34" charset="0"/>
                          <a:ea typeface="方正兰亭黑简体" panose="02000000000000000000" pitchFamily="2" charset="-122"/>
                          <a:sym typeface="Huawei Sans" panose="020C0503030203020204" pitchFamily="34" charset="0"/>
                        </a:rPr>
                        <a:t>AF4 </a:t>
                      </a:r>
                      <a:endParaRPr lang="en-US" sz="1400" baseline="0" dirty="0">
                        <a:solidFill>
                          <a:sysClr val="windowText" lastClr="000000"/>
                        </a:solidFill>
                        <a:latin typeface="Huawei Sans" panose="020C0503030203020204" pitchFamily="34" charset="0"/>
                        <a:ea typeface="方正兰亭黑简体" panose="02000000000000000000" pitchFamily="2" charset="-122"/>
                      </a:endParaRPr>
                    </a:p>
                  </a:txBody>
                  <a:tcPr marL="50861" marR="50861" marT="25430" marB="2543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zh-CN" altLang="en-US" sz="1400" baseline="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视频</a:t>
                      </a:r>
                      <a:endParaRPr lang="en-US" sz="1400" baseline="0" dirty="0">
                        <a:solidFill>
                          <a:schemeClr val="bg1"/>
                        </a:solidFill>
                        <a:latin typeface="Huawei Sans" panose="020C0503030203020204" pitchFamily="34" charset="0"/>
                        <a:ea typeface="方正兰亭黑简体" panose="02000000000000000000" pitchFamily="2" charset="-122"/>
                      </a:endParaRPr>
                    </a:p>
                  </a:txBody>
                  <a:tcPr marL="50861" marR="50861" marT="25430" marB="2543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rgbClr val="8BC9A0"/>
                    </a:solidFill>
                  </a:tcPr>
                </a:tc>
                <a:extLst>
                  <a:ext uri="{0D108BD9-81ED-4DB2-BD59-A6C34878D82A}">
                    <a16:rowId xmlns:a16="http://schemas.microsoft.com/office/drawing/2014/main" val="2659925939"/>
                  </a:ext>
                </a:extLst>
              </a:tr>
            </a:tbl>
          </a:graphicData>
        </a:graphic>
      </p:graphicFrame>
    </p:spTree>
    <p:extLst>
      <p:ext uri="{BB962C8B-B14F-4D97-AF65-F5344CB8AC3E}">
        <p14:creationId xmlns:p14="http://schemas.microsoft.com/office/powerpoint/2010/main" val="2821555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a:solidFill>
                  <a:schemeClr val="bg1">
                    <a:lumMod val="50000"/>
                  </a:schemeClr>
                </a:solidFill>
              </a:rPr>
              <a:t>广域互联常用组网技术</a:t>
            </a:r>
            <a:endParaRPr lang="en-US" altLang="zh-CN" dirty="0">
              <a:solidFill>
                <a:schemeClr val="bg1">
                  <a:lumMod val="50000"/>
                </a:schemeClr>
              </a:solidFill>
            </a:endParaRPr>
          </a:p>
          <a:p>
            <a:r>
              <a:rPr lang="zh-CN" altLang="en-US" dirty="0">
                <a:solidFill>
                  <a:schemeClr val="bg1">
                    <a:lumMod val="50000"/>
                  </a:schemeClr>
                </a:solidFill>
              </a:rPr>
              <a:t>广域互联安全技术</a:t>
            </a:r>
            <a:endParaRPr lang="en-US" altLang="zh-CN" dirty="0">
              <a:solidFill>
                <a:schemeClr val="bg1">
                  <a:lumMod val="50000"/>
                </a:schemeClr>
              </a:solidFill>
            </a:endParaRPr>
          </a:p>
          <a:p>
            <a:r>
              <a:rPr lang="zh-CN" altLang="en-US" dirty="0">
                <a:solidFill>
                  <a:schemeClr val="bg1">
                    <a:lumMod val="50000"/>
                  </a:schemeClr>
                </a:solidFill>
              </a:rPr>
              <a:t>广域互联</a:t>
            </a:r>
            <a:r>
              <a:rPr lang="en-US" altLang="zh-CN" dirty="0">
                <a:solidFill>
                  <a:schemeClr val="bg1">
                    <a:lumMod val="50000"/>
                  </a:schemeClr>
                </a:solidFill>
              </a:rPr>
              <a:t>NAT</a:t>
            </a:r>
            <a:r>
              <a:rPr lang="zh-CN" altLang="en-US" dirty="0">
                <a:solidFill>
                  <a:schemeClr val="bg1">
                    <a:lumMod val="50000"/>
                  </a:schemeClr>
                </a:solidFill>
              </a:rPr>
              <a:t>穿越技术</a:t>
            </a:r>
            <a:endParaRPr lang="en-US" altLang="zh-CN" dirty="0">
              <a:solidFill>
                <a:schemeClr val="bg1">
                  <a:lumMod val="50000"/>
                </a:schemeClr>
              </a:solidFill>
            </a:endParaRPr>
          </a:p>
          <a:p>
            <a:r>
              <a:rPr lang="zh-CN" altLang="en-US" b="1" dirty="0"/>
              <a:t>广域互联智能选路技术</a:t>
            </a:r>
            <a:endParaRPr lang="en-US" altLang="zh-CN" b="1" dirty="0"/>
          </a:p>
          <a:p>
            <a:pPr lvl="1"/>
            <a:r>
              <a:rPr lang="en-US" altLang="zh-CN" dirty="0">
                <a:solidFill>
                  <a:schemeClr val="bg1">
                    <a:lumMod val="50000"/>
                  </a:schemeClr>
                </a:solidFill>
              </a:rPr>
              <a:t>SAC</a:t>
            </a:r>
            <a:r>
              <a:rPr lang="zh-CN" altLang="en-US" dirty="0">
                <a:solidFill>
                  <a:schemeClr val="bg1">
                    <a:lumMod val="50000"/>
                  </a:schemeClr>
                </a:solidFill>
              </a:rPr>
              <a:t>介绍</a:t>
            </a:r>
            <a:endParaRPr lang="en-US" altLang="zh-CN" dirty="0">
              <a:solidFill>
                <a:schemeClr val="bg1">
                  <a:lumMod val="50000"/>
                </a:schemeClr>
              </a:solidFill>
            </a:endParaRPr>
          </a:p>
          <a:p>
            <a:pPr lvl="1">
              <a:buSzPct val="60000"/>
              <a:buFont typeface="Wingdings" panose="05000000000000000000" pitchFamily="2" charset="2"/>
              <a:buChar char="n"/>
            </a:pPr>
            <a:r>
              <a:rPr lang="en-US" altLang="zh-CN" dirty="0"/>
              <a:t>SRP</a:t>
            </a:r>
            <a:r>
              <a:rPr lang="zh-CN" altLang="en-US" dirty="0"/>
              <a:t>介绍</a:t>
            </a:r>
            <a:endParaRPr lang="en-US" altLang="zh-CN" dirty="0"/>
          </a:p>
          <a:p>
            <a:pPr lvl="1"/>
            <a:endParaRPr lang="en-US" altLang="zh-CN" dirty="0">
              <a:solidFill>
                <a:schemeClr val="bg1">
                  <a:lumMod val="50000"/>
                </a:schemeClr>
              </a:solidFill>
            </a:endParaRPr>
          </a:p>
        </p:txBody>
      </p:sp>
    </p:spTree>
    <p:extLst>
      <p:ext uri="{BB962C8B-B14F-4D97-AF65-F5344CB8AC3E}">
        <p14:creationId xmlns:p14="http://schemas.microsoft.com/office/powerpoint/2010/main" val="2846344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D1C0AE-9E66-4194-9D6F-106764329E19}"/>
              </a:ext>
            </a:extLst>
          </p:cNvPr>
          <p:cNvSpPr>
            <a:spLocks noGrp="1"/>
          </p:cNvSpPr>
          <p:nvPr>
            <p:ph type="title"/>
          </p:nvPr>
        </p:nvSpPr>
        <p:spPr bwMode="gray"/>
        <p:txBody>
          <a:bodyPr/>
          <a:lstStyle/>
          <a:p>
            <a:r>
              <a:rPr lang="en-US" dirty="0"/>
              <a:t>SPR</a:t>
            </a:r>
            <a:r>
              <a:rPr lang="zh-CN" altLang="en-US" dirty="0"/>
              <a:t>简介</a:t>
            </a:r>
            <a:endParaRPr lang="en-US" dirty="0"/>
          </a:p>
        </p:txBody>
      </p:sp>
      <p:sp>
        <p:nvSpPr>
          <p:cNvPr id="4" name="Text Placeholder 3">
            <a:extLst>
              <a:ext uri="{FF2B5EF4-FFF2-40B4-BE49-F238E27FC236}">
                <a16:creationId xmlns:a16="http://schemas.microsoft.com/office/drawing/2014/main" id="{99C558DE-1E6F-4916-BAA2-B466DB25724A}"/>
              </a:ext>
            </a:extLst>
          </p:cNvPr>
          <p:cNvSpPr>
            <a:spLocks noGrp="1"/>
          </p:cNvSpPr>
          <p:nvPr>
            <p:ph type="body" sz="quarter" idx="10"/>
          </p:nvPr>
        </p:nvSpPr>
        <p:spPr bwMode="gray"/>
        <p:txBody>
          <a:bodyPr/>
          <a:lstStyle/>
          <a:p>
            <a:r>
              <a:rPr lang="zh-CN" altLang="en-US" sz="1800" dirty="0"/>
              <a:t>云计算时代，越来越多的用户把关注点从网络的连通性转移到业务的可用性上，如业务的可获得性、响应速度和业务质量等。但是传统网络无法感知链路的质量和业务的需求，导致用户的业务体验较差。</a:t>
            </a:r>
            <a:endParaRPr lang="en-US" altLang="zh-CN" sz="1800" dirty="0"/>
          </a:p>
          <a:p>
            <a:r>
              <a:rPr lang="en-US" altLang="zh-CN" sz="1800" dirty="0"/>
              <a:t>SPR</a:t>
            </a:r>
            <a:r>
              <a:rPr lang="zh-CN" altLang="en-US" sz="1800" dirty="0"/>
              <a:t>（</a:t>
            </a:r>
            <a:r>
              <a:rPr lang="en-US" altLang="zh-CN" sz="1800" dirty="0"/>
              <a:t>Smart Policy Routing</a:t>
            </a:r>
            <a:r>
              <a:rPr lang="zh-CN" altLang="en-US" sz="1800" dirty="0"/>
              <a:t>，智能策略路由）就是在这一背景下产生的一种策略路由，它可以主动探测链路质量并匹配业务的需求，从而选择一条最优链路转发业务数据，可以有效的避免网络黑洞、网络震荡等问题。</a:t>
            </a:r>
            <a:endParaRPr lang="en-US" sz="1800" dirty="0"/>
          </a:p>
        </p:txBody>
      </p:sp>
      <p:sp>
        <p:nvSpPr>
          <p:cNvPr id="7" name="Freeform 159">
            <a:extLst>
              <a:ext uri="{FF2B5EF4-FFF2-40B4-BE49-F238E27FC236}">
                <a16:creationId xmlns:a16="http://schemas.microsoft.com/office/drawing/2014/main" id="{9144C970-F887-4491-86BC-69ECC051B35F}"/>
              </a:ext>
            </a:extLst>
          </p:cNvPr>
          <p:cNvSpPr/>
          <p:nvPr/>
        </p:nvSpPr>
        <p:spPr bwMode="gray">
          <a:xfrm flipH="1">
            <a:off x="5823864" y="3417756"/>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2B4419B8-B60B-4D69-A2D1-562995D73CB1}"/>
              </a:ext>
            </a:extLst>
          </p:cNvPr>
          <p:cNvCxnSpPr>
            <a:cxnSpLocks/>
            <a:stCxn id="5" idx="0"/>
            <a:endCxn id="7" idx="21"/>
          </p:cNvCxnSpPr>
          <p:nvPr/>
        </p:nvCxnSpPr>
        <p:spPr bwMode="gray">
          <a:xfrm flipV="1">
            <a:off x="4466335" y="3751066"/>
            <a:ext cx="1357529" cy="280094"/>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B8406BD-4E2E-4DE0-B7BB-370BA0FB1099}"/>
              </a:ext>
            </a:extLst>
          </p:cNvPr>
          <p:cNvCxnSpPr>
            <a:cxnSpLocks/>
            <a:stCxn id="6" idx="0"/>
            <a:endCxn id="7" idx="8"/>
          </p:cNvCxnSpPr>
          <p:nvPr/>
        </p:nvCxnSpPr>
        <p:spPr bwMode="gray">
          <a:xfrm flipH="1" flipV="1">
            <a:off x="6733346" y="3742413"/>
            <a:ext cx="1454887" cy="57544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0" name="Freeform 159">
            <a:extLst>
              <a:ext uri="{FF2B5EF4-FFF2-40B4-BE49-F238E27FC236}">
                <a16:creationId xmlns:a16="http://schemas.microsoft.com/office/drawing/2014/main" id="{606AD056-DB5C-4A34-9A61-AF7F86111084}"/>
              </a:ext>
            </a:extLst>
          </p:cNvPr>
          <p:cNvSpPr/>
          <p:nvPr/>
        </p:nvSpPr>
        <p:spPr bwMode="gray">
          <a:xfrm flipH="1">
            <a:off x="5823864" y="4958568"/>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1" name="Straight Connector 10">
            <a:extLst>
              <a:ext uri="{FF2B5EF4-FFF2-40B4-BE49-F238E27FC236}">
                <a16:creationId xmlns:a16="http://schemas.microsoft.com/office/drawing/2014/main" id="{110A18BB-77AE-411F-B030-DAB3097BB791}"/>
              </a:ext>
            </a:extLst>
          </p:cNvPr>
          <p:cNvCxnSpPr>
            <a:cxnSpLocks/>
            <a:stCxn id="32" idx="2"/>
            <a:endCxn id="10" idx="21"/>
          </p:cNvCxnSpPr>
          <p:nvPr/>
        </p:nvCxnSpPr>
        <p:spPr bwMode="gray">
          <a:xfrm>
            <a:off x="4466334" y="4965928"/>
            <a:ext cx="1357530" cy="325950"/>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8CCD06E3-822C-4738-AAD2-9BFC1DD70588}"/>
              </a:ext>
            </a:extLst>
          </p:cNvPr>
          <p:cNvCxnSpPr>
            <a:cxnSpLocks/>
            <a:stCxn id="10" idx="8"/>
            <a:endCxn id="6" idx="2"/>
          </p:cNvCxnSpPr>
          <p:nvPr/>
        </p:nvCxnSpPr>
        <p:spPr bwMode="gray">
          <a:xfrm flipV="1">
            <a:off x="6733346" y="4677896"/>
            <a:ext cx="1454887" cy="60532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C00AFA4-C39A-4BB0-8BF1-4CB4B611903D}"/>
              </a:ext>
            </a:extLst>
          </p:cNvPr>
          <p:cNvSpPr txBox="1"/>
          <p:nvPr/>
        </p:nvSpPr>
        <p:spPr bwMode="gray">
          <a:xfrm rot="20823707">
            <a:off x="4569669" y="3538628"/>
            <a:ext cx="830677" cy="276999"/>
          </a:xfrm>
          <a:prstGeom prst="rect">
            <a:avLst/>
          </a:prstGeom>
          <a:solidFill>
            <a:srgbClr val="56C4D2"/>
          </a:solidFill>
          <a:ln>
            <a:solidFill>
              <a:srgbClr val="56C4D2"/>
            </a:solidFill>
          </a:ln>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17" name="TextBox 16">
            <a:extLst>
              <a:ext uri="{FF2B5EF4-FFF2-40B4-BE49-F238E27FC236}">
                <a16:creationId xmlns:a16="http://schemas.microsoft.com/office/drawing/2014/main" id="{B7A88F51-2E76-419E-BBC6-506E79CC0B28}"/>
              </a:ext>
            </a:extLst>
          </p:cNvPr>
          <p:cNvSpPr txBox="1"/>
          <p:nvPr/>
        </p:nvSpPr>
        <p:spPr bwMode="gray">
          <a:xfrm rot="20812250">
            <a:off x="4492724" y="3200304"/>
            <a:ext cx="984565"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IP FPM</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38" name="Freeform 159">
            <a:extLst>
              <a:ext uri="{FF2B5EF4-FFF2-40B4-BE49-F238E27FC236}">
                <a16:creationId xmlns:a16="http://schemas.microsoft.com/office/drawing/2014/main" id="{24C7CE07-1AD5-4E9F-A6A2-8658D3328EBD}"/>
              </a:ext>
            </a:extLst>
          </p:cNvPr>
          <p:cNvSpPr/>
          <p:nvPr/>
        </p:nvSpPr>
        <p:spPr bwMode="gray">
          <a:xfrm flipH="1">
            <a:off x="3307589" y="4027454"/>
            <a:ext cx="1457943" cy="762108"/>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总部</a:t>
            </a:r>
            <a:endParaRPr lang="en-US" sz="1400" dirty="0">
              <a:solidFill>
                <a:schemeClr val="tx1"/>
              </a:solidFill>
            </a:endParaRPr>
          </a:p>
        </p:txBody>
      </p:sp>
      <p:pic>
        <p:nvPicPr>
          <p:cNvPr id="5" name="Picture 12" descr="E:\2016.01\1.12 扁平化图标\蓝色\AR-蓝色最新-40.png">
            <a:extLst>
              <a:ext uri="{FF2B5EF4-FFF2-40B4-BE49-F238E27FC236}">
                <a16:creationId xmlns:a16="http://schemas.microsoft.com/office/drawing/2014/main" id="{AA7276D8-77EF-4F0C-89A4-F004768C90C8}"/>
              </a:ext>
            </a:extLst>
          </p:cNvPr>
          <p:cNvPicPr>
            <a:picLocks noChangeAspect="1" noChangeArrowheads="1"/>
          </p:cNvPicPr>
          <p:nvPr/>
        </p:nvPicPr>
        <p:blipFill>
          <a:blip r:embed="rId3" cstate="print"/>
          <a:srcRect/>
          <a:stretch>
            <a:fillRect/>
          </a:stretch>
        </p:blipFill>
        <p:spPr bwMode="gray">
          <a:xfrm>
            <a:off x="4246310" y="4031160"/>
            <a:ext cx="440049" cy="360040"/>
          </a:xfrm>
          <a:prstGeom prst="rect">
            <a:avLst/>
          </a:prstGeom>
          <a:noFill/>
        </p:spPr>
      </p:pic>
      <p:pic>
        <p:nvPicPr>
          <p:cNvPr id="32" name="Picture 12" descr="E:\2016.01\1.12 扁平化图标\蓝色\AR-蓝色最新-40.png">
            <a:extLst>
              <a:ext uri="{FF2B5EF4-FFF2-40B4-BE49-F238E27FC236}">
                <a16:creationId xmlns:a16="http://schemas.microsoft.com/office/drawing/2014/main" id="{C13FC561-2583-452F-8B96-E66B2D3AF5CC}"/>
              </a:ext>
            </a:extLst>
          </p:cNvPr>
          <p:cNvPicPr>
            <a:picLocks noChangeAspect="1" noChangeArrowheads="1"/>
          </p:cNvPicPr>
          <p:nvPr/>
        </p:nvPicPr>
        <p:blipFill>
          <a:blip r:embed="rId3" cstate="print"/>
          <a:srcRect/>
          <a:stretch>
            <a:fillRect/>
          </a:stretch>
        </p:blipFill>
        <p:spPr bwMode="gray">
          <a:xfrm>
            <a:off x="4246309" y="4605888"/>
            <a:ext cx="440049" cy="360040"/>
          </a:xfrm>
          <a:prstGeom prst="rect">
            <a:avLst/>
          </a:prstGeom>
          <a:noFill/>
        </p:spPr>
      </p:pic>
      <p:sp>
        <p:nvSpPr>
          <p:cNvPr id="39" name="Freeform 159">
            <a:extLst>
              <a:ext uri="{FF2B5EF4-FFF2-40B4-BE49-F238E27FC236}">
                <a16:creationId xmlns:a16="http://schemas.microsoft.com/office/drawing/2014/main" id="{F553721A-AE81-4C6E-B774-4F1FADAB8FB2}"/>
              </a:ext>
            </a:extLst>
          </p:cNvPr>
          <p:cNvSpPr/>
          <p:nvPr/>
        </p:nvSpPr>
        <p:spPr bwMode="gray">
          <a:xfrm flipH="1">
            <a:off x="8192748" y="4202484"/>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6" name="Picture 12" descr="E:\2016.01\1.12 扁平化图标\蓝色\AR-蓝色最新-40.png">
            <a:extLst>
              <a:ext uri="{FF2B5EF4-FFF2-40B4-BE49-F238E27FC236}">
                <a16:creationId xmlns:a16="http://schemas.microsoft.com/office/drawing/2014/main" id="{5EAE945C-E3B3-4900-AF79-81CC0B6EF3B5}"/>
              </a:ext>
            </a:extLst>
          </p:cNvPr>
          <p:cNvPicPr>
            <a:picLocks noChangeAspect="1" noChangeArrowheads="1"/>
          </p:cNvPicPr>
          <p:nvPr/>
        </p:nvPicPr>
        <p:blipFill>
          <a:blip r:embed="rId3" cstate="print"/>
          <a:srcRect/>
          <a:stretch>
            <a:fillRect/>
          </a:stretch>
        </p:blipFill>
        <p:spPr bwMode="gray">
          <a:xfrm>
            <a:off x="7968208" y="4317856"/>
            <a:ext cx="440049" cy="360040"/>
          </a:xfrm>
          <a:prstGeom prst="rect">
            <a:avLst/>
          </a:prstGeom>
          <a:noFill/>
        </p:spPr>
      </p:pic>
      <p:sp>
        <p:nvSpPr>
          <p:cNvPr id="40" name="Freeform: Shape 39">
            <a:extLst>
              <a:ext uri="{FF2B5EF4-FFF2-40B4-BE49-F238E27FC236}">
                <a16:creationId xmlns:a16="http://schemas.microsoft.com/office/drawing/2014/main" id="{DC08F959-F93D-4D95-9870-4F0A29BA8CFC}"/>
              </a:ext>
            </a:extLst>
          </p:cNvPr>
          <p:cNvSpPr/>
          <p:nvPr/>
        </p:nvSpPr>
        <p:spPr bwMode="gray">
          <a:xfrm>
            <a:off x="3256908" y="3586758"/>
            <a:ext cx="5804899" cy="906816"/>
          </a:xfrm>
          <a:custGeom>
            <a:avLst/>
            <a:gdLst>
              <a:gd name="connsiteX0" fmla="*/ 0 w 5804899"/>
              <a:gd name="connsiteY0" fmla="*/ 711607 h 906816"/>
              <a:gd name="connsiteX1" fmla="*/ 1130157 w 5804899"/>
              <a:gd name="connsiteY1" fmla="*/ 485575 h 906816"/>
              <a:gd name="connsiteX2" fmla="*/ 3061699 w 5804899"/>
              <a:gd name="connsiteY2" fmla="*/ 2690 h 906816"/>
              <a:gd name="connsiteX3" fmla="*/ 5024063 w 5804899"/>
              <a:gd name="connsiteY3" fmla="*/ 721881 h 906816"/>
              <a:gd name="connsiteX4" fmla="*/ 5804899 w 5804899"/>
              <a:gd name="connsiteY4" fmla="*/ 906816 h 906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04899" h="906816">
                <a:moveTo>
                  <a:pt x="0" y="711607"/>
                </a:moveTo>
                <a:cubicBezTo>
                  <a:pt x="309937" y="657667"/>
                  <a:pt x="619874" y="603728"/>
                  <a:pt x="1130157" y="485575"/>
                </a:cubicBezTo>
                <a:cubicBezTo>
                  <a:pt x="1640440" y="367422"/>
                  <a:pt x="2412715" y="-36694"/>
                  <a:pt x="3061699" y="2690"/>
                </a:cubicBezTo>
                <a:cubicBezTo>
                  <a:pt x="3710683" y="42074"/>
                  <a:pt x="4566863" y="571193"/>
                  <a:pt x="5024063" y="721881"/>
                </a:cubicBezTo>
                <a:cubicBezTo>
                  <a:pt x="5481263" y="872569"/>
                  <a:pt x="5643081" y="889692"/>
                  <a:pt x="5804899" y="906816"/>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B243421A-E04B-4DF1-8AAC-637FF0296A74}"/>
              </a:ext>
            </a:extLst>
          </p:cNvPr>
          <p:cNvSpPr txBox="1"/>
          <p:nvPr/>
        </p:nvSpPr>
        <p:spPr bwMode="gray">
          <a:xfrm rot="802283">
            <a:off x="4569975" y="5203184"/>
            <a:ext cx="830677" cy="276999"/>
          </a:xfrm>
          <a:prstGeom prst="rect">
            <a:avLst/>
          </a:prstGeom>
          <a:solidFill>
            <a:srgbClr val="56C4D2"/>
          </a:solidFill>
          <a:ln>
            <a:solidFill>
              <a:srgbClr val="56C4D2"/>
            </a:solidFill>
          </a:ln>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2" name="TextBox 41">
            <a:extLst>
              <a:ext uri="{FF2B5EF4-FFF2-40B4-BE49-F238E27FC236}">
                <a16:creationId xmlns:a16="http://schemas.microsoft.com/office/drawing/2014/main" id="{777515C4-8F3E-4F33-9AFA-4211D34ECB23}"/>
              </a:ext>
            </a:extLst>
          </p:cNvPr>
          <p:cNvSpPr txBox="1"/>
          <p:nvPr/>
        </p:nvSpPr>
        <p:spPr bwMode="gray">
          <a:xfrm rot="838326">
            <a:off x="4485209" y="5532697"/>
            <a:ext cx="984565"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IP FPM</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3" name="Rectangular Callout 72">
            <a:extLst>
              <a:ext uri="{FF2B5EF4-FFF2-40B4-BE49-F238E27FC236}">
                <a16:creationId xmlns:a16="http://schemas.microsoft.com/office/drawing/2014/main" id="{78E8B9D9-41B1-40EB-BFE6-98787195DF70}"/>
              </a:ext>
            </a:extLst>
          </p:cNvPr>
          <p:cNvSpPr/>
          <p:nvPr/>
        </p:nvSpPr>
        <p:spPr bwMode="gray">
          <a:xfrm>
            <a:off x="4765532" y="4035050"/>
            <a:ext cx="817422" cy="307592"/>
          </a:xfrm>
          <a:prstGeom prst="wedgeRectCallout">
            <a:avLst>
              <a:gd name="adj1" fmla="val -65529"/>
              <a:gd name="adj2" fmla="val -24242"/>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部署</a:t>
            </a:r>
            <a:r>
              <a:rPr lang="en-US" altLang="zh-CN" sz="1200" dirty="0">
                <a:solidFill>
                  <a:schemeClr val="bg1">
                    <a:lumMod val="50000"/>
                  </a:schemeClr>
                </a:solidFill>
              </a:rPr>
              <a:t>SRP</a:t>
            </a:r>
            <a:endParaRPr lang="zh-CN" altLang="en-US" sz="1200" dirty="0">
              <a:solidFill>
                <a:schemeClr val="bg1">
                  <a:lumMod val="50000"/>
                </a:schemeClr>
              </a:solidFill>
            </a:endParaRPr>
          </a:p>
        </p:txBody>
      </p:sp>
      <p:cxnSp>
        <p:nvCxnSpPr>
          <p:cNvPr id="35" name="Straight Connector 34">
            <a:extLst>
              <a:ext uri="{FF2B5EF4-FFF2-40B4-BE49-F238E27FC236}">
                <a16:creationId xmlns:a16="http://schemas.microsoft.com/office/drawing/2014/main" id="{7FE7DC54-10DC-4067-B44A-5C852FEA05C0}"/>
              </a:ext>
            </a:extLst>
          </p:cNvPr>
          <p:cNvCxnSpPr>
            <a:cxnSpLocks/>
            <a:stCxn id="5" idx="2"/>
            <a:endCxn id="32" idx="0"/>
          </p:cNvCxnSpPr>
          <p:nvPr/>
        </p:nvCxnSpPr>
        <p:spPr bwMode="gray">
          <a:xfrm flipH="1">
            <a:off x="4466334" y="4391200"/>
            <a:ext cx="1" cy="2146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4" name="Rectangular Callout 72">
            <a:extLst>
              <a:ext uri="{FF2B5EF4-FFF2-40B4-BE49-F238E27FC236}">
                <a16:creationId xmlns:a16="http://schemas.microsoft.com/office/drawing/2014/main" id="{D558DF3B-015A-4BE6-AFB9-A9ED96EE764B}"/>
              </a:ext>
            </a:extLst>
          </p:cNvPr>
          <p:cNvSpPr/>
          <p:nvPr/>
        </p:nvSpPr>
        <p:spPr bwMode="gray">
          <a:xfrm>
            <a:off x="4777662" y="4635501"/>
            <a:ext cx="817422" cy="307592"/>
          </a:xfrm>
          <a:prstGeom prst="wedgeRectCallout">
            <a:avLst>
              <a:gd name="adj1" fmla="val -65529"/>
              <a:gd name="adj2" fmla="val -24242"/>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部署</a:t>
            </a:r>
            <a:r>
              <a:rPr lang="en-US" altLang="zh-CN" sz="1200" dirty="0">
                <a:solidFill>
                  <a:schemeClr val="bg1">
                    <a:lumMod val="50000"/>
                  </a:schemeClr>
                </a:solidFill>
              </a:rPr>
              <a:t>SRP</a:t>
            </a:r>
            <a:endParaRPr lang="zh-CN" altLang="en-US" sz="1200" dirty="0">
              <a:solidFill>
                <a:schemeClr val="bg1">
                  <a:lumMod val="50000"/>
                </a:schemeClr>
              </a:solidFill>
            </a:endParaRPr>
          </a:p>
        </p:txBody>
      </p:sp>
    </p:spTree>
    <p:extLst>
      <p:ext uri="{BB962C8B-B14F-4D97-AF65-F5344CB8AC3E}">
        <p14:creationId xmlns:p14="http://schemas.microsoft.com/office/powerpoint/2010/main" val="138753387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6141F-AD92-40DB-8EEF-B03CCB9EE74F}"/>
              </a:ext>
            </a:extLst>
          </p:cNvPr>
          <p:cNvSpPr>
            <a:spLocks noGrp="1"/>
          </p:cNvSpPr>
          <p:nvPr>
            <p:ph type="title"/>
          </p:nvPr>
        </p:nvSpPr>
        <p:spPr bwMode="gray"/>
        <p:txBody>
          <a:bodyPr/>
          <a:lstStyle/>
          <a:p>
            <a:r>
              <a:rPr lang="en-US" dirty="0"/>
              <a:t>SPR</a:t>
            </a:r>
            <a:r>
              <a:rPr lang="zh-CN" altLang="en-US" dirty="0"/>
              <a:t>业务区分</a:t>
            </a:r>
            <a:endParaRPr lang="en-US" dirty="0"/>
          </a:p>
        </p:txBody>
      </p:sp>
      <p:sp>
        <p:nvSpPr>
          <p:cNvPr id="3" name="Text Placeholder 2">
            <a:extLst>
              <a:ext uri="{FF2B5EF4-FFF2-40B4-BE49-F238E27FC236}">
                <a16:creationId xmlns:a16="http://schemas.microsoft.com/office/drawing/2014/main" id="{15DE6CFE-47F7-4C0B-9358-51118281F380}"/>
              </a:ext>
            </a:extLst>
          </p:cNvPr>
          <p:cNvSpPr>
            <a:spLocks noGrp="1"/>
          </p:cNvSpPr>
          <p:nvPr>
            <p:ph type="body" sz="quarter" idx="10"/>
          </p:nvPr>
        </p:nvSpPr>
        <p:spPr bwMode="gray"/>
        <p:txBody>
          <a:bodyPr/>
          <a:lstStyle/>
          <a:p>
            <a:r>
              <a:rPr lang="en-US" sz="1800" dirty="0"/>
              <a:t>SPR</a:t>
            </a:r>
            <a:r>
              <a:rPr lang="zh-CN" altLang="en-US" sz="1800" dirty="0"/>
              <a:t>可以根据协议类型，报文应用，报文信息区分不同流量。</a:t>
            </a:r>
            <a:endParaRPr lang="en-US" altLang="zh-CN" sz="1800" dirty="0"/>
          </a:p>
          <a:p>
            <a:r>
              <a:rPr lang="zh-CN" altLang="en-US" sz="1800" dirty="0"/>
              <a:t>不同业务可以设置不同的链路质量参数阈值。可以设置时延</a:t>
            </a:r>
            <a:r>
              <a:rPr lang="en-US" altLang="zh-CN" sz="1800" dirty="0"/>
              <a:t>D</a:t>
            </a:r>
            <a:r>
              <a:rPr lang="zh-CN" altLang="en-US" sz="1800" dirty="0"/>
              <a:t>（</a:t>
            </a:r>
            <a:r>
              <a:rPr lang="en-US" altLang="zh-CN" sz="1800" dirty="0"/>
              <a:t>Delay</a:t>
            </a:r>
            <a:r>
              <a:rPr lang="zh-CN" altLang="en-US" sz="1800" dirty="0"/>
              <a:t>）、抖动时间</a:t>
            </a:r>
            <a:r>
              <a:rPr lang="en-US" altLang="zh-CN" sz="1800" dirty="0"/>
              <a:t>J</a:t>
            </a:r>
            <a:r>
              <a:rPr lang="zh-CN" altLang="en-US" sz="1800" dirty="0"/>
              <a:t>（</a:t>
            </a:r>
            <a:r>
              <a:rPr lang="en-US" altLang="zh-CN" sz="1800" dirty="0"/>
              <a:t>Jitter</a:t>
            </a:r>
            <a:r>
              <a:rPr lang="zh-CN" altLang="en-US" sz="1800" dirty="0"/>
              <a:t>）、丢包率</a:t>
            </a:r>
            <a:r>
              <a:rPr lang="en-US" altLang="zh-CN" sz="1800" dirty="0"/>
              <a:t>L</a:t>
            </a:r>
            <a:r>
              <a:rPr lang="zh-CN" altLang="en-US" sz="1800" dirty="0"/>
              <a:t>（</a:t>
            </a:r>
            <a:r>
              <a:rPr lang="en-US" altLang="zh-CN" sz="1800" dirty="0"/>
              <a:t>Loss</a:t>
            </a:r>
            <a:r>
              <a:rPr lang="zh-CN" altLang="en-US" sz="1800" dirty="0"/>
              <a:t>）以及综合度量指标</a:t>
            </a:r>
            <a:r>
              <a:rPr lang="en-US" altLang="zh-CN" sz="1800" dirty="0"/>
              <a:t>CMI</a:t>
            </a:r>
            <a:r>
              <a:rPr lang="zh-CN" altLang="en-US" sz="1800" dirty="0"/>
              <a:t>（</a:t>
            </a:r>
            <a:r>
              <a:rPr lang="en-US" altLang="zh-CN" sz="1800" dirty="0"/>
              <a:t>Composite Measure Indicator</a:t>
            </a:r>
            <a:r>
              <a:rPr lang="zh-CN" altLang="en-US" sz="1800" dirty="0"/>
              <a:t>）。</a:t>
            </a:r>
            <a:endParaRPr lang="en-US" altLang="zh-CN" sz="1800" dirty="0"/>
          </a:p>
          <a:p>
            <a:r>
              <a:rPr lang="en-US" altLang="zh-CN" sz="1800" dirty="0"/>
              <a:t>CMI</a:t>
            </a:r>
            <a:r>
              <a:rPr lang="zh-CN" altLang="en-US" sz="1800" dirty="0"/>
              <a:t>是基于时延，抖动，丢包综合计算得到的指标。</a:t>
            </a:r>
            <a:endParaRPr lang="en-US" altLang="zh-CN" sz="1800" dirty="0"/>
          </a:p>
          <a:p>
            <a:r>
              <a:rPr lang="en-US" altLang="zh-CN" sz="1800" dirty="0"/>
              <a:t>SPR</a:t>
            </a:r>
            <a:r>
              <a:rPr lang="zh-CN" altLang="en-US" sz="1800" dirty="0"/>
              <a:t>选路主要基于</a:t>
            </a:r>
            <a:r>
              <a:rPr lang="en-US" altLang="zh-CN" sz="1800" dirty="0"/>
              <a:t>CMI</a:t>
            </a:r>
            <a:r>
              <a:rPr lang="zh-CN" altLang="en-US" sz="1800" dirty="0"/>
              <a:t>值。 </a:t>
            </a:r>
            <a:endParaRPr lang="en-US" altLang="zh-CN" sz="1800" dirty="0"/>
          </a:p>
          <a:p>
            <a:endParaRPr lang="en-US" sz="1800" dirty="0"/>
          </a:p>
          <a:p>
            <a:endParaRPr lang="en-US" sz="1800" dirty="0"/>
          </a:p>
          <a:p>
            <a:endParaRPr lang="en-US" sz="1800" dirty="0"/>
          </a:p>
          <a:p>
            <a:endParaRPr lang="en-US" sz="1800" dirty="0"/>
          </a:p>
        </p:txBody>
      </p:sp>
      <p:grpSp>
        <p:nvGrpSpPr>
          <p:cNvPr id="69" name="Group 68">
            <a:extLst>
              <a:ext uri="{FF2B5EF4-FFF2-40B4-BE49-F238E27FC236}">
                <a16:creationId xmlns:a16="http://schemas.microsoft.com/office/drawing/2014/main" id="{930DD2EB-5C4B-4E85-8CD7-6D74CE300399}"/>
              </a:ext>
            </a:extLst>
          </p:cNvPr>
          <p:cNvGrpSpPr/>
          <p:nvPr/>
        </p:nvGrpSpPr>
        <p:grpSpPr bwMode="gray">
          <a:xfrm>
            <a:off x="496762" y="3727840"/>
            <a:ext cx="11179858" cy="2041420"/>
            <a:chOff x="496762" y="3727840"/>
            <a:chExt cx="11179858" cy="2041420"/>
          </a:xfrm>
        </p:grpSpPr>
        <p:sp>
          <p:nvSpPr>
            <p:cNvPr id="34" name="Freeform 159">
              <a:extLst>
                <a:ext uri="{FF2B5EF4-FFF2-40B4-BE49-F238E27FC236}">
                  <a16:creationId xmlns:a16="http://schemas.microsoft.com/office/drawing/2014/main" id="{1E4469B8-6FDE-4C54-BB08-CA784C6EF247}"/>
                </a:ext>
              </a:extLst>
            </p:cNvPr>
            <p:cNvSpPr/>
            <p:nvPr/>
          </p:nvSpPr>
          <p:spPr bwMode="gray">
            <a:xfrm flipH="1">
              <a:off x="8358136" y="393732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5" name="Straight Connector 34">
              <a:extLst>
                <a:ext uri="{FF2B5EF4-FFF2-40B4-BE49-F238E27FC236}">
                  <a16:creationId xmlns:a16="http://schemas.microsoft.com/office/drawing/2014/main" id="{283E3C63-D8A0-4FCF-8F69-3EC34A30FC51}"/>
                </a:ext>
              </a:extLst>
            </p:cNvPr>
            <p:cNvCxnSpPr>
              <a:cxnSpLocks/>
              <a:stCxn id="43" idx="0"/>
              <a:endCxn id="34" idx="21"/>
            </p:cNvCxnSpPr>
            <p:nvPr/>
          </p:nvCxnSpPr>
          <p:spPr bwMode="gray">
            <a:xfrm flipV="1">
              <a:off x="7000607" y="4270631"/>
              <a:ext cx="1357529" cy="280094"/>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CDC44DE-7227-4322-B4ED-E6E879FD699C}"/>
                </a:ext>
              </a:extLst>
            </p:cNvPr>
            <p:cNvCxnSpPr>
              <a:cxnSpLocks/>
              <a:stCxn id="46" idx="0"/>
              <a:endCxn id="34" idx="8"/>
            </p:cNvCxnSpPr>
            <p:nvPr/>
          </p:nvCxnSpPr>
          <p:spPr bwMode="gray">
            <a:xfrm flipH="1" flipV="1">
              <a:off x="9267618" y="4261978"/>
              <a:ext cx="1454887" cy="438787"/>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37" name="Freeform 159">
              <a:extLst>
                <a:ext uri="{FF2B5EF4-FFF2-40B4-BE49-F238E27FC236}">
                  <a16:creationId xmlns:a16="http://schemas.microsoft.com/office/drawing/2014/main" id="{82A6CF38-BD94-4C9E-8645-1FC1EF59D90D}"/>
                </a:ext>
              </a:extLst>
            </p:cNvPr>
            <p:cNvSpPr/>
            <p:nvPr/>
          </p:nvSpPr>
          <p:spPr bwMode="gray">
            <a:xfrm flipH="1">
              <a:off x="8358136" y="501008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8" name="Straight Connector 37">
              <a:extLst>
                <a:ext uri="{FF2B5EF4-FFF2-40B4-BE49-F238E27FC236}">
                  <a16:creationId xmlns:a16="http://schemas.microsoft.com/office/drawing/2014/main" id="{939D9AA4-D73E-4DD7-B330-D96FE4FC8471}"/>
                </a:ext>
              </a:extLst>
            </p:cNvPr>
            <p:cNvCxnSpPr>
              <a:cxnSpLocks/>
              <a:stCxn id="43" idx="2"/>
              <a:endCxn id="37" idx="21"/>
            </p:cNvCxnSpPr>
            <p:nvPr/>
          </p:nvCxnSpPr>
          <p:spPr bwMode="gray">
            <a:xfrm>
              <a:off x="7000607" y="4910765"/>
              <a:ext cx="1357529" cy="432626"/>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CB14EAD-A59B-44A3-8E90-F7A1F49C5912}"/>
                </a:ext>
              </a:extLst>
            </p:cNvPr>
            <p:cNvCxnSpPr>
              <a:cxnSpLocks/>
              <a:stCxn id="37" idx="8"/>
              <a:endCxn id="46" idx="2"/>
            </p:cNvCxnSpPr>
            <p:nvPr/>
          </p:nvCxnSpPr>
          <p:spPr bwMode="gray">
            <a:xfrm flipV="1">
              <a:off x="9267618" y="5060805"/>
              <a:ext cx="1454887" cy="27393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7229DB85-F313-4EC1-82B7-01819BCFB3E9}"/>
                </a:ext>
              </a:extLst>
            </p:cNvPr>
            <p:cNvSpPr txBox="1"/>
            <p:nvPr/>
          </p:nvSpPr>
          <p:spPr bwMode="gray">
            <a:xfrm rot="20823707">
              <a:off x="7103941" y="4058193"/>
              <a:ext cx="830677" cy="276999"/>
            </a:xfrm>
            <a:prstGeom prst="rect">
              <a:avLst/>
            </a:prstGeom>
            <a:solidFill>
              <a:srgbClr val="56C4D2"/>
            </a:solidFill>
            <a:ln>
              <a:solidFill>
                <a:srgbClr val="56C4D2"/>
              </a:solidFill>
            </a:ln>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1" name="TextBox 40">
              <a:extLst>
                <a:ext uri="{FF2B5EF4-FFF2-40B4-BE49-F238E27FC236}">
                  <a16:creationId xmlns:a16="http://schemas.microsoft.com/office/drawing/2014/main" id="{29353A8C-3C1D-458D-9CAB-5221327ADC56}"/>
                </a:ext>
              </a:extLst>
            </p:cNvPr>
            <p:cNvSpPr txBox="1"/>
            <p:nvPr/>
          </p:nvSpPr>
          <p:spPr bwMode="gray">
            <a:xfrm rot="20812250">
              <a:off x="7026997" y="3727840"/>
              <a:ext cx="984565"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IP FPM</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pic>
          <p:nvPicPr>
            <p:cNvPr id="43" name="Picture 12" descr="E:\2016.01\1.12 扁平化图标\蓝色\AR-蓝色最新-40.png">
              <a:extLst>
                <a:ext uri="{FF2B5EF4-FFF2-40B4-BE49-F238E27FC236}">
                  <a16:creationId xmlns:a16="http://schemas.microsoft.com/office/drawing/2014/main" id="{9857128C-B8C2-470D-ADC6-12E57C792D92}"/>
                </a:ext>
              </a:extLst>
            </p:cNvPr>
            <p:cNvPicPr>
              <a:picLocks noChangeAspect="1" noChangeArrowheads="1"/>
            </p:cNvPicPr>
            <p:nvPr/>
          </p:nvPicPr>
          <p:blipFill>
            <a:blip r:embed="rId3" cstate="print"/>
            <a:srcRect/>
            <a:stretch>
              <a:fillRect/>
            </a:stretch>
          </p:blipFill>
          <p:spPr bwMode="gray">
            <a:xfrm>
              <a:off x="6780582" y="4550725"/>
              <a:ext cx="440049" cy="360040"/>
            </a:xfrm>
            <a:prstGeom prst="rect">
              <a:avLst/>
            </a:prstGeom>
            <a:noFill/>
          </p:spPr>
        </p:pic>
        <p:sp>
          <p:nvSpPr>
            <p:cNvPr id="45" name="Freeform 159">
              <a:extLst>
                <a:ext uri="{FF2B5EF4-FFF2-40B4-BE49-F238E27FC236}">
                  <a16:creationId xmlns:a16="http://schemas.microsoft.com/office/drawing/2014/main" id="{480C2067-4576-4C8C-B277-C466362EBDC4}"/>
                </a:ext>
              </a:extLst>
            </p:cNvPr>
            <p:cNvSpPr/>
            <p:nvPr/>
          </p:nvSpPr>
          <p:spPr bwMode="gray">
            <a:xfrm flipH="1">
              <a:off x="10727020" y="458539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sz="1400" dirty="0">
                  <a:solidFill>
                    <a:schemeClr val="tx1"/>
                  </a:solidFill>
                </a:rPr>
                <a:t>分支</a:t>
              </a:r>
              <a:endParaRPr lang="en-US" sz="1400" dirty="0">
                <a:solidFill>
                  <a:schemeClr val="tx1"/>
                </a:solidFill>
              </a:endParaRPr>
            </a:p>
          </p:txBody>
        </p:sp>
        <p:pic>
          <p:nvPicPr>
            <p:cNvPr id="46" name="Picture 12" descr="E:\2016.01\1.12 扁平化图标\蓝色\AR-蓝色最新-40.png">
              <a:extLst>
                <a:ext uri="{FF2B5EF4-FFF2-40B4-BE49-F238E27FC236}">
                  <a16:creationId xmlns:a16="http://schemas.microsoft.com/office/drawing/2014/main" id="{F6AF8313-776B-4A3A-8EE7-F4C5116DFDED}"/>
                </a:ext>
              </a:extLst>
            </p:cNvPr>
            <p:cNvPicPr>
              <a:picLocks noChangeAspect="1" noChangeArrowheads="1"/>
            </p:cNvPicPr>
            <p:nvPr/>
          </p:nvPicPr>
          <p:blipFill>
            <a:blip r:embed="rId3" cstate="print"/>
            <a:srcRect/>
            <a:stretch>
              <a:fillRect/>
            </a:stretch>
          </p:blipFill>
          <p:spPr bwMode="gray">
            <a:xfrm>
              <a:off x="10502480" y="4700765"/>
              <a:ext cx="440049" cy="360040"/>
            </a:xfrm>
            <a:prstGeom prst="rect">
              <a:avLst/>
            </a:prstGeom>
            <a:noFill/>
          </p:spPr>
        </p:pic>
        <p:sp>
          <p:nvSpPr>
            <p:cNvPr id="48" name="TextBox 47">
              <a:extLst>
                <a:ext uri="{FF2B5EF4-FFF2-40B4-BE49-F238E27FC236}">
                  <a16:creationId xmlns:a16="http://schemas.microsoft.com/office/drawing/2014/main" id="{D72D656E-3F05-42E8-B060-30D5AC2D6DA1}"/>
                </a:ext>
              </a:extLst>
            </p:cNvPr>
            <p:cNvSpPr txBox="1"/>
            <p:nvPr/>
          </p:nvSpPr>
          <p:spPr bwMode="gray">
            <a:xfrm rot="1144581">
              <a:off x="7044582" y="5156382"/>
              <a:ext cx="830677" cy="276999"/>
            </a:xfrm>
            <a:prstGeom prst="rect">
              <a:avLst/>
            </a:prstGeom>
            <a:solidFill>
              <a:srgbClr val="56C4D2"/>
            </a:solidFill>
            <a:ln>
              <a:solidFill>
                <a:srgbClr val="56C4D2"/>
              </a:solidFill>
            </a:ln>
          </p:spPr>
          <p:txBody>
            <a:bodyPr wrap="none" rtlCol="0">
              <a:spAutoFit/>
            </a:bodyPr>
            <a:lstStyle/>
            <a:p>
              <a:pPr fontAlgn="auto"/>
              <a:r>
                <a:rPr lang="en-US" sz="1200" dirty="0">
                  <a:solidFill>
                    <a:schemeClr val="bg1"/>
                  </a:solidFill>
                  <a:latin typeface="+mn-lt"/>
                </a:rPr>
                <a:t>NQA</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9" name="TextBox 48">
              <a:extLst>
                <a:ext uri="{FF2B5EF4-FFF2-40B4-BE49-F238E27FC236}">
                  <a16:creationId xmlns:a16="http://schemas.microsoft.com/office/drawing/2014/main" id="{EE4065D3-A61A-4287-93F8-AFF574D18C35}"/>
                </a:ext>
              </a:extLst>
            </p:cNvPr>
            <p:cNvSpPr txBox="1"/>
            <p:nvPr/>
          </p:nvSpPr>
          <p:spPr bwMode="gray">
            <a:xfrm rot="1098159">
              <a:off x="6932084" y="5492261"/>
              <a:ext cx="984565" cy="276999"/>
            </a:xfrm>
            <a:prstGeom prst="rect">
              <a:avLst/>
            </a:prstGeom>
            <a:solidFill>
              <a:srgbClr val="8BC9A0"/>
            </a:solidFill>
          </p:spPr>
          <p:txBody>
            <a:bodyPr wrap="none" rtlCol="0">
              <a:spAutoFit/>
            </a:bodyPr>
            <a:lstStyle/>
            <a:p>
              <a:pPr fontAlgn="auto"/>
              <a:r>
                <a:rPr lang="en-US" sz="1200" dirty="0">
                  <a:solidFill>
                    <a:schemeClr val="bg1"/>
                  </a:solidFill>
                  <a:latin typeface="+mn-lt"/>
                </a:rPr>
                <a:t>IP FPM</a:t>
              </a:r>
              <a:r>
                <a:rPr lang="zh-CN" altLang="en-US" sz="1200" dirty="0">
                  <a:solidFill>
                    <a:schemeClr val="bg1"/>
                  </a:solidFill>
                  <a:latin typeface="方正兰亭黑简体" panose="02000000000000000000" pitchFamily="2" charset="-122"/>
                  <a:ea typeface="方正兰亭黑简体" panose="02000000000000000000" pitchFamily="2" charset="-122"/>
                </a:rPr>
                <a:t>检测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54" name="Trapezoid 53">
              <a:extLst>
                <a:ext uri="{FF2B5EF4-FFF2-40B4-BE49-F238E27FC236}">
                  <a16:creationId xmlns:a16="http://schemas.microsoft.com/office/drawing/2014/main" id="{CC701965-A95F-46D6-B6D2-505F286F8CAB}"/>
                </a:ext>
              </a:extLst>
            </p:cNvPr>
            <p:cNvSpPr/>
            <p:nvPr/>
          </p:nvSpPr>
          <p:spPr bwMode="gray">
            <a:xfrm rot="5400000">
              <a:off x="4813876" y="3881280"/>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298079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9245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9245"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1366D9D4-0082-41FF-80C7-393BED1E64FB}"/>
                </a:ext>
              </a:extLst>
            </p:cNvPr>
            <p:cNvSpPr/>
            <p:nvPr/>
          </p:nvSpPr>
          <p:spPr bwMode="gray">
            <a:xfrm>
              <a:off x="3296994" y="3983370"/>
              <a:ext cx="138340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TCP, UDP, GRE…</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56" name="Trapezoid 53">
              <a:extLst>
                <a:ext uri="{FF2B5EF4-FFF2-40B4-BE49-F238E27FC236}">
                  <a16:creationId xmlns:a16="http://schemas.microsoft.com/office/drawing/2014/main" id="{46C88E25-FC08-477A-AEE0-73E338D55075}"/>
                </a:ext>
              </a:extLst>
            </p:cNvPr>
            <p:cNvSpPr/>
            <p:nvPr/>
          </p:nvSpPr>
          <p:spPr bwMode="gray">
            <a:xfrm rot="16200000" flipV="1">
              <a:off x="4814149" y="4731054"/>
              <a:ext cx="677646" cy="861736"/>
            </a:xfrm>
            <a:custGeom>
              <a:avLst/>
              <a:gdLst>
                <a:gd name="connsiteX0" fmla="*/ 0 w 648072"/>
                <a:gd name="connsiteY0" fmla="*/ 438787 h 438787"/>
                <a:gd name="connsiteX1" fmla="*/ 271622 w 648072"/>
                <a:gd name="connsiteY1" fmla="*/ 0 h 438787"/>
                <a:gd name="connsiteX2" fmla="*/ 376450 w 648072"/>
                <a:gd name="connsiteY2" fmla="*/ 0 h 438787"/>
                <a:gd name="connsiteX3" fmla="*/ 648072 w 648072"/>
                <a:gd name="connsiteY3" fmla="*/ 438787 h 438787"/>
                <a:gd name="connsiteX4" fmla="*/ 0 w 648072"/>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289300 w 376450"/>
                <a:gd name="connsiteY3" fmla="*/ 435612 h 438787"/>
                <a:gd name="connsiteX4" fmla="*/ 0 w 376450"/>
                <a:gd name="connsiteY4" fmla="*/ 438787 h 438787"/>
                <a:gd name="connsiteX0" fmla="*/ 0 w 376450"/>
                <a:gd name="connsiteY0" fmla="*/ 438787 h 438787"/>
                <a:gd name="connsiteX1" fmla="*/ 271622 w 376450"/>
                <a:gd name="connsiteY1" fmla="*/ 0 h 438787"/>
                <a:gd name="connsiteX2" fmla="*/ 376450 w 376450"/>
                <a:gd name="connsiteY2" fmla="*/ 0 h 438787"/>
                <a:gd name="connsiteX3" fmla="*/ 196783 w 376450"/>
                <a:gd name="connsiteY3" fmla="*/ 436825 h 438787"/>
                <a:gd name="connsiteX4" fmla="*/ 0 w 376450"/>
                <a:gd name="connsiteY4" fmla="*/ 438787 h 438787"/>
                <a:gd name="connsiteX0" fmla="*/ 0 w 376450"/>
                <a:gd name="connsiteY0" fmla="*/ 438787 h 438787"/>
                <a:gd name="connsiteX1" fmla="*/ 316599 w 376450"/>
                <a:gd name="connsiteY1" fmla="*/ 0 h 438787"/>
                <a:gd name="connsiteX2" fmla="*/ 376450 w 376450"/>
                <a:gd name="connsiteY2" fmla="*/ 0 h 438787"/>
                <a:gd name="connsiteX3" fmla="*/ 196783 w 376450"/>
                <a:gd name="connsiteY3" fmla="*/ 436825 h 438787"/>
                <a:gd name="connsiteX4" fmla="*/ 0 w 376450"/>
                <a:gd name="connsiteY4" fmla="*/ 438787 h 438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6450" h="438787">
                  <a:moveTo>
                    <a:pt x="0" y="438787"/>
                  </a:moveTo>
                  <a:lnTo>
                    <a:pt x="316599" y="0"/>
                  </a:lnTo>
                  <a:lnTo>
                    <a:pt x="376450" y="0"/>
                  </a:lnTo>
                  <a:lnTo>
                    <a:pt x="196783" y="436825"/>
                  </a:lnTo>
                  <a:lnTo>
                    <a:pt x="0" y="438787"/>
                  </a:lnTo>
                  <a:close/>
                </a:path>
              </a:pathLst>
            </a:cu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77FD291F-3AE9-4D8D-8522-0D9A3D17363C}"/>
                </a:ext>
              </a:extLst>
            </p:cNvPr>
            <p:cNvSpPr/>
            <p:nvPr/>
          </p:nvSpPr>
          <p:spPr bwMode="gray">
            <a:xfrm>
              <a:off x="1769405" y="5148329"/>
              <a:ext cx="2914316"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sz="1200" dirty="0">
                  <a:solidFill>
                    <a:schemeClr val="tx1"/>
                  </a:solidFill>
                  <a:latin typeface="Huawei Sans" panose="020C0503030203020204" pitchFamily="34" charset="0"/>
                  <a:ea typeface="方正兰亭黑简体" panose="02000000000000000000" pitchFamily="2" charset="-122"/>
                </a:rPr>
                <a:t>Source IP, Source Port, Destination IP…</a:t>
              </a:r>
            </a:p>
          </p:txBody>
        </p:sp>
        <p:sp>
          <p:nvSpPr>
            <p:cNvPr id="58" name="Trapezoid 57">
              <a:extLst>
                <a:ext uri="{FF2B5EF4-FFF2-40B4-BE49-F238E27FC236}">
                  <a16:creationId xmlns:a16="http://schemas.microsoft.com/office/drawing/2014/main" id="{919B664A-C158-421D-B9BD-B005E8E5519E}"/>
                </a:ext>
              </a:extLst>
            </p:cNvPr>
            <p:cNvSpPr/>
            <p:nvPr/>
          </p:nvSpPr>
          <p:spPr bwMode="gray">
            <a:xfrm rot="5400000">
              <a:off x="4981760" y="4311435"/>
              <a:ext cx="352417" cy="829182"/>
            </a:xfrm>
            <a:prstGeom prst="trapezoid">
              <a:avLst>
                <a:gd name="adj" fmla="val 34538"/>
              </a:avLst>
            </a:prstGeom>
            <a:gradFill>
              <a:gsLst>
                <a:gs pos="0">
                  <a:schemeClr val="accent1">
                    <a:lumMod val="5000"/>
                    <a:lumOff val="95000"/>
                    <a:alpha val="50000"/>
                  </a:schemeClr>
                </a:gs>
                <a:gs pos="100000">
                  <a:schemeClr val="accent1">
                    <a:lumMod val="30000"/>
                    <a:lumOff val="70000"/>
                    <a:alpha val="5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D79B5E6-F301-47A0-9AC6-CE459B46C15B}"/>
                </a:ext>
              </a:extLst>
            </p:cNvPr>
            <p:cNvSpPr/>
            <p:nvPr/>
          </p:nvSpPr>
          <p:spPr bwMode="gray">
            <a:xfrm>
              <a:off x="2921532" y="4549817"/>
              <a:ext cx="1758865"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DSCP, VPN, TCP-flag…</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0" name="TextBox 59">
              <a:extLst>
                <a:ext uri="{FF2B5EF4-FFF2-40B4-BE49-F238E27FC236}">
                  <a16:creationId xmlns:a16="http://schemas.microsoft.com/office/drawing/2014/main" id="{217FAD48-4C27-4B0D-BCF0-25B19B21B776}"/>
                </a:ext>
              </a:extLst>
            </p:cNvPr>
            <p:cNvSpPr txBox="1"/>
            <p:nvPr/>
          </p:nvSpPr>
          <p:spPr bwMode="gray">
            <a:xfrm>
              <a:off x="2053861" y="4021138"/>
              <a:ext cx="1261884"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根据协议类型</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TextBox 60">
              <a:extLst>
                <a:ext uri="{FF2B5EF4-FFF2-40B4-BE49-F238E27FC236}">
                  <a16:creationId xmlns:a16="http://schemas.microsoft.com/office/drawing/2014/main" id="{14BAAB86-7E76-4E79-90C6-0D56D04B4404}"/>
                </a:ext>
              </a:extLst>
            </p:cNvPr>
            <p:cNvSpPr txBox="1"/>
            <p:nvPr/>
          </p:nvSpPr>
          <p:spPr bwMode="gray">
            <a:xfrm>
              <a:off x="1638795" y="4568953"/>
              <a:ext cx="1261884"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根据报文应用</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 name="TextBox 61">
              <a:extLst>
                <a:ext uri="{FF2B5EF4-FFF2-40B4-BE49-F238E27FC236}">
                  <a16:creationId xmlns:a16="http://schemas.microsoft.com/office/drawing/2014/main" id="{F2EAC5E9-DA59-4EEF-95F8-CCC38294AD11}"/>
                </a:ext>
              </a:extLst>
            </p:cNvPr>
            <p:cNvSpPr txBox="1"/>
            <p:nvPr/>
          </p:nvSpPr>
          <p:spPr bwMode="gray">
            <a:xfrm>
              <a:off x="496762" y="5170648"/>
              <a:ext cx="1261884"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根据报文信息</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Freeform: Shape 62">
              <a:extLst>
                <a:ext uri="{FF2B5EF4-FFF2-40B4-BE49-F238E27FC236}">
                  <a16:creationId xmlns:a16="http://schemas.microsoft.com/office/drawing/2014/main" id="{7009149B-4C03-4B10-9EDB-FDCFEAF472EF}"/>
                </a:ext>
              </a:extLst>
            </p:cNvPr>
            <p:cNvSpPr/>
            <p:nvPr/>
          </p:nvSpPr>
          <p:spPr bwMode="gray">
            <a:xfrm>
              <a:off x="4680397" y="4021138"/>
              <a:ext cx="6996223" cy="831556"/>
            </a:xfrm>
            <a:custGeom>
              <a:avLst/>
              <a:gdLst>
                <a:gd name="connsiteX0" fmla="*/ 0 w 6996223"/>
                <a:gd name="connsiteY0" fmla="*/ 0 h 831556"/>
                <a:gd name="connsiteX1" fmla="*/ 1233377 w 6996223"/>
                <a:gd name="connsiteY1" fmla="*/ 606056 h 831556"/>
                <a:gd name="connsiteX2" fmla="*/ 2147777 w 6996223"/>
                <a:gd name="connsiteY2" fmla="*/ 606056 h 831556"/>
                <a:gd name="connsiteX3" fmla="*/ 4125433 w 6996223"/>
                <a:gd name="connsiteY3" fmla="*/ 127591 h 831556"/>
                <a:gd name="connsiteX4" fmla="*/ 6177516 w 6996223"/>
                <a:gd name="connsiteY4" fmla="*/ 723014 h 831556"/>
                <a:gd name="connsiteX5" fmla="*/ 6996223 w 6996223"/>
                <a:gd name="connsiteY5" fmla="*/ 829340 h 831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96223" h="831556">
                  <a:moveTo>
                    <a:pt x="0" y="0"/>
                  </a:moveTo>
                  <a:cubicBezTo>
                    <a:pt x="437707" y="252523"/>
                    <a:pt x="875414" y="505047"/>
                    <a:pt x="1233377" y="606056"/>
                  </a:cubicBezTo>
                  <a:cubicBezTo>
                    <a:pt x="1591340" y="707065"/>
                    <a:pt x="1665768" y="685800"/>
                    <a:pt x="2147777" y="606056"/>
                  </a:cubicBezTo>
                  <a:cubicBezTo>
                    <a:pt x="2629786" y="526312"/>
                    <a:pt x="3453810" y="108098"/>
                    <a:pt x="4125433" y="127591"/>
                  </a:cubicBezTo>
                  <a:cubicBezTo>
                    <a:pt x="4797056" y="147084"/>
                    <a:pt x="5699051" y="606056"/>
                    <a:pt x="6177516" y="723014"/>
                  </a:cubicBezTo>
                  <a:cubicBezTo>
                    <a:pt x="6655981" y="839972"/>
                    <a:pt x="6826102" y="834656"/>
                    <a:pt x="6996223" y="829340"/>
                  </a:cubicBezTo>
                </a:path>
              </a:pathLst>
            </a:custGeom>
            <a:noFill/>
            <a:ln w="28575">
              <a:solidFill>
                <a:srgbClr val="EC706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a:extLst>
                <a:ext uri="{FF2B5EF4-FFF2-40B4-BE49-F238E27FC236}">
                  <a16:creationId xmlns:a16="http://schemas.microsoft.com/office/drawing/2014/main" id="{F933613B-3499-470F-94CE-F74ACCF08DC9}"/>
                </a:ext>
              </a:extLst>
            </p:cNvPr>
            <p:cNvSpPr/>
            <p:nvPr/>
          </p:nvSpPr>
          <p:spPr bwMode="gray">
            <a:xfrm>
              <a:off x="4680397" y="4895454"/>
              <a:ext cx="6953693" cy="517219"/>
            </a:xfrm>
            <a:custGeom>
              <a:avLst/>
              <a:gdLst>
                <a:gd name="connsiteX0" fmla="*/ 0 w 6953693"/>
                <a:gd name="connsiteY0" fmla="*/ 624722 h 624722"/>
                <a:gd name="connsiteX1" fmla="*/ 1063256 w 6953693"/>
                <a:gd name="connsiteY1" fmla="*/ 71829 h 624722"/>
                <a:gd name="connsiteX2" fmla="*/ 2243470 w 6953693"/>
                <a:gd name="connsiteY2" fmla="*/ 61196 h 624722"/>
                <a:gd name="connsiteX3" fmla="*/ 3987209 w 6953693"/>
                <a:gd name="connsiteY3" fmla="*/ 571559 h 624722"/>
                <a:gd name="connsiteX4" fmla="*/ 6060558 w 6953693"/>
                <a:gd name="connsiteY4" fmla="*/ 188787 h 624722"/>
                <a:gd name="connsiteX5" fmla="*/ 6953693 w 6953693"/>
                <a:gd name="connsiteY5" fmla="*/ 114359 h 624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53693" h="624722">
                  <a:moveTo>
                    <a:pt x="0" y="624722"/>
                  </a:moveTo>
                  <a:cubicBezTo>
                    <a:pt x="344672" y="395236"/>
                    <a:pt x="689344" y="165750"/>
                    <a:pt x="1063256" y="71829"/>
                  </a:cubicBezTo>
                  <a:cubicBezTo>
                    <a:pt x="1437168" y="-22092"/>
                    <a:pt x="1756145" y="-22092"/>
                    <a:pt x="2243470" y="61196"/>
                  </a:cubicBezTo>
                  <a:cubicBezTo>
                    <a:pt x="2730795" y="144484"/>
                    <a:pt x="3351028" y="550294"/>
                    <a:pt x="3987209" y="571559"/>
                  </a:cubicBezTo>
                  <a:cubicBezTo>
                    <a:pt x="4623390" y="592824"/>
                    <a:pt x="5566144" y="264987"/>
                    <a:pt x="6060558" y="188787"/>
                  </a:cubicBezTo>
                  <a:cubicBezTo>
                    <a:pt x="6554972" y="112587"/>
                    <a:pt x="6754332" y="113473"/>
                    <a:pt x="6953693" y="114359"/>
                  </a:cubicBezTo>
                </a:path>
              </a:pathLst>
            </a:custGeom>
            <a:noFill/>
            <a:ln w="28575">
              <a:solidFill>
                <a:srgbClr val="8BC9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D27FE0D0-C788-4B5D-8626-4F320B51D921}"/>
                </a:ext>
              </a:extLst>
            </p:cNvPr>
            <p:cNvSpPr/>
            <p:nvPr/>
          </p:nvSpPr>
          <p:spPr bwMode="gray">
            <a:xfrm>
              <a:off x="4737159" y="4697644"/>
              <a:ext cx="1541721" cy="75915"/>
            </a:xfrm>
            <a:custGeom>
              <a:avLst/>
              <a:gdLst>
                <a:gd name="connsiteX0" fmla="*/ 0 w 1541721"/>
                <a:gd name="connsiteY0" fmla="*/ 42531 h 75915"/>
                <a:gd name="connsiteX1" fmla="*/ 765544 w 1541721"/>
                <a:gd name="connsiteY1" fmla="*/ 74428 h 75915"/>
                <a:gd name="connsiteX2" fmla="*/ 1541721 w 1541721"/>
                <a:gd name="connsiteY2" fmla="*/ 0 h 75915"/>
              </a:gdLst>
              <a:ahLst/>
              <a:cxnLst>
                <a:cxn ang="0">
                  <a:pos x="connsiteX0" y="connsiteY0"/>
                </a:cxn>
                <a:cxn ang="0">
                  <a:pos x="connsiteX1" y="connsiteY1"/>
                </a:cxn>
                <a:cxn ang="0">
                  <a:pos x="connsiteX2" y="connsiteY2"/>
                </a:cxn>
              </a:cxnLst>
              <a:rect l="l" t="t" r="r" b="b"/>
              <a:pathLst>
                <a:path w="1541721" h="75915">
                  <a:moveTo>
                    <a:pt x="0" y="42531"/>
                  </a:moveTo>
                  <a:cubicBezTo>
                    <a:pt x="254295" y="62023"/>
                    <a:pt x="508591" y="81516"/>
                    <a:pt x="765544" y="74428"/>
                  </a:cubicBezTo>
                  <a:cubicBezTo>
                    <a:pt x="1022497" y="67340"/>
                    <a:pt x="1378689" y="12405"/>
                    <a:pt x="1541721" y="0"/>
                  </a:cubicBezTo>
                </a:path>
              </a:pathLst>
            </a:custGeom>
            <a:noFill/>
            <a:ln w="28575">
              <a:solidFill>
                <a:srgbClr val="EC7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069B56D-2DE1-4BDC-8052-9D7FBE80B3D9}"/>
                </a:ext>
              </a:extLst>
            </p:cNvPr>
            <p:cNvSpPr/>
            <p:nvPr/>
          </p:nvSpPr>
          <p:spPr bwMode="gray">
            <a:xfrm>
              <a:off x="5650738" y="4568953"/>
              <a:ext cx="1074669"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200" dirty="0">
                  <a:solidFill>
                    <a:schemeClr val="tx1"/>
                  </a:solidFill>
                  <a:latin typeface="Huawei Sans" panose="020C0503030203020204" pitchFamily="34" charset="0"/>
                  <a:ea typeface="方正兰亭黑简体" panose="02000000000000000000" pitchFamily="2" charset="-122"/>
                </a:rPr>
                <a:t>SPR</a:t>
              </a:r>
              <a:r>
                <a:rPr lang="zh-CN" altLang="en-US" sz="1200" dirty="0">
                  <a:solidFill>
                    <a:schemeClr val="tx1"/>
                  </a:solidFill>
                  <a:latin typeface="Huawei Sans" panose="020C0503030203020204" pitchFamily="34" charset="0"/>
                  <a:ea typeface="方正兰亭黑简体" panose="02000000000000000000" pitchFamily="2" charset="-122"/>
                </a:rPr>
                <a:t>功能模块</a:t>
              </a:r>
              <a:endParaRPr lang="en-US" sz="1200" dirty="0">
                <a:solidFill>
                  <a:schemeClr val="tx1"/>
                </a:solidFill>
                <a:latin typeface="Huawei Sans" panose="020C0503030203020204" pitchFamily="34" charset="0"/>
                <a:ea typeface="方正兰亭黑简体" panose="02000000000000000000" pitchFamily="2" charset="-122"/>
              </a:endParaRPr>
            </a:p>
          </p:txBody>
        </p:sp>
      </p:grpSp>
    </p:spTree>
    <p:extLst>
      <p:ext uri="{BB962C8B-B14F-4D97-AF65-F5344CB8AC3E}">
        <p14:creationId xmlns:p14="http://schemas.microsoft.com/office/powerpoint/2010/main" val="368721855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86F0A-9F45-4C71-8EC5-73B751FB53B6}"/>
              </a:ext>
            </a:extLst>
          </p:cNvPr>
          <p:cNvSpPr>
            <a:spLocks noGrp="1"/>
          </p:cNvSpPr>
          <p:nvPr>
            <p:ph type="title"/>
          </p:nvPr>
        </p:nvSpPr>
        <p:spPr bwMode="gray"/>
        <p:txBody>
          <a:bodyPr/>
          <a:lstStyle/>
          <a:p>
            <a:r>
              <a:rPr lang="en-US" dirty="0"/>
              <a:t>SPR</a:t>
            </a:r>
            <a:r>
              <a:rPr lang="zh-CN" altLang="en-US" dirty="0"/>
              <a:t>探测链路和链路组</a:t>
            </a:r>
            <a:endParaRPr lang="en-US" dirty="0"/>
          </a:p>
        </p:txBody>
      </p:sp>
      <p:sp>
        <p:nvSpPr>
          <p:cNvPr id="3" name="Text Placeholder 2">
            <a:extLst>
              <a:ext uri="{FF2B5EF4-FFF2-40B4-BE49-F238E27FC236}">
                <a16:creationId xmlns:a16="http://schemas.microsoft.com/office/drawing/2014/main" id="{A253C219-42C1-4AE3-A7C9-F990BE021DEC}"/>
              </a:ext>
            </a:extLst>
          </p:cNvPr>
          <p:cNvSpPr>
            <a:spLocks noGrp="1"/>
          </p:cNvSpPr>
          <p:nvPr>
            <p:ph type="body" sz="quarter" idx="10"/>
          </p:nvPr>
        </p:nvSpPr>
        <p:spPr bwMode="gray"/>
        <p:txBody>
          <a:bodyPr/>
          <a:lstStyle/>
          <a:p>
            <a:r>
              <a:rPr lang="zh-CN" altLang="en-US" sz="1800" dirty="0"/>
              <a:t>探测链路通过探针</a:t>
            </a:r>
            <a:r>
              <a:rPr lang="en-US" altLang="zh-CN" sz="1800" dirty="0"/>
              <a:t>(NQA, IP FPM)</a:t>
            </a:r>
            <a:r>
              <a:rPr lang="zh-CN" altLang="en-US" sz="1800" dirty="0"/>
              <a:t>获取链路参数的质量，</a:t>
            </a:r>
            <a:r>
              <a:rPr lang="en-US" altLang="zh-CN" sz="1800" dirty="0"/>
              <a:t>SPR</a:t>
            </a:r>
            <a:r>
              <a:rPr lang="zh-CN" altLang="en-US" sz="1800" dirty="0"/>
              <a:t>根据探测链路的链路质量匹配业务需求，从而实现智能选路的需求。</a:t>
            </a:r>
          </a:p>
          <a:p>
            <a:r>
              <a:rPr lang="en-US" altLang="zh-CN" sz="1800" dirty="0"/>
              <a:t>SPR</a:t>
            </a:r>
            <a:r>
              <a:rPr lang="zh-CN" altLang="en-US" sz="1800" dirty="0"/>
              <a:t>以链路组的形式使用探测链路，一个链路组中可以有一条或多条探测链路。</a:t>
            </a:r>
          </a:p>
          <a:p>
            <a:r>
              <a:rPr lang="en-US" altLang="zh-CN" sz="1800" dirty="0"/>
              <a:t>SPR</a:t>
            </a:r>
            <a:r>
              <a:rPr lang="zh-CN" altLang="en-US" sz="1800" dirty="0"/>
              <a:t>的链路角色分为：主用链路组、备用链路组和逃生链路。</a:t>
            </a:r>
            <a:r>
              <a:rPr lang="en-US" altLang="zh-CN" sz="1800" dirty="0"/>
              <a:t>SPR</a:t>
            </a:r>
            <a:r>
              <a:rPr lang="zh-CN" altLang="en-US" sz="1800" dirty="0"/>
              <a:t>中业务无法从主用链路组和备用链路组中找到合适的链路传输数据时可以启用逃生链路。</a:t>
            </a:r>
          </a:p>
          <a:p>
            <a:endParaRPr lang="en-US" dirty="0"/>
          </a:p>
        </p:txBody>
      </p:sp>
      <p:sp>
        <p:nvSpPr>
          <p:cNvPr id="24" name="Rectangle 23">
            <a:extLst>
              <a:ext uri="{FF2B5EF4-FFF2-40B4-BE49-F238E27FC236}">
                <a16:creationId xmlns:a16="http://schemas.microsoft.com/office/drawing/2014/main" id="{2DD02909-4BD7-41FF-8BDE-DFEF5E0F4EDB}"/>
              </a:ext>
            </a:extLst>
          </p:cNvPr>
          <p:cNvSpPr/>
          <p:nvPr/>
        </p:nvSpPr>
        <p:spPr bwMode="gray">
          <a:xfrm>
            <a:off x="3749639" y="4110193"/>
            <a:ext cx="1373074" cy="1223292"/>
          </a:xfrm>
          <a:prstGeom prst="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rPr>
              <a:t>网络设备</a:t>
            </a:r>
            <a:endParaRPr lang="en-US" sz="1600" b="1" dirty="0">
              <a:solidFill>
                <a:schemeClr val="tx1"/>
              </a:solidFill>
            </a:endParaRPr>
          </a:p>
        </p:txBody>
      </p:sp>
      <p:sp>
        <p:nvSpPr>
          <p:cNvPr id="4" name="Freeform 159">
            <a:extLst>
              <a:ext uri="{FF2B5EF4-FFF2-40B4-BE49-F238E27FC236}">
                <a16:creationId xmlns:a16="http://schemas.microsoft.com/office/drawing/2014/main" id="{3FC1C617-EFC7-4FA2-B5B5-A9E99654F555}"/>
              </a:ext>
            </a:extLst>
          </p:cNvPr>
          <p:cNvSpPr/>
          <p:nvPr/>
        </p:nvSpPr>
        <p:spPr bwMode="gray">
          <a:xfrm flipH="1">
            <a:off x="7459891" y="390117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I</a:t>
            </a:r>
            <a:r>
              <a:rPr lang="en-US" altLang="zh-CN" sz="1400" dirty="0">
                <a:solidFill>
                  <a:schemeClr val="tx1"/>
                </a:solidFill>
              </a:rPr>
              <a:t>nternet</a:t>
            </a:r>
            <a:endParaRPr lang="en-US" sz="1400" dirty="0">
              <a:solidFill>
                <a:schemeClr val="tx1"/>
              </a:solidFill>
            </a:endParaRPr>
          </a:p>
        </p:txBody>
      </p:sp>
      <p:sp>
        <p:nvSpPr>
          <p:cNvPr id="6" name="Freeform 159">
            <a:extLst>
              <a:ext uri="{FF2B5EF4-FFF2-40B4-BE49-F238E27FC236}">
                <a16:creationId xmlns:a16="http://schemas.microsoft.com/office/drawing/2014/main" id="{14C8590E-D06C-40E1-BAFF-9971902A52F2}"/>
              </a:ext>
            </a:extLst>
          </p:cNvPr>
          <p:cNvSpPr/>
          <p:nvPr/>
        </p:nvSpPr>
        <p:spPr bwMode="gray">
          <a:xfrm flipH="1">
            <a:off x="7431015" y="4442625"/>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MPLS</a:t>
            </a:r>
          </a:p>
        </p:txBody>
      </p:sp>
      <p:sp>
        <p:nvSpPr>
          <p:cNvPr id="14" name="Freeform 159">
            <a:extLst>
              <a:ext uri="{FF2B5EF4-FFF2-40B4-BE49-F238E27FC236}">
                <a16:creationId xmlns:a16="http://schemas.microsoft.com/office/drawing/2014/main" id="{E7D5D3A5-5EBB-4DE8-A804-C2DA7654FF23}"/>
              </a:ext>
            </a:extLst>
          </p:cNvPr>
          <p:cNvSpPr/>
          <p:nvPr/>
        </p:nvSpPr>
        <p:spPr bwMode="gray">
          <a:xfrm flipH="1">
            <a:off x="7459891" y="4994938"/>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sz="1400" dirty="0">
                <a:solidFill>
                  <a:schemeClr val="tx1"/>
                </a:solidFill>
              </a:rPr>
              <a:t>LTE</a:t>
            </a:r>
          </a:p>
        </p:txBody>
      </p:sp>
      <p:sp>
        <p:nvSpPr>
          <p:cNvPr id="18" name="Can 9">
            <a:extLst>
              <a:ext uri="{FF2B5EF4-FFF2-40B4-BE49-F238E27FC236}">
                <a16:creationId xmlns:a16="http://schemas.microsoft.com/office/drawing/2014/main" id="{EF2FCC97-D2B8-4E92-B552-F93233EEB083}"/>
              </a:ext>
            </a:extLst>
          </p:cNvPr>
          <p:cNvSpPr/>
          <p:nvPr/>
        </p:nvSpPr>
        <p:spPr bwMode="gray">
          <a:xfrm rot="5400000">
            <a:off x="4833928" y="4186063"/>
            <a:ext cx="531492" cy="540060"/>
          </a:xfrm>
          <a:prstGeom prst="can">
            <a:avLst>
              <a:gd name="adj" fmla="val 40000"/>
            </a:avLst>
          </a:prstGeom>
          <a:solidFill>
            <a:srgbClr val="FFF2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 name="Straight Connector 4">
            <a:extLst>
              <a:ext uri="{FF2B5EF4-FFF2-40B4-BE49-F238E27FC236}">
                <a16:creationId xmlns:a16="http://schemas.microsoft.com/office/drawing/2014/main" id="{41555BC5-D715-4DD1-A22D-999DE04F2208}"/>
              </a:ext>
            </a:extLst>
          </p:cNvPr>
          <p:cNvCxnSpPr>
            <a:cxnSpLocks/>
            <a:endCxn id="4" idx="21"/>
          </p:cNvCxnSpPr>
          <p:nvPr/>
        </p:nvCxnSpPr>
        <p:spPr bwMode="gray">
          <a:xfrm flipV="1">
            <a:off x="5261692" y="4234483"/>
            <a:ext cx="2198199" cy="89232"/>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4242F04-21FB-4F94-BC33-2C1A87BB0286}"/>
              </a:ext>
            </a:extLst>
          </p:cNvPr>
          <p:cNvCxnSpPr>
            <a:cxnSpLocks/>
            <a:endCxn id="6" idx="21"/>
          </p:cNvCxnSpPr>
          <p:nvPr/>
        </p:nvCxnSpPr>
        <p:spPr bwMode="gray">
          <a:xfrm>
            <a:off x="5261692" y="4566446"/>
            <a:ext cx="2169323" cy="209489"/>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27" name="Can 9">
            <a:extLst>
              <a:ext uri="{FF2B5EF4-FFF2-40B4-BE49-F238E27FC236}">
                <a16:creationId xmlns:a16="http://schemas.microsoft.com/office/drawing/2014/main" id="{91B46739-5A9B-46AD-A167-5A611E753243}"/>
              </a:ext>
            </a:extLst>
          </p:cNvPr>
          <p:cNvSpPr/>
          <p:nvPr/>
        </p:nvSpPr>
        <p:spPr bwMode="gray">
          <a:xfrm rot="5400000">
            <a:off x="4852220" y="4750109"/>
            <a:ext cx="494908" cy="540060"/>
          </a:xfrm>
          <a:prstGeom prst="can">
            <a:avLst>
              <a:gd name="adj" fmla="val 40000"/>
            </a:avLst>
          </a:prstGeom>
          <a:solidFill>
            <a:srgbClr val="F4FBFE"/>
          </a:solid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Straight Connector 14">
            <a:extLst>
              <a:ext uri="{FF2B5EF4-FFF2-40B4-BE49-F238E27FC236}">
                <a16:creationId xmlns:a16="http://schemas.microsoft.com/office/drawing/2014/main" id="{013B88AF-E7DF-4931-9C81-7159D9941619}"/>
              </a:ext>
            </a:extLst>
          </p:cNvPr>
          <p:cNvCxnSpPr>
            <a:cxnSpLocks/>
            <a:endCxn id="14" idx="21"/>
          </p:cNvCxnSpPr>
          <p:nvPr/>
        </p:nvCxnSpPr>
        <p:spPr bwMode="gray">
          <a:xfrm>
            <a:off x="5261692" y="4955955"/>
            <a:ext cx="2198199" cy="372293"/>
          </a:xfrm>
          <a:prstGeom prst="line">
            <a:avLst/>
          </a:prstGeom>
          <a:ln w="19050">
            <a:solidFill>
              <a:srgbClr val="56C4D2"/>
            </a:solidFill>
          </a:ln>
        </p:spPr>
        <p:style>
          <a:lnRef idx="1">
            <a:schemeClr val="accent1"/>
          </a:lnRef>
          <a:fillRef idx="0">
            <a:schemeClr val="accent1"/>
          </a:fillRef>
          <a:effectRef idx="0">
            <a:schemeClr val="accent1"/>
          </a:effectRef>
          <a:fontRef idx="minor">
            <a:schemeClr val="tx1"/>
          </a:fontRef>
        </p:style>
      </p:cxnSp>
      <p:sp>
        <p:nvSpPr>
          <p:cNvPr id="35" name="Rectangular Callout 72">
            <a:extLst>
              <a:ext uri="{FF2B5EF4-FFF2-40B4-BE49-F238E27FC236}">
                <a16:creationId xmlns:a16="http://schemas.microsoft.com/office/drawing/2014/main" id="{024D79A8-4C9A-48A5-9088-51E46C9C2054}"/>
              </a:ext>
            </a:extLst>
          </p:cNvPr>
          <p:cNvSpPr/>
          <p:nvPr/>
        </p:nvSpPr>
        <p:spPr bwMode="gray">
          <a:xfrm>
            <a:off x="4407179" y="3878354"/>
            <a:ext cx="948771" cy="259409"/>
          </a:xfrm>
          <a:prstGeom prst="wedgeRectCallout">
            <a:avLst>
              <a:gd name="adj1" fmla="val 20699"/>
              <a:gd name="adj2" fmla="val 105817"/>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主用链路组</a:t>
            </a:r>
          </a:p>
        </p:txBody>
      </p:sp>
      <p:sp>
        <p:nvSpPr>
          <p:cNvPr id="36" name="Rectangular Callout 72">
            <a:extLst>
              <a:ext uri="{FF2B5EF4-FFF2-40B4-BE49-F238E27FC236}">
                <a16:creationId xmlns:a16="http://schemas.microsoft.com/office/drawing/2014/main" id="{A64DB030-00B9-4014-BF2D-57565683525F}"/>
              </a:ext>
            </a:extLst>
          </p:cNvPr>
          <p:cNvSpPr/>
          <p:nvPr/>
        </p:nvSpPr>
        <p:spPr bwMode="gray">
          <a:xfrm>
            <a:off x="4420933" y="5324929"/>
            <a:ext cx="948771" cy="259409"/>
          </a:xfrm>
          <a:prstGeom prst="wedgeRectCallout">
            <a:avLst>
              <a:gd name="adj1" fmla="val 20699"/>
              <a:gd name="adj2" fmla="val -99804"/>
            </a:avLst>
          </a:prstGeom>
          <a:solidFill>
            <a:schemeClr val="bg1"/>
          </a:solidFill>
          <a:ln w="19050">
            <a:solidFill>
              <a:schemeClr val="bg1">
                <a:lumMod val="65000"/>
              </a:schemeClr>
            </a:solidFill>
            <a:headEnd type="none" w="med" len="med"/>
            <a:tailEnd type="arrow" w="med" len="med"/>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bg1">
                    <a:lumMod val="50000"/>
                  </a:schemeClr>
                </a:solidFill>
              </a:rPr>
              <a:t>备用链路组</a:t>
            </a:r>
          </a:p>
        </p:txBody>
      </p:sp>
      <p:sp>
        <p:nvSpPr>
          <p:cNvPr id="37" name="TextBox 36">
            <a:extLst>
              <a:ext uri="{FF2B5EF4-FFF2-40B4-BE49-F238E27FC236}">
                <a16:creationId xmlns:a16="http://schemas.microsoft.com/office/drawing/2014/main" id="{098A1410-8C9C-45EA-96D9-AF99C25034CC}"/>
              </a:ext>
            </a:extLst>
          </p:cNvPr>
          <p:cNvSpPr txBox="1"/>
          <p:nvPr/>
        </p:nvSpPr>
        <p:spPr bwMode="gray">
          <a:xfrm rot="21420238">
            <a:off x="5579052" y="3978864"/>
            <a:ext cx="829073" cy="276999"/>
          </a:xfrm>
          <a:prstGeom prst="rect">
            <a:avLst/>
          </a:prstGeom>
          <a:solidFill>
            <a:srgbClr val="8BC9A0"/>
          </a:solidFill>
        </p:spPr>
        <p:txBody>
          <a:bodyPr wrap="none" rtlCol="0">
            <a:spAutoFit/>
          </a:bodyPr>
          <a:lstStyle/>
          <a:p>
            <a:pPr fontAlgn="auto"/>
            <a:r>
              <a:rPr lang="zh-CN" altLang="en-US" sz="1200" dirty="0">
                <a:solidFill>
                  <a:schemeClr val="bg1"/>
                </a:solidFill>
                <a:latin typeface="+mn-lt"/>
                <a:ea typeface="方正兰亭黑简体" panose="02000000000000000000" pitchFamily="2" charset="-122"/>
              </a:rPr>
              <a:t>链路探测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38" name="TextBox 37">
            <a:extLst>
              <a:ext uri="{FF2B5EF4-FFF2-40B4-BE49-F238E27FC236}">
                <a16:creationId xmlns:a16="http://schemas.microsoft.com/office/drawing/2014/main" id="{B34CC807-47C2-4EFD-9DB2-EABA92164D2D}"/>
              </a:ext>
            </a:extLst>
          </p:cNvPr>
          <p:cNvSpPr txBox="1"/>
          <p:nvPr/>
        </p:nvSpPr>
        <p:spPr bwMode="gray">
          <a:xfrm rot="296900">
            <a:off x="5809221" y="4354156"/>
            <a:ext cx="829073" cy="276999"/>
          </a:xfrm>
          <a:prstGeom prst="rect">
            <a:avLst/>
          </a:prstGeom>
          <a:solidFill>
            <a:srgbClr val="8BC9A0"/>
          </a:solidFill>
        </p:spPr>
        <p:txBody>
          <a:bodyPr wrap="none" rtlCol="0">
            <a:spAutoFit/>
          </a:bodyPr>
          <a:lstStyle/>
          <a:p>
            <a:pPr fontAlgn="auto"/>
            <a:r>
              <a:rPr lang="zh-CN" altLang="en-US" sz="1200" dirty="0">
                <a:solidFill>
                  <a:schemeClr val="bg1"/>
                </a:solidFill>
                <a:latin typeface="+mn-lt"/>
                <a:ea typeface="方正兰亭黑简体" panose="02000000000000000000" pitchFamily="2" charset="-122"/>
              </a:rPr>
              <a:t>链路探测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
        <p:nvSpPr>
          <p:cNvPr id="40" name="TextBox 39">
            <a:extLst>
              <a:ext uri="{FF2B5EF4-FFF2-40B4-BE49-F238E27FC236}">
                <a16:creationId xmlns:a16="http://schemas.microsoft.com/office/drawing/2014/main" id="{8EF1F239-A695-450B-B9A6-6C2348CBD4B6}"/>
              </a:ext>
            </a:extLst>
          </p:cNvPr>
          <p:cNvSpPr txBox="1"/>
          <p:nvPr/>
        </p:nvSpPr>
        <p:spPr bwMode="gray">
          <a:xfrm rot="543745">
            <a:off x="5554646" y="4772097"/>
            <a:ext cx="829073" cy="276999"/>
          </a:xfrm>
          <a:prstGeom prst="rect">
            <a:avLst/>
          </a:prstGeom>
          <a:solidFill>
            <a:srgbClr val="8BC9A0"/>
          </a:solidFill>
        </p:spPr>
        <p:txBody>
          <a:bodyPr wrap="none" rtlCol="0">
            <a:spAutoFit/>
          </a:bodyPr>
          <a:lstStyle/>
          <a:p>
            <a:pPr fontAlgn="auto"/>
            <a:r>
              <a:rPr lang="zh-CN" altLang="en-US" sz="1200" dirty="0">
                <a:solidFill>
                  <a:schemeClr val="bg1"/>
                </a:solidFill>
                <a:latin typeface="+mn-lt"/>
                <a:ea typeface="方正兰亭黑简体" panose="02000000000000000000" pitchFamily="2" charset="-122"/>
              </a:rPr>
              <a:t>链路探测</a:t>
            </a:r>
            <a:endParaRPr lang="en-US" sz="1200" dirty="0">
              <a:solidFill>
                <a:schemeClr val="bg1"/>
              </a:solidFill>
              <a:latin typeface="方正兰亭黑简体" panose="02000000000000000000" pitchFamily="2" charset="-122"/>
              <a:ea typeface="方正兰亭黑简体" panose="02000000000000000000" pitchFamily="2" charset="-122"/>
            </a:endParaRPr>
          </a:p>
        </p:txBody>
      </p:sp>
    </p:spTree>
    <p:extLst>
      <p:ext uri="{BB962C8B-B14F-4D97-AF65-F5344CB8AC3E}">
        <p14:creationId xmlns:p14="http://schemas.microsoft.com/office/powerpoint/2010/main" val="21892771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7AC05-8AD9-4535-BF7C-7FAF13D42471}"/>
              </a:ext>
            </a:extLst>
          </p:cNvPr>
          <p:cNvSpPr>
            <a:spLocks noGrp="1"/>
          </p:cNvSpPr>
          <p:nvPr>
            <p:ph type="title"/>
          </p:nvPr>
        </p:nvSpPr>
        <p:spPr bwMode="gray"/>
        <p:txBody>
          <a:bodyPr/>
          <a:lstStyle/>
          <a:p>
            <a:r>
              <a:rPr lang="en-US" dirty="0"/>
              <a:t>SPR</a:t>
            </a:r>
            <a:r>
              <a:rPr lang="zh-CN" altLang="en-US" dirty="0"/>
              <a:t>业务选路</a:t>
            </a:r>
            <a:endParaRPr lang="en-US" dirty="0"/>
          </a:p>
        </p:txBody>
      </p:sp>
      <p:sp>
        <p:nvSpPr>
          <p:cNvPr id="3" name="Text Placeholder 2">
            <a:extLst>
              <a:ext uri="{FF2B5EF4-FFF2-40B4-BE49-F238E27FC236}">
                <a16:creationId xmlns:a16="http://schemas.microsoft.com/office/drawing/2014/main" id="{13AE4996-4025-494B-887E-BA4225856203}"/>
              </a:ext>
            </a:extLst>
          </p:cNvPr>
          <p:cNvSpPr>
            <a:spLocks noGrp="1"/>
          </p:cNvSpPr>
          <p:nvPr>
            <p:ph type="body" sz="quarter" idx="10"/>
          </p:nvPr>
        </p:nvSpPr>
        <p:spPr bwMode="gray"/>
        <p:txBody>
          <a:bodyPr/>
          <a:lstStyle/>
          <a:p>
            <a:r>
              <a:rPr lang="en-US" altLang="zh-CN" sz="1800" dirty="0"/>
              <a:t>SPR</a:t>
            </a:r>
            <a:r>
              <a:rPr lang="zh-CN" altLang="en-US" sz="1800" dirty="0"/>
              <a:t>会定期获取</a:t>
            </a:r>
            <a:r>
              <a:rPr lang="en-US" altLang="zh-CN" sz="1800" dirty="0"/>
              <a:t>NQA</a:t>
            </a:r>
            <a:r>
              <a:rPr lang="zh-CN" altLang="en-US" sz="1800" dirty="0"/>
              <a:t>或</a:t>
            </a:r>
            <a:r>
              <a:rPr lang="en-US" altLang="zh-CN" sz="1800" dirty="0"/>
              <a:t>IP FPM</a:t>
            </a:r>
            <a:r>
              <a:rPr lang="zh-CN" altLang="en-US" sz="1800" dirty="0"/>
              <a:t>的探测结果，判断链路是否满足业务需求，如果不满足则触发链路切换。</a:t>
            </a:r>
            <a:endParaRPr lang="en-US" altLang="zh-CN" sz="1800" dirty="0"/>
          </a:p>
          <a:p>
            <a:r>
              <a:rPr lang="en-US" altLang="zh-CN" sz="1800" dirty="0"/>
              <a:t>SPR</a:t>
            </a:r>
            <a:r>
              <a:rPr lang="zh-CN" altLang="en-US" sz="1800" dirty="0"/>
              <a:t>业务选路过程如下：</a:t>
            </a:r>
            <a:endParaRPr lang="en-US" sz="1800" dirty="0"/>
          </a:p>
        </p:txBody>
      </p:sp>
      <p:sp>
        <p:nvSpPr>
          <p:cNvPr id="4" name="圆角矩形 75">
            <a:extLst>
              <a:ext uri="{FF2B5EF4-FFF2-40B4-BE49-F238E27FC236}">
                <a16:creationId xmlns:a16="http://schemas.microsoft.com/office/drawing/2014/main" id="{015F68C0-DC38-49A7-ABAA-24E70C434E67}"/>
              </a:ext>
            </a:extLst>
          </p:cNvPr>
          <p:cNvSpPr/>
          <p:nvPr/>
        </p:nvSpPr>
        <p:spPr bwMode="gray">
          <a:xfrm>
            <a:off x="841643" y="2493164"/>
            <a:ext cx="5003228" cy="370550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p:txBody>
      </p:sp>
      <p:sp>
        <p:nvSpPr>
          <p:cNvPr id="5" name="圆角矩形 75">
            <a:extLst>
              <a:ext uri="{FF2B5EF4-FFF2-40B4-BE49-F238E27FC236}">
                <a16:creationId xmlns:a16="http://schemas.microsoft.com/office/drawing/2014/main" id="{08D64968-998F-4FD0-9B6B-0A15E3F50E93}"/>
              </a:ext>
            </a:extLst>
          </p:cNvPr>
          <p:cNvSpPr/>
          <p:nvPr/>
        </p:nvSpPr>
        <p:spPr bwMode="gray">
          <a:xfrm>
            <a:off x="830085" y="2058208"/>
            <a:ext cx="5016245"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NQA</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探测结果进行业务选路</a:t>
            </a:r>
          </a:p>
        </p:txBody>
      </p:sp>
      <p:sp>
        <p:nvSpPr>
          <p:cNvPr id="6" name="圆角矩形 75">
            <a:extLst>
              <a:ext uri="{FF2B5EF4-FFF2-40B4-BE49-F238E27FC236}">
                <a16:creationId xmlns:a16="http://schemas.microsoft.com/office/drawing/2014/main" id="{EBDE3D34-4DD1-4540-91FB-FF5E1761619D}"/>
              </a:ext>
            </a:extLst>
          </p:cNvPr>
          <p:cNvSpPr/>
          <p:nvPr/>
        </p:nvSpPr>
        <p:spPr bwMode="gray">
          <a:xfrm>
            <a:off x="6407920" y="2493164"/>
            <a:ext cx="5003228" cy="3705504"/>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1972" tIns="35986" rIns="71972" bIns="35986" rtlCol="0" anchor="t" anchorCtr="0">
            <a:noAutofit/>
          </a:bodyPr>
          <a:lstStyle/>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a:p>
            <a:pPr algn="just" defTabSz="914112" fontAlgn="auto">
              <a:lnSpc>
                <a:spcPts val="2599"/>
              </a:lnSpc>
              <a:spcBef>
                <a:spcPts val="0"/>
              </a:spcBef>
              <a:spcAft>
                <a:spcPts val="600"/>
              </a:spcAft>
            </a:pPr>
            <a:endParaRPr lang="en-US" altLang="zh-CN" sz="1399" dirty="0">
              <a:solidFill>
                <a:prstClr val="black"/>
              </a:solidFill>
              <a:latin typeface="方正兰亭黑简体"/>
              <a:sym typeface="Huawei Sans" panose="020C0503030203020204" pitchFamily="34" charset="0"/>
            </a:endParaRPr>
          </a:p>
        </p:txBody>
      </p:sp>
      <p:sp>
        <p:nvSpPr>
          <p:cNvPr id="7" name="圆角矩形 75">
            <a:extLst>
              <a:ext uri="{FF2B5EF4-FFF2-40B4-BE49-F238E27FC236}">
                <a16:creationId xmlns:a16="http://schemas.microsoft.com/office/drawing/2014/main" id="{5543C9CC-95EA-406D-919A-02A6192049E1}"/>
              </a:ext>
            </a:extLst>
          </p:cNvPr>
          <p:cNvSpPr/>
          <p:nvPr/>
        </p:nvSpPr>
        <p:spPr bwMode="gray">
          <a:xfrm>
            <a:off x="6396362" y="2058208"/>
            <a:ext cx="5016245" cy="393866"/>
          </a:xfrm>
          <a:prstGeom prst="roundRect">
            <a:avLst>
              <a:gd name="adj" fmla="val 10604"/>
            </a:avLst>
          </a:prstGeom>
          <a:gradFill>
            <a:gsLst>
              <a:gs pos="0">
                <a:schemeClr val="bg1"/>
              </a:gs>
              <a:gs pos="100000">
                <a:srgbClr val="BEE9EE">
                  <a:alpha val="60000"/>
                </a:srgbClr>
              </a:gs>
            </a:gsLst>
            <a:lin ang="5400000" scaled="1"/>
          </a:gradFill>
          <a:ln w="12700">
            <a:solidFill>
              <a:srgbClr val="BEE9EE"/>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根据</a:t>
            </a:r>
            <a:r>
              <a:rPr lang="en-US" altLang="zh-CN"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IP FPM</a:t>
            </a:r>
            <a:r>
              <a:rPr lang="zh-CN" altLang="en-US" sz="1600" dirty="0">
                <a:solidFill>
                  <a:srgbClr val="30B5C5"/>
                </a:solidFill>
                <a:latin typeface="Huawei Sans" panose="020C0503030203020204" pitchFamily="34" charset="0"/>
                <a:ea typeface="方正兰亭黑简体" panose="02000000000000000000" pitchFamily="2" charset="-122"/>
                <a:sym typeface="Huawei Sans" panose="020C0503030203020204" pitchFamily="34" charset="0"/>
              </a:rPr>
              <a:t>探测结果进行业务选路</a:t>
            </a:r>
          </a:p>
        </p:txBody>
      </p:sp>
      <p:grpSp>
        <p:nvGrpSpPr>
          <p:cNvPr id="59" name="Group 58">
            <a:extLst>
              <a:ext uri="{FF2B5EF4-FFF2-40B4-BE49-F238E27FC236}">
                <a16:creationId xmlns:a16="http://schemas.microsoft.com/office/drawing/2014/main" id="{7FDB384D-2078-45E8-84CB-52C7A8473E52}"/>
              </a:ext>
            </a:extLst>
          </p:cNvPr>
          <p:cNvGrpSpPr/>
          <p:nvPr/>
        </p:nvGrpSpPr>
        <p:grpSpPr bwMode="gray">
          <a:xfrm>
            <a:off x="1357803" y="2594379"/>
            <a:ext cx="4224810" cy="3532281"/>
            <a:chOff x="1367134" y="2669027"/>
            <a:chExt cx="4224810" cy="3532281"/>
          </a:xfrm>
        </p:grpSpPr>
        <p:sp>
          <p:nvSpPr>
            <p:cNvPr id="8" name="Rectangle 7">
              <a:extLst>
                <a:ext uri="{FF2B5EF4-FFF2-40B4-BE49-F238E27FC236}">
                  <a16:creationId xmlns:a16="http://schemas.microsoft.com/office/drawing/2014/main" id="{0F7B2F77-4B94-40C7-AEDF-7CBD0151530F}"/>
                </a:ext>
              </a:extLst>
            </p:cNvPr>
            <p:cNvSpPr/>
            <p:nvPr/>
          </p:nvSpPr>
          <p:spPr bwMode="gray">
            <a:xfrm>
              <a:off x="1451484" y="2669027"/>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读取</a:t>
              </a:r>
              <a:r>
                <a:rPr lang="en-US" altLang="zh-CN" sz="1200" dirty="0">
                  <a:solidFill>
                    <a:schemeClr val="tx1"/>
                  </a:solidFill>
                  <a:latin typeface="Huawei Sans" panose="020C0503030203020204" pitchFamily="34" charset="0"/>
                  <a:ea typeface="方正兰亭黑简体" panose="02000000000000000000" pitchFamily="2" charset="-122"/>
                </a:rPr>
                <a:t>NQA</a:t>
              </a:r>
              <a:r>
                <a:rPr lang="zh-CN" altLang="en-US" sz="1200" dirty="0">
                  <a:solidFill>
                    <a:schemeClr val="tx1"/>
                  </a:solidFill>
                  <a:latin typeface="Huawei Sans" panose="020C0503030203020204" pitchFamily="34" charset="0"/>
                  <a:ea typeface="方正兰亭黑简体" panose="02000000000000000000" pitchFamily="2" charset="-122"/>
                </a:rPr>
                <a:t>探测结果</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9" name="Rectangle 8">
              <a:extLst>
                <a:ext uri="{FF2B5EF4-FFF2-40B4-BE49-F238E27FC236}">
                  <a16:creationId xmlns:a16="http://schemas.microsoft.com/office/drawing/2014/main" id="{8E6FAD89-A1E8-482B-9C98-19D2D904CE52}"/>
                </a:ext>
              </a:extLst>
            </p:cNvPr>
            <p:cNvSpPr/>
            <p:nvPr/>
          </p:nvSpPr>
          <p:spPr bwMode="gray">
            <a:xfrm>
              <a:off x="1371332" y="3267576"/>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是否有链路质量符合业务要求的主用链路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0" name="Rectangle 9">
              <a:extLst>
                <a:ext uri="{FF2B5EF4-FFF2-40B4-BE49-F238E27FC236}">
                  <a16:creationId xmlns:a16="http://schemas.microsoft.com/office/drawing/2014/main" id="{DB565961-7C75-4F43-981B-6F4AA0B4FD4C}"/>
                </a:ext>
              </a:extLst>
            </p:cNvPr>
            <p:cNvSpPr/>
            <p:nvPr/>
          </p:nvSpPr>
          <p:spPr bwMode="gray">
            <a:xfrm>
              <a:off x="1367134" y="3960028"/>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是否有链路质量符合业务要求的备用链路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1" name="Rectangle 10">
              <a:extLst>
                <a:ext uri="{FF2B5EF4-FFF2-40B4-BE49-F238E27FC236}">
                  <a16:creationId xmlns:a16="http://schemas.microsoft.com/office/drawing/2014/main" id="{050DF28B-519D-48D4-8630-D85880042932}"/>
                </a:ext>
              </a:extLst>
            </p:cNvPr>
            <p:cNvSpPr/>
            <p:nvPr/>
          </p:nvSpPr>
          <p:spPr bwMode="gray">
            <a:xfrm>
              <a:off x="1370064" y="4652480"/>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检查主备链路组的</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值是否为</a:t>
              </a:r>
              <a:r>
                <a:rPr lang="en-US" altLang="zh-CN" sz="1200" dirty="0">
                  <a:solidFill>
                    <a:schemeClr val="tx1"/>
                  </a:solidFill>
                  <a:latin typeface="Huawei Sans" panose="020C0503030203020204" pitchFamily="34" charset="0"/>
                  <a:ea typeface="方正兰亭黑简体" panose="02000000000000000000" pitchFamily="2" charset="-122"/>
                </a:rPr>
                <a:t>0</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2" name="Rectangle 11">
              <a:extLst>
                <a:ext uri="{FF2B5EF4-FFF2-40B4-BE49-F238E27FC236}">
                  <a16:creationId xmlns:a16="http://schemas.microsoft.com/office/drawing/2014/main" id="{11352A76-AE90-4055-8678-8A397FD2B771}"/>
                </a:ext>
              </a:extLst>
            </p:cNvPr>
            <p:cNvSpPr/>
            <p:nvPr/>
          </p:nvSpPr>
          <p:spPr bwMode="gray">
            <a:xfrm>
              <a:off x="1368565" y="5344932"/>
              <a:ext cx="1620247" cy="305122"/>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启用逃生链路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3" name="Rectangle 12">
              <a:extLst>
                <a:ext uri="{FF2B5EF4-FFF2-40B4-BE49-F238E27FC236}">
                  <a16:creationId xmlns:a16="http://schemas.microsoft.com/office/drawing/2014/main" id="{899AC518-1F39-454C-BE0A-DBC0271A4DE4}"/>
                </a:ext>
              </a:extLst>
            </p:cNvPr>
            <p:cNvSpPr/>
            <p:nvPr/>
          </p:nvSpPr>
          <p:spPr bwMode="gray">
            <a:xfrm>
              <a:off x="1367134" y="5896186"/>
              <a:ext cx="1620247" cy="305122"/>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结束</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4" name="Rectangle 13">
              <a:extLst>
                <a:ext uri="{FF2B5EF4-FFF2-40B4-BE49-F238E27FC236}">
                  <a16:creationId xmlns:a16="http://schemas.microsoft.com/office/drawing/2014/main" id="{201CB0C4-E057-4EC0-9AE2-C8A8A7C77657}"/>
                </a:ext>
              </a:extLst>
            </p:cNvPr>
            <p:cNvSpPr/>
            <p:nvPr/>
          </p:nvSpPr>
          <p:spPr bwMode="gray">
            <a:xfrm>
              <a:off x="3507739" y="3270712"/>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在主链路中，使用</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最优的链路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5" name="Rectangle 14">
              <a:extLst>
                <a:ext uri="{FF2B5EF4-FFF2-40B4-BE49-F238E27FC236}">
                  <a16:creationId xmlns:a16="http://schemas.microsoft.com/office/drawing/2014/main" id="{D34CF640-6670-4B87-828D-DCDB95F6EF1F}"/>
                </a:ext>
              </a:extLst>
            </p:cNvPr>
            <p:cNvSpPr/>
            <p:nvPr/>
          </p:nvSpPr>
          <p:spPr bwMode="gray">
            <a:xfrm>
              <a:off x="3511936" y="3960028"/>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在备链路中，使用</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最优的链路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16" name="Rectangle 15">
              <a:extLst>
                <a:ext uri="{FF2B5EF4-FFF2-40B4-BE49-F238E27FC236}">
                  <a16:creationId xmlns:a16="http://schemas.microsoft.com/office/drawing/2014/main" id="{A00074B9-1CF7-489C-A6E7-1701529CF472}"/>
                </a:ext>
              </a:extLst>
            </p:cNvPr>
            <p:cNvSpPr/>
            <p:nvPr/>
          </p:nvSpPr>
          <p:spPr bwMode="gray">
            <a:xfrm>
              <a:off x="3509401" y="4648404"/>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在主备链路中，使用</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最优的链路</a:t>
              </a:r>
              <a:endParaRPr lang="en-US" sz="1200" dirty="0">
                <a:solidFill>
                  <a:schemeClr val="tx1"/>
                </a:solidFill>
                <a:latin typeface="Huawei Sans" panose="020C0503030203020204" pitchFamily="34" charset="0"/>
                <a:ea typeface="方正兰亭黑简体" panose="02000000000000000000" pitchFamily="2" charset="-122"/>
              </a:endParaRPr>
            </a:p>
          </p:txBody>
        </p:sp>
        <p:cxnSp>
          <p:nvCxnSpPr>
            <p:cNvPr id="18" name="Straight Arrow Connector 17">
              <a:extLst>
                <a:ext uri="{FF2B5EF4-FFF2-40B4-BE49-F238E27FC236}">
                  <a16:creationId xmlns:a16="http://schemas.microsoft.com/office/drawing/2014/main" id="{16275A9B-16C1-42DF-886C-747957BB12DB}"/>
                </a:ext>
              </a:extLst>
            </p:cNvPr>
            <p:cNvCxnSpPr>
              <a:cxnSpLocks/>
              <a:stCxn id="8" idx="2"/>
              <a:endCxn id="9" idx="0"/>
            </p:cNvCxnSpPr>
            <p:nvPr/>
          </p:nvCxnSpPr>
          <p:spPr bwMode="gray">
            <a:xfrm>
              <a:off x="2181456" y="3021444"/>
              <a:ext cx="0"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B1D863F-0BB6-4A82-948C-5464C32D6830}"/>
                </a:ext>
              </a:extLst>
            </p:cNvPr>
            <p:cNvCxnSpPr>
              <a:cxnSpLocks/>
              <a:stCxn id="9" idx="2"/>
              <a:endCxn id="10" idx="0"/>
            </p:cNvCxnSpPr>
            <p:nvPr/>
          </p:nvCxnSpPr>
          <p:spPr bwMode="gray">
            <a:xfrm flipH="1">
              <a:off x="2177258" y="3713896"/>
              <a:ext cx="4198"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1435709-8B74-4E65-A371-D62CD2CBCE8F}"/>
                </a:ext>
              </a:extLst>
            </p:cNvPr>
            <p:cNvCxnSpPr>
              <a:cxnSpLocks/>
              <a:stCxn id="10" idx="2"/>
              <a:endCxn id="11" idx="0"/>
            </p:cNvCxnSpPr>
            <p:nvPr/>
          </p:nvCxnSpPr>
          <p:spPr bwMode="gray">
            <a:xfrm>
              <a:off x="2177258" y="4406348"/>
              <a:ext cx="2930"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C6989CB-680E-4280-82FC-79D41DFC2E71}"/>
                </a:ext>
              </a:extLst>
            </p:cNvPr>
            <p:cNvCxnSpPr>
              <a:cxnSpLocks/>
              <a:stCxn id="11" idx="2"/>
              <a:endCxn id="12" idx="0"/>
            </p:cNvCxnSpPr>
            <p:nvPr/>
          </p:nvCxnSpPr>
          <p:spPr bwMode="gray">
            <a:xfrm flipH="1">
              <a:off x="2178689" y="5098800"/>
              <a:ext cx="1499"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91DC8F5-C15D-4A22-AE36-EBFAAF902F44}"/>
                </a:ext>
              </a:extLst>
            </p:cNvPr>
            <p:cNvCxnSpPr>
              <a:cxnSpLocks/>
              <a:stCxn id="12" idx="2"/>
              <a:endCxn id="13" idx="0"/>
            </p:cNvCxnSpPr>
            <p:nvPr/>
          </p:nvCxnSpPr>
          <p:spPr bwMode="gray">
            <a:xfrm flipH="1">
              <a:off x="2177258" y="5650054"/>
              <a:ext cx="1431"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6C7866A-0A5F-48A5-A373-DCB95F574E06}"/>
                </a:ext>
              </a:extLst>
            </p:cNvPr>
            <p:cNvCxnSpPr>
              <a:cxnSpLocks/>
              <a:stCxn id="9" idx="3"/>
              <a:endCxn id="14" idx="1"/>
            </p:cNvCxnSpPr>
            <p:nvPr/>
          </p:nvCxnSpPr>
          <p:spPr bwMode="gray">
            <a:xfrm>
              <a:off x="2991579" y="3490736"/>
              <a:ext cx="516160" cy="3136"/>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3CD117B-BC0D-4BD5-9397-F54DED8C4E46}"/>
                </a:ext>
              </a:extLst>
            </p:cNvPr>
            <p:cNvCxnSpPr>
              <a:cxnSpLocks/>
              <a:stCxn id="10" idx="3"/>
              <a:endCxn id="15" idx="1"/>
            </p:cNvCxnSpPr>
            <p:nvPr/>
          </p:nvCxnSpPr>
          <p:spPr bwMode="gray">
            <a:xfrm>
              <a:off x="2987381" y="4183188"/>
              <a:ext cx="524555"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3093983B-A121-4C26-8DA5-783CFD44A726}"/>
                </a:ext>
              </a:extLst>
            </p:cNvPr>
            <p:cNvCxnSpPr>
              <a:cxnSpLocks/>
              <a:stCxn id="11" idx="3"/>
              <a:endCxn id="16" idx="1"/>
            </p:cNvCxnSpPr>
            <p:nvPr/>
          </p:nvCxnSpPr>
          <p:spPr bwMode="gray">
            <a:xfrm flipV="1">
              <a:off x="2990311" y="4871564"/>
              <a:ext cx="519090" cy="4076"/>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18E936A-8B40-4A37-85BE-1A9ED0B39491}"/>
                </a:ext>
              </a:extLst>
            </p:cNvPr>
            <p:cNvCxnSpPr>
              <a:cxnSpLocks/>
              <a:stCxn id="14" idx="3"/>
              <a:endCxn id="13" idx="3"/>
            </p:cNvCxnSpPr>
            <p:nvPr/>
          </p:nvCxnSpPr>
          <p:spPr bwMode="gray">
            <a:xfrm flipH="1">
              <a:off x="2987381" y="3493872"/>
              <a:ext cx="2140605" cy="2554875"/>
            </a:xfrm>
            <a:prstGeom prst="bentConnector3">
              <a:avLst>
                <a:gd name="adj1" fmla="val -22769"/>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33C780B9-0C83-44E7-A380-DAAAF4F1D67A}"/>
                </a:ext>
              </a:extLst>
            </p:cNvPr>
            <p:cNvCxnSpPr>
              <a:cxnSpLocks/>
              <a:stCxn id="15" idx="3"/>
            </p:cNvCxnSpPr>
            <p:nvPr/>
          </p:nvCxnSpPr>
          <p:spPr bwMode="gray">
            <a:xfrm>
              <a:off x="5132183" y="4183188"/>
              <a:ext cx="459761"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A49CE62-1279-49A3-A968-98DCFE2A970E}"/>
                </a:ext>
              </a:extLst>
            </p:cNvPr>
            <p:cNvCxnSpPr>
              <a:cxnSpLocks/>
              <a:stCxn id="16" idx="3"/>
            </p:cNvCxnSpPr>
            <p:nvPr/>
          </p:nvCxnSpPr>
          <p:spPr bwMode="gray">
            <a:xfrm>
              <a:off x="5129648" y="4871564"/>
              <a:ext cx="46229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FAFB1A1B-95B5-47F9-BD01-3A26A55F4D10}"/>
                </a:ext>
              </a:extLst>
            </p:cNvPr>
            <p:cNvSpPr txBox="1"/>
            <p:nvPr/>
          </p:nvSpPr>
          <p:spPr bwMode="gray">
            <a:xfrm>
              <a:off x="3066429" y="3242225"/>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是</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TextBox 53">
              <a:extLst>
                <a:ext uri="{FF2B5EF4-FFF2-40B4-BE49-F238E27FC236}">
                  <a16:creationId xmlns:a16="http://schemas.microsoft.com/office/drawing/2014/main" id="{5EE89E94-AEFF-47F3-AE02-C4E773DE916D}"/>
                </a:ext>
              </a:extLst>
            </p:cNvPr>
            <p:cNvSpPr txBox="1"/>
            <p:nvPr/>
          </p:nvSpPr>
          <p:spPr bwMode="gray">
            <a:xfrm>
              <a:off x="3061135" y="3944089"/>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是</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 name="TextBox 54">
              <a:extLst>
                <a:ext uri="{FF2B5EF4-FFF2-40B4-BE49-F238E27FC236}">
                  <a16:creationId xmlns:a16="http://schemas.microsoft.com/office/drawing/2014/main" id="{EA683423-48CC-4F74-86AF-6C20108A7638}"/>
                </a:ext>
              </a:extLst>
            </p:cNvPr>
            <p:cNvSpPr txBox="1"/>
            <p:nvPr/>
          </p:nvSpPr>
          <p:spPr bwMode="gray">
            <a:xfrm>
              <a:off x="3066429" y="4648404"/>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否</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TextBox 55">
              <a:extLst>
                <a:ext uri="{FF2B5EF4-FFF2-40B4-BE49-F238E27FC236}">
                  <a16:creationId xmlns:a16="http://schemas.microsoft.com/office/drawing/2014/main" id="{55609753-1E12-4BFA-8FD7-8FA2E097F338}"/>
                </a:ext>
              </a:extLst>
            </p:cNvPr>
            <p:cNvSpPr txBox="1"/>
            <p:nvPr/>
          </p:nvSpPr>
          <p:spPr bwMode="gray">
            <a:xfrm>
              <a:off x="1838704" y="3713896"/>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否</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TextBox 56">
              <a:extLst>
                <a:ext uri="{FF2B5EF4-FFF2-40B4-BE49-F238E27FC236}">
                  <a16:creationId xmlns:a16="http://schemas.microsoft.com/office/drawing/2014/main" id="{C5ACB171-3093-4AA4-B496-20AB50440B3F}"/>
                </a:ext>
              </a:extLst>
            </p:cNvPr>
            <p:cNvSpPr txBox="1"/>
            <p:nvPr/>
          </p:nvSpPr>
          <p:spPr bwMode="gray">
            <a:xfrm>
              <a:off x="1838704" y="4410306"/>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否</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TextBox 57">
              <a:extLst>
                <a:ext uri="{FF2B5EF4-FFF2-40B4-BE49-F238E27FC236}">
                  <a16:creationId xmlns:a16="http://schemas.microsoft.com/office/drawing/2014/main" id="{F4EAC12D-6465-4AF5-9C96-C9135EBFBD4E}"/>
                </a:ext>
              </a:extLst>
            </p:cNvPr>
            <p:cNvSpPr txBox="1"/>
            <p:nvPr/>
          </p:nvSpPr>
          <p:spPr bwMode="gray">
            <a:xfrm>
              <a:off x="1838703" y="5088645"/>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是</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grpSp>
        <p:nvGrpSpPr>
          <p:cNvPr id="60" name="Group 59">
            <a:extLst>
              <a:ext uri="{FF2B5EF4-FFF2-40B4-BE49-F238E27FC236}">
                <a16:creationId xmlns:a16="http://schemas.microsoft.com/office/drawing/2014/main" id="{E67913D7-9619-44E1-8FBD-846D3E8CF59C}"/>
              </a:ext>
            </a:extLst>
          </p:cNvPr>
          <p:cNvGrpSpPr/>
          <p:nvPr/>
        </p:nvGrpSpPr>
        <p:grpSpPr bwMode="gray">
          <a:xfrm>
            <a:off x="6869341" y="2770587"/>
            <a:ext cx="4224810" cy="3002127"/>
            <a:chOff x="1367134" y="2669027"/>
            <a:chExt cx="4224810" cy="3002127"/>
          </a:xfrm>
        </p:grpSpPr>
        <p:sp>
          <p:nvSpPr>
            <p:cNvPr id="61" name="Rectangle 60">
              <a:extLst>
                <a:ext uri="{FF2B5EF4-FFF2-40B4-BE49-F238E27FC236}">
                  <a16:creationId xmlns:a16="http://schemas.microsoft.com/office/drawing/2014/main" id="{4747298B-1AE9-4C60-9BEE-45E1F8891DB6}"/>
                </a:ext>
              </a:extLst>
            </p:cNvPr>
            <p:cNvSpPr/>
            <p:nvPr/>
          </p:nvSpPr>
          <p:spPr bwMode="gray">
            <a:xfrm>
              <a:off x="1377294" y="2669027"/>
              <a:ext cx="1609651"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读取</a:t>
              </a:r>
              <a:r>
                <a:rPr lang="en-US" altLang="zh-CN" sz="1200" dirty="0">
                  <a:solidFill>
                    <a:schemeClr val="tx1"/>
                  </a:solidFill>
                  <a:latin typeface="Huawei Sans" panose="020C0503030203020204" pitchFamily="34" charset="0"/>
                  <a:ea typeface="方正兰亭黑简体" panose="02000000000000000000" pitchFamily="2" charset="-122"/>
                </a:rPr>
                <a:t>IP FPM</a:t>
              </a:r>
              <a:r>
                <a:rPr lang="zh-CN" altLang="en-US" sz="1200" dirty="0">
                  <a:solidFill>
                    <a:schemeClr val="tx1"/>
                  </a:solidFill>
                  <a:latin typeface="Huawei Sans" panose="020C0503030203020204" pitchFamily="34" charset="0"/>
                  <a:ea typeface="方正兰亭黑简体" panose="02000000000000000000" pitchFamily="2" charset="-122"/>
                </a:rPr>
                <a:t>探测结果</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2" name="Rectangle 61">
              <a:extLst>
                <a:ext uri="{FF2B5EF4-FFF2-40B4-BE49-F238E27FC236}">
                  <a16:creationId xmlns:a16="http://schemas.microsoft.com/office/drawing/2014/main" id="{396E9D42-03D2-40A8-9C46-F0D1089ABC71}"/>
                </a:ext>
              </a:extLst>
            </p:cNvPr>
            <p:cNvSpPr/>
            <p:nvPr/>
          </p:nvSpPr>
          <p:spPr bwMode="gray">
            <a:xfrm>
              <a:off x="1371332" y="3267576"/>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是否有链路质量符合业务要求的主用链路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3" name="Rectangle 62">
              <a:extLst>
                <a:ext uri="{FF2B5EF4-FFF2-40B4-BE49-F238E27FC236}">
                  <a16:creationId xmlns:a16="http://schemas.microsoft.com/office/drawing/2014/main" id="{7DA1DA2D-B223-49BF-8C0E-A8E5D6F7998E}"/>
                </a:ext>
              </a:extLst>
            </p:cNvPr>
            <p:cNvSpPr/>
            <p:nvPr/>
          </p:nvSpPr>
          <p:spPr bwMode="gray">
            <a:xfrm>
              <a:off x="1367134" y="3960028"/>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是否有链路质量符合业务要求的备用链路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4" name="Rectangle 63">
              <a:extLst>
                <a:ext uri="{FF2B5EF4-FFF2-40B4-BE49-F238E27FC236}">
                  <a16:creationId xmlns:a16="http://schemas.microsoft.com/office/drawing/2014/main" id="{0B629C3C-18A0-4A89-B022-70387FA6D593}"/>
                </a:ext>
              </a:extLst>
            </p:cNvPr>
            <p:cNvSpPr/>
            <p:nvPr/>
          </p:nvSpPr>
          <p:spPr bwMode="gray">
            <a:xfrm>
              <a:off x="1370064" y="4652480"/>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检查主备链路组的</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值是否为</a:t>
              </a:r>
              <a:r>
                <a:rPr lang="en-US" altLang="zh-CN" sz="1200" dirty="0">
                  <a:solidFill>
                    <a:schemeClr val="tx1"/>
                  </a:solidFill>
                  <a:latin typeface="Huawei Sans" panose="020C0503030203020204" pitchFamily="34" charset="0"/>
                  <a:ea typeface="方正兰亭黑简体" panose="02000000000000000000" pitchFamily="2" charset="-122"/>
                </a:rPr>
                <a:t>9000</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6" name="Rectangle 65">
              <a:extLst>
                <a:ext uri="{FF2B5EF4-FFF2-40B4-BE49-F238E27FC236}">
                  <a16:creationId xmlns:a16="http://schemas.microsoft.com/office/drawing/2014/main" id="{4899336B-269C-4791-A5E3-4C5C0F879EBD}"/>
                </a:ext>
              </a:extLst>
            </p:cNvPr>
            <p:cNvSpPr/>
            <p:nvPr/>
          </p:nvSpPr>
          <p:spPr bwMode="gray">
            <a:xfrm>
              <a:off x="1367134" y="5366032"/>
              <a:ext cx="1620247" cy="305122"/>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结束</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7" name="Rectangle 66">
              <a:extLst>
                <a:ext uri="{FF2B5EF4-FFF2-40B4-BE49-F238E27FC236}">
                  <a16:creationId xmlns:a16="http://schemas.microsoft.com/office/drawing/2014/main" id="{AC46D6BF-9F15-4CB9-9891-691ACCA8D457}"/>
                </a:ext>
              </a:extLst>
            </p:cNvPr>
            <p:cNvSpPr/>
            <p:nvPr/>
          </p:nvSpPr>
          <p:spPr bwMode="gray">
            <a:xfrm>
              <a:off x="3507739" y="3270712"/>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在主链路中，使用</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最优的链路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8" name="Rectangle 67">
              <a:extLst>
                <a:ext uri="{FF2B5EF4-FFF2-40B4-BE49-F238E27FC236}">
                  <a16:creationId xmlns:a16="http://schemas.microsoft.com/office/drawing/2014/main" id="{E29CA05A-8813-4E4F-A18A-63BD283561AC}"/>
                </a:ext>
              </a:extLst>
            </p:cNvPr>
            <p:cNvSpPr/>
            <p:nvPr/>
          </p:nvSpPr>
          <p:spPr bwMode="gray">
            <a:xfrm>
              <a:off x="3511936" y="3960028"/>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在备链路中，使用</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最优的链路</a:t>
              </a:r>
              <a:endParaRPr lang="en-US" sz="1200" dirty="0">
                <a:solidFill>
                  <a:schemeClr val="tx1"/>
                </a:solidFill>
                <a:latin typeface="Huawei Sans" panose="020C0503030203020204" pitchFamily="34" charset="0"/>
                <a:ea typeface="方正兰亭黑简体" panose="02000000000000000000" pitchFamily="2" charset="-122"/>
              </a:endParaRPr>
            </a:p>
          </p:txBody>
        </p:sp>
        <p:sp>
          <p:nvSpPr>
            <p:cNvPr id="69" name="Rectangle 68">
              <a:extLst>
                <a:ext uri="{FF2B5EF4-FFF2-40B4-BE49-F238E27FC236}">
                  <a16:creationId xmlns:a16="http://schemas.microsoft.com/office/drawing/2014/main" id="{6D456E2E-A3BD-44C6-AE9B-73615B39EF39}"/>
                </a:ext>
              </a:extLst>
            </p:cNvPr>
            <p:cNvSpPr/>
            <p:nvPr/>
          </p:nvSpPr>
          <p:spPr bwMode="gray">
            <a:xfrm>
              <a:off x="3509401" y="4648404"/>
              <a:ext cx="1620247" cy="446320"/>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200" dirty="0">
                  <a:solidFill>
                    <a:schemeClr val="tx1"/>
                  </a:solidFill>
                  <a:latin typeface="Huawei Sans" panose="020C0503030203020204" pitchFamily="34" charset="0"/>
                  <a:ea typeface="方正兰亭黑简体" panose="02000000000000000000" pitchFamily="2" charset="-122"/>
                </a:rPr>
                <a:t>在主备链路中，使用</a:t>
              </a:r>
              <a:r>
                <a:rPr lang="en-US" altLang="zh-CN" sz="1200" dirty="0">
                  <a:solidFill>
                    <a:schemeClr val="tx1"/>
                  </a:solidFill>
                  <a:latin typeface="Huawei Sans" panose="020C0503030203020204" pitchFamily="34" charset="0"/>
                  <a:ea typeface="方正兰亭黑简体" panose="02000000000000000000" pitchFamily="2" charset="-122"/>
                </a:rPr>
                <a:t>CMI</a:t>
              </a:r>
              <a:r>
                <a:rPr lang="zh-CN" altLang="en-US" sz="1200" dirty="0">
                  <a:solidFill>
                    <a:schemeClr val="tx1"/>
                  </a:solidFill>
                  <a:latin typeface="Huawei Sans" panose="020C0503030203020204" pitchFamily="34" charset="0"/>
                  <a:ea typeface="方正兰亭黑简体" panose="02000000000000000000" pitchFamily="2" charset="-122"/>
                </a:rPr>
                <a:t>最优的链路</a:t>
              </a:r>
              <a:endParaRPr lang="en-US" sz="1200" dirty="0">
                <a:solidFill>
                  <a:schemeClr val="tx1"/>
                </a:solidFill>
                <a:latin typeface="Huawei Sans" panose="020C0503030203020204" pitchFamily="34" charset="0"/>
                <a:ea typeface="方正兰亭黑简体" panose="02000000000000000000" pitchFamily="2" charset="-122"/>
              </a:endParaRPr>
            </a:p>
          </p:txBody>
        </p:sp>
        <p:cxnSp>
          <p:nvCxnSpPr>
            <p:cNvPr id="70" name="Straight Arrow Connector 69">
              <a:extLst>
                <a:ext uri="{FF2B5EF4-FFF2-40B4-BE49-F238E27FC236}">
                  <a16:creationId xmlns:a16="http://schemas.microsoft.com/office/drawing/2014/main" id="{99F31F8F-DF10-466C-A47A-583D6E177D93}"/>
                </a:ext>
              </a:extLst>
            </p:cNvPr>
            <p:cNvCxnSpPr>
              <a:cxnSpLocks/>
              <a:stCxn id="61" idx="2"/>
              <a:endCxn id="62" idx="0"/>
            </p:cNvCxnSpPr>
            <p:nvPr/>
          </p:nvCxnSpPr>
          <p:spPr bwMode="gray">
            <a:xfrm flipH="1">
              <a:off x="2181456" y="3021444"/>
              <a:ext cx="664"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C512A33-F478-422B-B2FC-19FE35476D38}"/>
                </a:ext>
              </a:extLst>
            </p:cNvPr>
            <p:cNvCxnSpPr>
              <a:cxnSpLocks/>
              <a:stCxn id="62" idx="2"/>
              <a:endCxn id="63" idx="0"/>
            </p:cNvCxnSpPr>
            <p:nvPr/>
          </p:nvCxnSpPr>
          <p:spPr bwMode="gray">
            <a:xfrm flipH="1">
              <a:off x="2177258" y="3713896"/>
              <a:ext cx="4198"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22C99870-7DEF-4A9C-85C6-5E19339DF9A6}"/>
                </a:ext>
              </a:extLst>
            </p:cNvPr>
            <p:cNvCxnSpPr>
              <a:cxnSpLocks/>
              <a:stCxn id="63" idx="2"/>
              <a:endCxn id="64" idx="0"/>
            </p:cNvCxnSpPr>
            <p:nvPr/>
          </p:nvCxnSpPr>
          <p:spPr bwMode="gray">
            <a:xfrm>
              <a:off x="2177258" y="4406348"/>
              <a:ext cx="2930" cy="2461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FA1E4287-7718-48F9-9C61-7AA6A6756CCB}"/>
                </a:ext>
              </a:extLst>
            </p:cNvPr>
            <p:cNvCxnSpPr>
              <a:cxnSpLocks/>
              <a:stCxn id="64" idx="2"/>
              <a:endCxn id="66" idx="0"/>
            </p:cNvCxnSpPr>
            <p:nvPr/>
          </p:nvCxnSpPr>
          <p:spPr bwMode="gray">
            <a:xfrm flipH="1">
              <a:off x="2177258" y="5098800"/>
              <a:ext cx="2930" cy="267232"/>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0A15E58A-246A-4791-A9B5-47F6578F30AB}"/>
                </a:ext>
              </a:extLst>
            </p:cNvPr>
            <p:cNvCxnSpPr>
              <a:cxnSpLocks/>
              <a:stCxn id="62" idx="3"/>
              <a:endCxn id="67" idx="1"/>
            </p:cNvCxnSpPr>
            <p:nvPr/>
          </p:nvCxnSpPr>
          <p:spPr bwMode="gray">
            <a:xfrm>
              <a:off x="2991579" y="3490736"/>
              <a:ext cx="516160" cy="3136"/>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220C849-A210-4734-8084-BC558639E3C5}"/>
                </a:ext>
              </a:extLst>
            </p:cNvPr>
            <p:cNvCxnSpPr>
              <a:cxnSpLocks/>
              <a:stCxn id="63" idx="3"/>
              <a:endCxn id="68" idx="1"/>
            </p:cNvCxnSpPr>
            <p:nvPr/>
          </p:nvCxnSpPr>
          <p:spPr bwMode="gray">
            <a:xfrm>
              <a:off x="2987381" y="4183188"/>
              <a:ext cx="524555"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DA811860-6396-4D6F-8028-24CE99D0B7F2}"/>
                </a:ext>
              </a:extLst>
            </p:cNvPr>
            <p:cNvCxnSpPr>
              <a:cxnSpLocks/>
              <a:stCxn id="64" idx="3"/>
              <a:endCxn id="69" idx="1"/>
            </p:cNvCxnSpPr>
            <p:nvPr/>
          </p:nvCxnSpPr>
          <p:spPr bwMode="gray">
            <a:xfrm flipV="1">
              <a:off x="2990311" y="4871564"/>
              <a:ext cx="519090" cy="4076"/>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E0AED420-2104-48AB-A6DA-C7F60A0F93D4}"/>
                </a:ext>
              </a:extLst>
            </p:cNvPr>
            <p:cNvCxnSpPr>
              <a:cxnSpLocks/>
              <a:stCxn id="67" idx="3"/>
              <a:endCxn id="66" idx="3"/>
            </p:cNvCxnSpPr>
            <p:nvPr/>
          </p:nvCxnSpPr>
          <p:spPr bwMode="gray">
            <a:xfrm flipH="1">
              <a:off x="2987381" y="3493872"/>
              <a:ext cx="2140605" cy="2024721"/>
            </a:xfrm>
            <a:prstGeom prst="bentConnector3">
              <a:avLst>
                <a:gd name="adj1" fmla="val -22769"/>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FDEBDF55-A644-4722-BB49-8A48401D2C84}"/>
                </a:ext>
              </a:extLst>
            </p:cNvPr>
            <p:cNvCxnSpPr>
              <a:cxnSpLocks/>
              <a:stCxn id="68" idx="3"/>
            </p:cNvCxnSpPr>
            <p:nvPr/>
          </p:nvCxnSpPr>
          <p:spPr bwMode="gray">
            <a:xfrm>
              <a:off x="5132183" y="4183188"/>
              <a:ext cx="459761"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580AC005-B67D-4564-9679-13F88E00130B}"/>
                </a:ext>
              </a:extLst>
            </p:cNvPr>
            <p:cNvCxnSpPr>
              <a:cxnSpLocks/>
              <a:stCxn id="69" idx="3"/>
            </p:cNvCxnSpPr>
            <p:nvPr/>
          </p:nvCxnSpPr>
          <p:spPr bwMode="gray">
            <a:xfrm>
              <a:off x="5129648" y="4871564"/>
              <a:ext cx="462296" cy="0"/>
            </a:xfrm>
            <a:prstGeom prst="straightConnector1">
              <a:avLst/>
            </a:prstGeom>
            <a:ln w="28575">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001C3DBA-AACB-48B2-8963-E2FFDC17407A}"/>
                </a:ext>
              </a:extLst>
            </p:cNvPr>
            <p:cNvSpPr txBox="1"/>
            <p:nvPr/>
          </p:nvSpPr>
          <p:spPr bwMode="gray">
            <a:xfrm>
              <a:off x="3066429" y="3242225"/>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是</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2" name="TextBox 81">
              <a:extLst>
                <a:ext uri="{FF2B5EF4-FFF2-40B4-BE49-F238E27FC236}">
                  <a16:creationId xmlns:a16="http://schemas.microsoft.com/office/drawing/2014/main" id="{D93E1BE9-93DE-4D76-A467-069B33F7F978}"/>
                </a:ext>
              </a:extLst>
            </p:cNvPr>
            <p:cNvSpPr txBox="1"/>
            <p:nvPr/>
          </p:nvSpPr>
          <p:spPr bwMode="gray">
            <a:xfrm>
              <a:off x="3061135" y="3944089"/>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是</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3" name="TextBox 82">
              <a:extLst>
                <a:ext uri="{FF2B5EF4-FFF2-40B4-BE49-F238E27FC236}">
                  <a16:creationId xmlns:a16="http://schemas.microsoft.com/office/drawing/2014/main" id="{AC01C341-5D31-4314-B21D-BEC02C12BB6F}"/>
                </a:ext>
              </a:extLst>
            </p:cNvPr>
            <p:cNvSpPr txBox="1"/>
            <p:nvPr/>
          </p:nvSpPr>
          <p:spPr bwMode="gray">
            <a:xfrm>
              <a:off x="3066429" y="4648404"/>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否</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TextBox 83">
              <a:extLst>
                <a:ext uri="{FF2B5EF4-FFF2-40B4-BE49-F238E27FC236}">
                  <a16:creationId xmlns:a16="http://schemas.microsoft.com/office/drawing/2014/main" id="{780EFD5C-87E0-47C8-90ED-773C56424721}"/>
                </a:ext>
              </a:extLst>
            </p:cNvPr>
            <p:cNvSpPr txBox="1"/>
            <p:nvPr/>
          </p:nvSpPr>
          <p:spPr bwMode="gray">
            <a:xfrm>
              <a:off x="1838704" y="3713896"/>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否</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TextBox 84">
              <a:extLst>
                <a:ext uri="{FF2B5EF4-FFF2-40B4-BE49-F238E27FC236}">
                  <a16:creationId xmlns:a16="http://schemas.microsoft.com/office/drawing/2014/main" id="{7DC672DF-65CD-4450-9E8C-EA54EDDC2E60}"/>
                </a:ext>
              </a:extLst>
            </p:cNvPr>
            <p:cNvSpPr txBox="1"/>
            <p:nvPr/>
          </p:nvSpPr>
          <p:spPr bwMode="gray">
            <a:xfrm>
              <a:off x="1838704" y="4410306"/>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否</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TextBox 85">
              <a:extLst>
                <a:ext uri="{FF2B5EF4-FFF2-40B4-BE49-F238E27FC236}">
                  <a16:creationId xmlns:a16="http://schemas.microsoft.com/office/drawing/2014/main" id="{19014C9A-BA9A-48F6-8A33-1D8F780ABDC9}"/>
                </a:ext>
              </a:extLst>
            </p:cNvPr>
            <p:cNvSpPr txBox="1"/>
            <p:nvPr/>
          </p:nvSpPr>
          <p:spPr bwMode="gray">
            <a:xfrm>
              <a:off x="1838703" y="5088645"/>
              <a:ext cx="338554" cy="276999"/>
            </a:xfrm>
            <a:prstGeom prst="rect">
              <a:avLst/>
            </a:prstGeom>
            <a:noFill/>
            <a:ln>
              <a:noFill/>
            </a:ln>
          </p:spPr>
          <p:txBody>
            <a:bodyPr wrap="none" rtlCol="0">
              <a:spAutoFit/>
            </a:bodyPr>
            <a:lstStyle/>
            <a:p>
              <a:pPr fontAlgn="auto"/>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是</a:t>
              </a:r>
              <a:endParaRPr 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33995901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97B37-59D9-4F40-AC18-F563869571CC}"/>
              </a:ext>
            </a:extLst>
          </p:cNvPr>
          <p:cNvSpPr>
            <a:spLocks noGrp="1"/>
          </p:cNvSpPr>
          <p:nvPr>
            <p:ph type="title"/>
          </p:nvPr>
        </p:nvSpPr>
        <p:spPr bwMode="gray"/>
        <p:txBody>
          <a:bodyPr/>
          <a:lstStyle/>
          <a:p>
            <a:r>
              <a:rPr lang="zh-CN" altLang="en-US" dirty="0"/>
              <a:t>使用</a:t>
            </a:r>
            <a:r>
              <a:rPr lang="en-US" altLang="zh-CN" dirty="0" err="1"/>
              <a:t>iMaster</a:t>
            </a:r>
            <a:r>
              <a:rPr lang="en-US" altLang="zh-CN" dirty="0"/>
              <a:t> NCE</a:t>
            </a:r>
            <a:r>
              <a:rPr lang="zh-CN" altLang="en-US" dirty="0"/>
              <a:t>实现</a:t>
            </a:r>
            <a:r>
              <a:rPr lang="en-US" altLang="zh-CN" dirty="0"/>
              <a:t>SPR</a:t>
            </a:r>
            <a:endParaRPr lang="en-US" dirty="0"/>
          </a:p>
        </p:txBody>
      </p:sp>
      <p:sp>
        <p:nvSpPr>
          <p:cNvPr id="3" name="Text Placeholder 2">
            <a:extLst>
              <a:ext uri="{FF2B5EF4-FFF2-40B4-BE49-F238E27FC236}">
                <a16:creationId xmlns:a16="http://schemas.microsoft.com/office/drawing/2014/main" id="{EA359CB5-B775-43F1-869D-AB7F5C2F817B}"/>
              </a:ext>
            </a:extLst>
          </p:cNvPr>
          <p:cNvSpPr>
            <a:spLocks noGrp="1"/>
          </p:cNvSpPr>
          <p:nvPr>
            <p:ph type="body" sz="quarter" idx="10"/>
          </p:nvPr>
        </p:nvSpPr>
        <p:spPr bwMode="gray"/>
        <p:txBody>
          <a:bodyPr/>
          <a:lstStyle/>
          <a:p>
            <a:r>
              <a:rPr lang="zh-CN" altLang="en-US" sz="1800" dirty="0"/>
              <a:t>使用</a:t>
            </a:r>
            <a:r>
              <a:rPr lang="en-US" altLang="zh-CN" sz="1800" dirty="0"/>
              <a:t>NCE</a:t>
            </a:r>
            <a:r>
              <a:rPr lang="zh-CN" altLang="en-US" sz="1800" dirty="0"/>
              <a:t>部署</a:t>
            </a:r>
            <a:r>
              <a:rPr lang="en-US" altLang="zh-CN" sz="1800" dirty="0"/>
              <a:t>SPR</a:t>
            </a:r>
            <a:r>
              <a:rPr lang="zh-CN" altLang="en-US" sz="1800" dirty="0"/>
              <a:t>时，提高全网站点规格，采用站点与应用策略分离及流量触发选路相结合的方式。</a:t>
            </a:r>
            <a:endParaRPr lang="en-US" altLang="zh-CN" sz="1800" dirty="0"/>
          </a:p>
          <a:p>
            <a:r>
              <a:rPr lang="en-US" sz="1800" dirty="0"/>
              <a:t>NCE</a:t>
            </a:r>
            <a:r>
              <a:rPr lang="zh-CN" altLang="en-US" sz="1800" dirty="0"/>
              <a:t>仅维护站点邻接信息和应用策略，</a:t>
            </a:r>
            <a:r>
              <a:rPr lang="en-US" altLang="zh-CN" sz="1800" dirty="0"/>
              <a:t>SPR</a:t>
            </a:r>
            <a:r>
              <a:rPr lang="zh-CN" altLang="en-US" sz="1800" dirty="0"/>
              <a:t>配置由路由器创建。使用流量触发选路，按需生成</a:t>
            </a:r>
            <a:r>
              <a:rPr lang="en-US" altLang="zh-CN" sz="1800" dirty="0"/>
              <a:t>SPR</a:t>
            </a:r>
            <a:r>
              <a:rPr lang="zh-CN" altLang="en-US" sz="1800" dirty="0"/>
              <a:t>配置，避免设备创建大量配置，同时减少探测选路（基于</a:t>
            </a:r>
            <a:r>
              <a:rPr lang="en-US" altLang="zh-CN" sz="1800" dirty="0"/>
              <a:t>IP FPM</a:t>
            </a:r>
            <a:r>
              <a:rPr lang="zh-CN" altLang="en-US" sz="1800" dirty="0"/>
              <a:t>）对设备</a:t>
            </a:r>
            <a:r>
              <a:rPr lang="en-US" altLang="zh-CN" sz="1800" dirty="0"/>
              <a:t>CPU</a:t>
            </a:r>
            <a:r>
              <a:rPr lang="zh-CN" altLang="en-US" sz="1800" dirty="0"/>
              <a:t>造成的冲击，有效减轻设备的负担。</a:t>
            </a:r>
            <a:endParaRPr lang="en-US" altLang="zh-CN" sz="1800" dirty="0"/>
          </a:p>
          <a:p>
            <a:r>
              <a:rPr lang="en-US" altLang="zh-CN" sz="1800" dirty="0"/>
              <a:t>NCE</a:t>
            </a:r>
            <a:r>
              <a:rPr lang="zh-CN" altLang="en-US" sz="1800" dirty="0"/>
              <a:t>可通过</a:t>
            </a:r>
            <a:r>
              <a:rPr lang="en-US" altLang="zh-CN" sz="1800" dirty="0"/>
              <a:t>SAC</a:t>
            </a:r>
            <a:r>
              <a:rPr lang="zh-CN" altLang="en-US" sz="1800" dirty="0"/>
              <a:t>，基于应用分类业务流量。</a:t>
            </a:r>
            <a:endParaRPr lang="en-US" altLang="zh-CN" sz="1800" dirty="0"/>
          </a:p>
        </p:txBody>
      </p:sp>
      <p:grpSp>
        <p:nvGrpSpPr>
          <p:cNvPr id="40" name="Group 39">
            <a:extLst>
              <a:ext uri="{FF2B5EF4-FFF2-40B4-BE49-F238E27FC236}">
                <a16:creationId xmlns:a16="http://schemas.microsoft.com/office/drawing/2014/main" id="{B57D4070-E5F8-4244-A48C-692BAB46B2DD}"/>
              </a:ext>
            </a:extLst>
          </p:cNvPr>
          <p:cNvGrpSpPr/>
          <p:nvPr/>
        </p:nvGrpSpPr>
        <p:grpSpPr bwMode="gray">
          <a:xfrm>
            <a:off x="911424" y="3238149"/>
            <a:ext cx="10416214" cy="2379599"/>
            <a:chOff x="911424" y="3716338"/>
            <a:chExt cx="10416214" cy="2379599"/>
          </a:xfrm>
        </p:grpSpPr>
        <p:sp>
          <p:nvSpPr>
            <p:cNvPr id="4" name="Rectangle 3">
              <a:extLst>
                <a:ext uri="{FF2B5EF4-FFF2-40B4-BE49-F238E27FC236}">
                  <a16:creationId xmlns:a16="http://schemas.microsoft.com/office/drawing/2014/main" id="{8DBFA7AC-1231-4CD7-92F8-7890E5460281}"/>
                </a:ext>
              </a:extLst>
            </p:cNvPr>
            <p:cNvSpPr/>
            <p:nvPr/>
          </p:nvSpPr>
          <p:spPr bwMode="gray">
            <a:xfrm>
              <a:off x="3879972" y="3969060"/>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站点邻接列表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5" name="Rectangle 4">
              <a:extLst>
                <a:ext uri="{FF2B5EF4-FFF2-40B4-BE49-F238E27FC236}">
                  <a16:creationId xmlns:a16="http://schemas.microsoft.com/office/drawing/2014/main" id="{1F883F1A-EBA7-48BE-99B2-28249F14192E}"/>
                </a:ext>
              </a:extLst>
            </p:cNvPr>
            <p:cNvSpPr/>
            <p:nvPr/>
          </p:nvSpPr>
          <p:spPr bwMode="gray">
            <a:xfrm>
              <a:off x="3879972" y="5476618"/>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应用策略表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6" name="Rectangle 5">
              <a:extLst>
                <a:ext uri="{FF2B5EF4-FFF2-40B4-BE49-F238E27FC236}">
                  <a16:creationId xmlns:a16="http://schemas.microsoft.com/office/drawing/2014/main" id="{61BD2975-1C22-466B-A8C2-8C3216325992}"/>
                </a:ext>
              </a:extLst>
            </p:cNvPr>
            <p:cNvSpPr/>
            <p:nvPr/>
          </p:nvSpPr>
          <p:spPr bwMode="gray">
            <a:xfrm>
              <a:off x="5843972" y="4720534"/>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站点策略表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7" name="Rectangle 6">
              <a:extLst>
                <a:ext uri="{FF2B5EF4-FFF2-40B4-BE49-F238E27FC236}">
                  <a16:creationId xmlns:a16="http://schemas.microsoft.com/office/drawing/2014/main" id="{538E8616-7781-4B06-9ACA-86D57076432F}"/>
                </a:ext>
              </a:extLst>
            </p:cNvPr>
            <p:cNvSpPr/>
            <p:nvPr/>
          </p:nvSpPr>
          <p:spPr bwMode="gray">
            <a:xfrm>
              <a:off x="7752184" y="4720534"/>
              <a:ext cx="152735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触发</a:t>
              </a:r>
              <a:r>
                <a:rPr lang="en-US" altLang="zh-CN" sz="1400" dirty="0">
                  <a:solidFill>
                    <a:schemeClr val="tx1"/>
                  </a:solidFill>
                  <a:latin typeface="Huawei Sans" panose="020C0503030203020204" pitchFamily="34" charset="0"/>
                  <a:ea typeface="方正兰亭黑简体" panose="02000000000000000000" pitchFamily="2" charset="-122"/>
                </a:rPr>
                <a:t>IP FPM</a:t>
              </a:r>
              <a:r>
                <a:rPr lang="zh-CN" altLang="en-US" sz="1400" dirty="0">
                  <a:solidFill>
                    <a:schemeClr val="tx1"/>
                  </a:solidFill>
                  <a:latin typeface="Huawei Sans" panose="020C0503030203020204" pitchFamily="34" charset="0"/>
                  <a:ea typeface="方正兰亭黑简体" panose="02000000000000000000" pitchFamily="2" charset="-122"/>
                </a:rPr>
                <a:t>选路</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8" name="Rectangle 7">
              <a:extLst>
                <a:ext uri="{FF2B5EF4-FFF2-40B4-BE49-F238E27FC236}">
                  <a16:creationId xmlns:a16="http://schemas.microsoft.com/office/drawing/2014/main" id="{303CA3CC-9733-48BD-BFDF-2BCE55E446E3}"/>
                </a:ext>
              </a:extLst>
            </p:cNvPr>
            <p:cNvSpPr/>
            <p:nvPr/>
          </p:nvSpPr>
          <p:spPr bwMode="gray">
            <a:xfrm>
              <a:off x="9696400" y="4720533"/>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dirty="0">
                  <a:solidFill>
                    <a:schemeClr val="tx1"/>
                  </a:solidFill>
                  <a:latin typeface="Huawei Sans" panose="020C0503030203020204" pitchFamily="34" charset="0"/>
                  <a:ea typeface="方正兰亭黑简体" panose="02000000000000000000" pitchFamily="2" charset="-122"/>
                </a:rPr>
                <a:t>IP FPM</a:t>
              </a:r>
              <a:r>
                <a:rPr lang="zh-CN" altLang="en-US" sz="1400" dirty="0">
                  <a:solidFill>
                    <a:schemeClr val="tx1"/>
                  </a:solidFill>
                  <a:latin typeface="Huawei Sans" panose="020C0503030203020204" pitchFamily="34" charset="0"/>
                  <a:ea typeface="方正兰亭黑简体" panose="02000000000000000000" pitchFamily="2" charset="-122"/>
                </a:rPr>
                <a:t>选路</a:t>
              </a:r>
              <a:endParaRPr lang="en-US" sz="1400" dirty="0">
                <a:solidFill>
                  <a:schemeClr val="tx1"/>
                </a:solidFill>
                <a:latin typeface="Huawei Sans" panose="020C0503030203020204" pitchFamily="34" charset="0"/>
                <a:ea typeface="方正兰亭黑简体" panose="02000000000000000000" pitchFamily="2" charset="-122"/>
              </a:endParaRPr>
            </a:p>
          </p:txBody>
        </p:sp>
        <p:cxnSp>
          <p:nvCxnSpPr>
            <p:cNvPr id="10" name="Straight Arrow Connector 9">
              <a:extLst>
                <a:ext uri="{FF2B5EF4-FFF2-40B4-BE49-F238E27FC236}">
                  <a16:creationId xmlns:a16="http://schemas.microsoft.com/office/drawing/2014/main" id="{9F7A863D-9D34-4B30-A4A9-E7392A104A6C}"/>
                </a:ext>
              </a:extLst>
            </p:cNvPr>
            <p:cNvCxnSpPr>
              <a:cxnSpLocks/>
              <a:stCxn id="4" idx="2"/>
            </p:cNvCxnSpPr>
            <p:nvPr/>
          </p:nvCxnSpPr>
          <p:spPr bwMode="gray">
            <a:xfrm>
              <a:off x="4609944" y="4321477"/>
              <a:ext cx="1234028" cy="475675"/>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FF38077-1688-4A5E-A7EA-61DBE423F508}"/>
                </a:ext>
              </a:extLst>
            </p:cNvPr>
            <p:cNvCxnSpPr>
              <a:cxnSpLocks/>
              <a:stCxn id="5" idx="0"/>
            </p:cNvCxnSpPr>
            <p:nvPr/>
          </p:nvCxnSpPr>
          <p:spPr bwMode="gray">
            <a:xfrm flipV="1">
              <a:off x="4609944" y="5006533"/>
              <a:ext cx="1234028" cy="470085"/>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77027E0-7045-45C0-9DEA-7737CF4E91A2}"/>
                </a:ext>
              </a:extLst>
            </p:cNvPr>
            <p:cNvCxnSpPr>
              <a:cxnSpLocks/>
              <a:stCxn id="6" idx="3"/>
              <a:endCxn id="7" idx="1"/>
            </p:cNvCxnSpPr>
            <p:nvPr/>
          </p:nvCxnSpPr>
          <p:spPr bwMode="gray">
            <a:xfrm>
              <a:off x="7303916" y="4896743"/>
              <a:ext cx="448268"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4649632-5CF2-46C0-B7E8-E0B99D6625B6}"/>
                </a:ext>
              </a:extLst>
            </p:cNvPr>
            <p:cNvCxnSpPr>
              <a:cxnSpLocks/>
              <a:stCxn id="7" idx="3"/>
              <a:endCxn id="8" idx="1"/>
            </p:cNvCxnSpPr>
            <p:nvPr/>
          </p:nvCxnSpPr>
          <p:spPr bwMode="gray">
            <a:xfrm flipV="1">
              <a:off x="9279538" y="4896742"/>
              <a:ext cx="416862" cy="1"/>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59FBA14-9CAF-4199-A3DD-4B5FE45035DE}"/>
                </a:ext>
              </a:extLst>
            </p:cNvPr>
            <p:cNvSpPr txBox="1"/>
            <p:nvPr/>
          </p:nvSpPr>
          <p:spPr bwMode="gray">
            <a:xfrm>
              <a:off x="4888510" y="4742852"/>
              <a:ext cx="902811" cy="307777"/>
            </a:xfrm>
            <a:prstGeom prst="rect">
              <a:avLst/>
            </a:prstGeom>
            <a:noFill/>
            <a:ln>
              <a:noFill/>
            </a:ln>
          </p:spPr>
          <p:txBody>
            <a:bodyPr wrap="none" rtlCol="0">
              <a:spAutoFit/>
            </a:bodyPr>
            <a:lstStyle/>
            <a:p>
              <a:pPr fontAlgn="auto"/>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动态生成</a:t>
              </a:r>
              <a:endParaRPr 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8" name="Rectangle 27">
              <a:extLst>
                <a:ext uri="{FF2B5EF4-FFF2-40B4-BE49-F238E27FC236}">
                  <a16:creationId xmlns:a16="http://schemas.microsoft.com/office/drawing/2014/main" id="{EF67468F-8902-4051-86D3-4C8CA7A08826}"/>
                </a:ext>
              </a:extLst>
            </p:cNvPr>
            <p:cNvSpPr/>
            <p:nvPr/>
          </p:nvSpPr>
          <p:spPr bwMode="gray">
            <a:xfrm>
              <a:off x="1246151" y="3967522"/>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站点邻接列表</a:t>
              </a:r>
              <a:endParaRPr lang="en-US" sz="1400" dirty="0">
                <a:solidFill>
                  <a:schemeClr val="tx1"/>
                </a:solidFill>
                <a:latin typeface="Huawei Sans" panose="020C0503030203020204" pitchFamily="34" charset="0"/>
                <a:ea typeface="方正兰亭黑简体" panose="02000000000000000000" pitchFamily="2" charset="-122"/>
              </a:endParaRPr>
            </a:p>
          </p:txBody>
        </p:sp>
        <p:sp>
          <p:nvSpPr>
            <p:cNvPr id="29" name="Rectangle 28">
              <a:extLst>
                <a:ext uri="{FF2B5EF4-FFF2-40B4-BE49-F238E27FC236}">
                  <a16:creationId xmlns:a16="http://schemas.microsoft.com/office/drawing/2014/main" id="{266B0D14-3D0E-4737-966A-323BC6DBA4A8}"/>
                </a:ext>
              </a:extLst>
            </p:cNvPr>
            <p:cNvSpPr/>
            <p:nvPr/>
          </p:nvSpPr>
          <p:spPr bwMode="gray">
            <a:xfrm>
              <a:off x="1246151" y="5475080"/>
              <a:ext cx="1459944" cy="352417"/>
            </a:xfrm>
            <a:prstGeom prst="rect">
              <a:avLst/>
            </a:prstGeom>
            <a:solidFill>
              <a:srgbClr val="BEE9EE"/>
            </a:solidFill>
            <a:ln>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1400" dirty="0">
                  <a:solidFill>
                    <a:schemeClr val="tx1"/>
                  </a:solidFill>
                  <a:latin typeface="Huawei Sans" panose="020C0503030203020204" pitchFamily="34" charset="0"/>
                  <a:ea typeface="方正兰亭黑简体" panose="02000000000000000000" pitchFamily="2" charset="-122"/>
                </a:rPr>
                <a:t>应用策略表</a:t>
              </a:r>
              <a:endParaRPr lang="en-US" sz="1400" dirty="0">
                <a:solidFill>
                  <a:schemeClr val="tx1"/>
                </a:solidFill>
                <a:latin typeface="Huawei Sans" panose="020C0503030203020204" pitchFamily="34" charset="0"/>
                <a:ea typeface="方正兰亭黑简体" panose="02000000000000000000" pitchFamily="2" charset="-122"/>
              </a:endParaRPr>
            </a:p>
          </p:txBody>
        </p:sp>
        <p:cxnSp>
          <p:nvCxnSpPr>
            <p:cNvPr id="30" name="Straight Arrow Connector 29">
              <a:extLst>
                <a:ext uri="{FF2B5EF4-FFF2-40B4-BE49-F238E27FC236}">
                  <a16:creationId xmlns:a16="http://schemas.microsoft.com/office/drawing/2014/main" id="{4BCCB70F-CFE4-49E0-86D9-A6D1687B1A01}"/>
                </a:ext>
              </a:extLst>
            </p:cNvPr>
            <p:cNvCxnSpPr>
              <a:cxnSpLocks/>
              <a:stCxn id="28" idx="3"/>
              <a:endCxn id="4" idx="1"/>
            </p:cNvCxnSpPr>
            <p:nvPr/>
          </p:nvCxnSpPr>
          <p:spPr bwMode="gray">
            <a:xfrm>
              <a:off x="2706095" y="4143731"/>
              <a:ext cx="1173877" cy="1538"/>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57810B82-8F83-4FA8-8FC2-DBBB9F071CDF}"/>
                </a:ext>
              </a:extLst>
            </p:cNvPr>
            <p:cNvCxnSpPr>
              <a:cxnSpLocks/>
              <a:stCxn id="29" idx="3"/>
              <a:endCxn id="5" idx="1"/>
            </p:cNvCxnSpPr>
            <p:nvPr/>
          </p:nvCxnSpPr>
          <p:spPr bwMode="gray">
            <a:xfrm>
              <a:off x="2706095" y="5651289"/>
              <a:ext cx="1173877" cy="1538"/>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3ABB4152-A888-4E1F-9CC7-E1F6407FBE16}"/>
                </a:ext>
              </a:extLst>
            </p:cNvPr>
            <p:cNvSpPr/>
            <p:nvPr/>
          </p:nvSpPr>
          <p:spPr bwMode="gray">
            <a:xfrm>
              <a:off x="911424" y="3716338"/>
              <a:ext cx="2088232" cy="2379438"/>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en-US" altLang="zh-CN" sz="1400" b="1" dirty="0" err="1">
                  <a:solidFill>
                    <a:schemeClr val="tx1"/>
                  </a:solidFill>
                </a:rPr>
                <a:t>iMaster</a:t>
              </a:r>
              <a:r>
                <a:rPr lang="en-US" altLang="zh-CN" sz="1400" b="1" dirty="0">
                  <a:solidFill>
                    <a:schemeClr val="tx1"/>
                  </a:solidFill>
                </a:rPr>
                <a:t> NCE</a:t>
              </a:r>
              <a:endParaRPr lang="en-US" sz="1400" b="1" dirty="0">
                <a:solidFill>
                  <a:schemeClr val="tx1"/>
                </a:solidFill>
              </a:endParaRPr>
            </a:p>
          </p:txBody>
        </p:sp>
        <p:sp>
          <p:nvSpPr>
            <p:cNvPr id="37" name="Rectangle 36">
              <a:extLst>
                <a:ext uri="{FF2B5EF4-FFF2-40B4-BE49-F238E27FC236}">
                  <a16:creationId xmlns:a16="http://schemas.microsoft.com/office/drawing/2014/main" id="{309FED61-DBC8-4C54-AC93-E0C1ED6E0CFE}"/>
                </a:ext>
              </a:extLst>
            </p:cNvPr>
            <p:cNvSpPr/>
            <p:nvPr/>
          </p:nvSpPr>
          <p:spPr bwMode="gray">
            <a:xfrm>
              <a:off x="3665729" y="3716499"/>
              <a:ext cx="7661909" cy="2379438"/>
            </a:xfrm>
            <a:prstGeom prst="rect">
              <a:avLst/>
            </a:prstGeom>
            <a:noFill/>
            <a:ln w="19050">
              <a:solidFill>
                <a:srgbClr val="56C4D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fontAlgn="auto"/>
              <a:r>
                <a:rPr lang="zh-CN" altLang="en-US" sz="1400" b="1" dirty="0">
                  <a:solidFill>
                    <a:schemeClr val="tx1"/>
                  </a:solidFill>
                </a:rPr>
                <a:t>网络设备</a:t>
              </a:r>
              <a:endParaRPr lang="en-US" sz="1400" b="1" dirty="0">
                <a:solidFill>
                  <a:schemeClr val="tx1"/>
                </a:solidFill>
              </a:endParaRPr>
            </a:p>
          </p:txBody>
        </p:sp>
      </p:grpSp>
    </p:spTree>
    <p:extLst>
      <p:ext uri="{BB962C8B-B14F-4D97-AF65-F5344CB8AC3E}">
        <p14:creationId xmlns:p14="http://schemas.microsoft.com/office/powerpoint/2010/main" val="251499610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dirty="0"/>
              <a:t>(</a:t>
            </a:r>
            <a:r>
              <a:rPr lang="zh-CN" altLang="en-US" dirty="0"/>
              <a:t>多选题</a:t>
            </a:r>
            <a:r>
              <a:rPr lang="en-US" altLang="zh-CN" dirty="0"/>
              <a:t>)</a:t>
            </a:r>
            <a:r>
              <a:rPr lang="zh-CN" altLang="en-US" dirty="0"/>
              <a:t>以下哪些是专线技术？</a:t>
            </a:r>
            <a:r>
              <a:rPr lang="en-US" altLang="zh-CN" dirty="0"/>
              <a:t>(     )</a:t>
            </a:r>
          </a:p>
          <a:p>
            <a:pPr lvl="1"/>
            <a:r>
              <a:rPr lang="en-US" altLang="zh-CN" dirty="0"/>
              <a:t>SDH</a:t>
            </a:r>
          </a:p>
          <a:p>
            <a:pPr lvl="1"/>
            <a:r>
              <a:rPr lang="en-US" altLang="zh-CN" dirty="0"/>
              <a:t>L2TP</a:t>
            </a:r>
          </a:p>
          <a:p>
            <a:pPr lvl="1"/>
            <a:r>
              <a:rPr lang="en-US" altLang="zh-CN" dirty="0"/>
              <a:t>MPLS VPN</a:t>
            </a:r>
          </a:p>
          <a:p>
            <a:pPr lvl="1"/>
            <a:r>
              <a:rPr lang="en-US" altLang="zh-CN" dirty="0"/>
              <a:t>IPsec VPN</a:t>
            </a:r>
          </a:p>
          <a:p>
            <a:r>
              <a:rPr lang="en-US" altLang="zh-CN" dirty="0"/>
              <a:t>(</a:t>
            </a:r>
            <a:r>
              <a:rPr lang="zh-CN" altLang="en-US" dirty="0"/>
              <a:t>判断题</a:t>
            </a:r>
            <a:r>
              <a:rPr lang="en-US" altLang="zh-CN" dirty="0"/>
              <a:t>)SRP</a:t>
            </a:r>
            <a:r>
              <a:rPr lang="zh-CN" altLang="en-US" dirty="0"/>
              <a:t>技术能基于链路质量灵活选择出口链路。</a:t>
            </a:r>
            <a:r>
              <a:rPr lang="en-US" altLang="zh-CN" dirty="0"/>
              <a:t>(     )</a:t>
            </a:r>
          </a:p>
          <a:p>
            <a:pPr lvl="1"/>
            <a:r>
              <a:rPr lang="zh-CN" altLang="en-US" dirty="0"/>
              <a:t>正确</a:t>
            </a:r>
            <a:endParaRPr lang="en-US" altLang="zh-CN" dirty="0"/>
          </a:p>
          <a:p>
            <a:pPr lvl="1"/>
            <a:r>
              <a:rPr lang="zh-CN" altLang="en-US" dirty="0"/>
              <a:t>错误</a:t>
            </a:r>
            <a:endParaRPr lang="en-US" altLang="zh-CN" dirty="0"/>
          </a:p>
        </p:txBody>
      </p:sp>
    </p:spTree>
    <p:extLst>
      <p:ext uri="{BB962C8B-B14F-4D97-AF65-F5344CB8AC3E}">
        <p14:creationId xmlns:p14="http://schemas.microsoft.com/office/powerpoint/2010/main" val="220933025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a:prstGeom prst="rect">
            <a:avLst/>
          </a:prstGeom>
        </p:spPr>
        <p:txBody>
          <a:bodyPr/>
          <a:lstStyle/>
          <a:p>
            <a:r>
              <a:rPr lang="zh-CN" altLang="en-US" sz="2000" dirty="0"/>
              <a:t>广域网互联方式主要使用</a:t>
            </a:r>
            <a:r>
              <a:rPr lang="en-US" altLang="zh-CN" sz="2000" dirty="0"/>
              <a:t>GRE Over IPsec</a:t>
            </a:r>
            <a:r>
              <a:rPr lang="zh-CN" altLang="en-US" sz="2000" dirty="0"/>
              <a:t>技术，用户远程接入内网主要使用</a:t>
            </a:r>
            <a:r>
              <a:rPr lang="en-US" altLang="zh-CN" sz="2000" dirty="0"/>
              <a:t>L2TP Over IPsec</a:t>
            </a:r>
            <a:r>
              <a:rPr lang="zh-CN" altLang="en-US" sz="2000" dirty="0"/>
              <a:t>技术。</a:t>
            </a:r>
            <a:endParaRPr lang="en-US" altLang="zh-CN" sz="2000" dirty="0"/>
          </a:p>
          <a:p>
            <a:r>
              <a:rPr lang="zh-CN" altLang="en-US" sz="2000" dirty="0"/>
              <a:t>基于</a:t>
            </a:r>
            <a:r>
              <a:rPr lang="en-US" altLang="zh-CN" sz="2000" dirty="0"/>
              <a:t>IKE SA</a:t>
            </a:r>
            <a:r>
              <a:rPr lang="zh-CN" altLang="en-US" sz="2000" dirty="0"/>
              <a:t>信息，</a:t>
            </a:r>
            <a:r>
              <a:rPr lang="en-US" altLang="zh-CN" sz="2000" dirty="0"/>
              <a:t>IPsec SA</a:t>
            </a:r>
            <a:r>
              <a:rPr lang="zh-CN" altLang="en-US" sz="2000" dirty="0"/>
              <a:t>信息就能在公网上安全传输，基于</a:t>
            </a:r>
            <a:r>
              <a:rPr lang="en-US" altLang="zh-CN" sz="2000" dirty="0"/>
              <a:t>IPsec SA</a:t>
            </a:r>
            <a:r>
              <a:rPr lang="zh-CN" altLang="en-US" sz="2000" dirty="0"/>
              <a:t>信息，业务数据就能在公网上安全传输。</a:t>
            </a:r>
            <a:endParaRPr lang="en-US" altLang="zh-CN" sz="2000" dirty="0"/>
          </a:p>
          <a:p>
            <a:r>
              <a:rPr lang="zh-CN" altLang="en-US" sz="2000" dirty="0"/>
              <a:t>在两台私网设备之间建立广域互联需要使用</a:t>
            </a:r>
            <a:r>
              <a:rPr lang="en-US" altLang="zh-CN" sz="2000" dirty="0"/>
              <a:t>NAT</a:t>
            </a:r>
            <a:r>
              <a:rPr lang="zh-CN" altLang="en-US" sz="2000" dirty="0"/>
              <a:t>穿越技术，常用的</a:t>
            </a:r>
            <a:r>
              <a:rPr lang="en-US" altLang="zh-CN" sz="2000" dirty="0"/>
              <a:t>NAT</a:t>
            </a:r>
            <a:r>
              <a:rPr lang="zh-CN" altLang="en-US" sz="2000" dirty="0"/>
              <a:t>穿越技术为</a:t>
            </a:r>
            <a:r>
              <a:rPr lang="en-US" altLang="zh-CN" sz="2000" dirty="0"/>
              <a:t>STUN</a:t>
            </a:r>
            <a:r>
              <a:rPr lang="zh-CN" altLang="en-US" sz="2000" dirty="0"/>
              <a:t>。</a:t>
            </a:r>
            <a:endParaRPr lang="en-US" altLang="zh-CN" sz="2000" dirty="0"/>
          </a:p>
          <a:p>
            <a:r>
              <a:rPr lang="zh-CN" altLang="en-US" sz="2000" dirty="0"/>
              <a:t>保障广域网可靠性一般需要先探测链路质量，基于链路质量再通过特定技术选择合适出口或出口链路。</a:t>
            </a:r>
            <a:endParaRPr lang="en-US" altLang="zh-CN" sz="2000" dirty="0"/>
          </a:p>
          <a:p>
            <a:endParaRPr lang="zh-CN" altLang="en-US" sz="2000" dirty="0"/>
          </a:p>
        </p:txBody>
      </p:sp>
    </p:spTree>
    <p:extLst>
      <p:ext uri="{BB962C8B-B14F-4D97-AF65-F5344CB8AC3E}">
        <p14:creationId xmlns:p14="http://schemas.microsoft.com/office/powerpoint/2010/main" val="5791736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2489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ICON" val="#177993;#148168;"/>
</p:tagLst>
</file>

<file path=ppt/tags/tag2.xml><?xml version="1.0" encoding="utf-8"?>
<p:tagLst xmlns:a="http://schemas.openxmlformats.org/drawingml/2006/main" xmlns:r="http://schemas.openxmlformats.org/officeDocument/2006/relationships" xmlns:p="http://schemas.openxmlformats.org/presentationml/2006/main">
  <p:tag name="ISLIDE.ICON" val="#72110;"/>
</p:tagLst>
</file>

<file path=ppt/tags/tag3.xml><?xml version="1.0" encoding="utf-8"?>
<p:tagLst xmlns:a="http://schemas.openxmlformats.org/drawingml/2006/main" xmlns:r="http://schemas.openxmlformats.org/officeDocument/2006/relationships" xmlns:p="http://schemas.openxmlformats.org/presentationml/2006/main">
  <p:tag name="ISLIDE.ICON" val="#76617;"/>
</p:tagLst>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1DFB9D74-0072-4BEF-8727-7D61CAFB3A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5f1e55-3009-46d8-9566-5d569a2b3a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5960F2-6186-408B-A0DC-5CA5E58B604F}">
  <ds:schemaRefs>
    <ds:schemaRef ds:uri="http://purl.org/dc/terms/"/>
    <ds:schemaRef ds:uri="http://www.w3.org/XML/1998/namespace"/>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475f1e55-3009-46d8-9566-5d569a2b3a98"/>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8242</TotalTime>
  <Words>16474</Words>
  <Application>Microsoft Office PowerPoint</Application>
  <PresentationFormat>宽屏</PresentationFormat>
  <Paragraphs>2355</Paragraphs>
  <Slides>96</Slides>
  <Notes>96</Notes>
  <HiddenSlides>2</HiddenSlides>
  <MMClips>0</MMClips>
  <ScaleCrop>false</ScaleCrop>
  <HeadingPairs>
    <vt:vector size="6" baseType="variant">
      <vt:variant>
        <vt:lpstr>已用的字体</vt:lpstr>
      </vt:variant>
      <vt:variant>
        <vt:i4>8</vt:i4>
      </vt:variant>
      <vt:variant>
        <vt:lpstr>主题</vt:lpstr>
      </vt:variant>
      <vt:variant>
        <vt:i4>4</vt:i4>
      </vt:variant>
      <vt:variant>
        <vt:lpstr>幻灯片标题</vt:lpstr>
      </vt:variant>
      <vt:variant>
        <vt:i4>96</vt:i4>
      </vt:variant>
    </vt:vector>
  </HeadingPairs>
  <TitlesOfParts>
    <vt:vector size="108" baseType="lpstr">
      <vt:lpstr>FrutigerNext LT Regular</vt:lpstr>
      <vt:lpstr>Huawei Sans</vt:lpstr>
      <vt:lpstr>方正兰亭黑简体</vt:lpstr>
      <vt:lpstr>Microsoft YaHei</vt:lpstr>
      <vt:lpstr>Microsoft YaHei</vt:lpstr>
      <vt:lpstr>Arial</vt:lpstr>
      <vt:lpstr>Calibri</vt:lpstr>
      <vt:lpstr>Wingdings</vt:lpstr>
      <vt:lpstr>2_标题页模板</vt:lpstr>
      <vt:lpstr>3_功能页模板</vt:lpstr>
      <vt:lpstr>4_内容页模板</vt:lpstr>
      <vt:lpstr>5_感谢页模板</vt:lpstr>
      <vt:lpstr>PowerPoint 演示文稿</vt:lpstr>
      <vt:lpstr>广域互联关键技术详解</vt:lpstr>
      <vt:lpstr>PowerPoint 演示文稿</vt:lpstr>
      <vt:lpstr>PowerPoint 演示文稿</vt:lpstr>
      <vt:lpstr>PowerPoint 演示文稿</vt:lpstr>
      <vt:lpstr>GRE产生背景</vt:lpstr>
      <vt:lpstr>隧道技术简介</vt:lpstr>
      <vt:lpstr>GRE基本概念</vt:lpstr>
      <vt:lpstr>GRE基本工作原理</vt:lpstr>
      <vt:lpstr>GRE Keepalive检测</vt:lpstr>
      <vt:lpstr>GRE隧道安全威胁</vt:lpstr>
      <vt:lpstr>GRE数据校验和验证</vt:lpstr>
      <vt:lpstr>GRE识别关键字</vt:lpstr>
      <vt:lpstr>GRE构建分支-总部内网</vt:lpstr>
      <vt:lpstr>GRE Over IPsec</vt:lpstr>
      <vt:lpstr>MPLS VPN的组网局限</vt:lpstr>
      <vt:lpstr>通过GRE接入MPLS VPN网络</vt:lpstr>
      <vt:lpstr>PowerPoint 演示文稿</vt:lpstr>
      <vt:lpstr>L2TP概述</vt:lpstr>
      <vt:lpstr>L2TP基本架构</vt:lpstr>
      <vt:lpstr>PowerPoint 演示文稿</vt:lpstr>
      <vt:lpstr>L2TP数据包架构</vt:lpstr>
      <vt:lpstr>L2TP工作过程</vt:lpstr>
      <vt:lpstr>移动办公场景</vt:lpstr>
      <vt:lpstr>分公司与总部互联场景</vt:lpstr>
      <vt:lpstr>分公司员工与总部互联场景</vt:lpstr>
      <vt:lpstr>PowerPoint 演示文稿</vt:lpstr>
      <vt:lpstr>IPsec产生背景</vt:lpstr>
      <vt:lpstr>IPsec简介</vt:lpstr>
      <vt:lpstr>数据加密方式简介</vt:lpstr>
      <vt:lpstr>数据认证方式简介</vt:lpstr>
      <vt:lpstr>IPsec加密基本思路</vt:lpstr>
      <vt:lpstr>安全联盟介绍</vt:lpstr>
      <vt:lpstr>密钥交换介绍</vt:lpstr>
      <vt:lpstr>数据加密与认证</vt:lpstr>
      <vt:lpstr>安全协议介绍</vt:lpstr>
      <vt:lpstr>封装模式介绍</vt:lpstr>
      <vt:lpstr>PowerPoint 演示文稿</vt:lpstr>
      <vt:lpstr>IPsec基本工作流程</vt:lpstr>
      <vt:lpstr>IKEv1介绍</vt:lpstr>
      <vt:lpstr>IKEv1协商第一阶段介绍</vt:lpstr>
      <vt:lpstr>IKEv1协商第二阶段介绍</vt:lpstr>
      <vt:lpstr>IKEv2介绍</vt:lpstr>
      <vt:lpstr>IKEv2初始交换介绍</vt:lpstr>
      <vt:lpstr>IKEv2创建子SA交换介绍</vt:lpstr>
      <vt:lpstr>IKEv2通知交换介绍</vt:lpstr>
      <vt:lpstr>定义IPsec被保护流</vt:lpstr>
      <vt:lpstr>PowerPoint 演示文稿</vt:lpstr>
      <vt:lpstr>GRE Over IPsec</vt:lpstr>
      <vt:lpstr>L2TP Over IPsec</vt:lpstr>
      <vt:lpstr>IPsec穿越NAT - 背景</vt:lpstr>
      <vt:lpstr>IPsec穿越NAT - 解决方式</vt:lpstr>
      <vt:lpstr>IPsec穿越NAT - 检测原理</vt:lpstr>
      <vt:lpstr>IPsec穿越NAT - 场景 (1)</vt:lpstr>
      <vt:lpstr>IPsec穿越NAT - 场景 (2)</vt:lpstr>
      <vt:lpstr>IPsec穿越NAT - 场景 (3)</vt:lpstr>
      <vt:lpstr>IPsec穿越NAT - 会话保活 (1)</vt:lpstr>
      <vt:lpstr>IPsec穿越NAT - 会话保活 (2)</vt:lpstr>
      <vt:lpstr>PowerPoint 演示文稿</vt:lpstr>
      <vt:lpstr>NAT产生背景</vt:lpstr>
      <vt:lpstr>NAPT原理回顾</vt:lpstr>
      <vt:lpstr>NAT Server原理回顾</vt:lpstr>
      <vt:lpstr>NAT地址池的路由发布</vt:lpstr>
      <vt:lpstr>NAT映射表的安全隐患</vt:lpstr>
      <vt:lpstr>PowerPoint 演示文稿</vt:lpstr>
      <vt:lpstr>NAT类型基本概念</vt:lpstr>
      <vt:lpstr>Full Cone NAT介绍</vt:lpstr>
      <vt:lpstr>Restricted Cone NAT介绍</vt:lpstr>
      <vt:lpstr>Port Restricted Cone NAT介绍</vt:lpstr>
      <vt:lpstr>Symmetric NAT</vt:lpstr>
      <vt:lpstr>NAT类型的应用场景</vt:lpstr>
      <vt:lpstr>PowerPoint 演示文稿</vt:lpstr>
      <vt:lpstr>NAT穿越背景</vt:lpstr>
      <vt:lpstr>现有NAT穿越技术</vt:lpstr>
      <vt:lpstr>NAT ALG产生背景</vt:lpstr>
      <vt:lpstr>NAT ALG工作原理</vt:lpstr>
      <vt:lpstr>NAT ALG的缺陷</vt:lpstr>
      <vt:lpstr>STUN简介</vt:lpstr>
      <vt:lpstr>STUN基本原理</vt:lpstr>
      <vt:lpstr>STUN应用举例</vt:lpstr>
      <vt:lpstr>PowerPoint 演示文稿</vt:lpstr>
      <vt:lpstr>智能选路简介</vt:lpstr>
      <vt:lpstr>SAC简介</vt:lpstr>
      <vt:lpstr>SAC特征库介绍</vt:lpstr>
      <vt:lpstr>SAC应用识别流程</vt:lpstr>
      <vt:lpstr>SA介绍</vt:lpstr>
      <vt:lpstr>FPI介绍</vt:lpstr>
      <vt:lpstr>PowerPoint 演示文稿</vt:lpstr>
      <vt:lpstr>SPR简介</vt:lpstr>
      <vt:lpstr>SPR业务区分</vt:lpstr>
      <vt:lpstr>SPR探测链路和链路组</vt:lpstr>
      <vt:lpstr>SPR业务选路</vt:lpstr>
      <vt:lpstr>使用iMaster NCE实现SPR</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junpeng he</cp:lastModifiedBy>
  <cp:revision>475</cp:revision>
  <cp:lastPrinted>2020-07-31T09:33:18Z</cp:lastPrinted>
  <dcterms:created xsi:type="dcterms:W3CDTF">2018-11-29T10:16:29Z</dcterms:created>
  <dcterms:modified xsi:type="dcterms:W3CDTF">2023-11-19T02:24:45Z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(3)ZzoIjF6KlArSuYY9piAylajGxdCcZpDEr3njYm/NStHcc0xgcL4yYbt2TAizJQ9PQjRRs2m+
IXUYMyQSILQpmX0mfC3ubsSvAj+rWhlhhleaQi4ctLhyXnE7J3rj5OpD/Uhd8M6hqu634X8V
7xbGiwAlHPNHTHHkO3ibDzcW5+JSvcQgVk4+lq/4N3MaW92CXL1P+MT8/KxsOcL3jglbt8xV
csJxcrUVAXvtNxLsrO</vt:lpwstr>
  </property>
  <property fmtid="{D5CDD505-2E9C-101B-9397-08002B2CF9AE}" pid="3" name="_2015_ms_pID_7253431">
    <vt:lpwstr>K2RO2WvFl3isWifR38dHyELX4q17ncanOT0YJKzCrm8kMNEFp5peDN
MYXk02eYUla4ItyPjcGLJyWtgv1+cPZNfwixaxwMibDJnNiAoZlbD9mBAScrd20FsNnCtcGe
RTRqjXjJl8KRTxt/rq1beHQHDm4gGI3B8TBHTpCPyjQaegxHph+tOkSHuBLCpgei0/WgoQk0
8cXDJXLAdG9CreOtG5L6OoIf6Tw0I1rl8oMq</vt:lpwstr>
  </property>
  <property fmtid="{D5CDD505-2E9C-101B-9397-08002B2CF9AE}" pid="4" name="_2015_ms_pID_7253432">
    <vt:lpwstr>ClLmQzdSpm5EdWPB9nTNFRw=</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1622075396</vt:lpwstr>
  </property>
</Properties>
</file>