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41" r:id="rId4"/>
    <p:sldMasterId id="2147483825" r:id="rId5"/>
    <p:sldMasterId id="2147483848" r:id="rId6"/>
    <p:sldMasterId id="2147483867" r:id="rId7"/>
  </p:sldMasterIdLst>
  <p:notesMasterIdLst>
    <p:notesMasterId r:id="rId97"/>
  </p:notesMasterIdLst>
  <p:handoutMasterIdLst>
    <p:handoutMasterId r:id="rId98"/>
  </p:handout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345" r:id="rId31"/>
    <p:sldId id="280" r:id="rId32"/>
    <p:sldId id="281" r:id="rId33"/>
    <p:sldId id="282" r:id="rId34"/>
    <p:sldId id="283" r:id="rId35"/>
    <p:sldId id="284" r:id="rId36"/>
    <p:sldId id="285" r:id="rId37"/>
    <p:sldId id="286" r:id="rId38"/>
    <p:sldId id="287" r:id="rId39"/>
    <p:sldId id="346"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Lst>
  <p:sldSz cx="12192000" cy="6858000"/>
  <p:notesSz cx="7010400" cy="92964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7368"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yueyuezjhw" initials="l" lastIdx="5" clrIdx="0">
    <p:extLst>
      <p:ext uri="{19B8F6BF-5375-455C-9EA6-DF929625EA0E}">
        <p15:presenceInfo xmlns:p15="http://schemas.microsoft.com/office/powerpoint/2012/main" userId="S-1-5-21-147214757-305610072-1517763936-4736116" providerId="AD"/>
      </p:ext>
    </p:extLst>
  </p:cmAuthor>
  <p:cmAuthor id="2" name="Wuyuezjhw (Monk)" initials="W(" lastIdx="30" clrIdx="1">
    <p:extLst>
      <p:ext uri="{19B8F6BF-5375-455C-9EA6-DF929625EA0E}">
        <p15:presenceInfo xmlns:p15="http://schemas.microsoft.com/office/powerpoint/2012/main" userId="S-1-5-21-147214757-305610072-1517763936-319361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63AB"/>
    <a:srgbClr val="62B230"/>
    <a:srgbClr val="AFD89C"/>
    <a:srgbClr val="81C15F"/>
    <a:srgbClr val="C7000B"/>
    <a:srgbClr val="56C4D2"/>
    <a:srgbClr val="F2FBFC"/>
    <a:srgbClr val="30B5C5"/>
    <a:srgbClr val="94DAE2"/>
    <a:srgbClr val="D7F2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972" autoAdjust="0"/>
    <p:restoredTop sz="95267" autoAdjust="0"/>
  </p:normalViewPr>
  <p:slideViewPr>
    <p:cSldViewPr snapToGrid="0" snapToObjects="1">
      <p:cViewPr varScale="1">
        <p:scale>
          <a:sx n="85" d="100"/>
          <a:sy n="85" d="100"/>
        </p:scale>
        <p:origin x="40" y="64"/>
      </p:cViewPr>
      <p:guideLst>
        <p:guide pos="7368"/>
        <p:guide orient="horz" pos="21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p:scale>
          <a:sx n="125" d="100"/>
          <a:sy n="125" d="100"/>
        </p:scale>
        <p:origin x="2040" y="-1146"/>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84" Type="http://schemas.openxmlformats.org/officeDocument/2006/relationships/slide" Target="slides/slide77.xml"/><Relationship Id="rId89" Type="http://schemas.openxmlformats.org/officeDocument/2006/relationships/slide" Target="slides/slide82.xml"/><Relationship Id="rId16" Type="http://schemas.openxmlformats.org/officeDocument/2006/relationships/slide" Target="slides/slide9.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slide" Target="slides/slide72.xml"/><Relationship Id="rId102" Type="http://schemas.openxmlformats.org/officeDocument/2006/relationships/theme" Target="theme/theme1.xml"/><Relationship Id="rId5" Type="http://schemas.openxmlformats.org/officeDocument/2006/relationships/slideMaster" Target="slideMasters/slideMaster2.xml"/><Relationship Id="rId90" Type="http://schemas.openxmlformats.org/officeDocument/2006/relationships/slide" Target="slides/slide83.xml"/><Relationship Id="rId95" Type="http://schemas.openxmlformats.org/officeDocument/2006/relationships/slide" Target="slides/slide88.xml"/><Relationship Id="rId22" Type="http://schemas.openxmlformats.org/officeDocument/2006/relationships/slide" Target="slides/slide15.xml"/><Relationship Id="rId27" Type="http://schemas.openxmlformats.org/officeDocument/2006/relationships/slide" Target="slides/slide20.xml"/><Relationship Id="rId43" Type="http://schemas.openxmlformats.org/officeDocument/2006/relationships/slide" Target="slides/slide36.xml"/><Relationship Id="rId48" Type="http://schemas.openxmlformats.org/officeDocument/2006/relationships/slide" Target="slides/slide41.xml"/><Relationship Id="rId64" Type="http://schemas.openxmlformats.org/officeDocument/2006/relationships/slide" Target="slides/slide57.xml"/><Relationship Id="rId69" Type="http://schemas.openxmlformats.org/officeDocument/2006/relationships/slide" Target="slides/slide62.xml"/><Relationship Id="rId80" Type="http://schemas.openxmlformats.org/officeDocument/2006/relationships/slide" Target="slides/slide73.xml"/><Relationship Id="rId85" Type="http://schemas.openxmlformats.org/officeDocument/2006/relationships/slide" Target="slides/slide78.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103" Type="http://schemas.openxmlformats.org/officeDocument/2006/relationships/tableStyles" Target="tableStyle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slide" Target="slides/slide68.xml"/><Relationship Id="rId83" Type="http://schemas.openxmlformats.org/officeDocument/2006/relationships/slide" Target="slides/slide76.xml"/><Relationship Id="rId88" Type="http://schemas.openxmlformats.org/officeDocument/2006/relationships/slide" Target="slides/slide81.xml"/><Relationship Id="rId91" Type="http://schemas.openxmlformats.org/officeDocument/2006/relationships/slide" Target="slides/slide84.xml"/><Relationship Id="rId96" Type="http://schemas.openxmlformats.org/officeDocument/2006/relationships/slide" Target="slides/slide89.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slide" Target="slides/slide71.xml"/><Relationship Id="rId81" Type="http://schemas.openxmlformats.org/officeDocument/2006/relationships/slide" Target="slides/slide74.xml"/><Relationship Id="rId86" Type="http://schemas.openxmlformats.org/officeDocument/2006/relationships/slide" Target="slides/slide79.xml"/><Relationship Id="rId94" Type="http://schemas.openxmlformats.org/officeDocument/2006/relationships/slide" Target="slides/slide87.xml"/><Relationship Id="rId99" Type="http://schemas.openxmlformats.org/officeDocument/2006/relationships/commentAuthors" Target="commentAuthors.xml"/><Relationship Id="rId10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notesMaster" Target="notesMasters/notesMaster1.xml"/><Relationship Id="rId7" Type="http://schemas.openxmlformats.org/officeDocument/2006/relationships/slideMaster" Target="slideMasters/slideMaster4.xml"/><Relationship Id="rId71" Type="http://schemas.openxmlformats.org/officeDocument/2006/relationships/slide" Target="slides/slide64.xml"/><Relationship Id="rId92" Type="http://schemas.openxmlformats.org/officeDocument/2006/relationships/slide" Target="slides/slide85.xml"/><Relationship Id="rId2" Type="http://schemas.openxmlformats.org/officeDocument/2006/relationships/customXml" Target="../customXml/item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61" Type="http://schemas.openxmlformats.org/officeDocument/2006/relationships/slide" Target="slides/slide54.xml"/><Relationship Id="rId82" Type="http://schemas.openxmlformats.org/officeDocument/2006/relationships/slide" Target="slides/slide75.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openxmlformats.org/officeDocument/2006/relationships/presProps" Target="presProps.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slide" Target="slides/slide86.xml"/><Relationship Id="rId98" Type="http://schemas.openxmlformats.org/officeDocument/2006/relationships/handoutMaster" Target="handoutMasters/handoutMaster1.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C198DB-AFBD-584A-8986-364FF2B03F46}"/>
              </a:ext>
            </a:extLst>
          </p:cNvPr>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a16="http://schemas.microsoft.com/office/drawing/2014/main" id="{AD01315C-523F-A043-8029-B9921497126E}"/>
              </a:ext>
            </a:extLst>
          </p:cNvPr>
          <p:cNvSpPr>
            <a:spLocks noGrp="1"/>
          </p:cNvSpPr>
          <p:nvPr>
            <p:ph type="dt" sz="quarter" idx="1"/>
          </p:nvPr>
        </p:nvSpPr>
        <p:spPr>
          <a:xfrm>
            <a:off x="3970938" y="0"/>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8/18/2023</a:t>
            </a:fld>
            <a:endParaRPr lang="en-US" dirty="0">
              <a:latin typeface="Huawei Sans" panose="020C0503030203020204" pitchFamily="34" charset="0"/>
            </a:endParaRPr>
          </a:p>
        </p:txBody>
      </p:sp>
      <p:sp>
        <p:nvSpPr>
          <p:cNvPr id="4" name="Footer Placeholder 3">
            <a:extLst>
              <a:ext uri="{FF2B5EF4-FFF2-40B4-BE49-F238E27FC236}">
                <a16:creationId xmlns:a16="http://schemas.microsoft.com/office/drawing/2014/main" id="{B9601424-70F4-1643-8E3A-557A0258D6B6}"/>
              </a:ext>
            </a:extLst>
          </p:cNvPr>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a16="http://schemas.microsoft.com/office/drawing/2014/main" id="{E85BF48A-FF5C-8145-95A7-EE66A87C73DF}"/>
              </a:ext>
            </a:extLst>
          </p:cNvPr>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31838" y="717550"/>
            <a:ext cx="5580062"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p:ext uri="{620B2872-D7B9-4A21-9093-7833F8D536E1}">
      <p15:sldGuideLst xmlns:p15="http://schemas.microsoft.com/office/powerpoint/2012/main">
        <p15:guide id="2" orient="horz" pos="2704" userDrawn="1">
          <p15:clr>
            <a:srgbClr val="F26B43"/>
          </p15:clr>
        </p15:guide>
        <p15:guide id="3" orient="horz" pos="459" userDrawn="1">
          <p15:clr>
            <a:srgbClr val="F26B43"/>
          </p15:clr>
        </p15:guide>
        <p15:guide id="4" orient="horz" pos="2432" userDrawn="1">
          <p15:clr>
            <a:srgbClr val="F26B43"/>
          </p15:clr>
        </p15:guide>
        <p15:guide id="7" pos="461" userDrawn="1">
          <p15:clr>
            <a:srgbClr val="F26B43"/>
          </p15:clr>
        </p15:guide>
        <p15:guide id="9" pos="2207" userDrawn="1">
          <p15:clr>
            <a:srgbClr val="F26B43"/>
          </p15:clr>
        </p15:guide>
        <p15:guide id="10" pos="397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588075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414081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UDP</a:t>
            </a:r>
            <a:r>
              <a:rPr lang="zh-CN" altLang="en-US"/>
              <a:t>：</a:t>
            </a:r>
            <a:r>
              <a:rPr lang="en-US" altLang="zh-CN"/>
              <a:t>User Datagram Protocol</a:t>
            </a:r>
            <a:r>
              <a:rPr lang="zh-CN" altLang="en-US"/>
              <a:t>，用户数据报协议</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8705605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129719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251369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78386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服务器虚拟化后，业务被封装在虚拟机中。虚拟机允许在集群内任意主机中热迁移。热迁移的特性之一是网络状态不改变，这要求在不同的物理位置中虚拟机的</a:t>
            </a:r>
            <a:r>
              <a:rPr lang="en-US" altLang="zh-CN" dirty="0"/>
              <a:t>IP</a:t>
            </a:r>
            <a:r>
              <a:rPr lang="zh-CN" altLang="en-US" dirty="0"/>
              <a:t>地址保持不变，为此需要大二层网络解决此问题。</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7439551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535396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dirty="0"/>
              <a:t>VXLAN</a:t>
            </a:r>
            <a:r>
              <a:rPr lang="zh-CN" altLang="en-US" dirty="0"/>
              <a:t>更多解决的是数据中心网络中的需求，在传统企业园区网络中使用</a:t>
            </a:r>
            <a:r>
              <a:rPr lang="en-US" altLang="zh-CN" dirty="0"/>
              <a:t>VXLAN</a:t>
            </a:r>
            <a:r>
              <a:rPr lang="zh-CN" altLang="en-US" dirty="0"/>
              <a:t>更多的是使用其构建虚拟网络，而不是解决某些急需解决的问题。</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6583120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103986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dirty="0"/>
              <a:t>VXLAN</a:t>
            </a:r>
            <a:r>
              <a:rPr lang="zh-CN" altLang="en-US" dirty="0"/>
              <a:t>解决传统网络遇到的问题：</a:t>
            </a:r>
            <a:endParaRPr lang="en-US" altLang="zh-CN" dirty="0"/>
          </a:p>
          <a:p>
            <a:pPr lvl="1"/>
            <a:r>
              <a:rPr lang="zh-CN" altLang="en-US" dirty="0"/>
              <a:t>虚拟机规模受网络规格限制：</a:t>
            </a:r>
          </a:p>
          <a:p>
            <a:pPr lvl="2"/>
            <a:r>
              <a:rPr lang="en-US" altLang="zh-CN" dirty="0"/>
              <a:t>VXLAN</a:t>
            </a:r>
            <a:r>
              <a:rPr lang="zh-CN" altLang="en-US" dirty="0"/>
              <a:t>将虚拟机发出的数据包封装在</a:t>
            </a:r>
            <a:r>
              <a:rPr lang="en-US" altLang="zh-CN" dirty="0"/>
              <a:t>UDP</a:t>
            </a:r>
            <a:r>
              <a:rPr lang="zh-CN" altLang="en-US" dirty="0"/>
              <a:t>中，并使用物理网络的</a:t>
            </a:r>
            <a:r>
              <a:rPr lang="en-US" altLang="zh-CN" dirty="0"/>
              <a:t>IP</a:t>
            </a:r>
            <a:r>
              <a:rPr lang="zh-CN" altLang="en-US" dirty="0"/>
              <a:t>、</a:t>
            </a:r>
            <a:r>
              <a:rPr lang="en-US" altLang="zh-CN" dirty="0"/>
              <a:t>MAC</a:t>
            </a:r>
            <a:r>
              <a:rPr lang="zh-CN" altLang="en-US" dirty="0"/>
              <a:t>地址作为外层头进行封装，对网络只表现为封装后的参数。</a:t>
            </a:r>
            <a:endParaRPr lang="en-US" altLang="zh-CN" dirty="0"/>
          </a:p>
          <a:p>
            <a:pPr lvl="2"/>
            <a:r>
              <a:rPr lang="zh-CN" altLang="en-US" dirty="0"/>
              <a:t>除</a:t>
            </a:r>
            <a:r>
              <a:rPr lang="en-US" altLang="zh-CN" dirty="0"/>
              <a:t>VXLAN</a:t>
            </a:r>
            <a:r>
              <a:rPr lang="zh-CN" altLang="en-US" dirty="0"/>
              <a:t>网络边缘设备，网络中的其他设备不需要识别虚拟机的</a:t>
            </a:r>
            <a:r>
              <a:rPr lang="en-US" altLang="zh-CN" dirty="0"/>
              <a:t>MAC</a:t>
            </a:r>
            <a:r>
              <a:rPr lang="zh-CN" altLang="en-US" dirty="0"/>
              <a:t>地址，减轻了设备的</a:t>
            </a:r>
            <a:r>
              <a:rPr lang="en-US" altLang="zh-CN" dirty="0"/>
              <a:t>MAC</a:t>
            </a:r>
            <a:r>
              <a:rPr lang="zh-CN" altLang="en-US" dirty="0"/>
              <a:t>地址学习压力，提升了设备性能。</a:t>
            </a:r>
          </a:p>
          <a:p>
            <a:pPr lvl="1"/>
            <a:r>
              <a:rPr lang="zh-CN" altLang="en-US" dirty="0"/>
              <a:t>网络隔离能力限制：</a:t>
            </a:r>
            <a:endParaRPr lang="en-US" altLang="zh-CN" dirty="0"/>
          </a:p>
          <a:p>
            <a:pPr lvl="2"/>
            <a:r>
              <a:rPr lang="en-US" altLang="zh-CN" dirty="0"/>
              <a:t>VXLAN</a:t>
            </a:r>
            <a:r>
              <a:rPr lang="zh-CN" altLang="en-US" dirty="0"/>
              <a:t>引入了类似</a:t>
            </a:r>
            <a:r>
              <a:rPr lang="en-US" altLang="zh-CN" dirty="0"/>
              <a:t>VLAN ID</a:t>
            </a:r>
            <a:r>
              <a:rPr lang="zh-CN" altLang="en-US" dirty="0"/>
              <a:t>的用户标识（</a:t>
            </a:r>
            <a:r>
              <a:rPr lang="en-US" altLang="zh-CN" dirty="0"/>
              <a:t>VNI</a:t>
            </a:r>
            <a:r>
              <a:rPr lang="zh-CN" altLang="en-US" dirty="0"/>
              <a:t>），由</a:t>
            </a:r>
            <a:r>
              <a:rPr lang="en-US" altLang="zh-CN" dirty="0"/>
              <a:t>24 bit</a:t>
            </a:r>
            <a:r>
              <a:rPr lang="zh-CN" altLang="en-US" dirty="0"/>
              <a:t>组成，支持多达</a:t>
            </a:r>
            <a:r>
              <a:rPr lang="en-US" altLang="zh-CN" dirty="0"/>
              <a:t>16 M</a:t>
            </a:r>
            <a:r>
              <a:rPr lang="zh-CN" altLang="en-US" dirty="0"/>
              <a:t>的</a:t>
            </a:r>
            <a:r>
              <a:rPr lang="en-US" altLang="zh-CN" dirty="0"/>
              <a:t>VXLAN</a:t>
            </a:r>
            <a:r>
              <a:rPr lang="zh-CN" altLang="en-US" dirty="0"/>
              <a:t>段的网络隔离，对用户进行隔离和标识不再受到限制，可满足海量租户。</a:t>
            </a:r>
          </a:p>
          <a:p>
            <a:pPr lvl="1"/>
            <a:r>
              <a:rPr lang="zh-CN" altLang="en-US" dirty="0"/>
              <a:t>虚拟机迁移范围受网络架构限制：</a:t>
            </a:r>
            <a:endParaRPr lang="en-US" altLang="zh-CN" dirty="0"/>
          </a:p>
          <a:p>
            <a:pPr lvl="2"/>
            <a:r>
              <a:rPr lang="zh-CN" altLang="en-US" dirty="0"/>
              <a:t>对于具有同一网段</a:t>
            </a:r>
            <a:r>
              <a:rPr lang="en-US" altLang="zh-CN" dirty="0"/>
              <a:t>IP</a:t>
            </a:r>
            <a:r>
              <a:rPr lang="zh-CN" altLang="en-US" dirty="0"/>
              <a:t>地址的</a:t>
            </a:r>
            <a:r>
              <a:rPr lang="en-US" altLang="zh-CN" dirty="0"/>
              <a:t>VM</a:t>
            </a:r>
            <a:r>
              <a:rPr lang="zh-CN" altLang="en-US" dirty="0"/>
              <a:t>而言，即使其物理位置不在同一个二层网络中，但从逻辑上看，相当于处于同一个二层域。即</a:t>
            </a:r>
            <a:r>
              <a:rPr lang="en-US" altLang="zh-CN" dirty="0"/>
              <a:t>VXLAN</a:t>
            </a:r>
            <a:r>
              <a:rPr lang="zh-CN" altLang="en-US" dirty="0"/>
              <a:t>技术在三层网络之上，构建出了一个虚拟的大二层网络。</a:t>
            </a:r>
            <a:endParaRPr lang="en-US" altLang="zh-CN" dirty="0"/>
          </a:p>
          <a:p>
            <a:pPr lvl="0"/>
            <a:r>
              <a:rPr lang="en-US" altLang="zh-CN" dirty="0">
                <a:sym typeface="Huawei Sans" panose="020C0503030203020204" pitchFamily="34" charset="0"/>
              </a:rPr>
              <a:t>Underlay</a:t>
            </a:r>
            <a:r>
              <a:rPr lang="zh-CN" altLang="en-US" dirty="0">
                <a:sym typeface="Huawei Sans" panose="020C0503030203020204" pitchFamily="34" charset="0"/>
              </a:rPr>
              <a:t>网络：即物理网络，作为构架上层逻辑网络的基层。</a:t>
            </a:r>
            <a:endParaRPr lang="en-US" altLang="zh-CN" dirty="0">
              <a:sym typeface="Huawei Sans" panose="020C0503030203020204" pitchFamily="34" charset="0"/>
            </a:endParaRPr>
          </a:p>
          <a:p>
            <a:pPr lvl="0"/>
            <a:r>
              <a:rPr lang="en-US" altLang="zh-CN" dirty="0">
                <a:sym typeface="Huawei Sans" panose="020C0503030203020204" pitchFamily="34" charset="0"/>
              </a:rPr>
              <a:t>Overlay</a:t>
            </a:r>
            <a:r>
              <a:rPr lang="zh-CN" altLang="en-US" dirty="0">
                <a:sym typeface="Huawei Sans" panose="020C0503030203020204" pitchFamily="34" charset="0"/>
              </a:rPr>
              <a:t>网络：在物理网络上通过隧道技术搭建的逻辑网络。</a:t>
            </a:r>
            <a:endParaRPr lang="en-US" altLang="zh-CN" dirty="0">
              <a:sym typeface="Huawei Sans" panose="020C0503030203020204" pitchFamily="34" charset="0"/>
            </a:endParaRPr>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2444526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926822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通过引入虚拟化技术，在园区网络中基于一张物理网络创建多张虚拟网络（</a:t>
            </a:r>
            <a:r>
              <a:rPr lang="en-US" altLang="zh-CN" dirty="0"/>
              <a:t>Virtual Network</a:t>
            </a:r>
            <a:r>
              <a:rPr lang="zh-CN" altLang="en-US" dirty="0"/>
              <a:t>，</a:t>
            </a:r>
            <a:r>
              <a:rPr lang="en-US" altLang="zh-CN" dirty="0"/>
              <a:t>VN</a:t>
            </a:r>
            <a:r>
              <a:rPr lang="zh-CN" altLang="en-US" dirty="0"/>
              <a:t>）。不同的虚拟网络应用于不同的业务，例如办公、视讯、安防等。</a:t>
            </a:r>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7801684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614587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以上为标准</a:t>
            </a:r>
            <a:r>
              <a:rPr lang="en-US" altLang="zh-CN" dirty="0"/>
              <a:t>VXLAN</a:t>
            </a:r>
            <a:r>
              <a:rPr lang="zh-CN" altLang="en-US" dirty="0"/>
              <a:t>报文格式，华为</a:t>
            </a:r>
            <a:r>
              <a:rPr lang="en-US" altLang="zh-CN" dirty="0" err="1"/>
              <a:t>CloudEngine</a:t>
            </a:r>
            <a:r>
              <a:rPr lang="en-US" altLang="zh-CN" dirty="0"/>
              <a:t> S</a:t>
            </a:r>
            <a:r>
              <a:rPr lang="zh-CN" altLang="en-US" dirty="0"/>
              <a:t>系列交换机的报文格式与其存在区别，针对其中的保留字段做了自定义。</a:t>
            </a:r>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0196399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205423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一对</a:t>
            </a:r>
            <a:r>
              <a:rPr lang="en-US" altLang="zh-CN"/>
              <a:t>VTEP</a:t>
            </a:r>
            <a:r>
              <a:rPr lang="zh-CN" altLang="en-US"/>
              <a:t>地址就对应着一条</a:t>
            </a:r>
            <a:r>
              <a:rPr lang="en-US" altLang="zh-CN"/>
              <a:t>VXLAN</a:t>
            </a:r>
            <a:r>
              <a:rPr lang="zh-CN" altLang="en-US"/>
              <a:t>隧道。</a:t>
            </a:r>
          </a:p>
          <a:p>
            <a:r>
              <a:rPr lang="zh-CN" altLang="en-US"/>
              <a:t>在源端封装报文后通过隧道向目的端</a:t>
            </a:r>
            <a:r>
              <a:rPr lang="en-US" altLang="zh-CN"/>
              <a:t>VTEP</a:t>
            </a:r>
            <a:r>
              <a:rPr lang="zh-CN" altLang="en-US"/>
              <a:t>发送封装报文，目的端</a:t>
            </a:r>
            <a:r>
              <a:rPr lang="en-US" altLang="zh-CN"/>
              <a:t>VTEP</a:t>
            </a:r>
            <a:r>
              <a:rPr lang="zh-CN" altLang="en-US"/>
              <a:t>对接收到的封装报文进行解封装。</a:t>
            </a:r>
          </a:p>
          <a:p>
            <a:r>
              <a:rPr lang="zh-CN" altLang="en-US"/>
              <a:t>通常情况下使用设备的</a:t>
            </a:r>
            <a:r>
              <a:rPr lang="en-US" altLang="zh-CN"/>
              <a:t>Loopback</a:t>
            </a:r>
            <a:r>
              <a:rPr lang="zh-CN" altLang="en-US"/>
              <a:t>接口地址作为</a:t>
            </a:r>
            <a:r>
              <a:rPr lang="en-US" altLang="zh-CN"/>
              <a:t>VTEP</a:t>
            </a:r>
            <a:r>
              <a:rPr lang="zh-CN" altLang="en-US"/>
              <a:t>地址。</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862577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225704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传统网络的流量进入</a:t>
            </a:r>
            <a:r>
              <a:rPr lang="en-US" altLang="zh-CN"/>
              <a:t>VXLAN</a:t>
            </a:r>
            <a:r>
              <a:rPr lang="zh-CN" altLang="en-US"/>
              <a:t>网络之后，通过二层子接口或者</a:t>
            </a:r>
            <a:r>
              <a:rPr lang="en-US" altLang="zh-CN"/>
              <a:t>VLAN</a:t>
            </a:r>
            <a:r>
              <a:rPr lang="zh-CN" altLang="en-US"/>
              <a:t>绑定的方式，与</a:t>
            </a:r>
            <a:r>
              <a:rPr lang="en-US" altLang="zh-CN"/>
              <a:t>BD</a:t>
            </a:r>
            <a:r>
              <a:rPr lang="zh-CN" altLang="en-US"/>
              <a:t>进行绑定，在</a:t>
            </a:r>
            <a:r>
              <a:rPr lang="en-US" altLang="zh-CN"/>
              <a:t>BD</a:t>
            </a:r>
            <a:r>
              <a:rPr lang="zh-CN" altLang="en-US"/>
              <a:t>中会指定</a:t>
            </a:r>
            <a:r>
              <a:rPr lang="en-US" altLang="zh-CN"/>
              <a:t>VXLAN VNI</a:t>
            </a:r>
            <a:r>
              <a:rPr lang="zh-CN" altLang="en-US"/>
              <a:t>，实现从传统的</a:t>
            </a:r>
            <a:r>
              <a:rPr lang="en-US" altLang="zh-CN"/>
              <a:t>VLAN</a:t>
            </a:r>
            <a:r>
              <a:rPr lang="zh-CN" altLang="en-US"/>
              <a:t>网络到</a:t>
            </a:r>
            <a:r>
              <a:rPr lang="en-US" altLang="zh-CN"/>
              <a:t>VXLAN</a:t>
            </a:r>
            <a:r>
              <a:rPr lang="zh-CN" altLang="en-US"/>
              <a:t>网络的映射。</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4965997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313947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166713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512267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6306909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811342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934560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4099420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649498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PC1</a:t>
            </a:r>
            <a:r>
              <a:rPr lang="zh-CN" altLang="en-US" dirty="0"/>
              <a:t>与</a:t>
            </a:r>
            <a:r>
              <a:rPr lang="en-US" altLang="zh-CN" dirty="0"/>
              <a:t>PC2</a:t>
            </a:r>
            <a:r>
              <a:rPr lang="zh-CN" altLang="en-US" dirty="0"/>
              <a:t>通信过程如下：</a:t>
            </a:r>
            <a:endParaRPr lang="en-US" altLang="zh-CN" dirty="0"/>
          </a:p>
          <a:p>
            <a:pPr marL="588600" lvl="1" indent="-228600">
              <a:buFont typeface="+mj-lt"/>
              <a:buAutoNum type="arabicPeriod"/>
            </a:pPr>
            <a:r>
              <a:rPr lang="en-US" altLang="zh-CN" dirty="0"/>
              <a:t>PC1</a:t>
            </a:r>
            <a:r>
              <a:rPr lang="zh-CN" altLang="en-US" dirty="0"/>
              <a:t>欲与</a:t>
            </a:r>
            <a:r>
              <a:rPr lang="en-US" altLang="zh-CN" dirty="0"/>
              <a:t>PC2</a:t>
            </a:r>
            <a:r>
              <a:rPr lang="zh-CN" altLang="en-US" dirty="0"/>
              <a:t>通信，</a:t>
            </a:r>
            <a:r>
              <a:rPr lang="en-US" altLang="zh-CN" dirty="0"/>
              <a:t>PC1</a:t>
            </a:r>
            <a:r>
              <a:rPr lang="zh-CN" altLang="en-US" dirty="0"/>
              <a:t>发送</a:t>
            </a:r>
            <a:r>
              <a:rPr lang="en-US" altLang="zh-CN" dirty="0"/>
              <a:t>ARP</a:t>
            </a:r>
            <a:r>
              <a:rPr lang="zh-CN" altLang="en-US" dirty="0"/>
              <a:t>请求广播帧，试图请求</a:t>
            </a:r>
            <a:r>
              <a:rPr lang="en-US" altLang="zh-CN" dirty="0"/>
              <a:t>PC2</a:t>
            </a:r>
            <a:r>
              <a:rPr lang="zh-CN" altLang="en-US" dirty="0"/>
              <a:t>的</a:t>
            </a:r>
            <a:r>
              <a:rPr lang="en-US" altLang="zh-CN" dirty="0"/>
              <a:t>MAC</a:t>
            </a:r>
            <a:r>
              <a:rPr lang="zh-CN" altLang="en-US" dirty="0"/>
              <a:t>地址。</a:t>
            </a:r>
            <a:endParaRPr lang="en-US" altLang="zh-CN" dirty="0"/>
          </a:p>
          <a:p>
            <a:pPr marL="588600" lvl="1" indent="-228600">
              <a:buFont typeface="+mj-lt"/>
              <a:buAutoNum type="arabicPeriod"/>
            </a:pPr>
            <a:r>
              <a:rPr lang="en-US" altLang="zh-CN" dirty="0"/>
              <a:t>SW1</a:t>
            </a:r>
            <a:r>
              <a:rPr lang="zh-CN" altLang="en-US" dirty="0"/>
              <a:t>收到该帧后，根据</a:t>
            </a:r>
            <a:r>
              <a:rPr lang="en-US" altLang="zh-CN" dirty="0"/>
              <a:t>VAP</a:t>
            </a:r>
            <a:r>
              <a:rPr lang="zh-CN" altLang="en-US" dirty="0"/>
              <a:t>信息判断出流量所属的</a:t>
            </a:r>
            <a:r>
              <a:rPr lang="en-US" altLang="zh-CN" dirty="0"/>
              <a:t>BD ID</a:t>
            </a:r>
            <a:r>
              <a:rPr lang="zh-CN" altLang="en-US" dirty="0"/>
              <a:t>、需进入的</a:t>
            </a:r>
            <a:r>
              <a:rPr lang="en-US" altLang="zh-CN" dirty="0"/>
              <a:t>VXLAN</a:t>
            </a:r>
            <a:r>
              <a:rPr lang="zh-CN" altLang="en-US" dirty="0"/>
              <a:t>隧道及对应的</a:t>
            </a:r>
            <a:r>
              <a:rPr lang="en-US" altLang="zh-CN" dirty="0"/>
              <a:t>VNI</a:t>
            </a:r>
            <a:r>
              <a:rPr lang="zh-CN" altLang="en-US" dirty="0"/>
              <a:t>；同时学习</a:t>
            </a:r>
            <a:r>
              <a:rPr lang="en-US" altLang="zh-CN" dirty="0"/>
              <a:t>PC1</a:t>
            </a:r>
            <a:r>
              <a:rPr lang="zh-CN" altLang="en-US" dirty="0"/>
              <a:t>的</a:t>
            </a:r>
            <a:r>
              <a:rPr lang="en-US" altLang="zh-CN" dirty="0"/>
              <a:t>MAC</a:t>
            </a:r>
            <a:r>
              <a:rPr lang="zh-CN" altLang="en-US" dirty="0"/>
              <a:t>地址，将其与该</a:t>
            </a:r>
            <a:r>
              <a:rPr lang="en-US" altLang="zh-CN" dirty="0"/>
              <a:t>BD ID</a:t>
            </a:r>
            <a:r>
              <a:rPr lang="zh-CN" altLang="en-US" dirty="0"/>
              <a:t>、接收帧的接口等绑定。</a:t>
            </a:r>
            <a:endParaRPr lang="en-US" altLang="zh-CN" dirty="0"/>
          </a:p>
          <a:p>
            <a:pPr marL="588600" lvl="1" indent="-228600">
              <a:buFont typeface="+mj-lt"/>
              <a:buAutoNum type="arabicPeriod"/>
            </a:pPr>
            <a:r>
              <a:rPr lang="en-US" altLang="zh-CN" dirty="0"/>
              <a:t>SW1</a:t>
            </a:r>
            <a:r>
              <a:rPr lang="zh-CN" altLang="en-US" dirty="0"/>
              <a:t>对</a:t>
            </a:r>
            <a:r>
              <a:rPr lang="en-US" altLang="zh-CN" dirty="0"/>
              <a:t>ARP</a:t>
            </a:r>
            <a:r>
              <a:rPr lang="zh-CN" altLang="en-US" dirty="0"/>
              <a:t>请求广播帧进行</a:t>
            </a:r>
            <a:r>
              <a:rPr lang="en-US" altLang="zh-CN" dirty="0"/>
              <a:t>VXLAN</a:t>
            </a:r>
            <a:r>
              <a:rPr lang="zh-CN" altLang="en-US" dirty="0"/>
              <a:t>封装，按头端复制列表进行转发。</a:t>
            </a:r>
            <a:endParaRPr lang="en-US" altLang="zh-CN" dirty="0"/>
          </a:p>
          <a:p>
            <a:pPr marL="588600" lvl="1" indent="-228600">
              <a:buFont typeface="+mj-lt"/>
              <a:buAutoNum type="arabicPeriod"/>
            </a:pPr>
            <a:r>
              <a:rPr lang="en-US" altLang="zh-CN" dirty="0"/>
              <a:t>SW2</a:t>
            </a:r>
            <a:r>
              <a:rPr lang="zh-CN" altLang="en-US" dirty="0"/>
              <a:t>收到</a:t>
            </a:r>
            <a:r>
              <a:rPr lang="en-US" altLang="zh-CN" dirty="0"/>
              <a:t>VXLAN</a:t>
            </a:r>
            <a:r>
              <a:rPr lang="zh-CN" altLang="en-US" dirty="0"/>
              <a:t>报文后，将其解封装，得到原始数据帧；同时学习</a:t>
            </a:r>
            <a:r>
              <a:rPr lang="en-US" altLang="zh-CN" dirty="0"/>
              <a:t>PC1</a:t>
            </a:r>
            <a:r>
              <a:rPr lang="zh-CN" altLang="en-US" dirty="0"/>
              <a:t>的</a:t>
            </a:r>
            <a:r>
              <a:rPr lang="en-US" altLang="zh-CN" dirty="0"/>
              <a:t>MAC</a:t>
            </a:r>
            <a:r>
              <a:rPr lang="zh-CN" altLang="en-US" dirty="0"/>
              <a:t>地址，将该地址与</a:t>
            </a:r>
            <a:r>
              <a:rPr lang="en-US" altLang="zh-CN" dirty="0"/>
              <a:t>SW1</a:t>
            </a:r>
            <a:r>
              <a:rPr lang="zh-CN" altLang="en-US" dirty="0"/>
              <a:t>的</a:t>
            </a:r>
            <a:r>
              <a:rPr lang="en-US" altLang="zh-CN" dirty="0"/>
              <a:t>VTEP</a:t>
            </a:r>
            <a:r>
              <a:rPr lang="zh-CN" altLang="en-US" dirty="0"/>
              <a:t>地址进行绑定。</a:t>
            </a:r>
            <a:endParaRPr lang="en-US" altLang="zh-CN" dirty="0"/>
          </a:p>
          <a:p>
            <a:pPr marL="588600" lvl="1" indent="-228600">
              <a:buFont typeface="+mj-lt"/>
              <a:buAutoNum type="arabicPeriod"/>
            </a:pPr>
            <a:r>
              <a:rPr lang="en-US" altLang="zh-CN" dirty="0"/>
              <a:t>SW2</a:t>
            </a:r>
            <a:r>
              <a:rPr lang="zh-CN" altLang="en-US" dirty="0"/>
              <a:t>将该</a:t>
            </a:r>
            <a:r>
              <a:rPr lang="en-US" altLang="zh-CN" dirty="0"/>
              <a:t>ARP</a:t>
            </a:r>
            <a:r>
              <a:rPr lang="zh-CN" altLang="en-US" dirty="0"/>
              <a:t>帧在本地广播域内泛洪。然后，</a:t>
            </a:r>
            <a:r>
              <a:rPr lang="en-US" altLang="zh-CN" dirty="0"/>
              <a:t>PC2</a:t>
            </a:r>
            <a:r>
              <a:rPr lang="zh-CN" altLang="en-US" dirty="0"/>
              <a:t>收到了该帧并学习到了</a:t>
            </a:r>
            <a:r>
              <a:rPr lang="en-US" altLang="zh-CN" dirty="0"/>
              <a:t>PC1</a:t>
            </a:r>
            <a:r>
              <a:rPr lang="zh-CN" altLang="en-US" dirty="0"/>
              <a:t>的</a:t>
            </a:r>
            <a:r>
              <a:rPr lang="en-US" altLang="zh-CN" dirty="0"/>
              <a:t>ARP</a:t>
            </a:r>
            <a:r>
              <a:rPr lang="zh-CN" altLang="en-US" dirty="0"/>
              <a:t>信息。 </a:t>
            </a:r>
            <a:endParaRPr lang="en-US" altLang="zh-CN"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8214026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588600" lvl="1" indent="-228600">
              <a:buFont typeface="+mj-lt"/>
              <a:buAutoNum type="arabicPeriod" startAt="6"/>
            </a:pPr>
            <a:r>
              <a:rPr lang="en-US" altLang="zh-CN" dirty="0"/>
              <a:t>PC2</a:t>
            </a:r>
            <a:r>
              <a:rPr lang="zh-CN" altLang="en-US" dirty="0"/>
              <a:t>发送单播的</a:t>
            </a:r>
            <a:r>
              <a:rPr lang="en-US" altLang="zh-CN" dirty="0"/>
              <a:t>ARP</a:t>
            </a:r>
            <a:r>
              <a:rPr lang="zh-CN" altLang="en-US" dirty="0"/>
              <a:t>回应。</a:t>
            </a:r>
            <a:endParaRPr lang="en-US" altLang="zh-CN" dirty="0"/>
          </a:p>
          <a:p>
            <a:pPr marL="588600" lvl="1" indent="-228600">
              <a:buFont typeface="+mj-lt"/>
              <a:buAutoNum type="arabicPeriod" startAt="6"/>
            </a:pPr>
            <a:r>
              <a:rPr lang="en-US" altLang="zh-CN" dirty="0"/>
              <a:t>SW2</a:t>
            </a:r>
            <a:r>
              <a:rPr lang="zh-CN" altLang="en-US" dirty="0"/>
              <a:t>此时已经拥有</a:t>
            </a:r>
            <a:r>
              <a:rPr lang="en-US" altLang="zh-CN" dirty="0"/>
              <a:t>PC1</a:t>
            </a:r>
            <a:r>
              <a:rPr lang="zh-CN" altLang="en-US" dirty="0"/>
              <a:t>的</a:t>
            </a:r>
            <a:r>
              <a:rPr lang="en-US" altLang="zh-CN" dirty="0"/>
              <a:t>MAC</a:t>
            </a:r>
            <a:r>
              <a:rPr lang="zh-CN" altLang="en-US" dirty="0"/>
              <a:t>地址表项，因此将会单播转发，并且学习</a:t>
            </a:r>
            <a:r>
              <a:rPr lang="en-US" altLang="zh-CN" dirty="0"/>
              <a:t>PC2</a:t>
            </a:r>
            <a:r>
              <a:rPr lang="zh-CN" altLang="en-US" dirty="0"/>
              <a:t>的源</a:t>
            </a:r>
            <a:r>
              <a:rPr lang="en-US" altLang="zh-CN" dirty="0"/>
              <a:t>MAC</a:t>
            </a:r>
            <a:r>
              <a:rPr lang="zh-CN" altLang="en-US" dirty="0"/>
              <a:t>地址到</a:t>
            </a:r>
            <a:r>
              <a:rPr lang="en-US" altLang="zh-CN" dirty="0"/>
              <a:t>MAC</a:t>
            </a:r>
            <a:r>
              <a:rPr lang="zh-CN" altLang="en-US" dirty="0"/>
              <a:t>地址表项中。</a:t>
            </a:r>
            <a:endParaRPr lang="en-US" altLang="zh-CN" dirty="0"/>
          </a:p>
          <a:p>
            <a:pPr marL="588600" lvl="1" indent="-228600">
              <a:buFont typeface="+mj-lt"/>
              <a:buAutoNum type="arabicPeriod" startAt="6"/>
            </a:pPr>
            <a:r>
              <a:rPr lang="en-US" altLang="zh-CN" dirty="0"/>
              <a:t>SW2</a:t>
            </a:r>
            <a:r>
              <a:rPr lang="zh-CN" altLang="en-US" dirty="0"/>
              <a:t>为该</a:t>
            </a:r>
            <a:r>
              <a:rPr lang="en-US" altLang="zh-CN" dirty="0"/>
              <a:t>ARP</a:t>
            </a:r>
            <a:r>
              <a:rPr lang="zh-CN" altLang="en-US" dirty="0"/>
              <a:t>响应加上</a:t>
            </a:r>
            <a:r>
              <a:rPr lang="en-US" altLang="zh-CN" dirty="0"/>
              <a:t>VXLAN</a:t>
            </a:r>
            <a:r>
              <a:rPr lang="zh-CN" altLang="en-US" dirty="0"/>
              <a:t>封装，发送到远端</a:t>
            </a:r>
            <a:r>
              <a:rPr lang="en-US" altLang="zh-CN" dirty="0"/>
              <a:t>VTEP 1.1.1.1</a:t>
            </a:r>
            <a:r>
              <a:rPr lang="zh-CN" altLang="en-US" dirty="0"/>
              <a:t>。</a:t>
            </a:r>
            <a:endParaRPr lang="en-US" altLang="zh-CN" dirty="0"/>
          </a:p>
          <a:p>
            <a:pPr marL="588600" lvl="1" indent="-228600">
              <a:buFont typeface="+mj-lt"/>
              <a:buAutoNum type="arabicPeriod" startAt="6"/>
            </a:pPr>
            <a:r>
              <a:rPr lang="en-US" altLang="zh-CN" dirty="0"/>
              <a:t>SW1</a:t>
            </a:r>
            <a:r>
              <a:rPr lang="zh-CN" altLang="en-US" dirty="0"/>
              <a:t>收到</a:t>
            </a:r>
            <a:r>
              <a:rPr lang="en-US" altLang="zh-CN" dirty="0"/>
              <a:t>VXLAN</a:t>
            </a:r>
            <a:r>
              <a:rPr lang="zh-CN" altLang="en-US" dirty="0"/>
              <a:t>报文之后解封装，将</a:t>
            </a:r>
            <a:r>
              <a:rPr lang="en-US" altLang="zh-CN" dirty="0"/>
              <a:t>PC2</a:t>
            </a:r>
            <a:r>
              <a:rPr lang="zh-CN" altLang="en-US" dirty="0"/>
              <a:t>的源</a:t>
            </a:r>
            <a:r>
              <a:rPr lang="en-US" altLang="zh-CN" dirty="0"/>
              <a:t>MAC</a:t>
            </a:r>
            <a:r>
              <a:rPr lang="zh-CN" altLang="en-US" dirty="0"/>
              <a:t>地址记录到</a:t>
            </a:r>
            <a:r>
              <a:rPr lang="en-US" altLang="zh-CN" dirty="0"/>
              <a:t>MAC</a:t>
            </a:r>
            <a:r>
              <a:rPr lang="zh-CN" altLang="en-US" dirty="0"/>
              <a:t>地址表，出接口为远端</a:t>
            </a:r>
            <a:r>
              <a:rPr lang="en-US" altLang="zh-CN" dirty="0"/>
              <a:t>VTEP</a:t>
            </a:r>
            <a:r>
              <a:rPr lang="zh-CN" altLang="en-US" dirty="0"/>
              <a:t>。</a:t>
            </a:r>
            <a:endParaRPr lang="en-US" altLang="zh-CN" dirty="0"/>
          </a:p>
          <a:p>
            <a:pPr marL="588600" lvl="1" indent="-228600">
              <a:buFont typeface="+mj-lt"/>
              <a:buAutoNum type="arabicPeriod" startAt="6"/>
            </a:pPr>
            <a:r>
              <a:rPr lang="en-US" altLang="zh-CN" dirty="0"/>
              <a:t>SW1</a:t>
            </a:r>
            <a:r>
              <a:rPr lang="zh-CN" altLang="en-US" dirty="0"/>
              <a:t>将数据帧转发给</a:t>
            </a:r>
            <a:r>
              <a:rPr lang="en-US" altLang="zh-CN" dirty="0"/>
              <a:t>PC1</a:t>
            </a:r>
            <a:r>
              <a:rPr lang="zh-CN" altLang="en-US" dirty="0"/>
              <a:t>。</a:t>
            </a:r>
            <a:endParaRPr lang="en-US" altLang="zh-CN" dirty="0"/>
          </a:p>
          <a:p>
            <a:r>
              <a:rPr lang="zh-CN" altLang="en-US" dirty="0"/>
              <a:t>至此，</a:t>
            </a:r>
            <a:r>
              <a:rPr lang="en-US" altLang="zh-CN" dirty="0"/>
              <a:t>PC1</a:t>
            </a:r>
            <a:r>
              <a:rPr lang="zh-CN" altLang="en-US" dirty="0"/>
              <a:t>、</a:t>
            </a:r>
            <a:r>
              <a:rPr lang="en-US" altLang="zh-CN" dirty="0"/>
              <a:t>PC2</a:t>
            </a:r>
            <a:r>
              <a:rPr lang="zh-CN" altLang="en-US" dirty="0"/>
              <a:t>相互学习到了对方的</a:t>
            </a:r>
            <a:r>
              <a:rPr lang="en-US" altLang="zh-CN" dirty="0"/>
              <a:t>ARP</a:t>
            </a:r>
            <a:r>
              <a:rPr lang="zh-CN" altLang="en-US" dirty="0"/>
              <a:t>信息，</a:t>
            </a:r>
            <a:r>
              <a:rPr lang="en-US" altLang="zh-CN" dirty="0"/>
              <a:t>SW1</a:t>
            </a:r>
            <a:r>
              <a:rPr lang="zh-CN" altLang="en-US" dirty="0"/>
              <a:t>、</a:t>
            </a:r>
            <a:r>
              <a:rPr lang="en-US" altLang="zh-CN" dirty="0"/>
              <a:t>SW2</a:t>
            </a:r>
            <a:r>
              <a:rPr lang="zh-CN" altLang="en-US" dirty="0"/>
              <a:t>上也学习到了相应的</a:t>
            </a:r>
            <a:r>
              <a:rPr lang="en-US" altLang="zh-CN" dirty="0"/>
              <a:t>MAC</a:t>
            </a:r>
            <a:r>
              <a:rPr lang="zh-CN" altLang="en-US" dirty="0"/>
              <a:t>地址信息。</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8316818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609607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433683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PC1</a:t>
            </a:r>
            <a:r>
              <a:rPr lang="zh-CN" altLang="en-US" dirty="0"/>
              <a:t>希望与</a:t>
            </a:r>
            <a:r>
              <a:rPr lang="en-US" altLang="zh-CN" dirty="0"/>
              <a:t>PC2</a:t>
            </a:r>
            <a:r>
              <a:rPr lang="zh-CN" altLang="en-US" dirty="0"/>
              <a:t>进行通信，本地计算发现对端与自身不在同一个子网，此时将报文发送给网关。</a:t>
            </a:r>
            <a:endParaRPr lang="en-US" altLang="zh-CN" dirty="0"/>
          </a:p>
          <a:p>
            <a:pPr lvl="0"/>
            <a:r>
              <a:rPr lang="en-US" altLang="zh-CN" dirty="0"/>
              <a:t>PC1</a:t>
            </a:r>
            <a:r>
              <a:rPr lang="zh-CN" altLang="en-US" dirty="0"/>
              <a:t>发往</a:t>
            </a:r>
            <a:r>
              <a:rPr lang="en-US" altLang="zh-CN" dirty="0"/>
              <a:t>PC2</a:t>
            </a:r>
            <a:r>
              <a:rPr lang="zh-CN" altLang="en-US" dirty="0"/>
              <a:t>的数据帧，目的</a:t>
            </a:r>
            <a:r>
              <a:rPr lang="en-US" altLang="zh-CN" dirty="0"/>
              <a:t>MAC</a:t>
            </a:r>
            <a:r>
              <a:rPr lang="zh-CN" altLang="en-US" dirty="0"/>
              <a:t>为：</a:t>
            </a:r>
            <a:r>
              <a:rPr lang="en-US" altLang="zh-CN" dirty="0">
                <a:sym typeface="Huawei Sans" panose="020C0503030203020204" pitchFamily="34" charset="0"/>
              </a:rPr>
              <a:t>00AB-09FF-1111</a:t>
            </a:r>
            <a:r>
              <a:rPr lang="zh-CN" altLang="en-US" dirty="0">
                <a:sym typeface="Huawei Sans" panose="020C0503030203020204" pitchFamily="34" charset="0"/>
              </a:rPr>
              <a:t>（网关</a:t>
            </a:r>
            <a:r>
              <a:rPr lang="en-US" altLang="zh-CN" dirty="0">
                <a:sym typeface="Huawei Sans" panose="020C0503030203020204" pitchFamily="34" charset="0"/>
              </a:rPr>
              <a:t>MAC</a:t>
            </a:r>
            <a:r>
              <a:rPr lang="zh-CN" altLang="en-US" dirty="0">
                <a:sym typeface="Huawei Sans" panose="020C0503030203020204" pitchFamily="34" charset="0"/>
              </a:rPr>
              <a:t>地址），</a:t>
            </a:r>
            <a:r>
              <a:rPr lang="en-US" altLang="zh-CN" dirty="0">
                <a:sym typeface="Huawei Sans" panose="020C0503030203020204" pitchFamily="34" charset="0"/>
              </a:rPr>
              <a:t>SW1</a:t>
            </a:r>
            <a:r>
              <a:rPr lang="zh-CN" altLang="en-US" dirty="0">
                <a:sym typeface="Huawei Sans" panose="020C0503030203020204" pitchFamily="34" charset="0"/>
              </a:rPr>
              <a:t>收到之后执行</a:t>
            </a:r>
            <a:r>
              <a:rPr lang="en-US" altLang="zh-CN" dirty="0">
                <a:sym typeface="Huawei Sans" panose="020C0503030203020204" pitchFamily="34" charset="0"/>
              </a:rPr>
              <a:t>L2</a:t>
            </a:r>
            <a:r>
              <a:rPr lang="zh-CN" altLang="en-US" dirty="0">
                <a:sym typeface="Huawei Sans" panose="020C0503030203020204" pitchFamily="34" charset="0"/>
              </a:rPr>
              <a:t>查表发现出接口为远端</a:t>
            </a:r>
            <a:r>
              <a:rPr lang="en-US" altLang="zh-CN" dirty="0">
                <a:sym typeface="Huawei Sans" panose="020C0503030203020204" pitchFamily="34" charset="0"/>
              </a:rPr>
              <a:t>VTEP</a:t>
            </a:r>
            <a:r>
              <a:rPr lang="zh-CN" altLang="en-US" dirty="0">
                <a:sym typeface="Huawei Sans" panose="020C0503030203020204" pitchFamily="34" charset="0"/>
              </a:rPr>
              <a:t>（即</a:t>
            </a:r>
            <a:r>
              <a:rPr lang="en-US" altLang="zh-CN" dirty="0">
                <a:sym typeface="Huawei Sans" panose="020C0503030203020204" pitchFamily="34" charset="0"/>
              </a:rPr>
              <a:t>L3</a:t>
            </a:r>
            <a:r>
              <a:rPr lang="zh-CN" altLang="en-US" dirty="0">
                <a:sym typeface="Huawei Sans" panose="020C0503030203020204" pitchFamily="34" charset="0"/>
              </a:rPr>
              <a:t>网关），将报文加上</a:t>
            </a:r>
            <a:r>
              <a:rPr lang="en-US" altLang="zh-CN" dirty="0">
                <a:sym typeface="Huawei Sans" panose="020C0503030203020204" pitchFamily="34" charset="0"/>
              </a:rPr>
              <a:t>VXLAN</a:t>
            </a:r>
            <a:r>
              <a:rPr lang="zh-CN" altLang="en-US" dirty="0">
                <a:sym typeface="Huawei Sans" panose="020C0503030203020204" pitchFamily="34" charset="0"/>
              </a:rPr>
              <a:t>头部封装（</a:t>
            </a:r>
            <a:r>
              <a:rPr lang="en-US" altLang="zh-CN" dirty="0">
                <a:sym typeface="Huawei Sans" panose="020C0503030203020204" pitchFamily="34" charset="0"/>
              </a:rPr>
              <a:t>VNI =1000</a:t>
            </a:r>
            <a:r>
              <a:rPr lang="zh-CN" altLang="en-US" dirty="0">
                <a:sym typeface="Huawei Sans" panose="020C0503030203020204" pitchFamily="34" charset="0"/>
              </a:rPr>
              <a:t>）之后发往</a:t>
            </a:r>
            <a:r>
              <a:rPr lang="en-US" altLang="zh-CN" dirty="0">
                <a:sym typeface="Huawei Sans" panose="020C0503030203020204" pitchFamily="34" charset="0"/>
              </a:rPr>
              <a:t>SW3</a:t>
            </a:r>
            <a:r>
              <a:rPr lang="zh-CN" altLang="en-US" dirty="0">
                <a:sym typeface="Huawei Sans" panose="020C0503030203020204" pitchFamily="34" charset="0"/>
              </a:rPr>
              <a:t>。</a:t>
            </a:r>
            <a:endParaRPr lang="en-US" altLang="zh-CN" dirty="0">
              <a:sym typeface="Huawei Sans" panose="020C0503030203020204" pitchFamily="34" charset="0"/>
            </a:endParaRPr>
          </a:p>
          <a:p>
            <a:pPr lvl="0"/>
            <a:r>
              <a:rPr lang="en-US" altLang="zh-CN" dirty="0">
                <a:sym typeface="Huawei Sans" panose="020C0503030203020204" pitchFamily="34" charset="0"/>
              </a:rPr>
              <a:t>SW3</a:t>
            </a:r>
            <a:r>
              <a:rPr lang="zh-CN" altLang="en-US" dirty="0">
                <a:sym typeface="Huawei Sans" panose="020C0503030203020204" pitchFamily="34" charset="0"/>
              </a:rPr>
              <a:t>收到报文之后解</a:t>
            </a:r>
            <a:r>
              <a:rPr lang="en-US" altLang="zh-CN" dirty="0">
                <a:sym typeface="Huawei Sans" panose="020C0503030203020204" pitchFamily="34" charset="0"/>
              </a:rPr>
              <a:t>VXLAN</a:t>
            </a:r>
            <a:r>
              <a:rPr lang="zh-CN" altLang="en-US" dirty="0">
                <a:sym typeface="Huawei Sans" panose="020C0503030203020204" pitchFamily="34" charset="0"/>
              </a:rPr>
              <a:t>封装发现，内部原始数据帧其目的</a:t>
            </a:r>
            <a:r>
              <a:rPr lang="en-US" altLang="zh-CN" dirty="0">
                <a:sym typeface="Huawei Sans" panose="020C0503030203020204" pitchFamily="34" charset="0"/>
              </a:rPr>
              <a:t>MAC</a:t>
            </a:r>
            <a:r>
              <a:rPr lang="zh-CN" altLang="en-US" dirty="0">
                <a:sym typeface="Huawei Sans" panose="020C0503030203020204" pitchFamily="34" charset="0"/>
              </a:rPr>
              <a:t>为：</a:t>
            </a:r>
            <a:r>
              <a:rPr lang="en-US" altLang="zh-CN" dirty="0">
                <a:sym typeface="Huawei Sans" panose="020C0503030203020204" pitchFamily="34" charset="0"/>
              </a:rPr>
              <a:t>00AB-09FF-1111</a:t>
            </a:r>
            <a:r>
              <a:rPr lang="zh-CN" altLang="en-US" dirty="0">
                <a:sym typeface="Huawei Sans" panose="020C0503030203020204" pitchFamily="34" charset="0"/>
              </a:rPr>
              <a:t>，为自身接口</a:t>
            </a:r>
            <a:r>
              <a:rPr lang="en-US" altLang="zh-CN" dirty="0">
                <a:sym typeface="Huawei Sans" panose="020C0503030203020204" pitchFamily="34" charset="0"/>
              </a:rPr>
              <a:t>VBDIF 10</a:t>
            </a:r>
            <a:r>
              <a:rPr lang="zh-CN" altLang="en-US" dirty="0">
                <a:sym typeface="Huawei Sans" panose="020C0503030203020204" pitchFamily="34" charset="0"/>
              </a:rPr>
              <a:t>的</a:t>
            </a:r>
            <a:r>
              <a:rPr lang="en-US" altLang="zh-CN" dirty="0">
                <a:sym typeface="Huawei Sans" panose="020C0503030203020204" pitchFamily="34" charset="0"/>
              </a:rPr>
              <a:t>MAC</a:t>
            </a:r>
            <a:r>
              <a:rPr lang="zh-CN" altLang="en-US" dirty="0">
                <a:sym typeface="Huawei Sans" panose="020C0503030203020204" pitchFamily="34" charset="0"/>
              </a:rPr>
              <a:t>地址，此时需要执行</a:t>
            </a:r>
            <a:r>
              <a:rPr lang="en-US" altLang="zh-CN" dirty="0">
                <a:sym typeface="Huawei Sans" panose="020C0503030203020204" pitchFamily="34" charset="0"/>
              </a:rPr>
              <a:t>L3</a:t>
            </a:r>
            <a:r>
              <a:rPr lang="zh-CN" altLang="en-US" dirty="0">
                <a:sym typeface="Huawei Sans" panose="020C0503030203020204" pitchFamily="34" charset="0"/>
              </a:rPr>
              <a:t>查表转发。</a:t>
            </a:r>
            <a:endParaRPr lang="en-US" altLang="zh-CN" dirty="0">
              <a:sym typeface="Huawei Sans" panose="020C0503030203020204" pitchFamily="34" charset="0"/>
            </a:endParaRPr>
          </a:p>
          <a:p>
            <a:pPr lvl="0"/>
            <a:r>
              <a:rPr lang="en-US" altLang="zh-CN" dirty="0">
                <a:sym typeface="Huawei Sans" panose="020C0503030203020204" pitchFamily="34" charset="0"/>
              </a:rPr>
              <a:t>SW3</a:t>
            </a:r>
            <a:r>
              <a:rPr lang="zh-CN" altLang="en-US" dirty="0">
                <a:sym typeface="Huawei Sans" panose="020C0503030203020204" pitchFamily="34" charset="0"/>
              </a:rPr>
              <a:t>查找路由表，发现目的</a:t>
            </a:r>
            <a:r>
              <a:rPr lang="en-US" altLang="zh-CN" dirty="0">
                <a:sym typeface="Huawei Sans" panose="020C0503030203020204" pitchFamily="34" charset="0"/>
              </a:rPr>
              <a:t>IP</a:t>
            </a:r>
            <a:r>
              <a:rPr lang="zh-CN" altLang="en-US" dirty="0">
                <a:sym typeface="Huawei Sans" panose="020C0503030203020204" pitchFamily="34" charset="0"/>
              </a:rPr>
              <a:t>：</a:t>
            </a:r>
            <a:r>
              <a:rPr lang="en-US" altLang="zh-CN" dirty="0">
                <a:sym typeface="Huawei Sans" panose="020C0503030203020204" pitchFamily="34" charset="0"/>
              </a:rPr>
              <a:t>192.168.2.1</a:t>
            </a:r>
            <a:r>
              <a:rPr lang="zh-CN" altLang="en-US" dirty="0">
                <a:sym typeface="Huawei Sans" panose="020C0503030203020204" pitchFamily="34" charset="0"/>
              </a:rPr>
              <a:t>，与本地接口</a:t>
            </a:r>
            <a:r>
              <a:rPr lang="en-US" altLang="zh-CN" dirty="0">
                <a:sym typeface="Huawei Sans" panose="020C0503030203020204" pitchFamily="34" charset="0"/>
              </a:rPr>
              <a:t>VBDIF 20</a:t>
            </a:r>
            <a:r>
              <a:rPr lang="zh-CN" altLang="en-US" dirty="0">
                <a:sym typeface="Huawei Sans" panose="020C0503030203020204" pitchFamily="34" charset="0"/>
              </a:rPr>
              <a:t>产生的直连路由相匹配，查找</a:t>
            </a:r>
            <a:r>
              <a:rPr lang="en-US" altLang="zh-CN" dirty="0">
                <a:sym typeface="Huawei Sans" panose="020C0503030203020204" pitchFamily="34" charset="0"/>
              </a:rPr>
              <a:t>ARP</a:t>
            </a:r>
            <a:r>
              <a:rPr lang="zh-CN" altLang="en-US" dirty="0">
                <a:sym typeface="Huawei Sans" panose="020C0503030203020204" pitchFamily="34" charset="0"/>
              </a:rPr>
              <a:t>表项确定报文目的</a:t>
            </a:r>
            <a:r>
              <a:rPr lang="en-US" altLang="zh-CN" dirty="0">
                <a:sym typeface="Huawei Sans" panose="020C0503030203020204" pitchFamily="34" charset="0"/>
              </a:rPr>
              <a:t>MAC</a:t>
            </a:r>
            <a:r>
              <a:rPr lang="zh-CN" altLang="en-US" dirty="0">
                <a:sym typeface="Huawei Sans" panose="020C0503030203020204" pitchFamily="34" charset="0"/>
              </a:rPr>
              <a:t>，再查找</a:t>
            </a:r>
            <a:r>
              <a:rPr lang="en-US" altLang="zh-CN" dirty="0">
                <a:sym typeface="Huawei Sans" panose="020C0503030203020204" pitchFamily="34" charset="0"/>
              </a:rPr>
              <a:t>MAC</a:t>
            </a:r>
            <a:r>
              <a:rPr lang="zh-CN" altLang="en-US" dirty="0">
                <a:sym typeface="Huawei Sans" panose="020C0503030203020204" pitchFamily="34" charset="0"/>
              </a:rPr>
              <a:t>地址表确定报文的出接口。</a:t>
            </a:r>
            <a:r>
              <a:rPr lang="en-US" altLang="zh-CN" dirty="0">
                <a:sym typeface="Huawei Sans" panose="020C0503030203020204" pitchFamily="34" charset="0"/>
              </a:rPr>
              <a:t>SW3</a:t>
            </a:r>
            <a:r>
              <a:rPr lang="zh-CN" altLang="en-US" dirty="0">
                <a:sym typeface="Huawei Sans" panose="020C0503030203020204" pitchFamily="34" charset="0"/>
              </a:rPr>
              <a:t>中前往</a:t>
            </a:r>
            <a:r>
              <a:rPr lang="en-US" altLang="zh-CN" dirty="0">
                <a:sym typeface="Huawei Sans" panose="020C0503030203020204" pitchFamily="34" charset="0"/>
              </a:rPr>
              <a:t>192.168.2.1</a:t>
            </a:r>
            <a:r>
              <a:rPr lang="zh-CN" altLang="en-US" dirty="0">
                <a:sym typeface="Huawei Sans" panose="020C0503030203020204" pitchFamily="34" charset="0"/>
              </a:rPr>
              <a:t>所对应</a:t>
            </a:r>
            <a:r>
              <a:rPr lang="en-US" altLang="zh-CN" dirty="0">
                <a:sym typeface="Huawei Sans" panose="020C0503030203020204" pitchFamily="34" charset="0"/>
              </a:rPr>
              <a:t>MAC</a:t>
            </a:r>
            <a:r>
              <a:rPr lang="zh-CN" altLang="en-US" dirty="0">
                <a:sym typeface="Huawei Sans" panose="020C0503030203020204" pitchFamily="34" charset="0"/>
              </a:rPr>
              <a:t>地址的出接口为远端</a:t>
            </a:r>
            <a:r>
              <a:rPr lang="en-US" altLang="zh-CN" dirty="0">
                <a:sym typeface="Huawei Sans" panose="020C0503030203020204" pitchFamily="34" charset="0"/>
              </a:rPr>
              <a:t>VTEP 2.2.2.2</a:t>
            </a:r>
            <a:r>
              <a:rPr lang="zh-CN" altLang="en-US" dirty="0">
                <a:sym typeface="Huawei Sans" panose="020C0503030203020204" pitchFamily="34" charset="0"/>
              </a:rPr>
              <a:t>，将报文加上</a:t>
            </a:r>
            <a:r>
              <a:rPr lang="en-US" altLang="zh-CN" dirty="0">
                <a:sym typeface="Huawei Sans" panose="020C0503030203020204" pitchFamily="34" charset="0"/>
              </a:rPr>
              <a:t>VXLAN</a:t>
            </a:r>
            <a:r>
              <a:rPr lang="zh-CN" altLang="en-US" dirty="0">
                <a:sym typeface="Huawei Sans" panose="020C0503030203020204" pitchFamily="34" charset="0"/>
              </a:rPr>
              <a:t>封装，送往</a:t>
            </a:r>
            <a:r>
              <a:rPr lang="en-US" altLang="zh-CN" dirty="0">
                <a:sym typeface="Huawei Sans" panose="020C0503030203020204" pitchFamily="34" charset="0"/>
              </a:rPr>
              <a:t>SW2</a:t>
            </a:r>
            <a:r>
              <a:rPr lang="zh-CN" altLang="en-US" dirty="0">
                <a:sym typeface="Huawei Sans" panose="020C0503030203020204" pitchFamily="34" charset="0"/>
              </a:rPr>
              <a:t>。</a:t>
            </a:r>
            <a:endParaRPr lang="en-US" altLang="zh-CN" dirty="0">
              <a:sym typeface="Huawei Sans" panose="020C0503030203020204" pitchFamily="34" charset="0"/>
            </a:endParaRPr>
          </a:p>
          <a:p>
            <a:pPr lvl="0"/>
            <a:r>
              <a:rPr lang="en-US" altLang="zh-CN" dirty="0">
                <a:sym typeface="Huawei Sans" panose="020C0503030203020204" pitchFamily="34" charset="0"/>
              </a:rPr>
              <a:t>SW2</a:t>
            </a:r>
            <a:r>
              <a:rPr lang="zh-CN" altLang="en-US" dirty="0">
                <a:sym typeface="Huawei Sans" panose="020C0503030203020204" pitchFamily="34" charset="0"/>
              </a:rPr>
              <a:t>收到报文之后解</a:t>
            </a:r>
            <a:r>
              <a:rPr lang="en-US" altLang="zh-CN" dirty="0">
                <a:sym typeface="Huawei Sans" panose="020C0503030203020204" pitchFamily="34" charset="0"/>
              </a:rPr>
              <a:t>VXLAN</a:t>
            </a:r>
            <a:r>
              <a:rPr lang="zh-CN" altLang="en-US" dirty="0">
                <a:sym typeface="Huawei Sans" panose="020C0503030203020204" pitchFamily="34" charset="0"/>
              </a:rPr>
              <a:t>封装发现目的</a:t>
            </a:r>
            <a:r>
              <a:rPr lang="en-US" altLang="zh-CN" dirty="0">
                <a:sym typeface="Huawei Sans" panose="020C0503030203020204" pitchFamily="34" charset="0"/>
              </a:rPr>
              <a:t>MAC</a:t>
            </a:r>
            <a:r>
              <a:rPr lang="zh-CN" altLang="en-US" dirty="0">
                <a:sym typeface="Huawei Sans" panose="020C0503030203020204" pitchFamily="34" charset="0"/>
              </a:rPr>
              <a:t>并非自身任何接口的</a:t>
            </a:r>
            <a:r>
              <a:rPr lang="en-US" altLang="zh-CN" dirty="0">
                <a:sym typeface="Huawei Sans" panose="020C0503030203020204" pitchFamily="34" charset="0"/>
              </a:rPr>
              <a:t>MAC</a:t>
            </a:r>
            <a:r>
              <a:rPr lang="zh-CN" altLang="en-US" dirty="0">
                <a:sym typeface="Huawei Sans" panose="020C0503030203020204" pitchFamily="34" charset="0"/>
              </a:rPr>
              <a:t>地址，执行</a:t>
            </a:r>
            <a:r>
              <a:rPr lang="en-US" altLang="zh-CN" dirty="0">
                <a:sym typeface="Huawei Sans" panose="020C0503030203020204" pitchFamily="34" charset="0"/>
              </a:rPr>
              <a:t>L2</a:t>
            </a:r>
            <a:r>
              <a:rPr lang="zh-CN" altLang="en-US" dirty="0">
                <a:sym typeface="Huawei Sans" panose="020C0503030203020204" pitchFamily="34" charset="0"/>
              </a:rPr>
              <a:t>查表转发，依据</a:t>
            </a:r>
            <a:r>
              <a:rPr lang="en-US" altLang="zh-CN" dirty="0">
                <a:sym typeface="Huawei Sans" panose="020C0503030203020204" pitchFamily="34" charset="0"/>
              </a:rPr>
              <a:t>MAC</a:t>
            </a:r>
            <a:r>
              <a:rPr lang="zh-CN" altLang="en-US" dirty="0">
                <a:sym typeface="Huawei Sans" panose="020C0503030203020204" pitchFamily="34" charset="0"/>
              </a:rPr>
              <a:t>地址表将报文从本地接口转发出去。</a:t>
            </a:r>
            <a:endParaRPr lang="en-US" altLang="zh-CN" dirty="0">
              <a:sym typeface="Huawei Sans" panose="020C0503030203020204" pitchFamily="34" charset="0"/>
            </a:endParaRPr>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283268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56462977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669020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679938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025937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思考</a:t>
            </a:r>
            <a:r>
              <a:rPr lang="en-US" altLang="zh-CN"/>
              <a:t>1</a:t>
            </a:r>
            <a:r>
              <a:rPr lang="zh-CN" altLang="en-US"/>
              <a:t>：</a:t>
            </a:r>
            <a:r>
              <a:rPr lang="en-US" altLang="zh-CN"/>
              <a:t>SW1</a:t>
            </a:r>
            <a:r>
              <a:rPr lang="zh-CN" altLang="en-US"/>
              <a:t>为二层子接口接入方式，而</a:t>
            </a:r>
            <a:r>
              <a:rPr lang="en-US" altLang="zh-CN"/>
              <a:t>SW2</a:t>
            </a:r>
            <a:r>
              <a:rPr lang="zh-CN" altLang="en-US"/>
              <a:t>为绑定</a:t>
            </a:r>
            <a:r>
              <a:rPr lang="en-US" altLang="zh-CN"/>
              <a:t>VLAN</a:t>
            </a:r>
            <a:r>
              <a:rPr lang="zh-CN" altLang="en-US"/>
              <a:t>的接入方式。</a:t>
            </a:r>
            <a:endParaRPr lang="en-US" altLang="zh-CN"/>
          </a:p>
          <a:p>
            <a:r>
              <a:rPr lang="zh-CN" altLang="en-US"/>
              <a:t>思考</a:t>
            </a:r>
            <a:r>
              <a:rPr lang="en-US" altLang="zh-CN"/>
              <a:t>2</a:t>
            </a:r>
            <a:r>
              <a:rPr lang="zh-CN" altLang="en-US"/>
              <a:t>：创建</a:t>
            </a:r>
            <a:r>
              <a:rPr lang="en-US" altLang="zh-CN"/>
              <a:t>VBDIF</a:t>
            </a:r>
            <a:r>
              <a:rPr lang="zh-CN" altLang="en-US"/>
              <a:t>接口作为对应</a:t>
            </a:r>
            <a:r>
              <a:rPr lang="en-US" altLang="zh-CN"/>
              <a:t>BD</a:t>
            </a:r>
            <a:r>
              <a:rPr lang="zh-CN" altLang="en-US"/>
              <a:t>内终端的网关。</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3409503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思考答案：在</a:t>
            </a:r>
            <a:r>
              <a:rPr lang="en-US" altLang="zh-CN" dirty="0"/>
              <a:t>SW3</a:t>
            </a:r>
            <a:r>
              <a:rPr lang="zh-CN" altLang="en-US" dirty="0"/>
              <a:t>上配置</a:t>
            </a:r>
            <a:r>
              <a:rPr lang="en-US" altLang="zh-CN" dirty="0"/>
              <a:t>NVE</a:t>
            </a:r>
            <a:r>
              <a:rPr lang="zh-CN" altLang="en-US" dirty="0"/>
              <a:t>接口和</a:t>
            </a:r>
            <a:r>
              <a:rPr lang="en-US" altLang="zh-CN" dirty="0"/>
              <a:t>SW1</a:t>
            </a:r>
            <a:r>
              <a:rPr lang="zh-CN" altLang="en-US" dirty="0"/>
              <a:t>、</a:t>
            </a:r>
            <a:r>
              <a:rPr lang="en-US" altLang="zh-CN" dirty="0"/>
              <a:t>SW2</a:t>
            </a:r>
            <a:r>
              <a:rPr lang="zh-CN" altLang="en-US" dirty="0"/>
              <a:t>对接，同时创建</a:t>
            </a:r>
            <a:r>
              <a:rPr lang="en-US" altLang="zh-CN" dirty="0"/>
              <a:t>VBDIF 100</a:t>
            </a:r>
            <a:r>
              <a:rPr lang="zh-CN" altLang="en-US" dirty="0"/>
              <a:t>、</a:t>
            </a:r>
            <a:r>
              <a:rPr lang="en-US" altLang="zh-CN" dirty="0"/>
              <a:t>VBDIF 200</a:t>
            </a:r>
            <a:r>
              <a:rPr lang="zh-CN" altLang="en-US" dirty="0"/>
              <a:t>作为</a:t>
            </a:r>
            <a:r>
              <a:rPr lang="en-US" altLang="zh-CN" dirty="0"/>
              <a:t>BD 100</a:t>
            </a:r>
            <a:r>
              <a:rPr lang="zh-CN" altLang="en-US" dirty="0"/>
              <a:t>、</a:t>
            </a:r>
            <a:r>
              <a:rPr lang="en-US" altLang="zh-CN" dirty="0"/>
              <a:t>BD 200</a:t>
            </a:r>
            <a:r>
              <a:rPr lang="zh-CN" altLang="en-US" dirty="0"/>
              <a:t>内终端的网关。</a:t>
            </a:r>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295258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思考答案：</a:t>
            </a:r>
            <a:r>
              <a:rPr lang="en-US" altLang="zh-CN" dirty="0"/>
              <a:t>SW2</a:t>
            </a:r>
            <a:r>
              <a:rPr lang="zh-CN" altLang="en-US" dirty="0"/>
              <a:t>的</a:t>
            </a:r>
            <a:r>
              <a:rPr lang="en-US" altLang="zh-CN" dirty="0"/>
              <a:t>GE1/0/1</a:t>
            </a:r>
            <a:r>
              <a:rPr lang="zh-CN" altLang="en-US" dirty="0"/>
              <a:t>配置为</a:t>
            </a:r>
            <a:r>
              <a:rPr lang="en-US" altLang="zh-CN" dirty="0"/>
              <a:t>Trunk</a:t>
            </a:r>
            <a:r>
              <a:rPr lang="zh-CN" altLang="en-US" dirty="0"/>
              <a:t>接口放通</a:t>
            </a:r>
            <a:r>
              <a:rPr lang="en-US" altLang="zh-CN" dirty="0"/>
              <a:t>VLAN 20</a:t>
            </a:r>
            <a:r>
              <a:rPr lang="zh-CN" altLang="en-US" dirty="0"/>
              <a:t>（实际配置为</a:t>
            </a:r>
            <a:r>
              <a:rPr lang="en-US" altLang="zh-CN" dirty="0"/>
              <a:t>Access</a:t>
            </a:r>
            <a:r>
              <a:rPr lang="zh-CN" altLang="en-US" dirty="0"/>
              <a:t>接口，</a:t>
            </a:r>
            <a:r>
              <a:rPr lang="en-US" altLang="zh-CN" dirty="0"/>
              <a:t>default VLAN</a:t>
            </a:r>
            <a:r>
              <a:rPr lang="zh-CN" altLang="en-US" dirty="0"/>
              <a:t>配置为</a:t>
            </a:r>
            <a:r>
              <a:rPr lang="en-US" altLang="zh-CN" dirty="0"/>
              <a:t>20</a:t>
            </a:r>
            <a:r>
              <a:rPr lang="zh-CN" altLang="en-US" dirty="0"/>
              <a:t>同样也可以），在</a:t>
            </a:r>
            <a:r>
              <a:rPr lang="en-US" altLang="zh-CN" dirty="0"/>
              <a:t>BD 200</a:t>
            </a:r>
            <a:r>
              <a:rPr lang="zh-CN" altLang="en-US" dirty="0"/>
              <a:t>中绑定</a:t>
            </a:r>
            <a:r>
              <a:rPr lang="en-US" altLang="zh-CN" dirty="0"/>
              <a:t>VLAN 20</a:t>
            </a:r>
            <a:r>
              <a:rPr lang="zh-CN" altLang="en-US" dirty="0"/>
              <a:t>。</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57736887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35357629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8618301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对于静态</a:t>
            </a:r>
            <a:r>
              <a:rPr lang="en-US" altLang="zh-CN" dirty="0"/>
              <a:t>VXLAN</a:t>
            </a:r>
            <a:r>
              <a:rPr lang="zh-CN" altLang="en-US" dirty="0"/>
              <a:t>，该方案没有控制平面，是通过数据平面的流量泛洪进行</a:t>
            </a:r>
            <a:r>
              <a:rPr lang="en-US" altLang="zh-CN" dirty="0"/>
              <a:t>VTEP</a:t>
            </a:r>
            <a:r>
              <a:rPr lang="zh-CN" altLang="en-US" dirty="0"/>
              <a:t>发现和主机信息（包括</a:t>
            </a:r>
            <a:r>
              <a:rPr lang="en-US" altLang="zh-CN" dirty="0"/>
              <a:t>IP</a:t>
            </a:r>
            <a:r>
              <a:rPr lang="zh-CN" altLang="en-US" dirty="0"/>
              <a:t>地址、</a:t>
            </a:r>
            <a:r>
              <a:rPr lang="en-US" altLang="zh-CN" dirty="0"/>
              <a:t>MAC</a:t>
            </a:r>
            <a:r>
              <a:rPr lang="zh-CN" altLang="en-US" dirty="0"/>
              <a:t>地址、</a:t>
            </a:r>
            <a:r>
              <a:rPr lang="en-US" altLang="zh-CN" dirty="0"/>
              <a:t>VNI</a:t>
            </a:r>
            <a:r>
              <a:rPr lang="zh-CN" altLang="en-US" dirty="0"/>
              <a:t>、网关</a:t>
            </a:r>
            <a:r>
              <a:rPr lang="en-US" altLang="zh-CN" dirty="0"/>
              <a:t>VTEP IP</a:t>
            </a:r>
            <a:r>
              <a:rPr lang="zh-CN" altLang="en-US" dirty="0"/>
              <a:t>地址）学习的，这种方式导致</a:t>
            </a:r>
            <a:r>
              <a:rPr lang="en-US" altLang="zh-CN" dirty="0"/>
              <a:t>VXLAN</a:t>
            </a:r>
            <a:r>
              <a:rPr lang="zh-CN" altLang="en-US" dirty="0"/>
              <a:t>网络存在很多泛洪流量。为了解决这一问题，</a:t>
            </a:r>
            <a:r>
              <a:rPr lang="en-US" altLang="zh-CN" dirty="0"/>
              <a:t>VXLAN</a:t>
            </a:r>
            <a:r>
              <a:rPr lang="zh-CN" altLang="en-US" dirty="0"/>
              <a:t>引入了</a:t>
            </a:r>
            <a:r>
              <a:rPr lang="en-US" altLang="zh-CN" dirty="0"/>
              <a:t>BGP EVPN</a:t>
            </a:r>
            <a:r>
              <a:rPr lang="zh-CN" altLang="en-US" dirty="0"/>
              <a:t>作为控制平面，通过在</a:t>
            </a:r>
            <a:r>
              <a:rPr lang="en-US" altLang="zh-CN" dirty="0"/>
              <a:t>VTEP</a:t>
            </a:r>
            <a:r>
              <a:rPr lang="zh-CN" altLang="en-US" dirty="0"/>
              <a:t>之间交换</a:t>
            </a:r>
            <a:r>
              <a:rPr lang="en-US" altLang="zh-CN" dirty="0"/>
              <a:t>BGP EVPN</a:t>
            </a:r>
            <a:r>
              <a:rPr lang="zh-CN" altLang="en-US" dirty="0"/>
              <a:t>路由实现</a:t>
            </a:r>
            <a:r>
              <a:rPr lang="en-US" altLang="zh-CN" dirty="0"/>
              <a:t>VTEP</a:t>
            </a:r>
            <a:r>
              <a:rPr lang="zh-CN" altLang="en-US" dirty="0"/>
              <a:t>的自动发现、主机信息相互通告等，从而避免了不必要的数据流量泛洪。</a:t>
            </a:r>
          </a:p>
          <a:p>
            <a:r>
              <a:rPr lang="zh-CN" altLang="en-US" dirty="0"/>
              <a:t>静态方式配置</a:t>
            </a:r>
            <a:r>
              <a:rPr lang="en-US" altLang="zh-CN" dirty="0"/>
              <a:t>VXLAN</a:t>
            </a:r>
            <a:r>
              <a:rPr lang="zh-CN" altLang="en-US" dirty="0"/>
              <a:t>的问题：</a:t>
            </a:r>
          </a:p>
          <a:p>
            <a:pPr lvl="1"/>
            <a:r>
              <a:rPr lang="en-US" altLang="zh-CN" dirty="0"/>
              <a:t>N</a:t>
            </a:r>
            <a:r>
              <a:rPr lang="zh-CN" altLang="en-US" dirty="0"/>
              <a:t>台设备建立</a:t>
            </a:r>
            <a:r>
              <a:rPr lang="en-US" altLang="zh-CN" dirty="0"/>
              <a:t>VXLAN</a:t>
            </a:r>
            <a:r>
              <a:rPr lang="zh-CN" altLang="en-US" dirty="0"/>
              <a:t>隧道，手工配置方式最高达到 </a:t>
            </a:r>
            <a:r>
              <a:rPr lang="en-US" altLang="zh-CN" dirty="0"/>
              <a:t>N*(N-1)/2 </a:t>
            </a:r>
            <a:r>
              <a:rPr lang="zh-CN" altLang="en-US" dirty="0"/>
              <a:t>次头端列表配置。</a:t>
            </a:r>
          </a:p>
          <a:p>
            <a:pPr lvl="1"/>
            <a:r>
              <a:rPr lang="zh-CN" altLang="en-US" dirty="0"/>
              <a:t>静态</a:t>
            </a:r>
            <a:r>
              <a:rPr lang="en-US" altLang="zh-CN" dirty="0"/>
              <a:t>VXLAN</a:t>
            </a:r>
            <a:r>
              <a:rPr lang="zh-CN" altLang="en-US" dirty="0"/>
              <a:t>隧道只有数据转发平面。</a:t>
            </a:r>
          </a:p>
          <a:p>
            <a:pPr lvl="1"/>
            <a:r>
              <a:rPr lang="zh-CN" altLang="en-US" dirty="0"/>
              <a:t>只能通过</a:t>
            </a:r>
            <a:r>
              <a:rPr lang="en-US" altLang="zh-CN" dirty="0"/>
              <a:t>ARP</a:t>
            </a:r>
            <a:r>
              <a:rPr lang="zh-CN" altLang="en-US" dirty="0"/>
              <a:t>广播的方式学习远端</a:t>
            </a:r>
            <a:r>
              <a:rPr lang="en-US" altLang="zh-CN" dirty="0"/>
              <a:t>MAC</a:t>
            </a:r>
            <a:r>
              <a:rPr lang="zh-CN" altLang="en-US" dirty="0"/>
              <a:t>地址。</a:t>
            </a:r>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107475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BGP EVPN</a:t>
            </a:r>
            <a:r>
              <a:rPr lang="zh-CN" altLang="en-US"/>
              <a:t>在</a:t>
            </a:r>
            <a:r>
              <a:rPr lang="en-US" altLang="zh-CN"/>
              <a:t>NVO</a:t>
            </a:r>
            <a:r>
              <a:rPr lang="zh-CN" altLang="en-US"/>
              <a:t>（</a:t>
            </a:r>
            <a:r>
              <a:rPr lang="en-US" altLang="zh-CN"/>
              <a:t>Network Virtualization Overlay</a:t>
            </a:r>
            <a:r>
              <a:rPr lang="zh-CN" altLang="en-US"/>
              <a:t>）场景中与</a:t>
            </a:r>
            <a:r>
              <a:rPr lang="en-US" altLang="zh-CN"/>
              <a:t>VXLAN</a:t>
            </a:r>
            <a:r>
              <a:rPr lang="zh-CN" altLang="en-US"/>
              <a:t>结合，作为</a:t>
            </a:r>
            <a:r>
              <a:rPr lang="en-US" altLang="zh-CN"/>
              <a:t>VXLAN</a:t>
            </a:r>
            <a:r>
              <a:rPr lang="zh-CN" altLang="en-US"/>
              <a:t>的控制面协议。</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4506362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738908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关于</a:t>
            </a:r>
            <a:r>
              <a:rPr lang="en-US" altLang="zh-CN" dirty="0"/>
              <a:t>RD</a:t>
            </a:r>
            <a:r>
              <a:rPr lang="zh-CN" altLang="en-US" dirty="0"/>
              <a:t>、</a:t>
            </a:r>
            <a:r>
              <a:rPr lang="en-US" altLang="zh-CN" dirty="0"/>
              <a:t>RT</a:t>
            </a:r>
            <a:r>
              <a:rPr lang="zh-CN" altLang="en-US" dirty="0"/>
              <a:t>值的概念可以参考</a:t>
            </a:r>
            <a:r>
              <a:rPr lang="en-US" altLang="zh-CN" dirty="0"/>
              <a:t>《MPLS VPN</a:t>
            </a:r>
            <a:r>
              <a:rPr lang="zh-CN" altLang="en-US" dirty="0"/>
              <a:t>原理与配置</a:t>
            </a:r>
            <a:r>
              <a:rPr lang="en-US" altLang="zh-CN" dirty="0"/>
              <a:t>》</a:t>
            </a:r>
            <a:r>
              <a:rPr lang="zh-CN" altLang="en-US" dirty="0"/>
              <a:t>。</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3226758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0165431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3472631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018898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备注占位符 4"/>
          <p:cNvSpPr>
            <a:spLocks noGrp="1"/>
          </p:cNvSpPr>
          <p:nvPr>
            <p:ph type="body" idx="1"/>
          </p:nvPr>
        </p:nvSpPr>
        <p:spPr/>
        <p:txBody>
          <a:bodyPr/>
          <a:lstStyle/>
          <a:p>
            <a:pPr lvl="0"/>
            <a:r>
              <a:rPr lang="en-US" altLang="zh-CN" dirty="0"/>
              <a:t>BGP EVPN</a:t>
            </a:r>
            <a:r>
              <a:rPr lang="zh-CN" altLang="en-US" dirty="0"/>
              <a:t>的</a:t>
            </a:r>
            <a:r>
              <a:rPr lang="en-US" altLang="zh-CN" dirty="0"/>
              <a:t>Type 2</a:t>
            </a:r>
            <a:r>
              <a:rPr lang="zh-CN" altLang="en-US" dirty="0"/>
              <a:t>路由的前三个字段：</a:t>
            </a:r>
            <a:r>
              <a:rPr lang="en-US" altLang="zh-CN" dirty="0"/>
              <a:t>RD</a:t>
            </a:r>
            <a:r>
              <a:rPr lang="zh-CN" altLang="en-US" dirty="0"/>
              <a:t>、</a:t>
            </a:r>
            <a:r>
              <a:rPr lang="en-US" altLang="zh-CN" dirty="0">
                <a:sym typeface="Huawei Sans" panose="020C0503030203020204" pitchFamily="34" charset="0"/>
              </a:rPr>
              <a:t>Ethernet Segment Identifier</a:t>
            </a:r>
            <a:r>
              <a:rPr lang="zh-CN" altLang="en-US" dirty="0">
                <a:sym typeface="Huawei Sans" panose="020C0503030203020204" pitchFamily="34" charset="0"/>
              </a:rPr>
              <a:t>、</a:t>
            </a:r>
            <a:r>
              <a:rPr lang="en-US" altLang="zh-CN" dirty="0">
                <a:sym typeface="Huawei Sans" panose="020C0503030203020204" pitchFamily="34" charset="0"/>
              </a:rPr>
              <a:t>Ethernet Tag ID</a:t>
            </a:r>
            <a:r>
              <a:rPr lang="zh-CN" altLang="en-US" dirty="0">
                <a:sym typeface="Huawei Sans" panose="020C0503030203020204" pitchFamily="34" charset="0"/>
              </a:rPr>
              <a:t>在不同的场景下其内容一致，仅后边的六个字段存在区别。</a:t>
            </a:r>
          </a:p>
          <a:p>
            <a:pPr lvl="0"/>
            <a:endParaRPr lang="zh-CN" altLang="en-US" dirty="0">
              <a:sym typeface="Huawei Sans" panose="020C0503030203020204" pitchFamily="34" charset="0"/>
            </a:endParaRPr>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99549913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同子网主机</a:t>
            </a:r>
            <a:r>
              <a:rPr lang="en-US" altLang="zh-CN" dirty="0"/>
              <a:t>MAC</a:t>
            </a:r>
            <a:r>
              <a:rPr lang="zh-CN" altLang="en-US" dirty="0"/>
              <a:t>地址通告：</a:t>
            </a:r>
            <a:endParaRPr lang="en-US" altLang="zh-CN" dirty="0"/>
          </a:p>
          <a:p>
            <a:pPr marL="588600" lvl="1" indent="-228600">
              <a:buFont typeface="+mj-lt"/>
              <a:buAutoNum type="arabicPeriod"/>
            </a:pPr>
            <a:r>
              <a:rPr lang="en-US" altLang="zh-CN" dirty="0"/>
              <a:t>PC1</a:t>
            </a:r>
            <a:r>
              <a:rPr lang="zh-CN" altLang="en-US" dirty="0"/>
              <a:t>产生数据流量并发往</a:t>
            </a:r>
            <a:r>
              <a:rPr lang="en-US" altLang="zh-CN" dirty="0"/>
              <a:t>SW1</a:t>
            </a:r>
            <a:r>
              <a:rPr lang="zh-CN" altLang="en-US" dirty="0"/>
              <a:t>。</a:t>
            </a:r>
            <a:endParaRPr lang="en-US" altLang="zh-CN" dirty="0"/>
          </a:p>
          <a:p>
            <a:pPr marL="588600" lvl="1" indent="-228600">
              <a:buFont typeface="+mj-lt"/>
              <a:buAutoNum type="arabicPeriod"/>
            </a:pPr>
            <a:r>
              <a:rPr lang="en-US" altLang="zh-CN" dirty="0"/>
              <a:t>SW1</a:t>
            </a:r>
            <a:r>
              <a:rPr lang="zh-CN" altLang="en-US" dirty="0"/>
              <a:t>获知了</a:t>
            </a:r>
            <a:r>
              <a:rPr lang="en-US" altLang="zh-CN" dirty="0"/>
              <a:t>PC1</a:t>
            </a:r>
            <a:r>
              <a:rPr lang="zh-CN" altLang="en-US" dirty="0"/>
              <a:t>的</a:t>
            </a:r>
            <a:r>
              <a:rPr lang="en-US" altLang="zh-CN" dirty="0"/>
              <a:t>MAC</a:t>
            </a:r>
            <a:r>
              <a:rPr lang="zh-CN" altLang="en-US" dirty="0"/>
              <a:t>地址，它在</a:t>
            </a:r>
            <a:r>
              <a:rPr lang="en-US" altLang="zh-CN" dirty="0"/>
              <a:t>MAC</a:t>
            </a:r>
            <a:r>
              <a:rPr lang="zh-CN" altLang="en-US" dirty="0"/>
              <a:t>地址表中创建一个表项，记录该</a:t>
            </a:r>
            <a:r>
              <a:rPr lang="en-US" altLang="zh-CN" dirty="0"/>
              <a:t>MAC</a:t>
            </a:r>
            <a:r>
              <a:rPr lang="zh-CN" altLang="en-US" dirty="0"/>
              <a:t>地址、</a:t>
            </a:r>
            <a:r>
              <a:rPr lang="en-US" altLang="zh-CN" dirty="0"/>
              <a:t>BD ID</a:t>
            </a:r>
            <a:r>
              <a:rPr lang="zh-CN" altLang="en-US" dirty="0"/>
              <a:t>及入接口。</a:t>
            </a:r>
          </a:p>
          <a:p>
            <a:pPr marL="588600" lvl="1" indent="-228600">
              <a:buFont typeface="+mj-lt"/>
              <a:buAutoNum type="arabicPeriod"/>
            </a:pPr>
            <a:r>
              <a:rPr lang="en-US" altLang="zh-CN" dirty="0"/>
              <a:t>SW1</a:t>
            </a:r>
            <a:r>
              <a:rPr lang="zh-CN" altLang="en-US" dirty="0"/>
              <a:t>根据该表项生成</a:t>
            </a:r>
            <a:r>
              <a:rPr lang="en-US" altLang="zh-CN" dirty="0"/>
              <a:t>BGP EVPN</a:t>
            </a:r>
            <a:r>
              <a:rPr lang="zh-CN" altLang="en-US" dirty="0"/>
              <a:t>路由并发送给</a:t>
            </a:r>
            <a:r>
              <a:rPr lang="en-US" altLang="zh-CN" dirty="0"/>
              <a:t>SW2</a:t>
            </a:r>
            <a:r>
              <a:rPr lang="zh-CN" altLang="en-US" dirty="0"/>
              <a:t>。该路由携带本端</a:t>
            </a:r>
            <a:r>
              <a:rPr lang="en-US" altLang="zh-CN" dirty="0"/>
              <a:t>EVPN</a:t>
            </a:r>
            <a:r>
              <a:rPr lang="zh-CN" altLang="en-US" dirty="0"/>
              <a:t>实例的</a:t>
            </a:r>
            <a:r>
              <a:rPr lang="en-US" altLang="zh-CN" dirty="0"/>
              <a:t>RT</a:t>
            </a:r>
            <a:r>
              <a:rPr lang="zh-CN" altLang="en-US" dirty="0"/>
              <a:t>值（扩展团体属性）以及</a:t>
            </a:r>
            <a:r>
              <a:rPr lang="en-US" altLang="zh-CN" dirty="0"/>
              <a:t>Type 2</a:t>
            </a:r>
            <a:r>
              <a:rPr lang="zh-CN" altLang="en-US" dirty="0"/>
              <a:t>路由（ </a:t>
            </a:r>
            <a:r>
              <a:rPr lang="en-US" altLang="zh-CN" dirty="0"/>
              <a:t>MAC</a:t>
            </a:r>
            <a:r>
              <a:rPr lang="zh-CN" altLang="en-US" dirty="0"/>
              <a:t>路由）。在</a:t>
            </a:r>
            <a:r>
              <a:rPr lang="en-US" altLang="zh-CN" dirty="0"/>
              <a:t>MAC</a:t>
            </a:r>
            <a:r>
              <a:rPr lang="zh-CN" altLang="en-US" dirty="0"/>
              <a:t>路由中，</a:t>
            </a:r>
            <a:r>
              <a:rPr lang="en-US" altLang="zh-CN" dirty="0"/>
              <a:t>PC1</a:t>
            </a:r>
            <a:r>
              <a:rPr lang="zh-CN" altLang="en-US" dirty="0"/>
              <a:t>的</a:t>
            </a:r>
            <a:r>
              <a:rPr lang="en-US" altLang="zh-CN" dirty="0"/>
              <a:t>MAC</a:t>
            </a:r>
            <a:r>
              <a:rPr lang="zh-CN" altLang="en-US" dirty="0"/>
              <a:t>地址存放在</a:t>
            </a:r>
            <a:r>
              <a:rPr lang="en-US" altLang="zh-CN" dirty="0"/>
              <a:t>MAC Address</a:t>
            </a:r>
            <a:r>
              <a:rPr lang="zh-CN" altLang="en-US" dirty="0"/>
              <a:t>字段中，二层</a:t>
            </a:r>
            <a:r>
              <a:rPr lang="en-US" altLang="zh-CN" dirty="0"/>
              <a:t>VNI</a:t>
            </a:r>
            <a:r>
              <a:rPr lang="zh-CN" altLang="en-US" dirty="0"/>
              <a:t>存放在</a:t>
            </a:r>
            <a:r>
              <a:rPr lang="en-US" altLang="zh-CN" dirty="0"/>
              <a:t>MPLS Label1</a:t>
            </a:r>
            <a:r>
              <a:rPr lang="zh-CN" altLang="en-US" dirty="0"/>
              <a:t>字段中。</a:t>
            </a:r>
          </a:p>
          <a:p>
            <a:pPr marL="588600" lvl="1" indent="-228600">
              <a:buFont typeface="+mj-lt"/>
              <a:buAutoNum type="arabicPeriod"/>
            </a:pPr>
            <a:r>
              <a:rPr lang="en-US" altLang="zh-CN" dirty="0"/>
              <a:t>SW2</a:t>
            </a:r>
            <a:r>
              <a:rPr lang="zh-CN" altLang="en-US" dirty="0"/>
              <a:t>收到</a:t>
            </a:r>
            <a:r>
              <a:rPr lang="en-US" altLang="zh-CN" dirty="0"/>
              <a:t>SW1</a:t>
            </a:r>
            <a:r>
              <a:rPr lang="zh-CN" altLang="en-US" dirty="0"/>
              <a:t>发来的</a:t>
            </a:r>
            <a:r>
              <a:rPr lang="en-US" altLang="zh-CN" dirty="0"/>
              <a:t>BGP EVPN</a:t>
            </a:r>
            <a:r>
              <a:rPr lang="zh-CN" altLang="en-US" dirty="0"/>
              <a:t>路由后，首先检查该路由携带的</a:t>
            </a:r>
            <a:r>
              <a:rPr lang="en-US" altLang="zh-CN" dirty="0"/>
              <a:t>RT</a:t>
            </a:r>
            <a:r>
              <a:rPr lang="zh-CN" altLang="en-US" dirty="0"/>
              <a:t>（类似</a:t>
            </a:r>
            <a:r>
              <a:rPr lang="en-US" altLang="zh-CN" dirty="0"/>
              <a:t>MPLS VPN</a:t>
            </a:r>
            <a:r>
              <a:rPr lang="zh-CN" altLang="en-US" dirty="0"/>
              <a:t>中的</a:t>
            </a:r>
            <a:r>
              <a:rPr lang="en-US" altLang="zh-CN" dirty="0"/>
              <a:t>RT</a:t>
            </a:r>
            <a:r>
              <a:rPr lang="zh-CN" altLang="en-US" dirty="0"/>
              <a:t>的概念），如果与本端</a:t>
            </a:r>
            <a:r>
              <a:rPr lang="en-US" altLang="zh-CN" dirty="0"/>
              <a:t>EVPN</a:t>
            </a:r>
            <a:r>
              <a:rPr lang="zh-CN" altLang="en-US" dirty="0"/>
              <a:t>实例的入站</a:t>
            </a:r>
            <a:r>
              <a:rPr lang="en-US" altLang="zh-CN" dirty="0"/>
              <a:t>RT</a:t>
            </a:r>
            <a:r>
              <a:rPr lang="zh-CN" altLang="en-US" dirty="0"/>
              <a:t>相等，则接收该路由，否则丢弃。在接收该路由后，</a:t>
            </a:r>
            <a:r>
              <a:rPr lang="en-US" altLang="zh-CN" dirty="0"/>
              <a:t>SW2</a:t>
            </a:r>
            <a:r>
              <a:rPr lang="zh-CN" altLang="en-US" dirty="0"/>
              <a:t>获得</a:t>
            </a:r>
            <a:r>
              <a:rPr lang="en-US" altLang="zh-CN" dirty="0"/>
              <a:t>PC1</a:t>
            </a:r>
            <a:r>
              <a:rPr lang="zh-CN" altLang="en-US" dirty="0"/>
              <a:t>的</a:t>
            </a:r>
            <a:r>
              <a:rPr lang="en-US" altLang="zh-CN" dirty="0"/>
              <a:t>MAC</a:t>
            </a:r>
            <a:r>
              <a:rPr lang="zh-CN" altLang="en-US" dirty="0"/>
              <a:t>地址、</a:t>
            </a:r>
            <a:r>
              <a:rPr lang="en-US" altLang="zh-CN" dirty="0"/>
              <a:t>BD ID</a:t>
            </a:r>
            <a:r>
              <a:rPr lang="zh-CN" altLang="en-US" dirty="0"/>
              <a:t>和</a:t>
            </a:r>
            <a:r>
              <a:rPr lang="en-US" altLang="zh-CN" dirty="0"/>
              <a:t>SW1</a:t>
            </a:r>
            <a:r>
              <a:rPr lang="zh-CN" altLang="en-US" dirty="0"/>
              <a:t>上</a:t>
            </a:r>
            <a:r>
              <a:rPr lang="en-US" altLang="zh-CN" dirty="0"/>
              <a:t>VTEP IP</a:t>
            </a:r>
            <a:r>
              <a:rPr lang="zh-CN" altLang="en-US" dirty="0"/>
              <a:t>地址（</a:t>
            </a:r>
            <a:r>
              <a:rPr lang="en-US" altLang="zh-CN" dirty="0"/>
              <a:t>MP_REACH_NLRI</a:t>
            </a:r>
            <a:r>
              <a:rPr lang="zh-CN" altLang="en-US" dirty="0"/>
              <a:t>中</a:t>
            </a:r>
            <a:r>
              <a:rPr lang="en-US" altLang="zh-CN" dirty="0"/>
              <a:t>Next hop network address</a:t>
            </a:r>
            <a:r>
              <a:rPr lang="zh-CN" altLang="en-US" dirty="0"/>
              <a:t>字段携带）的对应关系，并在本地的</a:t>
            </a:r>
            <a:r>
              <a:rPr lang="en-US" altLang="zh-CN" dirty="0"/>
              <a:t>MAC</a:t>
            </a:r>
            <a:r>
              <a:rPr lang="zh-CN" altLang="en-US" dirty="0"/>
              <a:t>表中生成</a:t>
            </a:r>
            <a:r>
              <a:rPr lang="en-US" altLang="zh-CN" dirty="0"/>
              <a:t>MAC</a:t>
            </a:r>
            <a:r>
              <a:rPr lang="zh-CN" altLang="en-US" dirty="0"/>
              <a:t>表项，其出接口需根据下一跳进行迭代，最终迭代结果是指向</a:t>
            </a:r>
            <a:r>
              <a:rPr lang="en-US" altLang="zh-CN" dirty="0"/>
              <a:t>SW1</a:t>
            </a:r>
            <a:r>
              <a:rPr lang="zh-CN" altLang="en-US" dirty="0"/>
              <a:t>的</a:t>
            </a:r>
            <a:r>
              <a:rPr lang="en-US" altLang="zh-CN" dirty="0"/>
              <a:t>VXLAN</a:t>
            </a:r>
            <a:r>
              <a:rPr lang="zh-CN" altLang="en-US" dirty="0"/>
              <a:t>隧道。</a:t>
            </a:r>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25590215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备注占位符 4"/>
          <p:cNvSpPr>
            <a:spLocks noGrp="1"/>
          </p:cNvSpPr>
          <p:nvPr>
            <p:ph type="body" idx="1"/>
          </p:nvPr>
        </p:nvSpPr>
        <p:spPr/>
        <p:txBody>
          <a:bodyPr/>
          <a:lstStyle/>
          <a:p>
            <a:r>
              <a:rPr lang="en-US" altLang="zh-CN" dirty="0"/>
              <a:t>MAC/IP</a:t>
            </a:r>
            <a:r>
              <a:rPr lang="zh-CN" altLang="en-US" dirty="0"/>
              <a:t>路由可以同时携带主机</a:t>
            </a:r>
            <a:r>
              <a:rPr lang="en-US" altLang="zh-CN" dirty="0"/>
              <a:t>MAC</a:t>
            </a:r>
            <a:r>
              <a:rPr lang="zh-CN" altLang="en-US" dirty="0"/>
              <a:t>地址</a:t>
            </a:r>
            <a:r>
              <a:rPr lang="en-US" altLang="zh-CN" dirty="0"/>
              <a:t>+</a:t>
            </a:r>
            <a:r>
              <a:rPr lang="zh-CN" altLang="en-US" dirty="0"/>
              <a:t>主机</a:t>
            </a:r>
            <a:r>
              <a:rPr lang="en-US" altLang="zh-CN" dirty="0"/>
              <a:t>IP</a:t>
            </a:r>
            <a:r>
              <a:rPr lang="zh-CN" altLang="en-US" dirty="0"/>
              <a:t>地址，因此该路由可以用来在</a:t>
            </a:r>
            <a:r>
              <a:rPr lang="en-US" altLang="zh-CN" dirty="0"/>
              <a:t>VTEP</a:t>
            </a:r>
            <a:r>
              <a:rPr lang="zh-CN" altLang="en-US" dirty="0"/>
              <a:t>之间传递主机</a:t>
            </a:r>
            <a:r>
              <a:rPr lang="en-US" altLang="zh-CN" dirty="0"/>
              <a:t>ARP</a:t>
            </a:r>
            <a:r>
              <a:rPr lang="zh-CN" altLang="en-US" dirty="0"/>
              <a:t>表项，实现主机</a:t>
            </a:r>
            <a:r>
              <a:rPr lang="en-US" altLang="zh-CN" dirty="0"/>
              <a:t>ARP</a:t>
            </a:r>
            <a:r>
              <a:rPr lang="zh-CN" altLang="en-US" dirty="0"/>
              <a:t>通告。其中，</a:t>
            </a:r>
            <a:r>
              <a:rPr lang="en-US" altLang="zh-CN" dirty="0"/>
              <a:t>MAC Address</a:t>
            </a:r>
            <a:r>
              <a:rPr lang="zh-CN" altLang="en-US" dirty="0"/>
              <a:t>和</a:t>
            </a:r>
            <a:r>
              <a:rPr lang="en-US" altLang="zh-CN" dirty="0"/>
              <a:t>MAC Address Length</a:t>
            </a:r>
            <a:r>
              <a:rPr lang="zh-CN" altLang="en-US" dirty="0"/>
              <a:t>字段为主机</a:t>
            </a:r>
            <a:r>
              <a:rPr lang="en-US" altLang="zh-CN" dirty="0"/>
              <a:t>MAC</a:t>
            </a:r>
            <a:r>
              <a:rPr lang="zh-CN" altLang="en-US" dirty="0"/>
              <a:t>地址，</a:t>
            </a:r>
            <a:r>
              <a:rPr lang="en-US" altLang="zh-CN" dirty="0"/>
              <a:t>IP Address</a:t>
            </a:r>
            <a:r>
              <a:rPr lang="zh-CN" altLang="en-US" dirty="0"/>
              <a:t>和</a:t>
            </a:r>
            <a:r>
              <a:rPr lang="en-US" altLang="zh-CN" dirty="0"/>
              <a:t>IP Address Length</a:t>
            </a:r>
            <a:r>
              <a:rPr lang="zh-CN" altLang="en-US" dirty="0"/>
              <a:t>字段为主机</a:t>
            </a:r>
            <a:r>
              <a:rPr lang="en-US" altLang="zh-CN" dirty="0"/>
              <a:t>IP</a:t>
            </a:r>
            <a:r>
              <a:rPr lang="zh-CN" altLang="en-US" dirty="0"/>
              <a:t>地址。此时的</a:t>
            </a:r>
            <a:r>
              <a:rPr lang="en-US" altLang="zh-CN" dirty="0"/>
              <a:t>MAC/IP</a:t>
            </a:r>
            <a:r>
              <a:rPr lang="zh-CN" altLang="en-US" dirty="0"/>
              <a:t>路由也称为</a:t>
            </a:r>
            <a:r>
              <a:rPr lang="en-US" altLang="zh-CN" dirty="0"/>
              <a:t>ARP</a:t>
            </a:r>
            <a:r>
              <a:rPr lang="zh-CN" altLang="en-US" dirty="0"/>
              <a:t>类型路由。主机</a:t>
            </a:r>
            <a:r>
              <a:rPr lang="en-US" altLang="zh-CN" dirty="0"/>
              <a:t>ARP</a:t>
            </a:r>
            <a:r>
              <a:rPr lang="zh-CN" altLang="en-US" dirty="0"/>
              <a:t>通告主要用于以下两种场景：</a:t>
            </a:r>
          </a:p>
          <a:p>
            <a:pPr lvl="1"/>
            <a:r>
              <a:rPr lang="en-US" altLang="zh-CN" dirty="0"/>
              <a:t>ARP</a:t>
            </a:r>
            <a:r>
              <a:rPr lang="zh-CN" altLang="en-US" dirty="0"/>
              <a:t>广播抑制。当三层网关学习到其子网下的主机</a:t>
            </a:r>
            <a:r>
              <a:rPr lang="en-US" altLang="zh-CN" dirty="0"/>
              <a:t>ARP</a:t>
            </a:r>
            <a:r>
              <a:rPr lang="zh-CN" altLang="en-US" dirty="0"/>
              <a:t>时，生成主机信息（包含主机</a:t>
            </a:r>
            <a:r>
              <a:rPr lang="en-US" altLang="zh-CN" dirty="0"/>
              <a:t>IP</a:t>
            </a:r>
            <a:r>
              <a:rPr lang="zh-CN" altLang="en-US" dirty="0"/>
              <a:t>地址、主机</a:t>
            </a:r>
            <a:r>
              <a:rPr lang="en-US" altLang="zh-CN" dirty="0"/>
              <a:t>MAC</a:t>
            </a:r>
            <a:r>
              <a:rPr lang="zh-CN" altLang="en-US" dirty="0"/>
              <a:t>地址、二层</a:t>
            </a:r>
            <a:r>
              <a:rPr lang="en-US" altLang="zh-CN" dirty="0"/>
              <a:t>VNI</a:t>
            </a:r>
            <a:r>
              <a:rPr lang="zh-CN" altLang="en-US" dirty="0"/>
              <a:t>、网关</a:t>
            </a:r>
            <a:r>
              <a:rPr lang="en-US" altLang="zh-CN" dirty="0"/>
              <a:t>VTEP IP</a:t>
            </a:r>
            <a:r>
              <a:rPr lang="zh-CN" altLang="en-US" dirty="0"/>
              <a:t>地址），然后通过传递</a:t>
            </a:r>
            <a:r>
              <a:rPr lang="en-US" altLang="zh-CN" dirty="0"/>
              <a:t>ARP</a:t>
            </a:r>
            <a:r>
              <a:rPr lang="zh-CN" altLang="en-US" dirty="0"/>
              <a:t>类型路由将主机信息同步到二层网关上。这样当二层网关再收到</a:t>
            </a:r>
            <a:r>
              <a:rPr lang="en-US" altLang="zh-CN" dirty="0"/>
              <a:t>ARP</a:t>
            </a:r>
            <a:r>
              <a:rPr lang="zh-CN" altLang="en-US" dirty="0"/>
              <a:t>请求时，先查找是否存在目的</a:t>
            </a:r>
            <a:r>
              <a:rPr lang="en-US" altLang="zh-CN" dirty="0"/>
              <a:t>IP</a:t>
            </a:r>
            <a:r>
              <a:rPr lang="zh-CN" altLang="en-US" dirty="0"/>
              <a:t>地址对应的主机信息，如果存在，则直接将</a:t>
            </a:r>
            <a:r>
              <a:rPr lang="en-US" altLang="zh-CN" dirty="0"/>
              <a:t>ARP</a:t>
            </a:r>
            <a:r>
              <a:rPr lang="zh-CN" altLang="en-US" dirty="0"/>
              <a:t>请求报文中的广播</a:t>
            </a:r>
            <a:r>
              <a:rPr lang="en-US" altLang="zh-CN" dirty="0"/>
              <a:t>MAC</a:t>
            </a:r>
            <a:r>
              <a:rPr lang="zh-CN" altLang="en-US" dirty="0"/>
              <a:t>地址替换为目的单播</a:t>
            </a:r>
            <a:r>
              <a:rPr lang="en-US" altLang="zh-CN" dirty="0"/>
              <a:t>MAC</a:t>
            </a:r>
            <a:r>
              <a:rPr lang="zh-CN" altLang="en-US" dirty="0"/>
              <a:t>地址，实现广播变单播，达到</a:t>
            </a:r>
            <a:r>
              <a:rPr lang="en-US" altLang="zh-CN" dirty="0"/>
              <a:t>ARP</a:t>
            </a:r>
            <a:r>
              <a:rPr lang="zh-CN" altLang="en-US" dirty="0"/>
              <a:t>广播抑制的目的。</a:t>
            </a:r>
          </a:p>
          <a:p>
            <a:pPr lvl="1"/>
            <a:r>
              <a:rPr lang="zh-CN" altLang="en-US" dirty="0"/>
              <a:t>分布式网关场景下的虚拟机迁移。当一台虚拟机从当前网关迁移到另一个网关下之后，新网关学习到该虚拟机的</a:t>
            </a:r>
            <a:r>
              <a:rPr lang="en-US" altLang="zh-CN" dirty="0"/>
              <a:t>ARP</a:t>
            </a:r>
            <a:r>
              <a:rPr lang="zh-CN" altLang="en-US" dirty="0"/>
              <a:t>（一般通过虚拟机发送免费</a:t>
            </a:r>
            <a:r>
              <a:rPr lang="en-US" altLang="zh-CN" dirty="0"/>
              <a:t>ARP</a:t>
            </a:r>
            <a:r>
              <a:rPr lang="zh-CN" altLang="en-US" dirty="0"/>
              <a:t>实现），并生成主机信息（包含主机</a:t>
            </a:r>
            <a:r>
              <a:rPr lang="en-US" altLang="zh-CN" dirty="0"/>
              <a:t>IP</a:t>
            </a:r>
            <a:r>
              <a:rPr lang="zh-CN" altLang="en-US" dirty="0"/>
              <a:t>地址、主机</a:t>
            </a:r>
            <a:r>
              <a:rPr lang="en-US" altLang="zh-CN" dirty="0"/>
              <a:t>MAC</a:t>
            </a:r>
            <a:r>
              <a:rPr lang="zh-CN" altLang="en-US" dirty="0"/>
              <a:t>地址、二层</a:t>
            </a:r>
            <a:r>
              <a:rPr lang="en-US" altLang="zh-CN" dirty="0"/>
              <a:t>VNI</a:t>
            </a:r>
            <a:r>
              <a:rPr lang="zh-CN" altLang="en-US" dirty="0"/>
              <a:t>、网关</a:t>
            </a:r>
            <a:r>
              <a:rPr lang="en-US" altLang="zh-CN" dirty="0"/>
              <a:t>VTEP IP</a:t>
            </a:r>
            <a:r>
              <a:rPr lang="zh-CN" altLang="en-US" dirty="0"/>
              <a:t>地址），然后通过传递</a:t>
            </a:r>
            <a:r>
              <a:rPr lang="en-US" altLang="zh-CN" dirty="0"/>
              <a:t>ARP</a:t>
            </a:r>
            <a:r>
              <a:rPr lang="zh-CN" altLang="en-US" dirty="0"/>
              <a:t>类型路由将主机信息发送给虚拟机的原网关。原网关收到后，感知到虚拟机的位置发生变化，触发</a:t>
            </a:r>
            <a:r>
              <a:rPr lang="en-US" altLang="zh-CN" dirty="0"/>
              <a:t>ARP</a:t>
            </a:r>
            <a:r>
              <a:rPr lang="zh-CN" altLang="en-US" dirty="0"/>
              <a:t>探测，当探测不到原位置的虚拟机时，撤销原位置虚拟机的</a:t>
            </a:r>
            <a:r>
              <a:rPr lang="en-US" altLang="zh-CN" dirty="0"/>
              <a:t>ARP</a:t>
            </a:r>
            <a:r>
              <a:rPr lang="zh-CN" altLang="en-US" dirty="0"/>
              <a:t>和主机路由。</a:t>
            </a:r>
          </a:p>
          <a:p>
            <a:r>
              <a:rPr lang="zh-CN" altLang="en-US" dirty="0"/>
              <a:t>主机</a:t>
            </a:r>
            <a:r>
              <a:rPr lang="en-US" altLang="zh-CN" dirty="0"/>
              <a:t>ARP</a:t>
            </a:r>
            <a:r>
              <a:rPr lang="zh-CN" altLang="en-US" dirty="0"/>
              <a:t>通告主要在</a:t>
            </a:r>
            <a:r>
              <a:rPr lang="en-US" altLang="zh-CN" dirty="0"/>
              <a:t>VXLAN</a:t>
            </a:r>
            <a:r>
              <a:rPr lang="zh-CN" altLang="en-US" dirty="0"/>
              <a:t>集中式网关</a:t>
            </a:r>
            <a:r>
              <a:rPr lang="en-US" altLang="zh-CN" dirty="0"/>
              <a:t>+BGP EVPN</a:t>
            </a:r>
            <a:r>
              <a:rPr lang="zh-CN" altLang="en-US" dirty="0"/>
              <a:t>场景下使用，在</a:t>
            </a:r>
            <a:r>
              <a:rPr lang="en-US" altLang="zh-CN" dirty="0"/>
              <a:t>BGP EVPN</a:t>
            </a:r>
            <a:r>
              <a:rPr lang="zh-CN" altLang="en-US" dirty="0"/>
              <a:t>中向对等体通告</a:t>
            </a:r>
            <a:r>
              <a:rPr lang="en-US" altLang="zh-CN" dirty="0"/>
              <a:t>ARP</a:t>
            </a:r>
            <a:r>
              <a:rPr lang="zh-CN" altLang="en-US" dirty="0"/>
              <a:t>路由或者</a:t>
            </a:r>
            <a:r>
              <a:rPr lang="en-US" altLang="zh-CN" dirty="0"/>
              <a:t>IRB</a:t>
            </a:r>
            <a:r>
              <a:rPr lang="zh-CN" altLang="en-US" dirty="0"/>
              <a:t>路由为互斥选项，只能配置其中一种路由对外发布，一般在</a:t>
            </a:r>
            <a:r>
              <a:rPr lang="en-US" altLang="zh-CN" dirty="0"/>
              <a:t>VXLAN</a:t>
            </a:r>
            <a:r>
              <a:rPr lang="zh-CN" altLang="en-US" dirty="0"/>
              <a:t>集中式网关</a:t>
            </a:r>
            <a:r>
              <a:rPr lang="en-US" altLang="zh-CN" dirty="0"/>
              <a:t>+BGP EVPN</a:t>
            </a:r>
            <a:r>
              <a:rPr lang="zh-CN" altLang="en-US" dirty="0"/>
              <a:t>场景下选择发布</a:t>
            </a:r>
            <a:r>
              <a:rPr lang="en-US" altLang="zh-CN" dirty="0"/>
              <a:t>ARP</a:t>
            </a:r>
            <a:r>
              <a:rPr lang="zh-CN" altLang="en-US" dirty="0"/>
              <a:t>路由，而且</a:t>
            </a:r>
            <a:r>
              <a:rPr lang="en-US" altLang="zh-CN" dirty="0"/>
              <a:t>VXLAN</a:t>
            </a:r>
            <a:r>
              <a:rPr lang="zh-CN" altLang="en-US" dirty="0"/>
              <a:t>分布式网关</a:t>
            </a:r>
            <a:r>
              <a:rPr lang="en-US" altLang="zh-CN" dirty="0"/>
              <a:t>+BGP EVPN</a:t>
            </a:r>
            <a:r>
              <a:rPr lang="zh-CN" altLang="en-US" dirty="0"/>
              <a:t>场景下选择发布</a:t>
            </a:r>
            <a:r>
              <a:rPr lang="en-US" altLang="zh-CN" dirty="0"/>
              <a:t>IRB</a:t>
            </a:r>
            <a:r>
              <a:rPr lang="zh-CN" altLang="en-US" dirty="0"/>
              <a:t>路由。</a:t>
            </a:r>
            <a:br>
              <a:rPr lang="zh-CN" altLang="en-US" dirty="0"/>
            </a:b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9988052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VLANIF</a:t>
            </a:r>
            <a:r>
              <a:rPr lang="zh-CN" altLang="en-US" dirty="0"/>
              <a:t>实现</a:t>
            </a:r>
            <a:r>
              <a:rPr lang="en-US" altLang="zh-CN" dirty="0"/>
              <a:t>VLAN</a:t>
            </a:r>
            <a:r>
              <a:rPr lang="zh-CN" altLang="en-US" dirty="0"/>
              <a:t>跨子网转发细节回顾：</a:t>
            </a:r>
            <a:endParaRPr lang="en-US" altLang="zh-CN" dirty="0"/>
          </a:p>
          <a:p>
            <a:pPr lvl="1"/>
            <a:r>
              <a:rPr lang="en-US" altLang="zh-CN" dirty="0"/>
              <a:t>PC1</a:t>
            </a:r>
            <a:r>
              <a:rPr lang="zh-CN" altLang="en-US" dirty="0"/>
              <a:t>通过本地</a:t>
            </a:r>
            <a:r>
              <a:rPr lang="en-US" altLang="zh-CN" dirty="0"/>
              <a:t>IP</a:t>
            </a:r>
            <a:r>
              <a:rPr lang="zh-CN" altLang="en-US" dirty="0"/>
              <a:t>地址、本地掩码、对端</a:t>
            </a:r>
            <a:r>
              <a:rPr lang="en-US" altLang="zh-CN" dirty="0"/>
              <a:t>IP</a:t>
            </a:r>
            <a:r>
              <a:rPr lang="zh-CN" altLang="en-US" dirty="0"/>
              <a:t>地址进行计算，发现目的设备</a:t>
            </a:r>
            <a:r>
              <a:rPr lang="en-US" altLang="zh-CN" dirty="0"/>
              <a:t>PC2</a:t>
            </a:r>
            <a:r>
              <a:rPr lang="zh-CN" altLang="en-US" dirty="0"/>
              <a:t>与自身不在同一个网段，判断该通信为三层通信，将去往</a:t>
            </a:r>
            <a:r>
              <a:rPr lang="en-US" altLang="zh-CN" dirty="0"/>
              <a:t>PC2</a:t>
            </a:r>
            <a:r>
              <a:rPr lang="zh-CN" altLang="en-US" dirty="0"/>
              <a:t>的流量发给网关。</a:t>
            </a:r>
            <a:r>
              <a:rPr lang="en-US" altLang="zh-CN" dirty="0">
                <a:sym typeface="Huawei Sans" panose="020C0503030203020204" pitchFamily="34" charset="0"/>
              </a:rPr>
              <a:t>PC1</a:t>
            </a:r>
            <a:r>
              <a:rPr lang="zh-CN" altLang="en-US" dirty="0">
                <a:sym typeface="Huawei Sans" panose="020C0503030203020204" pitchFamily="34" charset="0"/>
              </a:rPr>
              <a:t>发送的数据帧：源</a:t>
            </a:r>
            <a:r>
              <a:rPr lang="en-US" altLang="zh-CN" dirty="0">
                <a:sym typeface="Huawei Sans" panose="020C0503030203020204" pitchFamily="34" charset="0"/>
              </a:rPr>
              <a:t>MAC = MAC1</a:t>
            </a:r>
            <a:r>
              <a:rPr lang="zh-CN" altLang="en-US" dirty="0">
                <a:sym typeface="Huawei Sans" panose="020C0503030203020204" pitchFamily="34" charset="0"/>
              </a:rPr>
              <a:t>，目的</a:t>
            </a:r>
            <a:r>
              <a:rPr lang="en-US" altLang="zh-CN" dirty="0">
                <a:sym typeface="Huawei Sans" panose="020C0503030203020204" pitchFamily="34" charset="0"/>
              </a:rPr>
              <a:t>MAC = MAC2</a:t>
            </a:r>
            <a:r>
              <a:rPr lang="zh-CN" altLang="en-US" dirty="0">
                <a:sym typeface="Huawei Sans" panose="020C0503030203020204" pitchFamily="34" charset="0"/>
              </a:rPr>
              <a:t>。</a:t>
            </a:r>
            <a:endParaRPr lang="en-US" altLang="zh-CN" dirty="0">
              <a:sym typeface="Huawei Sans" panose="020C0503030203020204" pitchFamily="34" charset="0"/>
            </a:endParaRPr>
          </a:p>
          <a:p>
            <a:pPr lvl="1"/>
            <a:r>
              <a:rPr lang="zh-CN" altLang="en-US" dirty="0">
                <a:sym typeface="Huawei Sans" panose="020C0503030203020204" pitchFamily="34" charset="0"/>
              </a:rPr>
              <a:t>交换机收到</a:t>
            </a:r>
            <a:r>
              <a:rPr lang="en-US" altLang="zh-CN" dirty="0">
                <a:sym typeface="Huawei Sans" panose="020C0503030203020204" pitchFamily="34" charset="0"/>
              </a:rPr>
              <a:t>PC1</a:t>
            </a:r>
            <a:r>
              <a:rPr lang="zh-CN" altLang="en-US" dirty="0">
                <a:sym typeface="Huawei Sans" panose="020C0503030203020204" pitchFamily="34" charset="0"/>
              </a:rPr>
              <a:t>发送的去往</a:t>
            </a:r>
            <a:r>
              <a:rPr lang="en-US" altLang="zh-CN" dirty="0">
                <a:sym typeface="Huawei Sans" panose="020C0503030203020204" pitchFamily="34" charset="0"/>
              </a:rPr>
              <a:t>PC2</a:t>
            </a:r>
            <a:r>
              <a:rPr lang="zh-CN" altLang="en-US" dirty="0">
                <a:sym typeface="Huawei Sans" panose="020C0503030203020204" pitchFamily="34" charset="0"/>
              </a:rPr>
              <a:t>的报文，经解封装发现目的</a:t>
            </a:r>
            <a:r>
              <a:rPr lang="en-US" altLang="zh-CN" dirty="0">
                <a:sym typeface="Huawei Sans" panose="020C0503030203020204" pitchFamily="34" charset="0"/>
              </a:rPr>
              <a:t>MAC</a:t>
            </a:r>
            <a:r>
              <a:rPr lang="zh-CN" altLang="en-US" dirty="0">
                <a:sym typeface="Huawei Sans" panose="020C0503030203020204" pitchFamily="34" charset="0"/>
              </a:rPr>
              <a:t>为</a:t>
            </a:r>
            <a:r>
              <a:rPr lang="en-US" altLang="zh-CN" dirty="0">
                <a:sym typeface="Huawei Sans" panose="020C0503030203020204" pitchFamily="34" charset="0"/>
              </a:rPr>
              <a:t>VLANIF 10</a:t>
            </a:r>
            <a:r>
              <a:rPr lang="zh-CN" altLang="en-US" dirty="0">
                <a:sym typeface="Huawei Sans" panose="020C0503030203020204" pitchFamily="34" charset="0"/>
              </a:rPr>
              <a:t>接口的</a:t>
            </a:r>
            <a:r>
              <a:rPr lang="en-US" altLang="zh-CN" dirty="0">
                <a:sym typeface="Huawei Sans" panose="020C0503030203020204" pitchFamily="34" charset="0"/>
              </a:rPr>
              <a:t>MAC</a:t>
            </a:r>
            <a:r>
              <a:rPr lang="zh-CN" altLang="en-US" dirty="0">
                <a:sym typeface="Huawei Sans" panose="020C0503030203020204" pitchFamily="34" charset="0"/>
              </a:rPr>
              <a:t>地址，则认为该报文是发给交换机本身的，所以将报文交给路由模块继续处理。</a:t>
            </a:r>
            <a:endParaRPr lang="en-US" altLang="zh-CN" dirty="0">
              <a:sym typeface="Huawei Sans" panose="020C0503030203020204" pitchFamily="34" charset="0"/>
            </a:endParaRPr>
          </a:p>
          <a:p>
            <a:pPr lvl="1"/>
            <a:r>
              <a:rPr lang="zh-CN" altLang="en-US" dirty="0">
                <a:sym typeface="Huawei Sans" panose="020C0503030203020204" pitchFamily="34" charset="0"/>
              </a:rPr>
              <a:t>路由模块解析发现目的</a:t>
            </a:r>
            <a:r>
              <a:rPr lang="en-US" altLang="zh-CN" dirty="0">
                <a:sym typeface="Huawei Sans" panose="020C0503030203020204" pitchFamily="34" charset="0"/>
              </a:rPr>
              <a:t>IP</a:t>
            </a:r>
            <a:r>
              <a:rPr lang="zh-CN" altLang="en-US" dirty="0">
                <a:sym typeface="Huawei Sans" panose="020C0503030203020204" pitchFamily="34" charset="0"/>
              </a:rPr>
              <a:t>为</a:t>
            </a:r>
            <a:r>
              <a:rPr lang="en-US" altLang="zh-CN" dirty="0">
                <a:sym typeface="Huawei Sans" panose="020C0503030203020204" pitchFamily="34" charset="0"/>
              </a:rPr>
              <a:t>192.168.20.2</a:t>
            </a:r>
            <a:r>
              <a:rPr lang="zh-CN" altLang="en-US" dirty="0">
                <a:sym typeface="Huawei Sans" panose="020C0503030203020204" pitchFamily="34" charset="0"/>
              </a:rPr>
              <a:t>，非本地接口存在的</a:t>
            </a:r>
            <a:r>
              <a:rPr lang="en-US" altLang="zh-CN" dirty="0">
                <a:sym typeface="Huawei Sans" panose="020C0503030203020204" pitchFamily="34" charset="0"/>
              </a:rPr>
              <a:t>IP</a:t>
            </a:r>
            <a:r>
              <a:rPr lang="zh-CN" altLang="en-US" dirty="0">
                <a:sym typeface="Huawei Sans" panose="020C0503030203020204" pitchFamily="34" charset="0"/>
              </a:rPr>
              <a:t>地址，因此需要对该报文三层转发。查找路由表后，匹配中</a:t>
            </a:r>
            <a:r>
              <a:rPr lang="en-US" altLang="zh-CN" dirty="0">
                <a:sym typeface="Huawei Sans" panose="020C0503030203020204" pitchFamily="34" charset="0"/>
              </a:rPr>
              <a:t>VLANIF 20</a:t>
            </a:r>
            <a:r>
              <a:rPr lang="zh-CN" altLang="en-US" dirty="0">
                <a:sym typeface="Huawei Sans" panose="020C0503030203020204" pitchFamily="34" charset="0"/>
              </a:rPr>
              <a:t>产生的直连路由。</a:t>
            </a:r>
          </a:p>
          <a:p>
            <a:pPr lvl="1"/>
            <a:r>
              <a:rPr lang="zh-CN" altLang="en-US" dirty="0">
                <a:sym typeface="Huawei Sans" panose="020C0503030203020204" pitchFamily="34" charset="0"/>
              </a:rPr>
              <a:t>因为匹配的为直连路由，说明已经到达最后一跳，所以交换机在</a:t>
            </a:r>
            <a:r>
              <a:rPr lang="en-US" altLang="zh-CN" dirty="0">
                <a:sym typeface="Huawei Sans" panose="020C0503030203020204" pitchFamily="34" charset="0"/>
              </a:rPr>
              <a:t>ARP</a:t>
            </a:r>
            <a:r>
              <a:rPr lang="zh-CN" altLang="en-US" dirty="0">
                <a:sym typeface="Huawei Sans" panose="020C0503030203020204" pitchFamily="34" charset="0"/>
              </a:rPr>
              <a:t>表中查找</a:t>
            </a:r>
            <a:r>
              <a:rPr lang="en-US" altLang="zh-CN" dirty="0">
                <a:sym typeface="Huawei Sans" panose="020C0503030203020204" pitchFamily="34" charset="0"/>
              </a:rPr>
              <a:t>192.168.20.2</a:t>
            </a:r>
            <a:r>
              <a:rPr lang="zh-CN" altLang="en-US" dirty="0">
                <a:sym typeface="Huawei Sans" panose="020C0503030203020204" pitchFamily="34" charset="0"/>
              </a:rPr>
              <a:t>，获取</a:t>
            </a:r>
            <a:r>
              <a:rPr lang="en-US" altLang="zh-CN" dirty="0">
                <a:sym typeface="Huawei Sans" panose="020C0503030203020204" pitchFamily="34" charset="0"/>
              </a:rPr>
              <a:t>192.168.20.2</a:t>
            </a:r>
            <a:r>
              <a:rPr lang="zh-CN" altLang="en-US" dirty="0">
                <a:sym typeface="Huawei Sans" panose="020C0503030203020204" pitchFamily="34" charset="0"/>
              </a:rPr>
              <a:t>的</a:t>
            </a:r>
            <a:r>
              <a:rPr lang="en-US" altLang="zh-CN" dirty="0">
                <a:sym typeface="Huawei Sans" panose="020C0503030203020204" pitchFamily="34" charset="0"/>
              </a:rPr>
              <a:t>MAC</a:t>
            </a:r>
            <a:r>
              <a:rPr lang="zh-CN" altLang="en-US" dirty="0">
                <a:sym typeface="Huawei Sans" panose="020C0503030203020204" pitchFamily="34" charset="0"/>
              </a:rPr>
              <a:t>地址，交由交换模块重新封装为数据帧。</a:t>
            </a:r>
            <a:endParaRPr lang="en-US" altLang="zh-CN" dirty="0">
              <a:sym typeface="Huawei Sans" panose="020C0503030203020204" pitchFamily="34" charset="0"/>
            </a:endParaRPr>
          </a:p>
          <a:p>
            <a:pPr lvl="1"/>
            <a:r>
              <a:rPr lang="zh-CN" altLang="en-US" dirty="0">
                <a:sym typeface="Huawei Sans" panose="020C0503030203020204" pitchFamily="34" charset="0"/>
              </a:rPr>
              <a:t>交换模块查找</a:t>
            </a:r>
            <a:r>
              <a:rPr lang="en-US" altLang="zh-CN" dirty="0">
                <a:sym typeface="Huawei Sans" panose="020C0503030203020204" pitchFamily="34" charset="0"/>
              </a:rPr>
              <a:t>MAC</a:t>
            </a:r>
            <a:r>
              <a:rPr lang="zh-CN" altLang="en-US" dirty="0">
                <a:sym typeface="Huawei Sans" panose="020C0503030203020204" pitchFamily="34" charset="0"/>
              </a:rPr>
              <a:t>地址表以明确报文出接口、是否需要携带</a:t>
            </a:r>
            <a:r>
              <a:rPr lang="en-US" altLang="zh-CN" dirty="0">
                <a:sym typeface="Huawei Sans" panose="020C0503030203020204" pitchFamily="34" charset="0"/>
              </a:rPr>
              <a:t>VLAN Tag</a:t>
            </a:r>
            <a:r>
              <a:rPr lang="zh-CN" altLang="en-US" dirty="0">
                <a:sym typeface="Huawei Sans" panose="020C0503030203020204" pitchFamily="34" charset="0"/>
              </a:rPr>
              <a:t>。最终交换模块发送的数据帧：源</a:t>
            </a:r>
            <a:r>
              <a:rPr lang="en-US" altLang="zh-CN" dirty="0">
                <a:sym typeface="Huawei Sans" panose="020C0503030203020204" pitchFamily="34" charset="0"/>
              </a:rPr>
              <a:t>MAC = MAC2</a:t>
            </a:r>
            <a:r>
              <a:rPr lang="zh-CN" altLang="en-US" dirty="0">
                <a:sym typeface="Huawei Sans" panose="020C0503030203020204" pitchFamily="34" charset="0"/>
              </a:rPr>
              <a:t>，目的</a:t>
            </a:r>
            <a:r>
              <a:rPr lang="en-US" altLang="zh-CN" dirty="0">
                <a:sym typeface="Huawei Sans" panose="020C0503030203020204" pitchFamily="34" charset="0"/>
              </a:rPr>
              <a:t>MAC = MAC3</a:t>
            </a:r>
            <a:r>
              <a:rPr lang="zh-CN" altLang="en-US" dirty="0">
                <a:sym typeface="Huawei Sans" panose="020C0503030203020204" pitchFamily="34" charset="0"/>
              </a:rPr>
              <a:t>，</a:t>
            </a:r>
            <a:r>
              <a:rPr lang="en-US" altLang="zh-CN" dirty="0">
                <a:sym typeface="Huawei Sans" panose="020C0503030203020204" pitchFamily="34" charset="0"/>
              </a:rPr>
              <a:t>VLAN Tag = None</a:t>
            </a:r>
            <a:r>
              <a:rPr lang="zh-CN" altLang="en-US" dirty="0">
                <a:sym typeface="Huawei Sans" panose="020C0503030203020204" pitchFamily="34" charset="0"/>
              </a:rPr>
              <a:t>。</a:t>
            </a:r>
            <a:endParaRPr lang="en-US" altLang="zh-CN" dirty="0">
              <a:sym typeface="Huawei Sans" panose="020C0503030203020204" pitchFamily="34" charset="0"/>
            </a:endParaRPr>
          </a:p>
          <a:p>
            <a:r>
              <a:rPr lang="zh-CN" altLang="en-US" dirty="0">
                <a:sym typeface="Huawei Sans" panose="020C0503030203020204" pitchFamily="34" charset="0"/>
              </a:rPr>
              <a:t>以上转发过程中，交换机通过数据帧的目的</a:t>
            </a:r>
            <a:r>
              <a:rPr lang="en-US" altLang="zh-CN" dirty="0">
                <a:sym typeface="Huawei Sans" panose="020C0503030203020204" pitchFamily="34" charset="0"/>
              </a:rPr>
              <a:t>MAC</a:t>
            </a:r>
            <a:r>
              <a:rPr lang="zh-CN" altLang="en-US" dirty="0">
                <a:sym typeface="Huawei Sans" panose="020C0503030203020204" pitchFamily="34" charset="0"/>
              </a:rPr>
              <a:t>地址来判断报文是否为自身三层转发处理（如果目的</a:t>
            </a:r>
            <a:r>
              <a:rPr lang="en-US" altLang="zh-CN" dirty="0">
                <a:sym typeface="Huawei Sans" panose="020C0503030203020204" pitchFamily="34" charset="0"/>
              </a:rPr>
              <a:t>MAC</a:t>
            </a:r>
            <a:r>
              <a:rPr lang="zh-CN" altLang="en-US" dirty="0">
                <a:sym typeface="Huawei Sans" panose="020C0503030203020204" pitchFamily="34" charset="0"/>
              </a:rPr>
              <a:t>为自身</a:t>
            </a:r>
            <a:r>
              <a:rPr lang="en-US" altLang="zh-CN" dirty="0">
                <a:sym typeface="Huawei Sans" panose="020C0503030203020204" pitchFamily="34" charset="0"/>
              </a:rPr>
              <a:t>MAC</a:t>
            </a:r>
            <a:r>
              <a:rPr lang="zh-CN" altLang="en-US" dirty="0">
                <a:sym typeface="Huawei Sans" panose="020C0503030203020204" pitchFamily="34" charset="0"/>
              </a:rPr>
              <a:t>，则执行</a:t>
            </a:r>
            <a:r>
              <a:rPr lang="en-US" altLang="zh-CN" dirty="0">
                <a:sym typeface="Huawei Sans" panose="020C0503030203020204" pitchFamily="34" charset="0"/>
              </a:rPr>
              <a:t>L3</a:t>
            </a:r>
            <a:r>
              <a:rPr lang="zh-CN" altLang="en-US" dirty="0">
                <a:sym typeface="Huawei Sans" panose="020C0503030203020204" pitchFamily="34" charset="0"/>
              </a:rPr>
              <a:t>查表转发，否则</a:t>
            </a:r>
            <a:r>
              <a:rPr lang="en-US" altLang="zh-CN" dirty="0">
                <a:sym typeface="Huawei Sans" panose="020C0503030203020204" pitchFamily="34" charset="0"/>
              </a:rPr>
              <a:t>L2</a:t>
            </a:r>
            <a:r>
              <a:rPr lang="zh-CN" altLang="en-US" dirty="0">
                <a:sym typeface="Huawei Sans" panose="020C0503030203020204" pitchFamily="34" charset="0"/>
              </a:rPr>
              <a:t>查表转发），该细节十分重要，在后续介绍对称</a:t>
            </a:r>
            <a:r>
              <a:rPr lang="en-US" altLang="zh-CN" dirty="0">
                <a:sym typeface="Huawei Sans" panose="020C0503030203020204" pitchFamily="34" charset="0"/>
              </a:rPr>
              <a:t>IRB</a:t>
            </a:r>
            <a:r>
              <a:rPr lang="zh-CN" altLang="en-US" dirty="0">
                <a:sym typeface="Huawei Sans" panose="020C0503030203020204" pitchFamily="34" charset="0"/>
              </a:rPr>
              <a:t>、非对称</a:t>
            </a:r>
            <a:r>
              <a:rPr lang="en-US" altLang="zh-CN" dirty="0">
                <a:sym typeface="Huawei Sans" panose="020C0503030203020204" pitchFamily="34" charset="0"/>
              </a:rPr>
              <a:t>IRB</a:t>
            </a:r>
            <a:r>
              <a:rPr lang="zh-CN" altLang="en-US" dirty="0">
                <a:sym typeface="Huawei Sans" panose="020C0503030203020204" pitchFamily="34" charset="0"/>
              </a:rPr>
              <a:t>都会涉及到该知识点，请充分理解。</a:t>
            </a:r>
            <a:endParaRPr lang="en-US" altLang="zh-CN" dirty="0">
              <a:sym typeface="Huawei Sans" panose="020C0503030203020204" pitchFamily="34" charset="0"/>
            </a:endParaRPr>
          </a:p>
          <a:p>
            <a:r>
              <a:rPr lang="en-US" altLang="zh-CN" dirty="0">
                <a:sym typeface="Huawei Sans" panose="020C0503030203020204" pitchFamily="34" charset="0"/>
              </a:rPr>
              <a:t>Ingress VTEP</a:t>
            </a:r>
            <a:r>
              <a:rPr lang="zh-CN" altLang="en-US" dirty="0">
                <a:sym typeface="Huawei Sans" panose="020C0503030203020204" pitchFamily="34" charset="0"/>
              </a:rPr>
              <a:t>：流量进入</a:t>
            </a:r>
            <a:r>
              <a:rPr lang="en-US" altLang="zh-CN" dirty="0">
                <a:sym typeface="Huawei Sans" panose="020C0503030203020204" pitchFamily="34" charset="0"/>
              </a:rPr>
              <a:t>VXLAN</a:t>
            </a:r>
            <a:r>
              <a:rPr lang="zh-CN" altLang="en-US" dirty="0">
                <a:sym typeface="Huawei Sans" panose="020C0503030203020204" pitchFamily="34" charset="0"/>
              </a:rPr>
              <a:t>网络的</a:t>
            </a:r>
            <a:r>
              <a:rPr lang="en-US" altLang="zh-CN" dirty="0">
                <a:sym typeface="Huawei Sans" panose="020C0503030203020204" pitchFamily="34" charset="0"/>
              </a:rPr>
              <a:t>VTEP</a:t>
            </a:r>
            <a:r>
              <a:rPr lang="zh-CN" altLang="en-US" dirty="0">
                <a:sym typeface="Huawei Sans" panose="020C0503030203020204" pitchFamily="34" charset="0"/>
              </a:rPr>
              <a:t>设备。</a:t>
            </a:r>
            <a:endParaRPr lang="en-US" altLang="zh-CN" dirty="0">
              <a:sym typeface="Huawei Sans" panose="020C0503030203020204" pitchFamily="34" charset="0"/>
            </a:endParaRPr>
          </a:p>
          <a:p>
            <a:r>
              <a:rPr lang="en-US" altLang="zh-CN" dirty="0">
                <a:sym typeface="Huawei Sans" panose="020C0503030203020204" pitchFamily="34" charset="0"/>
              </a:rPr>
              <a:t>Egress VTEP</a:t>
            </a:r>
            <a:r>
              <a:rPr lang="zh-CN" altLang="en-US" dirty="0">
                <a:sym typeface="Huawei Sans" panose="020C0503030203020204" pitchFamily="34" charset="0"/>
              </a:rPr>
              <a:t>：流量从</a:t>
            </a:r>
            <a:r>
              <a:rPr lang="en-US" altLang="zh-CN" dirty="0">
                <a:sym typeface="Huawei Sans" panose="020C0503030203020204" pitchFamily="34" charset="0"/>
              </a:rPr>
              <a:t>VTEP</a:t>
            </a:r>
            <a:r>
              <a:rPr lang="zh-CN" altLang="en-US" dirty="0">
                <a:sym typeface="Huawei Sans" panose="020C0503030203020204" pitchFamily="34" charset="0"/>
              </a:rPr>
              <a:t>离开</a:t>
            </a:r>
            <a:r>
              <a:rPr lang="en-US" altLang="zh-CN" dirty="0">
                <a:sym typeface="Huawei Sans" panose="020C0503030203020204" pitchFamily="34" charset="0"/>
              </a:rPr>
              <a:t>VXLAN</a:t>
            </a:r>
            <a:r>
              <a:rPr lang="zh-CN" altLang="en-US" dirty="0">
                <a:sym typeface="Huawei Sans" panose="020C0503030203020204" pitchFamily="34" charset="0"/>
              </a:rPr>
              <a:t>网络的设备。</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5055153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在非对称</a:t>
            </a:r>
            <a:r>
              <a:rPr lang="en-US" altLang="zh-CN" dirty="0"/>
              <a:t>IRB</a:t>
            </a:r>
            <a:r>
              <a:rPr lang="zh-CN" altLang="en-US" dirty="0"/>
              <a:t>转发过程中，</a:t>
            </a:r>
            <a:r>
              <a:rPr lang="en-US" altLang="zh-CN" dirty="0"/>
              <a:t>VTEP</a:t>
            </a:r>
            <a:r>
              <a:rPr lang="zh-CN" altLang="en-US" dirty="0"/>
              <a:t>之间不会传递主机</a:t>
            </a:r>
            <a:r>
              <a:rPr lang="en-US" altLang="zh-CN" dirty="0"/>
              <a:t>IP</a:t>
            </a:r>
            <a:r>
              <a:rPr lang="zh-CN" altLang="en-US" dirty="0"/>
              <a:t>路由，即</a:t>
            </a:r>
            <a:r>
              <a:rPr lang="en-US" altLang="zh-CN" dirty="0"/>
              <a:t>VTEP1</a:t>
            </a:r>
            <a:r>
              <a:rPr lang="zh-CN" altLang="en-US" dirty="0"/>
              <a:t>、</a:t>
            </a:r>
            <a:r>
              <a:rPr lang="en-US" altLang="zh-CN" dirty="0"/>
              <a:t>VTEP2</a:t>
            </a:r>
            <a:r>
              <a:rPr lang="zh-CN" altLang="en-US" dirty="0"/>
              <a:t>之间不会传递本地下连</a:t>
            </a:r>
            <a:r>
              <a:rPr lang="en-US" altLang="zh-CN" dirty="0"/>
              <a:t>PC</a:t>
            </a:r>
            <a:r>
              <a:rPr lang="zh-CN" altLang="en-US" dirty="0"/>
              <a:t>生成的</a:t>
            </a:r>
            <a:r>
              <a:rPr lang="en-US" altLang="zh-CN" dirty="0"/>
              <a:t>32</a:t>
            </a:r>
            <a:r>
              <a:rPr lang="zh-CN" altLang="en-US" dirty="0"/>
              <a:t>位主机路由（由</a:t>
            </a:r>
            <a:r>
              <a:rPr lang="en-US" altLang="zh-CN" dirty="0"/>
              <a:t>ARP</a:t>
            </a:r>
            <a:r>
              <a:rPr lang="zh-CN" altLang="en-US" dirty="0"/>
              <a:t>信息生成），所以在第</a:t>
            </a:r>
            <a:r>
              <a:rPr lang="en-US" altLang="zh-CN" dirty="0"/>
              <a:t>2</a:t>
            </a:r>
            <a:r>
              <a:rPr lang="zh-CN" altLang="en-US" dirty="0"/>
              <a:t>步中</a:t>
            </a:r>
            <a:r>
              <a:rPr lang="en-US" altLang="zh-CN" dirty="0"/>
              <a:t>VTEP1</a:t>
            </a:r>
            <a:r>
              <a:rPr lang="zh-CN" altLang="en-US" dirty="0"/>
              <a:t>查找路由表，只能匹配到由</a:t>
            </a:r>
            <a:r>
              <a:rPr lang="en-US" altLang="zh-CN" dirty="0"/>
              <a:t>VBDIF 10</a:t>
            </a:r>
            <a:r>
              <a:rPr lang="zh-CN" altLang="en-US" dirty="0"/>
              <a:t>生成的直连路由。</a:t>
            </a:r>
            <a:endParaRPr lang="en-US" altLang="zh-CN" dirty="0"/>
          </a:p>
          <a:p>
            <a:r>
              <a:rPr lang="zh-CN" altLang="en-US" dirty="0"/>
              <a:t>在第</a:t>
            </a:r>
            <a:r>
              <a:rPr lang="en-US" altLang="zh-CN" dirty="0"/>
              <a:t>5</a:t>
            </a:r>
            <a:r>
              <a:rPr lang="zh-CN" altLang="en-US" dirty="0"/>
              <a:t>步中，</a:t>
            </a:r>
            <a:r>
              <a:rPr lang="en-US" altLang="zh-CN" dirty="0"/>
              <a:t>VTEP2</a:t>
            </a:r>
            <a:r>
              <a:rPr lang="zh-CN" altLang="en-US" dirty="0"/>
              <a:t>解封装</a:t>
            </a:r>
            <a:r>
              <a:rPr lang="en-US" altLang="zh-CN" dirty="0"/>
              <a:t>VXLAN</a:t>
            </a:r>
            <a:r>
              <a:rPr lang="zh-CN" altLang="en-US" dirty="0"/>
              <a:t>报文，目的</a:t>
            </a:r>
            <a:r>
              <a:rPr lang="en-US" altLang="zh-CN" dirty="0"/>
              <a:t>MAC</a:t>
            </a:r>
            <a:r>
              <a:rPr lang="zh-CN" altLang="en-US" dirty="0"/>
              <a:t>不是该</a:t>
            </a:r>
            <a:r>
              <a:rPr lang="en-US" altLang="zh-CN" dirty="0"/>
              <a:t>BD</a:t>
            </a:r>
            <a:r>
              <a:rPr lang="zh-CN" altLang="en-US" dirty="0"/>
              <a:t>所对应的本地</a:t>
            </a:r>
            <a:r>
              <a:rPr lang="en-US" altLang="zh-CN" dirty="0"/>
              <a:t>VBDIF</a:t>
            </a:r>
            <a:r>
              <a:rPr lang="zh-CN" altLang="en-US" dirty="0"/>
              <a:t>接口</a:t>
            </a:r>
            <a:r>
              <a:rPr lang="en-US" altLang="zh-CN" dirty="0"/>
              <a:t>MAC</a:t>
            </a:r>
            <a:r>
              <a:rPr lang="zh-CN" altLang="en-US" dirty="0"/>
              <a:t>地址，所以此时</a:t>
            </a:r>
            <a:r>
              <a:rPr lang="en-US" altLang="zh-CN" dirty="0"/>
              <a:t>VTEP</a:t>
            </a:r>
            <a:r>
              <a:rPr lang="zh-CN" altLang="en-US" dirty="0"/>
              <a:t>会执行</a:t>
            </a:r>
            <a:r>
              <a:rPr lang="en-US" altLang="zh-CN" dirty="0"/>
              <a:t>L2</a:t>
            </a:r>
            <a:r>
              <a:rPr lang="zh-CN" altLang="en-US" dirty="0"/>
              <a:t>查表，根据报文携带的</a:t>
            </a:r>
            <a:r>
              <a:rPr lang="en-US" altLang="zh-CN" dirty="0"/>
              <a:t>VNI</a:t>
            </a:r>
            <a:r>
              <a:rPr lang="zh-CN" altLang="en-US" dirty="0"/>
              <a:t>查找对应的</a:t>
            </a:r>
            <a:r>
              <a:rPr lang="en-US" altLang="zh-CN" dirty="0"/>
              <a:t>BD</a:t>
            </a:r>
            <a:r>
              <a:rPr lang="zh-CN" altLang="en-US" dirty="0"/>
              <a:t>的</a:t>
            </a:r>
            <a:r>
              <a:rPr lang="en-US" altLang="zh-CN" dirty="0"/>
              <a:t>MAC</a:t>
            </a:r>
            <a:r>
              <a:rPr lang="zh-CN" altLang="en-US" dirty="0"/>
              <a:t>地址表项，之后进行</a:t>
            </a:r>
            <a:r>
              <a:rPr lang="en-US" altLang="zh-CN" dirty="0"/>
              <a:t>L2</a:t>
            </a:r>
            <a:r>
              <a:rPr lang="zh-CN" altLang="en-US" dirty="0"/>
              <a:t>转发。</a:t>
            </a:r>
            <a:endParaRPr lang="en-US" altLang="zh-CN"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20337187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华为实现方式为对称</a:t>
            </a:r>
            <a:r>
              <a:rPr lang="en-US" altLang="zh-CN"/>
              <a:t>IRB</a:t>
            </a:r>
            <a:r>
              <a:rPr lang="zh-CN" altLang="en-US"/>
              <a:t>转发。</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71893765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在</a:t>
            </a:r>
            <a:r>
              <a:rPr lang="en-US" altLang="zh-CN" dirty="0"/>
              <a:t>BGP EVPN</a:t>
            </a:r>
            <a:r>
              <a:rPr lang="zh-CN" altLang="en-US" dirty="0"/>
              <a:t>的场景中，如果希望通过</a:t>
            </a:r>
            <a:r>
              <a:rPr lang="en-US" altLang="zh-CN" dirty="0"/>
              <a:t>IP VPN</a:t>
            </a:r>
            <a:r>
              <a:rPr lang="zh-CN" altLang="en-US" dirty="0"/>
              <a:t>实例的</a:t>
            </a:r>
            <a:r>
              <a:rPr lang="en-US" altLang="zh-CN" dirty="0"/>
              <a:t>RT</a:t>
            </a:r>
            <a:r>
              <a:rPr lang="zh-CN" altLang="en-US" dirty="0"/>
              <a:t>值控制</a:t>
            </a:r>
            <a:r>
              <a:rPr lang="en-US" altLang="zh-CN" dirty="0"/>
              <a:t>EVPN</a:t>
            </a:r>
            <a:r>
              <a:rPr lang="zh-CN" altLang="en-US" dirty="0"/>
              <a:t>路由的发送、接收，此时可以使用</a:t>
            </a:r>
            <a:r>
              <a:rPr lang="en-US" altLang="zh-CN" b="1" dirty="0" err="1"/>
              <a:t>vpn</a:t>
            </a:r>
            <a:r>
              <a:rPr lang="en-US" altLang="zh-CN" b="1" dirty="0"/>
              <a:t>-target </a:t>
            </a:r>
            <a:r>
              <a:rPr lang="en-US" altLang="zh-CN" b="1" dirty="0" err="1"/>
              <a:t>evpn</a:t>
            </a:r>
            <a:r>
              <a:rPr lang="zh-CN" altLang="en-US" dirty="0"/>
              <a:t>进行</a:t>
            </a:r>
            <a:r>
              <a:rPr lang="en-US" altLang="zh-CN" dirty="0"/>
              <a:t>RT</a:t>
            </a:r>
            <a:r>
              <a:rPr lang="zh-CN" altLang="en-US" dirty="0"/>
              <a:t>值的配置，此时出方向的</a:t>
            </a:r>
            <a:r>
              <a:rPr lang="en-US" altLang="zh-CN" dirty="0"/>
              <a:t>RT</a:t>
            </a:r>
            <a:r>
              <a:rPr lang="zh-CN" altLang="en-US" dirty="0"/>
              <a:t>属性会携带在</a:t>
            </a:r>
            <a:r>
              <a:rPr lang="en-US" altLang="zh-CN" dirty="0"/>
              <a:t>EVPN</a:t>
            </a:r>
            <a:r>
              <a:rPr lang="zh-CN" altLang="en-US" dirty="0"/>
              <a:t>路由中发送到远端的</a:t>
            </a:r>
            <a:r>
              <a:rPr lang="en-US" altLang="zh-CN" dirty="0"/>
              <a:t>BGP EVPN</a:t>
            </a:r>
            <a:r>
              <a:rPr lang="zh-CN" altLang="en-US" dirty="0"/>
              <a:t>对等体，入方向</a:t>
            </a:r>
            <a:r>
              <a:rPr lang="en-US" altLang="zh-CN" dirty="0"/>
              <a:t>RT</a:t>
            </a:r>
            <a:r>
              <a:rPr lang="zh-CN" altLang="en-US" dirty="0"/>
              <a:t>属性通过与</a:t>
            </a:r>
            <a:r>
              <a:rPr lang="en-US" altLang="zh-CN" dirty="0"/>
              <a:t>EVPN</a:t>
            </a:r>
            <a:r>
              <a:rPr lang="zh-CN" altLang="en-US" dirty="0"/>
              <a:t>路由中携带的</a:t>
            </a:r>
            <a:r>
              <a:rPr lang="en-US" altLang="zh-CN" dirty="0"/>
              <a:t>RT</a:t>
            </a:r>
            <a:r>
              <a:rPr lang="zh-CN" altLang="en-US" dirty="0"/>
              <a:t>属性匹配来决定哪些</a:t>
            </a:r>
            <a:r>
              <a:rPr lang="en-US" altLang="zh-CN" dirty="0"/>
              <a:t>EVPN</a:t>
            </a:r>
            <a:r>
              <a:rPr lang="zh-CN" altLang="en-US" dirty="0"/>
              <a:t>路由能交叉到本地的</a:t>
            </a:r>
            <a:r>
              <a:rPr lang="en-US" altLang="zh-CN" dirty="0"/>
              <a:t>IP VPN</a:t>
            </a:r>
            <a:r>
              <a:rPr lang="zh-CN" altLang="en-US" dirty="0"/>
              <a:t>实例地址族的路由表中。</a:t>
            </a:r>
            <a:endParaRPr lang="en-US" altLang="zh-CN" dirty="0"/>
          </a:p>
          <a:p>
            <a:pPr lvl="0"/>
            <a:r>
              <a:rPr lang="zh-CN" altLang="en-US" dirty="0"/>
              <a:t>注：为了和普通的</a:t>
            </a:r>
            <a:r>
              <a:rPr lang="en-US" altLang="zh-CN" dirty="0"/>
              <a:t>RT</a:t>
            </a:r>
            <a:r>
              <a:rPr lang="zh-CN" altLang="en-US" dirty="0"/>
              <a:t>值配置区分开，这里我们把通过</a:t>
            </a:r>
            <a:r>
              <a:rPr lang="en-US" altLang="zh-CN" b="1" dirty="0" err="1"/>
              <a:t>vpn</a:t>
            </a:r>
            <a:r>
              <a:rPr lang="en-US" altLang="zh-CN" b="1" dirty="0"/>
              <a:t>-target </a:t>
            </a:r>
            <a:r>
              <a:rPr lang="en-US" altLang="zh-CN" b="1" dirty="0" err="1"/>
              <a:t>evpn</a:t>
            </a:r>
            <a:r>
              <a:rPr lang="zh-CN" altLang="en-US" dirty="0"/>
              <a:t>命令配置的</a:t>
            </a:r>
            <a:r>
              <a:rPr lang="en-US" altLang="zh-CN" dirty="0"/>
              <a:t>RT</a:t>
            </a:r>
            <a:r>
              <a:rPr lang="zh-CN" altLang="en-US" dirty="0"/>
              <a:t>值称为</a:t>
            </a:r>
            <a:r>
              <a:rPr lang="en-US" altLang="zh-CN" dirty="0"/>
              <a:t>RT</a:t>
            </a:r>
            <a:r>
              <a:rPr lang="zh-CN" altLang="en-US" dirty="0"/>
              <a:t>（</a:t>
            </a:r>
            <a:r>
              <a:rPr lang="en-US" altLang="zh-CN" dirty="0"/>
              <a:t>EVPN</a:t>
            </a:r>
            <a:r>
              <a:rPr lang="zh-CN" altLang="en-US" dirty="0"/>
              <a:t>）。</a:t>
            </a:r>
            <a:endParaRPr lang="en-US" altLang="zh-CN"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48426719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VTEP1</a:t>
            </a:r>
            <a:r>
              <a:rPr lang="zh-CN" altLang="en-US" dirty="0"/>
              <a:t>发送一条</a:t>
            </a:r>
            <a:r>
              <a:rPr lang="en-US" altLang="zh-CN" dirty="0"/>
              <a:t>Type 2</a:t>
            </a:r>
            <a:r>
              <a:rPr lang="zh-CN" altLang="en-US" dirty="0"/>
              <a:t>的</a:t>
            </a:r>
            <a:r>
              <a:rPr lang="en-US" altLang="zh-CN" dirty="0"/>
              <a:t>BGP EVPN</a:t>
            </a:r>
            <a:r>
              <a:rPr lang="zh-CN" altLang="en-US" dirty="0"/>
              <a:t>路由（</a:t>
            </a:r>
            <a:r>
              <a:rPr lang="en-US" altLang="zh-CN" dirty="0"/>
              <a:t>IRB</a:t>
            </a:r>
            <a:r>
              <a:rPr lang="zh-CN" altLang="en-US" dirty="0"/>
              <a:t>类型），在该路由中携带所属</a:t>
            </a:r>
            <a:r>
              <a:rPr lang="en-US" altLang="zh-CN" dirty="0"/>
              <a:t>BD</a:t>
            </a:r>
            <a:r>
              <a:rPr lang="zh-CN" altLang="en-US" dirty="0"/>
              <a:t>绑定的</a:t>
            </a:r>
            <a:r>
              <a:rPr lang="en-US" altLang="zh-CN" dirty="0"/>
              <a:t>EVPN</a:t>
            </a:r>
            <a:r>
              <a:rPr lang="zh-CN" altLang="en-US" dirty="0"/>
              <a:t>实例</a:t>
            </a:r>
            <a:r>
              <a:rPr lang="en-US" altLang="zh-CN" dirty="0"/>
              <a:t>ERT</a:t>
            </a:r>
            <a:r>
              <a:rPr lang="zh-CN" altLang="en-US" dirty="0"/>
              <a:t>值（</a:t>
            </a:r>
            <a:r>
              <a:rPr lang="en-US" altLang="zh-CN" dirty="0"/>
              <a:t>20:1</a:t>
            </a:r>
            <a:r>
              <a:rPr lang="zh-CN" altLang="en-US" dirty="0"/>
              <a:t>）。</a:t>
            </a:r>
            <a:endParaRPr lang="en-US" altLang="zh-CN" dirty="0"/>
          </a:p>
          <a:p>
            <a:r>
              <a:rPr lang="en-US" altLang="zh-CN" dirty="0"/>
              <a:t>VTEP2</a:t>
            </a:r>
            <a:r>
              <a:rPr lang="zh-CN" altLang="en-US" dirty="0"/>
              <a:t>收到之后，检查</a:t>
            </a:r>
            <a:r>
              <a:rPr lang="en-US" altLang="zh-CN" dirty="0"/>
              <a:t>BGP Update</a:t>
            </a:r>
            <a:r>
              <a:rPr lang="zh-CN" altLang="en-US" dirty="0"/>
              <a:t>中扩展属性所携带的</a:t>
            </a:r>
            <a:r>
              <a:rPr lang="en-US" altLang="zh-CN" dirty="0"/>
              <a:t>RT</a:t>
            </a:r>
            <a:r>
              <a:rPr lang="zh-CN" altLang="en-US" dirty="0"/>
              <a:t>值（</a:t>
            </a:r>
            <a:r>
              <a:rPr lang="en-US" altLang="zh-CN" dirty="0"/>
              <a:t>20:1</a:t>
            </a:r>
            <a:r>
              <a:rPr lang="zh-CN" altLang="en-US" dirty="0"/>
              <a:t>），与本地的</a:t>
            </a:r>
            <a:r>
              <a:rPr lang="en-US" altLang="zh-CN" dirty="0"/>
              <a:t>EVPN</a:t>
            </a:r>
            <a:r>
              <a:rPr lang="zh-CN" altLang="en-US" dirty="0"/>
              <a:t>实例中的</a:t>
            </a:r>
            <a:r>
              <a:rPr lang="en-US" altLang="zh-CN" dirty="0"/>
              <a:t>IRT</a:t>
            </a:r>
            <a:r>
              <a:rPr lang="zh-CN" altLang="en-US" dirty="0"/>
              <a:t>、</a:t>
            </a:r>
            <a:r>
              <a:rPr lang="en-US" altLang="zh-CN" dirty="0"/>
              <a:t>IP VPN</a:t>
            </a:r>
            <a:r>
              <a:rPr lang="zh-CN" altLang="en-US" dirty="0"/>
              <a:t>实例中的</a:t>
            </a:r>
            <a:r>
              <a:rPr lang="en-US" altLang="zh-CN" dirty="0"/>
              <a:t>IRT</a:t>
            </a:r>
            <a:r>
              <a:rPr lang="zh-CN" altLang="en-US" dirty="0"/>
              <a:t>（</a:t>
            </a:r>
            <a:r>
              <a:rPr lang="en-US" altLang="zh-CN" dirty="0"/>
              <a:t>EVPN</a:t>
            </a:r>
            <a:r>
              <a:rPr lang="zh-CN" altLang="en-US" dirty="0"/>
              <a:t>）进行比较，发现与</a:t>
            </a:r>
            <a:r>
              <a:rPr lang="en-US" altLang="zh-CN" dirty="0"/>
              <a:t>BD 20</a:t>
            </a:r>
            <a:r>
              <a:rPr lang="zh-CN" altLang="en-US" dirty="0"/>
              <a:t>、</a:t>
            </a:r>
            <a:r>
              <a:rPr lang="en-US" altLang="zh-CN" dirty="0"/>
              <a:t>VBDIF 20</a:t>
            </a:r>
            <a:r>
              <a:rPr lang="zh-CN" altLang="en-US" dirty="0"/>
              <a:t>所绑定的</a:t>
            </a:r>
            <a:r>
              <a:rPr lang="en-US" altLang="zh-CN" dirty="0"/>
              <a:t>EVPN</a:t>
            </a:r>
            <a:r>
              <a:rPr lang="zh-CN" altLang="en-US" dirty="0"/>
              <a:t>实例、</a:t>
            </a:r>
            <a:r>
              <a:rPr lang="en-US" altLang="zh-CN" dirty="0"/>
              <a:t> IP VPN</a:t>
            </a:r>
            <a:r>
              <a:rPr lang="zh-CN" altLang="en-US" dirty="0"/>
              <a:t>实例的</a:t>
            </a:r>
            <a:r>
              <a:rPr lang="en-US" altLang="zh-CN" dirty="0"/>
              <a:t>IRT</a:t>
            </a:r>
            <a:r>
              <a:rPr lang="zh-CN" altLang="en-US" dirty="0"/>
              <a:t>相同，将</a:t>
            </a:r>
            <a:r>
              <a:rPr lang="en-US" altLang="zh-CN" dirty="0"/>
              <a:t>EVPN</a:t>
            </a:r>
            <a:r>
              <a:rPr lang="zh-CN" altLang="en-US" dirty="0"/>
              <a:t>路由放入</a:t>
            </a:r>
            <a:r>
              <a:rPr lang="en-US" altLang="zh-CN" dirty="0"/>
              <a:t>BD 20</a:t>
            </a:r>
            <a:r>
              <a:rPr lang="zh-CN" altLang="en-US" dirty="0"/>
              <a:t>所属的</a:t>
            </a:r>
            <a:r>
              <a:rPr lang="en-US" altLang="zh-CN" dirty="0"/>
              <a:t>EVPN</a:t>
            </a:r>
            <a:r>
              <a:rPr lang="zh-CN" altLang="en-US" dirty="0"/>
              <a:t>路由表中，同时将</a:t>
            </a:r>
            <a:r>
              <a:rPr lang="en-US" altLang="zh-CN" dirty="0"/>
              <a:t>EVPN</a:t>
            </a:r>
            <a:r>
              <a:rPr lang="zh-CN" altLang="en-US" dirty="0"/>
              <a:t>路由中包含的</a:t>
            </a:r>
            <a:r>
              <a:rPr lang="en-US" altLang="zh-CN" dirty="0"/>
              <a:t>IP</a:t>
            </a:r>
            <a:r>
              <a:rPr lang="zh-CN" altLang="en-US" dirty="0"/>
              <a:t>路由放入</a:t>
            </a:r>
            <a:r>
              <a:rPr lang="en-US" altLang="zh-CN" dirty="0"/>
              <a:t>VBDIF 20</a:t>
            </a:r>
            <a:r>
              <a:rPr lang="zh-CN" altLang="en-US" dirty="0"/>
              <a:t>所对应的</a:t>
            </a:r>
            <a:r>
              <a:rPr lang="en-US" altLang="zh-CN" dirty="0"/>
              <a:t>IP VPN</a:t>
            </a:r>
            <a:r>
              <a:rPr lang="zh-CN" altLang="en-US" dirty="0"/>
              <a:t>实例路由表中。</a:t>
            </a:r>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55487659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41556829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对称</a:t>
            </a:r>
            <a:r>
              <a:rPr lang="en-US" altLang="zh-CN" dirty="0"/>
              <a:t>IRB</a:t>
            </a:r>
            <a:r>
              <a:rPr lang="zh-CN" altLang="en-US" dirty="0"/>
              <a:t>转发时，</a:t>
            </a:r>
            <a:r>
              <a:rPr lang="en-US" altLang="zh-CN" dirty="0"/>
              <a:t>VTEP</a:t>
            </a:r>
            <a:r>
              <a:rPr lang="zh-CN" altLang="en-US" dirty="0"/>
              <a:t>之间会传递由</a:t>
            </a:r>
            <a:r>
              <a:rPr lang="en-US" altLang="zh-CN" dirty="0"/>
              <a:t>ARP</a:t>
            </a:r>
            <a:r>
              <a:rPr lang="zh-CN" altLang="en-US" dirty="0"/>
              <a:t>生成的</a:t>
            </a:r>
            <a:r>
              <a:rPr lang="en-US" altLang="zh-CN" dirty="0"/>
              <a:t>32</a:t>
            </a:r>
            <a:r>
              <a:rPr lang="zh-CN" altLang="en-US" dirty="0"/>
              <a:t>位主机路由，因此</a:t>
            </a:r>
            <a:r>
              <a:rPr lang="en-US" altLang="zh-CN" dirty="0"/>
              <a:t>VTEP1</a:t>
            </a:r>
            <a:r>
              <a:rPr lang="zh-CN" altLang="en-US" dirty="0"/>
              <a:t>在进行路由查表时会匹配中由</a:t>
            </a:r>
            <a:r>
              <a:rPr lang="en-US" altLang="zh-CN" dirty="0"/>
              <a:t>VETP2</a:t>
            </a:r>
            <a:r>
              <a:rPr lang="zh-CN" altLang="en-US" dirty="0"/>
              <a:t>传递过来的</a:t>
            </a:r>
            <a:r>
              <a:rPr lang="en-US" altLang="zh-CN" dirty="0"/>
              <a:t>32</a:t>
            </a:r>
            <a:r>
              <a:rPr lang="zh-CN" altLang="en-US" dirty="0"/>
              <a:t>位主机路由，即便</a:t>
            </a:r>
            <a:r>
              <a:rPr lang="en-US" altLang="zh-CN" dirty="0"/>
              <a:t>VTEP1</a:t>
            </a:r>
            <a:r>
              <a:rPr lang="zh-CN" altLang="en-US" dirty="0"/>
              <a:t>上存在</a:t>
            </a:r>
            <a:r>
              <a:rPr lang="en-US" altLang="zh-CN" dirty="0"/>
              <a:t>VBDIF 10</a:t>
            </a:r>
            <a:r>
              <a:rPr lang="zh-CN" altLang="en-US" dirty="0"/>
              <a:t>，存在对应的直连路由，此时根据最长匹配原则依旧会根据</a:t>
            </a:r>
            <a:r>
              <a:rPr lang="en-US" altLang="zh-CN" dirty="0"/>
              <a:t>32</a:t>
            </a:r>
            <a:r>
              <a:rPr lang="zh-CN" altLang="en-US" dirty="0"/>
              <a:t>位主机路由进行转发。</a:t>
            </a:r>
            <a:endParaRPr lang="en-US" altLang="zh-CN" dirty="0"/>
          </a:p>
          <a:p>
            <a:r>
              <a:rPr lang="zh-CN" altLang="en-US" dirty="0"/>
              <a:t>在第</a:t>
            </a:r>
            <a:r>
              <a:rPr lang="en-US" altLang="zh-CN" dirty="0"/>
              <a:t>4</a:t>
            </a:r>
            <a:r>
              <a:rPr lang="zh-CN" altLang="en-US" dirty="0"/>
              <a:t>步中，</a:t>
            </a:r>
            <a:r>
              <a:rPr lang="en-US" altLang="zh-CN" dirty="0"/>
              <a:t>VTEP2</a:t>
            </a:r>
            <a:r>
              <a:rPr lang="zh-CN" altLang="en-US" dirty="0"/>
              <a:t>解封装</a:t>
            </a:r>
            <a:r>
              <a:rPr lang="en-US" altLang="zh-CN" dirty="0"/>
              <a:t>VXLAN</a:t>
            </a:r>
            <a:r>
              <a:rPr lang="zh-CN" altLang="en-US" dirty="0"/>
              <a:t>报文，发现内层数据帧的目的</a:t>
            </a:r>
            <a:r>
              <a:rPr lang="en-US" altLang="zh-CN" dirty="0"/>
              <a:t>MAC</a:t>
            </a:r>
            <a:r>
              <a:rPr lang="zh-CN" altLang="en-US" dirty="0"/>
              <a:t>地址为</a:t>
            </a:r>
            <a:r>
              <a:rPr lang="en-US" altLang="zh-CN" dirty="0"/>
              <a:t>VTEP2</a:t>
            </a:r>
            <a:r>
              <a:rPr lang="zh-CN" altLang="en-US" dirty="0"/>
              <a:t>的</a:t>
            </a:r>
            <a:r>
              <a:rPr lang="en-US" altLang="zh-CN" dirty="0"/>
              <a:t>Router MAC</a:t>
            </a:r>
            <a:r>
              <a:rPr lang="zh-CN" altLang="en-US" dirty="0"/>
              <a:t>（</a:t>
            </a:r>
            <a:r>
              <a:rPr lang="en-US" altLang="zh-CN" dirty="0"/>
              <a:t>MAC B</a:t>
            </a:r>
            <a:r>
              <a:rPr lang="zh-CN" altLang="en-US" dirty="0"/>
              <a:t>），判断自身需要进行</a:t>
            </a:r>
            <a:r>
              <a:rPr lang="en-US" altLang="zh-CN" dirty="0"/>
              <a:t>L3</a:t>
            </a:r>
            <a:r>
              <a:rPr lang="zh-CN" altLang="en-US" dirty="0"/>
              <a:t>路由查表转发，根据</a:t>
            </a:r>
            <a:r>
              <a:rPr lang="en-US" altLang="zh-CN" dirty="0"/>
              <a:t>VNI 1000</a:t>
            </a:r>
            <a:r>
              <a:rPr lang="zh-CN" altLang="en-US" dirty="0"/>
              <a:t>找到对应</a:t>
            </a:r>
            <a:r>
              <a:rPr lang="en-US" altLang="zh-CN" dirty="0"/>
              <a:t>IP VPN</a:t>
            </a:r>
            <a:r>
              <a:rPr lang="zh-CN" altLang="en-US" dirty="0"/>
              <a:t>实例，在该</a:t>
            </a:r>
            <a:r>
              <a:rPr lang="en-US" altLang="zh-CN" dirty="0"/>
              <a:t>IP VPN</a:t>
            </a:r>
            <a:r>
              <a:rPr lang="zh-CN" altLang="en-US" dirty="0"/>
              <a:t>实例路由表中查找对应的路由，发现匹配中</a:t>
            </a:r>
            <a:r>
              <a:rPr lang="en-US" altLang="zh-CN" dirty="0"/>
              <a:t>VBDIF 10</a:t>
            </a:r>
            <a:r>
              <a:rPr lang="zh-CN" altLang="en-US" dirty="0"/>
              <a:t>接口的直连路由，之后查找本地</a:t>
            </a:r>
            <a:r>
              <a:rPr lang="en-US" altLang="zh-CN" dirty="0"/>
              <a:t>MAC</a:t>
            </a:r>
            <a:r>
              <a:rPr lang="zh-CN" altLang="en-US" dirty="0"/>
              <a:t>地址表项，将报文发送给连接在本地的</a:t>
            </a:r>
            <a:r>
              <a:rPr lang="en-US" altLang="zh-CN" dirty="0"/>
              <a:t>PC2</a:t>
            </a:r>
            <a:r>
              <a:rPr lang="zh-CN" altLang="en-US" dirty="0"/>
              <a:t>。</a:t>
            </a:r>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26167786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PMSI</a:t>
            </a:r>
            <a:r>
              <a:rPr lang="zh-CN" altLang="en-US" dirty="0"/>
              <a:t>：</a:t>
            </a:r>
            <a:r>
              <a:rPr lang="en-US" altLang="zh-CN" dirty="0"/>
              <a:t>Provider Multicast Service Interface</a:t>
            </a:r>
            <a:r>
              <a:rPr lang="zh-CN" altLang="en-US" dirty="0"/>
              <a:t>，一个可选过渡的</a:t>
            </a:r>
            <a:r>
              <a:rPr lang="en-US" altLang="zh-CN" dirty="0"/>
              <a:t>BGP</a:t>
            </a:r>
            <a:r>
              <a:rPr lang="zh-CN" altLang="en-US" dirty="0"/>
              <a:t>属性，在</a:t>
            </a:r>
            <a:r>
              <a:rPr lang="en-US" altLang="zh-CN" dirty="0"/>
              <a:t>VXLAN</a:t>
            </a:r>
            <a:r>
              <a:rPr lang="zh-CN" altLang="en-US" dirty="0"/>
              <a:t>场景中</a:t>
            </a:r>
            <a:r>
              <a:rPr lang="en-US" altLang="zh-CN" dirty="0"/>
              <a:t>Tunnel Type</a:t>
            </a:r>
            <a:r>
              <a:rPr lang="zh-CN" altLang="en-US" dirty="0"/>
              <a:t>固定为</a:t>
            </a:r>
            <a:r>
              <a:rPr lang="en-US" altLang="zh-CN" dirty="0"/>
              <a:t>6</a:t>
            </a:r>
            <a:r>
              <a:rPr lang="zh-CN" altLang="en-US" dirty="0"/>
              <a:t>，用来携带发送端的</a:t>
            </a:r>
            <a:r>
              <a:rPr lang="en-US" altLang="zh-CN" dirty="0"/>
              <a:t>VTEP IP</a:t>
            </a:r>
            <a:r>
              <a:rPr lang="zh-CN" altLang="en-US" dirty="0"/>
              <a:t>地址、</a:t>
            </a:r>
            <a:r>
              <a:rPr lang="en-US" altLang="zh-CN" dirty="0"/>
              <a:t>L2 VNI</a:t>
            </a:r>
            <a:r>
              <a:rPr lang="zh-CN" altLang="en-US" dirty="0"/>
              <a:t>。</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12381120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6950536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035793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Type 5</a:t>
            </a:r>
            <a:r>
              <a:rPr lang="zh-CN" altLang="en-US" dirty="0"/>
              <a:t>类路由和</a:t>
            </a:r>
            <a:r>
              <a:rPr lang="en-US" altLang="zh-CN" dirty="0"/>
              <a:t>Type 2 IRB</a:t>
            </a:r>
            <a:r>
              <a:rPr lang="zh-CN" altLang="en-US" dirty="0"/>
              <a:t>路由类似，进行路由传递时都会通过</a:t>
            </a:r>
            <a:r>
              <a:rPr lang="en-US" altLang="zh-CN" dirty="0">
                <a:sym typeface="Huawei Sans" panose="020C0503030203020204" pitchFamily="34" charset="0"/>
              </a:rPr>
              <a:t>EVPN Router’s MAC Extended Community</a:t>
            </a:r>
            <a:r>
              <a:rPr lang="zh-CN" altLang="en-US" dirty="0">
                <a:sym typeface="Huawei Sans" panose="020C0503030203020204" pitchFamily="34" charset="0"/>
              </a:rPr>
              <a:t>这一扩展团体属性携带</a:t>
            </a:r>
            <a:r>
              <a:rPr lang="en-US" altLang="zh-CN" dirty="0">
                <a:sym typeface="Huawei Sans" panose="020C0503030203020204" pitchFamily="34" charset="0"/>
              </a:rPr>
              <a:t>VTEP</a:t>
            </a:r>
            <a:r>
              <a:rPr lang="zh-CN" altLang="en-US" dirty="0">
                <a:sym typeface="Huawei Sans" panose="020C0503030203020204" pitchFamily="34" charset="0"/>
              </a:rPr>
              <a:t>的</a:t>
            </a:r>
            <a:r>
              <a:rPr lang="en-US" altLang="zh-CN" dirty="0">
                <a:sym typeface="Huawei Sans" panose="020C0503030203020204" pitchFamily="34" charset="0"/>
              </a:rPr>
              <a:t>Route MAC</a:t>
            </a:r>
            <a:r>
              <a:rPr lang="zh-CN" altLang="en-US" dirty="0">
                <a:sym typeface="Huawei Sans" panose="020C0503030203020204" pitchFamily="34" charset="0"/>
              </a:rPr>
              <a:t>，同时该类型路由只会携带</a:t>
            </a:r>
            <a:r>
              <a:rPr lang="en-US" altLang="zh-CN" dirty="0">
                <a:sym typeface="Huawei Sans" panose="020C0503030203020204" pitchFamily="34" charset="0"/>
              </a:rPr>
              <a:t>L3 VNI</a:t>
            </a:r>
            <a:r>
              <a:rPr lang="zh-CN" altLang="en-US" dirty="0">
                <a:sym typeface="Huawei Sans" panose="020C0503030203020204" pitchFamily="34" charset="0"/>
              </a:rPr>
              <a:t>，因此转发过程同样也为</a:t>
            </a:r>
            <a:r>
              <a:rPr lang="en-US" altLang="zh-CN" dirty="0">
                <a:sym typeface="Huawei Sans" panose="020C0503030203020204" pitchFamily="34" charset="0"/>
              </a:rPr>
              <a:t>IRB</a:t>
            </a:r>
            <a:r>
              <a:rPr lang="zh-CN" altLang="en-US" dirty="0">
                <a:sym typeface="Huawei Sans" panose="020C0503030203020204" pitchFamily="34" charset="0"/>
              </a:rPr>
              <a:t>转发。</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97448213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幻灯片图像占位符 4"/>
          <p:cNvSpPr>
            <a:spLocks noGrp="1" noRot="1" noChangeAspect="1"/>
          </p:cNvSpPr>
          <p:nvPr>
            <p:ph type="sldImg"/>
          </p:nvPr>
        </p:nvSpPr>
        <p:spPr>
          <a:xfrm>
            <a:off x="742950" y="717550"/>
            <a:ext cx="5557838" cy="3125788"/>
          </a:xfrm>
        </p:spPr>
      </p:sp>
      <p:sp>
        <p:nvSpPr>
          <p:cNvPr id="6" name="备注占位符 5"/>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1140694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ARP</a:t>
            </a:r>
            <a:r>
              <a:rPr lang="zh-CN" altLang="en-US"/>
              <a:t>广播抑制功能是一种有效缓解网关处理</a:t>
            </a:r>
            <a:r>
              <a:rPr lang="en-US" altLang="zh-CN"/>
              <a:t>ARP</a:t>
            </a:r>
            <a:r>
              <a:rPr lang="zh-CN" altLang="en-US"/>
              <a:t>报文的压力的方法。当网关收到</a:t>
            </a:r>
            <a:r>
              <a:rPr lang="en-US" altLang="zh-CN"/>
              <a:t>ARP</a:t>
            </a:r>
            <a:r>
              <a:rPr lang="zh-CN" altLang="en-US"/>
              <a:t>请求报文时，会查询</a:t>
            </a:r>
            <a:r>
              <a:rPr lang="en-US" altLang="zh-CN"/>
              <a:t>ARP</a:t>
            </a:r>
            <a:r>
              <a:rPr lang="zh-CN" altLang="en-US"/>
              <a:t>广播抑制表，该表保存了目的设备的</a:t>
            </a:r>
            <a:r>
              <a:rPr lang="en-US" altLang="zh-CN"/>
              <a:t>IP</a:t>
            </a:r>
            <a:r>
              <a:rPr lang="zh-CN" altLang="en-US"/>
              <a:t>与</a:t>
            </a:r>
            <a:r>
              <a:rPr lang="en-US" altLang="zh-CN"/>
              <a:t>MAC</a:t>
            </a:r>
            <a:r>
              <a:rPr lang="zh-CN" altLang="en-US"/>
              <a:t>地址的映射关系，如果命中表项，则直接将</a:t>
            </a:r>
            <a:r>
              <a:rPr lang="en-US" altLang="zh-CN"/>
              <a:t>ARP</a:t>
            </a:r>
            <a:r>
              <a:rPr lang="zh-CN" altLang="en-US"/>
              <a:t>请求报文中的广播</a:t>
            </a:r>
            <a:r>
              <a:rPr lang="en-US" altLang="zh-CN"/>
              <a:t>MAC</a:t>
            </a:r>
            <a:r>
              <a:rPr lang="zh-CN" altLang="en-US"/>
              <a:t>地址替换为目的设备的</a:t>
            </a:r>
            <a:r>
              <a:rPr lang="en-US" altLang="zh-CN"/>
              <a:t>MAC</a:t>
            </a:r>
            <a:r>
              <a:rPr lang="zh-CN" altLang="en-US"/>
              <a:t>地址，随后网关将</a:t>
            </a:r>
            <a:r>
              <a:rPr lang="en-US" altLang="zh-CN"/>
              <a:t>ARP</a:t>
            </a:r>
            <a:r>
              <a:rPr lang="zh-CN" altLang="en-US"/>
              <a:t>请求报文从目的</a:t>
            </a:r>
            <a:r>
              <a:rPr lang="en-US" altLang="zh-CN"/>
              <a:t>MAC</a:t>
            </a:r>
            <a:r>
              <a:rPr lang="zh-CN" altLang="en-US"/>
              <a:t>对应的端口发送出去。</a:t>
            </a:r>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95500417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ARP</a:t>
            </a:r>
            <a:r>
              <a:rPr lang="zh-CN" altLang="en-US"/>
              <a:t>类型路由携带的有效信息有：主机</a:t>
            </a:r>
            <a:r>
              <a:rPr lang="en-US" altLang="zh-CN"/>
              <a:t>MAC</a:t>
            </a:r>
            <a:r>
              <a:rPr lang="zh-CN" altLang="en-US"/>
              <a:t>地址</a:t>
            </a:r>
            <a:r>
              <a:rPr lang="en-US" altLang="zh-CN"/>
              <a:t>+</a:t>
            </a:r>
            <a:r>
              <a:rPr lang="zh-CN" altLang="en-US"/>
              <a:t>主机</a:t>
            </a:r>
            <a:r>
              <a:rPr lang="en-US" altLang="zh-CN"/>
              <a:t>IP</a:t>
            </a:r>
            <a:r>
              <a:rPr lang="zh-CN" altLang="en-US"/>
              <a:t>地址</a:t>
            </a:r>
            <a:r>
              <a:rPr lang="en-US" altLang="zh-CN"/>
              <a:t>+</a:t>
            </a:r>
            <a:r>
              <a:rPr lang="zh-CN" altLang="en-US"/>
              <a:t>二层</a:t>
            </a:r>
            <a:r>
              <a:rPr lang="en-US" altLang="zh-CN"/>
              <a:t>VNI</a:t>
            </a:r>
            <a:r>
              <a:rPr lang="zh-CN" altLang="en-US"/>
              <a:t>；</a:t>
            </a:r>
            <a:r>
              <a:rPr lang="en-US" altLang="zh-CN"/>
              <a:t>IRB</a:t>
            </a:r>
            <a:r>
              <a:rPr lang="zh-CN" altLang="en-US"/>
              <a:t>类型路由携带的有效信息有：主机</a:t>
            </a:r>
            <a:r>
              <a:rPr lang="en-US" altLang="zh-CN"/>
              <a:t>MAC</a:t>
            </a:r>
            <a:r>
              <a:rPr lang="zh-CN" altLang="en-US"/>
              <a:t>地址</a:t>
            </a:r>
            <a:r>
              <a:rPr lang="en-US" altLang="zh-CN"/>
              <a:t>+</a:t>
            </a:r>
            <a:r>
              <a:rPr lang="zh-CN" altLang="en-US"/>
              <a:t>主机</a:t>
            </a:r>
            <a:r>
              <a:rPr lang="en-US" altLang="zh-CN"/>
              <a:t>IP</a:t>
            </a:r>
            <a:r>
              <a:rPr lang="zh-CN" altLang="en-US"/>
              <a:t>地址</a:t>
            </a:r>
            <a:r>
              <a:rPr lang="en-US" altLang="zh-CN"/>
              <a:t>+</a:t>
            </a:r>
            <a:r>
              <a:rPr lang="zh-CN" altLang="en-US"/>
              <a:t>二层</a:t>
            </a:r>
            <a:r>
              <a:rPr lang="en-US" altLang="zh-CN"/>
              <a:t>VNI+</a:t>
            </a:r>
            <a:r>
              <a:rPr lang="zh-CN" altLang="en-US"/>
              <a:t>三层</a:t>
            </a:r>
            <a:r>
              <a:rPr lang="en-US" altLang="zh-CN"/>
              <a:t>VNI</a:t>
            </a:r>
            <a:r>
              <a:rPr lang="zh-CN" altLang="en-US"/>
              <a:t>。因此，</a:t>
            </a:r>
            <a:r>
              <a:rPr lang="en-US" altLang="zh-CN"/>
              <a:t>IRB</a:t>
            </a:r>
            <a:r>
              <a:rPr lang="zh-CN" altLang="en-US"/>
              <a:t>类型路由包含着</a:t>
            </a:r>
            <a:r>
              <a:rPr lang="en-US" altLang="zh-CN"/>
              <a:t>ARP</a:t>
            </a:r>
            <a:r>
              <a:rPr lang="zh-CN" altLang="en-US"/>
              <a:t>类型路由，不仅可以用于主机</a:t>
            </a:r>
            <a:r>
              <a:rPr lang="en-US" altLang="zh-CN"/>
              <a:t>IP</a:t>
            </a:r>
            <a:r>
              <a:rPr lang="zh-CN" altLang="en-US"/>
              <a:t>路由通告，也能用于主机</a:t>
            </a:r>
            <a:r>
              <a:rPr lang="en-US" altLang="zh-CN"/>
              <a:t>ARP</a:t>
            </a:r>
            <a:r>
              <a:rPr lang="zh-CN" altLang="en-US"/>
              <a:t>通告。</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20569837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备注占位符 4"/>
          <p:cNvSpPr>
            <a:spLocks noGrp="1"/>
          </p:cNvSpPr>
          <p:nvPr>
            <p:ph type="body" idx="1"/>
          </p:nvPr>
        </p:nvSpPr>
        <p:spPr/>
        <p:txBody>
          <a:bodyPr/>
          <a:lstStyle/>
          <a:p>
            <a:r>
              <a:rPr lang="zh-CN" altLang="en-US" dirty="0"/>
              <a:t>在</a:t>
            </a:r>
            <a:r>
              <a:rPr lang="en-US" altLang="zh-CN" dirty="0"/>
              <a:t>VXLAN</a:t>
            </a:r>
            <a:r>
              <a:rPr lang="zh-CN" altLang="en-US" dirty="0"/>
              <a:t>网络中，</a:t>
            </a:r>
            <a:r>
              <a:rPr lang="en-US" altLang="zh-CN" dirty="0"/>
              <a:t>BD</a:t>
            </a:r>
            <a:r>
              <a:rPr lang="zh-CN" altLang="en-US" dirty="0"/>
              <a:t>是一个广播域，</a:t>
            </a:r>
            <a:r>
              <a:rPr lang="en-US" altLang="zh-CN" dirty="0"/>
              <a:t>VTEP</a:t>
            </a:r>
            <a:r>
              <a:rPr lang="zh-CN" altLang="en-US" dirty="0"/>
              <a:t>收到</a:t>
            </a:r>
            <a:r>
              <a:rPr lang="en-US" altLang="zh-CN" dirty="0"/>
              <a:t>BUM</a:t>
            </a:r>
            <a:r>
              <a:rPr lang="zh-CN" altLang="en-US" dirty="0"/>
              <a:t>报文后会在</a:t>
            </a:r>
            <a:r>
              <a:rPr lang="en-US" altLang="zh-CN" dirty="0"/>
              <a:t>BD</a:t>
            </a:r>
            <a:r>
              <a:rPr lang="zh-CN" altLang="en-US" dirty="0"/>
              <a:t>域内广播。为了减少广播，网络管理员通常会在接入侧通过配置接入侧的隔离功能或配置端口隔离功能，使得该</a:t>
            </a:r>
            <a:r>
              <a:rPr lang="en-US" altLang="zh-CN" dirty="0"/>
              <a:t>BD</a:t>
            </a:r>
            <a:r>
              <a:rPr lang="zh-CN" altLang="en-US" dirty="0"/>
              <a:t>内的接入用户之间相互隔离，无法二层互通。但是，随着用户业务的日益增多，用户之间的互通需求也会相应地增加，此时网络管理员可以在</a:t>
            </a:r>
            <a:r>
              <a:rPr lang="en-US" altLang="zh-CN" dirty="0"/>
              <a:t>VBDIF</a:t>
            </a:r>
            <a:r>
              <a:rPr lang="zh-CN" altLang="en-US" dirty="0"/>
              <a:t>接口上使能本地</a:t>
            </a:r>
            <a:r>
              <a:rPr lang="en-US" altLang="zh-CN" dirty="0"/>
              <a:t>ARP</a:t>
            </a:r>
            <a:r>
              <a:rPr lang="zh-CN" altLang="en-US" dirty="0"/>
              <a:t>代理功能，实现</a:t>
            </a:r>
            <a:r>
              <a:rPr lang="en-US" altLang="zh-CN" dirty="0"/>
              <a:t>BD</a:t>
            </a:r>
            <a:r>
              <a:rPr lang="zh-CN" altLang="en-US" dirty="0"/>
              <a:t>内接入侧配置了用户隔离的用户间的相互通信。</a:t>
            </a:r>
          </a:p>
        </p:txBody>
      </p:sp>
      <p:sp>
        <p:nvSpPr>
          <p:cNvPr id="3" name="幻灯片图像占位符 2"/>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88479773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0112094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一般将不同</a:t>
            </a:r>
            <a:r>
              <a:rPr lang="en-US" altLang="zh-CN"/>
              <a:t>VTEP</a:t>
            </a:r>
            <a:r>
              <a:rPr lang="zh-CN" altLang="en-US"/>
              <a:t>上相同编号的</a:t>
            </a:r>
            <a:r>
              <a:rPr lang="en-US" altLang="zh-CN"/>
              <a:t>VBDIF</a:t>
            </a:r>
            <a:r>
              <a:rPr lang="zh-CN" altLang="en-US"/>
              <a:t>的接口</a:t>
            </a:r>
            <a:r>
              <a:rPr lang="en-US" altLang="zh-CN"/>
              <a:t>MAC</a:t>
            </a:r>
            <a:r>
              <a:rPr lang="zh-CN" altLang="en-US"/>
              <a:t>地址配置为相同的</a:t>
            </a:r>
            <a:r>
              <a:rPr lang="en-US" altLang="zh-CN"/>
              <a:t>MAC</a:t>
            </a:r>
            <a:r>
              <a:rPr lang="zh-CN" altLang="en-US"/>
              <a:t>地址，开启分布式网关之后，</a:t>
            </a:r>
            <a:r>
              <a:rPr lang="en-US" altLang="zh-CN"/>
              <a:t>VBDIF</a:t>
            </a:r>
            <a:r>
              <a:rPr lang="zh-CN" altLang="en-US"/>
              <a:t>虽然具有相同的</a:t>
            </a:r>
            <a:r>
              <a:rPr lang="en-US" altLang="zh-CN"/>
              <a:t>IP</a:t>
            </a:r>
            <a:r>
              <a:rPr lang="zh-CN" altLang="en-US"/>
              <a:t>地址、</a:t>
            </a:r>
            <a:r>
              <a:rPr lang="en-US" altLang="zh-CN"/>
              <a:t>MAC</a:t>
            </a:r>
            <a:r>
              <a:rPr lang="zh-CN" altLang="en-US"/>
              <a:t>地址，但是并不会上报</a:t>
            </a:r>
            <a:r>
              <a:rPr lang="en-US" altLang="zh-CN"/>
              <a:t>ARP</a:t>
            </a:r>
            <a:r>
              <a:rPr lang="zh-CN" altLang="en-US"/>
              <a:t>冲突，并且主机、</a:t>
            </a:r>
            <a:r>
              <a:rPr lang="en-US" altLang="zh-CN"/>
              <a:t>VM</a:t>
            </a:r>
            <a:r>
              <a:rPr lang="zh-CN" altLang="en-US"/>
              <a:t>迁移到不同的</a:t>
            </a:r>
            <a:r>
              <a:rPr lang="en-US" altLang="zh-CN"/>
              <a:t>VTEP</a:t>
            </a:r>
            <a:r>
              <a:rPr lang="zh-CN" altLang="en-US"/>
              <a:t>下时，无需重新进行网关的</a:t>
            </a:r>
            <a:r>
              <a:rPr lang="en-US" altLang="zh-CN"/>
              <a:t>ARP</a:t>
            </a:r>
            <a:r>
              <a:rPr lang="zh-CN" altLang="en-US"/>
              <a:t>解析。</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92413868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0393803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72254961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8789060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VXLAN</a:t>
            </a:r>
            <a:r>
              <a:rPr lang="zh-CN" altLang="en-US" dirty="0"/>
              <a:t>技术将物理网络作为</a:t>
            </a:r>
            <a:r>
              <a:rPr lang="en-US" altLang="zh-CN" dirty="0"/>
              <a:t>Underlay</a:t>
            </a:r>
            <a:r>
              <a:rPr lang="zh-CN" altLang="en-US" dirty="0"/>
              <a:t>网络，在其上构建出虚拟的二层或三层网络，即</a:t>
            </a:r>
            <a:r>
              <a:rPr lang="en-US" altLang="zh-CN" dirty="0"/>
              <a:t>Overlay</a:t>
            </a:r>
            <a:r>
              <a:rPr lang="zh-CN" altLang="en-US" dirty="0"/>
              <a:t>网络。</a:t>
            </a:r>
            <a:r>
              <a:rPr lang="en-US" altLang="zh-CN" dirty="0"/>
              <a:t>Overlay</a:t>
            </a:r>
            <a:r>
              <a:rPr lang="zh-CN" altLang="en-US" dirty="0"/>
              <a:t>网络利用</a:t>
            </a:r>
            <a:r>
              <a:rPr lang="en-US" altLang="zh-CN" dirty="0"/>
              <a:t>Underlay</a:t>
            </a:r>
            <a:r>
              <a:rPr lang="zh-CN" altLang="en-US" dirty="0"/>
              <a:t>网络提供的三层转发路径，实现报文在不同站点间传递。</a:t>
            </a:r>
            <a:endParaRPr lang="en-US" altLang="zh-CN" dirty="0"/>
          </a:p>
          <a:p>
            <a:r>
              <a:rPr lang="zh-CN" altLang="en-US" dirty="0"/>
              <a:t>在技术应用中，一般为不同的业务创建不同的</a:t>
            </a:r>
            <a:r>
              <a:rPr lang="en-US" altLang="zh-CN" dirty="0"/>
              <a:t>Overlay</a:t>
            </a:r>
            <a:r>
              <a:rPr lang="zh-CN" altLang="en-US" dirty="0"/>
              <a:t>网络。对于业务来说，</a:t>
            </a:r>
            <a:r>
              <a:rPr lang="en-US" altLang="zh-CN" dirty="0"/>
              <a:t>Underlay</a:t>
            </a:r>
            <a:r>
              <a:rPr lang="zh-CN" altLang="en-US" dirty="0"/>
              <a:t>网络是透明的，只能感知到</a:t>
            </a:r>
            <a:r>
              <a:rPr lang="en-US" altLang="zh-CN" dirty="0"/>
              <a:t>Overlay</a:t>
            </a:r>
            <a:r>
              <a:rPr lang="zh-CN" altLang="en-US" dirty="0"/>
              <a:t>网络。</a:t>
            </a:r>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84671650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sym typeface="Huawei Sans" panose="020C0503030203020204" pitchFamily="34" charset="0"/>
              </a:rPr>
              <a:t>L4~L7</a:t>
            </a:r>
            <a:r>
              <a:rPr lang="zh-CN" altLang="en-US">
                <a:sym typeface="Huawei Sans" panose="020C0503030203020204" pitchFamily="34" charset="0"/>
              </a:rPr>
              <a:t>安全策略：即四层到七层的网络安全策略，防火墙支持四到七层的安全控制。</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02650147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4397833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a:sym typeface="Huawei Sans" panose="020C0503030203020204" pitchFamily="34" charset="0"/>
              </a:rPr>
              <a:t>Overlay</a:t>
            </a:r>
            <a:r>
              <a:rPr lang="zh-CN" altLang="en-US">
                <a:sym typeface="Huawei Sans" panose="020C0503030203020204" pitchFamily="34" charset="0"/>
              </a:rPr>
              <a:t>是一个基于物理网络、采用隧道技术且实现了转发面和控制面分离的逻辑网络。</a:t>
            </a: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53463189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83236059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5612305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0908398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6836432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7159735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5392049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6353003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45961397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3001693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093319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4562731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lvl="0" indent="-228600">
              <a:buFont typeface="+mj-lt"/>
              <a:buAutoNum type="arabicPeriod"/>
            </a:pPr>
            <a:r>
              <a:rPr lang="en-US" altLang="zh-CN" dirty="0"/>
              <a:t>A</a:t>
            </a:r>
          </a:p>
          <a:p>
            <a:pPr marL="228600" lvl="0" indent="-228600">
              <a:buFont typeface="+mj-lt"/>
              <a:buAutoNum type="arabicPeriod"/>
            </a:pPr>
            <a:r>
              <a:rPr lang="en-US" altLang="zh-CN" dirty="0"/>
              <a:t>D</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1497719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6235801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37841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a16="http://schemas.microsoft.com/office/drawing/2014/main"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a16="http://schemas.microsoft.com/office/drawing/2014/main" id="{2F43DA98-D48D-6947-95EF-BA3B05E68822}"/>
              </a:ext>
            </a:extLst>
          </p:cNvPr>
          <p:cNvSpPr>
            <a:spLocks noGrp="1"/>
          </p:cNvSpPr>
          <p:nvPr>
            <p:ph type="body" sz="quarter" idx="10" hasCustomPrompt="1"/>
          </p:nvPr>
        </p:nvSpPr>
        <p:spPr>
          <a:xfrm>
            <a:off x="916561" y="1949372"/>
            <a:ext cx="8125840" cy="643926"/>
          </a:xfrm>
        </p:spPr>
        <p:txBody>
          <a:bodyPr vert="horz" lIns="0" tIns="0" rIns="0" bIns="0" rtlCol="0">
            <a:noAutofit/>
          </a:bodyPr>
          <a:lstStyle>
            <a:lvl1pPr marL="228600" indent="-228600">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a:t>单击此处添加文本</a:t>
            </a:r>
            <a:endParaRPr lang="en-US" dirty="0"/>
          </a:p>
        </p:txBody>
      </p:sp>
    </p:spTree>
    <p:extLst>
      <p:ext uri="{BB962C8B-B14F-4D97-AF65-F5344CB8AC3E}">
        <p14:creationId xmlns:p14="http://schemas.microsoft.com/office/powerpoint/2010/main" val="1238390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extLst>
              <p:ext uri="{D42A27DB-BD31-4B8C-83A1-F6EECF244321}">
                <p14:modId xmlns:p14="http://schemas.microsoft.com/office/powerpoint/2010/main" val="255470206"/>
              </p:ext>
            </p:extLst>
          </p:nvPr>
        </p:nvGraphicFramePr>
        <p:xfrm>
          <a:off x="1007140" y="1398424"/>
          <a:ext cx="10194260" cy="1082675"/>
        </p:xfrm>
        <a:graphic>
          <a:graphicData uri="http://schemas.openxmlformats.org/drawingml/2006/table">
            <a:tbl>
              <a:tblPr/>
              <a:tblGrid>
                <a:gridCol w="3119031">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84624">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 name="Group 21"/>
          <p:cNvGraphicFramePr>
            <a:graphicFrameLocks noGrp="1"/>
          </p:cNvGraphicFramePr>
          <p:nvPr userDrawn="1">
            <p:extLst>
              <p:ext uri="{D42A27DB-BD31-4B8C-83A1-F6EECF244321}">
                <p14:modId xmlns:p14="http://schemas.microsoft.com/office/powerpoint/2010/main" val="2782951008"/>
              </p:ext>
            </p:extLst>
          </p:nvPr>
        </p:nvGraphicFramePr>
        <p:xfrm>
          <a:off x="1007140" y="2920836"/>
          <a:ext cx="10177327" cy="3038475"/>
        </p:xfrm>
        <a:graphic>
          <a:graphicData uri="http://schemas.openxmlformats.org/drawingml/2006/table">
            <a:tbl>
              <a:tblPr/>
              <a:tblGrid>
                <a:gridCol w="3119030">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67692">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V1R1</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5029964"/>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5029964"/>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5" name="文本占位符 7"/>
          <p:cNvSpPr>
            <a:spLocks noGrp="1"/>
          </p:cNvSpPr>
          <p:nvPr>
            <p:ph type="body" sz="quarter" idx="31" hasCustomPrompt="1"/>
          </p:nvPr>
        </p:nvSpPr>
        <p:spPr>
          <a:xfrm>
            <a:off x="6093619" y="5029964"/>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5029964"/>
            <a:ext cx="208462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7" name="文本占位符 7"/>
          <p:cNvSpPr>
            <a:spLocks noGrp="1"/>
          </p:cNvSpPr>
          <p:nvPr>
            <p:ph type="body" sz="quarter" idx="33" hasCustomPrompt="1"/>
          </p:nvPr>
        </p:nvSpPr>
        <p:spPr>
          <a:xfrm>
            <a:off x="1007042" y="5498016"/>
            <a:ext cx="3119128"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8" name="文本占位符 7"/>
          <p:cNvSpPr>
            <a:spLocks noGrp="1"/>
          </p:cNvSpPr>
          <p:nvPr>
            <p:ph type="body" sz="quarter" idx="34" hasCustomPrompt="1"/>
          </p:nvPr>
        </p:nvSpPr>
        <p:spPr>
          <a:xfrm>
            <a:off x="4126170" y="5498016"/>
            <a:ext cx="1967450"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9" name="文本占位符 7"/>
          <p:cNvSpPr>
            <a:spLocks noGrp="1"/>
          </p:cNvSpPr>
          <p:nvPr>
            <p:ph type="body" sz="quarter" idx="35" hasCustomPrompt="1"/>
          </p:nvPr>
        </p:nvSpPr>
        <p:spPr>
          <a:xfrm>
            <a:off x="6093619" y="5498016"/>
            <a:ext cx="302315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30" name="文本占位符 7"/>
          <p:cNvSpPr>
            <a:spLocks noGrp="1"/>
          </p:cNvSpPr>
          <p:nvPr>
            <p:ph type="body" sz="quarter" idx="36" hasCustomPrompt="1"/>
          </p:nvPr>
        </p:nvSpPr>
        <p:spPr>
          <a:xfrm>
            <a:off x="9116775" y="5498016"/>
            <a:ext cx="2084625" cy="468052"/>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3897983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bwMode="auto">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auto">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auto">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auto">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auto">
              <a:defRPr baseline="0">
                <a:latin typeface="Huawei Sans" panose="020C0503030203020204" pitchFamily="34" charset="0"/>
                <a:ea typeface="方正兰亭黑简体" panose="02000000000000000000" pitchFamily="2" charset="-122"/>
              </a:defRPr>
            </a:lvl4pPr>
            <a:lvl5pPr marL="1802879" indent="-201519" fontAlgn="auto">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前言</a:t>
            </a:r>
          </a:p>
        </p:txBody>
      </p:sp>
    </p:spTree>
    <p:extLst>
      <p:ext uri="{BB962C8B-B14F-4D97-AF65-F5344CB8AC3E}">
        <p14:creationId xmlns:p14="http://schemas.microsoft.com/office/powerpoint/2010/main" val="499053660"/>
      </p:ext>
    </p:extLst>
  </p:cSld>
  <p:clrMapOvr>
    <a:masterClrMapping/>
  </p:clrMapOvr>
  <p:extLst>
    <p:ext uri="{DCECCB84-F9BA-43D5-87BE-67443E8EF086}">
      <p15:sldGuideLst xmlns:p15="http://schemas.microsoft.com/office/powerpoint/2012/main">
        <p15:guide id="1" pos="642" userDrawn="1">
          <p15:clr>
            <a:srgbClr val="FBAE40"/>
          </p15:clr>
        </p15:guide>
        <p15:guide id="2" pos="7038" userDrawn="1">
          <p15:clr>
            <a:srgbClr val="FBAE40"/>
          </p15:clr>
        </p15:guide>
        <p15:guide id="3" orient="horz" pos="116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bwMode="auto">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auto"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auto">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auto">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auto">
              <a:defRPr baseline="0">
                <a:latin typeface="Huawei Sans" panose="020C0503030203020204" pitchFamily="34" charset="0"/>
                <a:ea typeface="方正兰亭黑简体" panose="02000000000000000000" pitchFamily="2" charset="-122"/>
              </a:defRPr>
            </a:lvl4pPr>
            <a:lvl5pPr marL="1802879" indent="-201519" fontAlgn="auto">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学完本课程后，您将能够：</a:t>
            </a:r>
            <a:endParaRPr lang="en-US" altLang="zh-CN"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104511649"/>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bwMode="auto">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auto"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auto">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solidFill>
                  <a:srgbClr val="404040"/>
                </a:solidFill>
              </a:rPr>
              <a:t>目录</a:t>
            </a:r>
          </a:p>
        </p:txBody>
      </p:sp>
    </p:spTree>
    <p:extLst>
      <p:ext uri="{BB962C8B-B14F-4D97-AF65-F5344CB8AC3E}">
        <p14:creationId xmlns:p14="http://schemas.microsoft.com/office/powerpoint/2010/main" val="959299838"/>
      </p:ext>
    </p:extLst>
  </p:cSld>
  <p:clrMapOvr>
    <a:masterClrMapping/>
  </p:clrMapOvr>
  <p:extLst>
    <p:ext uri="{DCECCB84-F9BA-43D5-87BE-67443E8EF086}">
      <p15:sldGuideLst xmlns:p15="http://schemas.microsoft.com/office/powerpoint/2012/main">
        <p15:guide id="1" pos="642" userDrawn="1">
          <p15:clr>
            <a:srgbClr val="FBAE40"/>
          </p15:clr>
        </p15:guide>
        <p15:guide id="2" pos="7038" userDrawn="1">
          <p15:clr>
            <a:srgbClr val="FBAE40"/>
          </p15:clr>
        </p15:guide>
        <p15:guide id="3" orient="horz" pos="116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a:solidFill>
                  <a:srgbClr val="404040"/>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p>
        </p:txBody>
      </p:sp>
    </p:spTree>
    <p:extLst>
      <p:ext uri="{BB962C8B-B14F-4D97-AF65-F5344CB8AC3E}">
        <p14:creationId xmlns:p14="http://schemas.microsoft.com/office/powerpoint/2010/main" val="2528024743"/>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auto"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auto">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endParaRPr lang="en-US" altLang="zh-CN" dirty="0"/>
          </a:p>
          <a:p>
            <a:pPr lvl="1"/>
            <a:endParaRPr lang="en-US" altLang="zh-CN" dirty="0"/>
          </a:p>
        </p:txBody>
      </p:sp>
      <p:cxnSp>
        <p:nvCxnSpPr>
          <p:cNvPr id="2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a16="http://schemas.microsoft.com/office/drawing/2014/main"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思考题</a:t>
            </a:r>
          </a:p>
        </p:txBody>
      </p:sp>
    </p:spTree>
    <p:extLst>
      <p:ext uri="{BB962C8B-B14F-4D97-AF65-F5344CB8AC3E}">
        <p14:creationId xmlns:p14="http://schemas.microsoft.com/office/powerpoint/2010/main" val="963674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此版式用于每一节的小结</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本节小结</a:t>
            </a:r>
          </a:p>
        </p:txBody>
      </p:sp>
    </p:spTree>
    <p:extLst>
      <p:ext uri="{BB962C8B-B14F-4D97-AF65-F5344CB8AC3E}">
        <p14:creationId xmlns:p14="http://schemas.microsoft.com/office/powerpoint/2010/main" val="405242044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本章总结</a:t>
            </a:r>
          </a:p>
        </p:txBody>
      </p:sp>
    </p:spTree>
    <p:extLst>
      <p:ext uri="{BB962C8B-B14F-4D97-AF65-F5344CB8AC3E}">
        <p14:creationId xmlns:p14="http://schemas.microsoft.com/office/powerpoint/2010/main" val="41023569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更多信息</a:t>
            </a:r>
          </a:p>
        </p:txBody>
      </p:sp>
    </p:spTree>
    <p:extLst>
      <p:ext uri="{BB962C8B-B14F-4D97-AF65-F5344CB8AC3E}">
        <p14:creationId xmlns:p14="http://schemas.microsoft.com/office/powerpoint/2010/main" val="25263851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rgbClr val="404040"/>
                </a:solidFill>
                <a:latin typeface="Huawei Sans" panose="020C0503030203020204" pitchFamily="34" charset="0"/>
                <a:ea typeface="方正兰亭黑简体" panose="02000000000000000000" pitchFamily="2" charset="-122"/>
                <a:cs typeface="Microsoft YaHei" charset="-122"/>
              </a:rPr>
              <a:t>学习推荐</a:t>
            </a:r>
          </a:p>
        </p:txBody>
      </p:sp>
    </p:spTree>
    <p:extLst>
      <p:ext uri="{BB962C8B-B14F-4D97-AF65-F5344CB8AC3E}">
        <p14:creationId xmlns:p14="http://schemas.microsoft.com/office/powerpoint/2010/main" val="20101912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56961"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3" y="1484312"/>
            <a:ext cx="11256962" cy="4443243"/>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166991213"/>
      </p:ext>
    </p:extLst>
  </p:cSld>
  <p:clrMapOvr>
    <a:masterClrMapping/>
  </p:clrMapOvr>
  <p:extLst>
    <p:ext uri="{DCECCB84-F9BA-43D5-87BE-67443E8EF086}">
      <p15:sldGuideLst xmlns:p15="http://schemas.microsoft.com/office/powerpoint/2012/main">
        <p15:guide id="1" orient="horz" pos="935"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56961"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3" y="1047750"/>
            <a:ext cx="11256962" cy="4879805"/>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77827284"/>
      </p:ext>
    </p:extLst>
  </p:cSld>
  <p:clrMapOvr>
    <a:masterClrMapping/>
  </p:clrMapOvr>
  <p:extLst>
    <p:ext uri="{DCECCB84-F9BA-43D5-87BE-67443E8EF086}">
      <p15:sldGuideLst xmlns:p15="http://schemas.microsoft.com/office/powerpoint/2012/main">
        <p15:guide id="1" orient="horz" pos="595" userDrawn="1">
          <p15:clr>
            <a:srgbClr val="FBAE40"/>
          </p15:clr>
        </p15:guide>
        <p15:guide id="2" orient="horz" pos="663"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56962"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35136438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56962"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826084440"/>
      </p:ext>
    </p:extLst>
  </p:cSld>
  <p:clrMapOvr>
    <a:masterClrMapping/>
  </p:clrMapOvr>
  <p:extLst>
    <p:ext uri="{DCECCB84-F9BA-43D5-87BE-67443E8EF086}">
      <p15:sldGuideLst xmlns:p15="http://schemas.microsoft.com/office/powerpoint/2012/main">
        <p15:guide id="1" orient="horz" pos="595"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343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5#谢谢">
    <p:bg>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a:solidFill>
                  <a:schemeClr val="tx1"/>
                </a:solidFill>
              </a:rPr>
              <a:t>Thank you.</a:t>
            </a:r>
          </a:p>
        </p:txBody>
      </p:sp>
    </p:spTree>
    <p:extLst>
      <p:ext uri="{BB962C8B-B14F-4D97-AF65-F5344CB8AC3E}">
        <p14:creationId xmlns:p14="http://schemas.microsoft.com/office/powerpoint/2010/main" val="21493366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F72FAD7-C8C3-754A-A498-D3A7EC29AB73}"/>
              </a:ext>
            </a:extLst>
          </p:cNvPr>
          <p:cNvSpPr>
            <a:spLocks noGrp="1"/>
          </p:cNvSpPr>
          <p:nvPr>
            <p:ph type="body" idx="1"/>
          </p:nvPr>
        </p:nvSpPr>
        <p:spPr>
          <a:xfrm>
            <a:off x="908954" y="6270652"/>
            <a:ext cx="1981542" cy="153611"/>
          </a:xfrm>
          <a:prstGeom prst="rect">
            <a:avLst/>
          </a:prstGeom>
        </p:spPr>
        <p:txBody>
          <a:bodyPr vert="horz" lIns="0" tIns="0" rIns="0" bIns="0" rtlCol="0">
            <a:noAutofit/>
          </a:bodyPr>
          <a:lstStyle/>
          <a:p>
            <a:pPr>
              <a:lnSpc>
                <a:spcPct val="100000"/>
              </a:lnSpc>
            </a:pPr>
            <a:r>
              <a:rPr kumimoji="1" lang="en-US" altLang="zh-CN" sz="1000" dirty="0"/>
              <a:t>Security Level:</a:t>
            </a:r>
            <a:endParaRPr lang="en-US" altLang="zh-CN" sz="1000"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2"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3"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4"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5"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6"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7"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8"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9"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40"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1"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2"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3"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4"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5"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6"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7"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8"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9"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50"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1"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2"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3"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4"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5"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6"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7"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8"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9"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60"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1"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2"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3"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4"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5"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6"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7"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8"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9"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70"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867226749"/>
      </p:ext>
    </p:extLst>
  </p:cSld>
  <p:clrMap bg1="lt1" tx1="dk1" bg2="lt2" tx2="dk2" accent1="accent1" accent2="accent2" accent3="accent3" accent4="accent4" accent5="accent5" accent6="accent6" hlink="hlink" folHlink="folHlink"/>
  <p:sldLayoutIdLst>
    <p:sldLayoutId id="214748384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48" userDrawn="1">
          <p15:clr>
            <a:srgbClr val="F26B43"/>
          </p15:clr>
        </p15:guide>
        <p15:guide id="2" pos="574" userDrawn="1">
          <p15:clr>
            <a:srgbClr val="F26B43"/>
          </p15:clr>
        </p15:guide>
        <p15:guide id="3" orient="horz" pos="572" userDrawn="1">
          <p15:clr>
            <a:srgbClr val="F26B43"/>
          </p15:clr>
        </p15:guide>
        <p15:guide id="4" orient="horz" pos="1230" userDrawn="1">
          <p15:clr>
            <a:srgbClr val="F26B43"/>
          </p15:clr>
        </p15:guide>
        <p15:guide id="5" orient="horz" pos="2160" userDrawn="1">
          <p15:clr>
            <a:srgbClr val="F26B43"/>
          </p15:clr>
        </p15:guide>
        <p15:guide id="6"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29"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0"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1"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2"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3"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4"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5"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6"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7"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38"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39"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0"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1"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2"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3"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4"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65"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66"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67"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68"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69"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70"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71"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72"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73"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74"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75"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76"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77"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78"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79"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80"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81"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82"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83"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84"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85"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86"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87"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730999807"/>
      </p:ext>
    </p:extLst>
  </p:cSld>
  <p:clrMap bg1="lt1" tx1="dk1" bg2="lt2" tx2="dk2" accent1="accent1" accent2="accent2" accent3="accent3" accent4="accent4" accent5="accent5" accent6="accent6" hlink="hlink" folHlink="folHlink"/>
  <p:sldLayoutIdLst>
    <p:sldLayoutId id="2147483843" r:id="rId1"/>
    <p:sldLayoutId id="2147483828" r:id="rId2"/>
    <p:sldLayoutId id="2147483844" r:id="rId3"/>
    <p:sldLayoutId id="2147483866" r:id="rId4"/>
    <p:sldLayoutId id="2147483846" r:id="rId5"/>
    <p:sldLayoutId id="2147483871" r:id="rId6"/>
    <p:sldLayoutId id="2147483836" r:id="rId7"/>
    <p:sldLayoutId id="2147483837" r:id="rId8"/>
    <p:sldLayoutId id="2147483838" r:id="rId9"/>
    <p:sldLayoutId id="2147483839" r:id="rId10"/>
  </p:sldLayoutIdLst>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2" pos="642" userDrawn="1">
          <p15:clr>
            <a:srgbClr val="F26B43"/>
          </p15:clr>
        </p15:guide>
        <p15:guide id="4" pos="7038" userDrawn="1">
          <p15:clr>
            <a:srgbClr val="F26B43"/>
          </p15:clr>
        </p15:guide>
        <p15:guide id="5" orient="horz" pos="2341" userDrawn="1">
          <p15:clr>
            <a:srgbClr val="F26B43"/>
          </p15:clr>
        </p15:guide>
        <p15:guide id="6" orient="horz" pos="3906" userDrawn="1">
          <p15:clr>
            <a:srgbClr val="F26B43"/>
          </p15:clr>
        </p15:guide>
        <p15:guide id="7" orient="horz" pos="1162" userDrawn="1">
          <p15:clr>
            <a:srgbClr val="F26B43"/>
          </p15:clr>
        </p15:guide>
        <p15:guide id="8" pos="3840" userDrawn="1">
          <p15:clr>
            <a:srgbClr val="F26B43"/>
          </p15:clr>
        </p15:guide>
        <p15:guide id="9" orient="horz" pos="731" userDrawn="1">
          <p15:clr>
            <a:srgbClr val="F26B43"/>
          </p15:clr>
        </p15:guide>
        <p15:guide id="10" orient="horz" pos="86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54669"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455613" y="1484313"/>
            <a:ext cx="1125707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6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6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6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6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6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7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7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7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7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7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7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7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7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7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7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8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8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8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8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8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8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8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8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8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8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Tree>
    <p:extLst>
      <p:ext uri="{BB962C8B-B14F-4D97-AF65-F5344CB8AC3E}">
        <p14:creationId xmlns:p14="http://schemas.microsoft.com/office/powerpoint/2010/main" val="930900574"/>
      </p:ext>
    </p:extLst>
  </p:cSld>
  <p:clrMap bg1="lt1" tx1="dk1" bg2="lt2" tx2="dk2" accent1="accent1" accent2="accent2" accent3="accent3" accent4="accent4" accent5="accent5" accent6="accent6" hlink="hlink" folHlink="folHlink"/>
  <p:sldLayoutIdLst>
    <p:sldLayoutId id="2147483853" r:id="rId1"/>
    <p:sldLayoutId id="2147483869" r:id="rId2"/>
    <p:sldLayoutId id="2147483862" r:id="rId3"/>
    <p:sldLayoutId id="2147483870" r:id="rId4"/>
    <p:sldLayoutId id="2147483863" r:id="rId5"/>
  </p:sldLayoutIdLst>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auto"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auto"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auto"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auto"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auto"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378" userDrawn="1">
          <p15:clr>
            <a:srgbClr val="F26B43"/>
          </p15:clr>
        </p15:guide>
        <p15:guide id="3" orient="horz" pos="278" userDrawn="1">
          <p15:clr>
            <a:srgbClr val="F26B43"/>
          </p15:clr>
        </p15:guide>
        <p15:guide id="4" orient="horz" pos="3906">
          <p15:clr>
            <a:srgbClr val="F26B43"/>
          </p15:clr>
        </p15:guide>
        <p15:guide id="6" pos="3840">
          <p15:clr>
            <a:srgbClr val="F26B43"/>
          </p15:clr>
        </p15:guide>
        <p15:guide id="7" pos="279" userDrawn="1">
          <p15:clr>
            <a:srgbClr val="F26B43"/>
          </p15:clr>
        </p15:guide>
        <p15:guide id="8" orient="horz" pos="216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4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5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6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70" name="Title Placeholder 1">
            <a:extLst>
              <a:ext uri="{FF2B5EF4-FFF2-40B4-BE49-F238E27FC236}">
                <a16:creationId xmlns:a16="http://schemas.microsoft.com/office/drawing/2014/main"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mj-lt"/>
              </a:rPr>
              <a:t>Copyright©2021 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br>
              <a:rPr kumimoji="1" lang="en-US" altLang="zh-CN" sz="779" dirty="0">
                <a:solidFill>
                  <a:srgbClr val="1D1D1B"/>
                </a:solidFill>
                <a:latin typeface="+mn-lt"/>
              </a:rPr>
            </a:b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72" name="Subtitle 6">
            <a:extLst>
              <a:ext uri="{FF2B5EF4-FFF2-40B4-BE49-F238E27FC236}">
                <a16:creationId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1722983275"/>
      </p:ext>
    </p:extLst>
  </p:cSld>
  <p:clrMap bg1="lt1" tx1="dk1" bg2="lt2" tx2="dk2" accent1="accent1" accent2="accent2" accent3="accent3" accent4="accent4" accent5="accent5" accent6="accent6" hlink="hlink" folHlink="folHlink"/>
  <p:sldLayoutIdLst>
    <p:sldLayoutId id="2147483868" r:id="rId1"/>
  </p:sldLayoutIdLst>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61" userDrawn="1">
          <p15:clr>
            <a:srgbClr val="F26B43"/>
          </p15:clr>
        </p15:guide>
        <p15:guide id="4" pos="719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5.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5.xml"/><Relationship Id="rId5" Type="http://schemas.openxmlformats.org/officeDocument/2006/relationships/image" Target="../media/image7.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15.xml"/><Relationship Id="rId5" Type="http://schemas.openxmlformats.org/officeDocument/2006/relationships/image" Target="../media/image7.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5.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5.xml"/><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2.xml"/><Relationship Id="rId1" Type="http://schemas.openxmlformats.org/officeDocument/2006/relationships/slideLayout" Target="../slideLayouts/slideLayout15.xml"/><Relationship Id="rId5" Type="http://schemas.openxmlformats.org/officeDocument/2006/relationships/image" Target="../media/image17.png"/><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6.xml"/><Relationship Id="rId1" Type="http://schemas.openxmlformats.org/officeDocument/2006/relationships/slideLayout" Target="../slideLayouts/slideLayout15.xml"/><Relationship Id="rId4" Type="http://schemas.openxmlformats.org/officeDocument/2006/relationships/image" Target="../media/image17.png"/></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7.xml"/><Relationship Id="rId1" Type="http://schemas.openxmlformats.org/officeDocument/2006/relationships/slideLayout" Target="../slideLayouts/slideLayout15.xml"/><Relationship Id="rId4" Type="http://schemas.openxmlformats.org/officeDocument/2006/relationships/image" Target="../media/image17.png"/></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15.xml"/><Relationship Id="rId5" Type="http://schemas.openxmlformats.org/officeDocument/2006/relationships/image" Target="../media/image18.png"/><Relationship Id="rId4" Type="http://schemas.openxmlformats.org/officeDocument/2006/relationships/image" Target="../media/image17.png"/></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9.xml"/><Relationship Id="rId1" Type="http://schemas.openxmlformats.org/officeDocument/2006/relationships/slideLayout" Target="../slideLayouts/slideLayout15.xml"/><Relationship Id="rId5" Type="http://schemas.openxmlformats.org/officeDocument/2006/relationships/image" Target="../media/image18.png"/><Relationship Id="rId4" Type="http://schemas.openxmlformats.org/officeDocument/2006/relationships/image" Target="../media/image17.png"/></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0.xml"/><Relationship Id="rId1" Type="http://schemas.openxmlformats.org/officeDocument/2006/relationships/slideLayout" Target="../slideLayouts/slideLayout15.xml"/><Relationship Id="rId5" Type="http://schemas.openxmlformats.org/officeDocument/2006/relationships/image" Target="../media/image18.png"/><Relationship Id="rId4" Type="http://schemas.openxmlformats.org/officeDocument/2006/relationships/image" Target="../media/image17.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15.xml"/><Relationship Id="rId5" Type="http://schemas.openxmlformats.org/officeDocument/2006/relationships/image" Target="../media/image7.png"/><Relationship Id="rId4" Type="http://schemas.openxmlformats.org/officeDocument/2006/relationships/image" Target="../media/image8.png"/></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0.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1.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2.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3.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7.xml"/><Relationship Id="rId1" Type="http://schemas.openxmlformats.org/officeDocument/2006/relationships/slideLayout" Target="../slideLayouts/slideLayout15.xml"/><Relationship Id="rId4" Type="http://schemas.openxmlformats.org/officeDocument/2006/relationships/image" Target="../media/image7.png"/></Relationships>
</file>

<file path=ppt/slides/_rels/slide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8.xml"/><Relationship Id="rId1" Type="http://schemas.openxmlformats.org/officeDocument/2006/relationships/slideLayout" Target="../slideLayouts/slideLayout15.xml"/><Relationship Id="rId4" Type="http://schemas.openxmlformats.org/officeDocument/2006/relationships/image" Target="../media/image7.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2.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4.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6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5.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6.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7.xml"/><Relationship Id="rId1" Type="http://schemas.openxmlformats.org/officeDocument/2006/relationships/slideLayout" Target="../slideLayouts/slideLayout15.xml"/><Relationship Id="rId4" Type="http://schemas.openxmlformats.org/officeDocument/2006/relationships/image" Target="../media/image7.png"/></Relationships>
</file>

<file path=ppt/slides/_rels/slide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8.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6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0.xml"/><Relationship Id="rId1" Type="http://schemas.openxmlformats.org/officeDocument/2006/relationships/slideLayout" Target="../slideLayouts/slideLayout1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2.xml"/><Relationship Id="rId1" Type="http://schemas.openxmlformats.org/officeDocument/2006/relationships/slideLayout" Target="../slideLayouts/slideLayout15.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5.png"/></Relationships>
</file>

<file path=ppt/slides/_rels/slide7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20.png"/><Relationship Id="rId2" Type="http://schemas.openxmlformats.org/officeDocument/2006/relationships/notesSlide" Target="../notesSlides/notesSlide73.xml"/><Relationship Id="rId1" Type="http://schemas.openxmlformats.org/officeDocument/2006/relationships/slideLayout" Target="../slideLayouts/slideLayout15.xml"/><Relationship Id="rId6" Type="http://schemas.openxmlformats.org/officeDocument/2006/relationships/image" Target="../media/image12.png"/><Relationship Id="rId5" Type="http://schemas.openxmlformats.org/officeDocument/2006/relationships/image" Target="../media/image19.png"/><Relationship Id="rId4" Type="http://schemas.openxmlformats.org/officeDocument/2006/relationships/image" Target="../media/image5.png"/><Relationship Id="rId9" Type="http://schemas.openxmlformats.org/officeDocument/2006/relationships/image" Target="../media/image14.png"/></Relationships>
</file>

<file path=ppt/slides/_rels/slide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4.xml"/><Relationship Id="rId1" Type="http://schemas.openxmlformats.org/officeDocument/2006/relationships/slideLayout" Target="../slideLayouts/slideLayout15.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5.png"/></Relationships>
</file>

<file path=ppt/slides/_rels/slide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5.xml"/><Relationship Id="rId1" Type="http://schemas.openxmlformats.org/officeDocument/2006/relationships/slideLayout" Target="../slideLayouts/slideLayout15.xml"/><Relationship Id="rId4" Type="http://schemas.openxmlformats.org/officeDocument/2006/relationships/image" Target="../media/image7.png"/></Relationships>
</file>

<file path=ppt/slides/_rels/slide7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3.png"/><Relationship Id="rId7" Type="http://schemas.openxmlformats.org/officeDocument/2006/relationships/image" Target="../media/image4.png"/><Relationship Id="rId2" Type="http://schemas.openxmlformats.org/officeDocument/2006/relationships/notesSlide" Target="../notesSlides/notesSlide76.xml"/><Relationship Id="rId1" Type="http://schemas.openxmlformats.org/officeDocument/2006/relationships/slideLayout" Target="../slideLayouts/slideLayout15.xml"/><Relationship Id="rId6" Type="http://schemas.openxmlformats.org/officeDocument/2006/relationships/image" Target="../media/image5.png"/><Relationship Id="rId5"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14.png"/></Relationships>
</file>

<file path=ppt/slides/_rels/slide7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3.png"/><Relationship Id="rId7" Type="http://schemas.openxmlformats.org/officeDocument/2006/relationships/image" Target="../media/image4.png"/><Relationship Id="rId2" Type="http://schemas.openxmlformats.org/officeDocument/2006/relationships/notesSlide" Target="../notesSlides/notesSlide77.xml"/><Relationship Id="rId1" Type="http://schemas.openxmlformats.org/officeDocument/2006/relationships/slideLayout" Target="../slideLayouts/slideLayout15.xml"/><Relationship Id="rId6" Type="http://schemas.openxmlformats.org/officeDocument/2006/relationships/image" Target="../media/image5.png"/><Relationship Id="rId5"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14.png"/></Relationships>
</file>

<file path=ppt/slides/_rels/slide7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png"/><Relationship Id="rId7" Type="http://schemas.openxmlformats.org/officeDocument/2006/relationships/image" Target="../media/image14.png"/><Relationship Id="rId2" Type="http://schemas.openxmlformats.org/officeDocument/2006/relationships/notesSlide" Target="../notesSlides/notesSlide78.xml"/><Relationship Id="rId1" Type="http://schemas.openxmlformats.org/officeDocument/2006/relationships/slideLayout" Target="../slideLayouts/slideLayout15.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19.png"/></Relationships>
</file>

<file path=ppt/slides/_rels/slide7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4.png"/><Relationship Id="rId2" Type="http://schemas.openxmlformats.org/officeDocument/2006/relationships/notesSlide" Target="../notesSlides/notesSlide79.xml"/><Relationship Id="rId1" Type="http://schemas.openxmlformats.org/officeDocument/2006/relationships/slideLayout" Target="../slideLayouts/slideLayout15.xml"/><Relationship Id="rId6" Type="http://schemas.openxmlformats.org/officeDocument/2006/relationships/image" Target="../media/image11.png"/><Relationship Id="rId5" Type="http://schemas.openxmlformats.org/officeDocument/2006/relationships/image" Target="../media/image19.png"/><Relationship Id="rId4" Type="http://schemas.openxmlformats.org/officeDocument/2006/relationships/image" Target="../media/image8.png"/></Relationships>
</file>

<file path=ppt/slides/_rels/slide8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4.png"/><Relationship Id="rId2" Type="http://schemas.openxmlformats.org/officeDocument/2006/relationships/notesSlide" Target="../notesSlides/notesSlide80.xml"/><Relationship Id="rId1" Type="http://schemas.openxmlformats.org/officeDocument/2006/relationships/slideLayout" Target="../slideLayouts/slideLayout15.xml"/><Relationship Id="rId6" Type="http://schemas.openxmlformats.org/officeDocument/2006/relationships/image" Target="../media/image11.png"/><Relationship Id="rId5" Type="http://schemas.openxmlformats.org/officeDocument/2006/relationships/image" Target="../media/image19.png"/><Relationship Id="rId4" Type="http://schemas.openxmlformats.org/officeDocument/2006/relationships/image" Target="../media/image8.png"/></Relationships>
</file>

<file path=ppt/slides/_rels/slide8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7.png"/><Relationship Id="rId2" Type="http://schemas.openxmlformats.org/officeDocument/2006/relationships/notesSlide" Target="../notesSlides/notesSlide81.xml"/><Relationship Id="rId1" Type="http://schemas.openxmlformats.org/officeDocument/2006/relationships/slideLayout" Target="../slideLayouts/slideLayout15.xml"/><Relationship Id="rId6" Type="http://schemas.openxmlformats.org/officeDocument/2006/relationships/image" Target="../media/image22.png"/><Relationship Id="rId11" Type="http://schemas.openxmlformats.org/officeDocument/2006/relationships/image" Target="../media/image26.png"/><Relationship Id="rId5" Type="http://schemas.openxmlformats.org/officeDocument/2006/relationships/image" Target="../media/image21.png"/><Relationship Id="rId10" Type="http://schemas.openxmlformats.org/officeDocument/2006/relationships/image" Target="../media/image25.png"/><Relationship Id="rId4" Type="http://schemas.openxmlformats.org/officeDocument/2006/relationships/image" Target="../media/image11.png"/><Relationship Id="rId9" Type="http://schemas.openxmlformats.org/officeDocument/2006/relationships/image" Target="../media/image24.png"/></Relationships>
</file>

<file path=ppt/slides/_rels/slide8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11.png"/><Relationship Id="rId2" Type="http://schemas.openxmlformats.org/officeDocument/2006/relationships/notesSlide" Target="../notesSlides/notesSlide82.xml"/><Relationship Id="rId1" Type="http://schemas.openxmlformats.org/officeDocument/2006/relationships/slideLayout" Target="../slideLayouts/slideLayout15.xml"/><Relationship Id="rId6" Type="http://schemas.openxmlformats.org/officeDocument/2006/relationships/image" Target="../media/image19.png"/><Relationship Id="rId5" Type="http://schemas.openxmlformats.org/officeDocument/2006/relationships/image" Target="../media/image7.png"/><Relationship Id="rId4" Type="http://schemas.openxmlformats.org/officeDocument/2006/relationships/image" Target="../media/image8.png"/></Relationships>
</file>

<file path=ppt/slides/_rels/slide8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1.png"/><Relationship Id="rId2" Type="http://schemas.openxmlformats.org/officeDocument/2006/relationships/notesSlide" Target="../notesSlides/notesSlide83.xml"/><Relationship Id="rId1" Type="http://schemas.openxmlformats.org/officeDocument/2006/relationships/slideLayout" Target="../slideLayouts/slideLayout15.xml"/><Relationship Id="rId6" Type="http://schemas.openxmlformats.org/officeDocument/2006/relationships/image" Target="../media/image19.png"/><Relationship Id="rId5" Type="http://schemas.openxmlformats.org/officeDocument/2006/relationships/image" Target="../media/image7.png"/><Relationship Id="rId4" Type="http://schemas.openxmlformats.org/officeDocument/2006/relationships/image" Target="../media/image8.png"/></Relationships>
</file>

<file path=ppt/slides/_rels/slide8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1.png"/><Relationship Id="rId2" Type="http://schemas.openxmlformats.org/officeDocument/2006/relationships/notesSlide" Target="../notesSlides/notesSlide84.xml"/><Relationship Id="rId1" Type="http://schemas.openxmlformats.org/officeDocument/2006/relationships/slideLayout" Target="../slideLayouts/slideLayout15.xml"/><Relationship Id="rId6" Type="http://schemas.openxmlformats.org/officeDocument/2006/relationships/image" Target="../media/image19.png"/><Relationship Id="rId5" Type="http://schemas.openxmlformats.org/officeDocument/2006/relationships/image" Target="../media/image7.png"/><Relationship Id="rId4" Type="http://schemas.openxmlformats.org/officeDocument/2006/relationships/image" Target="../media/image8.png"/></Relationships>
</file>

<file path=ppt/slides/_rels/slide8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1.png"/><Relationship Id="rId2" Type="http://schemas.openxmlformats.org/officeDocument/2006/relationships/notesSlide" Target="../notesSlides/notesSlide85.xml"/><Relationship Id="rId1" Type="http://schemas.openxmlformats.org/officeDocument/2006/relationships/slideLayout" Target="../slideLayouts/slideLayout15.xml"/><Relationship Id="rId6" Type="http://schemas.openxmlformats.org/officeDocument/2006/relationships/image" Target="../media/image19.png"/><Relationship Id="rId5" Type="http://schemas.openxmlformats.org/officeDocument/2006/relationships/image" Target="../media/image7.png"/><Relationship Id="rId4" Type="http://schemas.openxmlformats.org/officeDocument/2006/relationships/image" Target="../media/image8.png"/></Relationships>
</file>

<file path=ppt/slides/_rels/slide8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1.png"/><Relationship Id="rId2" Type="http://schemas.openxmlformats.org/officeDocument/2006/relationships/notesSlide" Target="../notesSlides/notesSlide86.xml"/><Relationship Id="rId1" Type="http://schemas.openxmlformats.org/officeDocument/2006/relationships/slideLayout" Target="../slideLayouts/slideLayout15.xml"/><Relationship Id="rId6" Type="http://schemas.openxmlformats.org/officeDocument/2006/relationships/image" Target="../media/image19.png"/><Relationship Id="rId5" Type="http://schemas.openxmlformats.org/officeDocument/2006/relationships/image" Target="../media/image7.png"/><Relationship Id="rId4" Type="http://schemas.openxmlformats.org/officeDocument/2006/relationships/image" Target="../media/image8.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9.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 name="文本占位符 11"/>
          <p:cNvSpPr>
            <a:spLocks noGrp="1"/>
          </p:cNvSpPr>
          <p:nvPr>
            <p:ph type="body" sz="quarter" idx="17"/>
          </p:nvPr>
        </p:nvSpPr>
        <p:spPr/>
        <p:txBody>
          <a:bodyPr/>
          <a:lstStyle/>
          <a:p>
            <a:endParaRPr lang="zh-CN" altLang="en-US"/>
          </a:p>
        </p:txBody>
      </p:sp>
      <p:sp>
        <p:nvSpPr>
          <p:cNvPr id="32" name="文本占位符 31"/>
          <p:cNvSpPr>
            <a:spLocks noGrp="1"/>
          </p:cNvSpPr>
          <p:nvPr>
            <p:ph type="body" sz="quarter" idx="18"/>
          </p:nvPr>
        </p:nvSpPr>
        <p:spPr/>
        <p:txBody>
          <a:bodyPr/>
          <a:lstStyle/>
          <a:p>
            <a:r>
              <a:rPr lang="en-US" altLang="zh-CN">
                <a:sym typeface="Huawei Sans" panose="020C0503030203020204" pitchFamily="34" charset="0"/>
              </a:rPr>
              <a:t>Datacom</a:t>
            </a:r>
            <a:endParaRPr lang="zh-CN" altLang="en-US" dirty="0">
              <a:sym typeface="Huawei Sans" panose="020C0503030203020204" pitchFamily="34" charset="0"/>
            </a:endParaRPr>
          </a:p>
        </p:txBody>
      </p:sp>
      <p:sp>
        <p:nvSpPr>
          <p:cNvPr id="13" name="文本占位符 12"/>
          <p:cNvSpPr>
            <a:spLocks noGrp="1"/>
          </p:cNvSpPr>
          <p:nvPr>
            <p:ph type="body" sz="quarter" idx="19"/>
          </p:nvPr>
        </p:nvSpPr>
        <p:spPr/>
        <p:txBody>
          <a:bodyPr/>
          <a:lstStyle/>
          <a:p>
            <a:r>
              <a:rPr lang="zh-CN" altLang="en-US" dirty="0"/>
              <a:t>通用</a:t>
            </a:r>
          </a:p>
        </p:txBody>
      </p:sp>
      <p:sp>
        <p:nvSpPr>
          <p:cNvPr id="34" name="文本占位符 33"/>
          <p:cNvSpPr>
            <a:spLocks noGrp="1"/>
          </p:cNvSpPr>
          <p:nvPr>
            <p:ph type="body" sz="quarter" idx="20"/>
          </p:nvPr>
        </p:nvSpPr>
        <p:spPr/>
        <p:txBody>
          <a:bodyPr/>
          <a:lstStyle/>
          <a:p>
            <a:r>
              <a:rPr lang="en-US" altLang="zh-CN">
                <a:sym typeface="Huawei Sans" panose="020C0503030203020204" pitchFamily="34" charset="0"/>
              </a:rPr>
              <a:t>V1.0</a:t>
            </a:r>
            <a:endParaRPr lang="zh-CN" altLang="en-US" dirty="0">
              <a:sym typeface="Huawei Sans" panose="020C0503030203020204" pitchFamily="34" charset="0"/>
            </a:endParaRPr>
          </a:p>
        </p:txBody>
      </p:sp>
      <p:sp>
        <p:nvSpPr>
          <p:cNvPr id="74" name="文本占位符 73"/>
          <p:cNvSpPr>
            <a:spLocks noGrp="1"/>
          </p:cNvSpPr>
          <p:nvPr>
            <p:ph type="body" sz="quarter" idx="13"/>
          </p:nvPr>
        </p:nvSpPr>
        <p:spPr/>
        <p:txBody>
          <a:bodyPr/>
          <a:lstStyle/>
          <a:p>
            <a:r>
              <a:rPr lang="zh-CN" altLang="en-US">
                <a:sym typeface="Huawei Sans" panose="020C0503030203020204" pitchFamily="34" charset="0"/>
              </a:rPr>
              <a:t>万倡利</a:t>
            </a:r>
            <a:r>
              <a:rPr lang="en-US" altLang="zh-CN">
                <a:sym typeface="Huawei Sans" panose="020C0503030203020204" pitchFamily="34" charset="0"/>
              </a:rPr>
              <a:t>/WX408647</a:t>
            </a:r>
            <a:endParaRPr lang="zh-CN" altLang="en-US" dirty="0">
              <a:sym typeface="Huawei Sans" panose="020C0503030203020204" pitchFamily="34" charset="0"/>
            </a:endParaRPr>
          </a:p>
        </p:txBody>
      </p:sp>
      <p:sp>
        <p:nvSpPr>
          <p:cNvPr id="26" name="文本占位符 73"/>
          <p:cNvSpPr>
            <a:spLocks noGrp="1"/>
          </p:cNvSpPr>
          <p:nvPr>
            <p:ph type="body" sz="quarter" idx="14"/>
          </p:nvPr>
        </p:nvSpPr>
        <p:spPr/>
        <p:txBody>
          <a:bodyPr/>
          <a:lstStyle/>
          <a:p>
            <a:r>
              <a:rPr lang="en-US" altLang="zh-CN">
                <a:sym typeface="Huawei Sans" panose="020C0503030203020204" pitchFamily="34" charset="0"/>
              </a:rPr>
              <a:t>2020.06.06</a:t>
            </a:r>
            <a:endParaRPr lang="zh-CN" altLang="en-US" dirty="0">
              <a:sym typeface="Huawei Sans" panose="020C0503030203020204" pitchFamily="34" charset="0"/>
            </a:endParaRPr>
          </a:p>
        </p:txBody>
      </p:sp>
      <p:sp>
        <p:nvSpPr>
          <p:cNvPr id="27" name="文本占位符 74"/>
          <p:cNvSpPr>
            <a:spLocks noGrp="1"/>
          </p:cNvSpPr>
          <p:nvPr>
            <p:ph type="body" sz="quarter" idx="15"/>
          </p:nvPr>
        </p:nvSpPr>
        <p:spPr/>
        <p:txBody>
          <a:bodyPr/>
          <a:lstStyle/>
          <a:p>
            <a:r>
              <a:rPr lang="zh-CN" altLang="en-US">
                <a:sym typeface="Huawei Sans" panose="020C0503030203020204" pitchFamily="34" charset="0"/>
              </a:rPr>
              <a:t>朱仕耿</a:t>
            </a:r>
            <a:r>
              <a:rPr lang="en-US" altLang="zh-CN">
                <a:sym typeface="Huawei Sans" panose="020C0503030203020204" pitchFamily="34" charset="0"/>
              </a:rPr>
              <a:t>/00261992</a:t>
            </a:r>
            <a:endParaRPr lang="zh-CN" altLang="en-US" dirty="0">
              <a:sym typeface="Huawei Sans" panose="020C0503030203020204" pitchFamily="34" charset="0"/>
            </a:endParaRPr>
          </a:p>
        </p:txBody>
      </p:sp>
      <p:sp>
        <p:nvSpPr>
          <p:cNvPr id="29" name="文本占位符 76"/>
          <p:cNvSpPr>
            <a:spLocks noGrp="1"/>
          </p:cNvSpPr>
          <p:nvPr>
            <p:ph type="body" sz="quarter" idx="16"/>
          </p:nvPr>
        </p:nvSpPr>
        <p:spPr/>
        <p:txBody>
          <a:bodyPr/>
          <a:lstStyle/>
          <a:p>
            <a:r>
              <a:rPr lang="zh-CN" altLang="en-US" dirty="0">
                <a:sym typeface="Huawei Sans" panose="020C0503030203020204" pitchFamily="34" charset="0"/>
              </a:rPr>
              <a:t>优化</a:t>
            </a:r>
          </a:p>
        </p:txBody>
      </p:sp>
      <p:sp>
        <p:nvSpPr>
          <p:cNvPr id="35" name="文本占位符 34"/>
          <p:cNvSpPr>
            <a:spLocks noGrp="1"/>
          </p:cNvSpPr>
          <p:nvPr>
            <p:ph type="body" sz="quarter" idx="21"/>
          </p:nvPr>
        </p:nvSpPr>
        <p:spPr/>
        <p:txBody>
          <a:bodyPr/>
          <a:lstStyle/>
          <a:p>
            <a:r>
              <a:rPr lang="zh-CN" altLang="en-US">
                <a:sym typeface="Huawei Sans" panose="020C0503030203020204" pitchFamily="34" charset="0"/>
              </a:rPr>
              <a:t>施淼淼</a:t>
            </a:r>
            <a:r>
              <a:rPr lang="en-US" altLang="zh-CN">
                <a:sym typeface="Huawei Sans" panose="020C0503030203020204" pitchFamily="34" charset="0"/>
              </a:rPr>
              <a:t>/WX791350</a:t>
            </a:r>
            <a:endParaRPr lang="zh-CN" altLang="en-US" dirty="0">
              <a:sym typeface="Huawei Sans" panose="020C0503030203020204" pitchFamily="34" charset="0"/>
            </a:endParaRPr>
          </a:p>
        </p:txBody>
      </p:sp>
      <p:sp>
        <p:nvSpPr>
          <p:cNvPr id="36" name="文本占位符 35"/>
          <p:cNvSpPr>
            <a:spLocks noGrp="1"/>
          </p:cNvSpPr>
          <p:nvPr>
            <p:ph type="body" sz="quarter" idx="22"/>
          </p:nvPr>
        </p:nvSpPr>
        <p:spPr/>
        <p:txBody>
          <a:bodyPr/>
          <a:lstStyle/>
          <a:p>
            <a:r>
              <a:rPr lang="en-US" altLang="zh-CN" dirty="0">
                <a:sym typeface="Huawei Sans" panose="020C0503030203020204" pitchFamily="34" charset="0"/>
              </a:rPr>
              <a:t>2021.01.15</a:t>
            </a:r>
            <a:endParaRPr lang="zh-CN" altLang="en-US" dirty="0">
              <a:sym typeface="Huawei Sans" panose="020C0503030203020204" pitchFamily="34" charset="0"/>
            </a:endParaRPr>
          </a:p>
        </p:txBody>
      </p:sp>
      <p:sp>
        <p:nvSpPr>
          <p:cNvPr id="37" name="文本占位符 36"/>
          <p:cNvSpPr>
            <a:spLocks noGrp="1"/>
          </p:cNvSpPr>
          <p:nvPr>
            <p:ph type="body" sz="quarter" idx="23"/>
          </p:nvPr>
        </p:nvSpPr>
        <p:spPr/>
        <p:txBody>
          <a:bodyPr/>
          <a:lstStyle/>
          <a:p>
            <a:r>
              <a:rPr lang="zh-CN" altLang="en-US">
                <a:sym typeface="Huawei Sans" panose="020C0503030203020204" pitchFamily="34" charset="0"/>
              </a:rPr>
              <a:t>朱仕耿</a:t>
            </a:r>
            <a:r>
              <a:rPr lang="en-US" altLang="zh-CN">
                <a:sym typeface="Huawei Sans" panose="020C0503030203020204" pitchFamily="34" charset="0"/>
              </a:rPr>
              <a:t>/00261992</a:t>
            </a:r>
            <a:endParaRPr lang="zh-CN" altLang="en-US" dirty="0">
              <a:sym typeface="Huawei Sans" panose="020C0503030203020204" pitchFamily="34" charset="0"/>
            </a:endParaRPr>
          </a:p>
        </p:txBody>
      </p:sp>
      <p:sp>
        <p:nvSpPr>
          <p:cNvPr id="38" name="文本占位符 37"/>
          <p:cNvSpPr>
            <a:spLocks noGrp="1"/>
          </p:cNvSpPr>
          <p:nvPr>
            <p:ph type="body" sz="quarter" idx="24"/>
          </p:nvPr>
        </p:nvSpPr>
        <p:spPr/>
        <p:txBody>
          <a:bodyPr/>
          <a:lstStyle/>
          <a:p>
            <a:r>
              <a:rPr lang="zh-CN" altLang="en-US">
                <a:sym typeface="Huawei Sans" panose="020C0503030203020204" pitchFamily="34" charset="0"/>
              </a:rPr>
              <a:t>优化</a:t>
            </a:r>
            <a:endParaRPr lang="zh-CN" altLang="en-US" dirty="0">
              <a:sym typeface="Huawei Sans" panose="020C0503030203020204" pitchFamily="34" charset="0"/>
            </a:endParaRPr>
          </a:p>
        </p:txBody>
      </p:sp>
      <p:sp>
        <p:nvSpPr>
          <p:cNvPr id="14" name="文本占位符 13"/>
          <p:cNvSpPr>
            <a:spLocks noGrp="1"/>
          </p:cNvSpPr>
          <p:nvPr>
            <p:ph type="body" sz="quarter" idx="25"/>
          </p:nvPr>
        </p:nvSpPr>
        <p:spPr/>
        <p:txBody>
          <a:bodyPr/>
          <a:lstStyle/>
          <a:p>
            <a:r>
              <a:rPr lang="zh-CN" altLang="en-US" dirty="0"/>
              <a:t>卢玥玥</a:t>
            </a:r>
            <a:r>
              <a:rPr lang="en-US" altLang="zh-CN" dirty="0"/>
              <a:t>/WX445705</a:t>
            </a:r>
            <a:endParaRPr lang="zh-CN" altLang="en-US" dirty="0"/>
          </a:p>
        </p:txBody>
      </p:sp>
      <p:sp>
        <p:nvSpPr>
          <p:cNvPr id="15" name="文本占位符 14"/>
          <p:cNvSpPr>
            <a:spLocks noGrp="1"/>
          </p:cNvSpPr>
          <p:nvPr>
            <p:ph type="body" sz="quarter" idx="26"/>
          </p:nvPr>
        </p:nvSpPr>
        <p:spPr/>
        <p:txBody>
          <a:bodyPr/>
          <a:lstStyle/>
          <a:p>
            <a:r>
              <a:rPr lang="en-US" altLang="zh-CN" dirty="0"/>
              <a:t>2021.07.15</a:t>
            </a:r>
            <a:endParaRPr lang="zh-CN" altLang="en-US" dirty="0"/>
          </a:p>
        </p:txBody>
      </p:sp>
      <p:sp>
        <p:nvSpPr>
          <p:cNvPr id="16" name="文本占位符 15"/>
          <p:cNvSpPr>
            <a:spLocks noGrp="1"/>
          </p:cNvSpPr>
          <p:nvPr>
            <p:ph type="body" sz="quarter" idx="27"/>
          </p:nvPr>
        </p:nvSpPr>
        <p:spPr/>
        <p:txBody>
          <a:bodyPr/>
          <a:lstStyle/>
          <a:p>
            <a:r>
              <a:rPr lang="zh-CN" altLang="en-US"/>
              <a:t>吴越</a:t>
            </a:r>
            <a:r>
              <a:rPr lang="en-US" altLang="zh-CN"/>
              <a:t>/</a:t>
            </a:r>
            <a:r>
              <a:rPr lang="en-US" altLang="zh-CN" dirty="0"/>
              <a:t>WX291773</a:t>
            </a:r>
            <a:endParaRPr lang="zh-CN" altLang="en-US" dirty="0"/>
          </a:p>
        </p:txBody>
      </p:sp>
      <p:sp>
        <p:nvSpPr>
          <p:cNvPr id="17" name="文本占位符 16"/>
          <p:cNvSpPr>
            <a:spLocks noGrp="1"/>
          </p:cNvSpPr>
          <p:nvPr>
            <p:ph type="body" sz="quarter" idx="28"/>
          </p:nvPr>
        </p:nvSpPr>
        <p:spPr/>
        <p:txBody>
          <a:bodyPr/>
          <a:lstStyle/>
          <a:p>
            <a:r>
              <a:rPr lang="zh-CN" altLang="en-US" dirty="0"/>
              <a:t>优化</a:t>
            </a:r>
          </a:p>
        </p:txBody>
      </p:sp>
      <p:sp>
        <p:nvSpPr>
          <p:cNvPr id="18" name="文本占位符 17"/>
          <p:cNvSpPr>
            <a:spLocks noGrp="1"/>
          </p:cNvSpPr>
          <p:nvPr>
            <p:ph type="body" sz="quarter" idx="29"/>
          </p:nvPr>
        </p:nvSpPr>
        <p:spPr/>
        <p:txBody>
          <a:bodyPr/>
          <a:lstStyle/>
          <a:p>
            <a:endParaRPr lang="zh-CN" altLang="en-US"/>
          </a:p>
        </p:txBody>
      </p:sp>
      <p:sp>
        <p:nvSpPr>
          <p:cNvPr id="19" name="文本占位符 18"/>
          <p:cNvSpPr>
            <a:spLocks noGrp="1"/>
          </p:cNvSpPr>
          <p:nvPr>
            <p:ph type="body" sz="quarter" idx="30"/>
          </p:nvPr>
        </p:nvSpPr>
        <p:spPr/>
        <p:txBody>
          <a:bodyPr/>
          <a:lstStyle/>
          <a:p>
            <a:endParaRPr lang="zh-CN" altLang="en-US"/>
          </a:p>
        </p:txBody>
      </p:sp>
      <p:sp>
        <p:nvSpPr>
          <p:cNvPr id="20" name="文本占位符 19"/>
          <p:cNvSpPr>
            <a:spLocks noGrp="1"/>
          </p:cNvSpPr>
          <p:nvPr>
            <p:ph type="body" sz="quarter" idx="31"/>
          </p:nvPr>
        </p:nvSpPr>
        <p:spPr/>
        <p:txBody>
          <a:bodyPr/>
          <a:lstStyle/>
          <a:p>
            <a:endParaRPr lang="zh-CN" altLang="en-US"/>
          </a:p>
        </p:txBody>
      </p:sp>
      <p:sp>
        <p:nvSpPr>
          <p:cNvPr id="21" name="文本占位符 20"/>
          <p:cNvSpPr>
            <a:spLocks noGrp="1"/>
          </p:cNvSpPr>
          <p:nvPr>
            <p:ph type="body" sz="quarter" idx="32"/>
          </p:nvPr>
        </p:nvSpPr>
        <p:spPr/>
        <p:txBody>
          <a:bodyPr/>
          <a:lstStyle/>
          <a:p>
            <a:endParaRPr lang="zh-CN" altLang="en-US"/>
          </a:p>
        </p:txBody>
      </p:sp>
      <p:sp>
        <p:nvSpPr>
          <p:cNvPr id="22" name="文本占位符 21"/>
          <p:cNvSpPr>
            <a:spLocks noGrp="1"/>
          </p:cNvSpPr>
          <p:nvPr>
            <p:ph type="body" sz="quarter" idx="33"/>
          </p:nvPr>
        </p:nvSpPr>
        <p:spPr/>
        <p:txBody>
          <a:bodyPr/>
          <a:lstStyle/>
          <a:p>
            <a:endParaRPr lang="zh-CN" altLang="en-US"/>
          </a:p>
        </p:txBody>
      </p:sp>
      <p:sp>
        <p:nvSpPr>
          <p:cNvPr id="23" name="文本占位符 22"/>
          <p:cNvSpPr>
            <a:spLocks noGrp="1"/>
          </p:cNvSpPr>
          <p:nvPr>
            <p:ph type="body" sz="quarter" idx="34"/>
          </p:nvPr>
        </p:nvSpPr>
        <p:spPr/>
        <p:txBody>
          <a:bodyPr/>
          <a:lstStyle/>
          <a:p>
            <a:endParaRPr lang="zh-CN" altLang="en-US"/>
          </a:p>
        </p:txBody>
      </p:sp>
      <p:sp>
        <p:nvSpPr>
          <p:cNvPr id="24" name="文本占位符 23"/>
          <p:cNvSpPr>
            <a:spLocks noGrp="1"/>
          </p:cNvSpPr>
          <p:nvPr>
            <p:ph type="body" sz="quarter" idx="35"/>
          </p:nvPr>
        </p:nvSpPr>
        <p:spPr/>
        <p:txBody>
          <a:bodyPr/>
          <a:lstStyle/>
          <a:p>
            <a:endParaRPr lang="zh-CN" altLang="en-US"/>
          </a:p>
        </p:txBody>
      </p:sp>
      <p:sp>
        <p:nvSpPr>
          <p:cNvPr id="25" name="文本占位符 24"/>
          <p:cNvSpPr>
            <a:spLocks noGrp="1"/>
          </p:cNvSpPr>
          <p:nvPr>
            <p:ph type="body" sz="quarter" idx="36"/>
          </p:nvPr>
        </p:nvSpPr>
        <p:spPr/>
        <p:txBody>
          <a:bodyPr/>
          <a:lstStyle/>
          <a:p>
            <a:endParaRPr lang="zh-CN" altLang="en-US"/>
          </a:p>
        </p:txBody>
      </p:sp>
    </p:spTree>
    <p:extLst>
      <p:ext uri="{BB962C8B-B14F-4D97-AF65-F5344CB8AC3E}">
        <p14:creationId xmlns:p14="http://schemas.microsoft.com/office/powerpoint/2010/main" val="2111202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en-US" altLang="zh-CN">
                <a:sym typeface="Huawei Sans" panose="020C0503030203020204" pitchFamily="34" charset="0"/>
              </a:rPr>
              <a:t>VXLAN</a:t>
            </a:r>
            <a:r>
              <a:rPr lang="zh-CN" altLang="en-US">
                <a:sym typeface="Huawei Sans" panose="020C0503030203020204" pitchFamily="34" charset="0"/>
              </a:rPr>
              <a:t>与园区网络虚拟化</a:t>
            </a:r>
            <a:endParaRPr lang="zh-CN" altLang="en-US" dirty="0">
              <a:sym typeface="Huawei Sans" panose="020C0503030203020204" pitchFamily="34" charset="0"/>
            </a:endParaRPr>
          </a:p>
        </p:txBody>
      </p:sp>
    </p:spTree>
    <p:extLst>
      <p:ext uri="{BB962C8B-B14F-4D97-AF65-F5344CB8AC3E}">
        <p14:creationId xmlns:p14="http://schemas.microsoft.com/office/powerpoint/2010/main" val="1817778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C3E66CB7-DD9B-49E1-A9F2-5A36F8E7BA55}"/>
              </a:ext>
            </a:extLst>
          </p:cNvPr>
          <p:cNvSpPr>
            <a:spLocks noGrp="1"/>
          </p:cNvSpPr>
          <p:nvPr>
            <p:ph type="body" sz="quarter" idx="10"/>
          </p:nvPr>
        </p:nvSpPr>
        <p:spPr/>
        <p:txBody>
          <a:bodyPr/>
          <a:lstStyle/>
          <a:p>
            <a:r>
              <a:rPr lang="en-US" altLang="zh-CN" sz="2000" dirty="0">
                <a:sym typeface="Huawei Sans" panose="020C0503030203020204" pitchFamily="34" charset="0"/>
              </a:rPr>
              <a:t>RFC</a:t>
            </a:r>
            <a:r>
              <a:rPr lang="zh-CN" altLang="en-US" sz="2000" dirty="0">
                <a:sym typeface="Huawei Sans" panose="020C0503030203020204" pitchFamily="34" charset="0"/>
              </a:rPr>
              <a:t>定义了</a:t>
            </a:r>
            <a:r>
              <a:rPr lang="en-US" altLang="zh-CN" sz="2000" dirty="0">
                <a:sym typeface="Huawei Sans" panose="020C0503030203020204" pitchFamily="34" charset="0"/>
              </a:rPr>
              <a:t>VLAN</a:t>
            </a:r>
            <a:r>
              <a:rPr lang="zh-CN" altLang="en-US" sz="2000" dirty="0">
                <a:sym typeface="Huawei Sans" panose="020C0503030203020204" pitchFamily="34" charset="0"/>
              </a:rPr>
              <a:t>扩展方案</a:t>
            </a:r>
            <a:r>
              <a:rPr lang="en-US" altLang="zh-CN" sz="2000" dirty="0">
                <a:sym typeface="Huawei Sans" panose="020C0503030203020204" pitchFamily="34" charset="0"/>
              </a:rPr>
              <a:t>VXLAN</a:t>
            </a:r>
            <a:r>
              <a:rPr lang="zh-CN" altLang="en-US" sz="2000" dirty="0">
                <a:sym typeface="Huawei Sans" panose="020C0503030203020204" pitchFamily="34" charset="0"/>
              </a:rPr>
              <a:t>（</a:t>
            </a:r>
            <a:r>
              <a:rPr lang="en-US" altLang="zh-CN" sz="2000" dirty="0">
                <a:sym typeface="Huawei Sans" panose="020C0503030203020204" pitchFamily="34" charset="0"/>
              </a:rPr>
              <a:t>Virtual </a:t>
            </a:r>
            <a:r>
              <a:rPr lang="en-US" altLang="zh-CN" sz="2000" dirty="0" err="1">
                <a:sym typeface="Huawei Sans" panose="020C0503030203020204" pitchFamily="34" charset="0"/>
              </a:rPr>
              <a:t>eXtensible</a:t>
            </a:r>
            <a:r>
              <a:rPr lang="en-US" altLang="zh-CN" sz="2000" dirty="0">
                <a:sym typeface="Huawei Sans" panose="020C0503030203020204" pitchFamily="34" charset="0"/>
              </a:rPr>
              <a:t> Local Area Network</a:t>
            </a:r>
            <a:r>
              <a:rPr lang="zh-CN" altLang="en-US" sz="2000" dirty="0">
                <a:sym typeface="Huawei Sans" panose="020C0503030203020204" pitchFamily="34" charset="0"/>
              </a:rPr>
              <a:t>，虚拟扩展局域网）。</a:t>
            </a:r>
            <a:r>
              <a:rPr lang="en-US" altLang="zh-CN" sz="2000" dirty="0">
                <a:sym typeface="Huawei Sans" panose="020C0503030203020204" pitchFamily="34" charset="0"/>
              </a:rPr>
              <a:t>VXLAN</a:t>
            </a:r>
            <a:r>
              <a:rPr lang="zh-CN" altLang="en-US" sz="2000" dirty="0">
                <a:sym typeface="Huawei Sans" panose="020C0503030203020204" pitchFamily="34" charset="0"/>
              </a:rPr>
              <a:t>采用</a:t>
            </a:r>
            <a:r>
              <a:rPr lang="en-US" altLang="zh-CN" sz="2000" dirty="0">
                <a:sym typeface="Huawei Sans" panose="020C0503030203020204" pitchFamily="34" charset="0"/>
              </a:rPr>
              <a:t>MAC in UDP</a:t>
            </a:r>
            <a:r>
              <a:rPr lang="zh-CN" altLang="en-US" sz="2000" dirty="0">
                <a:sym typeface="Huawei Sans" panose="020C0503030203020204" pitchFamily="34" charset="0"/>
              </a:rPr>
              <a:t>封装方式，是</a:t>
            </a:r>
            <a:r>
              <a:rPr lang="en-US" altLang="zh-CN" sz="2000" dirty="0">
                <a:sym typeface="Huawei Sans" panose="020C0503030203020204" pitchFamily="34" charset="0"/>
              </a:rPr>
              <a:t>NVO3</a:t>
            </a:r>
            <a:r>
              <a:rPr lang="zh-CN" altLang="en-US" sz="2000" dirty="0">
                <a:sym typeface="Huawei Sans" panose="020C0503030203020204" pitchFamily="34" charset="0"/>
              </a:rPr>
              <a:t>（</a:t>
            </a:r>
            <a:r>
              <a:rPr lang="en-US" altLang="zh-CN" sz="2000" dirty="0">
                <a:sym typeface="Huawei Sans" panose="020C0503030203020204" pitchFamily="34" charset="0"/>
              </a:rPr>
              <a:t>Network Virtualization over Layer 3</a:t>
            </a:r>
            <a:r>
              <a:rPr lang="zh-CN" altLang="en-US" sz="2000" dirty="0">
                <a:sym typeface="Huawei Sans" panose="020C0503030203020204" pitchFamily="34" charset="0"/>
              </a:rPr>
              <a:t>）中的一种网络虚拟化技术。</a:t>
            </a:r>
            <a:endParaRPr lang="en-US" altLang="zh-CN" sz="2000" dirty="0">
              <a:sym typeface="Huawei Sans" panose="020C0503030203020204" pitchFamily="34" charset="0"/>
            </a:endParaRPr>
          </a:p>
          <a:p>
            <a:r>
              <a:rPr lang="en-US" altLang="zh-CN" sz="2000" dirty="0">
                <a:sym typeface="Huawei Sans" panose="020C0503030203020204" pitchFamily="34" charset="0"/>
              </a:rPr>
              <a:t>VXLAN</a:t>
            </a:r>
            <a:r>
              <a:rPr lang="zh-CN" altLang="en-US" sz="2000" dirty="0">
                <a:sym typeface="Huawei Sans" panose="020C0503030203020204" pitchFamily="34" charset="0"/>
              </a:rPr>
              <a:t>早已被广泛应用于数据中心网络。随着园区网络的业务需求越来越灵活、园区网络虚拟化的需求及网络自动化的需求越来越强烈，</a:t>
            </a:r>
            <a:r>
              <a:rPr lang="en-US" altLang="zh-CN" sz="2000" dirty="0">
                <a:sym typeface="Huawei Sans" panose="020C0503030203020204" pitchFamily="34" charset="0"/>
              </a:rPr>
              <a:t>VXLAN</a:t>
            </a:r>
            <a:r>
              <a:rPr lang="zh-CN" altLang="en-US" sz="2000" dirty="0">
                <a:sym typeface="Huawei Sans" panose="020C0503030203020204" pitchFamily="34" charset="0"/>
              </a:rPr>
              <a:t>开始进入园区网络，搭配园区</a:t>
            </a:r>
            <a:r>
              <a:rPr lang="en-US" altLang="zh-CN" sz="2000" dirty="0">
                <a:sym typeface="Huawei Sans" panose="020C0503030203020204" pitchFamily="34" charset="0"/>
              </a:rPr>
              <a:t>SDN</a:t>
            </a:r>
            <a:r>
              <a:rPr lang="zh-CN" altLang="en-US" sz="2000" dirty="0">
                <a:sym typeface="Huawei Sans" panose="020C0503030203020204" pitchFamily="34" charset="0"/>
              </a:rPr>
              <a:t>控制器实现更多用户价值。</a:t>
            </a:r>
            <a:endParaRPr lang="en-US" altLang="zh-CN" sz="2000" dirty="0">
              <a:sym typeface="Huawei Sans" panose="020C0503030203020204" pitchFamily="34" charset="0"/>
            </a:endParaRPr>
          </a:p>
          <a:p>
            <a:r>
              <a:rPr lang="zh-CN" altLang="en-US" sz="2000" dirty="0">
                <a:sym typeface="Huawei Sans" panose="020C0503030203020204" pitchFamily="34" charset="0"/>
              </a:rPr>
              <a:t>本课程将介绍</a:t>
            </a:r>
            <a:r>
              <a:rPr lang="en-US" altLang="zh-CN" sz="2000" dirty="0">
                <a:sym typeface="Huawei Sans" panose="020C0503030203020204" pitchFamily="34" charset="0"/>
              </a:rPr>
              <a:t>VXLAN</a:t>
            </a:r>
            <a:r>
              <a:rPr lang="zh-CN" altLang="en-US" sz="2000" dirty="0">
                <a:sym typeface="Huawei Sans" panose="020C0503030203020204" pitchFamily="34" charset="0"/>
              </a:rPr>
              <a:t>的基本概念、基本工作原理，以及在园区网络中实现“一网多用”的典型应用场景。</a:t>
            </a:r>
          </a:p>
        </p:txBody>
      </p:sp>
    </p:spTree>
    <p:extLst>
      <p:ext uri="{BB962C8B-B14F-4D97-AF65-F5344CB8AC3E}">
        <p14:creationId xmlns:p14="http://schemas.microsoft.com/office/powerpoint/2010/main" val="1937536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26A80087-DAEA-4C4D-8F6D-507CCC107586}"/>
              </a:ext>
            </a:extLst>
          </p:cNvPr>
          <p:cNvSpPr>
            <a:spLocks noGrp="1"/>
          </p:cNvSpPr>
          <p:nvPr>
            <p:ph type="body" sz="quarter" idx="10"/>
          </p:nvPr>
        </p:nvSpPr>
        <p:spPr/>
        <p:txBody>
          <a:bodyPr/>
          <a:lstStyle/>
          <a:p>
            <a:r>
              <a:rPr lang="zh-CN" altLang="en-US" dirty="0">
                <a:sym typeface="Huawei Sans" panose="020C0503030203020204" pitchFamily="34" charset="0"/>
              </a:rPr>
              <a:t>学习完本课程后，您将能够：</a:t>
            </a:r>
            <a:endParaRPr lang="en-US" altLang="zh-CN" dirty="0">
              <a:sym typeface="Huawei Sans" panose="020C0503030203020204" pitchFamily="34" charset="0"/>
            </a:endParaRPr>
          </a:p>
          <a:p>
            <a:pPr lvl="1"/>
            <a:r>
              <a:rPr lang="zh-CN" altLang="en-US" dirty="0">
                <a:sym typeface="Huawei Sans" panose="020C0503030203020204" pitchFamily="34" charset="0"/>
              </a:rPr>
              <a:t>描述数据中心场景下对网络新的需求，以及</a:t>
            </a:r>
            <a:r>
              <a:rPr lang="en-US" altLang="zh-CN" dirty="0">
                <a:sym typeface="Huawei Sans" panose="020C0503030203020204" pitchFamily="34" charset="0"/>
              </a:rPr>
              <a:t>VXLAN</a:t>
            </a:r>
            <a:r>
              <a:rPr lang="zh-CN" altLang="en-US" dirty="0">
                <a:sym typeface="Huawei Sans" panose="020C0503030203020204" pitchFamily="34" charset="0"/>
              </a:rPr>
              <a:t>如何满足这些需求</a:t>
            </a:r>
            <a:endParaRPr lang="en-US" altLang="zh-CN" dirty="0">
              <a:sym typeface="Huawei Sans" panose="020C0503030203020204" pitchFamily="34" charset="0"/>
            </a:endParaRPr>
          </a:p>
          <a:p>
            <a:pPr lvl="1"/>
            <a:r>
              <a:rPr lang="zh-CN" altLang="en-US" dirty="0">
                <a:sym typeface="Huawei Sans" panose="020C0503030203020204" pitchFamily="34" charset="0"/>
              </a:rPr>
              <a:t>描述</a:t>
            </a:r>
            <a:r>
              <a:rPr lang="en-US" altLang="zh-CN" dirty="0">
                <a:sym typeface="Huawei Sans" panose="020C0503030203020204" pitchFamily="34" charset="0"/>
              </a:rPr>
              <a:t>VXLAN</a:t>
            </a:r>
            <a:r>
              <a:rPr lang="zh-CN" altLang="en-US" dirty="0">
                <a:sym typeface="Huawei Sans" panose="020C0503030203020204" pitchFamily="34" charset="0"/>
              </a:rPr>
              <a:t>的基本概念</a:t>
            </a:r>
            <a:endParaRPr lang="en-US" altLang="zh-CN" dirty="0">
              <a:sym typeface="Huawei Sans" panose="020C0503030203020204" pitchFamily="34" charset="0"/>
            </a:endParaRPr>
          </a:p>
          <a:p>
            <a:pPr lvl="1"/>
            <a:r>
              <a:rPr lang="zh-CN" altLang="en-US" dirty="0">
                <a:sym typeface="Huawei Sans" panose="020C0503030203020204" pitchFamily="34" charset="0"/>
              </a:rPr>
              <a:t>描述</a:t>
            </a:r>
            <a:r>
              <a:rPr lang="en-US" altLang="zh-CN" dirty="0">
                <a:sym typeface="Huawei Sans" panose="020C0503030203020204" pitchFamily="34" charset="0"/>
              </a:rPr>
              <a:t>VXLAN</a:t>
            </a:r>
            <a:r>
              <a:rPr lang="zh-CN" altLang="en-US" dirty="0">
                <a:sym typeface="Huawei Sans" panose="020C0503030203020204" pitchFamily="34" charset="0"/>
              </a:rPr>
              <a:t>的基本工作原理</a:t>
            </a:r>
            <a:endParaRPr lang="en-US" altLang="zh-CN" dirty="0">
              <a:sym typeface="Huawei Sans" panose="020C0503030203020204" pitchFamily="34" charset="0"/>
            </a:endParaRPr>
          </a:p>
          <a:p>
            <a:pPr lvl="1"/>
            <a:r>
              <a:rPr lang="zh-CN" altLang="en-US" dirty="0">
                <a:sym typeface="Huawei Sans" panose="020C0503030203020204" pitchFamily="34" charset="0"/>
              </a:rPr>
              <a:t>描述</a:t>
            </a:r>
            <a:r>
              <a:rPr lang="en-US" altLang="zh-CN" dirty="0">
                <a:sym typeface="Huawei Sans" panose="020C0503030203020204" pitchFamily="34" charset="0"/>
              </a:rPr>
              <a:t>VXLAN</a:t>
            </a:r>
            <a:r>
              <a:rPr lang="zh-CN" altLang="en-US" dirty="0">
                <a:sym typeface="Huawei Sans" panose="020C0503030203020204" pitchFamily="34" charset="0"/>
              </a:rPr>
              <a:t>在园区网络虚拟化中的应用</a:t>
            </a:r>
            <a:endParaRPr lang="en-US" altLang="zh-CN" dirty="0">
              <a:sym typeface="Huawei Sans" panose="020C0503030203020204" pitchFamily="34" charset="0"/>
            </a:endParaRPr>
          </a:p>
          <a:p>
            <a:pPr lvl="1"/>
            <a:r>
              <a:rPr lang="zh-CN" altLang="en-US" dirty="0">
                <a:sym typeface="Huawei Sans" panose="020C0503030203020204" pitchFamily="34" charset="0"/>
              </a:rPr>
              <a:t>描述</a:t>
            </a:r>
            <a:r>
              <a:rPr lang="en-US" altLang="zh-CN" dirty="0">
                <a:sym typeface="Huawei Sans" panose="020C0503030203020204" pitchFamily="34" charset="0"/>
              </a:rPr>
              <a:t>BGP EVPN</a:t>
            </a:r>
            <a:r>
              <a:rPr lang="zh-CN" altLang="en-US" dirty="0">
                <a:sym typeface="Huawei Sans" panose="020C0503030203020204" pitchFamily="34" charset="0"/>
              </a:rPr>
              <a:t>在园区虚拟化场景中的应用及其与</a:t>
            </a:r>
            <a:r>
              <a:rPr lang="en-US" altLang="zh-CN" dirty="0">
                <a:sym typeface="Huawei Sans" panose="020C0503030203020204" pitchFamily="34" charset="0"/>
              </a:rPr>
              <a:t>VXLAN</a:t>
            </a:r>
            <a:r>
              <a:rPr lang="zh-CN" altLang="en-US" dirty="0">
                <a:sym typeface="Huawei Sans" panose="020C0503030203020204" pitchFamily="34" charset="0"/>
              </a:rPr>
              <a:t>的配合方式</a:t>
            </a:r>
            <a:endParaRPr lang="en-US" altLang="zh-CN" dirty="0">
              <a:sym typeface="Huawei Sans" panose="020C0503030203020204" pitchFamily="34" charset="0"/>
            </a:endParaRPr>
          </a:p>
        </p:txBody>
      </p:sp>
    </p:spTree>
    <p:extLst>
      <p:ext uri="{BB962C8B-B14F-4D97-AF65-F5344CB8AC3E}">
        <p14:creationId xmlns:p14="http://schemas.microsoft.com/office/powerpoint/2010/main" val="2619008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b="1" dirty="0">
                <a:sym typeface="Huawei Sans" panose="020C0503030203020204" pitchFamily="34" charset="0"/>
              </a:rPr>
              <a:t>VXLAN</a:t>
            </a:r>
            <a:r>
              <a:rPr lang="zh-CN" altLang="en-US" b="1" dirty="0">
                <a:sym typeface="Huawei Sans" panose="020C0503030203020204" pitchFamily="34" charset="0"/>
              </a:rPr>
              <a:t>及园区网络虚拟化技术背景</a:t>
            </a:r>
            <a:endParaRPr lang="en-US" altLang="zh-CN" b="1" dirty="0">
              <a:sym typeface="Huawei Sans" panose="020C0503030203020204" pitchFamily="34" charset="0"/>
            </a:endParaRPr>
          </a:p>
          <a:p>
            <a:r>
              <a:rPr lang="en-US" altLang="zh-CN" dirty="0">
                <a:solidFill>
                  <a:schemeClr val="bg1">
                    <a:lumMod val="50000"/>
                  </a:schemeClr>
                </a:solidFill>
                <a:sym typeface="Huawei Sans" panose="020C0503030203020204" pitchFamily="34" charset="0"/>
              </a:rPr>
              <a:t>VXLAN</a:t>
            </a:r>
            <a:r>
              <a:rPr lang="zh-CN" altLang="en-US" dirty="0">
                <a:solidFill>
                  <a:schemeClr val="bg1">
                    <a:lumMod val="50000"/>
                  </a:schemeClr>
                </a:solidFill>
                <a:sym typeface="Huawei Sans" panose="020C0503030203020204" pitchFamily="34" charset="0"/>
              </a:rPr>
              <a:t>的基本概念及工作原理</a:t>
            </a:r>
            <a:endParaRPr lang="en-US" altLang="zh-CN" dirty="0">
              <a:solidFill>
                <a:schemeClr val="bg1">
                  <a:lumMod val="50000"/>
                </a:schemeClr>
              </a:solidFill>
              <a:sym typeface="Huawei Sans" panose="020C0503030203020204" pitchFamily="34" charset="0"/>
            </a:endParaRPr>
          </a:p>
          <a:p>
            <a:r>
              <a:rPr lang="en-US" altLang="zh-CN" dirty="0">
                <a:solidFill>
                  <a:schemeClr val="bg1">
                    <a:lumMod val="50000"/>
                  </a:schemeClr>
                </a:solidFill>
                <a:sym typeface="Huawei Sans" panose="020C0503030203020204" pitchFamily="34" charset="0"/>
              </a:rPr>
              <a:t>BGP EVPN</a:t>
            </a:r>
          </a:p>
          <a:p>
            <a:r>
              <a:rPr lang="zh-CN" altLang="en-US" dirty="0">
                <a:solidFill>
                  <a:schemeClr val="bg1">
                    <a:lumMod val="50000"/>
                  </a:schemeClr>
                </a:solidFill>
                <a:sym typeface="Huawei Sans" panose="020C0503030203020204" pitchFamily="34" charset="0"/>
              </a:rPr>
              <a:t>园区网络虚拟化</a:t>
            </a:r>
          </a:p>
        </p:txBody>
      </p:sp>
    </p:spTree>
    <p:extLst>
      <p:ext uri="{BB962C8B-B14F-4D97-AF65-F5344CB8AC3E}">
        <p14:creationId xmlns:p14="http://schemas.microsoft.com/office/powerpoint/2010/main" val="329271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a:sym typeface="Huawei Sans" panose="020C0503030203020204" pitchFamily="34" charset="0"/>
              </a:rPr>
              <a:t>技术背景：虚拟化被企业广泛部署</a:t>
            </a:r>
          </a:p>
        </p:txBody>
      </p:sp>
      <p:sp>
        <p:nvSpPr>
          <p:cNvPr id="8" name="文本占位符 7"/>
          <p:cNvSpPr>
            <a:spLocks noGrp="1"/>
          </p:cNvSpPr>
          <p:nvPr>
            <p:ph type="body" sz="quarter" idx="10"/>
          </p:nvPr>
        </p:nvSpPr>
        <p:spPr bwMode="gray">
          <a:xfrm>
            <a:off x="455613" y="1047750"/>
            <a:ext cx="11256962" cy="1407699"/>
          </a:xfrm>
        </p:spPr>
        <p:txBody>
          <a:bodyPr/>
          <a:lstStyle/>
          <a:p>
            <a:r>
              <a:rPr lang="zh-CN" altLang="en-US" sz="1800" dirty="0">
                <a:sym typeface="Huawei Sans" panose="020C0503030203020204" pitchFamily="34" charset="0"/>
              </a:rPr>
              <a:t>虚拟化技术具有降低</a:t>
            </a:r>
            <a:r>
              <a:rPr lang="en-US" altLang="zh-CN" sz="1800" dirty="0">
                <a:sym typeface="Huawei Sans" panose="020C0503030203020204" pitchFamily="34" charset="0"/>
              </a:rPr>
              <a:t>IT</a:t>
            </a:r>
            <a:r>
              <a:rPr lang="zh-CN" altLang="en-US" sz="1800" dirty="0">
                <a:sym typeface="Huawei Sans" panose="020C0503030203020204" pitchFamily="34" charset="0"/>
              </a:rPr>
              <a:t>成本、提高业务部署灵活性和降低运维成本等优势。越来越多的企业选择在数据中心或园区</a:t>
            </a:r>
            <a:r>
              <a:rPr lang="en-US" altLang="zh-CN" sz="1800" dirty="0">
                <a:sym typeface="Huawei Sans" panose="020C0503030203020204" pitchFamily="34" charset="0"/>
              </a:rPr>
              <a:t>IT</a:t>
            </a:r>
            <a:r>
              <a:rPr lang="zh-CN" altLang="en-US" sz="1800" dirty="0">
                <a:sym typeface="Huawei Sans" panose="020C0503030203020204" pitchFamily="34" charset="0"/>
              </a:rPr>
              <a:t>设施使用云计算或虚拟化技术。</a:t>
            </a:r>
          </a:p>
          <a:p>
            <a:r>
              <a:rPr lang="zh-CN" altLang="en-US" sz="1800" dirty="0">
                <a:sym typeface="Huawei Sans" panose="020C0503030203020204" pitchFamily="34" charset="0"/>
              </a:rPr>
              <a:t>在企业选择虚拟化架构后，业务将以虚拟机方式部署于服务器集群中。</a:t>
            </a:r>
          </a:p>
        </p:txBody>
      </p:sp>
      <p:sp>
        <p:nvSpPr>
          <p:cNvPr id="220" name="矩形 219">
            <a:extLst>
              <a:ext uri="{FF2B5EF4-FFF2-40B4-BE49-F238E27FC236}">
                <a16:creationId xmlns:a16="http://schemas.microsoft.com/office/drawing/2014/main" id="{C546ACDD-C8F7-4C8F-B3DF-4034C17F99E1}"/>
              </a:ext>
            </a:extLst>
          </p:cNvPr>
          <p:cNvSpPr/>
          <p:nvPr/>
        </p:nvSpPr>
        <p:spPr bwMode="gray">
          <a:xfrm>
            <a:off x="1714615" y="4928634"/>
            <a:ext cx="3859523" cy="482600"/>
          </a:xfrm>
          <a:prstGeom prst="rect">
            <a:avLst/>
          </a:prstGeom>
          <a:solidFill>
            <a:srgbClr val="56C4D2"/>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Server</a:t>
            </a:r>
            <a:endParaRPr lang="zh-CN" altLang="en-US"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2" name="矩形 221">
            <a:extLst>
              <a:ext uri="{FF2B5EF4-FFF2-40B4-BE49-F238E27FC236}">
                <a16:creationId xmlns:a16="http://schemas.microsoft.com/office/drawing/2014/main" id="{227FC444-41F1-4237-B48E-8817D9CC209C}"/>
              </a:ext>
            </a:extLst>
          </p:cNvPr>
          <p:cNvSpPr/>
          <p:nvPr/>
        </p:nvSpPr>
        <p:spPr bwMode="gray">
          <a:xfrm>
            <a:off x="1714615" y="4446034"/>
            <a:ext cx="3859523" cy="4826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Hypervisor</a:t>
            </a:r>
            <a:endParaRPr lang="zh-CN" altLang="en-US" dirty="0">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3" name="矩形 292">
            <a:extLst>
              <a:ext uri="{FF2B5EF4-FFF2-40B4-BE49-F238E27FC236}">
                <a16:creationId xmlns:a16="http://schemas.microsoft.com/office/drawing/2014/main" id="{95F2D896-D835-49AC-A6BE-5245E2D77F71}"/>
              </a:ext>
            </a:extLst>
          </p:cNvPr>
          <p:cNvSpPr/>
          <p:nvPr/>
        </p:nvSpPr>
        <p:spPr bwMode="gray">
          <a:xfrm>
            <a:off x="1714615" y="3925334"/>
            <a:ext cx="1254880" cy="482600"/>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Guest OS</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5" name="矩形 304">
            <a:extLst>
              <a:ext uri="{FF2B5EF4-FFF2-40B4-BE49-F238E27FC236}">
                <a16:creationId xmlns:a16="http://schemas.microsoft.com/office/drawing/2014/main" id="{193ADFA4-7DCD-41CF-95B5-3BAD0FA2410A}"/>
              </a:ext>
            </a:extLst>
          </p:cNvPr>
          <p:cNvSpPr/>
          <p:nvPr/>
        </p:nvSpPr>
        <p:spPr bwMode="gray">
          <a:xfrm>
            <a:off x="3016937" y="3925334"/>
            <a:ext cx="1254880" cy="482600"/>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Guest OS</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6" name="矩形 305">
            <a:extLst>
              <a:ext uri="{FF2B5EF4-FFF2-40B4-BE49-F238E27FC236}">
                <a16:creationId xmlns:a16="http://schemas.microsoft.com/office/drawing/2014/main" id="{B18C1256-E74F-40A5-9F51-56A12120FEC7}"/>
              </a:ext>
            </a:extLst>
          </p:cNvPr>
          <p:cNvSpPr/>
          <p:nvPr/>
        </p:nvSpPr>
        <p:spPr bwMode="gray">
          <a:xfrm>
            <a:off x="4319258" y="3925334"/>
            <a:ext cx="1254880" cy="482600"/>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Guest OS</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5" name="矩形 314">
            <a:extLst>
              <a:ext uri="{FF2B5EF4-FFF2-40B4-BE49-F238E27FC236}">
                <a16:creationId xmlns:a16="http://schemas.microsoft.com/office/drawing/2014/main" id="{E977C68D-DE9B-46B9-B357-0D8B4BE542F0}"/>
              </a:ext>
            </a:extLst>
          </p:cNvPr>
          <p:cNvSpPr/>
          <p:nvPr/>
        </p:nvSpPr>
        <p:spPr bwMode="gray">
          <a:xfrm>
            <a:off x="1714615" y="3391934"/>
            <a:ext cx="1254880" cy="482600"/>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Web 1</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6" name="矩形 315">
            <a:extLst>
              <a:ext uri="{FF2B5EF4-FFF2-40B4-BE49-F238E27FC236}">
                <a16:creationId xmlns:a16="http://schemas.microsoft.com/office/drawing/2014/main" id="{B39C32B2-643B-4CE9-ACEF-2DB60D76F1DE}"/>
              </a:ext>
            </a:extLst>
          </p:cNvPr>
          <p:cNvSpPr/>
          <p:nvPr/>
        </p:nvSpPr>
        <p:spPr bwMode="gray">
          <a:xfrm>
            <a:off x="3016937" y="3391934"/>
            <a:ext cx="1254880" cy="482600"/>
          </a:xfrm>
          <a:prstGeom prst="rect">
            <a:avLst/>
          </a:prstGeom>
          <a:solidFill>
            <a:srgbClr val="94DAE2"/>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DB </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7" name="矩形 316">
            <a:extLst>
              <a:ext uri="{FF2B5EF4-FFF2-40B4-BE49-F238E27FC236}">
                <a16:creationId xmlns:a16="http://schemas.microsoft.com/office/drawing/2014/main" id="{E9A94B12-D4CC-47A1-BF0B-D7EB62C0375F}"/>
              </a:ext>
            </a:extLst>
          </p:cNvPr>
          <p:cNvSpPr/>
          <p:nvPr/>
        </p:nvSpPr>
        <p:spPr bwMode="gray">
          <a:xfrm>
            <a:off x="4319258" y="3391934"/>
            <a:ext cx="1254880" cy="482600"/>
          </a:xfrm>
          <a:prstGeom prst="rect">
            <a:avLst/>
          </a:prstGeom>
          <a:solidFill>
            <a:srgbClr val="94DAE2"/>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APP</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文本框 3">
            <a:extLst>
              <a:ext uri="{FF2B5EF4-FFF2-40B4-BE49-F238E27FC236}">
                <a16:creationId xmlns:a16="http://schemas.microsoft.com/office/drawing/2014/main" id="{B8D3B0B6-A792-4F27-94E3-D3F34BA87DF9}"/>
              </a:ext>
            </a:extLst>
          </p:cNvPr>
          <p:cNvSpPr txBox="1"/>
          <p:nvPr/>
        </p:nvSpPr>
        <p:spPr bwMode="gray">
          <a:xfrm>
            <a:off x="1910568" y="2955675"/>
            <a:ext cx="3467616" cy="338554"/>
          </a:xfrm>
          <a:prstGeom prst="rect">
            <a:avLst/>
          </a:prstGeom>
          <a:noFill/>
        </p:spPr>
        <p:txBody>
          <a:bodyPr wrap="none" rtlCol="0">
            <a:spAutoFit/>
          </a:bodyPr>
          <a:lstStyle/>
          <a:p>
            <a:r>
              <a:rPr lang="zh-CN" altLang="en-US"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业务以虚拟机形式部署于服务器集群</a:t>
            </a:r>
          </a:p>
        </p:txBody>
      </p:sp>
      <p:sp>
        <p:nvSpPr>
          <p:cNvPr id="326" name="矩形 325">
            <a:extLst>
              <a:ext uri="{FF2B5EF4-FFF2-40B4-BE49-F238E27FC236}">
                <a16:creationId xmlns:a16="http://schemas.microsoft.com/office/drawing/2014/main" id="{18504FA1-83FD-45B0-A7D0-351688082DAB}"/>
              </a:ext>
            </a:extLst>
          </p:cNvPr>
          <p:cNvSpPr/>
          <p:nvPr/>
        </p:nvSpPr>
        <p:spPr bwMode="gray">
          <a:xfrm>
            <a:off x="6564721" y="4928634"/>
            <a:ext cx="3859523" cy="482600"/>
          </a:xfrm>
          <a:prstGeom prst="rect">
            <a:avLst/>
          </a:prstGeom>
          <a:solidFill>
            <a:srgbClr val="56C4D2"/>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Server</a:t>
            </a:r>
            <a:endParaRPr lang="zh-CN" altLang="en-US"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7" name="矩形 326">
            <a:extLst>
              <a:ext uri="{FF2B5EF4-FFF2-40B4-BE49-F238E27FC236}">
                <a16:creationId xmlns:a16="http://schemas.microsoft.com/office/drawing/2014/main" id="{23E95972-6DF1-487E-9666-D2F865110DBA}"/>
              </a:ext>
            </a:extLst>
          </p:cNvPr>
          <p:cNvSpPr/>
          <p:nvPr/>
        </p:nvSpPr>
        <p:spPr bwMode="gray">
          <a:xfrm>
            <a:off x="6564721" y="4446034"/>
            <a:ext cx="3859523" cy="4826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Hypervisor</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8" name="矩形 327">
            <a:extLst>
              <a:ext uri="{FF2B5EF4-FFF2-40B4-BE49-F238E27FC236}">
                <a16:creationId xmlns:a16="http://schemas.microsoft.com/office/drawing/2014/main" id="{F324F122-1654-4922-982D-4A4F35843CCE}"/>
              </a:ext>
            </a:extLst>
          </p:cNvPr>
          <p:cNvSpPr/>
          <p:nvPr/>
        </p:nvSpPr>
        <p:spPr bwMode="gray">
          <a:xfrm>
            <a:off x="6564721" y="3925334"/>
            <a:ext cx="1254880" cy="482600"/>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Guest OS</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9" name="矩形 328">
            <a:extLst>
              <a:ext uri="{FF2B5EF4-FFF2-40B4-BE49-F238E27FC236}">
                <a16:creationId xmlns:a16="http://schemas.microsoft.com/office/drawing/2014/main" id="{F6BEF4C2-08C8-42AB-A762-0784ADED0DA6}"/>
              </a:ext>
            </a:extLst>
          </p:cNvPr>
          <p:cNvSpPr/>
          <p:nvPr/>
        </p:nvSpPr>
        <p:spPr bwMode="gray">
          <a:xfrm>
            <a:off x="7867043" y="3925334"/>
            <a:ext cx="1254880" cy="482600"/>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Guest OS</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0" name="矩形 329">
            <a:extLst>
              <a:ext uri="{FF2B5EF4-FFF2-40B4-BE49-F238E27FC236}">
                <a16:creationId xmlns:a16="http://schemas.microsoft.com/office/drawing/2014/main" id="{0B3D285A-7E45-46E0-BBC7-57242BE6DF68}"/>
              </a:ext>
            </a:extLst>
          </p:cNvPr>
          <p:cNvSpPr/>
          <p:nvPr/>
        </p:nvSpPr>
        <p:spPr bwMode="gray">
          <a:xfrm>
            <a:off x="9169364" y="3925334"/>
            <a:ext cx="1254880" cy="482600"/>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Guest OS</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1" name="矩形 330">
            <a:extLst>
              <a:ext uri="{FF2B5EF4-FFF2-40B4-BE49-F238E27FC236}">
                <a16:creationId xmlns:a16="http://schemas.microsoft.com/office/drawing/2014/main" id="{0AE44C3B-2490-4330-A643-C66CFC25CFC8}"/>
              </a:ext>
            </a:extLst>
          </p:cNvPr>
          <p:cNvSpPr/>
          <p:nvPr/>
        </p:nvSpPr>
        <p:spPr bwMode="gray">
          <a:xfrm>
            <a:off x="6564721" y="3391934"/>
            <a:ext cx="1254880" cy="482600"/>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Web 2</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2" name="矩形 331">
            <a:extLst>
              <a:ext uri="{FF2B5EF4-FFF2-40B4-BE49-F238E27FC236}">
                <a16:creationId xmlns:a16="http://schemas.microsoft.com/office/drawing/2014/main" id="{AF747B5F-E181-459C-9DD5-74E53A5811D6}"/>
              </a:ext>
            </a:extLst>
          </p:cNvPr>
          <p:cNvSpPr/>
          <p:nvPr/>
        </p:nvSpPr>
        <p:spPr bwMode="gray">
          <a:xfrm>
            <a:off x="7867043" y="3391934"/>
            <a:ext cx="1254880" cy="482600"/>
          </a:xfrm>
          <a:prstGeom prst="rect">
            <a:avLst/>
          </a:prstGeom>
          <a:solidFill>
            <a:srgbClr val="94DAE2"/>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DB</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3" name="矩形 332">
            <a:extLst>
              <a:ext uri="{FF2B5EF4-FFF2-40B4-BE49-F238E27FC236}">
                <a16:creationId xmlns:a16="http://schemas.microsoft.com/office/drawing/2014/main" id="{DB4D7FAA-ADAB-4121-9B02-AD0ADC41B297}"/>
              </a:ext>
            </a:extLst>
          </p:cNvPr>
          <p:cNvSpPr/>
          <p:nvPr/>
        </p:nvSpPr>
        <p:spPr bwMode="gray">
          <a:xfrm>
            <a:off x="9169364" y="3391934"/>
            <a:ext cx="1254880" cy="482600"/>
          </a:xfrm>
          <a:prstGeom prst="rect">
            <a:avLst/>
          </a:prstGeom>
          <a:solidFill>
            <a:srgbClr val="94DAE2"/>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APP</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任意多边形: 形状 36">
            <a:extLst>
              <a:ext uri="{FF2B5EF4-FFF2-40B4-BE49-F238E27FC236}">
                <a16:creationId xmlns:a16="http://schemas.microsoft.com/office/drawing/2014/main" id="{27A0B7A6-E197-4EF3-9B45-7C5D8EBEDB08}"/>
              </a:ext>
            </a:extLst>
          </p:cNvPr>
          <p:cNvSpPr/>
          <p:nvPr/>
        </p:nvSpPr>
        <p:spPr bwMode="gray">
          <a:xfrm>
            <a:off x="3535680" y="5409498"/>
            <a:ext cx="5090160" cy="350520"/>
          </a:xfrm>
          <a:custGeom>
            <a:avLst/>
            <a:gdLst>
              <a:gd name="connsiteX0" fmla="*/ 0 w 5090160"/>
              <a:gd name="connsiteY0" fmla="*/ 0 h 350520"/>
              <a:gd name="connsiteX1" fmla="*/ 0 w 5090160"/>
              <a:gd name="connsiteY1" fmla="*/ 350520 h 350520"/>
              <a:gd name="connsiteX2" fmla="*/ 5090160 w 5090160"/>
              <a:gd name="connsiteY2" fmla="*/ 350520 h 350520"/>
              <a:gd name="connsiteX3" fmla="*/ 5090160 w 5090160"/>
              <a:gd name="connsiteY3" fmla="*/ 7620 h 350520"/>
            </a:gdLst>
            <a:ahLst/>
            <a:cxnLst>
              <a:cxn ang="0">
                <a:pos x="connsiteX0" y="connsiteY0"/>
              </a:cxn>
              <a:cxn ang="0">
                <a:pos x="connsiteX1" y="connsiteY1"/>
              </a:cxn>
              <a:cxn ang="0">
                <a:pos x="connsiteX2" y="connsiteY2"/>
              </a:cxn>
              <a:cxn ang="0">
                <a:pos x="connsiteX3" y="connsiteY3"/>
              </a:cxn>
            </a:cxnLst>
            <a:rect l="l" t="t" r="r" b="b"/>
            <a:pathLst>
              <a:path w="5090160" h="350520">
                <a:moveTo>
                  <a:pt x="0" y="0"/>
                </a:moveTo>
                <a:lnTo>
                  <a:pt x="0" y="350520"/>
                </a:lnTo>
                <a:lnTo>
                  <a:pt x="5090160" y="350520"/>
                </a:lnTo>
                <a:lnTo>
                  <a:pt x="5090160" y="7620"/>
                </a:lnTo>
              </a:path>
            </a:pathLst>
          </a:custGeom>
          <a:noFill/>
          <a:ln w="19050">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矩形: 圆角 1">
            <a:extLst>
              <a:ext uri="{FF2B5EF4-FFF2-40B4-BE49-F238E27FC236}">
                <a16:creationId xmlns:a16="http://schemas.microsoft.com/office/drawing/2014/main" id="{792BAF81-740F-4FD5-9809-C8043415BCE5}"/>
              </a:ext>
            </a:extLst>
          </p:cNvPr>
          <p:cNvSpPr/>
          <p:nvPr/>
        </p:nvSpPr>
        <p:spPr bwMode="gray">
          <a:xfrm>
            <a:off x="1479549" y="4890534"/>
            <a:ext cx="9232900" cy="578188"/>
          </a:xfrm>
          <a:prstGeom prst="roundRect">
            <a:avLst/>
          </a:prstGeom>
          <a:noFill/>
          <a:ln w="19050">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文本框 4">
            <a:extLst>
              <a:ext uri="{FF2B5EF4-FFF2-40B4-BE49-F238E27FC236}">
                <a16:creationId xmlns:a16="http://schemas.microsoft.com/office/drawing/2014/main" id="{AE06FA84-57D9-452E-A68A-77FE09840D42}"/>
              </a:ext>
            </a:extLst>
          </p:cNvPr>
          <p:cNvSpPr txBox="1"/>
          <p:nvPr/>
        </p:nvSpPr>
        <p:spPr bwMode="gray">
          <a:xfrm>
            <a:off x="5809204" y="5015996"/>
            <a:ext cx="595035" cy="338554"/>
          </a:xfrm>
          <a:prstGeom prst="rect">
            <a:avLst/>
          </a:prstGeom>
          <a:noFill/>
        </p:spPr>
        <p:txBody>
          <a:bodyPr wrap="none" rtlCol="0">
            <a:spAutoFit/>
          </a:bodyPr>
          <a:lstStyle/>
          <a:p>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集群</a:t>
            </a: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文本框 26">
            <a:extLst>
              <a:ext uri="{FF2B5EF4-FFF2-40B4-BE49-F238E27FC236}">
                <a16:creationId xmlns:a16="http://schemas.microsoft.com/office/drawing/2014/main" id="{D9C7D86C-B7DA-4EF6-B970-943F9A55DA29}"/>
              </a:ext>
            </a:extLst>
          </p:cNvPr>
          <p:cNvSpPr txBox="1"/>
          <p:nvPr/>
        </p:nvSpPr>
        <p:spPr bwMode="gray">
          <a:xfrm>
            <a:off x="5556011" y="5840692"/>
            <a:ext cx="1056700" cy="353943"/>
          </a:xfrm>
          <a:prstGeom prst="rect">
            <a:avLst/>
          </a:prstGeom>
          <a:noFill/>
        </p:spPr>
        <p:txBody>
          <a:bodyPr wrap="none" rtlCol="0">
            <a:spAutoFit/>
          </a:bodyPr>
          <a:lstStyle/>
          <a:p>
            <a:r>
              <a:rPr lang="zh-CN" altLang="en-US" sz="1700" dirty="0">
                <a:solidFill>
                  <a:srgbClr val="56C4D2"/>
                </a:solidFill>
                <a:latin typeface="Huawei Sans" panose="020C0503030203020204" pitchFamily="34" charset="0"/>
                <a:ea typeface="方正兰亭黑简体" panose="02000000000000000000" pitchFamily="2" charset="-122"/>
                <a:sym typeface="Huawei Sans" panose="020C0503030203020204" pitchFamily="34" charset="0"/>
              </a:rPr>
              <a:t>物理网络</a:t>
            </a:r>
          </a:p>
        </p:txBody>
      </p:sp>
    </p:spTree>
    <p:extLst>
      <p:ext uri="{BB962C8B-B14F-4D97-AF65-F5344CB8AC3E}">
        <p14:creationId xmlns:p14="http://schemas.microsoft.com/office/powerpoint/2010/main" val="4233756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任意多边形: 形状 24">
            <a:extLst>
              <a:ext uri="{FF2B5EF4-FFF2-40B4-BE49-F238E27FC236}">
                <a16:creationId xmlns:a16="http://schemas.microsoft.com/office/drawing/2014/main" id="{2CC97667-7F3E-4745-83C2-678E58AE306C}"/>
              </a:ext>
            </a:extLst>
          </p:cNvPr>
          <p:cNvSpPr/>
          <p:nvPr/>
        </p:nvSpPr>
        <p:spPr bwMode="gray">
          <a:xfrm>
            <a:off x="2067560" y="2779937"/>
            <a:ext cx="5280660" cy="643454"/>
          </a:xfrm>
          <a:custGeom>
            <a:avLst/>
            <a:gdLst>
              <a:gd name="connsiteX0" fmla="*/ 0 w 5280660"/>
              <a:gd name="connsiteY0" fmla="*/ 632460 h 647700"/>
              <a:gd name="connsiteX1" fmla="*/ 0 w 5280660"/>
              <a:gd name="connsiteY1" fmla="*/ 0 h 647700"/>
              <a:gd name="connsiteX2" fmla="*/ 5280660 w 5280660"/>
              <a:gd name="connsiteY2" fmla="*/ 0 h 647700"/>
              <a:gd name="connsiteX3" fmla="*/ 5280660 w 5280660"/>
              <a:gd name="connsiteY3" fmla="*/ 640080 h 647700"/>
              <a:gd name="connsiteX4" fmla="*/ 4930140 w 5280660"/>
              <a:gd name="connsiteY4" fmla="*/ 640080 h 647700"/>
              <a:gd name="connsiteX5" fmla="*/ 4930140 w 5280660"/>
              <a:gd name="connsiteY5" fmla="*/ 289560 h 647700"/>
              <a:gd name="connsiteX6" fmla="*/ 342900 w 5280660"/>
              <a:gd name="connsiteY6" fmla="*/ 289560 h 647700"/>
              <a:gd name="connsiteX7" fmla="*/ 342900 w 5280660"/>
              <a:gd name="connsiteY7" fmla="*/ 647700 h 647700"/>
              <a:gd name="connsiteX8" fmla="*/ 0 w 5280660"/>
              <a:gd name="connsiteY8" fmla="*/ 632460 h 647700"/>
              <a:gd name="connsiteX0" fmla="*/ 0 w 5280660"/>
              <a:gd name="connsiteY0" fmla="*/ 632460 h 640080"/>
              <a:gd name="connsiteX1" fmla="*/ 0 w 5280660"/>
              <a:gd name="connsiteY1" fmla="*/ 0 h 640080"/>
              <a:gd name="connsiteX2" fmla="*/ 5280660 w 5280660"/>
              <a:gd name="connsiteY2" fmla="*/ 0 h 640080"/>
              <a:gd name="connsiteX3" fmla="*/ 5280660 w 5280660"/>
              <a:gd name="connsiteY3" fmla="*/ 640080 h 640080"/>
              <a:gd name="connsiteX4" fmla="*/ 4930140 w 5280660"/>
              <a:gd name="connsiteY4" fmla="*/ 640080 h 640080"/>
              <a:gd name="connsiteX5" fmla="*/ 4930140 w 5280660"/>
              <a:gd name="connsiteY5" fmla="*/ 289560 h 640080"/>
              <a:gd name="connsiteX6" fmla="*/ 342900 w 5280660"/>
              <a:gd name="connsiteY6" fmla="*/ 289560 h 640080"/>
              <a:gd name="connsiteX7" fmla="*/ 214312 w 5280660"/>
              <a:gd name="connsiteY7" fmla="*/ 638175 h 640080"/>
              <a:gd name="connsiteX8" fmla="*/ 0 w 5280660"/>
              <a:gd name="connsiteY8" fmla="*/ 632460 h 640080"/>
              <a:gd name="connsiteX0" fmla="*/ 0 w 5280660"/>
              <a:gd name="connsiteY0" fmla="*/ 632460 h 640080"/>
              <a:gd name="connsiteX1" fmla="*/ 0 w 5280660"/>
              <a:gd name="connsiteY1" fmla="*/ 0 h 640080"/>
              <a:gd name="connsiteX2" fmla="*/ 5280660 w 5280660"/>
              <a:gd name="connsiteY2" fmla="*/ 0 h 640080"/>
              <a:gd name="connsiteX3" fmla="*/ 5280660 w 5280660"/>
              <a:gd name="connsiteY3" fmla="*/ 640080 h 640080"/>
              <a:gd name="connsiteX4" fmla="*/ 4930140 w 5280660"/>
              <a:gd name="connsiteY4" fmla="*/ 640080 h 640080"/>
              <a:gd name="connsiteX5" fmla="*/ 4930140 w 5280660"/>
              <a:gd name="connsiteY5" fmla="*/ 289560 h 640080"/>
              <a:gd name="connsiteX6" fmla="*/ 214312 w 5280660"/>
              <a:gd name="connsiteY6" fmla="*/ 284798 h 640080"/>
              <a:gd name="connsiteX7" fmla="*/ 214312 w 5280660"/>
              <a:gd name="connsiteY7" fmla="*/ 638175 h 640080"/>
              <a:gd name="connsiteX8" fmla="*/ 0 w 5280660"/>
              <a:gd name="connsiteY8" fmla="*/ 632460 h 640080"/>
              <a:gd name="connsiteX0" fmla="*/ 0 w 5280660"/>
              <a:gd name="connsiteY0" fmla="*/ 632460 h 640080"/>
              <a:gd name="connsiteX1" fmla="*/ 0 w 5280660"/>
              <a:gd name="connsiteY1" fmla="*/ 0 h 640080"/>
              <a:gd name="connsiteX2" fmla="*/ 5280660 w 5280660"/>
              <a:gd name="connsiteY2" fmla="*/ 0 h 640080"/>
              <a:gd name="connsiteX3" fmla="*/ 5280660 w 5280660"/>
              <a:gd name="connsiteY3" fmla="*/ 640080 h 640080"/>
              <a:gd name="connsiteX4" fmla="*/ 4930140 w 5280660"/>
              <a:gd name="connsiteY4" fmla="*/ 640080 h 640080"/>
              <a:gd name="connsiteX5" fmla="*/ 4930140 w 5280660"/>
              <a:gd name="connsiteY5" fmla="*/ 289560 h 640080"/>
              <a:gd name="connsiteX6" fmla="*/ 214312 w 5280660"/>
              <a:gd name="connsiteY6" fmla="*/ 284798 h 640080"/>
              <a:gd name="connsiteX7" fmla="*/ 214312 w 5280660"/>
              <a:gd name="connsiteY7" fmla="*/ 631825 h 640080"/>
              <a:gd name="connsiteX8" fmla="*/ 0 w 5280660"/>
              <a:gd name="connsiteY8" fmla="*/ 632460 h 640080"/>
              <a:gd name="connsiteX0" fmla="*/ 0 w 5280660"/>
              <a:gd name="connsiteY0" fmla="*/ 632460 h 640080"/>
              <a:gd name="connsiteX1" fmla="*/ 0 w 5280660"/>
              <a:gd name="connsiteY1" fmla="*/ 0 h 640080"/>
              <a:gd name="connsiteX2" fmla="*/ 5280660 w 5280660"/>
              <a:gd name="connsiteY2" fmla="*/ 0 h 640080"/>
              <a:gd name="connsiteX3" fmla="*/ 5280660 w 5280660"/>
              <a:gd name="connsiteY3" fmla="*/ 640080 h 640080"/>
              <a:gd name="connsiteX4" fmla="*/ 4930140 w 5280660"/>
              <a:gd name="connsiteY4" fmla="*/ 640080 h 640080"/>
              <a:gd name="connsiteX5" fmla="*/ 4930140 w 5280660"/>
              <a:gd name="connsiteY5" fmla="*/ 289560 h 640080"/>
              <a:gd name="connsiteX6" fmla="*/ 214312 w 5280660"/>
              <a:gd name="connsiteY6" fmla="*/ 291148 h 640080"/>
              <a:gd name="connsiteX7" fmla="*/ 214312 w 5280660"/>
              <a:gd name="connsiteY7" fmla="*/ 631825 h 640080"/>
              <a:gd name="connsiteX8" fmla="*/ 0 w 5280660"/>
              <a:gd name="connsiteY8" fmla="*/ 632460 h 640080"/>
              <a:gd name="connsiteX0" fmla="*/ 0 w 5280660"/>
              <a:gd name="connsiteY0" fmla="*/ 632460 h 640080"/>
              <a:gd name="connsiteX1" fmla="*/ 0 w 5280660"/>
              <a:gd name="connsiteY1" fmla="*/ 0 h 640080"/>
              <a:gd name="connsiteX2" fmla="*/ 5280660 w 5280660"/>
              <a:gd name="connsiteY2" fmla="*/ 0 h 640080"/>
              <a:gd name="connsiteX3" fmla="*/ 5280660 w 5280660"/>
              <a:gd name="connsiteY3" fmla="*/ 640080 h 640080"/>
              <a:gd name="connsiteX4" fmla="*/ 5076190 w 5280660"/>
              <a:gd name="connsiteY4" fmla="*/ 640080 h 640080"/>
              <a:gd name="connsiteX5" fmla="*/ 4930140 w 5280660"/>
              <a:gd name="connsiteY5" fmla="*/ 289560 h 640080"/>
              <a:gd name="connsiteX6" fmla="*/ 214312 w 5280660"/>
              <a:gd name="connsiteY6" fmla="*/ 291148 h 640080"/>
              <a:gd name="connsiteX7" fmla="*/ 214312 w 5280660"/>
              <a:gd name="connsiteY7" fmla="*/ 631825 h 640080"/>
              <a:gd name="connsiteX8" fmla="*/ 0 w 5280660"/>
              <a:gd name="connsiteY8" fmla="*/ 632460 h 640080"/>
              <a:gd name="connsiteX0" fmla="*/ 0 w 5280660"/>
              <a:gd name="connsiteY0" fmla="*/ 632460 h 640080"/>
              <a:gd name="connsiteX1" fmla="*/ 0 w 5280660"/>
              <a:gd name="connsiteY1" fmla="*/ 0 h 640080"/>
              <a:gd name="connsiteX2" fmla="*/ 5280660 w 5280660"/>
              <a:gd name="connsiteY2" fmla="*/ 0 h 640080"/>
              <a:gd name="connsiteX3" fmla="*/ 5280660 w 5280660"/>
              <a:gd name="connsiteY3" fmla="*/ 640080 h 640080"/>
              <a:gd name="connsiteX4" fmla="*/ 5076190 w 5280660"/>
              <a:gd name="connsiteY4" fmla="*/ 640080 h 640080"/>
              <a:gd name="connsiteX5" fmla="*/ 4930140 w 5280660"/>
              <a:gd name="connsiteY5" fmla="*/ 289560 h 640080"/>
              <a:gd name="connsiteX6" fmla="*/ 214312 w 5280660"/>
              <a:gd name="connsiteY6" fmla="*/ 291148 h 640080"/>
              <a:gd name="connsiteX7" fmla="*/ 214312 w 5280660"/>
              <a:gd name="connsiteY7" fmla="*/ 631825 h 640080"/>
              <a:gd name="connsiteX8" fmla="*/ 0 w 5280660"/>
              <a:gd name="connsiteY8" fmla="*/ 632460 h 640080"/>
              <a:gd name="connsiteX0" fmla="*/ 0 w 5280660"/>
              <a:gd name="connsiteY0" fmla="*/ 632460 h 665338"/>
              <a:gd name="connsiteX1" fmla="*/ 0 w 5280660"/>
              <a:gd name="connsiteY1" fmla="*/ 0 h 665338"/>
              <a:gd name="connsiteX2" fmla="*/ 5280660 w 5280660"/>
              <a:gd name="connsiteY2" fmla="*/ 0 h 665338"/>
              <a:gd name="connsiteX3" fmla="*/ 5280660 w 5280660"/>
              <a:gd name="connsiteY3" fmla="*/ 640080 h 665338"/>
              <a:gd name="connsiteX4" fmla="*/ 5076190 w 5280660"/>
              <a:gd name="connsiteY4" fmla="*/ 640080 h 665338"/>
              <a:gd name="connsiteX5" fmla="*/ 5073015 w 5280660"/>
              <a:gd name="connsiteY5" fmla="*/ 299085 h 665338"/>
              <a:gd name="connsiteX6" fmla="*/ 214312 w 5280660"/>
              <a:gd name="connsiteY6" fmla="*/ 291148 h 665338"/>
              <a:gd name="connsiteX7" fmla="*/ 214312 w 5280660"/>
              <a:gd name="connsiteY7" fmla="*/ 631825 h 665338"/>
              <a:gd name="connsiteX8" fmla="*/ 0 w 5280660"/>
              <a:gd name="connsiteY8" fmla="*/ 632460 h 665338"/>
              <a:gd name="connsiteX0" fmla="*/ 0 w 5280660"/>
              <a:gd name="connsiteY0" fmla="*/ 632460 h 640080"/>
              <a:gd name="connsiteX1" fmla="*/ 0 w 5280660"/>
              <a:gd name="connsiteY1" fmla="*/ 0 h 640080"/>
              <a:gd name="connsiteX2" fmla="*/ 5280660 w 5280660"/>
              <a:gd name="connsiteY2" fmla="*/ 0 h 640080"/>
              <a:gd name="connsiteX3" fmla="*/ 5280660 w 5280660"/>
              <a:gd name="connsiteY3" fmla="*/ 640080 h 640080"/>
              <a:gd name="connsiteX4" fmla="*/ 5076190 w 5280660"/>
              <a:gd name="connsiteY4" fmla="*/ 640080 h 640080"/>
              <a:gd name="connsiteX5" fmla="*/ 5073015 w 5280660"/>
              <a:gd name="connsiteY5" fmla="*/ 299085 h 640080"/>
              <a:gd name="connsiteX6" fmla="*/ 214312 w 5280660"/>
              <a:gd name="connsiteY6" fmla="*/ 291148 h 640080"/>
              <a:gd name="connsiteX7" fmla="*/ 214312 w 5280660"/>
              <a:gd name="connsiteY7" fmla="*/ 631825 h 640080"/>
              <a:gd name="connsiteX8" fmla="*/ 0 w 5280660"/>
              <a:gd name="connsiteY8" fmla="*/ 632460 h 640080"/>
              <a:gd name="connsiteX0" fmla="*/ 0 w 5280660"/>
              <a:gd name="connsiteY0" fmla="*/ 632460 h 641491"/>
              <a:gd name="connsiteX1" fmla="*/ 0 w 5280660"/>
              <a:gd name="connsiteY1" fmla="*/ 0 h 641491"/>
              <a:gd name="connsiteX2" fmla="*/ 5280660 w 5280660"/>
              <a:gd name="connsiteY2" fmla="*/ 0 h 641491"/>
              <a:gd name="connsiteX3" fmla="*/ 5280660 w 5280660"/>
              <a:gd name="connsiteY3" fmla="*/ 640080 h 641491"/>
              <a:gd name="connsiteX4" fmla="*/ 5076190 w 5280660"/>
              <a:gd name="connsiteY4" fmla="*/ 640080 h 641491"/>
              <a:gd name="connsiteX5" fmla="*/ 5073015 w 5280660"/>
              <a:gd name="connsiteY5" fmla="*/ 299085 h 641491"/>
              <a:gd name="connsiteX6" fmla="*/ 214312 w 5280660"/>
              <a:gd name="connsiteY6" fmla="*/ 291148 h 641491"/>
              <a:gd name="connsiteX7" fmla="*/ 214312 w 5280660"/>
              <a:gd name="connsiteY7" fmla="*/ 631825 h 641491"/>
              <a:gd name="connsiteX8" fmla="*/ 0 w 5280660"/>
              <a:gd name="connsiteY8" fmla="*/ 632460 h 641491"/>
              <a:gd name="connsiteX0" fmla="*/ 0 w 5280660"/>
              <a:gd name="connsiteY0" fmla="*/ 632460 h 641491"/>
              <a:gd name="connsiteX1" fmla="*/ 0 w 5280660"/>
              <a:gd name="connsiteY1" fmla="*/ 0 h 641491"/>
              <a:gd name="connsiteX2" fmla="*/ 5280660 w 5280660"/>
              <a:gd name="connsiteY2" fmla="*/ 0 h 641491"/>
              <a:gd name="connsiteX3" fmla="*/ 5280660 w 5280660"/>
              <a:gd name="connsiteY3" fmla="*/ 640080 h 641491"/>
              <a:gd name="connsiteX4" fmla="*/ 5069840 w 5280660"/>
              <a:gd name="connsiteY4" fmla="*/ 640080 h 641491"/>
              <a:gd name="connsiteX5" fmla="*/ 5073015 w 5280660"/>
              <a:gd name="connsiteY5" fmla="*/ 299085 h 641491"/>
              <a:gd name="connsiteX6" fmla="*/ 214312 w 5280660"/>
              <a:gd name="connsiteY6" fmla="*/ 291148 h 641491"/>
              <a:gd name="connsiteX7" fmla="*/ 214312 w 5280660"/>
              <a:gd name="connsiteY7" fmla="*/ 631825 h 641491"/>
              <a:gd name="connsiteX8" fmla="*/ 0 w 5280660"/>
              <a:gd name="connsiteY8" fmla="*/ 632460 h 641491"/>
              <a:gd name="connsiteX0" fmla="*/ 0 w 5280660"/>
              <a:gd name="connsiteY0" fmla="*/ 632460 h 644144"/>
              <a:gd name="connsiteX1" fmla="*/ 0 w 5280660"/>
              <a:gd name="connsiteY1" fmla="*/ 0 h 644144"/>
              <a:gd name="connsiteX2" fmla="*/ 5280660 w 5280660"/>
              <a:gd name="connsiteY2" fmla="*/ 0 h 644144"/>
              <a:gd name="connsiteX3" fmla="*/ 5280660 w 5280660"/>
              <a:gd name="connsiteY3" fmla="*/ 640080 h 644144"/>
              <a:gd name="connsiteX4" fmla="*/ 5073015 w 5280660"/>
              <a:gd name="connsiteY4" fmla="*/ 643255 h 644144"/>
              <a:gd name="connsiteX5" fmla="*/ 5073015 w 5280660"/>
              <a:gd name="connsiteY5" fmla="*/ 299085 h 644144"/>
              <a:gd name="connsiteX6" fmla="*/ 214312 w 5280660"/>
              <a:gd name="connsiteY6" fmla="*/ 291148 h 644144"/>
              <a:gd name="connsiteX7" fmla="*/ 214312 w 5280660"/>
              <a:gd name="connsiteY7" fmla="*/ 631825 h 644144"/>
              <a:gd name="connsiteX8" fmla="*/ 0 w 5280660"/>
              <a:gd name="connsiteY8" fmla="*/ 632460 h 644144"/>
              <a:gd name="connsiteX0" fmla="*/ 0 w 5280660"/>
              <a:gd name="connsiteY0" fmla="*/ 632460 h 644144"/>
              <a:gd name="connsiteX1" fmla="*/ 0 w 5280660"/>
              <a:gd name="connsiteY1" fmla="*/ 0 h 644144"/>
              <a:gd name="connsiteX2" fmla="*/ 5280660 w 5280660"/>
              <a:gd name="connsiteY2" fmla="*/ 0 h 644144"/>
              <a:gd name="connsiteX3" fmla="*/ 5280660 w 5280660"/>
              <a:gd name="connsiteY3" fmla="*/ 640080 h 644144"/>
              <a:gd name="connsiteX4" fmla="*/ 5015865 w 5280660"/>
              <a:gd name="connsiteY4" fmla="*/ 643255 h 644144"/>
              <a:gd name="connsiteX5" fmla="*/ 5073015 w 5280660"/>
              <a:gd name="connsiteY5" fmla="*/ 299085 h 644144"/>
              <a:gd name="connsiteX6" fmla="*/ 214312 w 5280660"/>
              <a:gd name="connsiteY6" fmla="*/ 291148 h 644144"/>
              <a:gd name="connsiteX7" fmla="*/ 214312 w 5280660"/>
              <a:gd name="connsiteY7" fmla="*/ 631825 h 644144"/>
              <a:gd name="connsiteX8" fmla="*/ 0 w 5280660"/>
              <a:gd name="connsiteY8" fmla="*/ 632460 h 644144"/>
              <a:gd name="connsiteX0" fmla="*/ 0 w 5280660"/>
              <a:gd name="connsiteY0" fmla="*/ 632460 h 644144"/>
              <a:gd name="connsiteX1" fmla="*/ 0 w 5280660"/>
              <a:gd name="connsiteY1" fmla="*/ 0 h 644144"/>
              <a:gd name="connsiteX2" fmla="*/ 5280660 w 5280660"/>
              <a:gd name="connsiteY2" fmla="*/ 0 h 644144"/>
              <a:gd name="connsiteX3" fmla="*/ 5280660 w 5280660"/>
              <a:gd name="connsiteY3" fmla="*/ 640080 h 644144"/>
              <a:gd name="connsiteX4" fmla="*/ 5039677 w 5280660"/>
              <a:gd name="connsiteY4" fmla="*/ 643255 h 644144"/>
              <a:gd name="connsiteX5" fmla="*/ 5073015 w 5280660"/>
              <a:gd name="connsiteY5" fmla="*/ 299085 h 644144"/>
              <a:gd name="connsiteX6" fmla="*/ 214312 w 5280660"/>
              <a:gd name="connsiteY6" fmla="*/ 291148 h 644144"/>
              <a:gd name="connsiteX7" fmla="*/ 214312 w 5280660"/>
              <a:gd name="connsiteY7" fmla="*/ 631825 h 644144"/>
              <a:gd name="connsiteX8" fmla="*/ 0 w 5280660"/>
              <a:gd name="connsiteY8" fmla="*/ 632460 h 644144"/>
              <a:gd name="connsiteX0" fmla="*/ 0 w 5280660"/>
              <a:gd name="connsiteY0" fmla="*/ 632460 h 667716"/>
              <a:gd name="connsiteX1" fmla="*/ 0 w 5280660"/>
              <a:gd name="connsiteY1" fmla="*/ 0 h 667716"/>
              <a:gd name="connsiteX2" fmla="*/ 5280660 w 5280660"/>
              <a:gd name="connsiteY2" fmla="*/ 0 h 667716"/>
              <a:gd name="connsiteX3" fmla="*/ 5280660 w 5280660"/>
              <a:gd name="connsiteY3" fmla="*/ 640080 h 667716"/>
              <a:gd name="connsiteX4" fmla="*/ 5039677 w 5280660"/>
              <a:gd name="connsiteY4" fmla="*/ 643255 h 667716"/>
              <a:gd name="connsiteX5" fmla="*/ 5044440 w 5280660"/>
              <a:gd name="connsiteY5" fmla="*/ 299085 h 667716"/>
              <a:gd name="connsiteX6" fmla="*/ 214312 w 5280660"/>
              <a:gd name="connsiteY6" fmla="*/ 291148 h 667716"/>
              <a:gd name="connsiteX7" fmla="*/ 214312 w 5280660"/>
              <a:gd name="connsiteY7" fmla="*/ 631825 h 667716"/>
              <a:gd name="connsiteX8" fmla="*/ 0 w 5280660"/>
              <a:gd name="connsiteY8" fmla="*/ 632460 h 667716"/>
              <a:gd name="connsiteX0" fmla="*/ 0 w 5280660"/>
              <a:gd name="connsiteY0" fmla="*/ 632460 h 667716"/>
              <a:gd name="connsiteX1" fmla="*/ 0 w 5280660"/>
              <a:gd name="connsiteY1" fmla="*/ 0 h 667716"/>
              <a:gd name="connsiteX2" fmla="*/ 5280660 w 5280660"/>
              <a:gd name="connsiteY2" fmla="*/ 0 h 667716"/>
              <a:gd name="connsiteX3" fmla="*/ 5280660 w 5280660"/>
              <a:gd name="connsiteY3" fmla="*/ 640080 h 667716"/>
              <a:gd name="connsiteX4" fmla="*/ 5039677 w 5280660"/>
              <a:gd name="connsiteY4" fmla="*/ 643255 h 667716"/>
              <a:gd name="connsiteX5" fmla="*/ 5044440 w 5280660"/>
              <a:gd name="connsiteY5" fmla="*/ 299085 h 667716"/>
              <a:gd name="connsiteX6" fmla="*/ 214312 w 5280660"/>
              <a:gd name="connsiteY6" fmla="*/ 291148 h 667716"/>
              <a:gd name="connsiteX7" fmla="*/ 214312 w 5280660"/>
              <a:gd name="connsiteY7" fmla="*/ 631825 h 667716"/>
              <a:gd name="connsiteX8" fmla="*/ 0 w 5280660"/>
              <a:gd name="connsiteY8" fmla="*/ 632460 h 667716"/>
              <a:gd name="connsiteX0" fmla="*/ 0 w 5280660"/>
              <a:gd name="connsiteY0" fmla="*/ 632460 h 643454"/>
              <a:gd name="connsiteX1" fmla="*/ 0 w 5280660"/>
              <a:gd name="connsiteY1" fmla="*/ 0 h 643454"/>
              <a:gd name="connsiteX2" fmla="*/ 5280660 w 5280660"/>
              <a:gd name="connsiteY2" fmla="*/ 0 h 643454"/>
              <a:gd name="connsiteX3" fmla="*/ 5280660 w 5280660"/>
              <a:gd name="connsiteY3" fmla="*/ 640080 h 643454"/>
              <a:gd name="connsiteX4" fmla="*/ 5039677 w 5280660"/>
              <a:gd name="connsiteY4" fmla="*/ 643255 h 643454"/>
              <a:gd name="connsiteX5" fmla="*/ 5044440 w 5280660"/>
              <a:gd name="connsiteY5" fmla="*/ 299085 h 643454"/>
              <a:gd name="connsiteX6" fmla="*/ 214312 w 5280660"/>
              <a:gd name="connsiteY6" fmla="*/ 291148 h 643454"/>
              <a:gd name="connsiteX7" fmla="*/ 214312 w 5280660"/>
              <a:gd name="connsiteY7" fmla="*/ 631825 h 643454"/>
              <a:gd name="connsiteX8" fmla="*/ 0 w 5280660"/>
              <a:gd name="connsiteY8" fmla="*/ 632460 h 643454"/>
              <a:gd name="connsiteX0" fmla="*/ 0 w 5280660"/>
              <a:gd name="connsiteY0" fmla="*/ 632460 h 643454"/>
              <a:gd name="connsiteX1" fmla="*/ 0 w 5280660"/>
              <a:gd name="connsiteY1" fmla="*/ 0 h 643454"/>
              <a:gd name="connsiteX2" fmla="*/ 5280660 w 5280660"/>
              <a:gd name="connsiteY2" fmla="*/ 0 h 643454"/>
              <a:gd name="connsiteX3" fmla="*/ 5280660 w 5280660"/>
              <a:gd name="connsiteY3" fmla="*/ 640080 h 643454"/>
              <a:gd name="connsiteX4" fmla="*/ 5039677 w 5280660"/>
              <a:gd name="connsiteY4" fmla="*/ 643255 h 643454"/>
              <a:gd name="connsiteX5" fmla="*/ 5044440 w 5280660"/>
              <a:gd name="connsiteY5" fmla="*/ 299085 h 643454"/>
              <a:gd name="connsiteX6" fmla="*/ 214312 w 5280660"/>
              <a:gd name="connsiteY6" fmla="*/ 291148 h 643454"/>
              <a:gd name="connsiteX7" fmla="*/ 260032 w 5280660"/>
              <a:gd name="connsiteY7" fmla="*/ 639445 h 643454"/>
              <a:gd name="connsiteX8" fmla="*/ 0 w 5280660"/>
              <a:gd name="connsiteY8" fmla="*/ 632460 h 643454"/>
              <a:gd name="connsiteX0" fmla="*/ 0 w 5280660"/>
              <a:gd name="connsiteY0" fmla="*/ 632460 h 643454"/>
              <a:gd name="connsiteX1" fmla="*/ 0 w 5280660"/>
              <a:gd name="connsiteY1" fmla="*/ 0 h 643454"/>
              <a:gd name="connsiteX2" fmla="*/ 5280660 w 5280660"/>
              <a:gd name="connsiteY2" fmla="*/ 0 h 643454"/>
              <a:gd name="connsiteX3" fmla="*/ 5280660 w 5280660"/>
              <a:gd name="connsiteY3" fmla="*/ 640080 h 643454"/>
              <a:gd name="connsiteX4" fmla="*/ 5039677 w 5280660"/>
              <a:gd name="connsiteY4" fmla="*/ 643255 h 643454"/>
              <a:gd name="connsiteX5" fmla="*/ 5044440 w 5280660"/>
              <a:gd name="connsiteY5" fmla="*/ 299085 h 643454"/>
              <a:gd name="connsiteX6" fmla="*/ 267652 w 5280660"/>
              <a:gd name="connsiteY6" fmla="*/ 291148 h 643454"/>
              <a:gd name="connsiteX7" fmla="*/ 260032 w 5280660"/>
              <a:gd name="connsiteY7" fmla="*/ 639445 h 643454"/>
              <a:gd name="connsiteX8" fmla="*/ 0 w 5280660"/>
              <a:gd name="connsiteY8" fmla="*/ 632460 h 64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80660" h="643454">
                <a:moveTo>
                  <a:pt x="0" y="632460"/>
                </a:moveTo>
                <a:lnTo>
                  <a:pt x="0" y="0"/>
                </a:lnTo>
                <a:lnTo>
                  <a:pt x="5280660" y="0"/>
                </a:lnTo>
                <a:lnTo>
                  <a:pt x="5280660" y="640080"/>
                </a:lnTo>
                <a:cubicBezTo>
                  <a:pt x="5212503" y="640080"/>
                  <a:pt x="5026659" y="633412"/>
                  <a:pt x="5039677" y="643255"/>
                </a:cubicBezTo>
                <a:cubicBezTo>
                  <a:pt x="5052695" y="653098"/>
                  <a:pt x="5039148" y="295275"/>
                  <a:pt x="5044440" y="299085"/>
                </a:cubicBezTo>
                <a:cubicBezTo>
                  <a:pt x="5039360" y="296439"/>
                  <a:pt x="1877695" y="293794"/>
                  <a:pt x="267652" y="291148"/>
                </a:cubicBezTo>
                <a:lnTo>
                  <a:pt x="260032" y="639445"/>
                </a:lnTo>
                <a:lnTo>
                  <a:pt x="0" y="632460"/>
                </a:lnTo>
                <a:close/>
              </a:path>
            </a:pathLst>
          </a:custGeom>
          <a:solidFill>
            <a:srgbClr val="FBE2DF"/>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标题 2"/>
          <p:cNvSpPr>
            <a:spLocks noGrp="1"/>
          </p:cNvSpPr>
          <p:nvPr>
            <p:ph type="title"/>
          </p:nvPr>
        </p:nvSpPr>
        <p:spPr/>
        <p:txBody>
          <a:bodyPr/>
          <a:lstStyle/>
          <a:p>
            <a:r>
              <a:rPr lang="zh-CN" altLang="en-US">
                <a:sym typeface="Huawei Sans" panose="020C0503030203020204" pitchFamily="34" charset="0"/>
              </a:rPr>
              <a:t>网络的新需求：二层扩展</a:t>
            </a:r>
            <a:endParaRPr lang="zh-CN" altLang="en-US" dirty="0">
              <a:sym typeface="Huawei Sans" panose="020C0503030203020204" pitchFamily="34" charset="0"/>
            </a:endParaRPr>
          </a:p>
        </p:txBody>
      </p:sp>
      <p:sp>
        <p:nvSpPr>
          <p:cNvPr id="7" name="文本占位符 6"/>
          <p:cNvSpPr>
            <a:spLocks noGrp="1"/>
          </p:cNvSpPr>
          <p:nvPr>
            <p:ph type="body" sz="quarter" idx="10"/>
          </p:nvPr>
        </p:nvSpPr>
        <p:spPr>
          <a:xfrm>
            <a:off x="455613" y="1047750"/>
            <a:ext cx="11256962" cy="1440189"/>
          </a:xfrm>
        </p:spPr>
        <p:txBody>
          <a:bodyPr/>
          <a:lstStyle/>
          <a:p>
            <a:r>
              <a:rPr lang="zh-CN" altLang="en-US" sz="1800" dirty="0">
                <a:sym typeface="Huawei Sans" panose="020C0503030203020204" pitchFamily="34" charset="0"/>
              </a:rPr>
              <a:t>虚拟化</a:t>
            </a:r>
            <a:r>
              <a:rPr lang="en-US" altLang="zh-CN" sz="1800" dirty="0">
                <a:sym typeface="Huawei Sans" panose="020C0503030203020204" pitchFamily="34" charset="0"/>
              </a:rPr>
              <a:t>/</a:t>
            </a:r>
            <a:r>
              <a:rPr lang="zh-CN" altLang="en-US" sz="1800" dirty="0">
                <a:sym typeface="Huawei Sans" panose="020C0503030203020204" pitchFamily="34" charset="0"/>
              </a:rPr>
              <a:t>云计算集群内允许虚拟机任意迁移，导致相同业务（相同网段）虚拟机可能运行在不同的服务器，或同一个虚拟机（一个</a:t>
            </a:r>
            <a:r>
              <a:rPr lang="en-US" altLang="zh-CN" sz="1800" dirty="0">
                <a:sym typeface="Huawei Sans" panose="020C0503030203020204" pitchFamily="34" charset="0"/>
              </a:rPr>
              <a:t>IP</a:t>
            </a:r>
            <a:r>
              <a:rPr lang="zh-CN" altLang="en-US" sz="1800" dirty="0">
                <a:sym typeface="Huawei Sans" panose="020C0503030203020204" pitchFamily="34" charset="0"/>
              </a:rPr>
              <a:t>）先后运行在不同的服务器（物理位置）。</a:t>
            </a:r>
          </a:p>
          <a:p>
            <a:r>
              <a:rPr lang="zh-CN" altLang="en-US" sz="1800" dirty="0">
                <a:sym typeface="Huawei Sans" panose="020C0503030203020204" pitchFamily="34" charset="0"/>
              </a:rPr>
              <a:t>物理服务器可能分布在地理位置跨度非常大的机房，因此需要使用三层进行互联。</a:t>
            </a:r>
          </a:p>
        </p:txBody>
      </p:sp>
      <p:sp>
        <p:nvSpPr>
          <p:cNvPr id="220" name="矩形 219">
            <a:extLst>
              <a:ext uri="{FF2B5EF4-FFF2-40B4-BE49-F238E27FC236}">
                <a16:creationId xmlns:a16="http://schemas.microsoft.com/office/drawing/2014/main" id="{C546ACDD-C8F7-4C8F-B3DF-4034C17F99E1}"/>
              </a:ext>
            </a:extLst>
          </p:cNvPr>
          <p:cNvSpPr/>
          <p:nvPr/>
        </p:nvSpPr>
        <p:spPr bwMode="gray">
          <a:xfrm>
            <a:off x="1714615" y="4947488"/>
            <a:ext cx="3859523" cy="482600"/>
          </a:xfrm>
          <a:prstGeom prst="rect">
            <a:avLst/>
          </a:prstGeom>
          <a:solidFill>
            <a:srgbClr val="56C4D2"/>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Server</a:t>
            </a:r>
            <a:endParaRPr lang="zh-CN" altLang="en-US"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2" name="矩形 221">
            <a:extLst>
              <a:ext uri="{FF2B5EF4-FFF2-40B4-BE49-F238E27FC236}">
                <a16:creationId xmlns:a16="http://schemas.microsoft.com/office/drawing/2014/main" id="{227FC444-41F1-4237-B48E-8817D9CC209C}"/>
              </a:ext>
            </a:extLst>
          </p:cNvPr>
          <p:cNvSpPr/>
          <p:nvPr/>
        </p:nvSpPr>
        <p:spPr bwMode="gray">
          <a:xfrm>
            <a:off x="1714615" y="4464888"/>
            <a:ext cx="3859523" cy="4826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Hypervisor</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3" name="矩形 292">
            <a:extLst>
              <a:ext uri="{FF2B5EF4-FFF2-40B4-BE49-F238E27FC236}">
                <a16:creationId xmlns:a16="http://schemas.microsoft.com/office/drawing/2014/main" id="{95F2D896-D835-49AC-A6BE-5245E2D77F71}"/>
              </a:ext>
            </a:extLst>
          </p:cNvPr>
          <p:cNvSpPr/>
          <p:nvPr/>
        </p:nvSpPr>
        <p:spPr bwMode="gray">
          <a:xfrm>
            <a:off x="1714615" y="3944188"/>
            <a:ext cx="1254880" cy="482600"/>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Guest OS</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5" name="矩形 304">
            <a:extLst>
              <a:ext uri="{FF2B5EF4-FFF2-40B4-BE49-F238E27FC236}">
                <a16:creationId xmlns:a16="http://schemas.microsoft.com/office/drawing/2014/main" id="{193ADFA4-7DCD-41CF-95B5-3BAD0FA2410A}"/>
              </a:ext>
            </a:extLst>
          </p:cNvPr>
          <p:cNvSpPr/>
          <p:nvPr/>
        </p:nvSpPr>
        <p:spPr bwMode="gray">
          <a:xfrm>
            <a:off x="3016937" y="3944188"/>
            <a:ext cx="1254880" cy="482600"/>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Guest OS</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6" name="矩形 305">
            <a:extLst>
              <a:ext uri="{FF2B5EF4-FFF2-40B4-BE49-F238E27FC236}">
                <a16:creationId xmlns:a16="http://schemas.microsoft.com/office/drawing/2014/main" id="{B18C1256-E74F-40A5-9F51-56A12120FEC7}"/>
              </a:ext>
            </a:extLst>
          </p:cNvPr>
          <p:cNvSpPr/>
          <p:nvPr/>
        </p:nvSpPr>
        <p:spPr bwMode="gray">
          <a:xfrm>
            <a:off x="4319258" y="3944188"/>
            <a:ext cx="1254880" cy="482600"/>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Guest OS</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5" name="矩形 314">
            <a:extLst>
              <a:ext uri="{FF2B5EF4-FFF2-40B4-BE49-F238E27FC236}">
                <a16:creationId xmlns:a16="http://schemas.microsoft.com/office/drawing/2014/main" id="{E977C68D-DE9B-46B9-B357-0D8B4BE542F0}"/>
              </a:ext>
            </a:extLst>
          </p:cNvPr>
          <p:cNvSpPr/>
          <p:nvPr/>
        </p:nvSpPr>
        <p:spPr bwMode="gray">
          <a:xfrm>
            <a:off x="1714615" y="3410788"/>
            <a:ext cx="1254880" cy="482600"/>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Web 1</a:t>
            </a:r>
            <a:endParaRPr lang="zh-CN" altLang="en-US" dirty="0">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6" name="矩形 315">
            <a:extLst>
              <a:ext uri="{FF2B5EF4-FFF2-40B4-BE49-F238E27FC236}">
                <a16:creationId xmlns:a16="http://schemas.microsoft.com/office/drawing/2014/main" id="{B39C32B2-643B-4CE9-ACEF-2DB60D76F1DE}"/>
              </a:ext>
            </a:extLst>
          </p:cNvPr>
          <p:cNvSpPr/>
          <p:nvPr/>
        </p:nvSpPr>
        <p:spPr bwMode="gray">
          <a:xfrm>
            <a:off x="3016937" y="3410788"/>
            <a:ext cx="1254880" cy="482600"/>
          </a:xfrm>
          <a:prstGeom prst="rect">
            <a:avLst/>
          </a:prstGeom>
          <a:solidFill>
            <a:srgbClr val="94DAE2"/>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DB </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7" name="矩形 316">
            <a:extLst>
              <a:ext uri="{FF2B5EF4-FFF2-40B4-BE49-F238E27FC236}">
                <a16:creationId xmlns:a16="http://schemas.microsoft.com/office/drawing/2014/main" id="{E9A94B12-D4CC-47A1-BF0B-D7EB62C0375F}"/>
              </a:ext>
            </a:extLst>
          </p:cNvPr>
          <p:cNvSpPr/>
          <p:nvPr/>
        </p:nvSpPr>
        <p:spPr bwMode="gray">
          <a:xfrm>
            <a:off x="4319258" y="3410788"/>
            <a:ext cx="1254880" cy="482600"/>
          </a:xfrm>
          <a:prstGeom prst="rect">
            <a:avLst/>
          </a:prstGeom>
          <a:solidFill>
            <a:srgbClr val="94DAE2"/>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APP</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文本框 3">
            <a:extLst>
              <a:ext uri="{FF2B5EF4-FFF2-40B4-BE49-F238E27FC236}">
                <a16:creationId xmlns:a16="http://schemas.microsoft.com/office/drawing/2014/main" id="{B8D3B0B6-A792-4F27-94E3-D3F34BA87DF9}"/>
              </a:ext>
            </a:extLst>
          </p:cNvPr>
          <p:cNvSpPr txBox="1"/>
          <p:nvPr/>
        </p:nvSpPr>
        <p:spPr bwMode="gray">
          <a:xfrm>
            <a:off x="3521078" y="2474607"/>
            <a:ext cx="2646878" cy="338554"/>
          </a:xfrm>
          <a:prstGeom prst="rect">
            <a:avLst/>
          </a:prstGeom>
          <a:noFill/>
        </p:spPr>
        <p:txBody>
          <a:bodyPr wrap="none" rtlCol="0">
            <a:spAutoFit/>
          </a:bodyPr>
          <a:lstStyle/>
          <a:p>
            <a:r>
              <a:rPr lang="zh-CN" altLang="en-US"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二层互通需求横跨三层网络</a:t>
            </a:r>
          </a:p>
        </p:txBody>
      </p:sp>
      <p:sp>
        <p:nvSpPr>
          <p:cNvPr id="326" name="矩形 325">
            <a:extLst>
              <a:ext uri="{FF2B5EF4-FFF2-40B4-BE49-F238E27FC236}">
                <a16:creationId xmlns:a16="http://schemas.microsoft.com/office/drawing/2014/main" id="{18504FA1-83FD-45B0-A7D0-351688082DAB}"/>
              </a:ext>
            </a:extLst>
          </p:cNvPr>
          <p:cNvSpPr/>
          <p:nvPr/>
        </p:nvSpPr>
        <p:spPr bwMode="gray">
          <a:xfrm>
            <a:off x="6564721" y="4947488"/>
            <a:ext cx="3859523" cy="482600"/>
          </a:xfrm>
          <a:prstGeom prst="rect">
            <a:avLst/>
          </a:prstGeom>
          <a:solidFill>
            <a:srgbClr val="56C4D2"/>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Server</a:t>
            </a:r>
            <a:endParaRPr lang="zh-CN" altLang="en-US"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7" name="矩形 326">
            <a:extLst>
              <a:ext uri="{FF2B5EF4-FFF2-40B4-BE49-F238E27FC236}">
                <a16:creationId xmlns:a16="http://schemas.microsoft.com/office/drawing/2014/main" id="{23E95972-6DF1-487E-9666-D2F865110DBA}"/>
              </a:ext>
            </a:extLst>
          </p:cNvPr>
          <p:cNvSpPr/>
          <p:nvPr/>
        </p:nvSpPr>
        <p:spPr bwMode="gray">
          <a:xfrm>
            <a:off x="6564721" y="4464888"/>
            <a:ext cx="3859523" cy="4826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Hypervisor</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8" name="矩形 327">
            <a:extLst>
              <a:ext uri="{FF2B5EF4-FFF2-40B4-BE49-F238E27FC236}">
                <a16:creationId xmlns:a16="http://schemas.microsoft.com/office/drawing/2014/main" id="{F324F122-1654-4922-982D-4A4F35843CCE}"/>
              </a:ext>
            </a:extLst>
          </p:cNvPr>
          <p:cNvSpPr/>
          <p:nvPr/>
        </p:nvSpPr>
        <p:spPr bwMode="gray">
          <a:xfrm>
            <a:off x="6564721" y="3944188"/>
            <a:ext cx="1254880" cy="482600"/>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Guest OS</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9" name="矩形 328">
            <a:extLst>
              <a:ext uri="{FF2B5EF4-FFF2-40B4-BE49-F238E27FC236}">
                <a16:creationId xmlns:a16="http://schemas.microsoft.com/office/drawing/2014/main" id="{F6BEF4C2-08C8-42AB-A762-0784ADED0DA6}"/>
              </a:ext>
            </a:extLst>
          </p:cNvPr>
          <p:cNvSpPr/>
          <p:nvPr/>
        </p:nvSpPr>
        <p:spPr bwMode="gray">
          <a:xfrm>
            <a:off x="7867043" y="3944188"/>
            <a:ext cx="1254880" cy="482600"/>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Guest OS</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0" name="矩形 329">
            <a:extLst>
              <a:ext uri="{FF2B5EF4-FFF2-40B4-BE49-F238E27FC236}">
                <a16:creationId xmlns:a16="http://schemas.microsoft.com/office/drawing/2014/main" id="{0B3D285A-7E45-46E0-BBC7-57242BE6DF68}"/>
              </a:ext>
            </a:extLst>
          </p:cNvPr>
          <p:cNvSpPr/>
          <p:nvPr/>
        </p:nvSpPr>
        <p:spPr bwMode="gray">
          <a:xfrm>
            <a:off x="9169364" y="3944188"/>
            <a:ext cx="1254880" cy="482600"/>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Guest OS</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1" name="矩形 330">
            <a:extLst>
              <a:ext uri="{FF2B5EF4-FFF2-40B4-BE49-F238E27FC236}">
                <a16:creationId xmlns:a16="http://schemas.microsoft.com/office/drawing/2014/main" id="{0AE44C3B-2490-4330-A643-C66CFC25CFC8}"/>
              </a:ext>
            </a:extLst>
          </p:cNvPr>
          <p:cNvSpPr/>
          <p:nvPr/>
        </p:nvSpPr>
        <p:spPr bwMode="gray">
          <a:xfrm>
            <a:off x="6564721" y="3410788"/>
            <a:ext cx="1254880" cy="482600"/>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Web 2</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2" name="矩形 331">
            <a:extLst>
              <a:ext uri="{FF2B5EF4-FFF2-40B4-BE49-F238E27FC236}">
                <a16:creationId xmlns:a16="http://schemas.microsoft.com/office/drawing/2014/main" id="{AF747B5F-E181-459C-9DD5-74E53A5811D6}"/>
              </a:ext>
            </a:extLst>
          </p:cNvPr>
          <p:cNvSpPr/>
          <p:nvPr/>
        </p:nvSpPr>
        <p:spPr bwMode="gray">
          <a:xfrm>
            <a:off x="7867043" y="3410788"/>
            <a:ext cx="1254880" cy="482600"/>
          </a:xfrm>
          <a:prstGeom prst="rect">
            <a:avLst/>
          </a:prstGeom>
          <a:solidFill>
            <a:srgbClr val="94DAE2"/>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DB</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3" name="矩形 332">
            <a:extLst>
              <a:ext uri="{FF2B5EF4-FFF2-40B4-BE49-F238E27FC236}">
                <a16:creationId xmlns:a16="http://schemas.microsoft.com/office/drawing/2014/main" id="{DB4D7FAA-ADAB-4121-9B02-AD0ADC41B297}"/>
              </a:ext>
            </a:extLst>
          </p:cNvPr>
          <p:cNvSpPr/>
          <p:nvPr/>
        </p:nvSpPr>
        <p:spPr bwMode="gray">
          <a:xfrm>
            <a:off x="9169364" y="3410788"/>
            <a:ext cx="1254880" cy="482600"/>
          </a:xfrm>
          <a:prstGeom prst="rect">
            <a:avLst/>
          </a:prstGeom>
          <a:solidFill>
            <a:srgbClr val="94DAE2"/>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APP</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任意多边形: 形状 36">
            <a:extLst>
              <a:ext uri="{FF2B5EF4-FFF2-40B4-BE49-F238E27FC236}">
                <a16:creationId xmlns:a16="http://schemas.microsoft.com/office/drawing/2014/main" id="{27A0B7A6-E197-4EF3-9B45-7C5D8EBEDB08}"/>
              </a:ext>
            </a:extLst>
          </p:cNvPr>
          <p:cNvSpPr/>
          <p:nvPr/>
        </p:nvSpPr>
        <p:spPr bwMode="gray">
          <a:xfrm>
            <a:off x="3535680" y="5428352"/>
            <a:ext cx="5090160" cy="350520"/>
          </a:xfrm>
          <a:custGeom>
            <a:avLst/>
            <a:gdLst>
              <a:gd name="connsiteX0" fmla="*/ 0 w 5090160"/>
              <a:gd name="connsiteY0" fmla="*/ 0 h 350520"/>
              <a:gd name="connsiteX1" fmla="*/ 0 w 5090160"/>
              <a:gd name="connsiteY1" fmla="*/ 350520 h 350520"/>
              <a:gd name="connsiteX2" fmla="*/ 5090160 w 5090160"/>
              <a:gd name="connsiteY2" fmla="*/ 350520 h 350520"/>
              <a:gd name="connsiteX3" fmla="*/ 5090160 w 5090160"/>
              <a:gd name="connsiteY3" fmla="*/ 7620 h 350520"/>
            </a:gdLst>
            <a:ahLst/>
            <a:cxnLst>
              <a:cxn ang="0">
                <a:pos x="connsiteX0" y="connsiteY0"/>
              </a:cxn>
              <a:cxn ang="0">
                <a:pos x="connsiteX1" y="connsiteY1"/>
              </a:cxn>
              <a:cxn ang="0">
                <a:pos x="connsiteX2" y="connsiteY2"/>
              </a:cxn>
              <a:cxn ang="0">
                <a:pos x="connsiteX3" y="connsiteY3"/>
              </a:cxn>
            </a:cxnLst>
            <a:rect l="l" t="t" r="r" b="b"/>
            <a:pathLst>
              <a:path w="5090160" h="350520">
                <a:moveTo>
                  <a:pt x="0" y="0"/>
                </a:moveTo>
                <a:lnTo>
                  <a:pt x="0" y="350520"/>
                </a:lnTo>
                <a:lnTo>
                  <a:pt x="5090160" y="350520"/>
                </a:lnTo>
                <a:lnTo>
                  <a:pt x="5090160" y="7620"/>
                </a:lnTo>
              </a:path>
            </a:pathLst>
          </a:custGeom>
          <a:noFill/>
          <a:ln w="19050">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矩形: 圆角 1">
            <a:extLst>
              <a:ext uri="{FF2B5EF4-FFF2-40B4-BE49-F238E27FC236}">
                <a16:creationId xmlns:a16="http://schemas.microsoft.com/office/drawing/2014/main" id="{792BAF81-740F-4FD5-9809-C8043415BCE5}"/>
              </a:ext>
            </a:extLst>
          </p:cNvPr>
          <p:cNvSpPr/>
          <p:nvPr/>
        </p:nvSpPr>
        <p:spPr bwMode="gray">
          <a:xfrm>
            <a:off x="1479549" y="4909388"/>
            <a:ext cx="9232900" cy="578188"/>
          </a:xfrm>
          <a:prstGeom prst="roundRect">
            <a:avLst/>
          </a:prstGeom>
          <a:noFill/>
          <a:ln w="19050">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文本框 4">
            <a:extLst>
              <a:ext uri="{FF2B5EF4-FFF2-40B4-BE49-F238E27FC236}">
                <a16:creationId xmlns:a16="http://schemas.microsoft.com/office/drawing/2014/main" id="{AE06FA84-57D9-452E-A68A-77FE09840D42}"/>
              </a:ext>
            </a:extLst>
          </p:cNvPr>
          <p:cNvSpPr txBox="1"/>
          <p:nvPr/>
        </p:nvSpPr>
        <p:spPr bwMode="gray">
          <a:xfrm>
            <a:off x="5809204" y="5034850"/>
            <a:ext cx="595035" cy="338554"/>
          </a:xfrm>
          <a:prstGeom prst="rect">
            <a:avLst/>
          </a:prstGeom>
          <a:noFill/>
        </p:spPr>
        <p:txBody>
          <a:bodyPr wrap="none" rtlCol="0">
            <a:spAutoFit/>
          </a:bodyPr>
          <a:lstStyle/>
          <a:p>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集群</a:t>
            </a: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文本框 25">
            <a:extLst>
              <a:ext uri="{FF2B5EF4-FFF2-40B4-BE49-F238E27FC236}">
                <a16:creationId xmlns:a16="http://schemas.microsoft.com/office/drawing/2014/main" id="{6A33F8C2-C14D-466D-A1D8-169A19AF3916}"/>
              </a:ext>
            </a:extLst>
          </p:cNvPr>
          <p:cNvSpPr txBox="1"/>
          <p:nvPr/>
        </p:nvSpPr>
        <p:spPr bwMode="gray">
          <a:xfrm>
            <a:off x="3585198" y="2751216"/>
            <a:ext cx="2582758" cy="353943"/>
          </a:xfrm>
          <a:prstGeom prst="rect">
            <a:avLst/>
          </a:prstGeom>
          <a:noFill/>
        </p:spPr>
        <p:txBody>
          <a:bodyPr wrap="none" rtlCol="0">
            <a:spAutoFit/>
          </a:bodyPr>
          <a:lstStyle/>
          <a:p>
            <a:r>
              <a:rPr lang="zh-CN" altLang="en-US" sz="17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相同业务有二层互通需求</a:t>
            </a:r>
          </a:p>
        </p:txBody>
      </p:sp>
      <p:sp>
        <p:nvSpPr>
          <p:cNvPr id="27" name="文本框 26">
            <a:extLst>
              <a:ext uri="{FF2B5EF4-FFF2-40B4-BE49-F238E27FC236}">
                <a16:creationId xmlns:a16="http://schemas.microsoft.com/office/drawing/2014/main" id="{D9C7D86C-B7DA-4EF6-B970-943F9A55DA29}"/>
              </a:ext>
            </a:extLst>
          </p:cNvPr>
          <p:cNvSpPr txBox="1"/>
          <p:nvPr/>
        </p:nvSpPr>
        <p:spPr bwMode="gray">
          <a:xfrm>
            <a:off x="5187711" y="5859546"/>
            <a:ext cx="1928733" cy="353943"/>
          </a:xfrm>
          <a:prstGeom prst="rect">
            <a:avLst/>
          </a:prstGeom>
          <a:noFill/>
        </p:spPr>
        <p:txBody>
          <a:bodyPr wrap="none" rtlCol="0">
            <a:spAutoFit/>
          </a:bodyPr>
          <a:lstStyle/>
          <a:p>
            <a:r>
              <a:rPr lang="zh-CN" altLang="en-US" sz="17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物理网络（三层）</a:t>
            </a:r>
          </a:p>
        </p:txBody>
      </p:sp>
    </p:spTree>
    <p:extLst>
      <p:ext uri="{BB962C8B-B14F-4D97-AF65-F5344CB8AC3E}">
        <p14:creationId xmlns:p14="http://schemas.microsoft.com/office/powerpoint/2010/main" val="3561662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任意多边形: 形状 7">
            <a:extLst>
              <a:ext uri="{FF2B5EF4-FFF2-40B4-BE49-F238E27FC236}">
                <a16:creationId xmlns:a16="http://schemas.microsoft.com/office/drawing/2014/main" id="{C3784C3F-C088-4C87-A1F2-D515087A5D7C}"/>
              </a:ext>
            </a:extLst>
          </p:cNvPr>
          <p:cNvSpPr/>
          <p:nvPr/>
        </p:nvSpPr>
        <p:spPr bwMode="gray">
          <a:xfrm>
            <a:off x="2067560" y="2819308"/>
            <a:ext cx="5280660" cy="643454"/>
          </a:xfrm>
          <a:custGeom>
            <a:avLst/>
            <a:gdLst>
              <a:gd name="connsiteX0" fmla="*/ 0 w 5280660"/>
              <a:gd name="connsiteY0" fmla="*/ 632460 h 647700"/>
              <a:gd name="connsiteX1" fmla="*/ 0 w 5280660"/>
              <a:gd name="connsiteY1" fmla="*/ 0 h 647700"/>
              <a:gd name="connsiteX2" fmla="*/ 5280660 w 5280660"/>
              <a:gd name="connsiteY2" fmla="*/ 0 h 647700"/>
              <a:gd name="connsiteX3" fmla="*/ 5280660 w 5280660"/>
              <a:gd name="connsiteY3" fmla="*/ 640080 h 647700"/>
              <a:gd name="connsiteX4" fmla="*/ 4930140 w 5280660"/>
              <a:gd name="connsiteY4" fmla="*/ 640080 h 647700"/>
              <a:gd name="connsiteX5" fmla="*/ 4930140 w 5280660"/>
              <a:gd name="connsiteY5" fmla="*/ 289560 h 647700"/>
              <a:gd name="connsiteX6" fmla="*/ 342900 w 5280660"/>
              <a:gd name="connsiteY6" fmla="*/ 289560 h 647700"/>
              <a:gd name="connsiteX7" fmla="*/ 342900 w 5280660"/>
              <a:gd name="connsiteY7" fmla="*/ 647700 h 647700"/>
              <a:gd name="connsiteX8" fmla="*/ 0 w 5280660"/>
              <a:gd name="connsiteY8" fmla="*/ 632460 h 647700"/>
              <a:gd name="connsiteX0" fmla="*/ 0 w 5280660"/>
              <a:gd name="connsiteY0" fmla="*/ 632460 h 640080"/>
              <a:gd name="connsiteX1" fmla="*/ 0 w 5280660"/>
              <a:gd name="connsiteY1" fmla="*/ 0 h 640080"/>
              <a:gd name="connsiteX2" fmla="*/ 5280660 w 5280660"/>
              <a:gd name="connsiteY2" fmla="*/ 0 h 640080"/>
              <a:gd name="connsiteX3" fmla="*/ 5280660 w 5280660"/>
              <a:gd name="connsiteY3" fmla="*/ 640080 h 640080"/>
              <a:gd name="connsiteX4" fmla="*/ 4930140 w 5280660"/>
              <a:gd name="connsiteY4" fmla="*/ 640080 h 640080"/>
              <a:gd name="connsiteX5" fmla="*/ 4930140 w 5280660"/>
              <a:gd name="connsiteY5" fmla="*/ 289560 h 640080"/>
              <a:gd name="connsiteX6" fmla="*/ 342900 w 5280660"/>
              <a:gd name="connsiteY6" fmla="*/ 289560 h 640080"/>
              <a:gd name="connsiteX7" fmla="*/ 214312 w 5280660"/>
              <a:gd name="connsiteY7" fmla="*/ 638175 h 640080"/>
              <a:gd name="connsiteX8" fmla="*/ 0 w 5280660"/>
              <a:gd name="connsiteY8" fmla="*/ 632460 h 640080"/>
              <a:gd name="connsiteX0" fmla="*/ 0 w 5280660"/>
              <a:gd name="connsiteY0" fmla="*/ 632460 h 640080"/>
              <a:gd name="connsiteX1" fmla="*/ 0 w 5280660"/>
              <a:gd name="connsiteY1" fmla="*/ 0 h 640080"/>
              <a:gd name="connsiteX2" fmla="*/ 5280660 w 5280660"/>
              <a:gd name="connsiteY2" fmla="*/ 0 h 640080"/>
              <a:gd name="connsiteX3" fmla="*/ 5280660 w 5280660"/>
              <a:gd name="connsiteY3" fmla="*/ 640080 h 640080"/>
              <a:gd name="connsiteX4" fmla="*/ 4930140 w 5280660"/>
              <a:gd name="connsiteY4" fmla="*/ 640080 h 640080"/>
              <a:gd name="connsiteX5" fmla="*/ 4930140 w 5280660"/>
              <a:gd name="connsiteY5" fmla="*/ 289560 h 640080"/>
              <a:gd name="connsiteX6" fmla="*/ 214312 w 5280660"/>
              <a:gd name="connsiteY6" fmla="*/ 284798 h 640080"/>
              <a:gd name="connsiteX7" fmla="*/ 214312 w 5280660"/>
              <a:gd name="connsiteY7" fmla="*/ 638175 h 640080"/>
              <a:gd name="connsiteX8" fmla="*/ 0 w 5280660"/>
              <a:gd name="connsiteY8" fmla="*/ 632460 h 640080"/>
              <a:gd name="connsiteX0" fmla="*/ 0 w 5280660"/>
              <a:gd name="connsiteY0" fmla="*/ 632460 h 640080"/>
              <a:gd name="connsiteX1" fmla="*/ 0 w 5280660"/>
              <a:gd name="connsiteY1" fmla="*/ 0 h 640080"/>
              <a:gd name="connsiteX2" fmla="*/ 5280660 w 5280660"/>
              <a:gd name="connsiteY2" fmla="*/ 0 h 640080"/>
              <a:gd name="connsiteX3" fmla="*/ 5280660 w 5280660"/>
              <a:gd name="connsiteY3" fmla="*/ 640080 h 640080"/>
              <a:gd name="connsiteX4" fmla="*/ 4930140 w 5280660"/>
              <a:gd name="connsiteY4" fmla="*/ 640080 h 640080"/>
              <a:gd name="connsiteX5" fmla="*/ 4930140 w 5280660"/>
              <a:gd name="connsiteY5" fmla="*/ 289560 h 640080"/>
              <a:gd name="connsiteX6" fmla="*/ 214312 w 5280660"/>
              <a:gd name="connsiteY6" fmla="*/ 284798 h 640080"/>
              <a:gd name="connsiteX7" fmla="*/ 214312 w 5280660"/>
              <a:gd name="connsiteY7" fmla="*/ 631825 h 640080"/>
              <a:gd name="connsiteX8" fmla="*/ 0 w 5280660"/>
              <a:gd name="connsiteY8" fmla="*/ 632460 h 640080"/>
              <a:gd name="connsiteX0" fmla="*/ 0 w 5280660"/>
              <a:gd name="connsiteY0" fmla="*/ 632460 h 640080"/>
              <a:gd name="connsiteX1" fmla="*/ 0 w 5280660"/>
              <a:gd name="connsiteY1" fmla="*/ 0 h 640080"/>
              <a:gd name="connsiteX2" fmla="*/ 5280660 w 5280660"/>
              <a:gd name="connsiteY2" fmla="*/ 0 h 640080"/>
              <a:gd name="connsiteX3" fmla="*/ 5280660 w 5280660"/>
              <a:gd name="connsiteY3" fmla="*/ 640080 h 640080"/>
              <a:gd name="connsiteX4" fmla="*/ 4930140 w 5280660"/>
              <a:gd name="connsiteY4" fmla="*/ 640080 h 640080"/>
              <a:gd name="connsiteX5" fmla="*/ 4930140 w 5280660"/>
              <a:gd name="connsiteY5" fmla="*/ 289560 h 640080"/>
              <a:gd name="connsiteX6" fmla="*/ 214312 w 5280660"/>
              <a:gd name="connsiteY6" fmla="*/ 291148 h 640080"/>
              <a:gd name="connsiteX7" fmla="*/ 214312 w 5280660"/>
              <a:gd name="connsiteY7" fmla="*/ 631825 h 640080"/>
              <a:gd name="connsiteX8" fmla="*/ 0 w 5280660"/>
              <a:gd name="connsiteY8" fmla="*/ 632460 h 640080"/>
              <a:gd name="connsiteX0" fmla="*/ 0 w 5280660"/>
              <a:gd name="connsiteY0" fmla="*/ 632460 h 640080"/>
              <a:gd name="connsiteX1" fmla="*/ 0 w 5280660"/>
              <a:gd name="connsiteY1" fmla="*/ 0 h 640080"/>
              <a:gd name="connsiteX2" fmla="*/ 5280660 w 5280660"/>
              <a:gd name="connsiteY2" fmla="*/ 0 h 640080"/>
              <a:gd name="connsiteX3" fmla="*/ 5280660 w 5280660"/>
              <a:gd name="connsiteY3" fmla="*/ 640080 h 640080"/>
              <a:gd name="connsiteX4" fmla="*/ 5076190 w 5280660"/>
              <a:gd name="connsiteY4" fmla="*/ 640080 h 640080"/>
              <a:gd name="connsiteX5" fmla="*/ 4930140 w 5280660"/>
              <a:gd name="connsiteY5" fmla="*/ 289560 h 640080"/>
              <a:gd name="connsiteX6" fmla="*/ 214312 w 5280660"/>
              <a:gd name="connsiteY6" fmla="*/ 291148 h 640080"/>
              <a:gd name="connsiteX7" fmla="*/ 214312 w 5280660"/>
              <a:gd name="connsiteY7" fmla="*/ 631825 h 640080"/>
              <a:gd name="connsiteX8" fmla="*/ 0 w 5280660"/>
              <a:gd name="connsiteY8" fmla="*/ 632460 h 640080"/>
              <a:gd name="connsiteX0" fmla="*/ 0 w 5280660"/>
              <a:gd name="connsiteY0" fmla="*/ 632460 h 640080"/>
              <a:gd name="connsiteX1" fmla="*/ 0 w 5280660"/>
              <a:gd name="connsiteY1" fmla="*/ 0 h 640080"/>
              <a:gd name="connsiteX2" fmla="*/ 5280660 w 5280660"/>
              <a:gd name="connsiteY2" fmla="*/ 0 h 640080"/>
              <a:gd name="connsiteX3" fmla="*/ 5280660 w 5280660"/>
              <a:gd name="connsiteY3" fmla="*/ 640080 h 640080"/>
              <a:gd name="connsiteX4" fmla="*/ 5076190 w 5280660"/>
              <a:gd name="connsiteY4" fmla="*/ 640080 h 640080"/>
              <a:gd name="connsiteX5" fmla="*/ 4930140 w 5280660"/>
              <a:gd name="connsiteY5" fmla="*/ 289560 h 640080"/>
              <a:gd name="connsiteX6" fmla="*/ 214312 w 5280660"/>
              <a:gd name="connsiteY6" fmla="*/ 291148 h 640080"/>
              <a:gd name="connsiteX7" fmla="*/ 214312 w 5280660"/>
              <a:gd name="connsiteY7" fmla="*/ 631825 h 640080"/>
              <a:gd name="connsiteX8" fmla="*/ 0 w 5280660"/>
              <a:gd name="connsiteY8" fmla="*/ 632460 h 640080"/>
              <a:gd name="connsiteX0" fmla="*/ 0 w 5280660"/>
              <a:gd name="connsiteY0" fmla="*/ 632460 h 665338"/>
              <a:gd name="connsiteX1" fmla="*/ 0 w 5280660"/>
              <a:gd name="connsiteY1" fmla="*/ 0 h 665338"/>
              <a:gd name="connsiteX2" fmla="*/ 5280660 w 5280660"/>
              <a:gd name="connsiteY2" fmla="*/ 0 h 665338"/>
              <a:gd name="connsiteX3" fmla="*/ 5280660 w 5280660"/>
              <a:gd name="connsiteY3" fmla="*/ 640080 h 665338"/>
              <a:gd name="connsiteX4" fmla="*/ 5076190 w 5280660"/>
              <a:gd name="connsiteY4" fmla="*/ 640080 h 665338"/>
              <a:gd name="connsiteX5" fmla="*/ 5073015 w 5280660"/>
              <a:gd name="connsiteY5" fmla="*/ 299085 h 665338"/>
              <a:gd name="connsiteX6" fmla="*/ 214312 w 5280660"/>
              <a:gd name="connsiteY6" fmla="*/ 291148 h 665338"/>
              <a:gd name="connsiteX7" fmla="*/ 214312 w 5280660"/>
              <a:gd name="connsiteY7" fmla="*/ 631825 h 665338"/>
              <a:gd name="connsiteX8" fmla="*/ 0 w 5280660"/>
              <a:gd name="connsiteY8" fmla="*/ 632460 h 665338"/>
              <a:gd name="connsiteX0" fmla="*/ 0 w 5280660"/>
              <a:gd name="connsiteY0" fmla="*/ 632460 h 640080"/>
              <a:gd name="connsiteX1" fmla="*/ 0 w 5280660"/>
              <a:gd name="connsiteY1" fmla="*/ 0 h 640080"/>
              <a:gd name="connsiteX2" fmla="*/ 5280660 w 5280660"/>
              <a:gd name="connsiteY2" fmla="*/ 0 h 640080"/>
              <a:gd name="connsiteX3" fmla="*/ 5280660 w 5280660"/>
              <a:gd name="connsiteY3" fmla="*/ 640080 h 640080"/>
              <a:gd name="connsiteX4" fmla="*/ 5076190 w 5280660"/>
              <a:gd name="connsiteY4" fmla="*/ 640080 h 640080"/>
              <a:gd name="connsiteX5" fmla="*/ 5073015 w 5280660"/>
              <a:gd name="connsiteY5" fmla="*/ 299085 h 640080"/>
              <a:gd name="connsiteX6" fmla="*/ 214312 w 5280660"/>
              <a:gd name="connsiteY6" fmla="*/ 291148 h 640080"/>
              <a:gd name="connsiteX7" fmla="*/ 214312 w 5280660"/>
              <a:gd name="connsiteY7" fmla="*/ 631825 h 640080"/>
              <a:gd name="connsiteX8" fmla="*/ 0 w 5280660"/>
              <a:gd name="connsiteY8" fmla="*/ 632460 h 640080"/>
              <a:gd name="connsiteX0" fmla="*/ 0 w 5280660"/>
              <a:gd name="connsiteY0" fmla="*/ 632460 h 641491"/>
              <a:gd name="connsiteX1" fmla="*/ 0 w 5280660"/>
              <a:gd name="connsiteY1" fmla="*/ 0 h 641491"/>
              <a:gd name="connsiteX2" fmla="*/ 5280660 w 5280660"/>
              <a:gd name="connsiteY2" fmla="*/ 0 h 641491"/>
              <a:gd name="connsiteX3" fmla="*/ 5280660 w 5280660"/>
              <a:gd name="connsiteY3" fmla="*/ 640080 h 641491"/>
              <a:gd name="connsiteX4" fmla="*/ 5076190 w 5280660"/>
              <a:gd name="connsiteY4" fmla="*/ 640080 h 641491"/>
              <a:gd name="connsiteX5" fmla="*/ 5073015 w 5280660"/>
              <a:gd name="connsiteY5" fmla="*/ 299085 h 641491"/>
              <a:gd name="connsiteX6" fmla="*/ 214312 w 5280660"/>
              <a:gd name="connsiteY6" fmla="*/ 291148 h 641491"/>
              <a:gd name="connsiteX7" fmla="*/ 214312 w 5280660"/>
              <a:gd name="connsiteY7" fmla="*/ 631825 h 641491"/>
              <a:gd name="connsiteX8" fmla="*/ 0 w 5280660"/>
              <a:gd name="connsiteY8" fmla="*/ 632460 h 641491"/>
              <a:gd name="connsiteX0" fmla="*/ 0 w 5280660"/>
              <a:gd name="connsiteY0" fmla="*/ 632460 h 641491"/>
              <a:gd name="connsiteX1" fmla="*/ 0 w 5280660"/>
              <a:gd name="connsiteY1" fmla="*/ 0 h 641491"/>
              <a:gd name="connsiteX2" fmla="*/ 5280660 w 5280660"/>
              <a:gd name="connsiteY2" fmla="*/ 0 h 641491"/>
              <a:gd name="connsiteX3" fmla="*/ 5280660 w 5280660"/>
              <a:gd name="connsiteY3" fmla="*/ 640080 h 641491"/>
              <a:gd name="connsiteX4" fmla="*/ 5069840 w 5280660"/>
              <a:gd name="connsiteY4" fmla="*/ 640080 h 641491"/>
              <a:gd name="connsiteX5" fmla="*/ 5073015 w 5280660"/>
              <a:gd name="connsiteY5" fmla="*/ 299085 h 641491"/>
              <a:gd name="connsiteX6" fmla="*/ 214312 w 5280660"/>
              <a:gd name="connsiteY6" fmla="*/ 291148 h 641491"/>
              <a:gd name="connsiteX7" fmla="*/ 214312 w 5280660"/>
              <a:gd name="connsiteY7" fmla="*/ 631825 h 641491"/>
              <a:gd name="connsiteX8" fmla="*/ 0 w 5280660"/>
              <a:gd name="connsiteY8" fmla="*/ 632460 h 641491"/>
              <a:gd name="connsiteX0" fmla="*/ 0 w 5280660"/>
              <a:gd name="connsiteY0" fmla="*/ 632460 h 644144"/>
              <a:gd name="connsiteX1" fmla="*/ 0 w 5280660"/>
              <a:gd name="connsiteY1" fmla="*/ 0 h 644144"/>
              <a:gd name="connsiteX2" fmla="*/ 5280660 w 5280660"/>
              <a:gd name="connsiteY2" fmla="*/ 0 h 644144"/>
              <a:gd name="connsiteX3" fmla="*/ 5280660 w 5280660"/>
              <a:gd name="connsiteY3" fmla="*/ 640080 h 644144"/>
              <a:gd name="connsiteX4" fmla="*/ 5073015 w 5280660"/>
              <a:gd name="connsiteY4" fmla="*/ 643255 h 644144"/>
              <a:gd name="connsiteX5" fmla="*/ 5073015 w 5280660"/>
              <a:gd name="connsiteY5" fmla="*/ 299085 h 644144"/>
              <a:gd name="connsiteX6" fmla="*/ 214312 w 5280660"/>
              <a:gd name="connsiteY6" fmla="*/ 291148 h 644144"/>
              <a:gd name="connsiteX7" fmla="*/ 214312 w 5280660"/>
              <a:gd name="connsiteY7" fmla="*/ 631825 h 644144"/>
              <a:gd name="connsiteX8" fmla="*/ 0 w 5280660"/>
              <a:gd name="connsiteY8" fmla="*/ 632460 h 644144"/>
              <a:gd name="connsiteX0" fmla="*/ 0 w 5280660"/>
              <a:gd name="connsiteY0" fmla="*/ 632460 h 644144"/>
              <a:gd name="connsiteX1" fmla="*/ 0 w 5280660"/>
              <a:gd name="connsiteY1" fmla="*/ 0 h 644144"/>
              <a:gd name="connsiteX2" fmla="*/ 5280660 w 5280660"/>
              <a:gd name="connsiteY2" fmla="*/ 0 h 644144"/>
              <a:gd name="connsiteX3" fmla="*/ 5280660 w 5280660"/>
              <a:gd name="connsiteY3" fmla="*/ 640080 h 644144"/>
              <a:gd name="connsiteX4" fmla="*/ 5015865 w 5280660"/>
              <a:gd name="connsiteY4" fmla="*/ 643255 h 644144"/>
              <a:gd name="connsiteX5" fmla="*/ 5073015 w 5280660"/>
              <a:gd name="connsiteY5" fmla="*/ 299085 h 644144"/>
              <a:gd name="connsiteX6" fmla="*/ 214312 w 5280660"/>
              <a:gd name="connsiteY6" fmla="*/ 291148 h 644144"/>
              <a:gd name="connsiteX7" fmla="*/ 214312 w 5280660"/>
              <a:gd name="connsiteY7" fmla="*/ 631825 h 644144"/>
              <a:gd name="connsiteX8" fmla="*/ 0 w 5280660"/>
              <a:gd name="connsiteY8" fmla="*/ 632460 h 644144"/>
              <a:gd name="connsiteX0" fmla="*/ 0 w 5280660"/>
              <a:gd name="connsiteY0" fmla="*/ 632460 h 644144"/>
              <a:gd name="connsiteX1" fmla="*/ 0 w 5280660"/>
              <a:gd name="connsiteY1" fmla="*/ 0 h 644144"/>
              <a:gd name="connsiteX2" fmla="*/ 5280660 w 5280660"/>
              <a:gd name="connsiteY2" fmla="*/ 0 h 644144"/>
              <a:gd name="connsiteX3" fmla="*/ 5280660 w 5280660"/>
              <a:gd name="connsiteY3" fmla="*/ 640080 h 644144"/>
              <a:gd name="connsiteX4" fmla="*/ 5039677 w 5280660"/>
              <a:gd name="connsiteY4" fmla="*/ 643255 h 644144"/>
              <a:gd name="connsiteX5" fmla="*/ 5073015 w 5280660"/>
              <a:gd name="connsiteY5" fmla="*/ 299085 h 644144"/>
              <a:gd name="connsiteX6" fmla="*/ 214312 w 5280660"/>
              <a:gd name="connsiteY6" fmla="*/ 291148 h 644144"/>
              <a:gd name="connsiteX7" fmla="*/ 214312 w 5280660"/>
              <a:gd name="connsiteY7" fmla="*/ 631825 h 644144"/>
              <a:gd name="connsiteX8" fmla="*/ 0 w 5280660"/>
              <a:gd name="connsiteY8" fmla="*/ 632460 h 644144"/>
              <a:gd name="connsiteX0" fmla="*/ 0 w 5280660"/>
              <a:gd name="connsiteY0" fmla="*/ 632460 h 667716"/>
              <a:gd name="connsiteX1" fmla="*/ 0 w 5280660"/>
              <a:gd name="connsiteY1" fmla="*/ 0 h 667716"/>
              <a:gd name="connsiteX2" fmla="*/ 5280660 w 5280660"/>
              <a:gd name="connsiteY2" fmla="*/ 0 h 667716"/>
              <a:gd name="connsiteX3" fmla="*/ 5280660 w 5280660"/>
              <a:gd name="connsiteY3" fmla="*/ 640080 h 667716"/>
              <a:gd name="connsiteX4" fmla="*/ 5039677 w 5280660"/>
              <a:gd name="connsiteY4" fmla="*/ 643255 h 667716"/>
              <a:gd name="connsiteX5" fmla="*/ 5044440 w 5280660"/>
              <a:gd name="connsiteY5" fmla="*/ 299085 h 667716"/>
              <a:gd name="connsiteX6" fmla="*/ 214312 w 5280660"/>
              <a:gd name="connsiteY6" fmla="*/ 291148 h 667716"/>
              <a:gd name="connsiteX7" fmla="*/ 214312 w 5280660"/>
              <a:gd name="connsiteY7" fmla="*/ 631825 h 667716"/>
              <a:gd name="connsiteX8" fmla="*/ 0 w 5280660"/>
              <a:gd name="connsiteY8" fmla="*/ 632460 h 667716"/>
              <a:gd name="connsiteX0" fmla="*/ 0 w 5280660"/>
              <a:gd name="connsiteY0" fmla="*/ 632460 h 667716"/>
              <a:gd name="connsiteX1" fmla="*/ 0 w 5280660"/>
              <a:gd name="connsiteY1" fmla="*/ 0 h 667716"/>
              <a:gd name="connsiteX2" fmla="*/ 5280660 w 5280660"/>
              <a:gd name="connsiteY2" fmla="*/ 0 h 667716"/>
              <a:gd name="connsiteX3" fmla="*/ 5280660 w 5280660"/>
              <a:gd name="connsiteY3" fmla="*/ 640080 h 667716"/>
              <a:gd name="connsiteX4" fmla="*/ 5039677 w 5280660"/>
              <a:gd name="connsiteY4" fmla="*/ 643255 h 667716"/>
              <a:gd name="connsiteX5" fmla="*/ 5044440 w 5280660"/>
              <a:gd name="connsiteY5" fmla="*/ 299085 h 667716"/>
              <a:gd name="connsiteX6" fmla="*/ 214312 w 5280660"/>
              <a:gd name="connsiteY6" fmla="*/ 291148 h 667716"/>
              <a:gd name="connsiteX7" fmla="*/ 214312 w 5280660"/>
              <a:gd name="connsiteY7" fmla="*/ 631825 h 667716"/>
              <a:gd name="connsiteX8" fmla="*/ 0 w 5280660"/>
              <a:gd name="connsiteY8" fmla="*/ 632460 h 667716"/>
              <a:gd name="connsiteX0" fmla="*/ 0 w 5280660"/>
              <a:gd name="connsiteY0" fmla="*/ 632460 h 643454"/>
              <a:gd name="connsiteX1" fmla="*/ 0 w 5280660"/>
              <a:gd name="connsiteY1" fmla="*/ 0 h 643454"/>
              <a:gd name="connsiteX2" fmla="*/ 5280660 w 5280660"/>
              <a:gd name="connsiteY2" fmla="*/ 0 h 643454"/>
              <a:gd name="connsiteX3" fmla="*/ 5280660 w 5280660"/>
              <a:gd name="connsiteY3" fmla="*/ 640080 h 643454"/>
              <a:gd name="connsiteX4" fmla="*/ 5039677 w 5280660"/>
              <a:gd name="connsiteY4" fmla="*/ 643255 h 643454"/>
              <a:gd name="connsiteX5" fmla="*/ 5044440 w 5280660"/>
              <a:gd name="connsiteY5" fmla="*/ 299085 h 643454"/>
              <a:gd name="connsiteX6" fmla="*/ 214312 w 5280660"/>
              <a:gd name="connsiteY6" fmla="*/ 291148 h 643454"/>
              <a:gd name="connsiteX7" fmla="*/ 214312 w 5280660"/>
              <a:gd name="connsiteY7" fmla="*/ 631825 h 643454"/>
              <a:gd name="connsiteX8" fmla="*/ 0 w 5280660"/>
              <a:gd name="connsiteY8" fmla="*/ 632460 h 643454"/>
              <a:gd name="connsiteX0" fmla="*/ 0 w 5280660"/>
              <a:gd name="connsiteY0" fmla="*/ 632460 h 643454"/>
              <a:gd name="connsiteX1" fmla="*/ 0 w 5280660"/>
              <a:gd name="connsiteY1" fmla="*/ 0 h 643454"/>
              <a:gd name="connsiteX2" fmla="*/ 5280660 w 5280660"/>
              <a:gd name="connsiteY2" fmla="*/ 0 h 643454"/>
              <a:gd name="connsiteX3" fmla="*/ 5280660 w 5280660"/>
              <a:gd name="connsiteY3" fmla="*/ 640080 h 643454"/>
              <a:gd name="connsiteX4" fmla="*/ 5039677 w 5280660"/>
              <a:gd name="connsiteY4" fmla="*/ 643255 h 643454"/>
              <a:gd name="connsiteX5" fmla="*/ 5044440 w 5280660"/>
              <a:gd name="connsiteY5" fmla="*/ 299085 h 643454"/>
              <a:gd name="connsiteX6" fmla="*/ 214312 w 5280660"/>
              <a:gd name="connsiteY6" fmla="*/ 291148 h 643454"/>
              <a:gd name="connsiteX7" fmla="*/ 260032 w 5280660"/>
              <a:gd name="connsiteY7" fmla="*/ 639445 h 643454"/>
              <a:gd name="connsiteX8" fmla="*/ 0 w 5280660"/>
              <a:gd name="connsiteY8" fmla="*/ 632460 h 643454"/>
              <a:gd name="connsiteX0" fmla="*/ 0 w 5280660"/>
              <a:gd name="connsiteY0" fmla="*/ 632460 h 643454"/>
              <a:gd name="connsiteX1" fmla="*/ 0 w 5280660"/>
              <a:gd name="connsiteY1" fmla="*/ 0 h 643454"/>
              <a:gd name="connsiteX2" fmla="*/ 5280660 w 5280660"/>
              <a:gd name="connsiteY2" fmla="*/ 0 h 643454"/>
              <a:gd name="connsiteX3" fmla="*/ 5280660 w 5280660"/>
              <a:gd name="connsiteY3" fmla="*/ 640080 h 643454"/>
              <a:gd name="connsiteX4" fmla="*/ 5039677 w 5280660"/>
              <a:gd name="connsiteY4" fmla="*/ 643255 h 643454"/>
              <a:gd name="connsiteX5" fmla="*/ 5044440 w 5280660"/>
              <a:gd name="connsiteY5" fmla="*/ 299085 h 643454"/>
              <a:gd name="connsiteX6" fmla="*/ 267652 w 5280660"/>
              <a:gd name="connsiteY6" fmla="*/ 291148 h 643454"/>
              <a:gd name="connsiteX7" fmla="*/ 260032 w 5280660"/>
              <a:gd name="connsiteY7" fmla="*/ 639445 h 643454"/>
              <a:gd name="connsiteX8" fmla="*/ 0 w 5280660"/>
              <a:gd name="connsiteY8" fmla="*/ 632460 h 64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80660" h="643454">
                <a:moveTo>
                  <a:pt x="0" y="632460"/>
                </a:moveTo>
                <a:lnTo>
                  <a:pt x="0" y="0"/>
                </a:lnTo>
                <a:lnTo>
                  <a:pt x="5280660" y="0"/>
                </a:lnTo>
                <a:lnTo>
                  <a:pt x="5280660" y="640080"/>
                </a:lnTo>
                <a:cubicBezTo>
                  <a:pt x="5212503" y="640080"/>
                  <a:pt x="5026659" y="633412"/>
                  <a:pt x="5039677" y="643255"/>
                </a:cubicBezTo>
                <a:cubicBezTo>
                  <a:pt x="5052695" y="653098"/>
                  <a:pt x="5039148" y="295275"/>
                  <a:pt x="5044440" y="299085"/>
                </a:cubicBezTo>
                <a:cubicBezTo>
                  <a:pt x="5039360" y="296439"/>
                  <a:pt x="1877695" y="293794"/>
                  <a:pt x="267652" y="291148"/>
                </a:cubicBezTo>
                <a:lnTo>
                  <a:pt x="260032" y="639445"/>
                </a:lnTo>
                <a:lnTo>
                  <a:pt x="0" y="632460"/>
                </a:lnTo>
                <a:close/>
              </a:path>
            </a:pathLst>
          </a:custGeom>
          <a:solidFill>
            <a:srgbClr val="FBE2DF"/>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标题 2"/>
          <p:cNvSpPr>
            <a:spLocks noGrp="1"/>
          </p:cNvSpPr>
          <p:nvPr>
            <p:ph type="title"/>
          </p:nvPr>
        </p:nvSpPr>
        <p:spPr/>
        <p:txBody>
          <a:bodyPr/>
          <a:lstStyle/>
          <a:p>
            <a:r>
              <a:rPr lang="zh-CN" altLang="en-US">
                <a:sym typeface="Huawei Sans" panose="020C0503030203020204" pitchFamily="34" charset="0"/>
              </a:rPr>
              <a:t>网络的新需求：多租户隔离</a:t>
            </a:r>
            <a:endParaRPr lang="zh-CN" altLang="en-US" dirty="0">
              <a:sym typeface="Huawei Sans" panose="020C0503030203020204" pitchFamily="34" charset="0"/>
            </a:endParaRPr>
          </a:p>
        </p:txBody>
      </p:sp>
      <p:sp>
        <p:nvSpPr>
          <p:cNvPr id="5" name="文本占位符 4"/>
          <p:cNvSpPr>
            <a:spLocks noGrp="1"/>
          </p:cNvSpPr>
          <p:nvPr>
            <p:ph type="body" sz="quarter" idx="10"/>
          </p:nvPr>
        </p:nvSpPr>
        <p:spPr>
          <a:xfrm>
            <a:off x="455613" y="1047750"/>
            <a:ext cx="11256962" cy="1704737"/>
          </a:xfrm>
        </p:spPr>
        <p:txBody>
          <a:bodyPr/>
          <a:lstStyle/>
          <a:p>
            <a:r>
              <a:rPr lang="zh-CN" altLang="en-US" sz="1800" dirty="0">
                <a:sym typeface="Huawei Sans" panose="020C0503030203020204" pitchFamily="34" charset="0"/>
              </a:rPr>
              <a:t>云化场景一般支持多租户，即不同用户共享物理资源。这对网络提出两个需求，租户间隔离和租户内互访。</a:t>
            </a:r>
            <a:endParaRPr lang="en-US" altLang="zh-CN" sz="1800" dirty="0">
              <a:sym typeface="Huawei Sans" panose="020C0503030203020204" pitchFamily="34" charset="0"/>
            </a:endParaRPr>
          </a:p>
          <a:p>
            <a:pPr lvl="1"/>
            <a:r>
              <a:rPr lang="zh-CN" altLang="en-US" sz="1600" dirty="0">
                <a:sym typeface="Huawei Sans" panose="020C0503030203020204" pitchFamily="34" charset="0"/>
              </a:rPr>
              <a:t>租户间隔离：租户可能配置相同的</a:t>
            </a:r>
            <a:r>
              <a:rPr lang="en-US" altLang="zh-CN" sz="1600" dirty="0">
                <a:sym typeface="Huawei Sans" panose="020C0503030203020204" pitchFamily="34" charset="0"/>
              </a:rPr>
              <a:t>MAC</a:t>
            </a:r>
            <a:r>
              <a:rPr lang="zh-CN" altLang="en-US" sz="1600" dirty="0">
                <a:sym typeface="Huawei Sans" panose="020C0503030203020204" pitchFamily="34" charset="0"/>
              </a:rPr>
              <a:t>和</a:t>
            </a:r>
            <a:r>
              <a:rPr lang="en-US" altLang="zh-CN" sz="1600" dirty="0">
                <a:sym typeface="Huawei Sans" panose="020C0503030203020204" pitchFamily="34" charset="0"/>
              </a:rPr>
              <a:t>IP</a:t>
            </a:r>
            <a:r>
              <a:rPr lang="zh-CN" altLang="en-US" sz="1600" dirty="0">
                <a:sym typeface="Huawei Sans" panose="020C0503030203020204" pitchFamily="34" charset="0"/>
              </a:rPr>
              <a:t>地址，需要考虑物理网络承载隔离的问题，并且存在海量的用户需要进行隔离。</a:t>
            </a:r>
            <a:endParaRPr lang="en-US" altLang="zh-CN" sz="1600" dirty="0">
              <a:sym typeface="Huawei Sans" panose="020C0503030203020204" pitchFamily="34" charset="0"/>
            </a:endParaRPr>
          </a:p>
          <a:p>
            <a:pPr lvl="1"/>
            <a:r>
              <a:rPr lang="zh-CN" altLang="en-US" sz="1600" dirty="0">
                <a:sym typeface="Huawei Sans" panose="020C0503030203020204" pitchFamily="34" charset="0"/>
              </a:rPr>
              <a:t>租户内互访：租户内相同网段能够直接进行二层通信，即便处于不同物理位置的机房中。</a:t>
            </a:r>
            <a:endParaRPr lang="en-US" altLang="zh-CN" sz="1600" dirty="0">
              <a:sym typeface="Huawei Sans" panose="020C0503030203020204" pitchFamily="34" charset="0"/>
            </a:endParaRPr>
          </a:p>
        </p:txBody>
      </p:sp>
      <p:sp>
        <p:nvSpPr>
          <p:cNvPr id="23" name="矩形 22">
            <a:extLst>
              <a:ext uri="{FF2B5EF4-FFF2-40B4-BE49-F238E27FC236}">
                <a16:creationId xmlns:a16="http://schemas.microsoft.com/office/drawing/2014/main" id="{271B330C-5C9B-47A0-A5A0-07EC163633D1}"/>
              </a:ext>
            </a:extLst>
          </p:cNvPr>
          <p:cNvSpPr/>
          <p:nvPr/>
        </p:nvSpPr>
        <p:spPr bwMode="gray">
          <a:xfrm>
            <a:off x="1714615" y="4986859"/>
            <a:ext cx="3859523" cy="482600"/>
          </a:xfrm>
          <a:prstGeom prst="rect">
            <a:avLst/>
          </a:prstGeom>
          <a:solidFill>
            <a:srgbClr val="56C4D2"/>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Server</a:t>
            </a:r>
            <a:endParaRPr lang="zh-CN" altLang="en-US"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矩形 23">
            <a:extLst>
              <a:ext uri="{FF2B5EF4-FFF2-40B4-BE49-F238E27FC236}">
                <a16:creationId xmlns:a16="http://schemas.microsoft.com/office/drawing/2014/main" id="{8BA2378D-E2A0-438F-ACBF-2B2DB30FD2FA}"/>
              </a:ext>
            </a:extLst>
          </p:cNvPr>
          <p:cNvSpPr/>
          <p:nvPr/>
        </p:nvSpPr>
        <p:spPr bwMode="gray">
          <a:xfrm>
            <a:off x="1714615" y="4504259"/>
            <a:ext cx="3859523" cy="4826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Hypervisor</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a:extLst>
              <a:ext uri="{FF2B5EF4-FFF2-40B4-BE49-F238E27FC236}">
                <a16:creationId xmlns:a16="http://schemas.microsoft.com/office/drawing/2014/main" id="{9326FBBF-520B-40AA-8B53-248455FA9E64}"/>
              </a:ext>
            </a:extLst>
          </p:cNvPr>
          <p:cNvSpPr/>
          <p:nvPr/>
        </p:nvSpPr>
        <p:spPr bwMode="gray">
          <a:xfrm>
            <a:off x="1714615" y="3983559"/>
            <a:ext cx="1254880" cy="482600"/>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Guest OS</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矩形 25">
            <a:extLst>
              <a:ext uri="{FF2B5EF4-FFF2-40B4-BE49-F238E27FC236}">
                <a16:creationId xmlns:a16="http://schemas.microsoft.com/office/drawing/2014/main" id="{834C8E30-4CEF-4568-AB0D-60160249BDAA}"/>
              </a:ext>
            </a:extLst>
          </p:cNvPr>
          <p:cNvSpPr/>
          <p:nvPr/>
        </p:nvSpPr>
        <p:spPr bwMode="gray">
          <a:xfrm>
            <a:off x="3016937" y="3983559"/>
            <a:ext cx="1254880" cy="482600"/>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Guest OS</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矩形 26">
            <a:extLst>
              <a:ext uri="{FF2B5EF4-FFF2-40B4-BE49-F238E27FC236}">
                <a16:creationId xmlns:a16="http://schemas.microsoft.com/office/drawing/2014/main" id="{91AE6867-B550-4C57-9E5B-80D7A8AE4044}"/>
              </a:ext>
            </a:extLst>
          </p:cNvPr>
          <p:cNvSpPr/>
          <p:nvPr/>
        </p:nvSpPr>
        <p:spPr bwMode="gray">
          <a:xfrm>
            <a:off x="4319258" y="3983559"/>
            <a:ext cx="1254880" cy="482600"/>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Guest OS</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矩形 27">
            <a:extLst>
              <a:ext uri="{FF2B5EF4-FFF2-40B4-BE49-F238E27FC236}">
                <a16:creationId xmlns:a16="http://schemas.microsoft.com/office/drawing/2014/main" id="{2C56CAEF-798D-4A21-91DF-AE6FACBE0F6A}"/>
              </a:ext>
            </a:extLst>
          </p:cNvPr>
          <p:cNvSpPr/>
          <p:nvPr/>
        </p:nvSpPr>
        <p:spPr bwMode="gray">
          <a:xfrm>
            <a:off x="1714615" y="3450159"/>
            <a:ext cx="1254880" cy="482600"/>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租户</a:t>
            </a: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矩形 28">
            <a:extLst>
              <a:ext uri="{FF2B5EF4-FFF2-40B4-BE49-F238E27FC236}">
                <a16:creationId xmlns:a16="http://schemas.microsoft.com/office/drawing/2014/main" id="{EAADE51C-EA3F-4D50-9AE4-251FB2A4A1DC}"/>
              </a:ext>
            </a:extLst>
          </p:cNvPr>
          <p:cNvSpPr/>
          <p:nvPr/>
        </p:nvSpPr>
        <p:spPr bwMode="gray">
          <a:xfrm>
            <a:off x="3016937" y="3450159"/>
            <a:ext cx="1254880" cy="482600"/>
          </a:xfrm>
          <a:prstGeom prst="rect">
            <a:avLst/>
          </a:prstGeom>
          <a:solidFill>
            <a:schemeClr val="bg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租户</a:t>
            </a: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矩形 29">
            <a:extLst>
              <a:ext uri="{FF2B5EF4-FFF2-40B4-BE49-F238E27FC236}">
                <a16:creationId xmlns:a16="http://schemas.microsoft.com/office/drawing/2014/main" id="{94C13015-36CC-4BCC-B1AE-9D19F1DA28D6}"/>
              </a:ext>
            </a:extLst>
          </p:cNvPr>
          <p:cNvSpPr/>
          <p:nvPr/>
        </p:nvSpPr>
        <p:spPr bwMode="gray">
          <a:xfrm>
            <a:off x="4319258" y="3450159"/>
            <a:ext cx="1254880" cy="482600"/>
          </a:xfrm>
          <a:prstGeom prst="rect">
            <a:avLst/>
          </a:prstGeom>
          <a:solidFill>
            <a:schemeClr val="accent6">
              <a:lumMod val="60000"/>
              <a:lumOff val="4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租户</a:t>
            </a: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矩形 30">
            <a:extLst>
              <a:ext uri="{FF2B5EF4-FFF2-40B4-BE49-F238E27FC236}">
                <a16:creationId xmlns:a16="http://schemas.microsoft.com/office/drawing/2014/main" id="{7535F299-06A5-46DD-8897-9BD086761B7F}"/>
              </a:ext>
            </a:extLst>
          </p:cNvPr>
          <p:cNvSpPr/>
          <p:nvPr/>
        </p:nvSpPr>
        <p:spPr bwMode="gray">
          <a:xfrm>
            <a:off x="6564721" y="4986859"/>
            <a:ext cx="3859523" cy="482600"/>
          </a:xfrm>
          <a:prstGeom prst="rect">
            <a:avLst/>
          </a:prstGeom>
          <a:solidFill>
            <a:srgbClr val="56C4D2"/>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Server</a:t>
            </a:r>
            <a:endParaRPr lang="zh-CN" altLang="en-US"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矩形 31">
            <a:extLst>
              <a:ext uri="{FF2B5EF4-FFF2-40B4-BE49-F238E27FC236}">
                <a16:creationId xmlns:a16="http://schemas.microsoft.com/office/drawing/2014/main" id="{B02F1C9B-892B-4C9A-8EB4-8C17EB4B63BD}"/>
              </a:ext>
            </a:extLst>
          </p:cNvPr>
          <p:cNvSpPr/>
          <p:nvPr/>
        </p:nvSpPr>
        <p:spPr bwMode="gray">
          <a:xfrm>
            <a:off x="6564721" y="4504259"/>
            <a:ext cx="3859523" cy="4826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Hypervisor</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矩形 32">
            <a:extLst>
              <a:ext uri="{FF2B5EF4-FFF2-40B4-BE49-F238E27FC236}">
                <a16:creationId xmlns:a16="http://schemas.microsoft.com/office/drawing/2014/main" id="{99FC9900-2FFE-4CD6-A69A-63F4E66563E1}"/>
              </a:ext>
            </a:extLst>
          </p:cNvPr>
          <p:cNvSpPr/>
          <p:nvPr/>
        </p:nvSpPr>
        <p:spPr bwMode="gray">
          <a:xfrm>
            <a:off x="6564721" y="3983559"/>
            <a:ext cx="1254880" cy="482600"/>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Guest OS</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矩形 33">
            <a:extLst>
              <a:ext uri="{FF2B5EF4-FFF2-40B4-BE49-F238E27FC236}">
                <a16:creationId xmlns:a16="http://schemas.microsoft.com/office/drawing/2014/main" id="{FBA470C9-AC01-4EED-8809-8E27361CA879}"/>
              </a:ext>
            </a:extLst>
          </p:cNvPr>
          <p:cNvSpPr/>
          <p:nvPr/>
        </p:nvSpPr>
        <p:spPr bwMode="gray">
          <a:xfrm>
            <a:off x="7867043" y="3983559"/>
            <a:ext cx="1254880" cy="482600"/>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Guest OS</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矩形 34">
            <a:extLst>
              <a:ext uri="{FF2B5EF4-FFF2-40B4-BE49-F238E27FC236}">
                <a16:creationId xmlns:a16="http://schemas.microsoft.com/office/drawing/2014/main" id="{FB7A8F8C-48D4-47EC-AA3F-9B4B429F1728}"/>
              </a:ext>
            </a:extLst>
          </p:cNvPr>
          <p:cNvSpPr/>
          <p:nvPr/>
        </p:nvSpPr>
        <p:spPr bwMode="gray">
          <a:xfrm>
            <a:off x="9169364" y="3983559"/>
            <a:ext cx="1254880" cy="482600"/>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Guest OS</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矩形 35">
            <a:extLst>
              <a:ext uri="{FF2B5EF4-FFF2-40B4-BE49-F238E27FC236}">
                <a16:creationId xmlns:a16="http://schemas.microsoft.com/office/drawing/2014/main" id="{F9ED959E-AB5C-4251-BDF8-98CE0CDB13A2}"/>
              </a:ext>
            </a:extLst>
          </p:cNvPr>
          <p:cNvSpPr/>
          <p:nvPr/>
        </p:nvSpPr>
        <p:spPr bwMode="gray">
          <a:xfrm>
            <a:off x="6564721" y="3450159"/>
            <a:ext cx="1254880" cy="482600"/>
          </a:xfrm>
          <a:prstGeom prst="rect">
            <a:avLst/>
          </a:prstGeom>
          <a:solidFill>
            <a:schemeClr val="accent2">
              <a:lumMod val="20000"/>
              <a:lumOff val="8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租户</a:t>
            </a: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矩形 37">
            <a:extLst>
              <a:ext uri="{FF2B5EF4-FFF2-40B4-BE49-F238E27FC236}">
                <a16:creationId xmlns:a16="http://schemas.microsoft.com/office/drawing/2014/main" id="{8C53594F-418A-4980-A7BD-D3B5FE2736C1}"/>
              </a:ext>
            </a:extLst>
          </p:cNvPr>
          <p:cNvSpPr/>
          <p:nvPr/>
        </p:nvSpPr>
        <p:spPr bwMode="gray">
          <a:xfrm>
            <a:off x="7867043" y="3450159"/>
            <a:ext cx="1254880" cy="482600"/>
          </a:xfrm>
          <a:prstGeom prst="rect">
            <a:avLst/>
          </a:prstGeom>
          <a:solidFill>
            <a:schemeClr val="bg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租户</a:t>
            </a: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矩形 38">
            <a:extLst>
              <a:ext uri="{FF2B5EF4-FFF2-40B4-BE49-F238E27FC236}">
                <a16:creationId xmlns:a16="http://schemas.microsoft.com/office/drawing/2014/main" id="{967F8703-6E24-4F03-A1DD-7A29C5B4CA35}"/>
              </a:ext>
            </a:extLst>
          </p:cNvPr>
          <p:cNvSpPr/>
          <p:nvPr/>
        </p:nvSpPr>
        <p:spPr bwMode="gray">
          <a:xfrm>
            <a:off x="9169364" y="3450159"/>
            <a:ext cx="1254880" cy="482600"/>
          </a:xfrm>
          <a:prstGeom prst="rect">
            <a:avLst/>
          </a:prstGeom>
          <a:solidFill>
            <a:schemeClr val="accent6">
              <a:lumMod val="60000"/>
              <a:lumOff val="4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租户</a:t>
            </a:r>
            <a:r>
              <a:rPr lang="en-US" altLang="zh-CN">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a:solidFill>
                <a:schemeClr val="bg2">
                  <a:lumMod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任意多边形: 形状 39">
            <a:extLst>
              <a:ext uri="{FF2B5EF4-FFF2-40B4-BE49-F238E27FC236}">
                <a16:creationId xmlns:a16="http://schemas.microsoft.com/office/drawing/2014/main" id="{92DBFC4B-5028-4F8F-8C4D-CAF2C5B899D6}"/>
              </a:ext>
            </a:extLst>
          </p:cNvPr>
          <p:cNvSpPr/>
          <p:nvPr/>
        </p:nvSpPr>
        <p:spPr bwMode="gray">
          <a:xfrm>
            <a:off x="3535680" y="5467723"/>
            <a:ext cx="5090160" cy="350520"/>
          </a:xfrm>
          <a:custGeom>
            <a:avLst/>
            <a:gdLst>
              <a:gd name="connsiteX0" fmla="*/ 0 w 5090160"/>
              <a:gd name="connsiteY0" fmla="*/ 0 h 350520"/>
              <a:gd name="connsiteX1" fmla="*/ 0 w 5090160"/>
              <a:gd name="connsiteY1" fmla="*/ 350520 h 350520"/>
              <a:gd name="connsiteX2" fmla="*/ 5090160 w 5090160"/>
              <a:gd name="connsiteY2" fmla="*/ 350520 h 350520"/>
              <a:gd name="connsiteX3" fmla="*/ 5090160 w 5090160"/>
              <a:gd name="connsiteY3" fmla="*/ 7620 h 350520"/>
            </a:gdLst>
            <a:ahLst/>
            <a:cxnLst>
              <a:cxn ang="0">
                <a:pos x="connsiteX0" y="connsiteY0"/>
              </a:cxn>
              <a:cxn ang="0">
                <a:pos x="connsiteX1" y="connsiteY1"/>
              </a:cxn>
              <a:cxn ang="0">
                <a:pos x="connsiteX2" y="connsiteY2"/>
              </a:cxn>
              <a:cxn ang="0">
                <a:pos x="connsiteX3" y="connsiteY3"/>
              </a:cxn>
            </a:cxnLst>
            <a:rect l="l" t="t" r="r" b="b"/>
            <a:pathLst>
              <a:path w="5090160" h="350520">
                <a:moveTo>
                  <a:pt x="0" y="0"/>
                </a:moveTo>
                <a:lnTo>
                  <a:pt x="0" y="350520"/>
                </a:lnTo>
                <a:lnTo>
                  <a:pt x="5090160" y="350520"/>
                </a:lnTo>
                <a:lnTo>
                  <a:pt x="5090160" y="7620"/>
                </a:lnTo>
              </a:path>
            </a:pathLst>
          </a:custGeom>
          <a:noFill/>
          <a:ln w="19050">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文本框 41">
            <a:extLst>
              <a:ext uri="{FF2B5EF4-FFF2-40B4-BE49-F238E27FC236}">
                <a16:creationId xmlns:a16="http://schemas.microsoft.com/office/drawing/2014/main" id="{5F7F4F14-CB31-4A2F-AE8A-92CF7D6C27F5}"/>
              </a:ext>
            </a:extLst>
          </p:cNvPr>
          <p:cNvSpPr txBox="1"/>
          <p:nvPr/>
        </p:nvSpPr>
        <p:spPr bwMode="gray">
          <a:xfrm>
            <a:off x="5187711" y="5873191"/>
            <a:ext cx="1928733" cy="353943"/>
          </a:xfrm>
          <a:prstGeom prst="rect">
            <a:avLst/>
          </a:prstGeom>
          <a:noFill/>
        </p:spPr>
        <p:txBody>
          <a:bodyPr wrap="none" rtlCol="0">
            <a:spAutoFit/>
          </a:bodyPr>
          <a:lstStyle/>
          <a:p>
            <a:r>
              <a:rPr lang="zh-CN" altLang="en-US" sz="17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物理网络（三层）</a:t>
            </a:r>
          </a:p>
        </p:txBody>
      </p:sp>
      <p:sp>
        <p:nvSpPr>
          <p:cNvPr id="49" name="文本框 48">
            <a:extLst>
              <a:ext uri="{FF2B5EF4-FFF2-40B4-BE49-F238E27FC236}">
                <a16:creationId xmlns:a16="http://schemas.microsoft.com/office/drawing/2014/main" id="{7645172C-0D81-4F8A-A4F4-69B7F4E6DD38}"/>
              </a:ext>
            </a:extLst>
          </p:cNvPr>
          <p:cNvSpPr txBox="1"/>
          <p:nvPr/>
        </p:nvSpPr>
        <p:spPr bwMode="gray">
          <a:xfrm>
            <a:off x="3737598" y="2790587"/>
            <a:ext cx="2146742" cy="353943"/>
          </a:xfrm>
          <a:prstGeom prst="rect">
            <a:avLst/>
          </a:prstGeom>
          <a:noFill/>
        </p:spPr>
        <p:txBody>
          <a:bodyPr wrap="none" rtlCol="0">
            <a:spAutoFit/>
          </a:bodyPr>
          <a:lstStyle/>
          <a:p>
            <a:r>
              <a:rPr lang="zh-CN" altLang="en-US" sz="17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租户内二层互通需求</a:t>
            </a:r>
          </a:p>
        </p:txBody>
      </p:sp>
      <p:sp>
        <p:nvSpPr>
          <p:cNvPr id="37" name="矩形: 圆角 36">
            <a:extLst>
              <a:ext uri="{FF2B5EF4-FFF2-40B4-BE49-F238E27FC236}">
                <a16:creationId xmlns:a16="http://schemas.microsoft.com/office/drawing/2014/main" id="{61B770D2-43E4-4F5F-95E0-0CFA09ABECB5}"/>
              </a:ext>
            </a:extLst>
          </p:cNvPr>
          <p:cNvSpPr/>
          <p:nvPr/>
        </p:nvSpPr>
        <p:spPr bwMode="gray">
          <a:xfrm>
            <a:off x="1479549" y="4948759"/>
            <a:ext cx="9232900" cy="578188"/>
          </a:xfrm>
          <a:prstGeom prst="roundRect">
            <a:avLst/>
          </a:prstGeom>
          <a:noFill/>
          <a:ln w="19050">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40">
            <a:extLst>
              <a:ext uri="{FF2B5EF4-FFF2-40B4-BE49-F238E27FC236}">
                <a16:creationId xmlns:a16="http://schemas.microsoft.com/office/drawing/2014/main" id="{6C88ADE3-FF4F-4437-81F9-6412BD1F8511}"/>
              </a:ext>
            </a:extLst>
          </p:cNvPr>
          <p:cNvSpPr txBox="1"/>
          <p:nvPr/>
        </p:nvSpPr>
        <p:spPr bwMode="gray">
          <a:xfrm>
            <a:off x="5809204" y="5074221"/>
            <a:ext cx="595035" cy="338554"/>
          </a:xfrm>
          <a:prstGeom prst="rect">
            <a:avLst/>
          </a:prstGeom>
          <a:noFill/>
        </p:spPr>
        <p:txBody>
          <a:bodyPr wrap="none" rtlCol="0">
            <a:spAutoFit/>
          </a:bodyPr>
          <a:lstStyle/>
          <a:p>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集群</a:t>
            </a: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文本框 42">
            <a:extLst>
              <a:ext uri="{FF2B5EF4-FFF2-40B4-BE49-F238E27FC236}">
                <a16:creationId xmlns:a16="http://schemas.microsoft.com/office/drawing/2014/main" id="{32EA1F24-CF3B-4FC2-AE9F-D972E7A2278F}"/>
              </a:ext>
            </a:extLst>
          </p:cNvPr>
          <p:cNvSpPr txBox="1"/>
          <p:nvPr/>
        </p:nvSpPr>
        <p:spPr bwMode="gray">
          <a:xfrm>
            <a:off x="8103235" y="2771976"/>
            <a:ext cx="1826141" cy="338554"/>
          </a:xfrm>
          <a:prstGeom prst="rect">
            <a:avLst/>
          </a:prstGeom>
          <a:noFill/>
        </p:spPr>
        <p:txBody>
          <a:bodyPr wrap="none" rtlCol="0">
            <a:spAutoFit/>
          </a:bodyPr>
          <a:lstStyle/>
          <a:p>
            <a:r>
              <a:rPr lang="zh-CN" altLang="en-US"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租户之间网络隔离</a:t>
            </a:r>
          </a:p>
        </p:txBody>
      </p:sp>
      <p:cxnSp>
        <p:nvCxnSpPr>
          <p:cNvPr id="4" name="肘形连接符 3"/>
          <p:cNvCxnSpPr/>
          <p:nvPr/>
        </p:nvCxnSpPr>
        <p:spPr bwMode="gray">
          <a:xfrm rot="5400000" flipH="1" flipV="1">
            <a:off x="9009955" y="2798999"/>
            <a:ext cx="12700" cy="1302321"/>
          </a:xfrm>
          <a:prstGeom prst="bentConnector3">
            <a:avLst>
              <a:gd name="adj1" fmla="val 2364709"/>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6" name="乘号 5"/>
          <p:cNvSpPr/>
          <p:nvPr/>
        </p:nvSpPr>
        <p:spPr bwMode="gray">
          <a:xfrm>
            <a:off x="8844272" y="3006418"/>
            <a:ext cx="344067" cy="344067"/>
          </a:xfrm>
          <a:prstGeom prst="mathMultiply">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788051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E17D0E-E852-43E8-8E47-95065C0ECAD9}"/>
              </a:ext>
            </a:extLst>
          </p:cNvPr>
          <p:cNvSpPr>
            <a:spLocks noGrp="1"/>
          </p:cNvSpPr>
          <p:nvPr>
            <p:ph type="title"/>
          </p:nvPr>
        </p:nvSpPr>
        <p:spPr bwMode="gray"/>
        <p:txBody>
          <a:bodyPr/>
          <a:lstStyle/>
          <a:p>
            <a:r>
              <a:rPr lang="zh-CN" altLang="en-US">
                <a:sym typeface="Huawei Sans" panose="020C0503030203020204" pitchFamily="34" charset="0"/>
              </a:rPr>
              <a:t>传统网络面临的问题</a:t>
            </a:r>
            <a:endParaRPr lang="zh-CN" altLang="en-US" dirty="0">
              <a:sym typeface="Huawei Sans" panose="020C0503030203020204" pitchFamily="34" charset="0"/>
            </a:endParaRPr>
          </a:p>
        </p:txBody>
      </p:sp>
      <p:sp>
        <p:nvSpPr>
          <p:cNvPr id="9" name="圆角矩形 75"/>
          <p:cNvSpPr/>
          <p:nvPr/>
        </p:nvSpPr>
        <p:spPr bwMode="gray">
          <a:xfrm>
            <a:off x="731838" y="1071845"/>
            <a:ext cx="3402013" cy="360000"/>
          </a:xfrm>
          <a:prstGeom prst="roundRect">
            <a:avLst>
              <a:gd name="adj" fmla="val 10919"/>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虚拟机规模受设备表项规格限制</a:t>
            </a:r>
          </a:p>
        </p:txBody>
      </p:sp>
      <p:sp>
        <p:nvSpPr>
          <p:cNvPr id="10" name="圆角矩形 9"/>
          <p:cNvSpPr/>
          <p:nvPr/>
        </p:nvSpPr>
        <p:spPr bwMode="gray">
          <a:xfrm>
            <a:off x="731839" y="1472891"/>
            <a:ext cx="3402012" cy="4673722"/>
          </a:xfrm>
          <a:prstGeom prst="roundRect">
            <a:avLst>
              <a:gd name="adj" fmla="val 697"/>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144000" rtlCol="0" anchor="t" anchorCtr="0"/>
          <a:lstStyle/>
          <a:p>
            <a:pPr marL="176213" indent="-176213">
              <a:lnSpc>
                <a:spcPts val="2400"/>
              </a:lnSpc>
              <a:spcAft>
                <a:spcPts val="600"/>
              </a:spcAft>
              <a:buFont typeface="Arial" panose="020B0604020202020204" pitchFamily="34" charset="0"/>
              <a:buChar char="•"/>
            </a:pPr>
            <a:r>
              <a:rPr lang="zh-CN" altLang="en-US" sz="16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服务器虚拟化后，</a:t>
            </a:r>
            <a:r>
              <a:rPr lang="en-US" altLang="zh-CN" sz="16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VM</a:t>
            </a:r>
            <a:r>
              <a:rPr lang="zh-CN" altLang="en-US" sz="16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的数量比原有的物理机发生了巨大的增长，而接入侧二层设备的</a:t>
            </a:r>
            <a:r>
              <a:rPr lang="en-US" altLang="zh-CN" sz="16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地址表规格较小，无法满足快速增长的</a:t>
            </a:r>
            <a:r>
              <a:rPr lang="en-US" altLang="zh-CN" sz="16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VM</a:t>
            </a:r>
            <a:r>
              <a:rPr lang="zh-CN" altLang="en-US" sz="16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数量。</a:t>
            </a:r>
            <a:endParaRPr lang="en-US" altLang="zh-CN" sz="16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圆角矩形 75"/>
          <p:cNvSpPr/>
          <p:nvPr/>
        </p:nvSpPr>
        <p:spPr bwMode="gray">
          <a:xfrm>
            <a:off x="4225084" y="1071845"/>
            <a:ext cx="3524779" cy="360000"/>
          </a:xfrm>
          <a:prstGeom prst="roundRect">
            <a:avLst>
              <a:gd name="adj" fmla="val 10919"/>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网络隔离能力限制</a:t>
            </a:r>
          </a:p>
        </p:txBody>
      </p:sp>
      <p:sp>
        <p:nvSpPr>
          <p:cNvPr id="12" name="圆角矩形 11"/>
          <p:cNvSpPr/>
          <p:nvPr/>
        </p:nvSpPr>
        <p:spPr bwMode="gray">
          <a:xfrm>
            <a:off x="4225084" y="1472891"/>
            <a:ext cx="3524779" cy="4673722"/>
          </a:xfrm>
          <a:prstGeom prst="roundRect">
            <a:avLst>
              <a:gd name="adj" fmla="val 697"/>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144000" rtlCol="0" anchor="t" anchorCtr="0"/>
          <a:lstStyle/>
          <a:p>
            <a:pPr marL="176213" indent="-176213">
              <a:lnSpc>
                <a:spcPts val="2400"/>
              </a:lnSpc>
              <a:spcAft>
                <a:spcPts val="600"/>
              </a:spcAft>
              <a:buFont typeface="Arial" panose="020B0604020202020204" pitchFamily="34" charset="0"/>
              <a:buChar char="•"/>
            </a:pPr>
            <a:r>
              <a:rPr lang="en-US" altLang="zh-CN" sz="16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VLAN Tag</a:t>
            </a:r>
            <a:r>
              <a:rPr lang="zh-CN" altLang="en-US" sz="16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只有</a:t>
            </a:r>
            <a:r>
              <a:rPr lang="en-US" altLang="zh-CN" sz="16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12 bit</a:t>
            </a:r>
            <a:r>
              <a:rPr lang="zh-CN" altLang="en-US" sz="16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6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对于大型虚拟化云计算服务的场景而言，租户数目远大于</a:t>
            </a:r>
            <a:r>
              <a:rPr lang="en-US" altLang="zh-CN" sz="16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可用个数。</a:t>
            </a:r>
            <a:endParaRPr lang="en-US" altLang="zh-CN" sz="16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传统二层网络中的</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无法满足网络动态调整的需求。</a:t>
            </a:r>
          </a:p>
        </p:txBody>
      </p:sp>
      <p:sp>
        <p:nvSpPr>
          <p:cNvPr id="15" name="圆角矩形 75"/>
          <p:cNvSpPr/>
          <p:nvPr/>
        </p:nvSpPr>
        <p:spPr bwMode="gray">
          <a:xfrm>
            <a:off x="7837812" y="1052513"/>
            <a:ext cx="3622351" cy="360000"/>
          </a:xfrm>
          <a:prstGeom prst="roundRect">
            <a:avLst>
              <a:gd name="adj" fmla="val 10919"/>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虚拟机迁移范围受限</a:t>
            </a:r>
          </a:p>
        </p:txBody>
      </p:sp>
      <p:sp>
        <p:nvSpPr>
          <p:cNvPr id="16" name="圆角矩形 15"/>
          <p:cNvSpPr/>
          <p:nvPr/>
        </p:nvSpPr>
        <p:spPr bwMode="gray">
          <a:xfrm>
            <a:off x="7837812" y="1453559"/>
            <a:ext cx="3622351" cy="4673722"/>
          </a:xfrm>
          <a:prstGeom prst="roundRect">
            <a:avLst>
              <a:gd name="adj" fmla="val 697"/>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144000" rtlCol="0" anchor="t" anchorCtr="0"/>
          <a:lstStyle/>
          <a:p>
            <a:pPr marL="176213" indent="-176213">
              <a:lnSpc>
                <a:spcPts val="2400"/>
              </a:lnSpc>
              <a:spcAft>
                <a:spcPts val="600"/>
              </a:spcAft>
              <a:buFont typeface="Arial" panose="020B0604020202020204" pitchFamily="34" charset="0"/>
              <a:buChar char="•"/>
            </a:pPr>
            <a:r>
              <a:rPr lang="zh-CN" altLang="en-US" sz="16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虚拟机迁移必须发生在一个二层网络中。</a:t>
            </a:r>
            <a:endParaRPr lang="en-US" altLang="zh-CN" sz="16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spcAft>
                <a:spcPts val="600"/>
              </a:spcAft>
              <a:buFont typeface="Arial" panose="020B0604020202020204" pitchFamily="34" charset="0"/>
              <a:buChar char="•"/>
            </a:pPr>
            <a:r>
              <a:rPr lang="zh-CN" altLang="en-US" sz="16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rPr>
              <a:t>传统的二层网络，将虚拟机迁移限制在了一个较小的局部范围内。</a:t>
            </a:r>
            <a:endParaRPr lang="en-US" altLang="zh-CN" sz="1600" dirty="0">
              <a:solidFill>
                <a:schemeClr val="tx1">
                  <a:lumMod val="95000"/>
                  <a:lumOff val="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Freeform 159"/>
          <p:cNvSpPr/>
          <p:nvPr/>
        </p:nvSpPr>
        <p:spPr bwMode="gray">
          <a:xfrm flipH="1">
            <a:off x="973139" y="3689973"/>
            <a:ext cx="2902268" cy="156991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D7F2F5"/>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8" name="图片 87" descr="汇聚交换机.png"/>
          <p:cNvPicPr>
            <a:picLocks noChangeAspect="1"/>
          </p:cNvPicPr>
          <p:nvPr/>
        </p:nvPicPr>
        <p:blipFill>
          <a:blip r:embed="rId3" cstate="print"/>
          <a:stretch>
            <a:fillRect/>
          </a:stretch>
        </p:blipFill>
        <p:spPr bwMode="gray">
          <a:xfrm>
            <a:off x="1973116" y="4102397"/>
            <a:ext cx="405710" cy="331945"/>
          </a:xfrm>
          <a:prstGeom prst="rect">
            <a:avLst/>
          </a:prstGeom>
        </p:spPr>
      </p:pic>
      <p:pic>
        <p:nvPicPr>
          <p:cNvPr id="19" name="图片 76" descr="接入交换机.png"/>
          <p:cNvPicPr>
            <a:picLocks noChangeAspect="1"/>
          </p:cNvPicPr>
          <p:nvPr/>
        </p:nvPicPr>
        <p:blipFill>
          <a:blip r:embed="rId4" cstate="print"/>
          <a:stretch>
            <a:fillRect/>
          </a:stretch>
        </p:blipFill>
        <p:spPr bwMode="gray">
          <a:xfrm>
            <a:off x="1343142" y="5032906"/>
            <a:ext cx="405710" cy="331945"/>
          </a:xfrm>
          <a:prstGeom prst="rect">
            <a:avLst/>
          </a:prstGeom>
        </p:spPr>
      </p:pic>
      <p:pic>
        <p:nvPicPr>
          <p:cNvPr id="20" name="图片 87" descr="汇聚交换机.png"/>
          <p:cNvPicPr>
            <a:picLocks noChangeAspect="1"/>
          </p:cNvPicPr>
          <p:nvPr/>
        </p:nvPicPr>
        <p:blipFill>
          <a:blip r:embed="rId3" cstate="print"/>
          <a:stretch>
            <a:fillRect/>
          </a:stretch>
        </p:blipFill>
        <p:spPr bwMode="gray">
          <a:xfrm>
            <a:off x="2603090" y="4102397"/>
            <a:ext cx="405710" cy="331945"/>
          </a:xfrm>
          <a:prstGeom prst="rect">
            <a:avLst/>
          </a:prstGeom>
        </p:spPr>
      </p:pic>
      <p:pic>
        <p:nvPicPr>
          <p:cNvPr id="21" name="图片 76" descr="接入交换机.png"/>
          <p:cNvPicPr>
            <a:picLocks noChangeAspect="1"/>
          </p:cNvPicPr>
          <p:nvPr/>
        </p:nvPicPr>
        <p:blipFill>
          <a:blip r:embed="rId4" cstate="print"/>
          <a:stretch>
            <a:fillRect/>
          </a:stretch>
        </p:blipFill>
        <p:spPr bwMode="gray">
          <a:xfrm>
            <a:off x="3233063" y="5032906"/>
            <a:ext cx="405710" cy="331945"/>
          </a:xfrm>
          <a:prstGeom prst="rect">
            <a:avLst/>
          </a:prstGeom>
        </p:spPr>
      </p:pic>
      <p:pic>
        <p:nvPicPr>
          <p:cNvPr id="22" name="图片 38" descr="交换机.png"/>
          <p:cNvPicPr>
            <a:picLocks noChangeAspect="1"/>
          </p:cNvPicPr>
          <p:nvPr/>
        </p:nvPicPr>
        <p:blipFill>
          <a:blip r:embed="rId5" cstate="print"/>
          <a:stretch>
            <a:fillRect/>
          </a:stretch>
        </p:blipFill>
        <p:spPr bwMode="gray">
          <a:xfrm>
            <a:off x="974315" y="5611621"/>
            <a:ext cx="368827" cy="301767"/>
          </a:xfrm>
          <a:prstGeom prst="rect">
            <a:avLst/>
          </a:prstGeom>
        </p:spPr>
      </p:pic>
      <p:pic>
        <p:nvPicPr>
          <p:cNvPr id="23" name="图片 38" descr="交换机.png"/>
          <p:cNvPicPr>
            <a:picLocks noChangeAspect="1"/>
          </p:cNvPicPr>
          <p:nvPr/>
        </p:nvPicPr>
        <p:blipFill>
          <a:blip r:embed="rId5" cstate="print"/>
          <a:stretch>
            <a:fillRect/>
          </a:stretch>
        </p:blipFill>
        <p:spPr bwMode="gray">
          <a:xfrm>
            <a:off x="1748852" y="5611621"/>
            <a:ext cx="368827" cy="301767"/>
          </a:xfrm>
          <a:prstGeom prst="rect">
            <a:avLst/>
          </a:prstGeom>
        </p:spPr>
      </p:pic>
      <p:grpSp>
        <p:nvGrpSpPr>
          <p:cNvPr id="24" name="Group 3"/>
          <p:cNvGrpSpPr/>
          <p:nvPr/>
        </p:nvGrpSpPr>
        <p:grpSpPr bwMode="gray">
          <a:xfrm>
            <a:off x="1415014" y="5748321"/>
            <a:ext cx="261965" cy="61979"/>
            <a:chOff x="559282" y="6488261"/>
            <a:chExt cx="261965" cy="61979"/>
          </a:xfrm>
          <a:solidFill>
            <a:schemeClr val="bg1">
              <a:lumMod val="50000"/>
            </a:schemeClr>
          </a:solidFill>
        </p:grpSpPr>
        <p:sp>
          <p:nvSpPr>
            <p:cNvPr id="25"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28" name="图片 38" descr="交换机.png"/>
          <p:cNvPicPr>
            <a:picLocks noChangeAspect="1"/>
          </p:cNvPicPr>
          <p:nvPr/>
        </p:nvPicPr>
        <p:blipFill>
          <a:blip r:embed="rId5" cstate="print"/>
          <a:stretch>
            <a:fillRect/>
          </a:stretch>
        </p:blipFill>
        <p:spPr bwMode="gray">
          <a:xfrm>
            <a:off x="2850418" y="5611621"/>
            <a:ext cx="368827" cy="301767"/>
          </a:xfrm>
          <a:prstGeom prst="rect">
            <a:avLst/>
          </a:prstGeom>
        </p:spPr>
      </p:pic>
      <p:pic>
        <p:nvPicPr>
          <p:cNvPr id="29" name="图片 38" descr="交换机.png"/>
          <p:cNvPicPr>
            <a:picLocks noChangeAspect="1"/>
          </p:cNvPicPr>
          <p:nvPr/>
        </p:nvPicPr>
        <p:blipFill>
          <a:blip r:embed="rId5" cstate="print"/>
          <a:stretch>
            <a:fillRect/>
          </a:stretch>
        </p:blipFill>
        <p:spPr bwMode="gray">
          <a:xfrm>
            <a:off x="3624955" y="5611621"/>
            <a:ext cx="368827" cy="301767"/>
          </a:xfrm>
          <a:prstGeom prst="rect">
            <a:avLst/>
          </a:prstGeom>
        </p:spPr>
      </p:pic>
      <p:grpSp>
        <p:nvGrpSpPr>
          <p:cNvPr id="30" name="Group 3"/>
          <p:cNvGrpSpPr/>
          <p:nvPr/>
        </p:nvGrpSpPr>
        <p:grpSpPr bwMode="gray">
          <a:xfrm>
            <a:off x="3291117" y="5748321"/>
            <a:ext cx="261965" cy="61979"/>
            <a:chOff x="559282" y="6488261"/>
            <a:chExt cx="261965" cy="61979"/>
          </a:xfrm>
          <a:solidFill>
            <a:schemeClr val="bg1">
              <a:lumMod val="50000"/>
            </a:schemeClr>
          </a:solidFill>
        </p:grpSpPr>
        <p:sp>
          <p:nvSpPr>
            <p:cNvPr id="31"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4" name="文本框 33"/>
          <p:cNvSpPr txBox="1"/>
          <p:nvPr/>
        </p:nvSpPr>
        <p:spPr bwMode="gray">
          <a:xfrm>
            <a:off x="1926452" y="5264303"/>
            <a:ext cx="1082348" cy="307777"/>
          </a:xfrm>
          <a:prstGeom prst="rect">
            <a:avLst/>
          </a:prstGeom>
          <a:noFill/>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海量虚拟机</a:t>
            </a:r>
          </a:p>
        </p:txBody>
      </p:sp>
      <p:sp>
        <p:nvSpPr>
          <p:cNvPr id="36" name="TextBox 179"/>
          <p:cNvSpPr txBox="1"/>
          <p:nvPr/>
        </p:nvSpPr>
        <p:spPr bwMode="gray">
          <a:xfrm>
            <a:off x="1446003" y="4574768"/>
            <a:ext cx="2128611" cy="306245"/>
          </a:xfrm>
          <a:prstGeom prst="roundRect">
            <a:avLst>
              <a:gd name="adj" fmla="val 49545"/>
            </a:avLst>
          </a:prstGeom>
          <a:solidFill>
            <a:srgbClr val="EC7061"/>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每台设备都需有大规格</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表</a:t>
            </a:r>
          </a:p>
        </p:txBody>
      </p:sp>
      <p:sp>
        <p:nvSpPr>
          <p:cNvPr id="56" name="矩形 55"/>
          <p:cNvSpPr/>
          <p:nvPr/>
        </p:nvSpPr>
        <p:spPr bwMode="gray">
          <a:xfrm>
            <a:off x="4454424" y="3802167"/>
            <a:ext cx="527113" cy="460021"/>
          </a:xfrm>
          <a:prstGeom prst="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目的</a:t>
            </a:r>
            <a:endPar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defRPr/>
            </a:pPr>
            <a:r>
              <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MAC</a:t>
            </a:r>
            <a:endPar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矩形 57"/>
          <p:cNvSpPr/>
          <p:nvPr/>
        </p:nvSpPr>
        <p:spPr bwMode="gray">
          <a:xfrm>
            <a:off x="4981537" y="3802167"/>
            <a:ext cx="527113" cy="460021"/>
          </a:xfrm>
          <a:prstGeom prst="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源</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defRPr/>
            </a:pP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MAC</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矩形 58"/>
          <p:cNvSpPr/>
          <p:nvPr/>
        </p:nvSpPr>
        <p:spPr bwMode="gray">
          <a:xfrm>
            <a:off x="5508650" y="3802167"/>
            <a:ext cx="527113" cy="460021"/>
          </a:xfrm>
          <a:prstGeom prst="rect">
            <a:avLst/>
          </a:prstGeom>
          <a:solidFill>
            <a:srgbClr val="EC706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802.1Q</a:t>
            </a:r>
          </a:p>
          <a:p>
            <a:pPr algn="ctr">
              <a:defRPr/>
            </a:pP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Tag</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矩形 59"/>
          <p:cNvSpPr/>
          <p:nvPr/>
        </p:nvSpPr>
        <p:spPr bwMode="gray">
          <a:xfrm>
            <a:off x="6035763" y="3802167"/>
            <a:ext cx="527113" cy="460021"/>
          </a:xfrm>
          <a:prstGeom prst="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长度</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a:p>
            <a:pPr algn="ctr">
              <a:defRPr/>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类型</a:t>
            </a:r>
          </a:p>
        </p:txBody>
      </p:sp>
      <p:sp>
        <p:nvSpPr>
          <p:cNvPr id="61" name="矩形 60"/>
          <p:cNvSpPr/>
          <p:nvPr/>
        </p:nvSpPr>
        <p:spPr bwMode="gray">
          <a:xfrm>
            <a:off x="6561085" y="3802167"/>
            <a:ext cx="527113" cy="460021"/>
          </a:xfrm>
          <a:prstGeom prst="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数据</a:t>
            </a:r>
          </a:p>
        </p:txBody>
      </p:sp>
      <p:sp>
        <p:nvSpPr>
          <p:cNvPr id="62" name="矩形 61"/>
          <p:cNvSpPr/>
          <p:nvPr/>
        </p:nvSpPr>
        <p:spPr bwMode="gray">
          <a:xfrm>
            <a:off x="7088198" y="3802167"/>
            <a:ext cx="527113" cy="460021"/>
          </a:xfrm>
          <a:prstGeom prst="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FCS</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文本框 62"/>
          <p:cNvSpPr txBox="1"/>
          <p:nvPr/>
        </p:nvSpPr>
        <p:spPr bwMode="gray">
          <a:xfrm>
            <a:off x="6457429" y="3525168"/>
            <a:ext cx="1301959"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802.1Q Tag</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帧：</a:t>
            </a:r>
          </a:p>
        </p:txBody>
      </p:sp>
      <p:cxnSp>
        <p:nvCxnSpPr>
          <p:cNvPr id="65" name="直接箭头连接符 64"/>
          <p:cNvCxnSpPr/>
          <p:nvPr/>
        </p:nvCxnSpPr>
        <p:spPr bwMode="gray">
          <a:xfrm>
            <a:off x="5772206" y="4262188"/>
            <a:ext cx="0" cy="311977"/>
          </a:xfrm>
          <a:prstGeom prst="straightConnector1">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sp>
        <p:nvSpPr>
          <p:cNvPr id="67" name="文本框 66"/>
          <p:cNvSpPr txBox="1"/>
          <p:nvPr/>
        </p:nvSpPr>
        <p:spPr bwMode="gray">
          <a:xfrm>
            <a:off x="4354546" y="4574768"/>
            <a:ext cx="3437159" cy="276999"/>
          </a:xfrm>
          <a:prstGeom prst="rect">
            <a:avLst/>
          </a:prstGeom>
          <a:noFill/>
        </p:spPr>
        <p:txBody>
          <a:bodyPr wrap="none" rtlCol="0">
            <a:spAutoFit/>
          </a:bodyPr>
          <a:lstStyle/>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VLAN ID</a:t>
            </a:r>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长</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12 bit</a:t>
            </a:r>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，仅能表示</a:t>
            </a: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4096</a:t>
            </a:r>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个</a:t>
            </a:r>
            <a:r>
              <a:rPr lang="zh-CN" altLang="en-US" sz="12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逻辑单元。</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Freeform 159"/>
          <p:cNvSpPr/>
          <p:nvPr/>
        </p:nvSpPr>
        <p:spPr bwMode="gray">
          <a:xfrm flipH="1">
            <a:off x="4974951" y="4895987"/>
            <a:ext cx="1986880" cy="107475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D7F2F5"/>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TextBox 179"/>
          <p:cNvSpPr txBox="1"/>
          <p:nvPr/>
        </p:nvSpPr>
        <p:spPr bwMode="gray">
          <a:xfrm>
            <a:off x="4390750" y="5268146"/>
            <a:ext cx="3155282" cy="306245"/>
          </a:xfrm>
          <a:prstGeom prst="roundRect">
            <a:avLst>
              <a:gd name="adj" fmla="val 49545"/>
            </a:avLst>
          </a:prstGeom>
          <a:solidFill>
            <a:srgbClr val="EC7061"/>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大型数据中心需支持的租户规模远大于该数目</a:t>
            </a:r>
          </a:p>
        </p:txBody>
      </p:sp>
      <p:sp>
        <p:nvSpPr>
          <p:cNvPr id="70" name="文本框 69"/>
          <p:cNvSpPr txBox="1"/>
          <p:nvPr/>
        </p:nvSpPr>
        <p:spPr bwMode="gray">
          <a:xfrm>
            <a:off x="5629064" y="5600010"/>
            <a:ext cx="800219" cy="276999"/>
          </a:xfrm>
          <a:prstGeom prst="rect">
            <a:avLst/>
          </a:prstGeom>
          <a:noFill/>
        </p:spPr>
        <p:txBody>
          <a:bodyPr wrap="none" rtlCol="0">
            <a:spAutoFit/>
          </a:bodyPr>
          <a:lstStyle/>
          <a:p>
            <a:r>
              <a:rPr lang="zh-CN" altLang="en-US"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数据中心</a:t>
            </a:r>
          </a:p>
        </p:txBody>
      </p:sp>
      <p:sp>
        <p:nvSpPr>
          <p:cNvPr id="71" name="Freeform 159"/>
          <p:cNvSpPr/>
          <p:nvPr/>
        </p:nvSpPr>
        <p:spPr bwMode="gray">
          <a:xfrm flipH="1">
            <a:off x="8183138" y="3627298"/>
            <a:ext cx="2902268" cy="156991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D7F2F5"/>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2" name="图片 87" descr="汇聚交换机.png"/>
          <p:cNvPicPr>
            <a:picLocks noChangeAspect="1"/>
          </p:cNvPicPr>
          <p:nvPr/>
        </p:nvPicPr>
        <p:blipFill>
          <a:blip r:embed="rId3" cstate="print"/>
          <a:stretch>
            <a:fillRect/>
          </a:stretch>
        </p:blipFill>
        <p:spPr bwMode="gray">
          <a:xfrm>
            <a:off x="9183115" y="4151648"/>
            <a:ext cx="405710" cy="331945"/>
          </a:xfrm>
          <a:prstGeom prst="rect">
            <a:avLst/>
          </a:prstGeom>
        </p:spPr>
      </p:pic>
      <p:pic>
        <p:nvPicPr>
          <p:cNvPr id="73" name="图片 76" descr="接入交换机.png"/>
          <p:cNvPicPr>
            <a:picLocks noChangeAspect="1"/>
          </p:cNvPicPr>
          <p:nvPr/>
        </p:nvPicPr>
        <p:blipFill>
          <a:blip r:embed="rId4" cstate="print"/>
          <a:stretch>
            <a:fillRect/>
          </a:stretch>
        </p:blipFill>
        <p:spPr bwMode="gray">
          <a:xfrm>
            <a:off x="8553141" y="4970231"/>
            <a:ext cx="405710" cy="331945"/>
          </a:xfrm>
          <a:prstGeom prst="rect">
            <a:avLst/>
          </a:prstGeom>
        </p:spPr>
      </p:pic>
      <p:pic>
        <p:nvPicPr>
          <p:cNvPr id="74" name="图片 87" descr="汇聚交换机.png"/>
          <p:cNvPicPr>
            <a:picLocks noChangeAspect="1"/>
          </p:cNvPicPr>
          <p:nvPr/>
        </p:nvPicPr>
        <p:blipFill>
          <a:blip r:embed="rId3" cstate="print"/>
          <a:stretch>
            <a:fillRect/>
          </a:stretch>
        </p:blipFill>
        <p:spPr bwMode="gray">
          <a:xfrm>
            <a:off x="9813089" y="4151648"/>
            <a:ext cx="405710" cy="331945"/>
          </a:xfrm>
          <a:prstGeom prst="rect">
            <a:avLst/>
          </a:prstGeom>
        </p:spPr>
      </p:pic>
      <p:pic>
        <p:nvPicPr>
          <p:cNvPr id="75" name="图片 76" descr="接入交换机.png"/>
          <p:cNvPicPr>
            <a:picLocks noChangeAspect="1"/>
          </p:cNvPicPr>
          <p:nvPr/>
        </p:nvPicPr>
        <p:blipFill>
          <a:blip r:embed="rId4" cstate="print"/>
          <a:stretch>
            <a:fillRect/>
          </a:stretch>
        </p:blipFill>
        <p:spPr bwMode="gray">
          <a:xfrm>
            <a:off x="10443062" y="4970231"/>
            <a:ext cx="405710" cy="331945"/>
          </a:xfrm>
          <a:prstGeom prst="rect">
            <a:avLst/>
          </a:prstGeom>
        </p:spPr>
      </p:pic>
      <p:sp>
        <p:nvSpPr>
          <p:cNvPr id="76" name="TextBox 179"/>
          <p:cNvSpPr txBox="1"/>
          <p:nvPr/>
        </p:nvSpPr>
        <p:spPr bwMode="gray">
          <a:xfrm>
            <a:off x="7883041" y="3572097"/>
            <a:ext cx="3516018" cy="306245"/>
          </a:xfrm>
          <a:prstGeom prst="roundRect">
            <a:avLst>
              <a:gd name="adj" fmla="val 49545"/>
            </a:avLst>
          </a:prstGeom>
          <a:solidFill>
            <a:srgbClr val="EC7061"/>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zh-CN" altLang="en-US">
                <a:latin typeface="Huawei Sans" panose="020C0503030203020204" pitchFamily="34" charset="0"/>
                <a:ea typeface="方正兰亭黑简体" panose="02000000000000000000" pitchFamily="2" charset="-122"/>
                <a:sym typeface="Huawei Sans" panose="020C0503030203020204" pitchFamily="34" charset="0"/>
              </a:rPr>
              <a:t>虚拟机只能在一个</a:t>
            </a:r>
            <a:r>
              <a:rPr lang="en-US" altLang="zh-CN">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a:latin typeface="Huawei Sans" panose="020C0503030203020204" pitchFamily="34" charset="0"/>
                <a:ea typeface="方正兰亭黑简体" panose="02000000000000000000" pitchFamily="2" charset="-122"/>
                <a:sym typeface="Huawei Sans" panose="020C0503030203020204" pitchFamily="34" charset="0"/>
              </a:rPr>
              <a:t>内迁移，</a:t>
            </a:r>
            <a:r>
              <a:rPr lang="en-US" altLang="zh-CN">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a:latin typeface="Huawei Sans" panose="020C0503030203020204" pitchFamily="34" charset="0"/>
                <a:ea typeface="方正兰亭黑简体" panose="02000000000000000000" pitchFamily="2" charset="-122"/>
                <a:sym typeface="Huawei Sans" panose="020C0503030203020204" pitchFamily="34" charset="0"/>
              </a:rPr>
              <a:t>范围存瓶颈</a:t>
            </a:r>
          </a:p>
        </p:txBody>
      </p:sp>
      <p:pic>
        <p:nvPicPr>
          <p:cNvPr id="77" name="图片 38" descr="交换机.png"/>
          <p:cNvPicPr>
            <a:picLocks noChangeAspect="1"/>
          </p:cNvPicPr>
          <p:nvPr/>
        </p:nvPicPr>
        <p:blipFill>
          <a:blip r:embed="rId5" cstate="print"/>
          <a:stretch>
            <a:fillRect/>
          </a:stretch>
        </p:blipFill>
        <p:spPr bwMode="gray">
          <a:xfrm>
            <a:off x="8559853" y="5769801"/>
            <a:ext cx="368827" cy="301767"/>
          </a:xfrm>
          <a:prstGeom prst="rect">
            <a:avLst/>
          </a:prstGeom>
        </p:spPr>
      </p:pic>
      <p:pic>
        <p:nvPicPr>
          <p:cNvPr id="78" name="图片 38" descr="交换机.png"/>
          <p:cNvPicPr>
            <a:picLocks noChangeAspect="1"/>
          </p:cNvPicPr>
          <p:nvPr/>
        </p:nvPicPr>
        <p:blipFill>
          <a:blip r:embed="rId5" cstate="print"/>
          <a:stretch>
            <a:fillRect/>
          </a:stretch>
        </p:blipFill>
        <p:spPr bwMode="gray">
          <a:xfrm>
            <a:off x="10479945" y="5769801"/>
            <a:ext cx="368827" cy="301767"/>
          </a:xfrm>
          <a:prstGeom prst="rect">
            <a:avLst/>
          </a:prstGeom>
        </p:spPr>
      </p:pic>
      <p:cxnSp>
        <p:nvCxnSpPr>
          <p:cNvPr id="79" name="直接箭头连接符 78"/>
          <p:cNvCxnSpPr>
            <a:stCxn id="77" idx="3"/>
            <a:endCxn id="78" idx="1"/>
          </p:cNvCxnSpPr>
          <p:nvPr/>
        </p:nvCxnSpPr>
        <p:spPr bwMode="gray">
          <a:xfrm>
            <a:off x="8928680" y="5920685"/>
            <a:ext cx="1551265" cy="0"/>
          </a:xfrm>
          <a:prstGeom prst="straightConnector1">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sp>
        <p:nvSpPr>
          <p:cNvPr id="82" name="文本框 81"/>
          <p:cNvSpPr txBox="1"/>
          <p:nvPr/>
        </p:nvSpPr>
        <p:spPr bwMode="gray">
          <a:xfrm>
            <a:off x="9385970" y="5636493"/>
            <a:ext cx="492443" cy="276999"/>
          </a:xfrm>
          <a:prstGeom prst="rect">
            <a:avLst/>
          </a:prstGeom>
          <a:noFill/>
        </p:spPr>
        <p:txBody>
          <a:bodyPr wrap="none" rtlCol="0">
            <a:spAutoFit/>
          </a:bodyPr>
          <a:lstStyle/>
          <a:p>
            <a:r>
              <a:rPr lang="zh-CN" altLang="en-US" sz="1200" b="1">
                <a:latin typeface="Huawei Sans" panose="020C0503030203020204" pitchFamily="34" charset="0"/>
                <a:ea typeface="方正兰亭黑简体" panose="02000000000000000000" pitchFamily="2" charset="-122"/>
                <a:sym typeface="Huawei Sans" panose="020C0503030203020204" pitchFamily="34" charset="0"/>
              </a:rPr>
              <a:t>迁移</a:t>
            </a:r>
          </a:p>
        </p:txBody>
      </p:sp>
      <p:sp>
        <p:nvSpPr>
          <p:cNvPr id="83" name="任意多边形 82"/>
          <p:cNvSpPr/>
          <p:nvPr/>
        </p:nvSpPr>
        <p:spPr bwMode="gray">
          <a:xfrm>
            <a:off x="8694116" y="4259501"/>
            <a:ext cx="1977973" cy="1454196"/>
          </a:xfrm>
          <a:custGeom>
            <a:avLst/>
            <a:gdLst>
              <a:gd name="connsiteX0" fmla="*/ 0 w 1388533"/>
              <a:gd name="connsiteY0" fmla="*/ 0 h 33866"/>
              <a:gd name="connsiteX1" fmla="*/ 1388533 w 1388533"/>
              <a:gd name="connsiteY1" fmla="*/ 33866 h 33866"/>
              <a:gd name="connsiteX0" fmla="*/ 0 w 1319173"/>
              <a:gd name="connsiteY0" fmla="*/ 0 h 51234"/>
              <a:gd name="connsiteX1" fmla="*/ 1319173 w 1319173"/>
              <a:gd name="connsiteY1" fmla="*/ 51234 h 51234"/>
              <a:gd name="connsiteX0" fmla="*/ 0 w 944632"/>
              <a:gd name="connsiteY0" fmla="*/ 0 h 603"/>
              <a:gd name="connsiteX1" fmla="*/ 944632 w 944632"/>
              <a:gd name="connsiteY1" fmla="*/ 603 h 603"/>
              <a:gd name="connsiteX0" fmla="*/ 0 w 10000"/>
              <a:gd name="connsiteY0" fmla="*/ 185459 h 195459"/>
              <a:gd name="connsiteX1" fmla="*/ 10000 w 10000"/>
              <a:gd name="connsiteY1" fmla="*/ 195459 h 195459"/>
              <a:gd name="connsiteX0" fmla="*/ 0 w 10000"/>
              <a:gd name="connsiteY0" fmla="*/ 302781 h 312781"/>
              <a:gd name="connsiteX1" fmla="*/ 10000 w 10000"/>
              <a:gd name="connsiteY1" fmla="*/ 312781 h 312781"/>
              <a:gd name="connsiteX0" fmla="*/ 0 w 26317"/>
              <a:gd name="connsiteY0" fmla="*/ 6235858 h 6235858"/>
              <a:gd name="connsiteX1" fmla="*/ 26317 w 26317"/>
              <a:gd name="connsiteY1" fmla="*/ 18447 h 6235858"/>
              <a:gd name="connsiteX0" fmla="*/ 0 w 26317"/>
              <a:gd name="connsiteY0" fmla="*/ 6246050 h 6246050"/>
              <a:gd name="connsiteX1" fmla="*/ 26317 w 26317"/>
              <a:gd name="connsiteY1" fmla="*/ 28639 h 6246050"/>
              <a:gd name="connsiteX0" fmla="*/ 0 w 29058"/>
              <a:gd name="connsiteY0" fmla="*/ 1313102 h 1344802"/>
              <a:gd name="connsiteX1" fmla="*/ 29058 w 29058"/>
              <a:gd name="connsiteY1" fmla="*/ 1344801 h 1344802"/>
              <a:gd name="connsiteX0" fmla="*/ 0 w 29058"/>
              <a:gd name="connsiteY0" fmla="*/ 3854085 h 3885785"/>
              <a:gd name="connsiteX1" fmla="*/ 29058 w 29058"/>
              <a:gd name="connsiteY1" fmla="*/ 3885784 h 3885785"/>
              <a:gd name="connsiteX0" fmla="*/ 0 w 29972"/>
              <a:gd name="connsiteY0" fmla="*/ 3798506 h 3916997"/>
              <a:gd name="connsiteX1" fmla="*/ 29972 w 29972"/>
              <a:gd name="connsiteY1" fmla="*/ 3916996 h 3916997"/>
              <a:gd name="connsiteX0" fmla="*/ 228 w 30200"/>
              <a:gd name="connsiteY0" fmla="*/ 3982025 h 4100516"/>
              <a:gd name="connsiteX1" fmla="*/ 30200 w 30200"/>
              <a:gd name="connsiteY1" fmla="*/ 4100515 h 4100516"/>
              <a:gd name="connsiteX0" fmla="*/ 227 w 30330"/>
              <a:gd name="connsiteY0" fmla="*/ 4076139 h 4076139"/>
              <a:gd name="connsiteX1" fmla="*/ 30330 w 30330"/>
              <a:gd name="connsiteY1" fmla="*/ 4042742 h 4076139"/>
              <a:gd name="connsiteX0" fmla="*/ 228 w 30200"/>
              <a:gd name="connsiteY0" fmla="*/ 4116880 h 4116880"/>
              <a:gd name="connsiteX1" fmla="*/ 30200 w 30200"/>
              <a:gd name="connsiteY1" fmla="*/ 4018389 h 4116880"/>
              <a:gd name="connsiteX0" fmla="*/ 225 w 30589"/>
              <a:gd name="connsiteY0" fmla="*/ 4062610 h 4062610"/>
              <a:gd name="connsiteX1" fmla="*/ 30589 w 30589"/>
              <a:gd name="connsiteY1" fmla="*/ 4050913 h 4062610"/>
              <a:gd name="connsiteX0" fmla="*/ 0 w 30364"/>
              <a:gd name="connsiteY0" fmla="*/ 4036272 h 4036272"/>
              <a:gd name="connsiteX1" fmla="*/ 30364 w 30364"/>
              <a:gd name="connsiteY1" fmla="*/ 4024575 h 4036272"/>
              <a:gd name="connsiteX0" fmla="*/ 0 w 30495"/>
              <a:gd name="connsiteY0" fmla="*/ 4077141 h 4077141"/>
              <a:gd name="connsiteX1" fmla="*/ 30495 w 30495"/>
              <a:gd name="connsiteY1" fmla="*/ 4000349 h 4077141"/>
              <a:gd name="connsiteX0" fmla="*/ 0 w 30495"/>
              <a:gd name="connsiteY0" fmla="*/ 3662712 h 3662712"/>
              <a:gd name="connsiteX1" fmla="*/ 30495 w 30495"/>
              <a:gd name="connsiteY1" fmla="*/ 3585920 h 3662712"/>
              <a:gd name="connsiteX0" fmla="*/ 0 w 30495"/>
              <a:gd name="connsiteY0" fmla="*/ 3772674 h 3772674"/>
              <a:gd name="connsiteX1" fmla="*/ 30495 w 30495"/>
              <a:gd name="connsiteY1" fmla="*/ 3695882 h 3772674"/>
              <a:gd name="connsiteX0" fmla="*/ 0 w 30495"/>
              <a:gd name="connsiteY0" fmla="*/ 3726803 h 3726803"/>
              <a:gd name="connsiteX1" fmla="*/ 30495 w 30495"/>
              <a:gd name="connsiteY1" fmla="*/ 3650011 h 3726803"/>
            </a:gdLst>
            <a:ahLst/>
            <a:cxnLst>
              <a:cxn ang="0">
                <a:pos x="connsiteX0" y="connsiteY0"/>
              </a:cxn>
              <a:cxn ang="0">
                <a:pos x="connsiteX1" y="connsiteY1"/>
              </a:cxn>
            </a:cxnLst>
            <a:rect l="l" t="t" r="r" b="b"/>
            <a:pathLst>
              <a:path w="30495" h="3726803">
                <a:moveTo>
                  <a:pt x="0" y="3726803"/>
                </a:moveTo>
                <a:cubicBezTo>
                  <a:pt x="461" y="441214"/>
                  <a:pt x="22300" y="-2650714"/>
                  <a:pt x="30495" y="3650011"/>
                </a:cubicBezTo>
              </a:path>
            </a:pathLst>
          </a:custGeom>
          <a:noFill/>
          <a:ln w="76200" algn="ctr">
            <a:solidFill>
              <a:srgbClr val="EC7061">
                <a:alpha val="50000"/>
              </a:srgbClr>
            </a:solidFill>
            <a:prstDash val="solid"/>
            <a:round/>
            <a:headEnd type="none" w="med" len="med"/>
            <a:tailEnd type="triangle" w="med" len="med"/>
          </a:ln>
        </p:spPr>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文本框 83"/>
          <p:cNvSpPr txBox="1"/>
          <p:nvPr/>
        </p:nvSpPr>
        <p:spPr bwMode="gray">
          <a:xfrm>
            <a:off x="9152347" y="4524639"/>
            <a:ext cx="1061509" cy="276999"/>
          </a:xfrm>
          <a:prstGeom prst="rect">
            <a:avLst/>
          </a:prstGeom>
          <a:noFill/>
        </p:spPr>
        <p:txBody>
          <a:bodyPr wrap="none" rtlCol="0">
            <a:spAutoFit/>
          </a:bodyPr>
          <a:lstStyle/>
          <a:p>
            <a:r>
              <a:rPr lang="zh-CN" altLang="en-US" sz="1200" b="1">
                <a:latin typeface="Huawei Sans" panose="020C0503030203020204" pitchFamily="34" charset="0"/>
                <a:ea typeface="方正兰亭黑简体" panose="02000000000000000000" pitchFamily="2" charset="-122"/>
                <a:sym typeface="Huawei Sans" panose="020C0503030203020204" pitchFamily="34" charset="0"/>
              </a:rPr>
              <a:t>端到端</a:t>
            </a:r>
            <a:r>
              <a:rPr lang="en-US" altLang="zh-CN" sz="1200" b="1">
                <a:latin typeface="Huawei Sans" panose="020C0503030203020204" pitchFamily="34" charset="0"/>
                <a:ea typeface="方正兰亭黑简体" panose="02000000000000000000" pitchFamily="2" charset="-122"/>
                <a:sym typeface="Huawei Sans" panose="020C0503030203020204" pitchFamily="34" charset="0"/>
              </a:rPr>
              <a:t>VLAN</a:t>
            </a:r>
            <a:endParaRPr lang="zh-CN" altLang="en-US" sz="1200" b="1">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1613506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a:solidFill>
                  <a:schemeClr val="bg1">
                    <a:lumMod val="50000"/>
                  </a:schemeClr>
                </a:solidFill>
                <a:sym typeface="Huawei Sans" panose="020C0503030203020204" pitchFamily="34" charset="0"/>
              </a:rPr>
              <a:t>VXLAN</a:t>
            </a:r>
            <a:r>
              <a:rPr lang="zh-CN" altLang="en-US">
                <a:solidFill>
                  <a:schemeClr val="bg1">
                    <a:lumMod val="50000"/>
                  </a:schemeClr>
                </a:solidFill>
                <a:sym typeface="Huawei Sans" panose="020C0503030203020204" pitchFamily="34" charset="0"/>
              </a:rPr>
              <a:t>及园区网络虚拟化技术背景</a:t>
            </a:r>
            <a:endParaRPr lang="en-US" altLang="zh-CN">
              <a:solidFill>
                <a:schemeClr val="bg1">
                  <a:lumMod val="50000"/>
                </a:schemeClr>
              </a:solidFill>
              <a:sym typeface="Huawei Sans" panose="020C0503030203020204" pitchFamily="34" charset="0"/>
            </a:endParaRPr>
          </a:p>
          <a:p>
            <a:r>
              <a:rPr lang="en-US" altLang="zh-CN" b="1">
                <a:sym typeface="Huawei Sans" panose="020C0503030203020204" pitchFamily="34" charset="0"/>
              </a:rPr>
              <a:t>VXLAN</a:t>
            </a:r>
            <a:r>
              <a:rPr lang="zh-CN" altLang="en-US" b="1">
                <a:sym typeface="Huawei Sans" panose="020C0503030203020204" pitchFamily="34" charset="0"/>
              </a:rPr>
              <a:t>的基本概念及工作原理</a:t>
            </a:r>
            <a:endParaRPr lang="en-US" altLang="zh-CN" b="1">
              <a:sym typeface="Huawei Sans" panose="020C0503030203020204" pitchFamily="34" charset="0"/>
            </a:endParaRPr>
          </a:p>
          <a:p>
            <a:pPr lvl="1">
              <a:buSzPct val="60000"/>
              <a:buFont typeface="Wingdings" panose="05000000000000000000" pitchFamily="2" charset="2"/>
              <a:buChar char="n"/>
            </a:pPr>
            <a:r>
              <a:rPr lang="zh-CN" altLang="en-US">
                <a:sym typeface="Huawei Sans" panose="020C0503030203020204" pitchFamily="34" charset="0"/>
              </a:rPr>
              <a:t>基本概念</a:t>
            </a:r>
            <a:endParaRPr lang="en-US" altLang="zh-CN">
              <a:sym typeface="Huawei Sans" panose="020C0503030203020204" pitchFamily="34" charset="0"/>
            </a:endParaRPr>
          </a:p>
          <a:p>
            <a:pPr lvl="1"/>
            <a:r>
              <a:rPr lang="zh-CN" altLang="en-US">
                <a:solidFill>
                  <a:schemeClr val="bg1">
                    <a:lumMod val="50000"/>
                  </a:schemeClr>
                </a:solidFill>
                <a:sym typeface="Huawei Sans" panose="020C0503030203020204" pitchFamily="34" charset="0"/>
              </a:rPr>
              <a:t>工作原理</a:t>
            </a:r>
            <a:endParaRPr lang="en-US" altLang="zh-CN">
              <a:solidFill>
                <a:schemeClr val="bg1">
                  <a:lumMod val="50000"/>
                </a:schemeClr>
              </a:solidFill>
              <a:sym typeface="Huawei Sans" panose="020C0503030203020204" pitchFamily="34" charset="0"/>
            </a:endParaRPr>
          </a:p>
          <a:p>
            <a:pPr lvl="1"/>
            <a:r>
              <a:rPr lang="zh-CN" altLang="en-US">
                <a:solidFill>
                  <a:schemeClr val="bg1">
                    <a:lumMod val="50000"/>
                  </a:schemeClr>
                </a:solidFill>
                <a:sym typeface="Huawei Sans" panose="020C0503030203020204" pitchFamily="34" charset="0"/>
              </a:rPr>
              <a:t>基本配置</a:t>
            </a:r>
            <a:endParaRPr lang="en-US" altLang="zh-CN">
              <a:solidFill>
                <a:schemeClr val="bg1">
                  <a:lumMod val="50000"/>
                </a:schemeClr>
              </a:solidFill>
              <a:sym typeface="Huawei Sans" panose="020C0503030203020204" pitchFamily="34" charset="0"/>
            </a:endParaRPr>
          </a:p>
          <a:p>
            <a:r>
              <a:rPr lang="en-US" altLang="zh-CN">
                <a:solidFill>
                  <a:schemeClr val="bg1">
                    <a:lumMod val="50000"/>
                  </a:schemeClr>
                </a:solidFill>
                <a:sym typeface="Huawei Sans" panose="020C0503030203020204" pitchFamily="34" charset="0"/>
              </a:rPr>
              <a:t>BGP EVPN</a:t>
            </a:r>
          </a:p>
          <a:p>
            <a:r>
              <a:rPr lang="zh-CN" altLang="en-US">
                <a:solidFill>
                  <a:schemeClr val="bg1">
                    <a:lumMod val="50000"/>
                  </a:schemeClr>
                </a:solidFill>
                <a:sym typeface="Huawei Sans" panose="020C0503030203020204" pitchFamily="34" charset="0"/>
              </a:rPr>
              <a:t>园区网络虚拟化</a:t>
            </a:r>
            <a:endParaRPr lang="zh-CN" altLang="en-US"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15762850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0EDC9B-A58A-463B-A731-0478C6AAA997}"/>
              </a:ext>
            </a:extLst>
          </p:cNvPr>
          <p:cNvSpPr>
            <a:spLocks noGrp="1"/>
          </p:cNvSpPr>
          <p:nvPr>
            <p:ph type="title"/>
          </p:nvPr>
        </p:nvSpPr>
        <p:spPr bwMode="gray"/>
        <p:txBody>
          <a:bodyPr/>
          <a:lstStyle/>
          <a:p>
            <a:r>
              <a:rPr lang="en-US" altLang="zh-CN">
                <a:sym typeface="Huawei Sans" panose="020C0503030203020204" pitchFamily="34" charset="0"/>
              </a:rPr>
              <a:t>VXLAN</a:t>
            </a:r>
            <a:r>
              <a:rPr lang="zh-CN" altLang="en-US">
                <a:sym typeface="Huawei Sans" panose="020C0503030203020204" pitchFamily="34" charset="0"/>
              </a:rPr>
              <a:t>简介</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a:xfrm>
            <a:off x="455613" y="1047751"/>
            <a:ext cx="11256962" cy="2561980"/>
          </a:xfrm>
        </p:spPr>
        <p:txBody>
          <a:bodyPr/>
          <a:lstStyle/>
          <a:p>
            <a:r>
              <a:rPr lang="en-US" altLang="zh-CN" sz="1800" dirty="0">
                <a:sym typeface="Huawei Sans" panose="020C0503030203020204" pitchFamily="34" charset="0"/>
              </a:rPr>
              <a:t>VXLAN</a:t>
            </a:r>
            <a:r>
              <a:rPr lang="zh-CN" altLang="en-US" sz="1800" dirty="0">
                <a:sym typeface="Huawei Sans" panose="020C0503030203020204" pitchFamily="34" charset="0"/>
              </a:rPr>
              <a:t>在本质上是一种</a:t>
            </a:r>
            <a:r>
              <a:rPr lang="en-US" altLang="zh-CN" sz="1800" dirty="0">
                <a:sym typeface="Huawei Sans" panose="020C0503030203020204" pitchFamily="34" charset="0"/>
              </a:rPr>
              <a:t>VPN</a:t>
            </a:r>
            <a:r>
              <a:rPr lang="zh-CN" altLang="en-US" sz="1800" dirty="0">
                <a:sym typeface="Huawei Sans" panose="020C0503030203020204" pitchFamily="34" charset="0"/>
              </a:rPr>
              <a:t>技术，能够在任意路由可达的物理网络（</a:t>
            </a:r>
            <a:r>
              <a:rPr lang="en-US" altLang="zh-CN" sz="1800" dirty="0">
                <a:sym typeface="Huawei Sans" panose="020C0503030203020204" pitchFamily="34" charset="0"/>
              </a:rPr>
              <a:t>Underlay</a:t>
            </a:r>
            <a:r>
              <a:rPr lang="zh-CN" altLang="en-US" sz="1800" dirty="0">
                <a:sym typeface="Huawei Sans" panose="020C0503030203020204" pitchFamily="34" charset="0"/>
              </a:rPr>
              <a:t>网络）上叠加二层虚拟网络（</a:t>
            </a:r>
            <a:r>
              <a:rPr lang="en-US" altLang="zh-CN" sz="1800" dirty="0">
                <a:sym typeface="Huawei Sans" panose="020C0503030203020204" pitchFamily="34" charset="0"/>
              </a:rPr>
              <a:t>Overlay</a:t>
            </a:r>
            <a:r>
              <a:rPr lang="zh-CN" altLang="en-US" sz="1800" dirty="0">
                <a:sym typeface="Huawei Sans" panose="020C0503030203020204" pitchFamily="34" charset="0"/>
              </a:rPr>
              <a:t>网络），通过</a:t>
            </a:r>
            <a:r>
              <a:rPr lang="en-US" altLang="zh-CN" sz="1800" dirty="0">
                <a:sym typeface="Huawei Sans" panose="020C0503030203020204" pitchFamily="34" charset="0"/>
              </a:rPr>
              <a:t>VXLAN</a:t>
            </a:r>
            <a:r>
              <a:rPr lang="zh-CN" altLang="en-US" sz="1800" dirty="0">
                <a:sym typeface="Huawei Sans" panose="020C0503030203020204" pitchFamily="34" charset="0"/>
              </a:rPr>
              <a:t>网关之间的</a:t>
            </a:r>
            <a:r>
              <a:rPr lang="en-US" altLang="zh-CN" sz="1800" dirty="0">
                <a:sym typeface="Huawei Sans" panose="020C0503030203020204" pitchFamily="34" charset="0"/>
              </a:rPr>
              <a:t>VXLAN</a:t>
            </a:r>
            <a:r>
              <a:rPr lang="zh-CN" altLang="en-US" sz="1800" dirty="0">
                <a:sym typeface="Huawei Sans" panose="020C0503030203020204" pitchFamily="34" charset="0"/>
              </a:rPr>
              <a:t>隧道实现</a:t>
            </a:r>
            <a:r>
              <a:rPr lang="en-US" altLang="zh-CN" sz="1800" dirty="0">
                <a:sym typeface="Huawei Sans" panose="020C0503030203020204" pitchFamily="34" charset="0"/>
              </a:rPr>
              <a:t>VXLAN</a:t>
            </a:r>
            <a:r>
              <a:rPr lang="zh-CN" altLang="en-US" sz="1800" dirty="0">
                <a:sym typeface="Huawei Sans" panose="020C0503030203020204" pitchFamily="34" charset="0"/>
              </a:rPr>
              <a:t>网络内部的互通，同时，也可以实现与传统的非</a:t>
            </a:r>
            <a:r>
              <a:rPr lang="en-US" altLang="zh-CN" sz="1800" dirty="0">
                <a:sym typeface="Huawei Sans" panose="020C0503030203020204" pitchFamily="34" charset="0"/>
              </a:rPr>
              <a:t>VXLAN</a:t>
            </a:r>
            <a:r>
              <a:rPr lang="zh-CN" altLang="en-US" sz="1800" dirty="0">
                <a:sym typeface="Huawei Sans" panose="020C0503030203020204" pitchFamily="34" charset="0"/>
              </a:rPr>
              <a:t>网络的互通。</a:t>
            </a:r>
          </a:p>
          <a:p>
            <a:r>
              <a:rPr lang="en-US" altLang="zh-CN" sz="1800" dirty="0">
                <a:sym typeface="Huawei Sans" panose="020C0503030203020204" pitchFamily="34" charset="0"/>
              </a:rPr>
              <a:t>VXLAN</a:t>
            </a:r>
            <a:r>
              <a:rPr lang="zh-CN" altLang="en-US" sz="1800" dirty="0">
                <a:sym typeface="Huawei Sans" panose="020C0503030203020204" pitchFamily="34" charset="0"/>
              </a:rPr>
              <a:t>通过采用</a:t>
            </a:r>
            <a:r>
              <a:rPr lang="en-US" altLang="zh-CN" sz="1800" dirty="0">
                <a:sym typeface="Huawei Sans" panose="020C0503030203020204" pitchFamily="34" charset="0"/>
              </a:rPr>
              <a:t>MAC in UDP</a:t>
            </a:r>
            <a:r>
              <a:rPr lang="zh-CN" altLang="en-US" sz="1800" dirty="0">
                <a:sym typeface="Huawei Sans" panose="020C0503030203020204" pitchFamily="34" charset="0"/>
              </a:rPr>
              <a:t>封装来延伸二层网络，将以太报文封装在</a:t>
            </a:r>
            <a:r>
              <a:rPr lang="en-US" altLang="zh-CN" sz="1800" dirty="0">
                <a:sym typeface="Huawei Sans" panose="020C0503030203020204" pitchFamily="34" charset="0"/>
              </a:rPr>
              <a:t>IP</a:t>
            </a:r>
            <a:r>
              <a:rPr lang="zh-CN" altLang="en-US" sz="1800" dirty="0">
                <a:sym typeface="Huawei Sans" panose="020C0503030203020204" pitchFamily="34" charset="0"/>
              </a:rPr>
              <a:t>报文之上，通过路由在网络中传输，无需关注虚拟机的</a:t>
            </a:r>
            <a:r>
              <a:rPr lang="en-US" altLang="zh-CN" sz="1800" dirty="0">
                <a:sym typeface="Huawei Sans" panose="020C0503030203020204" pitchFamily="34" charset="0"/>
              </a:rPr>
              <a:t>MAC</a:t>
            </a:r>
            <a:r>
              <a:rPr lang="zh-CN" altLang="en-US" sz="1800" dirty="0">
                <a:sym typeface="Huawei Sans" panose="020C0503030203020204" pitchFamily="34" charset="0"/>
              </a:rPr>
              <a:t>地址。且三层网络无网络结构限制，具备大规模扩展能力。通过路由网络，虚拟机迁移不受网络架构限制。</a:t>
            </a:r>
          </a:p>
        </p:txBody>
      </p:sp>
      <p:sp>
        <p:nvSpPr>
          <p:cNvPr id="41" name="Freeform 159"/>
          <p:cNvSpPr/>
          <p:nvPr/>
        </p:nvSpPr>
        <p:spPr bwMode="gray">
          <a:xfrm rot="391833" flipH="1">
            <a:off x="3819518" y="4007581"/>
            <a:ext cx="4437133" cy="2715951"/>
          </a:xfrm>
          <a:prstGeom prst="roundRect">
            <a:avLst/>
          </a:prstGeom>
          <a:gradFill>
            <a:gsLst>
              <a:gs pos="0">
                <a:schemeClr val="accent1">
                  <a:lumMod val="5000"/>
                  <a:lumOff val="95000"/>
                  <a:alpha val="0"/>
                </a:schemeClr>
              </a:gs>
              <a:gs pos="100000">
                <a:srgbClr val="D2ECB6"/>
              </a:gs>
            </a:gsLst>
            <a:lin ang="5400000" scaled="1"/>
          </a:gradFill>
          <a:ln w="12700">
            <a:solidFill>
              <a:schemeClr val="bg1">
                <a:lumMod val="85000"/>
              </a:schemeClr>
            </a:solidFill>
          </a:ln>
          <a:scene3d>
            <a:camera prst="isometricOffAxis1Top"/>
            <a:lightRig rig="threePt" dir="t"/>
          </a:scene3d>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矩形 52"/>
          <p:cNvSpPr/>
          <p:nvPr/>
        </p:nvSpPr>
        <p:spPr bwMode="gray">
          <a:xfrm>
            <a:off x="3815220" y="4828357"/>
            <a:ext cx="971741" cy="348237"/>
          </a:xfrm>
          <a:prstGeom prst="rect">
            <a:avLst/>
          </a:prstGeom>
        </p:spPr>
        <p:txBody>
          <a:bodyPr wrap="none">
            <a:spAutoFit/>
          </a:bodyPr>
          <a:lstStyle/>
          <a:p>
            <a:pPr algn="just">
              <a:lnSpc>
                <a:spcPts val="2200"/>
              </a:lnSpc>
            </a:pPr>
            <a:r>
              <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Underlay</a:t>
            </a:r>
            <a:endParaRPr lang="zh-CN" altLang="en-US"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矩形 46"/>
          <p:cNvSpPr/>
          <p:nvPr/>
        </p:nvSpPr>
        <p:spPr bwMode="gray">
          <a:xfrm>
            <a:off x="2117556" y="4955186"/>
            <a:ext cx="1055097"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Local LAN</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圆柱形 50"/>
          <p:cNvSpPr/>
          <p:nvPr/>
        </p:nvSpPr>
        <p:spPr bwMode="gray">
          <a:xfrm rot="16200000">
            <a:off x="9442211" y="5308426"/>
            <a:ext cx="213246" cy="1368198"/>
          </a:xfrm>
          <a:prstGeom prst="can">
            <a:avLst>
              <a:gd name="adj" fmla="val 50828"/>
            </a:avLst>
          </a:prstGeom>
          <a:solidFill>
            <a:srgbClr val="EC7061"/>
          </a:solidFill>
          <a:ln w="12700" cap="flat" cmpd="sng" algn="ctr">
            <a:solidFill>
              <a:sysClr val="window" lastClr="FFFFFF"/>
            </a:solidFill>
            <a:prstDash val="solid"/>
            <a:miter lim="800000"/>
          </a:ln>
          <a:effectLst/>
        </p:spPr>
        <p:txBody>
          <a:bodyPr rtlCol="0" anchor="ctr"/>
          <a:lstStyle/>
          <a:p>
            <a:pPr algn="ctr"/>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矩形 51"/>
          <p:cNvSpPr/>
          <p:nvPr/>
        </p:nvSpPr>
        <p:spPr bwMode="gray">
          <a:xfrm>
            <a:off x="9082165" y="5782053"/>
            <a:ext cx="1053494" cy="344838"/>
          </a:xfrm>
          <a:prstGeom prst="rect">
            <a:avLst/>
          </a:prstGeom>
        </p:spPr>
        <p:txBody>
          <a:bodyPr wrap="none">
            <a:spAutoFit/>
          </a:bodyPr>
          <a:lstStyle/>
          <a:p>
            <a:pPr algn="just">
              <a:lnSpc>
                <a:spcPts val="2200"/>
              </a:lnSpc>
            </a:pP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 </a:t>
            </a:r>
            <a:r>
              <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a:t>
            </a:r>
          </a:p>
        </p:txBody>
      </p:sp>
      <p:pic>
        <p:nvPicPr>
          <p:cNvPr id="55" name="图片 11" descr="开放网络-蓝.png"/>
          <p:cNvPicPr>
            <a:picLocks noChangeAspect="1"/>
          </p:cNvPicPr>
          <p:nvPr/>
        </p:nvPicPr>
        <p:blipFill>
          <a:blip r:embed="rId3" cstate="print"/>
          <a:stretch>
            <a:fillRect/>
          </a:stretch>
        </p:blipFill>
        <p:spPr bwMode="gray">
          <a:xfrm>
            <a:off x="9030266" y="3846847"/>
            <a:ext cx="539607" cy="415381"/>
          </a:xfrm>
          <a:prstGeom prst="rect">
            <a:avLst/>
          </a:prstGeom>
        </p:spPr>
      </p:pic>
      <p:pic>
        <p:nvPicPr>
          <p:cNvPr id="56" name="图片 86" descr="核心交换机.png"/>
          <p:cNvPicPr>
            <a:picLocks noChangeAspect="1"/>
          </p:cNvPicPr>
          <p:nvPr/>
        </p:nvPicPr>
        <p:blipFill>
          <a:blip r:embed="rId4" cstate="print">
            <a:duotone>
              <a:schemeClr val="accent5">
                <a:shade val="45000"/>
                <a:satMod val="135000"/>
              </a:schemeClr>
              <a:prstClr val="white"/>
            </a:duotone>
          </a:blip>
          <a:stretch>
            <a:fillRect/>
          </a:stretch>
        </p:blipFill>
        <p:spPr bwMode="gray">
          <a:xfrm>
            <a:off x="5246587" y="4955186"/>
            <a:ext cx="446281" cy="365139"/>
          </a:xfrm>
          <a:prstGeom prst="rect">
            <a:avLst/>
          </a:prstGeom>
        </p:spPr>
      </p:pic>
      <p:pic>
        <p:nvPicPr>
          <p:cNvPr id="57" name="图片 86" descr="核心交换机.png"/>
          <p:cNvPicPr>
            <a:picLocks noChangeAspect="1"/>
          </p:cNvPicPr>
          <p:nvPr/>
        </p:nvPicPr>
        <p:blipFill>
          <a:blip r:embed="rId4" cstate="print">
            <a:duotone>
              <a:schemeClr val="accent5">
                <a:shade val="45000"/>
                <a:satMod val="135000"/>
              </a:schemeClr>
              <a:prstClr val="white"/>
            </a:duotone>
          </a:blip>
          <a:stretch>
            <a:fillRect/>
          </a:stretch>
        </p:blipFill>
        <p:spPr bwMode="gray">
          <a:xfrm>
            <a:off x="6423385" y="4955186"/>
            <a:ext cx="446281" cy="365139"/>
          </a:xfrm>
          <a:prstGeom prst="rect">
            <a:avLst/>
          </a:prstGeom>
        </p:spPr>
      </p:pic>
      <p:cxnSp>
        <p:nvCxnSpPr>
          <p:cNvPr id="32" name="直接连接符 31"/>
          <p:cNvCxnSpPr>
            <a:stCxn id="23" idx="1"/>
            <a:endCxn id="57" idx="2"/>
          </p:cNvCxnSpPr>
          <p:nvPr/>
        </p:nvCxnSpPr>
        <p:spPr bwMode="gray">
          <a:xfrm flipH="1" flipV="1">
            <a:off x="6646526" y="5320325"/>
            <a:ext cx="1273657" cy="6506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57" idx="1"/>
            <a:endCxn id="56" idx="3"/>
          </p:cNvCxnSpPr>
          <p:nvPr/>
        </p:nvCxnSpPr>
        <p:spPr bwMode="gray">
          <a:xfrm flipH="1">
            <a:off x="5692868" y="5137756"/>
            <a:ext cx="73051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21" idx="3"/>
            <a:endCxn id="56" idx="2"/>
          </p:cNvCxnSpPr>
          <p:nvPr/>
        </p:nvCxnSpPr>
        <p:spPr bwMode="gray">
          <a:xfrm flipV="1">
            <a:off x="4543603" y="5320325"/>
            <a:ext cx="926125" cy="27915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2" name="直接连接符 61"/>
          <p:cNvCxnSpPr>
            <a:stCxn id="57" idx="0"/>
            <a:endCxn id="22" idx="1"/>
          </p:cNvCxnSpPr>
          <p:nvPr/>
        </p:nvCxnSpPr>
        <p:spPr bwMode="gray">
          <a:xfrm flipV="1">
            <a:off x="6646526" y="4776372"/>
            <a:ext cx="671699" cy="17881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7" name="直接连接符 76"/>
          <p:cNvCxnSpPr>
            <a:stCxn id="56" idx="0"/>
            <a:endCxn id="22" idx="1"/>
          </p:cNvCxnSpPr>
          <p:nvPr/>
        </p:nvCxnSpPr>
        <p:spPr bwMode="gray">
          <a:xfrm flipV="1">
            <a:off x="5469728" y="4776372"/>
            <a:ext cx="1848497" cy="178814"/>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21" name="图片 86" descr="核心交换机.png"/>
          <p:cNvPicPr>
            <a:picLocks noChangeAspect="1"/>
          </p:cNvPicPr>
          <p:nvPr/>
        </p:nvPicPr>
        <p:blipFill>
          <a:blip r:embed="rId4" cstate="print">
            <a:duotone>
              <a:schemeClr val="accent5">
                <a:shade val="45000"/>
                <a:satMod val="135000"/>
              </a:schemeClr>
              <a:prstClr val="white"/>
            </a:duotone>
          </a:blip>
          <a:stretch>
            <a:fillRect/>
          </a:stretch>
        </p:blipFill>
        <p:spPr bwMode="gray">
          <a:xfrm>
            <a:off x="4097322" y="5416914"/>
            <a:ext cx="446281" cy="365139"/>
          </a:xfrm>
          <a:prstGeom prst="rect">
            <a:avLst/>
          </a:prstGeom>
        </p:spPr>
      </p:pic>
      <p:pic>
        <p:nvPicPr>
          <p:cNvPr id="22" name="图片 86" descr="核心交换机.png"/>
          <p:cNvPicPr>
            <a:picLocks noChangeAspect="1"/>
          </p:cNvPicPr>
          <p:nvPr/>
        </p:nvPicPr>
        <p:blipFill>
          <a:blip r:embed="rId4" cstate="print">
            <a:duotone>
              <a:schemeClr val="accent5">
                <a:shade val="45000"/>
                <a:satMod val="135000"/>
              </a:schemeClr>
              <a:prstClr val="white"/>
            </a:duotone>
          </a:blip>
          <a:stretch>
            <a:fillRect/>
          </a:stretch>
        </p:blipFill>
        <p:spPr bwMode="gray">
          <a:xfrm>
            <a:off x="7318225" y="4593802"/>
            <a:ext cx="446281" cy="365139"/>
          </a:xfrm>
          <a:prstGeom prst="rect">
            <a:avLst/>
          </a:prstGeom>
        </p:spPr>
      </p:pic>
      <p:pic>
        <p:nvPicPr>
          <p:cNvPr id="23" name="图片 86" descr="核心交换机.png"/>
          <p:cNvPicPr>
            <a:picLocks noChangeAspect="1"/>
          </p:cNvPicPr>
          <p:nvPr/>
        </p:nvPicPr>
        <p:blipFill>
          <a:blip r:embed="rId4" cstate="print">
            <a:duotone>
              <a:schemeClr val="accent5">
                <a:shade val="45000"/>
                <a:satMod val="135000"/>
              </a:schemeClr>
              <a:prstClr val="white"/>
            </a:duotone>
          </a:blip>
          <a:stretch>
            <a:fillRect/>
          </a:stretch>
        </p:blipFill>
        <p:spPr bwMode="gray">
          <a:xfrm>
            <a:off x="7920183" y="5202818"/>
            <a:ext cx="446281" cy="365139"/>
          </a:xfrm>
          <a:prstGeom prst="rect">
            <a:avLst/>
          </a:prstGeom>
        </p:spPr>
      </p:pic>
      <p:sp>
        <p:nvSpPr>
          <p:cNvPr id="45" name="圆柱形 44"/>
          <p:cNvSpPr/>
          <p:nvPr/>
        </p:nvSpPr>
        <p:spPr bwMode="gray">
          <a:xfrm rot="15430210">
            <a:off x="5887269" y="3566024"/>
            <a:ext cx="144000" cy="3041156"/>
          </a:xfrm>
          <a:prstGeom prst="can">
            <a:avLst>
              <a:gd name="adj" fmla="val 42804"/>
            </a:avLst>
          </a:prstGeom>
          <a:solidFill>
            <a:srgbClr val="EC7061"/>
          </a:solidFill>
          <a:ln w="12700" cap="flat" cmpd="sng" algn="ctr">
            <a:solidFill>
              <a:sysClr val="window" lastClr="FFFFFF"/>
            </a:solidFill>
            <a:prstDash val="solid"/>
            <a:miter lim="800000"/>
          </a:ln>
          <a:effectLst/>
        </p:spPr>
        <p:txBody>
          <a:bodyPr rtlCol="0" anchor="ctr"/>
          <a:lstStyle/>
          <a:p>
            <a:pPr algn="ctr"/>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圆柱形 85"/>
          <p:cNvSpPr/>
          <p:nvPr/>
        </p:nvSpPr>
        <p:spPr bwMode="gray">
          <a:xfrm rot="16047040">
            <a:off x="6179449" y="3824239"/>
            <a:ext cx="144000" cy="3418196"/>
          </a:xfrm>
          <a:prstGeom prst="can">
            <a:avLst>
              <a:gd name="adj" fmla="val 42804"/>
            </a:avLst>
          </a:prstGeom>
          <a:solidFill>
            <a:srgbClr val="EC7061"/>
          </a:solidFill>
          <a:ln w="12700" cap="flat" cmpd="sng" algn="ctr">
            <a:solidFill>
              <a:sysClr val="window" lastClr="FFFFFF"/>
            </a:solidFill>
            <a:prstDash val="solid"/>
            <a:miter lim="800000"/>
          </a:ln>
          <a:effectLst/>
        </p:spPr>
        <p:txBody>
          <a:bodyPr rtlCol="0" anchor="ctr"/>
          <a:lstStyle/>
          <a:p>
            <a:pPr algn="ctr"/>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4" name="Freeform 159"/>
          <p:cNvSpPr/>
          <p:nvPr/>
        </p:nvSpPr>
        <p:spPr bwMode="gray">
          <a:xfrm rot="391833" flipH="1">
            <a:off x="3752398" y="3207673"/>
            <a:ext cx="4437133" cy="2715951"/>
          </a:xfrm>
          <a:prstGeom prst="roundRect">
            <a:avLst/>
          </a:prstGeom>
          <a:solidFill>
            <a:srgbClr val="E5F6FC">
              <a:alpha val="66000"/>
            </a:srgbClr>
          </a:solidFill>
          <a:ln w="12700" cap="flat" cmpd="sng" algn="ctr">
            <a:gradFill flip="none" rotWithShape="1">
              <a:gsLst>
                <a:gs pos="0">
                  <a:srgbClr val="1AABE2">
                    <a:lumMod val="5000"/>
                    <a:lumOff val="95000"/>
                    <a:alpha val="0"/>
                  </a:srgbClr>
                </a:gs>
                <a:gs pos="83000">
                  <a:srgbClr val="BAE6F6">
                    <a:lumMod val="50000"/>
                  </a:srgbClr>
                </a:gs>
              </a:gsLst>
              <a:lin ang="5400000" scaled="1"/>
              <a:tileRect/>
            </a:gradFill>
            <a:prstDash val="solid"/>
            <a:miter lim="800000"/>
          </a:ln>
          <a:effectLst/>
          <a:scene3d>
            <a:camera prst="isometricOffAxis1Top"/>
            <a:lightRig rig="threePt" dir="t"/>
          </a:scene3d>
        </p:spPr>
        <p:txBody>
          <a:bodyPr rtlCol="0" anchor="ctr"/>
          <a:lstStyle/>
          <a:p>
            <a:pPr algn="ctr" defTabSz="914400"/>
            <a:endParaRPr 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71" name="图片 86" descr="核心交换机.png"/>
          <p:cNvPicPr>
            <a:picLocks noChangeAspect="1"/>
          </p:cNvPicPr>
          <p:nvPr/>
        </p:nvPicPr>
        <p:blipFill>
          <a:blip r:embed="rId4" cstate="print"/>
          <a:stretch>
            <a:fillRect/>
          </a:stretch>
        </p:blipFill>
        <p:spPr bwMode="gray">
          <a:xfrm>
            <a:off x="4097322" y="4524499"/>
            <a:ext cx="446281" cy="365139"/>
          </a:xfrm>
          <a:prstGeom prst="rect">
            <a:avLst/>
          </a:prstGeom>
        </p:spPr>
      </p:pic>
      <p:pic>
        <p:nvPicPr>
          <p:cNvPr id="172" name="图片 86" descr="核心交换机.png"/>
          <p:cNvPicPr>
            <a:picLocks noChangeAspect="1"/>
          </p:cNvPicPr>
          <p:nvPr/>
        </p:nvPicPr>
        <p:blipFill>
          <a:blip r:embed="rId4" cstate="print"/>
          <a:stretch>
            <a:fillRect/>
          </a:stretch>
        </p:blipFill>
        <p:spPr bwMode="gray">
          <a:xfrm>
            <a:off x="7764506" y="4368457"/>
            <a:ext cx="446281" cy="365139"/>
          </a:xfrm>
          <a:prstGeom prst="rect">
            <a:avLst/>
          </a:prstGeom>
        </p:spPr>
      </p:pic>
      <p:pic>
        <p:nvPicPr>
          <p:cNvPr id="174" name="图片 86" descr="核心交换机.png"/>
          <p:cNvPicPr>
            <a:picLocks noChangeAspect="1"/>
          </p:cNvPicPr>
          <p:nvPr/>
        </p:nvPicPr>
        <p:blipFill>
          <a:blip r:embed="rId4" cstate="print"/>
          <a:stretch>
            <a:fillRect/>
          </a:stretch>
        </p:blipFill>
        <p:spPr bwMode="gray">
          <a:xfrm>
            <a:off x="7147333" y="3871968"/>
            <a:ext cx="446281" cy="365139"/>
          </a:xfrm>
          <a:prstGeom prst="rect">
            <a:avLst/>
          </a:prstGeom>
        </p:spPr>
      </p:pic>
      <p:cxnSp>
        <p:nvCxnSpPr>
          <p:cNvPr id="175" name="直接连接符 174"/>
          <p:cNvCxnSpPr>
            <a:stCxn id="171" idx="3"/>
            <a:endCxn id="174" idx="1"/>
          </p:cNvCxnSpPr>
          <p:nvPr/>
        </p:nvCxnSpPr>
        <p:spPr bwMode="gray">
          <a:xfrm flipV="1">
            <a:off x="4543603" y="4054538"/>
            <a:ext cx="2603730" cy="652531"/>
          </a:xfrm>
          <a:prstGeom prst="line">
            <a:avLst/>
          </a:prstGeom>
          <a:ln w="19050">
            <a:solidFill>
              <a:srgbClr val="EC7061"/>
            </a:solidFill>
          </a:ln>
        </p:spPr>
        <p:style>
          <a:lnRef idx="1">
            <a:schemeClr val="accent1"/>
          </a:lnRef>
          <a:fillRef idx="0">
            <a:schemeClr val="accent1"/>
          </a:fillRef>
          <a:effectRef idx="0">
            <a:schemeClr val="accent1"/>
          </a:effectRef>
          <a:fontRef idx="minor">
            <a:schemeClr val="tx1"/>
          </a:fontRef>
        </p:style>
      </p:cxnSp>
      <p:cxnSp>
        <p:nvCxnSpPr>
          <p:cNvPr id="178" name="直接连接符 177"/>
          <p:cNvCxnSpPr>
            <a:stCxn id="171" idx="3"/>
            <a:endCxn id="172" idx="1"/>
          </p:cNvCxnSpPr>
          <p:nvPr/>
        </p:nvCxnSpPr>
        <p:spPr bwMode="gray">
          <a:xfrm flipV="1">
            <a:off x="4543603" y="4551027"/>
            <a:ext cx="3220903" cy="156042"/>
          </a:xfrm>
          <a:prstGeom prst="line">
            <a:avLst/>
          </a:prstGeom>
          <a:ln w="19050">
            <a:solidFill>
              <a:srgbClr val="EC7061"/>
            </a:solidFill>
          </a:ln>
        </p:spPr>
        <p:style>
          <a:lnRef idx="1">
            <a:schemeClr val="accent1"/>
          </a:lnRef>
          <a:fillRef idx="0">
            <a:schemeClr val="accent1"/>
          </a:fillRef>
          <a:effectRef idx="0">
            <a:schemeClr val="accent1"/>
          </a:effectRef>
          <a:fontRef idx="minor">
            <a:schemeClr val="tx1"/>
          </a:fontRef>
        </p:style>
      </p:cxnSp>
      <p:sp>
        <p:nvSpPr>
          <p:cNvPr id="185" name="矩形 184"/>
          <p:cNvSpPr/>
          <p:nvPr/>
        </p:nvSpPr>
        <p:spPr bwMode="gray">
          <a:xfrm>
            <a:off x="3872128" y="4121715"/>
            <a:ext cx="857927" cy="348237"/>
          </a:xfrm>
          <a:prstGeom prst="rect">
            <a:avLst/>
          </a:prstGeom>
        </p:spPr>
        <p:txBody>
          <a:bodyPr wrap="none">
            <a:spAutoFit/>
          </a:bodyPr>
          <a:lstStyle/>
          <a:p>
            <a:pPr algn="just">
              <a:lnSpc>
                <a:spcPts val="2200"/>
              </a:lnSpc>
            </a:pP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Overlay</a:t>
            </a:r>
            <a:endPar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86" name="图片 11" descr="开放网络-蓝.png"/>
          <p:cNvPicPr>
            <a:picLocks noChangeAspect="1"/>
          </p:cNvPicPr>
          <p:nvPr/>
        </p:nvPicPr>
        <p:blipFill>
          <a:blip r:embed="rId3" cstate="print"/>
          <a:stretch>
            <a:fillRect/>
          </a:stretch>
        </p:blipFill>
        <p:spPr bwMode="gray">
          <a:xfrm>
            <a:off x="2390866" y="4499378"/>
            <a:ext cx="539607" cy="415381"/>
          </a:xfrm>
          <a:prstGeom prst="rect">
            <a:avLst/>
          </a:prstGeom>
        </p:spPr>
      </p:pic>
      <p:pic>
        <p:nvPicPr>
          <p:cNvPr id="187" name="图片 11" descr="开放网络-蓝.png"/>
          <p:cNvPicPr>
            <a:picLocks noChangeAspect="1"/>
          </p:cNvPicPr>
          <p:nvPr/>
        </p:nvPicPr>
        <p:blipFill>
          <a:blip r:embed="rId3" cstate="print"/>
          <a:stretch>
            <a:fillRect/>
          </a:stretch>
        </p:blipFill>
        <p:spPr bwMode="gray">
          <a:xfrm>
            <a:off x="9030266" y="4343336"/>
            <a:ext cx="539607" cy="415381"/>
          </a:xfrm>
          <a:prstGeom prst="rect">
            <a:avLst/>
          </a:prstGeom>
        </p:spPr>
      </p:pic>
      <p:cxnSp>
        <p:nvCxnSpPr>
          <p:cNvPr id="188" name="直接连接符 187"/>
          <p:cNvCxnSpPr>
            <a:stCxn id="186" idx="3"/>
            <a:endCxn id="171" idx="1"/>
          </p:cNvCxnSpPr>
          <p:nvPr/>
        </p:nvCxnSpPr>
        <p:spPr bwMode="gray">
          <a:xfrm>
            <a:off x="2930473" y="4707069"/>
            <a:ext cx="116684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5" name="直接连接符 194"/>
          <p:cNvCxnSpPr>
            <a:stCxn id="174" idx="3"/>
            <a:endCxn id="55" idx="1"/>
          </p:cNvCxnSpPr>
          <p:nvPr/>
        </p:nvCxnSpPr>
        <p:spPr bwMode="gray">
          <a:xfrm>
            <a:off x="7593614" y="4054538"/>
            <a:ext cx="143665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0" name="直接连接符 199"/>
          <p:cNvCxnSpPr>
            <a:stCxn id="172" idx="3"/>
            <a:endCxn id="187" idx="1"/>
          </p:cNvCxnSpPr>
          <p:nvPr/>
        </p:nvCxnSpPr>
        <p:spPr bwMode="gray">
          <a:xfrm>
            <a:off x="8210787" y="4551027"/>
            <a:ext cx="81947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2" name="矩形 211"/>
          <p:cNvSpPr/>
          <p:nvPr/>
        </p:nvSpPr>
        <p:spPr bwMode="gray">
          <a:xfrm>
            <a:off x="9569873" y="3900649"/>
            <a:ext cx="1055097"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Local LAN</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3" name="矩形 212"/>
          <p:cNvSpPr/>
          <p:nvPr/>
        </p:nvSpPr>
        <p:spPr bwMode="gray">
          <a:xfrm>
            <a:off x="9569873" y="4377869"/>
            <a:ext cx="1055097"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Local LAN</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087683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任意多边形 9">
            <a:extLst>
              <a:ext uri="{FF2B5EF4-FFF2-40B4-BE49-F238E27FC236}">
                <a16:creationId xmlns:a16="http://schemas.microsoft.com/office/drawing/2014/main" id="{18861087-F046-409E-B583-E8E2CD4C70B3}"/>
              </a:ext>
            </a:extLst>
          </p:cNvPr>
          <p:cNvSpPr/>
          <p:nvPr/>
        </p:nvSpPr>
        <p:spPr bwMode="gray">
          <a:xfrm>
            <a:off x="4695094" y="3271815"/>
            <a:ext cx="2803732" cy="1451144"/>
          </a:xfrm>
          <a:custGeom>
            <a:avLst/>
            <a:gdLst>
              <a:gd name="connsiteX0" fmla="*/ 1522976 w 3069379"/>
              <a:gd name="connsiteY0" fmla="*/ 0 h 1667868"/>
              <a:gd name="connsiteX1" fmla="*/ 2105444 w 3069379"/>
              <a:gd name="connsiteY1" fmla="*/ 243498 h 1667868"/>
              <a:gd name="connsiteX2" fmla="*/ 2165457 w 3069379"/>
              <a:gd name="connsiteY2" fmla="*/ 316907 h 1667868"/>
              <a:gd name="connsiteX3" fmla="*/ 2204139 w 3069379"/>
              <a:gd name="connsiteY3" fmla="*/ 313329 h 1667868"/>
              <a:gd name="connsiteX4" fmla="*/ 2688456 w 3069379"/>
              <a:gd name="connsiteY4" fmla="*/ 757688 h 1667868"/>
              <a:gd name="connsiteX5" fmla="*/ 2679008 w 3069379"/>
              <a:gd name="connsiteY5" fmla="*/ 843679 h 1667868"/>
              <a:gd name="connsiteX6" fmla="*/ 2742591 w 3069379"/>
              <a:gd name="connsiteY6" fmla="*/ 850148 h 1667868"/>
              <a:gd name="connsiteX7" fmla="*/ 3069379 w 3069379"/>
              <a:gd name="connsiteY7" fmla="*/ 1254812 h 1667868"/>
              <a:gd name="connsiteX8" fmla="*/ 2742591 w 3069379"/>
              <a:gd name="connsiteY8" fmla="*/ 1659476 h 1667868"/>
              <a:gd name="connsiteX9" fmla="*/ 2727471 w 3069379"/>
              <a:gd name="connsiteY9" fmla="*/ 1661015 h 1667868"/>
              <a:gd name="connsiteX10" fmla="*/ 2727471 w 3069379"/>
              <a:gd name="connsiteY10" fmla="*/ 1667868 h 1667868"/>
              <a:gd name="connsiteX11" fmla="*/ 2660108 w 3069379"/>
              <a:gd name="connsiteY11" fmla="*/ 1667868 h 1667868"/>
              <a:gd name="connsiteX12" fmla="*/ 450197 w 3069379"/>
              <a:gd name="connsiteY12" fmla="*/ 1667868 h 1667868"/>
              <a:gd name="connsiteX13" fmla="*/ 373665 w 3069379"/>
              <a:gd name="connsiteY13" fmla="*/ 1667868 h 1667868"/>
              <a:gd name="connsiteX14" fmla="*/ 373665 w 3069379"/>
              <a:gd name="connsiteY14" fmla="*/ 1660082 h 1667868"/>
              <a:gd name="connsiteX15" fmla="*/ 359467 w 3069379"/>
              <a:gd name="connsiteY15" fmla="*/ 1658637 h 1667868"/>
              <a:gd name="connsiteX16" fmla="*/ 0 w 3069379"/>
              <a:gd name="connsiteY16" fmla="*/ 1213505 h 1667868"/>
              <a:gd name="connsiteX17" fmla="*/ 274960 w 3069379"/>
              <a:gd name="connsiteY17" fmla="*/ 794848 h 1667868"/>
              <a:gd name="connsiteX18" fmla="*/ 303951 w 3069379"/>
              <a:gd name="connsiteY18" fmla="*/ 785765 h 1667868"/>
              <a:gd name="connsiteX19" fmla="*/ 315888 w 3069379"/>
              <a:gd name="connsiteY19" fmla="*/ 677121 h 1667868"/>
              <a:gd name="connsiteX20" fmla="*/ 931587 w 3069379"/>
              <a:gd name="connsiteY20" fmla="*/ 216713 h 1667868"/>
              <a:gd name="connsiteX21" fmla="*/ 968567 w 3069379"/>
              <a:gd name="connsiteY21" fmla="*/ 220133 h 1667868"/>
              <a:gd name="connsiteX22" fmla="*/ 1062419 w 3069379"/>
              <a:gd name="connsiteY22" fmla="*/ 141982 h 1667868"/>
              <a:gd name="connsiteX23" fmla="*/ 1522976 w 3069379"/>
              <a:gd name="connsiteY23" fmla="*/ 0 h 1667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69379" h="1667868">
                <a:moveTo>
                  <a:pt x="1522976" y="0"/>
                </a:moveTo>
                <a:cubicBezTo>
                  <a:pt x="1750444" y="0"/>
                  <a:pt x="1956378" y="93052"/>
                  <a:pt x="2105444" y="243498"/>
                </a:cubicBezTo>
                <a:lnTo>
                  <a:pt x="2165457" y="316907"/>
                </a:lnTo>
                <a:lnTo>
                  <a:pt x="2204139" y="313329"/>
                </a:lnTo>
                <a:cubicBezTo>
                  <a:pt x="2471620" y="313329"/>
                  <a:pt x="2688456" y="512275"/>
                  <a:pt x="2688456" y="757688"/>
                </a:cubicBezTo>
                <a:lnTo>
                  <a:pt x="2679008" y="843679"/>
                </a:lnTo>
                <a:lnTo>
                  <a:pt x="2742591" y="850148"/>
                </a:lnTo>
                <a:cubicBezTo>
                  <a:pt x="2929088" y="888664"/>
                  <a:pt x="3069379" y="1055202"/>
                  <a:pt x="3069379" y="1254812"/>
                </a:cubicBezTo>
                <a:cubicBezTo>
                  <a:pt x="3069379" y="1454421"/>
                  <a:pt x="2929088" y="1620960"/>
                  <a:pt x="2742591" y="1659476"/>
                </a:cubicBezTo>
                <a:lnTo>
                  <a:pt x="2727471" y="1661015"/>
                </a:lnTo>
                <a:lnTo>
                  <a:pt x="2727471" y="1667868"/>
                </a:lnTo>
                <a:lnTo>
                  <a:pt x="2660108" y="1667868"/>
                </a:lnTo>
                <a:lnTo>
                  <a:pt x="450197" y="1667868"/>
                </a:lnTo>
                <a:lnTo>
                  <a:pt x="373665" y="1667868"/>
                </a:lnTo>
                <a:lnTo>
                  <a:pt x="373665" y="1660082"/>
                </a:lnTo>
                <a:lnTo>
                  <a:pt x="359467" y="1658637"/>
                </a:lnTo>
                <a:cubicBezTo>
                  <a:pt x="154319" y="1616269"/>
                  <a:pt x="0" y="1433076"/>
                  <a:pt x="0" y="1213505"/>
                </a:cubicBezTo>
                <a:cubicBezTo>
                  <a:pt x="0" y="1025301"/>
                  <a:pt x="113377" y="863824"/>
                  <a:pt x="274960" y="794848"/>
                </a:cubicBezTo>
                <a:lnTo>
                  <a:pt x="303951" y="785765"/>
                </a:lnTo>
                <a:lnTo>
                  <a:pt x="315888" y="677121"/>
                </a:lnTo>
                <a:cubicBezTo>
                  <a:pt x="374490" y="414367"/>
                  <a:pt x="627881" y="216713"/>
                  <a:pt x="931587" y="216713"/>
                </a:cubicBezTo>
                <a:lnTo>
                  <a:pt x="968567" y="220133"/>
                </a:lnTo>
                <a:lnTo>
                  <a:pt x="1062419" y="141982"/>
                </a:lnTo>
                <a:cubicBezTo>
                  <a:pt x="1193887" y="52342"/>
                  <a:pt x="1352375" y="0"/>
                  <a:pt x="1522976" y="0"/>
                </a:cubicBezTo>
                <a:close/>
              </a:path>
            </a:pathLst>
          </a:custGeom>
          <a:solidFill>
            <a:srgbClr val="D7F2F5">
              <a:alpha val="34000"/>
            </a:srgbClr>
          </a:solidFill>
          <a:ln w="12700" cap="flat" cmpd="sng" algn="ctr">
            <a:solidFill>
              <a:srgbClr val="30B5C5"/>
            </a:solidFill>
            <a:prstDash val="solid"/>
            <a:miter lim="800000"/>
          </a:ln>
          <a:effectLst/>
        </p:spPr>
        <p:txBody>
          <a:bodyPr wrap="square" rtlCol="0" anchor="ctr">
            <a:noAutofit/>
          </a:bodyPr>
          <a:lstStyle/>
          <a:p>
            <a:pPr algn="ctr" defTabSz="1219170" fontAlgn="ctr">
              <a:defRPr/>
            </a:pPr>
            <a:endParaRPr lang="en-US" sz="24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a:extLst>
              <a:ext uri="{FF2B5EF4-FFF2-40B4-BE49-F238E27FC236}">
                <a16:creationId xmlns:a16="http://schemas.microsoft.com/office/drawing/2014/main" id="{CBF1027C-91F2-4173-BA32-017EC3F466EA}"/>
              </a:ext>
            </a:extLst>
          </p:cNvPr>
          <p:cNvSpPr>
            <a:spLocks noGrp="1"/>
          </p:cNvSpPr>
          <p:nvPr>
            <p:ph type="title"/>
          </p:nvPr>
        </p:nvSpPr>
        <p:spPr bwMode="gray"/>
        <p:txBody>
          <a:bodyPr/>
          <a:lstStyle/>
          <a:p>
            <a:r>
              <a:rPr lang="en-US" altLang="zh-CN">
                <a:sym typeface="Huawei Sans" panose="020C0503030203020204" pitchFamily="34" charset="0"/>
              </a:rPr>
              <a:t>VXLAN</a:t>
            </a:r>
            <a:r>
              <a:rPr lang="zh-CN" altLang="en-US">
                <a:sym typeface="Huawei Sans" panose="020C0503030203020204" pitchFamily="34" charset="0"/>
              </a:rPr>
              <a:t>在数据中心的应用</a:t>
            </a:r>
          </a:p>
        </p:txBody>
      </p:sp>
      <p:sp>
        <p:nvSpPr>
          <p:cNvPr id="3" name="文本占位符 2"/>
          <p:cNvSpPr>
            <a:spLocks noGrp="1"/>
          </p:cNvSpPr>
          <p:nvPr>
            <p:ph type="body" sz="quarter" idx="10"/>
          </p:nvPr>
        </p:nvSpPr>
        <p:spPr bwMode="gray">
          <a:xfrm>
            <a:off x="455613" y="1047751"/>
            <a:ext cx="11256962" cy="1488258"/>
          </a:xfrm>
        </p:spPr>
        <p:txBody>
          <a:bodyPr/>
          <a:lstStyle/>
          <a:p>
            <a:r>
              <a:rPr lang="zh-CN" altLang="en-US" sz="1800" dirty="0">
                <a:sym typeface="Huawei Sans" panose="020C0503030203020204" pitchFamily="34" charset="0"/>
              </a:rPr>
              <a:t>在数据中心中采用</a:t>
            </a:r>
            <a:r>
              <a:rPr lang="en-US" altLang="zh-CN" sz="1800" dirty="0">
                <a:sym typeface="Huawei Sans" panose="020C0503030203020204" pitchFamily="34" charset="0"/>
              </a:rPr>
              <a:t>Spine-Leaf</a:t>
            </a:r>
            <a:r>
              <a:rPr lang="zh-CN" altLang="en-US" sz="1800" dirty="0">
                <a:sym typeface="Huawei Sans" panose="020C0503030203020204" pitchFamily="34" charset="0"/>
              </a:rPr>
              <a:t>两层物理架构，结合</a:t>
            </a:r>
            <a:r>
              <a:rPr lang="en-US" altLang="zh-CN" sz="1800" dirty="0">
                <a:sym typeface="Huawei Sans" panose="020C0503030203020204" pitchFamily="34" charset="0"/>
              </a:rPr>
              <a:t>VXLAN</a:t>
            </a:r>
            <a:r>
              <a:rPr lang="zh-CN" altLang="en-US" sz="1800" dirty="0">
                <a:sym typeface="Huawei Sans" panose="020C0503030203020204" pitchFamily="34" charset="0"/>
              </a:rPr>
              <a:t>应用。</a:t>
            </a:r>
          </a:p>
          <a:p>
            <a:r>
              <a:rPr lang="en-US" altLang="zh-CN" sz="1800" dirty="0">
                <a:sym typeface="Huawei Sans" panose="020C0503030203020204" pitchFamily="34" charset="0"/>
              </a:rPr>
              <a:t>Spine</a:t>
            </a:r>
            <a:r>
              <a:rPr lang="zh-CN" altLang="en-US" sz="1800" dirty="0">
                <a:sym typeface="Huawei Sans" panose="020C0503030203020204" pitchFamily="34" charset="0"/>
              </a:rPr>
              <a:t>节点执行路由转发，转发时不感知</a:t>
            </a:r>
            <a:r>
              <a:rPr lang="en-US" altLang="zh-CN" sz="1800" dirty="0">
                <a:sym typeface="Huawei Sans" panose="020C0503030203020204" pitchFamily="34" charset="0"/>
              </a:rPr>
              <a:t>VXLAN</a:t>
            </a:r>
            <a:r>
              <a:rPr lang="zh-CN" altLang="en-US" sz="1800" dirty="0">
                <a:sym typeface="Huawei Sans" panose="020C0503030203020204" pitchFamily="34" charset="0"/>
              </a:rPr>
              <a:t>。</a:t>
            </a:r>
            <a:r>
              <a:rPr lang="en-US" altLang="zh-CN" sz="1800" dirty="0">
                <a:sym typeface="Huawei Sans" panose="020C0503030203020204" pitchFamily="34" charset="0"/>
              </a:rPr>
              <a:t>Leaf</a:t>
            </a:r>
            <a:r>
              <a:rPr lang="zh-CN" altLang="en-US" sz="1800" dirty="0">
                <a:sym typeface="Huawei Sans" panose="020C0503030203020204" pitchFamily="34" charset="0"/>
              </a:rPr>
              <a:t>节点负责资源接入，完成</a:t>
            </a:r>
            <a:r>
              <a:rPr lang="en-US" altLang="zh-CN" sz="1800" dirty="0">
                <a:sym typeface="Huawei Sans" panose="020C0503030203020204" pitchFamily="34" charset="0"/>
              </a:rPr>
              <a:t>VXLAN</a:t>
            </a:r>
            <a:r>
              <a:rPr lang="zh-CN" altLang="en-US" sz="1800" dirty="0">
                <a:sym typeface="Huawei Sans" panose="020C0503030203020204" pitchFamily="34" charset="0"/>
              </a:rPr>
              <a:t>封装及解封装。</a:t>
            </a:r>
            <a:endParaRPr lang="en-US" altLang="zh-CN" sz="1800" dirty="0">
              <a:sym typeface="Huawei Sans" panose="020C0503030203020204" pitchFamily="34" charset="0"/>
            </a:endParaRPr>
          </a:p>
          <a:p>
            <a:r>
              <a:rPr lang="zh-CN" altLang="en-US" sz="1800" dirty="0">
                <a:sym typeface="Huawei Sans" panose="020C0503030203020204" pitchFamily="34" charset="0"/>
              </a:rPr>
              <a:t>数据中心的业务均由</a:t>
            </a:r>
            <a:r>
              <a:rPr lang="en-US" altLang="zh-CN" sz="1800" dirty="0">
                <a:sym typeface="Huawei Sans" panose="020C0503030203020204" pitchFamily="34" charset="0"/>
              </a:rPr>
              <a:t>VXLAN</a:t>
            </a:r>
            <a:r>
              <a:rPr lang="zh-CN" altLang="en-US" sz="1800" dirty="0">
                <a:sym typeface="Huawei Sans" panose="020C0503030203020204" pitchFamily="34" charset="0"/>
              </a:rPr>
              <a:t>承载。</a:t>
            </a:r>
          </a:p>
        </p:txBody>
      </p:sp>
      <p:sp>
        <p:nvSpPr>
          <p:cNvPr id="43" name="圆角矩形 42"/>
          <p:cNvSpPr/>
          <p:nvPr/>
        </p:nvSpPr>
        <p:spPr bwMode="gray">
          <a:xfrm>
            <a:off x="823490" y="2887685"/>
            <a:ext cx="3394518" cy="2969387"/>
          </a:xfrm>
          <a:prstGeom prst="roundRect">
            <a:avLst>
              <a:gd name="adj" fmla="val 5063"/>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3" name="图片 72">
            <a:extLst>
              <a:ext uri="{FF2B5EF4-FFF2-40B4-BE49-F238E27FC236}">
                <a16:creationId xmlns:a16="http://schemas.microsoft.com/office/drawing/2014/main" id="{20097E53-7821-4588-B4E7-88E5B6D6D3DA}"/>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048740" y="4416474"/>
            <a:ext cx="490909" cy="402545"/>
          </a:xfrm>
          <a:prstGeom prst="rect">
            <a:avLst/>
          </a:prstGeom>
        </p:spPr>
      </p:pic>
      <p:pic>
        <p:nvPicPr>
          <p:cNvPr id="75" name="图片 74">
            <a:extLst>
              <a:ext uri="{FF2B5EF4-FFF2-40B4-BE49-F238E27FC236}">
                <a16:creationId xmlns:a16="http://schemas.microsoft.com/office/drawing/2014/main" id="{35EEC47C-A1B2-4519-8C5B-4F2E9F9DF602}"/>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501848" y="4416474"/>
            <a:ext cx="490909" cy="402545"/>
          </a:xfrm>
          <a:prstGeom prst="rect">
            <a:avLst/>
          </a:prstGeom>
        </p:spPr>
      </p:pic>
      <p:pic>
        <p:nvPicPr>
          <p:cNvPr id="79" name="图片 78">
            <a:extLst>
              <a:ext uri="{FF2B5EF4-FFF2-40B4-BE49-F238E27FC236}">
                <a16:creationId xmlns:a16="http://schemas.microsoft.com/office/drawing/2014/main" id="{3E092E99-B371-4093-A510-354549597233}"/>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275294" y="4416474"/>
            <a:ext cx="490909" cy="402545"/>
          </a:xfrm>
          <a:prstGeom prst="rect">
            <a:avLst/>
          </a:prstGeom>
        </p:spPr>
      </p:pic>
      <p:pic>
        <p:nvPicPr>
          <p:cNvPr id="80" name="图片 79">
            <a:extLst>
              <a:ext uri="{FF2B5EF4-FFF2-40B4-BE49-F238E27FC236}">
                <a16:creationId xmlns:a16="http://schemas.microsoft.com/office/drawing/2014/main" id="{067D5EEE-F3E3-4D13-B9B1-60B061AC4890}"/>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595844" y="3181441"/>
            <a:ext cx="490909" cy="402545"/>
          </a:xfrm>
          <a:prstGeom prst="rect">
            <a:avLst/>
          </a:prstGeom>
        </p:spPr>
      </p:pic>
      <p:pic>
        <p:nvPicPr>
          <p:cNvPr id="81" name="图片 80">
            <a:extLst>
              <a:ext uri="{FF2B5EF4-FFF2-40B4-BE49-F238E27FC236}">
                <a16:creationId xmlns:a16="http://schemas.microsoft.com/office/drawing/2014/main" id="{1ED0ACAE-B02A-4E26-9B3E-A01CCDD57F94}"/>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954744" y="3181441"/>
            <a:ext cx="490909" cy="402545"/>
          </a:xfrm>
          <a:prstGeom prst="rect">
            <a:avLst/>
          </a:prstGeom>
        </p:spPr>
      </p:pic>
      <p:cxnSp>
        <p:nvCxnSpPr>
          <p:cNvPr id="83" name="直接连接符 82">
            <a:extLst>
              <a:ext uri="{FF2B5EF4-FFF2-40B4-BE49-F238E27FC236}">
                <a16:creationId xmlns:a16="http://schemas.microsoft.com/office/drawing/2014/main" id="{20484375-9594-48B2-AFD0-20329B4766A3}"/>
              </a:ext>
            </a:extLst>
          </p:cNvPr>
          <p:cNvCxnSpPr>
            <a:stCxn id="73" idx="0"/>
            <a:endCxn id="80" idx="2"/>
          </p:cNvCxnSpPr>
          <p:nvPr/>
        </p:nvCxnSpPr>
        <p:spPr bwMode="gray">
          <a:xfrm flipV="1">
            <a:off x="1294195" y="3583986"/>
            <a:ext cx="547104" cy="83248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C00E7F68-074E-4137-BCB5-3D0F766822BF}"/>
              </a:ext>
            </a:extLst>
          </p:cNvPr>
          <p:cNvCxnSpPr>
            <a:cxnSpLocks/>
            <a:stCxn id="73" idx="0"/>
            <a:endCxn id="81" idx="2"/>
          </p:cNvCxnSpPr>
          <p:nvPr/>
        </p:nvCxnSpPr>
        <p:spPr bwMode="gray">
          <a:xfrm flipV="1">
            <a:off x="1294195" y="3583986"/>
            <a:ext cx="1906004" cy="83248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A0159A0E-7308-4D86-8323-82277C680CCE}"/>
              </a:ext>
            </a:extLst>
          </p:cNvPr>
          <p:cNvCxnSpPr>
            <a:cxnSpLocks/>
            <a:stCxn id="79" idx="0"/>
            <a:endCxn id="80" idx="2"/>
          </p:cNvCxnSpPr>
          <p:nvPr/>
        </p:nvCxnSpPr>
        <p:spPr bwMode="gray">
          <a:xfrm flipH="1" flipV="1">
            <a:off x="1841299" y="3583986"/>
            <a:ext cx="679450" cy="83248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22AF29FB-F497-4BDA-8BC2-4062D9C775B3}"/>
              </a:ext>
            </a:extLst>
          </p:cNvPr>
          <p:cNvCxnSpPr>
            <a:cxnSpLocks/>
            <a:stCxn id="75" idx="0"/>
            <a:endCxn id="81" idx="2"/>
          </p:cNvCxnSpPr>
          <p:nvPr/>
        </p:nvCxnSpPr>
        <p:spPr bwMode="gray">
          <a:xfrm flipH="1" flipV="1">
            <a:off x="3200199" y="3583986"/>
            <a:ext cx="547104" cy="83248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15AD3E10-DF5E-4D1C-BC9C-E4DF388FAEED}"/>
              </a:ext>
            </a:extLst>
          </p:cNvPr>
          <p:cNvCxnSpPr>
            <a:cxnSpLocks/>
            <a:stCxn id="80" idx="2"/>
            <a:endCxn id="75" idx="0"/>
          </p:cNvCxnSpPr>
          <p:nvPr/>
        </p:nvCxnSpPr>
        <p:spPr bwMode="gray">
          <a:xfrm>
            <a:off x="1841299" y="3583986"/>
            <a:ext cx="1906004" cy="83248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F802EC47-C276-41CD-9EBF-ED8A9C2D5969}"/>
              </a:ext>
            </a:extLst>
          </p:cNvPr>
          <p:cNvCxnSpPr>
            <a:cxnSpLocks/>
            <a:stCxn id="79" idx="0"/>
            <a:endCxn id="81" idx="2"/>
          </p:cNvCxnSpPr>
          <p:nvPr/>
        </p:nvCxnSpPr>
        <p:spPr bwMode="gray">
          <a:xfrm flipV="1">
            <a:off x="2520749" y="3583986"/>
            <a:ext cx="679450" cy="83248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89" name="图片 72" descr="交换机.png"/>
          <p:cNvPicPr>
            <a:picLocks noChangeAspect="1"/>
          </p:cNvPicPr>
          <p:nvPr/>
        </p:nvPicPr>
        <p:blipFill>
          <a:blip r:embed="rId5" cstate="print"/>
          <a:stretch>
            <a:fillRect/>
          </a:stretch>
        </p:blipFill>
        <p:spPr bwMode="gray">
          <a:xfrm>
            <a:off x="1071792" y="4969767"/>
            <a:ext cx="444805" cy="365137"/>
          </a:xfrm>
          <a:prstGeom prst="rect">
            <a:avLst/>
          </a:prstGeom>
        </p:spPr>
      </p:pic>
      <p:pic>
        <p:nvPicPr>
          <p:cNvPr id="90" name="图片 72" descr="交换机.png"/>
          <p:cNvPicPr>
            <a:picLocks noChangeAspect="1"/>
          </p:cNvPicPr>
          <p:nvPr/>
        </p:nvPicPr>
        <p:blipFill>
          <a:blip r:embed="rId5" cstate="print"/>
          <a:stretch>
            <a:fillRect/>
          </a:stretch>
        </p:blipFill>
        <p:spPr bwMode="gray">
          <a:xfrm>
            <a:off x="2298347" y="4969767"/>
            <a:ext cx="444805" cy="365137"/>
          </a:xfrm>
          <a:prstGeom prst="rect">
            <a:avLst/>
          </a:prstGeom>
        </p:spPr>
      </p:pic>
      <p:pic>
        <p:nvPicPr>
          <p:cNvPr id="91" name="图片 72" descr="交换机.png"/>
          <p:cNvPicPr>
            <a:picLocks noChangeAspect="1"/>
          </p:cNvPicPr>
          <p:nvPr/>
        </p:nvPicPr>
        <p:blipFill>
          <a:blip r:embed="rId5" cstate="print"/>
          <a:stretch>
            <a:fillRect/>
          </a:stretch>
        </p:blipFill>
        <p:spPr bwMode="gray">
          <a:xfrm>
            <a:off x="3524900" y="4969767"/>
            <a:ext cx="444805" cy="365137"/>
          </a:xfrm>
          <a:prstGeom prst="rect">
            <a:avLst/>
          </a:prstGeom>
        </p:spPr>
      </p:pic>
      <p:sp>
        <p:nvSpPr>
          <p:cNvPr id="42" name="文本框 41"/>
          <p:cNvSpPr txBox="1"/>
          <p:nvPr/>
        </p:nvSpPr>
        <p:spPr bwMode="gray">
          <a:xfrm>
            <a:off x="1238878" y="3752586"/>
            <a:ext cx="2563740" cy="409543"/>
          </a:xfrm>
          <a:prstGeom prst="roundRect">
            <a:avLst>
              <a:gd name="adj" fmla="val 24372"/>
            </a:avLst>
          </a:prstGeom>
          <a:solidFill>
            <a:srgbClr val="EC7061"/>
          </a:solidFill>
          <a:ln w="12700" cap="flat" cmpd="sng" algn="ctr">
            <a:noFill/>
            <a:prstDash val="solid"/>
            <a:miter lim="800000"/>
          </a:ln>
          <a:effectLst/>
        </p:spPr>
        <p:txBody>
          <a:bodyPr wrap="square" lIns="0" tIns="0" rIns="0" bIns="0" rtlCol="0" anchor="ctr" anchorCtr="0">
            <a:noAutofit/>
          </a:bodyPr>
          <a:lstStyle/>
          <a:p>
            <a:pPr algn="ct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三层互联链路，无二层环路</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运行动态路由协议，实现网络可达</a:t>
            </a:r>
          </a:p>
        </p:txBody>
      </p:sp>
      <p:sp>
        <p:nvSpPr>
          <p:cNvPr id="110" name="文本框 109"/>
          <p:cNvSpPr txBox="1"/>
          <p:nvPr/>
        </p:nvSpPr>
        <p:spPr bwMode="gray">
          <a:xfrm>
            <a:off x="2069342" y="5458766"/>
            <a:ext cx="902811" cy="307777"/>
          </a:xfrm>
          <a:prstGeom prst="rect">
            <a:avLst/>
          </a:prstGeom>
          <a:noFill/>
        </p:spPr>
        <p:txBody>
          <a:bodyPr wrap="none" rtlCol="0">
            <a:spAutoFit/>
          </a:bodyPr>
          <a:lstStyle/>
          <a:p>
            <a:pPr algn="ct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物理网络</a:t>
            </a:r>
          </a:p>
        </p:txBody>
      </p:sp>
      <p:sp>
        <p:nvSpPr>
          <p:cNvPr id="108" name="圆角矩形 107"/>
          <p:cNvSpPr/>
          <p:nvPr/>
        </p:nvSpPr>
        <p:spPr bwMode="gray">
          <a:xfrm>
            <a:off x="4401705" y="2887685"/>
            <a:ext cx="3394518" cy="2969387"/>
          </a:xfrm>
          <a:prstGeom prst="roundRect">
            <a:avLst>
              <a:gd name="adj" fmla="val 5063"/>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8" name="图片 27">
            <a:extLst>
              <a:ext uri="{FF2B5EF4-FFF2-40B4-BE49-F238E27FC236}">
                <a16:creationId xmlns:a16="http://schemas.microsoft.com/office/drawing/2014/main" id="{20097E53-7821-4588-B4E7-88E5B6D6D3DA}"/>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629816" y="4416474"/>
            <a:ext cx="490909" cy="402545"/>
          </a:xfrm>
          <a:prstGeom prst="rect">
            <a:avLst/>
          </a:prstGeom>
        </p:spPr>
      </p:pic>
      <p:pic>
        <p:nvPicPr>
          <p:cNvPr id="29" name="图片 28">
            <a:extLst>
              <a:ext uri="{FF2B5EF4-FFF2-40B4-BE49-F238E27FC236}">
                <a16:creationId xmlns:a16="http://schemas.microsoft.com/office/drawing/2014/main" id="{35EEC47C-A1B2-4519-8C5B-4F2E9F9DF602}"/>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082924" y="4416474"/>
            <a:ext cx="490909" cy="402545"/>
          </a:xfrm>
          <a:prstGeom prst="rect">
            <a:avLst/>
          </a:prstGeom>
        </p:spPr>
      </p:pic>
      <p:pic>
        <p:nvPicPr>
          <p:cNvPr id="30" name="图片 29">
            <a:extLst>
              <a:ext uri="{FF2B5EF4-FFF2-40B4-BE49-F238E27FC236}">
                <a16:creationId xmlns:a16="http://schemas.microsoft.com/office/drawing/2014/main" id="{3E092E99-B371-4093-A510-354549597233}"/>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856370" y="4416474"/>
            <a:ext cx="490909" cy="402545"/>
          </a:xfrm>
          <a:prstGeom prst="rect">
            <a:avLst/>
          </a:prstGeom>
        </p:spPr>
      </p:pic>
      <p:pic>
        <p:nvPicPr>
          <p:cNvPr id="27" name="图片 26">
            <a:extLst>
              <a:ext uri="{FF2B5EF4-FFF2-40B4-BE49-F238E27FC236}">
                <a16:creationId xmlns:a16="http://schemas.microsoft.com/office/drawing/2014/main" id="{067D5EEE-F3E3-4D13-B9B1-60B061AC4890}"/>
              </a:ext>
            </a:extLst>
          </p:cNvPr>
          <p:cNvPicPr>
            <a:picLocks/>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5176920" y="3181441"/>
            <a:ext cx="490909" cy="402545"/>
          </a:xfrm>
          <a:prstGeom prst="rect">
            <a:avLst/>
          </a:prstGeom>
        </p:spPr>
      </p:pic>
      <p:pic>
        <p:nvPicPr>
          <p:cNvPr id="31" name="图片 30">
            <a:extLst>
              <a:ext uri="{FF2B5EF4-FFF2-40B4-BE49-F238E27FC236}">
                <a16:creationId xmlns:a16="http://schemas.microsoft.com/office/drawing/2014/main" id="{1ED0ACAE-B02A-4E26-9B3E-A01CCDD57F94}"/>
              </a:ext>
            </a:extLst>
          </p:cNvPr>
          <p:cNvPicPr>
            <a:picLocks/>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6535820" y="3181441"/>
            <a:ext cx="490909" cy="402545"/>
          </a:xfrm>
          <a:prstGeom prst="rect">
            <a:avLst/>
          </a:prstGeom>
        </p:spPr>
      </p:pic>
      <p:cxnSp>
        <p:nvCxnSpPr>
          <p:cNvPr id="34" name="直接连接符 33">
            <a:extLst>
              <a:ext uri="{FF2B5EF4-FFF2-40B4-BE49-F238E27FC236}">
                <a16:creationId xmlns:a16="http://schemas.microsoft.com/office/drawing/2014/main" id="{20484375-9594-48B2-AFD0-20329B4766A3}"/>
              </a:ext>
            </a:extLst>
          </p:cNvPr>
          <p:cNvCxnSpPr>
            <a:stCxn id="28" idx="0"/>
            <a:endCxn id="27" idx="2"/>
          </p:cNvCxnSpPr>
          <p:nvPr/>
        </p:nvCxnSpPr>
        <p:spPr bwMode="gray">
          <a:xfrm flipV="1">
            <a:off x="4875271" y="3583986"/>
            <a:ext cx="547104" cy="83248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C00E7F68-074E-4137-BCB5-3D0F766822BF}"/>
              </a:ext>
            </a:extLst>
          </p:cNvPr>
          <p:cNvCxnSpPr>
            <a:cxnSpLocks/>
            <a:stCxn id="28" idx="0"/>
            <a:endCxn id="31" idx="2"/>
          </p:cNvCxnSpPr>
          <p:nvPr/>
        </p:nvCxnSpPr>
        <p:spPr bwMode="gray">
          <a:xfrm flipV="1">
            <a:off x="4875271" y="3583986"/>
            <a:ext cx="1906004" cy="83248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A0159A0E-7308-4D86-8323-82277C680CCE}"/>
              </a:ext>
            </a:extLst>
          </p:cNvPr>
          <p:cNvCxnSpPr>
            <a:cxnSpLocks/>
            <a:stCxn id="30" idx="0"/>
            <a:endCxn id="27" idx="2"/>
          </p:cNvCxnSpPr>
          <p:nvPr/>
        </p:nvCxnSpPr>
        <p:spPr bwMode="gray">
          <a:xfrm flipH="1" flipV="1">
            <a:off x="5422375" y="3583986"/>
            <a:ext cx="679450" cy="83248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22AF29FB-F497-4BDA-8BC2-4062D9C775B3}"/>
              </a:ext>
            </a:extLst>
          </p:cNvPr>
          <p:cNvCxnSpPr>
            <a:cxnSpLocks/>
            <a:stCxn id="29" idx="0"/>
            <a:endCxn id="31" idx="2"/>
          </p:cNvCxnSpPr>
          <p:nvPr/>
        </p:nvCxnSpPr>
        <p:spPr bwMode="gray">
          <a:xfrm flipH="1" flipV="1">
            <a:off x="6781275" y="3583986"/>
            <a:ext cx="547104" cy="83248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15AD3E10-DF5E-4D1C-BC9C-E4DF388FAEED}"/>
              </a:ext>
            </a:extLst>
          </p:cNvPr>
          <p:cNvCxnSpPr>
            <a:cxnSpLocks/>
            <a:stCxn id="27" idx="2"/>
            <a:endCxn id="29" idx="0"/>
          </p:cNvCxnSpPr>
          <p:nvPr/>
        </p:nvCxnSpPr>
        <p:spPr bwMode="gray">
          <a:xfrm>
            <a:off x="5422375" y="3583986"/>
            <a:ext cx="1906004" cy="83248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F802EC47-C276-41CD-9EBF-ED8A9C2D5969}"/>
              </a:ext>
            </a:extLst>
          </p:cNvPr>
          <p:cNvCxnSpPr>
            <a:cxnSpLocks/>
            <a:stCxn id="30" idx="0"/>
            <a:endCxn id="31" idx="2"/>
          </p:cNvCxnSpPr>
          <p:nvPr/>
        </p:nvCxnSpPr>
        <p:spPr bwMode="gray">
          <a:xfrm flipV="1">
            <a:off x="6101825" y="3583986"/>
            <a:ext cx="679450" cy="83248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0" name="图片 72" descr="交换机.png"/>
          <p:cNvPicPr>
            <a:picLocks noChangeAspect="1"/>
          </p:cNvPicPr>
          <p:nvPr/>
        </p:nvPicPr>
        <p:blipFill>
          <a:blip r:embed="rId5" cstate="print"/>
          <a:stretch>
            <a:fillRect/>
          </a:stretch>
        </p:blipFill>
        <p:spPr bwMode="gray">
          <a:xfrm>
            <a:off x="4652868" y="4969767"/>
            <a:ext cx="444805" cy="365137"/>
          </a:xfrm>
          <a:prstGeom prst="rect">
            <a:avLst/>
          </a:prstGeom>
        </p:spPr>
      </p:pic>
      <p:pic>
        <p:nvPicPr>
          <p:cNvPr id="51" name="图片 72" descr="交换机.png"/>
          <p:cNvPicPr>
            <a:picLocks noChangeAspect="1"/>
          </p:cNvPicPr>
          <p:nvPr/>
        </p:nvPicPr>
        <p:blipFill>
          <a:blip r:embed="rId5" cstate="print"/>
          <a:stretch>
            <a:fillRect/>
          </a:stretch>
        </p:blipFill>
        <p:spPr bwMode="gray">
          <a:xfrm>
            <a:off x="5879423" y="4969767"/>
            <a:ext cx="444805" cy="365137"/>
          </a:xfrm>
          <a:prstGeom prst="rect">
            <a:avLst/>
          </a:prstGeom>
        </p:spPr>
      </p:pic>
      <p:pic>
        <p:nvPicPr>
          <p:cNvPr id="52" name="图片 72" descr="交换机.png"/>
          <p:cNvPicPr>
            <a:picLocks noChangeAspect="1"/>
          </p:cNvPicPr>
          <p:nvPr/>
        </p:nvPicPr>
        <p:blipFill>
          <a:blip r:embed="rId5" cstate="print"/>
          <a:stretch>
            <a:fillRect/>
          </a:stretch>
        </p:blipFill>
        <p:spPr bwMode="gray">
          <a:xfrm>
            <a:off x="7105976" y="4969767"/>
            <a:ext cx="444805" cy="365137"/>
          </a:xfrm>
          <a:prstGeom prst="rect">
            <a:avLst/>
          </a:prstGeom>
        </p:spPr>
      </p:pic>
      <p:sp>
        <p:nvSpPr>
          <p:cNvPr id="44" name="文本框 43"/>
          <p:cNvSpPr txBox="1"/>
          <p:nvPr/>
        </p:nvSpPr>
        <p:spPr bwMode="gray">
          <a:xfrm>
            <a:off x="5216796" y="5458766"/>
            <a:ext cx="1790875"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Spine-Leaf</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圆角矩形 108"/>
          <p:cNvSpPr/>
          <p:nvPr/>
        </p:nvSpPr>
        <p:spPr bwMode="gray">
          <a:xfrm>
            <a:off x="7979920" y="2887685"/>
            <a:ext cx="3394518" cy="2969387"/>
          </a:xfrm>
          <a:prstGeom prst="roundRect">
            <a:avLst>
              <a:gd name="adj" fmla="val 5063"/>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2" name="图片 91">
            <a:extLst>
              <a:ext uri="{FF2B5EF4-FFF2-40B4-BE49-F238E27FC236}">
                <a16:creationId xmlns:a16="http://schemas.microsoft.com/office/drawing/2014/main" id="{20097E53-7821-4588-B4E7-88E5B6D6D3DA}"/>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8193392" y="4416474"/>
            <a:ext cx="490909" cy="402545"/>
          </a:xfrm>
          <a:prstGeom prst="rect">
            <a:avLst/>
          </a:prstGeom>
        </p:spPr>
      </p:pic>
      <p:pic>
        <p:nvPicPr>
          <p:cNvPr id="93" name="图片 92">
            <a:extLst>
              <a:ext uri="{FF2B5EF4-FFF2-40B4-BE49-F238E27FC236}">
                <a16:creationId xmlns:a16="http://schemas.microsoft.com/office/drawing/2014/main" id="{35EEC47C-A1B2-4519-8C5B-4F2E9F9DF602}"/>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0646500" y="4416474"/>
            <a:ext cx="490909" cy="402545"/>
          </a:xfrm>
          <a:prstGeom prst="rect">
            <a:avLst/>
          </a:prstGeom>
        </p:spPr>
      </p:pic>
      <p:pic>
        <p:nvPicPr>
          <p:cNvPr id="94" name="图片 93">
            <a:extLst>
              <a:ext uri="{FF2B5EF4-FFF2-40B4-BE49-F238E27FC236}">
                <a16:creationId xmlns:a16="http://schemas.microsoft.com/office/drawing/2014/main" id="{3E092E99-B371-4093-A510-354549597233}"/>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9419946" y="4416474"/>
            <a:ext cx="490909" cy="402545"/>
          </a:xfrm>
          <a:prstGeom prst="rect">
            <a:avLst/>
          </a:prstGeom>
        </p:spPr>
      </p:pic>
      <p:pic>
        <p:nvPicPr>
          <p:cNvPr id="95" name="图片 94">
            <a:extLst>
              <a:ext uri="{FF2B5EF4-FFF2-40B4-BE49-F238E27FC236}">
                <a16:creationId xmlns:a16="http://schemas.microsoft.com/office/drawing/2014/main" id="{067D5EEE-F3E3-4D13-B9B1-60B061AC4890}"/>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740496" y="3181441"/>
            <a:ext cx="490909" cy="402545"/>
          </a:xfrm>
          <a:prstGeom prst="rect">
            <a:avLst/>
          </a:prstGeom>
        </p:spPr>
      </p:pic>
      <p:pic>
        <p:nvPicPr>
          <p:cNvPr id="96" name="图片 95">
            <a:extLst>
              <a:ext uri="{FF2B5EF4-FFF2-40B4-BE49-F238E27FC236}">
                <a16:creationId xmlns:a16="http://schemas.microsoft.com/office/drawing/2014/main" id="{1ED0ACAE-B02A-4E26-9B3E-A01CCDD57F94}"/>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0099396" y="3181441"/>
            <a:ext cx="490909" cy="402545"/>
          </a:xfrm>
          <a:prstGeom prst="rect">
            <a:avLst/>
          </a:prstGeom>
        </p:spPr>
      </p:pic>
      <p:pic>
        <p:nvPicPr>
          <p:cNvPr id="103" name="图片 72" descr="交换机.png"/>
          <p:cNvPicPr>
            <a:picLocks noChangeAspect="1"/>
          </p:cNvPicPr>
          <p:nvPr/>
        </p:nvPicPr>
        <p:blipFill>
          <a:blip r:embed="rId5" cstate="print"/>
          <a:stretch>
            <a:fillRect/>
          </a:stretch>
        </p:blipFill>
        <p:spPr bwMode="gray">
          <a:xfrm>
            <a:off x="8216444" y="4969767"/>
            <a:ext cx="444805" cy="365137"/>
          </a:xfrm>
          <a:prstGeom prst="rect">
            <a:avLst/>
          </a:prstGeom>
        </p:spPr>
      </p:pic>
      <p:pic>
        <p:nvPicPr>
          <p:cNvPr id="104" name="图片 72" descr="交换机.png"/>
          <p:cNvPicPr>
            <a:picLocks noChangeAspect="1"/>
          </p:cNvPicPr>
          <p:nvPr/>
        </p:nvPicPr>
        <p:blipFill>
          <a:blip r:embed="rId5" cstate="print"/>
          <a:stretch>
            <a:fillRect/>
          </a:stretch>
        </p:blipFill>
        <p:spPr bwMode="gray">
          <a:xfrm>
            <a:off x="9442999" y="4969767"/>
            <a:ext cx="444805" cy="365137"/>
          </a:xfrm>
          <a:prstGeom prst="rect">
            <a:avLst/>
          </a:prstGeom>
        </p:spPr>
      </p:pic>
      <p:pic>
        <p:nvPicPr>
          <p:cNvPr id="105" name="图片 72" descr="交换机.png"/>
          <p:cNvPicPr>
            <a:picLocks noChangeAspect="1"/>
          </p:cNvPicPr>
          <p:nvPr/>
        </p:nvPicPr>
        <p:blipFill>
          <a:blip r:embed="rId5" cstate="print"/>
          <a:stretch>
            <a:fillRect/>
          </a:stretch>
        </p:blipFill>
        <p:spPr bwMode="gray">
          <a:xfrm>
            <a:off x="10669552" y="4969767"/>
            <a:ext cx="444805" cy="365137"/>
          </a:xfrm>
          <a:prstGeom prst="rect">
            <a:avLst/>
          </a:prstGeom>
        </p:spPr>
      </p:pic>
      <p:sp>
        <p:nvSpPr>
          <p:cNvPr id="113" name="圆柱形 112"/>
          <p:cNvSpPr/>
          <p:nvPr/>
        </p:nvSpPr>
        <p:spPr bwMode="gray">
          <a:xfrm rot="16200000">
            <a:off x="8958391" y="4300006"/>
            <a:ext cx="130835" cy="566620"/>
          </a:xfrm>
          <a:prstGeom prst="can">
            <a:avLst>
              <a:gd name="adj" fmla="val 43371"/>
            </a:avLst>
          </a:prstGeom>
          <a:solidFill>
            <a:srgbClr val="EC7061"/>
          </a:solidFill>
          <a:ln w="12700" cap="flat" cmpd="sng" algn="ctr">
            <a:solidFill>
              <a:sysClr val="window" lastClr="FFFFFF"/>
            </a:solidFill>
            <a:prstDash val="solid"/>
            <a:miter lim="800000"/>
          </a:ln>
          <a:effectLst/>
        </p:spPr>
        <p:txBody>
          <a:bodyPr rtlCol="0" anchor="ctr"/>
          <a:lstStyle/>
          <a:p>
            <a:pPr algn="ctr"/>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5" name="圆柱形 114"/>
          <p:cNvSpPr/>
          <p:nvPr/>
        </p:nvSpPr>
        <p:spPr bwMode="gray">
          <a:xfrm rot="16200000">
            <a:off x="10213260" y="4300006"/>
            <a:ext cx="130835" cy="566620"/>
          </a:xfrm>
          <a:prstGeom prst="can">
            <a:avLst>
              <a:gd name="adj" fmla="val 43371"/>
            </a:avLst>
          </a:prstGeom>
          <a:solidFill>
            <a:srgbClr val="EC7061"/>
          </a:solidFill>
          <a:ln w="12700" cap="flat" cmpd="sng" algn="ctr">
            <a:solidFill>
              <a:sysClr val="window" lastClr="FFFFFF"/>
            </a:solidFill>
            <a:prstDash val="solid"/>
            <a:miter lim="800000"/>
          </a:ln>
          <a:effectLst/>
        </p:spPr>
        <p:txBody>
          <a:bodyPr rtlCol="0" anchor="ctr"/>
          <a:lstStyle/>
          <a:p>
            <a:pPr algn="ctr"/>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任意多边形 45"/>
          <p:cNvSpPr/>
          <p:nvPr/>
        </p:nvSpPr>
        <p:spPr bwMode="gray">
          <a:xfrm>
            <a:off x="8703089" y="3875986"/>
            <a:ext cx="1925320" cy="489443"/>
          </a:xfrm>
          <a:custGeom>
            <a:avLst/>
            <a:gdLst>
              <a:gd name="connsiteX0" fmla="*/ 0 w 1837266"/>
              <a:gd name="connsiteY0" fmla="*/ 0 h 16933"/>
              <a:gd name="connsiteX1" fmla="*/ 1837266 w 1837266"/>
              <a:gd name="connsiteY1" fmla="*/ 16933 h 16933"/>
              <a:gd name="connsiteX0" fmla="*/ 0 w 2133600"/>
              <a:gd name="connsiteY0" fmla="*/ 42334 h 42334"/>
              <a:gd name="connsiteX1" fmla="*/ 2133600 w 2133600"/>
              <a:gd name="connsiteY1" fmla="*/ 0 h 42334"/>
              <a:gd name="connsiteX0" fmla="*/ 0 w 2133600"/>
              <a:gd name="connsiteY0" fmla="*/ 360497 h 360497"/>
              <a:gd name="connsiteX1" fmla="*/ 2133600 w 2133600"/>
              <a:gd name="connsiteY1" fmla="*/ 318163 h 360497"/>
              <a:gd name="connsiteX0" fmla="*/ 0 w 2336800"/>
              <a:gd name="connsiteY0" fmla="*/ 349350 h 349533"/>
              <a:gd name="connsiteX1" fmla="*/ 2336800 w 2336800"/>
              <a:gd name="connsiteY1" fmla="*/ 349350 h 349533"/>
              <a:gd name="connsiteX0" fmla="*/ 0 w 2336800"/>
              <a:gd name="connsiteY0" fmla="*/ 520376 h 520376"/>
              <a:gd name="connsiteX1" fmla="*/ 2336800 w 2336800"/>
              <a:gd name="connsiteY1" fmla="*/ 520376 h 520376"/>
              <a:gd name="connsiteX0" fmla="*/ 0 w 2148205"/>
              <a:gd name="connsiteY0" fmla="*/ 544863 h 544863"/>
              <a:gd name="connsiteX1" fmla="*/ 2148205 w 2148205"/>
              <a:gd name="connsiteY1" fmla="*/ 491523 h 544863"/>
              <a:gd name="connsiteX0" fmla="*/ 0 w 2142490"/>
              <a:gd name="connsiteY0" fmla="*/ 536827 h 536827"/>
              <a:gd name="connsiteX1" fmla="*/ 2142490 w 2142490"/>
              <a:gd name="connsiteY1" fmla="*/ 500632 h 536827"/>
              <a:gd name="connsiteX0" fmla="*/ 0 w 1990090"/>
              <a:gd name="connsiteY0" fmla="*/ 520377 h 520377"/>
              <a:gd name="connsiteX1" fmla="*/ 1990090 w 1990090"/>
              <a:gd name="connsiteY1" fmla="*/ 520377 h 520377"/>
              <a:gd name="connsiteX0" fmla="*/ 0 w 1953895"/>
              <a:gd name="connsiteY0" fmla="*/ 516162 h 525687"/>
              <a:gd name="connsiteX1" fmla="*/ 1953895 w 1953895"/>
              <a:gd name="connsiteY1" fmla="*/ 525687 h 525687"/>
              <a:gd name="connsiteX0" fmla="*/ 0 w 1925320"/>
              <a:gd name="connsiteY0" fmla="*/ 518684 h 522494"/>
              <a:gd name="connsiteX1" fmla="*/ 1925320 w 1925320"/>
              <a:gd name="connsiteY1" fmla="*/ 522494 h 522494"/>
              <a:gd name="connsiteX0" fmla="*/ 0 w 1925320"/>
              <a:gd name="connsiteY0" fmla="*/ 494208 h 498018"/>
              <a:gd name="connsiteX1" fmla="*/ 1925320 w 1925320"/>
              <a:gd name="connsiteY1" fmla="*/ 498018 h 498018"/>
              <a:gd name="connsiteX0" fmla="*/ 0 w 1925320"/>
              <a:gd name="connsiteY0" fmla="*/ 479420 h 483230"/>
              <a:gd name="connsiteX1" fmla="*/ 1925320 w 1925320"/>
              <a:gd name="connsiteY1" fmla="*/ 483230 h 483230"/>
              <a:gd name="connsiteX0" fmla="*/ 0 w 1925320"/>
              <a:gd name="connsiteY0" fmla="*/ 485633 h 489443"/>
              <a:gd name="connsiteX1" fmla="*/ 1925320 w 1925320"/>
              <a:gd name="connsiteY1" fmla="*/ 489443 h 489443"/>
            </a:gdLst>
            <a:ahLst/>
            <a:cxnLst>
              <a:cxn ang="0">
                <a:pos x="connsiteX0" y="connsiteY0"/>
              </a:cxn>
              <a:cxn ang="0">
                <a:pos x="connsiteX1" y="connsiteY1"/>
              </a:cxn>
            </a:cxnLst>
            <a:rect l="l" t="t" r="r" b="b"/>
            <a:pathLst>
              <a:path w="1925320" h="489443">
                <a:moveTo>
                  <a:pt x="0" y="485633"/>
                </a:moveTo>
                <a:cubicBezTo>
                  <a:pt x="598170" y="-286456"/>
                  <a:pt x="1466638" y="-25189"/>
                  <a:pt x="1925320" y="489443"/>
                </a:cubicBezTo>
              </a:path>
            </a:pathLst>
          </a:custGeom>
          <a:noFill/>
          <a:ln w="95250" cap="rnd" cmpd="sng" algn="ctr">
            <a:solidFill>
              <a:srgbClr val="EC7061"/>
            </a:solidFill>
            <a:prstDash val="solid"/>
            <a:round/>
          </a:ln>
          <a:effectLst/>
        </p:spPr>
        <p:txBody>
          <a:bodyPr rtlCol="0" anchor="ctr"/>
          <a:lstStyle/>
          <a:p>
            <a:pPr algn="ctr"/>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椭圆 46"/>
          <p:cNvSpPr/>
          <p:nvPr/>
        </p:nvSpPr>
        <p:spPr bwMode="gray">
          <a:xfrm rot="18914774">
            <a:off x="8653007" y="4326018"/>
            <a:ext cx="62588" cy="98108"/>
          </a:xfrm>
          <a:prstGeom prst="ellipse">
            <a:avLst/>
          </a:prstGeom>
          <a:solidFill>
            <a:srgbClr val="EC706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8" name="文本框 117"/>
          <p:cNvSpPr txBox="1"/>
          <p:nvPr/>
        </p:nvSpPr>
        <p:spPr bwMode="gray">
          <a:xfrm>
            <a:off x="8010600" y="3680367"/>
            <a:ext cx="1220805" cy="523220"/>
          </a:xfrm>
          <a:prstGeom prst="rect">
            <a:avLst/>
          </a:prstGeom>
          <a:noFill/>
        </p:spPr>
        <p:txBody>
          <a:bodyPr wrap="squar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隧道按需建立</a:t>
            </a:r>
          </a:p>
        </p:txBody>
      </p:sp>
      <p:sp>
        <p:nvSpPr>
          <p:cNvPr id="119" name="文本框 118"/>
          <p:cNvSpPr txBox="1"/>
          <p:nvPr/>
        </p:nvSpPr>
        <p:spPr bwMode="gray">
          <a:xfrm>
            <a:off x="9034458" y="5458766"/>
            <a:ext cx="1261884" cy="307777"/>
          </a:xfrm>
          <a:prstGeom prst="rect">
            <a:avLst/>
          </a:prstGeom>
          <a:noFill/>
        </p:spPr>
        <p:txBody>
          <a:bodyPr wrap="none" rtlCol="0">
            <a:spAutoFit/>
          </a:bodyPr>
          <a:lstStyle/>
          <a:p>
            <a:pPr algn="ct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上层业务网络</a:t>
            </a:r>
          </a:p>
        </p:txBody>
      </p:sp>
      <p:sp>
        <p:nvSpPr>
          <p:cNvPr id="116" name="文本框 115"/>
          <p:cNvSpPr txBox="1"/>
          <p:nvPr/>
        </p:nvSpPr>
        <p:spPr bwMode="gray">
          <a:xfrm>
            <a:off x="5580689" y="3790837"/>
            <a:ext cx="1042273" cy="400110"/>
          </a:xfrm>
          <a:prstGeom prst="rect">
            <a:avLst/>
          </a:prstGeom>
          <a:noFill/>
        </p:spPr>
        <p:txBody>
          <a:bodyPr wrap="none" rtlCol="0">
            <a:spAutoFit/>
          </a:bodyPr>
          <a:lstStyle/>
          <a:p>
            <a:pPr algn="ctr"/>
            <a:r>
              <a:rPr lang="en-US" altLang="zh-CN" sz="20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VXLAN</a:t>
            </a:r>
            <a:endParaRPr lang="zh-CN" altLang="en-US" sz="20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文本框 56"/>
          <p:cNvSpPr txBox="1"/>
          <p:nvPr/>
        </p:nvSpPr>
        <p:spPr bwMode="gray">
          <a:xfrm>
            <a:off x="5069628" y="2887685"/>
            <a:ext cx="705493" cy="307777"/>
          </a:xfrm>
          <a:prstGeom prst="rect">
            <a:avLst/>
          </a:prstGeom>
          <a:noFill/>
        </p:spPr>
        <p:txBody>
          <a:bodyPr wrap="squar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Spine</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文本框 57"/>
          <p:cNvSpPr txBox="1"/>
          <p:nvPr/>
        </p:nvSpPr>
        <p:spPr bwMode="gray">
          <a:xfrm>
            <a:off x="6428187" y="2887685"/>
            <a:ext cx="705493" cy="307777"/>
          </a:xfrm>
          <a:prstGeom prst="rect">
            <a:avLst/>
          </a:prstGeom>
          <a:noFill/>
        </p:spPr>
        <p:txBody>
          <a:bodyPr wrap="squar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Spine</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文本框 58"/>
          <p:cNvSpPr txBox="1"/>
          <p:nvPr/>
        </p:nvSpPr>
        <p:spPr bwMode="gray">
          <a:xfrm>
            <a:off x="4522524" y="4124164"/>
            <a:ext cx="705493" cy="307777"/>
          </a:xfrm>
          <a:prstGeom prst="rect">
            <a:avLst/>
          </a:prstGeom>
          <a:noFill/>
        </p:spPr>
        <p:txBody>
          <a:bodyPr wrap="squar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Leaf</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文本框 59"/>
          <p:cNvSpPr txBox="1"/>
          <p:nvPr/>
        </p:nvSpPr>
        <p:spPr bwMode="gray">
          <a:xfrm>
            <a:off x="5743253" y="4124164"/>
            <a:ext cx="705493" cy="307777"/>
          </a:xfrm>
          <a:prstGeom prst="rect">
            <a:avLst/>
          </a:prstGeom>
          <a:noFill/>
        </p:spPr>
        <p:txBody>
          <a:bodyPr wrap="squar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Leaf</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文本框 60"/>
          <p:cNvSpPr txBox="1"/>
          <p:nvPr/>
        </p:nvSpPr>
        <p:spPr bwMode="gray">
          <a:xfrm>
            <a:off x="6975632" y="4124164"/>
            <a:ext cx="705493" cy="307777"/>
          </a:xfrm>
          <a:prstGeom prst="rect">
            <a:avLst/>
          </a:prstGeom>
          <a:noFill/>
        </p:spPr>
        <p:txBody>
          <a:bodyPr wrap="squar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Leaf</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894590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Freeform 159"/>
          <p:cNvSpPr/>
          <p:nvPr/>
        </p:nvSpPr>
        <p:spPr bwMode="gray">
          <a:xfrm flipH="1">
            <a:off x="1221571" y="2946924"/>
            <a:ext cx="3112394" cy="162693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lumMod val="85000"/>
              <a:alpha val="48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b="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a:sym typeface="Huawei Sans" panose="020C0503030203020204" pitchFamily="34" charset="0"/>
              </a:rPr>
              <a:t>在园区网络中使用</a:t>
            </a:r>
            <a:r>
              <a:rPr lang="en-US" altLang="zh-CN">
                <a:sym typeface="Huawei Sans" panose="020C0503030203020204" pitchFamily="34" charset="0"/>
              </a:rPr>
              <a:t>VXLAN</a:t>
            </a:r>
            <a:r>
              <a:rPr lang="zh-CN" altLang="en-US">
                <a:sym typeface="Huawei Sans" panose="020C0503030203020204" pitchFamily="34" charset="0"/>
              </a:rPr>
              <a:t>实现“一网多用”</a:t>
            </a:r>
          </a:p>
        </p:txBody>
      </p:sp>
      <p:cxnSp>
        <p:nvCxnSpPr>
          <p:cNvPr id="3" name="Straight Connector 166"/>
          <p:cNvCxnSpPr/>
          <p:nvPr/>
        </p:nvCxnSpPr>
        <p:spPr bwMode="gray">
          <a:xfrm flipH="1">
            <a:off x="10780207" y="4379066"/>
            <a:ext cx="4" cy="1122829"/>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 name="Straight Connector 166"/>
          <p:cNvCxnSpPr/>
          <p:nvPr/>
        </p:nvCxnSpPr>
        <p:spPr bwMode="gray">
          <a:xfrm flipH="1">
            <a:off x="8913042" y="4379066"/>
            <a:ext cx="4" cy="1122829"/>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 name="Straight Connector 166"/>
          <p:cNvCxnSpPr/>
          <p:nvPr/>
        </p:nvCxnSpPr>
        <p:spPr bwMode="gray">
          <a:xfrm flipH="1">
            <a:off x="7034801" y="4379066"/>
            <a:ext cx="4" cy="1122829"/>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bwMode="gray">
          <a:xfrm>
            <a:off x="7266821" y="3108268"/>
            <a:ext cx="3291114" cy="1165593"/>
            <a:chOff x="6993338" y="4944020"/>
            <a:chExt cx="823660" cy="656223"/>
          </a:xfrm>
        </p:grpSpPr>
        <p:grpSp>
          <p:nvGrpSpPr>
            <p:cNvPr id="7" name="Group 165"/>
            <p:cNvGrpSpPr/>
            <p:nvPr/>
          </p:nvGrpSpPr>
          <p:grpSpPr bwMode="gray">
            <a:xfrm rot="10800000">
              <a:off x="6993338" y="4944020"/>
              <a:ext cx="823660" cy="502927"/>
              <a:chOff x="-1233037" y="914446"/>
              <a:chExt cx="1573823" cy="778776"/>
            </a:xfrm>
          </p:grpSpPr>
          <p:cxnSp>
            <p:nvCxnSpPr>
              <p:cNvPr id="9" name="Straight Connector 166"/>
              <p:cNvCxnSpPr/>
              <p:nvPr/>
            </p:nvCxnSpPr>
            <p:spPr bwMode="gray">
              <a:xfrm flipH="1" flipV="1">
                <a:off x="-1233037" y="914446"/>
                <a:ext cx="786912" cy="778776"/>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 name="Straight Connector 167"/>
              <p:cNvCxnSpPr/>
              <p:nvPr/>
            </p:nvCxnSpPr>
            <p:spPr bwMode="gray">
              <a:xfrm flipV="1">
                <a:off x="-446125" y="914446"/>
                <a:ext cx="786911" cy="778776"/>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cxnSp>
          <p:nvCxnSpPr>
            <p:cNvPr id="8" name="Straight Connector 166"/>
            <p:cNvCxnSpPr/>
            <p:nvPr/>
          </p:nvCxnSpPr>
          <p:spPr bwMode="gray">
            <a:xfrm flipH="1">
              <a:off x="7405167" y="4968096"/>
              <a:ext cx="1" cy="632147"/>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sp>
        <p:nvSpPr>
          <p:cNvPr id="11" name="Freeform 159"/>
          <p:cNvSpPr/>
          <p:nvPr/>
        </p:nvSpPr>
        <p:spPr bwMode="gray">
          <a:xfrm flipH="1">
            <a:off x="6340898" y="3788291"/>
            <a:ext cx="1382848" cy="81212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56C4D2"/>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b="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3" name="Straight Connector 166"/>
          <p:cNvCxnSpPr/>
          <p:nvPr/>
        </p:nvCxnSpPr>
        <p:spPr bwMode="gray">
          <a:xfrm>
            <a:off x="3949131" y="4573860"/>
            <a:ext cx="412329" cy="8121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67"/>
          <p:cNvCxnSpPr/>
          <p:nvPr/>
        </p:nvCxnSpPr>
        <p:spPr bwMode="gray">
          <a:xfrm flipH="1">
            <a:off x="3537800" y="4541510"/>
            <a:ext cx="428657" cy="8444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 name="组合 225"/>
          <p:cNvGrpSpPr>
            <a:grpSpLocks/>
          </p:cNvGrpSpPr>
          <p:nvPr/>
        </p:nvGrpSpPr>
        <p:grpSpPr bwMode="gray">
          <a:xfrm>
            <a:off x="4147682" y="5373437"/>
            <a:ext cx="504238" cy="504879"/>
            <a:chOff x="436563" y="3479800"/>
            <a:chExt cx="1114425" cy="1116013"/>
          </a:xfrm>
        </p:grpSpPr>
        <p:sp>
          <p:nvSpPr>
            <p:cNvPr id="16" name="Freeform 166"/>
            <p:cNvSpPr>
              <a:spLocks/>
            </p:cNvSpPr>
            <p:nvPr/>
          </p:nvSpPr>
          <p:spPr bwMode="gray">
            <a:xfrm>
              <a:off x="436563" y="3479800"/>
              <a:ext cx="1114425" cy="1116013"/>
            </a:xfrm>
            <a:custGeom>
              <a:avLst/>
              <a:gdLst>
                <a:gd name="T0" fmla="*/ 2147483647 w 2658"/>
                <a:gd name="T1" fmla="*/ 2147483647 h 2659"/>
                <a:gd name="T2" fmla="*/ 2147483647 w 2658"/>
                <a:gd name="T3" fmla="*/ 2147483647 h 2659"/>
                <a:gd name="T4" fmla="*/ 2147483647 w 2658"/>
                <a:gd name="T5" fmla="*/ 2147483647 h 2659"/>
                <a:gd name="T6" fmla="*/ 0 w 2658"/>
                <a:gd name="T7" fmla="*/ 2147483647 h 2659"/>
                <a:gd name="T8" fmla="*/ 2147483647 w 2658"/>
                <a:gd name="T9" fmla="*/ 0 h 2659"/>
                <a:gd name="T10" fmla="*/ 2147483647 w 2658"/>
                <a:gd name="T11" fmla="*/ 2147483647 h 2659"/>
                <a:gd name="T12" fmla="*/ 0 60000 65536"/>
                <a:gd name="T13" fmla="*/ 0 60000 65536"/>
                <a:gd name="T14" fmla="*/ 0 60000 65536"/>
                <a:gd name="T15" fmla="*/ 0 60000 65536"/>
                <a:gd name="T16" fmla="*/ 0 60000 65536"/>
                <a:gd name="T17" fmla="*/ 0 60000 65536"/>
                <a:gd name="T18" fmla="*/ 0 w 2658"/>
                <a:gd name="T19" fmla="*/ 0 h 2659"/>
                <a:gd name="T20" fmla="*/ 2658 w 2658"/>
                <a:gd name="T21" fmla="*/ 2659 h 2659"/>
              </a:gdLst>
              <a:ahLst/>
              <a:cxnLst>
                <a:cxn ang="T12">
                  <a:pos x="T0" y="T1"/>
                </a:cxn>
                <a:cxn ang="T13">
                  <a:pos x="T2" y="T3"/>
                </a:cxn>
                <a:cxn ang="T14">
                  <a:pos x="T4" y="T5"/>
                </a:cxn>
                <a:cxn ang="T15">
                  <a:pos x="T6" y="T7"/>
                </a:cxn>
                <a:cxn ang="T16">
                  <a:pos x="T8" y="T9"/>
                </a:cxn>
                <a:cxn ang="T17">
                  <a:pos x="T10" y="T11"/>
                </a:cxn>
              </a:cxnLst>
              <a:rect l="T18" t="T19" r="T20" b="T21"/>
              <a:pathLst>
                <a:path w="2658" h="2659">
                  <a:moveTo>
                    <a:pt x="2658" y="1330"/>
                  </a:moveTo>
                  <a:lnTo>
                    <a:pt x="2658" y="1330"/>
                  </a:lnTo>
                  <a:cubicBezTo>
                    <a:pt x="2658" y="2064"/>
                    <a:pt x="2063" y="2659"/>
                    <a:pt x="1329" y="2659"/>
                  </a:cubicBezTo>
                  <a:cubicBezTo>
                    <a:pt x="595" y="2659"/>
                    <a:pt x="0" y="2064"/>
                    <a:pt x="0" y="1330"/>
                  </a:cubicBezTo>
                  <a:cubicBezTo>
                    <a:pt x="0" y="595"/>
                    <a:pt x="595" y="0"/>
                    <a:pt x="1329" y="0"/>
                  </a:cubicBezTo>
                  <a:cubicBezTo>
                    <a:pt x="2063" y="0"/>
                    <a:pt x="2658" y="595"/>
                    <a:pt x="2658" y="1330"/>
                  </a:cubicBezTo>
                  <a:close/>
                </a:path>
              </a:pathLst>
            </a:custGeom>
            <a:solidFill>
              <a:srgbClr val="FFD17D"/>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7" name="组合 206"/>
            <p:cNvGrpSpPr>
              <a:grpSpLocks/>
            </p:cNvGrpSpPr>
            <p:nvPr/>
          </p:nvGrpSpPr>
          <p:grpSpPr bwMode="gray">
            <a:xfrm>
              <a:off x="512763" y="3792538"/>
              <a:ext cx="963613" cy="488950"/>
              <a:chOff x="512763" y="3792538"/>
              <a:chExt cx="963613" cy="488950"/>
            </a:xfrm>
          </p:grpSpPr>
          <p:sp>
            <p:nvSpPr>
              <p:cNvPr id="18" name="Freeform 167"/>
              <p:cNvSpPr>
                <a:spLocks noEditPoints="1"/>
              </p:cNvSpPr>
              <p:nvPr/>
            </p:nvSpPr>
            <p:spPr bwMode="gray">
              <a:xfrm>
                <a:off x="633413" y="3844925"/>
                <a:ext cx="227013" cy="163513"/>
              </a:xfrm>
              <a:custGeom>
                <a:avLst/>
                <a:gdLst>
                  <a:gd name="T0" fmla="*/ 2147483647 w 541"/>
                  <a:gd name="T1" fmla="*/ 2147483647 h 390"/>
                  <a:gd name="T2" fmla="*/ 2147483647 w 541"/>
                  <a:gd name="T3" fmla="*/ 2147483647 h 390"/>
                  <a:gd name="T4" fmla="*/ 2147483647 w 541"/>
                  <a:gd name="T5" fmla="*/ 2147483647 h 390"/>
                  <a:gd name="T6" fmla="*/ 2147483647 w 541"/>
                  <a:gd name="T7" fmla="*/ 2147483647 h 390"/>
                  <a:gd name="T8" fmla="*/ 2147483647 w 541"/>
                  <a:gd name="T9" fmla="*/ 2147483647 h 390"/>
                  <a:gd name="T10" fmla="*/ 2147483647 w 541"/>
                  <a:gd name="T11" fmla="*/ 2147483647 h 390"/>
                  <a:gd name="T12" fmla="*/ 0 w 541"/>
                  <a:gd name="T13" fmla="*/ 2147483647 h 390"/>
                  <a:gd name="T14" fmla="*/ 0 w 541"/>
                  <a:gd name="T15" fmla="*/ 2147483647 h 390"/>
                  <a:gd name="T16" fmla="*/ 2147483647 w 541"/>
                  <a:gd name="T17" fmla="*/ 2147483647 h 390"/>
                  <a:gd name="T18" fmla="*/ 2147483647 w 541"/>
                  <a:gd name="T19" fmla="*/ 0 h 390"/>
                  <a:gd name="T20" fmla="*/ 0 w 541"/>
                  <a:gd name="T21" fmla="*/ 0 h 390"/>
                  <a:gd name="T22" fmla="*/ 0 w 541"/>
                  <a:gd name="T23" fmla="*/ 2147483647 h 3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41"/>
                  <a:gd name="T37" fmla="*/ 0 h 390"/>
                  <a:gd name="T38" fmla="*/ 541 w 541"/>
                  <a:gd name="T39" fmla="*/ 390 h 3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41" h="390">
                    <a:moveTo>
                      <a:pt x="53" y="54"/>
                    </a:moveTo>
                    <a:lnTo>
                      <a:pt x="53" y="54"/>
                    </a:lnTo>
                    <a:lnTo>
                      <a:pt x="488" y="54"/>
                    </a:lnTo>
                    <a:lnTo>
                      <a:pt x="488" y="336"/>
                    </a:lnTo>
                    <a:lnTo>
                      <a:pt x="53" y="336"/>
                    </a:lnTo>
                    <a:lnTo>
                      <a:pt x="53" y="54"/>
                    </a:lnTo>
                    <a:close/>
                    <a:moveTo>
                      <a:pt x="0" y="390"/>
                    </a:moveTo>
                    <a:lnTo>
                      <a:pt x="0" y="390"/>
                    </a:lnTo>
                    <a:lnTo>
                      <a:pt x="541" y="390"/>
                    </a:lnTo>
                    <a:lnTo>
                      <a:pt x="541" y="0"/>
                    </a:lnTo>
                    <a:lnTo>
                      <a:pt x="0" y="0"/>
                    </a:lnTo>
                    <a:lnTo>
                      <a:pt x="0" y="39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Freeform 168"/>
              <p:cNvSpPr>
                <a:spLocks noEditPoints="1"/>
              </p:cNvSpPr>
              <p:nvPr/>
            </p:nvSpPr>
            <p:spPr bwMode="gray">
              <a:xfrm>
                <a:off x="881063" y="3844925"/>
                <a:ext cx="227013" cy="163513"/>
              </a:xfrm>
              <a:custGeom>
                <a:avLst/>
                <a:gdLst>
                  <a:gd name="T0" fmla="*/ 2147483647 w 542"/>
                  <a:gd name="T1" fmla="*/ 2147483647 h 390"/>
                  <a:gd name="T2" fmla="*/ 2147483647 w 542"/>
                  <a:gd name="T3" fmla="*/ 2147483647 h 390"/>
                  <a:gd name="T4" fmla="*/ 2147483647 w 542"/>
                  <a:gd name="T5" fmla="*/ 2147483647 h 390"/>
                  <a:gd name="T6" fmla="*/ 2147483647 w 542"/>
                  <a:gd name="T7" fmla="*/ 2147483647 h 390"/>
                  <a:gd name="T8" fmla="*/ 2147483647 w 542"/>
                  <a:gd name="T9" fmla="*/ 2147483647 h 390"/>
                  <a:gd name="T10" fmla="*/ 2147483647 w 542"/>
                  <a:gd name="T11" fmla="*/ 2147483647 h 390"/>
                  <a:gd name="T12" fmla="*/ 2147483647 w 542"/>
                  <a:gd name="T13" fmla="*/ 0 h 390"/>
                  <a:gd name="T14" fmla="*/ 2147483647 w 542"/>
                  <a:gd name="T15" fmla="*/ 0 h 390"/>
                  <a:gd name="T16" fmla="*/ 0 w 542"/>
                  <a:gd name="T17" fmla="*/ 0 h 390"/>
                  <a:gd name="T18" fmla="*/ 0 w 542"/>
                  <a:gd name="T19" fmla="*/ 2147483647 h 390"/>
                  <a:gd name="T20" fmla="*/ 2147483647 w 542"/>
                  <a:gd name="T21" fmla="*/ 2147483647 h 390"/>
                  <a:gd name="T22" fmla="*/ 2147483647 w 542"/>
                  <a:gd name="T23" fmla="*/ 0 h 3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42"/>
                  <a:gd name="T37" fmla="*/ 0 h 390"/>
                  <a:gd name="T38" fmla="*/ 542 w 542"/>
                  <a:gd name="T39" fmla="*/ 390 h 3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42" h="390">
                    <a:moveTo>
                      <a:pt x="488" y="336"/>
                    </a:moveTo>
                    <a:lnTo>
                      <a:pt x="488" y="336"/>
                    </a:lnTo>
                    <a:lnTo>
                      <a:pt x="54" y="336"/>
                    </a:lnTo>
                    <a:lnTo>
                      <a:pt x="54" y="54"/>
                    </a:lnTo>
                    <a:lnTo>
                      <a:pt x="488" y="54"/>
                    </a:lnTo>
                    <a:lnTo>
                      <a:pt x="488" y="336"/>
                    </a:lnTo>
                    <a:close/>
                    <a:moveTo>
                      <a:pt x="542" y="0"/>
                    </a:moveTo>
                    <a:lnTo>
                      <a:pt x="542" y="0"/>
                    </a:lnTo>
                    <a:lnTo>
                      <a:pt x="0" y="0"/>
                    </a:lnTo>
                    <a:lnTo>
                      <a:pt x="0" y="390"/>
                    </a:lnTo>
                    <a:lnTo>
                      <a:pt x="542" y="390"/>
                    </a:lnTo>
                    <a:lnTo>
                      <a:pt x="542" y="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Freeform 169"/>
              <p:cNvSpPr>
                <a:spLocks noEditPoints="1"/>
              </p:cNvSpPr>
              <p:nvPr/>
            </p:nvSpPr>
            <p:spPr bwMode="gray">
              <a:xfrm>
                <a:off x="1128713" y="3844925"/>
                <a:ext cx="227013" cy="163513"/>
              </a:xfrm>
              <a:custGeom>
                <a:avLst/>
                <a:gdLst>
                  <a:gd name="T0" fmla="*/ 2147483647 w 542"/>
                  <a:gd name="T1" fmla="*/ 2147483647 h 390"/>
                  <a:gd name="T2" fmla="*/ 2147483647 w 542"/>
                  <a:gd name="T3" fmla="*/ 2147483647 h 390"/>
                  <a:gd name="T4" fmla="*/ 2147483647 w 542"/>
                  <a:gd name="T5" fmla="*/ 2147483647 h 390"/>
                  <a:gd name="T6" fmla="*/ 2147483647 w 542"/>
                  <a:gd name="T7" fmla="*/ 2147483647 h 390"/>
                  <a:gd name="T8" fmla="*/ 2147483647 w 542"/>
                  <a:gd name="T9" fmla="*/ 2147483647 h 390"/>
                  <a:gd name="T10" fmla="*/ 2147483647 w 542"/>
                  <a:gd name="T11" fmla="*/ 2147483647 h 390"/>
                  <a:gd name="T12" fmla="*/ 2147483647 w 542"/>
                  <a:gd name="T13" fmla="*/ 0 h 390"/>
                  <a:gd name="T14" fmla="*/ 2147483647 w 542"/>
                  <a:gd name="T15" fmla="*/ 0 h 390"/>
                  <a:gd name="T16" fmla="*/ 0 w 542"/>
                  <a:gd name="T17" fmla="*/ 0 h 390"/>
                  <a:gd name="T18" fmla="*/ 0 w 542"/>
                  <a:gd name="T19" fmla="*/ 2147483647 h 390"/>
                  <a:gd name="T20" fmla="*/ 2147483647 w 542"/>
                  <a:gd name="T21" fmla="*/ 2147483647 h 390"/>
                  <a:gd name="T22" fmla="*/ 2147483647 w 542"/>
                  <a:gd name="T23" fmla="*/ 0 h 3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42"/>
                  <a:gd name="T37" fmla="*/ 0 h 390"/>
                  <a:gd name="T38" fmla="*/ 542 w 542"/>
                  <a:gd name="T39" fmla="*/ 390 h 3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42" h="390">
                    <a:moveTo>
                      <a:pt x="489" y="336"/>
                    </a:moveTo>
                    <a:lnTo>
                      <a:pt x="489" y="336"/>
                    </a:lnTo>
                    <a:lnTo>
                      <a:pt x="54" y="336"/>
                    </a:lnTo>
                    <a:lnTo>
                      <a:pt x="54" y="54"/>
                    </a:lnTo>
                    <a:lnTo>
                      <a:pt x="489" y="54"/>
                    </a:lnTo>
                    <a:lnTo>
                      <a:pt x="489" y="336"/>
                    </a:lnTo>
                    <a:close/>
                    <a:moveTo>
                      <a:pt x="542" y="0"/>
                    </a:moveTo>
                    <a:lnTo>
                      <a:pt x="542" y="0"/>
                    </a:lnTo>
                    <a:lnTo>
                      <a:pt x="0" y="0"/>
                    </a:lnTo>
                    <a:lnTo>
                      <a:pt x="0" y="390"/>
                    </a:lnTo>
                    <a:lnTo>
                      <a:pt x="542" y="390"/>
                    </a:lnTo>
                    <a:lnTo>
                      <a:pt x="542" y="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Freeform 170"/>
              <p:cNvSpPr>
                <a:spLocks noEditPoints="1"/>
              </p:cNvSpPr>
              <p:nvPr/>
            </p:nvSpPr>
            <p:spPr bwMode="gray">
              <a:xfrm>
                <a:off x="512763" y="3792538"/>
                <a:ext cx="963613" cy="488950"/>
              </a:xfrm>
              <a:custGeom>
                <a:avLst/>
                <a:gdLst>
                  <a:gd name="T0" fmla="*/ 2147483647 w 2298"/>
                  <a:gd name="T1" fmla="*/ 2147483647 h 1165"/>
                  <a:gd name="T2" fmla="*/ 2147483647 w 2298"/>
                  <a:gd name="T3" fmla="*/ 2147483647 h 1165"/>
                  <a:gd name="T4" fmla="*/ 2147483647 w 2298"/>
                  <a:gd name="T5" fmla="*/ 2147483647 h 1165"/>
                  <a:gd name="T6" fmla="*/ 2147483647 w 2298"/>
                  <a:gd name="T7" fmla="*/ 2147483647 h 1165"/>
                  <a:gd name="T8" fmla="*/ 2147483647 w 2298"/>
                  <a:gd name="T9" fmla="*/ 2147483647 h 1165"/>
                  <a:gd name="T10" fmla="*/ 2147483647 w 2298"/>
                  <a:gd name="T11" fmla="*/ 2147483647 h 1165"/>
                  <a:gd name="T12" fmla="*/ 2147483647 w 2298"/>
                  <a:gd name="T13" fmla="*/ 2147483647 h 1165"/>
                  <a:gd name="T14" fmla="*/ 2147483647 w 2298"/>
                  <a:gd name="T15" fmla="*/ 2147483647 h 1165"/>
                  <a:gd name="T16" fmla="*/ 2147483647 w 2298"/>
                  <a:gd name="T17" fmla="*/ 2147483647 h 1165"/>
                  <a:gd name="T18" fmla="*/ 2147483647 w 2298"/>
                  <a:gd name="T19" fmla="*/ 2147483647 h 1165"/>
                  <a:gd name="T20" fmla="*/ 2147483647 w 2298"/>
                  <a:gd name="T21" fmla="*/ 2147483647 h 1165"/>
                  <a:gd name="T22" fmla="*/ 2147483647 w 2298"/>
                  <a:gd name="T23" fmla="*/ 2147483647 h 1165"/>
                  <a:gd name="T24" fmla="*/ 2147483647 w 2298"/>
                  <a:gd name="T25" fmla="*/ 2147483647 h 1165"/>
                  <a:gd name="T26" fmla="*/ 2147483647 w 2298"/>
                  <a:gd name="T27" fmla="*/ 2147483647 h 1165"/>
                  <a:gd name="T28" fmla="*/ 2147483647 w 2298"/>
                  <a:gd name="T29" fmla="*/ 2147483647 h 1165"/>
                  <a:gd name="T30" fmla="*/ 2147483647 w 2298"/>
                  <a:gd name="T31" fmla="*/ 2147483647 h 1165"/>
                  <a:gd name="T32" fmla="*/ 2147483647 w 2298"/>
                  <a:gd name="T33" fmla="*/ 2147483647 h 1165"/>
                  <a:gd name="T34" fmla="*/ 2147483647 w 2298"/>
                  <a:gd name="T35" fmla="*/ 2147483647 h 1165"/>
                  <a:gd name="T36" fmla="*/ 2147483647 w 2298"/>
                  <a:gd name="T37" fmla="*/ 2147483647 h 1165"/>
                  <a:gd name="T38" fmla="*/ 2147483647 w 2298"/>
                  <a:gd name="T39" fmla="*/ 2147483647 h 1165"/>
                  <a:gd name="T40" fmla="*/ 2147483647 w 2298"/>
                  <a:gd name="T41" fmla="*/ 2147483647 h 1165"/>
                  <a:gd name="T42" fmla="*/ 2147483647 w 2298"/>
                  <a:gd name="T43" fmla="*/ 2147483647 h 1165"/>
                  <a:gd name="T44" fmla="*/ 2147483647 w 2298"/>
                  <a:gd name="T45" fmla="*/ 2147483647 h 1165"/>
                  <a:gd name="T46" fmla="*/ 2147483647 w 2298"/>
                  <a:gd name="T47" fmla="*/ 2147483647 h 1165"/>
                  <a:gd name="T48" fmla="*/ 2147483647 w 2298"/>
                  <a:gd name="T49" fmla="*/ 2147483647 h 1165"/>
                  <a:gd name="T50" fmla="*/ 2147483647 w 2298"/>
                  <a:gd name="T51" fmla="*/ 2147483647 h 1165"/>
                  <a:gd name="T52" fmla="*/ 2147483647 w 2298"/>
                  <a:gd name="T53" fmla="*/ 2147483647 h 1165"/>
                  <a:gd name="T54" fmla="*/ 2147483647 w 2298"/>
                  <a:gd name="T55" fmla="*/ 2147483647 h 1165"/>
                  <a:gd name="T56" fmla="*/ 2147483647 w 2298"/>
                  <a:gd name="T57" fmla="*/ 2147483647 h 1165"/>
                  <a:gd name="T58" fmla="*/ 2147483647 w 2298"/>
                  <a:gd name="T59" fmla="*/ 2147483647 h 1165"/>
                  <a:gd name="T60" fmla="*/ 2147483647 w 2298"/>
                  <a:gd name="T61" fmla="*/ 2147483647 h 1165"/>
                  <a:gd name="T62" fmla="*/ 2147483647 w 2298"/>
                  <a:gd name="T63" fmla="*/ 2147483647 h 1165"/>
                  <a:gd name="T64" fmla="*/ 2147483647 w 2298"/>
                  <a:gd name="T65" fmla="*/ 2147483647 h 1165"/>
                  <a:gd name="T66" fmla="*/ 2147483647 w 2298"/>
                  <a:gd name="T67" fmla="*/ 0 h 1165"/>
                  <a:gd name="T68" fmla="*/ 2147483647 w 2298"/>
                  <a:gd name="T69" fmla="*/ 2147483647 h 1165"/>
                  <a:gd name="T70" fmla="*/ 2147483647 w 2298"/>
                  <a:gd name="T71" fmla="*/ 2147483647 h 1165"/>
                  <a:gd name="T72" fmla="*/ 2147483647 w 2298"/>
                  <a:gd name="T73" fmla="*/ 2147483647 h 1165"/>
                  <a:gd name="T74" fmla="*/ 2147483647 w 2298"/>
                  <a:gd name="T75" fmla="*/ 2147483647 h 1165"/>
                  <a:gd name="T76" fmla="*/ 2147483647 w 2298"/>
                  <a:gd name="T77" fmla="*/ 2147483647 h 1165"/>
                  <a:gd name="T78" fmla="*/ 2147483647 w 2298"/>
                  <a:gd name="T79" fmla="*/ 2147483647 h 1165"/>
                  <a:gd name="T80" fmla="*/ 2147483647 w 2298"/>
                  <a:gd name="T81" fmla="*/ 2147483647 h 1165"/>
                  <a:gd name="T82" fmla="*/ 2147483647 w 2298"/>
                  <a:gd name="T83" fmla="*/ 2147483647 h 1165"/>
                  <a:gd name="T84" fmla="*/ 2147483647 w 2298"/>
                  <a:gd name="T85" fmla="*/ 2147483647 h 1165"/>
                  <a:gd name="T86" fmla="*/ 2147483647 w 2298"/>
                  <a:gd name="T87" fmla="*/ 2147483647 h 1165"/>
                  <a:gd name="T88" fmla="*/ 2147483647 w 2298"/>
                  <a:gd name="T89" fmla="*/ 2147483647 h 1165"/>
                  <a:gd name="T90" fmla="*/ 2147483647 w 2298"/>
                  <a:gd name="T91" fmla="*/ 2147483647 h 1165"/>
                  <a:gd name="T92" fmla="*/ 2147483647 w 2298"/>
                  <a:gd name="T93" fmla="*/ 2147483647 h 1165"/>
                  <a:gd name="T94" fmla="*/ 2147483647 w 2298"/>
                  <a:gd name="T95" fmla="*/ 2147483647 h 1165"/>
                  <a:gd name="T96" fmla="*/ 2147483647 w 2298"/>
                  <a:gd name="T97" fmla="*/ 2147483647 h 1165"/>
                  <a:gd name="T98" fmla="*/ 2147483647 w 2298"/>
                  <a:gd name="T99" fmla="*/ 2147483647 h 1165"/>
                  <a:gd name="T100" fmla="*/ 2147483647 w 2298"/>
                  <a:gd name="T101" fmla="*/ 2147483647 h 1165"/>
                  <a:gd name="T102" fmla="*/ 2147483647 w 2298"/>
                  <a:gd name="T103" fmla="*/ 2147483647 h 1165"/>
                  <a:gd name="T104" fmla="*/ 2147483647 w 2298"/>
                  <a:gd name="T105" fmla="*/ 2147483647 h 1165"/>
                  <a:gd name="T106" fmla="*/ 2147483647 w 2298"/>
                  <a:gd name="T107" fmla="*/ 2147483647 h 116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298"/>
                  <a:gd name="T163" fmla="*/ 0 h 1165"/>
                  <a:gd name="T164" fmla="*/ 2298 w 2298"/>
                  <a:gd name="T165" fmla="*/ 1165 h 116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298" h="1165">
                    <a:moveTo>
                      <a:pt x="1149" y="819"/>
                    </a:moveTo>
                    <a:lnTo>
                      <a:pt x="1149" y="819"/>
                    </a:lnTo>
                    <a:cubicBezTo>
                      <a:pt x="637" y="819"/>
                      <a:pt x="294" y="719"/>
                      <a:pt x="141" y="662"/>
                    </a:cubicBezTo>
                    <a:lnTo>
                      <a:pt x="312" y="621"/>
                    </a:lnTo>
                    <a:cubicBezTo>
                      <a:pt x="512" y="682"/>
                      <a:pt x="796" y="702"/>
                      <a:pt x="981" y="709"/>
                    </a:cubicBezTo>
                    <a:cubicBezTo>
                      <a:pt x="993" y="731"/>
                      <a:pt x="1016" y="747"/>
                      <a:pt x="1042" y="747"/>
                    </a:cubicBezTo>
                    <a:cubicBezTo>
                      <a:pt x="1081" y="747"/>
                      <a:pt x="1112" y="716"/>
                      <a:pt x="1112" y="677"/>
                    </a:cubicBezTo>
                    <a:cubicBezTo>
                      <a:pt x="1112" y="639"/>
                      <a:pt x="1081" y="608"/>
                      <a:pt x="1042" y="608"/>
                    </a:cubicBezTo>
                    <a:cubicBezTo>
                      <a:pt x="1017" y="608"/>
                      <a:pt x="995" y="622"/>
                      <a:pt x="983" y="643"/>
                    </a:cubicBezTo>
                    <a:cubicBezTo>
                      <a:pt x="798" y="636"/>
                      <a:pt x="516" y="615"/>
                      <a:pt x="323" y="555"/>
                    </a:cubicBezTo>
                    <a:cubicBezTo>
                      <a:pt x="317" y="553"/>
                      <a:pt x="311" y="553"/>
                      <a:pt x="305" y="554"/>
                    </a:cubicBezTo>
                    <a:lnTo>
                      <a:pt x="240" y="570"/>
                    </a:lnTo>
                    <a:lnTo>
                      <a:pt x="240" y="111"/>
                    </a:lnTo>
                    <a:cubicBezTo>
                      <a:pt x="240" y="87"/>
                      <a:pt x="260" y="66"/>
                      <a:pt x="285" y="66"/>
                    </a:cubicBezTo>
                    <a:lnTo>
                      <a:pt x="2013" y="66"/>
                    </a:lnTo>
                    <a:cubicBezTo>
                      <a:pt x="2038" y="66"/>
                      <a:pt x="2058" y="87"/>
                      <a:pt x="2058" y="111"/>
                    </a:cubicBezTo>
                    <a:lnTo>
                      <a:pt x="2058" y="570"/>
                    </a:lnTo>
                    <a:lnTo>
                      <a:pt x="1993" y="554"/>
                    </a:lnTo>
                    <a:cubicBezTo>
                      <a:pt x="1987" y="553"/>
                      <a:pt x="1981" y="553"/>
                      <a:pt x="1975" y="555"/>
                    </a:cubicBezTo>
                    <a:cubicBezTo>
                      <a:pt x="1781" y="615"/>
                      <a:pt x="1498" y="636"/>
                      <a:pt x="1315" y="643"/>
                    </a:cubicBezTo>
                    <a:cubicBezTo>
                      <a:pt x="1303" y="622"/>
                      <a:pt x="1281" y="608"/>
                      <a:pt x="1255" y="608"/>
                    </a:cubicBezTo>
                    <a:cubicBezTo>
                      <a:pt x="1217" y="608"/>
                      <a:pt x="1186" y="639"/>
                      <a:pt x="1186" y="677"/>
                    </a:cubicBezTo>
                    <a:cubicBezTo>
                      <a:pt x="1186" y="716"/>
                      <a:pt x="1217" y="747"/>
                      <a:pt x="1255" y="747"/>
                    </a:cubicBezTo>
                    <a:cubicBezTo>
                      <a:pt x="1282" y="747"/>
                      <a:pt x="1305" y="731"/>
                      <a:pt x="1317" y="709"/>
                    </a:cubicBezTo>
                    <a:cubicBezTo>
                      <a:pt x="1501" y="702"/>
                      <a:pt x="1785" y="682"/>
                      <a:pt x="1986" y="621"/>
                    </a:cubicBezTo>
                    <a:lnTo>
                      <a:pt x="2157" y="662"/>
                    </a:lnTo>
                    <a:cubicBezTo>
                      <a:pt x="2004" y="719"/>
                      <a:pt x="1662" y="819"/>
                      <a:pt x="1149" y="819"/>
                    </a:cubicBezTo>
                    <a:close/>
                    <a:moveTo>
                      <a:pt x="1976" y="901"/>
                    </a:moveTo>
                    <a:lnTo>
                      <a:pt x="1976" y="901"/>
                    </a:lnTo>
                    <a:cubicBezTo>
                      <a:pt x="1976" y="918"/>
                      <a:pt x="1963" y="931"/>
                      <a:pt x="1947" y="932"/>
                    </a:cubicBezTo>
                    <a:lnTo>
                      <a:pt x="1767" y="907"/>
                    </a:lnTo>
                    <a:cubicBezTo>
                      <a:pt x="1743" y="902"/>
                      <a:pt x="1730" y="891"/>
                      <a:pt x="1730" y="876"/>
                    </a:cubicBezTo>
                    <a:lnTo>
                      <a:pt x="1730" y="841"/>
                    </a:lnTo>
                    <a:cubicBezTo>
                      <a:pt x="1824" y="825"/>
                      <a:pt x="1906" y="807"/>
                      <a:pt x="1976" y="789"/>
                    </a:cubicBezTo>
                    <a:lnTo>
                      <a:pt x="1976" y="901"/>
                    </a:lnTo>
                    <a:close/>
                    <a:moveTo>
                      <a:pt x="1463" y="1079"/>
                    </a:moveTo>
                    <a:lnTo>
                      <a:pt x="1463" y="1079"/>
                    </a:lnTo>
                    <a:cubicBezTo>
                      <a:pt x="1463" y="1088"/>
                      <a:pt x="1459" y="1095"/>
                      <a:pt x="1453" y="1097"/>
                    </a:cubicBezTo>
                    <a:cubicBezTo>
                      <a:pt x="1444" y="1101"/>
                      <a:pt x="1432" y="1097"/>
                      <a:pt x="1422" y="1087"/>
                    </a:cubicBezTo>
                    <a:cubicBezTo>
                      <a:pt x="1389" y="1055"/>
                      <a:pt x="1335" y="1005"/>
                      <a:pt x="1334" y="1004"/>
                    </a:cubicBezTo>
                    <a:cubicBezTo>
                      <a:pt x="1309" y="983"/>
                      <a:pt x="1305" y="968"/>
                      <a:pt x="1305" y="942"/>
                    </a:cubicBezTo>
                    <a:lnTo>
                      <a:pt x="1305" y="883"/>
                    </a:lnTo>
                    <a:cubicBezTo>
                      <a:pt x="1360" y="881"/>
                      <a:pt x="1412" y="877"/>
                      <a:pt x="1463" y="873"/>
                    </a:cubicBezTo>
                    <a:lnTo>
                      <a:pt x="1463" y="1079"/>
                    </a:lnTo>
                    <a:close/>
                    <a:moveTo>
                      <a:pt x="993" y="942"/>
                    </a:moveTo>
                    <a:lnTo>
                      <a:pt x="993" y="942"/>
                    </a:lnTo>
                    <a:cubicBezTo>
                      <a:pt x="993" y="968"/>
                      <a:pt x="989" y="983"/>
                      <a:pt x="963" y="1005"/>
                    </a:cubicBezTo>
                    <a:cubicBezTo>
                      <a:pt x="963" y="1005"/>
                      <a:pt x="909" y="1055"/>
                      <a:pt x="876" y="1087"/>
                    </a:cubicBezTo>
                    <a:cubicBezTo>
                      <a:pt x="865" y="1097"/>
                      <a:pt x="854" y="1101"/>
                      <a:pt x="845" y="1097"/>
                    </a:cubicBezTo>
                    <a:cubicBezTo>
                      <a:pt x="839" y="1095"/>
                      <a:pt x="835" y="1088"/>
                      <a:pt x="835" y="1079"/>
                    </a:cubicBezTo>
                    <a:lnTo>
                      <a:pt x="835" y="873"/>
                    </a:lnTo>
                    <a:cubicBezTo>
                      <a:pt x="886" y="877"/>
                      <a:pt x="938" y="880"/>
                      <a:pt x="993" y="883"/>
                    </a:cubicBezTo>
                    <a:lnTo>
                      <a:pt x="993" y="942"/>
                    </a:lnTo>
                    <a:close/>
                    <a:moveTo>
                      <a:pt x="567" y="876"/>
                    </a:moveTo>
                    <a:lnTo>
                      <a:pt x="567" y="876"/>
                    </a:lnTo>
                    <a:cubicBezTo>
                      <a:pt x="567" y="891"/>
                      <a:pt x="555" y="902"/>
                      <a:pt x="531" y="907"/>
                    </a:cubicBezTo>
                    <a:lnTo>
                      <a:pt x="351" y="932"/>
                    </a:lnTo>
                    <a:cubicBezTo>
                      <a:pt x="335" y="931"/>
                      <a:pt x="322" y="918"/>
                      <a:pt x="322" y="901"/>
                    </a:cubicBezTo>
                    <a:lnTo>
                      <a:pt x="322" y="789"/>
                    </a:lnTo>
                    <a:cubicBezTo>
                      <a:pt x="392" y="807"/>
                      <a:pt x="474" y="825"/>
                      <a:pt x="567" y="841"/>
                    </a:cubicBezTo>
                    <a:lnTo>
                      <a:pt x="567" y="876"/>
                    </a:lnTo>
                    <a:close/>
                    <a:moveTo>
                      <a:pt x="2297" y="650"/>
                    </a:moveTo>
                    <a:lnTo>
                      <a:pt x="2297" y="650"/>
                    </a:lnTo>
                    <a:cubicBezTo>
                      <a:pt x="2295" y="636"/>
                      <a:pt x="2285" y="625"/>
                      <a:pt x="2271" y="621"/>
                    </a:cubicBezTo>
                    <a:lnTo>
                      <a:pt x="2125" y="586"/>
                    </a:lnTo>
                    <a:lnTo>
                      <a:pt x="2125" y="111"/>
                    </a:lnTo>
                    <a:cubicBezTo>
                      <a:pt x="2125" y="50"/>
                      <a:pt x="2075" y="0"/>
                      <a:pt x="2013" y="0"/>
                    </a:cubicBezTo>
                    <a:lnTo>
                      <a:pt x="285" y="0"/>
                    </a:lnTo>
                    <a:cubicBezTo>
                      <a:pt x="223" y="0"/>
                      <a:pt x="173" y="50"/>
                      <a:pt x="173" y="111"/>
                    </a:cubicBezTo>
                    <a:lnTo>
                      <a:pt x="173" y="586"/>
                    </a:lnTo>
                    <a:lnTo>
                      <a:pt x="27" y="621"/>
                    </a:lnTo>
                    <a:cubicBezTo>
                      <a:pt x="13" y="625"/>
                      <a:pt x="3" y="636"/>
                      <a:pt x="1" y="650"/>
                    </a:cubicBezTo>
                    <a:cubicBezTo>
                      <a:pt x="0" y="664"/>
                      <a:pt x="7" y="677"/>
                      <a:pt x="19" y="683"/>
                    </a:cubicBezTo>
                    <a:cubicBezTo>
                      <a:pt x="26" y="687"/>
                      <a:pt x="106" y="727"/>
                      <a:pt x="256" y="771"/>
                    </a:cubicBezTo>
                    <a:lnTo>
                      <a:pt x="256" y="901"/>
                    </a:lnTo>
                    <a:cubicBezTo>
                      <a:pt x="256" y="955"/>
                      <a:pt x="299" y="999"/>
                      <a:pt x="353" y="999"/>
                    </a:cubicBezTo>
                    <a:lnTo>
                      <a:pt x="355" y="999"/>
                    </a:lnTo>
                    <a:lnTo>
                      <a:pt x="541" y="973"/>
                    </a:lnTo>
                    <a:lnTo>
                      <a:pt x="543" y="972"/>
                    </a:lnTo>
                    <a:cubicBezTo>
                      <a:pt x="599" y="961"/>
                      <a:pt x="634" y="924"/>
                      <a:pt x="634" y="876"/>
                    </a:cubicBezTo>
                    <a:lnTo>
                      <a:pt x="634" y="851"/>
                    </a:lnTo>
                    <a:cubicBezTo>
                      <a:pt x="677" y="857"/>
                      <a:pt x="722" y="862"/>
                      <a:pt x="769" y="867"/>
                    </a:cubicBezTo>
                    <a:lnTo>
                      <a:pt x="769" y="1079"/>
                    </a:lnTo>
                    <a:cubicBezTo>
                      <a:pt x="769" y="1115"/>
                      <a:pt x="788" y="1146"/>
                      <a:pt x="819" y="1159"/>
                    </a:cubicBezTo>
                    <a:cubicBezTo>
                      <a:pt x="830" y="1163"/>
                      <a:pt x="840" y="1165"/>
                      <a:pt x="852" y="1165"/>
                    </a:cubicBezTo>
                    <a:cubicBezTo>
                      <a:pt x="876" y="1165"/>
                      <a:pt x="902" y="1155"/>
                      <a:pt x="922" y="1135"/>
                    </a:cubicBezTo>
                    <a:cubicBezTo>
                      <a:pt x="955" y="1103"/>
                      <a:pt x="1008" y="1055"/>
                      <a:pt x="1008" y="1055"/>
                    </a:cubicBezTo>
                    <a:cubicBezTo>
                      <a:pt x="1045" y="1023"/>
                      <a:pt x="1060" y="990"/>
                      <a:pt x="1060" y="942"/>
                    </a:cubicBezTo>
                    <a:lnTo>
                      <a:pt x="1060" y="885"/>
                    </a:lnTo>
                    <a:cubicBezTo>
                      <a:pt x="1089" y="885"/>
                      <a:pt x="1119" y="886"/>
                      <a:pt x="1149" y="886"/>
                    </a:cubicBezTo>
                    <a:cubicBezTo>
                      <a:pt x="1179" y="886"/>
                      <a:pt x="1209" y="885"/>
                      <a:pt x="1238" y="885"/>
                    </a:cubicBezTo>
                    <a:lnTo>
                      <a:pt x="1238" y="942"/>
                    </a:lnTo>
                    <a:cubicBezTo>
                      <a:pt x="1238" y="990"/>
                      <a:pt x="1253" y="1023"/>
                      <a:pt x="1289" y="1054"/>
                    </a:cubicBezTo>
                    <a:cubicBezTo>
                      <a:pt x="1290" y="1054"/>
                      <a:pt x="1343" y="1103"/>
                      <a:pt x="1375" y="1135"/>
                    </a:cubicBezTo>
                    <a:cubicBezTo>
                      <a:pt x="1396" y="1155"/>
                      <a:pt x="1422" y="1165"/>
                      <a:pt x="1446" y="1165"/>
                    </a:cubicBezTo>
                    <a:cubicBezTo>
                      <a:pt x="1457" y="1165"/>
                      <a:pt x="1468" y="1163"/>
                      <a:pt x="1479" y="1159"/>
                    </a:cubicBezTo>
                    <a:cubicBezTo>
                      <a:pt x="1510" y="1146"/>
                      <a:pt x="1529" y="1115"/>
                      <a:pt x="1529" y="1079"/>
                    </a:cubicBezTo>
                    <a:lnTo>
                      <a:pt x="1529" y="867"/>
                    </a:lnTo>
                    <a:cubicBezTo>
                      <a:pt x="1576" y="862"/>
                      <a:pt x="1621" y="857"/>
                      <a:pt x="1664" y="851"/>
                    </a:cubicBezTo>
                    <a:lnTo>
                      <a:pt x="1664" y="876"/>
                    </a:lnTo>
                    <a:cubicBezTo>
                      <a:pt x="1664" y="924"/>
                      <a:pt x="1699" y="961"/>
                      <a:pt x="1755" y="972"/>
                    </a:cubicBezTo>
                    <a:lnTo>
                      <a:pt x="1940" y="998"/>
                    </a:lnTo>
                    <a:lnTo>
                      <a:pt x="1945" y="999"/>
                    </a:lnTo>
                    <a:cubicBezTo>
                      <a:pt x="1999" y="999"/>
                      <a:pt x="2042" y="955"/>
                      <a:pt x="2042" y="901"/>
                    </a:cubicBezTo>
                    <a:lnTo>
                      <a:pt x="2042" y="771"/>
                    </a:lnTo>
                    <a:cubicBezTo>
                      <a:pt x="2192" y="727"/>
                      <a:pt x="2272" y="687"/>
                      <a:pt x="2279" y="683"/>
                    </a:cubicBezTo>
                    <a:cubicBezTo>
                      <a:pt x="2291" y="677"/>
                      <a:pt x="2298" y="664"/>
                      <a:pt x="2297" y="65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22" name="组合 247"/>
          <p:cNvGrpSpPr>
            <a:grpSpLocks/>
          </p:cNvGrpSpPr>
          <p:nvPr/>
        </p:nvGrpSpPr>
        <p:grpSpPr bwMode="gray">
          <a:xfrm>
            <a:off x="4883534" y="5373437"/>
            <a:ext cx="504879" cy="504879"/>
            <a:chOff x="7069138" y="3554413"/>
            <a:chExt cx="1114425" cy="1117600"/>
          </a:xfrm>
        </p:grpSpPr>
        <p:sp>
          <p:nvSpPr>
            <p:cNvPr id="23" name="Freeform 35"/>
            <p:cNvSpPr>
              <a:spLocks/>
            </p:cNvSpPr>
            <p:nvPr/>
          </p:nvSpPr>
          <p:spPr bwMode="gray">
            <a:xfrm>
              <a:off x="7069138" y="3554413"/>
              <a:ext cx="1114425" cy="1117600"/>
            </a:xfrm>
            <a:custGeom>
              <a:avLst/>
              <a:gdLst>
                <a:gd name="T0" fmla="*/ 2147483647 w 2658"/>
                <a:gd name="T1" fmla="*/ 2147483647 h 2659"/>
                <a:gd name="T2" fmla="*/ 2147483647 w 2658"/>
                <a:gd name="T3" fmla="*/ 2147483647 h 2659"/>
                <a:gd name="T4" fmla="*/ 2147483647 w 2658"/>
                <a:gd name="T5" fmla="*/ 2147483647 h 2659"/>
                <a:gd name="T6" fmla="*/ 0 w 2658"/>
                <a:gd name="T7" fmla="*/ 2147483647 h 2659"/>
                <a:gd name="T8" fmla="*/ 2147483647 w 2658"/>
                <a:gd name="T9" fmla="*/ 0 h 2659"/>
                <a:gd name="T10" fmla="*/ 2147483647 w 2658"/>
                <a:gd name="T11" fmla="*/ 2147483647 h 2659"/>
                <a:gd name="T12" fmla="*/ 0 60000 65536"/>
                <a:gd name="T13" fmla="*/ 0 60000 65536"/>
                <a:gd name="T14" fmla="*/ 0 60000 65536"/>
                <a:gd name="T15" fmla="*/ 0 60000 65536"/>
                <a:gd name="T16" fmla="*/ 0 60000 65536"/>
                <a:gd name="T17" fmla="*/ 0 60000 65536"/>
                <a:gd name="T18" fmla="*/ 0 w 2658"/>
                <a:gd name="T19" fmla="*/ 0 h 2659"/>
                <a:gd name="T20" fmla="*/ 2658 w 2658"/>
                <a:gd name="T21" fmla="*/ 2659 h 2659"/>
              </a:gdLst>
              <a:ahLst/>
              <a:cxnLst>
                <a:cxn ang="T12">
                  <a:pos x="T0" y="T1"/>
                </a:cxn>
                <a:cxn ang="T13">
                  <a:pos x="T2" y="T3"/>
                </a:cxn>
                <a:cxn ang="T14">
                  <a:pos x="T4" y="T5"/>
                </a:cxn>
                <a:cxn ang="T15">
                  <a:pos x="T6" y="T7"/>
                </a:cxn>
                <a:cxn ang="T16">
                  <a:pos x="T8" y="T9"/>
                </a:cxn>
                <a:cxn ang="T17">
                  <a:pos x="T10" y="T11"/>
                </a:cxn>
              </a:cxnLst>
              <a:rect l="T18" t="T19" r="T20" b="T21"/>
              <a:pathLst>
                <a:path w="2658" h="2659">
                  <a:moveTo>
                    <a:pt x="2658" y="1329"/>
                  </a:moveTo>
                  <a:lnTo>
                    <a:pt x="2658" y="1329"/>
                  </a:lnTo>
                  <a:cubicBezTo>
                    <a:pt x="2658" y="2064"/>
                    <a:pt x="2063" y="2659"/>
                    <a:pt x="1329" y="2659"/>
                  </a:cubicBezTo>
                  <a:cubicBezTo>
                    <a:pt x="595" y="2659"/>
                    <a:pt x="0" y="2064"/>
                    <a:pt x="0" y="1329"/>
                  </a:cubicBezTo>
                  <a:cubicBezTo>
                    <a:pt x="0" y="595"/>
                    <a:pt x="595" y="0"/>
                    <a:pt x="1329" y="0"/>
                  </a:cubicBezTo>
                  <a:cubicBezTo>
                    <a:pt x="2063" y="0"/>
                    <a:pt x="2658" y="595"/>
                    <a:pt x="2658" y="1329"/>
                  </a:cubicBezTo>
                  <a:close/>
                </a:path>
              </a:pathLst>
            </a:custGeom>
            <a:solidFill>
              <a:srgbClr val="8BC9A0"/>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4" name="组合 233"/>
            <p:cNvGrpSpPr>
              <a:grpSpLocks/>
            </p:cNvGrpSpPr>
            <p:nvPr/>
          </p:nvGrpSpPr>
          <p:grpSpPr bwMode="gray">
            <a:xfrm>
              <a:off x="7288213" y="3895726"/>
              <a:ext cx="674687" cy="434975"/>
              <a:chOff x="7288213" y="3895726"/>
              <a:chExt cx="674687" cy="434975"/>
            </a:xfrm>
          </p:grpSpPr>
          <p:sp>
            <p:nvSpPr>
              <p:cNvPr id="25" name="Freeform 219"/>
              <p:cNvSpPr>
                <a:spLocks noEditPoints="1"/>
              </p:cNvSpPr>
              <p:nvPr/>
            </p:nvSpPr>
            <p:spPr bwMode="gray">
              <a:xfrm>
                <a:off x="7288213" y="3895726"/>
                <a:ext cx="623888" cy="419100"/>
              </a:xfrm>
              <a:custGeom>
                <a:avLst/>
                <a:gdLst>
                  <a:gd name="T0" fmla="*/ 2147483647 w 1486"/>
                  <a:gd name="T1" fmla="*/ 2147483647 h 997"/>
                  <a:gd name="T2" fmla="*/ 2147483647 w 1486"/>
                  <a:gd name="T3" fmla="*/ 2147483647 h 997"/>
                  <a:gd name="T4" fmla="*/ 2147483647 w 1486"/>
                  <a:gd name="T5" fmla="*/ 2147483647 h 997"/>
                  <a:gd name="T6" fmla="*/ 2147483647 w 1486"/>
                  <a:gd name="T7" fmla="*/ 2147483647 h 997"/>
                  <a:gd name="T8" fmla="*/ 2147483647 w 1486"/>
                  <a:gd name="T9" fmla="*/ 2147483647 h 997"/>
                  <a:gd name="T10" fmla="*/ 2147483647 w 1486"/>
                  <a:gd name="T11" fmla="*/ 2147483647 h 997"/>
                  <a:gd name="T12" fmla="*/ 2147483647 w 1486"/>
                  <a:gd name="T13" fmla="*/ 2147483647 h 997"/>
                  <a:gd name="T14" fmla="*/ 2147483647 w 1486"/>
                  <a:gd name="T15" fmla="*/ 2147483647 h 997"/>
                  <a:gd name="T16" fmla="*/ 2147483647 w 1486"/>
                  <a:gd name="T17" fmla="*/ 2147483647 h 997"/>
                  <a:gd name="T18" fmla="*/ 2147483647 w 1486"/>
                  <a:gd name="T19" fmla="*/ 2147483647 h 997"/>
                  <a:gd name="T20" fmla="*/ 2147483647 w 1486"/>
                  <a:gd name="T21" fmla="*/ 2147483647 h 997"/>
                  <a:gd name="T22" fmla="*/ 2147483647 w 1486"/>
                  <a:gd name="T23" fmla="*/ 2147483647 h 997"/>
                  <a:gd name="T24" fmla="*/ 2147483647 w 1486"/>
                  <a:gd name="T25" fmla="*/ 2147483647 h 997"/>
                  <a:gd name="T26" fmla="*/ 2147483647 w 1486"/>
                  <a:gd name="T27" fmla="*/ 2147483647 h 997"/>
                  <a:gd name="T28" fmla="*/ 2147483647 w 1486"/>
                  <a:gd name="T29" fmla="*/ 2147483647 h 997"/>
                  <a:gd name="T30" fmla="*/ 2147483647 w 1486"/>
                  <a:gd name="T31" fmla="*/ 2147483647 h 997"/>
                  <a:gd name="T32" fmla="*/ 2147483647 w 1486"/>
                  <a:gd name="T33" fmla="*/ 2147483647 h 997"/>
                  <a:gd name="T34" fmla="*/ 2147483647 w 1486"/>
                  <a:gd name="T35" fmla="*/ 2147483647 h 997"/>
                  <a:gd name="T36" fmla="*/ 2147483647 w 1486"/>
                  <a:gd name="T37" fmla="*/ 2147483647 h 997"/>
                  <a:gd name="T38" fmla="*/ 2147483647 w 1486"/>
                  <a:gd name="T39" fmla="*/ 2147483647 h 997"/>
                  <a:gd name="T40" fmla="*/ 2147483647 w 1486"/>
                  <a:gd name="T41" fmla="*/ 2147483647 h 997"/>
                  <a:gd name="T42" fmla="*/ 2147483647 w 1486"/>
                  <a:gd name="T43" fmla="*/ 2147483647 h 997"/>
                  <a:gd name="T44" fmla="*/ 2147483647 w 1486"/>
                  <a:gd name="T45" fmla="*/ 2147483647 h 997"/>
                  <a:gd name="T46" fmla="*/ 2147483647 w 1486"/>
                  <a:gd name="T47" fmla="*/ 2147483647 h 997"/>
                  <a:gd name="T48" fmla="*/ 2147483647 w 1486"/>
                  <a:gd name="T49" fmla="*/ 222822901 h 997"/>
                  <a:gd name="T50" fmla="*/ 2146073538 w 1486"/>
                  <a:gd name="T51" fmla="*/ 2147483647 h 997"/>
                  <a:gd name="T52" fmla="*/ 1406097026 w 1486"/>
                  <a:gd name="T53" fmla="*/ 2147483647 h 997"/>
                  <a:gd name="T54" fmla="*/ 2147483647 w 1486"/>
                  <a:gd name="T55" fmla="*/ 2147483647 h 997"/>
                  <a:gd name="T56" fmla="*/ 2147483647 w 1486"/>
                  <a:gd name="T57" fmla="*/ 2147483647 h 997"/>
                  <a:gd name="T58" fmla="*/ 2147483647 w 1486"/>
                  <a:gd name="T59" fmla="*/ 2147483647 h 997"/>
                  <a:gd name="T60" fmla="*/ 2147483647 w 1486"/>
                  <a:gd name="T61" fmla="*/ 2147483647 h 997"/>
                  <a:gd name="T62" fmla="*/ 2147483647 w 1486"/>
                  <a:gd name="T63" fmla="*/ 2147483647 h 997"/>
                  <a:gd name="T64" fmla="*/ 2147483647 w 1486"/>
                  <a:gd name="T65" fmla="*/ 2147483647 h 997"/>
                  <a:gd name="T66" fmla="*/ 2147483647 w 1486"/>
                  <a:gd name="T67" fmla="*/ 2147483647 h 997"/>
                  <a:gd name="T68" fmla="*/ 2147483647 w 1486"/>
                  <a:gd name="T69" fmla="*/ 2147483647 h 997"/>
                  <a:gd name="T70" fmla="*/ 2147483647 w 1486"/>
                  <a:gd name="T71" fmla="*/ 2147483647 h 99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486"/>
                  <a:gd name="T109" fmla="*/ 0 h 997"/>
                  <a:gd name="T110" fmla="*/ 1486 w 1486"/>
                  <a:gd name="T111" fmla="*/ 997 h 99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486" h="997">
                    <a:moveTo>
                      <a:pt x="1257" y="389"/>
                    </a:moveTo>
                    <a:lnTo>
                      <a:pt x="1257" y="389"/>
                    </a:lnTo>
                    <a:lnTo>
                      <a:pt x="1079" y="419"/>
                    </a:lnTo>
                    <a:lnTo>
                      <a:pt x="779" y="471"/>
                    </a:lnTo>
                    <a:lnTo>
                      <a:pt x="498" y="520"/>
                    </a:lnTo>
                    <a:cubicBezTo>
                      <a:pt x="516" y="464"/>
                      <a:pt x="504" y="396"/>
                      <a:pt x="493" y="354"/>
                    </a:cubicBezTo>
                    <a:lnTo>
                      <a:pt x="1377" y="185"/>
                    </a:lnTo>
                    <a:cubicBezTo>
                      <a:pt x="1396" y="328"/>
                      <a:pt x="1275" y="381"/>
                      <a:pt x="1257" y="389"/>
                    </a:cubicBezTo>
                    <a:close/>
                    <a:moveTo>
                      <a:pt x="935" y="739"/>
                    </a:moveTo>
                    <a:lnTo>
                      <a:pt x="935" y="739"/>
                    </a:lnTo>
                    <a:cubicBezTo>
                      <a:pt x="871" y="739"/>
                      <a:pt x="818" y="687"/>
                      <a:pt x="818" y="623"/>
                    </a:cubicBezTo>
                    <a:lnTo>
                      <a:pt x="818" y="532"/>
                    </a:lnTo>
                    <a:lnTo>
                      <a:pt x="1052" y="492"/>
                    </a:lnTo>
                    <a:lnTo>
                      <a:pt x="1052" y="623"/>
                    </a:lnTo>
                    <a:cubicBezTo>
                      <a:pt x="1052" y="687"/>
                      <a:pt x="999" y="739"/>
                      <a:pt x="935" y="739"/>
                    </a:cubicBezTo>
                    <a:close/>
                    <a:moveTo>
                      <a:pt x="305" y="515"/>
                    </a:moveTo>
                    <a:lnTo>
                      <a:pt x="305" y="515"/>
                    </a:lnTo>
                    <a:cubicBezTo>
                      <a:pt x="268" y="481"/>
                      <a:pt x="259" y="415"/>
                      <a:pt x="258" y="371"/>
                    </a:cubicBezTo>
                    <a:cubicBezTo>
                      <a:pt x="273" y="372"/>
                      <a:pt x="287" y="373"/>
                      <a:pt x="302" y="373"/>
                    </a:cubicBezTo>
                    <a:cubicBezTo>
                      <a:pt x="301" y="379"/>
                      <a:pt x="300" y="386"/>
                      <a:pt x="300" y="392"/>
                    </a:cubicBezTo>
                    <a:cubicBezTo>
                      <a:pt x="300" y="448"/>
                      <a:pt x="345" y="493"/>
                      <a:pt x="401" y="493"/>
                    </a:cubicBezTo>
                    <a:cubicBezTo>
                      <a:pt x="414" y="493"/>
                      <a:pt x="427" y="491"/>
                      <a:pt x="438" y="487"/>
                    </a:cubicBezTo>
                    <a:cubicBezTo>
                      <a:pt x="436" y="495"/>
                      <a:pt x="434" y="502"/>
                      <a:pt x="431" y="509"/>
                    </a:cubicBezTo>
                    <a:cubicBezTo>
                      <a:pt x="425" y="522"/>
                      <a:pt x="415" y="531"/>
                      <a:pt x="402" y="536"/>
                    </a:cubicBezTo>
                    <a:cubicBezTo>
                      <a:pt x="360" y="543"/>
                      <a:pt x="328" y="536"/>
                      <a:pt x="305" y="515"/>
                    </a:cubicBezTo>
                    <a:close/>
                    <a:moveTo>
                      <a:pt x="1394" y="68"/>
                    </a:moveTo>
                    <a:lnTo>
                      <a:pt x="1394" y="68"/>
                    </a:lnTo>
                    <a:cubicBezTo>
                      <a:pt x="1405" y="74"/>
                      <a:pt x="1407" y="80"/>
                      <a:pt x="1408" y="83"/>
                    </a:cubicBezTo>
                    <a:cubicBezTo>
                      <a:pt x="1411" y="91"/>
                      <a:pt x="1408" y="103"/>
                      <a:pt x="1405" y="112"/>
                    </a:cubicBezTo>
                    <a:lnTo>
                      <a:pt x="1397" y="113"/>
                    </a:lnTo>
                    <a:cubicBezTo>
                      <a:pt x="1397" y="113"/>
                      <a:pt x="1397" y="113"/>
                      <a:pt x="1397" y="113"/>
                    </a:cubicBezTo>
                    <a:lnTo>
                      <a:pt x="1395" y="113"/>
                    </a:lnTo>
                    <a:lnTo>
                      <a:pt x="374" y="302"/>
                    </a:lnTo>
                    <a:cubicBezTo>
                      <a:pt x="353" y="305"/>
                      <a:pt x="331" y="306"/>
                      <a:pt x="309" y="306"/>
                    </a:cubicBezTo>
                    <a:cubicBezTo>
                      <a:pt x="252" y="306"/>
                      <a:pt x="200" y="296"/>
                      <a:pt x="157" y="284"/>
                    </a:cubicBezTo>
                    <a:lnTo>
                      <a:pt x="1394" y="68"/>
                    </a:lnTo>
                    <a:close/>
                    <a:moveTo>
                      <a:pt x="435" y="400"/>
                    </a:moveTo>
                    <a:lnTo>
                      <a:pt x="435" y="400"/>
                    </a:lnTo>
                    <a:cubicBezTo>
                      <a:pt x="431" y="415"/>
                      <a:pt x="418" y="427"/>
                      <a:pt x="401" y="427"/>
                    </a:cubicBezTo>
                    <a:cubicBezTo>
                      <a:pt x="382" y="427"/>
                      <a:pt x="367" y="411"/>
                      <a:pt x="367" y="392"/>
                    </a:cubicBezTo>
                    <a:cubicBezTo>
                      <a:pt x="367" y="383"/>
                      <a:pt x="371" y="375"/>
                      <a:pt x="377" y="368"/>
                    </a:cubicBezTo>
                    <a:cubicBezTo>
                      <a:pt x="380" y="368"/>
                      <a:pt x="382" y="368"/>
                      <a:pt x="385" y="367"/>
                    </a:cubicBezTo>
                    <a:lnTo>
                      <a:pt x="425" y="360"/>
                    </a:lnTo>
                    <a:cubicBezTo>
                      <a:pt x="428" y="371"/>
                      <a:pt x="432" y="385"/>
                      <a:pt x="435" y="400"/>
                    </a:cubicBezTo>
                    <a:close/>
                    <a:moveTo>
                      <a:pt x="1442" y="171"/>
                    </a:moveTo>
                    <a:lnTo>
                      <a:pt x="1442" y="171"/>
                    </a:lnTo>
                    <a:cubicBezTo>
                      <a:pt x="1448" y="168"/>
                      <a:pt x="1453" y="164"/>
                      <a:pt x="1456" y="159"/>
                    </a:cubicBezTo>
                    <a:cubicBezTo>
                      <a:pt x="1459" y="154"/>
                      <a:pt x="1486" y="108"/>
                      <a:pt x="1471" y="62"/>
                    </a:cubicBezTo>
                    <a:cubicBezTo>
                      <a:pt x="1465" y="43"/>
                      <a:pt x="1449" y="18"/>
                      <a:pt x="1410" y="3"/>
                    </a:cubicBezTo>
                    <a:cubicBezTo>
                      <a:pt x="1404" y="0"/>
                      <a:pt x="1398" y="0"/>
                      <a:pt x="1392" y="1"/>
                    </a:cubicBezTo>
                    <a:lnTo>
                      <a:pt x="29" y="238"/>
                    </a:lnTo>
                    <a:cubicBezTo>
                      <a:pt x="16" y="241"/>
                      <a:pt x="5" y="252"/>
                      <a:pt x="2" y="266"/>
                    </a:cubicBezTo>
                    <a:cubicBezTo>
                      <a:pt x="0" y="280"/>
                      <a:pt x="7" y="293"/>
                      <a:pt x="19" y="300"/>
                    </a:cubicBezTo>
                    <a:cubicBezTo>
                      <a:pt x="23" y="303"/>
                      <a:pt x="92" y="341"/>
                      <a:pt x="192" y="361"/>
                    </a:cubicBezTo>
                    <a:cubicBezTo>
                      <a:pt x="191" y="410"/>
                      <a:pt x="199" y="507"/>
                      <a:pt x="259" y="563"/>
                    </a:cubicBezTo>
                    <a:cubicBezTo>
                      <a:pt x="289" y="591"/>
                      <a:pt x="327" y="605"/>
                      <a:pt x="373" y="605"/>
                    </a:cubicBezTo>
                    <a:cubicBezTo>
                      <a:pt x="387" y="605"/>
                      <a:pt x="402" y="604"/>
                      <a:pt x="417" y="602"/>
                    </a:cubicBezTo>
                    <a:lnTo>
                      <a:pt x="752" y="544"/>
                    </a:lnTo>
                    <a:lnTo>
                      <a:pt x="752" y="623"/>
                    </a:lnTo>
                    <a:cubicBezTo>
                      <a:pt x="752" y="714"/>
                      <a:pt x="818" y="789"/>
                      <a:pt x="905" y="803"/>
                    </a:cubicBezTo>
                    <a:cubicBezTo>
                      <a:pt x="917" y="864"/>
                      <a:pt x="966" y="945"/>
                      <a:pt x="1092" y="958"/>
                    </a:cubicBezTo>
                    <a:cubicBezTo>
                      <a:pt x="1104" y="981"/>
                      <a:pt x="1127" y="997"/>
                      <a:pt x="1154" y="997"/>
                    </a:cubicBezTo>
                    <a:cubicBezTo>
                      <a:pt x="1192" y="997"/>
                      <a:pt x="1223" y="965"/>
                      <a:pt x="1223" y="927"/>
                    </a:cubicBezTo>
                    <a:cubicBezTo>
                      <a:pt x="1223" y="889"/>
                      <a:pt x="1192" y="858"/>
                      <a:pt x="1154" y="858"/>
                    </a:cubicBezTo>
                    <a:cubicBezTo>
                      <a:pt x="1128" y="858"/>
                      <a:pt x="1106" y="871"/>
                      <a:pt x="1094" y="892"/>
                    </a:cubicBezTo>
                    <a:cubicBezTo>
                      <a:pt x="1011" y="881"/>
                      <a:pt x="983" y="834"/>
                      <a:pt x="973" y="802"/>
                    </a:cubicBezTo>
                    <a:cubicBezTo>
                      <a:pt x="1056" y="784"/>
                      <a:pt x="1118" y="711"/>
                      <a:pt x="1118" y="623"/>
                    </a:cubicBezTo>
                    <a:lnTo>
                      <a:pt x="1118" y="480"/>
                    </a:lnTo>
                    <a:lnTo>
                      <a:pt x="1271" y="454"/>
                    </a:lnTo>
                    <a:cubicBezTo>
                      <a:pt x="1273" y="454"/>
                      <a:pt x="1275" y="453"/>
                      <a:pt x="1276" y="452"/>
                    </a:cubicBezTo>
                    <a:cubicBezTo>
                      <a:pt x="1348" y="428"/>
                      <a:pt x="1468" y="338"/>
                      <a:pt x="1442" y="171"/>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Freeform 220"/>
              <p:cNvSpPr>
                <a:spLocks/>
              </p:cNvSpPr>
              <p:nvPr/>
            </p:nvSpPr>
            <p:spPr bwMode="gray">
              <a:xfrm>
                <a:off x="7832725" y="4240213"/>
                <a:ext cx="130175" cy="90488"/>
              </a:xfrm>
              <a:custGeom>
                <a:avLst/>
                <a:gdLst>
                  <a:gd name="T0" fmla="*/ 2147483647 w 312"/>
                  <a:gd name="T1" fmla="*/ 2147483647 h 215"/>
                  <a:gd name="T2" fmla="*/ 2147483647 w 312"/>
                  <a:gd name="T3" fmla="*/ 2147483647 h 215"/>
                  <a:gd name="T4" fmla="*/ 2147483647 w 312"/>
                  <a:gd name="T5" fmla="*/ 2147483647 h 215"/>
                  <a:gd name="T6" fmla="*/ 2147483647 w 312"/>
                  <a:gd name="T7" fmla="*/ 2147483647 h 215"/>
                  <a:gd name="T8" fmla="*/ 2147483647 w 312"/>
                  <a:gd name="T9" fmla="*/ 2147483647 h 215"/>
                  <a:gd name="T10" fmla="*/ 0 w 312"/>
                  <a:gd name="T11" fmla="*/ 2147483647 h 215"/>
                  <a:gd name="T12" fmla="*/ 2147483647 w 312"/>
                  <a:gd name="T13" fmla="*/ 2147483647 h 215"/>
                  <a:gd name="T14" fmla="*/ 2147483647 w 312"/>
                  <a:gd name="T15" fmla="*/ 2147483647 h 215"/>
                  <a:gd name="T16" fmla="*/ 2147483647 w 312"/>
                  <a:gd name="T17" fmla="*/ 2147483647 h 215"/>
                  <a:gd name="T18" fmla="*/ 2147483647 w 312"/>
                  <a:gd name="T19" fmla="*/ 2147483647 h 215"/>
                  <a:gd name="T20" fmla="*/ 2147483647 w 312"/>
                  <a:gd name="T21" fmla="*/ 2147483647 h 215"/>
                  <a:gd name="T22" fmla="*/ 2147483647 w 312"/>
                  <a:gd name="T23" fmla="*/ 0 h 215"/>
                  <a:gd name="T24" fmla="*/ 2147483647 w 312"/>
                  <a:gd name="T25" fmla="*/ 2147483647 h 2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2"/>
                  <a:gd name="T40" fmla="*/ 0 h 215"/>
                  <a:gd name="T41" fmla="*/ 312 w 312"/>
                  <a:gd name="T42" fmla="*/ 215 h 21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2" h="215">
                    <a:moveTo>
                      <a:pt x="210" y="74"/>
                    </a:moveTo>
                    <a:lnTo>
                      <a:pt x="210" y="74"/>
                    </a:lnTo>
                    <a:cubicBezTo>
                      <a:pt x="208" y="74"/>
                      <a:pt x="206" y="74"/>
                      <a:pt x="205" y="74"/>
                    </a:cubicBezTo>
                    <a:lnTo>
                      <a:pt x="130" y="74"/>
                    </a:lnTo>
                    <a:cubicBezTo>
                      <a:pt x="118" y="52"/>
                      <a:pt x="95" y="38"/>
                      <a:pt x="69" y="38"/>
                    </a:cubicBezTo>
                    <a:cubicBezTo>
                      <a:pt x="31" y="38"/>
                      <a:pt x="0" y="69"/>
                      <a:pt x="0" y="107"/>
                    </a:cubicBezTo>
                    <a:cubicBezTo>
                      <a:pt x="0" y="145"/>
                      <a:pt x="31" y="177"/>
                      <a:pt x="69" y="177"/>
                    </a:cubicBezTo>
                    <a:cubicBezTo>
                      <a:pt x="95" y="177"/>
                      <a:pt x="118" y="162"/>
                      <a:pt x="130" y="140"/>
                    </a:cubicBezTo>
                    <a:lnTo>
                      <a:pt x="205" y="140"/>
                    </a:lnTo>
                    <a:cubicBezTo>
                      <a:pt x="206" y="140"/>
                      <a:pt x="208" y="140"/>
                      <a:pt x="210" y="140"/>
                    </a:cubicBezTo>
                    <a:cubicBezTo>
                      <a:pt x="224" y="183"/>
                      <a:pt x="264" y="215"/>
                      <a:pt x="312" y="215"/>
                    </a:cubicBezTo>
                    <a:lnTo>
                      <a:pt x="312" y="0"/>
                    </a:lnTo>
                    <a:cubicBezTo>
                      <a:pt x="264" y="0"/>
                      <a:pt x="224" y="31"/>
                      <a:pt x="210" y="74"/>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27" name="组合 212"/>
          <p:cNvGrpSpPr>
            <a:grpSpLocks/>
          </p:cNvGrpSpPr>
          <p:nvPr/>
        </p:nvGrpSpPr>
        <p:grpSpPr bwMode="gray">
          <a:xfrm>
            <a:off x="3255339" y="5373437"/>
            <a:ext cx="504879" cy="504879"/>
            <a:chOff x="1639888" y="560388"/>
            <a:chExt cx="1114425" cy="1116013"/>
          </a:xfrm>
        </p:grpSpPr>
        <p:sp>
          <p:nvSpPr>
            <p:cNvPr id="28" name="Freeform 39"/>
            <p:cNvSpPr>
              <a:spLocks/>
            </p:cNvSpPr>
            <p:nvPr/>
          </p:nvSpPr>
          <p:spPr bwMode="gray">
            <a:xfrm>
              <a:off x="1639888" y="560388"/>
              <a:ext cx="1114425" cy="1116013"/>
            </a:xfrm>
            <a:custGeom>
              <a:avLst/>
              <a:gdLst>
                <a:gd name="T0" fmla="*/ 2147483647 w 2659"/>
                <a:gd name="T1" fmla="*/ 2147483647 h 2659"/>
                <a:gd name="T2" fmla="*/ 2147483647 w 2659"/>
                <a:gd name="T3" fmla="*/ 2147483647 h 2659"/>
                <a:gd name="T4" fmla="*/ 2147483647 w 2659"/>
                <a:gd name="T5" fmla="*/ 2147483647 h 2659"/>
                <a:gd name="T6" fmla="*/ 0 w 2659"/>
                <a:gd name="T7" fmla="*/ 2147483647 h 2659"/>
                <a:gd name="T8" fmla="*/ 2147483647 w 2659"/>
                <a:gd name="T9" fmla="*/ 0 h 2659"/>
                <a:gd name="T10" fmla="*/ 2147483647 w 2659"/>
                <a:gd name="T11" fmla="*/ 2147483647 h 2659"/>
                <a:gd name="T12" fmla="*/ 0 60000 65536"/>
                <a:gd name="T13" fmla="*/ 0 60000 65536"/>
                <a:gd name="T14" fmla="*/ 0 60000 65536"/>
                <a:gd name="T15" fmla="*/ 0 60000 65536"/>
                <a:gd name="T16" fmla="*/ 0 60000 65536"/>
                <a:gd name="T17" fmla="*/ 0 60000 65536"/>
                <a:gd name="T18" fmla="*/ 0 w 2659"/>
                <a:gd name="T19" fmla="*/ 0 h 2659"/>
                <a:gd name="T20" fmla="*/ 2659 w 2659"/>
                <a:gd name="T21" fmla="*/ 2659 h 2659"/>
              </a:gdLst>
              <a:ahLst/>
              <a:cxnLst>
                <a:cxn ang="T12">
                  <a:pos x="T0" y="T1"/>
                </a:cxn>
                <a:cxn ang="T13">
                  <a:pos x="T2" y="T3"/>
                </a:cxn>
                <a:cxn ang="T14">
                  <a:pos x="T4" y="T5"/>
                </a:cxn>
                <a:cxn ang="T15">
                  <a:pos x="T6" y="T7"/>
                </a:cxn>
                <a:cxn ang="T16">
                  <a:pos x="T8" y="T9"/>
                </a:cxn>
                <a:cxn ang="T17">
                  <a:pos x="T10" y="T11"/>
                </a:cxn>
              </a:cxnLst>
              <a:rect l="T18" t="T19" r="T20" b="T21"/>
              <a:pathLst>
                <a:path w="2659" h="2659">
                  <a:moveTo>
                    <a:pt x="2659" y="1330"/>
                  </a:moveTo>
                  <a:lnTo>
                    <a:pt x="2659" y="1330"/>
                  </a:lnTo>
                  <a:cubicBezTo>
                    <a:pt x="2659" y="2064"/>
                    <a:pt x="2064" y="2659"/>
                    <a:pt x="1330" y="2659"/>
                  </a:cubicBezTo>
                  <a:cubicBezTo>
                    <a:pt x="595" y="2659"/>
                    <a:pt x="0" y="2064"/>
                    <a:pt x="0" y="1330"/>
                  </a:cubicBezTo>
                  <a:cubicBezTo>
                    <a:pt x="0" y="595"/>
                    <a:pt x="595" y="0"/>
                    <a:pt x="1330" y="0"/>
                  </a:cubicBezTo>
                  <a:cubicBezTo>
                    <a:pt x="2064" y="0"/>
                    <a:pt x="2659" y="595"/>
                    <a:pt x="2659" y="1330"/>
                  </a:cubicBezTo>
                  <a:close/>
                </a:path>
              </a:pathLst>
            </a:custGeom>
            <a:solidFill>
              <a:srgbClr val="56C4D2"/>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9" name="组合 193"/>
            <p:cNvGrpSpPr>
              <a:grpSpLocks/>
            </p:cNvGrpSpPr>
            <p:nvPr/>
          </p:nvGrpSpPr>
          <p:grpSpPr bwMode="gray">
            <a:xfrm>
              <a:off x="1836738" y="854075"/>
              <a:ext cx="720725" cy="528638"/>
              <a:chOff x="1836738" y="854075"/>
              <a:chExt cx="720725" cy="528638"/>
            </a:xfrm>
          </p:grpSpPr>
          <p:sp>
            <p:nvSpPr>
              <p:cNvPr id="30" name="Freeform 40"/>
              <p:cNvSpPr>
                <a:spLocks noEditPoints="1"/>
              </p:cNvSpPr>
              <p:nvPr/>
            </p:nvSpPr>
            <p:spPr bwMode="gray">
              <a:xfrm>
                <a:off x="2054225" y="854075"/>
                <a:ext cx="503238" cy="368300"/>
              </a:xfrm>
              <a:custGeom>
                <a:avLst/>
                <a:gdLst>
                  <a:gd name="T0" fmla="*/ 2147483647 w 1199"/>
                  <a:gd name="T1" fmla="*/ 2147483647 h 879"/>
                  <a:gd name="T2" fmla="*/ 2147483647 w 1199"/>
                  <a:gd name="T3" fmla="*/ 2147483647 h 879"/>
                  <a:gd name="T4" fmla="*/ 2147483647 w 1199"/>
                  <a:gd name="T5" fmla="*/ 2147483647 h 879"/>
                  <a:gd name="T6" fmla="*/ 2147483647 w 1199"/>
                  <a:gd name="T7" fmla="*/ 2147483647 h 879"/>
                  <a:gd name="T8" fmla="*/ 2147483647 w 1199"/>
                  <a:gd name="T9" fmla="*/ 2147483647 h 879"/>
                  <a:gd name="T10" fmla="*/ 2147483647 w 1199"/>
                  <a:gd name="T11" fmla="*/ 2147483647 h 879"/>
                  <a:gd name="T12" fmla="*/ 2147483647 w 1199"/>
                  <a:gd name="T13" fmla="*/ 2147483647 h 879"/>
                  <a:gd name="T14" fmla="*/ 2147483647 w 1199"/>
                  <a:gd name="T15" fmla="*/ 2147483647 h 879"/>
                  <a:gd name="T16" fmla="*/ 2147483647 w 1199"/>
                  <a:gd name="T17" fmla="*/ 2147483647 h 879"/>
                  <a:gd name="T18" fmla="*/ 2147483647 w 1199"/>
                  <a:gd name="T19" fmla="*/ 2147483647 h 879"/>
                  <a:gd name="T20" fmla="*/ 2147483647 w 1199"/>
                  <a:gd name="T21" fmla="*/ 0 h 879"/>
                  <a:gd name="T22" fmla="*/ 2147483647 w 1199"/>
                  <a:gd name="T23" fmla="*/ 0 h 879"/>
                  <a:gd name="T24" fmla="*/ 2147483647 w 1199"/>
                  <a:gd name="T25" fmla="*/ 0 h 879"/>
                  <a:gd name="T26" fmla="*/ 0 w 1199"/>
                  <a:gd name="T27" fmla="*/ 2147483647 h 879"/>
                  <a:gd name="T28" fmla="*/ 0 w 1199"/>
                  <a:gd name="T29" fmla="*/ 2147483647 h 879"/>
                  <a:gd name="T30" fmla="*/ 2147483647 w 1199"/>
                  <a:gd name="T31" fmla="*/ 2147483647 h 879"/>
                  <a:gd name="T32" fmla="*/ 2147483647 w 1199"/>
                  <a:gd name="T33" fmla="*/ 2147483647 h 879"/>
                  <a:gd name="T34" fmla="*/ 2147483647 w 1199"/>
                  <a:gd name="T35" fmla="*/ 2147483647 h 879"/>
                  <a:gd name="T36" fmla="*/ 2147483647 w 1199"/>
                  <a:gd name="T37" fmla="*/ 2147483647 h 879"/>
                  <a:gd name="T38" fmla="*/ 2147483647 w 1199"/>
                  <a:gd name="T39" fmla="*/ 0 h 87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99"/>
                  <a:gd name="T61" fmla="*/ 0 h 879"/>
                  <a:gd name="T62" fmla="*/ 1199 w 1199"/>
                  <a:gd name="T63" fmla="*/ 879 h 87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99" h="879">
                    <a:moveTo>
                      <a:pt x="1133" y="787"/>
                    </a:moveTo>
                    <a:lnTo>
                      <a:pt x="1133" y="787"/>
                    </a:lnTo>
                    <a:cubicBezTo>
                      <a:pt x="1133" y="801"/>
                      <a:pt x="1121" y="812"/>
                      <a:pt x="1108" y="812"/>
                    </a:cubicBezTo>
                    <a:lnTo>
                      <a:pt x="91" y="812"/>
                    </a:lnTo>
                    <a:cubicBezTo>
                      <a:pt x="78" y="812"/>
                      <a:pt x="67" y="801"/>
                      <a:pt x="67" y="787"/>
                    </a:cubicBezTo>
                    <a:lnTo>
                      <a:pt x="67" y="91"/>
                    </a:lnTo>
                    <a:cubicBezTo>
                      <a:pt x="67" y="77"/>
                      <a:pt x="78" y="66"/>
                      <a:pt x="91" y="66"/>
                    </a:cubicBezTo>
                    <a:lnTo>
                      <a:pt x="1108" y="66"/>
                    </a:lnTo>
                    <a:cubicBezTo>
                      <a:pt x="1121" y="66"/>
                      <a:pt x="1133" y="77"/>
                      <a:pt x="1133" y="91"/>
                    </a:cubicBezTo>
                    <a:lnTo>
                      <a:pt x="1133" y="787"/>
                    </a:lnTo>
                    <a:close/>
                    <a:moveTo>
                      <a:pt x="1108" y="0"/>
                    </a:moveTo>
                    <a:lnTo>
                      <a:pt x="1108" y="0"/>
                    </a:lnTo>
                    <a:lnTo>
                      <a:pt x="91" y="0"/>
                    </a:lnTo>
                    <a:cubicBezTo>
                      <a:pt x="41" y="0"/>
                      <a:pt x="0" y="41"/>
                      <a:pt x="0" y="91"/>
                    </a:cubicBezTo>
                    <a:lnTo>
                      <a:pt x="0" y="787"/>
                    </a:lnTo>
                    <a:cubicBezTo>
                      <a:pt x="0" y="838"/>
                      <a:pt x="41" y="879"/>
                      <a:pt x="91" y="879"/>
                    </a:cubicBezTo>
                    <a:lnTo>
                      <a:pt x="1108" y="879"/>
                    </a:lnTo>
                    <a:cubicBezTo>
                      <a:pt x="1158" y="879"/>
                      <a:pt x="1199" y="838"/>
                      <a:pt x="1199" y="787"/>
                    </a:cubicBezTo>
                    <a:lnTo>
                      <a:pt x="1199" y="91"/>
                    </a:lnTo>
                    <a:cubicBezTo>
                      <a:pt x="1199" y="41"/>
                      <a:pt x="1158" y="0"/>
                      <a:pt x="1108"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Freeform 41"/>
              <p:cNvSpPr>
                <a:spLocks/>
              </p:cNvSpPr>
              <p:nvPr/>
            </p:nvSpPr>
            <p:spPr bwMode="gray">
              <a:xfrm>
                <a:off x="2224088" y="1238250"/>
                <a:ext cx="161925" cy="26988"/>
              </a:xfrm>
              <a:custGeom>
                <a:avLst/>
                <a:gdLst>
                  <a:gd name="T0" fmla="*/ 2147483647 w 385"/>
                  <a:gd name="T1" fmla="*/ 2147483647 h 66"/>
                  <a:gd name="T2" fmla="*/ 2147483647 w 385"/>
                  <a:gd name="T3" fmla="*/ 2147483647 h 66"/>
                  <a:gd name="T4" fmla="*/ 2147483647 w 385"/>
                  <a:gd name="T5" fmla="*/ 2147483647 h 66"/>
                  <a:gd name="T6" fmla="*/ 2147483647 w 385"/>
                  <a:gd name="T7" fmla="*/ 0 h 66"/>
                  <a:gd name="T8" fmla="*/ 2147483647 w 385"/>
                  <a:gd name="T9" fmla="*/ 0 h 66"/>
                  <a:gd name="T10" fmla="*/ 0 w 385"/>
                  <a:gd name="T11" fmla="*/ 2147483647 h 66"/>
                  <a:gd name="T12" fmla="*/ 2147483647 w 385"/>
                  <a:gd name="T13" fmla="*/ 2147483647 h 66"/>
                  <a:gd name="T14" fmla="*/ 2147483647 w 385"/>
                  <a:gd name="T15" fmla="*/ 2147483647 h 66"/>
                  <a:gd name="T16" fmla="*/ 0 60000 65536"/>
                  <a:gd name="T17" fmla="*/ 0 60000 65536"/>
                  <a:gd name="T18" fmla="*/ 0 60000 65536"/>
                  <a:gd name="T19" fmla="*/ 0 60000 65536"/>
                  <a:gd name="T20" fmla="*/ 0 60000 65536"/>
                  <a:gd name="T21" fmla="*/ 0 60000 65536"/>
                  <a:gd name="T22" fmla="*/ 0 60000 65536"/>
                  <a:gd name="T23" fmla="*/ 0 60000 65536"/>
                  <a:gd name="T24" fmla="*/ 0 w 385"/>
                  <a:gd name="T25" fmla="*/ 0 h 66"/>
                  <a:gd name="T26" fmla="*/ 385 w 385"/>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5" h="66">
                    <a:moveTo>
                      <a:pt x="352" y="66"/>
                    </a:moveTo>
                    <a:lnTo>
                      <a:pt x="352" y="66"/>
                    </a:lnTo>
                    <a:cubicBezTo>
                      <a:pt x="370" y="66"/>
                      <a:pt x="385" y="52"/>
                      <a:pt x="385" y="33"/>
                    </a:cubicBezTo>
                    <a:cubicBezTo>
                      <a:pt x="385" y="15"/>
                      <a:pt x="370" y="0"/>
                      <a:pt x="352" y="0"/>
                    </a:cubicBezTo>
                    <a:lnTo>
                      <a:pt x="33" y="0"/>
                    </a:lnTo>
                    <a:cubicBezTo>
                      <a:pt x="15" y="0"/>
                      <a:pt x="0" y="15"/>
                      <a:pt x="0" y="33"/>
                    </a:cubicBezTo>
                    <a:cubicBezTo>
                      <a:pt x="0" y="52"/>
                      <a:pt x="15" y="66"/>
                      <a:pt x="33" y="66"/>
                    </a:cubicBezTo>
                    <a:lnTo>
                      <a:pt x="352" y="66"/>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Freeform 42"/>
              <p:cNvSpPr>
                <a:spLocks noEditPoints="1"/>
              </p:cNvSpPr>
              <p:nvPr/>
            </p:nvSpPr>
            <p:spPr bwMode="gray">
              <a:xfrm>
                <a:off x="2105025" y="900113"/>
                <a:ext cx="401638" cy="274638"/>
              </a:xfrm>
              <a:custGeom>
                <a:avLst/>
                <a:gdLst>
                  <a:gd name="T0" fmla="*/ 2147483647 w 957"/>
                  <a:gd name="T1" fmla="*/ 2147483647 h 653"/>
                  <a:gd name="T2" fmla="*/ 2147483647 w 957"/>
                  <a:gd name="T3" fmla="*/ 2147483647 h 653"/>
                  <a:gd name="T4" fmla="*/ 2147483647 w 957"/>
                  <a:gd name="T5" fmla="*/ 2147483647 h 653"/>
                  <a:gd name="T6" fmla="*/ 2147483647 w 957"/>
                  <a:gd name="T7" fmla="*/ 2147483647 h 653"/>
                  <a:gd name="T8" fmla="*/ 2147483647 w 957"/>
                  <a:gd name="T9" fmla="*/ 2147483647 h 653"/>
                  <a:gd name="T10" fmla="*/ 2147483647 w 957"/>
                  <a:gd name="T11" fmla="*/ 2147483647 h 653"/>
                  <a:gd name="T12" fmla="*/ 2147483647 w 957"/>
                  <a:gd name="T13" fmla="*/ 2147483647 h 653"/>
                  <a:gd name="T14" fmla="*/ 2147483647 w 957"/>
                  <a:gd name="T15" fmla="*/ 2147483647 h 653"/>
                  <a:gd name="T16" fmla="*/ 2147483647 w 957"/>
                  <a:gd name="T17" fmla="*/ 2147483647 h 653"/>
                  <a:gd name="T18" fmla="*/ 2147483647 w 957"/>
                  <a:gd name="T19" fmla="*/ 2147483647 h 653"/>
                  <a:gd name="T20" fmla="*/ 2147483647 w 957"/>
                  <a:gd name="T21" fmla="*/ 0 h 653"/>
                  <a:gd name="T22" fmla="*/ 2147483647 w 957"/>
                  <a:gd name="T23" fmla="*/ 0 h 653"/>
                  <a:gd name="T24" fmla="*/ 2147483647 w 957"/>
                  <a:gd name="T25" fmla="*/ 0 h 653"/>
                  <a:gd name="T26" fmla="*/ 0 w 957"/>
                  <a:gd name="T27" fmla="*/ 2147483647 h 653"/>
                  <a:gd name="T28" fmla="*/ 0 w 957"/>
                  <a:gd name="T29" fmla="*/ 2147483647 h 653"/>
                  <a:gd name="T30" fmla="*/ 2147483647 w 957"/>
                  <a:gd name="T31" fmla="*/ 2147483647 h 653"/>
                  <a:gd name="T32" fmla="*/ 2147483647 w 957"/>
                  <a:gd name="T33" fmla="*/ 2147483647 h 653"/>
                  <a:gd name="T34" fmla="*/ 2147483647 w 957"/>
                  <a:gd name="T35" fmla="*/ 2147483647 h 653"/>
                  <a:gd name="T36" fmla="*/ 2147483647 w 957"/>
                  <a:gd name="T37" fmla="*/ 2147483647 h 653"/>
                  <a:gd name="T38" fmla="*/ 2147483647 w 957"/>
                  <a:gd name="T39" fmla="*/ 0 h 6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57"/>
                  <a:gd name="T61" fmla="*/ 0 h 653"/>
                  <a:gd name="T62" fmla="*/ 957 w 957"/>
                  <a:gd name="T63" fmla="*/ 653 h 6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57" h="653">
                    <a:moveTo>
                      <a:pt x="917" y="580"/>
                    </a:moveTo>
                    <a:lnTo>
                      <a:pt x="917" y="580"/>
                    </a:lnTo>
                    <a:cubicBezTo>
                      <a:pt x="917" y="598"/>
                      <a:pt x="903" y="613"/>
                      <a:pt x="885" y="613"/>
                    </a:cubicBezTo>
                    <a:lnTo>
                      <a:pt x="72" y="613"/>
                    </a:lnTo>
                    <a:cubicBezTo>
                      <a:pt x="54" y="613"/>
                      <a:pt x="40" y="598"/>
                      <a:pt x="40" y="580"/>
                    </a:cubicBezTo>
                    <a:lnTo>
                      <a:pt x="40" y="72"/>
                    </a:lnTo>
                    <a:cubicBezTo>
                      <a:pt x="40" y="54"/>
                      <a:pt x="54" y="40"/>
                      <a:pt x="72" y="40"/>
                    </a:cubicBezTo>
                    <a:lnTo>
                      <a:pt x="885" y="40"/>
                    </a:lnTo>
                    <a:cubicBezTo>
                      <a:pt x="903" y="40"/>
                      <a:pt x="917" y="54"/>
                      <a:pt x="917" y="72"/>
                    </a:cubicBezTo>
                    <a:lnTo>
                      <a:pt x="917" y="580"/>
                    </a:lnTo>
                    <a:close/>
                    <a:moveTo>
                      <a:pt x="885" y="0"/>
                    </a:moveTo>
                    <a:lnTo>
                      <a:pt x="885" y="0"/>
                    </a:lnTo>
                    <a:lnTo>
                      <a:pt x="72" y="0"/>
                    </a:lnTo>
                    <a:cubicBezTo>
                      <a:pt x="32" y="0"/>
                      <a:pt x="0" y="32"/>
                      <a:pt x="0" y="72"/>
                    </a:cubicBezTo>
                    <a:lnTo>
                      <a:pt x="0" y="580"/>
                    </a:lnTo>
                    <a:cubicBezTo>
                      <a:pt x="0" y="620"/>
                      <a:pt x="32" y="653"/>
                      <a:pt x="72" y="653"/>
                    </a:cubicBezTo>
                    <a:lnTo>
                      <a:pt x="885" y="653"/>
                    </a:lnTo>
                    <a:cubicBezTo>
                      <a:pt x="925" y="653"/>
                      <a:pt x="957" y="620"/>
                      <a:pt x="957" y="580"/>
                    </a:cubicBezTo>
                    <a:lnTo>
                      <a:pt x="957" y="72"/>
                    </a:lnTo>
                    <a:cubicBezTo>
                      <a:pt x="957" y="32"/>
                      <a:pt x="925" y="0"/>
                      <a:pt x="885"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Freeform 43"/>
              <p:cNvSpPr>
                <a:spLocks/>
              </p:cNvSpPr>
              <p:nvPr/>
            </p:nvSpPr>
            <p:spPr bwMode="gray">
              <a:xfrm>
                <a:off x="2063750" y="1282700"/>
                <a:ext cx="482600" cy="100013"/>
              </a:xfrm>
              <a:custGeom>
                <a:avLst/>
                <a:gdLst>
                  <a:gd name="T0" fmla="*/ 2147483647 w 1149"/>
                  <a:gd name="T1" fmla="*/ 2147483647 h 240"/>
                  <a:gd name="T2" fmla="*/ 2147483647 w 1149"/>
                  <a:gd name="T3" fmla="*/ 2147483647 h 240"/>
                  <a:gd name="T4" fmla="*/ 2147483647 w 1149"/>
                  <a:gd name="T5" fmla="*/ 0 h 240"/>
                  <a:gd name="T6" fmla="*/ 2147483647 w 1149"/>
                  <a:gd name="T7" fmla="*/ 0 h 240"/>
                  <a:gd name="T8" fmla="*/ 2147483647 w 1149"/>
                  <a:gd name="T9" fmla="*/ 2147483647 h 240"/>
                  <a:gd name="T10" fmla="*/ 2147483647 w 1149"/>
                  <a:gd name="T11" fmla="*/ 2147483647 h 240"/>
                  <a:gd name="T12" fmla="*/ 2147483647 w 1149"/>
                  <a:gd name="T13" fmla="*/ 2147483647 h 240"/>
                  <a:gd name="T14" fmla="*/ 2147483647 w 1149"/>
                  <a:gd name="T15" fmla="*/ 2147483647 h 240"/>
                  <a:gd name="T16" fmla="*/ 2147483647 w 1149"/>
                  <a:gd name="T17" fmla="*/ 2147483647 h 240"/>
                  <a:gd name="T18" fmla="*/ 2147483647 w 1149"/>
                  <a:gd name="T19" fmla="*/ 2147483647 h 240"/>
                  <a:gd name="T20" fmla="*/ 2147483647 w 1149"/>
                  <a:gd name="T21" fmla="*/ 2147483647 h 240"/>
                  <a:gd name="T22" fmla="*/ 2147483647 w 1149"/>
                  <a:gd name="T23" fmla="*/ 2147483647 h 240"/>
                  <a:gd name="T24" fmla="*/ 2147483647 w 1149"/>
                  <a:gd name="T25" fmla="*/ 2147483647 h 240"/>
                  <a:gd name="T26" fmla="*/ 2147483647 w 1149"/>
                  <a:gd name="T27" fmla="*/ 2147483647 h 240"/>
                  <a:gd name="T28" fmla="*/ 2147483647 w 1149"/>
                  <a:gd name="T29" fmla="*/ 2147483647 h 240"/>
                  <a:gd name="T30" fmla="*/ 2147483647 w 1149"/>
                  <a:gd name="T31" fmla="*/ 2147483647 h 240"/>
                  <a:gd name="T32" fmla="*/ 2147483647 w 1149"/>
                  <a:gd name="T33" fmla="*/ 2147483647 h 240"/>
                  <a:gd name="T34" fmla="*/ 2147483647 w 1149"/>
                  <a:gd name="T35" fmla="*/ 2147483647 h 240"/>
                  <a:gd name="T36" fmla="*/ 2147483647 w 1149"/>
                  <a:gd name="T37" fmla="*/ 2147483647 h 240"/>
                  <a:gd name="T38" fmla="*/ 2147483647 w 1149"/>
                  <a:gd name="T39" fmla="*/ 2147483647 h 240"/>
                  <a:gd name="T40" fmla="*/ 2147483647 w 1149"/>
                  <a:gd name="T41" fmla="*/ 2147483647 h 240"/>
                  <a:gd name="T42" fmla="*/ 2147483647 w 1149"/>
                  <a:gd name="T43" fmla="*/ 2147483647 h 240"/>
                  <a:gd name="T44" fmla="*/ 2147483647 w 1149"/>
                  <a:gd name="T45" fmla="*/ 2147483647 h 240"/>
                  <a:gd name="T46" fmla="*/ 2147483647 w 1149"/>
                  <a:gd name="T47" fmla="*/ 2147483647 h 240"/>
                  <a:gd name="T48" fmla="*/ 2147483647 w 1149"/>
                  <a:gd name="T49" fmla="*/ 2147483647 h 240"/>
                  <a:gd name="T50" fmla="*/ 2147483647 w 1149"/>
                  <a:gd name="T51" fmla="*/ 2147483647 h 24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149"/>
                  <a:gd name="T79" fmla="*/ 0 h 240"/>
                  <a:gd name="T80" fmla="*/ 1149 w 1149"/>
                  <a:gd name="T81" fmla="*/ 240 h 24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149" h="240">
                    <a:moveTo>
                      <a:pt x="1048" y="15"/>
                    </a:moveTo>
                    <a:lnTo>
                      <a:pt x="1048" y="15"/>
                    </a:lnTo>
                    <a:cubicBezTo>
                      <a:pt x="1042" y="6"/>
                      <a:pt x="1032" y="0"/>
                      <a:pt x="1021" y="0"/>
                    </a:cubicBezTo>
                    <a:lnTo>
                      <a:pt x="128" y="0"/>
                    </a:lnTo>
                    <a:cubicBezTo>
                      <a:pt x="117" y="0"/>
                      <a:pt x="107" y="6"/>
                      <a:pt x="101" y="15"/>
                    </a:cubicBezTo>
                    <a:lnTo>
                      <a:pt x="7" y="151"/>
                    </a:lnTo>
                    <a:cubicBezTo>
                      <a:pt x="0" y="162"/>
                      <a:pt x="0" y="175"/>
                      <a:pt x="5" y="186"/>
                    </a:cubicBezTo>
                    <a:cubicBezTo>
                      <a:pt x="11" y="197"/>
                      <a:pt x="22" y="204"/>
                      <a:pt x="35" y="204"/>
                    </a:cubicBezTo>
                    <a:lnTo>
                      <a:pt x="662" y="204"/>
                    </a:lnTo>
                    <a:cubicBezTo>
                      <a:pt x="674" y="225"/>
                      <a:pt x="697" y="240"/>
                      <a:pt x="723" y="240"/>
                    </a:cubicBezTo>
                    <a:cubicBezTo>
                      <a:pt x="761" y="240"/>
                      <a:pt x="792" y="208"/>
                      <a:pt x="792" y="170"/>
                    </a:cubicBezTo>
                    <a:cubicBezTo>
                      <a:pt x="792" y="132"/>
                      <a:pt x="761" y="101"/>
                      <a:pt x="723" y="101"/>
                    </a:cubicBezTo>
                    <a:cubicBezTo>
                      <a:pt x="697" y="101"/>
                      <a:pt x="674" y="115"/>
                      <a:pt x="662" y="137"/>
                    </a:cubicBezTo>
                    <a:lnTo>
                      <a:pt x="98" y="137"/>
                    </a:lnTo>
                    <a:lnTo>
                      <a:pt x="146" y="67"/>
                    </a:lnTo>
                    <a:lnTo>
                      <a:pt x="1003" y="67"/>
                    </a:lnTo>
                    <a:lnTo>
                      <a:pt x="1051" y="137"/>
                    </a:lnTo>
                    <a:lnTo>
                      <a:pt x="997" y="137"/>
                    </a:lnTo>
                    <a:cubicBezTo>
                      <a:pt x="985" y="115"/>
                      <a:pt x="962" y="101"/>
                      <a:pt x="936" y="101"/>
                    </a:cubicBezTo>
                    <a:cubicBezTo>
                      <a:pt x="897" y="101"/>
                      <a:pt x="867" y="132"/>
                      <a:pt x="867" y="170"/>
                    </a:cubicBezTo>
                    <a:cubicBezTo>
                      <a:pt x="867" y="208"/>
                      <a:pt x="897" y="240"/>
                      <a:pt x="936" y="240"/>
                    </a:cubicBezTo>
                    <a:cubicBezTo>
                      <a:pt x="962" y="240"/>
                      <a:pt x="985" y="225"/>
                      <a:pt x="997" y="204"/>
                    </a:cubicBezTo>
                    <a:lnTo>
                      <a:pt x="1114" y="204"/>
                    </a:lnTo>
                    <a:cubicBezTo>
                      <a:pt x="1127" y="204"/>
                      <a:pt x="1138" y="197"/>
                      <a:pt x="1144" y="186"/>
                    </a:cubicBezTo>
                    <a:cubicBezTo>
                      <a:pt x="1149" y="175"/>
                      <a:pt x="1149" y="162"/>
                      <a:pt x="1142" y="151"/>
                    </a:cubicBezTo>
                    <a:lnTo>
                      <a:pt x="1048" y="15"/>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Freeform 44"/>
              <p:cNvSpPr>
                <a:spLocks noEditPoints="1"/>
              </p:cNvSpPr>
              <p:nvPr/>
            </p:nvSpPr>
            <p:spPr bwMode="gray">
              <a:xfrm>
                <a:off x="1836738" y="925513"/>
                <a:ext cx="193675" cy="442913"/>
              </a:xfrm>
              <a:custGeom>
                <a:avLst/>
                <a:gdLst>
                  <a:gd name="T0" fmla="*/ 2147483647 w 461"/>
                  <a:gd name="T1" fmla="*/ 2147483647 h 1055"/>
                  <a:gd name="T2" fmla="*/ 2147483647 w 461"/>
                  <a:gd name="T3" fmla="*/ 2147483647 h 1055"/>
                  <a:gd name="T4" fmla="*/ 2147483647 w 461"/>
                  <a:gd name="T5" fmla="*/ 2147483647 h 1055"/>
                  <a:gd name="T6" fmla="*/ 2147483647 w 461"/>
                  <a:gd name="T7" fmla="*/ 2147483647 h 1055"/>
                  <a:gd name="T8" fmla="*/ 2147483647 w 461"/>
                  <a:gd name="T9" fmla="*/ 2147483647 h 1055"/>
                  <a:gd name="T10" fmla="*/ 2147483647 w 461"/>
                  <a:gd name="T11" fmla="*/ 2147483647 h 1055"/>
                  <a:gd name="T12" fmla="*/ 2147483647 w 461"/>
                  <a:gd name="T13" fmla="*/ 2147483647 h 1055"/>
                  <a:gd name="T14" fmla="*/ 2147483647 w 461"/>
                  <a:gd name="T15" fmla="*/ 2147483647 h 1055"/>
                  <a:gd name="T16" fmla="*/ 2147483647 w 461"/>
                  <a:gd name="T17" fmla="*/ 2147483647 h 1055"/>
                  <a:gd name="T18" fmla="*/ 2147483647 w 461"/>
                  <a:gd name="T19" fmla="*/ 2147483647 h 1055"/>
                  <a:gd name="T20" fmla="*/ 2147483647 w 461"/>
                  <a:gd name="T21" fmla="*/ 0 h 1055"/>
                  <a:gd name="T22" fmla="*/ 2147483647 w 461"/>
                  <a:gd name="T23" fmla="*/ 0 h 1055"/>
                  <a:gd name="T24" fmla="*/ 2147483647 w 461"/>
                  <a:gd name="T25" fmla="*/ 0 h 1055"/>
                  <a:gd name="T26" fmla="*/ 0 w 461"/>
                  <a:gd name="T27" fmla="*/ 2147483647 h 1055"/>
                  <a:gd name="T28" fmla="*/ 0 w 461"/>
                  <a:gd name="T29" fmla="*/ 2147483647 h 1055"/>
                  <a:gd name="T30" fmla="*/ 2147483647 w 461"/>
                  <a:gd name="T31" fmla="*/ 2147483647 h 1055"/>
                  <a:gd name="T32" fmla="*/ 2147483647 w 461"/>
                  <a:gd name="T33" fmla="*/ 2147483647 h 1055"/>
                  <a:gd name="T34" fmla="*/ 2147483647 w 461"/>
                  <a:gd name="T35" fmla="*/ 2147483647 h 1055"/>
                  <a:gd name="T36" fmla="*/ 2147483647 w 461"/>
                  <a:gd name="T37" fmla="*/ 2147483647 h 1055"/>
                  <a:gd name="T38" fmla="*/ 2147483647 w 461"/>
                  <a:gd name="T39" fmla="*/ 0 h 105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61"/>
                  <a:gd name="T61" fmla="*/ 0 h 1055"/>
                  <a:gd name="T62" fmla="*/ 461 w 461"/>
                  <a:gd name="T63" fmla="*/ 1055 h 105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61" h="1055">
                    <a:moveTo>
                      <a:pt x="394" y="955"/>
                    </a:moveTo>
                    <a:lnTo>
                      <a:pt x="394" y="955"/>
                    </a:lnTo>
                    <a:cubicBezTo>
                      <a:pt x="394" y="973"/>
                      <a:pt x="379" y="988"/>
                      <a:pt x="361" y="988"/>
                    </a:cubicBezTo>
                    <a:lnTo>
                      <a:pt x="100" y="988"/>
                    </a:lnTo>
                    <a:cubicBezTo>
                      <a:pt x="82" y="988"/>
                      <a:pt x="67" y="973"/>
                      <a:pt x="67" y="955"/>
                    </a:cubicBezTo>
                    <a:lnTo>
                      <a:pt x="67" y="100"/>
                    </a:lnTo>
                    <a:cubicBezTo>
                      <a:pt x="67" y="82"/>
                      <a:pt x="82" y="67"/>
                      <a:pt x="100" y="67"/>
                    </a:cubicBezTo>
                    <a:lnTo>
                      <a:pt x="361" y="67"/>
                    </a:lnTo>
                    <a:cubicBezTo>
                      <a:pt x="379" y="67"/>
                      <a:pt x="394" y="82"/>
                      <a:pt x="394" y="100"/>
                    </a:cubicBezTo>
                    <a:lnTo>
                      <a:pt x="394" y="955"/>
                    </a:lnTo>
                    <a:close/>
                    <a:moveTo>
                      <a:pt x="361" y="0"/>
                    </a:moveTo>
                    <a:lnTo>
                      <a:pt x="361" y="0"/>
                    </a:lnTo>
                    <a:lnTo>
                      <a:pt x="100" y="0"/>
                    </a:lnTo>
                    <a:cubicBezTo>
                      <a:pt x="45" y="0"/>
                      <a:pt x="0" y="45"/>
                      <a:pt x="0" y="100"/>
                    </a:cubicBezTo>
                    <a:lnTo>
                      <a:pt x="0" y="955"/>
                    </a:lnTo>
                    <a:cubicBezTo>
                      <a:pt x="0" y="1010"/>
                      <a:pt x="45" y="1055"/>
                      <a:pt x="100" y="1055"/>
                    </a:cubicBezTo>
                    <a:lnTo>
                      <a:pt x="361" y="1055"/>
                    </a:lnTo>
                    <a:cubicBezTo>
                      <a:pt x="416" y="1055"/>
                      <a:pt x="461" y="1010"/>
                      <a:pt x="461" y="955"/>
                    </a:cubicBezTo>
                    <a:lnTo>
                      <a:pt x="461" y="100"/>
                    </a:lnTo>
                    <a:cubicBezTo>
                      <a:pt x="461" y="45"/>
                      <a:pt x="416" y="0"/>
                      <a:pt x="361"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Freeform 45"/>
              <p:cNvSpPr>
                <a:spLocks/>
              </p:cNvSpPr>
              <p:nvPr/>
            </p:nvSpPr>
            <p:spPr bwMode="gray">
              <a:xfrm>
                <a:off x="1878013" y="1003300"/>
                <a:ext cx="112713" cy="28575"/>
              </a:xfrm>
              <a:custGeom>
                <a:avLst/>
                <a:gdLst>
                  <a:gd name="T0" fmla="*/ 2147483647 w 267"/>
                  <a:gd name="T1" fmla="*/ 0 h 66"/>
                  <a:gd name="T2" fmla="*/ 2147483647 w 267"/>
                  <a:gd name="T3" fmla="*/ 0 h 66"/>
                  <a:gd name="T4" fmla="*/ 2147483647 w 267"/>
                  <a:gd name="T5" fmla="*/ 0 h 66"/>
                  <a:gd name="T6" fmla="*/ 0 w 267"/>
                  <a:gd name="T7" fmla="*/ 2147483647 h 66"/>
                  <a:gd name="T8" fmla="*/ 2147483647 w 267"/>
                  <a:gd name="T9" fmla="*/ 2147483647 h 66"/>
                  <a:gd name="T10" fmla="*/ 2147483647 w 267"/>
                  <a:gd name="T11" fmla="*/ 2147483647 h 66"/>
                  <a:gd name="T12" fmla="*/ 2147483647 w 267"/>
                  <a:gd name="T13" fmla="*/ 2147483647 h 66"/>
                  <a:gd name="T14" fmla="*/ 2147483647 w 267"/>
                  <a:gd name="T15" fmla="*/ 0 h 66"/>
                  <a:gd name="T16" fmla="*/ 0 60000 65536"/>
                  <a:gd name="T17" fmla="*/ 0 60000 65536"/>
                  <a:gd name="T18" fmla="*/ 0 60000 65536"/>
                  <a:gd name="T19" fmla="*/ 0 60000 65536"/>
                  <a:gd name="T20" fmla="*/ 0 60000 65536"/>
                  <a:gd name="T21" fmla="*/ 0 60000 65536"/>
                  <a:gd name="T22" fmla="*/ 0 60000 65536"/>
                  <a:gd name="T23" fmla="*/ 0 60000 65536"/>
                  <a:gd name="T24" fmla="*/ 0 w 267"/>
                  <a:gd name="T25" fmla="*/ 0 h 66"/>
                  <a:gd name="T26" fmla="*/ 267 w 267"/>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7" h="66">
                    <a:moveTo>
                      <a:pt x="233" y="0"/>
                    </a:moveTo>
                    <a:lnTo>
                      <a:pt x="233" y="0"/>
                    </a:lnTo>
                    <a:lnTo>
                      <a:pt x="33" y="0"/>
                    </a:lnTo>
                    <a:cubicBezTo>
                      <a:pt x="15" y="0"/>
                      <a:pt x="0" y="15"/>
                      <a:pt x="0" y="33"/>
                    </a:cubicBezTo>
                    <a:cubicBezTo>
                      <a:pt x="0" y="52"/>
                      <a:pt x="15" y="66"/>
                      <a:pt x="33" y="66"/>
                    </a:cubicBezTo>
                    <a:lnTo>
                      <a:pt x="233" y="66"/>
                    </a:lnTo>
                    <a:cubicBezTo>
                      <a:pt x="252" y="66"/>
                      <a:pt x="267" y="52"/>
                      <a:pt x="267" y="33"/>
                    </a:cubicBezTo>
                    <a:cubicBezTo>
                      <a:pt x="267" y="15"/>
                      <a:pt x="252" y="0"/>
                      <a:pt x="233"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Freeform 46"/>
              <p:cNvSpPr>
                <a:spLocks/>
              </p:cNvSpPr>
              <p:nvPr/>
            </p:nvSpPr>
            <p:spPr bwMode="gray">
              <a:xfrm>
                <a:off x="1878013" y="1042988"/>
                <a:ext cx="112713" cy="28575"/>
              </a:xfrm>
              <a:custGeom>
                <a:avLst/>
                <a:gdLst>
                  <a:gd name="T0" fmla="*/ 2147483647 w 267"/>
                  <a:gd name="T1" fmla="*/ 0 h 67"/>
                  <a:gd name="T2" fmla="*/ 2147483647 w 267"/>
                  <a:gd name="T3" fmla="*/ 0 h 67"/>
                  <a:gd name="T4" fmla="*/ 2147483647 w 267"/>
                  <a:gd name="T5" fmla="*/ 0 h 67"/>
                  <a:gd name="T6" fmla="*/ 0 w 267"/>
                  <a:gd name="T7" fmla="*/ 2147483647 h 67"/>
                  <a:gd name="T8" fmla="*/ 2147483647 w 267"/>
                  <a:gd name="T9" fmla="*/ 2147483647 h 67"/>
                  <a:gd name="T10" fmla="*/ 2147483647 w 267"/>
                  <a:gd name="T11" fmla="*/ 2147483647 h 67"/>
                  <a:gd name="T12" fmla="*/ 2147483647 w 267"/>
                  <a:gd name="T13" fmla="*/ 2147483647 h 67"/>
                  <a:gd name="T14" fmla="*/ 2147483647 w 267"/>
                  <a:gd name="T15" fmla="*/ 0 h 67"/>
                  <a:gd name="T16" fmla="*/ 0 60000 65536"/>
                  <a:gd name="T17" fmla="*/ 0 60000 65536"/>
                  <a:gd name="T18" fmla="*/ 0 60000 65536"/>
                  <a:gd name="T19" fmla="*/ 0 60000 65536"/>
                  <a:gd name="T20" fmla="*/ 0 60000 65536"/>
                  <a:gd name="T21" fmla="*/ 0 60000 65536"/>
                  <a:gd name="T22" fmla="*/ 0 60000 65536"/>
                  <a:gd name="T23" fmla="*/ 0 60000 65536"/>
                  <a:gd name="T24" fmla="*/ 0 w 267"/>
                  <a:gd name="T25" fmla="*/ 0 h 67"/>
                  <a:gd name="T26" fmla="*/ 267 w 267"/>
                  <a:gd name="T27" fmla="*/ 67 h 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7" h="67">
                    <a:moveTo>
                      <a:pt x="233" y="0"/>
                    </a:moveTo>
                    <a:lnTo>
                      <a:pt x="233" y="0"/>
                    </a:lnTo>
                    <a:lnTo>
                      <a:pt x="33" y="0"/>
                    </a:lnTo>
                    <a:cubicBezTo>
                      <a:pt x="15" y="0"/>
                      <a:pt x="0" y="15"/>
                      <a:pt x="0" y="33"/>
                    </a:cubicBezTo>
                    <a:cubicBezTo>
                      <a:pt x="0" y="52"/>
                      <a:pt x="15" y="67"/>
                      <a:pt x="33" y="67"/>
                    </a:cubicBezTo>
                    <a:lnTo>
                      <a:pt x="233" y="67"/>
                    </a:lnTo>
                    <a:cubicBezTo>
                      <a:pt x="252" y="67"/>
                      <a:pt x="267" y="52"/>
                      <a:pt x="267" y="33"/>
                    </a:cubicBezTo>
                    <a:cubicBezTo>
                      <a:pt x="267" y="15"/>
                      <a:pt x="252" y="0"/>
                      <a:pt x="233"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Freeform 47"/>
              <p:cNvSpPr>
                <a:spLocks/>
              </p:cNvSpPr>
              <p:nvPr/>
            </p:nvSpPr>
            <p:spPr bwMode="gray">
              <a:xfrm>
                <a:off x="1878013" y="1081088"/>
                <a:ext cx="112713" cy="28575"/>
              </a:xfrm>
              <a:custGeom>
                <a:avLst/>
                <a:gdLst>
                  <a:gd name="T0" fmla="*/ 2147483647 w 267"/>
                  <a:gd name="T1" fmla="*/ 0 h 67"/>
                  <a:gd name="T2" fmla="*/ 2147483647 w 267"/>
                  <a:gd name="T3" fmla="*/ 0 h 67"/>
                  <a:gd name="T4" fmla="*/ 2147483647 w 267"/>
                  <a:gd name="T5" fmla="*/ 0 h 67"/>
                  <a:gd name="T6" fmla="*/ 0 w 267"/>
                  <a:gd name="T7" fmla="*/ 2147483647 h 67"/>
                  <a:gd name="T8" fmla="*/ 2147483647 w 267"/>
                  <a:gd name="T9" fmla="*/ 2147483647 h 67"/>
                  <a:gd name="T10" fmla="*/ 2147483647 w 267"/>
                  <a:gd name="T11" fmla="*/ 2147483647 h 67"/>
                  <a:gd name="T12" fmla="*/ 2147483647 w 267"/>
                  <a:gd name="T13" fmla="*/ 2147483647 h 67"/>
                  <a:gd name="T14" fmla="*/ 2147483647 w 267"/>
                  <a:gd name="T15" fmla="*/ 0 h 67"/>
                  <a:gd name="T16" fmla="*/ 0 60000 65536"/>
                  <a:gd name="T17" fmla="*/ 0 60000 65536"/>
                  <a:gd name="T18" fmla="*/ 0 60000 65536"/>
                  <a:gd name="T19" fmla="*/ 0 60000 65536"/>
                  <a:gd name="T20" fmla="*/ 0 60000 65536"/>
                  <a:gd name="T21" fmla="*/ 0 60000 65536"/>
                  <a:gd name="T22" fmla="*/ 0 60000 65536"/>
                  <a:gd name="T23" fmla="*/ 0 60000 65536"/>
                  <a:gd name="T24" fmla="*/ 0 w 267"/>
                  <a:gd name="T25" fmla="*/ 0 h 67"/>
                  <a:gd name="T26" fmla="*/ 267 w 267"/>
                  <a:gd name="T27" fmla="*/ 67 h 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7" h="67">
                    <a:moveTo>
                      <a:pt x="233" y="0"/>
                    </a:moveTo>
                    <a:lnTo>
                      <a:pt x="233" y="0"/>
                    </a:lnTo>
                    <a:lnTo>
                      <a:pt x="33" y="0"/>
                    </a:lnTo>
                    <a:cubicBezTo>
                      <a:pt x="15" y="0"/>
                      <a:pt x="0" y="15"/>
                      <a:pt x="0" y="34"/>
                    </a:cubicBezTo>
                    <a:cubicBezTo>
                      <a:pt x="0" y="52"/>
                      <a:pt x="15" y="67"/>
                      <a:pt x="33" y="67"/>
                    </a:cubicBezTo>
                    <a:lnTo>
                      <a:pt x="233" y="67"/>
                    </a:lnTo>
                    <a:cubicBezTo>
                      <a:pt x="252" y="67"/>
                      <a:pt x="267" y="52"/>
                      <a:pt x="267" y="34"/>
                    </a:cubicBezTo>
                    <a:cubicBezTo>
                      <a:pt x="267" y="15"/>
                      <a:pt x="252" y="0"/>
                      <a:pt x="233"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Freeform 48"/>
              <p:cNvSpPr>
                <a:spLocks noEditPoints="1"/>
              </p:cNvSpPr>
              <p:nvPr/>
            </p:nvSpPr>
            <p:spPr bwMode="gray">
              <a:xfrm>
                <a:off x="1892300" y="1227138"/>
                <a:ext cx="84138" cy="84138"/>
              </a:xfrm>
              <a:custGeom>
                <a:avLst/>
                <a:gdLst>
                  <a:gd name="T0" fmla="*/ 2147483647 w 200"/>
                  <a:gd name="T1" fmla="*/ 2147483647 h 200"/>
                  <a:gd name="T2" fmla="*/ 2147483647 w 200"/>
                  <a:gd name="T3" fmla="*/ 2147483647 h 200"/>
                  <a:gd name="T4" fmla="*/ 2147483647 w 200"/>
                  <a:gd name="T5" fmla="*/ 2147483647 h 200"/>
                  <a:gd name="T6" fmla="*/ 2147483647 w 200"/>
                  <a:gd name="T7" fmla="*/ 2147483647 h 200"/>
                  <a:gd name="T8" fmla="*/ 2147483647 w 200"/>
                  <a:gd name="T9" fmla="*/ 2147483647 h 200"/>
                  <a:gd name="T10" fmla="*/ 2147483647 w 200"/>
                  <a:gd name="T11" fmla="*/ 2147483647 h 200"/>
                  <a:gd name="T12" fmla="*/ 2147483647 w 200"/>
                  <a:gd name="T13" fmla="*/ 0 h 200"/>
                  <a:gd name="T14" fmla="*/ 2147483647 w 200"/>
                  <a:gd name="T15" fmla="*/ 0 h 200"/>
                  <a:gd name="T16" fmla="*/ 0 w 200"/>
                  <a:gd name="T17" fmla="*/ 2147483647 h 200"/>
                  <a:gd name="T18" fmla="*/ 2147483647 w 200"/>
                  <a:gd name="T19" fmla="*/ 2147483647 h 200"/>
                  <a:gd name="T20" fmla="*/ 2147483647 w 200"/>
                  <a:gd name="T21" fmla="*/ 2147483647 h 200"/>
                  <a:gd name="T22" fmla="*/ 2147483647 w 200"/>
                  <a:gd name="T23" fmla="*/ 0 h 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0"/>
                  <a:gd name="T37" fmla="*/ 0 h 200"/>
                  <a:gd name="T38" fmla="*/ 200 w 200"/>
                  <a:gd name="T39" fmla="*/ 200 h 2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0" h="200">
                    <a:moveTo>
                      <a:pt x="100" y="133"/>
                    </a:moveTo>
                    <a:lnTo>
                      <a:pt x="100" y="133"/>
                    </a:lnTo>
                    <a:cubicBezTo>
                      <a:pt x="82" y="133"/>
                      <a:pt x="67" y="118"/>
                      <a:pt x="67" y="100"/>
                    </a:cubicBezTo>
                    <a:cubicBezTo>
                      <a:pt x="67" y="82"/>
                      <a:pt x="82" y="67"/>
                      <a:pt x="100" y="67"/>
                    </a:cubicBezTo>
                    <a:cubicBezTo>
                      <a:pt x="119" y="67"/>
                      <a:pt x="134" y="82"/>
                      <a:pt x="134" y="100"/>
                    </a:cubicBezTo>
                    <a:cubicBezTo>
                      <a:pt x="134" y="118"/>
                      <a:pt x="119" y="133"/>
                      <a:pt x="100" y="133"/>
                    </a:cubicBezTo>
                    <a:close/>
                    <a:moveTo>
                      <a:pt x="100" y="0"/>
                    </a:moveTo>
                    <a:lnTo>
                      <a:pt x="100" y="0"/>
                    </a:lnTo>
                    <a:cubicBezTo>
                      <a:pt x="45" y="0"/>
                      <a:pt x="0" y="45"/>
                      <a:pt x="0" y="100"/>
                    </a:cubicBezTo>
                    <a:cubicBezTo>
                      <a:pt x="0" y="155"/>
                      <a:pt x="45" y="200"/>
                      <a:pt x="100" y="200"/>
                    </a:cubicBezTo>
                    <a:cubicBezTo>
                      <a:pt x="155" y="200"/>
                      <a:pt x="200" y="155"/>
                      <a:pt x="200" y="100"/>
                    </a:cubicBezTo>
                    <a:cubicBezTo>
                      <a:pt x="200" y="45"/>
                      <a:pt x="155" y="0"/>
                      <a:pt x="100"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39" name="文本框 38"/>
          <p:cNvSpPr txBox="1"/>
          <p:nvPr/>
        </p:nvSpPr>
        <p:spPr bwMode="gray">
          <a:xfrm>
            <a:off x="3273783" y="5878423"/>
            <a:ext cx="492443" cy="276999"/>
          </a:xfrm>
          <a:prstGeom prst="rect">
            <a:avLst/>
          </a:prstGeom>
          <a:noFill/>
        </p:spPr>
        <p:txBody>
          <a:bodyPr wrap="none" rtlCol="0">
            <a:spAutoFit/>
          </a:bodyPr>
          <a:lstStyle/>
          <a:p>
            <a:pPr algn="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办公</a:t>
            </a:r>
            <a:endParaRPr lang="en-US" altLang="zh-CN"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39"/>
          <p:cNvSpPr txBox="1"/>
          <p:nvPr/>
        </p:nvSpPr>
        <p:spPr bwMode="gray">
          <a:xfrm>
            <a:off x="4159477" y="5878423"/>
            <a:ext cx="492443" cy="276999"/>
          </a:xfrm>
          <a:prstGeom prst="rect">
            <a:avLst/>
          </a:prstGeom>
          <a:noFill/>
        </p:spPr>
        <p:txBody>
          <a:bodyPr wrap="none" rtlCol="0">
            <a:spAutoFit/>
          </a:bodyPr>
          <a:lstStyle/>
          <a:p>
            <a:pPr algn="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视讯</a:t>
            </a:r>
          </a:p>
        </p:txBody>
      </p:sp>
      <p:sp>
        <p:nvSpPr>
          <p:cNvPr id="41" name="文本框 40"/>
          <p:cNvSpPr txBox="1"/>
          <p:nvPr/>
        </p:nvSpPr>
        <p:spPr bwMode="gray">
          <a:xfrm>
            <a:off x="4889751" y="5878423"/>
            <a:ext cx="492443" cy="276999"/>
          </a:xfrm>
          <a:prstGeom prst="rect">
            <a:avLst/>
          </a:prstGeom>
          <a:noFill/>
        </p:spPr>
        <p:txBody>
          <a:bodyPr wrap="none" rtlCol="0">
            <a:spAutoFit/>
          </a:bodyPr>
          <a:lstStyle/>
          <a:p>
            <a:pPr algn="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安防</a:t>
            </a:r>
          </a:p>
        </p:txBody>
      </p:sp>
      <p:pic>
        <p:nvPicPr>
          <p:cNvPr id="42" name="图片 41" descr="汇聚交换机.png"/>
          <p:cNvPicPr>
            <a:picLocks noChangeAspect="1"/>
          </p:cNvPicPr>
          <p:nvPr/>
        </p:nvPicPr>
        <p:blipFill>
          <a:blip r:embed="rId3" cstate="print"/>
          <a:stretch>
            <a:fillRect/>
          </a:stretch>
        </p:blipFill>
        <p:spPr bwMode="gray">
          <a:xfrm>
            <a:off x="1376731" y="3769181"/>
            <a:ext cx="403334" cy="330001"/>
          </a:xfrm>
          <a:prstGeom prst="rect">
            <a:avLst/>
          </a:prstGeom>
        </p:spPr>
      </p:pic>
      <p:pic>
        <p:nvPicPr>
          <p:cNvPr id="43" name="图片 87" descr="汇聚交换机.png"/>
          <p:cNvPicPr>
            <a:picLocks noChangeAspect="1"/>
          </p:cNvPicPr>
          <p:nvPr/>
        </p:nvPicPr>
        <p:blipFill>
          <a:blip r:embed="rId3" cstate="print"/>
          <a:stretch>
            <a:fillRect/>
          </a:stretch>
        </p:blipFill>
        <p:spPr bwMode="gray">
          <a:xfrm>
            <a:off x="3752348" y="3769181"/>
            <a:ext cx="403334" cy="330001"/>
          </a:xfrm>
          <a:prstGeom prst="rect">
            <a:avLst/>
          </a:prstGeom>
        </p:spPr>
      </p:pic>
      <p:pic>
        <p:nvPicPr>
          <p:cNvPr id="44" name="图片 86" descr="核心交换机.png"/>
          <p:cNvPicPr>
            <a:picLocks noChangeAspect="1"/>
          </p:cNvPicPr>
          <p:nvPr/>
        </p:nvPicPr>
        <p:blipFill>
          <a:blip r:embed="rId4" cstate="print"/>
          <a:stretch>
            <a:fillRect/>
          </a:stretch>
        </p:blipFill>
        <p:spPr bwMode="gray">
          <a:xfrm>
            <a:off x="2476521" y="2885123"/>
            <a:ext cx="443667" cy="363001"/>
          </a:xfrm>
          <a:prstGeom prst="rect">
            <a:avLst/>
          </a:prstGeom>
        </p:spPr>
      </p:pic>
      <p:grpSp>
        <p:nvGrpSpPr>
          <p:cNvPr id="45" name="组合 758"/>
          <p:cNvGrpSpPr/>
          <p:nvPr/>
        </p:nvGrpSpPr>
        <p:grpSpPr bwMode="gray">
          <a:xfrm flipV="1">
            <a:off x="2627758" y="5055147"/>
            <a:ext cx="225699" cy="191129"/>
            <a:chOff x="7440613" y="4868863"/>
            <a:chExt cx="1019175" cy="828675"/>
          </a:xfrm>
          <a:solidFill>
            <a:schemeClr val="bg1">
              <a:lumMod val="50000"/>
            </a:schemeClr>
          </a:solidFill>
        </p:grpSpPr>
        <p:sp>
          <p:nvSpPr>
            <p:cNvPr id="46"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48" name="直接连接符 47"/>
          <p:cNvCxnSpPr>
            <a:stCxn id="49" idx="1"/>
          </p:cNvCxnSpPr>
          <p:nvPr/>
        </p:nvCxnSpPr>
        <p:spPr bwMode="gray">
          <a:xfrm flipH="1" flipV="1">
            <a:off x="1577838" y="4573861"/>
            <a:ext cx="961102" cy="2768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9" name="图片 105" descr="AP.png"/>
          <p:cNvPicPr>
            <a:picLocks noChangeAspect="1"/>
          </p:cNvPicPr>
          <p:nvPr/>
        </p:nvPicPr>
        <p:blipFill>
          <a:blip r:embed="rId5" cstate="print"/>
          <a:stretch>
            <a:fillRect/>
          </a:stretch>
        </p:blipFill>
        <p:spPr bwMode="gray">
          <a:xfrm>
            <a:off x="2538940" y="4685693"/>
            <a:ext cx="403334" cy="330001"/>
          </a:xfrm>
          <a:prstGeom prst="rect">
            <a:avLst/>
          </a:prstGeom>
        </p:spPr>
      </p:pic>
      <p:cxnSp>
        <p:nvCxnSpPr>
          <p:cNvPr id="51" name="Straight Connector 166"/>
          <p:cNvCxnSpPr/>
          <p:nvPr/>
        </p:nvCxnSpPr>
        <p:spPr bwMode="gray">
          <a:xfrm>
            <a:off x="1526749" y="4557579"/>
            <a:ext cx="462919" cy="8284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167"/>
          <p:cNvCxnSpPr/>
          <p:nvPr/>
        </p:nvCxnSpPr>
        <p:spPr bwMode="gray">
          <a:xfrm flipH="1">
            <a:off x="1166008" y="4516730"/>
            <a:ext cx="411830" cy="8692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bwMode="gray">
          <a:xfrm>
            <a:off x="2698353" y="1545645"/>
            <a:ext cx="0" cy="13898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4"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2476520" y="2170256"/>
            <a:ext cx="443667" cy="363001"/>
          </a:xfrm>
          <a:prstGeom prst="rect">
            <a:avLst/>
          </a:prstGeom>
        </p:spPr>
      </p:pic>
      <p:grpSp>
        <p:nvGrpSpPr>
          <p:cNvPr id="55" name="组合 758"/>
          <p:cNvGrpSpPr/>
          <p:nvPr/>
        </p:nvGrpSpPr>
        <p:grpSpPr bwMode="gray">
          <a:xfrm flipV="1">
            <a:off x="5051282" y="5055147"/>
            <a:ext cx="225699" cy="191129"/>
            <a:chOff x="7440613" y="4868863"/>
            <a:chExt cx="1019175" cy="828675"/>
          </a:xfrm>
          <a:solidFill>
            <a:schemeClr val="bg1">
              <a:lumMod val="50000"/>
            </a:schemeClr>
          </a:solidFill>
        </p:grpSpPr>
        <p:sp>
          <p:nvSpPr>
            <p:cNvPr id="56"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3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58" name="Freeform 159"/>
          <p:cNvSpPr/>
          <p:nvPr/>
        </p:nvSpPr>
        <p:spPr bwMode="gray">
          <a:xfrm flipH="1">
            <a:off x="2197804" y="1372839"/>
            <a:ext cx="997303" cy="52131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44000" rtlCol="0" anchor="ctr">
            <a:noAutofit/>
          </a:bodyPr>
          <a:lstStyle/>
          <a:p>
            <a:pPr algn="ctr"/>
            <a:r>
              <a:rPr 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cxnSp>
        <p:nvCxnSpPr>
          <p:cNvPr id="59" name="直接连接符 58"/>
          <p:cNvCxnSpPr/>
          <p:nvPr/>
        </p:nvCxnSpPr>
        <p:spPr bwMode="gray">
          <a:xfrm flipH="1" flipV="1">
            <a:off x="3966457" y="4557579"/>
            <a:ext cx="1053317" cy="29311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60" name="图片 105" descr="AP.png"/>
          <p:cNvPicPr>
            <a:picLocks noChangeAspect="1"/>
          </p:cNvPicPr>
          <p:nvPr/>
        </p:nvPicPr>
        <p:blipFill>
          <a:blip r:embed="rId5" cstate="print"/>
          <a:stretch>
            <a:fillRect/>
          </a:stretch>
        </p:blipFill>
        <p:spPr bwMode="gray">
          <a:xfrm>
            <a:off x="4962464" y="4685693"/>
            <a:ext cx="403334" cy="330001"/>
          </a:xfrm>
          <a:prstGeom prst="rect">
            <a:avLst/>
          </a:prstGeom>
        </p:spPr>
      </p:pic>
      <p:pic>
        <p:nvPicPr>
          <p:cNvPr id="61" name="图片 76" descr="接入交换机.png"/>
          <p:cNvPicPr>
            <a:picLocks noChangeAspect="1"/>
          </p:cNvPicPr>
          <p:nvPr/>
        </p:nvPicPr>
        <p:blipFill>
          <a:blip r:embed="rId7" cstate="print"/>
          <a:stretch>
            <a:fillRect/>
          </a:stretch>
        </p:blipFill>
        <p:spPr bwMode="gray">
          <a:xfrm>
            <a:off x="3747962" y="4396541"/>
            <a:ext cx="403334" cy="330001"/>
          </a:xfrm>
          <a:prstGeom prst="rect">
            <a:avLst/>
          </a:prstGeom>
        </p:spPr>
      </p:pic>
      <p:pic>
        <p:nvPicPr>
          <p:cNvPr id="62" name="图片 76" descr="接入交换机.png"/>
          <p:cNvPicPr>
            <a:picLocks noChangeAspect="1"/>
          </p:cNvPicPr>
          <p:nvPr/>
        </p:nvPicPr>
        <p:blipFill>
          <a:blip r:embed="rId7" cstate="print"/>
          <a:stretch>
            <a:fillRect/>
          </a:stretch>
        </p:blipFill>
        <p:spPr bwMode="gray">
          <a:xfrm>
            <a:off x="1372550" y="4396541"/>
            <a:ext cx="403334" cy="330001"/>
          </a:xfrm>
          <a:prstGeom prst="rect">
            <a:avLst/>
          </a:prstGeom>
        </p:spPr>
      </p:pic>
      <p:grpSp>
        <p:nvGrpSpPr>
          <p:cNvPr id="63" name="组合 225"/>
          <p:cNvGrpSpPr>
            <a:grpSpLocks/>
          </p:cNvGrpSpPr>
          <p:nvPr/>
        </p:nvGrpSpPr>
        <p:grpSpPr bwMode="gray">
          <a:xfrm>
            <a:off x="1775890" y="5373437"/>
            <a:ext cx="504238" cy="504879"/>
            <a:chOff x="436563" y="3479800"/>
            <a:chExt cx="1114425" cy="1116013"/>
          </a:xfrm>
        </p:grpSpPr>
        <p:sp>
          <p:nvSpPr>
            <p:cNvPr id="64" name="Freeform 166"/>
            <p:cNvSpPr>
              <a:spLocks/>
            </p:cNvSpPr>
            <p:nvPr/>
          </p:nvSpPr>
          <p:spPr bwMode="gray">
            <a:xfrm>
              <a:off x="436563" y="3479800"/>
              <a:ext cx="1114425" cy="1116013"/>
            </a:xfrm>
            <a:custGeom>
              <a:avLst/>
              <a:gdLst>
                <a:gd name="T0" fmla="*/ 2147483647 w 2658"/>
                <a:gd name="T1" fmla="*/ 2147483647 h 2659"/>
                <a:gd name="T2" fmla="*/ 2147483647 w 2658"/>
                <a:gd name="T3" fmla="*/ 2147483647 h 2659"/>
                <a:gd name="T4" fmla="*/ 2147483647 w 2658"/>
                <a:gd name="T5" fmla="*/ 2147483647 h 2659"/>
                <a:gd name="T6" fmla="*/ 0 w 2658"/>
                <a:gd name="T7" fmla="*/ 2147483647 h 2659"/>
                <a:gd name="T8" fmla="*/ 2147483647 w 2658"/>
                <a:gd name="T9" fmla="*/ 0 h 2659"/>
                <a:gd name="T10" fmla="*/ 2147483647 w 2658"/>
                <a:gd name="T11" fmla="*/ 2147483647 h 2659"/>
                <a:gd name="T12" fmla="*/ 0 60000 65536"/>
                <a:gd name="T13" fmla="*/ 0 60000 65536"/>
                <a:gd name="T14" fmla="*/ 0 60000 65536"/>
                <a:gd name="T15" fmla="*/ 0 60000 65536"/>
                <a:gd name="T16" fmla="*/ 0 60000 65536"/>
                <a:gd name="T17" fmla="*/ 0 60000 65536"/>
                <a:gd name="T18" fmla="*/ 0 w 2658"/>
                <a:gd name="T19" fmla="*/ 0 h 2659"/>
                <a:gd name="T20" fmla="*/ 2658 w 2658"/>
                <a:gd name="T21" fmla="*/ 2659 h 2659"/>
              </a:gdLst>
              <a:ahLst/>
              <a:cxnLst>
                <a:cxn ang="T12">
                  <a:pos x="T0" y="T1"/>
                </a:cxn>
                <a:cxn ang="T13">
                  <a:pos x="T2" y="T3"/>
                </a:cxn>
                <a:cxn ang="T14">
                  <a:pos x="T4" y="T5"/>
                </a:cxn>
                <a:cxn ang="T15">
                  <a:pos x="T6" y="T7"/>
                </a:cxn>
                <a:cxn ang="T16">
                  <a:pos x="T8" y="T9"/>
                </a:cxn>
                <a:cxn ang="T17">
                  <a:pos x="T10" y="T11"/>
                </a:cxn>
              </a:cxnLst>
              <a:rect l="T18" t="T19" r="T20" b="T21"/>
              <a:pathLst>
                <a:path w="2658" h="2659">
                  <a:moveTo>
                    <a:pt x="2658" y="1330"/>
                  </a:moveTo>
                  <a:lnTo>
                    <a:pt x="2658" y="1330"/>
                  </a:lnTo>
                  <a:cubicBezTo>
                    <a:pt x="2658" y="2064"/>
                    <a:pt x="2063" y="2659"/>
                    <a:pt x="1329" y="2659"/>
                  </a:cubicBezTo>
                  <a:cubicBezTo>
                    <a:pt x="595" y="2659"/>
                    <a:pt x="0" y="2064"/>
                    <a:pt x="0" y="1330"/>
                  </a:cubicBezTo>
                  <a:cubicBezTo>
                    <a:pt x="0" y="595"/>
                    <a:pt x="595" y="0"/>
                    <a:pt x="1329" y="0"/>
                  </a:cubicBezTo>
                  <a:cubicBezTo>
                    <a:pt x="2063" y="0"/>
                    <a:pt x="2658" y="595"/>
                    <a:pt x="2658" y="1330"/>
                  </a:cubicBezTo>
                  <a:close/>
                </a:path>
              </a:pathLst>
            </a:custGeom>
            <a:solidFill>
              <a:srgbClr val="FFD17D"/>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5" name="组合 206"/>
            <p:cNvGrpSpPr>
              <a:grpSpLocks/>
            </p:cNvGrpSpPr>
            <p:nvPr/>
          </p:nvGrpSpPr>
          <p:grpSpPr bwMode="gray">
            <a:xfrm>
              <a:off x="512763" y="3792538"/>
              <a:ext cx="963613" cy="488950"/>
              <a:chOff x="512763" y="3792538"/>
              <a:chExt cx="963613" cy="488950"/>
            </a:xfrm>
          </p:grpSpPr>
          <p:sp>
            <p:nvSpPr>
              <p:cNvPr id="66" name="Freeform 167"/>
              <p:cNvSpPr>
                <a:spLocks noEditPoints="1"/>
              </p:cNvSpPr>
              <p:nvPr/>
            </p:nvSpPr>
            <p:spPr bwMode="gray">
              <a:xfrm>
                <a:off x="633413" y="3844925"/>
                <a:ext cx="227013" cy="163513"/>
              </a:xfrm>
              <a:custGeom>
                <a:avLst/>
                <a:gdLst>
                  <a:gd name="T0" fmla="*/ 2147483647 w 541"/>
                  <a:gd name="T1" fmla="*/ 2147483647 h 390"/>
                  <a:gd name="T2" fmla="*/ 2147483647 w 541"/>
                  <a:gd name="T3" fmla="*/ 2147483647 h 390"/>
                  <a:gd name="T4" fmla="*/ 2147483647 w 541"/>
                  <a:gd name="T5" fmla="*/ 2147483647 h 390"/>
                  <a:gd name="T6" fmla="*/ 2147483647 w 541"/>
                  <a:gd name="T7" fmla="*/ 2147483647 h 390"/>
                  <a:gd name="T8" fmla="*/ 2147483647 w 541"/>
                  <a:gd name="T9" fmla="*/ 2147483647 h 390"/>
                  <a:gd name="T10" fmla="*/ 2147483647 w 541"/>
                  <a:gd name="T11" fmla="*/ 2147483647 h 390"/>
                  <a:gd name="T12" fmla="*/ 0 w 541"/>
                  <a:gd name="T13" fmla="*/ 2147483647 h 390"/>
                  <a:gd name="T14" fmla="*/ 0 w 541"/>
                  <a:gd name="T15" fmla="*/ 2147483647 h 390"/>
                  <a:gd name="T16" fmla="*/ 2147483647 w 541"/>
                  <a:gd name="T17" fmla="*/ 2147483647 h 390"/>
                  <a:gd name="T18" fmla="*/ 2147483647 w 541"/>
                  <a:gd name="T19" fmla="*/ 0 h 390"/>
                  <a:gd name="T20" fmla="*/ 0 w 541"/>
                  <a:gd name="T21" fmla="*/ 0 h 390"/>
                  <a:gd name="T22" fmla="*/ 0 w 541"/>
                  <a:gd name="T23" fmla="*/ 2147483647 h 3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41"/>
                  <a:gd name="T37" fmla="*/ 0 h 390"/>
                  <a:gd name="T38" fmla="*/ 541 w 541"/>
                  <a:gd name="T39" fmla="*/ 390 h 3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41" h="390">
                    <a:moveTo>
                      <a:pt x="53" y="54"/>
                    </a:moveTo>
                    <a:lnTo>
                      <a:pt x="53" y="54"/>
                    </a:lnTo>
                    <a:lnTo>
                      <a:pt x="488" y="54"/>
                    </a:lnTo>
                    <a:lnTo>
                      <a:pt x="488" y="336"/>
                    </a:lnTo>
                    <a:lnTo>
                      <a:pt x="53" y="336"/>
                    </a:lnTo>
                    <a:lnTo>
                      <a:pt x="53" y="54"/>
                    </a:lnTo>
                    <a:close/>
                    <a:moveTo>
                      <a:pt x="0" y="390"/>
                    </a:moveTo>
                    <a:lnTo>
                      <a:pt x="0" y="390"/>
                    </a:lnTo>
                    <a:lnTo>
                      <a:pt x="541" y="390"/>
                    </a:lnTo>
                    <a:lnTo>
                      <a:pt x="541" y="0"/>
                    </a:lnTo>
                    <a:lnTo>
                      <a:pt x="0" y="0"/>
                    </a:lnTo>
                    <a:lnTo>
                      <a:pt x="0" y="39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Freeform 168"/>
              <p:cNvSpPr>
                <a:spLocks noEditPoints="1"/>
              </p:cNvSpPr>
              <p:nvPr/>
            </p:nvSpPr>
            <p:spPr bwMode="gray">
              <a:xfrm>
                <a:off x="881063" y="3844925"/>
                <a:ext cx="227013" cy="163513"/>
              </a:xfrm>
              <a:custGeom>
                <a:avLst/>
                <a:gdLst>
                  <a:gd name="T0" fmla="*/ 2147483647 w 542"/>
                  <a:gd name="T1" fmla="*/ 2147483647 h 390"/>
                  <a:gd name="T2" fmla="*/ 2147483647 w 542"/>
                  <a:gd name="T3" fmla="*/ 2147483647 h 390"/>
                  <a:gd name="T4" fmla="*/ 2147483647 w 542"/>
                  <a:gd name="T5" fmla="*/ 2147483647 h 390"/>
                  <a:gd name="T6" fmla="*/ 2147483647 w 542"/>
                  <a:gd name="T7" fmla="*/ 2147483647 h 390"/>
                  <a:gd name="T8" fmla="*/ 2147483647 w 542"/>
                  <a:gd name="T9" fmla="*/ 2147483647 h 390"/>
                  <a:gd name="T10" fmla="*/ 2147483647 w 542"/>
                  <a:gd name="T11" fmla="*/ 2147483647 h 390"/>
                  <a:gd name="T12" fmla="*/ 2147483647 w 542"/>
                  <a:gd name="T13" fmla="*/ 0 h 390"/>
                  <a:gd name="T14" fmla="*/ 2147483647 w 542"/>
                  <a:gd name="T15" fmla="*/ 0 h 390"/>
                  <a:gd name="T16" fmla="*/ 0 w 542"/>
                  <a:gd name="T17" fmla="*/ 0 h 390"/>
                  <a:gd name="T18" fmla="*/ 0 w 542"/>
                  <a:gd name="T19" fmla="*/ 2147483647 h 390"/>
                  <a:gd name="T20" fmla="*/ 2147483647 w 542"/>
                  <a:gd name="T21" fmla="*/ 2147483647 h 390"/>
                  <a:gd name="T22" fmla="*/ 2147483647 w 542"/>
                  <a:gd name="T23" fmla="*/ 0 h 3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42"/>
                  <a:gd name="T37" fmla="*/ 0 h 390"/>
                  <a:gd name="T38" fmla="*/ 542 w 542"/>
                  <a:gd name="T39" fmla="*/ 390 h 3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42" h="390">
                    <a:moveTo>
                      <a:pt x="488" y="336"/>
                    </a:moveTo>
                    <a:lnTo>
                      <a:pt x="488" y="336"/>
                    </a:lnTo>
                    <a:lnTo>
                      <a:pt x="54" y="336"/>
                    </a:lnTo>
                    <a:lnTo>
                      <a:pt x="54" y="54"/>
                    </a:lnTo>
                    <a:lnTo>
                      <a:pt x="488" y="54"/>
                    </a:lnTo>
                    <a:lnTo>
                      <a:pt x="488" y="336"/>
                    </a:lnTo>
                    <a:close/>
                    <a:moveTo>
                      <a:pt x="542" y="0"/>
                    </a:moveTo>
                    <a:lnTo>
                      <a:pt x="542" y="0"/>
                    </a:lnTo>
                    <a:lnTo>
                      <a:pt x="0" y="0"/>
                    </a:lnTo>
                    <a:lnTo>
                      <a:pt x="0" y="390"/>
                    </a:lnTo>
                    <a:lnTo>
                      <a:pt x="542" y="390"/>
                    </a:lnTo>
                    <a:lnTo>
                      <a:pt x="542" y="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Freeform 169"/>
              <p:cNvSpPr>
                <a:spLocks noEditPoints="1"/>
              </p:cNvSpPr>
              <p:nvPr/>
            </p:nvSpPr>
            <p:spPr bwMode="gray">
              <a:xfrm>
                <a:off x="1128713" y="3844925"/>
                <a:ext cx="227013" cy="163513"/>
              </a:xfrm>
              <a:custGeom>
                <a:avLst/>
                <a:gdLst>
                  <a:gd name="T0" fmla="*/ 2147483647 w 542"/>
                  <a:gd name="T1" fmla="*/ 2147483647 h 390"/>
                  <a:gd name="T2" fmla="*/ 2147483647 w 542"/>
                  <a:gd name="T3" fmla="*/ 2147483647 h 390"/>
                  <a:gd name="T4" fmla="*/ 2147483647 w 542"/>
                  <a:gd name="T5" fmla="*/ 2147483647 h 390"/>
                  <a:gd name="T6" fmla="*/ 2147483647 w 542"/>
                  <a:gd name="T7" fmla="*/ 2147483647 h 390"/>
                  <a:gd name="T8" fmla="*/ 2147483647 w 542"/>
                  <a:gd name="T9" fmla="*/ 2147483647 h 390"/>
                  <a:gd name="T10" fmla="*/ 2147483647 w 542"/>
                  <a:gd name="T11" fmla="*/ 2147483647 h 390"/>
                  <a:gd name="T12" fmla="*/ 2147483647 w 542"/>
                  <a:gd name="T13" fmla="*/ 0 h 390"/>
                  <a:gd name="T14" fmla="*/ 2147483647 w 542"/>
                  <a:gd name="T15" fmla="*/ 0 h 390"/>
                  <a:gd name="T16" fmla="*/ 0 w 542"/>
                  <a:gd name="T17" fmla="*/ 0 h 390"/>
                  <a:gd name="T18" fmla="*/ 0 w 542"/>
                  <a:gd name="T19" fmla="*/ 2147483647 h 390"/>
                  <a:gd name="T20" fmla="*/ 2147483647 w 542"/>
                  <a:gd name="T21" fmla="*/ 2147483647 h 390"/>
                  <a:gd name="T22" fmla="*/ 2147483647 w 542"/>
                  <a:gd name="T23" fmla="*/ 0 h 3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42"/>
                  <a:gd name="T37" fmla="*/ 0 h 390"/>
                  <a:gd name="T38" fmla="*/ 542 w 542"/>
                  <a:gd name="T39" fmla="*/ 390 h 3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42" h="390">
                    <a:moveTo>
                      <a:pt x="489" y="336"/>
                    </a:moveTo>
                    <a:lnTo>
                      <a:pt x="489" y="336"/>
                    </a:lnTo>
                    <a:lnTo>
                      <a:pt x="54" y="336"/>
                    </a:lnTo>
                    <a:lnTo>
                      <a:pt x="54" y="54"/>
                    </a:lnTo>
                    <a:lnTo>
                      <a:pt x="489" y="54"/>
                    </a:lnTo>
                    <a:lnTo>
                      <a:pt x="489" y="336"/>
                    </a:lnTo>
                    <a:close/>
                    <a:moveTo>
                      <a:pt x="542" y="0"/>
                    </a:moveTo>
                    <a:lnTo>
                      <a:pt x="542" y="0"/>
                    </a:lnTo>
                    <a:lnTo>
                      <a:pt x="0" y="0"/>
                    </a:lnTo>
                    <a:lnTo>
                      <a:pt x="0" y="390"/>
                    </a:lnTo>
                    <a:lnTo>
                      <a:pt x="542" y="390"/>
                    </a:lnTo>
                    <a:lnTo>
                      <a:pt x="542" y="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Freeform 170"/>
              <p:cNvSpPr>
                <a:spLocks noEditPoints="1"/>
              </p:cNvSpPr>
              <p:nvPr/>
            </p:nvSpPr>
            <p:spPr bwMode="gray">
              <a:xfrm>
                <a:off x="512763" y="3792538"/>
                <a:ext cx="963613" cy="488950"/>
              </a:xfrm>
              <a:custGeom>
                <a:avLst/>
                <a:gdLst>
                  <a:gd name="T0" fmla="*/ 2147483647 w 2298"/>
                  <a:gd name="T1" fmla="*/ 2147483647 h 1165"/>
                  <a:gd name="T2" fmla="*/ 2147483647 w 2298"/>
                  <a:gd name="T3" fmla="*/ 2147483647 h 1165"/>
                  <a:gd name="T4" fmla="*/ 2147483647 w 2298"/>
                  <a:gd name="T5" fmla="*/ 2147483647 h 1165"/>
                  <a:gd name="T6" fmla="*/ 2147483647 w 2298"/>
                  <a:gd name="T7" fmla="*/ 2147483647 h 1165"/>
                  <a:gd name="T8" fmla="*/ 2147483647 w 2298"/>
                  <a:gd name="T9" fmla="*/ 2147483647 h 1165"/>
                  <a:gd name="T10" fmla="*/ 2147483647 w 2298"/>
                  <a:gd name="T11" fmla="*/ 2147483647 h 1165"/>
                  <a:gd name="T12" fmla="*/ 2147483647 w 2298"/>
                  <a:gd name="T13" fmla="*/ 2147483647 h 1165"/>
                  <a:gd name="T14" fmla="*/ 2147483647 w 2298"/>
                  <a:gd name="T15" fmla="*/ 2147483647 h 1165"/>
                  <a:gd name="T16" fmla="*/ 2147483647 w 2298"/>
                  <a:gd name="T17" fmla="*/ 2147483647 h 1165"/>
                  <a:gd name="T18" fmla="*/ 2147483647 w 2298"/>
                  <a:gd name="T19" fmla="*/ 2147483647 h 1165"/>
                  <a:gd name="T20" fmla="*/ 2147483647 w 2298"/>
                  <a:gd name="T21" fmla="*/ 2147483647 h 1165"/>
                  <a:gd name="T22" fmla="*/ 2147483647 w 2298"/>
                  <a:gd name="T23" fmla="*/ 2147483647 h 1165"/>
                  <a:gd name="T24" fmla="*/ 2147483647 w 2298"/>
                  <a:gd name="T25" fmla="*/ 2147483647 h 1165"/>
                  <a:gd name="T26" fmla="*/ 2147483647 w 2298"/>
                  <a:gd name="T27" fmla="*/ 2147483647 h 1165"/>
                  <a:gd name="T28" fmla="*/ 2147483647 w 2298"/>
                  <a:gd name="T29" fmla="*/ 2147483647 h 1165"/>
                  <a:gd name="T30" fmla="*/ 2147483647 w 2298"/>
                  <a:gd name="T31" fmla="*/ 2147483647 h 1165"/>
                  <a:gd name="T32" fmla="*/ 2147483647 w 2298"/>
                  <a:gd name="T33" fmla="*/ 2147483647 h 1165"/>
                  <a:gd name="T34" fmla="*/ 2147483647 w 2298"/>
                  <a:gd name="T35" fmla="*/ 2147483647 h 1165"/>
                  <a:gd name="T36" fmla="*/ 2147483647 w 2298"/>
                  <a:gd name="T37" fmla="*/ 2147483647 h 1165"/>
                  <a:gd name="T38" fmla="*/ 2147483647 w 2298"/>
                  <a:gd name="T39" fmla="*/ 2147483647 h 1165"/>
                  <a:gd name="T40" fmla="*/ 2147483647 w 2298"/>
                  <a:gd name="T41" fmla="*/ 2147483647 h 1165"/>
                  <a:gd name="T42" fmla="*/ 2147483647 w 2298"/>
                  <a:gd name="T43" fmla="*/ 2147483647 h 1165"/>
                  <a:gd name="T44" fmla="*/ 2147483647 w 2298"/>
                  <a:gd name="T45" fmla="*/ 2147483647 h 1165"/>
                  <a:gd name="T46" fmla="*/ 2147483647 w 2298"/>
                  <a:gd name="T47" fmla="*/ 2147483647 h 1165"/>
                  <a:gd name="T48" fmla="*/ 2147483647 w 2298"/>
                  <a:gd name="T49" fmla="*/ 2147483647 h 1165"/>
                  <a:gd name="T50" fmla="*/ 2147483647 w 2298"/>
                  <a:gd name="T51" fmla="*/ 2147483647 h 1165"/>
                  <a:gd name="T52" fmla="*/ 2147483647 w 2298"/>
                  <a:gd name="T53" fmla="*/ 2147483647 h 1165"/>
                  <a:gd name="T54" fmla="*/ 2147483647 w 2298"/>
                  <a:gd name="T55" fmla="*/ 2147483647 h 1165"/>
                  <a:gd name="T56" fmla="*/ 2147483647 w 2298"/>
                  <a:gd name="T57" fmla="*/ 2147483647 h 1165"/>
                  <a:gd name="T58" fmla="*/ 2147483647 w 2298"/>
                  <a:gd name="T59" fmla="*/ 2147483647 h 1165"/>
                  <a:gd name="T60" fmla="*/ 2147483647 w 2298"/>
                  <a:gd name="T61" fmla="*/ 2147483647 h 1165"/>
                  <a:gd name="T62" fmla="*/ 2147483647 w 2298"/>
                  <a:gd name="T63" fmla="*/ 2147483647 h 1165"/>
                  <a:gd name="T64" fmla="*/ 2147483647 w 2298"/>
                  <a:gd name="T65" fmla="*/ 2147483647 h 1165"/>
                  <a:gd name="T66" fmla="*/ 2147483647 w 2298"/>
                  <a:gd name="T67" fmla="*/ 0 h 1165"/>
                  <a:gd name="T68" fmla="*/ 2147483647 w 2298"/>
                  <a:gd name="T69" fmla="*/ 2147483647 h 1165"/>
                  <a:gd name="T70" fmla="*/ 2147483647 w 2298"/>
                  <a:gd name="T71" fmla="*/ 2147483647 h 1165"/>
                  <a:gd name="T72" fmla="*/ 2147483647 w 2298"/>
                  <a:gd name="T73" fmla="*/ 2147483647 h 1165"/>
                  <a:gd name="T74" fmla="*/ 2147483647 w 2298"/>
                  <a:gd name="T75" fmla="*/ 2147483647 h 1165"/>
                  <a:gd name="T76" fmla="*/ 2147483647 w 2298"/>
                  <a:gd name="T77" fmla="*/ 2147483647 h 1165"/>
                  <a:gd name="T78" fmla="*/ 2147483647 w 2298"/>
                  <a:gd name="T79" fmla="*/ 2147483647 h 1165"/>
                  <a:gd name="T80" fmla="*/ 2147483647 w 2298"/>
                  <a:gd name="T81" fmla="*/ 2147483647 h 1165"/>
                  <a:gd name="T82" fmla="*/ 2147483647 w 2298"/>
                  <a:gd name="T83" fmla="*/ 2147483647 h 1165"/>
                  <a:gd name="T84" fmla="*/ 2147483647 w 2298"/>
                  <a:gd name="T85" fmla="*/ 2147483647 h 1165"/>
                  <a:gd name="T86" fmla="*/ 2147483647 w 2298"/>
                  <a:gd name="T87" fmla="*/ 2147483647 h 1165"/>
                  <a:gd name="T88" fmla="*/ 2147483647 w 2298"/>
                  <a:gd name="T89" fmla="*/ 2147483647 h 1165"/>
                  <a:gd name="T90" fmla="*/ 2147483647 w 2298"/>
                  <a:gd name="T91" fmla="*/ 2147483647 h 1165"/>
                  <a:gd name="T92" fmla="*/ 2147483647 w 2298"/>
                  <a:gd name="T93" fmla="*/ 2147483647 h 1165"/>
                  <a:gd name="T94" fmla="*/ 2147483647 w 2298"/>
                  <a:gd name="T95" fmla="*/ 2147483647 h 1165"/>
                  <a:gd name="T96" fmla="*/ 2147483647 w 2298"/>
                  <a:gd name="T97" fmla="*/ 2147483647 h 1165"/>
                  <a:gd name="T98" fmla="*/ 2147483647 w 2298"/>
                  <a:gd name="T99" fmla="*/ 2147483647 h 1165"/>
                  <a:gd name="T100" fmla="*/ 2147483647 w 2298"/>
                  <a:gd name="T101" fmla="*/ 2147483647 h 1165"/>
                  <a:gd name="T102" fmla="*/ 2147483647 w 2298"/>
                  <a:gd name="T103" fmla="*/ 2147483647 h 1165"/>
                  <a:gd name="T104" fmla="*/ 2147483647 w 2298"/>
                  <a:gd name="T105" fmla="*/ 2147483647 h 1165"/>
                  <a:gd name="T106" fmla="*/ 2147483647 w 2298"/>
                  <a:gd name="T107" fmla="*/ 2147483647 h 116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298"/>
                  <a:gd name="T163" fmla="*/ 0 h 1165"/>
                  <a:gd name="T164" fmla="*/ 2298 w 2298"/>
                  <a:gd name="T165" fmla="*/ 1165 h 116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298" h="1165">
                    <a:moveTo>
                      <a:pt x="1149" y="819"/>
                    </a:moveTo>
                    <a:lnTo>
                      <a:pt x="1149" y="819"/>
                    </a:lnTo>
                    <a:cubicBezTo>
                      <a:pt x="637" y="819"/>
                      <a:pt x="294" y="719"/>
                      <a:pt x="141" y="662"/>
                    </a:cubicBezTo>
                    <a:lnTo>
                      <a:pt x="312" y="621"/>
                    </a:lnTo>
                    <a:cubicBezTo>
                      <a:pt x="512" y="682"/>
                      <a:pt x="796" y="702"/>
                      <a:pt x="981" y="709"/>
                    </a:cubicBezTo>
                    <a:cubicBezTo>
                      <a:pt x="993" y="731"/>
                      <a:pt x="1016" y="747"/>
                      <a:pt x="1042" y="747"/>
                    </a:cubicBezTo>
                    <a:cubicBezTo>
                      <a:pt x="1081" y="747"/>
                      <a:pt x="1112" y="716"/>
                      <a:pt x="1112" y="677"/>
                    </a:cubicBezTo>
                    <a:cubicBezTo>
                      <a:pt x="1112" y="639"/>
                      <a:pt x="1081" y="608"/>
                      <a:pt x="1042" y="608"/>
                    </a:cubicBezTo>
                    <a:cubicBezTo>
                      <a:pt x="1017" y="608"/>
                      <a:pt x="995" y="622"/>
                      <a:pt x="983" y="643"/>
                    </a:cubicBezTo>
                    <a:cubicBezTo>
                      <a:pt x="798" y="636"/>
                      <a:pt x="516" y="615"/>
                      <a:pt x="323" y="555"/>
                    </a:cubicBezTo>
                    <a:cubicBezTo>
                      <a:pt x="317" y="553"/>
                      <a:pt x="311" y="553"/>
                      <a:pt x="305" y="554"/>
                    </a:cubicBezTo>
                    <a:lnTo>
                      <a:pt x="240" y="570"/>
                    </a:lnTo>
                    <a:lnTo>
                      <a:pt x="240" y="111"/>
                    </a:lnTo>
                    <a:cubicBezTo>
                      <a:pt x="240" y="87"/>
                      <a:pt x="260" y="66"/>
                      <a:pt x="285" y="66"/>
                    </a:cubicBezTo>
                    <a:lnTo>
                      <a:pt x="2013" y="66"/>
                    </a:lnTo>
                    <a:cubicBezTo>
                      <a:pt x="2038" y="66"/>
                      <a:pt x="2058" y="87"/>
                      <a:pt x="2058" y="111"/>
                    </a:cubicBezTo>
                    <a:lnTo>
                      <a:pt x="2058" y="570"/>
                    </a:lnTo>
                    <a:lnTo>
                      <a:pt x="1993" y="554"/>
                    </a:lnTo>
                    <a:cubicBezTo>
                      <a:pt x="1987" y="553"/>
                      <a:pt x="1981" y="553"/>
                      <a:pt x="1975" y="555"/>
                    </a:cubicBezTo>
                    <a:cubicBezTo>
                      <a:pt x="1781" y="615"/>
                      <a:pt x="1498" y="636"/>
                      <a:pt x="1315" y="643"/>
                    </a:cubicBezTo>
                    <a:cubicBezTo>
                      <a:pt x="1303" y="622"/>
                      <a:pt x="1281" y="608"/>
                      <a:pt x="1255" y="608"/>
                    </a:cubicBezTo>
                    <a:cubicBezTo>
                      <a:pt x="1217" y="608"/>
                      <a:pt x="1186" y="639"/>
                      <a:pt x="1186" y="677"/>
                    </a:cubicBezTo>
                    <a:cubicBezTo>
                      <a:pt x="1186" y="716"/>
                      <a:pt x="1217" y="747"/>
                      <a:pt x="1255" y="747"/>
                    </a:cubicBezTo>
                    <a:cubicBezTo>
                      <a:pt x="1282" y="747"/>
                      <a:pt x="1305" y="731"/>
                      <a:pt x="1317" y="709"/>
                    </a:cubicBezTo>
                    <a:cubicBezTo>
                      <a:pt x="1501" y="702"/>
                      <a:pt x="1785" y="682"/>
                      <a:pt x="1986" y="621"/>
                    </a:cubicBezTo>
                    <a:lnTo>
                      <a:pt x="2157" y="662"/>
                    </a:lnTo>
                    <a:cubicBezTo>
                      <a:pt x="2004" y="719"/>
                      <a:pt x="1662" y="819"/>
                      <a:pt x="1149" y="819"/>
                    </a:cubicBezTo>
                    <a:close/>
                    <a:moveTo>
                      <a:pt x="1976" y="901"/>
                    </a:moveTo>
                    <a:lnTo>
                      <a:pt x="1976" y="901"/>
                    </a:lnTo>
                    <a:cubicBezTo>
                      <a:pt x="1976" y="918"/>
                      <a:pt x="1963" y="931"/>
                      <a:pt x="1947" y="932"/>
                    </a:cubicBezTo>
                    <a:lnTo>
                      <a:pt x="1767" y="907"/>
                    </a:lnTo>
                    <a:cubicBezTo>
                      <a:pt x="1743" y="902"/>
                      <a:pt x="1730" y="891"/>
                      <a:pt x="1730" y="876"/>
                    </a:cubicBezTo>
                    <a:lnTo>
                      <a:pt x="1730" y="841"/>
                    </a:lnTo>
                    <a:cubicBezTo>
                      <a:pt x="1824" y="825"/>
                      <a:pt x="1906" y="807"/>
                      <a:pt x="1976" y="789"/>
                    </a:cubicBezTo>
                    <a:lnTo>
                      <a:pt x="1976" y="901"/>
                    </a:lnTo>
                    <a:close/>
                    <a:moveTo>
                      <a:pt x="1463" y="1079"/>
                    </a:moveTo>
                    <a:lnTo>
                      <a:pt x="1463" y="1079"/>
                    </a:lnTo>
                    <a:cubicBezTo>
                      <a:pt x="1463" y="1088"/>
                      <a:pt x="1459" y="1095"/>
                      <a:pt x="1453" y="1097"/>
                    </a:cubicBezTo>
                    <a:cubicBezTo>
                      <a:pt x="1444" y="1101"/>
                      <a:pt x="1432" y="1097"/>
                      <a:pt x="1422" y="1087"/>
                    </a:cubicBezTo>
                    <a:cubicBezTo>
                      <a:pt x="1389" y="1055"/>
                      <a:pt x="1335" y="1005"/>
                      <a:pt x="1334" y="1004"/>
                    </a:cubicBezTo>
                    <a:cubicBezTo>
                      <a:pt x="1309" y="983"/>
                      <a:pt x="1305" y="968"/>
                      <a:pt x="1305" y="942"/>
                    </a:cubicBezTo>
                    <a:lnTo>
                      <a:pt x="1305" y="883"/>
                    </a:lnTo>
                    <a:cubicBezTo>
                      <a:pt x="1360" y="881"/>
                      <a:pt x="1412" y="877"/>
                      <a:pt x="1463" y="873"/>
                    </a:cubicBezTo>
                    <a:lnTo>
                      <a:pt x="1463" y="1079"/>
                    </a:lnTo>
                    <a:close/>
                    <a:moveTo>
                      <a:pt x="993" y="942"/>
                    </a:moveTo>
                    <a:lnTo>
                      <a:pt x="993" y="942"/>
                    </a:lnTo>
                    <a:cubicBezTo>
                      <a:pt x="993" y="968"/>
                      <a:pt x="989" y="983"/>
                      <a:pt x="963" y="1005"/>
                    </a:cubicBezTo>
                    <a:cubicBezTo>
                      <a:pt x="963" y="1005"/>
                      <a:pt x="909" y="1055"/>
                      <a:pt x="876" y="1087"/>
                    </a:cubicBezTo>
                    <a:cubicBezTo>
                      <a:pt x="865" y="1097"/>
                      <a:pt x="854" y="1101"/>
                      <a:pt x="845" y="1097"/>
                    </a:cubicBezTo>
                    <a:cubicBezTo>
                      <a:pt x="839" y="1095"/>
                      <a:pt x="835" y="1088"/>
                      <a:pt x="835" y="1079"/>
                    </a:cubicBezTo>
                    <a:lnTo>
                      <a:pt x="835" y="873"/>
                    </a:lnTo>
                    <a:cubicBezTo>
                      <a:pt x="886" y="877"/>
                      <a:pt x="938" y="880"/>
                      <a:pt x="993" y="883"/>
                    </a:cubicBezTo>
                    <a:lnTo>
                      <a:pt x="993" y="942"/>
                    </a:lnTo>
                    <a:close/>
                    <a:moveTo>
                      <a:pt x="567" y="876"/>
                    </a:moveTo>
                    <a:lnTo>
                      <a:pt x="567" y="876"/>
                    </a:lnTo>
                    <a:cubicBezTo>
                      <a:pt x="567" y="891"/>
                      <a:pt x="555" y="902"/>
                      <a:pt x="531" y="907"/>
                    </a:cubicBezTo>
                    <a:lnTo>
                      <a:pt x="351" y="932"/>
                    </a:lnTo>
                    <a:cubicBezTo>
                      <a:pt x="335" y="931"/>
                      <a:pt x="322" y="918"/>
                      <a:pt x="322" y="901"/>
                    </a:cubicBezTo>
                    <a:lnTo>
                      <a:pt x="322" y="789"/>
                    </a:lnTo>
                    <a:cubicBezTo>
                      <a:pt x="392" y="807"/>
                      <a:pt x="474" y="825"/>
                      <a:pt x="567" y="841"/>
                    </a:cubicBezTo>
                    <a:lnTo>
                      <a:pt x="567" y="876"/>
                    </a:lnTo>
                    <a:close/>
                    <a:moveTo>
                      <a:pt x="2297" y="650"/>
                    </a:moveTo>
                    <a:lnTo>
                      <a:pt x="2297" y="650"/>
                    </a:lnTo>
                    <a:cubicBezTo>
                      <a:pt x="2295" y="636"/>
                      <a:pt x="2285" y="625"/>
                      <a:pt x="2271" y="621"/>
                    </a:cubicBezTo>
                    <a:lnTo>
                      <a:pt x="2125" y="586"/>
                    </a:lnTo>
                    <a:lnTo>
                      <a:pt x="2125" y="111"/>
                    </a:lnTo>
                    <a:cubicBezTo>
                      <a:pt x="2125" y="50"/>
                      <a:pt x="2075" y="0"/>
                      <a:pt x="2013" y="0"/>
                    </a:cubicBezTo>
                    <a:lnTo>
                      <a:pt x="285" y="0"/>
                    </a:lnTo>
                    <a:cubicBezTo>
                      <a:pt x="223" y="0"/>
                      <a:pt x="173" y="50"/>
                      <a:pt x="173" y="111"/>
                    </a:cubicBezTo>
                    <a:lnTo>
                      <a:pt x="173" y="586"/>
                    </a:lnTo>
                    <a:lnTo>
                      <a:pt x="27" y="621"/>
                    </a:lnTo>
                    <a:cubicBezTo>
                      <a:pt x="13" y="625"/>
                      <a:pt x="3" y="636"/>
                      <a:pt x="1" y="650"/>
                    </a:cubicBezTo>
                    <a:cubicBezTo>
                      <a:pt x="0" y="664"/>
                      <a:pt x="7" y="677"/>
                      <a:pt x="19" y="683"/>
                    </a:cubicBezTo>
                    <a:cubicBezTo>
                      <a:pt x="26" y="687"/>
                      <a:pt x="106" y="727"/>
                      <a:pt x="256" y="771"/>
                    </a:cubicBezTo>
                    <a:lnTo>
                      <a:pt x="256" y="901"/>
                    </a:lnTo>
                    <a:cubicBezTo>
                      <a:pt x="256" y="955"/>
                      <a:pt x="299" y="999"/>
                      <a:pt x="353" y="999"/>
                    </a:cubicBezTo>
                    <a:lnTo>
                      <a:pt x="355" y="999"/>
                    </a:lnTo>
                    <a:lnTo>
                      <a:pt x="541" y="973"/>
                    </a:lnTo>
                    <a:lnTo>
                      <a:pt x="543" y="972"/>
                    </a:lnTo>
                    <a:cubicBezTo>
                      <a:pt x="599" y="961"/>
                      <a:pt x="634" y="924"/>
                      <a:pt x="634" y="876"/>
                    </a:cubicBezTo>
                    <a:lnTo>
                      <a:pt x="634" y="851"/>
                    </a:lnTo>
                    <a:cubicBezTo>
                      <a:pt x="677" y="857"/>
                      <a:pt x="722" y="862"/>
                      <a:pt x="769" y="867"/>
                    </a:cubicBezTo>
                    <a:lnTo>
                      <a:pt x="769" y="1079"/>
                    </a:lnTo>
                    <a:cubicBezTo>
                      <a:pt x="769" y="1115"/>
                      <a:pt x="788" y="1146"/>
                      <a:pt x="819" y="1159"/>
                    </a:cubicBezTo>
                    <a:cubicBezTo>
                      <a:pt x="830" y="1163"/>
                      <a:pt x="840" y="1165"/>
                      <a:pt x="852" y="1165"/>
                    </a:cubicBezTo>
                    <a:cubicBezTo>
                      <a:pt x="876" y="1165"/>
                      <a:pt x="902" y="1155"/>
                      <a:pt x="922" y="1135"/>
                    </a:cubicBezTo>
                    <a:cubicBezTo>
                      <a:pt x="955" y="1103"/>
                      <a:pt x="1008" y="1055"/>
                      <a:pt x="1008" y="1055"/>
                    </a:cubicBezTo>
                    <a:cubicBezTo>
                      <a:pt x="1045" y="1023"/>
                      <a:pt x="1060" y="990"/>
                      <a:pt x="1060" y="942"/>
                    </a:cubicBezTo>
                    <a:lnTo>
                      <a:pt x="1060" y="885"/>
                    </a:lnTo>
                    <a:cubicBezTo>
                      <a:pt x="1089" y="885"/>
                      <a:pt x="1119" y="886"/>
                      <a:pt x="1149" y="886"/>
                    </a:cubicBezTo>
                    <a:cubicBezTo>
                      <a:pt x="1179" y="886"/>
                      <a:pt x="1209" y="885"/>
                      <a:pt x="1238" y="885"/>
                    </a:cubicBezTo>
                    <a:lnTo>
                      <a:pt x="1238" y="942"/>
                    </a:lnTo>
                    <a:cubicBezTo>
                      <a:pt x="1238" y="990"/>
                      <a:pt x="1253" y="1023"/>
                      <a:pt x="1289" y="1054"/>
                    </a:cubicBezTo>
                    <a:cubicBezTo>
                      <a:pt x="1290" y="1054"/>
                      <a:pt x="1343" y="1103"/>
                      <a:pt x="1375" y="1135"/>
                    </a:cubicBezTo>
                    <a:cubicBezTo>
                      <a:pt x="1396" y="1155"/>
                      <a:pt x="1422" y="1165"/>
                      <a:pt x="1446" y="1165"/>
                    </a:cubicBezTo>
                    <a:cubicBezTo>
                      <a:pt x="1457" y="1165"/>
                      <a:pt x="1468" y="1163"/>
                      <a:pt x="1479" y="1159"/>
                    </a:cubicBezTo>
                    <a:cubicBezTo>
                      <a:pt x="1510" y="1146"/>
                      <a:pt x="1529" y="1115"/>
                      <a:pt x="1529" y="1079"/>
                    </a:cubicBezTo>
                    <a:lnTo>
                      <a:pt x="1529" y="867"/>
                    </a:lnTo>
                    <a:cubicBezTo>
                      <a:pt x="1576" y="862"/>
                      <a:pt x="1621" y="857"/>
                      <a:pt x="1664" y="851"/>
                    </a:cubicBezTo>
                    <a:lnTo>
                      <a:pt x="1664" y="876"/>
                    </a:lnTo>
                    <a:cubicBezTo>
                      <a:pt x="1664" y="924"/>
                      <a:pt x="1699" y="961"/>
                      <a:pt x="1755" y="972"/>
                    </a:cubicBezTo>
                    <a:lnTo>
                      <a:pt x="1940" y="998"/>
                    </a:lnTo>
                    <a:lnTo>
                      <a:pt x="1945" y="999"/>
                    </a:lnTo>
                    <a:cubicBezTo>
                      <a:pt x="1999" y="999"/>
                      <a:pt x="2042" y="955"/>
                      <a:pt x="2042" y="901"/>
                    </a:cubicBezTo>
                    <a:lnTo>
                      <a:pt x="2042" y="771"/>
                    </a:lnTo>
                    <a:cubicBezTo>
                      <a:pt x="2192" y="727"/>
                      <a:pt x="2272" y="687"/>
                      <a:pt x="2279" y="683"/>
                    </a:cubicBezTo>
                    <a:cubicBezTo>
                      <a:pt x="2291" y="677"/>
                      <a:pt x="2298" y="664"/>
                      <a:pt x="2297" y="65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70" name="组合 247"/>
          <p:cNvGrpSpPr>
            <a:grpSpLocks/>
          </p:cNvGrpSpPr>
          <p:nvPr/>
        </p:nvGrpSpPr>
        <p:grpSpPr bwMode="gray">
          <a:xfrm>
            <a:off x="2511742" y="5373437"/>
            <a:ext cx="504879" cy="504879"/>
            <a:chOff x="7069138" y="3554413"/>
            <a:chExt cx="1114425" cy="1117600"/>
          </a:xfrm>
        </p:grpSpPr>
        <p:sp>
          <p:nvSpPr>
            <p:cNvPr id="71" name="Freeform 35"/>
            <p:cNvSpPr>
              <a:spLocks/>
            </p:cNvSpPr>
            <p:nvPr/>
          </p:nvSpPr>
          <p:spPr bwMode="gray">
            <a:xfrm>
              <a:off x="7069138" y="3554413"/>
              <a:ext cx="1114425" cy="1117600"/>
            </a:xfrm>
            <a:custGeom>
              <a:avLst/>
              <a:gdLst>
                <a:gd name="T0" fmla="*/ 2147483647 w 2658"/>
                <a:gd name="T1" fmla="*/ 2147483647 h 2659"/>
                <a:gd name="T2" fmla="*/ 2147483647 w 2658"/>
                <a:gd name="T3" fmla="*/ 2147483647 h 2659"/>
                <a:gd name="T4" fmla="*/ 2147483647 w 2658"/>
                <a:gd name="T5" fmla="*/ 2147483647 h 2659"/>
                <a:gd name="T6" fmla="*/ 0 w 2658"/>
                <a:gd name="T7" fmla="*/ 2147483647 h 2659"/>
                <a:gd name="T8" fmla="*/ 2147483647 w 2658"/>
                <a:gd name="T9" fmla="*/ 0 h 2659"/>
                <a:gd name="T10" fmla="*/ 2147483647 w 2658"/>
                <a:gd name="T11" fmla="*/ 2147483647 h 2659"/>
                <a:gd name="T12" fmla="*/ 0 60000 65536"/>
                <a:gd name="T13" fmla="*/ 0 60000 65536"/>
                <a:gd name="T14" fmla="*/ 0 60000 65536"/>
                <a:gd name="T15" fmla="*/ 0 60000 65536"/>
                <a:gd name="T16" fmla="*/ 0 60000 65536"/>
                <a:gd name="T17" fmla="*/ 0 60000 65536"/>
                <a:gd name="T18" fmla="*/ 0 w 2658"/>
                <a:gd name="T19" fmla="*/ 0 h 2659"/>
                <a:gd name="T20" fmla="*/ 2658 w 2658"/>
                <a:gd name="T21" fmla="*/ 2659 h 2659"/>
              </a:gdLst>
              <a:ahLst/>
              <a:cxnLst>
                <a:cxn ang="T12">
                  <a:pos x="T0" y="T1"/>
                </a:cxn>
                <a:cxn ang="T13">
                  <a:pos x="T2" y="T3"/>
                </a:cxn>
                <a:cxn ang="T14">
                  <a:pos x="T4" y="T5"/>
                </a:cxn>
                <a:cxn ang="T15">
                  <a:pos x="T6" y="T7"/>
                </a:cxn>
                <a:cxn ang="T16">
                  <a:pos x="T8" y="T9"/>
                </a:cxn>
                <a:cxn ang="T17">
                  <a:pos x="T10" y="T11"/>
                </a:cxn>
              </a:cxnLst>
              <a:rect l="T18" t="T19" r="T20" b="T21"/>
              <a:pathLst>
                <a:path w="2658" h="2659">
                  <a:moveTo>
                    <a:pt x="2658" y="1329"/>
                  </a:moveTo>
                  <a:lnTo>
                    <a:pt x="2658" y="1329"/>
                  </a:lnTo>
                  <a:cubicBezTo>
                    <a:pt x="2658" y="2064"/>
                    <a:pt x="2063" y="2659"/>
                    <a:pt x="1329" y="2659"/>
                  </a:cubicBezTo>
                  <a:cubicBezTo>
                    <a:pt x="595" y="2659"/>
                    <a:pt x="0" y="2064"/>
                    <a:pt x="0" y="1329"/>
                  </a:cubicBezTo>
                  <a:cubicBezTo>
                    <a:pt x="0" y="595"/>
                    <a:pt x="595" y="0"/>
                    <a:pt x="1329" y="0"/>
                  </a:cubicBezTo>
                  <a:cubicBezTo>
                    <a:pt x="2063" y="0"/>
                    <a:pt x="2658" y="595"/>
                    <a:pt x="2658" y="1329"/>
                  </a:cubicBezTo>
                  <a:close/>
                </a:path>
              </a:pathLst>
            </a:custGeom>
            <a:solidFill>
              <a:srgbClr val="8BC9A0"/>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2" name="组合 233"/>
            <p:cNvGrpSpPr>
              <a:grpSpLocks/>
            </p:cNvGrpSpPr>
            <p:nvPr/>
          </p:nvGrpSpPr>
          <p:grpSpPr bwMode="gray">
            <a:xfrm>
              <a:off x="7288213" y="3895726"/>
              <a:ext cx="674687" cy="434975"/>
              <a:chOff x="7288213" y="3895726"/>
              <a:chExt cx="674687" cy="434975"/>
            </a:xfrm>
          </p:grpSpPr>
          <p:sp>
            <p:nvSpPr>
              <p:cNvPr id="73" name="Freeform 219"/>
              <p:cNvSpPr>
                <a:spLocks noEditPoints="1"/>
              </p:cNvSpPr>
              <p:nvPr/>
            </p:nvSpPr>
            <p:spPr bwMode="gray">
              <a:xfrm>
                <a:off x="7288213" y="3895726"/>
                <a:ext cx="623888" cy="419100"/>
              </a:xfrm>
              <a:custGeom>
                <a:avLst/>
                <a:gdLst>
                  <a:gd name="T0" fmla="*/ 2147483647 w 1486"/>
                  <a:gd name="T1" fmla="*/ 2147483647 h 997"/>
                  <a:gd name="T2" fmla="*/ 2147483647 w 1486"/>
                  <a:gd name="T3" fmla="*/ 2147483647 h 997"/>
                  <a:gd name="T4" fmla="*/ 2147483647 w 1486"/>
                  <a:gd name="T5" fmla="*/ 2147483647 h 997"/>
                  <a:gd name="T6" fmla="*/ 2147483647 w 1486"/>
                  <a:gd name="T7" fmla="*/ 2147483647 h 997"/>
                  <a:gd name="T8" fmla="*/ 2147483647 w 1486"/>
                  <a:gd name="T9" fmla="*/ 2147483647 h 997"/>
                  <a:gd name="T10" fmla="*/ 2147483647 w 1486"/>
                  <a:gd name="T11" fmla="*/ 2147483647 h 997"/>
                  <a:gd name="T12" fmla="*/ 2147483647 w 1486"/>
                  <a:gd name="T13" fmla="*/ 2147483647 h 997"/>
                  <a:gd name="T14" fmla="*/ 2147483647 w 1486"/>
                  <a:gd name="T15" fmla="*/ 2147483647 h 997"/>
                  <a:gd name="T16" fmla="*/ 2147483647 w 1486"/>
                  <a:gd name="T17" fmla="*/ 2147483647 h 997"/>
                  <a:gd name="T18" fmla="*/ 2147483647 w 1486"/>
                  <a:gd name="T19" fmla="*/ 2147483647 h 997"/>
                  <a:gd name="T20" fmla="*/ 2147483647 w 1486"/>
                  <a:gd name="T21" fmla="*/ 2147483647 h 997"/>
                  <a:gd name="T22" fmla="*/ 2147483647 w 1486"/>
                  <a:gd name="T23" fmla="*/ 2147483647 h 997"/>
                  <a:gd name="T24" fmla="*/ 2147483647 w 1486"/>
                  <a:gd name="T25" fmla="*/ 2147483647 h 997"/>
                  <a:gd name="T26" fmla="*/ 2147483647 w 1486"/>
                  <a:gd name="T27" fmla="*/ 2147483647 h 997"/>
                  <a:gd name="T28" fmla="*/ 2147483647 w 1486"/>
                  <a:gd name="T29" fmla="*/ 2147483647 h 997"/>
                  <a:gd name="T30" fmla="*/ 2147483647 w 1486"/>
                  <a:gd name="T31" fmla="*/ 2147483647 h 997"/>
                  <a:gd name="T32" fmla="*/ 2147483647 w 1486"/>
                  <a:gd name="T33" fmla="*/ 2147483647 h 997"/>
                  <a:gd name="T34" fmla="*/ 2147483647 w 1486"/>
                  <a:gd name="T35" fmla="*/ 2147483647 h 997"/>
                  <a:gd name="T36" fmla="*/ 2147483647 w 1486"/>
                  <a:gd name="T37" fmla="*/ 2147483647 h 997"/>
                  <a:gd name="T38" fmla="*/ 2147483647 w 1486"/>
                  <a:gd name="T39" fmla="*/ 2147483647 h 997"/>
                  <a:gd name="T40" fmla="*/ 2147483647 w 1486"/>
                  <a:gd name="T41" fmla="*/ 2147483647 h 997"/>
                  <a:gd name="T42" fmla="*/ 2147483647 w 1486"/>
                  <a:gd name="T43" fmla="*/ 2147483647 h 997"/>
                  <a:gd name="T44" fmla="*/ 2147483647 w 1486"/>
                  <a:gd name="T45" fmla="*/ 2147483647 h 997"/>
                  <a:gd name="T46" fmla="*/ 2147483647 w 1486"/>
                  <a:gd name="T47" fmla="*/ 2147483647 h 997"/>
                  <a:gd name="T48" fmla="*/ 2147483647 w 1486"/>
                  <a:gd name="T49" fmla="*/ 222822901 h 997"/>
                  <a:gd name="T50" fmla="*/ 2146073538 w 1486"/>
                  <a:gd name="T51" fmla="*/ 2147483647 h 997"/>
                  <a:gd name="T52" fmla="*/ 1406097026 w 1486"/>
                  <a:gd name="T53" fmla="*/ 2147483647 h 997"/>
                  <a:gd name="T54" fmla="*/ 2147483647 w 1486"/>
                  <a:gd name="T55" fmla="*/ 2147483647 h 997"/>
                  <a:gd name="T56" fmla="*/ 2147483647 w 1486"/>
                  <a:gd name="T57" fmla="*/ 2147483647 h 997"/>
                  <a:gd name="T58" fmla="*/ 2147483647 w 1486"/>
                  <a:gd name="T59" fmla="*/ 2147483647 h 997"/>
                  <a:gd name="T60" fmla="*/ 2147483647 w 1486"/>
                  <a:gd name="T61" fmla="*/ 2147483647 h 997"/>
                  <a:gd name="T62" fmla="*/ 2147483647 w 1486"/>
                  <a:gd name="T63" fmla="*/ 2147483647 h 997"/>
                  <a:gd name="T64" fmla="*/ 2147483647 w 1486"/>
                  <a:gd name="T65" fmla="*/ 2147483647 h 997"/>
                  <a:gd name="T66" fmla="*/ 2147483647 w 1486"/>
                  <a:gd name="T67" fmla="*/ 2147483647 h 997"/>
                  <a:gd name="T68" fmla="*/ 2147483647 w 1486"/>
                  <a:gd name="T69" fmla="*/ 2147483647 h 997"/>
                  <a:gd name="T70" fmla="*/ 2147483647 w 1486"/>
                  <a:gd name="T71" fmla="*/ 2147483647 h 99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486"/>
                  <a:gd name="T109" fmla="*/ 0 h 997"/>
                  <a:gd name="T110" fmla="*/ 1486 w 1486"/>
                  <a:gd name="T111" fmla="*/ 997 h 99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486" h="997">
                    <a:moveTo>
                      <a:pt x="1257" y="389"/>
                    </a:moveTo>
                    <a:lnTo>
                      <a:pt x="1257" y="389"/>
                    </a:lnTo>
                    <a:lnTo>
                      <a:pt x="1079" y="419"/>
                    </a:lnTo>
                    <a:lnTo>
                      <a:pt x="779" y="471"/>
                    </a:lnTo>
                    <a:lnTo>
                      <a:pt x="498" y="520"/>
                    </a:lnTo>
                    <a:cubicBezTo>
                      <a:pt x="516" y="464"/>
                      <a:pt x="504" y="396"/>
                      <a:pt x="493" y="354"/>
                    </a:cubicBezTo>
                    <a:lnTo>
                      <a:pt x="1377" y="185"/>
                    </a:lnTo>
                    <a:cubicBezTo>
                      <a:pt x="1396" y="328"/>
                      <a:pt x="1275" y="381"/>
                      <a:pt x="1257" y="389"/>
                    </a:cubicBezTo>
                    <a:close/>
                    <a:moveTo>
                      <a:pt x="935" y="739"/>
                    </a:moveTo>
                    <a:lnTo>
                      <a:pt x="935" y="739"/>
                    </a:lnTo>
                    <a:cubicBezTo>
                      <a:pt x="871" y="739"/>
                      <a:pt x="818" y="687"/>
                      <a:pt x="818" y="623"/>
                    </a:cubicBezTo>
                    <a:lnTo>
                      <a:pt x="818" y="532"/>
                    </a:lnTo>
                    <a:lnTo>
                      <a:pt x="1052" y="492"/>
                    </a:lnTo>
                    <a:lnTo>
                      <a:pt x="1052" y="623"/>
                    </a:lnTo>
                    <a:cubicBezTo>
                      <a:pt x="1052" y="687"/>
                      <a:pt x="999" y="739"/>
                      <a:pt x="935" y="739"/>
                    </a:cubicBezTo>
                    <a:close/>
                    <a:moveTo>
                      <a:pt x="305" y="515"/>
                    </a:moveTo>
                    <a:lnTo>
                      <a:pt x="305" y="515"/>
                    </a:lnTo>
                    <a:cubicBezTo>
                      <a:pt x="268" y="481"/>
                      <a:pt x="259" y="415"/>
                      <a:pt x="258" y="371"/>
                    </a:cubicBezTo>
                    <a:cubicBezTo>
                      <a:pt x="273" y="372"/>
                      <a:pt x="287" y="373"/>
                      <a:pt x="302" y="373"/>
                    </a:cubicBezTo>
                    <a:cubicBezTo>
                      <a:pt x="301" y="379"/>
                      <a:pt x="300" y="386"/>
                      <a:pt x="300" y="392"/>
                    </a:cubicBezTo>
                    <a:cubicBezTo>
                      <a:pt x="300" y="448"/>
                      <a:pt x="345" y="493"/>
                      <a:pt x="401" y="493"/>
                    </a:cubicBezTo>
                    <a:cubicBezTo>
                      <a:pt x="414" y="493"/>
                      <a:pt x="427" y="491"/>
                      <a:pt x="438" y="487"/>
                    </a:cubicBezTo>
                    <a:cubicBezTo>
                      <a:pt x="436" y="495"/>
                      <a:pt x="434" y="502"/>
                      <a:pt x="431" y="509"/>
                    </a:cubicBezTo>
                    <a:cubicBezTo>
                      <a:pt x="425" y="522"/>
                      <a:pt x="415" y="531"/>
                      <a:pt x="402" y="536"/>
                    </a:cubicBezTo>
                    <a:cubicBezTo>
                      <a:pt x="360" y="543"/>
                      <a:pt x="328" y="536"/>
                      <a:pt x="305" y="515"/>
                    </a:cubicBezTo>
                    <a:close/>
                    <a:moveTo>
                      <a:pt x="1394" y="68"/>
                    </a:moveTo>
                    <a:lnTo>
                      <a:pt x="1394" y="68"/>
                    </a:lnTo>
                    <a:cubicBezTo>
                      <a:pt x="1405" y="74"/>
                      <a:pt x="1407" y="80"/>
                      <a:pt x="1408" y="83"/>
                    </a:cubicBezTo>
                    <a:cubicBezTo>
                      <a:pt x="1411" y="91"/>
                      <a:pt x="1408" y="103"/>
                      <a:pt x="1405" y="112"/>
                    </a:cubicBezTo>
                    <a:lnTo>
                      <a:pt x="1397" y="113"/>
                    </a:lnTo>
                    <a:cubicBezTo>
                      <a:pt x="1397" y="113"/>
                      <a:pt x="1397" y="113"/>
                      <a:pt x="1397" y="113"/>
                    </a:cubicBezTo>
                    <a:lnTo>
                      <a:pt x="1395" y="113"/>
                    </a:lnTo>
                    <a:lnTo>
                      <a:pt x="374" y="302"/>
                    </a:lnTo>
                    <a:cubicBezTo>
                      <a:pt x="353" y="305"/>
                      <a:pt x="331" y="306"/>
                      <a:pt x="309" y="306"/>
                    </a:cubicBezTo>
                    <a:cubicBezTo>
                      <a:pt x="252" y="306"/>
                      <a:pt x="200" y="296"/>
                      <a:pt x="157" y="284"/>
                    </a:cubicBezTo>
                    <a:lnTo>
                      <a:pt x="1394" y="68"/>
                    </a:lnTo>
                    <a:close/>
                    <a:moveTo>
                      <a:pt x="435" y="400"/>
                    </a:moveTo>
                    <a:lnTo>
                      <a:pt x="435" y="400"/>
                    </a:lnTo>
                    <a:cubicBezTo>
                      <a:pt x="431" y="415"/>
                      <a:pt x="418" y="427"/>
                      <a:pt x="401" y="427"/>
                    </a:cubicBezTo>
                    <a:cubicBezTo>
                      <a:pt x="382" y="427"/>
                      <a:pt x="367" y="411"/>
                      <a:pt x="367" y="392"/>
                    </a:cubicBezTo>
                    <a:cubicBezTo>
                      <a:pt x="367" y="383"/>
                      <a:pt x="371" y="375"/>
                      <a:pt x="377" y="368"/>
                    </a:cubicBezTo>
                    <a:cubicBezTo>
                      <a:pt x="380" y="368"/>
                      <a:pt x="382" y="368"/>
                      <a:pt x="385" y="367"/>
                    </a:cubicBezTo>
                    <a:lnTo>
                      <a:pt x="425" y="360"/>
                    </a:lnTo>
                    <a:cubicBezTo>
                      <a:pt x="428" y="371"/>
                      <a:pt x="432" y="385"/>
                      <a:pt x="435" y="400"/>
                    </a:cubicBezTo>
                    <a:close/>
                    <a:moveTo>
                      <a:pt x="1442" y="171"/>
                    </a:moveTo>
                    <a:lnTo>
                      <a:pt x="1442" y="171"/>
                    </a:lnTo>
                    <a:cubicBezTo>
                      <a:pt x="1448" y="168"/>
                      <a:pt x="1453" y="164"/>
                      <a:pt x="1456" y="159"/>
                    </a:cubicBezTo>
                    <a:cubicBezTo>
                      <a:pt x="1459" y="154"/>
                      <a:pt x="1486" y="108"/>
                      <a:pt x="1471" y="62"/>
                    </a:cubicBezTo>
                    <a:cubicBezTo>
                      <a:pt x="1465" y="43"/>
                      <a:pt x="1449" y="18"/>
                      <a:pt x="1410" y="3"/>
                    </a:cubicBezTo>
                    <a:cubicBezTo>
                      <a:pt x="1404" y="0"/>
                      <a:pt x="1398" y="0"/>
                      <a:pt x="1392" y="1"/>
                    </a:cubicBezTo>
                    <a:lnTo>
                      <a:pt x="29" y="238"/>
                    </a:lnTo>
                    <a:cubicBezTo>
                      <a:pt x="16" y="241"/>
                      <a:pt x="5" y="252"/>
                      <a:pt x="2" y="266"/>
                    </a:cubicBezTo>
                    <a:cubicBezTo>
                      <a:pt x="0" y="280"/>
                      <a:pt x="7" y="293"/>
                      <a:pt x="19" y="300"/>
                    </a:cubicBezTo>
                    <a:cubicBezTo>
                      <a:pt x="23" y="303"/>
                      <a:pt x="92" y="341"/>
                      <a:pt x="192" y="361"/>
                    </a:cubicBezTo>
                    <a:cubicBezTo>
                      <a:pt x="191" y="410"/>
                      <a:pt x="199" y="507"/>
                      <a:pt x="259" y="563"/>
                    </a:cubicBezTo>
                    <a:cubicBezTo>
                      <a:pt x="289" y="591"/>
                      <a:pt x="327" y="605"/>
                      <a:pt x="373" y="605"/>
                    </a:cubicBezTo>
                    <a:cubicBezTo>
                      <a:pt x="387" y="605"/>
                      <a:pt x="402" y="604"/>
                      <a:pt x="417" y="602"/>
                    </a:cubicBezTo>
                    <a:lnTo>
                      <a:pt x="752" y="544"/>
                    </a:lnTo>
                    <a:lnTo>
                      <a:pt x="752" y="623"/>
                    </a:lnTo>
                    <a:cubicBezTo>
                      <a:pt x="752" y="714"/>
                      <a:pt x="818" y="789"/>
                      <a:pt x="905" y="803"/>
                    </a:cubicBezTo>
                    <a:cubicBezTo>
                      <a:pt x="917" y="864"/>
                      <a:pt x="966" y="945"/>
                      <a:pt x="1092" y="958"/>
                    </a:cubicBezTo>
                    <a:cubicBezTo>
                      <a:pt x="1104" y="981"/>
                      <a:pt x="1127" y="997"/>
                      <a:pt x="1154" y="997"/>
                    </a:cubicBezTo>
                    <a:cubicBezTo>
                      <a:pt x="1192" y="997"/>
                      <a:pt x="1223" y="965"/>
                      <a:pt x="1223" y="927"/>
                    </a:cubicBezTo>
                    <a:cubicBezTo>
                      <a:pt x="1223" y="889"/>
                      <a:pt x="1192" y="858"/>
                      <a:pt x="1154" y="858"/>
                    </a:cubicBezTo>
                    <a:cubicBezTo>
                      <a:pt x="1128" y="858"/>
                      <a:pt x="1106" y="871"/>
                      <a:pt x="1094" y="892"/>
                    </a:cubicBezTo>
                    <a:cubicBezTo>
                      <a:pt x="1011" y="881"/>
                      <a:pt x="983" y="834"/>
                      <a:pt x="973" y="802"/>
                    </a:cubicBezTo>
                    <a:cubicBezTo>
                      <a:pt x="1056" y="784"/>
                      <a:pt x="1118" y="711"/>
                      <a:pt x="1118" y="623"/>
                    </a:cubicBezTo>
                    <a:lnTo>
                      <a:pt x="1118" y="480"/>
                    </a:lnTo>
                    <a:lnTo>
                      <a:pt x="1271" y="454"/>
                    </a:lnTo>
                    <a:cubicBezTo>
                      <a:pt x="1273" y="454"/>
                      <a:pt x="1275" y="453"/>
                      <a:pt x="1276" y="452"/>
                    </a:cubicBezTo>
                    <a:cubicBezTo>
                      <a:pt x="1348" y="428"/>
                      <a:pt x="1468" y="338"/>
                      <a:pt x="1442" y="171"/>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Freeform 220"/>
              <p:cNvSpPr>
                <a:spLocks/>
              </p:cNvSpPr>
              <p:nvPr/>
            </p:nvSpPr>
            <p:spPr bwMode="gray">
              <a:xfrm>
                <a:off x="7832725" y="4240213"/>
                <a:ext cx="130175" cy="90488"/>
              </a:xfrm>
              <a:custGeom>
                <a:avLst/>
                <a:gdLst>
                  <a:gd name="T0" fmla="*/ 2147483647 w 312"/>
                  <a:gd name="T1" fmla="*/ 2147483647 h 215"/>
                  <a:gd name="T2" fmla="*/ 2147483647 w 312"/>
                  <a:gd name="T3" fmla="*/ 2147483647 h 215"/>
                  <a:gd name="T4" fmla="*/ 2147483647 w 312"/>
                  <a:gd name="T5" fmla="*/ 2147483647 h 215"/>
                  <a:gd name="T6" fmla="*/ 2147483647 w 312"/>
                  <a:gd name="T7" fmla="*/ 2147483647 h 215"/>
                  <a:gd name="T8" fmla="*/ 2147483647 w 312"/>
                  <a:gd name="T9" fmla="*/ 2147483647 h 215"/>
                  <a:gd name="T10" fmla="*/ 0 w 312"/>
                  <a:gd name="T11" fmla="*/ 2147483647 h 215"/>
                  <a:gd name="T12" fmla="*/ 2147483647 w 312"/>
                  <a:gd name="T13" fmla="*/ 2147483647 h 215"/>
                  <a:gd name="T14" fmla="*/ 2147483647 w 312"/>
                  <a:gd name="T15" fmla="*/ 2147483647 h 215"/>
                  <a:gd name="T16" fmla="*/ 2147483647 w 312"/>
                  <a:gd name="T17" fmla="*/ 2147483647 h 215"/>
                  <a:gd name="T18" fmla="*/ 2147483647 w 312"/>
                  <a:gd name="T19" fmla="*/ 2147483647 h 215"/>
                  <a:gd name="T20" fmla="*/ 2147483647 w 312"/>
                  <a:gd name="T21" fmla="*/ 2147483647 h 215"/>
                  <a:gd name="T22" fmla="*/ 2147483647 w 312"/>
                  <a:gd name="T23" fmla="*/ 0 h 215"/>
                  <a:gd name="T24" fmla="*/ 2147483647 w 312"/>
                  <a:gd name="T25" fmla="*/ 2147483647 h 2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2"/>
                  <a:gd name="T40" fmla="*/ 0 h 215"/>
                  <a:gd name="T41" fmla="*/ 312 w 312"/>
                  <a:gd name="T42" fmla="*/ 215 h 21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2" h="215">
                    <a:moveTo>
                      <a:pt x="210" y="74"/>
                    </a:moveTo>
                    <a:lnTo>
                      <a:pt x="210" y="74"/>
                    </a:lnTo>
                    <a:cubicBezTo>
                      <a:pt x="208" y="74"/>
                      <a:pt x="206" y="74"/>
                      <a:pt x="205" y="74"/>
                    </a:cubicBezTo>
                    <a:lnTo>
                      <a:pt x="130" y="74"/>
                    </a:lnTo>
                    <a:cubicBezTo>
                      <a:pt x="118" y="52"/>
                      <a:pt x="95" y="38"/>
                      <a:pt x="69" y="38"/>
                    </a:cubicBezTo>
                    <a:cubicBezTo>
                      <a:pt x="31" y="38"/>
                      <a:pt x="0" y="69"/>
                      <a:pt x="0" y="107"/>
                    </a:cubicBezTo>
                    <a:cubicBezTo>
                      <a:pt x="0" y="145"/>
                      <a:pt x="31" y="177"/>
                      <a:pt x="69" y="177"/>
                    </a:cubicBezTo>
                    <a:cubicBezTo>
                      <a:pt x="95" y="177"/>
                      <a:pt x="118" y="162"/>
                      <a:pt x="130" y="140"/>
                    </a:cubicBezTo>
                    <a:lnTo>
                      <a:pt x="205" y="140"/>
                    </a:lnTo>
                    <a:cubicBezTo>
                      <a:pt x="206" y="140"/>
                      <a:pt x="208" y="140"/>
                      <a:pt x="210" y="140"/>
                    </a:cubicBezTo>
                    <a:cubicBezTo>
                      <a:pt x="224" y="183"/>
                      <a:pt x="264" y="215"/>
                      <a:pt x="312" y="215"/>
                    </a:cubicBezTo>
                    <a:lnTo>
                      <a:pt x="312" y="0"/>
                    </a:lnTo>
                    <a:cubicBezTo>
                      <a:pt x="264" y="0"/>
                      <a:pt x="224" y="31"/>
                      <a:pt x="210" y="74"/>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grpSp>
        <p:nvGrpSpPr>
          <p:cNvPr id="75" name="组合 212"/>
          <p:cNvGrpSpPr>
            <a:grpSpLocks/>
          </p:cNvGrpSpPr>
          <p:nvPr/>
        </p:nvGrpSpPr>
        <p:grpSpPr bwMode="gray">
          <a:xfrm>
            <a:off x="883547" y="5373437"/>
            <a:ext cx="504879" cy="504879"/>
            <a:chOff x="1639888" y="560388"/>
            <a:chExt cx="1114425" cy="1116013"/>
          </a:xfrm>
        </p:grpSpPr>
        <p:sp>
          <p:nvSpPr>
            <p:cNvPr id="76" name="Freeform 39"/>
            <p:cNvSpPr>
              <a:spLocks/>
            </p:cNvSpPr>
            <p:nvPr/>
          </p:nvSpPr>
          <p:spPr bwMode="gray">
            <a:xfrm>
              <a:off x="1639888" y="560388"/>
              <a:ext cx="1114425" cy="1116013"/>
            </a:xfrm>
            <a:custGeom>
              <a:avLst/>
              <a:gdLst>
                <a:gd name="T0" fmla="*/ 2147483647 w 2659"/>
                <a:gd name="T1" fmla="*/ 2147483647 h 2659"/>
                <a:gd name="T2" fmla="*/ 2147483647 w 2659"/>
                <a:gd name="T3" fmla="*/ 2147483647 h 2659"/>
                <a:gd name="T4" fmla="*/ 2147483647 w 2659"/>
                <a:gd name="T5" fmla="*/ 2147483647 h 2659"/>
                <a:gd name="T6" fmla="*/ 0 w 2659"/>
                <a:gd name="T7" fmla="*/ 2147483647 h 2659"/>
                <a:gd name="T8" fmla="*/ 2147483647 w 2659"/>
                <a:gd name="T9" fmla="*/ 0 h 2659"/>
                <a:gd name="T10" fmla="*/ 2147483647 w 2659"/>
                <a:gd name="T11" fmla="*/ 2147483647 h 2659"/>
                <a:gd name="T12" fmla="*/ 0 60000 65536"/>
                <a:gd name="T13" fmla="*/ 0 60000 65536"/>
                <a:gd name="T14" fmla="*/ 0 60000 65536"/>
                <a:gd name="T15" fmla="*/ 0 60000 65536"/>
                <a:gd name="T16" fmla="*/ 0 60000 65536"/>
                <a:gd name="T17" fmla="*/ 0 60000 65536"/>
                <a:gd name="T18" fmla="*/ 0 w 2659"/>
                <a:gd name="T19" fmla="*/ 0 h 2659"/>
                <a:gd name="T20" fmla="*/ 2659 w 2659"/>
                <a:gd name="T21" fmla="*/ 2659 h 2659"/>
              </a:gdLst>
              <a:ahLst/>
              <a:cxnLst>
                <a:cxn ang="T12">
                  <a:pos x="T0" y="T1"/>
                </a:cxn>
                <a:cxn ang="T13">
                  <a:pos x="T2" y="T3"/>
                </a:cxn>
                <a:cxn ang="T14">
                  <a:pos x="T4" y="T5"/>
                </a:cxn>
                <a:cxn ang="T15">
                  <a:pos x="T6" y="T7"/>
                </a:cxn>
                <a:cxn ang="T16">
                  <a:pos x="T8" y="T9"/>
                </a:cxn>
                <a:cxn ang="T17">
                  <a:pos x="T10" y="T11"/>
                </a:cxn>
              </a:cxnLst>
              <a:rect l="T18" t="T19" r="T20" b="T21"/>
              <a:pathLst>
                <a:path w="2659" h="2659">
                  <a:moveTo>
                    <a:pt x="2659" y="1330"/>
                  </a:moveTo>
                  <a:lnTo>
                    <a:pt x="2659" y="1330"/>
                  </a:lnTo>
                  <a:cubicBezTo>
                    <a:pt x="2659" y="2064"/>
                    <a:pt x="2064" y="2659"/>
                    <a:pt x="1330" y="2659"/>
                  </a:cubicBezTo>
                  <a:cubicBezTo>
                    <a:pt x="595" y="2659"/>
                    <a:pt x="0" y="2064"/>
                    <a:pt x="0" y="1330"/>
                  </a:cubicBezTo>
                  <a:cubicBezTo>
                    <a:pt x="0" y="595"/>
                    <a:pt x="595" y="0"/>
                    <a:pt x="1330" y="0"/>
                  </a:cubicBezTo>
                  <a:cubicBezTo>
                    <a:pt x="2064" y="0"/>
                    <a:pt x="2659" y="595"/>
                    <a:pt x="2659" y="1330"/>
                  </a:cubicBezTo>
                  <a:close/>
                </a:path>
              </a:pathLst>
            </a:custGeom>
            <a:solidFill>
              <a:srgbClr val="56C4D2"/>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7" name="组合 193"/>
            <p:cNvGrpSpPr>
              <a:grpSpLocks/>
            </p:cNvGrpSpPr>
            <p:nvPr/>
          </p:nvGrpSpPr>
          <p:grpSpPr bwMode="gray">
            <a:xfrm>
              <a:off x="1836738" y="854075"/>
              <a:ext cx="720725" cy="528638"/>
              <a:chOff x="1836738" y="854075"/>
              <a:chExt cx="720725" cy="528638"/>
            </a:xfrm>
          </p:grpSpPr>
          <p:sp>
            <p:nvSpPr>
              <p:cNvPr id="78" name="Freeform 40"/>
              <p:cNvSpPr>
                <a:spLocks noEditPoints="1"/>
              </p:cNvSpPr>
              <p:nvPr/>
            </p:nvSpPr>
            <p:spPr bwMode="gray">
              <a:xfrm>
                <a:off x="2054225" y="854075"/>
                <a:ext cx="503238" cy="368300"/>
              </a:xfrm>
              <a:custGeom>
                <a:avLst/>
                <a:gdLst>
                  <a:gd name="T0" fmla="*/ 2147483647 w 1199"/>
                  <a:gd name="T1" fmla="*/ 2147483647 h 879"/>
                  <a:gd name="T2" fmla="*/ 2147483647 w 1199"/>
                  <a:gd name="T3" fmla="*/ 2147483647 h 879"/>
                  <a:gd name="T4" fmla="*/ 2147483647 w 1199"/>
                  <a:gd name="T5" fmla="*/ 2147483647 h 879"/>
                  <a:gd name="T6" fmla="*/ 2147483647 w 1199"/>
                  <a:gd name="T7" fmla="*/ 2147483647 h 879"/>
                  <a:gd name="T8" fmla="*/ 2147483647 w 1199"/>
                  <a:gd name="T9" fmla="*/ 2147483647 h 879"/>
                  <a:gd name="T10" fmla="*/ 2147483647 w 1199"/>
                  <a:gd name="T11" fmla="*/ 2147483647 h 879"/>
                  <a:gd name="T12" fmla="*/ 2147483647 w 1199"/>
                  <a:gd name="T13" fmla="*/ 2147483647 h 879"/>
                  <a:gd name="T14" fmla="*/ 2147483647 w 1199"/>
                  <a:gd name="T15" fmla="*/ 2147483647 h 879"/>
                  <a:gd name="T16" fmla="*/ 2147483647 w 1199"/>
                  <a:gd name="T17" fmla="*/ 2147483647 h 879"/>
                  <a:gd name="T18" fmla="*/ 2147483647 w 1199"/>
                  <a:gd name="T19" fmla="*/ 2147483647 h 879"/>
                  <a:gd name="T20" fmla="*/ 2147483647 w 1199"/>
                  <a:gd name="T21" fmla="*/ 0 h 879"/>
                  <a:gd name="T22" fmla="*/ 2147483647 w 1199"/>
                  <a:gd name="T23" fmla="*/ 0 h 879"/>
                  <a:gd name="T24" fmla="*/ 2147483647 w 1199"/>
                  <a:gd name="T25" fmla="*/ 0 h 879"/>
                  <a:gd name="T26" fmla="*/ 0 w 1199"/>
                  <a:gd name="T27" fmla="*/ 2147483647 h 879"/>
                  <a:gd name="T28" fmla="*/ 0 w 1199"/>
                  <a:gd name="T29" fmla="*/ 2147483647 h 879"/>
                  <a:gd name="T30" fmla="*/ 2147483647 w 1199"/>
                  <a:gd name="T31" fmla="*/ 2147483647 h 879"/>
                  <a:gd name="T32" fmla="*/ 2147483647 w 1199"/>
                  <a:gd name="T33" fmla="*/ 2147483647 h 879"/>
                  <a:gd name="T34" fmla="*/ 2147483647 w 1199"/>
                  <a:gd name="T35" fmla="*/ 2147483647 h 879"/>
                  <a:gd name="T36" fmla="*/ 2147483647 w 1199"/>
                  <a:gd name="T37" fmla="*/ 2147483647 h 879"/>
                  <a:gd name="T38" fmla="*/ 2147483647 w 1199"/>
                  <a:gd name="T39" fmla="*/ 0 h 87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99"/>
                  <a:gd name="T61" fmla="*/ 0 h 879"/>
                  <a:gd name="T62" fmla="*/ 1199 w 1199"/>
                  <a:gd name="T63" fmla="*/ 879 h 87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99" h="879">
                    <a:moveTo>
                      <a:pt x="1133" y="787"/>
                    </a:moveTo>
                    <a:lnTo>
                      <a:pt x="1133" y="787"/>
                    </a:lnTo>
                    <a:cubicBezTo>
                      <a:pt x="1133" y="801"/>
                      <a:pt x="1121" y="812"/>
                      <a:pt x="1108" y="812"/>
                    </a:cubicBezTo>
                    <a:lnTo>
                      <a:pt x="91" y="812"/>
                    </a:lnTo>
                    <a:cubicBezTo>
                      <a:pt x="78" y="812"/>
                      <a:pt x="67" y="801"/>
                      <a:pt x="67" y="787"/>
                    </a:cubicBezTo>
                    <a:lnTo>
                      <a:pt x="67" y="91"/>
                    </a:lnTo>
                    <a:cubicBezTo>
                      <a:pt x="67" y="77"/>
                      <a:pt x="78" y="66"/>
                      <a:pt x="91" y="66"/>
                    </a:cubicBezTo>
                    <a:lnTo>
                      <a:pt x="1108" y="66"/>
                    </a:lnTo>
                    <a:cubicBezTo>
                      <a:pt x="1121" y="66"/>
                      <a:pt x="1133" y="77"/>
                      <a:pt x="1133" y="91"/>
                    </a:cubicBezTo>
                    <a:lnTo>
                      <a:pt x="1133" y="787"/>
                    </a:lnTo>
                    <a:close/>
                    <a:moveTo>
                      <a:pt x="1108" y="0"/>
                    </a:moveTo>
                    <a:lnTo>
                      <a:pt x="1108" y="0"/>
                    </a:lnTo>
                    <a:lnTo>
                      <a:pt x="91" y="0"/>
                    </a:lnTo>
                    <a:cubicBezTo>
                      <a:pt x="41" y="0"/>
                      <a:pt x="0" y="41"/>
                      <a:pt x="0" y="91"/>
                    </a:cubicBezTo>
                    <a:lnTo>
                      <a:pt x="0" y="787"/>
                    </a:lnTo>
                    <a:cubicBezTo>
                      <a:pt x="0" y="838"/>
                      <a:pt x="41" y="879"/>
                      <a:pt x="91" y="879"/>
                    </a:cubicBezTo>
                    <a:lnTo>
                      <a:pt x="1108" y="879"/>
                    </a:lnTo>
                    <a:cubicBezTo>
                      <a:pt x="1158" y="879"/>
                      <a:pt x="1199" y="838"/>
                      <a:pt x="1199" y="787"/>
                    </a:cubicBezTo>
                    <a:lnTo>
                      <a:pt x="1199" y="91"/>
                    </a:lnTo>
                    <a:cubicBezTo>
                      <a:pt x="1199" y="41"/>
                      <a:pt x="1158" y="0"/>
                      <a:pt x="1108"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Freeform 41"/>
              <p:cNvSpPr>
                <a:spLocks/>
              </p:cNvSpPr>
              <p:nvPr/>
            </p:nvSpPr>
            <p:spPr bwMode="gray">
              <a:xfrm>
                <a:off x="2224088" y="1238250"/>
                <a:ext cx="161925" cy="26988"/>
              </a:xfrm>
              <a:custGeom>
                <a:avLst/>
                <a:gdLst>
                  <a:gd name="T0" fmla="*/ 2147483647 w 385"/>
                  <a:gd name="T1" fmla="*/ 2147483647 h 66"/>
                  <a:gd name="T2" fmla="*/ 2147483647 w 385"/>
                  <a:gd name="T3" fmla="*/ 2147483647 h 66"/>
                  <a:gd name="T4" fmla="*/ 2147483647 w 385"/>
                  <a:gd name="T5" fmla="*/ 2147483647 h 66"/>
                  <a:gd name="T6" fmla="*/ 2147483647 w 385"/>
                  <a:gd name="T7" fmla="*/ 0 h 66"/>
                  <a:gd name="T8" fmla="*/ 2147483647 w 385"/>
                  <a:gd name="T9" fmla="*/ 0 h 66"/>
                  <a:gd name="T10" fmla="*/ 0 w 385"/>
                  <a:gd name="T11" fmla="*/ 2147483647 h 66"/>
                  <a:gd name="T12" fmla="*/ 2147483647 w 385"/>
                  <a:gd name="T13" fmla="*/ 2147483647 h 66"/>
                  <a:gd name="T14" fmla="*/ 2147483647 w 385"/>
                  <a:gd name="T15" fmla="*/ 2147483647 h 66"/>
                  <a:gd name="T16" fmla="*/ 0 60000 65536"/>
                  <a:gd name="T17" fmla="*/ 0 60000 65536"/>
                  <a:gd name="T18" fmla="*/ 0 60000 65536"/>
                  <a:gd name="T19" fmla="*/ 0 60000 65536"/>
                  <a:gd name="T20" fmla="*/ 0 60000 65536"/>
                  <a:gd name="T21" fmla="*/ 0 60000 65536"/>
                  <a:gd name="T22" fmla="*/ 0 60000 65536"/>
                  <a:gd name="T23" fmla="*/ 0 60000 65536"/>
                  <a:gd name="T24" fmla="*/ 0 w 385"/>
                  <a:gd name="T25" fmla="*/ 0 h 66"/>
                  <a:gd name="T26" fmla="*/ 385 w 385"/>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5" h="66">
                    <a:moveTo>
                      <a:pt x="352" y="66"/>
                    </a:moveTo>
                    <a:lnTo>
                      <a:pt x="352" y="66"/>
                    </a:lnTo>
                    <a:cubicBezTo>
                      <a:pt x="370" y="66"/>
                      <a:pt x="385" y="52"/>
                      <a:pt x="385" y="33"/>
                    </a:cubicBezTo>
                    <a:cubicBezTo>
                      <a:pt x="385" y="15"/>
                      <a:pt x="370" y="0"/>
                      <a:pt x="352" y="0"/>
                    </a:cubicBezTo>
                    <a:lnTo>
                      <a:pt x="33" y="0"/>
                    </a:lnTo>
                    <a:cubicBezTo>
                      <a:pt x="15" y="0"/>
                      <a:pt x="0" y="15"/>
                      <a:pt x="0" y="33"/>
                    </a:cubicBezTo>
                    <a:cubicBezTo>
                      <a:pt x="0" y="52"/>
                      <a:pt x="15" y="66"/>
                      <a:pt x="33" y="66"/>
                    </a:cubicBezTo>
                    <a:lnTo>
                      <a:pt x="352" y="66"/>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Freeform 42"/>
              <p:cNvSpPr>
                <a:spLocks noEditPoints="1"/>
              </p:cNvSpPr>
              <p:nvPr/>
            </p:nvSpPr>
            <p:spPr bwMode="gray">
              <a:xfrm>
                <a:off x="2105025" y="900113"/>
                <a:ext cx="401638" cy="274638"/>
              </a:xfrm>
              <a:custGeom>
                <a:avLst/>
                <a:gdLst>
                  <a:gd name="T0" fmla="*/ 2147483647 w 957"/>
                  <a:gd name="T1" fmla="*/ 2147483647 h 653"/>
                  <a:gd name="T2" fmla="*/ 2147483647 w 957"/>
                  <a:gd name="T3" fmla="*/ 2147483647 h 653"/>
                  <a:gd name="T4" fmla="*/ 2147483647 w 957"/>
                  <a:gd name="T5" fmla="*/ 2147483647 h 653"/>
                  <a:gd name="T6" fmla="*/ 2147483647 w 957"/>
                  <a:gd name="T7" fmla="*/ 2147483647 h 653"/>
                  <a:gd name="T8" fmla="*/ 2147483647 w 957"/>
                  <a:gd name="T9" fmla="*/ 2147483647 h 653"/>
                  <a:gd name="T10" fmla="*/ 2147483647 w 957"/>
                  <a:gd name="T11" fmla="*/ 2147483647 h 653"/>
                  <a:gd name="T12" fmla="*/ 2147483647 w 957"/>
                  <a:gd name="T13" fmla="*/ 2147483647 h 653"/>
                  <a:gd name="T14" fmla="*/ 2147483647 w 957"/>
                  <a:gd name="T15" fmla="*/ 2147483647 h 653"/>
                  <a:gd name="T16" fmla="*/ 2147483647 w 957"/>
                  <a:gd name="T17" fmla="*/ 2147483647 h 653"/>
                  <a:gd name="T18" fmla="*/ 2147483647 w 957"/>
                  <a:gd name="T19" fmla="*/ 2147483647 h 653"/>
                  <a:gd name="T20" fmla="*/ 2147483647 w 957"/>
                  <a:gd name="T21" fmla="*/ 0 h 653"/>
                  <a:gd name="T22" fmla="*/ 2147483647 w 957"/>
                  <a:gd name="T23" fmla="*/ 0 h 653"/>
                  <a:gd name="T24" fmla="*/ 2147483647 w 957"/>
                  <a:gd name="T25" fmla="*/ 0 h 653"/>
                  <a:gd name="T26" fmla="*/ 0 w 957"/>
                  <a:gd name="T27" fmla="*/ 2147483647 h 653"/>
                  <a:gd name="T28" fmla="*/ 0 w 957"/>
                  <a:gd name="T29" fmla="*/ 2147483647 h 653"/>
                  <a:gd name="T30" fmla="*/ 2147483647 w 957"/>
                  <a:gd name="T31" fmla="*/ 2147483647 h 653"/>
                  <a:gd name="T32" fmla="*/ 2147483647 w 957"/>
                  <a:gd name="T33" fmla="*/ 2147483647 h 653"/>
                  <a:gd name="T34" fmla="*/ 2147483647 w 957"/>
                  <a:gd name="T35" fmla="*/ 2147483647 h 653"/>
                  <a:gd name="T36" fmla="*/ 2147483647 w 957"/>
                  <a:gd name="T37" fmla="*/ 2147483647 h 653"/>
                  <a:gd name="T38" fmla="*/ 2147483647 w 957"/>
                  <a:gd name="T39" fmla="*/ 0 h 6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57"/>
                  <a:gd name="T61" fmla="*/ 0 h 653"/>
                  <a:gd name="T62" fmla="*/ 957 w 957"/>
                  <a:gd name="T63" fmla="*/ 653 h 6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57" h="653">
                    <a:moveTo>
                      <a:pt x="917" y="580"/>
                    </a:moveTo>
                    <a:lnTo>
                      <a:pt x="917" y="580"/>
                    </a:lnTo>
                    <a:cubicBezTo>
                      <a:pt x="917" y="598"/>
                      <a:pt x="903" y="613"/>
                      <a:pt x="885" y="613"/>
                    </a:cubicBezTo>
                    <a:lnTo>
                      <a:pt x="72" y="613"/>
                    </a:lnTo>
                    <a:cubicBezTo>
                      <a:pt x="54" y="613"/>
                      <a:pt x="40" y="598"/>
                      <a:pt x="40" y="580"/>
                    </a:cubicBezTo>
                    <a:lnTo>
                      <a:pt x="40" y="72"/>
                    </a:lnTo>
                    <a:cubicBezTo>
                      <a:pt x="40" y="54"/>
                      <a:pt x="54" y="40"/>
                      <a:pt x="72" y="40"/>
                    </a:cubicBezTo>
                    <a:lnTo>
                      <a:pt x="885" y="40"/>
                    </a:lnTo>
                    <a:cubicBezTo>
                      <a:pt x="903" y="40"/>
                      <a:pt x="917" y="54"/>
                      <a:pt x="917" y="72"/>
                    </a:cubicBezTo>
                    <a:lnTo>
                      <a:pt x="917" y="580"/>
                    </a:lnTo>
                    <a:close/>
                    <a:moveTo>
                      <a:pt x="885" y="0"/>
                    </a:moveTo>
                    <a:lnTo>
                      <a:pt x="885" y="0"/>
                    </a:lnTo>
                    <a:lnTo>
                      <a:pt x="72" y="0"/>
                    </a:lnTo>
                    <a:cubicBezTo>
                      <a:pt x="32" y="0"/>
                      <a:pt x="0" y="32"/>
                      <a:pt x="0" y="72"/>
                    </a:cubicBezTo>
                    <a:lnTo>
                      <a:pt x="0" y="580"/>
                    </a:lnTo>
                    <a:cubicBezTo>
                      <a:pt x="0" y="620"/>
                      <a:pt x="32" y="653"/>
                      <a:pt x="72" y="653"/>
                    </a:cubicBezTo>
                    <a:lnTo>
                      <a:pt x="885" y="653"/>
                    </a:lnTo>
                    <a:cubicBezTo>
                      <a:pt x="925" y="653"/>
                      <a:pt x="957" y="620"/>
                      <a:pt x="957" y="580"/>
                    </a:cubicBezTo>
                    <a:lnTo>
                      <a:pt x="957" y="72"/>
                    </a:lnTo>
                    <a:cubicBezTo>
                      <a:pt x="957" y="32"/>
                      <a:pt x="925" y="0"/>
                      <a:pt x="885"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Freeform 43"/>
              <p:cNvSpPr>
                <a:spLocks/>
              </p:cNvSpPr>
              <p:nvPr/>
            </p:nvSpPr>
            <p:spPr bwMode="gray">
              <a:xfrm>
                <a:off x="2063750" y="1282700"/>
                <a:ext cx="482600" cy="100013"/>
              </a:xfrm>
              <a:custGeom>
                <a:avLst/>
                <a:gdLst>
                  <a:gd name="T0" fmla="*/ 2147483647 w 1149"/>
                  <a:gd name="T1" fmla="*/ 2147483647 h 240"/>
                  <a:gd name="T2" fmla="*/ 2147483647 w 1149"/>
                  <a:gd name="T3" fmla="*/ 2147483647 h 240"/>
                  <a:gd name="T4" fmla="*/ 2147483647 w 1149"/>
                  <a:gd name="T5" fmla="*/ 0 h 240"/>
                  <a:gd name="T6" fmla="*/ 2147483647 w 1149"/>
                  <a:gd name="T7" fmla="*/ 0 h 240"/>
                  <a:gd name="T8" fmla="*/ 2147483647 w 1149"/>
                  <a:gd name="T9" fmla="*/ 2147483647 h 240"/>
                  <a:gd name="T10" fmla="*/ 2147483647 w 1149"/>
                  <a:gd name="T11" fmla="*/ 2147483647 h 240"/>
                  <a:gd name="T12" fmla="*/ 2147483647 w 1149"/>
                  <a:gd name="T13" fmla="*/ 2147483647 h 240"/>
                  <a:gd name="T14" fmla="*/ 2147483647 w 1149"/>
                  <a:gd name="T15" fmla="*/ 2147483647 h 240"/>
                  <a:gd name="T16" fmla="*/ 2147483647 w 1149"/>
                  <a:gd name="T17" fmla="*/ 2147483647 h 240"/>
                  <a:gd name="T18" fmla="*/ 2147483647 w 1149"/>
                  <a:gd name="T19" fmla="*/ 2147483647 h 240"/>
                  <a:gd name="T20" fmla="*/ 2147483647 w 1149"/>
                  <a:gd name="T21" fmla="*/ 2147483647 h 240"/>
                  <a:gd name="T22" fmla="*/ 2147483647 w 1149"/>
                  <a:gd name="T23" fmla="*/ 2147483647 h 240"/>
                  <a:gd name="T24" fmla="*/ 2147483647 w 1149"/>
                  <a:gd name="T25" fmla="*/ 2147483647 h 240"/>
                  <a:gd name="T26" fmla="*/ 2147483647 w 1149"/>
                  <a:gd name="T27" fmla="*/ 2147483647 h 240"/>
                  <a:gd name="T28" fmla="*/ 2147483647 w 1149"/>
                  <a:gd name="T29" fmla="*/ 2147483647 h 240"/>
                  <a:gd name="T30" fmla="*/ 2147483647 w 1149"/>
                  <a:gd name="T31" fmla="*/ 2147483647 h 240"/>
                  <a:gd name="T32" fmla="*/ 2147483647 w 1149"/>
                  <a:gd name="T33" fmla="*/ 2147483647 h 240"/>
                  <a:gd name="T34" fmla="*/ 2147483647 w 1149"/>
                  <a:gd name="T35" fmla="*/ 2147483647 h 240"/>
                  <a:gd name="T36" fmla="*/ 2147483647 w 1149"/>
                  <a:gd name="T37" fmla="*/ 2147483647 h 240"/>
                  <a:gd name="T38" fmla="*/ 2147483647 w 1149"/>
                  <a:gd name="T39" fmla="*/ 2147483647 h 240"/>
                  <a:gd name="T40" fmla="*/ 2147483647 w 1149"/>
                  <a:gd name="T41" fmla="*/ 2147483647 h 240"/>
                  <a:gd name="T42" fmla="*/ 2147483647 w 1149"/>
                  <a:gd name="T43" fmla="*/ 2147483647 h 240"/>
                  <a:gd name="T44" fmla="*/ 2147483647 w 1149"/>
                  <a:gd name="T45" fmla="*/ 2147483647 h 240"/>
                  <a:gd name="T46" fmla="*/ 2147483647 w 1149"/>
                  <a:gd name="T47" fmla="*/ 2147483647 h 240"/>
                  <a:gd name="T48" fmla="*/ 2147483647 w 1149"/>
                  <a:gd name="T49" fmla="*/ 2147483647 h 240"/>
                  <a:gd name="T50" fmla="*/ 2147483647 w 1149"/>
                  <a:gd name="T51" fmla="*/ 2147483647 h 24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149"/>
                  <a:gd name="T79" fmla="*/ 0 h 240"/>
                  <a:gd name="T80" fmla="*/ 1149 w 1149"/>
                  <a:gd name="T81" fmla="*/ 240 h 24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149" h="240">
                    <a:moveTo>
                      <a:pt x="1048" y="15"/>
                    </a:moveTo>
                    <a:lnTo>
                      <a:pt x="1048" y="15"/>
                    </a:lnTo>
                    <a:cubicBezTo>
                      <a:pt x="1042" y="6"/>
                      <a:pt x="1032" y="0"/>
                      <a:pt x="1021" y="0"/>
                    </a:cubicBezTo>
                    <a:lnTo>
                      <a:pt x="128" y="0"/>
                    </a:lnTo>
                    <a:cubicBezTo>
                      <a:pt x="117" y="0"/>
                      <a:pt x="107" y="6"/>
                      <a:pt x="101" y="15"/>
                    </a:cubicBezTo>
                    <a:lnTo>
                      <a:pt x="7" y="151"/>
                    </a:lnTo>
                    <a:cubicBezTo>
                      <a:pt x="0" y="162"/>
                      <a:pt x="0" y="175"/>
                      <a:pt x="5" y="186"/>
                    </a:cubicBezTo>
                    <a:cubicBezTo>
                      <a:pt x="11" y="197"/>
                      <a:pt x="22" y="204"/>
                      <a:pt x="35" y="204"/>
                    </a:cubicBezTo>
                    <a:lnTo>
                      <a:pt x="662" y="204"/>
                    </a:lnTo>
                    <a:cubicBezTo>
                      <a:pt x="674" y="225"/>
                      <a:pt x="697" y="240"/>
                      <a:pt x="723" y="240"/>
                    </a:cubicBezTo>
                    <a:cubicBezTo>
                      <a:pt x="761" y="240"/>
                      <a:pt x="792" y="208"/>
                      <a:pt x="792" y="170"/>
                    </a:cubicBezTo>
                    <a:cubicBezTo>
                      <a:pt x="792" y="132"/>
                      <a:pt x="761" y="101"/>
                      <a:pt x="723" y="101"/>
                    </a:cubicBezTo>
                    <a:cubicBezTo>
                      <a:pt x="697" y="101"/>
                      <a:pt x="674" y="115"/>
                      <a:pt x="662" y="137"/>
                    </a:cubicBezTo>
                    <a:lnTo>
                      <a:pt x="98" y="137"/>
                    </a:lnTo>
                    <a:lnTo>
                      <a:pt x="146" y="67"/>
                    </a:lnTo>
                    <a:lnTo>
                      <a:pt x="1003" y="67"/>
                    </a:lnTo>
                    <a:lnTo>
                      <a:pt x="1051" y="137"/>
                    </a:lnTo>
                    <a:lnTo>
                      <a:pt x="997" y="137"/>
                    </a:lnTo>
                    <a:cubicBezTo>
                      <a:pt x="985" y="115"/>
                      <a:pt x="962" y="101"/>
                      <a:pt x="936" y="101"/>
                    </a:cubicBezTo>
                    <a:cubicBezTo>
                      <a:pt x="897" y="101"/>
                      <a:pt x="867" y="132"/>
                      <a:pt x="867" y="170"/>
                    </a:cubicBezTo>
                    <a:cubicBezTo>
                      <a:pt x="867" y="208"/>
                      <a:pt x="897" y="240"/>
                      <a:pt x="936" y="240"/>
                    </a:cubicBezTo>
                    <a:cubicBezTo>
                      <a:pt x="962" y="240"/>
                      <a:pt x="985" y="225"/>
                      <a:pt x="997" y="204"/>
                    </a:cubicBezTo>
                    <a:lnTo>
                      <a:pt x="1114" y="204"/>
                    </a:lnTo>
                    <a:cubicBezTo>
                      <a:pt x="1127" y="204"/>
                      <a:pt x="1138" y="197"/>
                      <a:pt x="1144" y="186"/>
                    </a:cubicBezTo>
                    <a:cubicBezTo>
                      <a:pt x="1149" y="175"/>
                      <a:pt x="1149" y="162"/>
                      <a:pt x="1142" y="151"/>
                    </a:cubicBezTo>
                    <a:lnTo>
                      <a:pt x="1048" y="15"/>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Freeform 44"/>
              <p:cNvSpPr>
                <a:spLocks noEditPoints="1"/>
              </p:cNvSpPr>
              <p:nvPr/>
            </p:nvSpPr>
            <p:spPr bwMode="gray">
              <a:xfrm>
                <a:off x="1836738" y="925513"/>
                <a:ext cx="193675" cy="442913"/>
              </a:xfrm>
              <a:custGeom>
                <a:avLst/>
                <a:gdLst>
                  <a:gd name="T0" fmla="*/ 2147483647 w 461"/>
                  <a:gd name="T1" fmla="*/ 2147483647 h 1055"/>
                  <a:gd name="T2" fmla="*/ 2147483647 w 461"/>
                  <a:gd name="T3" fmla="*/ 2147483647 h 1055"/>
                  <a:gd name="T4" fmla="*/ 2147483647 w 461"/>
                  <a:gd name="T5" fmla="*/ 2147483647 h 1055"/>
                  <a:gd name="T6" fmla="*/ 2147483647 w 461"/>
                  <a:gd name="T7" fmla="*/ 2147483647 h 1055"/>
                  <a:gd name="T8" fmla="*/ 2147483647 w 461"/>
                  <a:gd name="T9" fmla="*/ 2147483647 h 1055"/>
                  <a:gd name="T10" fmla="*/ 2147483647 w 461"/>
                  <a:gd name="T11" fmla="*/ 2147483647 h 1055"/>
                  <a:gd name="T12" fmla="*/ 2147483647 w 461"/>
                  <a:gd name="T13" fmla="*/ 2147483647 h 1055"/>
                  <a:gd name="T14" fmla="*/ 2147483647 w 461"/>
                  <a:gd name="T15" fmla="*/ 2147483647 h 1055"/>
                  <a:gd name="T16" fmla="*/ 2147483647 w 461"/>
                  <a:gd name="T17" fmla="*/ 2147483647 h 1055"/>
                  <a:gd name="T18" fmla="*/ 2147483647 w 461"/>
                  <a:gd name="T19" fmla="*/ 2147483647 h 1055"/>
                  <a:gd name="T20" fmla="*/ 2147483647 w 461"/>
                  <a:gd name="T21" fmla="*/ 0 h 1055"/>
                  <a:gd name="T22" fmla="*/ 2147483647 w 461"/>
                  <a:gd name="T23" fmla="*/ 0 h 1055"/>
                  <a:gd name="T24" fmla="*/ 2147483647 w 461"/>
                  <a:gd name="T25" fmla="*/ 0 h 1055"/>
                  <a:gd name="T26" fmla="*/ 0 w 461"/>
                  <a:gd name="T27" fmla="*/ 2147483647 h 1055"/>
                  <a:gd name="T28" fmla="*/ 0 w 461"/>
                  <a:gd name="T29" fmla="*/ 2147483647 h 1055"/>
                  <a:gd name="T30" fmla="*/ 2147483647 w 461"/>
                  <a:gd name="T31" fmla="*/ 2147483647 h 1055"/>
                  <a:gd name="T32" fmla="*/ 2147483647 w 461"/>
                  <a:gd name="T33" fmla="*/ 2147483647 h 1055"/>
                  <a:gd name="T34" fmla="*/ 2147483647 w 461"/>
                  <a:gd name="T35" fmla="*/ 2147483647 h 1055"/>
                  <a:gd name="T36" fmla="*/ 2147483647 w 461"/>
                  <a:gd name="T37" fmla="*/ 2147483647 h 1055"/>
                  <a:gd name="T38" fmla="*/ 2147483647 w 461"/>
                  <a:gd name="T39" fmla="*/ 0 h 105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61"/>
                  <a:gd name="T61" fmla="*/ 0 h 1055"/>
                  <a:gd name="T62" fmla="*/ 461 w 461"/>
                  <a:gd name="T63" fmla="*/ 1055 h 105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61" h="1055">
                    <a:moveTo>
                      <a:pt x="394" y="955"/>
                    </a:moveTo>
                    <a:lnTo>
                      <a:pt x="394" y="955"/>
                    </a:lnTo>
                    <a:cubicBezTo>
                      <a:pt x="394" y="973"/>
                      <a:pt x="379" y="988"/>
                      <a:pt x="361" y="988"/>
                    </a:cubicBezTo>
                    <a:lnTo>
                      <a:pt x="100" y="988"/>
                    </a:lnTo>
                    <a:cubicBezTo>
                      <a:pt x="82" y="988"/>
                      <a:pt x="67" y="973"/>
                      <a:pt x="67" y="955"/>
                    </a:cubicBezTo>
                    <a:lnTo>
                      <a:pt x="67" y="100"/>
                    </a:lnTo>
                    <a:cubicBezTo>
                      <a:pt x="67" y="82"/>
                      <a:pt x="82" y="67"/>
                      <a:pt x="100" y="67"/>
                    </a:cubicBezTo>
                    <a:lnTo>
                      <a:pt x="361" y="67"/>
                    </a:lnTo>
                    <a:cubicBezTo>
                      <a:pt x="379" y="67"/>
                      <a:pt x="394" y="82"/>
                      <a:pt x="394" y="100"/>
                    </a:cubicBezTo>
                    <a:lnTo>
                      <a:pt x="394" y="955"/>
                    </a:lnTo>
                    <a:close/>
                    <a:moveTo>
                      <a:pt x="361" y="0"/>
                    </a:moveTo>
                    <a:lnTo>
                      <a:pt x="361" y="0"/>
                    </a:lnTo>
                    <a:lnTo>
                      <a:pt x="100" y="0"/>
                    </a:lnTo>
                    <a:cubicBezTo>
                      <a:pt x="45" y="0"/>
                      <a:pt x="0" y="45"/>
                      <a:pt x="0" y="100"/>
                    </a:cubicBezTo>
                    <a:lnTo>
                      <a:pt x="0" y="955"/>
                    </a:lnTo>
                    <a:cubicBezTo>
                      <a:pt x="0" y="1010"/>
                      <a:pt x="45" y="1055"/>
                      <a:pt x="100" y="1055"/>
                    </a:cubicBezTo>
                    <a:lnTo>
                      <a:pt x="361" y="1055"/>
                    </a:lnTo>
                    <a:cubicBezTo>
                      <a:pt x="416" y="1055"/>
                      <a:pt x="461" y="1010"/>
                      <a:pt x="461" y="955"/>
                    </a:cubicBezTo>
                    <a:lnTo>
                      <a:pt x="461" y="100"/>
                    </a:lnTo>
                    <a:cubicBezTo>
                      <a:pt x="461" y="45"/>
                      <a:pt x="416" y="0"/>
                      <a:pt x="361"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Freeform 45"/>
              <p:cNvSpPr>
                <a:spLocks/>
              </p:cNvSpPr>
              <p:nvPr/>
            </p:nvSpPr>
            <p:spPr bwMode="gray">
              <a:xfrm>
                <a:off x="1878013" y="1003300"/>
                <a:ext cx="112713" cy="28575"/>
              </a:xfrm>
              <a:custGeom>
                <a:avLst/>
                <a:gdLst>
                  <a:gd name="T0" fmla="*/ 2147483647 w 267"/>
                  <a:gd name="T1" fmla="*/ 0 h 66"/>
                  <a:gd name="T2" fmla="*/ 2147483647 w 267"/>
                  <a:gd name="T3" fmla="*/ 0 h 66"/>
                  <a:gd name="T4" fmla="*/ 2147483647 w 267"/>
                  <a:gd name="T5" fmla="*/ 0 h 66"/>
                  <a:gd name="T6" fmla="*/ 0 w 267"/>
                  <a:gd name="T7" fmla="*/ 2147483647 h 66"/>
                  <a:gd name="T8" fmla="*/ 2147483647 w 267"/>
                  <a:gd name="T9" fmla="*/ 2147483647 h 66"/>
                  <a:gd name="T10" fmla="*/ 2147483647 w 267"/>
                  <a:gd name="T11" fmla="*/ 2147483647 h 66"/>
                  <a:gd name="T12" fmla="*/ 2147483647 w 267"/>
                  <a:gd name="T13" fmla="*/ 2147483647 h 66"/>
                  <a:gd name="T14" fmla="*/ 2147483647 w 267"/>
                  <a:gd name="T15" fmla="*/ 0 h 66"/>
                  <a:gd name="T16" fmla="*/ 0 60000 65536"/>
                  <a:gd name="T17" fmla="*/ 0 60000 65536"/>
                  <a:gd name="T18" fmla="*/ 0 60000 65536"/>
                  <a:gd name="T19" fmla="*/ 0 60000 65536"/>
                  <a:gd name="T20" fmla="*/ 0 60000 65536"/>
                  <a:gd name="T21" fmla="*/ 0 60000 65536"/>
                  <a:gd name="T22" fmla="*/ 0 60000 65536"/>
                  <a:gd name="T23" fmla="*/ 0 60000 65536"/>
                  <a:gd name="T24" fmla="*/ 0 w 267"/>
                  <a:gd name="T25" fmla="*/ 0 h 66"/>
                  <a:gd name="T26" fmla="*/ 267 w 267"/>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7" h="66">
                    <a:moveTo>
                      <a:pt x="233" y="0"/>
                    </a:moveTo>
                    <a:lnTo>
                      <a:pt x="233" y="0"/>
                    </a:lnTo>
                    <a:lnTo>
                      <a:pt x="33" y="0"/>
                    </a:lnTo>
                    <a:cubicBezTo>
                      <a:pt x="15" y="0"/>
                      <a:pt x="0" y="15"/>
                      <a:pt x="0" y="33"/>
                    </a:cubicBezTo>
                    <a:cubicBezTo>
                      <a:pt x="0" y="52"/>
                      <a:pt x="15" y="66"/>
                      <a:pt x="33" y="66"/>
                    </a:cubicBezTo>
                    <a:lnTo>
                      <a:pt x="233" y="66"/>
                    </a:lnTo>
                    <a:cubicBezTo>
                      <a:pt x="252" y="66"/>
                      <a:pt x="267" y="52"/>
                      <a:pt x="267" y="33"/>
                    </a:cubicBezTo>
                    <a:cubicBezTo>
                      <a:pt x="267" y="15"/>
                      <a:pt x="252" y="0"/>
                      <a:pt x="233"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Freeform 46"/>
              <p:cNvSpPr>
                <a:spLocks/>
              </p:cNvSpPr>
              <p:nvPr/>
            </p:nvSpPr>
            <p:spPr bwMode="gray">
              <a:xfrm>
                <a:off x="1878013" y="1042988"/>
                <a:ext cx="112713" cy="28575"/>
              </a:xfrm>
              <a:custGeom>
                <a:avLst/>
                <a:gdLst>
                  <a:gd name="T0" fmla="*/ 2147483647 w 267"/>
                  <a:gd name="T1" fmla="*/ 0 h 67"/>
                  <a:gd name="T2" fmla="*/ 2147483647 w 267"/>
                  <a:gd name="T3" fmla="*/ 0 h 67"/>
                  <a:gd name="T4" fmla="*/ 2147483647 w 267"/>
                  <a:gd name="T5" fmla="*/ 0 h 67"/>
                  <a:gd name="T6" fmla="*/ 0 w 267"/>
                  <a:gd name="T7" fmla="*/ 2147483647 h 67"/>
                  <a:gd name="T8" fmla="*/ 2147483647 w 267"/>
                  <a:gd name="T9" fmla="*/ 2147483647 h 67"/>
                  <a:gd name="T10" fmla="*/ 2147483647 w 267"/>
                  <a:gd name="T11" fmla="*/ 2147483647 h 67"/>
                  <a:gd name="T12" fmla="*/ 2147483647 w 267"/>
                  <a:gd name="T13" fmla="*/ 2147483647 h 67"/>
                  <a:gd name="T14" fmla="*/ 2147483647 w 267"/>
                  <a:gd name="T15" fmla="*/ 0 h 67"/>
                  <a:gd name="T16" fmla="*/ 0 60000 65536"/>
                  <a:gd name="T17" fmla="*/ 0 60000 65536"/>
                  <a:gd name="T18" fmla="*/ 0 60000 65536"/>
                  <a:gd name="T19" fmla="*/ 0 60000 65536"/>
                  <a:gd name="T20" fmla="*/ 0 60000 65536"/>
                  <a:gd name="T21" fmla="*/ 0 60000 65536"/>
                  <a:gd name="T22" fmla="*/ 0 60000 65536"/>
                  <a:gd name="T23" fmla="*/ 0 60000 65536"/>
                  <a:gd name="T24" fmla="*/ 0 w 267"/>
                  <a:gd name="T25" fmla="*/ 0 h 67"/>
                  <a:gd name="T26" fmla="*/ 267 w 267"/>
                  <a:gd name="T27" fmla="*/ 67 h 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7" h="67">
                    <a:moveTo>
                      <a:pt x="233" y="0"/>
                    </a:moveTo>
                    <a:lnTo>
                      <a:pt x="233" y="0"/>
                    </a:lnTo>
                    <a:lnTo>
                      <a:pt x="33" y="0"/>
                    </a:lnTo>
                    <a:cubicBezTo>
                      <a:pt x="15" y="0"/>
                      <a:pt x="0" y="15"/>
                      <a:pt x="0" y="33"/>
                    </a:cubicBezTo>
                    <a:cubicBezTo>
                      <a:pt x="0" y="52"/>
                      <a:pt x="15" y="67"/>
                      <a:pt x="33" y="67"/>
                    </a:cubicBezTo>
                    <a:lnTo>
                      <a:pt x="233" y="67"/>
                    </a:lnTo>
                    <a:cubicBezTo>
                      <a:pt x="252" y="67"/>
                      <a:pt x="267" y="52"/>
                      <a:pt x="267" y="33"/>
                    </a:cubicBezTo>
                    <a:cubicBezTo>
                      <a:pt x="267" y="15"/>
                      <a:pt x="252" y="0"/>
                      <a:pt x="233"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Freeform 47"/>
              <p:cNvSpPr>
                <a:spLocks/>
              </p:cNvSpPr>
              <p:nvPr/>
            </p:nvSpPr>
            <p:spPr bwMode="gray">
              <a:xfrm>
                <a:off x="1878013" y="1081088"/>
                <a:ext cx="112713" cy="28575"/>
              </a:xfrm>
              <a:custGeom>
                <a:avLst/>
                <a:gdLst>
                  <a:gd name="T0" fmla="*/ 2147483647 w 267"/>
                  <a:gd name="T1" fmla="*/ 0 h 67"/>
                  <a:gd name="T2" fmla="*/ 2147483647 w 267"/>
                  <a:gd name="T3" fmla="*/ 0 h 67"/>
                  <a:gd name="T4" fmla="*/ 2147483647 w 267"/>
                  <a:gd name="T5" fmla="*/ 0 h 67"/>
                  <a:gd name="T6" fmla="*/ 0 w 267"/>
                  <a:gd name="T7" fmla="*/ 2147483647 h 67"/>
                  <a:gd name="T8" fmla="*/ 2147483647 w 267"/>
                  <a:gd name="T9" fmla="*/ 2147483647 h 67"/>
                  <a:gd name="T10" fmla="*/ 2147483647 w 267"/>
                  <a:gd name="T11" fmla="*/ 2147483647 h 67"/>
                  <a:gd name="T12" fmla="*/ 2147483647 w 267"/>
                  <a:gd name="T13" fmla="*/ 2147483647 h 67"/>
                  <a:gd name="T14" fmla="*/ 2147483647 w 267"/>
                  <a:gd name="T15" fmla="*/ 0 h 67"/>
                  <a:gd name="T16" fmla="*/ 0 60000 65536"/>
                  <a:gd name="T17" fmla="*/ 0 60000 65536"/>
                  <a:gd name="T18" fmla="*/ 0 60000 65536"/>
                  <a:gd name="T19" fmla="*/ 0 60000 65536"/>
                  <a:gd name="T20" fmla="*/ 0 60000 65536"/>
                  <a:gd name="T21" fmla="*/ 0 60000 65536"/>
                  <a:gd name="T22" fmla="*/ 0 60000 65536"/>
                  <a:gd name="T23" fmla="*/ 0 60000 65536"/>
                  <a:gd name="T24" fmla="*/ 0 w 267"/>
                  <a:gd name="T25" fmla="*/ 0 h 67"/>
                  <a:gd name="T26" fmla="*/ 267 w 267"/>
                  <a:gd name="T27" fmla="*/ 67 h 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7" h="67">
                    <a:moveTo>
                      <a:pt x="233" y="0"/>
                    </a:moveTo>
                    <a:lnTo>
                      <a:pt x="233" y="0"/>
                    </a:lnTo>
                    <a:lnTo>
                      <a:pt x="33" y="0"/>
                    </a:lnTo>
                    <a:cubicBezTo>
                      <a:pt x="15" y="0"/>
                      <a:pt x="0" y="15"/>
                      <a:pt x="0" y="34"/>
                    </a:cubicBezTo>
                    <a:cubicBezTo>
                      <a:pt x="0" y="52"/>
                      <a:pt x="15" y="67"/>
                      <a:pt x="33" y="67"/>
                    </a:cubicBezTo>
                    <a:lnTo>
                      <a:pt x="233" y="67"/>
                    </a:lnTo>
                    <a:cubicBezTo>
                      <a:pt x="252" y="67"/>
                      <a:pt x="267" y="52"/>
                      <a:pt x="267" y="34"/>
                    </a:cubicBezTo>
                    <a:cubicBezTo>
                      <a:pt x="267" y="15"/>
                      <a:pt x="252" y="0"/>
                      <a:pt x="233"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Freeform 48"/>
              <p:cNvSpPr>
                <a:spLocks noEditPoints="1"/>
              </p:cNvSpPr>
              <p:nvPr/>
            </p:nvSpPr>
            <p:spPr bwMode="gray">
              <a:xfrm>
                <a:off x="1892300" y="1227138"/>
                <a:ext cx="84138" cy="84138"/>
              </a:xfrm>
              <a:custGeom>
                <a:avLst/>
                <a:gdLst>
                  <a:gd name="T0" fmla="*/ 2147483647 w 200"/>
                  <a:gd name="T1" fmla="*/ 2147483647 h 200"/>
                  <a:gd name="T2" fmla="*/ 2147483647 w 200"/>
                  <a:gd name="T3" fmla="*/ 2147483647 h 200"/>
                  <a:gd name="T4" fmla="*/ 2147483647 w 200"/>
                  <a:gd name="T5" fmla="*/ 2147483647 h 200"/>
                  <a:gd name="T6" fmla="*/ 2147483647 w 200"/>
                  <a:gd name="T7" fmla="*/ 2147483647 h 200"/>
                  <a:gd name="T8" fmla="*/ 2147483647 w 200"/>
                  <a:gd name="T9" fmla="*/ 2147483647 h 200"/>
                  <a:gd name="T10" fmla="*/ 2147483647 w 200"/>
                  <a:gd name="T11" fmla="*/ 2147483647 h 200"/>
                  <a:gd name="T12" fmla="*/ 2147483647 w 200"/>
                  <a:gd name="T13" fmla="*/ 0 h 200"/>
                  <a:gd name="T14" fmla="*/ 2147483647 w 200"/>
                  <a:gd name="T15" fmla="*/ 0 h 200"/>
                  <a:gd name="T16" fmla="*/ 0 w 200"/>
                  <a:gd name="T17" fmla="*/ 2147483647 h 200"/>
                  <a:gd name="T18" fmla="*/ 2147483647 w 200"/>
                  <a:gd name="T19" fmla="*/ 2147483647 h 200"/>
                  <a:gd name="T20" fmla="*/ 2147483647 w 200"/>
                  <a:gd name="T21" fmla="*/ 2147483647 h 200"/>
                  <a:gd name="T22" fmla="*/ 2147483647 w 200"/>
                  <a:gd name="T23" fmla="*/ 0 h 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0"/>
                  <a:gd name="T37" fmla="*/ 0 h 200"/>
                  <a:gd name="T38" fmla="*/ 200 w 200"/>
                  <a:gd name="T39" fmla="*/ 200 h 2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0" h="200">
                    <a:moveTo>
                      <a:pt x="100" y="133"/>
                    </a:moveTo>
                    <a:lnTo>
                      <a:pt x="100" y="133"/>
                    </a:lnTo>
                    <a:cubicBezTo>
                      <a:pt x="82" y="133"/>
                      <a:pt x="67" y="118"/>
                      <a:pt x="67" y="100"/>
                    </a:cubicBezTo>
                    <a:cubicBezTo>
                      <a:pt x="67" y="82"/>
                      <a:pt x="82" y="67"/>
                      <a:pt x="100" y="67"/>
                    </a:cubicBezTo>
                    <a:cubicBezTo>
                      <a:pt x="119" y="67"/>
                      <a:pt x="134" y="82"/>
                      <a:pt x="134" y="100"/>
                    </a:cubicBezTo>
                    <a:cubicBezTo>
                      <a:pt x="134" y="118"/>
                      <a:pt x="119" y="133"/>
                      <a:pt x="100" y="133"/>
                    </a:cubicBezTo>
                    <a:close/>
                    <a:moveTo>
                      <a:pt x="100" y="0"/>
                    </a:moveTo>
                    <a:lnTo>
                      <a:pt x="100" y="0"/>
                    </a:lnTo>
                    <a:cubicBezTo>
                      <a:pt x="45" y="0"/>
                      <a:pt x="0" y="45"/>
                      <a:pt x="0" y="100"/>
                    </a:cubicBezTo>
                    <a:cubicBezTo>
                      <a:pt x="0" y="155"/>
                      <a:pt x="45" y="200"/>
                      <a:pt x="100" y="200"/>
                    </a:cubicBezTo>
                    <a:cubicBezTo>
                      <a:pt x="155" y="200"/>
                      <a:pt x="200" y="155"/>
                      <a:pt x="200" y="100"/>
                    </a:cubicBezTo>
                    <a:cubicBezTo>
                      <a:pt x="200" y="45"/>
                      <a:pt x="155" y="0"/>
                      <a:pt x="100"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pic>
        <p:nvPicPr>
          <p:cNvPr id="87" name="图片 86"/>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3175557" y="2901313"/>
            <a:ext cx="1481530" cy="273233"/>
          </a:xfrm>
          <a:prstGeom prst="rect">
            <a:avLst/>
          </a:prstGeom>
        </p:spPr>
      </p:pic>
      <p:sp>
        <p:nvSpPr>
          <p:cNvPr id="88" name="文本框 87"/>
          <p:cNvSpPr txBox="1"/>
          <p:nvPr/>
        </p:nvSpPr>
        <p:spPr bwMode="gray">
          <a:xfrm>
            <a:off x="901991" y="5878423"/>
            <a:ext cx="492443" cy="276999"/>
          </a:xfrm>
          <a:prstGeom prst="rect">
            <a:avLst/>
          </a:prstGeom>
          <a:noFill/>
        </p:spPr>
        <p:txBody>
          <a:bodyPr wrap="none" rtlCol="0">
            <a:spAutoFit/>
          </a:bodyPr>
          <a:lstStyle/>
          <a:p>
            <a:pPr algn="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办公</a:t>
            </a:r>
            <a:endParaRPr lang="en-US" altLang="zh-CN"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文本框 88"/>
          <p:cNvSpPr txBox="1"/>
          <p:nvPr/>
        </p:nvSpPr>
        <p:spPr bwMode="gray">
          <a:xfrm>
            <a:off x="1787685" y="5878423"/>
            <a:ext cx="492443" cy="276999"/>
          </a:xfrm>
          <a:prstGeom prst="rect">
            <a:avLst/>
          </a:prstGeom>
          <a:noFill/>
        </p:spPr>
        <p:txBody>
          <a:bodyPr wrap="none" rtlCol="0">
            <a:spAutoFit/>
          </a:bodyPr>
          <a:lstStyle/>
          <a:p>
            <a:pPr algn="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视讯</a:t>
            </a:r>
          </a:p>
        </p:txBody>
      </p:sp>
      <p:sp>
        <p:nvSpPr>
          <p:cNvPr id="90" name="文本框 89"/>
          <p:cNvSpPr txBox="1"/>
          <p:nvPr/>
        </p:nvSpPr>
        <p:spPr bwMode="gray">
          <a:xfrm>
            <a:off x="2517959" y="5878423"/>
            <a:ext cx="492443" cy="276999"/>
          </a:xfrm>
          <a:prstGeom prst="rect">
            <a:avLst/>
          </a:prstGeom>
          <a:noFill/>
        </p:spPr>
        <p:txBody>
          <a:bodyPr wrap="none" rtlCol="0">
            <a:spAutoFit/>
          </a:bodyPr>
          <a:lstStyle/>
          <a:p>
            <a:pPr algn="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安防</a:t>
            </a:r>
          </a:p>
        </p:txBody>
      </p:sp>
      <p:pic>
        <p:nvPicPr>
          <p:cNvPr id="92" name="图片 86" descr="核心交换机.png"/>
          <p:cNvPicPr>
            <a:picLocks noChangeAspect="1"/>
          </p:cNvPicPr>
          <p:nvPr/>
        </p:nvPicPr>
        <p:blipFill>
          <a:blip r:embed="rId4" cstate="print"/>
          <a:stretch>
            <a:fillRect/>
          </a:stretch>
        </p:blipFill>
        <p:spPr bwMode="gray">
          <a:xfrm>
            <a:off x="8690546" y="2885123"/>
            <a:ext cx="443667" cy="363001"/>
          </a:xfrm>
          <a:prstGeom prst="rect">
            <a:avLst/>
          </a:prstGeom>
        </p:spPr>
      </p:pic>
      <p:cxnSp>
        <p:nvCxnSpPr>
          <p:cNvPr id="93" name="直接连接符 92"/>
          <p:cNvCxnSpPr/>
          <p:nvPr/>
        </p:nvCxnSpPr>
        <p:spPr bwMode="gray">
          <a:xfrm>
            <a:off x="8912378" y="1545645"/>
            <a:ext cx="0" cy="13898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94"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8690545" y="2170256"/>
            <a:ext cx="443667" cy="363001"/>
          </a:xfrm>
          <a:prstGeom prst="rect">
            <a:avLst/>
          </a:prstGeom>
        </p:spPr>
      </p:pic>
      <p:sp>
        <p:nvSpPr>
          <p:cNvPr id="95" name="Freeform 159"/>
          <p:cNvSpPr/>
          <p:nvPr/>
        </p:nvSpPr>
        <p:spPr bwMode="gray">
          <a:xfrm flipH="1">
            <a:off x="8411829" y="1372839"/>
            <a:ext cx="997303" cy="52131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44000" rtlCol="0" anchor="ctr">
            <a:noAutofit/>
          </a:bodyPr>
          <a:lstStyle/>
          <a:p>
            <a:pPr algn="ctr"/>
            <a:r>
              <a:rPr 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pic>
        <p:nvPicPr>
          <p:cNvPr id="96" name="图片 9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9389582" y="2901313"/>
            <a:ext cx="1481530" cy="273233"/>
          </a:xfrm>
          <a:prstGeom prst="rect">
            <a:avLst/>
          </a:prstGeom>
        </p:spPr>
      </p:pic>
      <p:sp>
        <p:nvSpPr>
          <p:cNvPr id="97" name="Freeform 159"/>
          <p:cNvSpPr/>
          <p:nvPr/>
        </p:nvSpPr>
        <p:spPr bwMode="gray">
          <a:xfrm flipH="1">
            <a:off x="8222617" y="3788291"/>
            <a:ext cx="1382848" cy="81212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FFD17D"/>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b="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Freeform 159"/>
          <p:cNvSpPr/>
          <p:nvPr/>
        </p:nvSpPr>
        <p:spPr bwMode="gray">
          <a:xfrm flipH="1">
            <a:off x="10104336" y="3788291"/>
            <a:ext cx="1382848" cy="81212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8BC9A0"/>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b="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99" name="组合 212"/>
          <p:cNvGrpSpPr>
            <a:grpSpLocks/>
          </p:cNvGrpSpPr>
          <p:nvPr/>
        </p:nvGrpSpPr>
        <p:grpSpPr bwMode="gray">
          <a:xfrm>
            <a:off x="6796475" y="5373437"/>
            <a:ext cx="504879" cy="504879"/>
            <a:chOff x="1639888" y="560388"/>
            <a:chExt cx="1114425" cy="1116013"/>
          </a:xfrm>
        </p:grpSpPr>
        <p:sp>
          <p:nvSpPr>
            <p:cNvPr id="100" name="Freeform 39"/>
            <p:cNvSpPr>
              <a:spLocks/>
            </p:cNvSpPr>
            <p:nvPr/>
          </p:nvSpPr>
          <p:spPr bwMode="gray">
            <a:xfrm>
              <a:off x="1639888" y="560388"/>
              <a:ext cx="1114425" cy="1116013"/>
            </a:xfrm>
            <a:custGeom>
              <a:avLst/>
              <a:gdLst>
                <a:gd name="T0" fmla="*/ 2147483647 w 2659"/>
                <a:gd name="T1" fmla="*/ 2147483647 h 2659"/>
                <a:gd name="T2" fmla="*/ 2147483647 w 2659"/>
                <a:gd name="T3" fmla="*/ 2147483647 h 2659"/>
                <a:gd name="T4" fmla="*/ 2147483647 w 2659"/>
                <a:gd name="T5" fmla="*/ 2147483647 h 2659"/>
                <a:gd name="T6" fmla="*/ 0 w 2659"/>
                <a:gd name="T7" fmla="*/ 2147483647 h 2659"/>
                <a:gd name="T8" fmla="*/ 2147483647 w 2659"/>
                <a:gd name="T9" fmla="*/ 0 h 2659"/>
                <a:gd name="T10" fmla="*/ 2147483647 w 2659"/>
                <a:gd name="T11" fmla="*/ 2147483647 h 2659"/>
                <a:gd name="T12" fmla="*/ 0 60000 65536"/>
                <a:gd name="T13" fmla="*/ 0 60000 65536"/>
                <a:gd name="T14" fmla="*/ 0 60000 65536"/>
                <a:gd name="T15" fmla="*/ 0 60000 65536"/>
                <a:gd name="T16" fmla="*/ 0 60000 65536"/>
                <a:gd name="T17" fmla="*/ 0 60000 65536"/>
                <a:gd name="T18" fmla="*/ 0 w 2659"/>
                <a:gd name="T19" fmla="*/ 0 h 2659"/>
                <a:gd name="T20" fmla="*/ 2659 w 2659"/>
                <a:gd name="T21" fmla="*/ 2659 h 2659"/>
              </a:gdLst>
              <a:ahLst/>
              <a:cxnLst>
                <a:cxn ang="T12">
                  <a:pos x="T0" y="T1"/>
                </a:cxn>
                <a:cxn ang="T13">
                  <a:pos x="T2" y="T3"/>
                </a:cxn>
                <a:cxn ang="T14">
                  <a:pos x="T4" y="T5"/>
                </a:cxn>
                <a:cxn ang="T15">
                  <a:pos x="T6" y="T7"/>
                </a:cxn>
                <a:cxn ang="T16">
                  <a:pos x="T8" y="T9"/>
                </a:cxn>
                <a:cxn ang="T17">
                  <a:pos x="T10" y="T11"/>
                </a:cxn>
              </a:cxnLst>
              <a:rect l="T18" t="T19" r="T20" b="T21"/>
              <a:pathLst>
                <a:path w="2659" h="2659">
                  <a:moveTo>
                    <a:pt x="2659" y="1330"/>
                  </a:moveTo>
                  <a:lnTo>
                    <a:pt x="2659" y="1330"/>
                  </a:lnTo>
                  <a:cubicBezTo>
                    <a:pt x="2659" y="2064"/>
                    <a:pt x="2064" y="2659"/>
                    <a:pt x="1330" y="2659"/>
                  </a:cubicBezTo>
                  <a:cubicBezTo>
                    <a:pt x="595" y="2659"/>
                    <a:pt x="0" y="2064"/>
                    <a:pt x="0" y="1330"/>
                  </a:cubicBezTo>
                  <a:cubicBezTo>
                    <a:pt x="0" y="595"/>
                    <a:pt x="595" y="0"/>
                    <a:pt x="1330" y="0"/>
                  </a:cubicBezTo>
                  <a:cubicBezTo>
                    <a:pt x="2064" y="0"/>
                    <a:pt x="2659" y="595"/>
                    <a:pt x="2659" y="1330"/>
                  </a:cubicBezTo>
                  <a:close/>
                </a:path>
              </a:pathLst>
            </a:custGeom>
            <a:solidFill>
              <a:srgbClr val="56C4D2"/>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01" name="组合 193"/>
            <p:cNvGrpSpPr>
              <a:grpSpLocks/>
            </p:cNvGrpSpPr>
            <p:nvPr/>
          </p:nvGrpSpPr>
          <p:grpSpPr bwMode="gray">
            <a:xfrm>
              <a:off x="1836738" y="854075"/>
              <a:ext cx="720725" cy="528638"/>
              <a:chOff x="1836738" y="854075"/>
              <a:chExt cx="720725" cy="528638"/>
            </a:xfrm>
          </p:grpSpPr>
          <p:sp>
            <p:nvSpPr>
              <p:cNvPr id="102" name="Freeform 40"/>
              <p:cNvSpPr>
                <a:spLocks noEditPoints="1"/>
              </p:cNvSpPr>
              <p:nvPr/>
            </p:nvSpPr>
            <p:spPr bwMode="gray">
              <a:xfrm>
                <a:off x="2054225" y="854075"/>
                <a:ext cx="503238" cy="368300"/>
              </a:xfrm>
              <a:custGeom>
                <a:avLst/>
                <a:gdLst>
                  <a:gd name="T0" fmla="*/ 2147483647 w 1199"/>
                  <a:gd name="T1" fmla="*/ 2147483647 h 879"/>
                  <a:gd name="T2" fmla="*/ 2147483647 w 1199"/>
                  <a:gd name="T3" fmla="*/ 2147483647 h 879"/>
                  <a:gd name="T4" fmla="*/ 2147483647 w 1199"/>
                  <a:gd name="T5" fmla="*/ 2147483647 h 879"/>
                  <a:gd name="T6" fmla="*/ 2147483647 w 1199"/>
                  <a:gd name="T7" fmla="*/ 2147483647 h 879"/>
                  <a:gd name="T8" fmla="*/ 2147483647 w 1199"/>
                  <a:gd name="T9" fmla="*/ 2147483647 h 879"/>
                  <a:gd name="T10" fmla="*/ 2147483647 w 1199"/>
                  <a:gd name="T11" fmla="*/ 2147483647 h 879"/>
                  <a:gd name="T12" fmla="*/ 2147483647 w 1199"/>
                  <a:gd name="T13" fmla="*/ 2147483647 h 879"/>
                  <a:gd name="T14" fmla="*/ 2147483647 w 1199"/>
                  <a:gd name="T15" fmla="*/ 2147483647 h 879"/>
                  <a:gd name="T16" fmla="*/ 2147483647 w 1199"/>
                  <a:gd name="T17" fmla="*/ 2147483647 h 879"/>
                  <a:gd name="T18" fmla="*/ 2147483647 w 1199"/>
                  <a:gd name="T19" fmla="*/ 2147483647 h 879"/>
                  <a:gd name="T20" fmla="*/ 2147483647 w 1199"/>
                  <a:gd name="T21" fmla="*/ 0 h 879"/>
                  <a:gd name="T22" fmla="*/ 2147483647 w 1199"/>
                  <a:gd name="T23" fmla="*/ 0 h 879"/>
                  <a:gd name="T24" fmla="*/ 2147483647 w 1199"/>
                  <a:gd name="T25" fmla="*/ 0 h 879"/>
                  <a:gd name="T26" fmla="*/ 0 w 1199"/>
                  <a:gd name="T27" fmla="*/ 2147483647 h 879"/>
                  <a:gd name="T28" fmla="*/ 0 w 1199"/>
                  <a:gd name="T29" fmla="*/ 2147483647 h 879"/>
                  <a:gd name="T30" fmla="*/ 2147483647 w 1199"/>
                  <a:gd name="T31" fmla="*/ 2147483647 h 879"/>
                  <a:gd name="T32" fmla="*/ 2147483647 w 1199"/>
                  <a:gd name="T33" fmla="*/ 2147483647 h 879"/>
                  <a:gd name="T34" fmla="*/ 2147483647 w 1199"/>
                  <a:gd name="T35" fmla="*/ 2147483647 h 879"/>
                  <a:gd name="T36" fmla="*/ 2147483647 w 1199"/>
                  <a:gd name="T37" fmla="*/ 2147483647 h 879"/>
                  <a:gd name="T38" fmla="*/ 2147483647 w 1199"/>
                  <a:gd name="T39" fmla="*/ 0 h 87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99"/>
                  <a:gd name="T61" fmla="*/ 0 h 879"/>
                  <a:gd name="T62" fmla="*/ 1199 w 1199"/>
                  <a:gd name="T63" fmla="*/ 879 h 87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99" h="879">
                    <a:moveTo>
                      <a:pt x="1133" y="787"/>
                    </a:moveTo>
                    <a:lnTo>
                      <a:pt x="1133" y="787"/>
                    </a:lnTo>
                    <a:cubicBezTo>
                      <a:pt x="1133" y="801"/>
                      <a:pt x="1121" y="812"/>
                      <a:pt x="1108" y="812"/>
                    </a:cubicBezTo>
                    <a:lnTo>
                      <a:pt x="91" y="812"/>
                    </a:lnTo>
                    <a:cubicBezTo>
                      <a:pt x="78" y="812"/>
                      <a:pt x="67" y="801"/>
                      <a:pt x="67" y="787"/>
                    </a:cubicBezTo>
                    <a:lnTo>
                      <a:pt x="67" y="91"/>
                    </a:lnTo>
                    <a:cubicBezTo>
                      <a:pt x="67" y="77"/>
                      <a:pt x="78" y="66"/>
                      <a:pt x="91" y="66"/>
                    </a:cubicBezTo>
                    <a:lnTo>
                      <a:pt x="1108" y="66"/>
                    </a:lnTo>
                    <a:cubicBezTo>
                      <a:pt x="1121" y="66"/>
                      <a:pt x="1133" y="77"/>
                      <a:pt x="1133" y="91"/>
                    </a:cubicBezTo>
                    <a:lnTo>
                      <a:pt x="1133" y="787"/>
                    </a:lnTo>
                    <a:close/>
                    <a:moveTo>
                      <a:pt x="1108" y="0"/>
                    </a:moveTo>
                    <a:lnTo>
                      <a:pt x="1108" y="0"/>
                    </a:lnTo>
                    <a:lnTo>
                      <a:pt x="91" y="0"/>
                    </a:lnTo>
                    <a:cubicBezTo>
                      <a:pt x="41" y="0"/>
                      <a:pt x="0" y="41"/>
                      <a:pt x="0" y="91"/>
                    </a:cubicBezTo>
                    <a:lnTo>
                      <a:pt x="0" y="787"/>
                    </a:lnTo>
                    <a:cubicBezTo>
                      <a:pt x="0" y="838"/>
                      <a:pt x="41" y="879"/>
                      <a:pt x="91" y="879"/>
                    </a:cubicBezTo>
                    <a:lnTo>
                      <a:pt x="1108" y="879"/>
                    </a:lnTo>
                    <a:cubicBezTo>
                      <a:pt x="1158" y="879"/>
                      <a:pt x="1199" y="838"/>
                      <a:pt x="1199" y="787"/>
                    </a:cubicBezTo>
                    <a:lnTo>
                      <a:pt x="1199" y="91"/>
                    </a:lnTo>
                    <a:cubicBezTo>
                      <a:pt x="1199" y="41"/>
                      <a:pt x="1158" y="0"/>
                      <a:pt x="1108"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Freeform 41"/>
              <p:cNvSpPr>
                <a:spLocks/>
              </p:cNvSpPr>
              <p:nvPr/>
            </p:nvSpPr>
            <p:spPr bwMode="gray">
              <a:xfrm>
                <a:off x="2224088" y="1238250"/>
                <a:ext cx="161925" cy="26988"/>
              </a:xfrm>
              <a:custGeom>
                <a:avLst/>
                <a:gdLst>
                  <a:gd name="T0" fmla="*/ 2147483647 w 385"/>
                  <a:gd name="T1" fmla="*/ 2147483647 h 66"/>
                  <a:gd name="T2" fmla="*/ 2147483647 w 385"/>
                  <a:gd name="T3" fmla="*/ 2147483647 h 66"/>
                  <a:gd name="T4" fmla="*/ 2147483647 w 385"/>
                  <a:gd name="T5" fmla="*/ 2147483647 h 66"/>
                  <a:gd name="T6" fmla="*/ 2147483647 w 385"/>
                  <a:gd name="T7" fmla="*/ 0 h 66"/>
                  <a:gd name="T8" fmla="*/ 2147483647 w 385"/>
                  <a:gd name="T9" fmla="*/ 0 h 66"/>
                  <a:gd name="T10" fmla="*/ 0 w 385"/>
                  <a:gd name="T11" fmla="*/ 2147483647 h 66"/>
                  <a:gd name="T12" fmla="*/ 2147483647 w 385"/>
                  <a:gd name="T13" fmla="*/ 2147483647 h 66"/>
                  <a:gd name="T14" fmla="*/ 2147483647 w 385"/>
                  <a:gd name="T15" fmla="*/ 2147483647 h 66"/>
                  <a:gd name="T16" fmla="*/ 0 60000 65536"/>
                  <a:gd name="T17" fmla="*/ 0 60000 65536"/>
                  <a:gd name="T18" fmla="*/ 0 60000 65536"/>
                  <a:gd name="T19" fmla="*/ 0 60000 65536"/>
                  <a:gd name="T20" fmla="*/ 0 60000 65536"/>
                  <a:gd name="T21" fmla="*/ 0 60000 65536"/>
                  <a:gd name="T22" fmla="*/ 0 60000 65536"/>
                  <a:gd name="T23" fmla="*/ 0 60000 65536"/>
                  <a:gd name="T24" fmla="*/ 0 w 385"/>
                  <a:gd name="T25" fmla="*/ 0 h 66"/>
                  <a:gd name="T26" fmla="*/ 385 w 385"/>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5" h="66">
                    <a:moveTo>
                      <a:pt x="352" y="66"/>
                    </a:moveTo>
                    <a:lnTo>
                      <a:pt x="352" y="66"/>
                    </a:lnTo>
                    <a:cubicBezTo>
                      <a:pt x="370" y="66"/>
                      <a:pt x="385" y="52"/>
                      <a:pt x="385" y="33"/>
                    </a:cubicBezTo>
                    <a:cubicBezTo>
                      <a:pt x="385" y="15"/>
                      <a:pt x="370" y="0"/>
                      <a:pt x="352" y="0"/>
                    </a:cubicBezTo>
                    <a:lnTo>
                      <a:pt x="33" y="0"/>
                    </a:lnTo>
                    <a:cubicBezTo>
                      <a:pt x="15" y="0"/>
                      <a:pt x="0" y="15"/>
                      <a:pt x="0" y="33"/>
                    </a:cubicBezTo>
                    <a:cubicBezTo>
                      <a:pt x="0" y="52"/>
                      <a:pt x="15" y="66"/>
                      <a:pt x="33" y="66"/>
                    </a:cubicBezTo>
                    <a:lnTo>
                      <a:pt x="352" y="66"/>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Freeform 42"/>
              <p:cNvSpPr>
                <a:spLocks noEditPoints="1"/>
              </p:cNvSpPr>
              <p:nvPr/>
            </p:nvSpPr>
            <p:spPr bwMode="gray">
              <a:xfrm>
                <a:off x="2105025" y="900113"/>
                <a:ext cx="401638" cy="274638"/>
              </a:xfrm>
              <a:custGeom>
                <a:avLst/>
                <a:gdLst>
                  <a:gd name="T0" fmla="*/ 2147483647 w 957"/>
                  <a:gd name="T1" fmla="*/ 2147483647 h 653"/>
                  <a:gd name="T2" fmla="*/ 2147483647 w 957"/>
                  <a:gd name="T3" fmla="*/ 2147483647 h 653"/>
                  <a:gd name="T4" fmla="*/ 2147483647 w 957"/>
                  <a:gd name="T5" fmla="*/ 2147483647 h 653"/>
                  <a:gd name="T6" fmla="*/ 2147483647 w 957"/>
                  <a:gd name="T7" fmla="*/ 2147483647 h 653"/>
                  <a:gd name="T8" fmla="*/ 2147483647 w 957"/>
                  <a:gd name="T9" fmla="*/ 2147483647 h 653"/>
                  <a:gd name="T10" fmla="*/ 2147483647 w 957"/>
                  <a:gd name="T11" fmla="*/ 2147483647 h 653"/>
                  <a:gd name="T12" fmla="*/ 2147483647 w 957"/>
                  <a:gd name="T13" fmla="*/ 2147483647 h 653"/>
                  <a:gd name="T14" fmla="*/ 2147483647 w 957"/>
                  <a:gd name="T15" fmla="*/ 2147483647 h 653"/>
                  <a:gd name="T16" fmla="*/ 2147483647 w 957"/>
                  <a:gd name="T17" fmla="*/ 2147483647 h 653"/>
                  <a:gd name="T18" fmla="*/ 2147483647 w 957"/>
                  <a:gd name="T19" fmla="*/ 2147483647 h 653"/>
                  <a:gd name="T20" fmla="*/ 2147483647 w 957"/>
                  <a:gd name="T21" fmla="*/ 0 h 653"/>
                  <a:gd name="T22" fmla="*/ 2147483647 w 957"/>
                  <a:gd name="T23" fmla="*/ 0 h 653"/>
                  <a:gd name="T24" fmla="*/ 2147483647 w 957"/>
                  <a:gd name="T25" fmla="*/ 0 h 653"/>
                  <a:gd name="T26" fmla="*/ 0 w 957"/>
                  <a:gd name="T27" fmla="*/ 2147483647 h 653"/>
                  <a:gd name="T28" fmla="*/ 0 w 957"/>
                  <a:gd name="T29" fmla="*/ 2147483647 h 653"/>
                  <a:gd name="T30" fmla="*/ 2147483647 w 957"/>
                  <a:gd name="T31" fmla="*/ 2147483647 h 653"/>
                  <a:gd name="T32" fmla="*/ 2147483647 w 957"/>
                  <a:gd name="T33" fmla="*/ 2147483647 h 653"/>
                  <a:gd name="T34" fmla="*/ 2147483647 w 957"/>
                  <a:gd name="T35" fmla="*/ 2147483647 h 653"/>
                  <a:gd name="T36" fmla="*/ 2147483647 w 957"/>
                  <a:gd name="T37" fmla="*/ 2147483647 h 653"/>
                  <a:gd name="T38" fmla="*/ 2147483647 w 957"/>
                  <a:gd name="T39" fmla="*/ 0 h 6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57"/>
                  <a:gd name="T61" fmla="*/ 0 h 653"/>
                  <a:gd name="T62" fmla="*/ 957 w 957"/>
                  <a:gd name="T63" fmla="*/ 653 h 6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57" h="653">
                    <a:moveTo>
                      <a:pt x="917" y="580"/>
                    </a:moveTo>
                    <a:lnTo>
                      <a:pt x="917" y="580"/>
                    </a:lnTo>
                    <a:cubicBezTo>
                      <a:pt x="917" y="598"/>
                      <a:pt x="903" y="613"/>
                      <a:pt x="885" y="613"/>
                    </a:cubicBezTo>
                    <a:lnTo>
                      <a:pt x="72" y="613"/>
                    </a:lnTo>
                    <a:cubicBezTo>
                      <a:pt x="54" y="613"/>
                      <a:pt x="40" y="598"/>
                      <a:pt x="40" y="580"/>
                    </a:cubicBezTo>
                    <a:lnTo>
                      <a:pt x="40" y="72"/>
                    </a:lnTo>
                    <a:cubicBezTo>
                      <a:pt x="40" y="54"/>
                      <a:pt x="54" y="40"/>
                      <a:pt x="72" y="40"/>
                    </a:cubicBezTo>
                    <a:lnTo>
                      <a:pt x="885" y="40"/>
                    </a:lnTo>
                    <a:cubicBezTo>
                      <a:pt x="903" y="40"/>
                      <a:pt x="917" y="54"/>
                      <a:pt x="917" y="72"/>
                    </a:cubicBezTo>
                    <a:lnTo>
                      <a:pt x="917" y="580"/>
                    </a:lnTo>
                    <a:close/>
                    <a:moveTo>
                      <a:pt x="885" y="0"/>
                    </a:moveTo>
                    <a:lnTo>
                      <a:pt x="885" y="0"/>
                    </a:lnTo>
                    <a:lnTo>
                      <a:pt x="72" y="0"/>
                    </a:lnTo>
                    <a:cubicBezTo>
                      <a:pt x="32" y="0"/>
                      <a:pt x="0" y="32"/>
                      <a:pt x="0" y="72"/>
                    </a:cubicBezTo>
                    <a:lnTo>
                      <a:pt x="0" y="580"/>
                    </a:lnTo>
                    <a:cubicBezTo>
                      <a:pt x="0" y="620"/>
                      <a:pt x="32" y="653"/>
                      <a:pt x="72" y="653"/>
                    </a:cubicBezTo>
                    <a:lnTo>
                      <a:pt x="885" y="653"/>
                    </a:lnTo>
                    <a:cubicBezTo>
                      <a:pt x="925" y="653"/>
                      <a:pt x="957" y="620"/>
                      <a:pt x="957" y="580"/>
                    </a:cubicBezTo>
                    <a:lnTo>
                      <a:pt x="957" y="72"/>
                    </a:lnTo>
                    <a:cubicBezTo>
                      <a:pt x="957" y="32"/>
                      <a:pt x="925" y="0"/>
                      <a:pt x="885"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Freeform 43"/>
              <p:cNvSpPr>
                <a:spLocks/>
              </p:cNvSpPr>
              <p:nvPr/>
            </p:nvSpPr>
            <p:spPr bwMode="gray">
              <a:xfrm>
                <a:off x="2063750" y="1282700"/>
                <a:ext cx="482600" cy="100013"/>
              </a:xfrm>
              <a:custGeom>
                <a:avLst/>
                <a:gdLst>
                  <a:gd name="T0" fmla="*/ 2147483647 w 1149"/>
                  <a:gd name="T1" fmla="*/ 2147483647 h 240"/>
                  <a:gd name="T2" fmla="*/ 2147483647 w 1149"/>
                  <a:gd name="T3" fmla="*/ 2147483647 h 240"/>
                  <a:gd name="T4" fmla="*/ 2147483647 w 1149"/>
                  <a:gd name="T5" fmla="*/ 0 h 240"/>
                  <a:gd name="T6" fmla="*/ 2147483647 w 1149"/>
                  <a:gd name="T7" fmla="*/ 0 h 240"/>
                  <a:gd name="T8" fmla="*/ 2147483647 w 1149"/>
                  <a:gd name="T9" fmla="*/ 2147483647 h 240"/>
                  <a:gd name="T10" fmla="*/ 2147483647 w 1149"/>
                  <a:gd name="T11" fmla="*/ 2147483647 h 240"/>
                  <a:gd name="T12" fmla="*/ 2147483647 w 1149"/>
                  <a:gd name="T13" fmla="*/ 2147483647 h 240"/>
                  <a:gd name="T14" fmla="*/ 2147483647 w 1149"/>
                  <a:gd name="T15" fmla="*/ 2147483647 h 240"/>
                  <a:gd name="T16" fmla="*/ 2147483647 w 1149"/>
                  <a:gd name="T17" fmla="*/ 2147483647 h 240"/>
                  <a:gd name="T18" fmla="*/ 2147483647 w 1149"/>
                  <a:gd name="T19" fmla="*/ 2147483647 h 240"/>
                  <a:gd name="T20" fmla="*/ 2147483647 w 1149"/>
                  <a:gd name="T21" fmla="*/ 2147483647 h 240"/>
                  <a:gd name="T22" fmla="*/ 2147483647 w 1149"/>
                  <a:gd name="T23" fmla="*/ 2147483647 h 240"/>
                  <a:gd name="T24" fmla="*/ 2147483647 w 1149"/>
                  <a:gd name="T25" fmla="*/ 2147483647 h 240"/>
                  <a:gd name="T26" fmla="*/ 2147483647 w 1149"/>
                  <a:gd name="T27" fmla="*/ 2147483647 h 240"/>
                  <a:gd name="T28" fmla="*/ 2147483647 w 1149"/>
                  <a:gd name="T29" fmla="*/ 2147483647 h 240"/>
                  <a:gd name="T30" fmla="*/ 2147483647 w 1149"/>
                  <a:gd name="T31" fmla="*/ 2147483647 h 240"/>
                  <a:gd name="T32" fmla="*/ 2147483647 w 1149"/>
                  <a:gd name="T33" fmla="*/ 2147483647 h 240"/>
                  <a:gd name="T34" fmla="*/ 2147483647 w 1149"/>
                  <a:gd name="T35" fmla="*/ 2147483647 h 240"/>
                  <a:gd name="T36" fmla="*/ 2147483647 w 1149"/>
                  <a:gd name="T37" fmla="*/ 2147483647 h 240"/>
                  <a:gd name="T38" fmla="*/ 2147483647 w 1149"/>
                  <a:gd name="T39" fmla="*/ 2147483647 h 240"/>
                  <a:gd name="T40" fmla="*/ 2147483647 w 1149"/>
                  <a:gd name="T41" fmla="*/ 2147483647 h 240"/>
                  <a:gd name="T42" fmla="*/ 2147483647 w 1149"/>
                  <a:gd name="T43" fmla="*/ 2147483647 h 240"/>
                  <a:gd name="T44" fmla="*/ 2147483647 w 1149"/>
                  <a:gd name="T45" fmla="*/ 2147483647 h 240"/>
                  <a:gd name="T46" fmla="*/ 2147483647 w 1149"/>
                  <a:gd name="T47" fmla="*/ 2147483647 h 240"/>
                  <a:gd name="T48" fmla="*/ 2147483647 w 1149"/>
                  <a:gd name="T49" fmla="*/ 2147483647 h 240"/>
                  <a:gd name="T50" fmla="*/ 2147483647 w 1149"/>
                  <a:gd name="T51" fmla="*/ 2147483647 h 24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149"/>
                  <a:gd name="T79" fmla="*/ 0 h 240"/>
                  <a:gd name="T80" fmla="*/ 1149 w 1149"/>
                  <a:gd name="T81" fmla="*/ 240 h 24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149" h="240">
                    <a:moveTo>
                      <a:pt x="1048" y="15"/>
                    </a:moveTo>
                    <a:lnTo>
                      <a:pt x="1048" y="15"/>
                    </a:lnTo>
                    <a:cubicBezTo>
                      <a:pt x="1042" y="6"/>
                      <a:pt x="1032" y="0"/>
                      <a:pt x="1021" y="0"/>
                    </a:cubicBezTo>
                    <a:lnTo>
                      <a:pt x="128" y="0"/>
                    </a:lnTo>
                    <a:cubicBezTo>
                      <a:pt x="117" y="0"/>
                      <a:pt x="107" y="6"/>
                      <a:pt x="101" y="15"/>
                    </a:cubicBezTo>
                    <a:lnTo>
                      <a:pt x="7" y="151"/>
                    </a:lnTo>
                    <a:cubicBezTo>
                      <a:pt x="0" y="162"/>
                      <a:pt x="0" y="175"/>
                      <a:pt x="5" y="186"/>
                    </a:cubicBezTo>
                    <a:cubicBezTo>
                      <a:pt x="11" y="197"/>
                      <a:pt x="22" y="204"/>
                      <a:pt x="35" y="204"/>
                    </a:cubicBezTo>
                    <a:lnTo>
                      <a:pt x="662" y="204"/>
                    </a:lnTo>
                    <a:cubicBezTo>
                      <a:pt x="674" y="225"/>
                      <a:pt x="697" y="240"/>
                      <a:pt x="723" y="240"/>
                    </a:cubicBezTo>
                    <a:cubicBezTo>
                      <a:pt x="761" y="240"/>
                      <a:pt x="792" y="208"/>
                      <a:pt x="792" y="170"/>
                    </a:cubicBezTo>
                    <a:cubicBezTo>
                      <a:pt x="792" y="132"/>
                      <a:pt x="761" y="101"/>
                      <a:pt x="723" y="101"/>
                    </a:cubicBezTo>
                    <a:cubicBezTo>
                      <a:pt x="697" y="101"/>
                      <a:pt x="674" y="115"/>
                      <a:pt x="662" y="137"/>
                    </a:cubicBezTo>
                    <a:lnTo>
                      <a:pt x="98" y="137"/>
                    </a:lnTo>
                    <a:lnTo>
                      <a:pt x="146" y="67"/>
                    </a:lnTo>
                    <a:lnTo>
                      <a:pt x="1003" y="67"/>
                    </a:lnTo>
                    <a:lnTo>
                      <a:pt x="1051" y="137"/>
                    </a:lnTo>
                    <a:lnTo>
                      <a:pt x="997" y="137"/>
                    </a:lnTo>
                    <a:cubicBezTo>
                      <a:pt x="985" y="115"/>
                      <a:pt x="962" y="101"/>
                      <a:pt x="936" y="101"/>
                    </a:cubicBezTo>
                    <a:cubicBezTo>
                      <a:pt x="897" y="101"/>
                      <a:pt x="867" y="132"/>
                      <a:pt x="867" y="170"/>
                    </a:cubicBezTo>
                    <a:cubicBezTo>
                      <a:pt x="867" y="208"/>
                      <a:pt x="897" y="240"/>
                      <a:pt x="936" y="240"/>
                    </a:cubicBezTo>
                    <a:cubicBezTo>
                      <a:pt x="962" y="240"/>
                      <a:pt x="985" y="225"/>
                      <a:pt x="997" y="204"/>
                    </a:cubicBezTo>
                    <a:lnTo>
                      <a:pt x="1114" y="204"/>
                    </a:lnTo>
                    <a:cubicBezTo>
                      <a:pt x="1127" y="204"/>
                      <a:pt x="1138" y="197"/>
                      <a:pt x="1144" y="186"/>
                    </a:cubicBezTo>
                    <a:cubicBezTo>
                      <a:pt x="1149" y="175"/>
                      <a:pt x="1149" y="162"/>
                      <a:pt x="1142" y="151"/>
                    </a:cubicBezTo>
                    <a:lnTo>
                      <a:pt x="1048" y="15"/>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Freeform 44"/>
              <p:cNvSpPr>
                <a:spLocks noEditPoints="1"/>
              </p:cNvSpPr>
              <p:nvPr/>
            </p:nvSpPr>
            <p:spPr bwMode="gray">
              <a:xfrm>
                <a:off x="1836738" y="925513"/>
                <a:ext cx="193675" cy="442913"/>
              </a:xfrm>
              <a:custGeom>
                <a:avLst/>
                <a:gdLst>
                  <a:gd name="T0" fmla="*/ 2147483647 w 461"/>
                  <a:gd name="T1" fmla="*/ 2147483647 h 1055"/>
                  <a:gd name="T2" fmla="*/ 2147483647 w 461"/>
                  <a:gd name="T3" fmla="*/ 2147483647 h 1055"/>
                  <a:gd name="T4" fmla="*/ 2147483647 w 461"/>
                  <a:gd name="T5" fmla="*/ 2147483647 h 1055"/>
                  <a:gd name="T6" fmla="*/ 2147483647 w 461"/>
                  <a:gd name="T7" fmla="*/ 2147483647 h 1055"/>
                  <a:gd name="T8" fmla="*/ 2147483647 w 461"/>
                  <a:gd name="T9" fmla="*/ 2147483647 h 1055"/>
                  <a:gd name="T10" fmla="*/ 2147483647 w 461"/>
                  <a:gd name="T11" fmla="*/ 2147483647 h 1055"/>
                  <a:gd name="T12" fmla="*/ 2147483647 w 461"/>
                  <a:gd name="T13" fmla="*/ 2147483647 h 1055"/>
                  <a:gd name="T14" fmla="*/ 2147483647 w 461"/>
                  <a:gd name="T15" fmla="*/ 2147483647 h 1055"/>
                  <a:gd name="T16" fmla="*/ 2147483647 w 461"/>
                  <a:gd name="T17" fmla="*/ 2147483647 h 1055"/>
                  <a:gd name="T18" fmla="*/ 2147483647 w 461"/>
                  <a:gd name="T19" fmla="*/ 2147483647 h 1055"/>
                  <a:gd name="T20" fmla="*/ 2147483647 w 461"/>
                  <a:gd name="T21" fmla="*/ 0 h 1055"/>
                  <a:gd name="T22" fmla="*/ 2147483647 w 461"/>
                  <a:gd name="T23" fmla="*/ 0 h 1055"/>
                  <a:gd name="T24" fmla="*/ 2147483647 w 461"/>
                  <a:gd name="T25" fmla="*/ 0 h 1055"/>
                  <a:gd name="T26" fmla="*/ 0 w 461"/>
                  <a:gd name="T27" fmla="*/ 2147483647 h 1055"/>
                  <a:gd name="T28" fmla="*/ 0 w 461"/>
                  <a:gd name="T29" fmla="*/ 2147483647 h 1055"/>
                  <a:gd name="T30" fmla="*/ 2147483647 w 461"/>
                  <a:gd name="T31" fmla="*/ 2147483647 h 1055"/>
                  <a:gd name="T32" fmla="*/ 2147483647 w 461"/>
                  <a:gd name="T33" fmla="*/ 2147483647 h 1055"/>
                  <a:gd name="T34" fmla="*/ 2147483647 w 461"/>
                  <a:gd name="T35" fmla="*/ 2147483647 h 1055"/>
                  <a:gd name="T36" fmla="*/ 2147483647 w 461"/>
                  <a:gd name="T37" fmla="*/ 2147483647 h 1055"/>
                  <a:gd name="T38" fmla="*/ 2147483647 w 461"/>
                  <a:gd name="T39" fmla="*/ 0 h 105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61"/>
                  <a:gd name="T61" fmla="*/ 0 h 1055"/>
                  <a:gd name="T62" fmla="*/ 461 w 461"/>
                  <a:gd name="T63" fmla="*/ 1055 h 105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61" h="1055">
                    <a:moveTo>
                      <a:pt x="394" y="955"/>
                    </a:moveTo>
                    <a:lnTo>
                      <a:pt x="394" y="955"/>
                    </a:lnTo>
                    <a:cubicBezTo>
                      <a:pt x="394" y="973"/>
                      <a:pt x="379" y="988"/>
                      <a:pt x="361" y="988"/>
                    </a:cubicBezTo>
                    <a:lnTo>
                      <a:pt x="100" y="988"/>
                    </a:lnTo>
                    <a:cubicBezTo>
                      <a:pt x="82" y="988"/>
                      <a:pt x="67" y="973"/>
                      <a:pt x="67" y="955"/>
                    </a:cubicBezTo>
                    <a:lnTo>
                      <a:pt x="67" y="100"/>
                    </a:lnTo>
                    <a:cubicBezTo>
                      <a:pt x="67" y="82"/>
                      <a:pt x="82" y="67"/>
                      <a:pt x="100" y="67"/>
                    </a:cubicBezTo>
                    <a:lnTo>
                      <a:pt x="361" y="67"/>
                    </a:lnTo>
                    <a:cubicBezTo>
                      <a:pt x="379" y="67"/>
                      <a:pt x="394" y="82"/>
                      <a:pt x="394" y="100"/>
                    </a:cubicBezTo>
                    <a:lnTo>
                      <a:pt x="394" y="955"/>
                    </a:lnTo>
                    <a:close/>
                    <a:moveTo>
                      <a:pt x="361" y="0"/>
                    </a:moveTo>
                    <a:lnTo>
                      <a:pt x="361" y="0"/>
                    </a:lnTo>
                    <a:lnTo>
                      <a:pt x="100" y="0"/>
                    </a:lnTo>
                    <a:cubicBezTo>
                      <a:pt x="45" y="0"/>
                      <a:pt x="0" y="45"/>
                      <a:pt x="0" y="100"/>
                    </a:cubicBezTo>
                    <a:lnTo>
                      <a:pt x="0" y="955"/>
                    </a:lnTo>
                    <a:cubicBezTo>
                      <a:pt x="0" y="1010"/>
                      <a:pt x="45" y="1055"/>
                      <a:pt x="100" y="1055"/>
                    </a:cubicBezTo>
                    <a:lnTo>
                      <a:pt x="361" y="1055"/>
                    </a:lnTo>
                    <a:cubicBezTo>
                      <a:pt x="416" y="1055"/>
                      <a:pt x="461" y="1010"/>
                      <a:pt x="461" y="955"/>
                    </a:cubicBezTo>
                    <a:lnTo>
                      <a:pt x="461" y="100"/>
                    </a:lnTo>
                    <a:cubicBezTo>
                      <a:pt x="461" y="45"/>
                      <a:pt x="416" y="0"/>
                      <a:pt x="361"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Freeform 45"/>
              <p:cNvSpPr>
                <a:spLocks/>
              </p:cNvSpPr>
              <p:nvPr/>
            </p:nvSpPr>
            <p:spPr bwMode="gray">
              <a:xfrm>
                <a:off x="1878013" y="1003300"/>
                <a:ext cx="112713" cy="28575"/>
              </a:xfrm>
              <a:custGeom>
                <a:avLst/>
                <a:gdLst>
                  <a:gd name="T0" fmla="*/ 2147483647 w 267"/>
                  <a:gd name="T1" fmla="*/ 0 h 66"/>
                  <a:gd name="T2" fmla="*/ 2147483647 w 267"/>
                  <a:gd name="T3" fmla="*/ 0 h 66"/>
                  <a:gd name="T4" fmla="*/ 2147483647 w 267"/>
                  <a:gd name="T5" fmla="*/ 0 h 66"/>
                  <a:gd name="T6" fmla="*/ 0 w 267"/>
                  <a:gd name="T7" fmla="*/ 2147483647 h 66"/>
                  <a:gd name="T8" fmla="*/ 2147483647 w 267"/>
                  <a:gd name="T9" fmla="*/ 2147483647 h 66"/>
                  <a:gd name="T10" fmla="*/ 2147483647 w 267"/>
                  <a:gd name="T11" fmla="*/ 2147483647 h 66"/>
                  <a:gd name="T12" fmla="*/ 2147483647 w 267"/>
                  <a:gd name="T13" fmla="*/ 2147483647 h 66"/>
                  <a:gd name="T14" fmla="*/ 2147483647 w 267"/>
                  <a:gd name="T15" fmla="*/ 0 h 66"/>
                  <a:gd name="T16" fmla="*/ 0 60000 65536"/>
                  <a:gd name="T17" fmla="*/ 0 60000 65536"/>
                  <a:gd name="T18" fmla="*/ 0 60000 65536"/>
                  <a:gd name="T19" fmla="*/ 0 60000 65536"/>
                  <a:gd name="T20" fmla="*/ 0 60000 65536"/>
                  <a:gd name="T21" fmla="*/ 0 60000 65536"/>
                  <a:gd name="T22" fmla="*/ 0 60000 65536"/>
                  <a:gd name="T23" fmla="*/ 0 60000 65536"/>
                  <a:gd name="T24" fmla="*/ 0 w 267"/>
                  <a:gd name="T25" fmla="*/ 0 h 66"/>
                  <a:gd name="T26" fmla="*/ 267 w 267"/>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7" h="66">
                    <a:moveTo>
                      <a:pt x="233" y="0"/>
                    </a:moveTo>
                    <a:lnTo>
                      <a:pt x="233" y="0"/>
                    </a:lnTo>
                    <a:lnTo>
                      <a:pt x="33" y="0"/>
                    </a:lnTo>
                    <a:cubicBezTo>
                      <a:pt x="15" y="0"/>
                      <a:pt x="0" y="15"/>
                      <a:pt x="0" y="33"/>
                    </a:cubicBezTo>
                    <a:cubicBezTo>
                      <a:pt x="0" y="52"/>
                      <a:pt x="15" y="66"/>
                      <a:pt x="33" y="66"/>
                    </a:cubicBezTo>
                    <a:lnTo>
                      <a:pt x="233" y="66"/>
                    </a:lnTo>
                    <a:cubicBezTo>
                      <a:pt x="252" y="66"/>
                      <a:pt x="267" y="52"/>
                      <a:pt x="267" y="33"/>
                    </a:cubicBezTo>
                    <a:cubicBezTo>
                      <a:pt x="267" y="15"/>
                      <a:pt x="252" y="0"/>
                      <a:pt x="233"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Freeform 46"/>
              <p:cNvSpPr>
                <a:spLocks/>
              </p:cNvSpPr>
              <p:nvPr/>
            </p:nvSpPr>
            <p:spPr bwMode="gray">
              <a:xfrm>
                <a:off x="1878013" y="1042988"/>
                <a:ext cx="112713" cy="28575"/>
              </a:xfrm>
              <a:custGeom>
                <a:avLst/>
                <a:gdLst>
                  <a:gd name="T0" fmla="*/ 2147483647 w 267"/>
                  <a:gd name="T1" fmla="*/ 0 h 67"/>
                  <a:gd name="T2" fmla="*/ 2147483647 w 267"/>
                  <a:gd name="T3" fmla="*/ 0 h 67"/>
                  <a:gd name="T4" fmla="*/ 2147483647 w 267"/>
                  <a:gd name="T5" fmla="*/ 0 h 67"/>
                  <a:gd name="T6" fmla="*/ 0 w 267"/>
                  <a:gd name="T7" fmla="*/ 2147483647 h 67"/>
                  <a:gd name="T8" fmla="*/ 2147483647 w 267"/>
                  <a:gd name="T9" fmla="*/ 2147483647 h 67"/>
                  <a:gd name="T10" fmla="*/ 2147483647 w 267"/>
                  <a:gd name="T11" fmla="*/ 2147483647 h 67"/>
                  <a:gd name="T12" fmla="*/ 2147483647 w 267"/>
                  <a:gd name="T13" fmla="*/ 2147483647 h 67"/>
                  <a:gd name="T14" fmla="*/ 2147483647 w 267"/>
                  <a:gd name="T15" fmla="*/ 0 h 67"/>
                  <a:gd name="T16" fmla="*/ 0 60000 65536"/>
                  <a:gd name="T17" fmla="*/ 0 60000 65536"/>
                  <a:gd name="T18" fmla="*/ 0 60000 65536"/>
                  <a:gd name="T19" fmla="*/ 0 60000 65536"/>
                  <a:gd name="T20" fmla="*/ 0 60000 65536"/>
                  <a:gd name="T21" fmla="*/ 0 60000 65536"/>
                  <a:gd name="T22" fmla="*/ 0 60000 65536"/>
                  <a:gd name="T23" fmla="*/ 0 60000 65536"/>
                  <a:gd name="T24" fmla="*/ 0 w 267"/>
                  <a:gd name="T25" fmla="*/ 0 h 67"/>
                  <a:gd name="T26" fmla="*/ 267 w 267"/>
                  <a:gd name="T27" fmla="*/ 67 h 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7" h="67">
                    <a:moveTo>
                      <a:pt x="233" y="0"/>
                    </a:moveTo>
                    <a:lnTo>
                      <a:pt x="233" y="0"/>
                    </a:lnTo>
                    <a:lnTo>
                      <a:pt x="33" y="0"/>
                    </a:lnTo>
                    <a:cubicBezTo>
                      <a:pt x="15" y="0"/>
                      <a:pt x="0" y="15"/>
                      <a:pt x="0" y="33"/>
                    </a:cubicBezTo>
                    <a:cubicBezTo>
                      <a:pt x="0" y="52"/>
                      <a:pt x="15" y="67"/>
                      <a:pt x="33" y="67"/>
                    </a:cubicBezTo>
                    <a:lnTo>
                      <a:pt x="233" y="67"/>
                    </a:lnTo>
                    <a:cubicBezTo>
                      <a:pt x="252" y="67"/>
                      <a:pt x="267" y="52"/>
                      <a:pt x="267" y="33"/>
                    </a:cubicBezTo>
                    <a:cubicBezTo>
                      <a:pt x="267" y="15"/>
                      <a:pt x="252" y="0"/>
                      <a:pt x="233"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Freeform 47"/>
              <p:cNvSpPr>
                <a:spLocks/>
              </p:cNvSpPr>
              <p:nvPr/>
            </p:nvSpPr>
            <p:spPr bwMode="gray">
              <a:xfrm>
                <a:off x="1878013" y="1081088"/>
                <a:ext cx="112713" cy="28575"/>
              </a:xfrm>
              <a:custGeom>
                <a:avLst/>
                <a:gdLst>
                  <a:gd name="T0" fmla="*/ 2147483647 w 267"/>
                  <a:gd name="T1" fmla="*/ 0 h 67"/>
                  <a:gd name="T2" fmla="*/ 2147483647 w 267"/>
                  <a:gd name="T3" fmla="*/ 0 h 67"/>
                  <a:gd name="T4" fmla="*/ 2147483647 w 267"/>
                  <a:gd name="T5" fmla="*/ 0 h 67"/>
                  <a:gd name="T6" fmla="*/ 0 w 267"/>
                  <a:gd name="T7" fmla="*/ 2147483647 h 67"/>
                  <a:gd name="T8" fmla="*/ 2147483647 w 267"/>
                  <a:gd name="T9" fmla="*/ 2147483647 h 67"/>
                  <a:gd name="T10" fmla="*/ 2147483647 w 267"/>
                  <a:gd name="T11" fmla="*/ 2147483647 h 67"/>
                  <a:gd name="T12" fmla="*/ 2147483647 w 267"/>
                  <a:gd name="T13" fmla="*/ 2147483647 h 67"/>
                  <a:gd name="T14" fmla="*/ 2147483647 w 267"/>
                  <a:gd name="T15" fmla="*/ 0 h 67"/>
                  <a:gd name="T16" fmla="*/ 0 60000 65536"/>
                  <a:gd name="T17" fmla="*/ 0 60000 65536"/>
                  <a:gd name="T18" fmla="*/ 0 60000 65536"/>
                  <a:gd name="T19" fmla="*/ 0 60000 65536"/>
                  <a:gd name="T20" fmla="*/ 0 60000 65536"/>
                  <a:gd name="T21" fmla="*/ 0 60000 65536"/>
                  <a:gd name="T22" fmla="*/ 0 60000 65536"/>
                  <a:gd name="T23" fmla="*/ 0 60000 65536"/>
                  <a:gd name="T24" fmla="*/ 0 w 267"/>
                  <a:gd name="T25" fmla="*/ 0 h 67"/>
                  <a:gd name="T26" fmla="*/ 267 w 267"/>
                  <a:gd name="T27" fmla="*/ 67 h 6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7" h="67">
                    <a:moveTo>
                      <a:pt x="233" y="0"/>
                    </a:moveTo>
                    <a:lnTo>
                      <a:pt x="233" y="0"/>
                    </a:lnTo>
                    <a:lnTo>
                      <a:pt x="33" y="0"/>
                    </a:lnTo>
                    <a:cubicBezTo>
                      <a:pt x="15" y="0"/>
                      <a:pt x="0" y="15"/>
                      <a:pt x="0" y="34"/>
                    </a:cubicBezTo>
                    <a:cubicBezTo>
                      <a:pt x="0" y="52"/>
                      <a:pt x="15" y="67"/>
                      <a:pt x="33" y="67"/>
                    </a:cubicBezTo>
                    <a:lnTo>
                      <a:pt x="233" y="67"/>
                    </a:lnTo>
                    <a:cubicBezTo>
                      <a:pt x="252" y="67"/>
                      <a:pt x="267" y="52"/>
                      <a:pt x="267" y="34"/>
                    </a:cubicBezTo>
                    <a:cubicBezTo>
                      <a:pt x="267" y="15"/>
                      <a:pt x="252" y="0"/>
                      <a:pt x="233"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Freeform 48"/>
              <p:cNvSpPr>
                <a:spLocks noEditPoints="1"/>
              </p:cNvSpPr>
              <p:nvPr/>
            </p:nvSpPr>
            <p:spPr bwMode="gray">
              <a:xfrm>
                <a:off x="1892300" y="1227138"/>
                <a:ext cx="84138" cy="84138"/>
              </a:xfrm>
              <a:custGeom>
                <a:avLst/>
                <a:gdLst>
                  <a:gd name="T0" fmla="*/ 2147483647 w 200"/>
                  <a:gd name="T1" fmla="*/ 2147483647 h 200"/>
                  <a:gd name="T2" fmla="*/ 2147483647 w 200"/>
                  <a:gd name="T3" fmla="*/ 2147483647 h 200"/>
                  <a:gd name="T4" fmla="*/ 2147483647 w 200"/>
                  <a:gd name="T5" fmla="*/ 2147483647 h 200"/>
                  <a:gd name="T6" fmla="*/ 2147483647 w 200"/>
                  <a:gd name="T7" fmla="*/ 2147483647 h 200"/>
                  <a:gd name="T8" fmla="*/ 2147483647 w 200"/>
                  <a:gd name="T9" fmla="*/ 2147483647 h 200"/>
                  <a:gd name="T10" fmla="*/ 2147483647 w 200"/>
                  <a:gd name="T11" fmla="*/ 2147483647 h 200"/>
                  <a:gd name="T12" fmla="*/ 2147483647 w 200"/>
                  <a:gd name="T13" fmla="*/ 0 h 200"/>
                  <a:gd name="T14" fmla="*/ 2147483647 w 200"/>
                  <a:gd name="T15" fmla="*/ 0 h 200"/>
                  <a:gd name="T16" fmla="*/ 0 w 200"/>
                  <a:gd name="T17" fmla="*/ 2147483647 h 200"/>
                  <a:gd name="T18" fmla="*/ 2147483647 w 200"/>
                  <a:gd name="T19" fmla="*/ 2147483647 h 200"/>
                  <a:gd name="T20" fmla="*/ 2147483647 w 200"/>
                  <a:gd name="T21" fmla="*/ 2147483647 h 200"/>
                  <a:gd name="T22" fmla="*/ 2147483647 w 200"/>
                  <a:gd name="T23" fmla="*/ 0 h 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0"/>
                  <a:gd name="T37" fmla="*/ 0 h 200"/>
                  <a:gd name="T38" fmla="*/ 200 w 200"/>
                  <a:gd name="T39" fmla="*/ 200 h 2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0" h="200">
                    <a:moveTo>
                      <a:pt x="100" y="133"/>
                    </a:moveTo>
                    <a:lnTo>
                      <a:pt x="100" y="133"/>
                    </a:lnTo>
                    <a:cubicBezTo>
                      <a:pt x="82" y="133"/>
                      <a:pt x="67" y="118"/>
                      <a:pt x="67" y="100"/>
                    </a:cubicBezTo>
                    <a:cubicBezTo>
                      <a:pt x="67" y="82"/>
                      <a:pt x="82" y="67"/>
                      <a:pt x="100" y="67"/>
                    </a:cubicBezTo>
                    <a:cubicBezTo>
                      <a:pt x="119" y="67"/>
                      <a:pt x="134" y="82"/>
                      <a:pt x="134" y="100"/>
                    </a:cubicBezTo>
                    <a:cubicBezTo>
                      <a:pt x="134" y="118"/>
                      <a:pt x="119" y="133"/>
                      <a:pt x="100" y="133"/>
                    </a:cubicBezTo>
                    <a:close/>
                    <a:moveTo>
                      <a:pt x="100" y="0"/>
                    </a:moveTo>
                    <a:lnTo>
                      <a:pt x="100" y="0"/>
                    </a:lnTo>
                    <a:cubicBezTo>
                      <a:pt x="45" y="0"/>
                      <a:pt x="0" y="45"/>
                      <a:pt x="0" y="100"/>
                    </a:cubicBezTo>
                    <a:cubicBezTo>
                      <a:pt x="0" y="155"/>
                      <a:pt x="45" y="200"/>
                      <a:pt x="100" y="200"/>
                    </a:cubicBezTo>
                    <a:cubicBezTo>
                      <a:pt x="155" y="200"/>
                      <a:pt x="200" y="155"/>
                      <a:pt x="200" y="100"/>
                    </a:cubicBezTo>
                    <a:cubicBezTo>
                      <a:pt x="200" y="45"/>
                      <a:pt x="155" y="0"/>
                      <a:pt x="100" y="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111" name="文本框 110"/>
          <p:cNvSpPr txBox="1"/>
          <p:nvPr/>
        </p:nvSpPr>
        <p:spPr bwMode="gray">
          <a:xfrm>
            <a:off x="6814919" y="5878423"/>
            <a:ext cx="492443" cy="276999"/>
          </a:xfrm>
          <a:prstGeom prst="rect">
            <a:avLst/>
          </a:prstGeom>
          <a:noFill/>
        </p:spPr>
        <p:txBody>
          <a:bodyPr wrap="none" rtlCol="0">
            <a:spAutoFit/>
          </a:bodyPr>
          <a:lstStyle/>
          <a:p>
            <a:pPr algn="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办公</a:t>
            </a:r>
            <a:endParaRPr lang="en-US" altLang="zh-CN" sz="120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12" name="组合 225"/>
          <p:cNvGrpSpPr>
            <a:grpSpLocks/>
          </p:cNvGrpSpPr>
          <p:nvPr/>
        </p:nvGrpSpPr>
        <p:grpSpPr bwMode="gray">
          <a:xfrm>
            <a:off x="8673128" y="5373437"/>
            <a:ext cx="504238" cy="504879"/>
            <a:chOff x="436563" y="3479800"/>
            <a:chExt cx="1114425" cy="1116013"/>
          </a:xfrm>
        </p:grpSpPr>
        <p:sp>
          <p:nvSpPr>
            <p:cNvPr id="113" name="Freeform 166"/>
            <p:cNvSpPr>
              <a:spLocks/>
            </p:cNvSpPr>
            <p:nvPr/>
          </p:nvSpPr>
          <p:spPr bwMode="gray">
            <a:xfrm>
              <a:off x="436563" y="3479800"/>
              <a:ext cx="1114425" cy="1116013"/>
            </a:xfrm>
            <a:custGeom>
              <a:avLst/>
              <a:gdLst>
                <a:gd name="T0" fmla="*/ 2147483647 w 2658"/>
                <a:gd name="T1" fmla="*/ 2147483647 h 2659"/>
                <a:gd name="T2" fmla="*/ 2147483647 w 2658"/>
                <a:gd name="T3" fmla="*/ 2147483647 h 2659"/>
                <a:gd name="T4" fmla="*/ 2147483647 w 2658"/>
                <a:gd name="T5" fmla="*/ 2147483647 h 2659"/>
                <a:gd name="T6" fmla="*/ 0 w 2658"/>
                <a:gd name="T7" fmla="*/ 2147483647 h 2659"/>
                <a:gd name="T8" fmla="*/ 2147483647 w 2658"/>
                <a:gd name="T9" fmla="*/ 0 h 2659"/>
                <a:gd name="T10" fmla="*/ 2147483647 w 2658"/>
                <a:gd name="T11" fmla="*/ 2147483647 h 2659"/>
                <a:gd name="T12" fmla="*/ 0 60000 65536"/>
                <a:gd name="T13" fmla="*/ 0 60000 65536"/>
                <a:gd name="T14" fmla="*/ 0 60000 65536"/>
                <a:gd name="T15" fmla="*/ 0 60000 65536"/>
                <a:gd name="T16" fmla="*/ 0 60000 65536"/>
                <a:gd name="T17" fmla="*/ 0 60000 65536"/>
                <a:gd name="T18" fmla="*/ 0 w 2658"/>
                <a:gd name="T19" fmla="*/ 0 h 2659"/>
                <a:gd name="T20" fmla="*/ 2658 w 2658"/>
                <a:gd name="T21" fmla="*/ 2659 h 2659"/>
              </a:gdLst>
              <a:ahLst/>
              <a:cxnLst>
                <a:cxn ang="T12">
                  <a:pos x="T0" y="T1"/>
                </a:cxn>
                <a:cxn ang="T13">
                  <a:pos x="T2" y="T3"/>
                </a:cxn>
                <a:cxn ang="T14">
                  <a:pos x="T4" y="T5"/>
                </a:cxn>
                <a:cxn ang="T15">
                  <a:pos x="T6" y="T7"/>
                </a:cxn>
                <a:cxn ang="T16">
                  <a:pos x="T8" y="T9"/>
                </a:cxn>
                <a:cxn ang="T17">
                  <a:pos x="T10" y="T11"/>
                </a:cxn>
              </a:cxnLst>
              <a:rect l="T18" t="T19" r="T20" b="T21"/>
              <a:pathLst>
                <a:path w="2658" h="2659">
                  <a:moveTo>
                    <a:pt x="2658" y="1330"/>
                  </a:moveTo>
                  <a:lnTo>
                    <a:pt x="2658" y="1330"/>
                  </a:lnTo>
                  <a:cubicBezTo>
                    <a:pt x="2658" y="2064"/>
                    <a:pt x="2063" y="2659"/>
                    <a:pt x="1329" y="2659"/>
                  </a:cubicBezTo>
                  <a:cubicBezTo>
                    <a:pt x="595" y="2659"/>
                    <a:pt x="0" y="2064"/>
                    <a:pt x="0" y="1330"/>
                  </a:cubicBezTo>
                  <a:cubicBezTo>
                    <a:pt x="0" y="595"/>
                    <a:pt x="595" y="0"/>
                    <a:pt x="1329" y="0"/>
                  </a:cubicBezTo>
                  <a:cubicBezTo>
                    <a:pt x="2063" y="0"/>
                    <a:pt x="2658" y="595"/>
                    <a:pt x="2658" y="1330"/>
                  </a:cubicBezTo>
                  <a:close/>
                </a:path>
              </a:pathLst>
            </a:custGeom>
            <a:solidFill>
              <a:srgbClr val="FFD17D"/>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14" name="组合 206"/>
            <p:cNvGrpSpPr>
              <a:grpSpLocks/>
            </p:cNvGrpSpPr>
            <p:nvPr/>
          </p:nvGrpSpPr>
          <p:grpSpPr bwMode="gray">
            <a:xfrm>
              <a:off x="512763" y="3792538"/>
              <a:ext cx="963613" cy="488950"/>
              <a:chOff x="512763" y="3792538"/>
              <a:chExt cx="963613" cy="488950"/>
            </a:xfrm>
          </p:grpSpPr>
          <p:sp>
            <p:nvSpPr>
              <p:cNvPr id="115" name="Freeform 167"/>
              <p:cNvSpPr>
                <a:spLocks noEditPoints="1"/>
              </p:cNvSpPr>
              <p:nvPr/>
            </p:nvSpPr>
            <p:spPr bwMode="gray">
              <a:xfrm>
                <a:off x="633413" y="3844925"/>
                <a:ext cx="227013" cy="163513"/>
              </a:xfrm>
              <a:custGeom>
                <a:avLst/>
                <a:gdLst>
                  <a:gd name="T0" fmla="*/ 2147483647 w 541"/>
                  <a:gd name="T1" fmla="*/ 2147483647 h 390"/>
                  <a:gd name="T2" fmla="*/ 2147483647 w 541"/>
                  <a:gd name="T3" fmla="*/ 2147483647 h 390"/>
                  <a:gd name="T4" fmla="*/ 2147483647 w 541"/>
                  <a:gd name="T5" fmla="*/ 2147483647 h 390"/>
                  <a:gd name="T6" fmla="*/ 2147483647 w 541"/>
                  <a:gd name="T7" fmla="*/ 2147483647 h 390"/>
                  <a:gd name="T8" fmla="*/ 2147483647 w 541"/>
                  <a:gd name="T9" fmla="*/ 2147483647 h 390"/>
                  <a:gd name="T10" fmla="*/ 2147483647 w 541"/>
                  <a:gd name="T11" fmla="*/ 2147483647 h 390"/>
                  <a:gd name="T12" fmla="*/ 0 w 541"/>
                  <a:gd name="T13" fmla="*/ 2147483647 h 390"/>
                  <a:gd name="T14" fmla="*/ 0 w 541"/>
                  <a:gd name="T15" fmla="*/ 2147483647 h 390"/>
                  <a:gd name="T16" fmla="*/ 2147483647 w 541"/>
                  <a:gd name="T17" fmla="*/ 2147483647 h 390"/>
                  <a:gd name="T18" fmla="*/ 2147483647 w 541"/>
                  <a:gd name="T19" fmla="*/ 0 h 390"/>
                  <a:gd name="T20" fmla="*/ 0 w 541"/>
                  <a:gd name="T21" fmla="*/ 0 h 390"/>
                  <a:gd name="T22" fmla="*/ 0 w 541"/>
                  <a:gd name="T23" fmla="*/ 2147483647 h 3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41"/>
                  <a:gd name="T37" fmla="*/ 0 h 390"/>
                  <a:gd name="T38" fmla="*/ 541 w 541"/>
                  <a:gd name="T39" fmla="*/ 390 h 3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41" h="390">
                    <a:moveTo>
                      <a:pt x="53" y="54"/>
                    </a:moveTo>
                    <a:lnTo>
                      <a:pt x="53" y="54"/>
                    </a:lnTo>
                    <a:lnTo>
                      <a:pt x="488" y="54"/>
                    </a:lnTo>
                    <a:lnTo>
                      <a:pt x="488" y="336"/>
                    </a:lnTo>
                    <a:lnTo>
                      <a:pt x="53" y="336"/>
                    </a:lnTo>
                    <a:lnTo>
                      <a:pt x="53" y="54"/>
                    </a:lnTo>
                    <a:close/>
                    <a:moveTo>
                      <a:pt x="0" y="390"/>
                    </a:moveTo>
                    <a:lnTo>
                      <a:pt x="0" y="390"/>
                    </a:lnTo>
                    <a:lnTo>
                      <a:pt x="541" y="390"/>
                    </a:lnTo>
                    <a:lnTo>
                      <a:pt x="541" y="0"/>
                    </a:lnTo>
                    <a:lnTo>
                      <a:pt x="0" y="0"/>
                    </a:lnTo>
                    <a:lnTo>
                      <a:pt x="0" y="39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6" name="Freeform 168"/>
              <p:cNvSpPr>
                <a:spLocks noEditPoints="1"/>
              </p:cNvSpPr>
              <p:nvPr/>
            </p:nvSpPr>
            <p:spPr bwMode="gray">
              <a:xfrm>
                <a:off x="881063" y="3844925"/>
                <a:ext cx="227013" cy="163513"/>
              </a:xfrm>
              <a:custGeom>
                <a:avLst/>
                <a:gdLst>
                  <a:gd name="T0" fmla="*/ 2147483647 w 542"/>
                  <a:gd name="T1" fmla="*/ 2147483647 h 390"/>
                  <a:gd name="T2" fmla="*/ 2147483647 w 542"/>
                  <a:gd name="T3" fmla="*/ 2147483647 h 390"/>
                  <a:gd name="T4" fmla="*/ 2147483647 w 542"/>
                  <a:gd name="T5" fmla="*/ 2147483647 h 390"/>
                  <a:gd name="T6" fmla="*/ 2147483647 w 542"/>
                  <a:gd name="T7" fmla="*/ 2147483647 h 390"/>
                  <a:gd name="T8" fmla="*/ 2147483647 w 542"/>
                  <a:gd name="T9" fmla="*/ 2147483647 h 390"/>
                  <a:gd name="T10" fmla="*/ 2147483647 w 542"/>
                  <a:gd name="T11" fmla="*/ 2147483647 h 390"/>
                  <a:gd name="T12" fmla="*/ 2147483647 w 542"/>
                  <a:gd name="T13" fmla="*/ 0 h 390"/>
                  <a:gd name="T14" fmla="*/ 2147483647 w 542"/>
                  <a:gd name="T15" fmla="*/ 0 h 390"/>
                  <a:gd name="T16" fmla="*/ 0 w 542"/>
                  <a:gd name="T17" fmla="*/ 0 h 390"/>
                  <a:gd name="T18" fmla="*/ 0 w 542"/>
                  <a:gd name="T19" fmla="*/ 2147483647 h 390"/>
                  <a:gd name="T20" fmla="*/ 2147483647 w 542"/>
                  <a:gd name="T21" fmla="*/ 2147483647 h 390"/>
                  <a:gd name="T22" fmla="*/ 2147483647 w 542"/>
                  <a:gd name="T23" fmla="*/ 0 h 3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42"/>
                  <a:gd name="T37" fmla="*/ 0 h 390"/>
                  <a:gd name="T38" fmla="*/ 542 w 542"/>
                  <a:gd name="T39" fmla="*/ 390 h 3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42" h="390">
                    <a:moveTo>
                      <a:pt x="488" y="336"/>
                    </a:moveTo>
                    <a:lnTo>
                      <a:pt x="488" y="336"/>
                    </a:lnTo>
                    <a:lnTo>
                      <a:pt x="54" y="336"/>
                    </a:lnTo>
                    <a:lnTo>
                      <a:pt x="54" y="54"/>
                    </a:lnTo>
                    <a:lnTo>
                      <a:pt x="488" y="54"/>
                    </a:lnTo>
                    <a:lnTo>
                      <a:pt x="488" y="336"/>
                    </a:lnTo>
                    <a:close/>
                    <a:moveTo>
                      <a:pt x="542" y="0"/>
                    </a:moveTo>
                    <a:lnTo>
                      <a:pt x="542" y="0"/>
                    </a:lnTo>
                    <a:lnTo>
                      <a:pt x="0" y="0"/>
                    </a:lnTo>
                    <a:lnTo>
                      <a:pt x="0" y="390"/>
                    </a:lnTo>
                    <a:lnTo>
                      <a:pt x="542" y="390"/>
                    </a:lnTo>
                    <a:lnTo>
                      <a:pt x="542" y="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7" name="Freeform 169"/>
              <p:cNvSpPr>
                <a:spLocks noEditPoints="1"/>
              </p:cNvSpPr>
              <p:nvPr/>
            </p:nvSpPr>
            <p:spPr bwMode="gray">
              <a:xfrm>
                <a:off x="1128713" y="3844925"/>
                <a:ext cx="227013" cy="163513"/>
              </a:xfrm>
              <a:custGeom>
                <a:avLst/>
                <a:gdLst>
                  <a:gd name="T0" fmla="*/ 2147483647 w 542"/>
                  <a:gd name="T1" fmla="*/ 2147483647 h 390"/>
                  <a:gd name="T2" fmla="*/ 2147483647 w 542"/>
                  <a:gd name="T3" fmla="*/ 2147483647 h 390"/>
                  <a:gd name="T4" fmla="*/ 2147483647 w 542"/>
                  <a:gd name="T5" fmla="*/ 2147483647 h 390"/>
                  <a:gd name="T6" fmla="*/ 2147483647 w 542"/>
                  <a:gd name="T7" fmla="*/ 2147483647 h 390"/>
                  <a:gd name="T8" fmla="*/ 2147483647 w 542"/>
                  <a:gd name="T9" fmla="*/ 2147483647 h 390"/>
                  <a:gd name="T10" fmla="*/ 2147483647 w 542"/>
                  <a:gd name="T11" fmla="*/ 2147483647 h 390"/>
                  <a:gd name="T12" fmla="*/ 2147483647 w 542"/>
                  <a:gd name="T13" fmla="*/ 0 h 390"/>
                  <a:gd name="T14" fmla="*/ 2147483647 w 542"/>
                  <a:gd name="T15" fmla="*/ 0 h 390"/>
                  <a:gd name="T16" fmla="*/ 0 w 542"/>
                  <a:gd name="T17" fmla="*/ 0 h 390"/>
                  <a:gd name="T18" fmla="*/ 0 w 542"/>
                  <a:gd name="T19" fmla="*/ 2147483647 h 390"/>
                  <a:gd name="T20" fmla="*/ 2147483647 w 542"/>
                  <a:gd name="T21" fmla="*/ 2147483647 h 390"/>
                  <a:gd name="T22" fmla="*/ 2147483647 w 542"/>
                  <a:gd name="T23" fmla="*/ 0 h 39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42"/>
                  <a:gd name="T37" fmla="*/ 0 h 390"/>
                  <a:gd name="T38" fmla="*/ 542 w 542"/>
                  <a:gd name="T39" fmla="*/ 390 h 39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42" h="390">
                    <a:moveTo>
                      <a:pt x="489" y="336"/>
                    </a:moveTo>
                    <a:lnTo>
                      <a:pt x="489" y="336"/>
                    </a:lnTo>
                    <a:lnTo>
                      <a:pt x="54" y="336"/>
                    </a:lnTo>
                    <a:lnTo>
                      <a:pt x="54" y="54"/>
                    </a:lnTo>
                    <a:lnTo>
                      <a:pt x="489" y="54"/>
                    </a:lnTo>
                    <a:lnTo>
                      <a:pt x="489" y="336"/>
                    </a:lnTo>
                    <a:close/>
                    <a:moveTo>
                      <a:pt x="542" y="0"/>
                    </a:moveTo>
                    <a:lnTo>
                      <a:pt x="542" y="0"/>
                    </a:lnTo>
                    <a:lnTo>
                      <a:pt x="0" y="0"/>
                    </a:lnTo>
                    <a:lnTo>
                      <a:pt x="0" y="390"/>
                    </a:lnTo>
                    <a:lnTo>
                      <a:pt x="542" y="390"/>
                    </a:lnTo>
                    <a:lnTo>
                      <a:pt x="542" y="0"/>
                    </a:ln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8" name="Freeform 170"/>
              <p:cNvSpPr>
                <a:spLocks noEditPoints="1"/>
              </p:cNvSpPr>
              <p:nvPr/>
            </p:nvSpPr>
            <p:spPr bwMode="gray">
              <a:xfrm>
                <a:off x="512763" y="3792538"/>
                <a:ext cx="963613" cy="488950"/>
              </a:xfrm>
              <a:custGeom>
                <a:avLst/>
                <a:gdLst>
                  <a:gd name="T0" fmla="*/ 2147483647 w 2298"/>
                  <a:gd name="T1" fmla="*/ 2147483647 h 1165"/>
                  <a:gd name="T2" fmla="*/ 2147483647 w 2298"/>
                  <a:gd name="T3" fmla="*/ 2147483647 h 1165"/>
                  <a:gd name="T4" fmla="*/ 2147483647 w 2298"/>
                  <a:gd name="T5" fmla="*/ 2147483647 h 1165"/>
                  <a:gd name="T6" fmla="*/ 2147483647 w 2298"/>
                  <a:gd name="T7" fmla="*/ 2147483647 h 1165"/>
                  <a:gd name="T8" fmla="*/ 2147483647 w 2298"/>
                  <a:gd name="T9" fmla="*/ 2147483647 h 1165"/>
                  <a:gd name="T10" fmla="*/ 2147483647 w 2298"/>
                  <a:gd name="T11" fmla="*/ 2147483647 h 1165"/>
                  <a:gd name="T12" fmla="*/ 2147483647 w 2298"/>
                  <a:gd name="T13" fmla="*/ 2147483647 h 1165"/>
                  <a:gd name="T14" fmla="*/ 2147483647 w 2298"/>
                  <a:gd name="T15" fmla="*/ 2147483647 h 1165"/>
                  <a:gd name="T16" fmla="*/ 2147483647 w 2298"/>
                  <a:gd name="T17" fmla="*/ 2147483647 h 1165"/>
                  <a:gd name="T18" fmla="*/ 2147483647 w 2298"/>
                  <a:gd name="T19" fmla="*/ 2147483647 h 1165"/>
                  <a:gd name="T20" fmla="*/ 2147483647 w 2298"/>
                  <a:gd name="T21" fmla="*/ 2147483647 h 1165"/>
                  <a:gd name="T22" fmla="*/ 2147483647 w 2298"/>
                  <a:gd name="T23" fmla="*/ 2147483647 h 1165"/>
                  <a:gd name="T24" fmla="*/ 2147483647 w 2298"/>
                  <a:gd name="T25" fmla="*/ 2147483647 h 1165"/>
                  <a:gd name="T26" fmla="*/ 2147483647 w 2298"/>
                  <a:gd name="T27" fmla="*/ 2147483647 h 1165"/>
                  <a:gd name="T28" fmla="*/ 2147483647 w 2298"/>
                  <a:gd name="T29" fmla="*/ 2147483647 h 1165"/>
                  <a:gd name="T30" fmla="*/ 2147483647 w 2298"/>
                  <a:gd name="T31" fmla="*/ 2147483647 h 1165"/>
                  <a:gd name="T32" fmla="*/ 2147483647 w 2298"/>
                  <a:gd name="T33" fmla="*/ 2147483647 h 1165"/>
                  <a:gd name="T34" fmla="*/ 2147483647 w 2298"/>
                  <a:gd name="T35" fmla="*/ 2147483647 h 1165"/>
                  <a:gd name="T36" fmla="*/ 2147483647 w 2298"/>
                  <a:gd name="T37" fmla="*/ 2147483647 h 1165"/>
                  <a:gd name="T38" fmla="*/ 2147483647 w 2298"/>
                  <a:gd name="T39" fmla="*/ 2147483647 h 1165"/>
                  <a:gd name="T40" fmla="*/ 2147483647 w 2298"/>
                  <a:gd name="T41" fmla="*/ 2147483647 h 1165"/>
                  <a:gd name="T42" fmla="*/ 2147483647 w 2298"/>
                  <a:gd name="T43" fmla="*/ 2147483647 h 1165"/>
                  <a:gd name="T44" fmla="*/ 2147483647 w 2298"/>
                  <a:gd name="T45" fmla="*/ 2147483647 h 1165"/>
                  <a:gd name="T46" fmla="*/ 2147483647 w 2298"/>
                  <a:gd name="T47" fmla="*/ 2147483647 h 1165"/>
                  <a:gd name="T48" fmla="*/ 2147483647 w 2298"/>
                  <a:gd name="T49" fmla="*/ 2147483647 h 1165"/>
                  <a:gd name="T50" fmla="*/ 2147483647 w 2298"/>
                  <a:gd name="T51" fmla="*/ 2147483647 h 1165"/>
                  <a:gd name="T52" fmla="*/ 2147483647 w 2298"/>
                  <a:gd name="T53" fmla="*/ 2147483647 h 1165"/>
                  <a:gd name="T54" fmla="*/ 2147483647 w 2298"/>
                  <a:gd name="T55" fmla="*/ 2147483647 h 1165"/>
                  <a:gd name="T56" fmla="*/ 2147483647 w 2298"/>
                  <a:gd name="T57" fmla="*/ 2147483647 h 1165"/>
                  <a:gd name="T58" fmla="*/ 2147483647 w 2298"/>
                  <a:gd name="T59" fmla="*/ 2147483647 h 1165"/>
                  <a:gd name="T60" fmla="*/ 2147483647 w 2298"/>
                  <a:gd name="T61" fmla="*/ 2147483647 h 1165"/>
                  <a:gd name="T62" fmla="*/ 2147483647 w 2298"/>
                  <a:gd name="T63" fmla="*/ 2147483647 h 1165"/>
                  <a:gd name="T64" fmla="*/ 2147483647 w 2298"/>
                  <a:gd name="T65" fmla="*/ 2147483647 h 1165"/>
                  <a:gd name="T66" fmla="*/ 2147483647 w 2298"/>
                  <a:gd name="T67" fmla="*/ 0 h 1165"/>
                  <a:gd name="T68" fmla="*/ 2147483647 w 2298"/>
                  <a:gd name="T69" fmla="*/ 2147483647 h 1165"/>
                  <a:gd name="T70" fmla="*/ 2147483647 w 2298"/>
                  <a:gd name="T71" fmla="*/ 2147483647 h 1165"/>
                  <a:gd name="T72" fmla="*/ 2147483647 w 2298"/>
                  <a:gd name="T73" fmla="*/ 2147483647 h 1165"/>
                  <a:gd name="T74" fmla="*/ 2147483647 w 2298"/>
                  <a:gd name="T75" fmla="*/ 2147483647 h 1165"/>
                  <a:gd name="T76" fmla="*/ 2147483647 w 2298"/>
                  <a:gd name="T77" fmla="*/ 2147483647 h 1165"/>
                  <a:gd name="T78" fmla="*/ 2147483647 w 2298"/>
                  <a:gd name="T79" fmla="*/ 2147483647 h 1165"/>
                  <a:gd name="T80" fmla="*/ 2147483647 w 2298"/>
                  <a:gd name="T81" fmla="*/ 2147483647 h 1165"/>
                  <a:gd name="T82" fmla="*/ 2147483647 w 2298"/>
                  <a:gd name="T83" fmla="*/ 2147483647 h 1165"/>
                  <a:gd name="T84" fmla="*/ 2147483647 w 2298"/>
                  <a:gd name="T85" fmla="*/ 2147483647 h 1165"/>
                  <a:gd name="T86" fmla="*/ 2147483647 w 2298"/>
                  <a:gd name="T87" fmla="*/ 2147483647 h 1165"/>
                  <a:gd name="T88" fmla="*/ 2147483647 w 2298"/>
                  <a:gd name="T89" fmla="*/ 2147483647 h 1165"/>
                  <a:gd name="T90" fmla="*/ 2147483647 w 2298"/>
                  <a:gd name="T91" fmla="*/ 2147483647 h 1165"/>
                  <a:gd name="T92" fmla="*/ 2147483647 w 2298"/>
                  <a:gd name="T93" fmla="*/ 2147483647 h 1165"/>
                  <a:gd name="T94" fmla="*/ 2147483647 w 2298"/>
                  <a:gd name="T95" fmla="*/ 2147483647 h 1165"/>
                  <a:gd name="T96" fmla="*/ 2147483647 w 2298"/>
                  <a:gd name="T97" fmla="*/ 2147483647 h 1165"/>
                  <a:gd name="T98" fmla="*/ 2147483647 w 2298"/>
                  <a:gd name="T99" fmla="*/ 2147483647 h 1165"/>
                  <a:gd name="T100" fmla="*/ 2147483647 w 2298"/>
                  <a:gd name="T101" fmla="*/ 2147483647 h 1165"/>
                  <a:gd name="T102" fmla="*/ 2147483647 w 2298"/>
                  <a:gd name="T103" fmla="*/ 2147483647 h 1165"/>
                  <a:gd name="T104" fmla="*/ 2147483647 w 2298"/>
                  <a:gd name="T105" fmla="*/ 2147483647 h 1165"/>
                  <a:gd name="T106" fmla="*/ 2147483647 w 2298"/>
                  <a:gd name="T107" fmla="*/ 2147483647 h 116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298"/>
                  <a:gd name="T163" fmla="*/ 0 h 1165"/>
                  <a:gd name="T164" fmla="*/ 2298 w 2298"/>
                  <a:gd name="T165" fmla="*/ 1165 h 116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298" h="1165">
                    <a:moveTo>
                      <a:pt x="1149" y="819"/>
                    </a:moveTo>
                    <a:lnTo>
                      <a:pt x="1149" y="819"/>
                    </a:lnTo>
                    <a:cubicBezTo>
                      <a:pt x="637" y="819"/>
                      <a:pt x="294" y="719"/>
                      <a:pt x="141" y="662"/>
                    </a:cubicBezTo>
                    <a:lnTo>
                      <a:pt x="312" y="621"/>
                    </a:lnTo>
                    <a:cubicBezTo>
                      <a:pt x="512" y="682"/>
                      <a:pt x="796" y="702"/>
                      <a:pt x="981" y="709"/>
                    </a:cubicBezTo>
                    <a:cubicBezTo>
                      <a:pt x="993" y="731"/>
                      <a:pt x="1016" y="747"/>
                      <a:pt x="1042" y="747"/>
                    </a:cubicBezTo>
                    <a:cubicBezTo>
                      <a:pt x="1081" y="747"/>
                      <a:pt x="1112" y="716"/>
                      <a:pt x="1112" y="677"/>
                    </a:cubicBezTo>
                    <a:cubicBezTo>
                      <a:pt x="1112" y="639"/>
                      <a:pt x="1081" y="608"/>
                      <a:pt x="1042" y="608"/>
                    </a:cubicBezTo>
                    <a:cubicBezTo>
                      <a:pt x="1017" y="608"/>
                      <a:pt x="995" y="622"/>
                      <a:pt x="983" y="643"/>
                    </a:cubicBezTo>
                    <a:cubicBezTo>
                      <a:pt x="798" y="636"/>
                      <a:pt x="516" y="615"/>
                      <a:pt x="323" y="555"/>
                    </a:cubicBezTo>
                    <a:cubicBezTo>
                      <a:pt x="317" y="553"/>
                      <a:pt x="311" y="553"/>
                      <a:pt x="305" y="554"/>
                    </a:cubicBezTo>
                    <a:lnTo>
                      <a:pt x="240" y="570"/>
                    </a:lnTo>
                    <a:lnTo>
                      <a:pt x="240" y="111"/>
                    </a:lnTo>
                    <a:cubicBezTo>
                      <a:pt x="240" y="87"/>
                      <a:pt x="260" y="66"/>
                      <a:pt x="285" y="66"/>
                    </a:cubicBezTo>
                    <a:lnTo>
                      <a:pt x="2013" y="66"/>
                    </a:lnTo>
                    <a:cubicBezTo>
                      <a:pt x="2038" y="66"/>
                      <a:pt x="2058" y="87"/>
                      <a:pt x="2058" y="111"/>
                    </a:cubicBezTo>
                    <a:lnTo>
                      <a:pt x="2058" y="570"/>
                    </a:lnTo>
                    <a:lnTo>
                      <a:pt x="1993" y="554"/>
                    </a:lnTo>
                    <a:cubicBezTo>
                      <a:pt x="1987" y="553"/>
                      <a:pt x="1981" y="553"/>
                      <a:pt x="1975" y="555"/>
                    </a:cubicBezTo>
                    <a:cubicBezTo>
                      <a:pt x="1781" y="615"/>
                      <a:pt x="1498" y="636"/>
                      <a:pt x="1315" y="643"/>
                    </a:cubicBezTo>
                    <a:cubicBezTo>
                      <a:pt x="1303" y="622"/>
                      <a:pt x="1281" y="608"/>
                      <a:pt x="1255" y="608"/>
                    </a:cubicBezTo>
                    <a:cubicBezTo>
                      <a:pt x="1217" y="608"/>
                      <a:pt x="1186" y="639"/>
                      <a:pt x="1186" y="677"/>
                    </a:cubicBezTo>
                    <a:cubicBezTo>
                      <a:pt x="1186" y="716"/>
                      <a:pt x="1217" y="747"/>
                      <a:pt x="1255" y="747"/>
                    </a:cubicBezTo>
                    <a:cubicBezTo>
                      <a:pt x="1282" y="747"/>
                      <a:pt x="1305" y="731"/>
                      <a:pt x="1317" y="709"/>
                    </a:cubicBezTo>
                    <a:cubicBezTo>
                      <a:pt x="1501" y="702"/>
                      <a:pt x="1785" y="682"/>
                      <a:pt x="1986" y="621"/>
                    </a:cubicBezTo>
                    <a:lnTo>
                      <a:pt x="2157" y="662"/>
                    </a:lnTo>
                    <a:cubicBezTo>
                      <a:pt x="2004" y="719"/>
                      <a:pt x="1662" y="819"/>
                      <a:pt x="1149" y="819"/>
                    </a:cubicBezTo>
                    <a:close/>
                    <a:moveTo>
                      <a:pt x="1976" y="901"/>
                    </a:moveTo>
                    <a:lnTo>
                      <a:pt x="1976" y="901"/>
                    </a:lnTo>
                    <a:cubicBezTo>
                      <a:pt x="1976" y="918"/>
                      <a:pt x="1963" y="931"/>
                      <a:pt x="1947" y="932"/>
                    </a:cubicBezTo>
                    <a:lnTo>
                      <a:pt x="1767" y="907"/>
                    </a:lnTo>
                    <a:cubicBezTo>
                      <a:pt x="1743" y="902"/>
                      <a:pt x="1730" y="891"/>
                      <a:pt x="1730" y="876"/>
                    </a:cubicBezTo>
                    <a:lnTo>
                      <a:pt x="1730" y="841"/>
                    </a:lnTo>
                    <a:cubicBezTo>
                      <a:pt x="1824" y="825"/>
                      <a:pt x="1906" y="807"/>
                      <a:pt x="1976" y="789"/>
                    </a:cubicBezTo>
                    <a:lnTo>
                      <a:pt x="1976" y="901"/>
                    </a:lnTo>
                    <a:close/>
                    <a:moveTo>
                      <a:pt x="1463" y="1079"/>
                    </a:moveTo>
                    <a:lnTo>
                      <a:pt x="1463" y="1079"/>
                    </a:lnTo>
                    <a:cubicBezTo>
                      <a:pt x="1463" y="1088"/>
                      <a:pt x="1459" y="1095"/>
                      <a:pt x="1453" y="1097"/>
                    </a:cubicBezTo>
                    <a:cubicBezTo>
                      <a:pt x="1444" y="1101"/>
                      <a:pt x="1432" y="1097"/>
                      <a:pt x="1422" y="1087"/>
                    </a:cubicBezTo>
                    <a:cubicBezTo>
                      <a:pt x="1389" y="1055"/>
                      <a:pt x="1335" y="1005"/>
                      <a:pt x="1334" y="1004"/>
                    </a:cubicBezTo>
                    <a:cubicBezTo>
                      <a:pt x="1309" y="983"/>
                      <a:pt x="1305" y="968"/>
                      <a:pt x="1305" y="942"/>
                    </a:cubicBezTo>
                    <a:lnTo>
                      <a:pt x="1305" y="883"/>
                    </a:lnTo>
                    <a:cubicBezTo>
                      <a:pt x="1360" y="881"/>
                      <a:pt x="1412" y="877"/>
                      <a:pt x="1463" y="873"/>
                    </a:cubicBezTo>
                    <a:lnTo>
                      <a:pt x="1463" y="1079"/>
                    </a:lnTo>
                    <a:close/>
                    <a:moveTo>
                      <a:pt x="993" y="942"/>
                    </a:moveTo>
                    <a:lnTo>
                      <a:pt x="993" y="942"/>
                    </a:lnTo>
                    <a:cubicBezTo>
                      <a:pt x="993" y="968"/>
                      <a:pt x="989" y="983"/>
                      <a:pt x="963" y="1005"/>
                    </a:cubicBezTo>
                    <a:cubicBezTo>
                      <a:pt x="963" y="1005"/>
                      <a:pt x="909" y="1055"/>
                      <a:pt x="876" y="1087"/>
                    </a:cubicBezTo>
                    <a:cubicBezTo>
                      <a:pt x="865" y="1097"/>
                      <a:pt x="854" y="1101"/>
                      <a:pt x="845" y="1097"/>
                    </a:cubicBezTo>
                    <a:cubicBezTo>
                      <a:pt x="839" y="1095"/>
                      <a:pt x="835" y="1088"/>
                      <a:pt x="835" y="1079"/>
                    </a:cubicBezTo>
                    <a:lnTo>
                      <a:pt x="835" y="873"/>
                    </a:lnTo>
                    <a:cubicBezTo>
                      <a:pt x="886" y="877"/>
                      <a:pt x="938" y="880"/>
                      <a:pt x="993" y="883"/>
                    </a:cubicBezTo>
                    <a:lnTo>
                      <a:pt x="993" y="942"/>
                    </a:lnTo>
                    <a:close/>
                    <a:moveTo>
                      <a:pt x="567" y="876"/>
                    </a:moveTo>
                    <a:lnTo>
                      <a:pt x="567" y="876"/>
                    </a:lnTo>
                    <a:cubicBezTo>
                      <a:pt x="567" y="891"/>
                      <a:pt x="555" y="902"/>
                      <a:pt x="531" y="907"/>
                    </a:cubicBezTo>
                    <a:lnTo>
                      <a:pt x="351" y="932"/>
                    </a:lnTo>
                    <a:cubicBezTo>
                      <a:pt x="335" y="931"/>
                      <a:pt x="322" y="918"/>
                      <a:pt x="322" y="901"/>
                    </a:cubicBezTo>
                    <a:lnTo>
                      <a:pt x="322" y="789"/>
                    </a:lnTo>
                    <a:cubicBezTo>
                      <a:pt x="392" y="807"/>
                      <a:pt x="474" y="825"/>
                      <a:pt x="567" y="841"/>
                    </a:cubicBezTo>
                    <a:lnTo>
                      <a:pt x="567" y="876"/>
                    </a:lnTo>
                    <a:close/>
                    <a:moveTo>
                      <a:pt x="2297" y="650"/>
                    </a:moveTo>
                    <a:lnTo>
                      <a:pt x="2297" y="650"/>
                    </a:lnTo>
                    <a:cubicBezTo>
                      <a:pt x="2295" y="636"/>
                      <a:pt x="2285" y="625"/>
                      <a:pt x="2271" y="621"/>
                    </a:cubicBezTo>
                    <a:lnTo>
                      <a:pt x="2125" y="586"/>
                    </a:lnTo>
                    <a:lnTo>
                      <a:pt x="2125" y="111"/>
                    </a:lnTo>
                    <a:cubicBezTo>
                      <a:pt x="2125" y="50"/>
                      <a:pt x="2075" y="0"/>
                      <a:pt x="2013" y="0"/>
                    </a:cubicBezTo>
                    <a:lnTo>
                      <a:pt x="285" y="0"/>
                    </a:lnTo>
                    <a:cubicBezTo>
                      <a:pt x="223" y="0"/>
                      <a:pt x="173" y="50"/>
                      <a:pt x="173" y="111"/>
                    </a:cubicBezTo>
                    <a:lnTo>
                      <a:pt x="173" y="586"/>
                    </a:lnTo>
                    <a:lnTo>
                      <a:pt x="27" y="621"/>
                    </a:lnTo>
                    <a:cubicBezTo>
                      <a:pt x="13" y="625"/>
                      <a:pt x="3" y="636"/>
                      <a:pt x="1" y="650"/>
                    </a:cubicBezTo>
                    <a:cubicBezTo>
                      <a:pt x="0" y="664"/>
                      <a:pt x="7" y="677"/>
                      <a:pt x="19" y="683"/>
                    </a:cubicBezTo>
                    <a:cubicBezTo>
                      <a:pt x="26" y="687"/>
                      <a:pt x="106" y="727"/>
                      <a:pt x="256" y="771"/>
                    </a:cubicBezTo>
                    <a:lnTo>
                      <a:pt x="256" y="901"/>
                    </a:lnTo>
                    <a:cubicBezTo>
                      <a:pt x="256" y="955"/>
                      <a:pt x="299" y="999"/>
                      <a:pt x="353" y="999"/>
                    </a:cubicBezTo>
                    <a:lnTo>
                      <a:pt x="355" y="999"/>
                    </a:lnTo>
                    <a:lnTo>
                      <a:pt x="541" y="973"/>
                    </a:lnTo>
                    <a:lnTo>
                      <a:pt x="543" y="972"/>
                    </a:lnTo>
                    <a:cubicBezTo>
                      <a:pt x="599" y="961"/>
                      <a:pt x="634" y="924"/>
                      <a:pt x="634" y="876"/>
                    </a:cubicBezTo>
                    <a:lnTo>
                      <a:pt x="634" y="851"/>
                    </a:lnTo>
                    <a:cubicBezTo>
                      <a:pt x="677" y="857"/>
                      <a:pt x="722" y="862"/>
                      <a:pt x="769" y="867"/>
                    </a:cubicBezTo>
                    <a:lnTo>
                      <a:pt x="769" y="1079"/>
                    </a:lnTo>
                    <a:cubicBezTo>
                      <a:pt x="769" y="1115"/>
                      <a:pt x="788" y="1146"/>
                      <a:pt x="819" y="1159"/>
                    </a:cubicBezTo>
                    <a:cubicBezTo>
                      <a:pt x="830" y="1163"/>
                      <a:pt x="840" y="1165"/>
                      <a:pt x="852" y="1165"/>
                    </a:cubicBezTo>
                    <a:cubicBezTo>
                      <a:pt x="876" y="1165"/>
                      <a:pt x="902" y="1155"/>
                      <a:pt x="922" y="1135"/>
                    </a:cubicBezTo>
                    <a:cubicBezTo>
                      <a:pt x="955" y="1103"/>
                      <a:pt x="1008" y="1055"/>
                      <a:pt x="1008" y="1055"/>
                    </a:cubicBezTo>
                    <a:cubicBezTo>
                      <a:pt x="1045" y="1023"/>
                      <a:pt x="1060" y="990"/>
                      <a:pt x="1060" y="942"/>
                    </a:cubicBezTo>
                    <a:lnTo>
                      <a:pt x="1060" y="885"/>
                    </a:lnTo>
                    <a:cubicBezTo>
                      <a:pt x="1089" y="885"/>
                      <a:pt x="1119" y="886"/>
                      <a:pt x="1149" y="886"/>
                    </a:cubicBezTo>
                    <a:cubicBezTo>
                      <a:pt x="1179" y="886"/>
                      <a:pt x="1209" y="885"/>
                      <a:pt x="1238" y="885"/>
                    </a:cubicBezTo>
                    <a:lnTo>
                      <a:pt x="1238" y="942"/>
                    </a:lnTo>
                    <a:cubicBezTo>
                      <a:pt x="1238" y="990"/>
                      <a:pt x="1253" y="1023"/>
                      <a:pt x="1289" y="1054"/>
                    </a:cubicBezTo>
                    <a:cubicBezTo>
                      <a:pt x="1290" y="1054"/>
                      <a:pt x="1343" y="1103"/>
                      <a:pt x="1375" y="1135"/>
                    </a:cubicBezTo>
                    <a:cubicBezTo>
                      <a:pt x="1396" y="1155"/>
                      <a:pt x="1422" y="1165"/>
                      <a:pt x="1446" y="1165"/>
                    </a:cubicBezTo>
                    <a:cubicBezTo>
                      <a:pt x="1457" y="1165"/>
                      <a:pt x="1468" y="1163"/>
                      <a:pt x="1479" y="1159"/>
                    </a:cubicBezTo>
                    <a:cubicBezTo>
                      <a:pt x="1510" y="1146"/>
                      <a:pt x="1529" y="1115"/>
                      <a:pt x="1529" y="1079"/>
                    </a:cubicBezTo>
                    <a:lnTo>
                      <a:pt x="1529" y="867"/>
                    </a:lnTo>
                    <a:cubicBezTo>
                      <a:pt x="1576" y="862"/>
                      <a:pt x="1621" y="857"/>
                      <a:pt x="1664" y="851"/>
                    </a:cubicBezTo>
                    <a:lnTo>
                      <a:pt x="1664" y="876"/>
                    </a:lnTo>
                    <a:cubicBezTo>
                      <a:pt x="1664" y="924"/>
                      <a:pt x="1699" y="961"/>
                      <a:pt x="1755" y="972"/>
                    </a:cubicBezTo>
                    <a:lnTo>
                      <a:pt x="1940" y="998"/>
                    </a:lnTo>
                    <a:lnTo>
                      <a:pt x="1945" y="999"/>
                    </a:lnTo>
                    <a:cubicBezTo>
                      <a:pt x="1999" y="999"/>
                      <a:pt x="2042" y="955"/>
                      <a:pt x="2042" y="901"/>
                    </a:cubicBezTo>
                    <a:lnTo>
                      <a:pt x="2042" y="771"/>
                    </a:lnTo>
                    <a:cubicBezTo>
                      <a:pt x="2192" y="727"/>
                      <a:pt x="2272" y="687"/>
                      <a:pt x="2279" y="683"/>
                    </a:cubicBezTo>
                    <a:cubicBezTo>
                      <a:pt x="2291" y="677"/>
                      <a:pt x="2298" y="664"/>
                      <a:pt x="2297" y="650"/>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119" name="文本框 118"/>
          <p:cNvSpPr txBox="1"/>
          <p:nvPr/>
        </p:nvSpPr>
        <p:spPr bwMode="gray">
          <a:xfrm>
            <a:off x="8684923" y="5878423"/>
            <a:ext cx="492443" cy="276999"/>
          </a:xfrm>
          <a:prstGeom prst="rect">
            <a:avLst/>
          </a:prstGeom>
          <a:noFill/>
        </p:spPr>
        <p:txBody>
          <a:bodyPr wrap="non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视讯</a:t>
            </a:r>
          </a:p>
        </p:txBody>
      </p:sp>
      <p:grpSp>
        <p:nvGrpSpPr>
          <p:cNvPr id="120" name="组合 247"/>
          <p:cNvGrpSpPr>
            <a:grpSpLocks/>
          </p:cNvGrpSpPr>
          <p:nvPr/>
        </p:nvGrpSpPr>
        <p:grpSpPr bwMode="gray">
          <a:xfrm>
            <a:off x="10548710" y="5373437"/>
            <a:ext cx="504879" cy="504879"/>
            <a:chOff x="7069138" y="3554413"/>
            <a:chExt cx="1114425" cy="1117600"/>
          </a:xfrm>
        </p:grpSpPr>
        <p:sp>
          <p:nvSpPr>
            <p:cNvPr id="121" name="Freeform 35"/>
            <p:cNvSpPr>
              <a:spLocks/>
            </p:cNvSpPr>
            <p:nvPr/>
          </p:nvSpPr>
          <p:spPr bwMode="gray">
            <a:xfrm>
              <a:off x="7069138" y="3554413"/>
              <a:ext cx="1114425" cy="1117600"/>
            </a:xfrm>
            <a:custGeom>
              <a:avLst/>
              <a:gdLst>
                <a:gd name="T0" fmla="*/ 2147483647 w 2658"/>
                <a:gd name="T1" fmla="*/ 2147483647 h 2659"/>
                <a:gd name="T2" fmla="*/ 2147483647 w 2658"/>
                <a:gd name="T3" fmla="*/ 2147483647 h 2659"/>
                <a:gd name="T4" fmla="*/ 2147483647 w 2658"/>
                <a:gd name="T5" fmla="*/ 2147483647 h 2659"/>
                <a:gd name="T6" fmla="*/ 0 w 2658"/>
                <a:gd name="T7" fmla="*/ 2147483647 h 2659"/>
                <a:gd name="T8" fmla="*/ 2147483647 w 2658"/>
                <a:gd name="T9" fmla="*/ 0 h 2659"/>
                <a:gd name="T10" fmla="*/ 2147483647 w 2658"/>
                <a:gd name="T11" fmla="*/ 2147483647 h 2659"/>
                <a:gd name="T12" fmla="*/ 0 60000 65536"/>
                <a:gd name="T13" fmla="*/ 0 60000 65536"/>
                <a:gd name="T14" fmla="*/ 0 60000 65536"/>
                <a:gd name="T15" fmla="*/ 0 60000 65536"/>
                <a:gd name="T16" fmla="*/ 0 60000 65536"/>
                <a:gd name="T17" fmla="*/ 0 60000 65536"/>
                <a:gd name="T18" fmla="*/ 0 w 2658"/>
                <a:gd name="T19" fmla="*/ 0 h 2659"/>
                <a:gd name="T20" fmla="*/ 2658 w 2658"/>
                <a:gd name="T21" fmla="*/ 2659 h 2659"/>
              </a:gdLst>
              <a:ahLst/>
              <a:cxnLst>
                <a:cxn ang="T12">
                  <a:pos x="T0" y="T1"/>
                </a:cxn>
                <a:cxn ang="T13">
                  <a:pos x="T2" y="T3"/>
                </a:cxn>
                <a:cxn ang="T14">
                  <a:pos x="T4" y="T5"/>
                </a:cxn>
                <a:cxn ang="T15">
                  <a:pos x="T6" y="T7"/>
                </a:cxn>
                <a:cxn ang="T16">
                  <a:pos x="T8" y="T9"/>
                </a:cxn>
                <a:cxn ang="T17">
                  <a:pos x="T10" y="T11"/>
                </a:cxn>
              </a:cxnLst>
              <a:rect l="T18" t="T19" r="T20" b="T21"/>
              <a:pathLst>
                <a:path w="2658" h="2659">
                  <a:moveTo>
                    <a:pt x="2658" y="1329"/>
                  </a:moveTo>
                  <a:lnTo>
                    <a:pt x="2658" y="1329"/>
                  </a:lnTo>
                  <a:cubicBezTo>
                    <a:pt x="2658" y="2064"/>
                    <a:pt x="2063" y="2659"/>
                    <a:pt x="1329" y="2659"/>
                  </a:cubicBezTo>
                  <a:cubicBezTo>
                    <a:pt x="595" y="2659"/>
                    <a:pt x="0" y="2064"/>
                    <a:pt x="0" y="1329"/>
                  </a:cubicBezTo>
                  <a:cubicBezTo>
                    <a:pt x="0" y="595"/>
                    <a:pt x="595" y="0"/>
                    <a:pt x="1329" y="0"/>
                  </a:cubicBezTo>
                  <a:cubicBezTo>
                    <a:pt x="2063" y="0"/>
                    <a:pt x="2658" y="595"/>
                    <a:pt x="2658" y="1329"/>
                  </a:cubicBezTo>
                  <a:close/>
                </a:path>
              </a:pathLst>
            </a:custGeom>
            <a:solidFill>
              <a:srgbClr val="8BC9A0"/>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22" name="组合 233"/>
            <p:cNvGrpSpPr>
              <a:grpSpLocks/>
            </p:cNvGrpSpPr>
            <p:nvPr/>
          </p:nvGrpSpPr>
          <p:grpSpPr bwMode="gray">
            <a:xfrm>
              <a:off x="7288213" y="3895726"/>
              <a:ext cx="674687" cy="434975"/>
              <a:chOff x="7288213" y="3895726"/>
              <a:chExt cx="674687" cy="434975"/>
            </a:xfrm>
          </p:grpSpPr>
          <p:sp>
            <p:nvSpPr>
              <p:cNvPr id="123" name="Freeform 219"/>
              <p:cNvSpPr>
                <a:spLocks noEditPoints="1"/>
              </p:cNvSpPr>
              <p:nvPr/>
            </p:nvSpPr>
            <p:spPr bwMode="gray">
              <a:xfrm>
                <a:off x="7288213" y="3895726"/>
                <a:ext cx="623888" cy="419100"/>
              </a:xfrm>
              <a:custGeom>
                <a:avLst/>
                <a:gdLst>
                  <a:gd name="T0" fmla="*/ 2147483647 w 1486"/>
                  <a:gd name="T1" fmla="*/ 2147483647 h 997"/>
                  <a:gd name="T2" fmla="*/ 2147483647 w 1486"/>
                  <a:gd name="T3" fmla="*/ 2147483647 h 997"/>
                  <a:gd name="T4" fmla="*/ 2147483647 w 1486"/>
                  <a:gd name="T5" fmla="*/ 2147483647 h 997"/>
                  <a:gd name="T6" fmla="*/ 2147483647 w 1486"/>
                  <a:gd name="T7" fmla="*/ 2147483647 h 997"/>
                  <a:gd name="T8" fmla="*/ 2147483647 w 1486"/>
                  <a:gd name="T9" fmla="*/ 2147483647 h 997"/>
                  <a:gd name="T10" fmla="*/ 2147483647 w 1486"/>
                  <a:gd name="T11" fmla="*/ 2147483647 h 997"/>
                  <a:gd name="T12" fmla="*/ 2147483647 w 1486"/>
                  <a:gd name="T13" fmla="*/ 2147483647 h 997"/>
                  <a:gd name="T14" fmla="*/ 2147483647 w 1486"/>
                  <a:gd name="T15" fmla="*/ 2147483647 h 997"/>
                  <a:gd name="T16" fmla="*/ 2147483647 w 1486"/>
                  <a:gd name="T17" fmla="*/ 2147483647 h 997"/>
                  <a:gd name="T18" fmla="*/ 2147483647 w 1486"/>
                  <a:gd name="T19" fmla="*/ 2147483647 h 997"/>
                  <a:gd name="T20" fmla="*/ 2147483647 w 1486"/>
                  <a:gd name="T21" fmla="*/ 2147483647 h 997"/>
                  <a:gd name="T22" fmla="*/ 2147483647 w 1486"/>
                  <a:gd name="T23" fmla="*/ 2147483647 h 997"/>
                  <a:gd name="T24" fmla="*/ 2147483647 w 1486"/>
                  <a:gd name="T25" fmla="*/ 2147483647 h 997"/>
                  <a:gd name="T26" fmla="*/ 2147483647 w 1486"/>
                  <a:gd name="T27" fmla="*/ 2147483647 h 997"/>
                  <a:gd name="T28" fmla="*/ 2147483647 w 1486"/>
                  <a:gd name="T29" fmla="*/ 2147483647 h 997"/>
                  <a:gd name="T30" fmla="*/ 2147483647 w 1486"/>
                  <a:gd name="T31" fmla="*/ 2147483647 h 997"/>
                  <a:gd name="T32" fmla="*/ 2147483647 w 1486"/>
                  <a:gd name="T33" fmla="*/ 2147483647 h 997"/>
                  <a:gd name="T34" fmla="*/ 2147483647 w 1486"/>
                  <a:gd name="T35" fmla="*/ 2147483647 h 997"/>
                  <a:gd name="T36" fmla="*/ 2147483647 w 1486"/>
                  <a:gd name="T37" fmla="*/ 2147483647 h 997"/>
                  <a:gd name="T38" fmla="*/ 2147483647 w 1486"/>
                  <a:gd name="T39" fmla="*/ 2147483647 h 997"/>
                  <a:gd name="T40" fmla="*/ 2147483647 w 1486"/>
                  <a:gd name="T41" fmla="*/ 2147483647 h 997"/>
                  <a:gd name="T42" fmla="*/ 2147483647 w 1486"/>
                  <a:gd name="T43" fmla="*/ 2147483647 h 997"/>
                  <a:gd name="T44" fmla="*/ 2147483647 w 1486"/>
                  <a:gd name="T45" fmla="*/ 2147483647 h 997"/>
                  <a:gd name="T46" fmla="*/ 2147483647 w 1486"/>
                  <a:gd name="T47" fmla="*/ 2147483647 h 997"/>
                  <a:gd name="T48" fmla="*/ 2147483647 w 1486"/>
                  <a:gd name="T49" fmla="*/ 222822901 h 997"/>
                  <a:gd name="T50" fmla="*/ 2146073538 w 1486"/>
                  <a:gd name="T51" fmla="*/ 2147483647 h 997"/>
                  <a:gd name="T52" fmla="*/ 1406097026 w 1486"/>
                  <a:gd name="T53" fmla="*/ 2147483647 h 997"/>
                  <a:gd name="T54" fmla="*/ 2147483647 w 1486"/>
                  <a:gd name="T55" fmla="*/ 2147483647 h 997"/>
                  <a:gd name="T56" fmla="*/ 2147483647 w 1486"/>
                  <a:gd name="T57" fmla="*/ 2147483647 h 997"/>
                  <a:gd name="T58" fmla="*/ 2147483647 w 1486"/>
                  <a:gd name="T59" fmla="*/ 2147483647 h 997"/>
                  <a:gd name="T60" fmla="*/ 2147483647 w 1486"/>
                  <a:gd name="T61" fmla="*/ 2147483647 h 997"/>
                  <a:gd name="T62" fmla="*/ 2147483647 w 1486"/>
                  <a:gd name="T63" fmla="*/ 2147483647 h 997"/>
                  <a:gd name="T64" fmla="*/ 2147483647 w 1486"/>
                  <a:gd name="T65" fmla="*/ 2147483647 h 997"/>
                  <a:gd name="T66" fmla="*/ 2147483647 w 1486"/>
                  <a:gd name="T67" fmla="*/ 2147483647 h 997"/>
                  <a:gd name="T68" fmla="*/ 2147483647 w 1486"/>
                  <a:gd name="T69" fmla="*/ 2147483647 h 997"/>
                  <a:gd name="T70" fmla="*/ 2147483647 w 1486"/>
                  <a:gd name="T71" fmla="*/ 2147483647 h 99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486"/>
                  <a:gd name="T109" fmla="*/ 0 h 997"/>
                  <a:gd name="T110" fmla="*/ 1486 w 1486"/>
                  <a:gd name="T111" fmla="*/ 997 h 99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486" h="997">
                    <a:moveTo>
                      <a:pt x="1257" y="389"/>
                    </a:moveTo>
                    <a:lnTo>
                      <a:pt x="1257" y="389"/>
                    </a:lnTo>
                    <a:lnTo>
                      <a:pt x="1079" y="419"/>
                    </a:lnTo>
                    <a:lnTo>
                      <a:pt x="779" y="471"/>
                    </a:lnTo>
                    <a:lnTo>
                      <a:pt x="498" y="520"/>
                    </a:lnTo>
                    <a:cubicBezTo>
                      <a:pt x="516" y="464"/>
                      <a:pt x="504" y="396"/>
                      <a:pt x="493" y="354"/>
                    </a:cubicBezTo>
                    <a:lnTo>
                      <a:pt x="1377" y="185"/>
                    </a:lnTo>
                    <a:cubicBezTo>
                      <a:pt x="1396" y="328"/>
                      <a:pt x="1275" y="381"/>
                      <a:pt x="1257" y="389"/>
                    </a:cubicBezTo>
                    <a:close/>
                    <a:moveTo>
                      <a:pt x="935" y="739"/>
                    </a:moveTo>
                    <a:lnTo>
                      <a:pt x="935" y="739"/>
                    </a:lnTo>
                    <a:cubicBezTo>
                      <a:pt x="871" y="739"/>
                      <a:pt x="818" y="687"/>
                      <a:pt x="818" y="623"/>
                    </a:cubicBezTo>
                    <a:lnTo>
                      <a:pt x="818" y="532"/>
                    </a:lnTo>
                    <a:lnTo>
                      <a:pt x="1052" y="492"/>
                    </a:lnTo>
                    <a:lnTo>
                      <a:pt x="1052" y="623"/>
                    </a:lnTo>
                    <a:cubicBezTo>
                      <a:pt x="1052" y="687"/>
                      <a:pt x="999" y="739"/>
                      <a:pt x="935" y="739"/>
                    </a:cubicBezTo>
                    <a:close/>
                    <a:moveTo>
                      <a:pt x="305" y="515"/>
                    </a:moveTo>
                    <a:lnTo>
                      <a:pt x="305" y="515"/>
                    </a:lnTo>
                    <a:cubicBezTo>
                      <a:pt x="268" y="481"/>
                      <a:pt x="259" y="415"/>
                      <a:pt x="258" y="371"/>
                    </a:cubicBezTo>
                    <a:cubicBezTo>
                      <a:pt x="273" y="372"/>
                      <a:pt x="287" y="373"/>
                      <a:pt x="302" y="373"/>
                    </a:cubicBezTo>
                    <a:cubicBezTo>
                      <a:pt x="301" y="379"/>
                      <a:pt x="300" y="386"/>
                      <a:pt x="300" y="392"/>
                    </a:cubicBezTo>
                    <a:cubicBezTo>
                      <a:pt x="300" y="448"/>
                      <a:pt x="345" y="493"/>
                      <a:pt x="401" y="493"/>
                    </a:cubicBezTo>
                    <a:cubicBezTo>
                      <a:pt x="414" y="493"/>
                      <a:pt x="427" y="491"/>
                      <a:pt x="438" y="487"/>
                    </a:cubicBezTo>
                    <a:cubicBezTo>
                      <a:pt x="436" y="495"/>
                      <a:pt x="434" y="502"/>
                      <a:pt x="431" y="509"/>
                    </a:cubicBezTo>
                    <a:cubicBezTo>
                      <a:pt x="425" y="522"/>
                      <a:pt x="415" y="531"/>
                      <a:pt x="402" y="536"/>
                    </a:cubicBezTo>
                    <a:cubicBezTo>
                      <a:pt x="360" y="543"/>
                      <a:pt x="328" y="536"/>
                      <a:pt x="305" y="515"/>
                    </a:cubicBezTo>
                    <a:close/>
                    <a:moveTo>
                      <a:pt x="1394" y="68"/>
                    </a:moveTo>
                    <a:lnTo>
                      <a:pt x="1394" y="68"/>
                    </a:lnTo>
                    <a:cubicBezTo>
                      <a:pt x="1405" y="74"/>
                      <a:pt x="1407" y="80"/>
                      <a:pt x="1408" y="83"/>
                    </a:cubicBezTo>
                    <a:cubicBezTo>
                      <a:pt x="1411" y="91"/>
                      <a:pt x="1408" y="103"/>
                      <a:pt x="1405" y="112"/>
                    </a:cubicBezTo>
                    <a:lnTo>
                      <a:pt x="1397" y="113"/>
                    </a:lnTo>
                    <a:cubicBezTo>
                      <a:pt x="1397" y="113"/>
                      <a:pt x="1397" y="113"/>
                      <a:pt x="1397" y="113"/>
                    </a:cubicBezTo>
                    <a:lnTo>
                      <a:pt x="1395" y="113"/>
                    </a:lnTo>
                    <a:lnTo>
                      <a:pt x="374" y="302"/>
                    </a:lnTo>
                    <a:cubicBezTo>
                      <a:pt x="353" y="305"/>
                      <a:pt x="331" y="306"/>
                      <a:pt x="309" y="306"/>
                    </a:cubicBezTo>
                    <a:cubicBezTo>
                      <a:pt x="252" y="306"/>
                      <a:pt x="200" y="296"/>
                      <a:pt x="157" y="284"/>
                    </a:cubicBezTo>
                    <a:lnTo>
                      <a:pt x="1394" y="68"/>
                    </a:lnTo>
                    <a:close/>
                    <a:moveTo>
                      <a:pt x="435" y="400"/>
                    </a:moveTo>
                    <a:lnTo>
                      <a:pt x="435" y="400"/>
                    </a:lnTo>
                    <a:cubicBezTo>
                      <a:pt x="431" y="415"/>
                      <a:pt x="418" y="427"/>
                      <a:pt x="401" y="427"/>
                    </a:cubicBezTo>
                    <a:cubicBezTo>
                      <a:pt x="382" y="427"/>
                      <a:pt x="367" y="411"/>
                      <a:pt x="367" y="392"/>
                    </a:cubicBezTo>
                    <a:cubicBezTo>
                      <a:pt x="367" y="383"/>
                      <a:pt x="371" y="375"/>
                      <a:pt x="377" y="368"/>
                    </a:cubicBezTo>
                    <a:cubicBezTo>
                      <a:pt x="380" y="368"/>
                      <a:pt x="382" y="368"/>
                      <a:pt x="385" y="367"/>
                    </a:cubicBezTo>
                    <a:lnTo>
                      <a:pt x="425" y="360"/>
                    </a:lnTo>
                    <a:cubicBezTo>
                      <a:pt x="428" y="371"/>
                      <a:pt x="432" y="385"/>
                      <a:pt x="435" y="400"/>
                    </a:cubicBezTo>
                    <a:close/>
                    <a:moveTo>
                      <a:pt x="1442" y="171"/>
                    </a:moveTo>
                    <a:lnTo>
                      <a:pt x="1442" y="171"/>
                    </a:lnTo>
                    <a:cubicBezTo>
                      <a:pt x="1448" y="168"/>
                      <a:pt x="1453" y="164"/>
                      <a:pt x="1456" y="159"/>
                    </a:cubicBezTo>
                    <a:cubicBezTo>
                      <a:pt x="1459" y="154"/>
                      <a:pt x="1486" y="108"/>
                      <a:pt x="1471" y="62"/>
                    </a:cubicBezTo>
                    <a:cubicBezTo>
                      <a:pt x="1465" y="43"/>
                      <a:pt x="1449" y="18"/>
                      <a:pt x="1410" y="3"/>
                    </a:cubicBezTo>
                    <a:cubicBezTo>
                      <a:pt x="1404" y="0"/>
                      <a:pt x="1398" y="0"/>
                      <a:pt x="1392" y="1"/>
                    </a:cubicBezTo>
                    <a:lnTo>
                      <a:pt x="29" y="238"/>
                    </a:lnTo>
                    <a:cubicBezTo>
                      <a:pt x="16" y="241"/>
                      <a:pt x="5" y="252"/>
                      <a:pt x="2" y="266"/>
                    </a:cubicBezTo>
                    <a:cubicBezTo>
                      <a:pt x="0" y="280"/>
                      <a:pt x="7" y="293"/>
                      <a:pt x="19" y="300"/>
                    </a:cubicBezTo>
                    <a:cubicBezTo>
                      <a:pt x="23" y="303"/>
                      <a:pt x="92" y="341"/>
                      <a:pt x="192" y="361"/>
                    </a:cubicBezTo>
                    <a:cubicBezTo>
                      <a:pt x="191" y="410"/>
                      <a:pt x="199" y="507"/>
                      <a:pt x="259" y="563"/>
                    </a:cubicBezTo>
                    <a:cubicBezTo>
                      <a:pt x="289" y="591"/>
                      <a:pt x="327" y="605"/>
                      <a:pt x="373" y="605"/>
                    </a:cubicBezTo>
                    <a:cubicBezTo>
                      <a:pt x="387" y="605"/>
                      <a:pt x="402" y="604"/>
                      <a:pt x="417" y="602"/>
                    </a:cubicBezTo>
                    <a:lnTo>
                      <a:pt x="752" y="544"/>
                    </a:lnTo>
                    <a:lnTo>
                      <a:pt x="752" y="623"/>
                    </a:lnTo>
                    <a:cubicBezTo>
                      <a:pt x="752" y="714"/>
                      <a:pt x="818" y="789"/>
                      <a:pt x="905" y="803"/>
                    </a:cubicBezTo>
                    <a:cubicBezTo>
                      <a:pt x="917" y="864"/>
                      <a:pt x="966" y="945"/>
                      <a:pt x="1092" y="958"/>
                    </a:cubicBezTo>
                    <a:cubicBezTo>
                      <a:pt x="1104" y="981"/>
                      <a:pt x="1127" y="997"/>
                      <a:pt x="1154" y="997"/>
                    </a:cubicBezTo>
                    <a:cubicBezTo>
                      <a:pt x="1192" y="997"/>
                      <a:pt x="1223" y="965"/>
                      <a:pt x="1223" y="927"/>
                    </a:cubicBezTo>
                    <a:cubicBezTo>
                      <a:pt x="1223" y="889"/>
                      <a:pt x="1192" y="858"/>
                      <a:pt x="1154" y="858"/>
                    </a:cubicBezTo>
                    <a:cubicBezTo>
                      <a:pt x="1128" y="858"/>
                      <a:pt x="1106" y="871"/>
                      <a:pt x="1094" y="892"/>
                    </a:cubicBezTo>
                    <a:cubicBezTo>
                      <a:pt x="1011" y="881"/>
                      <a:pt x="983" y="834"/>
                      <a:pt x="973" y="802"/>
                    </a:cubicBezTo>
                    <a:cubicBezTo>
                      <a:pt x="1056" y="784"/>
                      <a:pt x="1118" y="711"/>
                      <a:pt x="1118" y="623"/>
                    </a:cubicBezTo>
                    <a:lnTo>
                      <a:pt x="1118" y="480"/>
                    </a:lnTo>
                    <a:lnTo>
                      <a:pt x="1271" y="454"/>
                    </a:lnTo>
                    <a:cubicBezTo>
                      <a:pt x="1273" y="454"/>
                      <a:pt x="1275" y="453"/>
                      <a:pt x="1276" y="452"/>
                    </a:cubicBezTo>
                    <a:cubicBezTo>
                      <a:pt x="1348" y="428"/>
                      <a:pt x="1468" y="338"/>
                      <a:pt x="1442" y="171"/>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4" name="Freeform 220"/>
              <p:cNvSpPr>
                <a:spLocks/>
              </p:cNvSpPr>
              <p:nvPr/>
            </p:nvSpPr>
            <p:spPr bwMode="gray">
              <a:xfrm>
                <a:off x="7832725" y="4240213"/>
                <a:ext cx="130175" cy="90488"/>
              </a:xfrm>
              <a:custGeom>
                <a:avLst/>
                <a:gdLst>
                  <a:gd name="T0" fmla="*/ 2147483647 w 312"/>
                  <a:gd name="T1" fmla="*/ 2147483647 h 215"/>
                  <a:gd name="T2" fmla="*/ 2147483647 w 312"/>
                  <a:gd name="T3" fmla="*/ 2147483647 h 215"/>
                  <a:gd name="T4" fmla="*/ 2147483647 w 312"/>
                  <a:gd name="T5" fmla="*/ 2147483647 h 215"/>
                  <a:gd name="T6" fmla="*/ 2147483647 w 312"/>
                  <a:gd name="T7" fmla="*/ 2147483647 h 215"/>
                  <a:gd name="T8" fmla="*/ 2147483647 w 312"/>
                  <a:gd name="T9" fmla="*/ 2147483647 h 215"/>
                  <a:gd name="T10" fmla="*/ 0 w 312"/>
                  <a:gd name="T11" fmla="*/ 2147483647 h 215"/>
                  <a:gd name="T12" fmla="*/ 2147483647 w 312"/>
                  <a:gd name="T13" fmla="*/ 2147483647 h 215"/>
                  <a:gd name="T14" fmla="*/ 2147483647 w 312"/>
                  <a:gd name="T15" fmla="*/ 2147483647 h 215"/>
                  <a:gd name="T16" fmla="*/ 2147483647 w 312"/>
                  <a:gd name="T17" fmla="*/ 2147483647 h 215"/>
                  <a:gd name="T18" fmla="*/ 2147483647 w 312"/>
                  <a:gd name="T19" fmla="*/ 2147483647 h 215"/>
                  <a:gd name="T20" fmla="*/ 2147483647 w 312"/>
                  <a:gd name="T21" fmla="*/ 2147483647 h 215"/>
                  <a:gd name="T22" fmla="*/ 2147483647 w 312"/>
                  <a:gd name="T23" fmla="*/ 0 h 215"/>
                  <a:gd name="T24" fmla="*/ 2147483647 w 312"/>
                  <a:gd name="T25" fmla="*/ 2147483647 h 21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2"/>
                  <a:gd name="T40" fmla="*/ 0 h 215"/>
                  <a:gd name="T41" fmla="*/ 312 w 312"/>
                  <a:gd name="T42" fmla="*/ 215 h 21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2" h="215">
                    <a:moveTo>
                      <a:pt x="210" y="74"/>
                    </a:moveTo>
                    <a:lnTo>
                      <a:pt x="210" y="74"/>
                    </a:lnTo>
                    <a:cubicBezTo>
                      <a:pt x="208" y="74"/>
                      <a:pt x="206" y="74"/>
                      <a:pt x="205" y="74"/>
                    </a:cubicBezTo>
                    <a:lnTo>
                      <a:pt x="130" y="74"/>
                    </a:lnTo>
                    <a:cubicBezTo>
                      <a:pt x="118" y="52"/>
                      <a:pt x="95" y="38"/>
                      <a:pt x="69" y="38"/>
                    </a:cubicBezTo>
                    <a:cubicBezTo>
                      <a:pt x="31" y="38"/>
                      <a:pt x="0" y="69"/>
                      <a:pt x="0" y="107"/>
                    </a:cubicBezTo>
                    <a:cubicBezTo>
                      <a:pt x="0" y="145"/>
                      <a:pt x="31" y="177"/>
                      <a:pt x="69" y="177"/>
                    </a:cubicBezTo>
                    <a:cubicBezTo>
                      <a:pt x="95" y="177"/>
                      <a:pt x="118" y="162"/>
                      <a:pt x="130" y="140"/>
                    </a:cubicBezTo>
                    <a:lnTo>
                      <a:pt x="205" y="140"/>
                    </a:lnTo>
                    <a:cubicBezTo>
                      <a:pt x="206" y="140"/>
                      <a:pt x="208" y="140"/>
                      <a:pt x="210" y="140"/>
                    </a:cubicBezTo>
                    <a:cubicBezTo>
                      <a:pt x="224" y="183"/>
                      <a:pt x="264" y="215"/>
                      <a:pt x="312" y="215"/>
                    </a:cubicBezTo>
                    <a:lnTo>
                      <a:pt x="312" y="0"/>
                    </a:lnTo>
                    <a:cubicBezTo>
                      <a:pt x="264" y="0"/>
                      <a:pt x="224" y="31"/>
                      <a:pt x="210" y="74"/>
                    </a:cubicBezTo>
                    <a:close/>
                  </a:path>
                </a:pathLst>
              </a:custGeom>
              <a:solidFill>
                <a:srgbClr val="FEFEFE"/>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125" name="文本框 124"/>
          <p:cNvSpPr txBox="1"/>
          <p:nvPr/>
        </p:nvSpPr>
        <p:spPr bwMode="gray">
          <a:xfrm>
            <a:off x="10554927" y="5878423"/>
            <a:ext cx="492443" cy="276999"/>
          </a:xfrm>
          <a:prstGeom prst="rect">
            <a:avLst/>
          </a:prstGeom>
          <a:noFill/>
        </p:spPr>
        <p:txBody>
          <a:bodyPr wrap="none" rtlCol="0">
            <a:spAutoFit/>
          </a:bodyPr>
          <a:lstStyle/>
          <a:p>
            <a:pPr algn="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安防</a:t>
            </a:r>
          </a:p>
        </p:txBody>
      </p:sp>
      <p:sp>
        <p:nvSpPr>
          <p:cNvPr id="126" name="文本框 125"/>
          <p:cNvSpPr txBox="1"/>
          <p:nvPr/>
        </p:nvSpPr>
        <p:spPr bwMode="gray">
          <a:xfrm>
            <a:off x="2403867" y="3816908"/>
            <a:ext cx="907621" cy="369332"/>
          </a:xfrm>
          <a:prstGeom prst="rect">
            <a:avLst/>
          </a:prstGeom>
          <a:noFill/>
        </p:spPr>
        <p:txBody>
          <a:bodyPr wrap="none" rtlCol="0">
            <a:spAutoFit/>
          </a:bodyPr>
          <a:lstStyle/>
          <a:p>
            <a:r>
              <a:rPr lang="en-US" altLang="zh-CN">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VXLAN</a:t>
            </a:r>
            <a:endParaRPr lang="zh-CN" altLang="en-US">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7" name="文本框 126"/>
          <p:cNvSpPr txBox="1"/>
          <p:nvPr/>
        </p:nvSpPr>
        <p:spPr bwMode="gray">
          <a:xfrm>
            <a:off x="6384454" y="3901553"/>
            <a:ext cx="1338828" cy="646331"/>
          </a:xfrm>
          <a:prstGeom prst="rect">
            <a:avLst/>
          </a:prstGeom>
          <a:noFill/>
        </p:spPr>
        <p:txBody>
          <a:bodyPr wrap="none" rtlCol="0">
            <a:spAutoFit/>
          </a:bodyPr>
          <a:lstStyle/>
          <a:p>
            <a:pPr algn="ctr"/>
            <a:r>
              <a:rPr lang="en-US" altLang="zh-CN"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VN1</a:t>
            </a:r>
          </a:p>
          <a:p>
            <a:pPr algn="ctr"/>
            <a:r>
              <a:rPr lang="zh-CN" altLang="en-US"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办公虚拟网</a:t>
            </a:r>
          </a:p>
        </p:txBody>
      </p:sp>
      <p:sp>
        <p:nvSpPr>
          <p:cNvPr id="128" name="文本框 127"/>
          <p:cNvSpPr txBox="1"/>
          <p:nvPr/>
        </p:nvSpPr>
        <p:spPr bwMode="gray">
          <a:xfrm>
            <a:off x="8239991" y="3901553"/>
            <a:ext cx="1338829" cy="646331"/>
          </a:xfrm>
          <a:prstGeom prst="rect">
            <a:avLst/>
          </a:prstGeom>
          <a:noFill/>
        </p:spPr>
        <p:txBody>
          <a:bodyPr wrap="none" rtlCol="0">
            <a:spAutoFit/>
          </a:bodyPr>
          <a:lstStyle/>
          <a:p>
            <a:pPr algn="ctr"/>
            <a:r>
              <a:rPr lang="en-US" altLang="zh-CN"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VN2</a:t>
            </a:r>
          </a:p>
          <a:p>
            <a:pPr algn="ctr"/>
            <a:r>
              <a:rPr lang="zh-CN" altLang="en-US"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视讯虚拟网</a:t>
            </a:r>
          </a:p>
        </p:txBody>
      </p:sp>
      <p:sp>
        <p:nvSpPr>
          <p:cNvPr id="129" name="文本框 128"/>
          <p:cNvSpPr txBox="1"/>
          <p:nvPr/>
        </p:nvSpPr>
        <p:spPr bwMode="gray">
          <a:xfrm>
            <a:off x="10126345" y="3901553"/>
            <a:ext cx="1338829" cy="646331"/>
          </a:xfrm>
          <a:prstGeom prst="rect">
            <a:avLst/>
          </a:prstGeom>
          <a:noFill/>
        </p:spPr>
        <p:txBody>
          <a:bodyPr wrap="none" rtlCol="0">
            <a:spAutoFit/>
          </a:bodyPr>
          <a:lstStyle/>
          <a:p>
            <a:pPr algn="ctr"/>
            <a:r>
              <a:rPr lang="en-US" altLang="zh-CN"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VN3</a:t>
            </a:r>
          </a:p>
          <a:p>
            <a:pPr algn="ctr"/>
            <a:r>
              <a:rPr lang="zh-CN" altLang="en-US"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安防虚拟网</a:t>
            </a:r>
          </a:p>
        </p:txBody>
      </p:sp>
      <p:sp>
        <p:nvSpPr>
          <p:cNvPr id="130" name="矩形 1437"/>
          <p:cNvSpPr>
            <a:spLocks noChangeArrowheads="1"/>
          </p:cNvSpPr>
          <p:nvPr/>
        </p:nvSpPr>
        <p:spPr bwMode="gray">
          <a:xfrm>
            <a:off x="4827908" y="1163791"/>
            <a:ext cx="2512372" cy="517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2392" tIns="51195" rIns="102392" bIns="51195">
            <a:spAutoFit/>
          </a:bodyPr>
          <a:lstStyle>
            <a:lvl1pPr>
              <a:defRPr kumimoji="1" sz="2400">
                <a:solidFill>
                  <a:schemeClr val="tx1"/>
                </a:solidFill>
                <a:latin typeface="Calibri" panose="020F0502020204030204" pitchFamily="34" charset="0"/>
                <a:ea typeface="宋体" panose="02010600030101010101" pitchFamily="2" charset="-122"/>
              </a:defRPr>
            </a:lvl1pPr>
            <a:lvl2pPr marL="742950" indent="-285750">
              <a:defRPr kumimoji="1" sz="2400">
                <a:solidFill>
                  <a:schemeClr val="tx1"/>
                </a:solidFill>
                <a:latin typeface="Calibri" panose="020F0502020204030204" pitchFamily="34" charset="0"/>
                <a:ea typeface="宋体" panose="02010600030101010101" pitchFamily="2" charset="-122"/>
              </a:defRPr>
            </a:lvl2pPr>
            <a:lvl3pPr marL="1143000" indent="-228600">
              <a:defRPr kumimoji="1" sz="2400">
                <a:solidFill>
                  <a:schemeClr val="tx1"/>
                </a:solidFill>
                <a:latin typeface="Calibri" panose="020F0502020204030204" pitchFamily="34" charset="0"/>
                <a:ea typeface="宋体" panose="02010600030101010101" pitchFamily="2" charset="-122"/>
              </a:defRPr>
            </a:lvl3pPr>
            <a:lvl4pPr marL="1600200" indent="-228600">
              <a:defRPr kumimoji="1" sz="2400">
                <a:solidFill>
                  <a:schemeClr val="tx1"/>
                </a:solidFill>
                <a:latin typeface="Calibri" panose="020F0502020204030204" pitchFamily="34" charset="0"/>
                <a:ea typeface="宋体" panose="02010600030101010101" pitchFamily="2" charset="-122"/>
              </a:defRPr>
            </a:lvl4pPr>
            <a:lvl5pPr marL="2057400" indent="-228600">
              <a:defRPr kumimoji="1" sz="2400">
                <a:solidFill>
                  <a:schemeClr val="tx1"/>
                </a:solidFill>
                <a:latin typeface="Calibri" panose="020F0502020204030204" pitchFamily="34" charset="0"/>
                <a:ea typeface="宋体" panose="02010600030101010101" pitchFamily="2" charset="-122"/>
              </a:defRPr>
            </a:lvl5pPr>
            <a:lvl6pPr marL="2514600" indent="-228600" defTabSz="454025" fontAlgn="base">
              <a:spcBef>
                <a:spcPct val="0"/>
              </a:spcBef>
              <a:spcAft>
                <a:spcPct val="0"/>
              </a:spcAft>
              <a:defRPr kumimoji="1" sz="2400">
                <a:solidFill>
                  <a:schemeClr val="tx1"/>
                </a:solidFill>
                <a:latin typeface="Calibri" panose="020F0502020204030204" pitchFamily="34" charset="0"/>
                <a:ea typeface="宋体" panose="02010600030101010101" pitchFamily="2" charset="-122"/>
              </a:defRPr>
            </a:lvl6pPr>
            <a:lvl7pPr marL="2971800" indent="-228600" defTabSz="454025" fontAlgn="base">
              <a:spcBef>
                <a:spcPct val="0"/>
              </a:spcBef>
              <a:spcAft>
                <a:spcPct val="0"/>
              </a:spcAft>
              <a:defRPr kumimoji="1" sz="2400">
                <a:solidFill>
                  <a:schemeClr val="tx1"/>
                </a:solidFill>
                <a:latin typeface="Calibri" panose="020F0502020204030204" pitchFamily="34" charset="0"/>
                <a:ea typeface="宋体" panose="02010600030101010101" pitchFamily="2" charset="-122"/>
              </a:defRPr>
            </a:lvl7pPr>
            <a:lvl8pPr marL="3429000" indent="-228600" defTabSz="454025" fontAlgn="base">
              <a:spcBef>
                <a:spcPct val="0"/>
              </a:spcBef>
              <a:spcAft>
                <a:spcPct val="0"/>
              </a:spcAft>
              <a:defRPr kumimoji="1" sz="2400">
                <a:solidFill>
                  <a:schemeClr val="tx1"/>
                </a:solidFill>
                <a:latin typeface="Calibri" panose="020F0502020204030204" pitchFamily="34" charset="0"/>
                <a:ea typeface="宋体" panose="02010600030101010101" pitchFamily="2" charset="-122"/>
              </a:defRPr>
            </a:lvl8pPr>
            <a:lvl9pPr marL="3886200" indent="-228600" defTabSz="454025" fontAlgn="base">
              <a:spcBef>
                <a:spcPct val="0"/>
              </a:spcBef>
              <a:spcAft>
                <a:spcPct val="0"/>
              </a:spcAft>
              <a:defRPr kumimoji="1" sz="2400">
                <a:solidFill>
                  <a:schemeClr val="tx1"/>
                </a:solidFill>
                <a:latin typeface="Calibri" panose="020F0502020204030204" pitchFamily="34" charset="0"/>
                <a:ea typeface="宋体" panose="02010600030101010101" pitchFamily="2" charset="-122"/>
              </a:defRPr>
            </a:lvl9pPr>
          </a:lstStyle>
          <a:p>
            <a:pPr algn="ctr">
              <a:lnSpc>
                <a:spcPct val="150000"/>
              </a:lnSpc>
            </a:pPr>
            <a:r>
              <a:rPr kumimoji="0"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一张网承载多种业务</a:t>
            </a:r>
            <a:endParaRPr kumimoji="0" lang="en-US" altLang="zh-CN" sz="20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6694297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sym typeface="Huawei Sans" panose="020C0503030203020204" pitchFamily="34" charset="0"/>
              </a:rPr>
              <a:t>为什么选择</a:t>
            </a:r>
            <a:r>
              <a:rPr lang="en-US" altLang="zh-CN" dirty="0">
                <a:sym typeface="Huawei Sans" panose="020C0503030203020204" pitchFamily="34" charset="0"/>
              </a:rPr>
              <a:t>VXLAN</a:t>
            </a:r>
            <a:r>
              <a:rPr lang="zh-CN" altLang="en-US" dirty="0">
                <a:sym typeface="Huawei Sans" panose="020C0503030203020204" pitchFamily="34" charset="0"/>
              </a:rPr>
              <a:t>实现园区网络虚拟化</a:t>
            </a:r>
          </a:p>
        </p:txBody>
      </p:sp>
      <p:sp>
        <p:nvSpPr>
          <p:cNvPr id="3" name="文本框 2"/>
          <p:cNvSpPr txBox="1"/>
          <p:nvPr/>
        </p:nvSpPr>
        <p:spPr bwMode="gray">
          <a:xfrm>
            <a:off x="703262" y="4825549"/>
            <a:ext cx="3449637" cy="766656"/>
          </a:xfrm>
          <a:prstGeom prst="rect">
            <a:avLst/>
          </a:prstGeom>
          <a:gradFill>
            <a:gsLst>
              <a:gs pos="0">
                <a:schemeClr val="bg1"/>
              </a:gs>
              <a:gs pos="100000">
                <a:srgbClr val="BEE9EE">
                  <a:alpha val="60000"/>
                </a:srgbClr>
              </a:gs>
            </a:gsLst>
            <a:lin ang="5400000" scaled="1"/>
          </a:gradFill>
          <a:ln w="12700">
            <a:solidFill>
              <a:srgbClr val="BEE9EE"/>
            </a:solidFill>
          </a:ln>
        </p:spPr>
        <p:txBody>
          <a:bodyPr rot="0" spcFirstLastPara="0" vertOverflow="overflow" horzOverflow="overflow" vert="horz" wrap="square" lIns="108000" tIns="72000" rIns="72000" bIns="72000" numCol="1" spcCol="0" rtlCol="0" fromWordArt="0" anchor="ctr" anchorCtr="0" forceAA="0" compatLnSpc="1">
            <a:prstTxWarp prst="textNoShape">
              <a:avLst/>
            </a:prstTxWarp>
            <a:noAutofit/>
          </a:bodyPr>
          <a:lstStyle>
            <a:defPPr>
              <a:defRPr lang="en-US"/>
            </a:defPPr>
            <a:lvl1pPr algn="ctr">
              <a:defRPr sz="1400" kern="0">
                <a:solidFill>
                  <a:srgbClr val="1D1D1A"/>
                </a:solidFill>
                <a:latin typeface="Huawei Sans" panose="020C0503030203020204" pitchFamily="34" charset="0"/>
                <a:ea typeface="方正兰亭黑简体" panose="02000000000000000000" pitchFamily="2" charset="-122"/>
              </a:defRPr>
            </a:lvl1pPr>
          </a:lstStyle>
          <a:p>
            <a:pPr>
              <a:lnSpc>
                <a:spcPts val="2400"/>
              </a:lnSpc>
            </a:pPr>
            <a:r>
              <a:rPr lang="en-US" altLang="zh-CN" dirty="0">
                <a:sym typeface="Huawei Sans" panose="020C0503030203020204" pitchFamily="34" charset="0"/>
              </a:rPr>
              <a:t>VXLAN</a:t>
            </a:r>
            <a:r>
              <a:rPr lang="zh-CN" altLang="en-US" dirty="0">
                <a:sym typeface="Huawei Sans" panose="020C0503030203020204" pitchFamily="34" charset="0"/>
              </a:rPr>
              <a:t>可构建在任意复杂的三层网络之上。</a:t>
            </a:r>
          </a:p>
        </p:txBody>
      </p:sp>
      <p:sp>
        <p:nvSpPr>
          <p:cNvPr id="4" name="文本框 3"/>
          <p:cNvSpPr txBox="1"/>
          <p:nvPr/>
        </p:nvSpPr>
        <p:spPr bwMode="gray">
          <a:xfrm>
            <a:off x="4377806" y="4825549"/>
            <a:ext cx="3448800" cy="766656"/>
          </a:xfrm>
          <a:prstGeom prst="rect">
            <a:avLst/>
          </a:prstGeom>
          <a:gradFill>
            <a:gsLst>
              <a:gs pos="0">
                <a:schemeClr val="bg1"/>
              </a:gs>
              <a:gs pos="100000">
                <a:srgbClr val="BEE9EE">
                  <a:alpha val="60000"/>
                </a:srgbClr>
              </a:gs>
            </a:gsLst>
            <a:lin ang="5400000" scaled="1"/>
          </a:gradFill>
          <a:ln w="12700">
            <a:solidFill>
              <a:srgbClr val="BEE9EE"/>
            </a:solidFill>
          </a:ln>
        </p:spPr>
        <p:txBody>
          <a:bodyPr rot="0" spcFirstLastPara="0" vertOverflow="overflow" horzOverflow="overflow" vert="horz" wrap="square" lIns="108000" tIns="72000" rIns="72000" bIns="72000" numCol="1" spcCol="0" rtlCol="0" fromWordArt="0" anchor="ctr" anchorCtr="0" forceAA="0" compatLnSpc="1">
            <a:prstTxWarp prst="textNoShape">
              <a:avLst/>
            </a:prstTxWarp>
            <a:noAutofit/>
          </a:bodyPr>
          <a:lstStyle>
            <a:defPPr>
              <a:defRPr lang="en-US"/>
            </a:defPPr>
            <a:lvl1pPr algn="ctr">
              <a:defRPr sz="1400" kern="0">
                <a:solidFill>
                  <a:srgbClr val="1D1D1A"/>
                </a:solidFill>
                <a:latin typeface="Huawei Sans" panose="020C0503030203020204" pitchFamily="34" charset="0"/>
                <a:ea typeface="方正兰亭黑简体" panose="02000000000000000000" pitchFamily="2" charset="-122"/>
              </a:defRPr>
            </a:lvl1pPr>
          </a:lstStyle>
          <a:p>
            <a:pPr>
              <a:lnSpc>
                <a:spcPts val="2400"/>
              </a:lnSpc>
            </a:pPr>
            <a:r>
              <a:rPr lang="zh-CN" altLang="en-US" dirty="0">
                <a:sym typeface="Huawei Sans" panose="020C0503030203020204" pitchFamily="34" charset="0"/>
              </a:rPr>
              <a:t>支持三层虚拟网络。</a:t>
            </a:r>
          </a:p>
        </p:txBody>
      </p:sp>
      <p:sp>
        <p:nvSpPr>
          <p:cNvPr id="5" name="文本框 4"/>
          <p:cNvSpPr txBox="1"/>
          <p:nvPr/>
        </p:nvSpPr>
        <p:spPr bwMode="gray">
          <a:xfrm>
            <a:off x="8051512" y="4825549"/>
            <a:ext cx="3448800" cy="766656"/>
          </a:xfrm>
          <a:prstGeom prst="rect">
            <a:avLst/>
          </a:prstGeom>
          <a:gradFill>
            <a:gsLst>
              <a:gs pos="0">
                <a:schemeClr val="bg1"/>
              </a:gs>
              <a:gs pos="100000">
                <a:srgbClr val="BEE9EE">
                  <a:alpha val="60000"/>
                </a:srgbClr>
              </a:gs>
            </a:gsLst>
            <a:lin ang="5400000" scaled="1"/>
          </a:gradFill>
          <a:ln w="12700">
            <a:solidFill>
              <a:srgbClr val="BEE9EE"/>
            </a:solidFill>
          </a:ln>
        </p:spPr>
        <p:txBody>
          <a:bodyPr rot="0" spcFirstLastPara="0" vertOverflow="overflow" horzOverflow="overflow" vert="horz" wrap="square" lIns="108000" tIns="72000" rIns="72000" bIns="72000" numCol="1" spcCol="0" rtlCol="0" fromWordArt="0" anchor="ctr" anchorCtr="0" forceAA="0" compatLnSpc="1">
            <a:prstTxWarp prst="textNoShape">
              <a:avLst/>
            </a:prstTxWarp>
            <a:noAutofit/>
          </a:bodyPr>
          <a:lstStyle>
            <a:defPPr>
              <a:defRPr lang="en-US"/>
            </a:defPPr>
            <a:lvl1pPr algn="ctr">
              <a:defRPr sz="1400" kern="0">
                <a:solidFill>
                  <a:srgbClr val="1D1D1A"/>
                </a:solidFill>
                <a:latin typeface="Huawei Sans" panose="020C0503030203020204" pitchFamily="34" charset="0"/>
                <a:ea typeface="方正兰亭黑简体" panose="02000000000000000000" pitchFamily="2" charset="-122"/>
              </a:defRPr>
            </a:lvl1pPr>
          </a:lstStyle>
          <a:p>
            <a:pPr>
              <a:lnSpc>
                <a:spcPts val="2400"/>
              </a:lnSpc>
            </a:pPr>
            <a:r>
              <a:rPr lang="zh-CN" altLang="en-US" dirty="0">
                <a:sym typeface="Huawei Sans" panose="020C0503030203020204" pitchFamily="34" charset="0"/>
              </a:rPr>
              <a:t>搭配</a:t>
            </a:r>
            <a:r>
              <a:rPr lang="en-US" altLang="zh-CN" dirty="0">
                <a:sym typeface="Huawei Sans" panose="020C0503030203020204" pitchFamily="34" charset="0"/>
              </a:rPr>
              <a:t>SDN</a:t>
            </a:r>
            <a:r>
              <a:rPr lang="zh-CN" altLang="en-US" dirty="0">
                <a:sym typeface="Huawei Sans" panose="020C0503030203020204" pitchFamily="34" charset="0"/>
              </a:rPr>
              <a:t>控制器实现集中部署及自动化，已有成功实践。</a:t>
            </a:r>
          </a:p>
        </p:txBody>
      </p:sp>
      <p:graphicFrame>
        <p:nvGraphicFramePr>
          <p:cNvPr id="6" name="表格 5"/>
          <p:cNvGraphicFramePr>
            <a:graphicFrameLocks noGrp="1"/>
          </p:cNvGraphicFramePr>
          <p:nvPr>
            <p:extLst>
              <p:ext uri="{D42A27DB-BD31-4B8C-83A1-F6EECF244321}">
                <p14:modId xmlns:p14="http://schemas.microsoft.com/office/powerpoint/2010/main" val="1178045828"/>
              </p:ext>
            </p:extLst>
          </p:nvPr>
        </p:nvGraphicFramePr>
        <p:xfrm>
          <a:off x="1453189" y="1803614"/>
          <a:ext cx="9285622" cy="2118236"/>
        </p:xfrm>
        <a:graphic>
          <a:graphicData uri="http://schemas.openxmlformats.org/drawingml/2006/table">
            <a:tbl>
              <a:tblPr firstRow="1" bandRow="1">
                <a:tableStyleId>{72833802-FEF1-4C79-8D5D-14CF1EAF98D9}</a:tableStyleId>
              </a:tblPr>
              <a:tblGrid>
                <a:gridCol w="1094539">
                  <a:extLst>
                    <a:ext uri="{9D8B030D-6E8A-4147-A177-3AD203B41FA5}">
                      <a16:colId xmlns:a16="http://schemas.microsoft.com/office/drawing/2014/main" val="20000"/>
                    </a:ext>
                  </a:extLst>
                </a:gridCol>
                <a:gridCol w="1482520">
                  <a:extLst>
                    <a:ext uri="{9D8B030D-6E8A-4147-A177-3AD203B41FA5}">
                      <a16:colId xmlns:a16="http://schemas.microsoft.com/office/drawing/2014/main" val="20001"/>
                    </a:ext>
                  </a:extLst>
                </a:gridCol>
                <a:gridCol w="1306232">
                  <a:extLst>
                    <a:ext uri="{9D8B030D-6E8A-4147-A177-3AD203B41FA5}">
                      <a16:colId xmlns:a16="http://schemas.microsoft.com/office/drawing/2014/main" val="20002"/>
                    </a:ext>
                  </a:extLst>
                </a:gridCol>
                <a:gridCol w="2047079">
                  <a:extLst>
                    <a:ext uri="{9D8B030D-6E8A-4147-A177-3AD203B41FA5}">
                      <a16:colId xmlns:a16="http://schemas.microsoft.com/office/drawing/2014/main" val="20003"/>
                    </a:ext>
                  </a:extLst>
                </a:gridCol>
                <a:gridCol w="1520688">
                  <a:extLst>
                    <a:ext uri="{9D8B030D-6E8A-4147-A177-3AD203B41FA5}">
                      <a16:colId xmlns:a16="http://schemas.microsoft.com/office/drawing/2014/main" val="20004"/>
                    </a:ext>
                  </a:extLst>
                </a:gridCol>
                <a:gridCol w="1834564">
                  <a:extLst>
                    <a:ext uri="{9D8B030D-6E8A-4147-A177-3AD203B41FA5}">
                      <a16:colId xmlns:a16="http://schemas.microsoft.com/office/drawing/2014/main" val="20005"/>
                    </a:ext>
                  </a:extLst>
                </a:gridCol>
              </a:tblGrid>
              <a:tr h="352204">
                <a:tc>
                  <a:txBody>
                    <a:bodyPr/>
                    <a:lstStyle/>
                    <a:p>
                      <a:pPr marL="0" algn="ctr" defTabSz="914034" rtl="0" eaLnBrk="1" latinLnBrk="0" hangingPunct="1"/>
                      <a:r>
                        <a:rPr lang="zh-CN" altLang="en-US" sz="1400" b="1"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技术选择</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en-US" altLang="zh-CN" sz="1400" b="1"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Underlay</a:t>
                      </a:r>
                      <a:r>
                        <a:rPr lang="zh-CN" altLang="en-US" sz="1400" b="1"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网络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en-US" altLang="zh-CN" sz="1400" b="1"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Overlay</a:t>
                      </a:r>
                      <a:r>
                        <a:rPr lang="zh-CN" altLang="en-US" sz="1400" b="1"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网络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400" b="1"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配置及管理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400" b="1"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用户组信息携带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400" b="1" kern="1200" dirty="0">
                          <a:solidFill>
                            <a:schemeClr val="tx1"/>
                          </a:solidFill>
                          <a:effectLst/>
                          <a:latin typeface="Huawei Sans" panose="020C0503030203020204" pitchFamily="34" charset="0"/>
                          <a:ea typeface="方正兰亭黑简体" panose="02000000000000000000" pitchFamily="2" charset="-122"/>
                          <a:cs typeface="+mn-cs"/>
                          <a:sym typeface="Huawei Sans" panose="020C0503030203020204" pitchFamily="34" charset="0"/>
                        </a:rPr>
                        <a:t>组网要求</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94542">
                <a:tc>
                  <a:txBody>
                    <a:bodyPr/>
                    <a:lstStyle/>
                    <a:p>
                      <a:pPr algn="ctr">
                        <a:lnSpc>
                          <a:spcPts val="24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24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L2</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24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L2</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命令行或基于控制器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设备广泛支持</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94542">
                <a:tc>
                  <a:txBody>
                    <a:bodyPr/>
                    <a:lstStyle/>
                    <a:p>
                      <a:pPr algn="ctr">
                        <a:lnSpc>
                          <a:spcPts val="24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MPLS</a:t>
                      </a:r>
                      <a:r>
                        <a:rPr lang="en-US" altLang="zh-CN" sz="1400" baseline="0" dirty="0">
                          <a:latin typeface="Huawei Sans" panose="020C0503030203020204" pitchFamily="34" charset="0"/>
                          <a:ea typeface="方正兰亭黑简体" panose="02000000000000000000" pitchFamily="2" charset="-122"/>
                          <a:sym typeface="Huawei Sans" panose="020C0503030203020204" pitchFamily="34" charset="0"/>
                        </a:rPr>
                        <a:t> VPN</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24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L3</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24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L2/L3</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运营商级别的技术要求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需端到端支持</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MPLS</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94542">
                <a:tc>
                  <a:txBody>
                    <a:bodyPr/>
                    <a:lstStyle/>
                    <a:p>
                      <a:pPr algn="ctr">
                        <a:lnSpc>
                          <a:spcPts val="24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ts val="24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或</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L3</a:t>
                      </a:r>
                    </a:p>
                    <a:p>
                      <a:pPr algn="ct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可构建在任意物理网络之上</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ts val="24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L2/L3</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命令行或基于控制器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可以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隧道端节点支持</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即可</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5942872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15BC06-D7DB-44F0-9B09-891B8823CE76}"/>
              </a:ext>
            </a:extLst>
          </p:cNvPr>
          <p:cNvSpPr>
            <a:spLocks noGrp="1"/>
          </p:cNvSpPr>
          <p:nvPr>
            <p:ph type="title"/>
          </p:nvPr>
        </p:nvSpPr>
        <p:spPr bwMode="gray"/>
        <p:txBody>
          <a:bodyPr/>
          <a:lstStyle/>
          <a:p>
            <a:r>
              <a:rPr lang="en-US" altLang="zh-CN" dirty="0">
                <a:sym typeface="Huawei Sans" panose="020C0503030203020204" pitchFamily="34" charset="0"/>
              </a:rPr>
              <a:t>VXLAN</a:t>
            </a:r>
            <a:r>
              <a:rPr lang="zh-CN" altLang="en-US" dirty="0">
                <a:sym typeface="Huawei Sans" panose="020C0503030203020204" pitchFamily="34" charset="0"/>
              </a:rPr>
              <a:t>的报文格式</a:t>
            </a:r>
          </a:p>
        </p:txBody>
      </p:sp>
      <p:sp>
        <p:nvSpPr>
          <p:cNvPr id="30" name="矩形 29"/>
          <p:cNvSpPr/>
          <p:nvPr/>
        </p:nvSpPr>
        <p:spPr bwMode="gray">
          <a:xfrm>
            <a:off x="2518589" y="2040843"/>
            <a:ext cx="1080120" cy="576064"/>
          </a:xfrm>
          <a:prstGeom prst="rect">
            <a:avLst/>
          </a:prstGeom>
          <a:solidFill>
            <a:schemeClr val="bg1">
              <a:lumMod val="75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外层</a:t>
            </a:r>
            <a:endParaRPr lang="en-US" altLang="zh-CN"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以太帧头部</a:t>
            </a:r>
          </a:p>
        </p:txBody>
      </p:sp>
      <p:sp>
        <p:nvSpPr>
          <p:cNvPr id="31" name="矩形 30"/>
          <p:cNvSpPr/>
          <p:nvPr/>
        </p:nvSpPr>
        <p:spPr bwMode="gray">
          <a:xfrm>
            <a:off x="3598709" y="2040843"/>
            <a:ext cx="1008112" cy="576064"/>
          </a:xfrm>
          <a:prstGeom prst="rect">
            <a:avLst/>
          </a:prstGeom>
          <a:solidFill>
            <a:schemeClr val="bg1">
              <a:lumMod val="75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外层</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头部</a:t>
            </a:r>
          </a:p>
        </p:txBody>
      </p:sp>
      <p:sp>
        <p:nvSpPr>
          <p:cNvPr id="32" name="矩形 31"/>
          <p:cNvSpPr/>
          <p:nvPr/>
        </p:nvSpPr>
        <p:spPr bwMode="gray">
          <a:xfrm>
            <a:off x="4606821" y="2040843"/>
            <a:ext cx="1008112" cy="576064"/>
          </a:xfrm>
          <a:prstGeom prst="rect">
            <a:avLst/>
          </a:prstGeom>
          <a:solidFill>
            <a:schemeClr val="bg1">
              <a:lumMod val="75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UDP</a:t>
            </a: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头部</a:t>
            </a:r>
          </a:p>
        </p:txBody>
      </p:sp>
      <p:sp>
        <p:nvSpPr>
          <p:cNvPr id="33" name="矩形 32"/>
          <p:cNvSpPr/>
          <p:nvPr/>
        </p:nvSpPr>
        <p:spPr bwMode="gray">
          <a:xfrm>
            <a:off x="5614933" y="2040843"/>
            <a:ext cx="1008112" cy="576064"/>
          </a:xfrm>
          <a:prstGeom prst="rect">
            <a:avLst/>
          </a:prstGeom>
          <a:solidFill>
            <a:srgbClr val="EC706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a:t>
            </a:r>
          </a:p>
          <a:p>
            <a:pPr algn="ctr"/>
            <a:r>
              <a:rPr lang="zh-CN" altLang="en-US"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头部</a:t>
            </a:r>
          </a:p>
        </p:txBody>
      </p:sp>
      <p:sp>
        <p:nvSpPr>
          <p:cNvPr id="34" name="矩形 33"/>
          <p:cNvSpPr/>
          <p:nvPr/>
        </p:nvSpPr>
        <p:spPr bwMode="gray">
          <a:xfrm>
            <a:off x="6623045" y="2040843"/>
            <a:ext cx="1080120" cy="576064"/>
          </a:xfrm>
          <a:prstGeom prst="rect">
            <a:avLst/>
          </a:prstGeom>
          <a:solidFill>
            <a:schemeClr val="bg1">
              <a:lumMod val="85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内层</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以太帧头部</a:t>
            </a:r>
          </a:p>
        </p:txBody>
      </p:sp>
      <p:sp>
        <p:nvSpPr>
          <p:cNvPr id="35" name="矩形 34"/>
          <p:cNvSpPr/>
          <p:nvPr/>
        </p:nvSpPr>
        <p:spPr bwMode="gray">
          <a:xfrm>
            <a:off x="7703165" y="2040843"/>
            <a:ext cx="1008112" cy="576064"/>
          </a:xfrm>
          <a:prstGeom prst="rect">
            <a:avLst/>
          </a:prstGeom>
          <a:solidFill>
            <a:schemeClr val="bg1">
              <a:lumMod val="85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内层</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头部</a:t>
            </a:r>
          </a:p>
        </p:txBody>
      </p:sp>
      <p:sp>
        <p:nvSpPr>
          <p:cNvPr id="36" name="矩形 35"/>
          <p:cNvSpPr/>
          <p:nvPr/>
        </p:nvSpPr>
        <p:spPr bwMode="gray">
          <a:xfrm>
            <a:off x="8711277" y="2040843"/>
            <a:ext cx="1008112" cy="576064"/>
          </a:xfrm>
          <a:prstGeom prst="rect">
            <a:avLst/>
          </a:prstGeom>
          <a:solidFill>
            <a:schemeClr val="bg1">
              <a:lumMod val="85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载荷</a:t>
            </a:r>
          </a:p>
        </p:txBody>
      </p:sp>
      <p:sp>
        <p:nvSpPr>
          <p:cNvPr id="37" name="左大括号 36"/>
          <p:cNvSpPr/>
          <p:nvPr/>
        </p:nvSpPr>
        <p:spPr bwMode="gray">
          <a:xfrm rot="5400000">
            <a:off x="8075374" y="348655"/>
            <a:ext cx="191686" cy="3096344"/>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矩形 37"/>
          <p:cNvSpPr/>
          <p:nvPr/>
        </p:nvSpPr>
        <p:spPr bwMode="gray">
          <a:xfrm>
            <a:off x="7630043" y="1442553"/>
            <a:ext cx="1082348" cy="351699"/>
          </a:xfrm>
          <a:prstGeom prst="rect">
            <a:avLst/>
          </a:prstGeom>
        </p:spPr>
        <p:txBody>
          <a:bodyPr wrap="none">
            <a:spAutoFit/>
          </a:bodyPr>
          <a:lstStyle/>
          <a:p>
            <a:pPr algn="ctr">
              <a:lnSpc>
                <a:spcPts val="2200"/>
              </a:lnSpc>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原始数据帧</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左大括号 38"/>
          <p:cNvSpPr/>
          <p:nvPr/>
        </p:nvSpPr>
        <p:spPr bwMode="gray">
          <a:xfrm rot="5400000">
            <a:off x="4474417" y="-155958"/>
            <a:ext cx="191686" cy="4105570"/>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39"/>
          <p:cNvSpPr/>
          <p:nvPr/>
        </p:nvSpPr>
        <p:spPr bwMode="gray">
          <a:xfrm>
            <a:off x="4089943" y="1442553"/>
            <a:ext cx="1107996" cy="351699"/>
          </a:xfrm>
          <a:prstGeom prst="rect">
            <a:avLst/>
          </a:prstGeom>
        </p:spPr>
        <p:txBody>
          <a:bodyPr wrap="none">
            <a:spAutoFit/>
          </a:bodyPr>
          <a:lstStyle/>
          <a:p>
            <a:pPr algn="ctr">
              <a:lnSpc>
                <a:spcPts val="2200"/>
              </a:lnSpc>
            </a:pP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封装</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40"/>
          <p:cNvSpPr/>
          <p:nvPr/>
        </p:nvSpPr>
        <p:spPr bwMode="gray">
          <a:xfrm>
            <a:off x="5616700" y="3841043"/>
            <a:ext cx="1436318" cy="576064"/>
          </a:xfrm>
          <a:prstGeom prst="rect">
            <a:avLst/>
          </a:prstGeom>
          <a:solidFill>
            <a:srgbClr val="EC706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 Flags</a:t>
            </a:r>
          </a:p>
          <a:p>
            <a:pPr algn="ctr"/>
            <a:r>
              <a:rPr lang="zh-CN" altLang="en-US"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00001000</a:t>
            </a:r>
            <a:r>
              <a:rPr lang="zh-CN" altLang="en-US"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42" name="矩形 41"/>
          <p:cNvSpPr/>
          <p:nvPr/>
        </p:nvSpPr>
        <p:spPr bwMode="gray">
          <a:xfrm>
            <a:off x="7053018" y="3841043"/>
            <a:ext cx="1154049" cy="576064"/>
          </a:xfrm>
          <a:prstGeom prst="rect">
            <a:avLst/>
          </a:prstGeom>
          <a:solidFill>
            <a:srgbClr val="EC706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保留字段</a:t>
            </a:r>
          </a:p>
        </p:txBody>
      </p:sp>
      <p:sp>
        <p:nvSpPr>
          <p:cNvPr id="43" name="矩形 42"/>
          <p:cNvSpPr/>
          <p:nvPr/>
        </p:nvSpPr>
        <p:spPr bwMode="gray">
          <a:xfrm>
            <a:off x="8207067" y="3841043"/>
            <a:ext cx="1154049" cy="576064"/>
          </a:xfrm>
          <a:prstGeom prst="rect">
            <a:avLst/>
          </a:prstGeom>
          <a:solidFill>
            <a:srgbClr val="EC706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VNI</a:t>
            </a:r>
            <a:endParaRPr lang="zh-CN" altLang="en-US" sz="14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矩形 43"/>
          <p:cNvSpPr/>
          <p:nvPr/>
        </p:nvSpPr>
        <p:spPr bwMode="gray">
          <a:xfrm>
            <a:off x="9358234" y="3841043"/>
            <a:ext cx="1154049" cy="576064"/>
          </a:xfrm>
          <a:prstGeom prst="rect">
            <a:avLst/>
          </a:prstGeom>
          <a:solidFill>
            <a:srgbClr val="EC706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保留字段</a:t>
            </a:r>
          </a:p>
        </p:txBody>
      </p:sp>
      <p:sp>
        <p:nvSpPr>
          <p:cNvPr id="45" name="矩形 44"/>
          <p:cNvSpPr/>
          <p:nvPr/>
        </p:nvSpPr>
        <p:spPr bwMode="gray">
          <a:xfrm>
            <a:off x="6056577" y="4417107"/>
            <a:ext cx="556563" cy="348237"/>
          </a:xfrm>
          <a:prstGeom prst="rect">
            <a:avLst/>
          </a:prstGeom>
        </p:spPr>
        <p:txBody>
          <a:bodyPr wrap="none">
            <a:spAutoFit/>
          </a:bodyPr>
          <a:lstStyle/>
          <a:p>
            <a:pPr algn="ctr">
              <a:lnSpc>
                <a:spcPts val="22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8 bit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矩形 45"/>
          <p:cNvSpPr/>
          <p:nvPr/>
        </p:nvSpPr>
        <p:spPr bwMode="gray">
          <a:xfrm>
            <a:off x="7301267" y="4417107"/>
            <a:ext cx="657552" cy="348237"/>
          </a:xfrm>
          <a:prstGeom prst="rect">
            <a:avLst/>
          </a:prstGeom>
        </p:spPr>
        <p:txBody>
          <a:bodyPr wrap="none">
            <a:spAutoFit/>
          </a:bodyPr>
          <a:lstStyle/>
          <a:p>
            <a:pPr algn="ctr">
              <a:lnSpc>
                <a:spcPts val="22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24 bit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矩形 46"/>
          <p:cNvSpPr/>
          <p:nvPr/>
        </p:nvSpPr>
        <p:spPr bwMode="gray">
          <a:xfrm>
            <a:off x="8455315" y="4417107"/>
            <a:ext cx="657552" cy="348237"/>
          </a:xfrm>
          <a:prstGeom prst="rect">
            <a:avLst/>
          </a:prstGeom>
        </p:spPr>
        <p:txBody>
          <a:bodyPr wrap="none">
            <a:spAutoFit/>
          </a:bodyPr>
          <a:lstStyle/>
          <a:p>
            <a:pPr algn="ctr">
              <a:lnSpc>
                <a:spcPts val="22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24 bit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矩形 47"/>
          <p:cNvSpPr/>
          <p:nvPr/>
        </p:nvSpPr>
        <p:spPr bwMode="gray">
          <a:xfrm>
            <a:off x="9706669" y="4417107"/>
            <a:ext cx="556563" cy="348237"/>
          </a:xfrm>
          <a:prstGeom prst="rect">
            <a:avLst/>
          </a:prstGeom>
        </p:spPr>
        <p:txBody>
          <a:bodyPr wrap="none">
            <a:spAutoFit/>
          </a:bodyPr>
          <a:lstStyle/>
          <a:p>
            <a:pPr algn="ctr">
              <a:lnSpc>
                <a:spcPts val="22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8 bit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矩形 48"/>
          <p:cNvSpPr/>
          <p:nvPr/>
        </p:nvSpPr>
        <p:spPr bwMode="gray">
          <a:xfrm>
            <a:off x="1451118" y="5079600"/>
            <a:ext cx="1436318" cy="576064"/>
          </a:xfrm>
          <a:prstGeom prst="rect">
            <a:avLst/>
          </a:prstGeom>
          <a:solidFill>
            <a:schemeClr val="bg1">
              <a:lumMod val="75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源</a:t>
            </a:r>
            <a:r>
              <a:rPr lang="en-US" altLang="zh-CN"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UDP</a:t>
            </a: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端口</a:t>
            </a:r>
            <a:endParaRPr lang="en-US" altLang="zh-CN"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Hash</a:t>
            </a: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值）</a:t>
            </a:r>
          </a:p>
        </p:txBody>
      </p:sp>
      <p:sp>
        <p:nvSpPr>
          <p:cNvPr id="50" name="矩形 49"/>
          <p:cNvSpPr/>
          <p:nvPr/>
        </p:nvSpPr>
        <p:spPr bwMode="gray">
          <a:xfrm>
            <a:off x="2887436" y="5079600"/>
            <a:ext cx="1436318" cy="576064"/>
          </a:xfrm>
          <a:prstGeom prst="rect">
            <a:avLst/>
          </a:prstGeom>
          <a:solidFill>
            <a:schemeClr val="bg1">
              <a:lumMod val="75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UDP</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端口</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4789</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51" name="矩形 50"/>
          <p:cNvSpPr/>
          <p:nvPr/>
        </p:nvSpPr>
        <p:spPr bwMode="gray">
          <a:xfrm>
            <a:off x="4323754" y="5079600"/>
            <a:ext cx="871780" cy="576064"/>
          </a:xfrm>
          <a:prstGeom prst="rect">
            <a:avLst/>
          </a:prstGeom>
          <a:solidFill>
            <a:schemeClr val="bg1">
              <a:lumMod val="75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长度</a:t>
            </a:r>
          </a:p>
        </p:txBody>
      </p:sp>
      <p:sp>
        <p:nvSpPr>
          <p:cNvPr id="52" name="矩形 51"/>
          <p:cNvSpPr/>
          <p:nvPr/>
        </p:nvSpPr>
        <p:spPr bwMode="gray">
          <a:xfrm>
            <a:off x="5192652" y="5079600"/>
            <a:ext cx="1154049" cy="576064"/>
          </a:xfrm>
          <a:prstGeom prst="rect">
            <a:avLst/>
          </a:prstGeom>
          <a:solidFill>
            <a:schemeClr val="bg1">
              <a:lumMod val="75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校验和</a:t>
            </a:r>
          </a:p>
        </p:txBody>
      </p:sp>
      <p:cxnSp>
        <p:nvCxnSpPr>
          <p:cNvPr id="53" name="直接连接符 52"/>
          <p:cNvCxnSpPr/>
          <p:nvPr/>
        </p:nvCxnSpPr>
        <p:spPr bwMode="gray">
          <a:xfrm>
            <a:off x="6098256" y="2616907"/>
            <a:ext cx="0" cy="1080120"/>
          </a:xfrm>
          <a:prstGeom prst="line">
            <a:avLst/>
          </a:prstGeom>
          <a:ln w="190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bwMode="gray">
          <a:xfrm>
            <a:off x="4966861" y="2616907"/>
            <a:ext cx="0" cy="2462693"/>
          </a:xfrm>
          <a:prstGeom prst="line">
            <a:avLst/>
          </a:prstGeom>
          <a:ln w="190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5" name="矩形 54"/>
          <p:cNvSpPr/>
          <p:nvPr/>
        </p:nvSpPr>
        <p:spPr bwMode="gray">
          <a:xfrm>
            <a:off x="2320720" y="3156967"/>
            <a:ext cx="2249540" cy="1400383"/>
          </a:xfrm>
          <a:prstGeom prst="rect">
            <a:avLst/>
          </a:prstGeom>
        </p:spPr>
        <p:txBody>
          <a:bodyPr wrap="square">
            <a:spAutoFit/>
          </a:bodyPr>
          <a:lstStyle/>
          <a:p>
            <a:pPr marL="177800" indent="-177800">
              <a:lnSpc>
                <a:spcPts val="2400"/>
              </a:lnSpc>
              <a:spcAft>
                <a:spcPts val="600"/>
              </a:spcAft>
              <a:buFont typeface="Arial" panose="020B0604020202020204" pitchFamily="34" charset="0"/>
              <a:buChar char="•"/>
            </a:pPr>
            <a:r>
              <a:rPr lang="zh-CN" altLang="en-US" sz="1400" b="1" dirty="0">
                <a:solidFill>
                  <a:srgbClr val="333333"/>
                </a:solidFill>
                <a:latin typeface="Huawei Sans" panose="020C0503030203020204" pitchFamily="34" charset="0"/>
                <a:ea typeface="方正兰亭黑简体" panose="02000000000000000000" pitchFamily="2" charset="-122"/>
                <a:sym typeface="Huawei Sans" panose="020C0503030203020204" pitchFamily="34" charset="0"/>
              </a:rPr>
              <a:t>源</a:t>
            </a:r>
            <a:r>
              <a:rPr lang="en-US" altLang="zh-CN" sz="1400" b="1" dirty="0">
                <a:solidFill>
                  <a:srgbClr val="333333"/>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b="1" dirty="0">
                <a:solidFill>
                  <a:srgbClr val="333333"/>
                </a:solidFill>
                <a:latin typeface="Huawei Sans" panose="020C0503030203020204" pitchFamily="34" charset="0"/>
                <a:ea typeface="方正兰亭黑简体" panose="02000000000000000000" pitchFamily="2" charset="-122"/>
                <a:sym typeface="Huawei Sans" panose="020C0503030203020204" pitchFamily="34" charset="0"/>
              </a:rPr>
              <a:t>地址：</a:t>
            </a:r>
            <a:r>
              <a:rPr lang="en-US" altLang="zh-CN" sz="1400" dirty="0">
                <a:solidFill>
                  <a:srgbClr val="333333"/>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solidFill>
                  <a:srgbClr val="333333"/>
                </a:solidFill>
                <a:latin typeface="Huawei Sans" panose="020C0503030203020204" pitchFamily="34" charset="0"/>
                <a:ea typeface="方正兰亭黑简体" panose="02000000000000000000" pitchFamily="2" charset="-122"/>
                <a:sym typeface="Huawei Sans" panose="020C0503030203020204" pitchFamily="34" charset="0"/>
              </a:rPr>
              <a:t>隧道源端</a:t>
            </a:r>
            <a:r>
              <a:rPr lang="en-US" altLang="zh-CN" sz="1400" dirty="0">
                <a:solidFill>
                  <a:srgbClr val="333333"/>
                </a:solidFill>
                <a:latin typeface="Huawei Sans" panose="020C0503030203020204" pitchFamily="34" charset="0"/>
                <a:ea typeface="方正兰亭黑简体" panose="02000000000000000000" pitchFamily="2" charset="-122"/>
                <a:sym typeface="Huawei Sans" panose="020C0503030203020204" pitchFamily="34" charset="0"/>
              </a:rPr>
              <a:t>VTEP</a:t>
            </a:r>
            <a:r>
              <a:rPr lang="zh-CN" altLang="en-US" sz="1400" dirty="0">
                <a:solidFill>
                  <a:srgbClr val="333333"/>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solidFill>
                  <a:srgbClr val="333333"/>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srgbClr val="333333"/>
                </a:solidFill>
                <a:latin typeface="Huawei Sans" panose="020C0503030203020204" pitchFamily="34" charset="0"/>
                <a:ea typeface="方正兰亭黑简体" panose="02000000000000000000" pitchFamily="2" charset="-122"/>
                <a:sym typeface="Huawei Sans" panose="020C0503030203020204" pitchFamily="34" charset="0"/>
              </a:rPr>
              <a:t>地址</a:t>
            </a:r>
          </a:p>
          <a:p>
            <a:pPr marL="177800" indent="-177800">
              <a:lnSpc>
                <a:spcPts val="2400"/>
              </a:lnSpc>
              <a:spcAft>
                <a:spcPts val="600"/>
              </a:spcAft>
              <a:buFont typeface="Arial" panose="020B0604020202020204" pitchFamily="34" charset="0"/>
              <a:buChar char="•"/>
            </a:pPr>
            <a:r>
              <a:rPr lang="zh-CN" altLang="en-US" sz="1400" b="1" dirty="0">
                <a:solidFill>
                  <a:srgbClr val="333333"/>
                </a:solidFill>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400" b="1" dirty="0">
                <a:solidFill>
                  <a:srgbClr val="333333"/>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b="1" dirty="0">
                <a:solidFill>
                  <a:srgbClr val="333333"/>
                </a:solidFill>
                <a:latin typeface="Huawei Sans" panose="020C0503030203020204" pitchFamily="34" charset="0"/>
                <a:ea typeface="方正兰亭黑简体" panose="02000000000000000000" pitchFamily="2" charset="-122"/>
                <a:sym typeface="Huawei Sans" panose="020C0503030203020204" pitchFamily="34" charset="0"/>
              </a:rPr>
              <a:t>地址：</a:t>
            </a:r>
            <a:r>
              <a:rPr lang="en-US" altLang="zh-CN" sz="1400" dirty="0">
                <a:solidFill>
                  <a:srgbClr val="333333"/>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solidFill>
                  <a:srgbClr val="333333"/>
                </a:solidFill>
                <a:latin typeface="Huawei Sans" panose="020C0503030203020204" pitchFamily="34" charset="0"/>
                <a:ea typeface="方正兰亭黑简体" panose="02000000000000000000" pitchFamily="2" charset="-122"/>
                <a:sym typeface="Huawei Sans" panose="020C0503030203020204" pitchFamily="34" charset="0"/>
              </a:rPr>
              <a:t>隧道目的端</a:t>
            </a:r>
            <a:r>
              <a:rPr lang="en-US" altLang="zh-CN" sz="1400" dirty="0">
                <a:solidFill>
                  <a:srgbClr val="333333"/>
                </a:solidFill>
                <a:latin typeface="Huawei Sans" panose="020C0503030203020204" pitchFamily="34" charset="0"/>
                <a:ea typeface="方正兰亭黑简体" panose="02000000000000000000" pitchFamily="2" charset="-122"/>
                <a:sym typeface="Huawei Sans" panose="020C0503030203020204" pitchFamily="34" charset="0"/>
              </a:rPr>
              <a:t>VTEP</a:t>
            </a:r>
            <a:r>
              <a:rPr lang="zh-CN" altLang="en-US" sz="1400" dirty="0">
                <a:solidFill>
                  <a:srgbClr val="333333"/>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solidFill>
                  <a:srgbClr val="333333"/>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srgbClr val="333333"/>
                </a:solidFill>
                <a:latin typeface="Huawei Sans" panose="020C0503030203020204" pitchFamily="34" charset="0"/>
                <a:ea typeface="方正兰亭黑简体" panose="02000000000000000000" pitchFamily="2" charset="-122"/>
                <a:sym typeface="Huawei Sans" panose="020C0503030203020204" pitchFamily="34" charset="0"/>
              </a:rPr>
              <a:t>地址</a:t>
            </a:r>
            <a:endParaRPr lang="zh-CN" altLang="en-US" sz="1400" b="0" i="0" dirty="0">
              <a:solidFill>
                <a:srgbClr val="333333"/>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6" name="直接连接符 55"/>
          <p:cNvCxnSpPr/>
          <p:nvPr/>
        </p:nvCxnSpPr>
        <p:spPr bwMode="gray">
          <a:xfrm>
            <a:off x="3793107" y="2616907"/>
            <a:ext cx="0" cy="540060"/>
          </a:xfrm>
          <a:prstGeom prst="line">
            <a:avLst/>
          </a:prstGeom>
          <a:ln w="1905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0254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Freeform 159"/>
          <p:cNvSpPr/>
          <p:nvPr/>
        </p:nvSpPr>
        <p:spPr bwMode="gray">
          <a:xfrm flipH="1">
            <a:off x="3848538" y="2875839"/>
            <a:ext cx="4381062" cy="229010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b="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a:extLst>
              <a:ext uri="{FF2B5EF4-FFF2-40B4-BE49-F238E27FC236}">
                <a16:creationId xmlns:a16="http://schemas.microsoft.com/office/drawing/2014/main" id="{CDF86A11-0DEE-4CA0-879B-C0A4994AD39F}"/>
              </a:ext>
            </a:extLst>
          </p:cNvPr>
          <p:cNvSpPr>
            <a:spLocks noGrp="1"/>
          </p:cNvSpPr>
          <p:nvPr>
            <p:ph type="title"/>
          </p:nvPr>
        </p:nvSpPr>
        <p:spPr bwMode="gray"/>
        <p:txBody>
          <a:bodyPr/>
          <a:lstStyle/>
          <a:p>
            <a:r>
              <a:rPr lang="en-US" altLang="zh-CN">
                <a:sym typeface="Huawei Sans" panose="020C0503030203020204" pitchFamily="34" charset="0"/>
              </a:rPr>
              <a:t>VXLAN</a:t>
            </a:r>
            <a:r>
              <a:rPr lang="zh-CN" altLang="en-US">
                <a:sym typeface="Huawei Sans" panose="020C0503030203020204" pitchFamily="34" charset="0"/>
              </a:rPr>
              <a:t>基本概念：</a:t>
            </a:r>
            <a:r>
              <a:rPr lang="en-US" altLang="zh-CN">
                <a:sym typeface="Huawei Sans" panose="020C0503030203020204" pitchFamily="34" charset="0"/>
              </a:rPr>
              <a:t>NVE</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bwMode="gray">
          <a:xfrm>
            <a:off x="455613" y="1047751"/>
            <a:ext cx="11256962" cy="1380480"/>
          </a:xfrm>
        </p:spPr>
        <p:txBody>
          <a:bodyPr/>
          <a:lstStyle/>
          <a:p>
            <a:r>
              <a:rPr lang="en-US" altLang="zh-CN" sz="1800" dirty="0">
                <a:sym typeface="Huawei Sans" panose="020C0503030203020204" pitchFamily="34" charset="0"/>
              </a:rPr>
              <a:t>NVE</a:t>
            </a:r>
            <a:r>
              <a:rPr lang="zh-CN" altLang="en-US" sz="1800" dirty="0">
                <a:sym typeface="Huawei Sans" panose="020C0503030203020204" pitchFamily="34" charset="0"/>
              </a:rPr>
              <a:t>（</a:t>
            </a:r>
            <a:r>
              <a:rPr lang="en-US" altLang="zh-CN" sz="1800" dirty="0">
                <a:sym typeface="Huawei Sans" panose="020C0503030203020204" pitchFamily="34" charset="0"/>
              </a:rPr>
              <a:t>Network Virtualization Edge</a:t>
            </a:r>
            <a:r>
              <a:rPr lang="zh-CN" altLang="en-US" sz="1800" dirty="0">
                <a:sym typeface="Huawei Sans" panose="020C0503030203020204" pitchFamily="34" charset="0"/>
              </a:rPr>
              <a:t>，网络虚拟边缘）：</a:t>
            </a:r>
          </a:p>
          <a:p>
            <a:pPr lvl="1"/>
            <a:r>
              <a:rPr lang="zh-CN" altLang="en-US" sz="1600" dirty="0">
                <a:sym typeface="Huawei Sans" panose="020C0503030203020204" pitchFamily="34" charset="0"/>
              </a:rPr>
              <a:t>是实现网络虚拟化功能的网络实体，可以是硬件交换机也可以是软件交换机。</a:t>
            </a:r>
          </a:p>
          <a:p>
            <a:pPr lvl="1"/>
            <a:r>
              <a:rPr lang="en-US" altLang="zh-CN" sz="1600" dirty="0">
                <a:sym typeface="Huawei Sans" panose="020C0503030203020204" pitchFamily="34" charset="0"/>
              </a:rPr>
              <a:t>NVE</a:t>
            </a:r>
            <a:r>
              <a:rPr lang="zh-CN" altLang="en-US" sz="1600" dirty="0">
                <a:sym typeface="Huawei Sans" panose="020C0503030203020204" pitchFamily="34" charset="0"/>
              </a:rPr>
              <a:t>在三层网络上构建二层虚拟网络，是运行</a:t>
            </a:r>
            <a:r>
              <a:rPr lang="en-US" altLang="zh-CN" sz="1600" dirty="0">
                <a:sym typeface="Huawei Sans" panose="020C0503030203020204" pitchFamily="34" charset="0"/>
              </a:rPr>
              <a:t>VXLAN</a:t>
            </a:r>
            <a:r>
              <a:rPr lang="zh-CN" altLang="en-US" sz="1600" dirty="0">
                <a:sym typeface="Huawei Sans" panose="020C0503030203020204" pitchFamily="34" charset="0"/>
              </a:rPr>
              <a:t>的设备。图中</a:t>
            </a:r>
            <a:r>
              <a:rPr lang="en-US" altLang="zh-CN" sz="1600" dirty="0">
                <a:sym typeface="Huawei Sans" panose="020C0503030203020204" pitchFamily="34" charset="0"/>
              </a:rPr>
              <a:t>SW1</a:t>
            </a:r>
            <a:r>
              <a:rPr lang="zh-CN" altLang="en-US" sz="1600" dirty="0">
                <a:sym typeface="Huawei Sans" panose="020C0503030203020204" pitchFamily="34" charset="0"/>
              </a:rPr>
              <a:t>和</a:t>
            </a:r>
            <a:r>
              <a:rPr lang="en-US" altLang="zh-CN" sz="1600" dirty="0">
                <a:sym typeface="Huawei Sans" panose="020C0503030203020204" pitchFamily="34" charset="0"/>
              </a:rPr>
              <a:t>SW2</a:t>
            </a:r>
            <a:r>
              <a:rPr lang="zh-CN" altLang="en-US" sz="1600" dirty="0">
                <a:sym typeface="Huawei Sans" panose="020C0503030203020204" pitchFamily="34" charset="0"/>
              </a:rPr>
              <a:t>都是</a:t>
            </a:r>
            <a:r>
              <a:rPr lang="en-US" altLang="zh-CN" sz="1600" dirty="0">
                <a:sym typeface="Huawei Sans" panose="020C0503030203020204" pitchFamily="34" charset="0"/>
              </a:rPr>
              <a:t>NVE</a:t>
            </a:r>
            <a:r>
              <a:rPr lang="zh-CN" altLang="en-US" sz="1600" dirty="0">
                <a:sym typeface="Huawei Sans" panose="020C0503030203020204" pitchFamily="34" charset="0"/>
              </a:rPr>
              <a:t>。</a:t>
            </a:r>
          </a:p>
        </p:txBody>
      </p:sp>
      <p:sp>
        <p:nvSpPr>
          <p:cNvPr id="39" name="文本框 38">
            <a:extLst>
              <a:ext uri="{FF2B5EF4-FFF2-40B4-BE49-F238E27FC236}">
                <a16:creationId xmlns:a16="http://schemas.microsoft.com/office/drawing/2014/main" id="{48261580-01AC-47F6-BD8A-52AE184521DC}"/>
              </a:ext>
            </a:extLst>
          </p:cNvPr>
          <p:cNvSpPr txBox="1"/>
          <p:nvPr/>
        </p:nvSpPr>
        <p:spPr bwMode="gray">
          <a:xfrm>
            <a:off x="2828739" y="5013750"/>
            <a:ext cx="1300356" cy="307777"/>
          </a:xfrm>
          <a:prstGeom prst="rect">
            <a:avLst/>
          </a:prstGeom>
        </p:spPr>
        <p:txBody>
          <a:bodyPr wrap="none" rtlCol="0">
            <a:spAutoFit/>
          </a:bodyPr>
          <a:lstStyle/>
          <a:p>
            <a:pPr algn="ct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NVE</a:t>
            </a: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40" name="文本框 39">
            <a:extLst>
              <a:ext uri="{FF2B5EF4-FFF2-40B4-BE49-F238E27FC236}">
                <a16:creationId xmlns:a16="http://schemas.microsoft.com/office/drawing/2014/main" id="{D59EA876-A37B-4163-A957-CD214692C151}"/>
              </a:ext>
            </a:extLst>
          </p:cNvPr>
          <p:cNvSpPr txBox="1"/>
          <p:nvPr/>
        </p:nvSpPr>
        <p:spPr bwMode="gray">
          <a:xfrm>
            <a:off x="8117584" y="5005564"/>
            <a:ext cx="1300356" cy="307777"/>
          </a:xfrm>
          <a:prstGeom prst="rect">
            <a:avLst/>
          </a:prstGeom>
        </p:spPr>
        <p:txBody>
          <a:bodyPr wrap="none" rtlCol="0">
            <a:spAutoFit/>
          </a:bodyPr>
          <a:lstStyle/>
          <a:p>
            <a:pPr algn="ctr"/>
            <a:r>
              <a:rPr lang="en-US" altLang="zh-CN" sz="14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NVE</a:t>
            </a:r>
            <a:r>
              <a:rPr lang="zh-CN" altLang="en-US" sz="14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p>
        </p:txBody>
      </p:sp>
      <p:cxnSp>
        <p:nvCxnSpPr>
          <p:cNvPr id="69" name="直接连接符 68"/>
          <p:cNvCxnSpPr/>
          <p:nvPr/>
        </p:nvCxnSpPr>
        <p:spPr bwMode="gray">
          <a:xfrm flipH="1">
            <a:off x="8796783" y="4732261"/>
            <a:ext cx="171841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bwMode="gray">
          <a:xfrm flipH="1">
            <a:off x="1639558" y="4732261"/>
            <a:ext cx="181394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3" name="组合 72"/>
          <p:cNvGrpSpPr/>
          <p:nvPr/>
        </p:nvGrpSpPr>
        <p:grpSpPr bwMode="gray">
          <a:xfrm>
            <a:off x="3478917" y="3887510"/>
            <a:ext cx="5295126" cy="821924"/>
            <a:chOff x="6600056" y="4353447"/>
            <a:chExt cx="1296144" cy="833967"/>
          </a:xfrm>
        </p:grpSpPr>
        <p:cxnSp>
          <p:nvCxnSpPr>
            <p:cNvPr id="74" name="直接连接符 73"/>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6" name="矩形 75"/>
          <p:cNvSpPr/>
          <p:nvPr/>
        </p:nvSpPr>
        <p:spPr bwMode="gray">
          <a:xfrm>
            <a:off x="679004" y="3918675"/>
            <a:ext cx="1377301" cy="523220"/>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PC1</a:t>
            </a:r>
          </a:p>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192.168.1.1/24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矩形 76"/>
          <p:cNvSpPr/>
          <p:nvPr/>
        </p:nvSpPr>
        <p:spPr bwMode="gray">
          <a:xfrm rot="20513042">
            <a:off x="4396838" y="3998312"/>
            <a:ext cx="736100" cy="307777"/>
          </a:xfrm>
          <a:prstGeom prst="rect">
            <a:avLst/>
          </a:prstGeom>
        </p:spPr>
        <p:txBody>
          <a:bodyPr wrap="none">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链路</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矩形 77"/>
          <p:cNvSpPr/>
          <p:nvPr/>
        </p:nvSpPr>
        <p:spPr bwMode="gray">
          <a:xfrm rot="993331">
            <a:off x="6974624" y="3950017"/>
            <a:ext cx="761747" cy="307777"/>
          </a:xfrm>
          <a:prstGeom prst="rect">
            <a:avLst/>
          </a:prstGeom>
        </p:spPr>
        <p:txBody>
          <a:bodyPr wrap="none">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链路</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矩形 82"/>
          <p:cNvSpPr/>
          <p:nvPr/>
        </p:nvSpPr>
        <p:spPr bwMode="gray">
          <a:xfrm>
            <a:off x="10075117" y="3918675"/>
            <a:ext cx="1377301" cy="523220"/>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PC2</a:t>
            </a:r>
          </a:p>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192.168.1.2/24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4" name="图片 11" descr="开放网络-蓝.png"/>
          <p:cNvPicPr>
            <a:picLocks noChangeAspect="1"/>
          </p:cNvPicPr>
          <p:nvPr/>
        </p:nvPicPr>
        <p:blipFill>
          <a:blip r:embed="rId3" cstate="print"/>
          <a:stretch>
            <a:fillRect/>
          </a:stretch>
        </p:blipFill>
        <p:spPr bwMode="gray">
          <a:xfrm>
            <a:off x="1099951" y="4485413"/>
            <a:ext cx="539607" cy="415381"/>
          </a:xfrm>
          <a:prstGeom prst="rect">
            <a:avLst/>
          </a:prstGeom>
        </p:spPr>
      </p:pic>
      <p:pic>
        <p:nvPicPr>
          <p:cNvPr id="85" name="图片 11" descr="开放网络-蓝.png"/>
          <p:cNvPicPr>
            <a:picLocks noChangeAspect="1"/>
          </p:cNvPicPr>
          <p:nvPr/>
        </p:nvPicPr>
        <p:blipFill>
          <a:blip r:embed="rId3" cstate="print"/>
          <a:stretch>
            <a:fillRect/>
          </a:stretch>
        </p:blipFill>
        <p:spPr bwMode="gray">
          <a:xfrm>
            <a:off x="10515195" y="4485413"/>
            <a:ext cx="539607" cy="415381"/>
          </a:xfrm>
          <a:prstGeom prst="rect">
            <a:avLst/>
          </a:prstGeom>
        </p:spPr>
      </p:pic>
      <p:pic>
        <p:nvPicPr>
          <p:cNvPr id="86" name="图片 87" descr="汇聚交换机.png"/>
          <p:cNvPicPr>
            <a:picLocks noChangeAspect="1"/>
          </p:cNvPicPr>
          <p:nvPr/>
        </p:nvPicPr>
        <p:blipFill>
          <a:blip r:embed="rId4" cstate="print"/>
          <a:stretch>
            <a:fillRect/>
          </a:stretch>
        </p:blipFill>
        <p:spPr bwMode="gray">
          <a:xfrm>
            <a:off x="3211431" y="4532852"/>
            <a:ext cx="540000" cy="441818"/>
          </a:xfrm>
          <a:prstGeom prst="rect">
            <a:avLst/>
          </a:prstGeom>
        </p:spPr>
      </p:pic>
      <p:pic>
        <p:nvPicPr>
          <p:cNvPr id="87" name="图片 87" descr="汇聚交换机.png"/>
          <p:cNvPicPr>
            <a:picLocks noChangeAspect="1"/>
          </p:cNvPicPr>
          <p:nvPr/>
        </p:nvPicPr>
        <p:blipFill>
          <a:blip r:embed="rId4" cstate="print"/>
          <a:stretch>
            <a:fillRect/>
          </a:stretch>
        </p:blipFill>
        <p:spPr bwMode="gray">
          <a:xfrm>
            <a:off x="8497762" y="4532852"/>
            <a:ext cx="540000" cy="441818"/>
          </a:xfrm>
          <a:prstGeom prst="rect">
            <a:avLst/>
          </a:prstGeom>
        </p:spPr>
      </p:pic>
      <p:sp>
        <p:nvSpPr>
          <p:cNvPr id="88" name="圆柱形 87"/>
          <p:cNvSpPr/>
          <p:nvPr/>
        </p:nvSpPr>
        <p:spPr bwMode="gray">
          <a:xfrm rot="16200000">
            <a:off x="5977171" y="2474721"/>
            <a:ext cx="279572" cy="4636766"/>
          </a:xfrm>
          <a:prstGeom prst="can">
            <a:avLst>
              <a:gd name="adj" fmla="val 43371"/>
            </a:avLst>
          </a:prstGeom>
          <a:solidFill>
            <a:srgbClr val="EC7061"/>
          </a:solidFill>
          <a:ln w="12700" cap="flat" cmpd="sng" algn="ctr">
            <a:solidFill>
              <a:sysClr val="window" lastClr="FFFFFF"/>
            </a:solidFill>
            <a:prstDash val="solid"/>
            <a:miter lim="800000"/>
          </a:ln>
          <a:effectLst/>
        </p:spPr>
        <p:txBody>
          <a:bodyPr rtlCol="0" anchor="ctr"/>
          <a:lstStyle/>
          <a:p>
            <a:pPr algn="ctr"/>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矩形 88"/>
          <p:cNvSpPr/>
          <p:nvPr/>
        </p:nvSpPr>
        <p:spPr bwMode="gray">
          <a:xfrm>
            <a:off x="5562008" y="4595991"/>
            <a:ext cx="1197764" cy="351699"/>
          </a:xfrm>
          <a:prstGeom prst="rect">
            <a:avLst/>
          </a:prstGeom>
        </p:spPr>
        <p:txBody>
          <a:bodyPr wrap="none">
            <a:spAutoFit/>
          </a:bodyPr>
          <a:lstStyle/>
          <a:p>
            <a:pPr algn="ctr">
              <a:lnSpc>
                <a:spcPts val="2200"/>
              </a:lnSpc>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 </a:t>
            </a:r>
            <a:r>
              <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a:t>
            </a:r>
          </a:p>
        </p:txBody>
      </p:sp>
      <p:pic>
        <p:nvPicPr>
          <p:cNvPr id="90" name="图片 86" descr="核心交换机.png"/>
          <p:cNvPicPr>
            <a:picLocks noChangeAspect="1"/>
          </p:cNvPicPr>
          <p:nvPr/>
        </p:nvPicPr>
        <p:blipFill>
          <a:blip r:embed="rId5" cstate="print"/>
          <a:stretch>
            <a:fillRect/>
          </a:stretch>
        </p:blipFill>
        <p:spPr bwMode="gray">
          <a:xfrm>
            <a:off x="5857737" y="3706564"/>
            <a:ext cx="540000" cy="441818"/>
          </a:xfrm>
          <a:prstGeom prst="rect">
            <a:avLst/>
          </a:prstGeom>
        </p:spPr>
      </p:pic>
      <p:sp>
        <p:nvSpPr>
          <p:cNvPr id="92" name="矩形 91"/>
          <p:cNvSpPr/>
          <p:nvPr/>
        </p:nvSpPr>
        <p:spPr bwMode="gray">
          <a:xfrm>
            <a:off x="4970366" y="3171873"/>
            <a:ext cx="769763" cy="338554"/>
          </a:xfrm>
          <a:prstGeom prst="rect">
            <a:avLst/>
          </a:prstGeom>
        </p:spPr>
        <p:txBody>
          <a:bodyPr wrap="none">
            <a:spAutoFit/>
          </a:bodyPr>
          <a:lstStyle/>
          <a:p>
            <a:pPr algn="ctr"/>
            <a:r>
              <a:rPr lang="en-US" altLang="zh-CN" sz="1600" dirty="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网络</a:t>
            </a:r>
          </a:p>
        </p:txBody>
      </p:sp>
      <p:sp>
        <p:nvSpPr>
          <p:cNvPr id="29" name="五边形 24">
            <a:extLst>
              <a:ext uri="{FF2B5EF4-FFF2-40B4-BE49-F238E27FC236}">
                <a16:creationId xmlns:a16="http://schemas.microsoft.com/office/drawing/2014/main" id="{94B96716-C28B-40EB-8E95-7453A9EDFF97}"/>
              </a:ext>
            </a:extLst>
          </p:cNvPr>
          <p:cNvSpPr/>
          <p:nvPr/>
        </p:nvSpPr>
        <p:spPr bwMode="gray">
          <a:xfrm>
            <a:off x="6832310" y="124239"/>
            <a:ext cx="7812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NVE</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燕尾形 25">
            <a:extLst>
              <a:ext uri="{FF2B5EF4-FFF2-40B4-BE49-F238E27FC236}">
                <a16:creationId xmlns:a16="http://schemas.microsoft.com/office/drawing/2014/main" id="{B3835D4C-1B49-4581-A7CA-72BCE8067FFC}"/>
              </a:ext>
            </a:extLst>
          </p:cNvPr>
          <p:cNvSpPr/>
          <p:nvPr/>
        </p:nvSpPr>
        <p:spPr bwMode="gray">
          <a:xfrm>
            <a:off x="9084373" y="124239"/>
            <a:ext cx="781200"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VAP</a:t>
            </a:r>
          </a:p>
        </p:txBody>
      </p:sp>
      <p:sp>
        <p:nvSpPr>
          <p:cNvPr id="31" name="燕尾形 26">
            <a:extLst>
              <a:ext uri="{FF2B5EF4-FFF2-40B4-BE49-F238E27FC236}">
                <a16:creationId xmlns:a16="http://schemas.microsoft.com/office/drawing/2014/main" id="{9744301D-E99A-4BEF-A318-08CD9645DD40}"/>
              </a:ext>
            </a:extLst>
          </p:cNvPr>
          <p:cNvSpPr/>
          <p:nvPr/>
        </p:nvSpPr>
        <p:spPr bwMode="gray">
          <a:xfrm>
            <a:off x="10931982" y="124239"/>
            <a:ext cx="781200"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燕尾形 26">
            <a:extLst>
              <a:ext uri="{FF2B5EF4-FFF2-40B4-BE49-F238E27FC236}">
                <a16:creationId xmlns:a16="http://schemas.microsoft.com/office/drawing/2014/main" id="{BCE2539E-0076-4A5B-9B7B-AE0039DEB005}"/>
              </a:ext>
            </a:extLst>
          </p:cNvPr>
          <p:cNvSpPr/>
          <p:nvPr/>
        </p:nvSpPr>
        <p:spPr bwMode="gray">
          <a:xfrm>
            <a:off x="8299168" y="124239"/>
            <a:ext cx="864000"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VNI</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BD</a:t>
            </a:r>
          </a:p>
        </p:txBody>
      </p:sp>
      <p:sp>
        <p:nvSpPr>
          <p:cNvPr id="33" name="燕尾形 26">
            <a:extLst>
              <a:ext uri="{FF2B5EF4-FFF2-40B4-BE49-F238E27FC236}">
                <a16:creationId xmlns:a16="http://schemas.microsoft.com/office/drawing/2014/main" id="{65628728-0580-404A-8423-3F9266499728}"/>
              </a:ext>
            </a:extLst>
          </p:cNvPr>
          <p:cNvSpPr/>
          <p:nvPr/>
        </p:nvSpPr>
        <p:spPr bwMode="gray">
          <a:xfrm>
            <a:off x="7534715" y="124239"/>
            <a:ext cx="843248"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a:latin typeface="Huawei Sans" panose="020C0503030203020204" pitchFamily="34" charset="0"/>
                <a:ea typeface="方正兰亭黑简体" panose="02000000000000000000" pitchFamily="2" charset="-122"/>
                <a:sym typeface="Huawei Sans" panose="020C0503030203020204" pitchFamily="34" charset="0"/>
              </a:rPr>
              <a:t>VTEP</a:t>
            </a:r>
          </a:p>
        </p:txBody>
      </p:sp>
      <p:sp>
        <p:nvSpPr>
          <p:cNvPr id="34" name="燕尾形 25">
            <a:extLst>
              <a:ext uri="{FF2B5EF4-FFF2-40B4-BE49-F238E27FC236}">
                <a16:creationId xmlns:a16="http://schemas.microsoft.com/office/drawing/2014/main" id="{B3835D4C-1B49-4581-A7CA-72BCE8067FFC}"/>
              </a:ext>
            </a:extLst>
          </p:cNvPr>
          <p:cNvSpPr/>
          <p:nvPr/>
        </p:nvSpPr>
        <p:spPr bwMode="gray">
          <a:xfrm>
            <a:off x="9786778" y="124239"/>
            <a:ext cx="1224000"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Edge</a:t>
            </a:r>
          </a:p>
        </p:txBody>
      </p:sp>
    </p:spTree>
    <p:extLst>
      <p:ext uri="{BB962C8B-B14F-4D97-AF65-F5344CB8AC3E}">
        <p14:creationId xmlns:p14="http://schemas.microsoft.com/office/powerpoint/2010/main" val="2919396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bwMode="gray">
          <a:xfrm rot="10800000">
            <a:off x="3310086" y="3952151"/>
            <a:ext cx="337662" cy="277474"/>
            <a:chOff x="1149331" y="3370821"/>
            <a:chExt cx="598189" cy="335743"/>
          </a:xfrm>
        </p:grpSpPr>
        <p:cxnSp>
          <p:nvCxnSpPr>
            <p:cNvPr id="58" name="直接连接符 57"/>
            <p:cNvCxnSpPr/>
            <p:nvPr/>
          </p:nvCxnSpPr>
          <p:spPr bwMode="gray">
            <a:xfrm flipH="1">
              <a:off x="1149331" y="3370821"/>
              <a:ext cx="598189" cy="0"/>
            </a:xfrm>
            <a:prstGeom prst="line">
              <a:avLst/>
            </a:prstGeom>
            <a:ln w="19050">
              <a:solidFill>
                <a:srgbClr val="C7000B"/>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bwMode="gray">
            <a:xfrm flipV="1">
              <a:off x="1448425" y="3370821"/>
              <a:ext cx="0" cy="335743"/>
            </a:xfrm>
            <a:prstGeom prst="line">
              <a:avLst/>
            </a:prstGeom>
            <a:ln w="19050">
              <a:solidFill>
                <a:srgbClr val="C7000B"/>
              </a:solidFill>
            </a:ln>
          </p:spPr>
          <p:style>
            <a:lnRef idx="1">
              <a:schemeClr val="accent1"/>
            </a:lnRef>
            <a:fillRef idx="0">
              <a:schemeClr val="accent1"/>
            </a:fillRef>
            <a:effectRef idx="0">
              <a:schemeClr val="accent1"/>
            </a:effectRef>
            <a:fontRef idx="minor">
              <a:schemeClr val="tx1"/>
            </a:fontRef>
          </p:style>
        </p:cxnSp>
      </p:grpSp>
      <p:grpSp>
        <p:nvGrpSpPr>
          <p:cNvPr id="60" name="组合 59"/>
          <p:cNvGrpSpPr/>
          <p:nvPr/>
        </p:nvGrpSpPr>
        <p:grpSpPr bwMode="gray">
          <a:xfrm rot="10800000">
            <a:off x="8609091" y="3952151"/>
            <a:ext cx="337662" cy="277474"/>
            <a:chOff x="1149331" y="3370821"/>
            <a:chExt cx="598189" cy="335743"/>
          </a:xfrm>
        </p:grpSpPr>
        <p:cxnSp>
          <p:nvCxnSpPr>
            <p:cNvPr id="61" name="直接连接符 60"/>
            <p:cNvCxnSpPr/>
            <p:nvPr/>
          </p:nvCxnSpPr>
          <p:spPr bwMode="gray">
            <a:xfrm flipH="1">
              <a:off x="1149331" y="3370821"/>
              <a:ext cx="598189" cy="0"/>
            </a:xfrm>
            <a:prstGeom prst="line">
              <a:avLst/>
            </a:prstGeom>
            <a:ln w="19050">
              <a:solidFill>
                <a:srgbClr val="C7000B"/>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bwMode="gray">
            <a:xfrm flipV="1">
              <a:off x="1448425" y="3370821"/>
              <a:ext cx="0" cy="335743"/>
            </a:xfrm>
            <a:prstGeom prst="line">
              <a:avLst/>
            </a:prstGeom>
            <a:ln w="19050">
              <a:solidFill>
                <a:srgbClr val="C7000B"/>
              </a:solidFill>
            </a:ln>
          </p:spPr>
          <p:style>
            <a:lnRef idx="1">
              <a:schemeClr val="accent1"/>
            </a:lnRef>
            <a:fillRef idx="0">
              <a:schemeClr val="accent1"/>
            </a:fillRef>
            <a:effectRef idx="0">
              <a:schemeClr val="accent1"/>
            </a:effectRef>
            <a:fontRef idx="minor">
              <a:schemeClr val="tx1"/>
            </a:fontRef>
          </p:style>
        </p:cxnSp>
      </p:grpSp>
      <p:sp>
        <p:nvSpPr>
          <p:cNvPr id="2" name="标题 1">
            <a:extLst>
              <a:ext uri="{FF2B5EF4-FFF2-40B4-BE49-F238E27FC236}">
                <a16:creationId xmlns:a16="http://schemas.microsoft.com/office/drawing/2014/main" id="{CDF86A11-0DEE-4CA0-879B-C0A4994AD39F}"/>
              </a:ext>
            </a:extLst>
          </p:cNvPr>
          <p:cNvSpPr>
            <a:spLocks noGrp="1"/>
          </p:cNvSpPr>
          <p:nvPr>
            <p:ph type="title"/>
          </p:nvPr>
        </p:nvSpPr>
        <p:spPr bwMode="gray"/>
        <p:txBody>
          <a:bodyPr/>
          <a:lstStyle/>
          <a:p>
            <a:r>
              <a:rPr lang="en-US" altLang="zh-CN">
                <a:sym typeface="Huawei Sans" panose="020C0503030203020204" pitchFamily="34" charset="0"/>
              </a:rPr>
              <a:t>VXLAN</a:t>
            </a:r>
            <a:r>
              <a:rPr lang="zh-CN" altLang="en-US">
                <a:sym typeface="Huawei Sans" panose="020C0503030203020204" pitchFamily="34" charset="0"/>
              </a:rPr>
              <a:t>基本概念：</a:t>
            </a:r>
            <a:r>
              <a:rPr lang="en-US" altLang="zh-CN">
                <a:sym typeface="Huawei Sans" panose="020C0503030203020204" pitchFamily="34" charset="0"/>
              </a:rPr>
              <a:t>VTEP</a:t>
            </a:r>
            <a:endParaRPr lang="zh-CN" altLang="en-US">
              <a:sym typeface="Huawei Sans" panose="020C0503030203020204" pitchFamily="34" charset="0"/>
            </a:endParaRPr>
          </a:p>
        </p:txBody>
      </p:sp>
      <p:sp>
        <p:nvSpPr>
          <p:cNvPr id="4" name="文本占位符 3"/>
          <p:cNvSpPr>
            <a:spLocks noGrp="1"/>
          </p:cNvSpPr>
          <p:nvPr>
            <p:ph type="body" sz="quarter" idx="10"/>
          </p:nvPr>
        </p:nvSpPr>
        <p:spPr bwMode="gray">
          <a:xfrm>
            <a:off x="455613" y="1047751"/>
            <a:ext cx="11256962" cy="1484254"/>
          </a:xfrm>
        </p:spPr>
        <p:txBody>
          <a:bodyPr/>
          <a:lstStyle/>
          <a:p>
            <a:r>
              <a:rPr lang="en-US" altLang="zh-CN" sz="1800" dirty="0">
                <a:sym typeface="Huawei Sans" panose="020C0503030203020204" pitchFamily="34" charset="0"/>
              </a:rPr>
              <a:t>VTEP</a:t>
            </a:r>
            <a:r>
              <a:rPr lang="zh-CN" altLang="en-US" sz="1800" dirty="0">
                <a:sym typeface="Huawei Sans" panose="020C0503030203020204" pitchFamily="34" charset="0"/>
              </a:rPr>
              <a:t>（</a:t>
            </a:r>
            <a:r>
              <a:rPr lang="en-US" altLang="zh-CN" sz="1800" dirty="0">
                <a:sym typeface="Huawei Sans" panose="020C0503030203020204" pitchFamily="34" charset="0"/>
              </a:rPr>
              <a:t>VXLAN Tunnel Endpoints</a:t>
            </a:r>
            <a:r>
              <a:rPr lang="zh-CN" altLang="en-US" sz="1800" dirty="0">
                <a:sym typeface="Huawei Sans" panose="020C0503030203020204" pitchFamily="34" charset="0"/>
              </a:rPr>
              <a:t>，</a:t>
            </a:r>
            <a:r>
              <a:rPr lang="en-US" altLang="zh-CN" sz="1800" dirty="0">
                <a:sym typeface="Huawei Sans" panose="020C0503030203020204" pitchFamily="34" charset="0"/>
              </a:rPr>
              <a:t>VXLAN</a:t>
            </a:r>
            <a:r>
              <a:rPr lang="zh-CN" altLang="en-US" sz="1800" dirty="0">
                <a:sym typeface="Huawei Sans" panose="020C0503030203020204" pitchFamily="34" charset="0"/>
              </a:rPr>
              <a:t>隧道端点）：</a:t>
            </a:r>
          </a:p>
          <a:p>
            <a:pPr lvl="1"/>
            <a:r>
              <a:rPr lang="en-US" altLang="zh-CN" sz="1600" dirty="0">
                <a:sym typeface="Huawei Sans" panose="020C0503030203020204" pitchFamily="34" charset="0"/>
              </a:rPr>
              <a:t>VTEP</a:t>
            </a:r>
            <a:r>
              <a:rPr lang="zh-CN" altLang="en-US" sz="1600" dirty="0">
                <a:sym typeface="Huawei Sans" panose="020C0503030203020204" pitchFamily="34" charset="0"/>
              </a:rPr>
              <a:t>是</a:t>
            </a:r>
            <a:r>
              <a:rPr lang="en-US" altLang="zh-CN" sz="1600" dirty="0">
                <a:sym typeface="Huawei Sans" panose="020C0503030203020204" pitchFamily="34" charset="0"/>
              </a:rPr>
              <a:t>VXLAN</a:t>
            </a:r>
            <a:r>
              <a:rPr lang="zh-CN" altLang="en-US" sz="1600" dirty="0">
                <a:sym typeface="Huawei Sans" panose="020C0503030203020204" pitchFamily="34" charset="0"/>
              </a:rPr>
              <a:t>隧道端点，位于</a:t>
            </a:r>
            <a:r>
              <a:rPr lang="en-US" altLang="zh-CN" sz="1600" dirty="0">
                <a:sym typeface="Huawei Sans" panose="020C0503030203020204" pitchFamily="34" charset="0"/>
              </a:rPr>
              <a:t>NVE</a:t>
            </a:r>
            <a:r>
              <a:rPr lang="zh-CN" altLang="en-US" sz="1600" dirty="0">
                <a:sym typeface="Huawei Sans" panose="020C0503030203020204" pitchFamily="34" charset="0"/>
              </a:rPr>
              <a:t>中，用于</a:t>
            </a:r>
            <a:r>
              <a:rPr lang="en-US" altLang="zh-CN" sz="1600" dirty="0">
                <a:sym typeface="Huawei Sans" panose="020C0503030203020204" pitchFamily="34" charset="0"/>
              </a:rPr>
              <a:t>VXLAN</a:t>
            </a:r>
            <a:r>
              <a:rPr lang="zh-CN" altLang="en-US" sz="1600" dirty="0">
                <a:sym typeface="Huawei Sans" panose="020C0503030203020204" pitchFamily="34" charset="0"/>
              </a:rPr>
              <a:t>报文的封装和解封装。</a:t>
            </a:r>
          </a:p>
          <a:p>
            <a:pPr lvl="1"/>
            <a:r>
              <a:rPr lang="en-US" altLang="zh-CN" sz="1600" dirty="0">
                <a:sym typeface="Huawei Sans" panose="020C0503030203020204" pitchFamily="34" charset="0"/>
              </a:rPr>
              <a:t>VXLAN</a:t>
            </a:r>
            <a:r>
              <a:rPr lang="zh-CN" altLang="en-US" sz="1600" dirty="0">
                <a:sym typeface="Huawei Sans" panose="020C0503030203020204" pitchFamily="34" charset="0"/>
              </a:rPr>
              <a:t>报文（其外层</a:t>
            </a:r>
            <a:r>
              <a:rPr lang="en-US" altLang="zh-CN" sz="1600" dirty="0">
                <a:sym typeface="Huawei Sans" panose="020C0503030203020204" pitchFamily="34" charset="0"/>
              </a:rPr>
              <a:t>IP</a:t>
            </a:r>
            <a:r>
              <a:rPr lang="zh-CN" altLang="en-US" sz="1600" dirty="0">
                <a:sym typeface="Huawei Sans" panose="020C0503030203020204" pitchFamily="34" charset="0"/>
              </a:rPr>
              <a:t>头部）中源</a:t>
            </a:r>
            <a:r>
              <a:rPr lang="en-US" altLang="zh-CN" sz="1600" dirty="0">
                <a:sym typeface="Huawei Sans" panose="020C0503030203020204" pitchFamily="34" charset="0"/>
              </a:rPr>
              <a:t>IP</a:t>
            </a:r>
            <a:r>
              <a:rPr lang="zh-CN" altLang="en-US" sz="1600" dirty="0">
                <a:sym typeface="Huawei Sans" panose="020C0503030203020204" pitchFamily="34" charset="0"/>
              </a:rPr>
              <a:t>地址为源端</a:t>
            </a:r>
            <a:r>
              <a:rPr lang="en-US" altLang="zh-CN" sz="1600" dirty="0">
                <a:sym typeface="Huawei Sans" panose="020C0503030203020204" pitchFamily="34" charset="0"/>
              </a:rPr>
              <a:t>VTEP</a:t>
            </a:r>
            <a:r>
              <a:rPr lang="zh-CN" altLang="en-US" sz="1600" dirty="0">
                <a:sym typeface="Huawei Sans" panose="020C0503030203020204" pitchFamily="34" charset="0"/>
              </a:rPr>
              <a:t>的</a:t>
            </a:r>
            <a:r>
              <a:rPr lang="en-US" altLang="zh-CN" sz="1600" dirty="0">
                <a:sym typeface="Huawei Sans" panose="020C0503030203020204" pitchFamily="34" charset="0"/>
              </a:rPr>
              <a:t>IP</a:t>
            </a:r>
            <a:r>
              <a:rPr lang="zh-CN" altLang="en-US" sz="1600" dirty="0">
                <a:sym typeface="Huawei Sans" panose="020C0503030203020204" pitchFamily="34" charset="0"/>
              </a:rPr>
              <a:t>地址，目的</a:t>
            </a:r>
            <a:r>
              <a:rPr lang="en-US" altLang="zh-CN" sz="1600" dirty="0">
                <a:sym typeface="Huawei Sans" panose="020C0503030203020204" pitchFamily="34" charset="0"/>
              </a:rPr>
              <a:t>IP</a:t>
            </a:r>
            <a:r>
              <a:rPr lang="zh-CN" altLang="en-US" sz="1600" dirty="0">
                <a:sym typeface="Huawei Sans" panose="020C0503030203020204" pitchFamily="34" charset="0"/>
              </a:rPr>
              <a:t>地址为目的端</a:t>
            </a:r>
            <a:r>
              <a:rPr lang="en-US" altLang="zh-CN" sz="1600" dirty="0">
                <a:sym typeface="Huawei Sans" panose="020C0503030203020204" pitchFamily="34" charset="0"/>
              </a:rPr>
              <a:t>VTEP</a:t>
            </a:r>
            <a:r>
              <a:rPr lang="zh-CN" altLang="en-US" sz="1600" dirty="0">
                <a:sym typeface="Huawei Sans" panose="020C0503030203020204" pitchFamily="34" charset="0"/>
              </a:rPr>
              <a:t>的</a:t>
            </a:r>
            <a:r>
              <a:rPr lang="en-US" altLang="zh-CN" sz="1600" dirty="0">
                <a:sym typeface="Huawei Sans" panose="020C0503030203020204" pitchFamily="34" charset="0"/>
              </a:rPr>
              <a:t>IP</a:t>
            </a:r>
            <a:r>
              <a:rPr lang="zh-CN" altLang="en-US" sz="1600" dirty="0">
                <a:sym typeface="Huawei Sans" panose="020C0503030203020204" pitchFamily="34" charset="0"/>
              </a:rPr>
              <a:t>地址。</a:t>
            </a:r>
          </a:p>
        </p:txBody>
      </p:sp>
      <p:sp>
        <p:nvSpPr>
          <p:cNvPr id="37" name="文本框 36">
            <a:extLst>
              <a:ext uri="{FF2B5EF4-FFF2-40B4-BE49-F238E27FC236}">
                <a16:creationId xmlns:a16="http://schemas.microsoft.com/office/drawing/2014/main" id="{48261580-01AC-47F6-BD8A-52AE184521DC}"/>
              </a:ext>
            </a:extLst>
          </p:cNvPr>
          <p:cNvSpPr txBox="1"/>
          <p:nvPr/>
        </p:nvSpPr>
        <p:spPr bwMode="gray">
          <a:xfrm>
            <a:off x="3191017" y="3279833"/>
            <a:ext cx="575799" cy="307777"/>
          </a:xfrm>
          <a:prstGeom prst="rect">
            <a:avLst/>
          </a:prstGeom>
        </p:spPr>
        <p:txBody>
          <a:bodyPr wrap="none" rtlCol="0">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a:extLst>
              <a:ext uri="{FF2B5EF4-FFF2-40B4-BE49-F238E27FC236}">
                <a16:creationId xmlns:a16="http://schemas.microsoft.com/office/drawing/2014/main" id="{D59EA876-A37B-4163-A957-CD214692C151}"/>
              </a:ext>
            </a:extLst>
          </p:cNvPr>
          <p:cNvSpPr txBox="1"/>
          <p:nvPr/>
        </p:nvSpPr>
        <p:spPr bwMode="gray">
          <a:xfrm>
            <a:off x="8490022" y="3271647"/>
            <a:ext cx="575799" cy="307777"/>
          </a:xfrm>
          <a:prstGeom prst="rect">
            <a:avLst/>
          </a:prstGeom>
        </p:spPr>
        <p:txBody>
          <a:bodyPr wrap="none" rtlCol="0">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2" name="直接连接符 41"/>
          <p:cNvCxnSpPr/>
          <p:nvPr/>
        </p:nvCxnSpPr>
        <p:spPr bwMode="gray">
          <a:xfrm flipH="1">
            <a:off x="8796783" y="3780938"/>
            <a:ext cx="171841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bwMode="gray">
          <a:xfrm flipH="1">
            <a:off x="1639558" y="3780938"/>
            <a:ext cx="181394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4" name="组合 43"/>
          <p:cNvGrpSpPr/>
          <p:nvPr/>
        </p:nvGrpSpPr>
        <p:grpSpPr bwMode="gray">
          <a:xfrm>
            <a:off x="3478917" y="2936187"/>
            <a:ext cx="5295126" cy="821924"/>
            <a:chOff x="6600056" y="4353447"/>
            <a:chExt cx="1296144" cy="833967"/>
          </a:xfrm>
        </p:grpSpPr>
        <p:cxnSp>
          <p:nvCxnSpPr>
            <p:cNvPr id="45" name="直接连接符 44"/>
            <p:cNvCxnSpPr/>
            <p:nvPr/>
          </p:nvCxnSpPr>
          <p:spPr bwMode="gray">
            <a:xfrm flipH="1">
              <a:off x="6600056" y="4353447"/>
              <a:ext cx="648072" cy="83396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bwMode="gray">
            <a:xfrm>
              <a:off x="7248128" y="4353447"/>
              <a:ext cx="648072" cy="83396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7" name="矩形 46"/>
          <p:cNvSpPr/>
          <p:nvPr/>
        </p:nvSpPr>
        <p:spPr bwMode="gray">
          <a:xfrm>
            <a:off x="679004" y="2967352"/>
            <a:ext cx="1377301"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PC1</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192.168.1.1/24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矩形 47"/>
          <p:cNvSpPr/>
          <p:nvPr/>
        </p:nvSpPr>
        <p:spPr bwMode="gray">
          <a:xfrm rot="20513042">
            <a:off x="4396838" y="3046989"/>
            <a:ext cx="736100" cy="307777"/>
          </a:xfrm>
          <a:prstGeom prst="rect">
            <a:avLst/>
          </a:prstGeom>
        </p:spPr>
        <p:txBody>
          <a:bodyPr wrap="none">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链路</a:t>
            </a:r>
          </a:p>
        </p:txBody>
      </p:sp>
      <p:sp>
        <p:nvSpPr>
          <p:cNvPr id="49" name="矩形 48"/>
          <p:cNvSpPr/>
          <p:nvPr/>
        </p:nvSpPr>
        <p:spPr bwMode="gray">
          <a:xfrm rot="993331">
            <a:off x="6974624" y="2998694"/>
            <a:ext cx="761747" cy="307777"/>
          </a:xfrm>
          <a:prstGeom prst="rect">
            <a:avLst/>
          </a:prstGeom>
        </p:spPr>
        <p:txBody>
          <a:bodyPr wrap="none">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链路</a:t>
            </a:r>
          </a:p>
        </p:txBody>
      </p:sp>
      <p:sp>
        <p:nvSpPr>
          <p:cNvPr id="50" name="矩形 49"/>
          <p:cNvSpPr/>
          <p:nvPr/>
        </p:nvSpPr>
        <p:spPr bwMode="gray">
          <a:xfrm>
            <a:off x="10075117" y="2967352"/>
            <a:ext cx="1377301" cy="523220"/>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PC2</a:t>
            </a:r>
          </a:p>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192.168.1.2/24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1" name="图片 11" descr="开放网络-蓝.png"/>
          <p:cNvPicPr>
            <a:picLocks noChangeAspect="1"/>
          </p:cNvPicPr>
          <p:nvPr/>
        </p:nvPicPr>
        <p:blipFill>
          <a:blip r:embed="rId3" cstate="print"/>
          <a:stretch>
            <a:fillRect/>
          </a:stretch>
        </p:blipFill>
        <p:spPr bwMode="gray">
          <a:xfrm>
            <a:off x="1099951" y="3534090"/>
            <a:ext cx="539607" cy="415381"/>
          </a:xfrm>
          <a:prstGeom prst="rect">
            <a:avLst/>
          </a:prstGeom>
        </p:spPr>
      </p:pic>
      <p:pic>
        <p:nvPicPr>
          <p:cNvPr id="52" name="图片 11" descr="开放网络-蓝.png"/>
          <p:cNvPicPr>
            <a:picLocks noChangeAspect="1"/>
          </p:cNvPicPr>
          <p:nvPr/>
        </p:nvPicPr>
        <p:blipFill>
          <a:blip r:embed="rId3" cstate="print"/>
          <a:stretch>
            <a:fillRect/>
          </a:stretch>
        </p:blipFill>
        <p:spPr bwMode="gray">
          <a:xfrm>
            <a:off x="10515195" y="3534090"/>
            <a:ext cx="539607" cy="415381"/>
          </a:xfrm>
          <a:prstGeom prst="rect">
            <a:avLst/>
          </a:prstGeom>
        </p:spPr>
      </p:pic>
      <p:pic>
        <p:nvPicPr>
          <p:cNvPr id="53" name="图片 87" descr="汇聚交换机.png"/>
          <p:cNvPicPr>
            <a:picLocks noChangeAspect="1"/>
          </p:cNvPicPr>
          <p:nvPr/>
        </p:nvPicPr>
        <p:blipFill>
          <a:blip r:embed="rId4" cstate="print"/>
          <a:stretch>
            <a:fillRect/>
          </a:stretch>
        </p:blipFill>
        <p:spPr bwMode="gray">
          <a:xfrm>
            <a:off x="3208917" y="3581529"/>
            <a:ext cx="540000" cy="441818"/>
          </a:xfrm>
          <a:prstGeom prst="rect">
            <a:avLst/>
          </a:prstGeom>
        </p:spPr>
      </p:pic>
      <p:pic>
        <p:nvPicPr>
          <p:cNvPr id="54" name="图片 87" descr="汇聚交换机.png"/>
          <p:cNvPicPr>
            <a:picLocks noChangeAspect="1"/>
          </p:cNvPicPr>
          <p:nvPr/>
        </p:nvPicPr>
        <p:blipFill>
          <a:blip r:embed="rId4" cstate="print"/>
          <a:stretch>
            <a:fillRect/>
          </a:stretch>
        </p:blipFill>
        <p:spPr bwMode="gray">
          <a:xfrm>
            <a:off x="8507922" y="3581529"/>
            <a:ext cx="540000" cy="441818"/>
          </a:xfrm>
          <a:prstGeom prst="rect">
            <a:avLst/>
          </a:prstGeom>
        </p:spPr>
      </p:pic>
      <p:sp>
        <p:nvSpPr>
          <p:cNvPr id="55" name="圆柱形 54"/>
          <p:cNvSpPr/>
          <p:nvPr/>
        </p:nvSpPr>
        <p:spPr bwMode="gray">
          <a:xfrm rot="16200000">
            <a:off x="5977171" y="1862184"/>
            <a:ext cx="279572" cy="4636766"/>
          </a:xfrm>
          <a:prstGeom prst="can">
            <a:avLst>
              <a:gd name="adj" fmla="val 79712"/>
            </a:avLst>
          </a:prstGeom>
          <a:solidFill>
            <a:srgbClr val="EC7061"/>
          </a:solidFill>
          <a:ln w="12700" cap="flat" cmpd="sng" algn="ctr">
            <a:solidFill>
              <a:sysClr val="window" lastClr="FFFFFF"/>
            </a:solidFill>
            <a:prstDash val="solid"/>
            <a:miter lim="800000"/>
          </a:ln>
          <a:effectLst/>
        </p:spPr>
        <p:txBody>
          <a:bodyPr rtlCol="0" anchor="ctr"/>
          <a:lstStyle/>
          <a:p>
            <a:pPr algn="ctr"/>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矩形 55"/>
          <p:cNvSpPr/>
          <p:nvPr/>
        </p:nvSpPr>
        <p:spPr bwMode="gray">
          <a:xfrm>
            <a:off x="5562008" y="4004716"/>
            <a:ext cx="1197764" cy="351699"/>
          </a:xfrm>
          <a:prstGeom prst="rect">
            <a:avLst/>
          </a:prstGeom>
        </p:spPr>
        <p:txBody>
          <a:bodyPr wrap="none">
            <a:spAutoFit/>
          </a:bodyPr>
          <a:lstStyle/>
          <a:p>
            <a:pPr algn="ctr">
              <a:lnSpc>
                <a:spcPts val="2200"/>
              </a:lnSpc>
            </a:pP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 </a:t>
            </a:r>
            <a:r>
              <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矩形 62"/>
          <p:cNvSpPr/>
          <p:nvPr/>
        </p:nvSpPr>
        <p:spPr bwMode="gray">
          <a:xfrm>
            <a:off x="2966597" y="4238954"/>
            <a:ext cx="1024640" cy="523220"/>
          </a:xfrm>
          <a:prstGeom prst="rect">
            <a:avLst/>
          </a:prstGeom>
        </p:spPr>
        <p:txBody>
          <a:bodyPr wrap="none">
            <a:spAutoFit/>
          </a:bodyPr>
          <a:lstStyle/>
          <a:p>
            <a:pPr algn="ct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VTEP</a:t>
            </a:r>
          </a:p>
          <a:p>
            <a:pPr algn="ct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1.1.1.1/32</a:t>
            </a:r>
            <a:endPar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矩形 63"/>
          <p:cNvSpPr/>
          <p:nvPr/>
        </p:nvSpPr>
        <p:spPr bwMode="gray">
          <a:xfrm>
            <a:off x="8265602" y="4238954"/>
            <a:ext cx="1024640" cy="523220"/>
          </a:xfrm>
          <a:prstGeom prst="rect">
            <a:avLst/>
          </a:prstGeom>
        </p:spPr>
        <p:txBody>
          <a:bodyPr wrap="none">
            <a:spAutoFit/>
          </a:bodyPr>
          <a:lstStyle/>
          <a:p>
            <a:pPr algn="ctr"/>
            <a:r>
              <a:rPr lang="en-US" altLang="zh-CN" sz="14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VTEP</a:t>
            </a:r>
          </a:p>
          <a:p>
            <a:pPr algn="ctr"/>
            <a:r>
              <a:rPr lang="en-US" altLang="zh-CN" sz="14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2.2.2.2/32</a:t>
            </a:r>
            <a:endPar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矩形 65"/>
          <p:cNvSpPr/>
          <p:nvPr/>
        </p:nvSpPr>
        <p:spPr bwMode="gray">
          <a:xfrm>
            <a:off x="2101792" y="5084523"/>
            <a:ext cx="713658" cy="338555"/>
          </a:xfrm>
          <a:prstGeom prst="rect">
            <a:avLst/>
          </a:prstGeom>
          <a:solidFill>
            <a:schemeClr val="bg1">
              <a:lumMod val="85000"/>
            </a:schemeClr>
          </a:solidFill>
          <a:ln w="19050">
            <a:solidFill>
              <a:schemeClr val="bg1"/>
            </a:solidFill>
          </a:ln>
        </p:spPr>
        <p:txBody>
          <a:bodyPr wrap="none" anchor="ctr" anchorCtr="0">
            <a:noAutofit/>
          </a:bodyPr>
          <a:lstStyle/>
          <a:p>
            <a:pPr algn="ctr"/>
            <a:r>
              <a:rPr lang="en-US" altLang="zh-CN"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头部</a:t>
            </a:r>
            <a:endParaRPr lang="zh-CN" altLang="en-US"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矩形 66"/>
          <p:cNvSpPr/>
          <p:nvPr/>
        </p:nvSpPr>
        <p:spPr bwMode="gray">
          <a:xfrm>
            <a:off x="2815450" y="5084523"/>
            <a:ext cx="506289" cy="338555"/>
          </a:xfrm>
          <a:prstGeom prst="rect">
            <a:avLst/>
          </a:prstGeom>
          <a:solidFill>
            <a:schemeClr val="bg1">
              <a:lumMod val="85000"/>
            </a:schemeClr>
          </a:solidFill>
          <a:ln w="19050">
            <a:solidFill>
              <a:schemeClr val="bg1"/>
            </a:solidFill>
          </a:ln>
        </p:spPr>
        <p:txBody>
          <a:bodyPr wrap="none" anchor="ctr" anchorCtr="0">
            <a:noAutofit/>
          </a:bodyPr>
          <a:lstStyle/>
          <a:p>
            <a:pPr algn="ctr"/>
            <a:r>
              <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载荷</a:t>
            </a:r>
            <a:endParaRPr lang="zh-CN" altLang="en-US"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矩形 67"/>
          <p:cNvSpPr/>
          <p:nvPr/>
        </p:nvSpPr>
        <p:spPr bwMode="gray">
          <a:xfrm>
            <a:off x="1172649" y="5084523"/>
            <a:ext cx="954017" cy="338555"/>
          </a:xfrm>
          <a:prstGeom prst="rect">
            <a:avLst/>
          </a:prstGeom>
          <a:solidFill>
            <a:schemeClr val="bg1">
              <a:lumMod val="85000"/>
            </a:schemeClr>
          </a:solidFill>
          <a:ln w="19050">
            <a:solidFill>
              <a:schemeClr val="bg1"/>
            </a:solidFill>
          </a:ln>
        </p:spPr>
        <p:txBody>
          <a:bodyPr wrap="none" anchor="ctr" anchorCtr="0">
            <a:noAutofit/>
          </a:bodyPr>
          <a:lstStyle/>
          <a:p>
            <a:pPr algn="ctr"/>
            <a:r>
              <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以太网帧头</a:t>
            </a:r>
            <a:endParaRPr lang="zh-CN" altLang="en-US"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9" name="直接连接符 68"/>
          <p:cNvCxnSpPr/>
          <p:nvPr/>
        </p:nvCxnSpPr>
        <p:spPr bwMode="gray">
          <a:xfrm flipH="1">
            <a:off x="1172649" y="4977781"/>
            <a:ext cx="2135013" cy="0"/>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bwMode="gray">
          <a:xfrm flipH="1">
            <a:off x="3549003" y="4977781"/>
            <a:ext cx="4845698" cy="0"/>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sp>
        <p:nvSpPr>
          <p:cNvPr id="71" name="矩形 70"/>
          <p:cNvSpPr/>
          <p:nvPr/>
        </p:nvSpPr>
        <p:spPr bwMode="gray">
          <a:xfrm>
            <a:off x="7168964" y="5084523"/>
            <a:ext cx="1004879" cy="338555"/>
          </a:xfrm>
          <a:prstGeom prst="rect">
            <a:avLst/>
          </a:prstGeom>
          <a:solidFill>
            <a:schemeClr val="bg1">
              <a:lumMod val="85000"/>
            </a:schemeClr>
          </a:solidFill>
          <a:ln w="19050">
            <a:solidFill>
              <a:schemeClr val="bg1"/>
            </a:solidFill>
          </a:ln>
        </p:spPr>
        <p:txBody>
          <a:bodyPr wrap="none" anchor="ctr" anchorCtr="0">
            <a:noAutofit/>
          </a:bodyPr>
          <a:lstStyle/>
          <a:p>
            <a:pPr algn="ctr"/>
            <a:r>
              <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原始数据帧</a:t>
            </a:r>
            <a:endParaRPr lang="zh-CN" altLang="en-US"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矩形 71"/>
          <p:cNvSpPr/>
          <p:nvPr/>
        </p:nvSpPr>
        <p:spPr bwMode="gray">
          <a:xfrm>
            <a:off x="6160235" y="5084523"/>
            <a:ext cx="1004879" cy="338555"/>
          </a:xfrm>
          <a:prstGeom prst="rect">
            <a:avLst/>
          </a:prstGeom>
          <a:solidFill>
            <a:srgbClr val="EC7061"/>
          </a:solidFill>
          <a:ln w="19050">
            <a:solidFill>
              <a:schemeClr val="bg1"/>
            </a:solidFill>
          </a:ln>
        </p:spPr>
        <p:txBody>
          <a:bodyPr wrap="none" anchor="ctr" anchorCtr="0">
            <a:noAutofit/>
          </a:bodyPr>
          <a:lstStyle/>
          <a:p>
            <a:pPr algn="ctr"/>
            <a:r>
              <a:rPr lang="en-US" altLang="zh-CN" sz="14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头部</a:t>
            </a:r>
            <a:endParaRPr lang="zh-CN" altLang="en-US" sz="14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矩形 72"/>
          <p:cNvSpPr/>
          <p:nvPr/>
        </p:nvSpPr>
        <p:spPr bwMode="gray">
          <a:xfrm>
            <a:off x="5158504" y="5084523"/>
            <a:ext cx="1004879" cy="338555"/>
          </a:xfrm>
          <a:prstGeom prst="rect">
            <a:avLst/>
          </a:prstGeom>
          <a:solidFill>
            <a:schemeClr val="bg1">
              <a:lumMod val="65000"/>
            </a:schemeClr>
          </a:solidFill>
          <a:ln w="19050">
            <a:solidFill>
              <a:schemeClr val="bg1"/>
            </a:solidFill>
          </a:ln>
        </p:spPr>
        <p:txBody>
          <a:bodyPr wrap="none" anchor="ctr" anchorCtr="0">
            <a:noAutofit/>
          </a:bodyPr>
          <a:lstStyle/>
          <a:p>
            <a:pPr algn="ctr"/>
            <a:r>
              <a:rPr lang="en-US" altLang="zh-CN"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UDP</a:t>
            </a:r>
            <a:r>
              <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头部</a:t>
            </a:r>
            <a:endParaRPr lang="zh-CN" altLang="en-US"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矩形 73"/>
          <p:cNvSpPr/>
          <p:nvPr/>
        </p:nvSpPr>
        <p:spPr bwMode="gray">
          <a:xfrm>
            <a:off x="4543045" y="5084523"/>
            <a:ext cx="625571" cy="338555"/>
          </a:xfrm>
          <a:prstGeom prst="rect">
            <a:avLst/>
          </a:prstGeom>
          <a:solidFill>
            <a:schemeClr val="bg1">
              <a:lumMod val="65000"/>
            </a:schemeClr>
          </a:solidFill>
          <a:ln w="19050">
            <a:solidFill>
              <a:schemeClr val="bg1"/>
            </a:solidFill>
          </a:ln>
        </p:spPr>
        <p:txBody>
          <a:bodyPr wrap="none" anchor="ctr" anchorCtr="0">
            <a:noAutofit/>
          </a:bodyPr>
          <a:lstStyle/>
          <a:p>
            <a:pPr algn="ctr"/>
            <a:r>
              <a:rPr lang="en-US" altLang="zh-CN"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头部</a:t>
            </a:r>
            <a:endParaRPr lang="zh-CN" altLang="en-US"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矩形 74"/>
          <p:cNvSpPr/>
          <p:nvPr/>
        </p:nvSpPr>
        <p:spPr bwMode="gray">
          <a:xfrm>
            <a:off x="3587103" y="5084523"/>
            <a:ext cx="954017" cy="338555"/>
          </a:xfrm>
          <a:prstGeom prst="rect">
            <a:avLst/>
          </a:prstGeom>
          <a:solidFill>
            <a:schemeClr val="bg1">
              <a:lumMod val="65000"/>
            </a:schemeClr>
          </a:solidFill>
          <a:ln w="19050">
            <a:solidFill>
              <a:schemeClr val="bg1"/>
            </a:solidFill>
          </a:ln>
        </p:spPr>
        <p:txBody>
          <a:bodyPr wrap="none" anchor="ctr" anchorCtr="0">
            <a:noAutofit/>
          </a:bodyPr>
          <a:lstStyle/>
          <a:p>
            <a:pPr algn="ctr"/>
            <a:r>
              <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以太网帧头</a:t>
            </a:r>
            <a:endParaRPr lang="zh-CN" altLang="en-US"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矩形 75"/>
          <p:cNvSpPr/>
          <p:nvPr/>
        </p:nvSpPr>
        <p:spPr bwMode="gray">
          <a:xfrm>
            <a:off x="9721347" y="5084523"/>
            <a:ext cx="713658" cy="338555"/>
          </a:xfrm>
          <a:prstGeom prst="rect">
            <a:avLst/>
          </a:prstGeom>
          <a:solidFill>
            <a:schemeClr val="bg1">
              <a:lumMod val="85000"/>
            </a:schemeClr>
          </a:solidFill>
          <a:ln w="19050">
            <a:solidFill>
              <a:schemeClr val="bg1"/>
            </a:solidFill>
          </a:ln>
        </p:spPr>
        <p:txBody>
          <a:bodyPr wrap="none" anchor="ctr" anchorCtr="0">
            <a:noAutofit/>
          </a:bodyPr>
          <a:lstStyle/>
          <a:p>
            <a:pPr algn="ctr"/>
            <a:r>
              <a:rPr lang="en-US" altLang="zh-CN"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头部</a:t>
            </a:r>
            <a:endParaRPr lang="zh-CN" altLang="en-US"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矩形 76"/>
          <p:cNvSpPr/>
          <p:nvPr/>
        </p:nvSpPr>
        <p:spPr bwMode="gray">
          <a:xfrm>
            <a:off x="10435005" y="5084523"/>
            <a:ext cx="506289" cy="338555"/>
          </a:xfrm>
          <a:prstGeom prst="rect">
            <a:avLst/>
          </a:prstGeom>
          <a:solidFill>
            <a:schemeClr val="bg1">
              <a:lumMod val="85000"/>
            </a:schemeClr>
          </a:solidFill>
          <a:ln w="19050">
            <a:solidFill>
              <a:schemeClr val="bg1"/>
            </a:solidFill>
          </a:ln>
        </p:spPr>
        <p:txBody>
          <a:bodyPr wrap="none" anchor="ctr" anchorCtr="0">
            <a:noAutofit/>
          </a:bodyPr>
          <a:lstStyle/>
          <a:p>
            <a:pPr algn="ctr"/>
            <a:r>
              <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载荷</a:t>
            </a:r>
            <a:endParaRPr lang="zh-CN" altLang="en-US"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矩形 77"/>
          <p:cNvSpPr/>
          <p:nvPr/>
        </p:nvSpPr>
        <p:spPr bwMode="gray">
          <a:xfrm>
            <a:off x="8792204" y="5084523"/>
            <a:ext cx="954017" cy="338555"/>
          </a:xfrm>
          <a:prstGeom prst="rect">
            <a:avLst/>
          </a:prstGeom>
          <a:solidFill>
            <a:schemeClr val="bg1">
              <a:lumMod val="85000"/>
            </a:schemeClr>
          </a:solidFill>
          <a:ln w="19050">
            <a:solidFill>
              <a:schemeClr val="bg1"/>
            </a:solidFill>
          </a:ln>
        </p:spPr>
        <p:txBody>
          <a:bodyPr wrap="none" anchor="ctr" anchorCtr="0">
            <a:noAutofit/>
          </a:bodyPr>
          <a:lstStyle/>
          <a:p>
            <a:pPr algn="ctr"/>
            <a:r>
              <a:rPr lang="zh-CN" altLang="en-US" sz="14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以太网帧头</a:t>
            </a:r>
            <a:endParaRPr lang="zh-CN" altLang="en-US" sz="14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9" name="直接连接符 78"/>
          <p:cNvCxnSpPr/>
          <p:nvPr/>
        </p:nvCxnSpPr>
        <p:spPr bwMode="gray">
          <a:xfrm flipH="1">
            <a:off x="8792204" y="4977781"/>
            <a:ext cx="2135013" cy="0"/>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sp>
        <p:nvSpPr>
          <p:cNvPr id="80" name="矩形 79"/>
          <p:cNvSpPr/>
          <p:nvPr/>
        </p:nvSpPr>
        <p:spPr bwMode="gray">
          <a:xfrm>
            <a:off x="4147182" y="5697433"/>
            <a:ext cx="1765227" cy="523220"/>
          </a:xfrm>
          <a:prstGeom prst="rect">
            <a:avLst/>
          </a:prstGeom>
        </p:spPr>
        <p:txBody>
          <a:bodyPr wrap="none">
            <a:spAutoFit/>
          </a:bodyPr>
          <a:lstStyle/>
          <a:p>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源</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地址：</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1.1.1.1</a:t>
            </a:r>
          </a:p>
          <a:p>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地址：</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2.2.2.2</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右大括号 80"/>
          <p:cNvSpPr/>
          <p:nvPr/>
        </p:nvSpPr>
        <p:spPr bwMode="gray">
          <a:xfrm rot="5400000">
            <a:off x="2182477" y="4515339"/>
            <a:ext cx="103723" cy="2123375"/>
          </a:xfrm>
          <a:prstGeom prst="rightBrac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矩形 81"/>
          <p:cNvSpPr/>
          <p:nvPr/>
        </p:nvSpPr>
        <p:spPr bwMode="gray">
          <a:xfrm>
            <a:off x="1693164" y="5697433"/>
            <a:ext cx="1082348" cy="307777"/>
          </a:xfrm>
          <a:prstGeom prst="rect">
            <a:avLst/>
          </a:prstGeom>
        </p:spPr>
        <p:txBody>
          <a:bodyPr wrap="none">
            <a:spAutoFit/>
          </a:bodyPr>
          <a:lstStyle/>
          <a:p>
            <a:r>
              <a:rPr lang="zh-CN" altLang="en-US" sz="140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原始数据帧</a:t>
            </a:r>
            <a:endParaRPr lang="zh-CN" altLang="en-US" sz="1400" dirty="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右大括号 82"/>
          <p:cNvSpPr/>
          <p:nvPr/>
        </p:nvSpPr>
        <p:spPr bwMode="gray">
          <a:xfrm rot="5400000">
            <a:off x="4799061" y="5265406"/>
            <a:ext cx="103723" cy="623244"/>
          </a:xfrm>
          <a:prstGeom prst="rightBrac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右大括号 87"/>
          <p:cNvSpPr/>
          <p:nvPr/>
        </p:nvSpPr>
        <p:spPr bwMode="gray">
          <a:xfrm rot="5400000">
            <a:off x="9827745" y="4515339"/>
            <a:ext cx="103723" cy="2123375"/>
          </a:xfrm>
          <a:prstGeom prst="rightBrac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矩形 88"/>
          <p:cNvSpPr/>
          <p:nvPr/>
        </p:nvSpPr>
        <p:spPr bwMode="gray">
          <a:xfrm>
            <a:off x="9338432" y="5697433"/>
            <a:ext cx="1082348" cy="307777"/>
          </a:xfrm>
          <a:prstGeom prst="rect">
            <a:avLst/>
          </a:prstGeom>
        </p:spPr>
        <p:txBody>
          <a:bodyPr wrap="none">
            <a:spAutoFit/>
          </a:bodyPr>
          <a:lstStyle/>
          <a:p>
            <a:r>
              <a:rPr lang="zh-CN" altLang="en-US" sz="140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原始数据帧</a:t>
            </a:r>
            <a:endParaRPr lang="zh-CN" altLang="en-US" sz="1400" dirty="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五边形 24">
            <a:extLst>
              <a:ext uri="{FF2B5EF4-FFF2-40B4-BE49-F238E27FC236}">
                <a16:creationId xmlns:a16="http://schemas.microsoft.com/office/drawing/2014/main" id="{94B96716-C28B-40EB-8E95-7453A9EDFF97}"/>
              </a:ext>
            </a:extLst>
          </p:cNvPr>
          <p:cNvSpPr/>
          <p:nvPr/>
        </p:nvSpPr>
        <p:spPr bwMode="gray">
          <a:xfrm>
            <a:off x="6832304" y="124239"/>
            <a:ext cx="781200" cy="213120"/>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NVE</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燕尾形 25">
            <a:extLst>
              <a:ext uri="{FF2B5EF4-FFF2-40B4-BE49-F238E27FC236}">
                <a16:creationId xmlns:a16="http://schemas.microsoft.com/office/drawing/2014/main" id="{B3835D4C-1B49-4581-A7CA-72BCE8067FFC}"/>
              </a:ext>
            </a:extLst>
          </p:cNvPr>
          <p:cNvSpPr/>
          <p:nvPr/>
        </p:nvSpPr>
        <p:spPr bwMode="gray">
          <a:xfrm>
            <a:off x="9084367" y="124239"/>
            <a:ext cx="781200"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VAP</a:t>
            </a:r>
          </a:p>
        </p:txBody>
      </p:sp>
      <p:sp>
        <p:nvSpPr>
          <p:cNvPr id="85" name="燕尾形 26">
            <a:extLst>
              <a:ext uri="{FF2B5EF4-FFF2-40B4-BE49-F238E27FC236}">
                <a16:creationId xmlns:a16="http://schemas.microsoft.com/office/drawing/2014/main" id="{9744301D-E99A-4BEF-A318-08CD9645DD40}"/>
              </a:ext>
            </a:extLst>
          </p:cNvPr>
          <p:cNvSpPr/>
          <p:nvPr/>
        </p:nvSpPr>
        <p:spPr bwMode="gray">
          <a:xfrm>
            <a:off x="10931976" y="124239"/>
            <a:ext cx="781200"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燕尾形 26">
            <a:extLst>
              <a:ext uri="{FF2B5EF4-FFF2-40B4-BE49-F238E27FC236}">
                <a16:creationId xmlns:a16="http://schemas.microsoft.com/office/drawing/2014/main" id="{BCE2539E-0076-4A5B-9B7B-AE0039DEB005}"/>
              </a:ext>
            </a:extLst>
          </p:cNvPr>
          <p:cNvSpPr/>
          <p:nvPr/>
        </p:nvSpPr>
        <p:spPr bwMode="gray">
          <a:xfrm>
            <a:off x="8299162" y="124239"/>
            <a:ext cx="864000"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VNI</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BD</a:t>
            </a:r>
          </a:p>
        </p:txBody>
      </p:sp>
      <p:sp>
        <p:nvSpPr>
          <p:cNvPr id="87" name="燕尾形 26">
            <a:extLst>
              <a:ext uri="{FF2B5EF4-FFF2-40B4-BE49-F238E27FC236}">
                <a16:creationId xmlns:a16="http://schemas.microsoft.com/office/drawing/2014/main" id="{65628728-0580-404A-8423-3F9266499728}"/>
              </a:ext>
            </a:extLst>
          </p:cNvPr>
          <p:cNvSpPr/>
          <p:nvPr/>
        </p:nvSpPr>
        <p:spPr bwMode="gray">
          <a:xfrm>
            <a:off x="7534709" y="124239"/>
            <a:ext cx="843248"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VTEP</a:t>
            </a:r>
          </a:p>
        </p:txBody>
      </p:sp>
      <p:sp>
        <p:nvSpPr>
          <p:cNvPr id="96" name="燕尾形 25">
            <a:extLst>
              <a:ext uri="{FF2B5EF4-FFF2-40B4-BE49-F238E27FC236}">
                <a16:creationId xmlns:a16="http://schemas.microsoft.com/office/drawing/2014/main" id="{B3835D4C-1B49-4581-A7CA-72BCE8067FFC}"/>
              </a:ext>
            </a:extLst>
          </p:cNvPr>
          <p:cNvSpPr/>
          <p:nvPr/>
        </p:nvSpPr>
        <p:spPr bwMode="gray">
          <a:xfrm>
            <a:off x="9786772" y="124239"/>
            <a:ext cx="1224000"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Edge</a:t>
            </a:r>
          </a:p>
        </p:txBody>
      </p:sp>
      <p:pic>
        <p:nvPicPr>
          <p:cNvPr id="90" name="图片 86" descr="核心交换机.png"/>
          <p:cNvPicPr>
            <a:picLocks noChangeAspect="1"/>
          </p:cNvPicPr>
          <p:nvPr/>
        </p:nvPicPr>
        <p:blipFill>
          <a:blip r:embed="rId5" cstate="print"/>
          <a:stretch>
            <a:fillRect/>
          </a:stretch>
        </p:blipFill>
        <p:spPr bwMode="gray">
          <a:xfrm>
            <a:off x="5857737" y="2781232"/>
            <a:ext cx="540000" cy="441818"/>
          </a:xfrm>
          <a:prstGeom prst="rect">
            <a:avLst/>
          </a:prstGeom>
        </p:spPr>
      </p:pic>
    </p:spTree>
    <p:extLst>
      <p:ext uri="{BB962C8B-B14F-4D97-AF65-F5344CB8AC3E}">
        <p14:creationId xmlns:p14="http://schemas.microsoft.com/office/powerpoint/2010/main" val="40932697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F86A11-0DEE-4CA0-879B-C0A4994AD39F}"/>
              </a:ext>
            </a:extLst>
          </p:cNvPr>
          <p:cNvSpPr>
            <a:spLocks noGrp="1"/>
          </p:cNvSpPr>
          <p:nvPr>
            <p:ph type="title"/>
          </p:nvPr>
        </p:nvSpPr>
        <p:spPr bwMode="gray"/>
        <p:txBody>
          <a:bodyPr/>
          <a:lstStyle/>
          <a:p>
            <a:r>
              <a:rPr lang="en-US" altLang="zh-CN">
                <a:sym typeface="Huawei Sans" panose="020C0503030203020204" pitchFamily="34" charset="0"/>
              </a:rPr>
              <a:t>VXLAN</a:t>
            </a:r>
            <a:r>
              <a:rPr lang="zh-CN" altLang="en-US">
                <a:sym typeface="Huawei Sans" panose="020C0503030203020204" pitchFamily="34" charset="0"/>
              </a:rPr>
              <a:t>基本概念：</a:t>
            </a:r>
            <a:r>
              <a:rPr lang="en-US" altLang="zh-CN">
                <a:sym typeface="Huawei Sans" panose="020C0503030203020204" pitchFamily="34" charset="0"/>
              </a:rPr>
              <a:t>VNI</a:t>
            </a:r>
            <a:r>
              <a:rPr lang="zh-CN" altLang="en-US">
                <a:sym typeface="Huawei Sans" panose="020C0503030203020204" pitchFamily="34" charset="0"/>
              </a:rPr>
              <a:t>与</a:t>
            </a:r>
            <a:r>
              <a:rPr lang="en-US" altLang="zh-CN">
                <a:sym typeface="Huawei Sans" panose="020C0503030203020204" pitchFamily="34" charset="0"/>
              </a:rPr>
              <a:t>BD</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bwMode="gray">
          <a:xfrm>
            <a:off x="455613" y="1047751"/>
            <a:ext cx="5623592" cy="2381250"/>
          </a:xfrm>
        </p:spPr>
        <p:txBody>
          <a:bodyPr/>
          <a:lstStyle/>
          <a:p>
            <a:r>
              <a:rPr lang="en-US" altLang="zh-CN" sz="1800" dirty="0">
                <a:sym typeface="Huawei Sans" panose="020C0503030203020204" pitchFamily="34" charset="0"/>
              </a:rPr>
              <a:t>VNI</a:t>
            </a:r>
            <a:r>
              <a:rPr lang="zh-CN" altLang="en-US" sz="1800" dirty="0">
                <a:sym typeface="Huawei Sans" panose="020C0503030203020204" pitchFamily="34" charset="0"/>
              </a:rPr>
              <a:t>（</a:t>
            </a:r>
            <a:r>
              <a:rPr lang="en-US" altLang="zh-CN" sz="1800" dirty="0">
                <a:sym typeface="Huawei Sans" panose="020C0503030203020204" pitchFamily="34" charset="0"/>
              </a:rPr>
              <a:t>VXLAN Network Identifier</a:t>
            </a:r>
            <a:r>
              <a:rPr lang="zh-CN" altLang="en-US" sz="1800" dirty="0">
                <a:sym typeface="Huawei Sans" panose="020C0503030203020204" pitchFamily="34" charset="0"/>
              </a:rPr>
              <a:t>，</a:t>
            </a:r>
            <a:r>
              <a:rPr lang="en-US" altLang="zh-CN" sz="1800" dirty="0">
                <a:sym typeface="Huawei Sans" panose="020C0503030203020204" pitchFamily="34" charset="0"/>
              </a:rPr>
              <a:t>VXLAN</a:t>
            </a:r>
            <a:r>
              <a:rPr lang="zh-CN" altLang="en-US" sz="1800" dirty="0">
                <a:sym typeface="Huawei Sans" panose="020C0503030203020204" pitchFamily="34" charset="0"/>
              </a:rPr>
              <a:t>网络标识）：</a:t>
            </a:r>
          </a:p>
          <a:p>
            <a:pPr lvl="1"/>
            <a:r>
              <a:rPr lang="zh-CN" altLang="en-US" sz="1600" dirty="0">
                <a:sym typeface="Huawei Sans" panose="020C0503030203020204" pitchFamily="34" charset="0"/>
              </a:rPr>
              <a:t>类似</a:t>
            </a:r>
            <a:r>
              <a:rPr lang="en-US" altLang="zh-CN" sz="1600" dirty="0">
                <a:sym typeface="Huawei Sans" panose="020C0503030203020204" pitchFamily="34" charset="0"/>
              </a:rPr>
              <a:t>VLAN ID</a:t>
            </a:r>
            <a:r>
              <a:rPr lang="zh-CN" altLang="en-US" sz="1600" dirty="0">
                <a:sym typeface="Huawei Sans" panose="020C0503030203020204" pitchFamily="34" charset="0"/>
              </a:rPr>
              <a:t>，用于区分</a:t>
            </a:r>
            <a:r>
              <a:rPr lang="en-US" altLang="zh-CN" sz="1600" dirty="0">
                <a:sym typeface="Huawei Sans" panose="020C0503030203020204" pitchFamily="34" charset="0"/>
              </a:rPr>
              <a:t>VXLAN</a:t>
            </a:r>
            <a:r>
              <a:rPr lang="zh-CN" altLang="en-US" sz="1600" dirty="0">
                <a:sym typeface="Huawei Sans" panose="020C0503030203020204" pitchFamily="34" charset="0"/>
              </a:rPr>
              <a:t>段。不同</a:t>
            </a:r>
            <a:r>
              <a:rPr lang="en-US" altLang="zh-CN" sz="1600" dirty="0">
                <a:sym typeface="Huawei Sans" panose="020C0503030203020204" pitchFamily="34" charset="0"/>
              </a:rPr>
              <a:t>VXLAN</a:t>
            </a:r>
            <a:r>
              <a:rPr lang="zh-CN" altLang="en-US" sz="1600" dirty="0">
                <a:sym typeface="Huawei Sans" panose="020C0503030203020204" pitchFamily="34" charset="0"/>
              </a:rPr>
              <a:t>段的虚拟机不能直接二层相互通信。</a:t>
            </a:r>
          </a:p>
          <a:p>
            <a:pPr lvl="1"/>
            <a:r>
              <a:rPr lang="zh-CN" altLang="en-US" sz="1600" dirty="0">
                <a:sym typeface="Huawei Sans" panose="020C0503030203020204" pitchFamily="34" charset="0"/>
              </a:rPr>
              <a:t>一个租户可以有一个或多个</a:t>
            </a:r>
            <a:r>
              <a:rPr lang="en-US" altLang="zh-CN" sz="1600" dirty="0">
                <a:sym typeface="Huawei Sans" panose="020C0503030203020204" pitchFamily="34" charset="0"/>
              </a:rPr>
              <a:t>VNI</a:t>
            </a:r>
            <a:r>
              <a:rPr lang="zh-CN" altLang="en-US" sz="1600" dirty="0">
                <a:sym typeface="Huawei Sans" panose="020C0503030203020204" pitchFamily="34" charset="0"/>
              </a:rPr>
              <a:t>，</a:t>
            </a:r>
            <a:r>
              <a:rPr lang="en-US" altLang="zh-CN" sz="1600" dirty="0">
                <a:sym typeface="Huawei Sans" panose="020C0503030203020204" pitchFamily="34" charset="0"/>
              </a:rPr>
              <a:t>VNI</a:t>
            </a:r>
            <a:r>
              <a:rPr lang="zh-CN" altLang="en-US" sz="1600" dirty="0">
                <a:sym typeface="Huawei Sans" panose="020C0503030203020204" pitchFamily="34" charset="0"/>
              </a:rPr>
              <a:t>长度为</a:t>
            </a:r>
            <a:r>
              <a:rPr lang="en-US" altLang="zh-CN" sz="1600" dirty="0">
                <a:sym typeface="Huawei Sans" panose="020C0503030203020204" pitchFamily="34" charset="0"/>
              </a:rPr>
              <a:t>24 bit</a:t>
            </a:r>
            <a:r>
              <a:rPr lang="zh-CN" altLang="en-US" sz="1600" dirty="0">
                <a:sym typeface="Huawei Sans" panose="020C0503030203020204" pitchFamily="34" charset="0"/>
              </a:rPr>
              <a:t>，支持多达</a:t>
            </a:r>
            <a:r>
              <a:rPr lang="en-US" altLang="zh-CN" sz="1600" dirty="0">
                <a:sym typeface="Huawei Sans" panose="020C0503030203020204" pitchFamily="34" charset="0"/>
              </a:rPr>
              <a:t>16 M</a:t>
            </a:r>
            <a:r>
              <a:rPr lang="zh-CN" altLang="en-US" sz="1600" dirty="0">
                <a:sym typeface="Huawei Sans" panose="020C0503030203020204" pitchFamily="34" charset="0"/>
              </a:rPr>
              <a:t>的租户。</a:t>
            </a:r>
          </a:p>
          <a:p>
            <a:endParaRPr lang="zh-CN" altLang="en-US" sz="1800" dirty="0">
              <a:sym typeface="Huawei Sans" panose="020C0503030203020204" pitchFamily="34" charset="0"/>
            </a:endParaRPr>
          </a:p>
        </p:txBody>
      </p:sp>
      <p:sp>
        <p:nvSpPr>
          <p:cNvPr id="128" name="任意多边形 2">
            <a:extLst>
              <a:ext uri="{FF2B5EF4-FFF2-40B4-BE49-F238E27FC236}">
                <a16:creationId xmlns:a16="http://schemas.microsoft.com/office/drawing/2014/main" id="{CDF18377-281E-45E4-AEB8-8E4140D630F7}"/>
              </a:ext>
            </a:extLst>
          </p:cNvPr>
          <p:cNvSpPr/>
          <p:nvPr/>
        </p:nvSpPr>
        <p:spPr bwMode="gray">
          <a:xfrm>
            <a:off x="736600" y="3585807"/>
            <a:ext cx="10738698" cy="1358828"/>
          </a:xfrm>
          <a:custGeom>
            <a:avLst/>
            <a:gdLst>
              <a:gd name="connsiteX0" fmla="*/ 8941 w 10968753"/>
              <a:gd name="connsiteY0" fmla="*/ 1265471 h 2587776"/>
              <a:gd name="connsiteX1" fmla="*/ 491541 w 10968753"/>
              <a:gd name="connsiteY1" fmla="*/ 122471 h 2587776"/>
              <a:gd name="connsiteX2" fmla="*/ 3171241 w 10968753"/>
              <a:gd name="connsiteY2" fmla="*/ 1087671 h 2587776"/>
              <a:gd name="connsiteX3" fmla="*/ 7603541 w 10968753"/>
              <a:gd name="connsiteY3" fmla="*/ 1113071 h 2587776"/>
              <a:gd name="connsiteX4" fmla="*/ 10105441 w 10968753"/>
              <a:gd name="connsiteY4" fmla="*/ 8171 h 2587776"/>
              <a:gd name="connsiteX5" fmla="*/ 10943641 w 10968753"/>
              <a:gd name="connsiteY5" fmla="*/ 1773471 h 2587776"/>
              <a:gd name="connsiteX6" fmla="*/ 9305341 w 10968753"/>
              <a:gd name="connsiteY6" fmla="*/ 2586271 h 2587776"/>
              <a:gd name="connsiteX7" fmla="*/ 7730541 w 10968753"/>
              <a:gd name="connsiteY7" fmla="*/ 1595671 h 2587776"/>
              <a:gd name="connsiteX8" fmla="*/ 2269541 w 10968753"/>
              <a:gd name="connsiteY8" fmla="*/ 1621071 h 2587776"/>
              <a:gd name="connsiteX9" fmla="*/ 21641 w 10968753"/>
              <a:gd name="connsiteY9" fmla="*/ 1760771 h 2587776"/>
              <a:gd name="connsiteX0" fmla="*/ 8941 w 10968753"/>
              <a:gd name="connsiteY0" fmla="*/ 1265471 h 2587776"/>
              <a:gd name="connsiteX1" fmla="*/ 491541 w 10968753"/>
              <a:gd name="connsiteY1" fmla="*/ 122471 h 2587776"/>
              <a:gd name="connsiteX2" fmla="*/ 3171241 w 10968753"/>
              <a:gd name="connsiteY2" fmla="*/ 1087671 h 2587776"/>
              <a:gd name="connsiteX3" fmla="*/ 7603541 w 10968753"/>
              <a:gd name="connsiteY3" fmla="*/ 1113071 h 2587776"/>
              <a:gd name="connsiteX4" fmla="*/ 10105441 w 10968753"/>
              <a:gd name="connsiteY4" fmla="*/ 8171 h 2587776"/>
              <a:gd name="connsiteX5" fmla="*/ 10943641 w 10968753"/>
              <a:gd name="connsiteY5" fmla="*/ 1773471 h 2587776"/>
              <a:gd name="connsiteX6" fmla="*/ 9305341 w 10968753"/>
              <a:gd name="connsiteY6" fmla="*/ 2586271 h 2587776"/>
              <a:gd name="connsiteX7" fmla="*/ 7730541 w 10968753"/>
              <a:gd name="connsiteY7" fmla="*/ 1595671 h 2587776"/>
              <a:gd name="connsiteX8" fmla="*/ 2269541 w 10968753"/>
              <a:gd name="connsiteY8" fmla="*/ 1621071 h 2587776"/>
              <a:gd name="connsiteX9" fmla="*/ 21641 w 10968753"/>
              <a:gd name="connsiteY9" fmla="*/ 1760771 h 2587776"/>
              <a:gd name="connsiteX10" fmla="*/ 8941 w 10968753"/>
              <a:gd name="connsiteY10" fmla="*/ 1265471 h 2587776"/>
              <a:gd name="connsiteX0" fmla="*/ 8941 w 10968753"/>
              <a:gd name="connsiteY0" fmla="*/ 1265471 h 2587776"/>
              <a:gd name="connsiteX1" fmla="*/ 491541 w 10968753"/>
              <a:gd name="connsiteY1" fmla="*/ 122471 h 2587776"/>
              <a:gd name="connsiteX2" fmla="*/ 3171241 w 10968753"/>
              <a:gd name="connsiteY2" fmla="*/ 1087671 h 2587776"/>
              <a:gd name="connsiteX3" fmla="*/ 7603541 w 10968753"/>
              <a:gd name="connsiteY3" fmla="*/ 1113071 h 2587776"/>
              <a:gd name="connsiteX4" fmla="*/ 10105441 w 10968753"/>
              <a:gd name="connsiteY4" fmla="*/ 8171 h 2587776"/>
              <a:gd name="connsiteX5" fmla="*/ 10943641 w 10968753"/>
              <a:gd name="connsiteY5" fmla="*/ 1773471 h 2587776"/>
              <a:gd name="connsiteX6" fmla="*/ 9305341 w 10968753"/>
              <a:gd name="connsiteY6" fmla="*/ 2586271 h 2587776"/>
              <a:gd name="connsiteX7" fmla="*/ 7730541 w 10968753"/>
              <a:gd name="connsiteY7" fmla="*/ 1595671 h 2587776"/>
              <a:gd name="connsiteX8" fmla="*/ 2269541 w 10968753"/>
              <a:gd name="connsiteY8" fmla="*/ 1621071 h 2587776"/>
              <a:gd name="connsiteX9" fmla="*/ 21641 w 10968753"/>
              <a:gd name="connsiteY9" fmla="*/ 1760771 h 2587776"/>
              <a:gd name="connsiteX10" fmla="*/ 8941 w 10968753"/>
              <a:gd name="connsiteY10" fmla="*/ 1265471 h 2587776"/>
              <a:gd name="connsiteX0" fmla="*/ 98833 w 11058645"/>
              <a:gd name="connsiteY0" fmla="*/ 1265471 h 2587776"/>
              <a:gd name="connsiteX1" fmla="*/ 581433 w 11058645"/>
              <a:gd name="connsiteY1" fmla="*/ 122471 h 2587776"/>
              <a:gd name="connsiteX2" fmla="*/ 3261133 w 11058645"/>
              <a:gd name="connsiteY2" fmla="*/ 1087671 h 2587776"/>
              <a:gd name="connsiteX3" fmla="*/ 7693433 w 11058645"/>
              <a:gd name="connsiteY3" fmla="*/ 1113071 h 2587776"/>
              <a:gd name="connsiteX4" fmla="*/ 10195333 w 11058645"/>
              <a:gd name="connsiteY4" fmla="*/ 8171 h 2587776"/>
              <a:gd name="connsiteX5" fmla="*/ 11033533 w 11058645"/>
              <a:gd name="connsiteY5" fmla="*/ 1773471 h 2587776"/>
              <a:gd name="connsiteX6" fmla="*/ 9395233 w 11058645"/>
              <a:gd name="connsiteY6" fmla="*/ 2586271 h 2587776"/>
              <a:gd name="connsiteX7" fmla="*/ 7820433 w 11058645"/>
              <a:gd name="connsiteY7" fmla="*/ 1595671 h 2587776"/>
              <a:gd name="connsiteX8" fmla="*/ 2359433 w 11058645"/>
              <a:gd name="connsiteY8" fmla="*/ 1621071 h 2587776"/>
              <a:gd name="connsiteX9" fmla="*/ 111533 w 11058645"/>
              <a:gd name="connsiteY9" fmla="*/ 1760771 h 2587776"/>
              <a:gd name="connsiteX10" fmla="*/ 98833 w 11058645"/>
              <a:gd name="connsiteY10" fmla="*/ 1265471 h 2587776"/>
              <a:gd name="connsiteX0" fmla="*/ 25228 w 11239040"/>
              <a:gd name="connsiteY0" fmla="*/ 1176571 h 2587776"/>
              <a:gd name="connsiteX1" fmla="*/ 761828 w 11239040"/>
              <a:gd name="connsiteY1" fmla="*/ 122471 h 2587776"/>
              <a:gd name="connsiteX2" fmla="*/ 3441528 w 11239040"/>
              <a:gd name="connsiteY2" fmla="*/ 1087671 h 2587776"/>
              <a:gd name="connsiteX3" fmla="*/ 7873828 w 11239040"/>
              <a:gd name="connsiteY3" fmla="*/ 1113071 h 2587776"/>
              <a:gd name="connsiteX4" fmla="*/ 10375728 w 11239040"/>
              <a:gd name="connsiteY4" fmla="*/ 8171 h 2587776"/>
              <a:gd name="connsiteX5" fmla="*/ 11213928 w 11239040"/>
              <a:gd name="connsiteY5" fmla="*/ 1773471 h 2587776"/>
              <a:gd name="connsiteX6" fmla="*/ 9575628 w 11239040"/>
              <a:gd name="connsiteY6" fmla="*/ 2586271 h 2587776"/>
              <a:gd name="connsiteX7" fmla="*/ 8000828 w 11239040"/>
              <a:gd name="connsiteY7" fmla="*/ 1595671 h 2587776"/>
              <a:gd name="connsiteX8" fmla="*/ 2539828 w 11239040"/>
              <a:gd name="connsiteY8" fmla="*/ 1621071 h 2587776"/>
              <a:gd name="connsiteX9" fmla="*/ 291928 w 11239040"/>
              <a:gd name="connsiteY9" fmla="*/ 1760771 h 2587776"/>
              <a:gd name="connsiteX10" fmla="*/ 25228 w 11239040"/>
              <a:gd name="connsiteY10" fmla="*/ 1176571 h 2587776"/>
              <a:gd name="connsiteX0" fmla="*/ 25228 w 11239040"/>
              <a:gd name="connsiteY0" fmla="*/ 1176571 h 2587776"/>
              <a:gd name="connsiteX1" fmla="*/ 761828 w 11239040"/>
              <a:gd name="connsiteY1" fmla="*/ 122471 h 2587776"/>
              <a:gd name="connsiteX2" fmla="*/ 3441528 w 11239040"/>
              <a:gd name="connsiteY2" fmla="*/ 1087671 h 2587776"/>
              <a:gd name="connsiteX3" fmla="*/ 7873828 w 11239040"/>
              <a:gd name="connsiteY3" fmla="*/ 1113071 h 2587776"/>
              <a:gd name="connsiteX4" fmla="*/ 10375728 w 11239040"/>
              <a:gd name="connsiteY4" fmla="*/ 8171 h 2587776"/>
              <a:gd name="connsiteX5" fmla="*/ 11213928 w 11239040"/>
              <a:gd name="connsiteY5" fmla="*/ 1773471 h 2587776"/>
              <a:gd name="connsiteX6" fmla="*/ 9575628 w 11239040"/>
              <a:gd name="connsiteY6" fmla="*/ 2586271 h 2587776"/>
              <a:gd name="connsiteX7" fmla="*/ 8000828 w 11239040"/>
              <a:gd name="connsiteY7" fmla="*/ 1595671 h 2587776"/>
              <a:gd name="connsiteX8" fmla="*/ 2539828 w 11239040"/>
              <a:gd name="connsiteY8" fmla="*/ 1621071 h 2587776"/>
              <a:gd name="connsiteX9" fmla="*/ 291928 w 11239040"/>
              <a:gd name="connsiteY9" fmla="*/ 1760771 h 2587776"/>
              <a:gd name="connsiteX10" fmla="*/ 25228 w 11239040"/>
              <a:gd name="connsiteY10" fmla="*/ 1176571 h 2587776"/>
              <a:gd name="connsiteX0" fmla="*/ 25228 w 11239040"/>
              <a:gd name="connsiteY0" fmla="*/ 1176571 h 2587776"/>
              <a:gd name="connsiteX1" fmla="*/ 761828 w 11239040"/>
              <a:gd name="connsiteY1" fmla="*/ 122471 h 2587776"/>
              <a:gd name="connsiteX2" fmla="*/ 3441528 w 11239040"/>
              <a:gd name="connsiteY2" fmla="*/ 1087671 h 2587776"/>
              <a:gd name="connsiteX3" fmla="*/ 7873828 w 11239040"/>
              <a:gd name="connsiteY3" fmla="*/ 1113071 h 2587776"/>
              <a:gd name="connsiteX4" fmla="*/ 10375728 w 11239040"/>
              <a:gd name="connsiteY4" fmla="*/ 8171 h 2587776"/>
              <a:gd name="connsiteX5" fmla="*/ 11213928 w 11239040"/>
              <a:gd name="connsiteY5" fmla="*/ 1773471 h 2587776"/>
              <a:gd name="connsiteX6" fmla="*/ 9575628 w 11239040"/>
              <a:gd name="connsiteY6" fmla="*/ 2586271 h 2587776"/>
              <a:gd name="connsiteX7" fmla="*/ 8000828 w 11239040"/>
              <a:gd name="connsiteY7" fmla="*/ 1595671 h 2587776"/>
              <a:gd name="connsiteX8" fmla="*/ 2539828 w 11239040"/>
              <a:gd name="connsiteY8" fmla="*/ 1621071 h 2587776"/>
              <a:gd name="connsiteX9" fmla="*/ 291928 w 11239040"/>
              <a:gd name="connsiteY9" fmla="*/ 1760771 h 2587776"/>
              <a:gd name="connsiteX10" fmla="*/ 25228 w 11239040"/>
              <a:gd name="connsiteY10" fmla="*/ 1176571 h 2587776"/>
              <a:gd name="connsiteX0" fmla="*/ 102109 w 11150821"/>
              <a:gd name="connsiteY0" fmla="*/ 1201971 h 2587776"/>
              <a:gd name="connsiteX1" fmla="*/ 673609 w 11150821"/>
              <a:gd name="connsiteY1" fmla="*/ 122471 h 2587776"/>
              <a:gd name="connsiteX2" fmla="*/ 3353309 w 11150821"/>
              <a:gd name="connsiteY2" fmla="*/ 1087671 h 2587776"/>
              <a:gd name="connsiteX3" fmla="*/ 7785609 w 11150821"/>
              <a:gd name="connsiteY3" fmla="*/ 1113071 h 2587776"/>
              <a:gd name="connsiteX4" fmla="*/ 10287509 w 11150821"/>
              <a:gd name="connsiteY4" fmla="*/ 8171 h 2587776"/>
              <a:gd name="connsiteX5" fmla="*/ 11125709 w 11150821"/>
              <a:gd name="connsiteY5" fmla="*/ 1773471 h 2587776"/>
              <a:gd name="connsiteX6" fmla="*/ 9487409 w 11150821"/>
              <a:gd name="connsiteY6" fmla="*/ 2586271 h 2587776"/>
              <a:gd name="connsiteX7" fmla="*/ 7912609 w 11150821"/>
              <a:gd name="connsiteY7" fmla="*/ 1595671 h 2587776"/>
              <a:gd name="connsiteX8" fmla="*/ 2451609 w 11150821"/>
              <a:gd name="connsiteY8" fmla="*/ 1621071 h 2587776"/>
              <a:gd name="connsiteX9" fmla="*/ 203709 w 11150821"/>
              <a:gd name="connsiteY9" fmla="*/ 1760771 h 2587776"/>
              <a:gd name="connsiteX10" fmla="*/ 102109 w 11150821"/>
              <a:gd name="connsiteY10" fmla="*/ 1201971 h 2587776"/>
              <a:gd name="connsiteX0" fmla="*/ 128416 w 11075528"/>
              <a:gd name="connsiteY0" fmla="*/ 1760771 h 2587776"/>
              <a:gd name="connsiteX1" fmla="*/ 598316 w 11075528"/>
              <a:gd name="connsiteY1" fmla="*/ 122471 h 2587776"/>
              <a:gd name="connsiteX2" fmla="*/ 3278016 w 11075528"/>
              <a:gd name="connsiteY2" fmla="*/ 1087671 h 2587776"/>
              <a:gd name="connsiteX3" fmla="*/ 7710316 w 11075528"/>
              <a:gd name="connsiteY3" fmla="*/ 1113071 h 2587776"/>
              <a:gd name="connsiteX4" fmla="*/ 10212216 w 11075528"/>
              <a:gd name="connsiteY4" fmla="*/ 8171 h 2587776"/>
              <a:gd name="connsiteX5" fmla="*/ 11050416 w 11075528"/>
              <a:gd name="connsiteY5" fmla="*/ 1773471 h 2587776"/>
              <a:gd name="connsiteX6" fmla="*/ 9412116 w 11075528"/>
              <a:gd name="connsiteY6" fmla="*/ 2586271 h 2587776"/>
              <a:gd name="connsiteX7" fmla="*/ 7837316 w 11075528"/>
              <a:gd name="connsiteY7" fmla="*/ 1595671 h 2587776"/>
              <a:gd name="connsiteX8" fmla="*/ 2376316 w 11075528"/>
              <a:gd name="connsiteY8" fmla="*/ 1621071 h 2587776"/>
              <a:gd name="connsiteX9" fmla="*/ 128416 w 11075528"/>
              <a:gd name="connsiteY9" fmla="*/ 1760771 h 2587776"/>
              <a:gd name="connsiteX0" fmla="*/ 114947 w 11062059"/>
              <a:gd name="connsiteY0" fmla="*/ 1760682 h 2587687"/>
              <a:gd name="connsiteX1" fmla="*/ 584847 w 11062059"/>
              <a:gd name="connsiteY1" fmla="*/ 122382 h 2587687"/>
              <a:gd name="connsiteX2" fmla="*/ 2794647 w 11062059"/>
              <a:gd name="connsiteY2" fmla="*/ 1011382 h 2587687"/>
              <a:gd name="connsiteX3" fmla="*/ 7696847 w 11062059"/>
              <a:gd name="connsiteY3" fmla="*/ 1112982 h 2587687"/>
              <a:gd name="connsiteX4" fmla="*/ 10198747 w 11062059"/>
              <a:gd name="connsiteY4" fmla="*/ 8082 h 2587687"/>
              <a:gd name="connsiteX5" fmla="*/ 11036947 w 11062059"/>
              <a:gd name="connsiteY5" fmla="*/ 1773382 h 2587687"/>
              <a:gd name="connsiteX6" fmla="*/ 9398647 w 11062059"/>
              <a:gd name="connsiteY6" fmla="*/ 2586182 h 2587687"/>
              <a:gd name="connsiteX7" fmla="*/ 7823847 w 11062059"/>
              <a:gd name="connsiteY7" fmla="*/ 1595582 h 2587687"/>
              <a:gd name="connsiteX8" fmla="*/ 2362847 w 11062059"/>
              <a:gd name="connsiteY8" fmla="*/ 1620982 h 2587687"/>
              <a:gd name="connsiteX9" fmla="*/ 114947 w 11062059"/>
              <a:gd name="connsiteY9" fmla="*/ 1760682 h 2587687"/>
              <a:gd name="connsiteX0" fmla="*/ 114947 w 11062059"/>
              <a:gd name="connsiteY0" fmla="*/ 1760682 h 2587687"/>
              <a:gd name="connsiteX1" fmla="*/ 584847 w 11062059"/>
              <a:gd name="connsiteY1" fmla="*/ 122382 h 2587687"/>
              <a:gd name="connsiteX2" fmla="*/ 2794647 w 11062059"/>
              <a:gd name="connsiteY2" fmla="*/ 1011382 h 2587687"/>
              <a:gd name="connsiteX3" fmla="*/ 7696847 w 11062059"/>
              <a:gd name="connsiteY3" fmla="*/ 1112982 h 2587687"/>
              <a:gd name="connsiteX4" fmla="*/ 10198747 w 11062059"/>
              <a:gd name="connsiteY4" fmla="*/ 8082 h 2587687"/>
              <a:gd name="connsiteX5" fmla="*/ 11036947 w 11062059"/>
              <a:gd name="connsiteY5" fmla="*/ 1773382 h 2587687"/>
              <a:gd name="connsiteX6" fmla="*/ 9398647 w 11062059"/>
              <a:gd name="connsiteY6" fmla="*/ 2586182 h 2587687"/>
              <a:gd name="connsiteX7" fmla="*/ 7823847 w 11062059"/>
              <a:gd name="connsiteY7" fmla="*/ 1595582 h 2587687"/>
              <a:gd name="connsiteX8" fmla="*/ 2362847 w 11062059"/>
              <a:gd name="connsiteY8" fmla="*/ 1620982 h 2587687"/>
              <a:gd name="connsiteX9" fmla="*/ 114947 w 11062059"/>
              <a:gd name="connsiteY9" fmla="*/ 1760682 h 2587687"/>
              <a:gd name="connsiteX0" fmla="*/ 114947 w 11062059"/>
              <a:gd name="connsiteY0" fmla="*/ 1760682 h 2587687"/>
              <a:gd name="connsiteX1" fmla="*/ 584847 w 11062059"/>
              <a:gd name="connsiteY1" fmla="*/ 122382 h 2587687"/>
              <a:gd name="connsiteX2" fmla="*/ 2794647 w 11062059"/>
              <a:gd name="connsiteY2" fmla="*/ 1011382 h 2587687"/>
              <a:gd name="connsiteX3" fmla="*/ 7696847 w 11062059"/>
              <a:gd name="connsiteY3" fmla="*/ 1112982 h 2587687"/>
              <a:gd name="connsiteX4" fmla="*/ 10198747 w 11062059"/>
              <a:gd name="connsiteY4" fmla="*/ 8082 h 2587687"/>
              <a:gd name="connsiteX5" fmla="*/ 11036947 w 11062059"/>
              <a:gd name="connsiteY5" fmla="*/ 1773382 h 2587687"/>
              <a:gd name="connsiteX6" fmla="*/ 9398647 w 11062059"/>
              <a:gd name="connsiteY6" fmla="*/ 2586182 h 2587687"/>
              <a:gd name="connsiteX7" fmla="*/ 7823847 w 11062059"/>
              <a:gd name="connsiteY7" fmla="*/ 1595582 h 2587687"/>
              <a:gd name="connsiteX8" fmla="*/ 2362847 w 11062059"/>
              <a:gd name="connsiteY8" fmla="*/ 1620982 h 2587687"/>
              <a:gd name="connsiteX9" fmla="*/ 114947 w 11062059"/>
              <a:gd name="connsiteY9" fmla="*/ 1760682 h 2587687"/>
              <a:gd name="connsiteX0" fmla="*/ 114947 w 11062150"/>
              <a:gd name="connsiteY0" fmla="*/ 1766704 h 2593709"/>
              <a:gd name="connsiteX1" fmla="*/ 584847 w 11062150"/>
              <a:gd name="connsiteY1" fmla="*/ 128404 h 2593709"/>
              <a:gd name="connsiteX2" fmla="*/ 2794647 w 11062150"/>
              <a:gd name="connsiteY2" fmla="*/ 1017404 h 2593709"/>
              <a:gd name="connsiteX3" fmla="*/ 7684147 w 11062150"/>
              <a:gd name="connsiteY3" fmla="*/ 953904 h 2593709"/>
              <a:gd name="connsiteX4" fmla="*/ 10198747 w 11062150"/>
              <a:gd name="connsiteY4" fmla="*/ 14104 h 2593709"/>
              <a:gd name="connsiteX5" fmla="*/ 11036947 w 11062150"/>
              <a:gd name="connsiteY5" fmla="*/ 1779404 h 2593709"/>
              <a:gd name="connsiteX6" fmla="*/ 9398647 w 11062150"/>
              <a:gd name="connsiteY6" fmla="*/ 2592204 h 2593709"/>
              <a:gd name="connsiteX7" fmla="*/ 7823847 w 11062150"/>
              <a:gd name="connsiteY7" fmla="*/ 1601604 h 2593709"/>
              <a:gd name="connsiteX8" fmla="*/ 2362847 w 11062150"/>
              <a:gd name="connsiteY8" fmla="*/ 1627004 h 2593709"/>
              <a:gd name="connsiteX9" fmla="*/ 114947 w 11062150"/>
              <a:gd name="connsiteY9" fmla="*/ 1766704 h 2593709"/>
              <a:gd name="connsiteX0" fmla="*/ 114947 w 11062150"/>
              <a:gd name="connsiteY0" fmla="*/ 1765589 h 2592594"/>
              <a:gd name="connsiteX1" fmla="*/ 584847 w 11062150"/>
              <a:gd name="connsiteY1" fmla="*/ 127289 h 2592594"/>
              <a:gd name="connsiteX2" fmla="*/ 2794647 w 11062150"/>
              <a:gd name="connsiteY2" fmla="*/ 1016289 h 2592594"/>
              <a:gd name="connsiteX3" fmla="*/ 7684147 w 11062150"/>
              <a:gd name="connsiteY3" fmla="*/ 952789 h 2592594"/>
              <a:gd name="connsiteX4" fmla="*/ 10198747 w 11062150"/>
              <a:gd name="connsiteY4" fmla="*/ 12989 h 2592594"/>
              <a:gd name="connsiteX5" fmla="*/ 11036947 w 11062150"/>
              <a:gd name="connsiteY5" fmla="*/ 1778289 h 2592594"/>
              <a:gd name="connsiteX6" fmla="*/ 9398647 w 11062150"/>
              <a:gd name="connsiteY6" fmla="*/ 2591089 h 2592594"/>
              <a:gd name="connsiteX7" fmla="*/ 7823847 w 11062150"/>
              <a:gd name="connsiteY7" fmla="*/ 1600489 h 2592594"/>
              <a:gd name="connsiteX8" fmla="*/ 2362847 w 11062150"/>
              <a:gd name="connsiteY8" fmla="*/ 1625889 h 2592594"/>
              <a:gd name="connsiteX9" fmla="*/ 114947 w 11062150"/>
              <a:gd name="connsiteY9" fmla="*/ 1765589 h 2592594"/>
              <a:gd name="connsiteX0" fmla="*/ 114947 w 11062150"/>
              <a:gd name="connsiteY0" fmla="*/ 1762372 h 2589377"/>
              <a:gd name="connsiteX1" fmla="*/ 584847 w 11062150"/>
              <a:gd name="connsiteY1" fmla="*/ 124072 h 2589377"/>
              <a:gd name="connsiteX2" fmla="*/ 2794647 w 11062150"/>
              <a:gd name="connsiteY2" fmla="*/ 1013072 h 2589377"/>
              <a:gd name="connsiteX3" fmla="*/ 7684147 w 11062150"/>
              <a:gd name="connsiteY3" fmla="*/ 1038472 h 2589377"/>
              <a:gd name="connsiteX4" fmla="*/ 10198747 w 11062150"/>
              <a:gd name="connsiteY4" fmla="*/ 9772 h 2589377"/>
              <a:gd name="connsiteX5" fmla="*/ 11036947 w 11062150"/>
              <a:gd name="connsiteY5" fmla="*/ 1775072 h 2589377"/>
              <a:gd name="connsiteX6" fmla="*/ 9398647 w 11062150"/>
              <a:gd name="connsiteY6" fmla="*/ 2587872 h 2589377"/>
              <a:gd name="connsiteX7" fmla="*/ 7823847 w 11062150"/>
              <a:gd name="connsiteY7" fmla="*/ 1597272 h 2589377"/>
              <a:gd name="connsiteX8" fmla="*/ 2362847 w 11062150"/>
              <a:gd name="connsiteY8" fmla="*/ 1622672 h 2589377"/>
              <a:gd name="connsiteX9" fmla="*/ 114947 w 11062150"/>
              <a:gd name="connsiteY9" fmla="*/ 1762372 h 2589377"/>
              <a:gd name="connsiteX0" fmla="*/ 114947 w 11062150"/>
              <a:gd name="connsiteY0" fmla="*/ 1761779 h 2588784"/>
              <a:gd name="connsiteX1" fmla="*/ 584847 w 11062150"/>
              <a:gd name="connsiteY1" fmla="*/ 123479 h 2588784"/>
              <a:gd name="connsiteX2" fmla="*/ 2794647 w 11062150"/>
              <a:gd name="connsiteY2" fmla="*/ 1012479 h 2588784"/>
              <a:gd name="connsiteX3" fmla="*/ 7684147 w 11062150"/>
              <a:gd name="connsiteY3" fmla="*/ 1037879 h 2588784"/>
              <a:gd name="connsiteX4" fmla="*/ 10198747 w 11062150"/>
              <a:gd name="connsiteY4" fmla="*/ 9179 h 2588784"/>
              <a:gd name="connsiteX5" fmla="*/ 11036947 w 11062150"/>
              <a:gd name="connsiteY5" fmla="*/ 1774479 h 2588784"/>
              <a:gd name="connsiteX6" fmla="*/ 9398647 w 11062150"/>
              <a:gd name="connsiteY6" fmla="*/ 2587279 h 2588784"/>
              <a:gd name="connsiteX7" fmla="*/ 7823847 w 11062150"/>
              <a:gd name="connsiteY7" fmla="*/ 1596679 h 2588784"/>
              <a:gd name="connsiteX8" fmla="*/ 2362847 w 11062150"/>
              <a:gd name="connsiteY8" fmla="*/ 1622079 h 2588784"/>
              <a:gd name="connsiteX9" fmla="*/ 114947 w 11062150"/>
              <a:gd name="connsiteY9" fmla="*/ 1761779 h 2588784"/>
              <a:gd name="connsiteX0" fmla="*/ 113943 w 11061146"/>
              <a:gd name="connsiteY0" fmla="*/ 1763144 h 2590149"/>
              <a:gd name="connsiteX1" fmla="*/ 583843 w 11061146"/>
              <a:gd name="connsiteY1" fmla="*/ 124844 h 2590149"/>
              <a:gd name="connsiteX2" fmla="*/ 2755543 w 11061146"/>
              <a:gd name="connsiteY2" fmla="*/ 1001144 h 2590149"/>
              <a:gd name="connsiteX3" fmla="*/ 7683143 w 11061146"/>
              <a:gd name="connsiteY3" fmla="*/ 1039244 h 2590149"/>
              <a:gd name="connsiteX4" fmla="*/ 10197743 w 11061146"/>
              <a:gd name="connsiteY4" fmla="*/ 10544 h 2590149"/>
              <a:gd name="connsiteX5" fmla="*/ 11035943 w 11061146"/>
              <a:gd name="connsiteY5" fmla="*/ 1775844 h 2590149"/>
              <a:gd name="connsiteX6" fmla="*/ 9397643 w 11061146"/>
              <a:gd name="connsiteY6" fmla="*/ 2588644 h 2590149"/>
              <a:gd name="connsiteX7" fmla="*/ 7822843 w 11061146"/>
              <a:gd name="connsiteY7" fmla="*/ 1598044 h 2590149"/>
              <a:gd name="connsiteX8" fmla="*/ 2361843 w 11061146"/>
              <a:gd name="connsiteY8" fmla="*/ 1623444 h 2590149"/>
              <a:gd name="connsiteX9" fmla="*/ 113943 w 11061146"/>
              <a:gd name="connsiteY9" fmla="*/ 1763144 h 2590149"/>
              <a:gd name="connsiteX0" fmla="*/ 113943 w 11055755"/>
              <a:gd name="connsiteY0" fmla="*/ 1651173 h 2478097"/>
              <a:gd name="connsiteX1" fmla="*/ 583843 w 11055755"/>
              <a:gd name="connsiteY1" fmla="*/ 12873 h 2478097"/>
              <a:gd name="connsiteX2" fmla="*/ 2755543 w 11055755"/>
              <a:gd name="connsiteY2" fmla="*/ 889173 h 2478097"/>
              <a:gd name="connsiteX3" fmla="*/ 7683143 w 11055755"/>
              <a:gd name="connsiteY3" fmla="*/ 927273 h 2478097"/>
              <a:gd name="connsiteX4" fmla="*/ 10134243 w 11055755"/>
              <a:gd name="connsiteY4" fmla="*/ 50973 h 2478097"/>
              <a:gd name="connsiteX5" fmla="*/ 11035943 w 11055755"/>
              <a:gd name="connsiteY5" fmla="*/ 1663873 h 2478097"/>
              <a:gd name="connsiteX6" fmla="*/ 9397643 w 11055755"/>
              <a:gd name="connsiteY6" fmla="*/ 2476673 h 2478097"/>
              <a:gd name="connsiteX7" fmla="*/ 7822843 w 11055755"/>
              <a:gd name="connsiteY7" fmla="*/ 1486073 h 2478097"/>
              <a:gd name="connsiteX8" fmla="*/ 2361843 w 11055755"/>
              <a:gd name="connsiteY8" fmla="*/ 1511473 h 2478097"/>
              <a:gd name="connsiteX9" fmla="*/ 113943 w 11055755"/>
              <a:gd name="connsiteY9" fmla="*/ 1651173 h 2478097"/>
              <a:gd name="connsiteX0" fmla="*/ 113943 w 11051350"/>
              <a:gd name="connsiteY0" fmla="*/ 1651173 h 2478024"/>
              <a:gd name="connsiteX1" fmla="*/ 583843 w 11051350"/>
              <a:gd name="connsiteY1" fmla="*/ 12873 h 2478024"/>
              <a:gd name="connsiteX2" fmla="*/ 2755543 w 11051350"/>
              <a:gd name="connsiteY2" fmla="*/ 889173 h 2478024"/>
              <a:gd name="connsiteX3" fmla="*/ 7683143 w 11051350"/>
              <a:gd name="connsiteY3" fmla="*/ 927273 h 2478024"/>
              <a:gd name="connsiteX4" fmla="*/ 10070743 w 11051350"/>
              <a:gd name="connsiteY4" fmla="*/ 203373 h 2478024"/>
              <a:gd name="connsiteX5" fmla="*/ 11035943 w 11051350"/>
              <a:gd name="connsiteY5" fmla="*/ 1663873 h 2478024"/>
              <a:gd name="connsiteX6" fmla="*/ 9397643 w 11051350"/>
              <a:gd name="connsiteY6" fmla="*/ 2476673 h 2478024"/>
              <a:gd name="connsiteX7" fmla="*/ 7822843 w 11051350"/>
              <a:gd name="connsiteY7" fmla="*/ 1486073 h 2478024"/>
              <a:gd name="connsiteX8" fmla="*/ 2361843 w 11051350"/>
              <a:gd name="connsiteY8" fmla="*/ 1511473 h 2478024"/>
              <a:gd name="connsiteX9" fmla="*/ 113943 w 11051350"/>
              <a:gd name="connsiteY9" fmla="*/ 1651173 h 2478024"/>
              <a:gd name="connsiteX0" fmla="*/ 113943 w 11056382"/>
              <a:gd name="connsiteY0" fmla="*/ 1651173 h 2478024"/>
              <a:gd name="connsiteX1" fmla="*/ 583843 w 11056382"/>
              <a:gd name="connsiteY1" fmla="*/ 12873 h 2478024"/>
              <a:gd name="connsiteX2" fmla="*/ 2755543 w 11056382"/>
              <a:gd name="connsiteY2" fmla="*/ 889173 h 2478024"/>
              <a:gd name="connsiteX3" fmla="*/ 7683143 w 11056382"/>
              <a:gd name="connsiteY3" fmla="*/ 927273 h 2478024"/>
              <a:gd name="connsiteX4" fmla="*/ 10070743 w 11056382"/>
              <a:gd name="connsiteY4" fmla="*/ 203373 h 2478024"/>
              <a:gd name="connsiteX5" fmla="*/ 11035943 w 11056382"/>
              <a:gd name="connsiteY5" fmla="*/ 1663873 h 2478024"/>
              <a:gd name="connsiteX6" fmla="*/ 9397643 w 11056382"/>
              <a:gd name="connsiteY6" fmla="*/ 2476673 h 2478024"/>
              <a:gd name="connsiteX7" fmla="*/ 7822843 w 11056382"/>
              <a:gd name="connsiteY7" fmla="*/ 1486073 h 2478024"/>
              <a:gd name="connsiteX8" fmla="*/ 2361843 w 11056382"/>
              <a:gd name="connsiteY8" fmla="*/ 1511473 h 2478024"/>
              <a:gd name="connsiteX9" fmla="*/ 113943 w 11056382"/>
              <a:gd name="connsiteY9" fmla="*/ 1651173 h 2478024"/>
              <a:gd name="connsiteX0" fmla="*/ 113943 w 10146847"/>
              <a:gd name="connsiteY0" fmla="*/ 1651173 h 2476673"/>
              <a:gd name="connsiteX1" fmla="*/ 583843 w 10146847"/>
              <a:gd name="connsiteY1" fmla="*/ 12873 h 2476673"/>
              <a:gd name="connsiteX2" fmla="*/ 2755543 w 10146847"/>
              <a:gd name="connsiteY2" fmla="*/ 889173 h 2476673"/>
              <a:gd name="connsiteX3" fmla="*/ 7683143 w 10146847"/>
              <a:gd name="connsiteY3" fmla="*/ 927273 h 2476673"/>
              <a:gd name="connsiteX4" fmla="*/ 10070743 w 10146847"/>
              <a:gd name="connsiteY4" fmla="*/ 203373 h 2476673"/>
              <a:gd name="connsiteX5" fmla="*/ 9397643 w 10146847"/>
              <a:gd name="connsiteY5" fmla="*/ 2476673 h 2476673"/>
              <a:gd name="connsiteX6" fmla="*/ 7822843 w 10146847"/>
              <a:gd name="connsiteY6" fmla="*/ 1486073 h 2476673"/>
              <a:gd name="connsiteX7" fmla="*/ 2361843 w 10146847"/>
              <a:gd name="connsiteY7" fmla="*/ 1511473 h 2476673"/>
              <a:gd name="connsiteX8" fmla="*/ 113943 w 10146847"/>
              <a:gd name="connsiteY8" fmla="*/ 1651173 h 2476673"/>
              <a:gd name="connsiteX0" fmla="*/ 113943 w 10622375"/>
              <a:gd name="connsiteY0" fmla="*/ 1651173 h 1752773"/>
              <a:gd name="connsiteX1" fmla="*/ 583843 w 10622375"/>
              <a:gd name="connsiteY1" fmla="*/ 12873 h 1752773"/>
              <a:gd name="connsiteX2" fmla="*/ 2755543 w 10622375"/>
              <a:gd name="connsiteY2" fmla="*/ 889173 h 1752773"/>
              <a:gd name="connsiteX3" fmla="*/ 7683143 w 10622375"/>
              <a:gd name="connsiteY3" fmla="*/ 927273 h 1752773"/>
              <a:gd name="connsiteX4" fmla="*/ 10070743 w 10622375"/>
              <a:gd name="connsiteY4" fmla="*/ 203373 h 1752773"/>
              <a:gd name="connsiteX5" fmla="*/ 10451743 w 10622375"/>
              <a:gd name="connsiteY5" fmla="*/ 1752773 h 1752773"/>
              <a:gd name="connsiteX6" fmla="*/ 7822843 w 10622375"/>
              <a:gd name="connsiteY6" fmla="*/ 1486073 h 1752773"/>
              <a:gd name="connsiteX7" fmla="*/ 2361843 w 10622375"/>
              <a:gd name="connsiteY7" fmla="*/ 1511473 h 1752773"/>
              <a:gd name="connsiteX8" fmla="*/ 113943 w 10622375"/>
              <a:gd name="connsiteY8" fmla="*/ 1651173 h 1752773"/>
              <a:gd name="connsiteX0" fmla="*/ 113943 w 10693784"/>
              <a:gd name="connsiteY0" fmla="*/ 1651173 h 1753223"/>
              <a:gd name="connsiteX1" fmla="*/ 583843 w 10693784"/>
              <a:gd name="connsiteY1" fmla="*/ 12873 h 1753223"/>
              <a:gd name="connsiteX2" fmla="*/ 2755543 w 10693784"/>
              <a:gd name="connsiteY2" fmla="*/ 889173 h 1753223"/>
              <a:gd name="connsiteX3" fmla="*/ 7683143 w 10693784"/>
              <a:gd name="connsiteY3" fmla="*/ 927273 h 1753223"/>
              <a:gd name="connsiteX4" fmla="*/ 10070743 w 10693784"/>
              <a:gd name="connsiteY4" fmla="*/ 203373 h 1753223"/>
              <a:gd name="connsiteX5" fmla="*/ 10451743 w 10693784"/>
              <a:gd name="connsiteY5" fmla="*/ 1752773 h 1753223"/>
              <a:gd name="connsiteX6" fmla="*/ 7822843 w 10693784"/>
              <a:gd name="connsiteY6" fmla="*/ 1486073 h 1753223"/>
              <a:gd name="connsiteX7" fmla="*/ 2361843 w 10693784"/>
              <a:gd name="connsiteY7" fmla="*/ 1511473 h 1753223"/>
              <a:gd name="connsiteX8" fmla="*/ 113943 w 10693784"/>
              <a:gd name="connsiteY8" fmla="*/ 1651173 h 1753223"/>
              <a:gd name="connsiteX0" fmla="*/ 113943 w 10755826"/>
              <a:gd name="connsiteY0" fmla="*/ 1651173 h 1834840"/>
              <a:gd name="connsiteX1" fmla="*/ 583843 w 10755826"/>
              <a:gd name="connsiteY1" fmla="*/ 12873 h 1834840"/>
              <a:gd name="connsiteX2" fmla="*/ 2755543 w 10755826"/>
              <a:gd name="connsiteY2" fmla="*/ 889173 h 1834840"/>
              <a:gd name="connsiteX3" fmla="*/ 7683143 w 10755826"/>
              <a:gd name="connsiteY3" fmla="*/ 927273 h 1834840"/>
              <a:gd name="connsiteX4" fmla="*/ 10070743 w 10755826"/>
              <a:gd name="connsiteY4" fmla="*/ 203373 h 1834840"/>
              <a:gd name="connsiteX5" fmla="*/ 10451743 w 10755826"/>
              <a:gd name="connsiteY5" fmla="*/ 1752773 h 1834840"/>
              <a:gd name="connsiteX6" fmla="*/ 7822843 w 10755826"/>
              <a:gd name="connsiteY6" fmla="*/ 1486073 h 1834840"/>
              <a:gd name="connsiteX7" fmla="*/ 2361843 w 10755826"/>
              <a:gd name="connsiteY7" fmla="*/ 1511473 h 1834840"/>
              <a:gd name="connsiteX8" fmla="*/ 113943 w 10755826"/>
              <a:gd name="connsiteY8" fmla="*/ 1651173 h 1834840"/>
              <a:gd name="connsiteX0" fmla="*/ 113943 w 10693236"/>
              <a:gd name="connsiteY0" fmla="*/ 1651173 h 1812646"/>
              <a:gd name="connsiteX1" fmla="*/ 583843 w 10693236"/>
              <a:gd name="connsiteY1" fmla="*/ 12873 h 1812646"/>
              <a:gd name="connsiteX2" fmla="*/ 2755543 w 10693236"/>
              <a:gd name="connsiteY2" fmla="*/ 889173 h 1812646"/>
              <a:gd name="connsiteX3" fmla="*/ 7683143 w 10693236"/>
              <a:gd name="connsiteY3" fmla="*/ 927273 h 1812646"/>
              <a:gd name="connsiteX4" fmla="*/ 10261243 w 10693236"/>
              <a:gd name="connsiteY4" fmla="*/ 177973 h 1812646"/>
              <a:gd name="connsiteX5" fmla="*/ 10451743 w 10693236"/>
              <a:gd name="connsiteY5" fmla="*/ 1752773 h 1812646"/>
              <a:gd name="connsiteX6" fmla="*/ 7822843 w 10693236"/>
              <a:gd name="connsiteY6" fmla="*/ 1486073 h 1812646"/>
              <a:gd name="connsiteX7" fmla="*/ 2361843 w 10693236"/>
              <a:gd name="connsiteY7" fmla="*/ 1511473 h 1812646"/>
              <a:gd name="connsiteX8" fmla="*/ 113943 w 10693236"/>
              <a:gd name="connsiteY8" fmla="*/ 1651173 h 1812646"/>
              <a:gd name="connsiteX0" fmla="*/ 113943 w 10767882"/>
              <a:gd name="connsiteY0" fmla="*/ 1651173 h 1805491"/>
              <a:gd name="connsiteX1" fmla="*/ 583843 w 10767882"/>
              <a:gd name="connsiteY1" fmla="*/ 12873 h 1805491"/>
              <a:gd name="connsiteX2" fmla="*/ 2755543 w 10767882"/>
              <a:gd name="connsiteY2" fmla="*/ 889173 h 1805491"/>
              <a:gd name="connsiteX3" fmla="*/ 7683143 w 10767882"/>
              <a:gd name="connsiteY3" fmla="*/ 927273 h 1805491"/>
              <a:gd name="connsiteX4" fmla="*/ 10413643 w 10767882"/>
              <a:gd name="connsiteY4" fmla="*/ 292273 h 1805491"/>
              <a:gd name="connsiteX5" fmla="*/ 10451743 w 10767882"/>
              <a:gd name="connsiteY5" fmla="*/ 1752773 h 1805491"/>
              <a:gd name="connsiteX6" fmla="*/ 7822843 w 10767882"/>
              <a:gd name="connsiteY6" fmla="*/ 1486073 h 1805491"/>
              <a:gd name="connsiteX7" fmla="*/ 2361843 w 10767882"/>
              <a:gd name="connsiteY7" fmla="*/ 1511473 h 1805491"/>
              <a:gd name="connsiteX8" fmla="*/ 113943 w 10767882"/>
              <a:gd name="connsiteY8" fmla="*/ 1651173 h 1805491"/>
              <a:gd name="connsiteX0" fmla="*/ 113943 w 10834662"/>
              <a:gd name="connsiteY0" fmla="*/ 1651173 h 1809448"/>
              <a:gd name="connsiteX1" fmla="*/ 583843 w 10834662"/>
              <a:gd name="connsiteY1" fmla="*/ 12873 h 1809448"/>
              <a:gd name="connsiteX2" fmla="*/ 2755543 w 10834662"/>
              <a:gd name="connsiteY2" fmla="*/ 889173 h 1809448"/>
              <a:gd name="connsiteX3" fmla="*/ 7683143 w 10834662"/>
              <a:gd name="connsiteY3" fmla="*/ 927273 h 1809448"/>
              <a:gd name="connsiteX4" fmla="*/ 10527943 w 10834662"/>
              <a:gd name="connsiteY4" fmla="*/ 228773 h 1809448"/>
              <a:gd name="connsiteX5" fmla="*/ 10451743 w 10834662"/>
              <a:gd name="connsiteY5" fmla="*/ 1752773 h 1809448"/>
              <a:gd name="connsiteX6" fmla="*/ 7822843 w 10834662"/>
              <a:gd name="connsiteY6" fmla="*/ 1486073 h 1809448"/>
              <a:gd name="connsiteX7" fmla="*/ 2361843 w 10834662"/>
              <a:gd name="connsiteY7" fmla="*/ 1511473 h 1809448"/>
              <a:gd name="connsiteX8" fmla="*/ 113943 w 10834662"/>
              <a:gd name="connsiteY8" fmla="*/ 1651173 h 1809448"/>
              <a:gd name="connsiteX0" fmla="*/ 113943 w 10958720"/>
              <a:gd name="connsiteY0" fmla="*/ 1651173 h 1821131"/>
              <a:gd name="connsiteX1" fmla="*/ 583843 w 10958720"/>
              <a:gd name="connsiteY1" fmla="*/ 12873 h 1821131"/>
              <a:gd name="connsiteX2" fmla="*/ 2755543 w 10958720"/>
              <a:gd name="connsiteY2" fmla="*/ 889173 h 1821131"/>
              <a:gd name="connsiteX3" fmla="*/ 7683143 w 10958720"/>
              <a:gd name="connsiteY3" fmla="*/ 927273 h 1821131"/>
              <a:gd name="connsiteX4" fmla="*/ 10527943 w 10958720"/>
              <a:gd name="connsiteY4" fmla="*/ 228773 h 1821131"/>
              <a:gd name="connsiteX5" fmla="*/ 10667643 w 10958720"/>
              <a:gd name="connsiteY5" fmla="*/ 1765473 h 1821131"/>
              <a:gd name="connsiteX6" fmla="*/ 7822843 w 10958720"/>
              <a:gd name="connsiteY6" fmla="*/ 1486073 h 1821131"/>
              <a:gd name="connsiteX7" fmla="*/ 2361843 w 10958720"/>
              <a:gd name="connsiteY7" fmla="*/ 1511473 h 1821131"/>
              <a:gd name="connsiteX8" fmla="*/ 113943 w 10958720"/>
              <a:gd name="connsiteY8" fmla="*/ 1651173 h 1821131"/>
              <a:gd name="connsiteX0" fmla="*/ 113943 w 11053493"/>
              <a:gd name="connsiteY0" fmla="*/ 1651173 h 1821131"/>
              <a:gd name="connsiteX1" fmla="*/ 583843 w 11053493"/>
              <a:gd name="connsiteY1" fmla="*/ 12873 h 1821131"/>
              <a:gd name="connsiteX2" fmla="*/ 2755543 w 11053493"/>
              <a:gd name="connsiteY2" fmla="*/ 889173 h 1821131"/>
              <a:gd name="connsiteX3" fmla="*/ 7683143 w 11053493"/>
              <a:gd name="connsiteY3" fmla="*/ 927273 h 1821131"/>
              <a:gd name="connsiteX4" fmla="*/ 10527943 w 11053493"/>
              <a:gd name="connsiteY4" fmla="*/ 228773 h 1821131"/>
              <a:gd name="connsiteX5" fmla="*/ 10667643 w 11053493"/>
              <a:gd name="connsiteY5" fmla="*/ 1765473 h 1821131"/>
              <a:gd name="connsiteX6" fmla="*/ 7822843 w 11053493"/>
              <a:gd name="connsiteY6" fmla="*/ 1486073 h 1821131"/>
              <a:gd name="connsiteX7" fmla="*/ 2361843 w 11053493"/>
              <a:gd name="connsiteY7" fmla="*/ 1511473 h 1821131"/>
              <a:gd name="connsiteX8" fmla="*/ 113943 w 11053493"/>
              <a:gd name="connsiteY8" fmla="*/ 1651173 h 1821131"/>
              <a:gd name="connsiteX0" fmla="*/ 128556 w 11068106"/>
              <a:gd name="connsiteY0" fmla="*/ 1651173 h 1821131"/>
              <a:gd name="connsiteX1" fmla="*/ 598456 w 11068106"/>
              <a:gd name="connsiteY1" fmla="*/ 12873 h 1821131"/>
              <a:gd name="connsiteX2" fmla="*/ 2770156 w 11068106"/>
              <a:gd name="connsiteY2" fmla="*/ 889173 h 1821131"/>
              <a:gd name="connsiteX3" fmla="*/ 7697756 w 11068106"/>
              <a:gd name="connsiteY3" fmla="*/ 927273 h 1821131"/>
              <a:gd name="connsiteX4" fmla="*/ 10542556 w 11068106"/>
              <a:gd name="connsiteY4" fmla="*/ 228773 h 1821131"/>
              <a:gd name="connsiteX5" fmla="*/ 10682256 w 11068106"/>
              <a:gd name="connsiteY5" fmla="*/ 1765473 h 1821131"/>
              <a:gd name="connsiteX6" fmla="*/ 7837456 w 11068106"/>
              <a:gd name="connsiteY6" fmla="*/ 1486073 h 1821131"/>
              <a:gd name="connsiteX7" fmla="*/ 2579656 w 11068106"/>
              <a:gd name="connsiteY7" fmla="*/ 1511473 h 1821131"/>
              <a:gd name="connsiteX8" fmla="*/ 128556 w 11068106"/>
              <a:gd name="connsiteY8" fmla="*/ 1651173 h 1821131"/>
              <a:gd name="connsiteX0" fmla="*/ 141391 w 11080941"/>
              <a:gd name="connsiteY0" fmla="*/ 1651173 h 1821131"/>
              <a:gd name="connsiteX1" fmla="*/ 611291 w 11080941"/>
              <a:gd name="connsiteY1" fmla="*/ 12873 h 1821131"/>
              <a:gd name="connsiteX2" fmla="*/ 2782991 w 11080941"/>
              <a:gd name="connsiteY2" fmla="*/ 889173 h 1821131"/>
              <a:gd name="connsiteX3" fmla="*/ 7710591 w 11080941"/>
              <a:gd name="connsiteY3" fmla="*/ 927273 h 1821131"/>
              <a:gd name="connsiteX4" fmla="*/ 10555391 w 11080941"/>
              <a:gd name="connsiteY4" fmla="*/ 228773 h 1821131"/>
              <a:gd name="connsiteX5" fmla="*/ 10695091 w 11080941"/>
              <a:gd name="connsiteY5" fmla="*/ 1765473 h 1821131"/>
              <a:gd name="connsiteX6" fmla="*/ 7850291 w 11080941"/>
              <a:gd name="connsiteY6" fmla="*/ 1486073 h 1821131"/>
              <a:gd name="connsiteX7" fmla="*/ 2770291 w 11080941"/>
              <a:gd name="connsiteY7" fmla="*/ 1511473 h 1821131"/>
              <a:gd name="connsiteX8" fmla="*/ 141391 w 11080941"/>
              <a:gd name="connsiteY8" fmla="*/ 1651173 h 1821131"/>
              <a:gd name="connsiteX0" fmla="*/ 145985 w 11085535"/>
              <a:gd name="connsiteY0" fmla="*/ 1651173 h 1820948"/>
              <a:gd name="connsiteX1" fmla="*/ 615885 w 11085535"/>
              <a:gd name="connsiteY1" fmla="*/ 12873 h 1820948"/>
              <a:gd name="connsiteX2" fmla="*/ 2787585 w 11085535"/>
              <a:gd name="connsiteY2" fmla="*/ 889173 h 1820948"/>
              <a:gd name="connsiteX3" fmla="*/ 7715185 w 11085535"/>
              <a:gd name="connsiteY3" fmla="*/ 927273 h 1820948"/>
              <a:gd name="connsiteX4" fmla="*/ 10559985 w 11085535"/>
              <a:gd name="connsiteY4" fmla="*/ 228773 h 1820948"/>
              <a:gd name="connsiteX5" fmla="*/ 10699685 w 11085535"/>
              <a:gd name="connsiteY5" fmla="*/ 1765473 h 1820948"/>
              <a:gd name="connsiteX6" fmla="*/ 7854885 w 11085535"/>
              <a:gd name="connsiteY6" fmla="*/ 1486073 h 1820948"/>
              <a:gd name="connsiteX7" fmla="*/ 2838385 w 11085535"/>
              <a:gd name="connsiteY7" fmla="*/ 1524173 h 1820948"/>
              <a:gd name="connsiteX8" fmla="*/ 145985 w 11085535"/>
              <a:gd name="connsiteY8" fmla="*/ 1651173 h 1820948"/>
              <a:gd name="connsiteX0" fmla="*/ 145985 w 11085535"/>
              <a:gd name="connsiteY0" fmla="*/ 1651173 h 1820948"/>
              <a:gd name="connsiteX1" fmla="*/ 615885 w 11085535"/>
              <a:gd name="connsiteY1" fmla="*/ 12873 h 1820948"/>
              <a:gd name="connsiteX2" fmla="*/ 2787585 w 11085535"/>
              <a:gd name="connsiteY2" fmla="*/ 889173 h 1820948"/>
              <a:gd name="connsiteX3" fmla="*/ 7715185 w 11085535"/>
              <a:gd name="connsiteY3" fmla="*/ 927273 h 1820948"/>
              <a:gd name="connsiteX4" fmla="*/ 10559985 w 11085535"/>
              <a:gd name="connsiteY4" fmla="*/ 228773 h 1820948"/>
              <a:gd name="connsiteX5" fmla="*/ 10699685 w 11085535"/>
              <a:gd name="connsiteY5" fmla="*/ 1765473 h 1820948"/>
              <a:gd name="connsiteX6" fmla="*/ 7854885 w 11085535"/>
              <a:gd name="connsiteY6" fmla="*/ 1486073 h 1820948"/>
              <a:gd name="connsiteX7" fmla="*/ 2838385 w 11085535"/>
              <a:gd name="connsiteY7" fmla="*/ 1524173 h 1820948"/>
              <a:gd name="connsiteX8" fmla="*/ 145985 w 11085535"/>
              <a:gd name="connsiteY8" fmla="*/ 1651173 h 1820948"/>
              <a:gd name="connsiteX0" fmla="*/ 263911 w 10758961"/>
              <a:gd name="connsiteY0" fmla="*/ 1651173 h 1820948"/>
              <a:gd name="connsiteX1" fmla="*/ 289311 w 10758961"/>
              <a:gd name="connsiteY1" fmla="*/ 12873 h 1820948"/>
              <a:gd name="connsiteX2" fmla="*/ 2461011 w 10758961"/>
              <a:gd name="connsiteY2" fmla="*/ 889173 h 1820948"/>
              <a:gd name="connsiteX3" fmla="*/ 7388611 w 10758961"/>
              <a:gd name="connsiteY3" fmla="*/ 927273 h 1820948"/>
              <a:gd name="connsiteX4" fmla="*/ 10233411 w 10758961"/>
              <a:gd name="connsiteY4" fmla="*/ 228773 h 1820948"/>
              <a:gd name="connsiteX5" fmla="*/ 10373111 w 10758961"/>
              <a:gd name="connsiteY5" fmla="*/ 1765473 h 1820948"/>
              <a:gd name="connsiteX6" fmla="*/ 7528311 w 10758961"/>
              <a:gd name="connsiteY6" fmla="*/ 1486073 h 1820948"/>
              <a:gd name="connsiteX7" fmla="*/ 2511811 w 10758961"/>
              <a:gd name="connsiteY7" fmla="*/ 1524173 h 1820948"/>
              <a:gd name="connsiteX8" fmla="*/ 263911 w 10758961"/>
              <a:gd name="connsiteY8" fmla="*/ 1651173 h 1820948"/>
              <a:gd name="connsiteX0" fmla="*/ 218007 w 10840057"/>
              <a:gd name="connsiteY0" fmla="*/ 1638095 h 1820570"/>
              <a:gd name="connsiteX1" fmla="*/ 370407 w 10840057"/>
              <a:gd name="connsiteY1" fmla="*/ 12495 h 1820570"/>
              <a:gd name="connsiteX2" fmla="*/ 2542107 w 10840057"/>
              <a:gd name="connsiteY2" fmla="*/ 888795 h 1820570"/>
              <a:gd name="connsiteX3" fmla="*/ 7469707 w 10840057"/>
              <a:gd name="connsiteY3" fmla="*/ 926895 h 1820570"/>
              <a:gd name="connsiteX4" fmla="*/ 10314507 w 10840057"/>
              <a:gd name="connsiteY4" fmla="*/ 228395 h 1820570"/>
              <a:gd name="connsiteX5" fmla="*/ 10454207 w 10840057"/>
              <a:gd name="connsiteY5" fmla="*/ 1765095 h 1820570"/>
              <a:gd name="connsiteX6" fmla="*/ 7609407 w 10840057"/>
              <a:gd name="connsiteY6" fmla="*/ 1485695 h 1820570"/>
              <a:gd name="connsiteX7" fmla="*/ 2592907 w 10840057"/>
              <a:gd name="connsiteY7" fmla="*/ 1523795 h 1820570"/>
              <a:gd name="connsiteX8" fmla="*/ 218007 w 10840057"/>
              <a:gd name="connsiteY8" fmla="*/ 1638095 h 1820570"/>
              <a:gd name="connsiteX0" fmla="*/ 259853 w 10881903"/>
              <a:gd name="connsiteY0" fmla="*/ 1472763 h 1655238"/>
              <a:gd name="connsiteX1" fmla="*/ 323353 w 10881903"/>
              <a:gd name="connsiteY1" fmla="*/ 50363 h 1655238"/>
              <a:gd name="connsiteX2" fmla="*/ 2583953 w 10881903"/>
              <a:gd name="connsiteY2" fmla="*/ 723463 h 1655238"/>
              <a:gd name="connsiteX3" fmla="*/ 7511553 w 10881903"/>
              <a:gd name="connsiteY3" fmla="*/ 761563 h 1655238"/>
              <a:gd name="connsiteX4" fmla="*/ 10356353 w 10881903"/>
              <a:gd name="connsiteY4" fmla="*/ 63063 h 1655238"/>
              <a:gd name="connsiteX5" fmla="*/ 10496053 w 10881903"/>
              <a:gd name="connsiteY5" fmla="*/ 1599763 h 1655238"/>
              <a:gd name="connsiteX6" fmla="*/ 7651253 w 10881903"/>
              <a:gd name="connsiteY6" fmla="*/ 1320363 h 1655238"/>
              <a:gd name="connsiteX7" fmla="*/ 2634753 w 10881903"/>
              <a:gd name="connsiteY7" fmla="*/ 1358463 h 1655238"/>
              <a:gd name="connsiteX8" fmla="*/ 259853 w 10881903"/>
              <a:gd name="connsiteY8" fmla="*/ 1472763 h 1655238"/>
              <a:gd name="connsiteX0" fmla="*/ 212548 w 10834598"/>
              <a:gd name="connsiteY0" fmla="*/ 1562803 h 1745278"/>
              <a:gd name="connsiteX1" fmla="*/ 377648 w 10834598"/>
              <a:gd name="connsiteY1" fmla="*/ 13403 h 1745278"/>
              <a:gd name="connsiteX2" fmla="*/ 2536648 w 10834598"/>
              <a:gd name="connsiteY2" fmla="*/ 813503 h 1745278"/>
              <a:gd name="connsiteX3" fmla="*/ 7464248 w 10834598"/>
              <a:gd name="connsiteY3" fmla="*/ 851603 h 1745278"/>
              <a:gd name="connsiteX4" fmla="*/ 10309048 w 10834598"/>
              <a:gd name="connsiteY4" fmla="*/ 153103 h 1745278"/>
              <a:gd name="connsiteX5" fmla="*/ 10448748 w 10834598"/>
              <a:gd name="connsiteY5" fmla="*/ 1689803 h 1745278"/>
              <a:gd name="connsiteX6" fmla="*/ 7603948 w 10834598"/>
              <a:gd name="connsiteY6" fmla="*/ 1410403 h 1745278"/>
              <a:gd name="connsiteX7" fmla="*/ 2587448 w 10834598"/>
              <a:gd name="connsiteY7" fmla="*/ 1448503 h 1745278"/>
              <a:gd name="connsiteX8" fmla="*/ 212548 w 10834598"/>
              <a:gd name="connsiteY8" fmla="*/ 1562803 h 1745278"/>
              <a:gd name="connsiteX0" fmla="*/ 212548 w 10834598"/>
              <a:gd name="connsiteY0" fmla="*/ 1589011 h 1746086"/>
              <a:gd name="connsiteX1" fmla="*/ 377648 w 10834598"/>
              <a:gd name="connsiteY1" fmla="*/ 14211 h 1746086"/>
              <a:gd name="connsiteX2" fmla="*/ 2536648 w 10834598"/>
              <a:gd name="connsiteY2" fmla="*/ 814311 h 1746086"/>
              <a:gd name="connsiteX3" fmla="*/ 7464248 w 10834598"/>
              <a:gd name="connsiteY3" fmla="*/ 852411 h 1746086"/>
              <a:gd name="connsiteX4" fmla="*/ 10309048 w 10834598"/>
              <a:gd name="connsiteY4" fmla="*/ 153911 h 1746086"/>
              <a:gd name="connsiteX5" fmla="*/ 10448748 w 10834598"/>
              <a:gd name="connsiteY5" fmla="*/ 1690611 h 1746086"/>
              <a:gd name="connsiteX6" fmla="*/ 7603948 w 10834598"/>
              <a:gd name="connsiteY6" fmla="*/ 1411211 h 1746086"/>
              <a:gd name="connsiteX7" fmla="*/ 2587448 w 10834598"/>
              <a:gd name="connsiteY7" fmla="*/ 1449311 h 1746086"/>
              <a:gd name="connsiteX8" fmla="*/ 212548 w 10834598"/>
              <a:gd name="connsiteY8" fmla="*/ 1589011 h 1746086"/>
              <a:gd name="connsiteX0" fmla="*/ 340113 w 10962163"/>
              <a:gd name="connsiteY0" fmla="*/ 1589011 h 1746086"/>
              <a:gd name="connsiteX1" fmla="*/ 505213 w 10962163"/>
              <a:gd name="connsiteY1" fmla="*/ 14211 h 1746086"/>
              <a:gd name="connsiteX2" fmla="*/ 2664213 w 10962163"/>
              <a:gd name="connsiteY2" fmla="*/ 814311 h 1746086"/>
              <a:gd name="connsiteX3" fmla="*/ 7591813 w 10962163"/>
              <a:gd name="connsiteY3" fmla="*/ 852411 h 1746086"/>
              <a:gd name="connsiteX4" fmla="*/ 10436613 w 10962163"/>
              <a:gd name="connsiteY4" fmla="*/ 153911 h 1746086"/>
              <a:gd name="connsiteX5" fmla="*/ 10576313 w 10962163"/>
              <a:gd name="connsiteY5" fmla="*/ 1690611 h 1746086"/>
              <a:gd name="connsiteX6" fmla="*/ 7731513 w 10962163"/>
              <a:gd name="connsiteY6" fmla="*/ 1411211 h 1746086"/>
              <a:gd name="connsiteX7" fmla="*/ 2715013 w 10962163"/>
              <a:gd name="connsiteY7" fmla="*/ 1449311 h 1746086"/>
              <a:gd name="connsiteX8" fmla="*/ 340113 w 10962163"/>
              <a:gd name="connsiteY8" fmla="*/ 1589011 h 1746086"/>
              <a:gd name="connsiteX0" fmla="*/ 465257 w 11087307"/>
              <a:gd name="connsiteY0" fmla="*/ 1606130 h 1763205"/>
              <a:gd name="connsiteX1" fmla="*/ 630357 w 11087307"/>
              <a:gd name="connsiteY1" fmla="*/ 31330 h 1763205"/>
              <a:gd name="connsiteX2" fmla="*/ 2789357 w 11087307"/>
              <a:gd name="connsiteY2" fmla="*/ 831430 h 1763205"/>
              <a:gd name="connsiteX3" fmla="*/ 7716957 w 11087307"/>
              <a:gd name="connsiteY3" fmla="*/ 869530 h 1763205"/>
              <a:gd name="connsiteX4" fmla="*/ 10561757 w 11087307"/>
              <a:gd name="connsiteY4" fmla="*/ 171030 h 1763205"/>
              <a:gd name="connsiteX5" fmla="*/ 10701457 w 11087307"/>
              <a:gd name="connsiteY5" fmla="*/ 1707730 h 1763205"/>
              <a:gd name="connsiteX6" fmla="*/ 7856657 w 11087307"/>
              <a:gd name="connsiteY6" fmla="*/ 1428330 h 1763205"/>
              <a:gd name="connsiteX7" fmla="*/ 2840157 w 11087307"/>
              <a:gd name="connsiteY7" fmla="*/ 1466430 h 1763205"/>
              <a:gd name="connsiteX8" fmla="*/ 465257 w 11087307"/>
              <a:gd name="connsiteY8" fmla="*/ 1606130 h 1763205"/>
              <a:gd name="connsiteX0" fmla="*/ 303590 w 10925640"/>
              <a:gd name="connsiteY0" fmla="*/ 1532036 h 1689111"/>
              <a:gd name="connsiteX1" fmla="*/ 557590 w 10925640"/>
              <a:gd name="connsiteY1" fmla="*/ 33436 h 1689111"/>
              <a:gd name="connsiteX2" fmla="*/ 2627690 w 10925640"/>
              <a:gd name="connsiteY2" fmla="*/ 757336 h 1689111"/>
              <a:gd name="connsiteX3" fmla="*/ 7555290 w 10925640"/>
              <a:gd name="connsiteY3" fmla="*/ 795436 h 1689111"/>
              <a:gd name="connsiteX4" fmla="*/ 10400090 w 10925640"/>
              <a:gd name="connsiteY4" fmla="*/ 96936 h 1689111"/>
              <a:gd name="connsiteX5" fmla="*/ 10539790 w 10925640"/>
              <a:gd name="connsiteY5" fmla="*/ 1633636 h 1689111"/>
              <a:gd name="connsiteX6" fmla="*/ 7694990 w 10925640"/>
              <a:gd name="connsiteY6" fmla="*/ 1354236 h 1689111"/>
              <a:gd name="connsiteX7" fmla="*/ 2678490 w 10925640"/>
              <a:gd name="connsiteY7" fmla="*/ 1392336 h 1689111"/>
              <a:gd name="connsiteX8" fmla="*/ 303590 w 10925640"/>
              <a:gd name="connsiteY8" fmla="*/ 1532036 h 1689111"/>
              <a:gd name="connsiteX0" fmla="*/ 331792 w 10953842"/>
              <a:gd name="connsiteY0" fmla="*/ 1546285 h 1703360"/>
              <a:gd name="connsiteX1" fmla="*/ 585792 w 10953842"/>
              <a:gd name="connsiteY1" fmla="*/ 47685 h 1703360"/>
              <a:gd name="connsiteX2" fmla="*/ 2655892 w 10953842"/>
              <a:gd name="connsiteY2" fmla="*/ 771585 h 1703360"/>
              <a:gd name="connsiteX3" fmla="*/ 7583492 w 10953842"/>
              <a:gd name="connsiteY3" fmla="*/ 809685 h 1703360"/>
              <a:gd name="connsiteX4" fmla="*/ 10428292 w 10953842"/>
              <a:gd name="connsiteY4" fmla="*/ 111185 h 1703360"/>
              <a:gd name="connsiteX5" fmla="*/ 10567992 w 10953842"/>
              <a:gd name="connsiteY5" fmla="*/ 1647885 h 1703360"/>
              <a:gd name="connsiteX6" fmla="*/ 7723192 w 10953842"/>
              <a:gd name="connsiteY6" fmla="*/ 1368485 h 1703360"/>
              <a:gd name="connsiteX7" fmla="*/ 2706692 w 10953842"/>
              <a:gd name="connsiteY7" fmla="*/ 1406585 h 1703360"/>
              <a:gd name="connsiteX8" fmla="*/ 331792 w 10953842"/>
              <a:gd name="connsiteY8" fmla="*/ 1546285 h 1703360"/>
              <a:gd name="connsiteX0" fmla="*/ 385368 w 11007418"/>
              <a:gd name="connsiteY0" fmla="*/ 1546285 h 1703360"/>
              <a:gd name="connsiteX1" fmla="*/ 639368 w 11007418"/>
              <a:gd name="connsiteY1" fmla="*/ 47685 h 1703360"/>
              <a:gd name="connsiteX2" fmla="*/ 2709468 w 11007418"/>
              <a:gd name="connsiteY2" fmla="*/ 771585 h 1703360"/>
              <a:gd name="connsiteX3" fmla="*/ 7637068 w 11007418"/>
              <a:gd name="connsiteY3" fmla="*/ 809685 h 1703360"/>
              <a:gd name="connsiteX4" fmla="*/ 10481868 w 11007418"/>
              <a:gd name="connsiteY4" fmla="*/ 111185 h 1703360"/>
              <a:gd name="connsiteX5" fmla="*/ 10621568 w 11007418"/>
              <a:gd name="connsiteY5" fmla="*/ 1647885 h 1703360"/>
              <a:gd name="connsiteX6" fmla="*/ 7776768 w 11007418"/>
              <a:gd name="connsiteY6" fmla="*/ 1368485 h 1703360"/>
              <a:gd name="connsiteX7" fmla="*/ 2760268 w 11007418"/>
              <a:gd name="connsiteY7" fmla="*/ 1406585 h 1703360"/>
              <a:gd name="connsiteX8" fmla="*/ 385368 w 11007418"/>
              <a:gd name="connsiteY8" fmla="*/ 1546285 h 1703360"/>
              <a:gd name="connsiteX0" fmla="*/ 399571 w 11021621"/>
              <a:gd name="connsiteY0" fmla="*/ 1521886 h 1678961"/>
              <a:gd name="connsiteX1" fmla="*/ 539271 w 11021621"/>
              <a:gd name="connsiteY1" fmla="*/ 48686 h 1678961"/>
              <a:gd name="connsiteX2" fmla="*/ 2723671 w 11021621"/>
              <a:gd name="connsiteY2" fmla="*/ 747186 h 1678961"/>
              <a:gd name="connsiteX3" fmla="*/ 7651271 w 11021621"/>
              <a:gd name="connsiteY3" fmla="*/ 785286 h 1678961"/>
              <a:gd name="connsiteX4" fmla="*/ 10496071 w 11021621"/>
              <a:gd name="connsiteY4" fmla="*/ 86786 h 1678961"/>
              <a:gd name="connsiteX5" fmla="*/ 10635771 w 11021621"/>
              <a:gd name="connsiteY5" fmla="*/ 1623486 h 1678961"/>
              <a:gd name="connsiteX6" fmla="*/ 7790971 w 11021621"/>
              <a:gd name="connsiteY6" fmla="*/ 1344086 h 1678961"/>
              <a:gd name="connsiteX7" fmla="*/ 2774471 w 11021621"/>
              <a:gd name="connsiteY7" fmla="*/ 1382186 h 1678961"/>
              <a:gd name="connsiteX8" fmla="*/ 399571 w 11021621"/>
              <a:gd name="connsiteY8" fmla="*/ 1521886 h 1678961"/>
              <a:gd name="connsiteX0" fmla="*/ 376285 w 10998335"/>
              <a:gd name="connsiteY0" fmla="*/ 1498163 h 1655238"/>
              <a:gd name="connsiteX1" fmla="*/ 554085 w 10998335"/>
              <a:gd name="connsiteY1" fmla="*/ 101163 h 1655238"/>
              <a:gd name="connsiteX2" fmla="*/ 2700385 w 10998335"/>
              <a:gd name="connsiteY2" fmla="*/ 723463 h 1655238"/>
              <a:gd name="connsiteX3" fmla="*/ 7627985 w 10998335"/>
              <a:gd name="connsiteY3" fmla="*/ 761563 h 1655238"/>
              <a:gd name="connsiteX4" fmla="*/ 10472785 w 10998335"/>
              <a:gd name="connsiteY4" fmla="*/ 63063 h 1655238"/>
              <a:gd name="connsiteX5" fmla="*/ 10612485 w 10998335"/>
              <a:gd name="connsiteY5" fmla="*/ 1599763 h 1655238"/>
              <a:gd name="connsiteX6" fmla="*/ 7767685 w 10998335"/>
              <a:gd name="connsiteY6" fmla="*/ 1320363 h 1655238"/>
              <a:gd name="connsiteX7" fmla="*/ 2751185 w 10998335"/>
              <a:gd name="connsiteY7" fmla="*/ 1358463 h 1655238"/>
              <a:gd name="connsiteX8" fmla="*/ 376285 w 10998335"/>
              <a:gd name="connsiteY8" fmla="*/ 1498163 h 1655238"/>
              <a:gd name="connsiteX0" fmla="*/ 376285 w 11066947"/>
              <a:gd name="connsiteY0" fmla="*/ 1448953 h 1597497"/>
              <a:gd name="connsiteX1" fmla="*/ 554085 w 11066947"/>
              <a:gd name="connsiteY1" fmla="*/ 51953 h 1597497"/>
              <a:gd name="connsiteX2" fmla="*/ 2700385 w 11066947"/>
              <a:gd name="connsiteY2" fmla="*/ 674253 h 1597497"/>
              <a:gd name="connsiteX3" fmla="*/ 7627985 w 11066947"/>
              <a:gd name="connsiteY3" fmla="*/ 712353 h 1597497"/>
              <a:gd name="connsiteX4" fmla="*/ 10587085 w 11066947"/>
              <a:gd name="connsiteY4" fmla="*/ 153553 h 1597497"/>
              <a:gd name="connsiteX5" fmla="*/ 10612485 w 11066947"/>
              <a:gd name="connsiteY5" fmla="*/ 1550553 h 1597497"/>
              <a:gd name="connsiteX6" fmla="*/ 7767685 w 11066947"/>
              <a:gd name="connsiteY6" fmla="*/ 1271153 h 1597497"/>
              <a:gd name="connsiteX7" fmla="*/ 2751185 w 11066947"/>
              <a:gd name="connsiteY7" fmla="*/ 1309253 h 1597497"/>
              <a:gd name="connsiteX8" fmla="*/ 376285 w 11066947"/>
              <a:gd name="connsiteY8" fmla="*/ 1448953 h 1597497"/>
              <a:gd name="connsiteX0" fmla="*/ 376285 w 11026090"/>
              <a:gd name="connsiteY0" fmla="*/ 1448953 h 1597497"/>
              <a:gd name="connsiteX1" fmla="*/ 554085 w 11026090"/>
              <a:gd name="connsiteY1" fmla="*/ 51953 h 1597497"/>
              <a:gd name="connsiteX2" fmla="*/ 2700385 w 11026090"/>
              <a:gd name="connsiteY2" fmla="*/ 674253 h 1597497"/>
              <a:gd name="connsiteX3" fmla="*/ 7627985 w 11026090"/>
              <a:gd name="connsiteY3" fmla="*/ 712353 h 1597497"/>
              <a:gd name="connsiteX4" fmla="*/ 10587085 w 11026090"/>
              <a:gd name="connsiteY4" fmla="*/ 153553 h 1597497"/>
              <a:gd name="connsiteX5" fmla="*/ 10612485 w 11026090"/>
              <a:gd name="connsiteY5" fmla="*/ 1550553 h 1597497"/>
              <a:gd name="connsiteX6" fmla="*/ 7767685 w 11026090"/>
              <a:gd name="connsiteY6" fmla="*/ 1271153 h 1597497"/>
              <a:gd name="connsiteX7" fmla="*/ 2751185 w 11026090"/>
              <a:gd name="connsiteY7" fmla="*/ 1309253 h 1597497"/>
              <a:gd name="connsiteX8" fmla="*/ 376285 w 11026090"/>
              <a:gd name="connsiteY8" fmla="*/ 1448953 h 1597497"/>
              <a:gd name="connsiteX0" fmla="*/ 376285 w 10974472"/>
              <a:gd name="connsiteY0" fmla="*/ 1448953 h 1597497"/>
              <a:gd name="connsiteX1" fmla="*/ 554085 w 10974472"/>
              <a:gd name="connsiteY1" fmla="*/ 51953 h 1597497"/>
              <a:gd name="connsiteX2" fmla="*/ 2700385 w 10974472"/>
              <a:gd name="connsiteY2" fmla="*/ 674253 h 1597497"/>
              <a:gd name="connsiteX3" fmla="*/ 7627985 w 10974472"/>
              <a:gd name="connsiteY3" fmla="*/ 712353 h 1597497"/>
              <a:gd name="connsiteX4" fmla="*/ 10498185 w 10974472"/>
              <a:gd name="connsiteY4" fmla="*/ 153553 h 1597497"/>
              <a:gd name="connsiteX5" fmla="*/ 10612485 w 10974472"/>
              <a:gd name="connsiteY5" fmla="*/ 1550553 h 1597497"/>
              <a:gd name="connsiteX6" fmla="*/ 7767685 w 10974472"/>
              <a:gd name="connsiteY6" fmla="*/ 1271153 h 1597497"/>
              <a:gd name="connsiteX7" fmla="*/ 2751185 w 10974472"/>
              <a:gd name="connsiteY7" fmla="*/ 1309253 h 1597497"/>
              <a:gd name="connsiteX8" fmla="*/ 376285 w 10974472"/>
              <a:gd name="connsiteY8" fmla="*/ 1448953 h 1597497"/>
              <a:gd name="connsiteX0" fmla="*/ 415459 w 11013646"/>
              <a:gd name="connsiteY0" fmla="*/ 1461077 h 1609621"/>
              <a:gd name="connsiteX1" fmla="*/ 529759 w 11013646"/>
              <a:gd name="connsiteY1" fmla="*/ 51377 h 1609621"/>
              <a:gd name="connsiteX2" fmla="*/ 2739559 w 11013646"/>
              <a:gd name="connsiteY2" fmla="*/ 686377 h 1609621"/>
              <a:gd name="connsiteX3" fmla="*/ 7667159 w 11013646"/>
              <a:gd name="connsiteY3" fmla="*/ 724477 h 1609621"/>
              <a:gd name="connsiteX4" fmla="*/ 10537359 w 11013646"/>
              <a:gd name="connsiteY4" fmla="*/ 165677 h 1609621"/>
              <a:gd name="connsiteX5" fmla="*/ 10651659 w 11013646"/>
              <a:gd name="connsiteY5" fmla="*/ 1562677 h 1609621"/>
              <a:gd name="connsiteX6" fmla="*/ 7806859 w 11013646"/>
              <a:gd name="connsiteY6" fmla="*/ 1283277 h 1609621"/>
              <a:gd name="connsiteX7" fmla="*/ 2790359 w 11013646"/>
              <a:gd name="connsiteY7" fmla="*/ 1321377 h 1609621"/>
              <a:gd name="connsiteX8" fmla="*/ 415459 w 11013646"/>
              <a:gd name="connsiteY8" fmla="*/ 1461077 h 1609621"/>
              <a:gd name="connsiteX0" fmla="*/ 432648 w 11030835"/>
              <a:gd name="connsiteY0" fmla="*/ 1461077 h 1609621"/>
              <a:gd name="connsiteX1" fmla="*/ 546948 w 11030835"/>
              <a:gd name="connsiteY1" fmla="*/ 51377 h 1609621"/>
              <a:gd name="connsiteX2" fmla="*/ 2756748 w 11030835"/>
              <a:gd name="connsiteY2" fmla="*/ 686377 h 1609621"/>
              <a:gd name="connsiteX3" fmla="*/ 7684348 w 11030835"/>
              <a:gd name="connsiteY3" fmla="*/ 724477 h 1609621"/>
              <a:gd name="connsiteX4" fmla="*/ 10554548 w 11030835"/>
              <a:gd name="connsiteY4" fmla="*/ 165677 h 1609621"/>
              <a:gd name="connsiteX5" fmla="*/ 10668848 w 11030835"/>
              <a:gd name="connsiteY5" fmla="*/ 1562677 h 1609621"/>
              <a:gd name="connsiteX6" fmla="*/ 7824048 w 11030835"/>
              <a:gd name="connsiteY6" fmla="*/ 1283277 h 1609621"/>
              <a:gd name="connsiteX7" fmla="*/ 2807548 w 11030835"/>
              <a:gd name="connsiteY7" fmla="*/ 1321377 h 1609621"/>
              <a:gd name="connsiteX8" fmla="*/ 432648 w 11030835"/>
              <a:gd name="connsiteY8" fmla="*/ 1461077 h 1609621"/>
              <a:gd name="connsiteX0" fmla="*/ 432648 w 10968754"/>
              <a:gd name="connsiteY0" fmla="*/ 1460445 h 1608989"/>
              <a:gd name="connsiteX1" fmla="*/ 546948 w 10968754"/>
              <a:gd name="connsiteY1" fmla="*/ 50745 h 1608989"/>
              <a:gd name="connsiteX2" fmla="*/ 2756748 w 10968754"/>
              <a:gd name="connsiteY2" fmla="*/ 685745 h 1608989"/>
              <a:gd name="connsiteX3" fmla="*/ 7747848 w 10968754"/>
              <a:gd name="connsiteY3" fmla="*/ 647645 h 1608989"/>
              <a:gd name="connsiteX4" fmla="*/ 10554548 w 10968754"/>
              <a:gd name="connsiteY4" fmla="*/ 165045 h 1608989"/>
              <a:gd name="connsiteX5" fmla="*/ 10668848 w 10968754"/>
              <a:gd name="connsiteY5" fmla="*/ 1562045 h 1608989"/>
              <a:gd name="connsiteX6" fmla="*/ 7824048 w 10968754"/>
              <a:gd name="connsiteY6" fmla="*/ 1282645 h 1608989"/>
              <a:gd name="connsiteX7" fmla="*/ 2807548 w 10968754"/>
              <a:gd name="connsiteY7" fmla="*/ 1320745 h 1608989"/>
              <a:gd name="connsiteX8" fmla="*/ 432648 w 10968754"/>
              <a:gd name="connsiteY8" fmla="*/ 1460445 h 1608989"/>
              <a:gd name="connsiteX0" fmla="*/ 255274 w 10791380"/>
              <a:gd name="connsiteY0" fmla="*/ 1428623 h 1577167"/>
              <a:gd name="connsiteX1" fmla="*/ 369574 w 10791380"/>
              <a:gd name="connsiteY1" fmla="*/ 18923 h 1577167"/>
              <a:gd name="connsiteX2" fmla="*/ 2553974 w 10791380"/>
              <a:gd name="connsiteY2" fmla="*/ 615823 h 1577167"/>
              <a:gd name="connsiteX3" fmla="*/ 7570474 w 10791380"/>
              <a:gd name="connsiteY3" fmla="*/ 615823 h 1577167"/>
              <a:gd name="connsiteX4" fmla="*/ 10377174 w 10791380"/>
              <a:gd name="connsiteY4" fmla="*/ 133223 h 1577167"/>
              <a:gd name="connsiteX5" fmla="*/ 10491474 w 10791380"/>
              <a:gd name="connsiteY5" fmla="*/ 1530223 h 1577167"/>
              <a:gd name="connsiteX6" fmla="*/ 7646674 w 10791380"/>
              <a:gd name="connsiteY6" fmla="*/ 1250823 h 1577167"/>
              <a:gd name="connsiteX7" fmla="*/ 2630174 w 10791380"/>
              <a:gd name="connsiteY7" fmla="*/ 1288923 h 1577167"/>
              <a:gd name="connsiteX8" fmla="*/ 255274 w 10791380"/>
              <a:gd name="connsiteY8" fmla="*/ 1428623 h 1577167"/>
              <a:gd name="connsiteX0" fmla="*/ 314394 w 10850500"/>
              <a:gd name="connsiteY0" fmla="*/ 1441689 h 1590233"/>
              <a:gd name="connsiteX1" fmla="*/ 428694 w 10850500"/>
              <a:gd name="connsiteY1" fmla="*/ 31989 h 1590233"/>
              <a:gd name="connsiteX2" fmla="*/ 2613094 w 10850500"/>
              <a:gd name="connsiteY2" fmla="*/ 628889 h 1590233"/>
              <a:gd name="connsiteX3" fmla="*/ 7629594 w 10850500"/>
              <a:gd name="connsiteY3" fmla="*/ 628889 h 1590233"/>
              <a:gd name="connsiteX4" fmla="*/ 10436294 w 10850500"/>
              <a:gd name="connsiteY4" fmla="*/ 146289 h 1590233"/>
              <a:gd name="connsiteX5" fmla="*/ 10550594 w 10850500"/>
              <a:gd name="connsiteY5" fmla="*/ 1543289 h 1590233"/>
              <a:gd name="connsiteX6" fmla="*/ 7705794 w 10850500"/>
              <a:gd name="connsiteY6" fmla="*/ 1263889 h 1590233"/>
              <a:gd name="connsiteX7" fmla="*/ 2689294 w 10850500"/>
              <a:gd name="connsiteY7" fmla="*/ 1301989 h 1590233"/>
              <a:gd name="connsiteX8" fmla="*/ 314394 w 10850500"/>
              <a:gd name="connsiteY8" fmla="*/ 1441689 h 1590233"/>
              <a:gd name="connsiteX0" fmla="*/ 351634 w 10887740"/>
              <a:gd name="connsiteY0" fmla="*/ 1445260 h 1593804"/>
              <a:gd name="connsiteX1" fmla="*/ 465934 w 10887740"/>
              <a:gd name="connsiteY1" fmla="*/ 35560 h 1593804"/>
              <a:gd name="connsiteX2" fmla="*/ 2650334 w 10887740"/>
              <a:gd name="connsiteY2" fmla="*/ 632460 h 1593804"/>
              <a:gd name="connsiteX3" fmla="*/ 7666834 w 10887740"/>
              <a:gd name="connsiteY3" fmla="*/ 632460 h 1593804"/>
              <a:gd name="connsiteX4" fmla="*/ 10473534 w 10887740"/>
              <a:gd name="connsiteY4" fmla="*/ 149860 h 1593804"/>
              <a:gd name="connsiteX5" fmla="*/ 10587834 w 10887740"/>
              <a:gd name="connsiteY5" fmla="*/ 1546860 h 1593804"/>
              <a:gd name="connsiteX6" fmla="*/ 7743034 w 10887740"/>
              <a:gd name="connsiteY6" fmla="*/ 1267460 h 1593804"/>
              <a:gd name="connsiteX7" fmla="*/ 2726534 w 10887740"/>
              <a:gd name="connsiteY7" fmla="*/ 1305560 h 1593804"/>
              <a:gd name="connsiteX8" fmla="*/ 351634 w 10887740"/>
              <a:gd name="connsiteY8" fmla="*/ 1445260 h 1593804"/>
              <a:gd name="connsiteX0" fmla="*/ 351634 w 10908676"/>
              <a:gd name="connsiteY0" fmla="*/ 1445260 h 1603123"/>
              <a:gd name="connsiteX1" fmla="*/ 465934 w 10908676"/>
              <a:gd name="connsiteY1" fmla="*/ 35560 h 1603123"/>
              <a:gd name="connsiteX2" fmla="*/ 2650334 w 10908676"/>
              <a:gd name="connsiteY2" fmla="*/ 632460 h 1603123"/>
              <a:gd name="connsiteX3" fmla="*/ 7666834 w 10908676"/>
              <a:gd name="connsiteY3" fmla="*/ 632460 h 1603123"/>
              <a:gd name="connsiteX4" fmla="*/ 10473534 w 10908676"/>
              <a:gd name="connsiteY4" fmla="*/ 149860 h 1603123"/>
              <a:gd name="connsiteX5" fmla="*/ 10587834 w 10908676"/>
              <a:gd name="connsiteY5" fmla="*/ 1546860 h 1603123"/>
              <a:gd name="connsiteX6" fmla="*/ 7743034 w 10908676"/>
              <a:gd name="connsiteY6" fmla="*/ 1267460 h 1603123"/>
              <a:gd name="connsiteX7" fmla="*/ 2726534 w 10908676"/>
              <a:gd name="connsiteY7" fmla="*/ 1305560 h 1603123"/>
              <a:gd name="connsiteX8" fmla="*/ 351634 w 10908676"/>
              <a:gd name="connsiteY8" fmla="*/ 1445260 h 1603123"/>
              <a:gd name="connsiteX0" fmla="*/ 351634 w 10876639"/>
              <a:gd name="connsiteY0" fmla="*/ 1445260 h 1495933"/>
              <a:gd name="connsiteX1" fmla="*/ 465934 w 10876639"/>
              <a:gd name="connsiteY1" fmla="*/ 35560 h 1495933"/>
              <a:gd name="connsiteX2" fmla="*/ 2650334 w 10876639"/>
              <a:gd name="connsiteY2" fmla="*/ 632460 h 1495933"/>
              <a:gd name="connsiteX3" fmla="*/ 7666834 w 10876639"/>
              <a:gd name="connsiteY3" fmla="*/ 632460 h 1495933"/>
              <a:gd name="connsiteX4" fmla="*/ 10473534 w 10876639"/>
              <a:gd name="connsiteY4" fmla="*/ 149860 h 1495933"/>
              <a:gd name="connsiteX5" fmla="*/ 10537034 w 10876639"/>
              <a:gd name="connsiteY5" fmla="*/ 1381760 h 1495933"/>
              <a:gd name="connsiteX6" fmla="*/ 7743034 w 10876639"/>
              <a:gd name="connsiteY6" fmla="*/ 1267460 h 1495933"/>
              <a:gd name="connsiteX7" fmla="*/ 2726534 w 10876639"/>
              <a:gd name="connsiteY7" fmla="*/ 1305560 h 1495933"/>
              <a:gd name="connsiteX8" fmla="*/ 351634 w 10876639"/>
              <a:gd name="connsiteY8" fmla="*/ 1445260 h 1495933"/>
              <a:gd name="connsiteX0" fmla="*/ 351634 w 10922066"/>
              <a:gd name="connsiteY0" fmla="*/ 1445260 h 1495933"/>
              <a:gd name="connsiteX1" fmla="*/ 465934 w 10922066"/>
              <a:gd name="connsiteY1" fmla="*/ 35560 h 1495933"/>
              <a:gd name="connsiteX2" fmla="*/ 2650334 w 10922066"/>
              <a:gd name="connsiteY2" fmla="*/ 632460 h 1495933"/>
              <a:gd name="connsiteX3" fmla="*/ 7666834 w 10922066"/>
              <a:gd name="connsiteY3" fmla="*/ 632460 h 1495933"/>
              <a:gd name="connsiteX4" fmla="*/ 10473534 w 10922066"/>
              <a:gd name="connsiteY4" fmla="*/ 149860 h 1495933"/>
              <a:gd name="connsiteX5" fmla="*/ 10537034 w 10922066"/>
              <a:gd name="connsiteY5" fmla="*/ 1381760 h 1495933"/>
              <a:gd name="connsiteX6" fmla="*/ 7743034 w 10922066"/>
              <a:gd name="connsiteY6" fmla="*/ 1267460 h 1495933"/>
              <a:gd name="connsiteX7" fmla="*/ 2726534 w 10922066"/>
              <a:gd name="connsiteY7" fmla="*/ 1305560 h 1495933"/>
              <a:gd name="connsiteX8" fmla="*/ 351634 w 10922066"/>
              <a:gd name="connsiteY8" fmla="*/ 1445260 h 1495933"/>
              <a:gd name="connsiteX0" fmla="*/ 351634 w 10941096"/>
              <a:gd name="connsiteY0" fmla="*/ 1445260 h 1495933"/>
              <a:gd name="connsiteX1" fmla="*/ 465934 w 10941096"/>
              <a:gd name="connsiteY1" fmla="*/ 35560 h 1495933"/>
              <a:gd name="connsiteX2" fmla="*/ 2650334 w 10941096"/>
              <a:gd name="connsiteY2" fmla="*/ 632460 h 1495933"/>
              <a:gd name="connsiteX3" fmla="*/ 7666834 w 10941096"/>
              <a:gd name="connsiteY3" fmla="*/ 632460 h 1495933"/>
              <a:gd name="connsiteX4" fmla="*/ 10473534 w 10941096"/>
              <a:gd name="connsiteY4" fmla="*/ 149860 h 1495933"/>
              <a:gd name="connsiteX5" fmla="*/ 10537034 w 10941096"/>
              <a:gd name="connsiteY5" fmla="*/ 1381760 h 1495933"/>
              <a:gd name="connsiteX6" fmla="*/ 7743034 w 10941096"/>
              <a:gd name="connsiteY6" fmla="*/ 1267460 h 1495933"/>
              <a:gd name="connsiteX7" fmla="*/ 2726534 w 10941096"/>
              <a:gd name="connsiteY7" fmla="*/ 1305560 h 1495933"/>
              <a:gd name="connsiteX8" fmla="*/ 351634 w 10941096"/>
              <a:gd name="connsiteY8" fmla="*/ 1445260 h 1495933"/>
              <a:gd name="connsiteX0" fmla="*/ 351634 w 10927078"/>
              <a:gd name="connsiteY0" fmla="*/ 1445260 h 1495933"/>
              <a:gd name="connsiteX1" fmla="*/ 465934 w 10927078"/>
              <a:gd name="connsiteY1" fmla="*/ 35560 h 1495933"/>
              <a:gd name="connsiteX2" fmla="*/ 2650334 w 10927078"/>
              <a:gd name="connsiteY2" fmla="*/ 632460 h 1495933"/>
              <a:gd name="connsiteX3" fmla="*/ 7666834 w 10927078"/>
              <a:gd name="connsiteY3" fmla="*/ 632460 h 1495933"/>
              <a:gd name="connsiteX4" fmla="*/ 10473534 w 10927078"/>
              <a:gd name="connsiteY4" fmla="*/ 149860 h 1495933"/>
              <a:gd name="connsiteX5" fmla="*/ 10537034 w 10927078"/>
              <a:gd name="connsiteY5" fmla="*/ 1381760 h 1495933"/>
              <a:gd name="connsiteX6" fmla="*/ 7743034 w 10927078"/>
              <a:gd name="connsiteY6" fmla="*/ 1267460 h 1495933"/>
              <a:gd name="connsiteX7" fmla="*/ 2726534 w 10927078"/>
              <a:gd name="connsiteY7" fmla="*/ 1305560 h 1495933"/>
              <a:gd name="connsiteX8" fmla="*/ 351634 w 10927078"/>
              <a:gd name="connsiteY8" fmla="*/ 1445260 h 1495933"/>
              <a:gd name="connsiteX0" fmla="*/ 424707 w 11000151"/>
              <a:gd name="connsiteY0" fmla="*/ 1420172 h 1470845"/>
              <a:gd name="connsiteX1" fmla="*/ 539007 w 11000151"/>
              <a:gd name="connsiteY1" fmla="*/ 10472 h 1470845"/>
              <a:gd name="connsiteX2" fmla="*/ 5525717 w 11000151"/>
              <a:gd name="connsiteY2" fmla="*/ 769297 h 1470845"/>
              <a:gd name="connsiteX3" fmla="*/ 7739907 w 11000151"/>
              <a:gd name="connsiteY3" fmla="*/ 607372 h 1470845"/>
              <a:gd name="connsiteX4" fmla="*/ 10546607 w 11000151"/>
              <a:gd name="connsiteY4" fmla="*/ 124772 h 1470845"/>
              <a:gd name="connsiteX5" fmla="*/ 10610107 w 11000151"/>
              <a:gd name="connsiteY5" fmla="*/ 1356672 h 1470845"/>
              <a:gd name="connsiteX6" fmla="*/ 7816107 w 11000151"/>
              <a:gd name="connsiteY6" fmla="*/ 1242372 h 1470845"/>
              <a:gd name="connsiteX7" fmla="*/ 2799607 w 11000151"/>
              <a:gd name="connsiteY7" fmla="*/ 1280472 h 1470845"/>
              <a:gd name="connsiteX8" fmla="*/ 424707 w 11000151"/>
              <a:gd name="connsiteY8" fmla="*/ 1420172 h 1470845"/>
              <a:gd name="connsiteX0" fmla="*/ 424707 w 11075992"/>
              <a:gd name="connsiteY0" fmla="*/ 1419280 h 1469953"/>
              <a:gd name="connsiteX1" fmla="*/ 539007 w 11075992"/>
              <a:gd name="connsiteY1" fmla="*/ 9580 h 1469953"/>
              <a:gd name="connsiteX2" fmla="*/ 5525717 w 11075992"/>
              <a:gd name="connsiteY2" fmla="*/ 768405 h 1469953"/>
              <a:gd name="connsiteX3" fmla="*/ 10546607 w 11075992"/>
              <a:gd name="connsiteY3" fmla="*/ 123880 h 1469953"/>
              <a:gd name="connsiteX4" fmla="*/ 10610107 w 11075992"/>
              <a:gd name="connsiteY4" fmla="*/ 1355780 h 1469953"/>
              <a:gd name="connsiteX5" fmla="*/ 7816107 w 11075992"/>
              <a:gd name="connsiteY5" fmla="*/ 1241480 h 1469953"/>
              <a:gd name="connsiteX6" fmla="*/ 2799607 w 11075992"/>
              <a:gd name="connsiteY6" fmla="*/ 1279580 h 1469953"/>
              <a:gd name="connsiteX7" fmla="*/ 424707 w 11075992"/>
              <a:gd name="connsiteY7" fmla="*/ 1419280 h 1469953"/>
              <a:gd name="connsiteX0" fmla="*/ 424707 w 11222394"/>
              <a:gd name="connsiteY0" fmla="*/ 1419280 h 1662143"/>
              <a:gd name="connsiteX1" fmla="*/ 539007 w 11222394"/>
              <a:gd name="connsiteY1" fmla="*/ 9580 h 1662143"/>
              <a:gd name="connsiteX2" fmla="*/ 5525717 w 11222394"/>
              <a:gd name="connsiteY2" fmla="*/ 768405 h 1662143"/>
              <a:gd name="connsiteX3" fmla="*/ 10546607 w 11222394"/>
              <a:gd name="connsiteY3" fmla="*/ 123880 h 1662143"/>
              <a:gd name="connsiteX4" fmla="*/ 10610107 w 11222394"/>
              <a:gd name="connsiteY4" fmla="*/ 1355780 h 1662143"/>
              <a:gd name="connsiteX5" fmla="*/ 5345152 w 11222394"/>
              <a:gd name="connsiteY5" fmla="*/ 1660580 h 1662143"/>
              <a:gd name="connsiteX6" fmla="*/ 2799607 w 11222394"/>
              <a:gd name="connsiteY6" fmla="*/ 1279580 h 1662143"/>
              <a:gd name="connsiteX7" fmla="*/ 424707 w 11222394"/>
              <a:gd name="connsiteY7" fmla="*/ 1419280 h 1662143"/>
              <a:gd name="connsiteX0" fmla="*/ 424707 w 11394194"/>
              <a:gd name="connsiteY0" fmla="*/ 1419280 h 1467776"/>
              <a:gd name="connsiteX1" fmla="*/ 539007 w 11394194"/>
              <a:gd name="connsiteY1" fmla="*/ 9580 h 1467776"/>
              <a:gd name="connsiteX2" fmla="*/ 5525717 w 11394194"/>
              <a:gd name="connsiteY2" fmla="*/ 768405 h 1467776"/>
              <a:gd name="connsiteX3" fmla="*/ 10546607 w 11394194"/>
              <a:gd name="connsiteY3" fmla="*/ 123880 h 1467776"/>
              <a:gd name="connsiteX4" fmla="*/ 10610107 w 11394194"/>
              <a:gd name="connsiteY4" fmla="*/ 1355780 h 1467776"/>
              <a:gd name="connsiteX5" fmla="*/ 2799607 w 11394194"/>
              <a:gd name="connsiteY5" fmla="*/ 1279580 h 1467776"/>
              <a:gd name="connsiteX6" fmla="*/ 424707 w 11394194"/>
              <a:gd name="connsiteY6" fmla="*/ 1419280 h 1467776"/>
              <a:gd name="connsiteX0" fmla="*/ 557740 w 11361520"/>
              <a:gd name="connsiteY0" fmla="*/ 1419280 h 1520801"/>
              <a:gd name="connsiteX1" fmla="*/ 672040 w 11361520"/>
              <a:gd name="connsiteY1" fmla="*/ 9580 h 1520801"/>
              <a:gd name="connsiteX2" fmla="*/ 5658750 w 11361520"/>
              <a:gd name="connsiteY2" fmla="*/ 768405 h 1520801"/>
              <a:gd name="connsiteX3" fmla="*/ 10679640 w 11361520"/>
              <a:gd name="connsiteY3" fmla="*/ 123880 h 1520801"/>
              <a:gd name="connsiteX4" fmla="*/ 10743140 w 11361520"/>
              <a:gd name="connsiteY4" fmla="*/ 1355780 h 1520801"/>
              <a:gd name="connsiteX5" fmla="*/ 5384660 w 11361520"/>
              <a:gd name="connsiteY5" fmla="*/ 1403405 h 1520801"/>
              <a:gd name="connsiteX6" fmla="*/ 557740 w 11361520"/>
              <a:gd name="connsiteY6" fmla="*/ 1419280 h 1520801"/>
              <a:gd name="connsiteX0" fmla="*/ 538028 w 11341809"/>
              <a:gd name="connsiteY0" fmla="*/ 1419280 h 1520801"/>
              <a:gd name="connsiteX1" fmla="*/ 690197 w 11341809"/>
              <a:gd name="connsiteY1" fmla="*/ 9580 h 1520801"/>
              <a:gd name="connsiteX2" fmla="*/ 5639038 w 11341809"/>
              <a:gd name="connsiteY2" fmla="*/ 768405 h 1520801"/>
              <a:gd name="connsiteX3" fmla="*/ 10659928 w 11341809"/>
              <a:gd name="connsiteY3" fmla="*/ 123880 h 1520801"/>
              <a:gd name="connsiteX4" fmla="*/ 10723428 w 11341809"/>
              <a:gd name="connsiteY4" fmla="*/ 1355780 h 1520801"/>
              <a:gd name="connsiteX5" fmla="*/ 5364948 w 11341809"/>
              <a:gd name="connsiteY5" fmla="*/ 1403405 h 1520801"/>
              <a:gd name="connsiteX6" fmla="*/ 538028 w 11341809"/>
              <a:gd name="connsiteY6" fmla="*/ 1419280 h 1520801"/>
              <a:gd name="connsiteX0" fmla="*/ 469114 w 11272895"/>
              <a:gd name="connsiteY0" fmla="*/ 1304400 h 1393226"/>
              <a:gd name="connsiteX1" fmla="*/ 763292 w 11272895"/>
              <a:gd name="connsiteY1" fmla="*/ 66150 h 1393226"/>
              <a:gd name="connsiteX2" fmla="*/ 5570124 w 11272895"/>
              <a:gd name="connsiteY2" fmla="*/ 653525 h 1393226"/>
              <a:gd name="connsiteX3" fmla="*/ 10591014 w 11272895"/>
              <a:gd name="connsiteY3" fmla="*/ 9000 h 1393226"/>
              <a:gd name="connsiteX4" fmla="*/ 10654514 w 11272895"/>
              <a:gd name="connsiteY4" fmla="*/ 1240900 h 1393226"/>
              <a:gd name="connsiteX5" fmla="*/ 5296034 w 11272895"/>
              <a:gd name="connsiteY5" fmla="*/ 1288525 h 1393226"/>
              <a:gd name="connsiteX6" fmla="*/ 469114 w 11272895"/>
              <a:gd name="connsiteY6" fmla="*/ 1304400 h 1393226"/>
              <a:gd name="connsiteX0" fmla="*/ 542996 w 11147965"/>
              <a:gd name="connsiteY0" fmla="*/ 1332975 h 1415221"/>
              <a:gd name="connsiteX1" fmla="*/ 638362 w 11147965"/>
              <a:gd name="connsiteY1" fmla="*/ 66150 h 1415221"/>
              <a:gd name="connsiteX2" fmla="*/ 5445194 w 11147965"/>
              <a:gd name="connsiteY2" fmla="*/ 653525 h 1415221"/>
              <a:gd name="connsiteX3" fmla="*/ 10466084 w 11147965"/>
              <a:gd name="connsiteY3" fmla="*/ 9000 h 1415221"/>
              <a:gd name="connsiteX4" fmla="*/ 10529584 w 11147965"/>
              <a:gd name="connsiteY4" fmla="*/ 1240900 h 1415221"/>
              <a:gd name="connsiteX5" fmla="*/ 5171104 w 11147965"/>
              <a:gd name="connsiteY5" fmla="*/ 1288525 h 1415221"/>
              <a:gd name="connsiteX6" fmla="*/ 542996 w 11147965"/>
              <a:gd name="connsiteY6" fmla="*/ 1332975 h 1415221"/>
              <a:gd name="connsiteX0" fmla="*/ 542996 w 11147965"/>
              <a:gd name="connsiteY0" fmla="*/ 1332871 h 1415117"/>
              <a:gd name="connsiteX1" fmla="*/ 638362 w 11147965"/>
              <a:gd name="connsiteY1" fmla="*/ 66046 h 1415117"/>
              <a:gd name="connsiteX2" fmla="*/ 5445194 w 11147965"/>
              <a:gd name="connsiteY2" fmla="*/ 653421 h 1415117"/>
              <a:gd name="connsiteX3" fmla="*/ 10466084 w 11147965"/>
              <a:gd name="connsiteY3" fmla="*/ 8896 h 1415117"/>
              <a:gd name="connsiteX4" fmla="*/ 10529584 w 11147965"/>
              <a:gd name="connsiteY4" fmla="*/ 1240796 h 1415117"/>
              <a:gd name="connsiteX5" fmla="*/ 5171104 w 11147965"/>
              <a:gd name="connsiteY5" fmla="*/ 1288421 h 1415117"/>
              <a:gd name="connsiteX6" fmla="*/ 542996 w 11147965"/>
              <a:gd name="connsiteY6" fmla="*/ 1332871 h 1415117"/>
              <a:gd name="connsiteX0" fmla="*/ 538475 w 11147957"/>
              <a:gd name="connsiteY0" fmla="*/ 1334012 h 1416258"/>
              <a:gd name="connsiteX1" fmla="*/ 633841 w 11147957"/>
              <a:gd name="connsiteY1" fmla="*/ 67187 h 1416258"/>
              <a:gd name="connsiteX2" fmla="*/ 5364935 w 11147957"/>
              <a:gd name="connsiteY2" fmla="*/ 625987 h 1416258"/>
              <a:gd name="connsiteX3" fmla="*/ 10461563 w 11147957"/>
              <a:gd name="connsiteY3" fmla="*/ 10037 h 1416258"/>
              <a:gd name="connsiteX4" fmla="*/ 10525063 w 11147957"/>
              <a:gd name="connsiteY4" fmla="*/ 1241937 h 1416258"/>
              <a:gd name="connsiteX5" fmla="*/ 5166583 w 11147957"/>
              <a:gd name="connsiteY5" fmla="*/ 1289562 h 1416258"/>
              <a:gd name="connsiteX6" fmla="*/ 538475 w 11147957"/>
              <a:gd name="connsiteY6" fmla="*/ 1334012 h 1416258"/>
              <a:gd name="connsiteX0" fmla="*/ 542428 w 11147960"/>
              <a:gd name="connsiteY0" fmla="*/ 1334832 h 1417078"/>
              <a:gd name="connsiteX1" fmla="*/ 637794 w 11147960"/>
              <a:gd name="connsiteY1" fmla="*/ 68007 h 1417078"/>
              <a:gd name="connsiteX2" fmla="*/ 5435159 w 11147960"/>
              <a:gd name="connsiteY2" fmla="*/ 607757 h 1417078"/>
              <a:gd name="connsiteX3" fmla="*/ 10465516 w 11147960"/>
              <a:gd name="connsiteY3" fmla="*/ 10857 h 1417078"/>
              <a:gd name="connsiteX4" fmla="*/ 10529016 w 11147960"/>
              <a:gd name="connsiteY4" fmla="*/ 1242757 h 1417078"/>
              <a:gd name="connsiteX5" fmla="*/ 5170536 w 11147960"/>
              <a:gd name="connsiteY5" fmla="*/ 1290382 h 1417078"/>
              <a:gd name="connsiteX6" fmla="*/ 542428 w 11147960"/>
              <a:gd name="connsiteY6" fmla="*/ 1334832 h 1417078"/>
              <a:gd name="connsiteX0" fmla="*/ 557885 w 11148043"/>
              <a:gd name="connsiteY0" fmla="*/ 1334832 h 1422762"/>
              <a:gd name="connsiteX1" fmla="*/ 653251 w 11148043"/>
              <a:gd name="connsiteY1" fmla="*/ 68007 h 1422762"/>
              <a:gd name="connsiteX2" fmla="*/ 5450616 w 11148043"/>
              <a:gd name="connsiteY2" fmla="*/ 607757 h 1422762"/>
              <a:gd name="connsiteX3" fmla="*/ 10480973 w 11148043"/>
              <a:gd name="connsiteY3" fmla="*/ 10857 h 1422762"/>
              <a:gd name="connsiteX4" fmla="*/ 10544473 w 11148043"/>
              <a:gd name="connsiteY4" fmla="*/ 1242757 h 1422762"/>
              <a:gd name="connsiteX5" fmla="*/ 5422675 w 11148043"/>
              <a:gd name="connsiteY5" fmla="*/ 1309432 h 1422762"/>
              <a:gd name="connsiteX6" fmla="*/ 557885 w 11148043"/>
              <a:gd name="connsiteY6" fmla="*/ 1334832 h 1422762"/>
              <a:gd name="connsiteX0" fmla="*/ 557885 w 11148043"/>
              <a:gd name="connsiteY0" fmla="*/ 1334832 h 1411811"/>
              <a:gd name="connsiteX1" fmla="*/ 653251 w 11148043"/>
              <a:gd name="connsiteY1" fmla="*/ 68007 h 1411811"/>
              <a:gd name="connsiteX2" fmla="*/ 5450616 w 11148043"/>
              <a:gd name="connsiteY2" fmla="*/ 607757 h 1411811"/>
              <a:gd name="connsiteX3" fmla="*/ 10480973 w 11148043"/>
              <a:gd name="connsiteY3" fmla="*/ 10857 h 1411811"/>
              <a:gd name="connsiteX4" fmla="*/ 10544473 w 11148043"/>
              <a:gd name="connsiteY4" fmla="*/ 1242757 h 1411811"/>
              <a:gd name="connsiteX5" fmla="*/ 5422676 w 11148043"/>
              <a:gd name="connsiteY5" fmla="*/ 1271332 h 1411811"/>
              <a:gd name="connsiteX6" fmla="*/ 557885 w 11148043"/>
              <a:gd name="connsiteY6" fmla="*/ 1334832 h 1411811"/>
              <a:gd name="connsiteX0" fmla="*/ 557885 w 10991984"/>
              <a:gd name="connsiteY0" fmla="*/ 1336009 h 1412988"/>
              <a:gd name="connsiteX1" fmla="*/ 653251 w 10991984"/>
              <a:gd name="connsiteY1" fmla="*/ 69184 h 1412988"/>
              <a:gd name="connsiteX2" fmla="*/ 5450616 w 10991984"/>
              <a:gd name="connsiteY2" fmla="*/ 608934 h 1412988"/>
              <a:gd name="connsiteX3" fmla="*/ 10480973 w 10991984"/>
              <a:gd name="connsiteY3" fmla="*/ 12034 h 1412988"/>
              <a:gd name="connsiteX4" fmla="*/ 10250988 w 10991984"/>
              <a:gd name="connsiteY4" fmla="*/ 1282034 h 1412988"/>
              <a:gd name="connsiteX5" fmla="*/ 5422676 w 10991984"/>
              <a:gd name="connsiteY5" fmla="*/ 1272509 h 1412988"/>
              <a:gd name="connsiteX6" fmla="*/ 557885 w 10991984"/>
              <a:gd name="connsiteY6" fmla="*/ 1336009 h 1412988"/>
              <a:gd name="connsiteX0" fmla="*/ 557885 w 10828149"/>
              <a:gd name="connsiteY0" fmla="*/ 1317359 h 1394338"/>
              <a:gd name="connsiteX1" fmla="*/ 653251 w 10828149"/>
              <a:gd name="connsiteY1" fmla="*/ 50534 h 1394338"/>
              <a:gd name="connsiteX2" fmla="*/ 5450616 w 10828149"/>
              <a:gd name="connsiteY2" fmla="*/ 590284 h 1394338"/>
              <a:gd name="connsiteX3" fmla="*/ 10206422 w 10828149"/>
              <a:gd name="connsiteY3" fmla="*/ 12434 h 1394338"/>
              <a:gd name="connsiteX4" fmla="*/ 10250988 w 10828149"/>
              <a:gd name="connsiteY4" fmla="*/ 1263384 h 1394338"/>
              <a:gd name="connsiteX5" fmla="*/ 5422676 w 10828149"/>
              <a:gd name="connsiteY5" fmla="*/ 1253859 h 1394338"/>
              <a:gd name="connsiteX6" fmla="*/ 557885 w 10828149"/>
              <a:gd name="connsiteY6" fmla="*/ 1317359 h 1394338"/>
              <a:gd name="connsiteX0" fmla="*/ 557885 w 10778448"/>
              <a:gd name="connsiteY0" fmla="*/ 1281912 h 1358891"/>
              <a:gd name="connsiteX1" fmla="*/ 653251 w 10778448"/>
              <a:gd name="connsiteY1" fmla="*/ 15087 h 1358891"/>
              <a:gd name="connsiteX2" fmla="*/ 5450616 w 10778448"/>
              <a:gd name="connsiteY2" fmla="*/ 554837 h 1358891"/>
              <a:gd name="connsiteX3" fmla="*/ 10111749 w 10778448"/>
              <a:gd name="connsiteY3" fmla="*/ 91287 h 1358891"/>
              <a:gd name="connsiteX4" fmla="*/ 10250988 w 10778448"/>
              <a:gd name="connsiteY4" fmla="*/ 1227937 h 1358891"/>
              <a:gd name="connsiteX5" fmla="*/ 5422676 w 10778448"/>
              <a:gd name="connsiteY5" fmla="*/ 1218412 h 1358891"/>
              <a:gd name="connsiteX6" fmla="*/ 557885 w 10778448"/>
              <a:gd name="connsiteY6" fmla="*/ 1281912 h 1358891"/>
              <a:gd name="connsiteX0" fmla="*/ 557885 w 10745795"/>
              <a:gd name="connsiteY0" fmla="*/ 1281849 h 1358828"/>
              <a:gd name="connsiteX1" fmla="*/ 653251 w 10745795"/>
              <a:gd name="connsiteY1" fmla="*/ 15024 h 1358828"/>
              <a:gd name="connsiteX2" fmla="*/ 5450616 w 10745795"/>
              <a:gd name="connsiteY2" fmla="*/ 554774 h 1358828"/>
              <a:gd name="connsiteX3" fmla="*/ 10045478 w 10745795"/>
              <a:gd name="connsiteY3" fmla="*/ 72174 h 1358828"/>
              <a:gd name="connsiteX4" fmla="*/ 10250988 w 10745795"/>
              <a:gd name="connsiteY4" fmla="*/ 1227874 h 1358828"/>
              <a:gd name="connsiteX5" fmla="*/ 5422676 w 10745795"/>
              <a:gd name="connsiteY5" fmla="*/ 1218349 h 1358828"/>
              <a:gd name="connsiteX6" fmla="*/ 557885 w 10745795"/>
              <a:gd name="connsiteY6" fmla="*/ 1281849 h 1358828"/>
              <a:gd name="connsiteX0" fmla="*/ 557885 w 10751983"/>
              <a:gd name="connsiteY0" fmla="*/ 1281849 h 1358828"/>
              <a:gd name="connsiteX1" fmla="*/ 653251 w 10751983"/>
              <a:gd name="connsiteY1" fmla="*/ 15024 h 1358828"/>
              <a:gd name="connsiteX2" fmla="*/ 5450616 w 10751983"/>
              <a:gd name="connsiteY2" fmla="*/ 554774 h 1358828"/>
              <a:gd name="connsiteX3" fmla="*/ 10045478 w 10751983"/>
              <a:gd name="connsiteY3" fmla="*/ 72174 h 1358828"/>
              <a:gd name="connsiteX4" fmla="*/ 10250988 w 10751983"/>
              <a:gd name="connsiteY4" fmla="*/ 1227874 h 1358828"/>
              <a:gd name="connsiteX5" fmla="*/ 5422676 w 10751983"/>
              <a:gd name="connsiteY5" fmla="*/ 1218349 h 1358828"/>
              <a:gd name="connsiteX6" fmla="*/ 557885 w 10751983"/>
              <a:gd name="connsiteY6" fmla="*/ 1281849 h 1358828"/>
              <a:gd name="connsiteX0" fmla="*/ 557885 w 10739666"/>
              <a:gd name="connsiteY0" fmla="*/ 1281849 h 1358828"/>
              <a:gd name="connsiteX1" fmla="*/ 653251 w 10739666"/>
              <a:gd name="connsiteY1" fmla="*/ 15024 h 1358828"/>
              <a:gd name="connsiteX2" fmla="*/ 5450616 w 10739666"/>
              <a:gd name="connsiteY2" fmla="*/ 554774 h 1358828"/>
              <a:gd name="connsiteX3" fmla="*/ 10045478 w 10739666"/>
              <a:gd name="connsiteY3" fmla="*/ 72174 h 1358828"/>
              <a:gd name="connsiteX4" fmla="*/ 10250988 w 10739666"/>
              <a:gd name="connsiteY4" fmla="*/ 1227874 h 1358828"/>
              <a:gd name="connsiteX5" fmla="*/ 5422676 w 10739666"/>
              <a:gd name="connsiteY5" fmla="*/ 1218349 h 1358828"/>
              <a:gd name="connsiteX6" fmla="*/ 557885 w 10739666"/>
              <a:gd name="connsiteY6" fmla="*/ 1281849 h 1358828"/>
              <a:gd name="connsiteX0" fmla="*/ 557885 w 10739666"/>
              <a:gd name="connsiteY0" fmla="*/ 1281849 h 1358828"/>
              <a:gd name="connsiteX1" fmla="*/ 653251 w 10739666"/>
              <a:gd name="connsiteY1" fmla="*/ 15024 h 1358828"/>
              <a:gd name="connsiteX2" fmla="*/ 5450616 w 10739666"/>
              <a:gd name="connsiteY2" fmla="*/ 554774 h 1358828"/>
              <a:gd name="connsiteX3" fmla="*/ 10045478 w 10739666"/>
              <a:gd name="connsiteY3" fmla="*/ 72174 h 1358828"/>
              <a:gd name="connsiteX4" fmla="*/ 10250988 w 10739666"/>
              <a:gd name="connsiteY4" fmla="*/ 1227874 h 1358828"/>
              <a:gd name="connsiteX5" fmla="*/ 5422676 w 10739666"/>
              <a:gd name="connsiteY5" fmla="*/ 1218349 h 1358828"/>
              <a:gd name="connsiteX6" fmla="*/ 557885 w 10739666"/>
              <a:gd name="connsiteY6" fmla="*/ 1281849 h 1358828"/>
              <a:gd name="connsiteX0" fmla="*/ 557885 w 10716142"/>
              <a:gd name="connsiteY0" fmla="*/ 1281849 h 1367357"/>
              <a:gd name="connsiteX1" fmla="*/ 653251 w 10716142"/>
              <a:gd name="connsiteY1" fmla="*/ 15024 h 1367357"/>
              <a:gd name="connsiteX2" fmla="*/ 5450616 w 10716142"/>
              <a:gd name="connsiteY2" fmla="*/ 554774 h 1367357"/>
              <a:gd name="connsiteX3" fmla="*/ 10045478 w 10716142"/>
              <a:gd name="connsiteY3" fmla="*/ 72174 h 1367357"/>
              <a:gd name="connsiteX4" fmla="*/ 10250988 w 10716142"/>
              <a:gd name="connsiteY4" fmla="*/ 1227874 h 1367357"/>
              <a:gd name="connsiteX5" fmla="*/ 5422676 w 10716142"/>
              <a:gd name="connsiteY5" fmla="*/ 1218349 h 1367357"/>
              <a:gd name="connsiteX6" fmla="*/ 557885 w 10716142"/>
              <a:gd name="connsiteY6" fmla="*/ 1281849 h 1367357"/>
              <a:gd name="connsiteX0" fmla="*/ 557885 w 10673599"/>
              <a:gd name="connsiteY0" fmla="*/ 1281849 h 1358828"/>
              <a:gd name="connsiteX1" fmla="*/ 653251 w 10673599"/>
              <a:gd name="connsiteY1" fmla="*/ 15024 h 1358828"/>
              <a:gd name="connsiteX2" fmla="*/ 5450616 w 10673599"/>
              <a:gd name="connsiteY2" fmla="*/ 554774 h 1358828"/>
              <a:gd name="connsiteX3" fmla="*/ 10045478 w 10673599"/>
              <a:gd name="connsiteY3" fmla="*/ 72174 h 1358828"/>
              <a:gd name="connsiteX4" fmla="*/ 10250988 w 10673599"/>
              <a:gd name="connsiteY4" fmla="*/ 1227874 h 1358828"/>
              <a:gd name="connsiteX5" fmla="*/ 5422676 w 10673599"/>
              <a:gd name="connsiteY5" fmla="*/ 1218349 h 1358828"/>
              <a:gd name="connsiteX6" fmla="*/ 557885 w 10673599"/>
              <a:gd name="connsiteY6" fmla="*/ 1281849 h 135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673599" h="1358828">
                <a:moveTo>
                  <a:pt x="557885" y="1281849"/>
                </a:moveTo>
                <a:cubicBezTo>
                  <a:pt x="-237019" y="1081295"/>
                  <a:pt x="-162204" y="136203"/>
                  <a:pt x="653251" y="15024"/>
                </a:cubicBezTo>
                <a:cubicBezTo>
                  <a:pt x="1468706" y="-106155"/>
                  <a:pt x="3885245" y="545249"/>
                  <a:pt x="5450616" y="554774"/>
                </a:cubicBezTo>
                <a:cubicBezTo>
                  <a:pt x="7015987" y="564299"/>
                  <a:pt x="9264351" y="-163834"/>
                  <a:pt x="10045478" y="72174"/>
                </a:cubicBezTo>
                <a:cubicBezTo>
                  <a:pt x="10826605" y="308182"/>
                  <a:pt x="10860512" y="951120"/>
                  <a:pt x="10250988" y="1227874"/>
                </a:cubicBezTo>
                <a:cubicBezTo>
                  <a:pt x="9641464" y="1504628"/>
                  <a:pt x="7120243" y="1207766"/>
                  <a:pt x="5422676" y="1218349"/>
                </a:cubicBezTo>
                <a:cubicBezTo>
                  <a:pt x="3725109" y="1228932"/>
                  <a:pt x="1352789" y="1482403"/>
                  <a:pt x="557885" y="1281849"/>
                </a:cubicBezTo>
                <a:close/>
              </a:path>
            </a:pathLst>
          </a:custGeom>
          <a:solidFill>
            <a:srgbClr val="FFD17D">
              <a:lumMod val="20000"/>
              <a:lumOff val="80000"/>
            </a:srgbClr>
          </a:solidFill>
          <a:ln w="19050" cap="flat" cmpd="sng" algn="ctr">
            <a:solidFill>
              <a:srgbClr val="FFD17D">
                <a:lumMod val="75000"/>
              </a:srgbClr>
            </a:solidFill>
            <a:prstDash val="sys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9" name="文本框 128">
            <a:extLst>
              <a:ext uri="{FF2B5EF4-FFF2-40B4-BE49-F238E27FC236}">
                <a16:creationId xmlns:a16="http://schemas.microsoft.com/office/drawing/2014/main" id="{F6B79D2B-B4EA-4635-9D08-D7500685E6DA}"/>
              </a:ext>
            </a:extLst>
          </p:cNvPr>
          <p:cNvSpPr txBox="1"/>
          <p:nvPr/>
        </p:nvSpPr>
        <p:spPr bwMode="gray">
          <a:xfrm>
            <a:off x="2296165" y="3759268"/>
            <a:ext cx="1055097" cy="584775"/>
          </a:xfrm>
          <a:prstGeom prst="rect">
            <a:avLst/>
          </a:prstGeom>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FFD17D">
                    <a:lumMod val="75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BD 20</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FFD17D">
                    <a:lumMod val="75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VNI 2000</a:t>
            </a:r>
            <a:endParaRPr kumimoji="0" lang="zh-CN" altLang="en-US" sz="1600" b="0" i="0" u="none" strike="noStrike" kern="0" cap="none" spc="0" normalizeH="0" baseline="0" noProof="0" dirty="0">
              <a:ln>
                <a:noFill/>
              </a:ln>
              <a:solidFill>
                <a:srgbClr val="FFD17D">
                  <a:lumMod val="75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0" name="文本框 129">
            <a:extLst>
              <a:ext uri="{FF2B5EF4-FFF2-40B4-BE49-F238E27FC236}">
                <a16:creationId xmlns:a16="http://schemas.microsoft.com/office/drawing/2014/main" id="{F6767DC8-5493-425A-9B33-00750E3DD676}"/>
              </a:ext>
            </a:extLst>
          </p:cNvPr>
          <p:cNvSpPr txBox="1"/>
          <p:nvPr/>
        </p:nvSpPr>
        <p:spPr bwMode="gray">
          <a:xfrm>
            <a:off x="9119586" y="3759268"/>
            <a:ext cx="1055097" cy="584775"/>
          </a:xfrm>
          <a:prstGeom prst="rect">
            <a:avLst/>
          </a:prstGeom>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FFD17D">
                    <a:lumMod val="75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BD 20</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FFD17D">
                    <a:lumMod val="75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VNI 2000</a:t>
            </a:r>
            <a:endParaRPr kumimoji="0" lang="zh-CN" altLang="en-US" sz="1600" b="0" i="0" u="none" strike="noStrike" kern="0" cap="none" spc="0" normalizeH="0" baseline="0" noProof="0" dirty="0">
              <a:ln>
                <a:noFill/>
              </a:ln>
              <a:solidFill>
                <a:srgbClr val="FFD17D">
                  <a:lumMod val="75000"/>
                </a:srgb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1" name="文本框 130">
            <a:extLst>
              <a:ext uri="{FF2B5EF4-FFF2-40B4-BE49-F238E27FC236}">
                <a16:creationId xmlns:a16="http://schemas.microsoft.com/office/drawing/2014/main" id="{48261580-01AC-47F6-BD8A-52AE184521DC}"/>
              </a:ext>
            </a:extLst>
          </p:cNvPr>
          <p:cNvSpPr txBox="1"/>
          <p:nvPr/>
        </p:nvSpPr>
        <p:spPr bwMode="gray">
          <a:xfrm>
            <a:off x="3282244" y="4044452"/>
            <a:ext cx="575799" cy="307777"/>
          </a:xfrm>
          <a:prstGeom prst="rect">
            <a:avLst/>
          </a:prstGeom>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a:t>
            </a:r>
            <a:endParaRPr kumimoji="0" lang="zh-CN" altLang="en-US" sz="14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2" name="文本框 131">
            <a:extLst>
              <a:ext uri="{FF2B5EF4-FFF2-40B4-BE49-F238E27FC236}">
                <a16:creationId xmlns:a16="http://schemas.microsoft.com/office/drawing/2014/main" id="{D59EA876-A37B-4163-A957-CD214692C151}"/>
              </a:ext>
            </a:extLst>
          </p:cNvPr>
          <p:cNvSpPr txBox="1"/>
          <p:nvPr/>
        </p:nvSpPr>
        <p:spPr bwMode="gray">
          <a:xfrm>
            <a:off x="8581249" y="4036266"/>
            <a:ext cx="575799" cy="307777"/>
          </a:xfrm>
          <a:prstGeom prst="rect">
            <a:avLst/>
          </a:prstGeom>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4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33" name="直接连接符 132"/>
          <p:cNvCxnSpPr/>
          <p:nvPr/>
        </p:nvCxnSpPr>
        <p:spPr bwMode="gray">
          <a:xfrm flipH="1">
            <a:off x="8888010" y="4545557"/>
            <a:ext cx="1718412" cy="0"/>
          </a:xfrm>
          <a:prstGeom prst="line">
            <a:avLst/>
          </a:prstGeom>
          <a:noFill/>
          <a:ln w="19050" cap="flat" cmpd="sng" algn="ctr">
            <a:solidFill>
              <a:sysClr val="windowText" lastClr="000000"/>
            </a:solidFill>
            <a:prstDash val="solid"/>
            <a:miter lim="800000"/>
          </a:ln>
          <a:effectLst/>
        </p:spPr>
      </p:cxnSp>
      <p:cxnSp>
        <p:nvCxnSpPr>
          <p:cNvPr id="134" name="直接连接符 133"/>
          <p:cNvCxnSpPr/>
          <p:nvPr/>
        </p:nvCxnSpPr>
        <p:spPr bwMode="gray">
          <a:xfrm flipH="1">
            <a:off x="1730785" y="4545557"/>
            <a:ext cx="1813948" cy="0"/>
          </a:xfrm>
          <a:prstGeom prst="line">
            <a:avLst/>
          </a:prstGeom>
          <a:noFill/>
          <a:ln w="19050" cap="flat" cmpd="sng" algn="ctr">
            <a:solidFill>
              <a:sysClr val="windowText" lastClr="000000"/>
            </a:solidFill>
            <a:prstDash val="solid"/>
            <a:miter lim="800000"/>
          </a:ln>
          <a:effectLst/>
        </p:spPr>
      </p:cxnSp>
      <p:grpSp>
        <p:nvGrpSpPr>
          <p:cNvPr id="135" name="组合 134"/>
          <p:cNvGrpSpPr/>
          <p:nvPr/>
        </p:nvGrpSpPr>
        <p:grpSpPr bwMode="gray">
          <a:xfrm>
            <a:off x="3570144" y="3700806"/>
            <a:ext cx="5295126" cy="821924"/>
            <a:chOff x="6600056" y="4353447"/>
            <a:chExt cx="1296144" cy="833967"/>
          </a:xfrm>
        </p:grpSpPr>
        <p:cxnSp>
          <p:nvCxnSpPr>
            <p:cNvPr id="136" name="直接连接符 135"/>
            <p:cNvCxnSpPr/>
            <p:nvPr/>
          </p:nvCxnSpPr>
          <p:spPr bwMode="gray">
            <a:xfrm flipH="1">
              <a:off x="6600056" y="4353447"/>
              <a:ext cx="648072" cy="833967"/>
            </a:xfrm>
            <a:prstGeom prst="line">
              <a:avLst/>
            </a:prstGeom>
            <a:noFill/>
            <a:ln w="19050" cap="flat" cmpd="sng" algn="ctr">
              <a:solidFill>
                <a:sysClr val="window" lastClr="FFFFFF">
                  <a:lumMod val="75000"/>
                </a:sysClr>
              </a:solidFill>
              <a:prstDash val="solid"/>
              <a:miter lim="800000"/>
            </a:ln>
            <a:effectLst/>
          </p:spPr>
        </p:cxnSp>
        <p:cxnSp>
          <p:nvCxnSpPr>
            <p:cNvPr id="137" name="直接连接符 136"/>
            <p:cNvCxnSpPr/>
            <p:nvPr/>
          </p:nvCxnSpPr>
          <p:spPr bwMode="gray">
            <a:xfrm>
              <a:off x="7248128" y="4353447"/>
              <a:ext cx="648072" cy="833967"/>
            </a:xfrm>
            <a:prstGeom prst="line">
              <a:avLst/>
            </a:prstGeom>
            <a:noFill/>
            <a:ln w="19050" cap="flat" cmpd="sng" algn="ctr">
              <a:solidFill>
                <a:sysClr val="window" lastClr="FFFFFF">
                  <a:lumMod val="75000"/>
                </a:sysClr>
              </a:solidFill>
              <a:prstDash val="solid"/>
              <a:miter lim="800000"/>
            </a:ln>
            <a:effectLst/>
          </p:spPr>
        </p:cxnSp>
      </p:grpSp>
      <p:sp>
        <p:nvSpPr>
          <p:cNvPr id="138" name="矩形 137"/>
          <p:cNvSpPr/>
          <p:nvPr/>
        </p:nvSpPr>
        <p:spPr bwMode="gray">
          <a:xfrm>
            <a:off x="770231" y="3731971"/>
            <a:ext cx="1377301" cy="523220"/>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PC1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192.168.1.1/24</a:t>
            </a:r>
            <a:endPar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9" name="矩形 138"/>
          <p:cNvSpPr/>
          <p:nvPr/>
        </p:nvSpPr>
        <p:spPr bwMode="gray">
          <a:xfrm rot="20513042">
            <a:off x="4488065" y="3811608"/>
            <a:ext cx="736100" cy="307777"/>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schemeClr val="bg2">
                    <a:lumMod val="50000"/>
                  </a:scheme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L3</a:t>
            </a:r>
            <a:r>
              <a:rPr kumimoji="0" lang="zh-CN" altLang="en-US" sz="1400" b="0" i="0" u="none" strike="noStrike" kern="0" cap="none" spc="0" normalizeH="0" baseline="0" noProof="0">
                <a:ln>
                  <a:noFill/>
                </a:ln>
                <a:solidFill>
                  <a:schemeClr val="bg2">
                    <a:lumMod val="50000"/>
                  </a:scheme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链路</a:t>
            </a:r>
            <a:endParaRPr kumimoji="0" lang="zh-CN" altLang="en-US" sz="1400" b="0" i="0" u="none" strike="noStrike" kern="0" cap="none" spc="0" normalizeH="0" baseline="0" noProof="0" dirty="0">
              <a:ln>
                <a:noFill/>
              </a:ln>
              <a:solidFill>
                <a:schemeClr val="bg2">
                  <a:lumMod val="50000"/>
                </a:scheme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0" name="矩形 139"/>
          <p:cNvSpPr/>
          <p:nvPr/>
        </p:nvSpPr>
        <p:spPr bwMode="gray">
          <a:xfrm rot="993331">
            <a:off x="7065851" y="3763313"/>
            <a:ext cx="761747" cy="307777"/>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schemeClr val="bg2">
                    <a:lumMod val="50000"/>
                  </a:scheme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L3</a:t>
            </a:r>
            <a:r>
              <a:rPr kumimoji="0" lang="zh-CN" altLang="en-US" sz="1400" b="0" i="0" u="none" strike="noStrike" kern="0" cap="none" spc="0" normalizeH="0" baseline="0" noProof="0">
                <a:ln>
                  <a:noFill/>
                </a:ln>
                <a:solidFill>
                  <a:schemeClr val="bg2">
                    <a:lumMod val="50000"/>
                  </a:scheme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链路</a:t>
            </a:r>
            <a:endParaRPr kumimoji="0" lang="zh-CN" altLang="en-US" sz="1400" b="0" i="0" u="none" strike="noStrike" kern="0" cap="none" spc="0" normalizeH="0" baseline="0" noProof="0" dirty="0">
              <a:ln>
                <a:noFill/>
              </a:ln>
              <a:solidFill>
                <a:schemeClr val="bg2">
                  <a:lumMod val="50000"/>
                </a:scheme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1" name="矩形 140"/>
          <p:cNvSpPr/>
          <p:nvPr/>
        </p:nvSpPr>
        <p:spPr bwMode="gray">
          <a:xfrm>
            <a:off x="10166344" y="3731971"/>
            <a:ext cx="1377301" cy="523220"/>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PC2</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192.168.1.2/24</a:t>
            </a:r>
            <a:endPar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42" name="图片 11" descr="开放网络-蓝.png"/>
          <p:cNvPicPr>
            <a:picLocks noChangeAspect="1"/>
          </p:cNvPicPr>
          <p:nvPr/>
        </p:nvPicPr>
        <p:blipFill>
          <a:blip r:embed="rId3" cstate="print"/>
          <a:stretch>
            <a:fillRect/>
          </a:stretch>
        </p:blipFill>
        <p:spPr bwMode="gray">
          <a:xfrm>
            <a:off x="1191178" y="4298709"/>
            <a:ext cx="539607" cy="415381"/>
          </a:xfrm>
          <a:prstGeom prst="rect">
            <a:avLst/>
          </a:prstGeom>
        </p:spPr>
      </p:pic>
      <p:pic>
        <p:nvPicPr>
          <p:cNvPr id="143" name="图片 11" descr="开放网络-蓝.png"/>
          <p:cNvPicPr>
            <a:picLocks noChangeAspect="1"/>
          </p:cNvPicPr>
          <p:nvPr/>
        </p:nvPicPr>
        <p:blipFill>
          <a:blip r:embed="rId3" cstate="print"/>
          <a:stretch>
            <a:fillRect/>
          </a:stretch>
        </p:blipFill>
        <p:spPr bwMode="gray">
          <a:xfrm>
            <a:off x="10606422" y="4298709"/>
            <a:ext cx="539607" cy="415381"/>
          </a:xfrm>
          <a:prstGeom prst="rect">
            <a:avLst/>
          </a:prstGeom>
        </p:spPr>
      </p:pic>
      <p:pic>
        <p:nvPicPr>
          <p:cNvPr id="144" name="图片 87" descr="汇聚交换机.png"/>
          <p:cNvPicPr>
            <a:picLocks noChangeAspect="1"/>
          </p:cNvPicPr>
          <p:nvPr/>
        </p:nvPicPr>
        <p:blipFill>
          <a:blip r:embed="rId4" cstate="print"/>
          <a:stretch>
            <a:fillRect/>
          </a:stretch>
        </p:blipFill>
        <p:spPr bwMode="gray">
          <a:xfrm>
            <a:off x="3300144" y="4346148"/>
            <a:ext cx="540000" cy="441818"/>
          </a:xfrm>
          <a:prstGeom prst="rect">
            <a:avLst/>
          </a:prstGeom>
        </p:spPr>
      </p:pic>
      <p:pic>
        <p:nvPicPr>
          <p:cNvPr id="145" name="图片 87" descr="汇聚交换机.png"/>
          <p:cNvPicPr>
            <a:picLocks noChangeAspect="1"/>
          </p:cNvPicPr>
          <p:nvPr/>
        </p:nvPicPr>
        <p:blipFill>
          <a:blip r:embed="rId4" cstate="print"/>
          <a:stretch>
            <a:fillRect/>
          </a:stretch>
        </p:blipFill>
        <p:spPr bwMode="gray">
          <a:xfrm>
            <a:off x="8599149" y="4346148"/>
            <a:ext cx="540000" cy="441818"/>
          </a:xfrm>
          <a:prstGeom prst="rect">
            <a:avLst/>
          </a:prstGeom>
        </p:spPr>
      </p:pic>
      <p:grpSp>
        <p:nvGrpSpPr>
          <p:cNvPr id="146" name="组合 145"/>
          <p:cNvGrpSpPr/>
          <p:nvPr/>
        </p:nvGrpSpPr>
        <p:grpSpPr bwMode="gray">
          <a:xfrm>
            <a:off x="3889801" y="4436267"/>
            <a:ext cx="4636766" cy="351699"/>
            <a:chOff x="3798574" y="5152372"/>
            <a:chExt cx="4636766" cy="351699"/>
          </a:xfrm>
        </p:grpSpPr>
        <p:sp>
          <p:nvSpPr>
            <p:cNvPr id="147" name="圆柱形 146"/>
            <p:cNvSpPr/>
            <p:nvPr/>
          </p:nvSpPr>
          <p:spPr bwMode="gray">
            <a:xfrm rot="16200000">
              <a:off x="5977171" y="3009840"/>
              <a:ext cx="279572" cy="4636766"/>
            </a:xfrm>
            <a:prstGeom prst="can">
              <a:avLst>
                <a:gd name="adj" fmla="val 79712"/>
              </a:avLst>
            </a:prstGeom>
            <a:solidFill>
              <a:srgbClr val="EC7061"/>
            </a:solidFill>
            <a:ln w="127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8" name="矩形 147"/>
            <p:cNvSpPr/>
            <p:nvPr/>
          </p:nvSpPr>
          <p:spPr bwMode="gray">
            <a:xfrm>
              <a:off x="5562008" y="5152372"/>
              <a:ext cx="1197764" cy="351699"/>
            </a:xfrm>
            <a:prstGeom prst="rect">
              <a:avLst/>
            </a:prstGeom>
          </p:spPr>
          <p:txBody>
            <a:bodyPr wrap="none">
              <a:spAutoFit/>
            </a:bodyPr>
            <a:lstStyle/>
            <a:p>
              <a:pPr marL="0" marR="0" lvl="0" indent="0" algn="ctr" defTabSz="914400" eaLnBrk="1" fontAlgn="auto" latinLnBrk="0" hangingPunct="1">
                <a:lnSpc>
                  <a:spcPts val="22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VXLAN </a:t>
              </a:r>
              <a:r>
                <a:rPr kumimoji="0" lang="zh-CN" altLang="en-US"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隧道</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149" name="图片 86" descr="核心交换机.png"/>
          <p:cNvPicPr>
            <a:picLocks noChangeAspect="1"/>
          </p:cNvPicPr>
          <p:nvPr/>
        </p:nvPicPr>
        <p:blipFill>
          <a:blip r:embed="rId5" cstate="print">
            <a:duotone>
              <a:srgbClr val="F3FBFE">
                <a:shade val="45000"/>
                <a:satMod val="135000"/>
              </a:srgbClr>
              <a:prstClr val="white"/>
            </a:duotone>
          </a:blip>
          <a:stretch>
            <a:fillRect/>
          </a:stretch>
        </p:blipFill>
        <p:spPr bwMode="gray">
          <a:xfrm>
            <a:off x="5948964" y="3519860"/>
            <a:ext cx="540000" cy="441818"/>
          </a:xfrm>
          <a:prstGeom prst="rect">
            <a:avLst/>
          </a:prstGeom>
          <a:noFill/>
          <a:ln>
            <a:noFill/>
          </a:ln>
        </p:spPr>
      </p:pic>
      <p:sp>
        <p:nvSpPr>
          <p:cNvPr id="150" name="矩形 149"/>
          <p:cNvSpPr/>
          <p:nvPr/>
        </p:nvSpPr>
        <p:spPr bwMode="gray">
          <a:xfrm>
            <a:off x="2193019" y="5200865"/>
            <a:ext cx="713658" cy="338555"/>
          </a:xfrm>
          <a:prstGeom prst="rect">
            <a:avLst/>
          </a:prstGeom>
          <a:solidFill>
            <a:sysClr val="window" lastClr="FFFFFF">
              <a:lumMod val="85000"/>
            </a:sysClr>
          </a:solidFill>
          <a:ln w="19050">
            <a:solidFill>
              <a:sysClr val="window" lastClr="FFFFFF"/>
            </a:solidFill>
          </a:ln>
        </p:spPr>
        <p:txBody>
          <a:bodyPr wrap="none"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prstClr val="black">
                    <a:lumMod val="75000"/>
                    <a:lumOff val="25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a:t>
            </a:r>
            <a:r>
              <a:rPr kumimoji="0" lang="zh-CN" altLang="en-US" sz="1400" b="0" i="0" u="none" strike="noStrike" kern="0" cap="none" spc="0" normalizeH="0" baseline="0" noProof="0">
                <a:ln>
                  <a:noFill/>
                </a:ln>
                <a:solidFill>
                  <a:prstClr val="black">
                    <a:lumMod val="75000"/>
                    <a:lumOff val="25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头部</a:t>
            </a:r>
            <a:endParaRPr kumimoji="0" lang="zh-CN" altLang="en-US" sz="1400" b="0" i="0" u="none" strike="noStrike" kern="0" cap="none" spc="0" normalizeH="0" baseline="0" noProof="0" dirty="0">
              <a:ln>
                <a:noFill/>
              </a:ln>
              <a:solidFill>
                <a:prstClr val="black">
                  <a:lumMod val="75000"/>
                  <a:lumOff val="25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1" name="矩形 150"/>
          <p:cNvSpPr/>
          <p:nvPr/>
        </p:nvSpPr>
        <p:spPr bwMode="gray">
          <a:xfrm>
            <a:off x="2906677" y="5200865"/>
            <a:ext cx="506289" cy="338555"/>
          </a:xfrm>
          <a:prstGeom prst="rect">
            <a:avLst/>
          </a:prstGeom>
          <a:solidFill>
            <a:sysClr val="window" lastClr="FFFFFF">
              <a:lumMod val="85000"/>
            </a:sysClr>
          </a:solidFill>
          <a:ln w="19050">
            <a:solidFill>
              <a:sysClr val="window" lastClr="FFFFFF"/>
            </a:solidFill>
          </a:ln>
        </p:spPr>
        <p:txBody>
          <a:bodyPr wrap="none"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prstClr val="black">
                    <a:lumMod val="75000"/>
                    <a:lumOff val="25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载荷</a:t>
            </a:r>
            <a:endParaRPr kumimoji="0" lang="zh-CN" altLang="en-US" sz="1400" b="0" i="0" u="none" strike="noStrike" kern="0" cap="none" spc="0" normalizeH="0" baseline="0" noProof="0" dirty="0">
              <a:ln>
                <a:noFill/>
              </a:ln>
              <a:solidFill>
                <a:prstClr val="black">
                  <a:lumMod val="75000"/>
                  <a:lumOff val="25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2" name="矩形 151"/>
          <p:cNvSpPr/>
          <p:nvPr/>
        </p:nvSpPr>
        <p:spPr bwMode="gray">
          <a:xfrm>
            <a:off x="1263876" y="5200865"/>
            <a:ext cx="954017" cy="338555"/>
          </a:xfrm>
          <a:prstGeom prst="rect">
            <a:avLst/>
          </a:prstGeom>
          <a:solidFill>
            <a:sysClr val="window" lastClr="FFFFFF">
              <a:lumMod val="85000"/>
            </a:sysClr>
          </a:solidFill>
          <a:ln w="19050">
            <a:solidFill>
              <a:sysClr val="window" lastClr="FFFFFF"/>
            </a:solidFill>
          </a:ln>
        </p:spPr>
        <p:txBody>
          <a:bodyPr wrap="none"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prstClr val="black">
                    <a:lumMod val="75000"/>
                    <a:lumOff val="25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以太网帧头</a:t>
            </a:r>
            <a:endParaRPr kumimoji="0" lang="zh-CN" altLang="en-US" sz="1400" b="0" i="0" u="none" strike="noStrike" kern="0" cap="none" spc="0" normalizeH="0" baseline="0" noProof="0" dirty="0">
              <a:ln>
                <a:noFill/>
              </a:ln>
              <a:solidFill>
                <a:prstClr val="black">
                  <a:lumMod val="75000"/>
                  <a:lumOff val="25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53" name="直接连接符 152"/>
          <p:cNvCxnSpPr/>
          <p:nvPr/>
        </p:nvCxnSpPr>
        <p:spPr bwMode="gray">
          <a:xfrm flipH="1">
            <a:off x="1263876" y="5094123"/>
            <a:ext cx="2135013" cy="0"/>
          </a:xfrm>
          <a:prstGeom prst="line">
            <a:avLst/>
          </a:prstGeom>
          <a:noFill/>
          <a:ln w="38100" cap="flat" cmpd="sng" algn="ctr">
            <a:solidFill>
              <a:srgbClr val="EC7061"/>
            </a:solidFill>
            <a:prstDash val="solid"/>
            <a:miter lim="800000"/>
            <a:headEnd type="triangle"/>
          </a:ln>
          <a:effectLst/>
        </p:spPr>
      </p:cxnSp>
      <p:cxnSp>
        <p:nvCxnSpPr>
          <p:cNvPr id="154" name="直接连接符 153"/>
          <p:cNvCxnSpPr/>
          <p:nvPr/>
        </p:nvCxnSpPr>
        <p:spPr bwMode="gray">
          <a:xfrm flipH="1">
            <a:off x="3640230" y="5094123"/>
            <a:ext cx="4845698" cy="0"/>
          </a:xfrm>
          <a:prstGeom prst="line">
            <a:avLst/>
          </a:prstGeom>
          <a:noFill/>
          <a:ln w="38100" cap="flat" cmpd="sng" algn="ctr">
            <a:solidFill>
              <a:srgbClr val="EC7061"/>
            </a:solidFill>
            <a:prstDash val="solid"/>
            <a:miter lim="800000"/>
            <a:headEnd type="triangle"/>
          </a:ln>
          <a:effectLst/>
        </p:spPr>
      </p:cxnSp>
      <p:sp>
        <p:nvSpPr>
          <p:cNvPr id="155" name="矩形 154"/>
          <p:cNvSpPr/>
          <p:nvPr/>
        </p:nvSpPr>
        <p:spPr bwMode="gray">
          <a:xfrm>
            <a:off x="7260191" y="5200865"/>
            <a:ext cx="1004879" cy="338555"/>
          </a:xfrm>
          <a:prstGeom prst="rect">
            <a:avLst/>
          </a:prstGeom>
          <a:solidFill>
            <a:sysClr val="window" lastClr="FFFFFF">
              <a:lumMod val="85000"/>
            </a:sysClr>
          </a:solidFill>
          <a:ln w="19050">
            <a:solidFill>
              <a:sysClr val="window" lastClr="FFFFFF"/>
            </a:solidFill>
          </a:ln>
        </p:spPr>
        <p:txBody>
          <a:bodyPr wrap="none"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prstClr val="black">
                    <a:lumMod val="75000"/>
                    <a:lumOff val="25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原始数据帧</a:t>
            </a:r>
            <a:endParaRPr kumimoji="0" lang="zh-CN" altLang="en-US" sz="1400" b="0" i="0" u="none" strike="noStrike" kern="0" cap="none" spc="0" normalizeH="0" baseline="0" noProof="0" dirty="0">
              <a:ln>
                <a:noFill/>
              </a:ln>
              <a:solidFill>
                <a:prstClr val="black">
                  <a:lumMod val="75000"/>
                  <a:lumOff val="25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6" name="矩形 155"/>
          <p:cNvSpPr/>
          <p:nvPr/>
        </p:nvSpPr>
        <p:spPr bwMode="gray">
          <a:xfrm>
            <a:off x="6251462" y="5200865"/>
            <a:ext cx="1004879" cy="338555"/>
          </a:xfrm>
          <a:prstGeom prst="rect">
            <a:avLst/>
          </a:prstGeom>
          <a:solidFill>
            <a:srgbClr val="EC7061"/>
          </a:solidFill>
          <a:ln w="19050">
            <a:solidFill>
              <a:sysClr val="window" lastClr="FFFFFF"/>
            </a:solidFill>
          </a:ln>
        </p:spPr>
        <p:txBody>
          <a:bodyPr wrap="none"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VXLAN</a:t>
            </a:r>
            <a:r>
              <a:rPr kumimoji="0" lang="zh-CN" altLang="en-US" sz="14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头部</a:t>
            </a:r>
            <a:endParaRPr kumimoji="0" lang="zh-CN" altLang="en-US" sz="14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7" name="矩形 156"/>
          <p:cNvSpPr/>
          <p:nvPr/>
        </p:nvSpPr>
        <p:spPr bwMode="gray">
          <a:xfrm>
            <a:off x="5249731" y="5200865"/>
            <a:ext cx="1004879" cy="338555"/>
          </a:xfrm>
          <a:prstGeom prst="rect">
            <a:avLst/>
          </a:prstGeom>
          <a:solidFill>
            <a:sysClr val="window" lastClr="FFFFFF">
              <a:lumMod val="75000"/>
            </a:sysClr>
          </a:solidFill>
          <a:ln w="19050">
            <a:solidFill>
              <a:sysClr val="window" lastClr="FFFFFF"/>
            </a:solidFill>
          </a:ln>
        </p:spPr>
        <p:txBody>
          <a:bodyPr wrap="none"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prstClr val="black">
                    <a:lumMod val="75000"/>
                    <a:lumOff val="25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UDP</a:t>
            </a:r>
            <a:r>
              <a:rPr kumimoji="0" lang="zh-CN" altLang="en-US" sz="1400" b="0" i="0" u="none" strike="noStrike" kern="0" cap="none" spc="0" normalizeH="0" baseline="0" noProof="0">
                <a:ln>
                  <a:noFill/>
                </a:ln>
                <a:solidFill>
                  <a:prstClr val="black">
                    <a:lumMod val="75000"/>
                    <a:lumOff val="25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头部</a:t>
            </a:r>
            <a:endParaRPr kumimoji="0" lang="zh-CN" altLang="en-US" sz="1400" b="0" i="0" u="none" strike="noStrike" kern="0" cap="none" spc="0" normalizeH="0" baseline="0" noProof="0" dirty="0">
              <a:ln>
                <a:noFill/>
              </a:ln>
              <a:solidFill>
                <a:prstClr val="black">
                  <a:lumMod val="75000"/>
                  <a:lumOff val="25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8" name="矩形 157"/>
          <p:cNvSpPr/>
          <p:nvPr/>
        </p:nvSpPr>
        <p:spPr bwMode="gray">
          <a:xfrm>
            <a:off x="4634272" y="5200865"/>
            <a:ext cx="625571" cy="338555"/>
          </a:xfrm>
          <a:prstGeom prst="rect">
            <a:avLst/>
          </a:prstGeom>
          <a:solidFill>
            <a:sysClr val="window" lastClr="FFFFFF">
              <a:lumMod val="75000"/>
            </a:sysClr>
          </a:solidFill>
          <a:ln w="19050">
            <a:solidFill>
              <a:sysClr val="window" lastClr="FFFFFF"/>
            </a:solidFill>
          </a:ln>
        </p:spPr>
        <p:txBody>
          <a:bodyPr wrap="none"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prstClr val="black">
                    <a:lumMod val="75000"/>
                    <a:lumOff val="25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a:t>
            </a:r>
            <a:r>
              <a:rPr kumimoji="0" lang="zh-CN" altLang="en-US" sz="1400" b="0" i="0" u="none" strike="noStrike" kern="0" cap="none" spc="0" normalizeH="0" baseline="0" noProof="0">
                <a:ln>
                  <a:noFill/>
                </a:ln>
                <a:solidFill>
                  <a:prstClr val="black">
                    <a:lumMod val="75000"/>
                    <a:lumOff val="25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头部</a:t>
            </a:r>
            <a:endParaRPr kumimoji="0" lang="zh-CN" altLang="en-US" sz="1400" b="0" i="0" u="none" strike="noStrike" kern="0" cap="none" spc="0" normalizeH="0" baseline="0" noProof="0" dirty="0">
              <a:ln>
                <a:noFill/>
              </a:ln>
              <a:solidFill>
                <a:prstClr val="black">
                  <a:lumMod val="75000"/>
                  <a:lumOff val="25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9" name="矩形 158"/>
          <p:cNvSpPr/>
          <p:nvPr/>
        </p:nvSpPr>
        <p:spPr bwMode="gray">
          <a:xfrm>
            <a:off x="3678330" y="5200865"/>
            <a:ext cx="954017" cy="338555"/>
          </a:xfrm>
          <a:prstGeom prst="rect">
            <a:avLst/>
          </a:prstGeom>
          <a:solidFill>
            <a:sysClr val="window" lastClr="FFFFFF">
              <a:lumMod val="75000"/>
            </a:sysClr>
          </a:solidFill>
          <a:ln w="19050">
            <a:solidFill>
              <a:sysClr val="window" lastClr="FFFFFF"/>
            </a:solidFill>
          </a:ln>
        </p:spPr>
        <p:txBody>
          <a:bodyPr wrap="none"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prstClr val="black">
                    <a:lumMod val="75000"/>
                    <a:lumOff val="25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以太网帧头</a:t>
            </a:r>
            <a:endParaRPr kumimoji="0" lang="zh-CN" altLang="en-US" sz="1400" b="0" i="0" u="none" strike="noStrike" kern="0" cap="none" spc="0" normalizeH="0" baseline="0" noProof="0" dirty="0">
              <a:ln>
                <a:noFill/>
              </a:ln>
              <a:solidFill>
                <a:prstClr val="black">
                  <a:lumMod val="75000"/>
                  <a:lumOff val="25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0" name="矩形 159"/>
          <p:cNvSpPr/>
          <p:nvPr/>
        </p:nvSpPr>
        <p:spPr bwMode="gray">
          <a:xfrm>
            <a:off x="9812574" y="5200865"/>
            <a:ext cx="713658" cy="338555"/>
          </a:xfrm>
          <a:prstGeom prst="rect">
            <a:avLst/>
          </a:prstGeom>
          <a:solidFill>
            <a:sysClr val="window" lastClr="FFFFFF">
              <a:lumMod val="85000"/>
            </a:sysClr>
          </a:solidFill>
          <a:ln w="19050">
            <a:solidFill>
              <a:sysClr val="window" lastClr="FFFFFF"/>
            </a:solidFill>
          </a:ln>
        </p:spPr>
        <p:txBody>
          <a:bodyPr wrap="none"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prstClr val="black">
                    <a:lumMod val="75000"/>
                    <a:lumOff val="25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a:t>
            </a:r>
            <a:r>
              <a:rPr kumimoji="0" lang="zh-CN" altLang="en-US" sz="1400" b="0" i="0" u="none" strike="noStrike" kern="0" cap="none" spc="0" normalizeH="0" baseline="0" noProof="0">
                <a:ln>
                  <a:noFill/>
                </a:ln>
                <a:solidFill>
                  <a:prstClr val="black">
                    <a:lumMod val="75000"/>
                    <a:lumOff val="25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头部</a:t>
            </a:r>
            <a:endParaRPr kumimoji="0" lang="zh-CN" altLang="en-US" sz="1400" b="0" i="0" u="none" strike="noStrike" kern="0" cap="none" spc="0" normalizeH="0" baseline="0" noProof="0" dirty="0">
              <a:ln>
                <a:noFill/>
              </a:ln>
              <a:solidFill>
                <a:prstClr val="black">
                  <a:lumMod val="75000"/>
                  <a:lumOff val="25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1" name="矩形 160"/>
          <p:cNvSpPr/>
          <p:nvPr/>
        </p:nvSpPr>
        <p:spPr bwMode="gray">
          <a:xfrm>
            <a:off x="10526232" y="5200865"/>
            <a:ext cx="506289" cy="338555"/>
          </a:xfrm>
          <a:prstGeom prst="rect">
            <a:avLst/>
          </a:prstGeom>
          <a:solidFill>
            <a:sysClr val="window" lastClr="FFFFFF">
              <a:lumMod val="85000"/>
            </a:sysClr>
          </a:solidFill>
          <a:ln w="19050">
            <a:solidFill>
              <a:sysClr val="window" lastClr="FFFFFF"/>
            </a:solidFill>
          </a:ln>
        </p:spPr>
        <p:txBody>
          <a:bodyPr wrap="none"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prstClr val="black">
                    <a:lumMod val="75000"/>
                    <a:lumOff val="25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载荷</a:t>
            </a:r>
            <a:endParaRPr kumimoji="0" lang="zh-CN" altLang="en-US" sz="1400" b="0" i="0" u="none" strike="noStrike" kern="0" cap="none" spc="0" normalizeH="0" baseline="0" noProof="0" dirty="0">
              <a:ln>
                <a:noFill/>
              </a:ln>
              <a:solidFill>
                <a:prstClr val="black">
                  <a:lumMod val="75000"/>
                  <a:lumOff val="25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2" name="矩形 161"/>
          <p:cNvSpPr/>
          <p:nvPr/>
        </p:nvSpPr>
        <p:spPr bwMode="gray">
          <a:xfrm>
            <a:off x="8883431" y="5200865"/>
            <a:ext cx="954017" cy="338555"/>
          </a:xfrm>
          <a:prstGeom prst="rect">
            <a:avLst/>
          </a:prstGeom>
          <a:solidFill>
            <a:sysClr val="window" lastClr="FFFFFF">
              <a:lumMod val="85000"/>
            </a:sysClr>
          </a:solidFill>
          <a:ln w="19050">
            <a:solidFill>
              <a:sysClr val="window" lastClr="FFFFFF"/>
            </a:solidFill>
          </a:ln>
        </p:spPr>
        <p:txBody>
          <a:bodyPr wrap="none"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prstClr val="black">
                    <a:lumMod val="75000"/>
                    <a:lumOff val="25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以太网帧头</a:t>
            </a:r>
            <a:endParaRPr kumimoji="0" lang="zh-CN" altLang="en-US" sz="1400" b="0" i="0" u="none" strike="noStrike" kern="0" cap="none" spc="0" normalizeH="0" baseline="0" noProof="0" dirty="0">
              <a:ln>
                <a:noFill/>
              </a:ln>
              <a:solidFill>
                <a:prstClr val="black">
                  <a:lumMod val="75000"/>
                  <a:lumOff val="25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63" name="直接连接符 162"/>
          <p:cNvCxnSpPr/>
          <p:nvPr/>
        </p:nvCxnSpPr>
        <p:spPr bwMode="gray">
          <a:xfrm flipH="1">
            <a:off x="8883431" y="5094123"/>
            <a:ext cx="2135013" cy="0"/>
          </a:xfrm>
          <a:prstGeom prst="line">
            <a:avLst/>
          </a:prstGeom>
          <a:noFill/>
          <a:ln w="38100" cap="flat" cmpd="sng" algn="ctr">
            <a:solidFill>
              <a:srgbClr val="EC7061"/>
            </a:solidFill>
            <a:prstDash val="solid"/>
            <a:miter lim="800000"/>
            <a:headEnd type="triangle"/>
          </a:ln>
          <a:effectLst/>
        </p:spPr>
      </p:cxnSp>
      <p:sp>
        <p:nvSpPr>
          <p:cNvPr id="164" name="矩形 163"/>
          <p:cNvSpPr/>
          <p:nvPr/>
        </p:nvSpPr>
        <p:spPr bwMode="gray">
          <a:xfrm>
            <a:off x="6189064" y="5813775"/>
            <a:ext cx="1071127" cy="30777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VNI</a:t>
            </a:r>
            <a:r>
              <a:rPr kumimoji="0" lang="zh-CN" altLang="en-US" sz="1400" b="0" i="0" u="none" strike="noStrike" kern="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1400" b="0" i="0" u="none" strike="noStrike" kern="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2000</a:t>
            </a:r>
            <a:endParaRPr kumimoji="0" lang="zh-CN" altLang="en-US" sz="1400" b="0" i="0" u="none" strike="noStrike" kern="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5" name="右大括号 164"/>
          <p:cNvSpPr/>
          <p:nvPr/>
        </p:nvSpPr>
        <p:spPr bwMode="gray">
          <a:xfrm rot="5400000">
            <a:off x="2273704" y="4631681"/>
            <a:ext cx="103723" cy="2123375"/>
          </a:xfrm>
          <a:prstGeom prst="rightBrace">
            <a:avLst/>
          </a:prstGeom>
          <a:noFill/>
          <a:ln w="19050" cap="flat" cmpd="sng" algn="ctr">
            <a:solidFill>
              <a:sysClr val="window" lastClr="FFFFFF">
                <a:lumMod val="7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6" name="矩形 165"/>
          <p:cNvSpPr/>
          <p:nvPr/>
        </p:nvSpPr>
        <p:spPr bwMode="gray">
          <a:xfrm>
            <a:off x="1784391" y="5813775"/>
            <a:ext cx="1082348" cy="30777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a:ln>
                  <a:noFill/>
                </a:ln>
                <a:solidFill>
                  <a:schemeClr val="bg2">
                    <a:lumMod val="50000"/>
                  </a:scheme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原始数据帧</a:t>
            </a:r>
            <a:endParaRPr kumimoji="0" lang="zh-CN" altLang="en-US" sz="1400" b="0" i="0" u="none" strike="noStrike" kern="0" cap="none" spc="0" normalizeH="0" baseline="0" noProof="0" dirty="0">
              <a:ln>
                <a:noFill/>
              </a:ln>
              <a:solidFill>
                <a:schemeClr val="bg2">
                  <a:lumMod val="50000"/>
                </a:scheme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7" name="右大括号 166"/>
          <p:cNvSpPr/>
          <p:nvPr/>
        </p:nvSpPr>
        <p:spPr bwMode="gray">
          <a:xfrm rot="5400000">
            <a:off x="6668235" y="5381748"/>
            <a:ext cx="103723" cy="623244"/>
          </a:xfrm>
          <a:prstGeom prst="rightBrace">
            <a:avLst/>
          </a:prstGeom>
          <a:noFill/>
          <a:ln w="19050" cap="flat" cmpd="sng" algn="ctr">
            <a:solidFill>
              <a:sysClr val="window" lastClr="FFFFFF">
                <a:lumMod val="7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五边形 24">
            <a:extLst>
              <a:ext uri="{FF2B5EF4-FFF2-40B4-BE49-F238E27FC236}">
                <a16:creationId xmlns:a16="http://schemas.microsoft.com/office/drawing/2014/main" id="{94B96716-C28B-40EB-8E95-7453A9EDFF97}"/>
              </a:ext>
            </a:extLst>
          </p:cNvPr>
          <p:cNvSpPr/>
          <p:nvPr/>
        </p:nvSpPr>
        <p:spPr bwMode="gray">
          <a:xfrm>
            <a:off x="6832312" y="124239"/>
            <a:ext cx="781200" cy="213120"/>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NVE</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燕尾形 25">
            <a:extLst>
              <a:ext uri="{FF2B5EF4-FFF2-40B4-BE49-F238E27FC236}">
                <a16:creationId xmlns:a16="http://schemas.microsoft.com/office/drawing/2014/main" id="{B3835D4C-1B49-4581-A7CA-72BCE8067FFC}"/>
              </a:ext>
            </a:extLst>
          </p:cNvPr>
          <p:cNvSpPr/>
          <p:nvPr/>
        </p:nvSpPr>
        <p:spPr bwMode="gray">
          <a:xfrm>
            <a:off x="9084375" y="124239"/>
            <a:ext cx="781200"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VAP</a:t>
            </a:r>
          </a:p>
        </p:txBody>
      </p:sp>
      <p:sp>
        <p:nvSpPr>
          <p:cNvPr id="58" name="燕尾形 26">
            <a:extLst>
              <a:ext uri="{FF2B5EF4-FFF2-40B4-BE49-F238E27FC236}">
                <a16:creationId xmlns:a16="http://schemas.microsoft.com/office/drawing/2014/main" id="{9744301D-E99A-4BEF-A318-08CD9645DD40}"/>
              </a:ext>
            </a:extLst>
          </p:cNvPr>
          <p:cNvSpPr/>
          <p:nvPr/>
        </p:nvSpPr>
        <p:spPr bwMode="gray">
          <a:xfrm>
            <a:off x="10931984" y="124239"/>
            <a:ext cx="781200"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燕尾形 26">
            <a:extLst>
              <a:ext uri="{FF2B5EF4-FFF2-40B4-BE49-F238E27FC236}">
                <a16:creationId xmlns:a16="http://schemas.microsoft.com/office/drawing/2014/main" id="{BCE2539E-0076-4A5B-9B7B-AE0039DEB005}"/>
              </a:ext>
            </a:extLst>
          </p:cNvPr>
          <p:cNvSpPr/>
          <p:nvPr/>
        </p:nvSpPr>
        <p:spPr bwMode="gray">
          <a:xfrm>
            <a:off x="8299170" y="124239"/>
            <a:ext cx="864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VNI</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BD</a:t>
            </a:r>
          </a:p>
        </p:txBody>
      </p:sp>
      <p:sp>
        <p:nvSpPr>
          <p:cNvPr id="60" name="燕尾形 26">
            <a:extLst>
              <a:ext uri="{FF2B5EF4-FFF2-40B4-BE49-F238E27FC236}">
                <a16:creationId xmlns:a16="http://schemas.microsoft.com/office/drawing/2014/main" id="{65628728-0580-404A-8423-3F9266499728}"/>
              </a:ext>
            </a:extLst>
          </p:cNvPr>
          <p:cNvSpPr/>
          <p:nvPr/>
        </p:nvSpPr>
        <p:spPr bwMode="gray">
          <a:xfrm>
            <a:off x="7534717" y="124239"/>
            <a:ext cx="843248"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VTEP</a:t>
            </a:r>
          </a:p>
        </p:txBody>
      </p:sp>
      <p:sp>
        <p:nvSpPr>
          <p:cNvPr id="61" name="燕尾形 25">
            <a:extLst>
              <a:ext uri="{FF2B5EF4-FFF2-40B4-BE49-F238E27FC236}">
                <a16:creationId xmlns:a16="http://schemas.microsoft.com/office/drawing/2014/main" id="{B3835D4C-1B49-4581-A7CA-72BCE8067FFC}"/>
              </a:ext>
            </a:extLst>
          </p:cNvPr>
          <p:cNvSpPr/>
          <p:nvPr/>
        </p:nvSpPr>
        <p:spPr bwMode="gray">
          <a:xfrm>
            <a:off x="9786780" y="124239"/>
            <a:ext cx="1224000"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Edge</a:t>
            </a:r>
          </a:p>
        </p:txBody>
      </p:sp>
      <p:sp>
        <p:nvSpPr>
          <p:cNvPr id="62" name="文本占位符 3"/>
          <p:cNvSpPr txBox="1">
            <a:spLocks/>
          </p:cNvSpPr>
          <p:nvPr/>
        </p:nvSpPr>
        <p:spPr bwMode="gray">
          <a:xfrm>
            <a:off x="6096000" y="1047751"/>
            <a:ext cx="5623592" cy="238125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algn="l" defTabSz="914034" rtl="0" eaLnBrk="1" fontAlgn="auto"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auto"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auto"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auto"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altLang="zh-CN" sz="1800" dirty="0">
                <a:sym typeface="Huawei Sans" panose="020C0503030203020204" pitchFamily="34" charset="0"/>
              </a:rPr>
              <a:t>BD</a:t>
            </a:r>
            <a:r>
              <a:rPr lang="zh-CN" altLang="en-US" sz="1800" dirty="0">
                <a:sym typeface="Huawei Sans" panose="020C0503030203020204" pitchFamily="34" charset="0"/>
              </a:rPr>
              <a:t>（</a:t>
            </a:r>
            <a:r>
              <a:rPr lang="en-US" altLang="zh-CN" sz="1800" dirty="0">
                <a:sym typeface="Huawei Sans" panose="020C0503030203020204" pitchFamily="34" charset="0"/>
              </a:rPr>
              <a:t>Bridge Domain</a:t>
            </a:r>
            <a:r>
              <a:rPr lang="zh-CN" altLang="en-US" sz="1800" dirty="0">
                <a:sym typeface="Huawei Sans" panose="020C0503030203020204" pitchFamily="34" charset="0"/>
              </a:rPr>
              <a:t>，桥域）：</a:t>
            </a:r>
          </a:p>
          <a:p>
            <a:pPr lvl="1"/>
            <a:r>
              <a:rPr lang="zh-CN" altLang="en-US" sz="1600" dirty="0">
                <a:sym typeface="Huawei Sans" panose="020C0503030203020204" pitchFamily="34" charset="0"/>
              </a:rPr>
              <a:t>类似传统网络中采用</a:t>
            </a:r>
            <a:r>
              <a:rPr lang="en-US" altLang="zh-CN" sz="1600" dirty="0">
                <a:sym typeface="Huawei Sans" panose="020C0503030203020204" pitchFamily="34" charset="0"/>
              </a:rPr>
              <a:t>VLAN</a:t>
            </a:r>
            <a:r>
              <a:rPr lang="zh-CN" altLang="en-US" sz="1600" dirty="0">
                <a:sym typeface="Huawei Sans" panose="020C0503030203020204" pitchFamily="34" charset="0"/>
              </a:rPr>
              <a:t>划分广播域，在</a:t>
            </a:r>
            <a:r>
              <a:rPr lang="en-US" altLang="zh-CN" sz="1600" dirty="0">
                <a:sym typeface="Huawei Sans" panose="020C0503030203020204" pitchFamily="34" charset="0"/>
              </a:rPr>
              <a:t>VXLAN</a:t>
            </a:r>
            <a:r>
              <a:rPr lang="zh-CN" altLang="en-US" sz="1600" dirty="0">
                <a:sym typeface="Huawei Sans" panose="020C0503030203020204" pitchFamily="34" charset="0"/>
              </a:rPr>
              <a:t>网络中一个</a:t>
            </a:r>
            <a:r>
              <a:rPr lang="en-US" altLang="zh-CN" sz="1600" dirty="0">
                <a:sym typeface="Huawei Sans" panose="020C0503030203020204" pitchFamily="34" charset="0"/>
              </a:rPr>
              <a:t>BD</a:t>
            </a:r>
            <a:r>
              <a:rPr lang="zh-CN" altLang="en-US" sz="1600" dirty="0">
                <a:sym typeface="Huawei Sans" panose="020C0503030203020204" pitchFamily="34" charset="0"/>
              </a:rPr>
              <a:t>就标识一个大二层广播域。</a:t>
            </a:r>
          </a:p>
          <a:p>
            <a:pPr lvl="1"/>
            <a:r>
              <a:rPr lang="en-US" altLang="zh-CN" sz="1600" dirty="0">
                <a:sym typeface="Huawei Sans" panose="020C0503030203020204" pitchFamily="34" charset="0"/>
              </a:rPr>
              <a:t>VNI</a:t>
            </a:r>
            <a:r>
              <a:rPr lang="zh-CN" altLang="en-US" sz="1600" dirty="0">
                <a:sym typeface="Huawei Sans" panose="020C0503030203020204" pitchFamily="34" charset="0"/>
              </a:rPr>
              <a:t>以</a:t>
            </a:r>
            <a:r>
              <a:rPr lang="en-US" altLang="zh-CN" sz="1600" dirty="0">
                <a:sym typeface="Huawei Sans" panose="020C0503030203020204" pitchFamily="34" charset="0"/>
              </a:rPr>
              <a:t>1:1</a:t>
            </a:r>
            <a:r>
              <a:rPr lang="zh-CN" altLang="en-US" sz="1600" dirty="0">
                <a:sym typeface="Huawei Sans" panose="020C0503030203020204" pitchFamily="34" charset="0"/>
              </a:rPr>
              <a:t>方式映射到广播域</a:t>
            </a:r>
            <a:r>
              <a:rPr lang="en-US" altLang="zh-CN" sz="1600" dirty="0">
                <a:sym typeface="Huawei Sans" panose="020C0503030203020204" pitchFamily="34" charset="0"/>
              </a:rPr>
              <a:t>BD</a:t>
            </a:r>
            <a:r>
              <a:rPr lang="zh-CN" altLang="en-US" sz="1600" dirty="0">
                <a:sym typeface="Huawei Sans" panose="020C0503030203020204" pitchFamily="34" charset="0"/>
              </a:rPr>
              <a:t>，同一个</a:t>
            </a:r>
            <a:r>
              <a:rPr lang="en-US" altLang="zh-CN" sz="1600" dirty="0">
                <a:sym typeface="Huawei Sans" panose="020C0503030203020204" pitchFamily="34" charset="0"/>
              </a:rPr>
              <a:t>BD</a:t>
            </a:r>
            <a:r>
              <a:rPr lang="zh-CN" altLang="en-US" sz="1600" dirty="0">
                <a:sym typeface="Huawei Sans" panose="020C0503030203020204" pitchFamily="34" charset="0"/>
              </a:rPr>
              <a:t>内的终端可以进行二层互通。</a:t>
            </a:r>
          </a:p>
        </p:txBody>
      </p:sp>
    </p:spTree>
    <p:extLst>
      <p:ext uri="{BB962C8B-B14F-4D97-AF65-F5344CB8AC3E}">
        <p14:creationId xmlns:p14="http://schemas.microsoft.com/office/powerpoint/2010/main" val="31704509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F86A11-0DEE-4CA0-879B-C0A4994AD39F}"/>
              </a:ext>
            </a:extLst>
          </p:cNvPr>
          <p:cNvSpPr>
            <a:spLocks noGrp="1"/>
          </p:cNvSpPr>
          <p:nvPr>
            <p:ph type="title"/>
          </p:nvPr>
        </p:nvSpPr>
        <p:spPr bwMode="gray"/>
        <p:txBody>
          <a:bodyPr/>
          <a:lstStyle/>
          <a:p>
            <a:r>
              <a:rPr lang="en-US" altLang="zh-CN">
                <a:sym typeface="Huawei Sans" panose="020C0503030203020204" pitchFamily="34" charset="0"/>
              </a:rPr>
              <a:t>VXLAN</a:t>
            </a:r>
            <a:r>
              <a:rPr lang="zh-CN" altLang="en-US">
                <a:sym typeface="Huawei Sans" panose="020C0503030203020204" pitchFamily="34" charset="0"/>
              </a:rPr>
              <a:t>基本概念：</a:t>
            </a:r>
            <a:r>
              <a:rPr lang="en-US" altLang="zh-CN">
                <a:sym typeface="Huawei Sans" panose="020C0503030203020204" pitchFamily="34" charset="0"/>
              </a:rPr>
              <a:t>VAP</a:t>
            </a:r>
            <a:endParaRPr lang="zh-CN" altLang="en-US">
              <a:sym typeface="Huawei Sans" panose="020C0503030203020204" pitchFamily="34" charset="0"/>
            </a:endParaRPr>
          </a:p>
        </p:txBody>
      </p:sp>
      <p:sp>
        <p:nvSpPr>
          <p:cNvPr id="4" name="文本占位符 3"/>
          <p:cNvSpPr>
            <a:spLocks noGrp="1"/>
          </p:cNvSpPr>
          <p:nvPr>
            <p:ph type="body" sz="quarter" idx="10"/>
          </p:nvPr>
        </p:nvSpPr>
        <p:spPr bwMode="gray">
          <a:xfrm>
            <a:off x="455613" y="1047750"/>
            <a:ext cx="11256962" cy="2086421"/>
          </a:xfrm>
        </p:spPr>
        <p:txBody>
          <a:bodyPr/>
          <a:lstStyle/>
          <a:p>
            <a:r>
              <a:rPr lang="en-US" altLang="zh-CN" sz="1800" dirty="0">
                <a:sym typeface="Huawei Sans" panose="020C0503030203020204" pitchFamily="34" charset="0"/>
              </a:rPr>
              <a:t>VAP</a:t>
            </a:r>
            <a:r>
              <a:rPr lang="zh-CN" altLang="en-US" sz="1800" dirty="0">
                <a:sym typeface="Huawei Sans" panose="020C0503030203020204" pitchFamily="34" charset="0"/>
              </a:rPr>
              <a:t>（</a:t>
            </a:r>
            <a:r>
              <a:rPr lang="en-US" altLang="zh-CN" sz="1800" dirty="0">
                <a:sym typeface="Huawei Sans" panose="020C0503030203020204" pitchFamily="34" charset="0"/>
              </a:rPr>
              <a:t>Virtual Access Point</a:t>
            </a:r>
            <a:r>
              <a:rPr lang="zh-CN" altLang="en-US" sz="1800" dirty="0">
                <a:sym typeface="Huawei Sans" panose="020C0503030203020204" pitchFamily="34" charset="0"/>
              </a:rPr>
              <a:t>，虚拟接入点）：</a:t>
            </a:r>
          </a:p>
          <a:p>
            <a:pPr lvl="1"/>
            <a:r>
              <a:rPr lang="zh-CN" altLang="en-US" sz="1600" dirty="0">
                <a:sym typeface="Huawei Sans" panose="020C0503030203020204" pitchFamily="34" charset="0"/>
              </a:rPr>
              <a:t>实现</a:t>
            </a:r>
            <a:r>
              <a:rPr lang="en-US" altLang="zh-CN" sz="1600" dirty="0">
                <a:sym typeface="Huawei Sans" panose="020C0503030203020204" pitchFamily="34" charset="0"/>
              </a:rPr>
              <a:t>VXLAN</a:t>
            </a:r>
            <a:r>
              <a:rPr lang="zh-CN" altLang="en-US" sz="1600" dirty="0">
                <a:sym typeface="Huawei Sans" panose="020C0503030203020204" pitchFamily="34" charset="0"/>
              </a:rPr>
              <a:t>的业务接入。</a:t>
            </a:r>
            <a:endParaRPr lang="en-US" altLang="zh-CN" sz="1600" dirty="0">
              <a:sym typeface="Huawei Sans" panose="020C0503030203020204" pitchFamily="34" charset="0"/>
            </a:endParaRPr>
          </a:p>
          <a:p>
            <a:pPr lvl="1"/>
            <a:r>
              <a:rPr lang="en-US" altLang="zh-CN" sz="1600" dirty="0">
                <a:sym typeface="Huawei Sans" panose="020C0503030203020204" pitchFamily="34" charset="0"/>
              </a:rPr>
              <a:t>VAP</a:t>
            </a:r>
            <a:r>
              <a:rPr lang="zh-CN" altLang="en-US" sz="1600" dirty="0">
                <a:sym typeface="Huawei Sans" panose="020C0503030203020204" pitchFamily="34" charset="0"/>
              </a:rPr>
              <a:t>有两种配置方式，二层子接口方式或者</a:t>
            </a:r>
            <a:r>
              <a:rPr lang="en-US" altLang="zh-CN" sz="1600" dirty="0">
                <a:sym typeface="Huawei Sans" panose="020C0503030203020204" pitchFamily="34" charset="0"/>
              </a:rPr>
              <a:t>VLAN</a:t>
            </a:r>
            <a:r>
              <a:rPr lang="zh-CN" altLang="en-US" sz="1600" dirty="0">
                <a:sym typeface="Huawei Sans" panose="020C0503030203020204" pitchFamily="34" charset="0"/>
              </a:rPr>
              <a:t>绑定方式：</a:t>
            </a:r>
          </a:p>
          <a:p>
            <a:pPr lvl="2"/>
            <a:r>
              <a:rPr lang="zh-CN" altLang="en-US" sz="1400" dirty="0">
                <a:sym typeface="Huawei Sans" panose="020C0503030203020204" pitchFamily="34" charset="0"/>
              </a:rPr>
              <a:t>二层子接口方式接入，例如在</a:t>
            </a:r>
            <a:r>
              <a:rPr lang="en-US" altLang="zh-CN" sz="1400" dirty="0">
                <a:sym typeface="Huawei Sans" panose="020C0503030203020204" pitchFamily="34" charset="0"/>
              </a:rPr>
              <a:t>SW1</a:t>
            </a:r>
            <a:r>
              <a:rPr lang="zh-CN" altLang="en-US" sz="1400" dirty="0">
                <a:sym typeface="Huawei Sans" panose="020C0503030203020204" pitchFamily="34" charset="0"/>
              </a:rPr>
              <a:t>创建二层子接口关联</a:t>
            </a:r>
            <a:r>
              <a:rPr lang="en-US" altLang="zh-CN" sz="1400" dirty="0">
                <a:sym typeface="Huawei Sans" panose="020C0503030203020204" pitchFamily="34" charset="0"/>
              </a:rPr>
              <a:t>BD 10</a:t>
            </a:r>
            <a:r>
              <a:rPr lang="zh-CN" altLang="en-US" sz="1400" dirty="0">
                <a:sym typeface="Huawei Sans" panose="020C0503030203020204" pitchFamily="34" charset="0"/>
              </a:rPr>
              <a:t>，则这个子接口下的特定流量会被注入到</a:t>
            </a:r>
            <a:r>
              <a:rPr lang="en-US" altLang="zh-CN" sz="1400" dirty="0">
                <a:sym typeface="Huawei Sans" panose="020C0503030203020204" pitchFamily="34" charset="0"/>
              </a:rPr>
              <a:t>BD 10</a:t>
            </a:r>
            <a:r>
              <a:rPr lang="zh-CN" altLang="en-US" sz="1400" dirty="0">
                <a:sym typeface="Huawei Sans" panose="020C0503030203020204" pitchFamily="34" charset="0"/>
              </a:rPr>
              <a:t>。</a:t>
            </a:r>
          </a:p>
          <a:p>
            <a:pPr lvl="2"/>
            <a:r>
              <a:rPr lang="en-US" altLang="zh-CN" sz="1400" dirty="0">
                <a:sym typeface="Huawei Sans" panose="020C0503030203020204" pitchFamily="34" charset="0"/>
              </a:rPr>
              <a:t>VLAN</a:t>
            </a:r>
            <a:r>
              <a:rPr lang="zh-CN" altLang="en-US" sz="1400" dirty="0">
                <a:sym typeface="Huawei Sans" panose="020C0503030203020204" pitchFamily="34" charset="0"/>
              </a:rPr>
              <a:t>绑定方式接入，例如在</a:t>
            </a:r>
            <a:r>
              <a:rPr lang="en-US" altLang="zh-CN" sz="1400" dirty="0">
                <a:sym typeface="Huawei Sans" panose="020C0503030203020204" pitchFamily="34" charset="0"/>
              </a:rPr>
              <a:t>SW2</a:t>
            </a:r>
            <a:r>
              <a:rPr lang="zh-CN" altLang="en-US" sz="1400" dirty="0">
                <a:sym typeface="Huawei Sans" panose="020C0503030203020204" pitchFamily="34" charset="0"/>
              </a:rPr>
              <a:t>配置</a:t>
            </a:r>
            <a:r>
              <a:rPr lang="en-US" altLang="zh-CN" sz="1400" dirty="0">
                <a:sym typeface="Huawei Sans" panose="020C0503030203020204" pitchFamily="34" charset="0"/>
              </a:rPr>
              <a:t>VLAN 10</a:t>
            </a:r>
            <a:r>
              <a:rPr lang="zh-CN" altLang="en-US" sz="1400" dirty="0">
                <a:sym typeface="Huawei Sans" panose="020C0503030203020204" pitchFamily="34" charset="0"/>
              </a:rPr>
              <a:t>与广播域</a:t>
            </a:r>
            <a:r>
              <a:rPr lang="en-US" altLang="zh-CN" sz="1400" dirty="0">
                <a:sym typeface="Huawei Sans" panose="020C0503030203020204" pitchFamily="34" charset="0"/>
              </a:rPr>
              <a:t>BD 10</a:t>
            </a:r>
            <a:r>
              <a:rPr lang="zh-CN" altLang="en-US" sz="1400" dirty="0">
                <a:sym typeface="Huawei Sans" panose="020C0503030203020204" pitchFamily="34" charset="0"/>
              </a:rPr>
              <a:t>关联，则所有</a:t>
            </a:r>
            <a:r>
              <a:rPr lang="en-US" altLang="zh-CN" sz="1400" dirty="0">
                <a:sym typeface="Huawei Sans" panose="020C0503030203020204" pitchFamily="34" charset="0"/>
              </a:rPr>
              <a:t>VLAN10</a:t>
            </a:r>
            <a:r>
              <a:rPr lang="zh-CN" altLang="en-US" sz="1400" dirty="0">
                <a:sym typeface="Huawei Sans" panose="020C0503030203020204" pitchFamily="34" charset="0"/>
              </a:rPr>
              <a:t>的流量会被注入到</a:t>
            </a:r>
            <a:r>
              <a:rPr lang="en-US" altLang="zh-CN" sz="1400" dirty="0">
                <a:sym typeface="Huawei Sans" panose="020C0503030203020204" pitchFamily="34" charset="0"/>
              </a:rPr>
              <a:t>BD 10</a:t>
            </a:r>
            <a:r>
              <a:rPr lang="zh-CN" altLang="en-US" sz="1400" dirty="0">
                <a:sym typeface="Huawei Sans" panose="020C0503030203020204" pitchFamily="34" charset="0"/>
              </a:rPr>
              <a:t>。</a:t>
            </a:r>
          </a:p>
        </p:txBody>
      </p:sp>
      <p:sp>
        <p:nvSpPr>
          <p:cNvPr id="53" name="文本框 52">
            <a:extLst>
              <a:ext uri="{FF2B5EF4-FFF2-40B4-BE49-F238E27FC236}">
                <a16:creationId xmlns:a16="http://schemas.microsoft.com/office/drawing/2014/main" id="{48261580-01AC-47F6-BD8A-52AE184521DC}"/>
              </a:ext>
            </a:extLst>
          </p:cNvPr>
          <p:cNvSpPr txBox="1"/>
          <p:nvPr/>
        </p:nvSpPr>
        <p:spPr bwMode="gray">
          <a:xfrm>
            <a:off x="3191017" y="4133352"/>
            <a:ext cx="575799" cy="307777"/>
          </a:xfrm>
          <a:prstGeom prst="rect">
            <a:avLst/>
          </a:prstGeom>
        </p:spPr>
        <p:txBody>
          <a:bodyPr wrap="none" rtlCol="0">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文本框 53">
            <a:extLst>
              <a:ext uri="{FF2B5EF4-FFF2-40B4-BE49-F238E27FC236}">
                <a16:creationId xmlns:a16="http://schemas.microsoft.com/office/drawing/2014/main" id="{D59EA876-A37B-4163-A957-CD214692C151}"/>
              </a:ext>
            </a:extLst>
          </p:cNvPr>
          <p:cNvSpPr txBox="1"/>
          <p:nvPr/>
        </p:nvSpPr>
        <p:spPr bwMode="gray">
          <a:xfrm>
            <a:off x="8490022" y="4125166"/>
            <a:ext cx="575799" cy="307777"/>
          </a:xfrm>
          <a:prstGeom prst="rect">
            <a:avLst/>
          </a:prstGeom>
        </p:spPr>
        <p:txBody>
          <a:bodyPr wrap="none" rtlCol="0">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5" name="直接连接符 54"/>
          <p:cNvCxnSpPr/>
          <p:nvPr/>
        </p:nvCxnSpPr>
        <p:spPr bwMode="gray">
          <a:xfrm flipH="1">
            <a:off x="8796783" y="4634457"/>
            <a:ext cx="171841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bwMode="gray">
          <a:xfrm flipH="1">
            <a:off x="1639558" y="4634457"/>
            <a:ext cx="181394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7" name="组合 56"/>
          <p:cNvGrpSpPr/>
          <p:nvPr/>
        </p:nvGrpSpPr>
        <p:grpSpPr bwMode="gray">
          <a:xfrm>
            <a:off x="3478917" y="3789706"/>
            <a:ext cx="5295126" cy="821924"/>
            <a:chOff x="6600056" y="4353447"/>
            <a:chExt cx="1296144" cy="833967"/>
          </a:xfrm>
        </p:grpSpPr>
        <p:cxnSp>
          <p:nvCxnSpPr>
            <p:cNvPr id="58" name="直接连接符 57"/>
            <p:cNvCxnSpPr/>
            <p:nvPr/>
          </p:nvCxnSpPr>
          <p:spPr bwMode="gray">
            <a:xfrm flipH="1">
              <a:off x="6600056" y="4353447"/>
              <a:ext cx="648072" cy="83396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bwMode="gray">
            <a:xfrm>
              <a:off x="7248128" y="4353447"/>
              <a:ext cx="648072" cy="833967"/>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0" name="矩形 59"/>
          <p:cNvSpPr/>
          <p:nvPr/>
        </p:nvSpPr>
        <p:spPr bwMode="gray">
          <a:xfrm>
            <a:off x="679004" y="3820871"/>
            <a:ext cx="1377301" cy="523220"/>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PC1</a:t>
            </a:r>
          </a:p>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192.168.1.1/24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矩形 60"/>
          <p:cNvSpPr/>
          <p:nvPr/>
        </p:nvSpPr>
        <p:spPr bwMode="gray">
          <a:xfrm rot="20513042">
            <a:off x="4396838" y="3900508"/>
            <a:ext cx="736100" cy="307777"/>
          </a:xfrm>
          <a:prstGeom prst="rect">
            <a:avLst/>
          </a:prstGeom>
        </p:spPr>
        <p:txBody>
          <a:bodyPr wrap="none">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链路</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矩形 61"/>
          <p:cNvSpPr/>
          <p:nvPr/>
        </p:nvSpPr>
        <p:spPr bwMode="gray">
          <a:xfrm rot="993331">
            <a:off x="6974624" y="3852213"/>
            <a:ext cx="761747" cy="307777"/>
          </a:xfrm>
          <a:prstGeom prst="rect">
            <a:avLst/>
          </a:prstGeom>
        </p:spPr>
        <p:txBody>
          <a:bodyPr wrap="none">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链路</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矩形 62"/>
          <p:cNvSpPr/>
          <p:nvPr/>
        </p:nvSpPr>
        <p:spPr bwMode="gray">
          <a:xfrm>
            <a:off x="10075117" y="3820871"/>
            <a:ext cx="1377301" cy="523220"/>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PC2</a:t>
            </a:r>
          </a:p>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192.168.1.2/24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4" name="图片 11" descr="开放网络-蓝.png"/>
          <p:cNvPicPr>
            <a:picLocks noChangeAspect="1"/>
          </p:cNvPicPr>
          <p:nvPr/>
        </p:nvPicPr>
        <p:blipFill>
          <a:blip r:embed="rId3" cstate="print"/>
          <a:stretch>
            <a:fillRect/>
          </a:stretch>
        </p:blipFill>
        <p:spPr bwMode="gray">
          <a:xfrm>
            <a:off x="1099951" y="4387609"/>
            <a:ext cx="539607" cy="415381"/>
          </a:xfrm>
          <a:prstGeom prst="rect">
            <a:avLst/>
          </a:prstGeom>
        </p:spPr>
      </p:pic>
      <p:pic>
        <p:nvPicPr>
          <p:cNvPr id="65" name="图片 11" descr="开放网络-蓝.png"/>
          <p:cNvPicPr>
            <a:picLocks noChangeAspect="1"/>
          </p:cNvPicPr>
          <p:nvPr/>
        </p:nvPicPr>
        <p:blipFill>
          <a:blip r:embed="rId3" cstate="print"/>
          <a:stretch>
            <a:fillRect/>
          </a:stretch>
        </p:blipFill>
        <p:spPr bwMode="gray">
          <a:xfrm>
            <a:off x="10515195" y="4387609"/>
            <a:ext cx="539607" cy="415381"/>
          </a:xfrm>
          <a:prstGeom prst="rect">
            <a:avLst/>
          </a:prstGeom>
        </p:spPr>
      </p:pic>
      <p:pic>
        <p:nvPicPr>
          <p:cNvPr id="66" name="图片 87" descr="汇聚交换机.png"/>
          <p:cNvPicPr>
            <a:picLocks noChangeAspect="1"/>
          </p:cNvPicPr>
          <p:nvPr/>
        </p:nvPicPr>
        <p:blipFill>
          <a:blip r:embed="rId4" cstate="print"/>
          <a:stretch>
            <a:fillRect/>
          </a:stretch>
        </p:blipFill>
        <p:spPr bwMode="gray">
          <a:xfrm>
            <a:off x="3208917" y="4435048"/>
            <a:ext cx="540000" cy="441818"/>
          </a:xfrm>
          <a:prstGeom prst="rect">
            <a:avLst/>
          </a:prstGeom>
        </p:spPr>
      </p:pic>
      <p:pic>
        <p:nvPicPr>
          <p:cNvPr id="67" name="图片 87" descr="汇聚交换机.png"/>
          <p:cNvPicPr>
            <a:picLocks noChangeAspect="1"/>
          </p:cNvPicPr>
          <p:nvPr/>
        </p:nvPicPr>
        <p:blipFill>
          <a:blip r:embed="rId4" cstate="print"/>
          <a:stretch>
            <a:fillRect/>
          </a:stretch>
        </p:blipFill>
        <p:spPr bwMode="gray">
          <a:xfrm>
            <a:off x="8507922" y="4435048"/>
            <a:ext cx="540000" cy="441818"/>
          </a:xfrm>
          <a:prstGeom prst="rect">
            <a:avLst/>
          </a:prstGeom>
        </p:spPr>
      </p:pic>
      <p:grpSp>
        <p:nvGrpSpPr>
          <p:cNvPr id="6" name="组合 5"/>
          <p:cNvGrpSpPr/>
          <p:nvPr/>
        </p:nvGrpSpPr>
        <p:grpSpPr bwMode="gray">
          <a:xfrm>
            <a:off x="3798574" y="4525167"/>
            <a:ext cx="4636766" cy="351699"/>
            <a:chOff x="3798574" y="5152372"/>
            <a:chExt cx="4636766" cy="351699"/>
          </a:xfrm>
        </p:grpSpPr>
        <p:sp>
          <p:nvSpPr>
            <p:cNvPr id="68" name="圆柱形 67"/>
            <p:cNvSpPr/>
            <p:nvPr/>
          </p:nvSpPr>
          <p:spPr bwMode="gray">
            <a:xfrm rot="16200000">
              <a:off x="5977171" y="3009840"/>
              <a:ext cx="279572" cy="4636766"/>
            </a:xfrm>
            <a:prstGeom prst="can">
              <a:avLst>
                <a:gd name="adj" fmla="val 79712"/>
              </a:avLst>
            </a:prstGeom>
            <a:solidFill>
              <a:srgbClr val="EC7061"/>
            </a:solidFill>
            <a:ln w="12700" cap="flat" cmpd="sng" algn="ctr">
              <a:solidFill>
                <a:sysClr val="window" lastClr="FFFFFF"/>
              </a:solidFill>
              <a:prstDash val="solid"/>
              <a:miter lim="800000"/>
            </a:ln>
            <a:effectLst/>
          </p:spPr>
          <p:txBody>
            <a:bodyPr rtlCol="0" anchor="ctr"/>
            <a:lstStyle/>
            <a:p>
              <a:pPr algn="ctr"/>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矩形 68"/>
            <p:cNvSpPr/>
            <p:nvPr/>
          </p:nvSpPr>
          <p:spPr bwMode="gray">
            <a:xfrm>
              <a:off x="5562008" y="5152372"/>
              <a:ext cx="1197764" cy="351699"/>
            </a:xfrm>
            <a:prstGeom prst="rect">
              <a:avLst/>
            </a:prstGeom>
          </p:spPr>
          <p:txBody>
            <a:bodyPr wrap="none">
              <a:spAutoFit/>
            </a:bodyPr>
            <a:lstStyle/>
            <a:p>
              <a:pPr algn="ctr">
                <a:lnSpc>
                  <a:spcPts val="2200"/>
                </a:lnSpc>
              </a:pP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 </a:t>
              </a:r>
              <a:r>
                <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74" name="文本框 73">
            <a:extLst>
              <a:ext uri="{FF2B5EF4-FFF2-40B4-BE49-F238E27FC236}">
                <a16:creationId xmlns:a16="http://schemas.microsoft.com/office/drawing/2014/main" id="{1FBEDEA0-AC0E-4152-8B11-C28EC6AA2D88}"/>
              </a:ext>
            </a:extLst>
          </p:cNvPr>
          <p:cNvSpPr txBox="1"/>
          <p:nvPr/>
        </p:nvSpPr>
        <p:spPr bwMode="gray">
          <a:xfrm>
            <a:off x="2077968" y="4655957"/>
            <a:ext cx="1162498" cy="584775"/>
          </a:xfrm>
          <a:prstGeom prst="rect">
            <a:avLst/>
          </a:prstGeom>
        </p:spPr>
        <p:txBody>
          <a:bodyPr wrap="none" rtlCol="0">
            <a:spAutoFit/>
          </a:bodyPr>
          <a:lstStyle/>
          <a:p>
            <a:pPr algn="r"/>
            <a:r>
              <a:rPr lang="en-US" altLang="zh-CN" sz="16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G0/0/1.1</a:t>
            </a:r>
          </a:p>
          <a:p>
            <a:pPr algn="r"/>
            <a:r>
              <a:rPr lang="zh-CN" altLang="en-US"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绑定</a:t>
            </a:r>
            <a:r>
              <a:rPr lang="en-US" altLang="zh-CN"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BD 10</a:t>
            </a:r>
            <a:endParaRPr lang="zh-CN" altLang="en-US"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文本框 92">
            <a:extLst>
              <a:ext uri="{FF2B5EF4-FFF2-40B4-BE49-F238E27FC236}">
                <a16:creationId xmlns:a16="http://schemas.microsoft.com/office/drawing/2014/main" id="{0A5B2AF6-19C4-4372-8500-47CC4C035781}"/>
              </a:ext>
            </a:extLst>
          </p:cNvPr>
          <p:cNvSpPr txBox="1"/>
          <p:nvPr/>
        </p:nvSpPr>
        <p:spPr bwMode="gray">
          <a:xfrm>
            <a:off x="8077971" y="5213861"/>
            <a:ext cx="1415772" cy="584775"/>
          </a:xfrm>
          <a:prstGeom prst="rect">
            <a:avLst/>
          </a:prstGeom>
        </p:spPr>
        <p:txBody>
          <a:bodyPr wrap="none" rtlCol="0">
            <a:spAutoFit/>
          </a:bodyPr>
          <a:lstStyle/>
          <a:p>
            <a:pPr algn="ctr"/>
            <a:r>
              <a:rPr lang="en-US" altLang="zh-CN" sz="16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BD 10</a:t>
            </a:r>
          </a:p>
          <a:p>
            <a:pPr algn="l"/>
            <a:r>
              <a:rPr lang="zh-CN" altLang="en-US"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绑定</a:t>
            </a:r>
            <a:r>
              <a:rPr lang="en-US" altLang="zh-CN"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VLAN 10</a:t>
            </a:r>
          </a:p>
        </p:txBody>
      </p:sp>
      <p:cxnSp>
        <p:nvCxnSpPr>
          <p:cNvPr id="94" name="直接箭头连接符 93">
            <a:extLst>
              <a:ext uri="{FF2B5EF4-FFF2-40B4-BE49-F238E27FC236}">
                <a16:creationId xmlns:a16="http://schemas.microsoft.com/office/drawing/2014/main" id="{A7633003-F965-4A0A-8E84-ECD85D6A12E9}"/>
              </a:ext>
            </a:extLst>
          </p:cNvPr>
          <p:cNvCxnSpPr>
            <a:cxnSpLocks/>
          </p:cNvCxnSpPr>
          <p:nvPr/>
        </p:nvCxnSpPr>
        <p:spPr bwMode="gray">
          <a:xfrm>
            <a:off x="8759017" y="4920930"/>
            <a:ext cx="0" cy="299669"/>
          </a:xfrm>
          <a:prstGeom prst="straightConnector1">
            <a:avLst/>
          </a:prstGeom>
          <a:ln w="28575">
            <a:solidFill>
              <a:srgbClr val="EC706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7" name="Oval 4">
            <a:extLst>
              <a:ext uri="{FF2B5EF4-FFF2-40B4-BE49-F238E27FC236}">
                <a16:creationId xmlns:a16="http://schemas.microsoft.com/office/drawing/2014/main" id="{FCDB5D1F-8110-4E01-9EAF-8DAAF84752EC}"/>
              </a:ext>
            </a:extLst>
          </p:cNvPr>
          <p:cNvSpPr>
            <a:spLocks noChangeAspect="1"/>
          </p:cNvSpPr>
          <p:nvPr/>
        </p:nvSpPr>
        <p:spPr bwMode="gray">
          <a:xfrm>
            <a:off x="2854831" y="4287240"/>
            <a:ext cx="252000" cy="252000"/>
          </a:xfrm>
          <a:prstGeom prst="ellipse">
            <a:avLst/>
          </a:prstGeom>
          <a:solidFill>
            <a:srgbClr val="EC706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Oval 4">
            <a:extLst>
              <a:ext uri="{FF2B5EF4-FFF2-40B4-BE49-F238E27FC236}">
                <a16:creationId xmlns:a16="http://schemas.microsoft.com/office/drawing/2014/main" id="{FCDB5D1F-8110-4E01-9EAF-8DAAF84752EC}"/>
              </a:ext>
            </a:extLst>
          </p:cNvPr>
          <p:cNvSpPr>
            <a:spLocks noChangeAspect="1"/>
          </p:cNvSpPr>
          <p:nvPr/>
        </p:nvSpPr>
        <p:spPr bwMode="gray">
          <a:xfrm>
            <a:off x="8874380" y="4941396"/>
            <a:ext cx="252000" cy="252000"/>
          </a:xfrm>
          <a:prstGeom prst="ellipse">
            <a:avLst/>
          </a:prstGeom>
          <a:solidFill>
            <a:srgbClr val="EC706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五边形 24">
            <a:extLst>
              <a:ext uri="{FF2B5EF4-FFF2-40B4-BE49-F238E27FC236}">
                <a16:creationId xmlns:a16="http://schemas.microsoft.com/office/drawing/2014/main" id="{94B96716-C28B-40EB-8E95-7453A9EDFF97}"/>
              </a:ext>
            </a:extLst>
          </p:cNvPr>
          <p:cNvSpPr/>
          <p:nvPr/>
        </p:nvSpPr>
        <p:spPr bwMode="gray">
          <a:xfrm>
            <a:off x="6832308" y="124239"/>
            <a:ext cx="781200" cy="213120"/>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NVE</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燕尾形 25">
            <a:extLst>
              <a:ext uri="{FF2B5EF4-FFF2-40B4-BE49-F238E27FC236}">
                <a16:creationId xmlns:a16="http://schemas.microsoft.com/office/drawing/2014/main" id="{B3835D4C-1B49-4581-A7CA-72BCE8067FFC}"/>
              </a:ext>
            </a:extLst>
          </p:cNvPr>
          <p:cNvSpPr/>
          <p:nvPr/>
        </p:nvSpPr>
        <p:spPr bwMode="gray">
          <a:xfrm>
            <a:off x="9084371" y="124239"/>
            <a:ext cx="78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VAP</a:t>
            </a:r>
          </a:p>
        </p:txBody>
      </p:sp>
      <p:sp>
        <p:nvSpPr>
          <p:cNvPr id="38" name="燕尾形 26">
            <a:extLst>
              <a:ext uri="{FF2B5EF4-FFF2-40B4-BE49-F238E27FC236}">
                <a16:creationId xmlns:a16="http://schemas.microsoft.com/office/drawing/2014/main" id="{9744301D-E99A-4BEF-A318-08CD9645DD40}"/>
              </a:ext>
            </a:extLst>
          </p:cNvPr>
          <p:cNvSpPr/>
          <p:nvPr/>
        </p:nvSpPr>
        <p:spPr bwMode="gray">
          <a:xfrm>
            <a:off x="10931980" y="124239"/>
            <a:ext cx="781200"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燕尾形 26">
            <a:extLst>
              <a:ext uri="{FF2B5EF4-FFF2-40B4-BE49-F238E27FC236}">
                <a16:creationId xmlns:a16="http://schemas.microsoft.com/office/drawing/2014/main" id="{BCE2539E-0076-4A5B-9B7B-AE0039DEB005}"/>
              </a:ext>
            </a:extLst>
          </p:cNvPr>
          <p:cNvSpPr/>
          <p:nvPr/>
        </p:nvSpPr>
        <p:spPr bwMode="gray">
          <a:xfrm>
            <a:off x="8299166" y="124239"/>
            <a:ext cx="864000"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VNI</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BD</a:t>
            </a:r>
          </a:p>
        </p:txBody>
      </p:sp>
      <p:sp>
        <p:nvSpPr>
          <p:cNvPr id="40" name="燕尾形 26">
            <a:extLst>
              <a:ext uri="{FF2B5EF4-FFF2-40B4-BE49-F238E27FC236}">
                <a16:creationId xmlns:a16="http://schemas.microsoft.com/office/drawing/2014/main" id="{65628728-0580-404A-8423-3F9266499728}"/>
              </a:ext>
            </a:extLst>
          </p:cNvPr>
          <p:cNvSpPr/>
          <p:nvPr/>
        </p:nvSpPr>
        <p:spPr bwMode="gray">
          <a:xfrm>
            <a:off x="7534713" y="124239"/>
            <a:ext cx="843248"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VTEP</a:t>
            </a:r>
          </a:p>
        </p:txBody>
      </p:sp>
      <p:sp>
        <p:nvSpPr>
          <p:cNvPr id="44" name="燕尾形 25">
            <a:extLst>
              <a:ext uri="{FF2B5EF4-FFF2-40B4-BE49-F238E27FC236}">
                <a16:creationId xmlns:a16="http://schemas.microsoft.com/office/drawing/2014/main" id="{B3835D4C-1B49-4581-A7CA-72BCE8067FFC}"/>
              </a:ext>
            </a:extLst>
          </p:cNvPr>
          <p:cNvSpPr/>
          <p:nvPr/>
        </p:nvSpPr>
        <p:spPr bwMode="gray">
          <a:xfrm>
            <a:off x="9786776" y="124239"/>
            <a:ext cx="1224000"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Edge</a:t>
            </a:r>
          </a:p>
        </p:txBody>
      </p:sp>
      <p:pic>
        <p:nvPicPr>
          <p:cNvPr id="34" name="图片 86" descr="核心交换机.png"/>
          <p:cNvPicPr>
            <a:picLocks noChangeAspect="1"/>
          </p:cNvPicPr>
          <p:nvPr/>
        </p:nvPicPr>
        <p:blipFill>
          <a:blip r:embed="rId5" cstate="print"/>
          <a:stretch>
            <a:fillRect/>
          </a:stretch>
        </p:blipFill>
        <p:spPr bwMode="gray">
          <a:xfrm>
            <a:off x="5857737" y="3599962"/>
            <a:ext cx="540000" cy="441818"/>
          </a:xfrm>
          <a:prstGeom prst="rect">
            <a:avLst/>
          </a:prstGeom>
        </p:spPr>
      </p:pic>
    </p:spTree>
    <p:extLst>
      <p:ext uri="{BB962C8B-B14F-4D97-AF65-F5344CB8AC3E}">
        <p14:creationId xmlns:p14="http://schemas.microsoft.com/office/powerpoint/2010/main" val="35250988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Freeform 159"/>
          <p:cNvSpPr/>
          <p:nvPr/>
        </p:nvSpPr>
        <p:spPr bwMode="gray">
          <a:xfrm flipH="1">
            <a:off x="3680178" y="1229484"/>
            <a:ext cx="4276158" cy="223527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b="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en-US" altLang="zh-CN" dirty="0">
                <a:sym typeface="Huawei Sans" panose="020C0503030203020204" pitchFamily="34" charset="0"/>
              </a:rPr>
              <a:t>VXLAN</a:t>
            </a:r>
            <a:r>
              <a:rPr lang="zh-CN" altLang="en-US" dirty="0">
                <a:sym typeface="Huawei Sans" panose="020C0503030203020204" pitchFamily="34" charset="0"/>
              </a:rPr>
              <a:t>基本概念：</a:t>
            </a:r>
            <a:r>
              <a:rPr lang="en-US" altLang="zh-CN" dirty="0">
                <a:sym typeface="Huawei Sans" panose="020C0503030203020204" pitchFamily="34" charset="0"/>
              </a:rPr>
              <a:t>Border</a:t>
            </a:r>
            <a:r>
              <a:rPr lang="zh-CN" altLang="en-US" dirty="0">
                <a:sym typeface="Huawei Sans" panose="020C0503030203020204" pitchFamily="34" charset="0"/>
              </a:rPr>
              <a:t>、</a:t>
            </a:r>
            <a:r>
              <a:rPr lang="en-US" altLang="zh-CN" dirty="0">
                <a:sym typeface="Huawei Sans" panose="020C0503030203020204" pitchFamily="34" charset="0"/>
              </a:rPr>
              <a:t>Edge</a:t>
            </a:r>
            <a:endParaRPr lang="zh-CN" altLang="en-US" dirty="0">
              <a:sym typeface="Huawei Sans" panose="020C0503030203020204" pitchFamily="34" charset="0"/>
            </a:endParaRPr>
          </a:p>
        </p:txBody>
      </p:sp>
      <p:sp>
        <p:nvSpPr>
          <p:cNvPr id="10" name="文本占位符 9"/>
          <p:cNvSpPr>
            <a:spLocks noGrp="1"/>
          </p:cNvSpPr>
          <p:nvPr>
            <p:ph type="body" sz="quarter" idx="10"/>
          </p:nvPr>
        </p:nvSpPr>
        <p:spPr bwMode="gray">
          <a:xfrm>
            <a:off x="455613" y="4911998"/>
            <a:ext cx="11256962" cy="1288777"/>
          </a:xfrm>
        </p:spPr>
        <p:txBody>
          <a:bodyPr/>
          <a:lstStyle/>
          <a:p>
            <a:r>
              <a:rPr lang="en-US" altLang="zh-CN" sz="1800" dirty="0">
                <a:sym typeface="Huawei Sans" panose="020C0503030203020204" pitchFamily="34" charset="0"/>
              </a:rPr>
              <a:t>Edge</a:t>
            </a:r>
            <a:r>
              <a:rPr lang="zh-CN" altLang="en-US" sz="1800" dirty="0">
                <a:sym typeface="Huawei Sans" panose="020C0503030203020204" pitchFamily="34" charset="0"/>
              </a:rPr>
              <a:t>：</a:t>
            </a:r>
            <a:r>
              <a:rPr lang="en-US" altLang="zh-CN" sz="1800" dirty="0">
                <a:sym typeface="Huawei Sans" panose="020C0503030203020204" pitchFamily="34" charset="0"/>
              </a:rPr>
              <a:t>VXLAN</a:t>
            </a:r>
            <a:r>
              <a:rPr lang="zh-CN" altLang="en-US" sz="1800" dirty="0">
                <a:sym typeface="Huawei Sans" panose="020C0503030203020204" pitchFamily="34" charset="0"/>
              </a:rPr>
              <a:t>网络的边缘接入设备，传统网络的流量由此进入</a:t>
            </a:r>
            <a:r>
              <a:rPr lang="en-US" altLang="zh-CN" sz="1800" dirty="0">
                <a:sym typeface="Huawei Sans" panose="020C0503030203020204" pitchFamily="34" charset="0"/>
              </a:rPr>
              <a:t>VXLAN</a:t>
            </a:r>
            <a:r>
              <a:rPr lang="zh-CN" altLang="en-US" sz="1800" dirty="0">
                <a:sym typeface="Huawei Sans" panose="020C0503030203020204" pitchFamily="34" charset="0"/>
              </a:rPr>
              <a:t>网络。</a:t>
            </a:r>
          </a:p>
          <a:p>
            <a:r>
              <a:rPr lang="en-US" altLang="zh-CN" sz="1800" dirty="0">
                <a:sym typeface="Huawei Sans" panose="020C0503030203020204" pitchFamily="34" charset="0"/>
              </a:rPr>
              <a:t>Border</a:t>
            </a:r>
            <a:r>
              <a:rPr lang="zh-CN" altLang="en-US" sz="1800" dirty="0">
                <a:sym typeface="Huawei Sans" panose="020C0503030203020204" pitchFamily="34" charset="0"/>
              </a:rPr>
              <a:t>：</a:t>
            </a:r>
            <a:r>
              <a:rPr lang="en-US" altLang="zh-CN" sz="1800" dirty="0">
                <a:sym typeface="Huawei Sans" panose="020C0503030203020204" pitchFamily="34" charset="0"/>
              </a:rPr>
              <a:t>VXLAN</a:t>
            </a:r>
            <a:r>
              <a:rPr lang="zh-CN" altLang="en-US" sz="1800" dirty="0">
                <a:sym typeface="Huawei Sans" panose="020C0503030203020204" pitchFamily="34" charset="0"/>
              </a:rPr>
              <a:t>网络和外部网络通信的节点，用于外部流量进入</a:t>
            </a:r>
            <a:r>
              <a:rPr lang="en-US" altLang="zh-CN" sz="1800" dirty="0">
                <a:sym typeface="Huawei Sans" panose="020C0503030203020204" pitchFamily="34" charset="0"/>
              </a:rPr>
              <a:t>VXLAN</a:t>
            </a:r>
            <a:r>
              <a:rPr lang="zh-CN" altLang="en-US" sz="1800" dirty="0">
                <a:sym typeface="Huawei Sans" panose="020C0503030203020204" pitchFamily="34" charset="0"/>
              </a:rPr>
              <a:t>网络或</a:t>
            </a:r>
            <a:r>
              <a:rPr lang="en-US" altLang="zh-CN" sz="1800" dirty="0">
                <a:sym typeface="Huawei Sans" panose="020C0503030203020204" pitchFamily="34" charset="0"/>
              </a:rPr>
              <a:t>VXLAN</a:t>
            </a:r>
            <a:r>
              <a:rPr lang="zh-CN" altLang="en-US" sz="1800" dirty="0">
                <a:sym typeface="Huawei Sans" panose="020C0503030203020204" pitchFamily="34" charset="0"/>
              </a:rPr>
              <a:t>内部流量访问外部，一般连接具有三层转发能力的设备（如</a:t>
            </a:r>
            <a:r>
              <a:rPr lang="en-US" altLang="zh-CN" sz="1800" dirty="0">
                <a:sym typeface="Huawei Sans" panose="020C0503030203020204" pitchFamily="34" charset="0"/>
              </a:rPr>
              <a:t>Router</a:t>
            </a:r>
            <a:r>
              <a:rPr lang="zh-CN" altLang="en-US" sz="1800" dirty="0">
                <a:sym typeface="Huawei Sans" panose="020C0503030203020204" pitchFamily="34" charset="0"/>
              </a:rPr>
              <a:t>、</a:t>
            </a:r>
            <a:r>
              <a:rPr lang="en-US" altLang="zh-CN" sz="1800" dirty="0">
                <a:sym typeface="Huawei Sans" panose="020C0503030203020204" pitchFamily="34" charset="0"/>
              </a:rPr>
              <a:t>Firewall</a:t>
            </a:r>
            <a:r>
              <a:rPr lang="zh-CN" altLang="en-US" sz="1800" dirty="0">
                <a:sym typeface="Huawei Sans" panose="020C0503030203020204" pitchFamily="34" charset="0"/>
              </a:rPr>
              <a:t>）。</a:t>
            </a:r>
          </a:p>
        </p:txBody>
      </p:sp>
      <p:grpSp>
        <p:nvGrpSpPr>
          <p:cNvPr id="26" name="组合 25"/>
          <p:cNvGrpSpPr/>
          <p:nvPr/>
        </p:nvGrpSpPr>
        <p:grpSpPr bwMode="gray">
          <a:xfrm>
            <a:off x="3761184" y="2857099"/>
            <a:ext cx="540000" cy="1763379"/>
            <a:chOff x="3723719" y="3468872"/>
            <a:chExt cx="540000" cy="1763379"/>
          </a:xfrm>
        </p:grpSpPr>
        <p:pic>
          <p:nvPicPr>
            <p:cNvPr id="4" name="图片 87" descr="汇聚交换机.png"/>
            <p:cNvPicPr>
              <a:picLocks/>
            </p:cNvPicPr>
            <p:nvPr/>
          </p:nvPicPr>
          <p:blipFill>
            <a:blip r:embed="rId3" cstate="print"/>
            <a:stretch>
              <a:fillRect/>
            </a:stretch>
          </p:blipFill>
          <p:spPr bwMode="gray">
            <a:xfrm>
              <a:off x="3723719" y="3468872"/>
              <a:ext cx="540000" cy="441818"/>
            </a:xfrm>
            <a:prstGeom prst="rect">
              <a:avLst/>
            </a:prstGeom>
          </p:spPr>
        </p:pic>
        <p:cxnSp>
          <p:nvCxnSpPr>
            <p:cNvPr id="13" name="直接连接符 12"/>
            <p:cNvCxnSpPr>
              <a:stCxn id="14" idx="0"/>
              <a:endCxn id="4" idx="2"/>
            </p:cNvCxnSpPr>
            <p:nvPr/>
          </p:nvCxnSpPr>
          <p:spPr bwMode="gray">
            <a:xfrm flipV="1">
              <a:off x="3993719" y="3910690"/>
              <a:ext cx="0" cy="8797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4" name="图片 13" descr="开放网络-蓝.png"/>
            <p:cNvPicPr>
              <a:picLocks/>
            </p:cNvPicPr>
            <p:nvPr/>
          </p:nvPicPr>
          <p:blipFill>
            <a:blip r:embed="rId4"/>
            <a:stretch>
              <a:fillRect/>
            </a:stretch>
          </p:blipFill>
          <p:spPr bwMode="gray">
            <a:xfrm>
              <a:off x="3723719" y="4790433"/>
              <a:ext cx="540000" cy="441818"/>
            </a:xfrm>
            <a:prstGeom prst="rect">
              <a:avLst/>
            </a:prstGeom>
          </p:spPr>
        </p:pic>
      </p:grpSp>
      <p:grpSp>
        <p:nvGrpSpPr>
          <p:cNvPr id="27" name="组合 26"/>
          <p:cNvGrpSpPr/>
          <p:nvPr/>
        </p:nvGrpSpPr>
        <p:grpSpPr bwMode="gray">
          <a:xfrm>
            <a:off x="5527175" y="2857099"/>
            <a:ext cx="540000" cy="1763379"/>
            <a:chOff x="5556000" y="3468872"/>
            <a:chExt cx="540000" cy="1763379"/>
          </a:xfrm>
        </p:grpSpPr>
        <p:pic>
          <p:nvPicPr>
            <p:cNvPr id="8" name="图片 87" descr="汇聚交换机.png"/>
            <p:cNvPicPr>
              <a:picLocks/>
            </p:cNvPicPr>
            <p:nvPr/>
          </p:nvPicPr>
          <p:blipFill>
            <a:blip r:embed="rId3" cstate="print"/>
            <a:stretch>
              <a:fillRect/>
            </a:stretch>
          </p:blipFill>
          <p:spPr bwMode="gray">
            <a:xfrm>
              <a:off x="5556000" y="3468872"/>
              <a:ext cx="540000" cy="441818"/>
            </a:xfrm>
            <a:prstGeom prst="rect">
              <a:avLst/>
            </a:prstGeom>
          </p:spPr>
        </p:pic>
        <p:pic>
          <p:nvPicPr>
            <p:cNvPr id="15" name="图片 14"/>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5556000" y="4790433"/>
              <a:ext cx="540000" cy="441818"/>
            </a:xfrm>
            <a:prstGeom prst="rect">
              <a:avLst/>
            </a:prstGeom>
          </p:spPr>
        </p:pic>
        <p:cxnSp>
          <p:nvCxnSpPr>
            <p:cNvPr id="18" name="直接连接符 17"/>
            <p:cNvCxnSpPr>
              <a:stCxn id="15" idx="0"/>
              <a:endCxn id="8" idx="2"/>
            </p:cNvCxnSpPr>
            <p:nvPr/>
          </p:nvCxnSpPr>
          <p:spPr bwMode="gray">
            <a:xfrm flipV="1">
              <a:off x="5826000" y="3910690"/>
              <a:ext cx="0" cy="8797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5" name="图片 87" descr="汇聚交换机.png"/>
          <p:cNvPicPr>
            <a:picLocks noChangeAspect="1"/>
          </p:cNvPicPr>
          <p:nvPr/>
        </p:nvPicPr>
        <p:blipFill>
          <a:blip r:embed="rId3" cstate="print"/>
          <a:stretch>
            <a:fillRect/>
          </a:stretch>
        </p:blipFill>
        <p:spPr bwMode="gray">
          <a:xfrm>
            <a:off x="7293166" y="2857099"/>
            <a:ext cx="540000" cy="441818"/>
          </a:xfrm>
          <a:prstGeom prst="rect">
            <a:avLst/>
          </a:prstGeom>
        </p:spPr>
      </p:pic>
      <p:cxnSp>
        <p:nvCxnSpPr>
          <p:cNvPr id="21" name="直接连接符 20"/>
          <p:cNvCxnSpPr>
            <a:stCxn id="9" idx="0"/>
            <a:endCxn id="5" idx="2"/>
          </p:cNvCxnSpPr>
          <p:nvPr/>
        </p:nvCxnSpPr>
        <p:spPr bwMode="gray">
          <a:xfrm flipV="1">
            <a:off x="7563166" y="3298917"/>
            <a:ext cx="0" cy="87925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圆角矩形 75"/>
          <p:cNvSpPr/>
          <p:nvPr/>
        </p:nvSpPr>
        <p:spPr bwMode="gray">
          <a:xfrm>
            <a:off x="3276423" y="2817227"/>
            <a:ext cx="1438725" cy="1969265"/>
          </a:xfrm>
          <a:prstGeom prst="roundRect">
            <a:avLst>
              <a:gd name="adj" fmla="val 874"/>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圆角矩形 75"/>
          <p:cNvSpPr/>
          <p:nvPr/>
        </p:nvSpPr>
        <p:spPr bwMode="gray">
          <a:xfrm>
            <a:off x="5077812" y="2817227"/>
            <a:ext cx="1438725" cy="1969265"/>
          </a:xfrm>
          <a:prstGeom prst="roundRect">
            <a:avLst>
              <a:gd name="adj" fmla="val 874"/>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圆角矩形 75"/>
          <p:cNvSpPr/>
          <p:nvPr/>
        </p:nvSpPr>
        <p:spPr bwMode="gray">
          <a:xfrm>
            <a:off x="6843803" y="2817227"/>
            <a:ext cx="1438725" cy="1969265"/>
          </a:xfrm>
          <a:prstGeom prst="roundRect">
            <a:avLst>
              <a:gd name="adj" fmla="val 874"/>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矩形 32"/>
          <p:cNvSpPr/>
          <p:nvPr/>
        </p:nvSpPr>
        <p:spPr bwMode="gray">
          <a:xfrm>
            <a:off x="5278357" y="1755051"/>
            <a:ext cx="1239443" cy="338554"/>
          </a:xfrm>
          <a:prstGeom prst="rect">
            <a:avLst/>
          </a:prstGeom>
        </p:spPr>
        <p:txBody>
          <a:bodyPr wrap="none">
            <a:spAutoFit/>
          </a:bodyPr>
          <a:lstStyle/>
          <a:p>
            <a:pPr algn="ctr"/>
            <a:r>
              <a:rPr lang="en-US" altLang="zh-CN"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网络</a:t>
            </a:r>
          </a:p>
        </p:txBody>
      </p:sp>
      <p:sp>
        <p:nvSpPr>
          <p:cNvPr id="34" name="Freeform 159"/>
          <p:cNvSpPr/>
          <p:nvPr/>
        </p:nvSpPr>
        <p:spPr bwMode="gray">
          <a:xfrm flipH="1">
            <a:off x="6938505" y="4303675"/>
            <a:ext cx="1249321" cy="63458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b="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矩形 34"/>
          <p:cNvSpPr/>
          <p:nvPr/>
        </p:nvSpPr>
        <p:spPr bwMode="gray">
          <a:xfrm>
            <a:off x="7049447" y="4599709"/>
            <a:ext cx="1005403" cy="338554"/>
          </a:xfrm>
          <a:prstGeom prst="rect">
            <a:avLst/>
          </a:prstGeom>
        </p:spPr>
        <p:txBody>
          <a:bodyPr wrap="none">
            <a:spAutoFit/>
          </a:bodyPr>
          <a:lstStyle/>
          <a:p>
            <a:pPr algn="ctr"/>
            <a:r>
              <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外部网络</a:t>
            </a:r>
          </a:p>
        </p:txBody>
      </p:sp>
      <p:sp>
        <p:nvSpPr>
          <p:cNvPr id="36" name="矩形 35"/>
          <p:cNvSpPr/>
          <p:nvPr/>
        </p:nvSpPr>
        <p:spPr bwMode="gray">
          <a:xfrm>
            <a:off x="3709621" y="2515661"/>
            <a:ext cx="643126" cy="338554"/>
          </a:xfrm>
          <a:prstGeom prst="rect">
            <a:avLst/>
          </a:prstGeom>
        </p:spPr>
        <p:txBody>
          <a:bodyPr wrap="none">
            <a:spAutoFit/>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Edge</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矩形 36"/>
          <p:cNvSpPr/>
          <p:nvPr/>
        </p:nvSpPr>
        <p:spPr bwMode="gray">
          <a:xfrm>
            <a:off x="5475173" y="2515661"/>
            <a:ext cx="643126" cy="338554"/>
          </a:xfrm>
          <a:prstGeom prst="rect">
            <a:avLst/>
          </a:prstGeom>
        </p:spPr>
        <p:txBody>
          <a:bodyPr wrap="none">
            <a:spAutoFit/>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Edge</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矩形 37"/>
          <p:cNvSpPr/>
          <p:nvPr/>
        </p:nvSpPr>
        <p:spPr bwMode="gray">
          <a:xfrm>
            <a:off x="7159049" y="2515661"/>
            <a:ext cx="808235" cy="338554"/>
          </a:xfrm>
          <a:prstGeom prst="rect">
            <a:avLst/>
          </a:prstGeom>
        </p:spPr>
        <p:txBody>
          <a:bodyPr wrap="none">
            <a:spAutoFit/>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Border</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 name="图片 8"/>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7293166" y="4178169"/>
            <a:ext cx="540000" cy="442800"/>
          </a:xfrm>
          <a:prstGeom prst="rect">
            <a:avLst/>
          </a:prstGeom>
        </p:spPr>
      </p:pic>
      <p:sp>
        <p:nvSpPr>
          <p:cNvPr id="46" name="五边形 24">
            <a:extLst>
              <a:ext uri="{FF2B5EF4-FFF2-40B4-BE49-F238E27FC236}">
                <a16:creationId xmlns:a16="http://schemas.microsoft.com/office/drawing/2014/main" id="{94B96716-C28B-40EB-8E95-7453A9EDFF97}"/>
              </a:ext>
            </a:extLst>
          </p:cNvPr>
          <p:cNvSpPr/>
          <p:nvPr/>
        </p:nvSpPr>
        <p:spPr bwMode="gray">
          <a:xfrm>
            <a:off x="6832307" y="124239"/>
            <a:ext cx="781200" cy="213120"/>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NVE</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燕尾形 25">
            <a:extLst>
              <a:ext uri="{FF2B5EF4-FFF2-40B4-BE49-F238E27FC236}">
                <a16:creationId xmlns:a16="http://schemas.microsoft.com/office/drawing/2014/main" id="{B3835D4C-1B49-4581-A7CA-72BCE8067FFC}"/>
              </a:ext>
            </a:extLst>
          </p:cNvPr>
          <p:cNvSpPr/>
          <p:nvPr/>
        </p:nvSpPr>
        <p:spPr bwMode="gray">
          <a:xfrm>
            <a:off x="9084370" y="124239"/>
            <a:ext cx="781200"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VAP</a:t>
            </a:r>
          </a:p>
        </p:txBody>
      </p:sp>
      <p:sp>
        <p:nvSpPr>
          <p:cNvPr id="48" name="燕尾形 26">
            <a:extLst>
              <a:ext uri="{FF2B5EF4-FFF2-40B4-BE49-F238E27FC236}">
                <a16:creationId xmlns:a16="http://schemas.microsoft.com/office/drawing/2014/main" id="{9744301D-E99A-4BEF-A318-08CD9645DD40}"/>
              </a:ext>
            </a:extLst>
          </p:cNvPr>
          <p:cNvSpPr/>
          <p:nvPr/>
        </p:nvSpPr>
        <p:spPr bwMode="gray">
          <a:xfrm>
            <a:off x="10931979" y="124239"/>
            <a:ext cx="781200"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200" ker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26">
            <a:extLst>
              <a:ext uri="{FF2B5EF4-FFF2-40B4-BE49-F238E27FC236}">
                <a16:creationId xmlns:a16="http://schemas.microsoft.com/office/drawing/2014/main" id="{BCE2539E-0076-4A5B-9B7B-AE0039DEB005}"/>
              </a:ext>
            </a:extLst>
          </p:cNvPr>
          <p:cNvSpPr/>
          <p:nvPr/>
        </p:nvSpPr>
        <p:spPr bwMode="gray">
          <a:xfrm>
            <a:off x="8299165" y="124239"/>
            <a:ext cx="864000"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VNI</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BD</a:t>
            </a:r>
          </a:p>
        </p:txBody>
      </p:sp>
      <p:sp>
        <p:nvSpPr>
          <p:cNvPr id="50" name="燕尾形 26">
            <a:extLst>
              <a:ext uri="{FF2B5EF4-FFF2-40B4-BE49-F238E27FC236}">
                <a16:creationId xmlns:a16="http://schemas.microsoft.com/office/drawing/2014/main" id="{65628728-0580-404A-8423-3F9266499728}"/>
              </a:ext>
            </a:extLst>
          </p:cNvPr>
          <p:cNvSpPr/>
          <p:nvPr/>
        </p:nvSpPr>
        <p:spPr bwMode="gray">
          <a:xfrm>
            <a:off x="7534712" y="124239"/>
            <a:ext cx="843248"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VTEP</a:t>
            </a:r>
          </a:p>
        </p:txBody>
      </p:sp>
      <p:sp>
        <p:nvSpPr>
          <p:cNvPr id="51" name="燕尾形 25">
            <a:extLst>
              <a:ext uri="{FF2B5EF4-FFF2-40B4-BE49-F238E27FC236}">
                <a16:creationId xmlns:a16="http://schemas.microsoft.com/office/drawing/2014/main" id="{B3835D4C-1B49-4581-A7CA-72BCE8067FFC}"/>
              </a:ext>
            </a:extLst>
          </p:cNvPr>
          <p:cNvSpPr/>
          <p:nvPr/>
        </p:nvSpPr>
        <p:spPr bwMode="gray">
          <a:xfrm>
            <a:off x="9786775" y="124239"/>
            <a:ext cx="1224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Edge</a:t>
            </a:r>
          </a:p>
        </p:txBody>
      </p:sp>
      <p:pic>
        <p:nvPicPr>
          <p:cNvPr id="39" name="图片 86" descr="核心交换机.png"/>
          <p:cNvPicPr>
            <a:picLocks noChangeAspect="1"/>
          </p:cNvPicPr>
          <p:nvPr/>
        </p:nvPicPr>
        <p:blipFill>
          <a:blip r:embed="rId7" cstate="print"/>
          <a:stretch>
            <a:fillRect/>
          </a:stretch>
        </p:blipFill>
        <p:spPr bwMode="gray">
          <a:xfrm>
            <a:off x="5556000" y="1112086"/>
            <a:ext cx="540000" cy="441818"/>
          </a:xfrm>
          <a:prstGeom prst="rect">
            <a:avLst/>
          </a:prstGeom>
        </p:spPr>
      </p:pic>
      <p:sp>
        <p:nvSpPr>
          <p:cNvPr id="41" name="矩形 40"/>
          <p:cNvSpPr/>
          <p:nvPr/>
        </p:nvSpPr>
        <p:spPr bwMode="gray">
          <a:xfrm>
            <a:off x="6048194" y="1143043"/>
            <a:ext cx="808235" cy="338554"/>
          </a:xfrm>
          <a:prstGeom prst="rect">
            <a:avLst/>
          </a:prstGeom>
        </p:spPr>
        <p:txBody>
          <a:bodyPr wrap="none">
            <a:spAutoFit/>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Border</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2337869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直接连接符 18"/>
          <p:cNvCxnSpPr/>
          <p:nvPr/>
        </p:nvCxnSpPr>
        <p:spPr bwMode="gray">
          <a:xfrm flipH="1" flipV="1">
            <a:off x="10410244" y="3289232"/>
            <a:ext cx="0" cy="8303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gray">
          <a:xfrm flipH="1" flipV="1">
            <a:off x="7724823" y="3289232"/>
            <a:ext cx="0" cy="8303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bwMode="gray"/>
        <p:txBody>
          <a:bodyPr/>
          <a:lstStyle/>
          <a:p>
            <a:r>
              <a:rPr lang="en-US" altLang="zh-CN" dirty="0">
                <a:sym typeface="Huawei Sans" panose="020C0503030203020204" pitchFamily="34" charset="0"/>
              </a:rPr>
              <a:t>VXLAN</a:t>
            </a:r>
            <a:r>
              <a:rPr lang="zh-CN" altLang="en-US" dirty="0">
                <a:sym typeface="Huawei Sans" panose="020C0503030203020204" pitchFamily="34" charset="0"/>
              </a:rPr>
              <a:t>基本概念：</a:t>
            </a:r>
            <a:r>
              <a:rPr lang="en-US" altLang="zh-CN" dirty="0">
                <a:sym typeface="Huawei Sans" panose="020C0503030203020204" pitchFamily="34" charset="0"/>
              </a:rPr>
              <a:t>VXLAN</a:t>
            </a:r>
            <a:r>
              <a:rPr lang="zh-CN" altLang="en-US" dirty="0">
                <a:sym typeface="Huawei Sans" panose="020C0503030203020204" pitchFamily="34" charset="0"/>
              </a:rPr>
              <a:t>二层网关、三层网关</a:t>
            </a:r>
          </a:p>
        </p:txBody>
      </p:sp>
      <p:pic>
        <p:nvPicPr>
          <p:cNvPr id="3" name="图片 86" descr="核心交换机.png"/>
          <p:cNvPicPr>
            <a:picLocks noChangeAspect="1"/>
          </p:cNvPicPr>
          <p:nvPr/>
        </p:nvPicPr>
        <p:blipFill>
          <a:blip r:embed="rId3"/>
          <a:stretch>
            <a:fillRect/>
          </a:stretch>
        </p:blipFill>
        <p:spPr bwMode="gray">
          <a:xfrm>
            <a:off x="8795892" y="1934747"/>
            <a:ext cx="553102" cy="452540"/>
          </a:xfrm>
          <a:prstGeom prst="rect">
            <a:avLst/>
          </a:prstGeom>
        </p:spPr>
      </p:pic>
      <p:pic>
        <p:nvPicPr>
          <p:cNvPr id="4" name="图片 87" descr="汇聚交换机.png"/>
          <p:cNvPicPr>
            <a:picLocks noChangeAspect="1"/>
          </p:cNvPicPr>
          <p:nvPr/>
        </p:nvPicPr>
        <p:blipFill>
          <a:blip r:embed="rId4"/>
          <a:stretch>
            <a:fillRect/>
          </a:stretch>
        </p:blipFill>
        <p:spPr bwMode="gray">
          <a:xfrm>
            <a:off x="10112057" y="2921242"/>
            <a:ext cx="553102" cy="452540"/>
          </a:xfrm>
          <a:prstGeom prst="rect">
            <a:avLst/>
          </a:prstGeom>
        </p:spPr>
      </p:pic>
      <p:pic>
        <p:nvPicPr>
          <p:cNvPr id="5" name="图片 87" descr="汇聚交换机.png"/>
          <p:cNvPicPr>
            <a:picLocks noChangeAspect="1"/>
          </p:cNvPicPr>
          <p:nvPr/>
        </p:nvPicPr>
        <p:blipFill>
          <a:blip r:embed="rId4"/>
          <a:stretch>
            <a:fillRect/>
          </a:stretch>
        </p:blipFill>
        <p:spPr bwMode="gray">
          <a:xfrm>
            <a:off x="7419631" y="2921242"/>
            <a:ext cx="553102" cy="452540"/>
          </a:xfrm>
          <a:prstGeom prst="rect">
            <a:avLst/>
          </a:prstGeom>
        </p:spPr>
      </p:pic>
      <p:cxnSp>
        <p:nvCxnSpPr>
          <p:cNvPr id="6" name="直接连接符 5"/>
          <p:cNvCxnSpPr/>
          <p:nvPr/>
        </p:nvCxnSpPr>
        <p:spPr bwMode="gray">
          <a:xfrm flipH="1" flipV="1">
            <a:off x="1832603" y="3289232"/>
            <a:ext cx="0" cy="8303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bwMode="gray">
          <a:xfrm flipH="1" flipV="1">
            <a:off x="4518024" y="3289232"/>
            <a:ext cx="0" cy="8303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bwMode="gray">
          <a:xfrm>
            <a:off x="1687792" y="2195033"/>
            <a:ext cx="2995629" cy="915003"/>
            <a:chOff x="6600056" y="4353447"/>
            <a:chExt cx="1296144" cy="833967"/>
          </a:xfrm>
        </p:grpSpPr>
        <p:cxnSp>
          <p:nvCxnSpPr>
            <p:cNvPr id="9" name="直接连接符 8"/>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矩形 10"/>
          <p:cNvSpPr/>
          <p:nvPr/>
        </p:nvSpPr>
        <p:spPr bwMode="gray">
          <a:xfrm>
            <a:off x="745014" y="2855104"/>
            <a:ext cx="752129" cy="523220"/>
          </a:xfrm>
          <a:prstGeom prst="rect">
            <a:avLst/>
          </a:prstGeom>
        </p:spPr>
        <p:txBody>
          <a:bodyPr wrap="none">
            <a:spAutoFit/>
          </a:bodyPr>
          <a:lstStyle/>
          <a:p>
            <a:pPr algn="ctr" fontAlgn="ct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Edge1</a:t>
            </a:r>
          </a:p>
          <a:p>
            <a:pPr algn="ctr" fontAlgn="ct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矩形 11"/>
          <p:cNvSpPr/>
          <p:nvPr/>
        </p:nvSpPr>
        <p:spPr bwMode="gray">
          <a:xfrm>
            <a:off x="4840005" y="2865888"/>
            <a:ext cx="752129" cy="523220"/>
          </a:xfrm>
          <a:prstGeom prst="rect">
            <a:avLst/>
          </a:prstGeom>
        </p:spPr>
        <p:txBody>
          <a:bodyPr wrap="none">
            <a:spAutoFit/>
          </a:bodyPr>
          <a:lstStyle/>
          <a:p>
            <a:pPr algn="ctr" fontAlgn="ctr"/>
            <a:r>
              <a:rPr lang="en-US" altLang="zh-CN" sz="14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Edge2</a:t>
            </a:r>
            <a:endPar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fontAlgn="ct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网关</a:t>
            </a:r>
          </a:p>
        </p:txBody>
      </p:sp>
      <p:sp>
        <p:nvSpPr>
          <p:cNvPr id="13" name="矩形 12"/>
          <p:cNvSpPr/>
          <p:nvPr/>
        </p:nvSpPr>
        <p:spPr bwMode="gray">
          <a:xfrm>
            <a:off x="2816745" y="1641913"/>
            <a:ext cx="772969" cy="307777"/>
          </a:xfrm>
          <a:prstGeom prst="rect">
            <a:avLst/>
          </a:prstGeom>
        </p:spPr>
        <p:txBody>
          <a:bodyPr wrap="none">
            <a:spAutoFit/>
          </a:bodyPr>
          <a:lstStyle/>
          <a:p>
            <a:pPr algn="ctr" fontAlgn="ctr"/>
            <a:r>
              <a:rPr lang="en-US" altLang="zh-CN"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Border</a:t>
            </a:r>
            <a:endPar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矩形 13"/>
          <p:cNvSpPr/>
          <p:nvPr/>
        </p:nvSpPr>
        <p:spPr bwMode="gray">
          <a:xfrm>
            <a:off x="1138347" y="4477656"/>
            <a:ext cx="1388522" cy="523220"/>
          </a:xfrm>
          <a:prstGeom prst="rect">
            <a:avLst/>
          </a:prstGeom>
        </p:spPr>
        <p:txBody>
          <a:bodyPr wrap="none">
            <a:spAutoFit/>
          </a:bodyPr>
          <a:lstStyle/>
          <a:p>
            <a:pPr algn="ctr" fontAlgn="ctr"/>
            <a:r>
              <a:rPr lang="en-US" altLang="zh-CN"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PC1</a:t>
            </a:r>
            <a:endPar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fontAlgn="ct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192.168.1.1/24</a:t>
            </a:r>
          </a:p>
        </p:txBody>
      </p:sp>
      <p:sp>
        <p:nvSpPr>
          <p:cNvPr id="15" name="矩形 14"/>
          <p:cNvSpPr/>
          <p:nvPr/>
        </p:nvSpPr>
        <p:spPr bwMode="gray">
          <a:xfrm>
            <a:off x="3885202" y="4477656"/>
            <a:ext cx="1377300" cy="523220"/>
          </a:xfrm>
          <a:prstGeom prst="rect">
            <a:avLst/>
          </a:prstGeom>
        </p:spPr>
        <p:txBody>
          <a:bodyPr wrap="none">
            <a:spAutoFit/>
          </a:bodyPr>
          <a:lstStyle/>
          <a:p>
            <a:pPr algn="ctr" fontAlgn="ctr"/>
            <a:r>
              <a:rPr lang="en-US" altLang="zh-CN"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PC2</a:t>
            </a:r>
            <a:endPar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fontAlgn="ct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192.168.1.2/24</a:t>
            </a:r>
          </a:p>
        </p:txBody>
      </p:sp>
      <p:cxnSp>
        <p:nvCxnSpPr>
          <p:cNvPr id="16" name="直接连接符 15"/>
          <p:cNvCxnSpPr/>
          <p:nvPr/>
        </p:nvCxnSpPr>
        <p:spPr bwMode="gray">
          <a:xfrm flipH="1">
            <a:off x="6096000" y="2700344"/>
            <a:ext cx="0" cy="2736613"/>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7" name="矩形 16"/>
          <p:cNvSpPr/>
          <p:nvPr/>
        </p:nvSpPr>
        <p:spPr bwMode="gray">
          <a:xfrm>
            <a:off x="899480" y="5219895"/>
            <a:ext cx="4944587" cy="733453"/>
          </a:xfrm>
          <a:prstGeom prst="rect">
            <a:avLst/>
          </a:prstGeom>
        </p:spPr>
        <p:txBody>
          <a:bodyPr wrap="square">
            <a:noAutofit/>
          </a:bodyPr>
          <a:lstStyle/>
          <a:p>
            <a:pPr algn="just">
              <a:lnSpc>
                <a:spcPts val="2400"/>
              </a:lnSpc>
            </a:pP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二层（</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）网关：</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实现流量进入</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网络，也可用于同一</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网络内终端的同子网通信。</a:t>
            </a:r>
          </a:p>
        </p:txBody>
      </p:sp>
      <p:sp>
        <p:nvSpPr>
          <p:cNvPr id="20" name="矩形 19"/>
          <p:cNvSpPr/>
          <p:nvPr/>
        </p:nvSpPr>
        <p:spPr bwMode="gray">
          <a:xfrm>
            <a:off x="6721023" y="2831177"/>
            <a:ext cx="745600" cy="518678"/>
          </a:xfrm>
          <a:prstGeom prst="rect">
            <a:avLst/>
          </a:prstGeom>
        </p:spPr>
        <p:txBody>
          <a:bodyPr wrap="none">
            <a:spAutoFit/>
          </a:bodyPr>
          <a:lstStyle/>
          <a:p>
            <a:pPr algn="ctr" font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Edge1</a:t>
            </a:r>
          </a:p>
          <a:p>
            <a:pPr algn="ctr" font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圆柱形 20"/>
          <p:cNvSpPr/>
          <p:nvPr/>
        </p:nvSpPr>
        <p:spPr bwMode="gray">
          <a:xfrm rot="14017221">
            <a:off x="8266151" y="2015644"/>
            <a:ext cx="222027" cy="1282834"/>
          </a:xfrm>
          <a:prstGeom prst="can">
            <a:avLst>
              <a:gd name="adj" fmla="val 49463"/>
            </a:avLst>
          </a:prstGeom>
          <a:solidFill>
            <a:srgbClr val="EC7061"/>
          </a:solidFill>
          <a:ln w="12700" cap="flat" cmpd="sng" algn="ctr">
            <a:solidFill>
              <a:sysClr val="window" lastClr="FFFFF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sz="24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矩形 21"/>
          <p:cNvSpPr/>
          <p:nvPr/>
        </p:nvSpPr>
        <p:spPr bwMode="gray">
          <a:xfrm>
            <a:off x="10687374" y="2831177"/>
            <a:ext cx="752129" cy="523220"/>
          </a:xfrm>
          <a:prstGeom prst="rect">
            <a:avLst/>
          </a:prstGeom>
        </p:spPr>
        <p:txBody>
          <a:bodyPr wrap="none">
            <a:spAutoFit/>
          </a:bodyPr>
          <a:lstStyle/>
          <a:p>
            <a:pPr algn="ctr" font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Edge2</a:t>
            </a:r>
          </a:p>
          <a:p>
            <a:pPr algn="ctr" font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网关</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矩形 22"/>
          <p:cNvSpPr/>
          <p:nvPr/>
        </p:nvSpPr>
        <p:spPr bwMode="gray">
          <a:xfrm>
            <a:off x="8708235" y="1450797"/>
            <a:ext cx="774432" cy="518678"/>
          </a:xfrm>
          <a:prstGeom prst="rect">
            <a:avLst/>
          </a:prstGeom>
        </p:spPr>
        <p:txBody>
          <a:bodyPr wrap="none">
            <a:spAutoFit/>
          </a:bodyPr>
          <a:lstStyle/>
          <a:p>
            <a:pPr algn="ctr" fontAlgn="ct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Border</a:t>
            </a:r>
          </a:p>
          <a:p>
            <a:pPr algn="ctr" fontAlgn="ct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网关</a:t>
            </a:r>
          </a:p>
        </p:txBody>
      </p:sp>
      <p:sp>
        <p:nvSpPr>
          <p:cNvPr id="24" name="矩形 23"/>
          <p:cNvSpPr/>
          <p:nvPr/>
        </p:nvSpPr>
        <p:spPr bwMode="gray">
          <a:xfrm>
            <a:off x="7036178" y="4477656"/>
            <a:ext cx="1377300" cy="523220"/>
          </a:xfrm>
          <a:prstGeom prst="rect">
            <a:avLst/>
          </a:prstGeom>
        </p:spPr>
        <p:txBody>
          <a:bodyPr wrap="none">
            <a:spAutoFit/>
          </a:bodyPr>
          <a:lstStyle/>
          <a:p>
            <a:pPr algn="ctr" fontAlgn="ct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PC1</a:t>
            </a:r>
          </a:p>
          <a:p>
            <a:pPr algn="ctr" fontAlgn="ct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192.168.1.1/24</a:t>
            </a:r>
          </a:p>
        </p:txBody>
      </p:sp>
      <p:sp>
        <p:nvSpPr>
          <p:cNvPr id="25" name="矩形 24"/>
          <p:cNvSpPr/>
          <p:nvPr/>
        </p:nvSpPr>
        <p:spPr bwMode="gray">
          <a:xfrm>
            <a:off x="9777422" y="4477656"/>
            <a:ext cx="1377300" cy="523220"/>
          </a:xfrm>
          <a:prstGeom prst="rect">
            <a:avLst/>
          </a:prstGeom>
        </p:spPr>
        <p:txBody>
          <a:bodyPr wrap="none">
            <a:spAutoFit/>
          </a:bodyPr>
          <a:lstStyle/>
          <a:p>
            <a:pPr algn="ctr" fontAlgn="ctr"/>
            <a:r>
              <a:rPr lang="en-US" altLang="zh-CN"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PC2</a:t>
            </a:r>
            <a:endPar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fontAlgn="ctr"/>
            <a:r>
              <a:rPr lang="en-US" altLang="zh-CN" sz="14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192.168.2.2/24</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矩形 25"/>
          <p:cNvSpPr/>
          <p:nvPr/>
        </p:nvSpPr>
        <p:spPr bwMode="gray">
          <a:xfrm>
            <a:off x="6460787" y="5219897"/>
            <a:ext cx="4911909" cy="733453"/>
          </a:xfrm>
          <a:prstGeom prst="rect">
            <a:avLst/>
          </a:prstGeom>
        </p:spPr>
        <p:txBody>
          <a:bodyPr wrap="square">
            <a:noAutofit/>
          </a:bodyPr>
          <a:lstStyle/>
          <a:p>
            <a:pPr algn="just">
              <a:lnSpc>
                <a:spcPts val="2400"/>
              </a:lnSpc>
            </a:pP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三层（</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）网关：</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用于</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网络内终端的跨子网通信以及终端对外部网络（非</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网络）的访问。</a:t>
            </a:r>
          </a:p>
        </p:txBody>
      </p:sp>
      <p:sp>
        <p:nvSpPr>
          <p:cNvPr id="27" name="圆柱形 26"/>
          <p:cNvSpPr/>
          <p:nvPr/>
        </p:nvSpPr>
        <p:spPr bwMode="gray">
          <a:xfrm rot="7585003">
            <a:off x="9658238" y="2017135"/>
            <a:ext cx="222027" cy="1276042"/>
          </a:xfrm>
          <a:prstGeom prst="can">
            <a:avLst>
              <a:gd name="adj" fmla="val 50482"/>
            </a:avLst>
          </a:prstGeom>
          <a:solidFill>
            <a:srgbClr val="56C4D2"/>
          </a:solidFill>
          <a:ln w="12700" cap="flat" cmpd="sng" algn="ctr">
            <a:solidFill>
              <a:sysClr val="window" lastClr="FFFFF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sz="24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矩形 27"/>
          <p:cNvSpPr/>
          <p:nvPr/>
        </p:nvSpPr>
        <p:spPr bwMode="gray">
          <a:xfrm rot="2187812">
            <a:off x="9201605" y="2480933"/>
            <a:ext cx="1004621" cy="274594"/>
          </a:xfrm>
          <a:prstGeom prst="rect">
            <a:avLst/>
          </a:prstGeom>
        </p:spPr>
        <p:txBody>
          <a:bodyPr wrap="square">
            <a:noAutofit/>
          </a:bodyPr>
          <a:lstStyle/>
          <a:p>
            <a:pPr algn="just" fontAlgn="ctr"/>
            <a:r>
              <a:rPr lang="en-US" altLang="zh-CN"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隧道</a:t>
            </a:r>
            <a:endParaRPr lang="en-US" altLang="zh-CN"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9" name="图片 86" descr="核心交换机.png"/>
          <p:cNvPicPr>
            <a:picLocks noChangeAspect="1"/>
          </p:cNvPicPr>
          <p:nvPr/>
        </p:nvPicPr>
        <p:blipFill>
          <a:blip r:embed="rId3"/>
          <a:stretch>
            <a:fillRect/>
          </a:stretch>
        </p:blipFill>
        <p:spPr bwMode="gray">
          <a:xfrm>
            <a:off x="2927254" y="1934747"/>
            <a:ext cx="553102" cy="452540"/>
          </a:xfrm>
          <a:prstGeom prst="rect">
            <a:avLst/>
          </a:prstGeom>
        </p:spPr>
      </p:pic>
      <p:pic>
        <p:nvPicPr>
          <p:cNvPr id="30" name="图片 87" descr="汇聚交换机.png"/>
          <p:cNvPicPr>
            <a:picLocks noChangeAspect="1"/>
          </p:cNvPicPr>
          <p:nvPr/>
        </p:nvPicPr>
        <p:blipFill>
          <a:blip r:embed="rId4"/>
          <a:stretch>
            <a:fillRect/>
          </a:stretch>
        </p:blipFill>
        <p:spPr bwMode="gray">
          <a:xfrm>
            <a:off x="4243419" y="2921242"/>
            <a:ext cx="553102" cy="452540"/>
          </a:xfrm>
          <a:prstGeom prst="rect">
            <a:avLst/>
          </a:prstGeom>
        </p:spPr>
      </p:pic>
      <p:sp>
        <p:nvSpPr>
          <p:cNvPr id="31" name="圆柱形 30"/>
          <p:cNvSpPr/>
          <p:nvPr/>
        </p:nvSpPr>
        <p:spPr bwMode="gray">
          <a:xfrm rot="16200000">
            <a:off x="3101305" y="2032519"/>
            <a:ext cx="222027" cy="2216443"/>
          </a:xfrm>
          <a:prstGeom prst="can">
            <a:avLst>
              <a:gd name="adj" fmla="val 42484"/>
            </a:avLst>
          </a:prstGeom>
          <a:solidFill>
            <a:srgbClr val="EC7061"/>
          </a:solidFill>
          <a:ln w="12700" cap="flat" cmpd="sng" algn="ctr">
            <a:solidFill>
              <a:sysClr val="window" lastClr="FFFFF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sz="1999"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矩形 31"/>
          <p:cNvSpPr/>
          <p:nvPr/>
        </p:nvSpPr>
        <p:spPr bwMode="gray">
          <a:xfrm>
            <a:off x="2631796" y="2986853"/>
            <a:ext cx="1142872" cy="305105"/>
          </a:xfrm>
          <a:prstGeom prst="rect">
            <a:avLst/>
          </a:prstGeom>
        </p:spPr>
        <p:txBody>
          <a:bodyPr wrap="square">
            <a:noAutofit/>
          </a:bodyPr>
          <a:lstStyle/>
          <a:p>
            <a:pPr algn="just" fontAlgn="ct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隧道</a:t>
            </a:r>
            <a:endPar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3" name="图片 87" descr="汇聚交换机.png"/>
          <p:cNvPicPr>
            <a:picLocks noChangeAspect="1"/>
          </p:cNvPicPr>
          <p:nvPr/>
        </p:nvPicPr>
        <p:blipFill>
          <a:blip r:embed="rId4"/>
          <a:stretch>
            <a:fillRect/>
          </a:stretch>
        </p:blipFill>
        <p:spPr bwMode="gray">
          <a:xfrm>
            <a:off x="1550993" y="2921242"/>
            <a:ext cx="553102" cy="452540"/>
          </a:xfrm>
          <a:prstGeom prst="rect">
            <a:avLst/>
          </a:prstGeom>
        </p:spPr>
      </p:pic>
      <p:sp>
        <p:nvSpPr>
          <p:cNvPr id="34" name="矩形 33"/>
          <p:cNvSpPr/>
          <p:nvPr/>
        </p:nvSpPr>
        <p:spPr bwMode="gray">
          <a:xfrm rot="19423541">
            <a:off x="7928239" y="2459942"/>
            <a:ext cx="1004621" cy="274594"/>
          </a:xfrm>
          <a:prstGeom prst="rect">
            <a:avLst/>
          </a:prstGeom>
        </p:spPr>
        <p:txBody>
          <a:bodyPr wrap="square">
            <a:noAutofit/>
          </a:bodyPr>
          <a:lstStyle/>
          <a:p>
            <a:pPr algn="just" fontAlgn="ctr"/>
            <a:r>
              <a:rPr lang="en-US" altLang="zh-CN"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隧道</a:t>
            </a:r>
            <a:endParaRPr lang="en-US" altLang="zh-CN"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5" name="图片 11" descr="开放网络-蓝.png"/>
          <p:cNvPicPr>
            <a:picLocks noChangeAspect="1"/>
          </p:cNvPicPr>
          <p:nvPr/>
        </p:nvPicPr>
        <p:blipFill>
          <a:blip r:embed="rId5"/>
          <a:stretch>
            <a:fillRect/>
          </a:stretch>
        </p:blipFill>
        <p:spPr bwMode="gray">
          <a:xfrm>
            <a:off x="1604565" y="4103985"/>
            <a:ext cx="445957" cy="343290"/>
          </a:xfrm>
          <a:prstGeom prst="rect">
            <a:avLst/>
          </a:prstGeom>
        </p:spPr>
      </p:pic>
      <p:pic>
        <p:nvPicPr>
          <p:cNvPr id="36" name="图片 11" descr="开放网络-蓝.png"/>
          <p:cNvPicPr>
            <a:picLocks noChangeAspect="1"/>
          </p:cNvPicPr>
          <p:nvPr/>
        </p:nvPicPr>
        <p:blipFill>
          <a:blip r:embed="rId5"/>
          <a:stretch>
            <a:fillRect/>
          </a:stretch>
        </p:blipFill>
        <p:spPr bwMode="gray">
          <a:xfrm>
            <a:off x="4320540" y="4103985"/>
            <a:ext cx="445957" cy="343290"/>
          </a:xfrm>
          <a:prstGeom prst="rect">
            <a:avLst/>
          </a:prstGeom>
        </p:spPr>
      </p:pic>
      <p:pic>
        <p:nvPicPr>
          <p:cNvPr id="37" name="图片 11" descr="开放网络-蓝.png"/>
          <p:cNvPicPr>
            <a:picLocks noChangeAspect="1"/>
          </p:cNvPicPr>
          <p:nvPr/>
        </p:nvPicPr>
        <p:blipFill>
          <a:blip r:embed="rId5"/>
          <a:stretch>
            <a:fillRect/>
          </a:stretch>
        </p:blipFill>
        <p:spPr bwMode="gray">
          <a:xfrm>
            <a:off x="7509842" y="4103985"/>
            <a:ext cx="445957" cy="343290"/>
          </a:xfrm>
          <a:prstGeom prst="rect">
            <a:avLst/>
          </a:prstGeom>
        </p:spPr>
      </p:pic>
      <p:pic>
        <p:nvPicPr>
          <p:cNvPr id="38" name="图片 11" descr="开放网络-蓝.png"/>
          <p:cNvPicPr>
            <a:picLocks noChangeAspect="1"/>
          </p:cNvPicPr>
          <p:nvPr/>
        </p:nvPicPr>
        <p:blipFill>
          <a:blip r:embed="rId5"/>
          <a:stretch>
            <a:fillRect/>
          </a:stretch>
        </p:blipFill>
        <p:spPr bwMode="gray">
          <a:xfrm>
            <a:off x="10200416" y="4103985"/>
            <a:ext cx="445957" cy="343290"/>
          </a:xfrm>
          <a:prstGeom prst="rect">
            <a:avLst/>
          </a:prstGeom>
        </p:spPr>
      </p:pic>
      <p:sp>
        <p:nvSpPr>
          <p:cNvPr id="48" name="五边形 24">
            <a:extLst>
              <a:ext uri="{FF2B5EF4-FFF2-40B4-BE49-F238E27FC236}">
                <a16:creationId xmlns:a16="http://schemas.microsoft.com/office/drawing/2014/main" id="{94B96716-C28B-40EB-8E95-7453A9EDFF97}"/>
              </a:ext>
            </a:extLst>
          </p:cNvPr>
          <p:cNvSpPr/>
          <p:nvPr/>
        </p:nvSpPr>
        <p:spPr bwMode="gray">
          <a:xfrm>
            <a:off x="6832307" y="124239"/>
            <a:ext cx="781200" cy="213120"/>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NVE</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25">
            <a:extLst>
              <a:ext uri="{FF2B5EF4-FFF2-40B4-BE49-F238E27FC236}">
                <a16:creationId xmlns:a16="http://schemas.microsoft.com/office/drawing/2014/main" id="{B3835D4C-1B49-4581-A7CA-72BCE8067FFC}"/>
              </a:ext>
            </a:extLst>
          </p:cNvPr>
          <p:cNvSpPr/>
          <p:nvPr/>
        </p:nvSpPr>
        <p:spPr bwMode="gray">
          <a:xfrm>
            <a:off x="9084370" y="124239"/>
            <a:ext cx="781200"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VAP</a:t>
            </a:r>
          </a:p>
        </p:txBody>
      </p:sp>
      <p:sp>
        <p:nvSpPr>
          <p:cNvPr id="50" name="燕尾形 26">
            <a:extLst>
              <a:ext uri="{FF2B5EF4-FFF2-40B4-BE49-F238E27FC236}">
                <a16:creationId xmlns:a16="http://schemas.microsoft.com/office/drawing/2014/main" id="{9744301D-E99A-4BEF-A318-08CD9645DD40}"/>
              </a:ext>
            </a:extLst>
          </p:cNvPr>
          <p:cNvSpPr/>
          <p:nvPr/>
        </p:nvSpPr>
        <p:spPr bwMode="gray">
          <a:xfrm>
            <a:off x="10931979" y="124239"/>
            <a:ext cx="78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燕尾形 26">
            <a:extLst>
              <a:ext uri="{FF2B5EF4-FFF2-40B4-BE49-F238E27FC236}">
                <a16:creationId xmlns:a16="http://schemas.microsoft.com/office/drawing/2014/main" id="{BCE2539E-0076-4A5B-9B7B-AE0039DEB005}"/>
              </a:ext>
            </a:extLst>
          </p:cNvPr>
          <p:cNvSpPr/>
          <p:nvPr/>
        </p:nvSpPr>
        <p:spPr bwMode="gray">
          <a:xfrm>
            <a:off x="8299165" y="124239"/>
            <a:ext cx="864000"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VNI</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BD</a:t>
            </a:r>
          </a:p>
        </p:txBody>
      </p:sp>
      <p:sp>
        <p:nvSpPr>
          <p:cNvPr id="52" name="燕尾形 26">
            <a:extLst>
              <a:ext uri="{FF2B5EF4-FFF2-40B4-BE49-F238E27FC236}">
                <a16:creationId xmlns:a16="http://schemas.microsoft.com/office/drawing/2014/main" id="{65628728-0580-404A-8423-3F9266499728}"/>
              </a:ext>
            </a:extLst>
          </p:cNvPr>
          <p:cNvSpPr/>
          <p:nvPr/>
        </p:nvSpPr>
        <p:spPr bwMode="gray">
          <a:xfrm>
            <a:off x="7534712" y="124239"/>
            <a:ext cx="843248"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VTEP</a:t>
            </a:r>
          </a:p>
        </p:txBody>
      </p:sp>
      <p:sp>
        <p:nvSpPr>
          <p:cNvPr id="55" name="燕尾形 25">
            <a:extLst>
              <a:ext uri="{FF2B5EF4-FFF2-40B4-BE49-F238E27FC236}">
                <a16:creationId xmlns:a16="http://schemas.microsoft.com/office/drawing/2014/main" id="{B3835D4C-1B49-4581-A7CA-72BCE8067FFC}"/>
              </a:ext>
            </a:extLst>
          </p:cNvPr>
          <p:cNvSpPr/>
          <p:nvPr/>
        </p:nvSpPr>
        <p:spPr bwMode="gray">
          <a:xfrm>
            <a:off x="9786775" y="124239"/>
            <a:ext cx="1224000"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Edge</a:t>
            </a:r>
          </a:p>
        </p:txBody>
      </p:sp>
    </p:spTree>
    <p:extLst>
      <p:ext uri="{BB962C8B-B14F-4D97-AF65-F5344CB8AC3E}">
        <p14:creationId xmlns:p14="http://schemas.microsoft.com/office/powerpoint/2010/main" val="27120152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a:sym typeface="Huawei Sans" panose="020C0503030203020204" pitchFamily="34" charset="0"/>
              </a:rPr>
              <a:t>VXLAN</a:t>
            </a:r>
            <a:r>
              <a:rPr lang="zh-CN" altLang="en-US">
                <a:sym typeface="Huawei Sans" panose="020C0503030203020204" pitchFamily="34" charset="0"/>
              </a:rPr>
              <a:t>基本概念：</a:t>
            </a:r>
            <a:r>
              <a:rPr lang="en-US" altLang="zh-CN">
                <a:sym typeface="Huawei Sans" panose="020C0503030203020204" pitchFamily="34" charset="0"/>
              </a:rPr>
              <a:t>VBDIF</a:t>
            </a:r>
            <a:endParaRPr lang="zh-CN" altLang="en-US">
              <a:sym typeface="Huawei Sans" panose="020C0503030203020204" pitchFamily="34" charset="0"/>
            </a:endParaRPr>
          </a:p>
        </p:txBody>
      </p:sp>
      <p:sp>
        <p:nvSpPr>
          <p:cNvPr id="6" name="文本占位符 5"/>
          <p:cNvSpPr>
            <a:spLocks noGrp="1"/>
          </p:cNvSpPr>
          <p:nvPr>
            <p:ph type="body" sz="quarter" idx="10"/>
          </p:nvPr>
        </p:nvSpPr>
        <p:spPr bwMode="gray">
          <a:xfrm>
            <a:off x="455613" y="4224167"/>
            <a:ext cx="11256962" cy="1976608"/>
          </a:xfrm>
        </p:spPr>
        <p:txBody>
          <a:bodyPr/>
          <a:lstStyle/>
          <a:p>
            <a:r>
              <a:rPr lang="zh-CN" altLang="en-US" sz="1800" dirty="0">
                <a:sym typeface="Huawei Sans" panose="020C0503030203020204" pitchFamily="34" charset="0"/>
              </a:rPr>
              <a:t>类似于传统网络中采用</a:t>
            </a:r>
            <a:r>
              <a:rPr lang="en-US" altLang="zh-CN" sz="1800" dirty="0">
                <a:sym typeface="Huawei Sans" panose="020C0503030203020204" pitchFamily="34" charset="0"/>
              </a:rPr>
              <a:t>VLANIF</a:t>
            </a:r>
            <a:r>
              <a:rPr lang="zh-CN" altLang="en-US" sz="1800" dirty="0">
                <a:sym typeface="Huawei Sans" panose="020C0503030203020204" pitchFamily="34" charset="0"/>
              </a:rPr>
              <a:t>实现不同广播域互通，在</a:t>
            </a:r>
            <a:r>
              <a:rPr lang="en-US" altLang="zh-CN" sz="1800" dirty="0">
                <a:sym typeface="Huawei Sans" panose="020C0503030203020204" pitchFamily="34" charset="0"/>
              </a:rPr>
              <a:t>VXLAN</a:t>
            </a:r>
            <a:r>
              <a:rPr lang="zh-CN" altLang="en-US" sz="1800" dirty="0">
                <a:sym typeface="Huawei Sans" panose="020C0503030203020204" pitchFamily="34" charset="0"/>
              </a:rPr>
              <a:t>中引入了</a:t>
            </a:r>
            <a:r>
              <a:rPr lang="en-US" altLang="zh-CN" sz="1800" dirty="0">
                <a:sym typeface="Huawei Sans" panose="020C0503030203020204" pitchFamily="34" charset="0"/>
              </a:rPr>
              <a:t>VBDIF</a:t>
            </a:r>
            <a:r>
              <a:rPr lang="zh-CN" altLang="en-US" sz="1800" dirty="0">
                <a:sym typeface="Huawei Sans" panose="020C0503030203020204" pitchFamily="34" charset="0"/>
              </a:rPr>
              <a:t>的概念。</a:t>
            </a:r>
          </a:p>
          <a:p>
            <a:r>
              <a:rPr lang="en-US" altLang="zh-CN" sz="1800" dirty="0">
                <a:sym typeface="Huawei Sans" panose="020C0503030203020204" pitchFamily="34" charset="0"/>
              </a:rPr>
              <a:t>VBDIF</a:t>
            </a:r>
            <a:r>
              <a:rPr lang="zh-CN" altLang="en-US" sz="1800" dirty="0">
                <a:sym typeface="Huawei Sans" panose="020C0503030203020204" pitchFamily="34" charset="0"/>
              </a:rPr>
              <a:t>接口在</a:t>
            </a:r>
            <a:r>
              <a:rPr lang="en-US" altLang="zh-CN" sz="1800" dirty="0">
                <a:sym typeface="Huawei Sans" panose="020C0503030203020204" pitchFamily="34" charset="0"/>
              </a:rPr>
              <a:t>VXLAN</a:t>
            </a:r>
            <a:r>
              <a:rPr lang="zh-CN" altLang="en-US" sz="1800" dirty="0">
                <a:sym typeface="Huawei Sans" panose="020C0503030203020204" pitchFamily="34" charset="0"/>
              </a:rPr>
              <a:t>三层网关上配置，是基于</a:t>
            </a:r>
            <a:r>
              <a:rPr lang="en-US" altLang="zh-CN" sz="1800" dirty="0">
                <a:sym typeface="Huawei Sans" panose="020C0503030203020204" pitchFamily="34" charset="0"/>
              </a:rPr>
              <a:t>BD</a:t>
            </a:r>
            <a:r>
              <a:rPr lang="zh-CN" altLang="en-US" sz="1800" dirty="0">
                <a:sym typeface="Huawei Sans" panose="020C0503030203020204" pitchFamily="34" charset="0"/>
              </a:rPr>
              <a:t>创建的三层逻辑接口。</a:t>
            </a:r>
          </a:p>
          <a:p>
            <a:r>
              <a:rPr lang="zh-CN" altLang="en-US" sz="1800" dirty="0">
                <a:sym typeface="Huawei Sans" panose="020C0503030203020204" pitchFamily="34" charset="0"/>
              </a:rPr>
              <a:t>通过</a:t>
            </a:r>
            <a:r>
              <a:rPr lang="en-US" altLang="zh-CN" sz="1800" dirty="0">
                <a:sym typeface="Huawei Sans" panose="020C0503030203020204" pitchFamily="34" charset="0"/>
              </a:rPr>
              <a:t>VBDIF</a:t>
            </a:r>
            <a:r>
              <a:rPr lang="zh-CN" altLang="en-US" sz="1800" dirty="0">
                <a:sym typeface="Huawei Sans" panose="020C0503030203020204" pitchFamily="34" charset="0"/>
              </a:rPr>
              <a:t>接口可实现不同网段的用户通过</a:t>
            </a:r>
            <a:r>
              <a:rPr lang="en-US" altLang="zh-CN" sz="1800" dirty="0">
                <a:sym typeface="Huawei Sans" panose="020C0503030203020204" pitchFamily="34" charset="0"/>
              </a:rPr>
              <a:t>VXLAN</a:t>
            </a:r>
            <a:r>
              <a:rPr lang="zh-CN" altLang="en-US" sz="1800" dirty="0">
                <a:sym typeface="Huawei Sans" panose="020C0503030203020204" pitchFamily="34" charset="0"/>
              </a:rPr>
              <a:t>网络通信，及</a:t>
            </a:r>
            <a:r>
              <a:rPr lang="en-US" altLang="zh-CN" sz="1800" dirty="0">
                <a:sym typeface="Huawei Sans" panose="020C0503030203020204" pitchFamily="34" charset="0"/>
              </a:rPr>
              <a:t>VXLAN</a:t>
            </a:r>
            <a:r>
              <a:rPr lang="zh-CN" altLang="en-US" sz="1800" dirty="0">
                <a:sym typeface="Huawei Sans" panose="020C0503030203020204" pitchFamily="34" charset="0"/>
              </a:rPr>
              <a:t>网络和非</a:t>
            </a:r>
            <a:r>
              <a:rPr lang="en-US" altLang="zh-CN" sz="1800" dirty="0">
                <a:sym typeface="Huawei Sans" panose="020C0503030203020204" pitchFamily="34" charset="0"/>
              </a:rPr>
              <a:t>VXLAN</a:t>
            </a:r>
            <a:r>
              <a:rPr lang="zh-CN" altLang="en-US" sz="1800" dirty="0">
                <a:sym typeface="Huawei Sans" panose="020C0503030203020204" pitchFamily="34" charset="0"/>
              </a:rPr>
              <a:t>网络间的通信，也可实现二层网络接入三层网络。</a:t>
            </a:r>
          </a:p>
          <a:p>
            <a:endParaRPr lang="zh-CN" altLang="en-US" sz="1800" dirty="0">
              <a:sym typeface="Huawei Sans" panose="020C0503030203020204" pitchFamily="34" charset="0"/>
            </a:endParaRPr>
          </a:p>
        </p:txBody>
      </p:sp>
      <p:cxnSp>
        <p:nvCxnSpPr>
          <p:cNvPr id="3" name="直接连接符 2"/>
          <p:cNvCxnSpPr/>
          <p:nvPr/>
        </p:nvCxnSpPr>
        <p:spPr bwMode="gray">
          <a:xfrm flipH="1">
            <a:off x="8842503" y="3379939"/>
            <a:ext cx="171841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bwMode="gray">
          <a:xfrm flipH="1">
            <a:off x="1685278" y="3379939"/>
            <a:ext cx="181394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矩形 15"/>
          <p:cNvSpPr/>
          <p:nvPr/>
        </p:nvSpPr>
        <p:spPr bwMode="gray">
          <a:xfrm>
            <a:off x="4525503" y="1896234"/>
            <a:ext cx="1327608" cy="523220"/>
          </a:xfrm>
          <a:prstGeom prst="rect">
            <a:avLst/>
          </a:prstGeom>
        </p:spPr>
        <p:txBody>
          <a:bodyPr wrap="none">
            <a:spAutoFit/>
          </a:bodyPr>
          <a:lstStyle/>
          <a:p>
            <a:pPr algn="r"/>
            <a:r>
              <a:rPr lang="en-US" altLang="zh-CN" sz="14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VBDIF 10</a:t>
            </a:r>
          </a:p>
          <a:p>
            <a:pPr algn="r"/>
            <a:r>
              <a:rPr lang="en-US" altLang="zh-CN" sz="140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192.168.1.254</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矩形 16"/>
          <p:cNvSpPr/>
          <p:nvPr/>
        </p:nvSpPr>
        <p:spPr bwMode="gray">
          <a:xfrm>
            <a:off x="6492481" y="1896234"/>
            <a:ext cx="1327608" cy="523220"/>
          </a:xfrm>
          <a:prstGeom prst="rect">
            <a:avLst/>
          </a:prstGeom>
        </p:spPr>
        <p:txBody>
          <a:bodyPr wrap="none">
            <a:spAutoFit/>
          </a:bodyPr>
          <a:lstStyle/>
          <a:p>
            <a:r>
              <a:rPr lang="en-US" altLang="zh-CN" sz="1400" b="1">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VBDIF 20</a:t>
            </a:r>
          </a:p>
          <a:p>
            <a:r>
              <a:rPr lang="en-US" altLang="zh-CN"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192.168.2.254</a:t>
            </a:r>
            <a:endPar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矩形 17"/>
          <p:cNvSpPr/>
          <p:nvPr/>
        </p:nvSpPr>
        <p:spPr bwMode="gray">
          <a:xfrm>
            <a:off x="3005931" y="2570543"/>
            <a:ext cx="752129" cy="523220"/>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SW1</a:t>
            </a:r>
          </a:p>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网关</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矩形 18"/>
          <p:cNvSpPr/>
          <p:nvPr/>
        </p:nvSpPr>
        <p:spPr bwMode="gray">
          <a:xfrm>
            <a:off x="8416706" y="2570543"/>
            <a:ext cx="752129" cy="523220"/>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SW2</a:t>
            </a:r>
          </a:p>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网关</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矩形 19"/>
          <p:cNvSpPr/>
          <p:nvPr/>
        </p:nvSpPr>
        <p:spPr bwMode="gray">
          <a:xfrm>
            <a:off x="5770675" y="1714500"/>
            <a:ext cx="752129" cy="523220"/>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SW3</a:t>
            </a:r>
          </a:p>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网关</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矩形 20"/>
          <p:cNvSpPr/>
          <p:nvPr/>
        </p:nvSpPr>
        <p:spPr bwMode="gray">
          <a:xfrm rot="20294617">
            <a:off x="4015588" y="3098405"/>
            <a:ext cx="1848583" cy="307777"/>
          </a:xfrm>
          <a:prstGeom prst="rect">
            <a:avLst/>
          </a:prstGeom>
        </p:spPr>
        <p:txBody>
          <a:bodyPr wrap="none">
            <a:spAutoFit/>
          </a:bodyPr>
          <a:lstStyle/>
          <a:p>
            <a:pPr algn="ctr"/>
            <a:r>
              <a:rPr lang="en-US" altLang="zh-CN" sz="140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BD 10 </a:t>
            </a:r>
            <a:r>
              <a:rPr lang="zh-CN" altLang="en-US" sz="140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VNI 1000</a:t>
            </a:r>
            <a:r>
              <a:rPr lang="zh-CN" altLang="en-US" sz="140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矩形 21"/>
          <p:cNvSpPr/>
          <p:nvPr/>
        </p:nvSpPr>
        <p:spPr bwMode="gray">
          <a:xfrm rot="1260968">
            <a:off x="6486186" y="3085705"/>
            <a:ext cx="1848583" cy="307777"/>
          </a:xfrm>
          <a:prstGeom prst="rect">
            <a:avLst/>
          </a:prstGeom>
        </p:spPr>
        <p:txBody>
          <a:bodyPr wrap="none">
            <a:spAutoFit/>
          </a:bodyPr>
          <a:lstStyle/>
          <a:p>
            <a:pPr algn="ct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BD 20 </a:t>
            </a:r>
            <a:r>
              <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VNI 2000</a:t>
            </a:r>
            <a:r>
              <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25" name="矩形 24"/>
          <p:cNvSpPr/>
          <p:nvPr/>
        </p:nvSpPr>
        <p:spPr bwMode="gray">
          <a:xfrm>
            <a:off x="724724" y="2589203"/>
            <a:ext cx="1377301" cy="523220"/>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PC1</a:t>
            </a:r>
          </a:p>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192.168.1.1/24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矩形 25"/>
          <p:cNvSpPr/>
          <p:nvPr/>
        </p:nvSpPr>
        <p:spPr bwMode="gray">
          <a:xfrm>
            <a:off x="10120837" y="2589203"/>
            <a:ext cx="1377301" cy="523220"/>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PC2</a:t>
            </a:r>
          </a:p>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192.168.2.2/24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7" name="图片 11" descr="开放网络-蓝.png"/>
          <p:cNvPicPr>
            <a:picLocks noChangeAspect="1"/>
          </p:cNvPicPr>
          <p:nvPr/>
        </p:nvPicPr>
        <p:blipFill>
          <a:blip r:embed="rId3" cstate="print"/>
          <a:stretch>
            <a:fillRect/>
          </a:stretch>
        </p:blipFill>
        <p:spPr bwMode="gray">
          <a:xfrm>
            <a:off x="1145671" y="3155941"/>
            <a:ext cx="539607" cy="415381"/>
          </a:xfrm>
          <a:prstGeom prst="rect">
            <a:avLst/>
          </a:prstGeom>
        </p:spPr>
      </p:pic>
      <p:pic>
        <p:nvPicPr>
          <p:cNvPr id="28" name="图片 11" descr="开放网络-蓝.png"/>
          <p:cNvPicPr>
            <a:picLocks noChangeAspect="1"/>
          </p:cNvPicPr>
          <p:nvPr/>
        </p:nvPicPr>
        <p:blipFill>
          <a:blip r:embed="rId3" cstate="print"/>
          <a:stretch>
            <a:fillRect/>
          </a:stretch>
        </p:blipFill>
        <p:spPr bwMode="gray">
          <a:xfrm>
            <a:off x="10560915" y="3155941"/>
            <a:ext cx="539607" cy="415381"/>
          </a:xfrm>
          <a:prstGeom prst="rect">
            <a:avLst/>
          </a:prstGeom>
        </p:spPr>
      </p:pic>
      <p:pic>
        <p:nvPicPr>
          <p:cNvPr id="32" name="图片 87" descr="汇聚交换机.png"/>
          <p:cNvPicPr>
            <a:picLocks noChangeAspect="1"/>
          </p:cNvPicPr>
          <p:nvPr/>
        </p:nvPicPr>
        <p:blipFill>
          <a:blip r:embed="rId4"/>
          <a:stretch>
            <a:fillRect/>
          </a:stretch>
        </p:blipFill>
        <p:spPr bwMode="gray">
          <a:xfrm>
            <a:off x="3092711" y="3155941"/>
            <a:ext cx="553102" cy="452540"/>
          </a:xfrm>
          <a:prstGeom prst="rect">
            <a:avLst/>
          </a:prstGeom>
        </p:spPr>
      </p:pic>
      <p:pic>
        <p:nvPicPr>
          <p:cNvPr id="34" name="图片 87" descr="汇聚交换机.png"/>
          <p:cNvPicPr>
            <a:picLocks noChangeAspect="1"/>
          </p:cNvPicPr>
          <p:nvPr/>
        </p:nvPicPr>
        <p:blipFill>
          <a:blip r:embed="rId4"/>
          <a:stretch>
            <a:fillRect/>
          </a:stretch>
        </p:blipFill>
        <p:spPr bwMode="gray">
          <a:xfrm>
            <a:off x="8516220" y="3155941"/>
            <a:ext cx="553102" cy="452540"/>
          </a:xfrm>
          <a:prstGeom prst="rect">
            <a:avLst/>
          </a:prstGeom>
        </p:spPr>
      </p:pic>
      <p:sp>
        <p:nvSpPr>
          <p:cNvPr id="37" name="圆柱形 36"/>
          <p:cNvSpPr/>
          <p:nvPr/>
        </p:nvSpPr>
        <p:spPr bwMode="gray">
          <a:xfrm rot="14890252">
            <a:off x="4659749" y="1810797"/>
            <a:ext cx="222026" cy="2296004"/>
          </a:xfrm>
          <a:prstGeom prst="can">
            <a:avLst>
              <a:gd name="adj" fmla="val 72803"/>
            </a:avLst>
          </a:prstGeom>
          <a:solidFill>
            <a:srgbClr val="EC7061"/>
          </a:solidFill>
          <a:ln w="12700" cap="flat" cmpd="sng" algn="ctr">
            <a:solidFill>
              <a:sysClr val="window" lastClr="FFFFF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999">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矩形 37"/>
          <p:cNvSpPr/>
          <p:nvPr/>
        </p:nvSpPr>
        <p:spPr bwMode="gray">
          <a:xfrm rot="20305855">
            <a:off x="4096439" y="2836238"/>
            <a:ext cx="1197764" cy="307777"/>
          </a:xfrm>
          <a:prstGeom prst="rect">
            <a:avLst/>
          </a:prstGeom>
        </p:spPr>
        <p:txBody>
          <a:bodyPr wrap="none">
            <a:spAutoFit/>
          </a:bodyPr>
          <a:lstStyle/>
          <a:p>
            <a:pPr algn="just"/>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 </a:t>
            </a:r>
            <a:r>
              <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圆柱形 38"/>
          <p:cNvSpPr/>
          <p:nvPr/>
        </p:nvSpPr>
        <p:spPr bwMode="gray">
          <a:xfrm rot="6643893">
            <a:off x="7363364" y="1858634"/>
            <a:ext cx="222026" cy="2125103"/>
          </a:xfrm>
          <a:prstGeom prst="can">
            <a:avLst>
              <a:gd name="adj" fmla="val 72803"/>
            </a:avLst>
          </a:prstGeom>
          <a:solidFill>
            <a:srgbClr val="56C4D2"/>
          </a:solidFill>
          <a:ln w="12700" cap="flat" cmpd="sng" algn="ctr">
            <a:solidFill>
              <a:sysClr val="window" lastClr="FFFFF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999">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39"/>
          <p:cNvSpPr/>
          <p:nvPr/>
        </p:nvSpPr>
        <p:spPr bwMode="gray">
          <a:xfrm rot="1235875">
            <a:off x="6778146" y="2730963"/>
            <a:ext cx="1197764" cy="307777"/>
          </a:xfrm>
          <a:prstGeom prst="rect">
            <a:avLst/>
          </a:prstGeom>
        </p:spPr>
        <p:txBody>
          <a:bodyPr wrap="none">
            <a:spAutoFit/>
          </a:bodyPr>
          <a:lstStyle/>
          <a:p>
            <a:pPr algn="just"/>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 </a:t>
            </a:r>
            <a:r>
              <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1" name="图片 86" descr="核心交换机.png"/>
          <p:cNvPicPr>
            <a:picLocks noChangeAspect="1"/>
          </p:cNvPicPr>
          <p:nvPr/>
        </p:nvPicPr>
        <p:blipFill>
          <a:blip r:embed="rId5"/>
          <a:stretch>
            <a:fillRect/>
          </a:stretch>
        </p:blipFill>
        <p:spPr bwMode="gray">
          <a:xfrm>
            <a:off x="5870189" y="2276204"/>
            <a:ext cx="553102" cy="452540"/>
          </a:xfrm>
          <a:prstGeom prst="rect">
            <a:avLst/>
          </a:prstGeom>
        </p:spPr>
      </p:pic>
      <p:sp>
        <p:nvSpPr>
          <p:cNvPr id="35" name="五边形 24">
            <a:extLst>
              <a:ext uri="{FF2B5EF4-FFF2-40B4-BE49-F238E27FC236}">
                <a16:creationId xmlns:a16="http://schemas.microsoft.com/office/drawing/2014/main" id="{94B96716-C28B-40EB-8E95-7453A9EDFF97}"/>
              </a:ext>
            </a:extLst>
          </p:cNvPr>
          <p:cNvSpPr/>
          <p:nvPr/>
        </p:nvSpPr>
        <p:spPr bwMode="gray">
          <a:xfrm>
            <a:off x="6832310" y="124239"/>
            <a:ext cx="781200" cy="213120"/>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NVE</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燕尾形 25">
            <a:extLst>
              <a:ext uri="{FF2B5EF4-FFF2-40B4-BE49-F238E27FC236}">
                <a16:creationId xmlns:a16="http://schemas.microsoft.com/office/drawing/2014/main" id="{B3835D4C-1B49-4581-A7CA-72BCE8067FFC}"/>
              </a:ext>
            </a:extLst>
          </p:cNvPr>
          <p:cNvSpPr/>
          <p:nvPr/>
        </p:nvSpPr>
        <p:spPr bwMode="gray">
          <a:xfrm>
            <a:off x="9084373" y="124239"/>
            <a:ext cx="781200"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VAP</a:t>
            </a:r>
          </a:p>
        </p:txBody>
      </p:sp>
      <p:sp>
        <p:nvSpPr>
          <p:cNvPr id="42" name="燕尾形 26">
            <a:extLst>
              <a:ext uri="{FF2B5EF4-FFF2-40B4-BE49-F238E27FC236}">
                <a16:creationId xmlns:a16="http://schemas.microsoft.com/office/drawing/2014/main" id="{9744301D-E99A-4BEF-A318-08CD9645DD40}"/>
              </a:ext>
            </a:extLst>
          </p:cNvPr>
          <p:cNvSpPr/>
          <p:nvPr/>
        </p:nvSpPr>
        <p:spPr bwMode="gray">
          <a:xfrm>
            <a:off x="10931982" y="124239"/>
            <a:ext cx="78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燕尾形 26">
            <a:extLst>
              <a:ext uri="{FF2B5EF4-FFF2-40B4-BE49-F238E27FC236}">
                <a16:creationId xmlns:a16="http://schemas.microsoft.com/office/drawing/2014/main" id="{BCE2539E-0076-4A5B-9B7B-AE0039DEB005}"/>
              </a:ext>
            </a:extLst>
          </p:cNvPr>
          <p:cNvSpPr/>
          <p:nvPr/>
        </p:nvSpPr>
        <p:spPr bwMode="gray">
          <a:xfrm>
            <a:off x="8299168" y="124239"/>
            <a:ext cx="864000"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VNI</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BD</a:t>
            </a:r>
          </a:p>
        </p:txBody>
      </p:sp>
      <p:sp>
        <p:nvSpPr>
          <p:cNvPr id="44" name="燕尾形 26">
            <a:extLst>
              <a:ext uri="{FF2B5EF4-FFF2-40B4-BE49-F238E27FC236}">
                <a16:creationId xmlns:a16="http://schemas.microsoft.com/office/drawing/2014/main" id="{65628728-0580-404A-8423-3F9266499728}"/>
              </a:ext>
            </a:extLst>
          </p:cNvPr>
          <p:cNvSpPr/>
          <p:nvPr/>
        </p:nvSpPr>
        <p:spPr bwMode="gray">
          <a:xfrm>
            <a:off x="7534715" y="124239"/>
            <a:ext cx="843248"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VTEP</a:t>
            </a:r>
          </a:p>
        </p:txBody>
      </p:sp>
      <p:sp>
        <p:nvSpPr>
          <p:cNvPr id="47" name="燕尾形 25">
            <a:extLst>
              <a:ext uri="{FF2B5EF4-FFF2-40B4-BE49-F238E27FC236}">
                <a16:creationId xmlns:a16="http://schemas.microsoft.com/office/drawing/2014/main" id="{B3835D4C-1B49-4581-A7CA-72BCE8067FFC}"/>
              </a:ext>
            </a:extLst>
          </p:cNvPr>
          <p:cNvSpPr/>
          <p:nvPr/>
        </p:nvSpPr>
        <p:spPr bwMode="gray">
          <a:xfrm>
            <a:off x="9786778" y="124239"/>
            <a:ext cx="1224000"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Edge</a:t>
            </a:r>
          </a:p>
        </p:txBody>
      </p:sp>
    </p:spTree>
    <p:extLst>
      <p:ext uri="{BB962C8B-B14F-4D97-AF65-F5344CB8AC3E}">
        <p14:creationId xmlns:p14="http://schemas.microsoft.com/office/powerpoint/2010/main" val="30246217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sym typeface="Huawei Sans" panose="020C0503030203020204" pitchFamily="34" charset="0"/>
              </a:rPr>
              <a:t>VXLAN</a:t>
            </a:r>
            <a:r>
              <a:rPr lang="zh-CN" altLang="en-US" dirty="0">
                <a:sym typeface="Huawei Sans" panose="020C0503030203020204" pitchFamily="34" charset="0"/>
              </a:rPr>
              <a:t>基本概念：分布式与集中式网关</a:t>
            </a:r>
          </a:p>
        </p:txBody>
      </p:sp>
      <p:grpSp>
        <p:nvGrpSpPr>
          <p:cNvPr id="6" name="组合 5"/>
          <p:cNvGrpSpPr/>
          <p:nvPr/>
        </p:nvGrpSpPr>
        <p:grpSpPr bwMode="gray">
          <a:xfrm>
            <a:off x="603730" y="1776311"/>
            <a:ext cx="5360204" cy="2648639"/>
            <a:chOff x="779220" y="1896284"/>
            <a:chExt cx="5360204" cy="2648639"/>
          </a:xfrm>
        </p:grpSpPr>
        <p:grpSp>
          <p:nvGrpSpPr>
            <p:cNvPr id="26" name="组合 25"/>
            <p:cNvGrpSpPr/>
            <p:nvPr/>
          </p:nvGrpSpPr>
          <p:grpSpPr bwMode="gray">
            <a:xfrm>
              <a:off x="1596588" y="3060314"/>
              <a:ext cx="1458780" cy="629985"/>
              <a:chOff x="6600056" y="4353447"/>
              <a:chExt cx="1296144" cy="833967"/>
            </a:xfrm>
          </p:grpSpPr>
          <p:cxnSp>
            <p:nvCxnSpPr>
              <p:cNvPr id="27" name="直接连接符 26"/>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 name="直接连接符 7"/>
            <p:cNvCxnSpPr/>
            <p:nvPr/>
          </p:nvCxnSpPr>
          <p:spPr bwMode="gray">
            <a:xfrm flipV="1">
              <a:off x="5196654" y="3213266"/>
              <a:ext cx="0" cy="4770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bwMode="gray">
            <a:xfrm flipH="1">
              <a:off x="2310202" y="2119066"/>
              <a:ext cx="1581127" cy="9150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a:endCxn id="18" idx="3"/>
            </p:cNvCxnSpPr>
            <p:nvPr/>
          </p:nvCxnSpPr>
          <p:spPr bwMode="gray">
            <a:xfrm>
              <a:off x="3891329" y="2119066"/>
              <a:ext cx="1558681" cy="95247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bwMode="gray">
            <a:xfrm>
              <a:off x="3550057" y="2363099"/>
              <a:ext cx="752129" cy="307777"/>
            </a:xfrm>
            <a:prstGeom prst="rect">
              <a:avLst/>
            </a:prstGeom>
          </p:spPr>
          <p:txBody>
            <a:bodyPr wrap="none">
              <a:spAutoFit/>
            </a:bodyPr>
            <a:lstStyle/>
            <a:p>
              <a:pPr algn="ctr" fontAlgn="ctr"/>
              <a:r>
                <a:rPr lang="en-US" altLang="zh-CN" sz="14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4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4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14"/>
            <p:cNvSpPr/>
            <p:nvPr/>
          </p:nvSpPr>
          <p:spPr bwMode="gray">
            <a:xfrm>
              <a:off x="779220" y="4023974"/>
              <a:ext cx="1365344" cy="518678"/>
            </a:xfrm>
            <a:prstGeom prst="rect">
              <a:avLst/>
            </a:prstGeom>
          </p:spPr>
          <p:txBody>
            <a:bodyPr wrap="none">
              <a:noAutofit/>
            </a:bodyPr>
            <a:lstStyle/>
            <a:p>
              <a:pPr algn="ctr" fontAlgn="ct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PC1</a:t>
              </a:r>
            </a:p>
            <a:p>
              <a:pPr algn="ctr" fontAlgn="ct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192.168.1.1/24</a:t>
              </a:r>
            </a:p>
          </p:txBody>
        </p:sp>
        <p:sp>
          <p:nvSpPr>
            <p:cNvPr id="16" name="矩形 15"/>
            <p:cNvSpPr/>
            <p:nvPr/>
          </p:nvSpPr>
          <p:spPr bwMode="gray">
            <a:xfrm>
              <a:off x="4524076" y="4021703"/>
              <a:ext cx="1377300" cy="523220"/>
            </a:xfrm>
            <a:prstGeom prst="rect">
              <a:avLst/>
            </a:prstGeom>
          </p:spPr>
          <p:txBody>
            <a:bodyPr wrap="none">
              <a:noAutofit/>
            </a:bodyPr>
            <a:lstStyle/>
            <a:p>
              <a:pPr algn="ctr" fontAlgn="ctr"/>
              <a:r>
                <a:rPr lang="en-US" altLang="zh-CN"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PC3</a:t>
              </a:r>
              <a:endPar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fontAlgn="ctr"/>
              <a:r>
                <a:rPr lang="en-US" altLang="zh-CN" sz="14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192.168.1.3/24</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7" name="图片 86" descr="核心交换机.png"/>
            <p:cNvPicPr>
              <a:picLocks noChangeAspect="1"/>
            </p:cNvPicPr>
            <p:nvPr/>
          </p:nvPicPr>
          <p:blipFill>
            <a:blip r:embed="rId3"/>
            <a:stretch>
              <a:fillRect/>
            </a:stretch>
          </p:blipFill>
          <p:spPr bwMode="gray">
            <a:xfrm>
              <a:off x="3658117" y="1896284"/>
              <a:ext cx="502820" cy="411400"/>
            </a:xfrm>
            <a:prstGeom prst="rect">
              <a:avLst/>
            </a:prstGeom>
          </p:spPr>
        </p:pic>
        <p:pic>
          <p:nvPicPr>
            <p:cNvPr id="18" name="图片 87" descr="汇聚交换机.png"/>
            <p:cNvPicPr>
              <a:picLocks noChangeAspect="1"/>
            </p:cNvPicPr>
            <p:nvPr/>
          </p:nvPicPr>
          <p:blipFill>
            <a:blip r:embed="rId4"/>
            <a:stretch>
              <a:fillRect/>
            </a:stretch>
          </p:blipFill>
          <p:spPr bwMode="gray">
            <a:xfrm>
              <a:off x="4947190" y="2865845"/>
              <a:ext cx="502820" cy="411400"/>
            </a:xfrm>
            <a:prstGeom prst="rect">
              <a:avLst/>
            </a:prstGeom>
          </p:spPr>
        </p:pic>
        <p:pic>
          <p:nvPicPr>
            <p:cNvPr id="21" name="图片 87" descr="汇聚交换机.png"/>
            <p:cNvPicPr>
              <a:picLocks noChangeAspect="1"/>
            </p:cNvPicPr>
            <p:nvPr/>
          </p:nvPicPr>
          <p:blipFill>
            <a:blip r:embed="rId4"/>
            <a:stretch>
              <a:fillRect/>
            </a:stretch>
          </p:blipFill>
          <p:spPr bwMode="gray">
            <a:xfrm>
              <a:off x="2074569" y="2865845"/>
              <a:ext cx="502820" cy="411400"/>
            </a:xfrm>
            <a:prstGeom prst="rect">
              <a:avLst/>
            </a:prstGeom>
          </p:spPr>
        </p:pic>
        <p:pic>
          <p:nvPicPr>
            <p:cNvPr id="22" name="图片 11" descr="开放网络-蓝.png"/>
            <p:cNvPicPr>
              <a:picLocks noChangeAspect="1"/>
            </p:cNvPicPr>
            <p:nvPr/>
          </p:nvPicPr>
          <p:blipFill>
            <a:blip r:embed="rId5"/>
            <a:stretch>
              <a:fillRect/>
            </a:stretch>
          </p:blipFill>
          <p:spPr bwMode="gray">
            <a:xfrm>
              <a:off x="1192285" y="3648032"/>
              <a:ext cx="445957" cy="343290"/>
            </a:xfrm>
            <a:prstGeom prst="rect">
              <a:avLst/>
            </a:prstGeom>
          </p:spPr>
        </p:pic>
        <p:sp>
          <p:nvSpPr>
            <p:cNvPr id="24" name="矩形 23"/>
            <p:cNvSpPr/>
            <p:nvPr/>
          </p:nvSpPr>
          <p:spPr bwMode="gray">
            <a:xfrm>
              <a:off x="1298664" y="2792854"/>
              <a:ext cx="744114" cy="307777"/>
            </a:xfrm>
            <a:prstGeom prst="rect">
              <a:avLst/>
            </a:prstGeom>
          </p:spPr>
          <p:txBody>
            <a:bodyPr wrap="none">
              <a:spAutoFit/>
            </a:bodyPr>
            <a:lstStyle/>
            <a:p>
              <a:pPr algn="just"/>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网关</a:t>
              </a:r>
            </a:p>
          </p:txBody>
        </p:sp>
        <p:sp>
          <p:nvSpPr>
            <p:cNvPr id="25" name="矩形 24"/>
            <p:cNvSpPr/>
            <p:nvPr/>
          </p:nvSpPr>
          <p:spPr bwMode="gray">
            <a:xfrm>
              <a:off x="5395310" y="2792854"/>
              <a:ext cx="744114" cy="307777"/>
            </a:xfrm>
            <a:prstGeom prst="rect">
              <a:avLst/>
            </a:prstGeom>
          </p:spPr>
          <p:txBody>
            <a:bodyPr wrap="none">
              <a:spAutoFit/>
            </a:bodyPr>
            <a:lstStyle/>
            <a:p>
              <a:pPr algn="just"/>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网关</a:t>
              </a:r>
            </a:p>
          </p:txBody>
        </p:sp>
        <p:sp>
          <p:nvSpPr>
            <p:cNvPr id="31" name="矩形 30"/>
            <p:cNvSpPr/>
            <p:nvPr/>
          </p:nvSpPr>
          <p:spPr bwMode="gray">
            <a:xfrm>
              <a:off x="2570180" y="4023974"/>
              <a:ext cx="1365344" cy="518678"/>
            </a:xfrm>
            <a:prstGeom prst="rect">
              <a:avLst/>
            </a:prstGeom>
          </p:spPr>
          <p:txBody>
            <a:bodyPr wrap="none">
              <a:noAutofit/>
            </a:bodyPr>
            <a:lstStyle/>
            <a:p>
              <a:pPr algn="ctr" fontAlgn="ctr"/>
              <a:r>
                <a:rPr lang="en-US" altLang="zh-CN"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PC2</a:t>
              </a:r>
              <a:endPar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fontAlgn="ctr"/>
              <a:r>
                <a:rPr lang="en-US" altLang="zh-CN" sz="14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192.168.2.1/24</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2" name="图片 11" descr="开放网络-蓝.png"/>
            <p:cNvPicPr>
              <a:picLocks noChangeAspect="1"/>
            </p:cNvPicPr>
            <p:nvPr/>
          </p:nvPicPr>
          <p:blipFill>
            <a:blip r:embed="rId5"/>
            <a:stretch>
              <a:fillRect/>
            </a:stretch>
          </p:blipFill>
          <p:spPr bwMode="gray">
            <a:xfrm>
              <a:off x="3024809" y="3648032"/>
              <a:ext cx="445957" cy="343290"/>
            </a:xfrm>
            <a:prstGeom prst="rect">
              <a:avLst/>
            </a:prstGeom>
          </p:spPr>
        </p:pic>
        <p:pic>
          <p:nvPicPr>
            <p:cNvPr id="33" name="图片 11" descr="开放网络-蓝.png"/>
            <p:cNvPicPr>
              <a:picLocks noChangeAspect="1"/>
            </p:cNvPicPr>
            <p:nvPr/>
          </p:nvPicPr>
          <p:blipFill>
            <a:blip r:embed="rId5"/>
            <a:stretch>
              <a:fillRect/>
            </a:stretch>
          </p:blipFill>
          <p:spPr bwMode="gray">
            <a:xfrm>
              <a:off x="4984970" y="3648032"/>
              <a:ext cx="445957" cy="343290"/>
            </a:xfrm>
            <a:prstGeom prst="rect">
              <a:avLst/>
            </a:prstGeom>
          </p:spPr>
        </p:pic>
        <p:sp>
          <p:nvSpPr>
            <p:cNvPr id="35" name="Freeform 61"/>
            <p:cNvSpPr/>
            <p:nvPr/>
          </p:nvSpPr>
          <p:spPr bwMode="gray">
            <a:xfrm>
              <a:off x="1842213" y="2085952"/>
              <a:ext cx="1906698" cy="1581222"/>
            </a:xfrm>
            <a:custGeom>
              <a:avLst/>
              <a:gdLst>
                <a:gd name="connsiteX0" fmla="*/ 0 w 1384394"/>
                <a:gd name="connsiteY0" fmla="*/ 2134957 h 2162949"/>
                <a:gd name="connsiteX1" fmla="*/ 1314062 w 1384394"/>
                <a:gd name="connsiteY1" fmla="*/ 11919 h 2162949"/>
                <a:gd name="connsiteX2" fmla="*/ 970384 w 1384394"/>
                <a:gd name="connsiteY2" fmla="*/ 1556460 h 2162949"/>
                <a:gd name="connsiteX3" fmla="*/ 1343609 w 1384394"/>
                <a:gd name="connsiteY3" fmla="*/ 2162949 h 2162949"/>
                <a:gd name="connsiteX0" fmla="*/ 0 w 1699996"/>
                <a:gd name="connsiteY0" fmla="*/ 1942276 h 1970268"/>
                <a:gd name="connsiteX1" fmla="*/ 1650432 w 1699996"/>
                <a:gd name="connsiteY1" fmla="*/ 13972 h 1970268"/>
                <a:gd name="connsiteX2" fmla="*/ 970384 w 1699996"/>
                <a:gd name="connsiteY2" fmla="*/ 1363779 h 1970268"/>
                <a:gd name="connsiteX3" fmla="*/ 1343609 w 1699996"/>
                <a:gd name="connsiteY3" fmla="*/ 1970268 h 1970268"/>
                <a:gd name="connsiteX0" fmla="*/ 0 w 1671970"/>
                <a:gd name="connsiteY0" fmla="*/ 1942865 h 1970857"/>
                <a:gd name="connsiteX1" fmla="*/ 1650432 w 1671970"/>
                <a:gd name="connsiteY1" fmla="*/ 14561 h 1970857"/>
                <a:gd name="connsiteX2" fmla="*/ 984400 w 1671970"/>
                <a:gd name="connsiteY2" fmla="*/ 1118834 h 1970857"/>
                <a:gd name="connsiteX3" fmla="*/ 1343609 w 1671970"/>
                <a:gd name="connsiteY3" fmla="*/ 1970857 h 1970857"/>
                <a:gd name="connsiteX0" fmla="*/ 0 w 1671970"/>
                <a:gd name="connsiteY0" fmla="*/ 1942865 h 1942865"/>
                <a:gd name="connsiteX1" fmla="*/ 1650432 w 1671970"/>
                <a:gd name="connsiteY1" fmla="*/ 14561 h 1942865"/>
                <a:gd name="connsiteX2" fmla="*/ 984400 w 1671970"/>
                <a:gd name="connsiteY2" fmla="*/ 1118834 h 1942865"/>
                <a:gd name="connsiteX3" fmla="*/ 1203455 w 1671970"/>
                <a:gd name="connsiteY3" fmla="*/ 1623724 h 1942865"/>
                <a:gd name="connsiteX0" fmla="*/ 0 w 1671970"/>
                <a:gd name="connsiteY0" fmla="*/ 1942865 h 1942865"/>
                <a:gd name="connsiteX1" fmla="*/ 1650432 w 1671970"/>
                <a:gd name="connsiteY1" fmla="*/ 14561 h 1942865"/>
                <a:gd name="connsiteX2" fmla="*/ 984400 w 1671970"/>
                <a:gd name="connsiteY2" fmla="*/ 1118834 h 1942865"/>
                <a:gd name="connsiteX3" fmla="*/ 1231486 w 1671970"/>
                <a:gd name="connsiteY3" fmla="*/ 1691458 h 1942865"/>
                <a:gd name="connsiteX0" fmla="*/ 0 w 1680221"/>
                <a:gd name="connsiteY0" fmla="*/ 1953567 h 1953567"/>
                <a:gd name="connsiteX1" fmla="*/ 1650432 w 1680221"/>
                <a:gd name="connsiteY1" fmla="*/ 25263 h 1953567"/>
                <a:gd name="connsiteX2" fmla="*/ 1103531 w 1680221"/>
                <a:gd name="connsiteY2" fmla="*/ 943269 h 1953567"/>
                <a:gd name="connsiteX3" fmla="*/ 1231486 w 1680221"/>
                <a:gd name="connsiteY3" fmla="*/ 1702160 h 1953567"/>
                <a:gd name="connsiteX0" fmla="*/ 0 w 1676550"/>
                <a:gd name="connsiteY0" fmla="*/ 1952975 h 1952975"/>
                <a:gd name="connsiteX1" fmla="*/ 1650432 w 1676550"/>
                <a:gd name="connsiteY1" fmla="*/ 24671 h 1952975"/>
                <a:gd name="connsiteX2" fmla="*/ 1054478 w 1676550"/>
                <a:gd name="connsiteY2" fmla="*/ 951143 h 1952975"/>
                <a:gd name="connsiteX3" fmla="*/ 1231486 w 1676550"/>
                <a:gd name="connsiteY3" fmla="*/ 1701568 h 1952975"/>
                <a:gd name="connsiteX0" fmla="*/ 0 w 1610919"/>
                <a:gd name="connsiteY0" fmla="*/ 1794614 h 1794614"/>
                <a:gd name="connsiteX1" fmla="*/ 1587363 w 1610919"/>
                <a:gd name="connsiteY1" fmla="*/ 18710 h 1794614"/>
                <a:gd name="connsiteX2" fmla="*/ 991409 w 1610919"/>
                <a:gd name="connsiteY2" fmla="*/ 945182 h 1794614"/>
                <a:gd name="connsiteX3" fmla="*/ 1168417 w 1610919"/>
                <a:gd name="connsiteY3" fmla="*/ 1695607 h 1794614"/>
                <a:gd name="connsiteX0" fmla="*/ 0 w 1610919"/>
                <a:gd name="connsiteY0" fmla="*/ 1794614 h 1794614"/>
                <a:gd name="connsiteX1" fmla="*/ 1587363 w 1610919"/>
                <a:gd name="connsiteY1" fmla="*/ 18710 h 1794614"/>
                <a:gd name="connsiteX2" fmla="*/ 991409 w 1610919"/>
                <a:gd name="connsiteY2" fmla="*/ 945182 h 1794614"/>
                <a:gd name="connsiteX3" fmla="*/ 1168417 w 1610919"/>
                <a:gd name="connsiteY3" fmla="*/ 1695607 h 1794614"/>
                <a:gd name="connsiteX0" fmla="*/ 0 w 1606064"/>
                <a:gd name="connsiteY0" fmla="*/ 1818934 h 1818934"/>
                <a:gd name="connsiteX1" fmla="*/ 1587363 w 1606064"/>
                <a:gd name="connsiteY1" fmla="*/ 43030 h 1818934"/>
                <a:gd name="connsiteX2" fmla="*/ 991409 w 1606064"/>
                <a:gd name="connsiteY2" fmla="*/ 969502 h 1818934"/>
                <a:gd name="connsiteX3" fmla="*/ 1168417 w 1606064"/>
                <a:gd name="connsiteY3" fmla="*/ 1719927 h 1818934"/>
                <a:gd name="connsiteX0" fmla="*/ 0 w 1618922"/>
                <a:gd name="connsiteY0" fmla="*/ 1797306 h 1797306"/>
                <a:gd name="connsiteX1" fmla="*/ 1587363 w 1618922"/>
                <a:gd name="connsiteY1" fmla="*/ 21402 h 1797306"/>
                <a:gd name="connsiteX2" fmla="*/ 1096525 w 1618922"/>
                <a:gd name="connsiteY2" fmla="*/ 905540 h 1797306"/>
                <a:gd name="connsiteX3" fmla="*/ 1168417 w 1618922"/>
                <a:gd name="connsiteY3" fmla="*/ 1698299 h 1797306"/>
                <a:gd name="connsiteX0" fmla="*/ 0 w 1630261"/>
                <a:gd name="connsiteY0" fmla="*/ 1776055 h 1776055"/>
                <a:gd name="connsiteX1" fmla="*/ 1587363 w 1630261"/>
                <a:gd name="connsiteY1" fmla="*/ 151 h 1776055"/>
                <a:gd name="connsiteX2" fmla="*/ 1168417 w 1630261"/>
                <a:gd name="connsiteY2" fmla="*/ 1677048 h 1776055"/>
                <a:gd name="connsiteX0" fmla="*/ 0 w 1599796"/>
                <a:gd name="connsiteY0" fmla="*/ 1875951 h 1875951"/>
                <a:gd name="connsiteX1" fmla="*/ 1587363 w 1599796"/>
                <a:gd name="connsiteY1" fmla="*/ 100047 h 1875951"/>
                <a:gd name="connsiteX2" fmla="*/ 1168417 w 1599796"/>
                <a:gd name="connsiteY2" fmla="*/ 1776944 h 1875951"/>
                <a:gd name="connsiteX0" fmla="*/ 0 w 1592525"/>
                <a:gd name="connsiteY0" fmla="*/ 1875951 h 1875951"/>
                <a:gd name="connsiteX1" fmla="*/ 1587363 w 1592525"/>
                <a:gd name="connsiteY1" fmla="*/ 100047 h 1875951"/>
                <a:gd name="connsiteX2" fmla="*/ 1168417 w 1592525"/>
                <a:gd name="connsiteY2" fmla="*/ 1776944 h 1875951"/>
                <a:gd name="connsiteX0" fmla="*/ 0 w 1660780"/>
                <a:gd name="connsiteY0" fmla="*/ 1795430 h 1795430"/>
                <a:gd name="connsiteX1" fmla="*/ 1587363 w 1660780"/>
                <a:gd name="connsiteY1" fmla="*/ 19526 h 1795430"/>
                <a:gd name="connsiteX2" fmla="*/ 1168417 w 1660780"/>
                <a:gd name="connsiteY2" fmla="*/ 1696423 h 1795430"/>
                <a:gd name="connsiteX0" fmla="*/ 0 w 1645000"/>
                <a:gd name="connsiteY0" fmla="*/ 1803147 h 1803147"/>
                <a:gd name="connsiteX1" fmla="*/ 1587363 w 1645000"/>
                <a:gd name="connsiteY1" fmla="*/ 27243 h 1803147"/>
                <a:gd name="connsiteX2" fmla="*/ 1168417 w 1645000"/>
                <a:gd name="connsiteY2" fmla="*/ 1704140 h 1803147"/>
                <a:gd name="connsiteX0" fmla="*/ 0 w 1635742"/>
                <a:gd name="connsiteY0" fmla="*/ 1803147 h 1803147"/>
                <a:gd name="connsiteX1" fmla="*/ 1587363 w 1635742"/>
                <a:gd name="connsiteY1" fmla="*/ 27243 h 1803147"/>
                <a:gd name="connsiteX2" fmla="*/ 1168417 w 1635742"/>
                <a:gd name="connsiteY2" fmla="*/ 1704140 h 1803147"/>
                <a:gd name="connsiteX0" fmla="*/ 0 w 1635742"/>
                <a:gd name="connsiteY0" fmla="*/ 1803147 h 1803147"/>
                <a:gd name="connsiteX1" fmla="*/ 1587363 w 1635742"/>
                <a:gd name="connsiteY1" fmla="*/ 27243 h 1803147"/>
                <a:gd name="connsiteX2" fmla="*/ 1168417 w 1635742"/>
                <a:gd name="connsiteY2" fmla="*/ 1704140 h 1803147"/>
                <a:gd name="connsiteX0" fmla="*/ 0 w 1637609"/>
                <a:gd name="connsiteY0" fmla="*/ 1606794 h 1677121"/>
                <a:gd name="connsiteX1" fmla="*/ 1615393 w 1637609"/>
                <a:gd name="connsiteY1" fmla="*/ 224 h 1677121"/>
                <a:gd name="connsiteX2" fmla="*/ 1196447 w 1637609"/>
                <a:gd name="connsiteY2" fmla="*/ 1677121 h 1677121"/>
                <a:gd name="connsiteX0" fmla="*/ 0 w 1633444"/>
                <a:gd name="connsiteY0" fmla="*/ 1606644 h 1606644"/>
                <a:gd name="connsiteX1" fmla="*/ 1615393 w 1633444"/>
                <a:gd name="connsiteY1" fmla="*/ 74 h 1606644"/>
                <a:gd name="connsiteX2" fmla="*/ 1105347 w 1633444"/>
                <a:gd name="connsiteY2" fmla="*/ 1558437 h 1606644"/>
                <a:gd name="connsiteX0" fmla="*/ 0 w 1635928"/>
                <a:gd name="connsiteY0" fmla="*/ 1606706 h 1606706"/>
                <a:gd name="connsiteX1" fmla="*/ 1615393 w 1635928"/>
                <a:gd name="connsiteY1" fmla="*/ 136 h 1606706"/>
                <a:gd name="connsiteX2" fmla="*/ 1161410 w 1635928"/>
                <a:gd name="connsiteY2" fmla="*/ 1541566 h 1606706"/>
                <a:gd name="connsiteX0" fmla="*/ 0 w 1578138"/>
                <a:gd name="connsiteY0" fmla="*/ 1581222 h 1581222"/>
                <a:gd name="connsiteX1" fmla="*/ 1559332 w 1578138"/>
                <a:gd name="connsiteY1" fmla="*/ 52 h 1581222"/>
                <a:gd name="connsiteX2" fmla="*/ 1105349 w 1578138"/>
                <a:gd name="connsiteY2" fmla="*/ 1541482 h 1581222"/>
                <a:gd name="connsiteX0" fmla="*/ 0 w 1578139"/>
                <a:gd name="connsiteY0" fmla="*/ 1581222 h 1581222"/>
                <a:gd name="connsiteX1" fmla="*/ 1559332 w 1578139"/>
                <a:gd name="connsiteY1" fmla="*/ 52 h 1581222"/>
                <a:gd name="connsiteX2" fmla="*/ 1105349 w 1578139"/>
                <a:gd name="connsiteY2" fmla="*/ 1541482 h 1581222"/>
              </a:gdLst>
              <a:ahLst/>
              <a:cxnLst>
                <a:cxn ang="0">
                  <a:pos x="connsiteX0" y="connsiteY0"/>
                </a:cxn>
                <a:cxn ang="0">
                  <a:pos x="connsiteX1" y="connsiteY1"/>
                </a:cxn>
                <a:cxn ang="0">
                  <a:pos x="connsiteX2" y="connsiteY2"/>
                </a:cxn>
              </a:cxnLst>
              <a:rect l="l" t="t" r="r" b="b"/>
              <a:pathLst>
                <a:path w="1578139" h="1581222">
                  <a:moveTo>
                    <a:pt x="0" y="1581222"/>
                  </a:moveTo>
                  <a:cubicBezTo>
                    <a:pt x="756772" y="436494"/>
                    <a:pt x="1375107" y="6675"/>
                    <a:pt x="1559332" y="52"/>
                  </a:cubicBezTo>
                  <a:cubicBezTo>
                    <a:pt x="1743557" y="-6571"/>
                    <a:pt x="498866" y="624863"/>
                    <a:pt x="1105349" y="1541482"/>
                  </a:cubicBezTo>
                </a:path>
              </a:pathLst>
            </a:custGeom>
            <a:noFill/>
            <a:ln w="28575" cap="flat" cmpd="sng" algn="ctr">
              <a:solidFill>
                <a:srgbClr val="EC7061"/>
              </a:solidFill>
              <a:prstDash val="solid"/>
              <a:miter lim="800000"/>
              <a:headEnd type="triangle" w="med" len="med"/>
              <a:tailEnd type="triangle" w="med" len="med"/>
            </a:ln>
            <a:effectLst/>
          </p:spPr>
          <p:txBody>
            <a:bodyPr wrap="square" rtlCol="0" anchor="ctr">
              <a:noAutofit/>
            </a:bodyPr>
            <a:lstStyle/>
            <a:p>
              <a:pPr algn="ctr" defTabSz="1219170" fontAlgn="ctr"/>
              <a:endParaRPr lang="en-US" altLang="zh-CN" sz="24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Freeform 61"/>
            <p:cNvSpPr/>
            <p:nvPr/>
          </p:nvSpPr>
          <p:spPr bwMode="gray">
            <a:xfrm>
              <a:off x="1554444" y="1925020"/>
              <a:ext cx="3790809" cy="1710496"/>
            </a:xfrm>
            <a:custGeom>
              <a:avLst/>
              <a:gdLst>
                <a:gd name="connsiteX0" fmla="*/ 0 w 1384394"/>
                <a:gd name="connsiteY0" fmla="*/ 2134957 h 2162949"/>
                <a:gd name="connsiteX1" fmla="*/ 1314062 w 1384394"/>
                <a:gd name="connsiteY1" fmla="*/ 11919 h 2162949"/>
                <a:gd name="connsiteX2" fmla="*/ 970384 w 1384394"/>
                <a:gd name="connsiteY2" fmla="*/ 1556460 h 2162949"/>
                <a:gd name="connsiteX3" fmla="*/ 1343609 w 1384394"/>
                <a:gd name="connsiteY3" fmla="*/ 2162949 h 2162949"/>
                <a:gd name="connsiteX0" fmla="*/ 0 w 1699996"/>
                <a:gd name="connsiteY0" fmla="*/ 1942276 h 1970268"/>
                <a:gd name="connsiteX1" fmla="*/ 1650432 w 1699996"/>
                <a:gd name="connsiteY1" fmla="*/ 13972 h 1970268"/>
                <a:gd name="connsiteX2" fmla="*/ 970384 w 1699996"/>
                <a:gd name="connsiteY2" fmla="*/ 1363779 h 1970268"/>
                <a:gd name="connsiteX3" fmla="*/ 1343609 w 1699996"/>
                <a:gd name="connsiteY3" fmla="*/ 1970268 h 1970268"/>
                <a:gd name="connsiteX0" fmla="*/ 0 w 1671970"/>
                <a:gd name="connsiteY0" fmla="*/ 1942865 h 1970857"/>
                <a:gd name="connsiteX1" fmla="*/ 1650432 w 1671970"/>
                <a:gd name="connsiteY1" fmla="*/ 14561 h 1970857"/>
                <a:gd name="connsiteX2" fmla="*/ 984400 w 1671970"/>
                <a:gd name="connsiteY2" fmla="*/ 1118834 h 1970857"/>
                <a:gd name="connsiteX3" fmla="*/ 1343609 w 1671970"/>
                <a:gd name="connsiteY3" fmla="*/ 1970857 h 1970857"/>
                <a:gd name="connsiteX0" fmla="*/ 0 w 1671970"/>
                <a:gd name="connsiteY0" fmla="*/ 1942865 h 1942865"/>
                <a:gd name="connsiteX1" fmla="*/ 1650432 w 1671970"/>
                <a:gd name="connsiteY1" fmla="*/ 14561 h 1942865"/>
                <a:gd name="connsiteX2" fmla="*/ 984400 w 1671970"/>
                <a:gd name="connsiteY2" fmla="*/ 1118834 h 1942865"/>
                <a:gd name="connsiteX3" fmla="*/ 1203455 w 1671970"/>
                <a:gd name="connsiteY3" fmla="*/ 1623724 h 1942865"/>
                <a:gd name="connsiteX0" fmla="*/ 0 w 1671970"/>
                <a:gd name="connsiteY0" fmla="*/ 1942865 h 1942865"/>
                <a:gd name="connsiteX1" fmla="*/ 1650432 w 1671970"/>
                <a:gd name="connsiteY1" fmla="*/ 14561 h 1942865"/>
                <a:gd name="connsiteX2" fmla="*/ 984400 w 1671970"/>
                <a:gd name="connsiteY2" fmla="*/ 1118834 h 1942865"/>
                <a:gd name="connsiteX3" fmla="*/ 1231486 w 1671970"/>
                <a:gd name="connsiteY3" fmla="*/ 1691458 h 1942865"/>
                <a:gd name="connsiteX0" fmla="*/ 0 w 1680221"/>
                <a:gd name="connsiteY0" fmla="*/ 1953567 h 1953567"/>
                <a:gd name="connsiteX1" fmla="*/ 1650432 w 1680221"/>
                <a:gd name="connsiteY1" fmla="*/ 25263 h 1953567"/>
                <a:gd name="connsiteX2" fmla="*/ 1103531 w 1680221"/>
                <a:gd name="connsiteY2" fmla="*/ 943269 h 1953567"/>
                <a:gd name="connsiteX3" fmla="*/ 1231486 w 1680221"/>
                <a:gd name="connsiteY3" fmla="*/ 1702160 h 1953567"/>
                <a:gd name="connsiteX0" fmla="*/ 0 w 1676550"/>
                <a:gd name="connsiteY0" fmla="*/ 1952975 h 1952975"/>
                <a:gd name="connsiteX1" fmla="*/ 1650432 w 1676550"/>
                <a:gd name="connsiteY1" fmla="*/ 24671 h 1952975"/>
                <a:gd name="connsiteX2" fmla="*/ 1054478 w 1676550"/>
                <a:gd name="connsiteY2" fmla="*/ 951143 h 1952975"/>
                <a:gd name="connsiteX3" fmla="*/ 1231486 w 1676550"/>
                <a:gd name="connsiteY3" fmla="*/ 1701568 h 1952975"/>
                <a:gd name="connsiteX0" fmla="*/ 0 w 1610919"/>
                <a:gd name="connsiteY0" fmla="*/ 1794614 h 1794614"/>
                <a:gd name="connsiteX1" fmla="*/ 1587363 w 1610919"/>
                <a:gd name="connsiteY1" fmla="*/ 18710 h 1794614"/>
                <a:gd name="connsiteX2" fmla="*/ 991409 w 1610919"/>
                <a:gd name="connsiteY2" fmla="*/ 945182 h 1794614"/>
                <a:gd name="connsiteX3" fmla="*/ 1168417 w 1610919"/>
                <a:gd name="connsiteY3" fmla="*/ 1695607 h 1794614"/>
                <a:gd name="connsiteX0" fmla="*/ 0 w 1610919"/>
                <a:gd name="connsiteY0" fmla="*/ 1794614 h 1794614"/>
                <a:gd name="connsiteX1" fmla="*/ 1587363 w 1610919"/>
                <a:gd name="connsiteY1" fmla="*/ 18710 h 1794614"/>
                <a:gd name="connsiteX2" fmla="*/ 991409 w 1610919"/>
                <a:gd name="connsiteY2" fmla="*/ 945182 h 1794614"/>
                <a:gd name="connsiteX3" fmla="*/ 1168417 w 1610919"/>
                <a:gd name="connsiteY3" fmla="*/ 1695607 h 1794614"/>
                <a:gd name="connsiteX0" fmla="*/ 0 w 1606064"/>
                <a:gd name="connsiteY0" fmla="*/ 1818934 h 1818934"/>
                <a:gd name="connsiteX1" fmla="*/ 1587363 w 1606064"/>
                <a:gd name="connsiteY1" fmla="*/ 43030 h 1818934"/>
                <a:gd name="connsiteX2" fmla="*/ 991409 w 1606064"/>
                <a:gd name="connsiteY2" fmla="*/ 969502 h 1818934"/>
                <a:gd name="connsiteX3" fmla="*/ 1168417 w 1606064"/>
                <a:gd name="connsiteY3" fmla="*/ 1719927 h 1818934"/>
                <a:gd name="connsiteX0" fmla="*/ 0 w 1618922"/>
                <a:gd name="connsiteY0" fmla="*/ 1797306 h 1797306"/>
                <a:gd name="connsiteX1" fmla="*/ 1587363 w 1618922"/>
                <a:gd name="connsiteY1" fmla="*/ 21402 h 1797306"/>
                <a:gd name="connsiteX2" fmla="*/ 1096525 w 1618922"/>
                <a:gd name="connsiteY2" fmla="*/ 905540 h 1797306"/>
                <a:gd name="connsiteX3" fmla="*/ 1168417 w 1618922"/>
                <a:gd name="connsiteY3" fmla="*/ 1698299 h 1797306"/>
                <a:gd name="connsiteX0" fmla="*/ 0 w 1630261"/>
                <a:gd name="connsiteY0" fmla="*/ 1776055 h 1776055"/>
                <a:gd name="connsiteX1" fmla="*/ 1587363 w 1630261"/>
                <a:gd name="connsiteY1" fmla="*/ 151 h 1776055"/>
                <a:gd name="connsiteX2" fmla="*/ 1168417 w 1630261"/>
                <a:gd name="connsiteY2" fmla="*/ 1677048 h 1776055"/>
                <a:gd name="connsiteX0" fmla="*/ 0 w 1599796"/>
                <a:gd name="connsiteY0" fmla="*/ 1875951 h 1875951"/>
                <a:gd name="connsiteX1" fmla="*/ 1587363 w 1599796"/>
                <a:gd name="connsiteY1" fmla="*/ 100047 h 1875951"/>
                <a:gd name="connsiteX2" fmla="*/ 1168417 w 1599796"/>
                <a:gd name="connsiteY2" fmla="*/ 1776944 h 1875951"/>
                <a:gd name="connsiteX0" fmla="*/ 0 w 1592525"/>
                <a:gd name="connsiteY0" fmla="*/ 1875951 h 1875951"/>
                <a:gd name="connsiteX1" fmla="*/ 1587363 w 1592525"/>
                <a:gd name="connsiteY1" fmla="*/ 100047 h 1875951"/>
                <a:gd name="connsiteX2" fmla="*/ 1168417 w 1592525"/>
                <a:gd name="connsiteY2" fmla="*/ 1776944 h 1875951"/>
                <a:gd name="connsiteX0" fmla="*/ 0 w 1660780"/>
                <a:gd name="connsiteY0" fmla="*/ 1795430 h 1795430"/>
                <a:gd name="connsiteX1" fmla="*/ 1587363 w 1660780"/>
                <a:gd name="connsiteY1" fmla="*/ 19526 h 1795430"/>
                <a:gd name="connsiteX2" fmla="*/ 1168417 w 1660780"/>
                <a:gd name="connsiteY2" fmla="*/ 1696423 h 1795430"/>
                <a:gd name="connsiteX0" fmla="*/ 0 w 1645000"/>
                <a:gd name="connsiteY0" fmla="*/ 1803147 h 1803147"/>
                <a:gd name="connsiteX1" fmla="*/ 1587363 w 1645000"/>
                <a:gd name="connsiteY1" fmla="*/ 27243 h 1803147"/>
                <a:gd name="connsiteX2" fmla="*/ 1168417 w 1645000"/>
                <a:gd name="connsiteY2" fmla="*/ 1704140 h 1803147"/>
                <a:gd name="connsiteX0" fmla="*/ 0 w 1635742"/>
                <a:gd name="connsiteY0" fmla="*/ 1803147 h 1803147"/>
                <a:gd name="connsiteX1" fmla="*/ 1587363 w 1635742"/>
                <a:gd name="connsiteY1" fmla="*/ 27243 h 1803147"/>
                <a:gd name="connsiteX2" fmla="*/ 1168417 w 1635742"/>
                <a:gd name="connsiteY2" fmla="*/ 1704140 h 1803147"/>
                <a:gd name="connsiteX0" fmla="*/ 0 w 1635742"/>
                <a:gd name="connsiteY0" fmla="*/ 1803147 h 1803147"/>
                <a:gd name="connsiteX1" fmla="*/ 1587363 w 1635742"/>
                <a:gd name="connsiteY1" fmla="*/ 27243 h 1803147"/>
                <a:gd name="connsiteX2" fmla="*/ 1168417 w 1635742"/>
                <a:gd name="connsiteY2" fmla="*/ 1704140 h 1803147"/>
                <a:gd name="connsiteX0" fmla="*/ 0 w 1630373"/>
                <a:gd name="connsiteY0" fmla="*/ 1759150 h 1759150"/>
                <a:gd name="connsiteX1" fmla="*/ 1608386 w 1630373"/>
                <a:gd name="connsiteY1" fmla="*/ 179 h 1759150"/>
                <a:gd name="connsiteX2" fmla="*/ 1189440 w 1630373"/>
                <a:gd name="connsiteY2" fmla="*/ 1677076 h 1759150"/>
                <a:gd name="connsiteX0" fmla="*/ 0 w 3431907"/>
                <a:gd name="connsiteY0" fmla="*/ 1759114 h 1759114"/>
                <a:gd name="connsiteX1" fmla="*/ 1608386 w 3431907"/>
                <a:gd name="connsiteY1" fmla="*/ 143 h 1759114"/>
                <a:gd name="connsiteX2" fmla="*/ 3431907 w 3431907"/>
                <a:gd name="connsiteY2" fmla="*/ 1685507 h 1759114"/>
                <a:gd name="connsiteX0" fmla="*/ 0 w 3431907"/>
                <a:gd name="connsiteY0" fmla="*/ 1759266 h 1759266"/>
                <a:gd name="connsiteX1" fmla="*/ 1608386 w 3431907"/>
                <a:gd name="connsiteY1" fmla="*/ 295 h 1759266"/>
                <a:gd name="connsiteX2" fmla="*/ 3431907 w 3431907"/>
                <a:gd name="connsiteY2" fmla="*/ 1685659 h 1759266"/>
                <a:gd name="connsiteX0" fmla="*/ 0 w 3431907"/>
                <a:gd name="connsiteY0" fmla="*/ 1826955 h 1826955"/>
                <a:gd name="connsiteX1" fmla="*/ 2028849 w 3431907"/>
                <a:gd name="connsiteY1" fmla="*/ 251 h 1826955"/>
                <a:gd name="connsiteX2" fmla="*/ 3431907 w 3431907"/>
                <a:gd name="connsiteY2" fmla="*/ 1753348 h 1826955"/>
                <a:gd name="connsiteX0" fmla="*/ 0 w 3431907"/>
                <a:gd name="connsiteY0" fmla="*/ 73607 h 73607"/>
                <a:gd name="connsiteX1" fmla="*/ 3431907 w 3431907"/>
                <a:gd name="connsiteY1" fmla="*/ 0 h 73607"/>
                <a:gd name="connsiteX0" fmla="*/ 0 w 3431907"/>
                <a:gd name="connsiteY0" fmla="*/ 1364300 h 1364300"/>
                <a:gd name="connsiteX1" fmla="*/ 3431907 w 3431907"/>
                <a:gd name="connsiteY1" fmla="*/ 1290693 h 1364300"/>
                <a:gd name="connsiteX0" fmla="*/ 0 w 3431907"/>
                <a:gd name="connsiteY0" fmla="*/ 1803651 h 1803651"/>
                <a:gd name="connsiteX1" fmla="*/ 3431907 w 3431907"/>
                <a:gd name="connsiteY1" fmla="*/ 1730044 h 1803651"/>
                <a:gd name="connsiteX0" fmla="*/ 0 w 3431907"/>
                <a:gd name="connsiteY0" fmla="*/ 1831963 h 1831963"/>
                <a:gd name="connsiteX1" fmla="*/ 3431907 w 3431907"/>
                <a:gd name="connsiteY1" fmla="*/ 1758356 h 1831963"/>
                <a:gd name="connsiteX0" fmla="*/ 0 w 3431907"/>
                <a:gd name="connsiteY0" fmla="*/ 1892361 h 1892361"/>
                <a:gd name="connsiteX1" fmla="*/ 3431907 w 3431907"/>
                <a:gd name="connsiteY1" fmla="*/ 1818754 h 1892361"/>
                <a:gd name="connsiteX0" fmla="*/ 0 w 3347815"/>
                <a:gd name="connsiteY0" fmla="*/ 1803690 h 1965829"/>
                <a:gd name="connsiteX1" fmla="*/ 3347815 w 3347815"/>
                <a:gd name="connsiteY1" fmla="*/ 1965830 h 1965829"/>
                <a:gd name="connsiteX0" fmla="*/ 0 w 3389861"/>
                <a:gd name="connsiteY0" fmla="*/ 1829244 h 1921534"/>
                <a:gd name="connsiteX1" fmla="*/ 3389861 w 3389861"/>
                <a:gd name="connsiteY1" fmla="*/ 1921534 h 1921534"/>
                <a:gd name="connsiteX0" fmla="*/ 0 w 3389861"/>
                <a:gd name="connsiteY0" fmla="*/ 1725147 h 1817437"/>
                <a:gd name="connsiteX1" fmla="*/ 3389861 w 3389861"/>
                <a:gd name="connsiteY1" fmla="*/ 1817437 h 1817437"/>
                <a:gd name="connsiteX0" fmla="*/ 0 w 3137584"/>
                <a:gd name="connsiteY0" fmla="*/ 1735130 h 1801226"/>
                <a:gd name="connsiteX1" fmla="*/ 3137584 w 3137584"/>
                <a:gd name="connsiteY1" fmla="*/ 1801226 h 1801226"/>
                <a:gd name="connsiteX0" fmla="*/ 0 w 3137584"/>
                <a:gd name="connsiteY0" fmla="*/ 1740519 h 1806615"/>
                <a:gd name="connsiteX1" fmla="*/ 3137584 w 3137584"/>
                <a:gd name="connsiteY1" fmla="*/ 1806615 h 1806615"/>
                <a:gd name="connsiteX0" fmla="*/ 0 w 3137584"/>
                <a:gd name="connsiteY0" fmla="*/ 1697875 h 1763971"/>
                <a:gd name="connsiteX1" fmla="*/ 3137584 w 3137584"/>
                <a:gd name="connsiteY1" fmla="*/ 1763971 h 1763971"/>
              </a:gdLst>
              <a:ahLst/>
              <a:cxnLst>
                <a:cxn ang="0">
                  <a:pos x="connsiteX0" y="connsiteY0"/>
                </a:cxn>
                <a:cxn ang="0">
                  <a:pos x="connsiteX1" y="connsiteY1"/>
                </a:cxn>
              </a:cxnLst>
              <a:rect l="l" t="t" r="r" b="b"/>
              <a:pathLst>
                <a:path w="3137584" h="1763971">
                  <a:moveTo>
                    <a:pt x="0" y="1697875"/>
                  </a:moveTo>
                  <a:cubicBezTo>
                    <a:pt x="1788679" y="-1307982"/>
                    <a:pt x="2925639" y="302081"/>
                    <a:pt x="3137584" y="1763971"/>
                  </a:cubicBezTo>
                </a:path>
              </a:pathLst>
            </a:custGeom>
            <a:noFill/>
            <a:ln w="28575" cap="flat" cmpd="sng" algn="ctr">
              <a:solidFill>
                <a:srgbClr val="EC7061"/>
              </a:solidFill>
              <a:prstDash val="solid"/>
              <a:miter lim="800000"/>
              <a:headEnd type="triangle" w="med" len="med"/>
              <a:tailEnd type="triangle" w="med" len="med"/>
            </a:ln>
            <a:effectLst/>
          </p:spPr>
          <p:txBody>
            <a:bodyPr wrap="square" rtlCol="0" anchor="ctr">
              <a:noAutofit/>
            </a:bodyPr>
            <a:lstStyle/>
            <a:p>
              <a:pPr algn="ctr" defTabSz="1219170" fontAlgn="ctr"/>
              <a:endParaRPr lang="en-US" altLang="zh-CN" sz="24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7" name="Rectangle 64"/>
          <p:cNvSpPr/>
          <p:nvPr/>
        </p:nvSpPr>
        <p:spPr bwMode="gray">
          <a:xfrm>
            <a:off x="556347" y="4550088"/>
            <a:ext cx="5321829" cy="1564962"/>
          </a:xfrm>
          <a:prstGeom prst="rect">
            <a:avLst/>
          </a:prstGeom>
        </p:spPr>
        <p:txBody>
          <a:bodyPr wrap="square">
            <a:noAutofit/>
          </a:bodyPr>
          <a:lstStyle/>
          <a:p>
            <a:pPr algn="just">
              <a:lnSpc>
                <a:spcPts val="2200"/>
              </a:lnSpc>
              <a:spcAft>
                <a:spcPts val="600"/>
              </a:spcAft>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网关部署在一台设备上，所有跨子网的流量都通过该设备转发，实现流量的集中管理。</a:t>
            </a:r>
          </a:p>
          <a:p>
            <a:pPr algn="just">
              <a:lnSpc>
                <a:spcPts val="2200"/>
              </a:lnSpc>
              <a:spcAft>
                <a:spcPts val="600"/>
              </a:spcAft>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优点：</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跨子网流量集中管理，简化网关部署和管理。</a:t>
            </a:r>
          </a:p>
          <a:p>
            <a:pPr algn="just">
              <a:lnSpc>
                <a:spcPts val="2200"/>
              </a:lnSpc>
              <a:spcAft>
                <a:spcPts val="600"/>
              </a:spcAft>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缺点：</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转发路径并非最优。</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表项规格瓶颈：由于采用集中式网关，网关上需要维护大量通过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接入网络的终端其</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62" name="Rectangle 64"/>
          <p:cNvSpPr/>
          <p:nvPr/>
        </p:nvSpPr>
        <p:spPr bwMode="gray">
          <a:xfrm>
            <a:off x="6222549" y="4550088"/>
            <a:ext cx="5320740" cy="1650688"/>
          </a:xfrm>
          <a:prstGeom prst="rect">
            <a:avLst/>
          </a:prstGeom>
        </p:spPr>
        <p:txBody>
          <a:bodyPr wrap="square">
            <a:noAutofit/>
          </a:bodyPr>
          <a:lstStyle/>
          <a:p>
            <a:pPr algn="just">
              <a:lnSpc>
                <a:spcPts val="2200"/>
              </a:lnSpc>
              <a:spcAft>
                <a:spcPts val="600"/>
              </a:spcAft>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设备既是</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网关，又是</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网关。非网关节点对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隧道不感知，仅作为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报文的转发节点。</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gn="just">
              <a:lnSpc>
                <a:spcPts val="2200"/>
              </a:lnSpc>
              <a:spcAft>
                <a:spcPts val="600"/>
              </a:spcAft>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优点：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节点只学习连接在本节点下终端的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表项，解决了集中式三层网关带来的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表项瓶颈问题，网络规模扩展能力强。</a:t>
            </a:r>
          </a:p>
          <a:p>
            <a:pPr algn="just">
              <a:lnSpc>
                <a:spcPts val="2200"/>
              </a:lnSpc>
              <a:spcAft>
                <a:spcPts val="600"/>
              </a:spcAft>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缺点：</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相对集中式部署配置、实现复杂，部署工程量大。</a:t>
            </a:r>
          </a:p>
        </p:txBody>
      </p:sp>
      <p:sp>
        <p:nvSpPr>
          <p:cNvPr id="68" name="圆角矩形 75"/>
          <p:cNvSpPr/>
          <p:nvPr/>
        </p:nvSpPr>
        <p:spPr bwMode="gray">
          <a:xfrm>
            <a:off x="573913" y="1052513"/>
            <a:ext cx="5355571" cy="360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集中式网关</a:t>
            </a:r>
          </a:p>
        </p:txBody>
      </p:sp>
      <p:sp>
        <p:nvSpPr>
          <p:cNvPr id="69" name="圆角矩形 75"/>
          <p:cNvSpPr/>
          <p:nvPr/>
        </p:nvSpPr>
        <p:spPr bwMode="gray">
          <a:xfrm>
            <a:off x="564938" y="1470523"/>
            <a:ext cx="5364545" cy="4730252"/>
          </a:xfrm>
          <a:prstGeom prst="roundRect">
            <a:avLst>
              <a:gd name="adj" fmla="val 2127"/>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70" name="圆角矩形 75"/>
          <p:cNvSpPr/>
          <p:nvPr/>
        </p:nvSpPr>
        <p:spPr bwMode="gray">
          <a:xfrm>
            <a:off x="6208943" y="1054100"/>
            <a:ext cx="5320739" cy="360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分布式网关</a:t>
            </a:r>
          </a:p>
        </p:txBody>
      </p:sp>
      <p:sp>
        <p:nvSpPr>
          <p:cNvPr id="71" name="圆角矩形 75"/>
          <p:cNvSpPr/>
          <p:nvPr/>
        </p:nvSpPr>
        <p:spPr bwMode="gray">
          <a:xfrm>
            <a:off x="6207446" y="1470523"/>
            <a:ext cx="5335843" cy="4730252"/>
          </a:xfrm>
          <a:prstGeom prst="roundRect">
            <a:avLst>
              <a:gd name="adj" fmla="val 2127"/>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82563" indent="-182563">
              <a:lnSpc>
                <a:spcPts val="2200"/>
              </a:lnSpc>
              <a:buFont typeface="+mj-lt"/>
              <a:buAutoNum type="arabicPeriod"/>
            </a:pPr>
            <a:endPar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grpSp>
        <p:nvGrpSpPr>
          <p:cNvPr id="41" name="组合 40"/>
          <p:cNvGrpSpPr/>
          <p:nvPr/>
        </p:nvGrpSpPr>
        <p:grpSpPr bwMode="gray">
          <a:xfrm>
            <a:off x="7031745" y="2940341"/>
            <a:ext cx="1458780" cy="629985"/>
            <a:chOff x="6600056" y="4353447"/>
            <a:chExt cx="1296144" cy="833967"/>
          </a:xfrm>
        </p:grpSpPr>
        <p:cxnSp>
          <p:nvCxnSpPr>
            <p:cNvPr id="42" name="直接连接符 41"/>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4" name="直接连接符 43"/>
          <p:cNvCxnSpPr/>
          <p:nvPr/>
        </p:nvCxnSpPr>
        <p:spPr bwMode="gray">
          <a:xfrm flipV="1">
            <a:off x="10562697" y="3093293"/>
            <a:ext cx="0" cy="4770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bwMode="gray">
          <a:xfrm flipH="1">
            <a:off x="7745359" y="1999093"/>
            <a:ext cx="1581127" cy="9150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a:endCxn id="52" idx="3"/>
          </p:cNvCxnSpPr>
          <p:nvPr/>
        </p:nvCxnSpPr>
        <p:spPr bwMode="gray">
          <a:xfrm>
            <a:off x="9326486" y="1999093"/>
            <a:ext cx="1489567" cy="95247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1" name="图片 86" descr="核心交换机.png"/>
          <p:cNvPicPr>
            <a:picLocks noChangeAspect="1"/>
          </p:cNvPicPr>
          <p:nvPr/>
        </p:nvPicPr>
        <p:blipFill>
          <a:blip r:embed="rId3"/>
          <a:stretch>
            <a:fillRect/>
          </a:stretch>
        </p:blipFill>
        <p:spPr bwMode="gray">
          <a:xfrm>
            <a:off x="9065351" y="1759992"/>
            <a:ext cx="502820" cy="411400"/>
          </a:xfrm>
          <a:prstGeom prst="rect">
            <a:avLst/>
          </a:prstGeom>
        </p:spPr>
      </p:pic>
      <p:pic>
        <p:nvPicPr>
          <p:cNvPr id="52" name="图片 87" descr="汇聚交换机.png"/>
          <p:cNvPicPr>
            <a:picLocks noChangeAspect="1"/>
          </p:cNvPicPr>
          <p:nvPr/>
        </p:nvPicPr>
        <p:blipFill>
          <a:blip r:embed="rId4"/>
          <a:stretch>
            <a:fillRect/>
          </a:stretch>
        </p:blipFill>
        <p:spPr bwMode="gray">
          <a:xfrm>
            <a:off x="10313233" y="2745872"/>
            <a:ext cx="502820" cy="411400"/>
          </a:xfrm>
          <a:prstGeom prst="rect">
            <a:avLst/>
          </a:prstGeom>
        </p:spPr>
      </p:pic>
      <p:pic>
        <p:nvPicPr>
          <p:cNvPr id="53" name="图片 87" descr="汇聚交换机.png"/>
          <p:cNvPicPr>
            <a:picLocks noChangeAspect="1"/>
          </p:cNvPicPr>
          <p:nvPr/>
        </p:nvPicPr>
        <p:blipFill>
          <a:blip r:embed="rId4"/>
          <a:stretch>
            <a:fillRect/>
          </a:stretch>
        </p:blipFill>
        <p:spPr bwMode="gray">
          <a:xfrm>
            <a:off x="7509726" y="2745872"/>
            <a:ext cx="502820" cy="411400"/>
          </a:xfrm>
          <a:prstGeom prst="rect">
            <a:avLst/>
          </a:prstGeom>
        </p:spPr>
      </p:pic>
      <p:pic>
        <p:nvPicPr>
          <p:cNvPr id="54" name="图片 11" descr="开放网络-蓝.png"/>
          <p:cNvPicPr>
            <a:picLocks noChangeAspect="1"/>
          </p:cNvPicPr>
          <p:nvPr/>
        </p:nvPicPr>
        <p:blipFill>
          <a:blip r:embed="rId5"/>
          <a:stretch>
            <a:fillRect/>
          </a:stretch>
        </p:blipFill>
        <p:spPr bwMode="gray">
          <a:xfrm>
            <a:off x="6627442" y="3528059"/>
            <a:ext cx="445957" cy="343290"/>
          </a:xfrm>
          <a:prstGeom prst="rect">
            <a:avLst/>
          </a:prstGeom>
        </p:spPr>
      </p:pic>
      <p:sp>
        <p:nvSpPr>
          <p:cNvPr id="55" name="矩形 54"/>
          <p:cNvSpPr/>
          <p:nvPr/>
        </p:nvSpPr>
        <p:spPr bwMode="gray">
          <a:xfrm>
            <a:off x="6413583" y="2796044"/>
            <a:ext cx="1019831" cy="307777"/>
          </a:xfrm>
          <a:prstGeom prst="rect">
            <a:avLst/>
          </a:prstGeom>
        </p:spPr>
        <p:txBody>
          <a:bodyPr wrap="none">
            <a:spAutoFit/>
          </a:bodyPr>
          <a:lstStyle/>
          <a:p>
            <a:pPr algn="ctr" fontAlgn="ct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L2/L3</a:t>
            </a: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8" name="图片 11" descr="开放网络-蓝.png"/>
          <p:cNvPicPr>
            <a:picLocks noChangeAspect="1"/>
          </p:cNvPicPr>
          <p:nvPr/>
        </p:nvPicPr>
        <p:blipFill>
          <a:blip r:embed="rId5"/>
          <a:stretch>
            <a:fillRect/>
          </a:stretch>
        </p:blipFill>
        <p:spPr bwMode="gray">
          <a:xfrm>
            <a:off x="8459966" y="3528059"/>
            <a:ext cx="445957" cy="343290"/>
          </a:xfrm>
          <a:prstGeom prst="rect">
            <a:avLst/>
          </a:prstGeom>
        </p:spPr>
      </p:pic>
      <p:pic>
        <p:nvPicPr>
          <p:cNvPr id="59" name="图片 11" descr="开放网络-蓝.png"/>
          <p:cNvPicPr>
            <a:picLocks noChangeAspect="1"/>
          </p:cNvPicPr>
          <p:nvPr/>
        </p:nvPicPr>
        <p:blipFill>
          <a:blip r:embed="rId5"/>
          <a:stretch>
            <a:fillRect/>
          </a:stretch>
        </p:blipFill>
        <p:spPr bwMode="gray">
          <a:xfrm>
            <a:off x="10351013" y="3528059"/>
            <a:ext cx="445957" cy="343290"/>
          </a:xfrm>
          <a:prstGeom prst="rect">
            <a:avLst/>
          </a:prstGeom>
        </p:spPr>
      </p:pic>
      <p:sp>
        <p:nvSpPr>
          <p:cNvPr id="60" name="Freeform 61"/>
          <p:cNvSpPr/>
          <p:nvPr/>
        </p:nvSpPr>
        <p:spPr bwMode="gray">
          <a:xfrm>
            <a:off x="7188466" y="3199940"/>
            <a:ext cx="1157724" cy="368480"/>
          </a:xfrm>
          <a:custGeom>
            <a:avLst/>
            <a:gdLst>
              <a:gd name="connsiteX0" fmla="*/ 0 w 1384394"/>
              <a:gd name="connsiteY0" fmla="*/ 2134957 h 2162949"/>
              <a:gd name="connsiteX1" fmla="*/ 1314062 w 1384394"/>
              <a:gd name="connsiteY1" fmla="*/ 11919 h 2162949"/>
              <a:gd name="connsiteX2" fmla="*/ 970384 w 1384394"/>
              <a:gd name="connsiteY2" fmla="*/ 1556460 h 2162949"/>
              <a:gd name="connsiteX3" fmla="*/ 1343609 w 1384394"/>
              <a:gd name="connsiteY3" fmla="*/ 2162949 h 2162949"/>
              <a:gd name="connsiteX0" fmla="*/ 0 w 1699996"/>
              <a:gd name="connsiteY0" fmla="*/ 1942276 h 1970268"/>
              <a:gd name="connsiteX1" fmla="*/ 1650432 w 1699996"/>
              <a:gd name="connsiteY1" fmla="*/ 13972 h 1970268"/>
              <a:gd name="connsiteX2" fmla="*/ 970384 w 1699996"/>
              <a:gd name="connsiteY2" fmla="*/ 1363779 h 1970268"/>
              <a:gd name="connsiteX3" fmla="*/ 1343609 w 1699996"/>
              <a:gd name="connsiteY3" fmla="*/ 1970268 h 1970268"/>
              <a:gd name="connsiteX0" fmla="*/ 0 w 1671970"/>
              <a:gd name="connsiteY0" fmla="*/ 1942865 h 1970857"/>
              <a:gd name="connsiteX1" fmla="*/ 1650432 w 1671970"/>
              <a:gd name="connsiteY1" fmla="*/ 14561 h 1970857"/>
              <a:gd name="connsiteX2" fmla="*/ 984400 w 1671970"/>
              <a:gd name="connsiteY2" fmla="*/ 1118834 h 1970857"/>
              <a:gd name="connsiteX3" fmla="*/ 1343609 w 1671970"/>
              <a:gd name="connsiteY3" fmla="*/ 1970857 h 1970857"/>
              <a:gd name="connsiteX0" fmla="*/ 0 w 1671970"/>
              <a:gd name="connsiteY0" fmla="*/ 1942865 h 1942865"/>
              <a:gd name="connsiteX1" fmla="*/ 1650432 w 1671970"/>
              <a:gd name="connsiteY1" fmla="*/ 14561 h 1942865"/>
              <a:gd name="connsiteX2" fmla="*/ 984400 w 1671970"/>
              <a:gd name="connsiteY2" fmla="*/ 1118834 h 1942865"/>
              <a:gd name="connsiteX3" fmla="*/ 1203455 w 1671970"/>
              <a:gd name="connsiteY3" fmla="*/ 1623724 h 1942865"/>
              <a:gd name="connsiteX0" fmla="*/ 0 w 1671970"/>
              <a:gd name="connsiteY0" fmla="*/ 1942865 h 1942865"/>
              <a:gd name="connsiteX1" fmla="*/ 1650432 w 1671970"/>
              <a:gd name="connsiteY1" fmla="*/ 14561 h 1942865"/>
              <a:gd name="connsiteX2" fmla="*/ 984400 w 1671970"/>
              <a:gd name="connsiteY2" fmla="*/ 1118834 h 1942865"/>
              <a:gd name="connsiteX3" fmla="*/ 1231486 w 1671970"/>
              <a:gd name="connsiteY3" fmla="*/ 1691458 h 1942865"/>
              <a:gd name="connsiteX0" fmla="*/ 0 w 1680221"/>
              <a:gd name="connsiteY0" fmla="*/ 1953567 h 1953567"/>
              <a:gd name="connsiteX1" fmla="*/ 1650432 w 1680221"/>
              <a:gd name="connsiteY1" fmla="*/ 25263 h 1953567"/>
              <a:gd name="connsiteX2" fmla="*/ 1103531 w 1680221"/>
              <a:gd name="connsiteY2" fmla="*/ 943269 h 1953567"/>
              <a:gd name="connsiteX3" fmla="*/ 1231486 w 1680221"/>
              <a:gd name="connsiteY3" fmla="*/ 1702160 h 1953567"/>
              <a:gd name="connsiteX0" fmla="*/ 0 w 1676550"/>
              <a:gd name="connsiteY0" fmla="*/ 1952975 h 1952975"/>
              <a:gd name="connsiteX1" fmla="*/ 1650432 w 1676550"/>
              <a:gd name="connsiteY1" fmla="*/ 24671 h 1952975"/>
              <a:gd name="connsiteX2" fmla="*/ 1054478 w 1676550"/>
              <a:gd name="connsiteY2" fmla="*/ 951143 h 1952975"/>
              <a:gd name="connsiteX3" fmla="*/ 1231486 w 1676550"/>
              <a:gd name="connsiteY3" fmla="*/ 1701568 h 1952975"/>
              <a:gd name="connsiteX0" fmla="*/ 0 w 1610919"/>
              <a:gd name="connsiteY0" fmla="*/ 1794614 h 1794614"/>
              <a:gd name="connsiteX1" fmla="*/ 1587363 w 1610919"/>
              <a:gd name="connsiteY1" fmla="*/ 18710 h 1794614"/>
              <a:gd name="connsiteX2" fmla="*/ 991409 w 1610919"/>
              <a:gd name="connsiteY2" fmla="*/ 945182 h 1794614"/>
              <a:gd name="connsiteX3" fmla="*/ 1168417 w 1610919"/>
              <a:gd name="connsiteY3" fmla="*/ 1695607 h 1794614"/>
              <a:gd name="connsiteX0" fmla="*/ 0 w 1610919"/>
              <a:gd name="connsiteY0" fmla="*/ 1794614 h 1794614"/>
              <a:gd name="connsiteX1" fmla="*/ 1587363 w 1610919"/>
              <a:gd name="connsiteY1" fmla="*/ 18710 h 1794614"/>
              <a:gd name="connsiteX2" fmla="*/ 991409 w 1610919"/>
              <a:gd name="connsiteY2" fmla="*/ 945182 h 1794614"/>
              <a:gd name="connsiteX3" fmla="*/ 1168417 w 1610919"/>
              <a:gd name="connsiteY3" fmla="*/ 1695607 h 1794614"/>
              <a:gd name="connsiteX0" fmla="*/ 0 w 1606064"/>
              <a:gd name="connsiteY0" fmla="*/ 1818934 h 1818934"/>
              <a:gd name="connsiteX1" fmla="*/ 1587363 w 1606064"/>
              <a:gd name="connsiteY1" fmla="*/ 43030 h 1818934"/>
              <a:gd name="connsiteX2" fmla="*/ 991409 w 1606064"/>
              <a:gd name="connsiteY2" fmla="*/ 969502 h 1818934"/>
              <a:gd name="connsiteX3" fmla="*/ 1168417 w 1606064"/>
              <a:gd name="connsiteY3" fmla="*/ 1719927 h 1818934"/>
              <a:gd name="connsiteX0" fmla="*/ 0 w 1618922"/>
              <a:gd name="connsiteY0" fmla="*/ 1797306 h 1797306"/>
              <a:gd name="connsiteX1" fmla="*/ 1587363 w 1618922"/>
              <a:gd name="connsiteY1" fmla="*/ 21402 h 1797306"/>
              <a:gd name="connsiteX2" fmla="*/ 1096525 w 1618922"/>
              <a:gd name="connsiteY2" fmla="*/ 905540 h 1797306"/>
              <a:gd name="connsiteX3" fmla="*/ 1168417 w 1618922"/>
              <a:gd name="connsiteY3" fmla="*/ 1698299 h 1797306"/>
              <a:gd name="connsiteX0" fmla="*/ 0 w 1630261"/>
              <a:gd name="connsiteY0" fmla="*/ 1776055 h 1776055"/>
              <a:gd name="connsiteX1" fmla="*/ 1587363 w 1630261"/>
              <a:gd name="connsiteY1" fmla="*/ 151 h 1776055"/>
              <a:gd name="connsiteX2" fmla="*/ 1168417 w 1630261"/>
              <a:gd name="connsiteY2" fmla="*/ 1677048 h 1776055"/>
              <a:gd name="connsiteX0" fmla="*/ 0 w 1599796"/>
              <a:gd name="connsiteY0" fmla="*/ 1875951 h 1875951"/>
              <a:gd name="connsiteX1" fmla="*/ 1587363 w 1599796"/>
              <a:gd name="connsiteY1" fmla="*/ 100047 h 1875951"/>
              <a:gd name="connsiteX2" fmla="*/ 1168417 w 1599796"/>
              <a:gd name="connsiteY2" fmla="*/ 1776944 h 1875951"/>
              <a:gd name="connsiteX0" fmla="*/ 0 w 1592525"/>
              <a:gd name="connsiteY0" fmla="*/ 1875951 h 1875951"/>
              <a:gd name="connsiteX1" fmla="*/ 1587363 w 1592525"/>
              <a:gd name="connsiteY1" fmla="*/ 100047 h 1875951"/>
              <a:gd name="connsiteX2" fmla="*/ 1168417 w 1592525"/>
              <a:gd name="connsiteY2" fmla="*/ 1776944 h 1875951"/>
              <a:gd name="connsiteX0" fmla="*/ 0 w 1660780"/>
              <a:gd name="connsiteY0" fmla="*/ 1795430 h 1795430"/>
              <a:gd name="connsiteX1" fmla="*/ 1587363 w 1660780"/>
              <a:gd name="connsiteY1" fmla="*/ 19526 h 1795430"/>
              <a:gd name="connsiteX2" fmla="*/ 1168417 w 1660780"/>
              <a:gd name="connsiteY2" fmla="*/ 1696423 h 1795430"/>
              <a:gd name="connsiteX0" fmla="*/ 0 w 1645000"/>
              <a:gd name="connsiteY0" fmla="*/ 1803147 h 1803147"/>
              <a:gd name="connsiteX1" fmla="*/ 1587363 w 1645000"/>
              <a:gd name="connsiteY1" fmla="*/ 27243 h 1803147"/>
              <a:gd name="connsiteX2" fmla="*/ 1168417 w 1645000"/>
              <a:gd name="connsiteY2" fmla="*/ 1704140 h 1803147"/>
              <a:gd name="connsiteX0" fmla="*/ 0 w 1635742"/>
              <a:gd name="connsiteY0" fmla="*/ 1803147 h 1803147"/>
              <a:gd name="connsiteX1" fmla="*/ 1587363 w 1635742"/>
              <a:gd name="connsiteY1" fmla="*/ 27243 h 1803147"/>
              <a:gd name="connsiteX2" fmla="*/ 1168417 w 1635742"/>
              <a:gd name="connsiteY2" fmla="*/ 1704140 h 1803147"/>
              <a:gd name="connsiteX0" fmla="*/ 0 w 1635742"/>
              <a:gd name="connsiteY0" fmla="*/ 1803147 h 1803147"/>
              <a:gd name="connsiteX1" fmla="*/ 1587363 w 1635742"/>
              <a:gd name="connsiteY1" fmla="*/ 27243 h 1803147"/>
              <a:gd name="connsiteX2" fmla="*/ 1168417 w 1635742"/>
              <a:gd name="connsiteY2" fmla="*/ 1704140 h 1803147"/>
              <a:gd name="connsiteX0" fmla="*/ 0 w 1637609"/>
              <a:gd name="connsiteY0" fmla="*/ 1606794 h 1677121"/>
              <a:gd name="connsiteX1" fmla="*/ 1615393 w 1637609"/>
              <a:gd name="connsiteY1" fmla="*/ 224 h 1677121"/>
              <a:gd name="connsiteX2" fmla="*/ 1196447 w 1637609"/>
              <a:gd name="connsiteY2" fmla="*/ 1677121 h 1677121"/>
              <a:gd name="connsiteX0" fmla="*/ 0 w 1633444"/>
              <a:gd name="connsiteY0" fmla="*/ 1606644 h 1606644"/>
              <a:gd name="connsiteX1" fmla="*/ 1615393 w 1633444"/>
              <a:gd name="connsiteY1" fmla="*/ 74 h 1606644"/>
              <a:gd name="connsiteX2" fmla="*/ 1105347 w 1633444"/>
              <a:gd name="connsiteY2" fmla="*/ 1558437 h 1606644"/>
              <a:gd name="connsiteX0" fmla="*/ 0 w 1635928"/>
              <a:gd name="connsiteY0" fmla="*/ 1606706 h 1606706"/>
              <a:gd name="connsiteX1" fmla="*/ 1615393 w 1635928"/>
              <a:gd name="connsiteY1" fmla="*/ 136 h 1606706"/>
              <a:gd name="connsiteX2" fmla="*/ 1161410 w 1635928"/>
              <a:gd name="connsiteY2" fmla="*/ 1541566 h 1606706"/>
              <a:gd name="connsiteX0" fmla="*/ 0 w 1578138"/>
              <a:gd name="connsiteY0" fmla="*/ 1581222 h 1581222"/>
              <a:gd name="connsiteX1" fmla="*/ 1559332 w 1578138"/>
              <a:gd name="connsiteY1" fmla="*/ 52 h 1581222"/>
              <a:gd name="connsiteX2" fmla="*/ 1105349 w 1578138"/>
              <a:gd name="connsiteY2" fmla="*/ 1541482 h 1581222"/>
              <a:gd name="connsiteX0" fmla="*/ 0 w 1578139"/>
              <a:gd name="connsiteY0" fmla="*/ 1581222 h 1581222"/>
              <a:gd name="connsiteX1" fmla="*/ 1559332 w 1578139"/>
              <a:gd name="connsiteY1" fmla="*/ 52 h 1581222"/>
              <a:gd name="connsiteX2" fmla="*/ 1105349 w 1578139"/>
              <a:gd name="connsiteY2" fmla="*/ 1541482 h 1581222"/>
              <a:gd name="connsiteX0" fmla="*/ 0 w 1105349"/>
              <a:gd name="connsiteY0" fmla="*/ 726054 h 726054"/>
              <a:gd name="connsiteX1" fmla="*/ 392550 w 1105349"/>
              <a:gd name="connsiteY1" fmla="*/ 127864 h 726054"/>
              <a:gd name="connsiteX2" fmla="*/ 1105349 w 1105349"/>
              <a:gd name="connsiteY2" fmla="*/ 686314 h 726054"/>
              <a:gd name="connsiteX0" fmla="*/ 0 w 1105349"/>
              <a:gd name="connsiteY0" fmla="*/ 669864 h 669864"/>
              <a:gd name="connsiteX1" fmla="*/ 392550 w 1105349"/>
              <a:gd name="connsiteY1" fmla="*/ 71674 h 669864"/>
              <a:gd name="connsiteX2" fmla="*/ 1105349 w 1105349"/>
              <a:gd name="connsiteY2" fmla="*/ 630124 h 669864"/>
              <a:gd name="connsiteX0" fmla="*/ 0 w 1105349"/>
              <a:gd name="connsiteY0" fmla="*/ 39740 h 39740"/>
              <a:gd name="connsiteX1" fmla="*/ 1105349 w 1105349"/>
              <a:gd name="connsiteY1" fmla="*/ 0 h 39740"/>
              <a:gd name="connsiteX0" fmla="*/ 0 w 865685"/>
              <a:gd name="connsiteY0" fmla="*/ 0 h 5980"/>
              <a:gd name="connsiteX1" fmla="*/ 865685 w 865685"/>
              <a:gd name="connsiteY1" fmla="*/ 5980 h 5980"/>
              <a:gd name="connsiteX0" fmla="*/ 0 w 10850"/>
              <a:gd name="connsiteY0" fmla="*/ 19732 h 19732"/>
              <a:gd name="connsiteX1" fmla="*/ 10850 w 10850"/>
              <a:gd name="connsiteY1" fmla="*/ 0 h 19732"/>
              <a:gd name="connsiteX0" fmla="*/ 0 w 10850"/>
              <a:gd name="connsiteY0" fmla="*/ 372836 h 372836"/>
              <a:gd name="connsiteX1" fmla="*/ 10850 w 10850"/>
              <a:gd name="connsiteY1" fmla="*/ 353104 h 372836"/>
              <a:gd name="connsiteX0" fmla="*/ 0 w 11069"/>
              <a:gd name="connsiteY0" fmla="*/ 366211 h 372000"/>
              <a:gd name="connsiteX1" fmla="*/ 11069 w 11069"/>
              <a:gd name="connsiteY1" fmla="*/ 371963 h 372000"/>
              <a:gd name="connsiteX0" fmla="*/ 0 w 11069"/>
              <a:gd name="connsiteY0" fmla="*/ 610421 h 616173"/>
              <a:gd name="connsiteX1" fmla="*/ 11069 w 11069"/>
              <a:gd name="connsiteY1" fmla="*/ 616173 h 616173"/>
            </a:gdLst>
            <a:ahLst/>
            <a:cxnLst>
              <a:cxn ang="0">
                <a:pos x="connsiteX0" y="connsiteY0"/>
              </a:cxn>
              <a:cxn ang="0">
                <a:pos x="connsiteX1" y="connsiteY1"/>
              </a:cxn>
            </a:cxnLst>
            <a:rect l="l" t="t" r="r" b="b"/>
            <a:pathLst>
              <a:path w="11069" h="616173">
                <a:moveTo>
                  <a:pt x="0" y="610421"/>
                </a:moveTo>
                <a:cubicBezTo>
                  <a:pt x="4783" y="-220151"/>
                  <a:pt x="6359" y="-188503"/>
                  <a:pt x="11069" y="616173"/>
                </a:cubicBezTo>
              </a:path>
            </a:pathLst>
          </a:custGeom>
          <a:noFill/>
          <a:ln w="28575" cap="flat" cmpd="sng" algn="ctr">
            <a:solidFill>
              <a:srgbClr val="EC7061"/>
            </a:solidFill>
            <a:prstDash val="solid"/>
            <a:miter lim="800000"/>
            <a:headEnd type="triangle" w="med" len="med"/>
            <a:tailEnd type="triangle" w="med" len="med"/>
          </a:ln>
          <a:effectLst/>
        </p:spPr>
        <p:txBody>
          <a:bodyPr wrap="square" rtlCol="0" anchor="ctr">
            <a:noAutofit/>
          </a:bodyPr>
          <a:lstStyle/>
          <a:p>
            <a:pPr algn="ctr" defTabSz="1219170" fontAlgn="ctr"/>
            <a:endParaRPr lang="en-US" altLang="zh-CN" sz="24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Freeform 61"/>
          <p:cNvSpPr/>
          <p:nvPr/>
        </p:nvSpPr>
        <p:spPr bwMode="gray">
          <a:xfrm>
            <a:off x="6989601" y="2249285"/>
            <a:ext cx="3790809" cy="1266257"/>
          </a:xfrm>
          <a:custGeom>
            <a:avLst/>
            <a:gdLst>
              <a:gd name="connsiteX0" fmla="*/ 0 w 1384394"/>
              <a:gd name="connsiteY0" fmla="*/ 2134957 h 2162949"/>
              <a:gd name="connsiteX1" fmla="*/ 1314062 w 1384394"/>
              <a:gd name="connsiteY1" fmla="*/ 11919 h 2162949"/>
              <a:gd name="connsiteX2" fmla="*/ 970384 w 1384394"/>
              <a:gd name="connsiteY2" fmla="*/ 1556460 h 2162949"/>
              <a:gd name="connsiteX3" fmla="*/ 1343609 w 1384394"/>
              <a:gd name="connsiteY3" fmla="*/ 2162949 h 2162949"/>
              <a:gd name="connsiteX0" fmla="*/ 0 w 1699996"/>
              <a:gd name="connsiteY0" fmla="*/ 1942276 h 1970268"/>
              <a:gd name="connsiteX1" fmla="*/ 1650432 w 1699996"/>
              <a:gd name="connsiteY1" fmla="*/ 13972 h 1970268"/>
              <a:gd name="connsiteX2" fmla="*/ 970384 w 1699996"/>
              <a:gd name="connsiteY2" fmla="*/ 1363779 h 1970268"/>
              <a:gd name="connsiteX3" fmla="*/ 1343609 w 1699996"/>
              <a:gd name="connsiteY3" fmla="*/ 1970268 h 1970268"/>
              <a:gd name="connsiteX0" fmla="*/ 0 w 1671970"/>
              <a:gd name="connsiteY0" fmla="*/ 1942865 h 1970857"/>
              <a:gd name="connsiteX1" fmla="*/ 1650432 w 1671970"/>
              <a:gd name="connsiteY1" fmla="*/ 14561 h 1970857"/>
              <a:gd name="connsiteX2" fmla="*/ 984400 w 1671970"/>
              <a:gd name="connsiteY2" fmla="*/ 1118834 h 1970857"/>
              <a:gd name="connsiteX3" fmla="*/ 1343609 w 1671970"/>
              <a:gd name="connsiteY3" fmla="*/ 1970857 h 1970857"/>
              <a:gd name="connsiteX0" fmla="*/ 0 w 1671970"/>
              <a:gd name="connsiteY0" fmla="*/ 1942865 h 1942865"/>
              <a:gd name="connsiteX1" fmla="*/ 1650432 w 1671970"/>
              <a:gd name="connsiteY1" fmla="*/ 14561 h 1942865"/>
              <a:gd name="connsiteX2" fmla="*/ 984400 w 1671970"/>
              <a:gd name="connsiteY2" fmla="*/ 1118834 h 1942865"/>
              <a:gd name="connsiteX3" fmla="*/ 1203455 w 1671970"/>
              <a:gd name="connsiteY3" fmla="*/ 1623724 h 1942865"/>
              <a:gd name="connsiteX0" fmla="*/ 0 w 1671970"/>
              <a:gd name="connsiteY0" fmla="*/ 1942865 h 1942865"/>
              <a:gd name="connsiteX1" fmla="*/ 1650432 w 1671970"/>
              <a:gd name="connsiteY1" fmla="*/ 14561 h 1942865"/>
              <a:gd name="connsiteX2" fmla="*/ 984400 w 1671970"/>
              <a:gd name="connsiteY2" fmla="*/ 1118834 h 1942865"/>
              <a:gd name="connsiteX3" fmla="*/ 1231486 w 1671970"/>
              <a:gd name="connsiteY3" fmla="*/ 1691458 h 1942865"/>
              <a:gd name="connsiteX0" fmla="*/ 0 w 1680221"/>
              <a:gd name="connsiteY0" fmla="*/ 1953567 h 1953567"/>
              <a:gd name="connsiteX1" fmla="*/ 1650432 w 1680221"/>
              <a:gd name="connsiteY1" fmla="*/ 25263 h 1953567"/>
              <a:gd name="connsiteX2" fmla="*/ 1103531 w 1680221"/>
              <a:gd name="connsiteY2" fmla="*/ 943269 h 1953567"/>
              <a:gd name="connsiteX3" fmla="*/ 1231486 w 1680221"/>
              <a:gd name="connsiteY3" fmla="*/ 1702160 h 1953567"/>
              <a:gd name="connsiteX0" fmla="*/ 0 w 1676550"/>
              <a:gd name="connsiteY0" fmla="*/ 1952975 h 1952975"/>
              <a:gd name="connsiteX1" fmla="*/ 1650432 w 1676550"/>
              <a:gd name="connsiteY1" fmla="*/ 24671 h 1952975"/>
              <a:gd name="connsiteX2" fmla="*/ 1054478 w 1676550"/>
              <a:gd name="connsiteY2" fmla="*/ 951143 h 1952975"/>
              <a:gd name="connsiteX3" fmla="*/ 1231486 w 1676550"/>
              <a:gd name="connsiteY3" fmla="*/ 1701568 h 1952975"/>
              <a:gd name="connsiteX0" fmla="*/ 0 w 1610919"/>
              <a:gd name="connsiteY0" fmla="*/ 1794614 h 1794614"/>
              <a:gd name="connsiteX1" fmla="*/ 1587363 w 1610919"/>
              <a:gd name="connsiteY1" fmla="*/ 18710 h 1794614"/>
              <a:gd name="connsiteX2" fmla="*/ 991409 w 1610919"/>
              <a:gd name="connsiteY2" fmla="*/ 945182 h 1794614"/>
              <a:gd name="connsiteX3" fmla="*/ 1168417 w 1610919"/>
              <a:gd name="connsiteY3" fmla="*/ 1695607 h 1794614"/>
              <a:gd name="connsiteX0" fmla="*/ 0 w 1610919"/>
              <a:gd name="connsiteY0" fmla="*/ 1794614 h 1794614"/>
              <a:gd name="connsiteX1" fmla="*/ 1587363 w 1610919"/>
              <a:gd name="connsiteY1" fmla="*/ 18710 h 1794614"/>
              <a:gd name="connsiteX2" fmla="*/ 991409 w 1610919"/>
              <a:gd name="connsiteY2" fmla="*/ 945182 h 1794614"/>
              <a:gd name="connsiteX3" fmla="*/ 1168417 w 1610919"/>
              <a:gd name="connsiteY3" fmla="*/ 1695607 h 1794614"/>
              <a:gd name="connsiteX0" fmla="*/ 0 w 1606064"/>
              <a:gd name="connsiteY0" fmla="*/ 1818934 h 1818934"/>
              <a:gd name="connsiteX1" fmla="*/ 1587363 w 1606064"/>
              <a:gd name="connsiteY1" fmla="*/ 43030 h 1818934"/>
              <a:gd name="connsiteX2" fmla="*/ 991409 w 1606064"/>
              <a:gd name="connsiteY2" fmla="*/ 969502 h 1818934"/>
              <a:gd name="connsiteX3" fmla="*/ 1168417 w 1606064"/>
              <a:gd name="connsiteY3" fmla="*/ 1719927 h 1818934"/>
              <a:gd name="connsiteX0" fmla="*/ 0 w 1618922"/>
              <a:gd name="connsiteY0" fmla="*/ 1797306 h 1797306"/>
              <a:gd name="connsiteX1" fmla="*/ 1587363 w 1618922"/>
              <a:gd name="connsiteY1" fmla="*/ 21402 h 1797306"/>
              <a:gd name="connsiteX2" fmla="*/ 1096525 w 1618922"/>
              <a:gd name="connsiteY2" fmla="*/ 905540 h 1797306"/>
              <a:gd name="connsiteX3" fmla="*/ 1168417 w 1618922"/>
              <a:gd name="connsiteY3" fmla="*/ 1698299 h 1797306"/>
              <a:gd name="connsiteX0" fmla="*/ 0 w 1630261"/>
              <a:gd name="connsiteY0" fmla="*/ 1776055 h 1776055"/>
              <a:gd name="connsiteX1" fmla="*/ 1587363 w 1630261"/>
              <a:gd name="connsiteY1" fmla="*/ 151 h 1776055"/>
              <a:gd name="connsiteX2" fmla="*/ 1168417 w 1630261"/>
              <a:gd name="connsiteY2" fmla="*/ 1677048 h 1776055"/>
              <a:gd name="connsiteX0" fmla="*/ 0 w 1599796"/>
              <a:gd name="connsiteY0" fmla="*/ 1875951 h 1875951"/>
              <a:gd name="connsiteX1" fmla="*/ 1587363 w 1599796"/>
              <a:gd name="connsiteY1" fmla="*/ 100047 h 1875951"/>
              <a:gd name="connsiteX2" fmla="*/ 1168417 w 1599796"/>
              <a:gd name="connsiteY2" fmla="*/ 1776944 h 1875951"/>
              <a:gd name="connsiteX0" fmla="*/ 0 w 1592525"/>
              <a:gd name="connsiteY0" fmla="*/ 1875951 h 1875951"/>
              <a:gd name="connsiteX1" fmla="*/ 1587363 w 1592525"/>
              <a:gd name="connsiteY1" fmla="*/ 100047 h 1875951"/>
              <a:gd name="connsiteX2" fmla="*/ 1168417 w 1592525"/>
              <a:gd name="connsiteY2" fmla="*/ 1776944 h 1875951"/>
              <a:gd name="connsiteX0" fmla="*/ 0 w 1660780"/>
              <a:gd name="connsiteY0" fmla="*/ 1795430 h 1795430"/>
              <a:gd name="connsiteX1" fmla="*/ 1587363 w 1660780"/>
              <a:gd name="connsiteY1" fmla="*/ 19526 h 1795430"/>
              <a:gd name="connsiteX2" fmla="*/ 1168417 w 1660780"/>
              <a:gd name="connsiteY2" fmla="*/ 1696423 h 1795430"/>
              <a:gd name="connsiteX0" fmla="*/ 0 w 1645000"/>
              <a:gd name="connsiteY0" fmla="*/ 1803147 h 1803147"/>
              <a:gd name="connsiteX1" fmla="*/ 1587363 w 1645000"/>
              <a:gd name="connsiteY1" fmla="*/ 27243 h 1803147"/>
              <a:gd name="connsiteX2" fmla="*/ 1168417 w 1645000"/>
              <a:gd name="connsiteY2" fmla="*/ 1704140 h 1803147"/>
              <a:gd name="connsiteX0" fmla="*/ 0 w 1635742"/>
              <a:gd name="connsiteY0" fmla="*/ 1803147 h 1803147"/>
              <a:gd name="connsiteX1" fmla="*/ 1587363 w 1635742"/>
              <a:gd name="connsiteY1" fmla="*/ 27243 h 1803147"/>
              <a:gd name="connsiteX2" fmla="*/ 1168417 w 1635742"/>
              <a:gd name="connsiteY2" fmla="*/ 1704140 h 1803147"/>
              <a:gd name="connsiteX0" fmla="*/ 0 w 1635742"/>
              <a:gd name="connsiteY0" fmla="*/ 1803147 h 1803147"/>
              <a:gd name="connsiteX1" fmla="*/ 1587363 w 1635742"/>
              <a:gd name="connsiteY1" fmla="*/ 27243 h 1803147"/>
              <a:gd name="connsiteX2" fmla="*/ 1168417 w 1635742"/>
              <a:gd name="connsiteY2" fmla="*/ 1704140 h 1803147"/>
              <a:gd name="connsiteX0" fmla="*/ 0 w 1630373"/>
              <a:gd name="connsiteY0" fmla="*/ 1759150 h 1759150"/>
              <a:gd name="connsiteX1" fmla="*/ 1608386 w 1630373"/>
              <a:gd name="connsiteY1" fmla="*/ 179 h 1759150"/>
              <a:gd name="connsiteX2" fmla="*/ 1189440 w 1630373"/>
              <a:gd name="connsiteY2" fmla="*/ 1677076 h 1759150"/>
              <a:gd name="connsiteX0" fmla="*/ 0 w 3431907"/>
              <a:gd name="connsiteY0" fmla="*/ 1759114 h 1759114"/>
              <a:gd name="connsiteX1" fmla="*/ 1608386 w 3431907"/>
              <a:gd name="connsiteY1" fmla="*/ 143 h 1759114"/>
              <a:gd name="connsiteX2" fmla="*/ 3431907 w 3431907"/>
              <a:gd name="connsiteY2" fmla="*/ 1685507 h 1759114"/>
              <a:gd name="connsiteX0" fmla="*/ 0 w 3431907"/>
              <a:gd name="connsiteY0" fmla="*/ 1759266 h 1759266"/>
              <a:gd name="connsiteX1" fmla="*/ 1608386 w 3431907"/>
              <a:gd name="connsiteY1" fmla="*/ 295 h 1759266"/>
              <a:gd name="connsiteX2" fmla="*/ 3431907 w 3431907"/>
              <a:gd name="connsiteY2" fmla="*/ 1685659 h 1759266"/>
              <a:gd name="connsiteX0" fmla="*/ 0 w 3431907"/>
              <a:gd name="connsiteY0" fmla="*/ 1826955 h 1826955"/>
              <a:gd name="connsiteX1" fmla="*/ 2028849 w 3431907"/>
              <a:gd name="connsiteY1" fmla="*/ 251 h 1826955"/>
              <a:gd name="connsiteX2" fmla="*/ 3431907 w 3431907"/>
              <a:gd name="connsiteY2" fmla="*/ 1753348 h 1826955"/>
              <a:gd name="connsiteX0" fmla="*/ 0 w 3431907"/>
              <a:gd name="connsiteY0" fmla="*/ 73607 h 73607"/>
              <a:gd name="connsiteX1" fmla="*/ 3431907 w 3431907"/>
              <a:gd name="connsiteY1" fmla="*/ 0 h 73607"/>
              <a:gd name="connsiteX0" fmla="*/ 0 w 3431907"/>
              <a:gd name="connsiteY0" fmla="*/ 1364300 h 1364300"/>
              <a:gd name="connsiteX1" fmla="*/ 3431907 w 3431907"/>
              <a:gd name="connsiteY1" fmla="*/ 1290693 h 1364300"/>
              <a:gd name="connsiteX0" fmla="*/ 0 w 3431907"/>
              <a:gd name="connsiteY0" fmla="*/ 1803651 h 1803651"/>
              <a:gd name="connsiteX1" fmla="*/ 3431907 w 3431907"/>
              <a:gd name="connsiteY1" fmla="*/ 1730044 h 1803651"/>
              <a:gd name="connsiteX0" fmla="*/ 0 w 3431907"/>
              <a:gd name="connsiteY0" fmla="*/ 1831963 h 1831963"/>
              <a:gd name="connsiteX1" fmla="*/ 3431907 w 3431907"/>
              <a:gd name="connsiteY1" fmla="*/ 1758356 h 1831963"/>
              <a:gd name="connsiteX0" fmla="*/ 0 w 3431907"/>
              <a:gd name="connsiteY0" fmla="*/ 1892361 h 1892361"/>
              <a:gd name="connsiteX1" fmla="*/ 3431907 w 3431907"/>
              <a:gd name="connsiteY1" fmla="*/ 1818754 h 1892361"/>
              <a:gd name="connsiteX0" fmla="*/ 0 w 3347815"/>
              <a:gd name="connsiteY0" fmla="*/ 1803690 h 1965829"/>
              <a:gd name="connsiteX1" fmla="*/ 3347815 w 3347815"/>
              <a:gd name="connsiteY1" fmla="*/ 1965830 h 1965829"/>
              <a:gd name="connsiteX0" fmla="*/ 0 w 3389861"/>
              <a:gd name="connsiteY0" fmla="*/ 1829244 h 1921534"/>
              <a:gd name="connsiteX1" fmla="*/ 3389861 w 3389861"/>
              <a:gd name="connsiteY1" fmla="*/ 1921534 h 1921534"/>
              <a:gd name="connsiteX0" fmla="*/ 0 w 3389861"/>
              <a:gd name="connsiteY0" fmla="*/ 1725147 h 1817437"/>
              <a:gd name="connsiteX1" fmla="*/ 3389861 w 3389861"/>
              <a:gd name="connsiteY1" fmla="*/ 1817437 h 1817437"/>
              <a:gd name="connsiteX0" fmla="*/ 0 w 3137584"/>
              <a:gd name="connsiteY0" fmla="*/ 1735130 h 1801226"/>
              <a:gd name="connsiteX1" fmla="*/ 3137584 w 3137584"/>
              <a:gd name="connsiteY1" fmla="*/ 1801226 h 1801226"/>
              <a:gd name="connsiteX0" fmla="*/ 0 w 3137584"/>
              <a:gd name="connsiteY0" fmla="*/ 1740519 h 1806615"/>
              <a:gd name="connsiteX1" fmla="*/ 3137584 w 3137584"/>
              <a:gd name="connsiteY1" fmla="*/ 1806615 h 1806615"/>
              <a:gd name="connsiteX0" fmla="*/ 0 w 3137584"/>
              <a:gd name="connsiteY0" fmla="*/ 1697875 h 1763971"/>
              <a:gd name="connsiteX1" fmla="*/ 3137584 w 3137584"/>
              <a:gd name="connsiteY1" fmla="*/ 1763971 h 1763971"/>
              <a:gd name="connsiteX0" fmla="*/ 0 w 3137584"/>
              <a:gd name="connsiteY0" fmla="*/ 1793594 h 1859690"/>
              <a:gd name="connsiteX1" fmla="*/ 3137584 w 3137584"/>
              <a:gd name="connsiteY1" fmla="*/ 1859690 h 1859690"/>
            </a:gdLst>
            <a:ahLst/>
            <a:cxnLst>
              <a:cxn ang="0">
                <a:pos x="connsiteX0" y="connsiteY0"/>
              </a:cxn>
              <a:cxn ang="0">
                <a:pos x="connsiteX1" y="connsiteY1"/>
              </a:cxn>
            </a:cxnLst>
            <a:rect l="l" t="t" r="r" b="b"/>
            <a:pathLst>
              <a:path w="3137584" h="1859690">
                <a:moveTo>
                  <a:pt x="0" y="1793594"/>
                </a:moveTo>
                <a:cubicBezTo>
                  <a:pt x="1494356" y="-1436086"/>
                  <a:pt x="2925639" y="397800"/>
                  <a:pt x="3137584" y="1859690"/>
                </a:cubicBezTo>
              </a:path>
            </a:pathLst>
          </a:custGeom>
          <a:noFill/>
          <a:ln w="28575" cap="flat" cmpd="sng" algn="ctr">
            <a:solidFill>
              <a:srgbClr val="EC7061"/>
            </a:solidFill>
            <a:prstDash val="solid"/>
            <a:miter lim="800000"/>
            <a:headEnd type="triangle" w="med" len="med"/>
            <a:tailEnd type="triangle" w="med" len="med"/>
          </a:ln>
          <a:effectLst/>
        </p:spPr>
        <p:txBody>
          <a:bodyPr wrap="square" rtlCol="0" anchor="ctr">
            <a:noAutofit/>
          </a:bodyPr>
          <a:lstStyle/>
          <a:p>
            <a:pPr algn="ctr" defTabSz="1219170" fontAlgn="ctr"/>
            <a:endParaRPr lang="en-US" altLang="zh-CN" sz="24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矩形 62"/>
          <p:cNvSpPr/>
          <p:nvPr/>
        </p:nvSpPr>
        <p:spPr bwMode="gray">
          <a:xfrm>
            <a:off x="9227300" y="2796044"/>
            <a:ext cx="1019831" cy="307777"/>
          </a:xfrm>
          <a:prstGeom prst="rect">
            <a:avLst/>
          </a:prstGeom>
        </p:spPr>
        <p:txBody>
          <a:bodyPr wrap="none">
            <a:spAutoFit/>
          </a:bodyPr>
          <a:lstStyle/>
          <a:p>
            <a:pPr algn="ctr" fontAlgn="ct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L2/L3</a:t>
            </a: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矩形 71"/>
          <p:cNvSpPr/>
          <p:nvPr/>
        </p:nvSpPr>
        <p:spPr bwMode="gray">
          <a:xfrm>
            <a:off x="6222550" y="3904001"/>
            <a:ext cx="1365344" cy="518678"/>
          </a:xfrm>
          <a:prstGeom prst="rect">
            <a:avLst/>
          </a:prstGeom>
        </p:spPr>
        <p:txBody>
          <a:bodyPr wrap="none">
            <a:noAutofit/>
          </a:bodyPr>
          <a:lstStyle/>
          <a:p>
            <a:pPr algn="ctr" fontAlgn="ct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PC1</a:t>
            </a:r>
          </a:p>
          <a:p>
            <a:pPr algn="ctr" fontAlgn="ct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192.168.1.1/24</a:t>
            </a:r>
          </a:p>
        </p:txBody>
      </p:sp>
      <p:sp>
        <p:nvSpPr>
          <p:cNvPr id="73" name="矩形 72"/>
          <p:cNvSpPr/>
          <p:nvPr/>
        </p:nvSpPr>
        <p:spPr bwMode="gray">
          <a:xfrm>
            <a:off x="9979612" y="3901730"/>
            <a:ext cx="1377300" cy="523220"/>
          </a:xfrm>
          <a:prstGeom prst="rect">
            <a:avLst/>
          </a:prstGeom>
        </p:spPr>
        <p:txBody>
          <a:bodyPr wrap="none">
            <a:noAutofit/>
          </a:bodyPr>
          <a:lstStyle/>
          <a:p>
            <a:pPr algn="ctr" fontAlgn="ctr"/>
            <a:r>
              <a:rPr lang="en-US" altLang="zh-CN"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PC3</a:t>
            </a:r>
            <a:endPar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fontAlgn="ctr"/>
            <a:r>
              <a:rPr lang="en-US" altLang="zh-CN" sz="14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192.168.1.3/24</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矩形 73"/>
          <p:cNvSpPr/>
          <p:nvPr/>
        </p:nvSpPr>
        <p:spPr bwMode="gray">
          <a:xfrm>
            <a:off x="8055074" y="3904001"/>
            <a:ext cx="1365344" cy="518678"/>
          </a:xfrm>
          <a:prstGeom prst="rect">
            <a:avLst/>
          </a:prstGeom>
        </p:spPr>
        <p:txBody>
          <a:bodyPr wrap="none">
            <a:noAutofit/>
          </a:bodyPr>
          <a:lstStyle/>
          <a:p>
            <a:pPr algn="ctr" fontAlgn="ctr"/>
            <a:r>
              <a:rPr lang="en-US" altLang="zh-CN"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PC2</a:t>
            </a:r>
            <a:endPar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fontAlgn="ctr"/>
            <a:r>
              <a:rPr lang="en-US" altLang="zh-CN" sz="14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192.168.2.1/24</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五边形 24">
            <a:extLst>
              <a:ext uri="{FF2B5EF4-FFF2-40B4-BE49-F238E27FC236}">
                <a16:creationId xmlns:a16="http://schemas.microsoft.com/office/drawing/2014/main" id="{94B96716-C28B-40EB-8E95-7453A9EDFF97}"/>
              </a:ext>
            </a:extLst>
          </p:cNvPr>
          <p:cNvSpPr/>
          <p:nvPr/>
        </p:nvSpPr>
        <p:spPr bwMode="gray">
          <a:xfrm>
            <a:off x="6832310" y="124239"/>
            <a:ext cx="781200" cy="213120"/>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NVE</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燕尾形 25">
            <a:extLst>
              <a:ext uri="{FF2B5EF4-FFF2-40B4-BE49-F238E27FC236}">
                <a16:creationId xmlns:a16="http://schemas.microsoft.com/office/drawing/2014/main" id="{B3835D4C-1B49-4581-A7CA-72BCE8067FFC}"/>
              </a:ext>
            </a:extLst>
          </p:cNvPr>
          <p:cNvSpPr/>
          <p:nvPr/>
        </p:nvSpPr>
        <p:spPr bwMode="gray">
          <a:xfrm>
            <a:off x="9084373" y="124239"/>
            <a:ext cx="781200"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VAP</a:t>
            </a:r>
          </a:p>
        </p:txBody>
      </p:sp>
      <p:sp>
        <p:nvSpPr>
          <p:cNvPr id="77" name="燕尾形 26">
            <a:extLst>
              <a:ext uri="{FF2B5EF4-FFF2-40B4-BE49-F238E27FC236}">
                <a16:creationId xmlns:a16="http://schemas.microsoft.com/office/drawing/2014/main" id="{9744301D-E99A-4BEF-A318-08CD9645DD40}"/>
              </a:ext>
            </a:extLst>
          </p:cNvPr>
          <p:cNvSpPr/>
          <p:nvPr/>
        </p:nvSpPr>
        <p:spPr bwMode="gray">
          <a:xfrm>
            <a:off x="10931982" y="124239"/>
            <a:ext cx="78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200" b="1" kern="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燕尾形 26">
            <a:extLst>
              <a:ext uri="{FF2B5EF4-FFF2-40B4-BE49-F238E27FC236}">
                <a16:creationId xmlns:a16="http://schemas.microsoft.com/office/drawing/2014/main" id="{BCE2539E-0076-4A5B-9B7B-AE0039DEB005}"/>
              </a:ext>
            </a:extLst>
          </p:cNvPr>
          <p:cNvSpPr/>
          <p:nvPr/>
        </p:nvSpPr>
        <p:spPr bwMode="gray">
          <a:xfrm>
            <a:off x="8299168" y="124239"/>
            <a:ext cx="864000"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VNI</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BD</a:t>
            </a:r>
          </a:p>
        </p:txBody>
      </p:sp>
      <p:sp>
        <p:nvSpPr>
          <p:cNvPr id="79" name="燕尾形 26">
            <a:extLst>
              <a:ext uri="{FF2B5EF4-FFF2-40B4-BE49-F238E27FC236}">
                <a16:creationId xmlns:a16="http://schemas.microsoft.com/office/drawing/2014/main" id="{65628728-0580-404A-8423-3F9266499728}"/>
              </a:ext>
            </a:extLst>
          </p:cNvPr>
          <p:cNvSpPr/>
          <p:nvPr/>
        </p:nvSpPr>
        <p:spPr bwMode="gray">
          <a:xfrm>
            <a:off x="7534715" y="124239"/>
            <a:ext cx="843248"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VTEP</a:t>
            </a:r>
          </a:p>
        </p:txBody>
      </p:sp>
      <p:sp>
        <p:nvSpPr>
          <p:cNvPr id="80" name="燕尾形 25">
            <a:extLst>
              <a:ext uri="{FF2B5EF4-FFF2-40B4-BE49-F238E27FC236}">
                <a16:creationId xmlns:a16="http://schemas.microsoft.com/office/drawing/2014/main" id="{B3835D4C-1B49-4581-A7CA-72BCE8067FFC}"/>
              </a:ext>
            </a:extLst>
          </p:cNvPr>
          <p:cNvSpPr/>
          <p:nvPr/>
        </p:nvSpPr>
        <p:spPr bwMode="gray">
          <a:xfrm>
            <a:off x="9786778" y="124239"/>
            <a:ext cx="1224000"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Edge</a:t>
            </a:r>
          </a:p>
        </p:txBody>
      </p:sp>
    </p:spTree>
    <p:extLst>
      <p:ext uri="{BB962C8B-B14F-4D97-AF65-F5344CB8AC3E}">
        <p14:creationId xmlns:p14="http://schemas.microsoft.com/office/powerpoint/2010/main" val="820805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a:solidFill>
                  <a:schemeClr val="bg1">
                    <a:lumMod val="50000"/>
                  </a:schemeClr>
                </a:solidFill>
                <a:sym typeface="Huawei Sans" panose="020C0503030203020204" pitchFamily="34" charset="0"/>
              </a:rPr>
              <a:t>VXLAN</a:t>
            </a:r>
            <a:r>
              <a:rPr lang="zh-CN" altLang="en-US" dirty="0">
                <a:solidFill>
                  <a:schemeClr val="bg1">
                    <a:lumMod val="50000"/>
                  </a:schemeClr>
                </a:solidFill>
                <a:sym typeface="Huawei Sans" panose="020C0503030203020204" pitchFamily="34" charset="0"/>
              </a:rPr>
              <a:t>及园区网络虚拟化技术背景</a:t>
            </a:r>
            <a:endParaRPr lang="en-US" altLang="zh-CN" dirty="0">
              <a:solidFill>
                <a:schemeClr val="bg1">
                  <a:lumMod val="50000"/>
                </a:schemeClr>
              </a:solidFill>
              <a:sym typeface="Huawei Sans" panose="020C0503030203020204" pitchFamily="34" charset="0"/>
            </a:endParaRPr>
          </a:p>
          <a:p>
            <a:r>
              <a:rPr lang="en-US" altLang="zh-CN" b="1" dirty="0">
                <a:sym typeface="Huawei Sans" panose="020C0503030203020204" pitchFamily="34" charset="0"/>
              </a:rPr>
              <a:t>VXLAN</a:t>
            </a:r>
            <a:r>
              <a:rPr lang="zh-CN" altLang="en-US" b="1" dirty="0">
                <a:sym typeface="Huawei Sans" panose="020C0503030203020204" pitchFamily="34" charset="0"/>
              </a:rPr>
              <a:t>的基本概念及工作原理</a:t>
            </a:r>
            <a:endParaRPr lang="en-US" altLang="zh-CN" b="1" dirty="0">
              <a:sym typeface="Huawei Sans" panose="020C0503030203020204" pitchFamily="34" charset="0"/>
            </a:endParaRPr>
          </a:p>
          <a:p>
            <a:pPr lvl="1"/>
            <a:r>
              <a:rPr lang="zh-CN" altLang="en-US" dirty="0">
                <a:solidFill>
                  <a:schemeClr val="bg1">
                    <a:lumMod val="50000"/>
                  </a:schemeClr>
                </a:solidFill>
                <a:sym typeface="Huawei Sans" panose="020C0503030203020204" pitchFamily="34" charset="0"/>
              </a:rPr>
              <a:t>基本概念</a:t>
            </a:r>
            <a:endParaRPr lang="en-US" altLang="zh-CN" dirty="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zh-CN" altLang="en-US" dirty="0">
                <a:sym typeface="Huawei Sans" panose="020C0503030203020204" pitchFamily="34" charset="0"/>
              </a:rPr>
              <a:t>工作原理</a:t>
            </a:r>
            <a:endParaRPr lang="en-US" altLang="zh-CN" dirty="0">
              <a:sym typeface="Huawei Sans" panose="020C0503030203020204" pitchFamily="34" charset="0"/>
            </a:endParaRPr>
          </a:p>
          <a:p>
            <a:pPr lvl="1"/>
            <a:r>
              <a:rPr lang="zh-CN" altLang="en-US" dirty="0">
                <a:solidFill>
                  <a:schemeClr val="bg1">
                    <a:lumMod val="50000"/>
                  </a:schemeClr>
                </a:solidFill>
                <a:sym typeface="Huawei Sans" panose="020C0503030203020204" pitchFamily="34" charset="0"/>
              </a:rPr>
              <a:t>基本配置</a:t>
            </a:r>
            <a:endParaRPr lang="en-US" altLang="zh-CN" dirty="0">
              <a:solidFill>
                <a:schemeClr val="bg1">
                  <a:lumMod val="50000"/>
                </a:schemeClr>
              </a:solidFill>
              <a:sym typeface="Huawei Sans" panose="020C0503030203020204" pitchFamily="34" charset="0"/>
            </a:endParaRPr>
          </a:p>
          <a:p>
            <a:r>
              <a:rPr lang="en-US" altLang="zh-CN" dirty="0">
                <a:solidFill>
                  <a:schemeClr val="bg1">
                    <a:lumMod val="50000"/>
                  </a:schemeClr>
                </a:solidFill>
                <a:sym typeface="Huawei Sans" panose="020C0503030203020204" pitchFamily="34" charset="0"/>
              </a:rPr>
              <a:t>BGP EVPN</a:t>
            </a:r>
          </a:p>
          <a:p>
            <a:r>
              <a:rPr lang="zh-CN" altLang="en-US" dirty="0">
                <a:solidFill>
                  <a:schemeClr val="bg1">
                    <a:lumMod val="50000"/>
                  </a:schemeClr>
                </a:solidFill>
                <a:sym typeface="Huawei Sans" panose="020C0503030203020204" pitchFamily="34" charset="0"/>
              </a:rPr>
              <a:t>园区网络虚拟化</a:t>
            </a:r>
          </a:p>
        </p:txBody>
      </p:sp>
    </p:spTree>
    <p:extLst>
      <p:ext uri="{BB962C8B-B14F-4D97-AF65-F5344CB8AC3E}">
        <p14:creationId xmlns:p14="http://schemas.microsoft.com/office/powerpoint/2010/main" val="29445228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en-US" altLang="zh-CN">
                <a:sym typeface="Huawei Sans" panose="020C0503030203020204" pitchFamily="34" charset="0"/>
              </a:rPr>
              <a:t>VXLAN</a:t>
            </a:r>
            <a:r>
              <a:rPr lang="zh-CN" altLang="en-US">
                <a:sym typeface="Huawei Sans" panose="020C0503030203020204" pitchFamily="34" charset="0"/>
              </a:rPr>
              <a:t>隧道的建立方式</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bwMode="gray"/>
        <p:txBody>
          <a:bodyPr/>
          <a:lstStyle/>
          <a:p>
            <a:r>
              <a:rPr lang="en-US" altLang="zh-CN" sz="2000" dirty="0">
                <a:sym typeface="Huawei Sans" panose="020C0503030203020204" pitchFamily="34" charset="0"/>
              </a:rPr>
              <a:t>VXLAN</a:t>
            </a:r>
            <a:r>
              <a:rPr lang="zh-CN" altLang="en-US" sz="2000" dirty="0">
                <a:sym typeface="Huawei Sans" panose="020C0503030203020204" pitchFamily="34" charset="0"/>
              </a:rPr>
              <a:t>隧道由一对</a:t>
            </a:r>
            <a:r>
              <a:rPr lang="en-US" altLang="zh-CN" sz="2000" dirty="0">
                <a:sym typeface="Huawei Sans" panose="020C0503030203020204" pitchFamily="34" charset="0"/>
              </a:rPr>
              <a:t>VTEP</a:t>
            </a:r>
            <a:r>
              <a:rPr lang="zh-CN" altLang="en-US" sz="2000" dirty="0">
                <a:sym typeface="Huawei Sans" panose="020C0503030203020204" pitchFamily="34" charset="0"/>
              </a:rPr>
              <a:t>确定，报文在</a:t>
            </a:r>
            <a:r>
              <a:rPr lang="en-US" altLang="zh-CN" sz="2000" dirty="0">
                <a:sym typeface="Huawei Sans" panose="020C0503030203020204" pitchFamily="34" charset="0"/>
              </a:rPr>
              <a:t>VTEP</a:t>
            </a:r>
            <a:r>
              <a:rPr lang="zh-CN" altLang="en-US" sz="2000" dirty="0">
                <a:sym typeface="Huawei Sans" panose="020C0503030203020204" pitchFamily="34" charset="0"/>
              </a:rPr>
              <a:t>设备进行封装之后在</a:t>
            </a:r>
            <a:r>
              <a:rPr lang="en-US" altLang="zh-CN" sz="2000" dirty="0">
                <a:sym typeface="Huawei Sans" panose="020C0503030203020204" pitchFamily="34" charset="0"/>
              </a:rPr>
              <a:t>VXLAN</a:t>
            </a:r>
            <a:r>
              <a:rPr lang="zh-CN" altLang="en-US" sz="2000" dirty="0">
                <a:sym typeface="Huawei Sans" panose="020C0503030203020204" pitchFamily="34" charset="0"/>
              </a:rPr>
              <a:t>隧道中依靠路由进行传输。只要</a:t>
            </a:r>
            <a:r>
              <a:rPr lang="en-US" altLang="zh-CN" sz="2000" dirty="0">
                <a:sym typeface="Huawei Sans" panose="020C0503030203020204" pitchFamily="34" charset="0"/>
              </a:rPr>
              <a:t>VXLAN</a:t>
            </a:r>
            <a:r>
              <a:rPr lang="zh-CN" altLang="en-US" sz="2000" dirty="0">
                <a:sym typeface="Huawei Sans" panose="020C0503030203020204" pitchFamily="34" charset="0"/>
              </a:rPr>
              <a:t>隧道的两端</a:t>
            </a:r>
            <a:r>
              <a:rPr lang="en-US" altLang="zh-CN" sz="2000" dirty="0">
                <a:sym typeface="Huawei Sans" panose="020C0503030203020204" pitchFamily="34" charset="0"/>
              </a:rPr>
              <a:t>VTEP</a:t>
            </a:r>
            <a:r>
              <a:rPr lang="zh-CN" altLang="en-US" sz="2000" dirty="0">
                <a:sym typeface="Huawei Sans" panose="020C0503030203020204" pitchFamily="34" charset="0"/>
              </a:rPr>
              <a:t>是三层路由可达的，</a:t>
            </a:r>
            <a:r>
              <a:rPr lang="en-US" altLang="zh-CN" sz="2000" dirty="0">
                <a:sym typeface="Huawei Sans" panose="020C0503030203020204" pitchFamily="34" charset="0"/>
              </a:rPr>
              <a:t>VXLAN</a:t>
            </a:r>
            <a:r>
              <a:rPr lang="zh-CN" altLang="en-US" sz="2000" dirty="0">
                <a:sym typeface="Huawei Sans" panose="020C0503030203020204" pitchFamily="34" charset="0"/>
              </a:rPr>
              <a:t>隧道就可以建立成功。</a:t>
            </a:r>
            <a:endParaRPr lang="en-US" altLang="zh-CN" sz="2000" dirty="0">
              <a:sym typeface="Huawei Sans" panose="020C0503030203020204" pitchFamily="34" charset="0"/>
            </a:endParaRPr>
          </a:p>
          <a:p>
            <a:r>
              <a:rPr lang="zh-CN" altLang="en-US" sz="2000" dirty="0">
                <a:sym typeface="Huawei Sans" panose="020C0503030203020204" pitchFamily="34" charset="0"/>
              </a:rPr>
              <a:t>根据</a:t>
            </a:r>
            <a:r>
              <a:rPr lang="en-US" altLang="zh-CN" sz="2000" dirty="0">
                <a:sym typeface="Huawei Sans" panose="020C0503030203020204" pitchFamily="34" charset="0"/>
              </a:rPr>
              <a:t>VXLAN</a:t>
            </a:r>
            <a:r>
              <a:rPr lang="zh-CN" altLang="en-US" sz="2000" dirty="0">
                <a:sym typeface="Huawei Sans" panose="020C0503030203020204" pitchFamily="34" charset="0"/>
              </a:rPr>
              <a:t>隧道的创建方式将</a:t>
            </a:r>
            <a:r>
              <a:rPr lang="en-US" altLang="zh-CN" sz="2000" dirty="0">
                <a:sym typeface="Huawei Sans" panose="020C0503030203020204" pitchFamily="34" charset="0"/>
              </a:rPr>
              <a:t>VXLAN</a:t>
            </a:r>
            <a:r>
              <a:rPr lang="zh-CN" altLang="en-US" sz="2000" dirty="0">
                <a:sym typeface="Huawei Sans" panose="020C0503030203020204" pitchFamily="34" charset="0"/>
              </a:rPr>
              <a:t>隧道分为以下两种：</a:t>
            </a:r>
            <a:endParaRPr lang="en-US" altLang="zh-CN" sz="2000" dirty="0">
              <a:sym typeface="Huawei Sans" panose="020C0503030203020204" pitchFamily="34" charset="0"/>
            </a:endParaRPr>
          </a:p>
          <a:p>
            <a:pPr lvl="1"/>
            <a:r>
              <a:rPr lang="zh-CN" altLang="en-US" sz="1800" dirty="0">
                <a:sym typeface="Huawei Sans" panose="020C0503030203020204" pitchFamily="34" charset="0"/>
              </a:rPr>
              <a:t>静态隧道：通过用户手工配置本端和远端的</a:t>
            </a:r>
            <a:r>
              <a:rPr lang="en-US" altLang="zh-CN" sz="1800" dirty="0">
                <a:sym typeface="Huawei Sans" panose="020C0503030203020204" pitchFamily="34" charset="0"/>
              </a:rPr>
              <a:t>VNI</a:t>
            </a:r>
            <a:r>
              <a:rPr lang="zh-CN" altLang="en-US" sz="1800" dirty="0">
                <a:sym typeface="Huawei Sans" panose="020C0503030203020204" pitchFamily="34" charset="0"/>
              </a:rPr>
              <a:t>、</a:t>
            </a:r>
            <a:r>
              <a:rPr lang="en-US" altLang="zh-CN" sz="1800" dirty="0">
                <a:sym typeface="Huawei Sans" panose="020C0503030203020204" pitchFamily="34" charset="0"/>
              </a:rPr>
              <a:t>VTEP IP</a:t>
            </a:r>
            <a:r>
              <a:rPr lang="zh-CN" altLang="en-US" sz="1800" dirty="0">
                <a:sym typeface="Huawei Sans" panose="020C0503030203020204" pitchFamily="34" charset="0"/>
              </a:rPr>
              <a:t>地址和头端复制列表（</a:t>
            </a:r>
            <a:r>
              <a:rPr lang="en-US" altLang="zh-CN" sz="1800" dirty="0">
                <a:sym typeface="Huawei Sans" panose="020C0503030203020204" pitchFamily="34" charset="0"/>
              </a:rPr>
              <a:t>head-end peer-list</a:t>
            </a:r>
            <a:r>
              <a:rPr lang="zh-CN" altLang="en-US" sz="1800" dirty="0">
                <a:sym typeface="Huawei Sans" panose="020C0503030203020204" pitchFamily="34" charset="0"/>
              </a:rPr>
              <a:t>）来完成。</a:t>
            </a:r>
            <a:endParaRPr lang="en-US" altLang="zh-CN" sz="1800" dirty="0">
              <a:sym typeface="Huawei Sans" panose="020C0503030203020204" pitchFamily="34" charset="0"/>
            </a:endParaRPr>
          </a:p>
          <a:p>
            <a:pPr lvl="1"/>
            <a:r>
              <a:rPr lang="zh-CN" altLang="en-US" sz="1800" dirty="0">
                <a:sym typeface="Huawei Sans" panose="020C0503030203020204" pitchFamily="34" charset="0"/>
              </a:rPr>
              <a:t>动态隧道：通过</a:t>
            </a:r>
            <a:r>
              <a:rPr lang="en-US" altLang="zh-CN" sz="1800" dirty="0">
                <a:sym typeface="Huawei Sans" panose="020C0503030203020204" pitchFamily="34" charset="0"/>
              </a:rPr>
              <a:t>BGP EVPN</a:t>
            </a:r>
            <a:r>
              <a:rPr lang="zh-CN" altLang="en-US" sz="1800" dirty="0">
                <a:sym typeface="Huawei Sans" panose="020C0503030203020204" pitchFamily="34" charset="0"/>
              </a:rPr>
              <a:t>（</a:t>
            </a:r>
            <a:r>
              <a:rPr lang="en-US" altLang="zh-CN" sz="1800" dirty="0">
                <a:sym typeface="Huawei Sans" panose="020C0503030203020204" pitchFamily="34" charset="0"/>
              </a:rPr>
              <a:t>Ethernet VPN</a:t>
            </a:r>
            <a:r>
              <a:rPr lang="zh-CN" altLang="en-US" sz="1800" dirty="0">
                <a:sym typeface="Huawei Sans" panose="020C0503030203020204" pitchFamily="34" charset="0"/>
              </a:rPr>
              <a:t>，以太网虚拟私有网络）方式动态建立</a:t>
            </a:r>
            <a:r>
              <a:rPr lang="en-US" altLang="zh-CN" sz="1800" dirty="0">
                <a:sym typeface="Huawei Sans" panose="020C0503030203020204" pitchFamily="34" charset="0"/>
              </a:rPr>
              <a:t>VXLAN</a:t>
            </a:r>
            <a:r>
              <a:rPr lang="zh-CN" altLang="en-US" sz="1800" dirty="0">
                <a:sym typeface="Huawei Sans" panose="020C0503030203020204" pitchFamily="34" charset="0"/>
              </a:rPr>
              <a:t>隧道。在</a:t>
            </a:r>
            <a:r>
              <a:rPr lang="en-US" altLang="zh-CN" sz="1800" dirty="0">
                <a:sym typeface="Huawei Sans" panose="020C0503030203020204" pitchFamily="34" charset="0"/>
              </a:rPr>
              <a:t>VTEP</a:t>
            </a:r>
            <a:r>
              <a:rPr lang="zh-CN" altLang="en-US" sz="1800" dirty="0">
                <a:sym typeface="Huawei Sans" panose="020C0503030203020204" pitchFamily="34" charset="0"/>
              </a:rPr>
              <a:t>之间建立</a:t>
            </a:r>
            <a:r>
              <a:rPr lang="en-US" altLang="zh-CN" sz="1800" dirty="0">
                <a:sym typeface="Huawei Sans" panose="020C0503030203020204" pitchFamily="34" charset="0"/>
              </a:rPr>
              <a:t>BGP EVPN</a:t>
            </a:r>
            <a:r>
              <a:rPr lang="zh-CN" altLang="en-US" sz="1800" dirty="0">
                <a:sym typeface="Huawei Sans" panose="020C0503030203020204" pitchFamily="34" charset="0"/>
              </a:rPr>
              <a:t>对等体，然后对等体之间利用</a:t>
            </a:r>
            <a:r>
              <a:rPr lang="en-US" altLang="zh-CN" sz="1800" dirty="0">
                <a:sym typeface="Huawei Sans" panose="020C0503030203020204" pitchFamily="34" charset="0"/>
              </a:rPr>
              <a:t>BGP EVPN</a:t>
            </a:r>
            <a:r>
              <a:rPr lang="zh-CN" altLang="en-US" sz="1800" dirty="0">
                <a:sym typeface="Huawei Sans" panose="020C0503030203020204" pitchFamily="34" charset="0"/>
              </a:rPr>
              <a:t>路由来互相传递</a:t>
            </a:r>
            <a:r>
              <a:rPr lang="en-US" altLang="zh-CN" sz="1800" dirty="0">
                <a:sym typeface="Huawei Sans" panose="020C0503030203020204" pitchFamily="34" charset="0"/>
              </a:rPr>
              <a:t>VNI</a:t>
            </a:r>
            <a:r>
              <a:rPr lang="zh-CN" altLang="en-US" sz="1800" dirty="0">
                <a:sym typeface="Huawei Sans" panose="020C0503030203020204" pitchFamily="34" charset="0"/>
              </a:rPr>
              <a:t>和</a:t>
            </a:r>
            <a:r>
              <a:rPr lang="en-US" altLang="zh-CN" sz="1800" dirty="0">
                <a:sym typeface="Huawei Sans" panose="020C0503030203020204" pitchFamily="34" charset="0"/>
              </a:rPr>
              <a:t>VTEP IP</a:t>
            </a:r>
            <a:r>
              <a:rPr lang="zh-CN" altLang="en-US" sz="1800" dirty="0">
                <a:sym typeface="Huawei Sans" panose="020C0503030203020204" pitchFamily="34" charset="0"/>
              </a:rPr>
              <a:t>地址信息，从而实现动态地建立</a:t>
            </a:r>
            <a:r>
              <a:rPr lang="en-US" altLang="zh-CN" sz="1800" dirty="0">
                <a:sym typeface="Huawei Sans" panose="020C0503030203020204" pitchFamily="34" charset="0"/>
              </a:rPr>
              <a:t>VXLAN</a:t>
            </a:r>
            <a:r>
              <a:rPr lang="zh-CN" altLang="en-US" sz="1800" dirty="0">
                <a:sym typeface="Huawei Sans" panose="020C0503030203020204" pitchFamily="34" charset="0"/>
              </a:rPr>
              <a:t>隧道。</a:t>
            </a:r>
            <a:endParaRPr lang="en-US" altLang="zh-CN" sz="1800" dirty="0">
              <a:sym typeface="Huawei Sans" panose="020C0503030203020204" pitchFamily="34" charset="0"/>
            </a:endParaRPr>
          </a:p>
          <a:p>
            <a:endParaRPr lang="zh-CN" altLang="en-US" sz="2000" dirty="0">
              <a:sym typeface="Huawei Sans" panose="020C0503030203020204" pitchFamily="34" charset="0"/>
            </a:endParaRPr>
          </a:p>
        </p:txBody>
      </p:sp>
      <p:sp>
        <p:nvSpPr>
          <p:cNvPr id="54" name="五边形 24">
            <a:extLst>
              <a:ext uri="{FF2B5EF4-FFF2-40B4-BE49-F238E27FC236}">
                <a16:creationId xmlns:a16="http://schemas.microsoft.com/office/drawing/2014/main" id="{66BA07AD-FEEF-4CB3-8D55-B5A235B0FBAC}"/>
              </a:ext>
            </a:extLst>
          </p:cNvPr>
          <p:cNvSpPr/>
          <p:nvPr/>
        </p:nvSpPr>
        <p:spPr bwMode="gray">
          <a:xfrm>
            <a:off x="8582133" y="124239"/>
            <a:ext cx="956654"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隧道建立</a:t>
            </a:r>
          </a:p>
        </p:txBody>
      </p:sp>
      <p:sp>
        <p:nvSpPr>
          <p:cNvPr id="55" name="燕尾形 26">
            <a:extLst>
              <a:ext uri="{FF2B5EF4-FFF2-40B4-BE49-F238E27FC236}">
                <a16:creationId xmlns:a16="http://schemas.microsoft.com/office/drawing/2014/main" id="{0C19331F-8FCC-488E-9C32-A3F774208D1E}"/>
              </a:ext>
            </a:extLst>
          </p:cNvPr>
          <p:cNvSpPr/>
          <p:nvPr/>
        </p:nvSpPr>
        <p:spPr bwMode="gray">
          <a:xfrm>
            <a:off x="10636771" y="124239"/>
            <a:ext cx="1079024"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数据帧转发</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燕尾形 26">
            <a:extLst>
              <a:ext uri="{FF2B5EF4-FFF2-40B4-BE49-F238E27FC236}">
                <a16:creationId xmlns:a16="http://schemas.microsoft.com/office/drawing/2014/main" id="{5C797163-D6D3-4ACC-996D-421D87F18D19}"/>
              </a:ext>
            </a:extLst>
          </p:cNvPr>
          <p:cNvSpPr/>
          <p:nvPr/>
        </p:nvSpPr>
        <p:spPr bwMode="gray">
          <a:xfrm>
            <a:off x="9474257" y="124239"/>
            <a:ext cx="1227043"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地址学习</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8455823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任意多边形 100"/>
          <p:cNvSpPr/>
          <p:nvPr/>
        </p:nvSpPr>
        <p:spPr bwMode="gray">
          <a:xfrm flipH="1">
            <a:off x="6043509" y="2835246"/>
            <a:ext cx="3298060" cy="841077"/>
          </a:xfrm>
          <a:custGeom>
            <a:avLst/>
            <a:gdLst>
              <a:gd name="connsiteX0" fmla="*/ 177800 w 1104900"/>
              <a:gd name="connsiteY0" fmla="*/ 0 h 444500"/>
              <a:gd name="connsiteX1" fmla="*/ 660400 w 1104900"/>
              <a:gd name="connsiteY1" fmla="*/ 0 h 444500"/>
              <a:gd name="connsiteX2" fmla="*/ 1104900 w 1104900"/>
              <a:gd name="connsiteY2" fmla="*/ 444500 h 444500"/>
              <a:gd name="connsiteX3" fmla="*/ 0 w 1104900"/>
              <a:gd name="connsiteY3" fmla="*/ 444500 h 444500"/>
              <a:gd name="connsiteX0" fmla="*/ 177800 w 1104900"/>
              <a:gd name="connsiteY0" fmla="*/ 0 h 444500"/>
              <a:gd name="connsiteX1" fmla="*/ 660400 w 1104900"/>
              <a:gd name="connsiteY1" fmla="*/ 0 h 444500"/>
              <a:gd name="connsiteX2" fmla="*/ 1104900 w 1104900"/>
              <a:gd name="connsiteY2" fmla="*/ 444500 h 444500"/>
              <a:gd name="connsiteX3" fmla="*/ 0 w 1104900"/>
              <a:gd name="connsiteY3" fmla="*/ 444500 h 444500"/>
              <a:gd name="connsiteX4" fmla="*/ 177800 w 1104900"/>
              <a:gd name="connsiteY4" fmla="*/ 0 h 444500"/>
              <a:gd name="connsiteX0" fmla="*/ 73025 w 1104900"/>
              <a:gd name="connsiteY0" fmla="*/ 0 h 687388"/>
              <a:gd name="connsiteX1" fmla="*/ 660400 w 1104900"/>
              <a:gd name="connsiteY1" fmla="*/ 242888 h 687388"/>
              <a:gd name="connsiteX2" fmla="*/ 1104900 w 1104900"/>
              <a:gd name="connsiteY2" fmla="*/ 687388 h 687388"/>
              <a:gd name="connsiteX3" fmla="*/ 0 w 1104900"/>
              <a:gd name="connsiteY3" fmla="*/ 687388 h 687388"/>
              <a:gd name="connsiteX4" fmla="*/ 73025 w 1104900"/>
              <a:gd name="connsiteY4" fmla="*/ 0 h 687388"/>
              <a:gd name="connsiteX0" fmla="*/ 73025 w 1104900"/>
              <a:gd name="connsiteY0" fmla="*/ 0 h 687388"/>
              <a:gd name="connsiteX1" fmla="*/ 1010443 w 1104900"/>
              <a:gd name="connsiteY1" fmla="*/ 0 h 687388"/>
              <a:gd name="connsiteX2" fmla="*/ 1104900 w 1104900"/>
              <a:gd name="connsiteY2" fmla="*/ 687388 h 687388"/>
              <a:gd name="connsiteX3" fmla="*/ 0 w 1104900"/>
              <a:gd name="connsiteY3" fmla="*/ 687388 h 687388"/>
              <a:gd name="connsiteX4" fmla="*/ 73025 w 1104900"/>
              <a:gd name="connsiteY4" fmla="*/ 0 h 687388"/>
              <a:gd name="connsiteX0" fmla="*/ 73025 w 1010443"/>
              <a:gd name="connsiteY0" fmla="*/ 0 h 687388"/>
              <a:gd name="connsiteX1" fmla="*/ 1010443 w 1010443"/>
              <a:gd name="connsiteY1" fmla="*/ 0 h 687388"/>
              <a:gd name="connsiteX2" fmla="*/ 0 w 1010443"/>
              <a:gd name="connsiteY2" fmla="*/ 687388 h 687388"/>
              <a:gd name="connsiteX3" fmla="*/ 73025 w 1010443"/>
              <a:gd name="connsiteY3" fmla="*/ 0 h 687388"/>
              <a:gd name="connsiteX0" fmla="*/ 127794 w 1065212"/>
              <a:gd name="connsiteY0" fmla="*/ 0 h 661195"/>
              <a:gd name="connsiteX1" fmla="*/ 1065212 w 1065212"/>
              <a:gd name="connsiteY1" fmla="*/ 0 h 661195"/>
              <a:gd name="connsiteX2" fmla="*/ 0 w 1065212"/>
              <a:gd name="connsiteY2" fmla="*/ 661195 h 661195"/>
              <a:gd name="connsiteX3" fmla="*/ 127794 w 1065212"/>
              <a:gd name="connsiteY3" fmla="*/ 0 h 661195"/>
              <a:gd name="connsiteX0" fmla="*/ 118269 w 1055687"/>
              <a:gd name="connsiteY0" fmla="*/ 0 h 604045"/>
              <a:gd name="connsiteX1" fmla="*/ 1055687 w 1055687"/>
              <a:gd name="connsiteY1" fmla="*/ 0 h 604045"/>
              <a:gd name="connsiteX2" fmla="*/ 0 w 1055687"/>
              <a:gd name="connsiteY2" fmla="*/ 604045 h 604045"/>
              <a:gd name="connsiteX3" fmla="*/ 118269 w 1055687"/>
              <a:gd name="connsiteY3" fmla="*/ 0 h 604045"/>
              <a:gd name="connsiteX0" fmla="*/ 0 w 3253414"/>
              <a:gd name="connsiteY0" fmla="*/ 0 h 616745"/>
              <a:gd name="connsiteX1" fmla="*/ 3253414 w 3253414"/>
              <a:gd name="connsiteY1" fmla="*/ 12700 h 616745"/>
              <a:gd name="connsiteX2" fmla="*/ 2197727 w 3253414"/>
              <a:gd name="connsiteY2" fmla="*/ 616745 h 616745"/>
              <a:gd name="connsiteX3" fmla="*/ 0 w 3253414"/>
              <a:gd name="connsiteY3" fmla="*/ 0 h 616745"/>
              <a:gd name="connsiteX0" fmla="*/ 0 w 3253414"/>
              <a:gd name="connsiteY0" fmla="*/ 0 h 1175545"/>
              <a:gd name="connsiteX1" fmla="*/ 3253414 w 3253414"/>
              <a:gd name="connsiteY1" fmla="*/ 12700 h 1175545"/>
              <a:gd name="connsiteX2" fmla="*/ 2284422 w 3253414"/>
              <a:gd name="connsiteY2" fmla="*/ 1175545 h 1175545"/>
              <a:gd name="connsiteX3" fmla="*/ 0 w 3253414"/>
              <a:gd name="connsiteY3" fmla="*/ 0 h 1175545"/>
              <a:gd name="connsiteX0" fmla="*/ 0 w 3216259"/>
              <a:gd name="connsiteY0" fmla="*/ 0 h 1175545"/>
              <a:gd name="connsiteX1" fmla="*/ 3216259 w 3216259"/>
              <a:gd name="connsiteY1" fmla="*/ 12700 h 1175545"/>
              <a:gd name="connsiteX2" fmla="*/ 2247267 w 3216259"/>
              <a:gd name="connsiteY2" fmla="*/ 1175545 h 1175545"/>
              <a:gd name="connsiteX3" fmla="*/ 0 w 3216259"/>
              <a:gd name="connsiteY3" fmla="*/ 0 h 1175545"/>
              <a:gd name="connsiteX0" fmla="*/ 0 w 3216259"/>
              <a:gd name="connsiteY0" fmla="*/ 0 h 1361811"/>
              <a:gd name="connsiteX1" fmla="*/ 3216259 w 3216259"/>
              <a:gd name="connsiteY1" fmla="*/ 12700 h 1361811"/>
              <a:gd name="connsiteX2" fmla="*/ 835376 w 3216259"/>
              <a:gd name="connsiteY2" fmla="*/ 1361811 h 1361811"/>
              <a:gd name="connsiteX3" fmla="*/ 0 w 3216259"/>
              <a:gd name="connsiteY3" fmla="*/ 0 h 1361811"/>
              <a:gd name="connsiteX0" fmla="*/ 0 w 3216259"/>
              <a:gd name="connsiteY0" fmla="*/ 0 h 1378744"/>
              <a:gd name="connsiteX1" fmla="*/ 3216259 w 3216259"/>
              <a:gd name="connsiteY1" fmla="*/ 12700 h 1378744"/>
              <a:gd name="connsiteX2" fmla="*/ 1256467 w 3216259"/>
              <a:gd name="connsiteY2" fmla="*/ 1378744 h 1378744"/>
              <a:gd name="connsiteX3" fmla="*/ 0 w 3216259"/>
              <a:gd name="connsiteY3" fmla="*/ 0 h 1378744"/>
            </a:gdLst>
            <a:ahLst/>
            <a:cxnLst>
              <a:cxn ang="0">
                <a:pos x="connsiteX0" y="connsiteY0"/>
              </a:cxn>
              <a:cxn ang="0">
                <a:pos x="connsiteX1" y="connsiteY1"/>
              </a:cxn>
              <a:cxn ang="0">
                <a:pos x="connsiteX2" y="connsiteY2"/>
              </a:cxn>
              <a:cxn ang="0">
                <a:pos x="connsiteX3" y="connsiteY3"/>
              </a:cxn>
            </a:cxnLst>
            <a:rect l="l" t="t" r="r" b="b"/>
            <a:pathLst>
              <a:path w="3216259" h="1378744">
                <a:moveTo>
                  <a:pt x="0" y="0"/>
                </a:moveTo>
                <a:lnTo>
                  <a:pt x="3216259" y="12700"/>
                </a:lnTo>
                <a:lnTo>
                  <a:pt x="1256467" y="1378744"/>
                </a:lnTo>
                <a:lnTo>
                  <a:pt x="0" y="0"/>
                </a:lnTo>
                <a:close/>
              </a:path>
            </a:pathLst>
          </a:custGeom>
          <a:gradFill flip="none" rotWithShape="1">
            <a:gsLst>
              <a:gs pos="0">
                <a:schemeClr val="bg1"/>
              </a:gs>
              <a:gs pos="100000">
                <a:schemeClr val="bg1">
                  <a:lumMod val="85000"/>
                </a:schemeClr>
              </a:gs>
            </a:gsLst>
            <a:lin ang="16200000" scaled="1"/>
            <a:tileRect/>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任意多边形 97"/>
          <p:cNvSpPr/>
          <p:nvPr/>
        </p:nvSpPr>
        <p:spPr bwMode="gray">
          <a:xfrm flipH="1" flipV="1">
            <a:off x="6271432" y="4318321"/>
            <a:ext cx="3298060" cy="1047707"/>
          </a:xfrm>
          <a:custGeom>
            <a:avLst/>
            <a:gdLst>
              <a:gd name="connsiteX0" fmla="*/ 177800 w 1104900"/>
              <a:gd name="connsiteY0" fmla="*/ 0 h 444500"/>
              <a:gd name="connsiteX1" fmla="*/ 660400 w 1104900"/>
              <a:gd name="connsiteY1" fmla="*/ 0 h 444500"/>
              <a:gd name="connsiteX2" fmla="*/ 1104900 w 1104900"/>
              <a:gd name="connsiteY2" fmla="*/ 444500 h 444500"/>
              <a:gd name="connsiteX3" fmla="*/ 0 w 1104900"/>
              <a:gd name="connsiteY3" fmla="*/ 444500 h 444500"/>
              <a:gd name="connsiteX0" fmla="*/ 177800 w 1104900"/>
              <a:gd name="connsiteY0" fmla="*/ 0 h 444500"/>
              <a:gd name="connsiteX1" fmla="*/ 660400 w 1104900"/>
              <a:gd name="connsiteY1" fmla="*/ 0 h 444500"/>
              <a:gd name="connsiteX2" fmla="*/ 1104900 w 1104900"/>
              <a:gd name="connsiteY2" fmla="*/ 444500 h 444500"/>
              <a:gd name="connsiteX3" fmla="*/ 0 w 1104900"/>
              <a:gd name="connsiteY3" fmla="*/ 444500 h 444500"/>
              <a:gd name="connsiteX4" fmla="*/ 177800 w 1104900"/>
              <a:gd name="connsiteY4" fmla="*/ 0 h 444500"/>
              <a:gd name="connsiteX0" fmla="*/ 73025 w 1104900"/>
              <a:gd name="connsiteY0" fmla="*/ 0 h 687388"/>
              <a:gd name="connsiteX1" fmla="*/ 660400 w 1104900"/>
              <a:gd name="connsiteY1" fmla="*/ 242888 h 687388"/>
              <a:gd name="connsiteX2" fmla="*/ 1104900 w 1104900"/>
              <a:gd name="connsiteY2" fmla="*/ 687388 h 687388"/>
              <a:gd name="connsiteX3" fmla="*/ 0 w 1104900"/>
              <a:gd name="connsiteY3" fmla="*/ 687388 h 687388"/>
              <a:gd name="connsiteX4" fmla="*/ 73025 w 1104900"/>
              <a:gd name="connsiteY4" fmla="*/ 0 h 687388"/>
              <a:gd name="connsiteX0" fmla="*/ 73025 w 1104900"/>
              <a:gd name="connsiteY0" fmla="*/ 0 h 687388"/>
              <a:gd name="connsiteX1" fmla="*/ 1010443 w 1104900"/>
              <a:gd name="connsiteY1" fmla="*/ 0 h 687388"/>
              <a:gd name="connsiteX2" fmla="*/ 1104900 w 1104900"/>
              <a:gd name="connsiteY2" fmla="*/ 687388 h 687388"/>
              <a:gd name="connsiteX3" fmla="*/ 0 w 1104900"/>
              <a:gd name="connsiteY3" fmla="*/ 687388 h 687388"/>
              <a:gd name="connsiteX4" fmla="*/ 73025 w 1104900"/>
              <a:gd name="connsiteY4" fmla="*/ 0 h 687388"/>
              <a:gd name="connsiteX0" fmla="*/ 73025 w 1010443"/>
              <a:gd name="connsiteY0" fmla="*/ 0 h 687388"/>
              <a:gd name="connsiteX1" fmla="*/ 1010443 w 1010443"/>
              <a:gd name="connsiteY1" fmla="*/ 0 h 687388"/>
              <a:gd name="connsiteX2" fmla="*/ 0 w 1010443"/>
              <a:gd name="connsiteY2" fmla="*/ 687388 h 687388"/>
              <a:gd name="connsiteX3" fmla="*/ 73025 w 1010443"/>
              <a:gd name="connsiteY3" fmla="*/ 0 h 687388"/>
              <a:gd name="connsiteX0" fmla="*/ 127794 w 1065212"/>
              <a:gd name="connsiteY0" fmla="*/ 0 h 661195"/>
              <a:gd name="connsiteX1" fmla="*/ 1065212 w 1065212"/>
              <a:gd name="connsiteY1" fmla="*/ 0 h 661195"/>
              <a:gd name="connsiteX2" fmla="*/ 0 w 1065212"/>
              <a:gd name="connsiteY2" fmla="*/ 661195 h 661195"/>
              <a:gd name="connsiteX3" fmla="*/ 127794 w 1065212"/>
              <a:gd name="connsiteY3" fmla="*/ 0 h 661195"/>
              <a:gd name="connsiteX0" fmla="*/ 118269 w 1055687"/>
              <a:gd name="connsiteY0" fmla="*/ 0 h 604045"/>
              <a:gd name="connsiteX1" fmla="*/ 1055687 w 1055687"/>
              <a:gd name="connsiteY1" fmla="*/ 0 h 604045"/>
              <a:gd name="connsiteX2" fmla="*/ 0 w 1055687"/>
              <a:gd name="connsiteY2" fmla="*/ 604045 h 604045"/>
              <a:gd name="connsiteX3" fmla="*/ 118269 w 1055687"/>
              <a:gd name="connsiteY3" fmla="*/ 0 h 604045"/>
              <a:gd name="connsiteX0" fmla="*/ 0 w 3253414"/>
              <a:gd name="connsiteY0" fmla="*/ 0 h 616745"/>
              <a:gd name="connsiteX1" fmla="*/ 3253414 w 3253414"/>
              <a:gd name="connsiteY1" fmla="*/ 12700 h 616745"/>
              <a:gd name="connsiteX2" fmla="*/ 2197727 w 3253414"/>
              <a:gd name="connsiteY2" fmla="*/ 616745 h 616745"/>
              <a:gd name="connsiteX3" fmla="*/ 0 w 3253414"/>
              <a:gd name="connsiteY3" fmla="*/ 0 h 616745"/>
              <a:gd name="connsiteX0" fmla="*/ 0 w 3253414"/>
              <a:gd name="connsiteY0" fmla="*/ 0 h 1175545"/>
              <a:gd name="connsiteX1" fmla="*/ 3253414 w 3253414"/>
              <a:gd name="connsiteY1" fmla="*/ 12700 h 1175545"/>
              <a:gd name="connsiteX2" fmla="*/ 2284422 w 3253414"/>
              <a:gd name="connsiteY2" fmla="*/ 1175545 h 1175545"/>
              <a:gd name="connsiteX3" fmla="*/ 0 w 3253414"/>
              <a:gd name="connsiteY3" fmla="*/ 0 h 1175545"/>
              <a:gd name="connsiteX0" fmla="*/ 0 w 3216259"/>
              <a:gd name="connsiteY0" fmla="*/ 0 h 1175545"/>
              <a:gd name="connsiteX1" fmla="*/ 3216259 w 3216259"/>
              <a:gd name="connsiteY1" fmla="*/ 12700 h 1175545"/>
              <a:gd name="connsiteX2" fmla="*/ 2247267 w 3216259"/>
              <a:gd name="connsiteY2" fmla="*/ 1175545 h 1175545"/>
              <a:gd name="connsiteX3" fmla="*/ 0 w 3216259"/>
              <a:gd name="connsiteY3" fmla="*/ 0 h 1175545"/>
              <a:gd name="connsiteX0" fmla="*/ 0 w 3216259"/>
              <a:gd name="connsiteY0" fmla="*/ 0 h 1361811"/>
              <a:gd name="connsiteX1" fmla="*/ 3216259 w 3216259"/>
              <a:gd name="connsiteY1" fmla="*/ 12700 h 1361811"/>
              <a:gd name="connsiteX2" fmla="*/ 835376 w 3216259"/>
              <a:gd name="connsiteY2" fmla="*/ 1361811 h 1361811"/>
              <a:gd name="connsiteX3" fmla="*/ 0 w 3216259"/>
              <a:gd name="connsiteY3" fmla="*/ 0 h 1361811"/>
              <a:gd name="connsiteX0" fmla="*/ 0 w 3216259"/>
              <a:gd name="connsiteY0" fmla="*/ 0 h 1378744"/>
              <a:gd name="connsiteX1" fmla="*/ 3216259 w 3216259"/>
              <a:gd name="connsiteY1" fmla="*/ 12700 h 1378744"/>
              <a:gd name="connsiteX2" fmla="*/ 1256467 w 3216259"/>
              <a:gd name="connsiteY2" fmla="*/ 1378744 h 1378744"/>
              <a:gd name="connsiteX3" fmla="*/ 0 w 3216259"/>
              <a:gd name="connsiteY3" fmla="*/ 0 h 1378744"/>
            </a:gdLst>
            <a:ahLst/>
            <a:cxnLst>
              <a:cxn ang="0">
                <a:pos x="connsiteX0" y="connsiteY0"/>
              </a:cxn>
              <a:cxn ang="0">
                <a:pos x="connsiteX1" y="connsiteY1"/>
              </a:cxn>
              <a:cxn ang="0">
                <a:pos x="connsiteX2" y="connsiteY2"/>
              </a:cxn>
              <a:cxn ang="0">
                <a:pos x="connsiteX3" y="connsiteY3"/>
              </a:cxn>
            </a:cxnLst>
            <a:rect l="l" t="t" r="r" b="b"/>
            <a:pathLst>
              <a:path w="3216259" h="1378744">
                <a:moveTo>
                  <a:pt x="0" y="0"/>
                </a:moveTo>
                <a:lnTo>
                  <a:pt x="3216259" y="12700"/>
                </a:lnTo>
                <a:lnTo>
                  <a:pt x="1256467" y="1378744"/>
                </a:lnTo>
                <a:lnTo>
                  <a:pt x="0" y="0"/>
                </a:lnTo>
                <a:close/>
              </a:path>
            </a:pathLst>
          </a:custGeom>
          <a:gradFill flip="none" rotWithShape="1">
            <a:gsLst>
              <a:gs pos="0">
                <a:schemeClr val="bg1"/>
              </a:gs>
              <a:gs pos="100000">
                <a:schemeClr val="bg1">
                  <a:lumMod val="85000"/>
                </a:schemeClr>
              </a:gs>
            </a:gsLst>
            <a:lin ang="16200000" scaled="1"/>
            <a:tileRect/>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任意多边形 95"/>
          <p:cNvSpPr/>
          <p:nvPr/>
        </p:nvSpPr>
        <p:spPr bwMode="gray">
          <a:xfrm flipH="1" flipV="1">
            <a:off x="2843148" y="4103011"/>
            <a:ext cx="3298060" cy="1047707"/>
          </a:xfrm>
          <a:custGeom>
            <a:avLst/>
            <a:gdLst>
              <a:gd name="connsiteX0" fmla="*/ 177800 w 1104900"/>
              <a:gd name="connsiteY0" fmla="*/ 0 h 444500"/>
              <a:gd name="connsiteX1" fmla="*/ 660400 w 1104900"/>
              <a:gd name="connsiteY1" fmla="*/ 0 h 444500"/>
              <a:gd name="connsiteX2" fmla="*/ 1104900 w 1104900"/>
              <a:gd name="connsiteY2" fmla="*/ 444500 h 444500"/>
              <a:gd name="connsiteX3" fmla="*/ 0 w 1104900"/>
              <a:gd name="connsiteY3" fmla="*/ 444500 h 444500"/>
              <a:gd name="connsiteX0" fmla="*/ 177800 w 1104900"/>
              <a:gd name="connsiteY0" fmla="*/ 0 h 444500"/>
              <a:gd name="connsiteX1" fmla="*/ 660400 w 1104900"/>
              <a:gd name="connsiteY1" fmla="*/ 0 h 444500"/>
              <a:gd name="connsiteX2" fmla="*/ 1104900 w 1104900"/>
              <a:gd name="connsiteY2" fmla="*/ 444500 h 444500"/>
              <a:gd name="connsiteX3" fmla="*/ 0 w 1104900"/>
              <a:gd name="connsiteY3" fmla="*/ 444500 h 444500"/>
              <a:gd name="connsiteX4" fmla="*/ 177800 w 1104900"/>
              <a:gd name="connsiteY4" fmla="*/ 0 h 444500"/>
              <a:gd name="connsiteX0" fmla="*/ 73025 w 1104900"/>
              <a:gd name="connsiteY0" fmla="*/ 0 h 687388"/>
              <a:gd name="connsiteX1" fmla="*/ 660400 w 1104900"/>
              <a:gd name="connsiteY1" fmla="*/ 242888 h 687388"/>
              <a:gd name="connsiteX2" fmla="*/ 1104900 w 1104900"/>
              <a:gd name="connsiteY2" fmla="*/ 687388 h 687388"/>
              <a:gd name="connsiteX3" fmla="*/ 0 w 1104900"/>
              <a:gd name="connsiteY3" fmla="*/ 687388 h 687388"/>
              <a:gd name="connsiteX4" fmla="*/ 73025 w 1104900"/>
              <a:gd name="connsiteY4" fmla="*/ 0 h 687388"/>
              <a:gd name="connsiteX0" fmla="*/ 73025 w 1104900"/>
              <a:gd name="connsiteY0" fmla="*/ 0 h 687388"/>
              <a:gd name="connsiteX1" fmla="*/ 1010443 w 1104900"/>
              <a:gd name="connsiteY1" fmla="*/ 0 h 687388"/>
              <a:gd name="connsiteX2" fmla="*/ 1104900 w 1104900"/>
              <a:gd name="connsiteY2" fmla="*/ 687388 h 687388"/>
              <a:gd name="connsiteX3" fmla="*/ 0 w 1104900"/>
              <a:gd name="connsiteY3" fmla="*/ 687388 h 687388"/>
              <a:gd name="connsiteX4" fmla="*/ 73025 w 1104900"/>
              <a:gd name="connsiteY4" fmla="*/ 0 h 687388"/>
              <a:gd name="connsiteX0" fmla="*/ 73025 w 1010443"/>
              <a:gd name="connsiteY0" fmla="*/ 0 h 687388"/>
              <a:gd name="connsiteX1" fmla="*/ 1010443 w 1010443"/>
              <a:gd name="connsiteY1" fmla="*/ 0 h 687388"/>
              <a:gd name="connsiteX2" fmla="*/ 0 w 1010443"/>
              <a:gd name="connsiteY2" fmla="*/ 687388 h 687388"/>
              <a:gd name="connsiteX3" fmla="*/ 73025 w 1010443"/>
              <a:gd name="connsiteY3" fmla="*/ 0 h 687388"/>
              <a:gd name="connsiteX0" fmla="*/ 127794 w 1065212"/>
              <a:gd name="connsiteY0" fmla="*/ 0 h 661195"/>
              <a:gd name="connsiteX1" fmla="*/ 1065212 w 1065212"/>
              <a:gd name="connsiteY1" fmla="*/ 0 h 661195"/>
              <a:gd name="connsiteX2" fmla="*/ 0 w 1065212"/>
              <a:gd name="connsiteY2" fmla="*/ 661195 h 661195"/>
              <a:gd name="connsiteX3" fmla="*/ 127794 w 1065212"/>
              <a:gd name="connsiteY3" fmla="*/ 0 h 661195"/>
              <a:gd name="connsiteX0" fmla="*/ 118269 w 1055687"/>
              <a:gd name="connsiteY0" fmla="*/ 0 h 604045"/>
              <a:gd name="connsiteX1" fmla="*/ 1055687 w 1055687"/>
              <a:gd name="connsiteY1" fmla="*/ 0 h 604045"/>
              <a:gd name="connsiteX2" fmla="*/ 0 w 1055687"/>
              <a:gd name="connsiteY2" fmla="*/ 604045 h 604045"/>
              <a:gd name="connsiteX3" fmla="*/ 118269 w 1055687"/>
              <a:gd name="connsiteY3" fmla="*/ 0 h 604045"/>
              <a:gd name="connsiteX0" fmla="*/ 0 w 3253414"/>
              <a:gd name="connsiteY0" fmla="*/ 0 h 616745"/>
              <a:gd name="connsiteX1" fmla="*/ 3253414 w 3253414"/>
              <a:gd name="connsiteY1" fmla="*/ 12700 h 616745"/>
              <a:gd name="connsiteX2" fmla="*/ 2197727 w 3253414"/>
              <a:gd name="connsiteY2" fmla="*/ 616745 h 616745"/>
              <a:gd name="connsiteX3" fmla="*/ 0 w 3253414"/>
              <a:gd name="connsiteY3" fmla="*/ 0 h 616745"/>
              <a:gd name="connsiteX0" fmla="*/ 0 w 3253414"/>
              <a:gd name="connsiteY0" fmla="*/ 0 h 1175545"/>
              <a:gd name="connsiteX1" fmla="*/ 3253414 w 3253414"/>
              <a:gd name="connsiteY1" fmla="*/ 12700 h 1175545"/>
              <a:gd name="connsiteX2" fmla="*/ 2284422 w 3253414"/>
              <a:gd name="connsiteY2" fmla="*/ 1175545 h 1175545"/>
              <a:gd name="connsiteX3" fmla="*/ 0 w 3253414"/>
              <a:gd name="connsiteY3" fmla="*/ 0 h 1175545"/>
              <a:gd name="connsiteX0" fmla="*/ 0 w 3216259"/>
              <a:gd name="connsiteY0" fmla="*/ 0 h 1175545"/>
              <a:gd name="connsiteX1" fmla="*/ 3216259 w 3216259"/>
              <a:gd name="connsiteY1" fmla="*/ 12700 h 1175545"/>
              <a:gd name="connsiteX2" fmla="*/ 2247267 w 3216259"/>
              <a:gd name="connsiteY2" fmla="*/ 1175545 h 1175545"/>
              <a:gd name="connsiteX3" fmla="*/ 0 w 3216259"/>
              <a:gd name="connsiteY3" fmla="*/ 0 h 1175545"/>
              <a:gd name="connsiteX0" fmla="*/ 0 w 3216259"/>
              <a:gd name="connsiteY0" fmla="*/ 0 h 1361811"/>
              <a:gd name="connsiteX1" fmla="*/ 3216259 w 3216259"/>
              <a:gd name="connsiteY1" fmla="*/ 12700 h 1361811"/>
              <a:gd name="connsiteX2" fmla="*/ 835376 w 3216259"/>
              <a:gd name="connsiteY2" fmla="*/ 1361811 h 1361811"/>
              <a:gd name="connsiteX3" fmla="*/ 0 w 3216259"/>
              <a:gd name="connsiteY3" fmla="*/ 0 h 1361811"/>
              <a:gd name="connsiteX0" fmla="*/ 0 w 3216259"/>
              <a:gd name="connsiteY0" fmla="*/ 0 h 1378744"/>
              <a:gd name="connsiteX1" fmla="*/ 3216259 w 3216259"/>
              <a:gd name="connsiteY1" fmla="*/ 12700 h 1378744"/>
              <a:gd name="connsiteX2" fmla="*/ 1256467 w 3216259"/>
              <a:gd name="connsiteY2" fmla="*/ 1378744 h 1378744"/>
              <a:gd name="connsiteX3" fmla="*/ 0 w 3216259"/>
              <a:gd name="connsiteY3" fmla="*/ 0 h 1378744"/>
            </a:gdLst>
            <a:ahLst/>
            <a:cxnLst>
              <a:cxn ang="0">
                <a:pos x="connsiteX0" y="connsiteY0"/>
              </a:cxn>
              <a:cxn ang="0">
                <a:pos x="connsiteX1" y="connsiteY1"/>
              </a:cxn>
              <a:cxn ang="0">
                <a:pos x="connsiteX2" y="connsiteY2"/>
              </a:cxn>
              <a:cxn ang="0">
                <a:pos x="connsiteX3" y="connsiteY3"/>
              </a:cxn>
            </a:cxnLst>
            <a:rect l="l" t="t" r="r" b="b"/>
            <a:pathLst>
              <a:path w="3216259" h="1378744">
                <a:moveTo>
                  <a:pt x="0" y="0"/>
                </a:moveTo>
                <a:lnTo>
                  <a:pt x="3216259" y="12700"/>
                </a:lnTo>
                <a:lnTo>
                  <a:pt x="1256467" y="1378744"/>
                </a:lnTo>
                <a:lnTo>
                  <a:pt x="0" y="0"/>
                </a:lnTo>
                <a:close/>
              </a:path>
            </a:pathLst>
          </a:custGeom>
          <a:gradFill flip="none" rotWithShape="1">
            <a:gsLst>
              <a:gs pos="0">
                <a:schemeClr val="bg1"/>
              </a:gs>
              <a:gs pos="100000">
                <a:schemeClr val="bg1">
                  <a:lumMod val="85000"/>
                </a:schemeClr>
              </a:gs>
            </a:gsLst>
            <a:lin ang="16200000" scaled="1"/>
            <a:tileRect/>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任意多边形 9"/>
          <p:cNvSpPr/>
          <p:nvPr/>
        </p:nvSpPr>
        <p:spPr bwMode="gray">
          <a:xfrm>
            <a:off x="2267529" y="3884170"/>
            <a:ext cx="2224647" cy="153304"/>
          </a:xfrm>
          <a:custGeom>
            <a:avLst/>
            <a:gdLst>
              <a:gd name="connsiteX0" fmla="*/ 1447800 w 1447800"/>
              <a:gd name="connsiteY0" fmla="*/ 171450 h 171450"/>
              <a:gd name="connsiteX1" fmla="*/ 0 w 1447800"/>
              <a:gd name="connsiteY1" fmla="*/ 171450 h 171450"/>
              <a:gd name="connsiteX2" fmla="*/ 0 w 1447800"/>
              <a:gd name="connsiteY2" fmla="*/ 0 h 171450"/>
            </a:gdLst>
            <a:ahLst/>
            <a:cxnLst>
              <a:cxn ang="0">
                <a:pos x="connsiteX0" y="connsiteY0"/>
              </a:cxn>
              <a:cxn ang="0">
                <a:pos x="connsiteX1" y="connsiteY1"/>
              </a:cxn>
              <a:cxn ang="0">
                <a:pos x="connsiteX2" y="connsiteY2"/>
              </a:cxn>
            </a:cxnLst>
            <a:rect l="l" t="t" r="r" b="b"/>
            <a:pathLst>
              <a:path w="1447800" h="171450">
                <a:moveTo>
                  <a:pt x="1447800" y="171450"/>
                </a:moveTo>
                <a:lnTo>
                  <a:pt x="0" y="171450"/>
                </a:lnTo>
                <a:lnTo>
                  <a:pt x="0" y="0"/>
                </a:ln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任意多边形 77"/>
          <p:cNvSpPr/>
          <p:nvPr/>
        </p:nvSpPr>
        <p:spPr bwMode="gray">
          <a:xfrm flipV="1">
            <a:off x="2267529" y="4201780"/>
            <a:ext cx="2224649" cy="238918"/>
          </a:xfrm>
          <a:custGeom>
            <a:avLst/>
            <a:gdLst>
              <a:gd name="connsiteX0" fmla="*/ 1447800 w 1447800"/>
              <a:gd name="connsiteY0" fmla="*/ 171450 h 171450"/>
              <a:gd name="connsiteX1" fmla="*/ 0 w 1447800"/>
              <a:gd name="connsiteY1" fmla="*/ 171450 h 171450"/>
              <a:gd name="connsiteX2" fmla="*/ 0 w 1447800"/>
              <a:gd name="connsiteY2" fmla="*/ 0 h 171450"/>
            </a:gdLst>
            <a:ahLst/>
            <a:cxnLst>
              <a:cxn ang="0">
                <a:pos x="connsiteX0" y="connsiteY0"/>
              </a:cxn>
              <a:cxn ang="0">
                <a:pos x="connsiteX1" y="connsiteY1"/>
              </a:cxn>
              <a:cxn ang="0">
                <a:pos x="connsiteX2" y="connsiteY2"/>
              </a:cxn>
            </a:cxnLst>
            <a:rect l="l" t="t" r="r" b="b"/>
            <a:pathLst>
              <a:path w="1447800" h="171450">
                <a:moveTo>
                  <a:pt x="1447800" y="171450"/>
                </a:moveTo>
                <a:lnTo>
                  <a:pt x="0" y="171450"/>
                </a:lnTo>
                <a:lnTo>
                  <a:pt x="0" y="0"/>
                </a:ln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Freeform 159"/>
          <p:cNvSpPr/>
          <p:nvPr/>
        </p:nvSpPr>
        <p:spPr bwMode="gray">
          <a:xfrm flipH="1">
            <a:off x="4743587" y="3067837"/>
            <a:ext cx="3457500" cy="148169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94DAE2">
              <a:alpha val="34000"/>
            </a:srgbClr>
          </a:solidFill>
          <a:ln w="12700" cap="flat" cmpd="sng" algn="ctr">
            <a:noFill/>
            <a:prstDash val="solid"/>
            <a:miter lim="800000"/>
          </a:ln>
          <a:effectLst/>
        </p:spPr>
        <p:txBody>
          <a:bodyPr wrap="square" rtlCol="0" anchor="ctr">
            <a:noAutofit/>
          </a:bodyPr>
          <a:lstStyle/>
          <a:p>
            <a:pPr algn="ctr" defTabSz="1219170" fontAlgn="ctr"/>
            <a:endParaRPr lang="en-US" sz="2400"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标题 2"/>
          <p:cNvSpPr>
            <a:spLocks noGrp="1"/>
          </p:cNvSpPr>
          <p:nvPr>
            <p:ph type="title"/>
          </p:nvPr>
        </p:nvSpPr>
        <p:spPr bwMode="gray"/>
        <p:txBody>
          <a:bodyPr/>
          <a:lstStyle/>
          <a:p>
            <a:r>
              <a:rPr lang="zh-CN" altLang="en-US">
                <a:sym typeface="Huawei Sans" panose="020C0503030203020204" pitchFamily="34" charset="0"/>
              </a:rPr>
              <a:t>静态</a:t>
            </a:r>
            <a:r>
              <a:rPr lang="en-US" altLang="zh-CN">
                <a:sym typeface="Huawei Sans" panose="020C0503030203020204" pitchFamily="34" charset="0"/>
              </a:rPr>
              <a:t>VXLAN</a:t>
            </a:r>
            <a:r>
              <a:rPr lang="zh-CN" altLang="en-US">
                <a:sym typeface="Huawei Sans" panose="020C0503030203020204" pitchFamily="34" charset="0"/>
              </a:rPr>
              <a:t>隧道</a:t>
            </a:r>
            <a:endParaRPr lang="zh-CN" altLang="en-US" dirty="0">
              <a:sym typeface="Huawei Sans" panose="020C0503030203020204" pitchFamily="34" charset="0"/>
            </a:endParaRPr>
          </a:p>
        </p:txBody>
      </p:sp>
      <p:sp>
        <p:nvSpPr>
          <p:cNvPr id="5" name="文本占位符 4"/>
          <p:cNvSpPr>
            <a:spLocks noGrp="1"/>
          </p:cNvSpPr>
          <p:nvPr>
            <p:ph type="body" sz="quarter" idx="10"/>
          </p:nvPr>
        </p:nvSpPr>
        <p:spPr bwMode="gray">
          <a:xfrm>
            <a:off x="455613" y="1047750"/>
            <a:ext cx="11256962" cy="941935"/>
          </a:xfrm>
        </p:spPr>
        <p:txBody>
          <a:bodyPr/>
          <a:lstStyle/>
          <a:p>
            <a:r>
              <a:rPr lang="zh-CN" altLang="en-US" sz="1800" dirty="0">
                <a:sym typeface="Huawei Sans" panose="020C0503030203020204" pitchFamily="34" charset="0"/>
              </a:rPr>
              <a:t>静态</a:t>
            </a:r>
            <a:r>
              <a:rPr lang="en-US" altLang="zh-CN" sz="1800" dirty="0">
                <a:sym typeface="Huawei Sans" panose="020C0503030203020204" pitchFamily="34" charset="0"/>
              </a:rPr>
              <a:t>VXLAN</a:t>
            </a:r>
            <a:r>
              <a:rPr lang="zh-CN" altLang="en-US" sz="1800" dirty="0">
                <a:sym typeface="Huawei Sans" panose="020C0503030203020204" pitchFamily="34" charset="0"/>
              </a:rPr>
              <a:t>隧道并不是一个有状态的隧道（如</a:t>
            </a:r>
            <a:r>
              <a:rPr lang="en-US" altLang="zh-CN" sz="1800" dirty="0">
                <a:sym typeface="Huawei Sans" panose="020C0503030203020204" pitchFamily="34" charset="0"/>
              </a:rPr>
              <a:t>IPsec VPN</a:t>
            </a:r>
            <a:r>
              <a:rPr lang="zh-CN" altLang="en-US" sz="1800" dirty="0">
                <a:sym typeface="Huawei Sans" panose="020C0503030203020204" pitchFamily="34" charset="0"/>
              </a:rPr>
              <a:t>），只是数据传输时的隧道封装，类似于</a:t>
            </a:r>
            <a:r>
              <a:rPr lang="en-US" altLang="zh-CN" sz="1800" dirty="0">
                <a:sym typeface="Huawei Sans" panose="020C0503030203020204" pitchFamily="34" charset="0"/>
              </a:rPr>
              <a:t>GRE VPN</a:t>
            </a:r>
            <a:r>
              <a:rPr lang="zh-CN" altLang="en-US" sz="1800" dirty="0">
                <a:sym typeface="Huawei Sans" panose="020C0503030203020204" pitchFamily="34" charset="0"/>
              </a:rPr>
              <a:t>。</a:t>
            </a:r>
          </a:p>
          <a:p>
            <a:r>
              <a:rPr lang="zh-CN" altLang="en-US" sz="1800" dirty="0">
                <a:sym typeface="Huawei Sans" panose="020C0503030203020204" pitchFamily="34" charset="0"/>
              </a:rPr>
              <a:t>头端复制列表中的地址，即进行隧道封装传输时可封装的隧道目的地址。</a:t>
            </a:r>
          </a:p>
          <a:p>
            <a:endParaRPr lang="zh-CN" altLang="en-US" sz="1800" dirty="0">
              <a:sym typeface="Huawei Sans" panose="020C0503030203020204" pitchFamily="34" charset="0"/>
            </a:endParaRPr>
          </a:p>
        </p:txBody>
      </p:sp>
      <p:grpSp>
        <p:nvGrpSpPr>
          <p:cNvPr id="29" name="组合 28"/>
          <p:cNvGrpSpPr/>
          <p:nvPr/>
        </p:nvGrpSpPr>
        <p:grpSpPr bwMode="gray">
          <a:xfrm rot="10800000">
            <a:off x="4574757" y="4222820"/>
            <a:ext cx="337662" cy="277474"/>
            <a:chOff x="1149331" y="3370821"/>
            <a:chExt cx="598189" cy="335743"/>
          </a:xfrm>
        </p:grpSpPr>
        <p:cxnSp>
          <p:nvCxnSpPr>
            <p:cNvPr id="30" name="直接连接符 29"/>
            <p:cNvCxnSpPr/>
            <p:nvPr/>
          </p:nvCxnSpPr>
          <p:spPr bwMode="gray">
            <a:xfrm flipH="1">
              <a:off x="1149331" y="3370821"/>
              <a:ext cx="59818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bwMode="gray">
            <a:xfrm flipV="1">
              <a:off x="1448425" y="3370821"/>
              <a:ext cx="0" cy="3357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2" name="矩形 31"/>
          <p:cNvSpPr/>
          <p:nvPr/>
        </p:nvSpPr>
        <p:spPr bwMode="gray">
          <a:xfrm>
            <a:off x="4231268" y="4509623"/>
            <a:ext cx="1024640"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VTEP1</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1.1.1.1/32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3" name="组合 32"/>
          <p:cNvGrpSpPr/>
          <p:nvPr/>
        </p:nvGrpSpPr>
        <p:grpSpPr bwMode="gray">
          <a:xfrm rot="10800000">
            <a:off x="7790199" y="4634220"/>
            <a:ext cx="337662" cy="277474"/>
            <a:chOff x="1149331" y="3370821"/>
            <a:chExt cx="598189" cy="335743"/>
          </a:xfrm>
        </p:grpSpPr>
        <p:cxnSp>
          <p:nvCxnSpPr>
            <p:cNvPr id="34" name="直接连接符 33"/>
            <p:cNvCxnSpPr/>
            <p:nvPr/>
          </p:nvCxnSpPr>
          <p:spPr bwMode="gray">
            <a:xfrm flipH="1">
              <a:off x="1149331" y="3370821"/>
              <a:ext cx="59818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gray">
            <a:xfrm flipV="1">
              <a:off x="1448425" y="3370821"/>
              <a:ext cx="0" cy="3357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6" name="矩形 35"/>
          <p:cNvSpPr/>
          <p:nvPr/>
        </p:nvSpPr>
        <p:spPr bwMode="gray">
          <a:xfrm>
            <a:off x="7446711" y="4893315"/>
            <a:ext cx="1024639" cy="523220"/>
          </a:xfrm>
          <a:prstGeom prst="rect">
            <a:avLst/>
          </a:prstGeom>
        </p:spPr>
        <p:txBody>
          <a:bodyPr wrap="none">
            <a:spAutoFit/>
          </a:bodyPr>
          <a:lstStyle/>
          <a:p>
            <a:pPr algn="ct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VTEP2</a:t>
            </a:r>
          </a:p>
          <a:p>
            <a:pPr algn="ct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2.2.2.2/32</a:t>
            </a:r>
            <a:endPar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7" name="图片 87" descr="汇聚交换机.png"/>
          <p:cNvPicPr>
            <a:picLocks noChangeAspect="1"/>
          </p:cNvPicPr>
          <p:nvPr/>
        </p:nvPicPr>
        <p:blipFill>
          <a:blip r:embed="rId3"/>
          <a:stretch>
            <a:fillRect/>
          </a:stretch>
        </p:blipFill>
        <p:spPr bwMode="gray">
          <a:xfrm>
            <a:off x="4492178" y="3906921"/>
            <a:ext cx="502820" cy="411400"/>
          </a:xfrm>
          <a:prstGeom prst="rect">
            <a:avLst/>
          </a:prstGeom>
        </p:spPr>
      </p:pic>
      <p:grpSp>
        <p:nvGrpSpPr>
          <p:cNvPr id="8" name="组合 7"/>
          <p:cNvGrpSpPr/>
          <p:nvPr/>
        </p:nvGrpSpPr>
        <p:grpSpPr bwMode="gray">
          <a:xfrm>
            <a:off x="7790198" y="3339705"/>
            <a:ext cx="337662" cy="277474"/>
            <a:chOff x="7170494" y="3022832"/>
            <a:chExt cx="337662" cy="277474"/>
          </a:xfrm>
        </p:grpSpPr>
        <p:cxnSp>
          <p:nvCxnSpPr>
            <p:cNvPr id="61" name="直接连接符 60"/>
            <p:cNvCxnSpPr/>
            <p:nvPr/>
          </p:nvCxnSpPr>
          <p:spPr bwMode="gray">
            <a:xfrm rot="10800000" flipH="1">
              <a:off x="7170494" y="3022832"/>
              <a:ext cx="33766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bwMode="gray">
            <a:xfrm rot="10800000" flipV="1">
              <a:off x="7339325" y="3022832"/>
              <a:ext cx="0" cy="2774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3" name="矩形 62"/>
          <p:cNvSpPr/>
          <p:nvPr/>
        </p:nvSpPr>
        <p:spPr bwMode="gray">
          <a:xfrm>
            <a:off x="7446709" y="2816485"/>
            <a:ext cx="1024639"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VTEP3</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3.3.3.3/32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矩形 69"/>
          <p:cNvSpPr/>
          <p:nvPr/>
        </p:nvSpPr>
        <p:spPr bwMode="gray">
          <a:xfrm>
            <a:off x="1624638" y="2924802"/>
            <a:ext cx="1287532"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PC1</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172.16.1.1/24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1" name="图片 11" descr="开放网络-蓝.png"/>
          <p:cNvPicPr>
            <a:picLocks noChangeAspect="1"/>
          </p:cNvPicPr>
          <p:nvPr/>
        </p:nvPicPr>
        <p:blipFill>
          <a:blip r:embed="rId4" cstate="print"/>
          <a:stretch>
            <a:fillRect/>
          </a:stretch>
        </p:blipFill>
        <p:spPr bwMode="gray">
          <a:xfrm>
            <a:off x="2000698" y="3491540"/>
            <a:ext cx="539607" cy="415381"/>
          </a:xfrm>
          <a:prstGeom prst="rect">
            <a:avLst/>
          </a:prstGeom>
        </p:spPr>
      </p:pic>
      <p:sp>
        <p:nvSpPr>
          <p:cNvPr id="72" name="矩形 71"/>
          <p:cNvSpPr/>
          <p:nvPr/>
        </p:nvSpPr>
        <p:spPr bwMode="gray">
          <a:xfrm>
            <a:off x="1624635" y="4911695"/>
            <a:ext cx="1287532"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PC2</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172.16.2.2/24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3" name="图片 11" descr="开放网络-蓝.png"/>
          <p:cNvPicPr>
            <a:picLocks noChangeAspect="1"/>
          </p:cNvPicPr>
          <p:nvPr/>
        </p:nvPicPr>
        <p:blipFill>
          <a:blip r:embed="rId4" cstate="print"/>
          <a:stretch>
            <a:fillRect/>
          </a:stretch>
        </p:blipFill>
        <p:spPr bwMode="gray">
          <a:xfrm>
            <a:off x="2000698" y="4417518"/>
            <a:ext cx="539607" cy="415381"/>
          </a:xfrm>
          <a:prstGeom prst="rect">
            <a:avLst/>
          </a:prstGeom>
        </p:spPr>
      </p:pic>
      <p:sp>
        <p:nvSpPr>
          <p:cNvPr id="80" name="矩形 79"/>
          <p:cNvSpPr/>
          <p:nvPr/>
        </p:nvSpPr>
        <p:spPr bwMode="gray">
          <a:xfrm>
            <a:off x="9610931" y="2635060"/>
            <a:ext cx="1287532"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PC3</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172.16.1.3/24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1" name="图片 11" descr="开放网络-蓝.png"/>
          <p:cNvPicPr>
            <a:picLocks noChangeAspect="1"/>
          </p:cNvPicPr>
          <p:nvPr/>
        </p:nvPicPr>
        <p:blipFill>
          <a:blip r:embed="rId4" cstate="print"/>
          <a:stretch>
            <a:fillRect/>
          </a:stretch>
        </p:blipFill>
        <p:spPr bwMode="gray">
          <a:xfrm>
            <a:off x="10006501" y="3201798"/>
            <a:ext cx="539607" cy="415381"/>
          </a:xfrm>
          <a:prstGeom prst="rect">
            <a:avLst/>
          </a:prstGeom>
        </p:spPr>
      </p:pic>
      <p:sp>
        <p:nvSpPr>
          <p:cNvPr id="82" name="任意多边形 81"/>
          <p:cNvSpPr/>
          <p:nvPr/>
        </p:nvSpPr>
        <p:spPr bwMode="gray">
          <a:xfrm flipH="1">
            <a:off x="8175625" y="3594428"/>
            <a:ext cx="2100678" cy="171450"/>
          </a:xfrm>
          <a:custGeom>
            <a:avLst/>
            <a:gdLst>
              <a:gd name="connsiteX0" fmla="*/ 1447800 w 1447800"/>
              <a:gd name="connsiteY0" fmla="*/ 171450 h 171450"/>
              <a:gd name="connsiteX1" fmla="*/ 0 w 1447800"/>
              <a:gd name="connsiteY1" fmla="*/ 171450 h 171450"/>
              <a:gd name="connsiteX2" fmla="*/ 0 w 1447800"/>
              <a:gd name="connsiteY2" fmla="*/ 0 h 171450"/>
            </a:gdLst>
            <a:ahLst/>
            <a:cxnLst>
              <a:cxn ang="0">
                <a:pos x="connsiteX0" y="connsiteY0"/>
              </a:cxn>
              <a:cxn ang="0">
                <a:pos x="connsiteX1" y="connsiteY1"/>
              </a:cxn>
              <a:cxn ang="0">
                <a:pos x="connsiteX2" y="connsiteY2"/>
              </a:cxn>
            </a:cxnLst>
            <a:rect l="l" t="t" r="r" b="b"/>
            <a:pathLst>
              <a:path w="1447800" h="171450">
                <a:moveTo>
                  <a:pt x="1447800" y="171450"/>
                </a:moveTo>
                <a:lnTo>
                  <a:pt x="0" y="171450"/>
                </a:lnTo>
                <a:lnTo>
                  <a:pt x="0" y="0"/>
                </a:ln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矩形 83"/>
          <p:cNvSpPr/>
          <p:nvPr/>
        </p:nvSpPr>
        <p:spPr bwMode="gray">
          <a:xfrm>
            <a:off x="9655813" y="5150719"/>
            <a:ext cx="1287532"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172.16.2.4/24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5" name="图片 11" descr="开放网络-蓝.png"/>
          <p:cNvPicPr>
            <a:picLocks noChangeAspect="1"/>
          </p:cNvPicPr>
          <p:nvPr/>
        </p:nvPicPr>
        <p:blipFill>
          <a:blip r:embed="rId4" cstate="print"/>
          <a:stretch>
            <a:fillRect/>
          </a:stretch>
        </p:blipFill>
        <p:spPr bwMode="gray">
          <a:xfrm>
            <a:off x="10031876" y="4656542"/>
            <a:ext cx="539607" cy="415381"/>
          </a:xfrm>
          <a:prstGeom prst="rect">
            <a:avLst/>
          </a:prstGeom>
        </p:spPr>
      </p:pic>
      <p:sp>
        <p:nvSpPr>
          <p:cNvPr id="89" name="矩形 88"/>
          <p:cNvSpPr/>
          <p:nvPr/>
        </p:nvSpPr>
        <p:spPr bwMode="gray">
          <a:xfrm rot="15603">
            <a:off x="2541490" y="3444757"/>
            <a:ext cx="846707" cy="523220"/>
          </a:xfrm>
          <a:prstGeom prst="rect">
            <a:avLst/>
          </a:prstGeom>
        </p:spPr>
        <p:txBody>
          <a:bodyPr wrap="none">
            <a:spAutoFit/>
          </a:bodyPr>
          <a:lstStyle/>
          <a:p>
            <a:pPr algn="just"/>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BD 10</a:t>
            </a:r>
          </a:p>
          <a:p>
            <a:pPr algn="just"/>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VNI 100</a:t>
            </a:r>
            <a:endPar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矩形 90"/>
          <p:cNvSpPr/>
          <p:nvPr/>
        </p:nvSpPr>
        <p:spPr bwMode="gray">
          <a:xfrm rot="15603">
            <a:off x="2541488" y="4272413"/>
            <a:ext cx="846707" cy="523220"/>
          </a:xfrm>
          <a:prstGeom prst="rect">
            <a:avLst/>
          </a:prstGeom>
        </p:spPr>
        <p:txBody>
          <a:bodyPr wrap="none">
            <a:spAutoFit/>
          </a:bodyPr>
          <a:lstStyle/>
          <a:p>
            <a:pPr algn="just"/>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BD 20</a:t>
            </a:r>
          </a:p>
          <a:p>
            <a:pPr algn="just"/>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VNI 200</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矩形 91"/>
          <p:cNvSpPr/>
          <p:nvPr/>
        </p:nvSpPr>
        <p:spPr bwMode="gray">
          <a:xfrm rot="15603">
            <a:off x="9199601" y="3125548"/>
            <a:ext cx="846707" cy="523220"/>
          </a:xfrm>
          <a:prstGeom prst="rect">
            <a:avLst/>
          </a:prstGeom>
        </p:spPr>
        <p:txBody>
          <a:bodyPr wrap="none">
            <a:spAutoFit/>
          </a:bodyPr>
          <a:lstStyle/>
          <a:p>
            <a:pPr algn="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BD 10</a:t>
            </a:r>
          </a:p>
          <a:p>
            <a:pPr algn="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VNI 100</a:t>
            </a:r>
            <a:endPar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矩形 94"/>
          <p:cNvSpPr/>
          <p:nvPr/>
        </p:nvSpPr>
        <p:spPr bwMode="gray">
          <a:xfrm rot="15603">
            <a:off x="9199601" y="4540831"/>
            <a:ext cx="846707" cy="523220"/>
          </a:xfrm>
          <a:prstGeom prst="rect">
            <a:avLst/>
          </a:prstGeom>
        </p:spPr>
        <p:txBody>
          <a:bodyPr wrap="none">
            <a:spAutoFit/>
          </a:bodyPr>
          <a:lstStyle/>
          <a:p>
            <a:pPr algn="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BD 20</a:t>
            </a:r>
          </a:p>
          <a:p>
            <a:pPr algn="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VNI 200</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文本框 96"/>
          <p:cNvSpPr txBox="1"/>
          <p:nvPr/>
        </p:nvSpPr>
        <p:spPr bwMode="gray">
          <a:xfrm>
            <a:off x="2844832" y="5196885"/>
            <a:ext cx="3296376" cy="954107"/>
          </a:xfrm>
          <a:prstGeom prst="rect">
            <a:avLst/>
          </a:prstGeom>
          <a:solidFill>
            <a:schemeClr val="bg1">
              <a:lumMod val="85000"/>
            </a:schemeClr>
          </a:solidFill>
          <a:ln w="19050">
            <a:noFill/>
          </a:ln>
        </p:spPr>
        <p:txBody>
          <a:bodyPr wrap="squar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interface </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nve</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1</a:t>
            </a: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source 1.1.1.1</a:t>
            </a: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vni</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100 head-end peer-list 3.3.3.3</a:t>
            </a: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vni</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200 head-end peer-list </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2.2.2.2</a:t>
            </a:r>
          </a:p>
        </p:txBody>
      </p:sp>
      <p:sp>
        <p:nvSpPr>
          <p:cNvPr id="99" name="文本框 98"/>
          <p:cNvSpPr txBox="1"/>
          <p:nvPr/>
        </p:nvSpPr>
        <p:spPr bwMode="gray">
          <a:xfrm>
            <a:off x="6273116" y="5412195"/>
            <a:ext cx="3296376" cy="738664"/>
          </a:xfrm>
          <a:prstGeom prst="rect">
            <a:avLst/>
          </a:prstGeom>
          <a:solidFill>
            <a:schemeClr val="bg1">
              <a:lumMod val="85000"/>
            </a:schemeClr>
          </a:solidFill>
          <a:ln w="19050">
            <a:noFill/>
          </a:ln>
        </p:spPr>
        <p:txBody>
          <a:bodyPr wrap="squar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interface </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nve</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1</a:t>
            </a: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source 2.2.2.2</a:t>
            </a: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vni</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200 head-end peer-list 1.1.1.1</a:t>
            </a:r>
          </a:p>
        </p:txBody>
      </p:sp>
      <p:sp>
        <p:nvSpPr>
          <p:cNvPr id="100" name="文本框 99"/>
          <p:cNvSpPr txBox="1"/>
          <p:nvPr/>
        </p:nvSpPr>
        <p:spPr bwMode="gray">
          <a:xfrm>
            <a:off x="6044351" y="2048829"/>
            <a:ext cx="3296376" cy="738664"/>
          </a:xfrm>
          <a:prstGeom prst="rect">
            <a:avLst/>
          </a:prstGeom>
          <a:solidFill>
            <a:schemeClr val="bg1">
              <a:lumMod val="85000"/>
            </a:schemeClr>
          </a:solidFill>
          <a:ln w="19050">
            <a:noFill/>
          </a:ln>
        </p:spPr>
        <p:txBody>
          <a:bodyPr wrap="squar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interface </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nve</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1</a:t>
            </a: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source 3.3.3.3</a:t>
            </a: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vni</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100 head-end peer-list 1.1.1.1</a:t>
            </a:r>
          </a:p>
        </p:txBody>
      </p:sp>
      <p:sp>
        <p:nvSpPr>
          <p:cNvPr id="102" name="圆柱形 101"/>
          <p:cNvSpPr/>
          <p:nvPr/>
        </p:nvSpPr>
        <p:spPr bwMode="gray">
          <a:xfrm rot="15753464">
            <a:off x="6258457" y="2427613"/>
            <a:ext cx="222026" cy="2836593"/>
          </a:xfrm>
          <a:prstGeom prst="can">
            <a:avLst>
              <a:gd name="adj" fmla="val 72803"/>
            </a:avLst>
          </a:prstGeom>
          <a:solidFill>
            <a:srgbClr val="56C4D2"/>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矩形 102"/>
          <p:cNvSpPr/>
          <p:nvPr/>
        </p:nvSpPr>
        <p:spPr bwMode="gray">
          <a:xfrm rot="21150306">
            <a:off x="5770588" y="3702091"/>
            <a:ext cx="1197764" cy="307777"/>
          </a:xfrm>
          <a:prstGeom prst="rect">
            <a:avLst/>
          </a:prstGeom>
        </p:spPr>
        <p:txBody>
          <a:bodyPr wrap="none">
            <a:spAutoFit/>
          </a:bodyPr>
          <a:lstStyle/>
          <a:p>
            <a:pPr algn="just"/>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 </a:t>
            </a:r>
            <a:r>
              <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a:t>
            </a:r>
          </a:p>
        </p:txBody>
      </p:sp>
      <p:sp>
        <p:nvSpPr>
          <p:cNvPr id="104" name="圆柱形 103"/>
          <p:cNvSpPr/>
          <p:nvPr/>
        </p:nvSpPr>
        <p:spPr bwMode="gray">
          <a:xfrm rot="16413445">
            <a:off x="6260181" y="2958999"/>
            <a:ext cx="222026" cy="2836593"/>
          </a:xfrm>
          <a:prstGeom prst="can">
            <a:avLst>
              <a:gd name="adj" fmla="val 72803"/>
            </a:avLst>
          </a:prstGeom>
          <a:solidFill>
            <a:srgbClr val="EC7061"/>
          </a:solidFill>
          <a:ln w="12700" cap="flat" cmpd="sng" algn="ctr">
            <a:solidFill>
              <a:sysClr val="window" lastClr="FFFFF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999">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矩形 104"/>
          <p:cNvSpPr/>
          <p:nvPr/>
        </p:nvSpPr>
        <p:spPr bwMode="gray">
          <a:xfrm rot="231973">
            <a:off x="5808687" y="4233134"/>
            <a:ext cx="1197764" cy="307777"/>
          </a:xfrm>
          <a:prstGeom prst="rect">
            <a:avLst/>
          </a:prstGeom>
        </p:spPr>
        <p:txBody>
          <a:bodyPr wrap="none">
            <a:spAutoFit/>
          </a:bodyPr>
          <a:lstStyle/>
          <a:p>
            <a:pPr algn="just"/>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 </a:t>
            </a:r>
            <a:r>
              <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a:t>
            </a:r>
          </a:p>
        </p:txBody>
      </p:sp>
      <p:pic>
        <p:nvPicPr>
          <p:cNvPr id="64" name="图片 87" descr="汇聚交换机.png"/>
          <p:cNvPicPr>
            <a:picLocks noChangeAspect="1"/>
          </p:cNvPicPr>
          <p:nvPr/>
        </p:nvPicPr>
        <p:blipFill>
          <a:blip r:embed="rId3"/>
          <a:stretch>
            <a:fillRect/>
          </a:stretch>
        </p:blipFill>
        <p:spPr bwMode="gray">
          <a:xfrm>
            <a:off x="7702944" y="3558495"/>
            <a:ext cx="502820" cy="411400"/>
          </a:xfrm>
          <a:prstGeom prst="rect">
            <a:avLst/>
          </a:prstGeom>
        </p:spPr>
      </p:pic>
      <p:sp>
        <p:nvSpPr>
          <p:cNvPr id="86" name="任意多边形 85"/>
          <p:cNvSpPr/>
          <p:nvPr/>
        </p:nvSpPr>
        <p:spPr bwMode="gray">
          <a:xfrm flipH="1" flipV="1">
            <a:off x="8175624" y="4509623"/>
            <a:ext cx="2100679" cy="185076"/>
          </a:xfrm>
          <a:custGeom>
            <a:avLst/>
            <a:gdLst>
              <a:gd name="connsiteX0" fmla="*/ 1447800 w 1447800"/>
              <a:gd name="connsiteY0" fmla="*/ 171450 h 171450"/>
              <a:gd name="connsiteX1" fmla="*/ 0 w 1447800"/>
              <a:gd name="connsiteY1" fmla="*/ 171450 h 171450"/>
              <a:gd name="connsiteX2" fmla="*/ 0 w 1447800"/>
              <a:gd name="connsiteY2" fmla="*/ 0 h 171450"/>
            </a:gdLst>
            <a:ahLst/>
            <a:cxnLst>
              <a:cxn ang="0">
                <a:pos x="connsiteX0" y="connsiteY0"/>
              </a:cxn>
              <a:cxn ang="0">
                <a:pos x="connsiteX1" y="connsiteY1"/>
              </a:cxn>
              <a:cxn ang="0">
                <a:pos x="connsiteX2" y="connsiteY2"/>
              </a:cxn>
            </a:cxnLst>
            <a:rect l="l" t="t" r="r" b="b"/>
            <a:pathLst>
              <a:path w="1447800" h="171450">
                <a:moveTo>
                  <a:pt x="1447800" y="171450"/>
                </a:moveTo>
                <a:lnTo>
                  <a:pt x="0" y="171450"/>
                </a:lnTo>
                <a:lnTo>
                  <a:pt x="0" y="0"/>
                </a:ln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8" name="图片 87" descr="汇聚交换机.png"/>
          <p:cNvPicPr>
            <a:picLocks noChangeAspect="1"/>
          </p:cNvPicPr>
          <p:nvPr/>
        </p:nvPicPr>
        <p:blipFill>
          <a:blip r:embed="rId3"/>
          <a:stretch>
            <a:fillRect/>
          </a:stretch>
        </p:blipFill>
        <p:spPr bwMode="gray">
          <a:xfrm>
            <a:off x="7702944" y="4318321"/>
            <a:ext cx="502820" cy="411400"/>
          </a:xfrm>
          <a:prstGeom prst="rect">
            <a:avLst/>
          </a:prstGeom>
        </p:spPr>
      </p:pic>
      <p:sp>
        <p:nvSpPr>
          <p:cNvPr id="2" name="椭圆 1"/>
          <p:cNvSpPr/>
          <p:nvPr/>
        </p:nvSpPr>
        <p:spPr bwMode="gray">
          <a:xfrm>
            <a:off x="4394665" y="3972054"/>
            <a:ext cx="131526" cy="131526"/>
          </a:xfrm>
          <a:prstGeom prst="ellipse">
            <a:avLst/>
          </a:prstGeom>
          <a:solidFill>
            <a:srgbClr val="56C4D2"/>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椭圆 54"/>
          <p:cNvSpPr/>
          <p:nvPr/>
        </p:nvSpPr>
        <p:spPr bwMode="gray">
          <a:xfrm>
            <a:off x="4394665" y="4139696"/>
            <a:ext cx="131526" cy="131526"/>
          </a:xfrm>
          <a:prstGeom prst="ellipse">
            <a:avLst/>
          </a:prstGeom>
          <a:solidFill>
            <a:srgbClr val="EC706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椭圆 55"/>
          <p:cNvSpPr/>
          <p:nvPr/>
        </p:nvSpPr>
        <p:spPr bwMode="gray">
          <a:xfrm>
            <a:off x="8140001" y="3700115"/>
            <a:ext cx="131526" cy="131526"/>
          </a:xfrm>
          <a:prstGeom prst="ellipse">
            <a:avLst/>
          </a:prstGeom>
          <a:solidFill>
            <a:srgbClr val="56C4D2"/>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椭圆 56"/>
          <p:cNvSpPr/>
          <p:nvPr/>
        </p:nvSpPr>
        <p:spPr bwMode="gray">
          <a:xfrm>
            <a:off x="8135324" y="4473149"/>
            <a:ext cx="131526" cy="131526"/>
          </a:xfrm>
          <a:prstGeom prst="ellipse">
            <a:avLst/>
          </a:prstGeom>
          <a:solidFill>
            <a:srgbClr val="EC706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五边形 24">
            <a:extLst>
              <a:ext uri="{FF2B5EF4-FFF2-40B4-BE49-F238E27FC236}">
                <a16:creationId xmlns:a16="http://schemas.microsoft.com/office/drawing/2014/main" id="{66BA07AD-FEEF-4CB3-8D55-B5A235B0FBAC}"/>
              </a:ext>
            </a:extLst>
          </p:cNvPr>
          <p:cNvSpPr/>
          <p:nvPr/>
        </p:nvSpPr>
        <p:spPr bwMode="gray">
          <a:xfrm>
            <a:off x="8582125" y="124239"/>
            <a:ext cx="956654"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隧道建立</a:t>
            </a:r>
          </a:p>
        </p:txBody>
      </p:sp>
      <p:sp>
        <p:nvSpPr>
          <p:cNvPr id="65" name="燕尾形 26">
            <a:extLst>
              <a:ext uri="{FF2B5EF4-FFF2-40B4-BE49-F238E27FC236}">
                <a16:creationId xmlns:a16="http://schemas.microsoft.com/office/drawing/2014/main" id="{0C19331F-8FCC-488E-9C32-A3F774208D1E}"/>
              </a:ext>
            </a:extLst>
          </p:cNvPr>
          <p:cNvSpPr/>
          <p:nvPr/>
        </p:nvSpPr>
        <p:spPr bwMode="gray">
          <a:xfrm>
            <a:off x="10636763" y="124239"/>
            <a:ext cx="1079024"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数据帧转发</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燕尾形 26">
            <a:extLst>
              <a:ext uri="{FF2B5EF4-FFF2-40B4-BE49-F238E27FC236}">
                <a16:creationId xmlns:a16="http://schemas.microsoft.com/office/drawing/2014/main" id="{5C797163-D6D3-4ACC-996D-421D87F18D19}"/>
              </a:ext>
            </a:extLst>
          </p:cNvPr>
          <p:cNvSpPr/>
          <p:nvPr/>
        </p:nvSpPr>
        <p:spPr bwMode="gray">
          <a:xfrm>
            <a:off x="9474249" y="124239"/>
            <a:ext cx="1227043"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地址学习</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1425787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ym typeface="Huawei Sans" panose="020C0503030203020204" pitchFamily="34" charset="0"/>
              </a:rPr>
              <a:t>VXLAN MAC</a:t>
            </a:r>
            <a:r>
              <a:rPr lang="zh-CN" altLang="en-US">
                <a:sym typeface="Huawei Sans" panose="020C0503030203020204" pitchFamily="34" charset="0"/>
              </a:rPr>
              <a:t>地址表项</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a:xfrm>
            <a:off x="455613" y="1047751"/>
            <a:ext cx="11256962" cy="1898240"/>
          </a:xfrm>
        </p:spPr>
        <p:txBody>
          <a:bodyPr/>
          <a:lstStyle/>
          <a:p>
            <a:r>
              <a:rPr lang="en-US" altLang="zh-CN" sz="1800" dirty="0">
                <a:sym typeface="Huawei Sans" panose="020C0503030203020204" pitchFamily="34" charset="0"/>
              </a:rPr>
              <a:t>VXLAN</a:t>
            </a:r>
            <a:r>
              <a:rPr lang="zh-CN" altLang="en-US" sz="1800" dirty="0">
                <a:sym typeface="Huawei Sans" panose="020C0503030203020204" pitchFamily="34" charset="0"/>
              </a:rPr>
              <a:t>实现的是在</a:t>
            </a:r>
            <a:r>
              <a:rPr lang="en-US" altLang="zh-CN" sz="1800" dirty="0">
                <a:sym typeface="Huawei Sans" panose="020C0503030203020204" pitchFamily="34" charset="0"/>
              </a:rPr>
              <a:t>Overlay</a:t>
            </a:r>
            <a:r>
              <a:rPr lang="zh-CN" altLang="en-US" sz="1800" dirty="0">
                <a:sym typeface="Huawei Sans" panose="020C0503030203020204" pitchFamily="34" charset="0"/>
              </a:rPr>
              <a:t>网络中进行二层转发，转发单播数据帧依赖的依旧是</a:t>
            </a:r>
            <a:r>
              <a:rPr lang="en-US" altLang="zh-CN" sz="1800" dirty="0">
                <a:sym typeface="Huawei Sans" panose="020C0503030203020204" pitchFamily="34" charset="0"/>
              </a:rPr>
              <a:t>MAC</a:t>
            </a:r>
            <a:r>
              <a:rPr lang="zh-CN" altLang="en-US" sz="1800" dirty="0">
                <a:sym typeface="Huawei Sans" panose="020C0503030203020204" pitchFamily="34" charset="0"/>
              </a:rPr>
              <a:t>地址表项。</a:t>
            </a:r>
          </a:p>
          <a:p>
            <a:r>
              <a:rPr lang="en-US" altLang="zh-CN" sz="1800" dirty="0">
                <a:sym typeface="Huawei Sans" panose="020C0503030203020204" pitchFamily="34" charset="0"/>
              </a:rPr>
              <a:t>VTEP</a:t>
            </a:r>
            <a:r>
              <a:rPr lang="zh-CN" altLang="en-US" sz="1800" dirty="0">
                <a:sym typeface="Huawei Sans" panose="020C0503030203020204" pitchFamily="34" charset="0"/>
              </a:rPr>
              <a:t>接收到</a:t>
            </a:r>
            <a:r>
              <a:rPr lang="en-US" altLang="zh-CN" sz="1800" dirty="0">
                <a:sym typeface="Huawei Sans" panose="020C0503030203020204" pitchFamily="34" charset="0"/>
              </a:rPr>
              <a:t>BD</a:t>
            </a:r>
            <a:r>
              <a:rPr lang="zh-CN" altLang="en-US" sz="1800" dirty="0">
                <a:sym typeface="Huawei Sans" panose="020C0503030203020204" pitchFamily="34" charset="0"/>
              </a:rPr>
              <a:t>内来自本地的数据帧，将数据帧的源</a:t>
            </a:r>
            <a:r>
              <a:rPr lang="en-US" altLang="zh-CN" sz="1800" dirty="0">
                <a:sym typeface="Huawei Sans" panose="020C0503030203020204" pitchFamily="34" charset="0"/>
              </a:rPr>
              <a:t>MAC</a:t>
            </a:r>
            <a:r>
              <a:rPr lang="zh-CN" altLang="en-US" sz="1800" dirty="0">
                <a:sym typeface="Huawei Sans" panose="020C0503030203020204" pitchFamily="34" charset="0"/>
              </a:rPr>
              <a:t>地址添加到该</a:t>
            </a:r>
            <a:r>
              <a:rPr lang="en-US" altLang="zh-CN" sz="1800" dirty="0">
                <a:sym typeface="Huawei Sans" panose="020C0503030203020204" pitchFamily="34" charset="0"/>
              </a:rPr>
              <a:t>BD</a:t>
            </a:r>
            <a:r>
              <a:rPr lang="zh-CN" altLang="en-US" sz="1800" dirty="0">
                <a:sym typeface="Huawei Sans" panose="020C0503030203020204" pitchFamily="34" charset="0"/>
              </a:rPr>
              <a:t>的</a:t>
            </a:r>
            <a:r>
              <a:rPr lang="en-US" altLang="zh-CN" sz="1800" dirty="0">
                <a:sym typeface="Huawei Sans" panose="020C0503030203020204" pitchFamily="34" charset="0"/>
              </a:rPr>
              <a:t>MAC</a:t>
            </a:r>
            <a:r>
              <a:rPr lang="zh-CN" altLang="en-US" sz="1800" dirty="0">
                <a:sym typeface="Huawei Sans" panose="020C0503030203020204" pitchFamily="34" charset="0"/>
              </a:rPr>
              <a:t>地址表中，出接口为收到数据帧的接口。</a:t>
            </a:r>
          </a:p>
          <a:p>
            <a:r>
              <a:rPr lang="zh-CN" altLang="en-US" sz="1800" dirty="0">
                <a:sym typeface="Huawei Sans" panose="020C0503030203020204" pitchFamily="34" charset="0"/>
              </a:rPr>
              <a:t>该表项用于指导发往本</a:t>
            </a:r>
            <a:r>
              <a:rPr lang="en-US" altLang="zh-CN" sz="1800" dirty="0">
                <a:sym typeface="Huawei Sans" panose="020C0503030203020204" pitchFamily="34" charset="0"/>
              </a:rPr>
              <a:t>VTEP</a:t>
            </a:r>
            <a:r>
              <a:rPr lang="zh-CN" altLang="en-US" sz="1800" dirty="0">
                <a:sym typeface="Huawei Sans" panose="020C0503030203020204" pitchFamily="34" charset="0"/>
              </a:rPr>
              <a:t>下连接终端的数据帧的转发。</a:t>
            </a:r>
          </a:p>
        </p:txBody>
      </p:sp>
      <p:pic>
        <p:nvPicPr>
          <p:cNvPr id="37" name="图片 87" descr="汇聚交换机.png"/>
          <p:cNvPicPr>
            <a:picLocks noChangeAspect="1"/>
          </p:cNvPicPr>
          <p:nvPr/>
        </p:nvPicPr>
        <p:blipFill>
          <a:blip r:embed="rId3"/>
          <a:stretch>
            <a:fillRect/>
          </a:stretch>
        </p:blipFill>
        <p:spPr bwMode="gray">
          <a:xfrm>
            <a:off x="4639197" y="3656224"/>
            <a:ext cx="502820" cy="411400"/>
          </a:xfrm>
          <a:prstGeom prst="rect">
            <a:avLst/>
          </a:prstGeom>
        </p:spPr>
      </p:pic>
      <p:sp>
        <p:nvSpPr>
          <p:cNvPr id="127" name="任意多边形 126"/>
          <p:cNvSpPr/>
          <p:nvPr/>
        </p:nvSpPr>
        <p:spPr bwMode="gray">
          <a:xfrm>
            <a:off x="2394358" y="3654281"/>
            <a:ext cx="2244837" cy="153304"/>
          </a:xfrm>
          <a:custGeom>
            <a:avLst/>
            <a:gdLst>
              <a:gd name="connsiteX0" fmla="*/ 1447800 w 1447800"/>
              <a:gd name="connsiteY0" fmla="*/ 171450 h 171450"/>
              <a:gd name="connsiteX1" fmla="*/ 0 w 1447800"/>
              <a:gd name="connsiteY1" fmla="*/ 171450 h 171450"/>
              <a:gd name="connsiteX2" fmla="*/ 0 w 1447800"/>
              <a:gd name="connsiteY2" fmla="*/ 0 h 171450"/>
            </a:gdLst>
            <a:ahLst/>
            <a:cxnLst>
              <a:cxn ang="0">
                <a:pos x="connsiteX0" y="connsiteY0"/>
              </a:cxn>
              <a:cxn ang="0">
                <a:pos x="connsiteX1" y="connsiteY1"/>
              </a:cxn>
              <a:cxn ang="0">
                <a:pos x="connsiteX2" y="connsiteY2"/>
              </a:cxn>
            </a:cxnLst>
            <a:rect l="l" t="t" r="r" b="b"/>
            <a:pathLst>
              <a:path w="1447800" h="171450">
                <a:moveTo>
                  <a:pt x="1447800" y="171450"/>
                </a:moveTo>
                <a:lnTo>
                  <a:pt x="0" y="171450"/>
                </a:lnTo>
                <a:lnTo>
                  <a:pt x="0" y="0"/>
                </a:ln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8" name="任意多边形 127"/>
          <p:cNvSpPr/>
          <p:nvPr/>
        </p:nvSpPr>
        <p:spPr bwMode="gray">
          <a:xfrm flipV="1">
            <a:off x="2394358" y="3971891"/>
            <a:ext cx="2244840" cy="238918"/>
          </a:xfrm>
          <a:custGeom>
            <a:avLst/>
            <a:gdLst>
              <a:gd name="connsiteX0" fmla="*/ 1447800 w 1447800"/>
              <a:gd name="connsiteY0" fmla="*/ 171450 h 171450"/>
              <a:gd name="connsiteX1" fmla="*/ 0 w 1447800"/>
              <a:gd name="connsiteY1" fmla="*/ 171450 h 171450"/>
              <a:gd name="connsiteX2" fmla="*/ 0 w 1447800"/>
              <a:gd name="connsiteY2" fmla="*/ 0 h 171450"/>
            </a:gdLst>
            <a:ahLst/>
            <a:cxnLst>
              <a:cxn ang="0">
                <a:pos x="connsiteX0" y="connsiteY0"/>
              </a:cxn>
              <a:cxn ang="0">
                <a:pos x="connsiteX1" y="connsiteY1"/>
              </a:cxn>
              <a:cxn ang="0">
                <a:pos x="connsiteX2" y="connsiteY2"/>
              </a:cxn>
            </a:cxnLst>
            <a:rect l="l" t="t" r="r" b="b"/>
            <a:pathLst>
              <a:path w="1447800" h="171450">
                <a:moveTo>
                  <a:pt x="1447800" y="171450"/>
                </a:moveTo>
                <a:lnTo>
                  <a:pt x="0" y="171450"/>
                </a:lnTo>
                <a:lnTo>
                  <a:pt x="0" y="0"/>
                </a:ln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1" name="矩形 130"/>
          <p:cNvSpPr/>
          <p:nvPr/>
        </p:nvSpPr>
        <p:spPr bwMode="gray">
          <a:xfrm>
            <a:off x="594085" y="3044695"/>
            <a:ext cx="1553630" cy="738664"/>
          </a:xfrm>
          <a:prstGeom prst="rect">
            <a:avLst/>
          </a:prstGeom>
        </p:spPr>
        <p:txBody>
          <a:bodyPr wrap="none">
            <a:spAutoFit/>
          </a:bodyPr>
          <a:lstStyle/>
          <a:p>
            <a:pPr algn="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PC1</a:t>
            </a:r>
          </a:p>
          <a:p>
            <a:pPr algn="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172.16.1.1/24</a:t>
            </a:r>
          </a:p>
          <a:p>
            <a:pPr algn="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0000-0000-000A</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2" name="图片 11" descr="开放网络-蓝.png"/>
          <p:cNvPicPr>
            <a:picLocks noChangeAspect="1"/>
          </p:cNvPicPr>
          <p:nvPr/>
        </p:nvPicPr>
        <p:blipFill>
          <a:blip r:embed="rId4" cstate="print"/>
          <a:stretch>
            <a:fillRect/>
          </a:stretch>
        </p:blipFill>
        <p:spPr bwMode="gray">
          <a:xfrm>
            <a:off x="2147717" y="3261651"/>
            <a:ext cx="539607" cy="415381"/>
          </a:xfrm>
          <a:prstGeom prst="rect">
            <a:avLst/>
          </a:prstGeom>
        </p:spPr>
      </p:pic>
      <p:sp>
        <p:nvSpPr>
          <p:cNvPr id="133" name="矩形 132"/>
          <p:cNvSpPr/>
          <p:nvPr/>
        </p:nvSpPr>
        <p:spPr bwMode="gray">
          <a:xfrm>
            <a:off x="607147" y="4017224"/>
            <a:ext cx="1544013" cy="738664"/>
          </a:xfrm>
          <a:prstGeom prst="rect">
            <a:avLst/>
          </a:prstGeom>
        </p:spPr>
        <p:txBody>
          <a:bodyPr wrap="none">
            <a:spAutoFit/>
          </a:bodyPr>
          <a:lstStyle/>
          <a:p>
            <a:pPr algn="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PC2</a:t>
            </a:r>
          </a:p>
          <a:p>
            <a:pPr algn="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172.16.2.2/24</a:t>
            </a:r>
          </a:p>
          <a:p>
            <a:pPr algn="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0000-0000-000B</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4" name="图片 11" descr="开放网络-蓝.png"/>
          <p:cNvPicPr>
            <a:picLocks noChangeAspect="1"/>
          </p:cNvPicPr>
          <p:nvPr/>
        </p:nvPicPr>
        <p:blipFill>
          <a:blip r:embed="rId4" cstate="print"/>
          <a:stretch>
            <a:fillRect/>
          </a:stretch>
        </p:blipFill>
        <p:spPr bwMode="gray">
          <a:xfrm>
            <a:off x="2147717" y="4187629"/>
            <a:ext cx="539607" cy="415381"/>
          </a:xfrm>
          <a:prstGeom prst="rect">
            <a:avLst/>
          </a:prstGeom>
        </p:spPr>
      </p:pic>
      <p:sp>
        <p:nvSpPr>
          <p:cNvPr id="135" name="矩形 134"/>
          <p:cNvSpPr/>
          <p:nvPr/>
        </p:nvSpPr>
        <p:spPr bwMode="gray">
          <a:xfrm rot="15603">
            <a:off x="2688507" y="3220051"/>
            <a:ext cx="846707" cy="523220"/>
          </a:xfrm>
          <a:prstGeom prst="rect">
            <a:avLst/>
          </a:prstGeom>
        </p:spPr>
        <p:txBody>
          <a:bodyPr wrap="none">
            <a:spAutoFit/>
          </a:bodyPr>
          <a:lstStyle/>
          <a:p>
            <a:pPr algn="just"/>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BD 10</a:t>
            </a:r>
          </a:p>
          <a:p>
            <a:pPr algn="just"/>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VNI 100</a:t>
            </a:r>
            <a:endPar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6" name="矩形 135"/>
          <p:cNvSpPr/>
          <p:nvPr/>
        </p:nvSpPr>
        <p:spPr bwMode="gray">
          <a:xfrm rot="15603">
            <a:off x="2688507" y="4042524"/>
            <a:ext cx="846707" cy="523220"/>
          </a:xfrm>
          <a:prstGeom prst="rect">
            <a:avLst/>
          </a:prstGeom>
        </p:spPr>
        <p:txBody>
          <a:bodyPr wrap="none">
            <a:spAutoFit/>
          </a:bodyPr>
          <a:lstStyle/>
          <a:p>
            <a:pPr algn="just"/>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BD 20</a:t>
            </a:r>
          </a:p>
          <a:p>
            <a:pPr algn="just"/>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VNI 200</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7" name="矩形 136"/>
          <p:cNvSpPr/>
          <p:nvPr/>
        </p:nvSpPr>
        <p:spPr bwMode="gray">
          <a:xfrm rot="15603">
            <a:off x="3651578" y="3434930"/>
            <a:ext cx="1095172" cy="307777"/>
          </a:xfrm>
          <a:prstGeom prst="rect">
            <a:avLst/>
          </a:prstGeom>
        </p:spPr>
        <p:txBody>
          <a:bodyPr wrap="none">
            <a:spAutoFit/>
          </a:bodyPr>
          <a:lstStyle/>
          <a:p>
            <a:pPr algn="just"/>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GE1/0/1.10</a:t>
            </a:r>
            <a:endPar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8" name="矩形 137"/>
          <p:cNvSpPr/>
          <p:nvPr/>
        </p:nvSpPr>
        <p:spPr bwMode="gray">
          <a:xfrm rot="15603">
            <a:off x="3651577" y="4076295"/>
            <a:ext cx="1095172" cy="307777"/>
          </a:xfrm>
          <a:prstGeom prst="rect">
            <a:avLst/>
          </a:prstGeom>
        </p:spPr>
        <p:txBody>
          <a:bodyPr wrap="none">
            <a:spAutoFit/>
          </a:bodyPr>
          <a:lstStyle/>
          <a:p>
            <a:pPr algn="just"/>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GE1/0/1.20</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1" name="矩形 140"/>
          <p:cNvSpPr/>
          <p:nvPr/>
        </p:nvSpPr>
        <p:spPr bwMode="gray">
          <a:xfrm>
            <a:off x="5616574" y="3261651"/>
            <a:ext cx="6096000" cy="2462213"/>
          </a:xfrm>
          <a:prstGeom prst="rect">
            <a:avLst/>
          </a:prstGeom>
          <a:solidFill>
            <a:schemeClr val="bg1">
              <a:lumMod val="85000"/>
            </a:schemeClr>
          </a:solidFill>
          <a:ln w="19050">
            <a:noFill/>
          </a:ln>
        </p:spPr>
        <p:txBody>
          <a:bodyPr wrap="square" rtlCol="0">
            <a:spAutoFit/>
          </a:bodyPr>
          <a:lstStyle/>
          <a:p>
            <a:pPr defTabSz="72000"/>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&lt;S1&gt;display mac-address bridge-domain 10</a:t>
            </a:r>
          </a:p>
          <a:p>
            <a:pPr defTabSz="72000"/>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p>
          <a:p>
            <a:pPr defTabSz="72000"/>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Address    		VLAN/VSI/BD   Learned-From    Type        		</a:t>
            </a:r>
          </a:p>
          <a:p>
            <a:pPr defTabSz="72000"/>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p>
          <a:p>
            <a:pPr defTabSz="72000"/>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0000-0000-000a	    				 -/-/</a:t>
            </a:r>
            <a:r>
              <a:rPr lang="en-US" altLang="zh-CN" sz="14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10</a:t>
            </a: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GE1/0/1.10</a:t>
            </a: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dynamic    </a:t>
            </a:r>
          </a:p>
          <a:p>
            <a:pPr defTabSz="72000"/>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defTabSz="72000"/>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&lt;S1&gt;display mac-address bridge-domain 20</a:t>
            </a:r>
          </a:p>
          <a:p>
            <a:pPr defTabSz="72000"/>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p>
          <a:p>
            <a:pPr defTabSz="72000"/>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Address    		VLAN/VSI/BD   Learned-From    Type        		</a:t>
            </a:r>
          </a:p>
          <a:p>
            <a:pPr defTabSz="72000"/>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p>
          <a:p>
            <a:pPr defTabSz="72000"/>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0000-0000-000b     				-/-/</a:t>
            </a: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 </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GE1/0/1.20</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dynamic     </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3" name="圆角矩形 142"/>
          <p:cNvSpPr/>
          <p:nvPr/>
        </p:nvSpPr>
        <p:spPr bwMode="gray">
          <a:xfrm>
            <a:off x="598488" y="1385839"/>
            <a:ext cx="11291896" cy="815390"/>
          </a:xfrm>
          <a:prstGeom prst="roundRect">
            <a:avLst>
              <a:gd name="adj" fmla="val 718"/>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36000" rtlCol="0" anchor="t" anchorCtr="0"/>
          <a:lstStyle/>
          <a:p>
            <a:pPr marL="285750" indent="-285750">
              <a:lnSpc>
                <a:spcPts val="2400"/>
              </a:lnSpc>
              <a:spcAft>
                <a:spcPts val="600"/>
              </a:spcAft>
              <a:buFont typeface="Arial" panose="020B0604020202020204" pitchFamily="34" charset="0"/>
              <a:buChar char="•"/>
            </a:pPr>
            <a:endPar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圆角矩形 23"/>
          <p:cNvSpPr/>
          <p:nvPr/>
        </p:nvSpPr>
        <p:spPr bwMode="gray">
          <a:xfrm>
            <a:off x="2247753" y="5092410"/>
            <a:ext cx="2806261" cy="747738"/>
          </a:xfrm>
          <a:prstGeom prst="roundRect">
            <a:avLst>
              <a:gd name="adj" fmla="val 2303"/>
            </a:avLst>
          </a:prstGeom>
          <a:solidFill>
            <a:srgbClr val="FFF7E1"/>
          </a:solidFill>
          <a:ln w="12700" cap="flat" cmpd="sng" algn="ctr">
            <a:solidFill>
              <a:srgbClr val="FCC800"/>
            </a:solidFill>
            <a:prstDash val="solid"/>
            <a:miter lim="800000"/>
          </a:ln>
          <a:effectLst/>
        </p:spPr>
        <p:txBody>
          <a:bodyPr rtlCol="0" anchor="ctr"/>
          <a:lstStyle/>
          <a:p>
            <a:pPr defTabSz="914400">
              <a:lnSpc>
                <a:spcPts val="2200"/>
              </a:lnSpc>
            </a:pPr>
            <a:r>
              <a:rPr lang="zh-CN" altLang="en-US"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如何将数据帧转发至连接在远端</a:t>
            </a:r>
            <a:r>
              <a:rPr lang="en-US" altLang="zh-CN"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VTEP</a:t>
            </a:r>
            <a:r>
              <a:rPr lang="zh-CN" altLang="en-US"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下的设备呢？</a:t>
            </a:r>
          </a:p>
        </p:txBody>
      </p:sp>
      <p:sp>
        <p:nvSpPr>
          <p:cNvPr id="23" name="椭圆 22"/>
          <p:cNvSpPr/>
          <p:nvPr/>
        </p:nvSpPr>
        <p:spPr bwMode="gray">
          <a:xfrm>
            <a:off x="4573432" y="3738648"/>
            <a:ext cx="131526" cy="131526"/>
          </a:xfrm>
          <a:prstGeom prst="ellipse">
            <a:avLst/>
          </a:prstGeom>
          <a:solidFill>
            <a:srgbClr val="56C4D2"/>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椭圆 27"/>
          <p:cNvSpPr/>
          <p:nvPr/>
        </p:nvSpPr>
        <p:spPr bwMode="gray">
          <a:xfrm>
            <a:off x="4573432" y="3906290"/>
            <a:ext cx="131526" cy="131526"/>
          </a:xfrm>
          <a:prstGeom prst="ellipse">
            <a:avLst/>
          </a:prstGeom>
          <a:solidFill>
            <a:srgbClr val="EC706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五边形 24">
            <a:extLst>
              <a:ext uri="{FF2B5EF4-FFF2-40B4-BE49-F238E27FC236}">
                <a16:creationId xmlns:a16="http://schemas.microsoft.com/office/drawing/2014/main" id="{66BA07AD-FEEF-4CB3-8D55-B5A235B0FBAC}"/>
              </a:ext>
            </a:extLst>
          </p:cNvPr>
          <p:cNvSpPr/>
          <p:nvPr/>
        </p:nvSpPr>
        <p:spPr bwMode="gray">
          <a:xfrm>
            <a:off x="8582131" y="124239"/>
            <a:ext cx="956654" cy="213120"/>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隧道建立</a:t>
            </a:r>
          </a:p>
        </p:txBody>
      </p:sp>
      <p:sp>
        <p:nvSpPr>
          <p:cNvPr id="30" name="燕尾形 26">
            <a:extLst>
              <a:ext uri="{FF2B5EF4-FFF2-40B4-BE49-F238E27FC236}">
                <a16:creationId xmlns:a16="http://schemas.microsoft.com/office/drawing/2014/main" id="{0C19331F-8FCC-488E-9C32-A3F774208D1E}"/>
              </a:ext>
            </a:extLst>
          </p:cNvPr>
          <p:cNvSpPr/>
          <p:nvPr/>
        </p:nvSpPr>
        <p:spPr bwMode="gray">
          <a:xfrm>
            <a:off x="10636769" y="124239"/>
            <a:ext cx="1079024"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数据帧转发</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燕尾形 26">
            <a:extLst>
              <a:ext uri="{FF2B5EF4-FFF2-40B4-BE49-F238E27FC236}">
                <a16:creationId xmlns:a16="http://schemas.microsoft.com/office/drawing/2014/main" id="{5C797163-D6D3-4ACC-996D-421D87F18D19}"/>
              </a:ext>
            </a:extLst>
          </p:cNvPr>
          <p:cNvSpPr/>
          <p:nvPr/>
        </p:nvSpPr>
        <p:spPr bwMode="gray">
          <a:xfrm>
            <a:off x="9474255" y="124239"/>
            <a:ext cx="1227043"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地址学习</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5917610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sym typeface="Huawei Sans" panose="020C0503030203020204" pitchFamily="34" charset="0"/>
              </a:rPr>
              <a:t>MAC</a:t>
            </a:r>
            <a:r>
              <a:rPr lang="zh-CN" altLang="en-US" dirty="0">
                <a:sym typeface="Huawei Sans" panose="020C0503030203020204" pitchFamily="34" charset="0"/>
              </a:rPr>
              <a:t>地址动态学习 </a:t>
            </a:r>
            <a:r>
              <a:rPr lang="en-US" altLang="zh-CN" dirty="0">
                <a:sym typeface="Huawei Sans" panose="020C0503030203020204" pitchFamily="34" charset="0"/>
              </a:rPr>
              <a:t>(1)</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bwMode="gray">
          <a:xfrm>
            <a:off x="455613" y="1047750"/>
            <a:ext cx="11256962" cy="1260413"/>
          </a:xfrm>
        </p:spPr>
        <p:txBody>
          <a:bodyPr/>
          <a:lstStyle/>
          <a:p>
            <a:r>
              <a:rPr lang="zh-CN" altLang="en-US" sz="1800" dirty="0">
                <a:sym typeface="Huawei Sans" panose="020C0503030203020204" pitchFamily="34" charset="0"/>
              </a:rPr>
              <a:t>转发属于远端</a:t>
            </a:r>
            <a:r>
              <a:rPr lang="en-US" altLang="zh-CN" sz="1800" dirty="0">
                <a:sym typeface="Huawei Sans" panose="020C0503030203020204" pitchFamily="34" charset="0"/>
              </a:rPr>
              <a:t>VTEP</a:t>
            </a:r>
            <a:r>
              <a:rPr lang="zh-CN" altLang="en-US" sz="1800" dirty="0">
                <a:sym typeface="Huawei Sans" panose="020C0503030203020204" pitchFamily="34" charset="0"/>
              </a:rPr>
              <a:t>下所连接设备的数据帧，需要先学习到远端设备的</a:t>
            </a:r>
            <a:r>
              <a:rPr lang="en-US" altLang="zh-CN" sz="1800" dirty="0">
                <a:sym typeface="Huawei Sans" panose="020C0503030203020204" pitchFamily="34" charset="0"/>
              </a:rPr>
              <a:t>MAC</a:t>
            </a:r>
            <a:r>
              <a:rPr lang="zh-CN" altLang="en-US" sz="1800" dirty="0">
                <a:sym typeface="Huawei Sans" panose="020C0503030203020204" pitchFamily="34" charset="0"/>
              </a:rPr>
              <a:t>地址。</a:t>
            </a:r>
          </a:p>
          <a:p>
            <a:r>
              <a:rPr lang="zh-CN" altLang="en-US" sz="1800" dirty="0">
                <a:sym typeface="Huawei Sans" panose="020C0503030203020204" pitchFamily="34" charset="0"/>
              </a:rPr>
              <a:t>该过程与传统</a:t>
            </a:r>
            <a:r>
              <a:rPr lang="en-US" altLang="zh-CN" sz="1800" dirty="0">
                <a:sym typeface="Huawei Sans" panose="020C0503030203020204" pitchFamily="34" charset="0"/>
              </a:rPr>
              <a:t>MAC</a:t>
            </a:r>
            <a:r>
              <a:rPr lang="zh-CN" altLang="en-US" sz="1800" dirty="0">
                <a:sym typeface="Huawei Sans" panose="020C0503030203020204" pitchFamily="34" charset="0"/>
              </a:rPr>
              <a:t>地址表形成过程类似，依赖于主机之间的报文交互，一般通过</a:t>
            </a:r>
            <a:r>
              <a:rPr lang="en-US" altLang="zh-CN" sz="1800" dirty="0">
                <a:sym typeface="Huawei Sans" panose="020C0503030203020204" pitchFamily="34" charset="0"/>
              </a:rPr>
              <a:t>ARP</a:t>
            </a:r>
            <a:r>
              <a:rPr lang="zh-CN" altLang="en-US" sz="1800" dirty="0">
                <a:sym typeface="Huawei Sans" panose="020C0503030203020204" pitchFamily="34" charset="0"/>
              </a:rPr>
              <a:t>报文交互形成</a:t>
            </a:r>
            <a:r>
              <a:rPr lang="en-US" altLang="zh-CN" sz="1800" dirty="0">
                <a:sym typeface="Huawei Sans" panose="020C0503030203020204" pitchFamily="34" charset="0"/>
              </a:rPr>
              <a:t>MAC</a:t>
            </a:r>
            <a:r>
              <a:rPr lang="zh-CN" altLang="en-US" sz="1800" dirty="0">
                <a:sym typeface="Huawei Sans" panose="020C0503030203020204" pitchFamily="34" charset="0"/>
              </a:rPr>
              <a:t>地址表项。</a:t>
            </a:r>
          </a:p>
        </p:txBody>
      </p:sp>
      <p:cxnSp>
        <p:nvCxnSpPr>
          <p:cNvPr id="88" name="直接连接符 87"/>
          <p:cNvCxnSpPr/>
          <p:nvPr/>
        </p:nvCxnSpPr>
        <p:spPr bwMode="gray">
          <a:xfrm>
            <a:off x="8857997" y="4104781"/>
            <a:ext cx="13753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9" name="组合 88"/>
          <p:cNvGrpSpPr/>
          <p:nvPr/>
        </p:nvGrpSpPr>
        <p:grpSpPr bwMode="gray">
          <a:xfrm>
            <a:off x="3222802" y="3672733"/>
            <a:ext cx="442385" cy="432048"/>
            <a:chOff x="1194287" y="4005064"/>
            <a:chExt cx="442385" cy="432048"/>
          </a:xfrm>
        </p:grpSpPr>
        <p:cxnSp>
          <p:nvCxnSpPr>
            <p:cNvPr id="90" name="直接连接符 89"/>
            <p:cNvCxnSpPr/>
            <p:nvPr/>
          </p:nvCxnSpPr>
          <p:spPr bwMode="gray">
            <a:xfrm flipV="1">
              <a:off x="1415479" y="400506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bwMode="gray">
            <a:xfrm>
              <a:off x="1194287" y="400506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2" name="矩形 91"/>
          <p:cNvSpPr/>
          <p:nvPr/>
        </p:nvSpPr>
        <p:spPr bwMode="gray">
          <a:xfrm>
            <a:off x="2696837" y="4275221"/>
            <a:ext cx="1494320"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矩形 92"/>
          <p:cNvSpPr/>
          <p:nvPr/>
        </p:nvSpPr>
        <p:spPr bwMode="gray">
          <a:xfrm>
            <a:off x="2704849" y="3346156"/>
            <a:ext cx="1478290"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1.1.1.1/32</a:t>
            </a:r>
          </a:p>
        </p:txBody>
      </p:sp>
      <p:grpSp>
        <p:nvGrpSpPr>
          <p:cNvPr id="94" name="组合 93"/>
          <p:cNvGrpSpPr/>
          <p:nvPr/>
        </p:nvGrpSpPr>
        <p:grpSpPr bwMode="gray">
          <a:xfrm>
            <a:off x="8636805" y="3672733"/>
            <a:ext cx="442385" cy="432048"/>
            <a:chOff x="1194287" y="4005064"/>
            <a:chExt cx="442385" cy="432048"/>
          </a:xfrm>
        </p:grpSpPr>
        <p:cxnSp>
          <p:nvCxnSpPr>
            <p:cNvPr id="95" name="直接连接符 94"/>
            <p:cNvCxnSpPr/>
            <p:nvPr/>
          </p:nvCxnSpPr>
          <p:spPr bwMode="gray">
            <a:xfrm flipV="1">
              <a:off x="1415479" y="400506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bwMode="gray">
            <a:xfrm>
              <a:off x="1194287" y="400506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7" name="矩形 96"/>
          <p:cNvSpPr/>
          <p:nvPr/>
        </p:nvSpPr>
        <p:spPr bwMode="gray">
          <a:xfrm>
            <a:off x="8110838" y="4275221"/>
            <a:ext cx="1494320"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矩形 97"/>
          <p:cNvSpPr/>
          <p:nvPr/>
        </p:nvSpPr>
        <p:spPr bwMode="gray">
          <a:xfrm>
            <a:off x="8118856" y="3346156"/>
            <a:ext cx="1478290"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VTEP</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 2.2.2.2/32</a:t>
            </a:r>
          </a:p>
        </p:txBody>
      </p:sp>
      <p:sp>
        <p:nvSpPr>
          <p:cNvPr id="99" name="圆柱形 98"/>
          <p:cNvSpPr/>
          <p:nvPr/>
        </p:nvSpPr>
        <p:spPr bwMode="gray">
          <a:xfrm rot="16200000">
            <a:off x="5949567" y="1977055"/>
            <a:ext cx="292867" cy="4059315"/>
          </a:xfrm>
          <a:prstGeom prst="can">
            <a:avLst>
              <a:gd name="adj" fmla="val 72803"/>
            </a:avLst>
          </a:prstGeom>
          <a:solidFill>
            <a:srgbClr val="EC7061"/>
          </a:solidFill>
          <a:ln w="12700" cap="flat" cmpd="sng" algn="ctr">
            <a:solidFill>
              <a:sysClr val="window" lastClr="FFFFF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999">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矩形 99"/>
          <p:cNvSpPr/>
          <p:nvPr/>
        </p:nvSpPr>
        <p:spPr bwMode="gray">
          <a:xfrm>
            <a:off x="4948891" y="3863821"/>
            <a:ext cx="2294218" cy="307777"/>
          </a:xfrm>
          <a:prstGeom prst="rect">
            <a:avLst/>
          </a:prstGeom>
        </p:spPr>
        <p:txBody>
          <a:bodyPr wrap="none">
            <a:spAutoFit/>
          </a:bodyPr>
          <a:lstStyle/>
          <a:p>
            <a:pPr algn="just"/>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a:t>
            </a: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VNI 1000</a:t>
            </a:r>
            <a:r>
              <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101" name="矩形 100"/>
          <p:cNvSpPr/>
          <p:nvPr/>
        </p:nvSpPr>
        <p:spPr bwMode="gray">
          <a:xfrm>
            <a:off x="862023" y="4401819"/>
            <a:ext cx="1553630" cy="738664"/>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PC1 </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172.16.1.1/24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0000-0000-000A</a:t>
            </a:r>
          </a:p>
        </p:txBody>
      </p:sp>
      <p:cxnSp>
        <p:nvCxnSpPr>
          <p:cNvPr id="102" name="直接连接符 101"/>
          <p:cNvCxnSpPr/>
          <p:nvPr/>
        </p:nvCxnSpPr>
        <p:spPr bwMode="gray">
          <a:xfrm>
            <a:off x="1860950" y="4104781"/>
            <a:ext cx="137816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3" name="矩形 102"/>
          <p:cNvSpPr/>
          <p:nvPr/>
        </p:nvSpPr>
        <p:spPr bwMode="gray">
          <a:xfrm>
            <a:off x="9684303" y="4401819"/>
            <a:ext cx="1544013" cy="738664"/>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PC2 </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172.16.1.2/24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0000-0000-000B</a:t>
            </a:r>
          </a:p>
        </p:txBody>
      </p:sp>
      <p:pic>
        <p:nvPicPr>
          <p:cNvPr id="104" name="图片 87" descr="汇聚交换机.png"/>
          <p:cNvPicPr>
            <a:picLocks noChangeAspect="1"/>
          </p:cNvPicPr>
          <p:nvPr/>
        </p:nvPicPr>
        <p:blipFill>
          <a:blip r:embed="rId3"/>
          <a:stretch>
            <a:fillRect/>
          </a:stretch>
        </p:blipFill>
        <p:spPr bwMode="gray">
          <a:xfrm>
            <a:off x="3192585" y="3863821"/>
            <a:ext cx="502820" cy="411400"/>
          </a:xfrm>
          <a:prstGeom prst="rect">
            <a:avLst/>
          </a:prstGeom>
        </p:spPr>
      </p:pic>
      <p:pic>
        <p:nvPicPr>
          <p:cNvPr id="105" name="图片 87" descr="汇聚交换机.png"/>
          <p:cNvPicPr>
            <a:picLocks noChangeAspect="1"/>
          </p:cNvPicPr>
          <p:nvPr/>
        </p:nvPicPr>
        <p:blipFill>
          <a:blip r:embed="rId3"/>
          <a:stretch>
            <a:fillRect/>
          </a:stretch>
        </p:blipFill>
        <p:spPr bwMode="gray">
          <a:xfrm>
            <a:off x="8624431" y="3863821"/>
            <a:ext cx="502820" cy="411400"/>
          </a:xfrm>
          <a:prstGeom prst="rect">
            <a:avLst/>
          </a:prstGeom>
        </p:spPr>
      </p:pic>
      <p:pic>
        <p:nvPicPr>
          <p:cNvPr id="106" name="图片 11" descr="开放网络-蓝.png"/>
          <p:cNvPicPr>
            <a:picLocks noChangeAspect="1"/>
          </p:cNvPicPr>
          <p:nvPr/>
        </p:nvPicPr>
        <p:blipFill>
          <a:blip r:embed="rId4" cstate="print"/>
          <a:stretch>
            <a:fillRect/>
          </a:stretch>
        </p:blipFill>
        <p:spPr bwMode="gray">
          <a:xfrm>
            <a:off x="1415859" y="3939446"/>
            <a:ext cx="445956" cy="343290"/>
          </a:xfrm>
          <a:prstGeom prst="rect">
            <a:avLst/>
          </a:prstGeom>
        </p:spPr>
      </p:pic>
      <p:pic>
        <p:nvPicPr>
          <p:cNvPr id="107" name="图片 11" descr="开放网络-蓝.png"/>
          <p:cNvPicPr>
            <a:picLocks noChangeAspect="1"/>
          </p:cNvPicPr>
          <p:nvPr/>
        </p:nvPicPr>
        <p:blipFill>
          <a:blip r:embed="rId4" cstate="print"/>
          <a:stretch>
            <a:fillRect/>
          </a:stretch>
        </p:blipFill>
        <p:spPr bwMode="gray">
          <a:xfrm>
            <a:off x="10233330" y="3939446"/>
            <a:ext cx="445956" cy="343290"/>
          </a:xfrm>
          <a:prstGeom prst="rect">
            <a:avLst/>
          </a:prstGeom>
        </p:spPr>
      </p:pic>
      <p:sp>
        <p:nvSpPr>
          <p:cNvPr id="30" name="矩形 29"/>
          <p:cNvSpPr/>
          <p:nvPr/>
        </p:nvSpPr>
        <p:spPr bwMode="gray">
          <a:xfrm>
            <a:off x="2101792" y="5652804"/>
            <a:ext cx="713658" cy="338400"/>
          </a:xfrm>
          <a:prstGeom prst="rect">
            <a:avLst/>
          </a:prstGeom>
          <a:solidFill>
            <a:schemeClr val="bg1">
              <a:lumMod val="95000"/>
            </a:schemeClr>
          </a:solidFill>
          <a:ln w="19050">
            <a:noFill/>
          </a:ln>
        </p:spPr>
        <p:txBody>
          <a:bodyPr wrap="none" anchor="ctr" anchorCtr="0">
            <a:no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帧</a:t>
            </a:r>
          </a:p>
        </p:txBody>
      </p:sp>
      <p:sp>
        <p:nvSpPr>
          <p:cNvPr id="31" name="矩形 30"/>
          <p:cNvSpPr/>
          <p:nvPr/>
        </p:nvSpPr>
        <p:spPr bwMode="gray">
          <a:xfrm>
            <a:off x="1172649" y="5652804"/>
            <a:ext cx="954017" cy="338400"/>
          </a:xfrm>
          <a:prstGeom prst="rect">
            <a:avLst/>
          </a:prstGeom>
          <a:solidFill>
            <a:schemeClr val="bg1">
              <a:lumMod val="85000"/>
            </a:schemeClr>
          </a:solidFill>
          <a:ln w="19050">
            <a:noFill/>
          </a:ln>
        </p:spPr>
        <p:txBody>
          <a:bodyPr wrap="none" anchor="ctr" anchorCtr="0">
            <a:no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以太网帧头</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2" name="直接连接符 31"/>
          <p:cNvCxnSpPr/>
          <p:nvPr/>
        </p:nvCxnSpPr>
        <p:spPr bwMode="gray">
          <a:xfrm flipH="1">
            <a:off x="1172649" y="5543736"/>
            <a:ext cx="2135013" cy="0"/>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bwMode="gray">
          <a:xfrm flipH="1">
            <a:off x="3549003" y="5543736"/>
            <a:ext cx="4845698" cy="0"/>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sp>
        <p:nvSpPr>
          <p:cNvPr id="34" name="矩形 33"/>
          <p:cNvSpPr/>
          <p:nvPr/>
        </p:nvSpPr>
        <p:spPr bwMode="gray">
          <a:xfrm>
            <a:off x="7168964" y="5652804"/>
            <a:ext cx="1004879" cy="338400"/>
          </a:xfrm>
          <a:prstGeom prst="rect">
            <a:avLst/>
          </a:prstGeom>
          <a:solidFill>
            <a:schemeClr val="bg1">
              <a:lumMod val="95000"/>
            </a:schemeClr>
          </a:solidFill>
          <a:ln w="19050">
            <a:noFill/>
          </a:ln>
        </p:spPr>
        <p:txBody>
          <a:bodyPr wrap="none" anchor="ctr" anchorCtr="0">
            <a:no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原始数据帧</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矩形 34"/>
          <p:cNvSpPr/>
          <p:nvPr/>
        </p:nvSpPr>
        <p:spPr bwMode="gray">
          <a:xfrm>
            <a:off x="6160235" y="5652804"/>
            <a:ext cx="1004879" cy="338400"/>
          </a:xfrm>
          <a:prstGeom prst="rect">
            <a:avLst/>
          </a:prstGeom>
          <a:solidFill>
            <a:srgbClr val="EC7061"/>
          </a:solidFill>
          <a:ln w="19050">
            <a:solidFill>
              <a:schemeClr val="bg1"/>
            </a:solidFill>
          </a:ln>
        </p:spPr>
        <p:txBody>
          <a:bodyPr wrap="none" anchor="ctr" anchorCtr="0">
            <a:noAutofit/>
          </a:bodyPr>
          <a:lstStyle/>
          <a:p>
            <a:pPr algn="ctr"/>
            <a:r>
              <a:rPr lang="en-US" altLang="zh-CN"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头部</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39"/>
          <p:cNvSpPr/>
          <p:nvPr/>
        </p:nvSpPr>
        <p:spPr bwMode="gray">
          <a:xfrm>
            <a:off x="5158504" y="5652804"/>
            <a:ext cx="1004879" cy="338400"/>
          </a:xfrm>
          <a:prstGeom prst="rect">
            <a:avLst/>
          </a:prstGeom>
          <a:solidFill>
            <a:schemeClr val="bg1">
              <a:lumMod val="75000"/>
            </a:schemeClr>
          </a:solidFill>
          <a:ln w="19050">
            <a:noFill/>
          </a:ln>
        </p:spPr>
        <p:txBody>
          <a:bodyPr wrap="none" anchor="ctr" anchorCtr="0">
            <a:noAutofit/>
          </a:bodyPr>
          <a:lstStyle/>
          <a:p>
            <a:pPr algn="ctr"/>
            <a:r>
              <a:rPr lang="en-US" altLang="zh-CN" sz="12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UDP</a:t>
            </a:r>
            <a:r>
              <a:rPr lang="zh-CN" altLang="en-US" sz="12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头部</a:t>
            </a:r>
            <a:endParaRPr lang="zh-CN" altLang="en-US"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40"/>
          <p:cNvSpPr/>
          <p:nvPr/>
        </p:nvSpPr>
        <p:spPr bwMode="gray">
          <a:xfrm>
            <a:off x="4543045" y="5652804"/>
            <a:ext cx="625571" cy="338400"/>
          </a:xfrm>
          <a:prstGeom prst="rect">
            <a:avLst/>
          </a:prstGeom>
          <a:solidFill>
            <a:schemeClr val="bg1">
              <a:lumMod val="75000"/>
            </a:schemeClr>
          </a:solidFill>
          <a:ln w="19050">
            <a:noFill/>
          </a:ln>
        </p:spPr>
        <p:txBody>
          <a:bodyPr wrap="none" anchor="ctr" anchorCtr="0">
            <a:noAutofit/>
          </a:bodyPr>
          <a:lstStyle/>
          <a:p>
            <a:pPr algn="ctr"/>
            <a:r>
              <a:rPr lang="en-US" altLang="zh-CN" sz="12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头部</a:t>
            </a:r>
            <a:endParaRPr lang="zh-CN" altLang="en-US"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bwMode="gray">
          <a:xfrm>
            <a:off x="3587103" y="5652804"/>
            <a:ext cx="954017" cy="338400"/>
          </a:xfrm>
          <a:prstGeom prst="rect">
            <a:avLst/>
          </a:prstGeom>
          <a:solidFill>
            <a:schemeClr val="bg1">
              <a:lumMod val="75000"/>
            </a:schemeClr>
          </a:solidFill>
          <a:ln w="19050">
            <a:noFill/>
          </a:ln>
        </p:spPr>
        <p:txBody>
          <a:bodyPr wrap="none" anchor="ctr" anchorCtr="0">
            <a:noAutofit/>
          </a:bodyPr>
          <a:lstStyle/>
          <a:p>
            <a:pPr algn="ctr"/>
            <a:r>
              <a:rPr lang="zh-CN" altLang="en-US" sz="12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以太网帧头</a:t>
            </a:r>
            <a:endParaRPr lang="zh-CN" altLang="en-US"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6" name="直接连接符 45"/>
          <p:cNvCxnSpPr/>
          <p:nvPr/>
        </p:nvCxnSpPr>
        <p:spPr bwMode="gray">
          <a:xfrm flipH="1">
            <a:off x="8716788" y="5543736"/>
            <a:ext cx="2135013" cy="0"/>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sp>
        <p:nvSpPr>
          <p:cNvPr id="47" name="矩形 46"/>
          <p:cNvSpPr/>
          <p:nvPr/>
        </p:nvSpPr>
        <p:spPr bwMode="gray">
          <a:xfrm>
            <a:off x="9723553" y="5652804"/>
            <a:ext cx="713658" cy="338400"/>
          </a:xfrm>
          <a:prstGeom prst="rect">
            <a:avLst/>
          </a:prstGeom>
          <a:solidFill>
            <a:schemeClr val="bg1">
              <a:lumMod val="95000"/>
            </a:schemeClr>
          </a:solidFill>
          <a:ln w="19050">
            <a:noFill/>
          </a:ln>
        </p:spPr>
        <p:txBody>
          <a:bodyPr wrap="none" anchor="ctr" anchorCtr="0">
            <a:noAutofit/>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帧</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矩形 47"/>
          <p:cNvSpPr/>
          <p:nvPr/>
        </p:nvSpPr>
        <p:spPr bwMode="gray">
          <a:xfrm>
            <a:off x="8794410" y="5652804"/>
            <a:ext cx="954017" cy="338400"/>
          </a:xfrm>
          <a:prstGeom prst="rect">
            <a:avLst/>
          </a:prstGeom>
          <a:solidFill>
            <a:schemeClr val="bg1">
              <a:lumMod val="85000"/>
            </a:schemeClr>
          </a:solidFill>
          <a:ln w="19050">
            <a:noFill/>
          </a:ln>
        </p:spPr>
        <p:txBody>
          <a:bodyPr wrap="none" anchor="ctr" anchorCtr="0">
            <a:no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以太网帧头</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椭圆 48"/>
          <p:cNvSpPr>
            <a:spLocks noChangeAspect="1"/>
          </p:cNvSpPr>
          <p:nvPr/>
        </p:nvSpPr>
        <p:spPr bwMode="gray">
          <a:xfrm>
            <a:off x="983821" y="5454623"/>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椭圆 49"/>
          <p:cNvSpPr>
            <a:spLocks noChangeAspect="1"/>
          </p:cNvSpPr>
          <p:nvPr/>
        </p:nvSpPr>
        <p:spPr bwMode="gray">
          <a:xfrm>
            <a:off x="3467013" y="5454623"/>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椭圆 50"/>
          <p:cNvSpPr>
            <a:spLocks noChangeAspect="1"/>
          </p:cNvSpPr>
          <p:nvPr/>
        </p:nvSpPr>
        <p:spPr bwMode="gray">
          <a:xfrm>
            <a:off x="8658030" y="5454623"/>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60" name="表格 59"/>
          <p:cNvGraphicFramePr>
            <a:graphicFrameLocks noGrp="1"/>
          </p:cNvGraphicFramePr>
          <p:nvPr>
            <p:extLst>
              <p:ext uri="{D42A27DB-BD31-4B8C-83A1-F6EECF244321}">
                <p14:modId xmlns:p14="http://schemas.microsoft.com/office/powerpoint/2010/main" val="2452371983"/>
              </p:ext>
            </p:extLst>
          </p:nvPr>
        </p:nvGraphicFramePr>
        <p:xfrm>
          <a:off x="1944936" y="2706226"/>
          <a:ext cx="3096160" cy="548640"/>
        </p:xfrm>
        <a:graphic>
          <a:graphicData uri="http://schemas.openxmlformats.org/drawingml/2006/table">
            <a:tbl>
              <a:tblPr firstRow="1" bandRow="1">
                <a:tableStyleId>{5940675A-B579-460E-94D1-54222C63F5DA}</a:tableStyleId>
              </a:tblPr>
              <a:tblGrid>
                <a:gridCol w="1440160">
                  <a:extLst>
                    <a:ext uri="{9D8B030D-6E8A-4147-A177-3AD203B41FA5}">
                      <a16:colId xmlns:a16="http://schemas.microsoft.com/office/drawing/2014/main" val="20000"/>
                    </a:ext>
                  </a:extLst>
                </a:gridCol>
                <a:gridCol w="432000">
                  <a:extLst>
                    <a:ext uri="{9D8B030D-6E8A-4147-A177-3AD203B41FA5}">
                      <a16:colId xmlns:a16="http://schemas.microsoft.com/office/drawing/2014/main" val="20001"/>
                    </a:ext>
                  </a:extLst>
                </a:gridCol>
                <a:gridCol w="1224000">
                  <a:extLst>
                    <a:ext uri="{9D8B030D-6E8A-4147-A177-3AD203B41FA5}">
                      <a16:colId xmlns:a16="http://schemas.microsoft.com/office/drawing/2014/main" val="20002"/>
                    </a:ext>
                  </a:extLst>
                </a:gridCol>
              </a:tblGrid>
              <a:tr h="0">
                <a:tc>
                  <a:txBody>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地址</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BD</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学习自</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0"/>
                  </a:ext>
                </a:extLst>
              </a:tr>
              <a:tr h="0">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0000-0000-000A</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10</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Port1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61" name="表格 60"/>
          <p:cNvGraphicFramePr>
            <a:graphicFrameLocks noGrp="1"/>
          </p:cNvGraphicFramePr>
          <p:nvPr>
            <p:extLst>
              <p:ext uri="{D42A27DB-BD31-4B8C-83A1-F6EECF244321}">
                <p14:modId xmlns:p14="http://schemas.microsoft.com/office/powerpoint/2010/main" val="3551774811"/>
              </p:ext>
            </p:extLst>
          </p:nvPr>
        </p:nvGraphicFramePr>
        <p:xfrm>
          <a:off x="7257879" y="2706226"/>
          <a:ext cx="3096160" cy="548640"/>
        </p:xfrm>
        <a:graphic>
          <a:graphicData uri="http://schemas.openxmlformats.org/drawingml/2006/table">
            <a:tbl>
              <a:tblPr firstRow="1" bandRow="1">
                <a:tableStyleId>{5940675A-B579-460E-94D1-54222C63F5DA}</a:tableStyleId>
              </a:tblPr>
              <a:tblGrid>
                <a:gridCol w="1440160">
                  <a:extLst>
                    <a:ext uri="{9D8B030D-6E8A-4147-A177-3AD203B41FA5}">
                      <a16:colId xmlns:a16="http://schemas.microsoft.com/office/drawing/2014/main" val="20000"/>
                    </a:ext>
                  </a:extLst>
                </a:gridCol>
                <a:gridCol w="432000">
                  <a:extLst>
                    <a:ext uri="{9D8B030D-6E8A-4147-A177-3AD203B41FA5}">
                      <a16:colId xmlns:a16="http://schemas.microsoft.com/office/drawing/2014/main" val="20001"/>
                    </a:ext>
                  </a:extLst>
                </a:gridCol>
                <a:gridCol w="1224000">
                  <a:extLst>
                    <a:ext uri="{9D8B030D-6E8A-4147-A177-3AD203B41FA5}">
                      <a16:colId xmlns:a16="http://schemas.microsoft.com/office/drawing/2014/main" val="20002"/>
                    </a:ext>
                  </a:extLst>
                </a:gridCol>
              </a:tblGrid>
              <a:tr h="0">
                <a:tc>
                  <a:txBody>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地址</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BD</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学习自</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0"/>
                  </a:ext>
                </a:extLst>
              </a:tr>
              <a:tr h="0">
                <a:tc>
                  <a:txBody>
                    <a:bodyPr/>
                    <a:lstStyle/>
                    <a:p>
                      <a:pPr algn="ctr"/>
                      <a:r>
                        <a:rPr lang="en-US" altLang="zh-CN" sz="12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0000-0000-000A</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10</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1.1.1.1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62" name="椭圆 61"/>
          <p:cNvSpPr>
            <a:spLocks noChangeAspect="1"/>
          </p:cNvSpPr>
          <p:nvPr/>
        </p:nvSpPr>
        <p:spPr bwMode="gray">
          <a:xfrm>
            <a:off x="1828696" y="2649896"/>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椭圆 62"/>
          <p:cNvSpPr>
            <a:spLocks noChangeAspect="1"/>
          </p:cNvSpPr>
          <p:nvPr/>
        </p:nvSpPr>
        <p:spPr bwMode="gray">
          <a:xfrm>
            <a:off x="7165114" y="2649896"/>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矩形 65"/>
          <p:cNvSpPr/>
          <p:nvPr/>
        </p:nvSpPr>
        <p:spPr bwMode="gray">
          <a:xfrm>
            <a:off x="1139973" y="5191402"/>
            <a:ext cx="2082621"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发送</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广播请求。</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矩形 66"/>
          <p:cNvSpPr/>
          <p:nvPr/>
        </p:nvSpPr>
        <p:spPr bwMode="gray">
          <a:xfrm>
            <a:off x="2000803" y="2352720"/>
            <a:ext cx="2518638"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学习到</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矩形 68"/>
          <p:cNvSpPr/>
          <p:nvPr/>
        </p:nvSpPr>
        <p:spPr bwMode="gray">
          <a:xfrm>
            <a:off x="7285879" y="2352720"/>
            <a:ext cx="2518638"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学习到</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矩形 69"/>
          <p:cNvSpPr/>
          <p:nvPr/>
        </p:nvSpPr>
        <p:spPr bwMode="gray">
          <a:xfrm>
            <a:off x="8774270" y="5191402"/>
            <a:ext cx="2454518"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将</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报文转发给</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矩形 71"/>
          <p:cNvSpPr/>
          <p:nvPr/>
        </p:nvSpPr>
        <p:spPr bwMode="gray">
          <a:xfrm>
            <a:off x="2701399" y="3830711"/>
            <a:ext cx="561372" cy="276999"/>
          </a:xfrm>
          <a:prstGeom prst="rect">
            <a:avLst/>
          </a:prstGeom>
        </p:spPr>
        <p:txBody>
          <a:bodyPr wrap="none">
            <a:spAutoFit/>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Port1</a:t>
            </a:r>
          </a:p>
        </p:txBody>
      </p:sp>
      <p:sp>
        <p:nvSpPr>
          <p:cNvPr id="73" name="矩形 72"/>
          <p:cNvSpPr/>
          <p:nvPr/>
        </p:nvSpPr>
        <p:spPr bwMode="gray">
          <a:xfrm>
            <a:off x="9110973" y="3830711"/>
            <a:ext cx="561372" cy="276999"/>
          </a:xfrm>
          <a:prstGeom prst="rect">
            <a:avLst/>
          </a:prstGeom>
        </p:spPr>
        <p:txBody>
          <a:bodyPr wrap="none">
            <a:spAutoFit/>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Port1</a:t>
            </a:r>
          </a:p>
        </p:txBody>
      </p:sp>
      <p:sp>
        <p:nvSpPr>
          <p:cNvPr id="74" name="矩形 73"/>
          <p:cNvSpPr/>
          <p:nvPr/>
        </p:nvSpPr>
        <p:spPr bwMode="gray">
          <a:xfrm>
            <a:off x="3691206" y="4995307"/>
            <a:ext cx="5025582" cy="523220"/>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将报文进行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封装，并将</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报文进行泛洪（向所有同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VNI</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内的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节点转发）。</a:t>
            </a:r>
          </a:p>
        </p:txBody>
      </p:sp>
      <p:sp>
        <p:nvSpPr>
          <p:cNvPr id="52" name="圆角矩形 51"/>
          <p:cNvSpPr/>
          <p:nvPr/>
        </p:nvSpPr>
        <p:spPr bwMode="gray">
          <a:xfrm>
            <a:off x="446088" y="1233438"/>
            <a:ext cx="11291896" cy="1269731"/>
          </a:xfrm>
          <a:prstGeom prst="roundRect">
            <a:avLst>
              <a:gd name="adj" fmla="val 718"/>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36000" rtlCol="0" anchor="t" anchorCtr="0"/>
          <a:lstStyle/>
          <a:p>
            <a:pPr marL="285750" indent="-285750">
              <a:lnSpc>
                <a:spcPts val="2400"/>
              </a:lnSpc>
              <a:spcAft>
                <a:spcPts val="600"/>
              </a:spcAft>
              <a:buFont typeface="Arial" panose="020B0604020202020204" pitchFamily="34" charset="0"/>
              <a:buChar char="•"/>
            </a:pP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圆角矩形 52"/>
          <p:cNvSpPr/>
          <p:nvPr/>
        </p:nvSpPr>
        <p:spPr bwMode="gray">
          <a:xfrm>
            <a:off x="731838" y="1054100"/>
            <a:ext cx="10728325" cy="829722"/>
          </a:xfrm>
          <a:prstGeom prst="roundRect">
            <a:avLst>
              <a:gd name="adj" fmla="val 718"/>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36000" rtlCol="0" anchor="t" anchorCtr="0"/>
          <a:lstStyle/>
          <a:p>
            <a:pPr marL="285750" indent="-285750">
              <a:lnSpc>
                <a:spcPts val="2400"/>
              </a:lnSpc>
              <a:spcAft>
                <a:spcPts val="600"/>
              </a:spcAft>
              <a:buFont typeface="Arial" panose="020B0604020202020204" pitchFamily="34" charset="0"/>
              <a:buChar char="•"/>
            </a:pP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五边形 24">
            <a:extLst>
              <a:ext uri="{FF2B5EF4-FFF2-40B4-BE49-F238E27FC236}">
                <a16:creationId xmlns:a16="http://schemas.microsoft.com/office/drawing/2014/main" id="{66BA07AD-FEEF-4CB3-8D55-B5A235B0FBAC}"/>
              </a:ext>
            </a:extLst>
          </p:cNvPr>
          <p:cNvSpPr/>
          <p:nvPr/>
        </p:nvSpPr>
        <p:spPr bwMode="gray">
          <a:xfrm>
            <a:off x="8582129" y="124239"/>
            <a:ext cx="956654" cy="213120"/>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隧道建立</a:t>
            </a:r>
          </a:p>
        </p:txBody>
      </p:sp>
      <p:sp>
        <p:nvSpPr>
          <p:cNvPr id="56" name="燕尾形 26">
            <a:extLst>
              <a:ext uri="{FF2B5EF4-FFF2-40B4-BE49-F238E27FC236}">
                <a16:creationId xmlns:a16="http://schemas.microsoft.com/office/drawing/2014/main" id="{0C19331F-8FCC-488E-9C32-A3F774208D1E}"/>
              </a:ext>
            </a:extLst>
          </p:cNvPr>
          <p:cNvSpPr/>
          <p:nvPr/>
        </p:nvSpPr>
        <p:spPr bwMode="gray">
          <a:xfrm>
            <a:off x="10636767" y="124239"/>
            <a:ext cx="1079024"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数据帧转发</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燕尾形 26">
            <a:extLst>
              <a:ext uri="{FF2B5EF4-FFF2-40B4-BE49-F238E27FC236}">
                <a16:creationId xmlns:a16="http://schemas.microsoft.com/office/drawing/2014/main" id="{5C797163-D6D3-4ACC-996D-421D87F18D19}"/>
              </a:ext>
            </a:extLst>
          </p:cNvPr>
          <p:cNvSpPr/>
          <p:nvPr/>
        </p:nvSpPr>
        <p:spPr bwMode="gray">
          <a:xfrm>
            <a:off x="9474253" y="124239"/>
            <a:ext cx="1227043"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地址学习</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427417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a:sym typeface="Huawei Sans" panose="020C0503030203020204" pitchFamily="34" charset="0"/>
              </a:rPr>
              <a:t>MAC</a:t>
            </a:r>
            <a:r>
              <a:rPr lang="zh-CN" altLang="en-US">
                <a:sym typeface="Huawei Sans" panose="020C0503030203020204" pitchFamily="34" charset="0"/>
              </a:rPr>
              <a:t>地址动态学习 </a:t>
            </a:r>
            <a:r>
              <a:rPr lang="en-US" altLang="zh-CN">
                <a:sym typeface="Huawei Sans" panose="020C0503030203020204" pitchFamily="34" charset="0"/>
              </a:rPr>
              <a:t>(2)</a:t>
            </a:r>
            <a:endParaRPr lang="zh-CN" altLang="en-US" dirty="0">
              <a:sym typeface="Huawei Sans" panose="020C0503030203020204" pitchFamily="34" charset="0"/>
            </a:endParaRPr>
          </a:p>
        </p:txBody>
      </p:sp>
      <p:cxnSp>
        <p:nvCxnSpPr>
          <p:cNvPr id="88" name="直接连接符 87"/>
          <p:cNvCxnSpPr/>
          <p:nvPr/>
        </p:nvCxnSpPr>
        <p:spPr bwMode="gray">
          <a:xfrm>
            <a:off x="8857997" y="3431200"/>
            <a:ext cx="13753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9" name="组合 88"/>
          <p:cNvGrpSpPr/>
          <p:nvPr/>
        </p:nvGrpSpPr>
        <p:grpSpPr bwMode="gray">
          <a:xfrm>
            <a:off x="3222802" y="2999152"/>
            <a:ext cx="442385" cy="432048"/>
            <a:chOff x="1194287" y="4005064"/>
            <a:chExt cx="442385" cy="432048"/>
          </a:xfrm>
        </p:grpSpPr>
        <p:cxnSp>
          <p:nvCxnSpPr>
            <p:cNvPr id="90" name="直接连接符 89"/>
            <p:cNvCxnSpPr/>
            <p:nvPr/>
          </p:nvCxnSpPr>
          <p:spPr bwMode="gray">
            <a:xfrm flipV="1">
              <a:off x="1415479" y="400506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bwMode="gray">
            <a:xfrm>
              <a:off x="1194287" y="400506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2" name="矩形 91"/>
          <p:cNvSpPr/>
          <p:nvPr/>
        </p:nvSpPr>
        <p:spPr bwMode="gray">
          <a:xfrm>
            <a:off x="2696837" y="3601640"/>
            <a:ext cx="1494320"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矩形 92"/>
          <p:cNvSpPr/>
          <p:nvPr/>
        </p:nvSpPr>
        <p:spPr bwMode="gray">
          <a:xfrm>
            <a:off x="2704849" y="2672575"/>
            <a:ext cx="1478290"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VTEP</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 1.1.1.1/32</a:t>
            </a:r>
          </a:p>
        </p:txBody>
      </p:sp>
      <p:grpSp>
        <p:nvGrpSpPr>
          <p:cNvPr id="94" name="组合 93"/>
          <p:cNvGrpSpPr/>
          <p:nvPr/>
        </p:nvGrpSpPr>
        <p:grpSpPr bwMode="gray">
          <a:xfrm>
            <a:off x="8636805" y="2999152"/>
            <a:ext cx="442385" cy="432048"/>
            <a:chOff x="1194287" y="4005064"/>
            <a:chExt cx="442385" cy="432048"/>
          </a:xfrm>
        </p:grpSpPr>
        <p:cxnSp>
          <p:nvCxnSpPr>
            <p:cNvPr id="95" name="直接连接符 94"/>
            <p:cNvCxnSpPr/>
            <p:nvPr/>
          </p:nvCxnSpPr>
          <p:spPr bwMode="gray">
            <a:xfrm flipV="1">
              <a:off x="1415479" y="400506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bwMode="gray">
            <a:xfrm>
              <a:off x="1194287" y="400506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7" name="矩形 96"/>
          <p:cNvSpPr/>
          <p:nvPr/>
        </p:nvSpPr>
        <p:spPr bwMode="gray">
          <a:xfrm>
            <a:off x="8110838" y="3601640"/>
            <a:ext cx="1494320"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矩形 97"/>
          <p:cNvSpPr/>
          <p:nvPr/>
        </p:nvSpPr>
        <p:spPr bwMode="gray">
          <a:xfrm>
            <a:off x="8118856" y="2672575"/>
            <a:ext cx="1478290"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VTEP</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 2.2.2.2/32</a:t>
            </a:r>
          </a:p>
        </p:txBody>
      </p:sp>
      <p:sp>
        <p:nvSpPr>
          <p:cNvPr id="99" name="圆柱形 98"/>
          <p:cNvSpPr/>
          <p:nvPr/>
        </p:nvSpPr>
        <p:spPr bwMode="gray">
          <a:xfrm rot="16200000">
            <a:off x="5949567" y="1303474"/>
            <a:ext cx="292867" cy="4059315"/>
          </a:xfrm>
          <a:prstGeom prst="can">
            <a:avLst>
              <a:gd name="adj" fmla="val 72803"/>
            </a:avLst>
          </a:prstGeom>
          <a:solidFill>
            <a:srgbClr val="EC7061"/>
          </a:solidFill>
          <a:ln w="12700" cap="flat" cmpd="sng" algn="ctr">
            <a:solidFill>
              <a:sysClr val="window" lastClr="FFFFF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999">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矩形 99"/>
          <p:cNvSpPr/>
          <p:nvPr/>
        </p:nvSpPr>
        <p:spPr bwMode="gray">
          <a:xfrm>
            <a:off x="4948891" y="3190240"/>
            <a:ext cx="2294218" cy="307777"/>
          </a:xfrm>
          <a:prstGeom prst="rect">
            <a:avLst/>
          </a:prstGeom>
        </p:spPr>
        <p:txBody>
          <a:bodyPr wrap="none">
            <a:spAutoFit/>
          </a:bodyPr>
          <a:lstStyle/>
          <a:p>
            <a:pPr algn="just"/>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a:t>
            </a: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VNI 1000</a:t>
            </a:r>
            <a:r>
              <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101" name="矩形 100"/>
          <p:cNvSpPr/>
          <p:nvPr/>
        </p:nvSpPr>
        <p:spPr bwMode="gray">
          <a:xfrm>
            <a:off x="862023" y="3728238"/>
            <a:ext cx="1553630" cy="738664"/>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PC1 </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172.16.1.1/24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0000-0000-000A</a:t>
            </a:r>
          </a:p>
        </p:txBody>
      </p:sp>
      <p:cxnSp>
        <p:nvCxnSpPr>
          <p:cNvPr id="102" name="直接连接符 101"/>
          <p:cNvCxnSpPr/>
          <p:nvPr/>
        </p:nvCxnSpPr>
        <p:spPr bwMode="gray">
          <a:xfrm>
            <a:off x="1860950" y="3431200"/>
            <a:ext cx="137816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3" name="矩形 102"/>
          <p:cNvSpPr/>
          <p:nvPr/>
        </p:nvSpPr>
        <p:spPr bwMode="gray">
          <a:xfrm>
            <a:off x="9684303" y="3728238"/>
            <a:ext cx="1544013" cy="738664"/>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PC2 </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172.16.1.2/24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0000-0000-000B</a:t>
            </a:r>
          </a:p>
        </p:txBody>
      </p:sp>
      <p:pic>
        <p:nvPicPr>
          <p:cNvPr id="104" name="图片 87" descr="汇聚交换机.png"/>
          <p:cNvPicPr>
            <a:picLocks noChangeAspect="1"/>
          </p:cNvPicPr>
          <p:nvPr/>
        </p:nvPicPr>
        <p:blipFill>
          <a:blip r:embed="rId3"/>
          <a:stretch>
            <a:fillRect/>
          </a:stretch>
        </p:blipFill>
        <p:spPr bwMode="gray">
          <a:xfrm>
            <a:off x="3192585" y="3190240"/>
            <a:ext cx="502820" cy="411400"/>
          </a:xfrm>
          <a:prstGeom prst="rect">
            <a:avLst/>
          </a:prstGeom>
        </p:spPr>
      </p:pic>
      <p:pic>
        <p:nvPicPr>
          <p:cNvPr id="105" name="图片 87" descr="汇聚交换机.png"/>
          <p:cNvPicPr>
            <a:picLocks noChangeAspect="1"/>
          </p:cNvPicPr>
          <p:nvPr/>
        </p:nvPicPr>
        <p:blipFill>
          <a:blip r:embed="rId3"/>
          <a:stretch>
            <a:fillRect/>
          </a:stretch>
        </p:blipFill>
        <p:spPr bwMode="gray">
          <a:xfrm>
            <a:off x="8624431" y="3190240"/>
            <a:ext cx="502820" cy="411400"/>
          </a:xfrm>
          <a:prstGeom prst="rect">
            <a:avLst/>
          </a:prstGeom>
        </p:spPr>
      </p:pic>
      <p:pic>
        <p:nvPicPr>
          <p:cNvPr id="106" name="图片 11" descr="开放网络-蓝.png"/>
          <p:cNvPicPr>
            <a:picLocks noChangeAspect="1"/>
          </p:cNvPicPr>
          <p:nvPr/>
        </p:nvPicPr>
        <p:blipFill>
          <a:blip r:embed="rId4" cstate="print"/>
          <a:stretch>
            <a:fillRect/>
          </a:stretch>
        </p:blipFill>
        <p:spPr bwMode="gray">
          <a:xfrm>
            <a:off x="1415859" y="3265865"/>
            <a:ext cx="445956" cy="343290"/>
          </a:xfrm>
          <a:prstGeom prst="rect">
            <a:avLst/>
          </a:prstGeom>
        </p:spPr>
      </p:pic>
      <p:pic>
        <p:nvPicPr>
          <p:cNvPr id="107" name="图片 11" descr="开放网络-蓝.png"/>
          <p:cNvPicPr>
            <a:picLocks noChangeAspect="1"/>
          </p:cNvPicPr>
          <p:nvPr/>
        </p:nvPicPr>
        <p:blipFill>
          <a:blip r:embed="rId4" cstate="print"/>
          <a:stretch>
            <a:fillRect/>
          </a:stretch>
        </p:blipFill>
        <p:spPr bwMode="gray">
          <a:xfrm>
            <a:off x="10233330" y="3265865"/>
            <a:ext cx="445956" cy="343290"/>
          </a:xfrm>
          <a:prstGeom prst="rect">
            <a:avLst/>
          </a:prstGeom>
        </p:spPr>
      </p:pic>
      <p:sp>
        <p:nvSpPr>
          <p:cNvPr id="30" name="矩形 29"/>
          <p:cNvSpPr/>
          <p:nvPr/>
        </p:nvSpPr>
        <p:spPr bwMode="gray">
          <a:xfrm>
            <a:off x="2101792" y="4979223"/>
            <a:ext cx="713658" cy="338400"/>
          </a:xfrm>
          <a:prstGeom prst="rect">
            <a:avLst/>
          </a:prstGeom>
          <a:solidFill>
            <a:schemeClr val="bg1">
              <a:lumMod val="95000"/>
            </a:schemeClr>
          </a:solidFill>
          <a:ln w="19050">
            <a:noFill/>
          </a:ln>
        </p:spPr>
        <p:txBody>
          <a:bodyPr wrap="none" anchor="ctr" anchorCtr="0">
            <a:noAutofit/>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帧</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矩形 30"/>
          <p:cNvSpPr/>
          <p:nvPr/>
        </p:nvSpPr>
        <p:spPr bwMode="gray">
          <a:xfrm>
            <a:off x="1172649" y="4979223"/>
            <a:ext cx="954017" cy="338400"/>
          </a:xfrm>
          <a:prstGeom prst="rect">
            <a:avLst/>
          </a:prstGeom>
          <a:solidFill>
            <a:schemeClr val="bg1">
              <a:lumMod val="85000"/>
            </a:schemeClr>
          </a:solidFill>
          <a:ln w="19050">
            <a:noFill/>
          </a:ln>
        </p:spPr>
        <p:txBody>
          <a:bodyPr wrap="none" anchor="ctr" anchorCtr="0">
            <a:no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以太网帧头</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2" name="直接连接符 31"/>
          <p:cNvCxnSpPr/>
          <p:nvPr/>
        </p:nvCxnSpPr>
        <p:spPr bwMode="gray">
          <a:xfrm flipH="1">
            <a:off x="1172649" y="4870155"/>
            <a:ext cx="2135013" cy="0"/>
          </a:xfrm>
          <a:prstGeom prst="line">
            <a:avLst/>
          </a:prstGeom>
          <a:ln w="38100">
            <a:solidFill>
              <a:srgbClr val="EC706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bwMode="gray">
          <a:xfrm flipH="1">
            <a:off x="3549003" y="4870155"/>
            <a:ext cx="4845698" cy="0"/>
          </a:xfrm>
          <a:prstGeom prst="line">
            <a:avLst/>
          </a:prstGeom>
          <a:ln w="38100">
            <a:solidFill>
              <a:srgbClr val="EC706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矩形 33"/>
          <p:cNvSpPr/>
          <p:nvPr/>
        </p:nvSpPr>
        <p:spPr bwMode="gray">
          <a:xfrm>
            <a:off x="7168964" y="4979223"/>
            <a:ext cx="1004879" cy="338400"/>
          </a:xfrm>
          <a:prstGeom prst="rect">
            <a:avLst/>
          </a:prstGeom>
          <a:solidFill>
            <a:schemeClr val="bg1">
              <a:lumMod val="95000"/>
            </a:schemeClr>
          </a:solidFill>
          <a:ln w="19050">
            <a:noFill/>
          </a:ln>
        </p:spPr>
        <p:txBody>
          <a:bodyPr wrap="none" anchor="ctr" anchorCtr="0">
            <a:no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原始数据帧</a:t>
            </a:r>
          </a:p>
        </p:txBody>
      </p:sp>
      <p:sp>
        <p:nvSpPr>
          <p:cNvPr id="35" name="矩形 34"/>
          <p:cNvSpPr/>
          <p:nvPr/>
        </p:nvSpPr>
        <p:spPr bwMode="gray">
          <a:xfrm>
            <a:off x="6160235" y="4979223"/>
            <a:ext cx="1004879" cy="338400"/>
          </a:xfrm>
          <a:prstGeom prst="rect">
            <a:avLst/>
          </a:prstGeom>
          <a:solidFill>
            <a:srgbClr val="EC7061"/>
          </a:solidFill>
          <a:ln w="19050">
            <a:solidFill>
              <a:schemeClr val="bg1"/>
            </a:solidFill>
          </a:ln>
        </p:spPr>
        <p:txBody>
          <a:bodyPr wrap="none" anchor="ctr" anchorCtr="0">
            <a:no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封装</a:t>
            </a:r>
          </a:p>
        </p:txBody>
      </p:sp>
      <p:sp>
        <p:nvSpPr>
          <p:cNvPr id="40" name="矩形 39"/>
          <p:cNvSpPr/>
          <p:nvPr/>
        </p:nvSpPr>
        <p:spPr bwMode="gray">
          <a:xfrm>
            <a:off x="5158504" y="4979223"/>
            <a:ext cx="1004879" cy="338400"/>
          </a:xfrm>
          <a:prstGeom prst="rect">
            <a:avLst/>
          </a:prstGeom>
          <a:solidFill>
            <a:schemeClr val="bg1">
              <a:lumMod val="75000"/>
            </a:schemeClr>
          </a:solidFill>
          <a:ln w="19050">
            <a:noFill/>
          </a:ln>
        </p:spPr>
        <p:txBody>
          <a:bodyPr wrap="none" anchor="ctr" anchorCtr="0">
            <a:noAutofit/>
          </a:bodyPr>
          <a:lstStyle/>
          <a:p>
            <a:pPr algn="ctr"/>
            <a:r>
              <a:rPr lang="en-US" altLang="zh-CN" sz="12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UDP</a:t>
            </a:r>
            <a:r>
              <a:rPr lang="zh-CN" altLang="en-US" sz="12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头部</a:t>
            </a:r>
            <a:endParaRPr lang="zh-CN" altLang="en-US"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40"/>
          <p:cNvSpPr/>
          <p:nvPr/>
        </p:nvSpPr>
        <p:spPr bwMode="gray">
          <a:xfrm>
            <a:off x="4543045" y="4979223"/>
            <a:ext cx="625571" cy="338400"/>
          </a:xfrm>
          <a:prstGeom prst="rect">
            <a:avLst/>
          </a:prstGeom>
          <a:solidFill>
            <a:schemeClr val="bg1">
              <a:lumMod val="75000"/>
            </a:schemeClr>
          </a:solidFill>
          <a:ln w="19050">
            <a:noFill/>
          </a:ln>
        </p:spPr>
        <p:txBody>
          <a:bodyPr wrap="none" anchor="ctr" anchorCtr="0">
            <a:noAutofit/>
          </a:bodyPr>
          <a:lstStyle/>
          <a:p>
            <a:pPr algn="ctr"/>
            <a:r>
              <a:rPr lang="en-US" altLang="zh-CN" sz="12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头部</a:t>
            </a:r>
            <a:endParaRPr lang="zh-CN" altLang="en-US"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bwMode="gray">
          <a:xfrm>
            <a:off x="3587103" y="4979223"/>
            <a:ext cx="954017" cy="338400"/>
          </a:xfrm>
          <a:prstGeom prst="rect">
            <a:avLst/>
          </a:prstGeom>
          <a:solidFill>
            <a:schemeClr val="bg1">
              <a:lumMod val="75000"/>
            </a:schemeClr>
          </a:solidFill>
          <a:ln w="19050">
            <a:noFill/>
          </a:ln>
        </p:spPr>
        <p:txBody>
          <a:bodyPr wrap="none" anchor="ctr" anchorCtr="0">
            <a:noAutofit/>
          </a:bodyPr>
          <a:lstStyle/>
          <a:p>
            <a:pPr algn="ctr"/>
            <a:r>
              <a:rPr lang="zh-CN" altLang="en-US" sz="12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以太网帧头</a:t>
            </a:r>
            <a:endParaRPr lang="zh-CN" altLang="en-US"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6" name="直接连接符 45"/>
          <p:cNvCxnSpPr/>
          <p:nvPr/>
        </p:nvCxnSpPr>
        <p:spPr bwMode="gray">
          <a:xfrm flipH="1">
            <a:off x="8716788" y="4870155"/>
            <a:ext cx="2135013" cy="0"/>
          </a:xfrm>
          <a:prstGeom prst="line">
            <a:avLst/>
          </a:prstGeom>
          <a:ln w="38100">
            <a:solidFill>
              <a:srgbClr val="EC706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7" name="矩形 46"/>
          <p:cNvSpPr/>
          <p:nvPr/>
        </p:nvSpPr>
        <p:spPr bwMode="gray">
          <a:xfrm>
            <a:off x="9723553" y="4979223"/>
            <a:ext cx="713658" cy="338400"/>
          </a:xfrm>
          <a:prstGeom prst="rect">
            <a:avLst/>
          </a:prstGeom>
          <a:solidFill>
            <a:schemeClr val="bg1">
              <a:lumMod val="95000"/>
            </a:schemeClr>
          </a:solidFill>
          <a:ln w="19050">
            <a:noFill/>
          </a:ln>
        </p:spPr>
        <p:txBody>
          <a:bodyPr wrap="none" anchor="ctr" anchorCtr="0">
            <a:noAutofit/>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帧</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矩形 47"/>
          <p:cNvSpPr/>
          <p:nvPr/>
        </p:nvSpPr>
        <p:spPr bwMode="gray">
          <a:xfrm>
            <a:off x="8794410" y="4979223"/>
            <a:ext cx="954017" cy="338400"/>
          </a:xfrm>
          <a:prstGeom prst="rect">
            <a:avLst/>
          </a:prstGeom>
          <a:solidFill>
            <a:schemeClr val="bg1">
              <a:lumMod val="85000"/>
            </a:schemeClr>
          </a:solidFill>
          <a:ln w="19050">
            <a:noFill/>
          </a:ln>
        </p:spPr>
        <p:txBody>
          <a:bodyPr wrap="none" anchor="ctr" anchorCtr="0">
            <a:no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以太网帧头</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椭圆 48"/>
          <p:cNvSpPr>
            <a:spLocks noChangeAspect="1"/>
          </p:cNvSpPr>
          <p:nvPr/>
        </p:nvSpPr>
        <p:spPr bwMode="gray">
          <a:xfrm>
            <a:off x="3140533" y="4781042"/>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10</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椭圆 49"/>
          <p:cNvSpPr>
            <a:spLocks noChangeAspect="1"/>
          </p:cNvSpPr>
          <p:nvPr/>
        </p:nvSpPr>
        <p:spPr bwMode="gray">
          <a:xfrm>
            <a:off x="8278461" y="4781042"/>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8</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椭圆 50"/>
          <p:cNvSpPr>
            <a:spLocks noChangeAspect="1"/>
          </p:cNvSpPr>
          <p:nvPr/>
        </p:nvSpPr>
        <p:spPr bwMode="gray">
          <a:xfrm>
            <a:off x="10814742" y="4781042"/>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6</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60" name="表格 59"/>
          <p:cNvGraphicFramePr>
            <a:graphicFrameLocks noGrp="1"/>
          </p:cNvGraphicFramePr>
          <p:nvPr>
            <p:extLst>
              <p:ext uri="{D42A27DB-BD31-4B8C-83A1-F6EECF244321}">
                <p14:modId xmlns:p14="http://schemas.microsoft.com/office/powerpoint/2010/main" val="314252887"/>
              </p:ext>
            </p:extLst>
          </p:nvPr>
        </p:nvGraphicFramePr>
        <p:xfrm>
          <a:off x="1944936" y="1758325"/>
          <a:ext cx="3096160" cy="822960"/>
        </p:xfrm>
        <a:graphic>
          <a:graphicData uri="http://schemas.openxmlformats.org/drawingml/2006/table">
            <a:tbl>
              <a:tblPr firstRow="1" bandRow="1">
                <a:tableStyleId>{5940675A-B579-460E-94D1-54222C63F5DA}</a:tableStyleId>
              </a:tblPr>
              <a:tblGrid>
                <a:gridCol w="1440160">
                  <a:extLst>
                    <a:ext uri="{9D8B030D-6E8A-4147-A177-3AD203B41FA5}">
                      <a16:colId xmlns:a16="http://schemas.microsoft.com/office/drawing/2014/main" val="20000"/>
                    </a:ext>
                  </a:extLst>
                </a:gridCol>
                <a:gridCol w="432000">
                  <a:extLst>
                    <a:ext uri="{9D8B030D-6E8A-4147-A177-3AD203B41FA5}">
                      <a16:colId xmlns:a16="http://schemas.microsoft.com/office/drawing/2014/main" val="20001"/>
                    </a:ext>
                  </a:extLst>
                </a:gridCol>
                <a:gridCol w="1224000">
                  <a:extLst>
                    <a:ext uri="{9D8B030D-6E8A-4147-A177-3AD203B41FA5}">
                      <a16:colId xmlns:a16="http://schemas.microsoft.com/office/drawing/2014/main" val="20002"/>
                    </a:ext>
                  </a:extLst>
                </a:gridCol>
              </a:tblGrid>
              <a:tr h="0">
                <a:tc>
                  <a:txBody>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地址</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BD</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学习自</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0"/>
                  </a:ext>
                </a:extLst>
              </a:tr>
              <a:tr h="0">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0000-0000-000A</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10</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Port1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0">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0000-0000-000B</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2.2.2.2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61" name="表格 60"/>
          <p:cNvGraphicFramePr>
            <a:graphicFrameLocks noGrp="1"/>
          </p:cNvGraphicFramePr>
          <p:nvPr>
            <p:extLst>
              <p:ext uri="{D42A27DB-BD31-4B8C-83A1-F6EECF244321}">
                <p14:modId xmlns:p14="http://schemas.microsoft.com/office/powerpoint/2010/main" val="3832101966"/>
              </p:ext>
            </p:extLst>
          </p:nvPr>
        </p:nvGraphicFramePr>
        <p:xfrm>
          <a:off x="7257879" y="1758325"/>
          <a:ext cx="3096160" cy="822960"/>
        </p:xfrm>
        <a:graphic>
          <a:graphicData uri="http://schemas.openxmlformats.org/drawingml/2006/table">
            <a:tbl>
              <a:tblPr firstRow="1" bandRow="1">
                <a:tableStyleId>{5940675A-B579-460E-94D1-54222C63F5DA}</a:tableStyleId>
              </a:tblPr>
              <a:tblGrid>
                <a:gridCol w="1440160">
                  <a:extLst>
                    <a:ext uri="{9D8B030D-6E8A-4147-A177-3AD203B41FA5}">
                      <a16:colId xmlns:a16="http://schemas.microsoft.com/office/drawing/2014/main" val="20000"/>
                    </a:ext>
                  </a:extLst>
                </a:gridCol>
                <a:gridCol w="432000">
                  <a:extLst>
                    <a:ext uri="{9D8B030D-6E8A-4147-A177-3AD203B41FA5}">
                      <a16:colId xmlns:a16="http://schemas.microsoft.com/office/drawing/2014/main" val="20001"/>
                    </a:ext>
                  </a:extLst>
                </a:gridCol>
                <a:gridCol w="1224000">
                  <a:extLst>
                    <a:ext uri="{9D8B030D-6E8A-4147-A177-3AD203B41FA5}">
                      <a16:colId xmlns:a16="http://schemas.microsoft.com/office/drawing/2014/main" val="20002"/>
                    </a:ext>
                  </a:extLst>
                </a:gridCol>
              </a:tblGrid>
              <a:tr h="0">
                <a:tc>
                  <a:txBody>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地址</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BD</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学习自</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0"/>
                  </a:ext>
                </a:extLst>
              </a:tr>
              <a:tr h="0">
                <a:tc>
                  <a:txBody>
                    <a:bodyPr/>
                    <a:lstStyle/>
                    <a:p>
                      <a:pPr algn="ctr"/>
                      <a:r>
                        <a:rPr lang="en-US" altLang="zh-CN" sz="12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0000-0000-000A</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10</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1.1.1.1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0">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0000-0000-000B</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Port1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2" name="椭圆 61"/>
          <p:cNvSpPr>
            <a:spLocks noChangeAspect="1"/>
          </p:cNvSpPr>
          <p:nvPr/>
        </p:nvSpPr>
        <p:spPr bwMode="gray">
          <a:xfrm>
            <a:off x="1828696" y="1701995"/>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9</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椭圆 62"/>
          <p:cNvSpPr>
            <a:spLocks noChangeAspect="1"/>
          </p:cNvSpPr>
          <p:nvPr/>
        </p:nvSpPr>
        <p:spPr bwMode="gray">
          <a:xfrm>
            <a:off x="7165114" y="1701995"/>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7</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矩形 65"/>
          <p:cNvSpPr/>
          <p:nvPr/>
        </p:nvSpPr>
        <p:spPr bwMode="gray">
          <a:xfrm>
            <a:off x="1139973" y="4517821"/>
            <a:ext cx="2454518"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将</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报文转发给</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矩形 66"/>
          <p:cNvSpPr/>
          <p:nvPr/>
        </p:nvSpPr>
        <p:spPr bwMode="gray">
          <a:xfrm>
            <a:off x="2000803" y="1404819"/>
            <a:ext cx="2518638"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学习到</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矩形 68"/>
          <p:cNvSpPr/>
          <p:nvPr/>
        </p:nvSpPr>
        <p:spPr bwMode="gray">
          <a:xfrm>
            <a:off x="7285879" y="1404819"/>
            <a:ext cx="2518638"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学习到</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矩形 69"/>
          <p:cNvSpPr/>
          <p:nvPr/>
        </p:nvSpPr>
        <p:spPr bwMode="gray">
          <a:xfrm>
            <a:off x="8774270" y="4517821"/>
            <a:ext cx="2082621"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发送单播</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响应。</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矩形 71"/>
          <p:cNvSpPr/>
          <p:nvPr/>
        </p:nvSpPr>
        <p:spPr bwMode="gray">
          <a:xfrm>
            <a:off x="2701399" y="3157130"/>
            <a:ext cx="561372" cy="276999"/>
          </a:xfrm>
          <a:prstGeom prst="rect">
            <a:avLst/>
          </a:prstGeom>
        </p:spPr>
        <p:txBody>
          <a:bodyPr wrap="none">
            <a:spAutoFit/>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Port1</a:t>
            </a:r>
          </a:p>
        </p:txBody>
      </p:sp>
      <p:sp>
        <p:nvSpPr>
          <p:cNvPr id="73" name="矩形 72"/>
          <p:cNvSpPr/>
          <p:nvPr/>
        </p:nvSpPr>
        <p:spPr bwMode="gray">
          <a:xfrm>
            <a:off x="9110973" y="3157130"/>
            <a:ext cx="561372" cy="276999"/>
          </a:xfrm>
          <a:prstGeom prst="rect">
            <a:avLst/>
          </a:prstGeom>
        </p:spPr>
        <p:txBody>
          <a:bodyPr wrap="none">
            <a:spAutoFit/>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Port1</a:t>
            </a:r>
          </a:p>
        </p:txBody>
      </p:sp>
      <p:sp>
        <p:nvSpPr>
          <p:cNvPr id="74" name="矩形 73"/>
          <p:cNvSpPr/>
          <p:nvPr/>
        </p:nvSpPr>
        <p:spPr bwMode="gray">
          <a:xfrm>
            <a:off x="3588336" y="4324075"/>
            <a:ext cx="5025582" cy="523220"/>
          </a:xfrm>
          <a:prstGeom prst="rect">
            <a:avLst/>
          </a:prstGeom>
        </p:spPr>
        <p:txBody>
          <a:bodyPr wrap="square">
            <a:spAutoFit/>
          </a:bodyPr>
          <a:lstStyle/>
          <a:p>
            <a:pPr font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查找</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地址表，依据</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地址表项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{0000-0000-000A</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1.1.1.1}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，将</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数据帧封装之后发送给</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1.1.1.1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59" name="圆角矩形 58"/>
          <p:cNvSpPr/>
          <p:nvPr/>
        </p:nvSpPr>
        <p:spPr bwMode="gray">
          <a:xfrm>
            <a:off x="1172650" y="5573531"/>
            <a:ext cx="9874572" cy="493648"/>
          </a:xfrm>
          <a:prstGeom prst="roundRect">
            <a:avLst>
              <a:gd name="adj" fmla="val 2303"/>
            </a:avLst>
          </a:prstGeom>
          <a:solidFill>
            <a:srgbClr val="FFF7E1"/>
          </a:solidFill>
          <a:ln w="12700" cap="flat" cmpd="sng" algn="ctr">
            <a:solidFill>
              <a:srgbClr val="FCC800"/>
            </a:solidFill>
            <a:prstDash val="solid"/>
            <a:miter lim="800000"/>
          </a:ln>
          <a:effectLst/>
        </p:spPr>
        <p:txBody>
          <a:bodyPr rtlCol="0" anchor="ctr"/>
          <a:lstStyle/>
          <a:p>
            <a:pPr defTabSz="914400">
              <a:lnSpc>
                <a:spcPts val="2200"/>
              </a:lnSpc>
            </a:pPr>
            <a:r>
              <a:rPr lang="zh-CN" altLang="en-US"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至此</a:t>
            </a:r>
            <a:r>
              <a:rPr lang="en-US" altLang="zh-CN"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相互学习到了对方的</a:t>
            </a:r>
            <a:r>
              <a:rPr lang="en-US" altLang="zh-CN"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信息，</a:t>
            </a:r>
            <a:r>
              <a:rPr lang="en-US" altLang="zh-CN"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完成了</a:t>
            </a:r>
            <a:r>
              <a:rPr lang="en-US" altLang="zh-CN"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PC2</a:t>
            </a:r>
            <a:r>
              <a:rPr lang="zh-CN" altLang="en-US"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地址学习，该过程也叫做</a:t>
            </a:r>
            <a:r>
              <a:rPr lang="en-US" altLang="zh-CN" sz="1400" b="1"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Flood and Learn</a:t>
            </a:r>
            <a:r>
              <a:rPr lang="zh-CN" altLang="en-US"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54" name="五边形 24">
            <a:extLst>
              <a:ext uri="{FF2B5EF4-FFF2-40B4-BE49-F238E27FC236}">
                <a16:creationId xmlns:a16="http://schemas.microsoft.com/office/drawing/2014/main" id="{66BA07AD-FEEF-4CB3-8D55-B5A235B0FBAC}"/>
              </a:ext>
            </a:extLst>
          </p:cNvPr>
          <p:cNvSpPr/>
          <p:nvPr/>
        </p:nvSpPr>
        <p:spPr bwMode="gray">
          <a:xfrm>
            <a:off x="8582133" y="124239"/>
            <a:ext cx="956654" cy="213120"/>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隧道建立</a:t>
            </a:r>
          </a:p>
        </p:txBody>
      </p:sp>
      <p:sp>
        <p:nvSpPr>
          <p:cNvPr id="55" name="燕尾形 26">
            <a:extLst>
              <a:ext uri="{FF2B5EF4-FFF2-40B4-BE49-F238E27FC236}">
                <a16:creationId xmlns:a16="http://schemas.microsoft.com/office/drawing/2014/main" id="{0C19331F-8FCC-488E-9C32-A3F774208D1E}"/>
              </a:ext>
            </a:extLst>
          </p:cNvPr>
          <p:cNvSpPr/>
          <p:nvPr/>
        </p:nvSpPr>
        <p:spPr bwMode="gray">
          <a:xfrm>
            <a:off x="10636771" y="124239"/>
            <a:ext cx="1079024"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数据帧转发</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燕尾形 26">
            <a:extLst>
              <a:ext uri="{FF2B5EF4-FFF2-40B4-BE49-F238E27FC236}">
                <a16:creationId xmlns:a16="http://schemas.microsoft.com/office/drawing/2014/main" id="{5C797163-D6D3-4ACC-996D-421D87F18D19}"/>
              </a:ext>
            </a:extLst>
          </p:cNvPr>
          <p:cNvSpPr/>
          <p:nvPr/>
        </p:nvSpPr>
        <p:spPr bwMode="gray">
          <a:xfrm>
            <a:off x="9474257" y="124239"/>
            <a:ext cx="1227043"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地址学习</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2050291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sym typeface="Huawei Sans" panose="020C0503030203020204" pitchFamily="34" charset="0"/>
              </a:rPr>
              <a:t>同子网已知目的地址单播报文转发</a:t>
            </a:r>
            <a:endParaRPr lang="zh-CN" altLang="en-US" dirty="0">
              <a:sym typeface="Huawei Sans" panose="020C0503030203020204" pitchFamily="34" charset="0"/>
            </a:endParaRPr>
          </a:p>
        </p:txBody>
      </p:sp>
      <p:cxnSp>
        <p:nvCxnSpPr>
          <p:cNvPr id="88" name="直接连接符 87"/>
          <p:cNvCxnSpPr/>
          <p:nvPr/>
        </p:nvCxnSpPr>
        <p:spPr bwMode="gray">
          <a:xfrm>
            <a:off x="8857997" y="3315411"/>
            <a:ext cx="13753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9" name="组合 88"/>
          <p:cNvGrpSpPr/>
          <p:nvPr/>
        </p:nvGrpSpPr>
        <p:grpSpPr bwMode="gray">
          <a:xfrm>
            <a:off x="3222802" y="2883363"/>
            <a:ext cx="442385" cy="432048"/>
            <a:chOff x="1194287" y="4005064"/>
            <a:chExt cx="442385" cy="432048"/>
          </a:xfrm>
        </p:grpSpPr>
        <p:cxnSp>
          <p:nvCxnSpPr>
            <p:cNvPr id="90" name="直接连接符 89"/>
            <p:cNvCxnSpPr/>
            <p:nvPr/>
          </p:nvCxnSpPr>
          <p:spPr bwMode="gray">
            <a:xfrm flipV="1">
              <a:off x="1415479" y="400506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bwMode="gray">
            <a:xfrm>
              <a:off x="1194287" y="400506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2" name="矩形 91"/>
          <p:cNvSpPr/>
          <p:nvPr/>
        </p:nvSpPr>
        <p:spPr bwMode="gray">
          <a:xfrm>
            <a:off x="2696837" y="3485851"/>
            <a:ext cx="1494320"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矩形 92"/>
          <p:cNvSpPr/>
          <p:nvPr/>
        </p:nvSpPr>
        <p:spPr bwMode="gray">
          <a:xfrm>
            <a:off x="2704849" y="2556786"/>
            <a:ext cx="1478290"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VTEP</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 1.1.1.1/32</a:t>
            </a:r>
          </a:p>
        </p:txBody>
      </p:sp>
      <p:grpSp>
        <p:nvGrpSpPr>
          <p:cNvPr id="94" name="组合 93"/>
          <p:cNvGrpSpPr/>
          <p:nvPr/>
        </p:nvGrpSpPr>
        <p:grpSpPr bwMode="gray">
          <a:xfrm>
            <a:off x="8636805" y="2883363"/>
            <a:ext cx="442385" cy="432048"/>
            <a:chOff x="1194287" y="4005064"/>
            <a:chExt cx="442385" cy="432048"/>
          </a:xfrm>
        </p:grpSpPr>
        <p:cxnSp>
          <p:nvCxnSpPr>
            <p:cNvPr id="95" name="直接连接符 94"/>
            <p:cNvCxnSpPr/>
            <p:nvPr/>
          </p:nvCxnSpPr>
          <p:spPr bwMode="gray">
            <a:xfrm flipV="1">
              <a:off x="1415479" y="400506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bwMode="gray">
            <a:xfrm>
              <a:off x="1194287" y="400506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7" name="矩形 96"/>
          <p:cNvSpPr/>
          <p:nvPr/>
        </p:nvSpPr>
        <p:spPr bwMode="gray">
          <a:xfrm>
            <a:off x="8110838" y="3485851"/>
            <a:ext cx="1494320"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矩形 97"/>
          <p:cNvSpPr/>
          <p:nvPr/>
        </p:nvSpPr>
        <p:spPr bwMode="gray">
          <a:xfrm>
            <a:off x="8118856" y="2556786"/>
            <a:ext cx="1478290"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VTEP</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 2.2.2.2/32</a:t>
            </a:r>
          </a:p>
        </p:txBody>
      </p:sp>
      <p:sp>
        <p:nvSpPr>
          <p:cNvPr id="99" name="圆柱形 98"/>
          <p:cNvSpPr/>
          <p:nvPr/>
        </p:nvSpPr>
        <p:spPr bwMode="gray">
          <a:xfrm rot="16200000">
            <a:off x="5949567" y="1187685"/>
            <a:ext cx="292867" cy="4059315"/>
          </a:xfrm>
          <a:prstGeom prst="can">
            <a:avLst>
              <a:gd name="adj" fmla="val 72803"/>
            </a:avLst>
          </a:prstGeom>
          <a:solidFill>
            <a:srgbClr val="EC7061"/>
          </a:solidFill>
          <a:ln w="12700" cap="flat" cmpd="sng" algn="ctr">
            <a:solidFill>
              <a:sysClr val="window" lastClr="FFFFF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999">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矩形 99"/>
          <p:cNvSpPr/>
          <p:nvPr/>
        </p:nvSpPr>
        <p:spPr bwMode="gray">
          <a:xfrm>
            <a:off x="4948891" y="3074451"/>
            <a:ext cx="2294218" cy="307777"/>
          </a:xfrm>
          <a:prstGeom prst="rect">
            <a:avLst/>
          </a:prstGeom>
        </p:spPr>
        <p:txBody>
          <a:bodyPr wrap="none">
            <a:spAutoFit/>
          </a:bodyPr>
          <a:lstStyle/>
          <a:p>
            <a:pPr algn="just"/>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a:t>
            </a: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VNI 1000</a:t>
            </a:r>
            <a:r>
              <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101" name="矩形 100"/>
          <p:cNvSpPr/>
          <p:nvPr/>
        </p:nvSpPr>
        <p:spPr bwMode="gray">
          <a:xfrm>
            <a:off x="837978" y="3612449"/>
            <a:ext cx="1601721" cy="738664"/>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PC1 </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192.168.1.1/24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AAAA-0000-0001</a:t>
            </a:r>
          </a:p>
        </p:txBody>
      </p:sp>
      <p:cxnSp>
        <p:nvCxnSpPr>
          <p:cNvPr id="102" name="直接连接符 101"/>
          <p:cNvCxnSpPr/>
          <p:nvPr/>
        </p:nvCxnSpPr>
        <p:spPr bwMode="gray">
          <a:xfrm>
            <a:off x="1860950" y="3315411"/>
            <a:ext cx="137816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3" name="矩形 102"/>
          <p:cNvSpPr/>
          <p:nvPr/>
        </p:nvSpPr>
        <p:spPr bwMode="gray">
          <a:xfrm>
            <a:off x="9655449" y="3612449"/>
            <a:ext cx="1601721" cy="738664"/>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PC2 </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192.168.1.2/24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AAAA-0000-0002</a:t>
            </a:r>
          </a:p>
        </p:txBody>
      </p:sp>
      <p:pic>
        <p:nvPicPr>
          <p:cNvPr id="104" name="图片 87" descr="汇聚交换机.png"/>
          <p:cNvPicPr>
            <a:picLocks noChangeAspect="1"/>
          </p:cNvPicPr>
          <p:nvPr/>
        </p:nvPicPr>
        <p:blipFill>
          <a:blip r:embed="rId3"/>
          <a:stretch>
            <a:fillRect/>
          </a:stretch>
        </p:blipFill>
        <p:spPr bwMode="gray">
          <a:xfrm>
            <a:off x="3192585" y="3074451"/>
            <a:ext cx="502820" cy="411400"/>
          </a:xfrm>
          <a:prstGeom prst="rect">
            <a:avLst/>
          </a:prstGeom>
        </p:spPr>
      </p:pic>
      <p:pic>
        <p:nvPicPr>
          <p:cNvPr id="105" name="图片 87" descr="汇聚交换机.png"/>
          <p:cNvPicPr>
            <a:picLocks noChangeAspect="1"/>
          </p:cNvPicPr>
          <p:nvPr/>
        </p:nvPicPr>
        <p:blipFill>
          <a:blip r:embed="rId3"/>
          <a:stretch>
            <a:fillRect/>
          </a:stretch>
        </p:blipFill>
        <p:spPr bwMode="gray">
          <a:xfrm>
            <a:off x="8624431" y="3074451"/>
            <a:ext cx="502820" cy="411400"/>
          </a:xfrm>
          <a:prstGeom prst="rect">
            <a:avLst/>
          </a:prstGeom>
        </p:spPr>
      </p:pic>
      <p:pic>
        <p:nvPicPr>
          <p:cNvPr id="106" name="图片 11" descr="开放网络-蓝.png"/>
          <p:cNvPicPr>
            <a:picLocks noChangeAspect="1"/>
          </p:cNvPicPr>
          <p:nvPr/>
        </p:nvPicPr>
        <p:blipFill>
          <a:blip r:embed="rId4" cstate="print"/>
          <a:stretch>
            <a:fillRect/>
          </a:stretch>
        </p:blipFill>
        <p:spPr bwMode="gray">
          <a:xfrm>
            <a:off x="1415859" y="3150076"/>
            <a:ext cx="445956" cy="343290"/>
          </a:xfrm>
          <a:prstGeom prst="rect">
            <a:avLst/>
          </a:prstGeom>
        </p:spPr>
      </p:pic>
      <p:pic>
        <p:nvPicPr>
          <p:cNvPr id="107" name="图片 11" descr="开放网络-蓝.png"/>
          <p:cNvPicPr>
            <a:picLocks noChangeAspect="1"/>
          </p:cNvPicPr>
          <p:nvPr/>
        </p:nvPicPr>
        <p:blipFill>
          <a:blip r:embed="rId4" cstate="print"/>
          <a:stretch>
            <a:fillRect/>
          </a:stretch>
        </p:blipFill>
        <p:spPr bwMode="gray">
          <a:xfrm>
            <a:off x="10233330" y="3150076"/>
            <a:ext cx="445956" cy="343290"/>
          </a:xfrm>
          <a:prstGeom prst="rect">
            <a:avLst/>
          </a:prstGeom>
        </p:spPr>
      </p:pic>
      <p:sp>
        <p:nvSpPr>
          <p:cNvPr id="30" name="矩形 29"/>
          <p:cNvSpPr/>
          <p:nvPr/>
        </p:nvSpPr>
        <p:spPr bwMode="gray">
          <a:xfrm>
            <a:off x="2101792" y="5034884"/>
            <a:ext cx="713658" cy="338400"/>
          </a:xfrm>
          <a:prstGeom prst="rect">
            <a:avLst/>
          </a:prstGeom>
          <a:solidFill>
            <a:schemeClr val="bg1">
              <a:lumMod val="95000"/>
            </a:schemeClr>
          </a:solidFill>
          <a:ln w="19050">
            <a:noFill/>
          </a:ln>
        </p:spPr>
        <p:txBody>
          <a:bodyPr wrap="none" anchor="ctr" anchorCtr="0">
            <a:no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载荷</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矩形 30"/>
          <p:cNvSpPr/>
          <p:nvPr/>
        </p:nvSpPr>
        <p:spPr bwMode="gray">
          <a:xfrm>
            <a:off x="1172649" y="5034884"/>
            <a:ext cx="954017" cy="338400"/>
          </a:xfrm>
          <a:prstGeom prst="rect">
            <a:avLst/>
          </a:prstGeom>
          <a:solidFill>
            <a:schemeClr val="bg1">
              <a:lumMod val="85000"/>
            </a:schemeClr>
          </a:solidFill>
          <a:ln w="19050">
            <a:noFill/>
          </a:ln>
        </p:spPr>
        <p:txBody>
          <a:bodyPr wrap="none" anchor="ctr" anchorCtr="0">
            <a:no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以太网帧头</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2" name="直接连接符 31"/>
          <p:cNvCxnSpPr/>
          <p:nvPr/>
        </p:nvCxnSpPr>
        <p:spPr bwMode="gray">
          <a:xfrm flipH="1">
            <a:off x="1172649" y="4925816"/>
            <a:ext cx="2135013" cy="0"/>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bwMode="gray">
          <a:xfrm flipH="1">
            <a:off x="3549003" y="4925816"/>
            <a:ext cx="4845698" cy="0"/>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sp>
        <p:nvSpPr>
          <p:cNvPr id="34" name="矩形 33"/>
          <p:cNvSpPr/>
          <p:nvPr/>
        </p:nvSpPr>
        <p:spPr bwMode="gray">
          <a:xfrm>
            <a:off x="7168964" y="5034884"/>
            <a:ext cx="1004879" cy="338400"/>
          </a:xfrm>
          <a:prstGeom prst="rect">
            <a:avLst/>
          </a:prstGeom>
          <a:solidFill>
            <a:schemeClr val="bg1">
              <a:lumMod val="95000"/>
            </a:schemeClr>
          </a:solidFill>
          <a:ln w="19050">
            <a:noFill/>
          </a:ln>
        </p:spPr>
        <p:txBody>
          <a:bodyPr wrap="none" anchor="ctr" anchorCtr="0">
            <a:no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原始数据帧</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矩形 34"/>
          <p:cNvSpPr/>
          <p:nvPr/>
        </p:nvSpPr>
        <p:spPr bwMode="gray">
          <a:xfrm>
            <a:off x="6160235" y="5034884"/>
            <a:ext cx="1004879" cy="338400"/>
          </a:xfrm>
          <a:prstGeom prst="rect">
            <a:avLst/>
          </a:prstGeom>
          <a:solidFill>
            <a:srgbClr val="EC7061"/>
          </a:solidFill>
          <a:ln w="19050">
            <a:solidFill>
              <a:schemeClr val="bg1"/>
            </a:solidFill>
          </a:ln>
        </p:spPr>
        <p:txBody>
          <a:bodyPr wrap="none" anchor="ctr" anchorCtr="0">
            <a:noAutofit/>
          </a:bodyPr>
          <a:lstStyle/>
          <a:p>
            <a:pPr algn="ctr"/>
            <a:r>
              <a:rPr lang="en-US" altLang="zh-CN"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头部</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39"/>
          <p:cNvSpPr/>
          <p:nvPr/>
        </p:nvSpPr>
        <p:spPr bwMode="gray">
          <a:xfrm>
            <a:off x="5158504" y="5034884"/>
            <a:ext cx="1004879" cy="338400"/>
          </a:xfrm>
          <a:prstGeom prst="rect">
            <a:avLst/>
          </a:prstGeom>
          <a:solidFill>
            <a:schemeClr val="bg1">
              <a:lumMod val="75000"/>
            </a:schemeClr>
          </a:solidFill>
          <a:ln w="19050">
            <a:noFill/>
          </a:ln>
        </p:spPr>
        <p:txBody>
          <a:bodyPr wrap="none" anchor="ctr" anchorCtr="0">
            <a:noAutofit/>
          </a:bodyPr>
          <a:lstStyle/>
          <a:p>
            <a:pPr algn="ctr"/>
            <a:r>
              <a:rPr lang="en-US" altLang="zh-CN" sz="12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UDP</a:t>
            </a:r>
            <a:r>
              <a:rPr lang="zh-CN" altLang="en-US" sz="12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头部</a:t>
            </a:r>
            <a:endParaRPr lang="zh-CN" altLang="en-US"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40"/>
          <p:cNvSpPr/>
          <p:nvPr/>
        </p:nvSpPr>
        <p:spPr bwMode="gray">
          <a:xfrm>
            <a:off x="4543045" y="5034884"/>
            <a:ext cx="625571" cy="338400"/>
          </a:xfrm>
          <a:prstGeom prst="rect">
            <a:avLst/>
          </a:prstGeom>
          <a:solidFill>
            <a:schemeClr val="bg1">
              <a:lumMod val="75000"/>
            </a:schemeClr>
          </a:solidFill>
          <a:ln w="19050">
            <a:noFill/>
          </a:ln>
        </p:spPr>
        <p:txBody>
          <a:bodyPr wrap="none" anchor="ctr" anchorCtr="0">
            <a:noAutofit/>
          </a:bodyPr>
          <a:lstStyle/>
          <a:p>
            <a:pPr algn="ctr"/>
            <a:r>
              <a:rPr lang="en-US" altLang="zh-CN"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头部</a:t>
            </a:r>
          </a:p>
        </p:txBody>
      </p:sp>
      <p:sp>
        <p:nvSpPr>
          <p:cNvPr id="42" name="矩形 41"/>
          <p:cNvSpPr/>
          <p:nvPr/>
        </p:nvSpPr>
        <p:spPr bwMode="gray">
          <a:xfrm>
            <a:off x="3587103" y="5034884"/>
            <a:ext cx="954017" cy="338400"/>
          </a:xfrm>
          <a:prstGeom prst="rect">
            <a:avLst/>
          </a:prstGeom>
          <a:solidFill>
            <a:schemeClr val="bg1">
              <a:lumMod val="75000"/>
            </a:schemeClr>
          </a:solidFill>
          <a:ln w="19050">
            <a:noFill/>
          </a:ln>
        </p:spPr>
        <p:txBody>
          <a:bodyPr wrap="none" anchor="ctr" anchorCtr="0">
            <a:noAutofit/>
          </a:bodyPr>
          <a:lstStyle/>
          <a:p>
            <a:pPr algn="ctr"/>
            <a:r>
              <a:rPr lang="zh-CN" altLang="en-US" sz="12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以太网帧头</a:t>
            </a:r>
            <a:endParaRPr lang="zh-CN" altLang="en-US"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6" name="直接连接符 45"/>
          <p:cNvCxnSpPr/>
          <p:nvPr/>
        </p:nvCxnSpPr>
        <p:spPr bwMode="gray">
          <a:xfrm flipH="1">
            <a:off x="8716788" y="4925816"/>
            <a:ext cx="2135013" cy="0"/>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sp>
        <p:nvSpPr>
          <p:cNvPr id="47" name="矩形 46"/>
          <p:cNvSpPr/>
          <p:nvPr/>
        </p:nvSpPr>
        <p:spPr bwMode="gray">
          <a:xfrm>
            <a:off x="9723553" y="5034884"/>
            <a:ext cx="713658" cy="338400"/>
          </a:xfrm>
          <a:prstGeom prst="rect">
            <a:avLst/>
          </a:prstGeom>
          <a:solidFill>
            <a:schemeClr val="bg1">
              <a:lumMod val="95000"/>
            </a:schemeClr>
          </a:solidFill>
          <a:ln w="19050">
            <a:noFill/>
          </a:ln>
        </p:spPr>
        <p:txBody>
          <a:bodyPr wrap="none" anchor="ctr" anchorCtr="0">
            <a:no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载荷</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矩形 47"/>
          <p:cNvSpPr/>
          <p:nvPr/>
        </p:nvSpPr>
        <p:spPr bwMode="gray">
          <a:xfrm>
            <a:off x="8794410" y="5034884"/>
            <a:ext cx="954017" cy="338400"/>
          </a:xfrm>
          <a:prstGeom prst="rect">
            <a:avLst/>
          </a:prstGeom>
          <a:solidFill>
            <a:schemeClr val="bg1">
              <a:lumMod val="85000"/>
            </a:schemeClr>
          </a:solidFill>
          <a:ln w="19050">
            <a:noFill/>
          </a:ln>
        </p:spPr>
        <p:txBody>
          <a:bodyPr wrap="none" anchor="ctr" anchorCtr="0">
            <a:no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以太网帧头</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椭圆 48"/>
          <p:cNvSpPr>
            <a:spLocks noChangeAspect="1"/>
          </p:cNvSpPr>
          <p:nvPr/>
        </p:nvSpPr>
        <p:spPr bwMode="gray">
          <a:xfrm>
            <a:off x="983821" y="4836703"/>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椭圆 49"/>
          <p:cNvSpPr>
            <a:spLocks noChangeAspect="1"/>
          </p:cNvSpPr>
          <p:nvPr/>
        </p:nvSpPr>
        <p:spPr bwMode="gray">
          <a:xfrm>
            <a:off x="3467013" y="4836703"/>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椭圆 50"/>
          <p:cNvSpPr>
            <a:spLocks noChangeAspect="1"/>
          </p:cNvSpPr>
          <p:nvPr/>
        </p:nvSpPr>
        <p:spPr bwMode="gray">
          <a:xfrm>
            <a:off x="8658030" y="4836703"/>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矩形 65"/>
          <p:cNvSpPr/>
          <p:nvPr/>
        </p:nvSpPr>
        <p:spPr bwMode="gray">
          <a:xfrm>
            <a:off x="1139973" y="4573482"/>
            <a:ext cx="2066591"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发送单播帧给</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矩形 67"/>
          <p:cNvSpPr/>
          <p:nvPr/>
        </p:nvSpPr>
        <p:spPr bwMode="gray">
          <a:xfrm>
            <a:off x="3691206" y="4377387"/>
            <a:ext cx="5025582" cy="523220"/>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将报文进行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封装，然后增加新的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包头，报文的目的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地址为远端</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 SW2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的地址</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2.2.2.2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矩形 69"/>
          <p:cNvSpPr/>
          <p:nvPr/>
        </p:nvSpPr>
        <p:spPr bwMode="gray">
          <a:xfrm>
            <a:off x="8774270" y="4573482"/>
            <a:ext cx="2125903"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将报文转发给</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52" name="表格 51"/>
          <p:cNvGraphicFramePr>
            <a:graphicFrameLocks noGrp="1"/>
          </p:cNvGraphicFramePr>
          <p:nvPr>
            <p:extLst>
              <p:ext uri="{D42A27DB-BD31-4B8C-83A1-F6EECF244321}">
                <p14:modId xmlns:p14="http://schemas.microsoft.com/office/powerpoint/2010/main" val="3653512081"/>
              </p:ext>
            </p:extLst>
          </p:nvPr>
        </p:nvGraphicFramePr>
        <p:xfrm>
          <a:off x="1944936" y="1126140"/>
          <a:ext cx="3096160" cy="822960"/>
        </p:xfrm>
        <a:graphic>
          <a:graphicData uri="http://schemas.openxmlformats.org/drawingml/2006/table">
            <a:tbl>
              <a:tblPr firstRow="1" bandRow="1">
                <a:tableStyleId>{5940675A-B579-460E-94D1-54222C63F5DA}</a:tableStyleId>
              </a:tblPr>
              <a:tblGrid>
                <a:gridCol w="1440160">
                  <a:extLst>
                    <a:ext uri="{9D8B030D-6E8A-4147-A177-3AD203B41FA5}">
                      <a16:colId xmlns:a16="http://schemas.microsoft.com/office/drawing/2014/main" val="20000"/>
                    </a:ext>
                  </a:extLst>
                </a:gridCol>
                <a:gridCol w="432000">
                  <a:extLst>
                    <a:ext uri="{9D8B030D-6E8A-4147-A177-3AD203B41FA5}">
                      <a16:colId xmlns:a16="http://schemas.microsoft.com/office/drawing/2014/main" val="20001"/>
                    </a:ext>
                  </a:extLst>
                </a:gridCol>
                <a:gridCol w="1224000">
                  <a:extLst>
                    <a:ext uri="{9D8B030D-6E8A-4147-A177-3AD203B41FA5}">
                      <a16:colId xmlns:a16="http://schemas.microsoft.com/office/drawing/2014/main" val="20002"/>
                    </a:ext>
                  </a:extLst>
                </a:gridCol>
              </a:tblGrid>
              <a:tr h="0">
                <a:tc>
                  <a:txBody>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地址</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BD</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学习自</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0"/>
                  </a:ext>
                </a:extLst>
              </a:tr>
              <a:tr h="0">
                <a:tc>
                  <a:txBody>
                    <a:bodyPr/>
                    <a:lstStyle/>
                    <a:p>
                      <a:pPr algn="ctr"/>
                      <a:r>
                        <a:rPr lang="en-US" altLang="zh-CN" sz="12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AAAA-0000-0001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10</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tc>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Port1</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0">
                <a:tc>
                  <a:txBody>
                    <a:bodyPr/>
                    <a:lstStyle/>
                    <a:p>
                      <a:pPr algn="ctr"/>
                      <a:r>
                        <a:rPr lang="en-US" altLang="zh-CN" sz="12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AAAA-0000-0002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10</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2.2.2.2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53" name="表格 52"/>
          <p:cNvGraphicFramePr>
            <a:graphicFrameLocks noGrp="1"/>
          </p:cNvGraphicFramePr>
          <p:nvPr>
            <p:extLst>
              <p:ext uri="{D42A27DB-BD31-4B8C-83A1-F6EECF244321}">
                <p14:modId xmlns:p14="http://schemas.microsoft.com/office/powerpoint/2010/main" val="1393364465"/>
              </p:ext>
            </p:extLst>
          </p:nvPr>
        </p:nvGraphicFramePr>
        <p:xfrm>
          <a:off x="7257879" y="1126140"/>
          <a:ext cx="3096160" cy="822960"/>
        </p:xfrm>
        <a:graphic>
          <a:graphicData uri="http://schemas.openxmlformats.org/drawingml/2006/table">
            <a:tbl>
              <a:tblPr firstRow="1" bandRow="1">
                <a:tableStyleId>{5940675A-B579-460E-94D1-54222C63F5DA}</a:tableStyleId>
              </a:tblPr>
              <a:tblGrid>
                <a:gridCol w="1440160">
                  <a:extLst>
                    <a:ext uri="{9D8B030D-6E8A-4147-A177-3AD203B41FA5}">
                      <a16:colId xmlns:a16="http://schemas.microsoft.com/office/drawing/2014/main" val="20000"/>
                    </a:ext>
                  </a:extLst>
                </a:gridCol>
                <a:gridCol w="432000">
                  <a:extLst>
                    <a:ext uri="{9D8B030D-6E8A-4147-A177-3AD203B41FA5}">
                      <a16:colId xmlns:a16="http://schemas.microsoft.com/office/drawing/2014/main" val="20001"/>
                    </a:ext>
                  </a:extLst>
                </a:gridCol>
                <a:gridCol w="1224000">
                  <a:extLst>
                    <a:ext uri="{9D8B030D-6E8A-4147-A177-3AD203B41FA5}">
                      <a16:colId xmlns:a16="http://schemas.microsoft.com/office/drawing/2014/main" val="20002"/>
                    </a:ext>
                  </a:extLst>
                </a:gridCol>
              </a:tblGrid>
              <a:tr h="0">
                <a:tc>
                  <a:txBody>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地址</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BD</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学习自</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0"/>
                  </a:ext>
                </a:extLst>
              </a:tr>
              <a:tr h="0">
                <a:tc>
                  <a:txBody>
                    <a:bodyPr/>
                    <a:lstStyle/>
                    <a:p>
                      <a:pPr algn="ctr"/>
                      <a:r>
                        <a:rPr lang="en-US" altLang="zh-CN" sz="12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AAAA-0000-0001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10</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tc>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1.1.1.1</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0">
                <a:tc>
                  <a:txBody>
                    <a:bodyPr/>
                    <a:lstStyle/>
                    <a:p>
                      <a:pPr algn="ctr"/>
                      <a:r>
                        <a:rPr lang="en-US" altLang="zh-CN" sz="1200" kern="1200" dirty="0">
                          <a:solidFill>
                            <a:schemeClr val="tx1"/>
                          </a:solidFill>
                          <a:latin typeface="Huawei Sans" panose="020C0503030203020204" pitchFamily="34" charset="0"/>
                          <a:ea typeface="方正兰亭黑简体" panose="02000000000000000000" pitchFamily="2" charset="-122"/>
                          <a:cs typeface="+mn-cs"/>
                          <a:sym typeface="Huawei Sans" panose="020C0503030203020204" pitchFamily="34" charset="0"/>
                        </a:rPr>
                        <a:t>AAAA-0000-0002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10</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Port1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4" name="椭圆 53"/>
          <p:cNvSpPr>
            <a:spLocks noChangeAspect="1"/>
          </p:cNvSpPr>
          <p:nvPr/>
        </p:nvSpPr>
        <p:spPr bwMode="gray">
          <a:xfrm>
            <a:off x="2010426" y="2157180"/>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椭圆 54"/>
          <p:cNvSpPr>
            <a:spLocks noChangeAspect="1"/>
          </p:cNvSpPr>
          <p:nvPr/>
        </p:nvSpPr>
        <p:spPr bwMode="gray">
          <a:xfrm>
            <a:off x="7329363" y="2157180"/>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矩形 55"/>
          <p:cNvSpPr/>
          <p:nvPr/>
        </p:nvSpPr>
        <p:spPr bwMode="gray">
          <a:xfrm>
            <a:off x="2701399" y="3041341"/>
            <a:ext cx="561372" cy="276999"/>
          </a:xfrm>
          <a:prstGeom prst="rect">
            <a:avLst/>
          </a:prstGeom>
        </p:spPr>
        <p:txBody>
          <a:bodyPr wrap="none">
            <a:spAutoFit/>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Port1</a:t>
            </a:r>
          </a:p>
        </p:txBody>
      </p:sp>
      <p:sp>
        <p:nvSpPr>
          <p:cNvPr id="57" name="矩形 56"/>
          <p:cNvSpPr/>
          <p:nvPr/>
        </p:nvSpPr>
        <p:spPr bwMode="gray">
          <a:xfrm>
            <a:off x="9110973" y="3041341"/>
            <a:ext cx="561372" cy="276999"/>
          </a:xfrm>
          <a:prstGeom prst="rect">
            <a:avLst/>
          </a:prstGeom>
        </p:spPr>
        <p:txBody>
          <a:bodyPr wrap="none">
            <a:spAutoFit/>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Port1</a:t>
            </a:r>
          </a:p>
        </p:txBody>
      </p:sp>
      <p:sp>
        <p:nvSpPr>
          <p:cNvPr id="58" name="矩形 57"/>
          <p:cNvSpPr/>
          <p:nvPr/>
        </p:nvSpPr>
        <p:spPr bwMode="gray">
          <a:xfrm>
            <a:off x="2202447" y="1971497"/>
            <a:ext cx="2673357" cy="523220"/>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地址表中查询</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地址，找到匹配的表项。</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矩形 58"/>
          <p:cNvSpPr/>
          <p:nvPr/>
        </p:nvSpPr>
        <p:spPr bwMode="gray">
          <a:xfrm>
            <a:off x="7650758" y="1971497"/>
            <a:ext cx="2673357" cy="523220"/>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地址表中查询</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地址，找到匹配的表项。</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矩形 63"/>
          <p:cNvSpPr/>
          <p:nvPr/>
        </p:nvSpPr>
        <p:spPr bwMode="gray">
          <a:xfrm>
            <a:off x="4147182" y="5606654"/>
            <a:ext cx="1949893" cy="523220"/>
          </a:xfrm>
          <a:prstGeom prst="rect">
            <a:avLst/>
          </a:prstGeom>
        </p:spPr>
        <p:txBody>
          <a:bodyPr wrap="none">
            <a:spAutoFit/>
          </a:bodyPr>
          <a:lstStyle/>
          <a:p>
            <a:pPr marL="182563" indent="-182563">
              <a:buFont typeface="Arial" panose="020B0604020202020204" pitchFamily="34" charset="0"/>
              <a:buChar char="•"/>
            </a:pP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源</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地址：</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1.1.1.1</a:t>
            </a:r>
          </a:p>
          <a:p>
            <a:pPr marL="182563" indent="-182563">
              <a:buFont typeface="Arial" panose="020B0604020202020204" pitchFamily="34" charset="0"/>
              <a:buChar char="•"/>
            </a:pP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地址：</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2.2.2.2</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右大括号 64"/>
          <p:cNvSpPr/>
          <p:nvPr/>
        </p:nvSpPr>
        <p:spPr bwMode="gray">
          <a:xfrm rot="5400000">
            <a:off x="4799061" y="5174627"/>
            <a:ext cx="103723" cy="623244"/>
          </a:xfrm>
          <a:prstGeom prst="rightBrac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任意多边形 72"/>
          <p:cNvSpPr/>
          <p:nvPr/>
        </p:nvSpPr>
        <p:spPr bwMode="gray">
          <a:xfrm>
            <a:off x="4948891" y="1602870"/>
            <a:ext cx="300990" cy="308610"/>
          </a:xfrm>
          <a:custGeom>
            <a:avLst/>
            <a:gdLst>
              <a:gd name="connsiteX0" fmla="*/ 0 w 308610"/>
              <a:gd name="connsiteY0" fmla="*/ 188595 h 306705"/>
              <a:gd name="connsiteX1" fmla="*/ 104775 w 308610"/>
              <a:gd name="connsiteY1" fmla="*/ 139065 h 306705"/>
              <a:gd name="connsiteX2" fmla="*/ 135255 w 308610"/>
              <a:gd name="connsiteY2" fmla="*/ 226695 h 306705"/>
              <a:gd name="connsiteX3" fmla="*/ 299085 w 308610"/>
              <a:gd name="connsiteY3" fmla="*/ 0 h 306705"/>
              <a:gd name="connsiteX4" fmla="*/ 308610 w 308610"/>
              <a:gd name="connsiteY4" fmla="*/ 120015 h 306705"/>
              <a:gd name="connsiteX5" fmla="*/ 131445 w 308610"/>
              <a:gd name="connsiteY5" fmla="*/ 306705 h 306705"/>
              <a:gd name="connsiteX0" fmla="*/ 0 w 308610"/>
              <a:gd name="connsiteY0" fmla="*/ 188595 h 306705"/>
              <a:gd name="connsiteX1" fmla="*/ 104775 w 308610"/>
              <a:gd name="connsiteY1" fmla="*/ 139065 h 306705"/>
              <a:gd name="connsiteX2" fmla="*/ 135255 w 308610"/>
              <a:gd name="connsiteY2" fmla="*/ 226695 h 306705"/>
              <a:gd name="connsiteX3" fmla="*/ 299085 w 308610"/>
              <a:gd name="connsiteY3" fmla="*/ 0 h 306705"/>
              <a:gd name="connsiteX4" fmla="*/ 308610 w 308610"/>
              <a:gd name="connsiteY4" fmla="*/ 120015 h 306705"/>
              <a:gd name="connsiteX5" fmla="*/ 131445 w 308610"/>
              <a:gd name="connsiteY5" fmla="*/ 306705 h 306705"/>
              <a:gd name="connsiteX6" fmla="*/ 0 w 308610"/>
              <a:gd name="connsiteY6" fmla="*/ 188595 h 306705"/>
              <a:gd name="connsiteX0" fmla="*/ 0 w 308610"/>
              <a:gd name="connsiteY0" fmla="*/ 188595 h 306705"/>
              <a:gd name="connsiteX1" fmla="*/ 104775 w 308610"/>
              <a:gd name="connsiteY1" fmla="*/ 139065 h 306705"/>
              <a:gd name="connsiteX2" fmla="*/ 135255 w 308610"/>
              <a:gd name="connsiteY2" fmla="*/ 226695 h 306705"/>
              <a:gd name="connsiteX3" fmla="*/ 299085 w 308610"/>
              <a:gd name="connsiteY3" fmla="*/ 0 h 306705"/>
              <a:gd name="connsiteX4" fmla="*/ 308610 w 308610"/>
              <a:gd name="connsiteY4" fmla="*/ 120015 h 306705"/>
              <a:gd name="connsiteX5" fmla="*/ 131445 w 308610"/>
              <a:gd name="connsiteY5" fmla="*/ 306705 h 306705"/>
              <a:gd name="connsiteX6" fmla="*/ 0 w 308610"/>
              <a:gd name="connsiteY6" fmla="*/ 188595 h 306705"/>
              <a:gd name="connsiteX0" fmla="*/ 0 w 308610"/>
              <a:gd name="connsiteY0" fmla="*/ 188595 h 306705"/>
              <a:gd name="connsiteX1" fmla="*/ 104775 w 308610"/>
              <a:gd name="connsiteY1" fmla="*/ 139065 h 306705"/>
              <a:gd name="connsiteX2" fmla="*/ 135255 w 308610"/>
              <a:gd name="connsiteY2" fmla="*/ 226695 h 306705"/>
              <a:gd name="connsiteX3" fmla="*/ 299085 w 308610"/>
              <a:gd name="connsiteY3" fmla="*/ 0 h 306705"/>
              <a:gd name="connsiteX4" fmla="*/ 308610 w 308610"/>
              <a:gd name="connsiteY4" fmla="*/ 120015 h 306705"/>
              <a:gd name="connsiteX5" fmla="*/ 131445 w 308610"/>
              <a:gd name="connsiteY5" fmla="*/ 306705 h 306705"/>
              <a:gd name="connsiteX6" fmla="*/ 0 w 308610"/>
              <a:gd name="connsiteY6" fmla="*/ 188595 h 306705"/>
              <a:gd name="connsiteX0" fmla="*/ 0 w 308610"/>
              <a:gd name="connsiteY0" fmla="*/ 188595 h 306705"/>
              <a:gd name="connsiteX1" fmla="*/ 104775 w 308610"/>
              <a:gd name="connsiteY1" fmla="*/ 139065 h 306705"/>
              <a:gd name="connsiteX2" fmla="*/ 135255 w 308610"/>
              <a:gd name="connsiteY2" fmla="*/ 226695 h 306705"/>
              <a:gd name="connsiteX3" fmla="*/ 299085 w 308610"/>
              <a:gd name="connsiteY3" fmla="*/ 0 h 306705"/>
              <a:gd name="connsiteX4" fmla="*/ 308610 w 308610"/>
              <a:gd name="connsiteY4" fmla="*/ 120015 h 306705"/>
              <a:gd name="connsiteX5" fmla="*/ 131445 w 308610"/>
              <a:gd name="connsiteY5" fmla="*/ 306705 h 306705"/>
              <a:gd name="connsiteX6" fmla="*/ 0 w 308610"/>
              <a:gd name="connsiteY6" fmla="*/ 188595 h 306705"/>
              <a:gd name="connsiteX0" fmla="*/ 0 w 308610"/>
              <a:gd name="connsiteY0" fmla="*/ 188595 h 306705"/>
              <a:gd name="connsiteX1" fmla="*/ 104775 w 308610"/>
              <a:gd name="connsiteY1" fmla="*/ 139065 h 306705"/>
              <a:gd name="connsiteX2" fmla="*/ 135255 w 308610"/>
              <a:gd name="connsiteY2" fmla="*/ 226695 h 306705"/>
              <a:gd name="connsiteX3" fmla="*/ 299085 w 308610"/>
              <a:gd name="connsiteY3" fmla="*/ 0 h 306705"/>
              <a:gd name="connsiteX4" fmla="*/ 308610 w 308610"/>
              <a:gd name="connsiteY4" fmla="*/ 120015 h 306705"/>
              <a:gd name="connsiteX5" fmla="*/ 131445 w 308610"/>
              <a:gd name="connsiteY5" fmla="*/ 306705 h 306705"/>
              <a:gd name="connsiteX6" fmla="*/ 0 w 308610"/>
              <a:gd name="connsiteY6" fmla="*/ 188595 h 306705"/>
              <a:gd name="connsiteX0" fmla="*/ 0 w 308610"/>
              <a:gd name="connsiteY0" fmla="*/ 188595 h 306705"/>
              <a:gd name="connsiteX1" fmla="*/ 104775 w 308610"/>
              <a:gd name="connsiteY1" fmla="*/ 139065 h 306705"/>
              <a:gd name="connsiteX2" fmla="*/ 135255 w 308610"/>
              <a:gd name="connsiteY2" fmla="*/ 226695 h 306705"/>
              <a:gd name="connsiteX3" fmla="*/ 299085 w 308610"/>
              <a:gd name="connsiteY3" fmla="*/ 0 h 306705"/>
              <a:gd name="connsiteX4" fmla="*/ 308610 w 308610"/>
              <a:gd name="connsiteY4" fmla="*/ 120015 h 306705"/>
              <a:gd name="connsiteX5" fmla="*/ 131445 w 308610"/>
              <a:gd name="connsiteY5" fmla="*/ 306705 h 306705"/>
              <a:gd name="connsiteX6" fmla="*/ 0 w 308610"/>
              <a:gd name="connsiteY6" fmla="*/ 188595 h 306705"/>
              <a:gd name="connsiteX0" fmla="*/ 0 w 308610"/>
              <a:gd name="connsiteY0" fmla="*/ 188595 h 306705"/>
              <a:gd name="connsiteX1" fmla="*/ 104775 w 308610"/>
              <a:gd name="connsiteY1" fmla="*/ 139065 h 306705"/>
              <a:gd name="connsiteX2" fmla="*/ 135255 w 308610"/>
              <a:gd name="connsiteY2" fmla="*/ 226695 h 306705"/>
              <a:gd name="connsiteX3" fmla="*/ 299085 w 308610"/>
              <a:gd name="connsiteY3" fmla="*/ 0 h 306705"/>
              <a:gd name="connsiteX4" fmla="*/ 308610 w 308610"/>
              <a:gd name="connsiteY4" fmla="*/ 120015 h 306705"/>
              <a:gd name="connsiteX5" fmla="*/ 131445 w 308610"/>
              <a:gd name="connsiteY5" fmla="*/ 306705 h 306705"/>
              <a:gd name="connsiteX6" fmla="*/ 0 w 308610"/>
              <a:gd name="connsiteY6" fmla="*/ 188595 h 306705"/>
              <a:gd name="connsiteX0" fmla="*/ 0 w 300990"/>
              <a:gd name="connsiteY0" fmla="*/ 190500 h 306705"/>
              <a:gd name="connsiteX1" fmla="*/ 97155 w 300990"/>
              <a:gd name="connsiteY1" fmla="*/ 139065 h 306705"/>
              <a:gd name="connsiteX2" fmla="*/ 127635 w 300990"/>
              <a:gd name="connsiteY2" fmla="*/ 226695 h 306705"/>
              <a:gd name="connsiteX3" fmla="*/ 291465 w 300990"/>
              <a:gd name="connsiteY3" fmla="*/ 0 h 306705"/>
              <a:gd name="connsiteX4" fmla="*/ 300990 w 300990"/>
              <a:gd name="connsiteY4" fmla="*/ 120015 h 306705"/>
              <a:gd name="connsiteX5" fmla="*/ 123825 w 300990"/>
              <a:gd name="connsiteY5" fmla="*/ 306705 h 306705"/>
              <a:gd name="connsiteX6" fmla="*/ 0 w 300990"/>
              <a:gd name="connsiteY6" fmla="*/ 190500 h 306705"/>
              <a:gd name="connsiteX0" fmla="*/ 0 w 300990"/>
              <a:gd name="connsiteY0" fmla="*/ 190500 h 306705"/>
              <a:gd name="connsiteX1" fmla="*/ 97155 w 300990"/>
              <a:gd name="connsiteY1" fmla="*/ 139065 h 306705"/>
              <a:gd name="connsiteX2" fmla="*/ 127635 w 300990"/>
              <a:gd name="connsiteY2" fmla="*/ 226695 h 306705"/>
              <a:gd name="connsiteX3" fmla="*/ 291465 w 300990"/>
              <a:gd name="connsiteY3" fmla="*/ 0 h 306705"/>
              <a:gd name="connsiteX4" fmla="*/ 300990 w 300990"/>
              <a:gd name="connsiteY4" fmla="*/ 120015 h 306705"/>
              <a:gd name="connsiteX5" fmla="*/ 123825 w 300990"/>
              <a:gd name="connsiteY5" fmla="*/ 306705 h 306705"/>
              <a:gd name="connsiteX6" fmla="*/ 0 w 300990"/>
              <a:gd name="connsiteY6" fmla="*/ 190500 h 306705"/>
              <a:gd name="connsiteX0" fmla="*/ 0 w 300990"/>
              <a:gd name="connsiteY0" fmla="*/ 192405 h 308610"/>
              <a:gd name="connsiteX1" fmla="*/ 97155 w 300990"/>
              <a:gd name="connsiteY1" fmla="*/ 140970 h 308610"/>
              <a:gd name="connsiteX2" fmla="*/ 127635 w 300990"/>
              <a:gd name="connsiteY2" fmla="*/ 228600 h 308610"/>
              <a:gd name="connsiteX3" fmla="*/ 287655 w 300990"/>
              <a:gd name="connsiteY3" fmla="*/ 0 h 308610"/>
              <a:gd name="connsiteX4" fmla="*/ 300990 w 300990"/>
              <a:gd name="connsiteY4" fmla="*/ 121920 h 308610"/>
              <a:gd name="connsiteX5" fmla="*/ 123825 w 300990"/>
              <a:gd name="connsiteY5" fmla="*/ 308610 h 308610"/>
              <a:gd name="connsiteX6" fmla="*/ 0 w 300990"/>
              <a:gd name="connsiteY6" fmla="*/ 192405 h 308610"/>
              <a:gd name="connsiteX0" fmla="*/ 0 w 300990"/>
              <a:gd name="connsiteY0" fmla="*/ 192405 h 308610"/>
              <a:gd name="connsiteX1" fmla="*/ 97155 w 300990"/>
              <a:gd name="connsiteY1" fmla="*/ 140970 h 308610"/>
              <a:gd name="connsiteX2" fmla="*/ 127635 w 300990"/>
              <a:gd name="connsiteY2" fmla="*/ 228600 h 308610"/>
              <a:gd name="connsiteX3" fmla="*/ 287655 w 300990"/>
              <a:gd name="connsiteY3" fmla="*/ 0 h 308610"/>
              <a:gd name="connsiteX4" fmla="*/ 300990 w 300990"/>
              <a:gd name="connsiteY4" fmla="*/ 121920 h 308610"/>
              <a:gd name="connsiteX5" fmla="*/ 123825 w 300990"/>
              <a:gd name="connsiteY5" fmla="*/ 308610 h 308610"/>
              <a:gd name="connsiteX6" fmla="*/ 0 w 300990"/>
              <a:gd name="connsiteY6" fmla="*/ 192405 h 308610"/>
              <a:gd name="connsiteX0" fmla="*/ 0 w 300990"/>
              <a:gd name="connsiteY0" fmla="*/ 192405 h 308610"/>
              <a:gd name="connsiteX1" fmla="*/ 97155 w 300990"/>
              <a:gd name="connsiteY1" fmla="*/ 140970 h 308610"/>
              <a:gd name="connsiteX2" fmla="*/ 127635 w 300990"/>
              <a:gd name="connsiteY2" fmla="*/ 228600 h 308610"/>
              <a:gd name="connsiteX3" fmla="*/ 287655 w 300990"/>
              <a:gd name="connsiteY3" fmla="*/ 0 h 308610"/>
              <a:gd name="connsiteX4" fmla="*/ 300990 w 300990"/>
              <a:gd name="connsiteY4" fmla="*/ 121920 h 308610"/>
              <a:gd name="connsiteX5" fmla="*/ 123825 w 300990"/>
              <a:gd name="connsiteY5" fmla="*/ 308610 h 308610"/>
              <a:gd name="connsiteX6" fmla="*/ 0 w 300990"/>
              <a:gd name="connsiteY6" fmla="*/ 192405 h 30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990" h="308610">
                <a:moveTo>
                  <a:pt x="0" y="192405"/>
                </a:moveTo>
                <a:lnTo>
                  <a:pt x="97155" y="140970"/>
                </a:lnTo>
                <a:lnTo>
                  <a:pt x="127635" y="228600"/>
                </a:lnTo>
                <a:cubicBezTo>
                  <a:pt x="165100" y="130175"/>
                  <a:pt x="206375" y="67945"/>
                  <a:pt x="287655" y="0"/>
                </a:cubicBezTo>
                <a:cubicBezTo>
                  <a:pt x="278765" y="52070"/>
                  <a:pt x="285115" y="81280"/>
                  <a:pt x="300990" y="121920"/>
                </a:cubicBezTo>
                <a:cubicBezTo>
                  <a:pt x="228600" y="159385"/>
                  <a:pt x="160020" y="233045"/>
                  <a:pt x="123825" y="308610"/>
                </a:cubicBezTo>
                <a:cubicBezTo>
                  <a:pt x="93345" y="254000"/>
                  <a:pt x="66675" y="235585"/>
                  <a:pt x="0" y="192405"/>
                </a:cubicBezTo>
                <a:close/>
              </a:path>
            </a:pathLst>
          </a:cu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任意多边形 73"/>
          <p:cNvSpPr/>
          <p:nvPr/>
        </p:nvSpPr>
        <p:spPr bwMode="gray">
          <a:xfrm>
            <a:off x="10227273" y="1602870"/>
            <a:ext cx="300990" cy="308610"/>
          </a:xfrm>
          <a:custGeom>
            <a:avLst/>
            <a:gdLst>
              <a:gd name="connsiteX0" fmla="*/ 0 w 308610"/>
              <a:gd name="connsiteY0" fmla="*/ 188595 h 306705"/>
              <a:gd name="connsiteX1" fmla="*/ 104775 w 308610"/>
              <a:gd name="connsiteY1" fmla="*/ 139065 h 306705"/>
              <a:gd name="connsiteX2" fmla="*/ 135255 w 308610"/>
              <a:gd name="connsiteY2" fmla="*/ 226695 h 306705"/>
              <a:gd name="connsiteX3" fmla="*/ 299085 w 308610"/>
              <a:gd name="connsiteY3" fmla="*/ 0 h 306705"/>
              <a:gd name="connsiteX4" fmla="*/ 308610 w 308610"/>
              <a:gd name="connsiteY4" fmla="*/ 120015 h 306705"/>
              <a:gd name="connsiteX5" fmla="*/ 131445 w 308610"/>
              <a:gd name="connsiteY5" fmla="*/ 306705 h 306705"/>
              <a:gd name="connsiteX0" fmla="*/ 0 w 308610"/>
              <a:gd name="connsiteY0" fmla="*/ 188595 h 306705"/>
              <a:gd name="connsiteX1" fmla="*/ 104775 w 308610"/>
              <a:gd name="connsiteY1" fmla="*/ 139065 h 306705"/>
              <a:gd name="connsiteX2" fmla="*/ 135255 w 308610"/>
              <a:gd name="connsiteY2" fmla="*/ 226695 h 306705"/>
              <a:gd name="connsiteX3" fmla="*/ 299085 w 308610"/>
              <a:gd name="connsiteY3" fmla="*/ 0 h 306705"/>
              <a:gd name="connsiteX4" fmla="*/ 308610 w 308610"/>
              <a:gd name="connsiteY4" fmla="*/ 120015 h 306705"/>
              <a:gd name="connsiteX5" fmla="*/ 131445 w 308610"/>
              <a:gd name="connsiteY5" fmla="*/ 306705 h 306705"/>
              <a:gd name="connsiteX6" fmla="*/ 0 w 308610"/>
              <a:gd name="connsiteY6" fmla="*/ 188595 h 306705"/>
              <a:gd name="connsiteX0" fmla="*/ 0 w 308610"/>
              <a:gd name="connsiteY0" fmla="*/ 188595 h 306705"/>
              <a:gd name="connsiteX1" fmla="*/ 104775 w 308610"/>
              <a:gd name="connsiteY1" fmla="*/ 139065 h 306705"/>
              <a:gd name="connsiteX2" fmla="*/ 135255 w 308610"/>
              <a:gd name="connsiteY2" fmla="*/ 226695 h 306705"/>
              <a:gd name="connsiteX3" fmla="*/ 299085 w 308610"/>
              <a:gd name="connsiteY3" fmla="*/ 0 h 306705"/>
              <a:gd name="connsiteX4" fmla="*/ 308610 w 308610"/>
              <a:gd name="connsiteY4" fmla="*/ 120015 h 306705"/>
              <a:gd name="connsiteX5" fmla="*/ 131445 w 308610"/>
              <a:gd name="connsiteY5" fmla="*/ 306705 h 306705"/>
              <a:gd name="connsiteX6" fmla="*/ 0 w 308610"/>
              <a:gd name="connsiteY6" fmla="*/ 188595 h 306705"/>
              <a:gd name="connsiteX0" fmla="*/ 0 w 308610"/>
              <a:gd name="connsiteY0" fmla="*/ 188595 h 306705"/>
              <a:gd name="connsiteX1" fmla="*/ 104775 w 308610"/>
              <a:gd name="connsiteY1" fmla="*/ 139065 h 306705"/>
              <a:gd name="connsiteX2" fmla="*/ 135255 w 308610"/>
              <a:gd name="connsiteY2" fmla="*/ 226695 h 306705"/>
              <a:gd name="connsiteX3" fmla="*/ 299085 w 308610"/>
              <a:gd name="connsiteY3" fmla="*/ 0 h 306705"/>
              <a:gd name="connsiteX4" fmla="*/ 308610 w 308610"/>
              <a:gd name="connsiteY4" fmla="*/ 120015 h 306705"/>
              <a:gd name="connsiteX5" fmla="*/ 131445 w 308610"/>
              <a:gd name="connsiteY5" fmla="*/ 306705 h 306705"/>
              <a:gd name="connsiteX6" fmla="*/ 0 w 308610"/>
              <a:gd name="connsiteY6" fmla="*/ 188595 h 306705"/>
              <a:gd name="connsiteX0" fmla="*/ 0 w 308610"/>
              <a:gd name="connsiteY0" fmla="*/ 188595 h 306705"/>
              <a:gd name="connsiteX1" fmla="*/ 104775 w 308610"/>
              <a:gd name="connsiteY1" fmla="*/ 139065 h 306705"/>
              <a:gd name="connsiteX2" fmla="*/ 135255 w 308610"/>
              <a:gd name="connsiteY2" fmla="*/ 226695 h 306705"/>
              <a:gd name="connsiteX3" fmla="*/ 299085 w 308610"/>
              <a:gd name="connsiteY3" fmla="*/ 0 h 306705"/>
              <a:gd name="connsiteX4" fmla="*/ 308610 w 308610"/>
              <a:gd name="connsiteY4" fmla="*/ 120015 h 306705"/>
              <a:gd name="connsiteX5" fmla="*/ 131445 w 308610"/>
              <a:gd name="connsiteY5" fmla="*/ 306705 h 306705"/>
              <a:gd name="connsiteX6" fmla="*/ 0 w 308610"/>
              <a:gd name="connsiteY6" fmla="*/ 188595 h 306705"/>
              <a:gd name="connsiteX0" fmla="*/ 0 w 308610"/>
              <a:gd name="connsiteY0" fmla="*/ 188595 h 306705"/>
              <a:gd name="connsiteX1" fmla="*/ 104775 w 308610"/>
              <a:gd name="connsiteY1" fmla="*/ 139065 h 306705"/>
              <a:gd name="connsiteX2" fmla="*/ 135255 w 308610"/>
              <a:gd name="connsiteY2" fmla="*/ 226695 h 306705"/>
              <a:gd name="connsiteX3" fmla="*/ 299085 w 308610"/>
              <a:gd name="connsiteY3" fmla="*/ 0 h 306705"/>
              <a:gd name="connsiteX4" fmla="*/ 308610 w 308610"/>
              <a:gd name="connsiteY4" fmla="*/ 120015 h 306705"/>
              <a:gd name="connsiteX5" fmla="*/ 131445 w 308610"/>
              <a:gd name="connsiteY5" fmla="*/ 306705 h 306705"/>
              <a:gd name="connsiteX6" fmla="*/ 0 w 308610"/>
              <a:gd name="connsiteY6" fmla="*/ 188595 h 306705"/>
              <a:gd name="connsiteX0" fmla="*/ 0 w 308610"/>
              <a:gd name="connsiteY0" fmla="*/ 188595 h 306705"/>
              <a:gd name="connsiteX1" fmla="*/ 104775 w 308610"/>
              <a:gd name="connsiteY1" fmla="*/ 139065 h 306705"/>
              <a:gd name="connsiteX2" fmla="*/ 135255 w 308610"/>
              <a:gd name="connsiteY2" fmla="*/ 226695 h 306705"/>
              <a:gd name="connsiteX3" fmla="*/ 299085 w 308610"/>
              <a:gd name="connsiteY3" fmla="*/ 0 h 306705"/>
              <a:gd name="connsiteX4" fmla="*/ 308610 w 308610"/>
              <a:gd name="connsiteY4" fmla="*/ 120015 h 306705"/>
              <a:gd name="connsiteX5" fmla="*/ 131445 w 308610"/>
              <a:gd name="connsiteY5" fmla="*/ 306705 h 306705"/>
              <a:gd name="connsiteX6" fmla="*/ 0 w 308610"/>
              <a:gd name="connsiteY6" fmla="*/ 188595 h 306705"/>
              <a:gd name="connsiteX0" fmla="*/ 0 w 308610"/>
              <a:gd name="connsiteY0" fmla="*/ 188595 h 306705"/>
              <a:gd name="connsiteX1" fmla="*/ 104775 w 308610"/>
              <a:gd name="connsiteY1" fmla="*/ 139065 h 306705"/>
              <a:gd name="connsiteX2" fmla="*/ 135255 w 308610"/>
              <a:gd name="connsiteY2" fmla="*/ 226695 h 306705"/>
              <a:gd name="connsiteX3" fmla="*/ 299085 w 308610"/>
              <a:gd name="connsiteY3" fmla="*/ 0 h 306705"/>
              <a:gd name="connsiteX4" fmla="*/ 308610 w 308610"/>
              <a:gd name="connsiteY4" fmla="*/ 120015 h 306705"/>
              <a:gd name="connsiteX5" fmla="*/ 131445 w 308610"/>
              <a:gd name="connsiteY5" fmla="*/ 306705 h 306705"/>
              <a:gd name="connsiteX6" fmla="*/ 0 w 308610"/>
              <a:gd name="connsiteY6" fmla="*/ 188595 h 306705"/>
              <a:gd name="connsiteX0" fmla="*/ 0 w 300990"/>
              <a:gd name="connsiteY0" fmla="*/ 190500 h 306705"/>
              <a:gd name="connsiteX1" fmla="*/ 97155 w 300990"/>
              <a:gd name="connsiteY1" fmla="*/ 139065 h 306705"/>
              <a:gd name="connsiteX2" fmla="*/ 127635 w 300990"/>
              <a:gd name="connsiteY2" fmla="*/ 226695 h 306705"/>
              <a:gd name="connsiteX3" fmla="*/ 291465 w 300990"/>
              <a:gd name="connsiteY3" fmla="*/ 0 h 306705"/>
              <a:gd name="connsiteX4" fmla="*/ 300990 w 300990"/>
              <a:gd name="connsiteY4" fmla="*/ 120015 h 306705"/>
              <a:gd name="connsiteX5" fmla="*/ 123825 w 300990"/>
              <a:gd name="connsiteY5" fmla="*/ 306705 h 306705"/>
              <a:gd name="connsiteX6" fmla="*/ 0 w 300990"/>
              <a:gd name="connsiteY6" fmla="*/ 190500 h 306705"/>
              <a:gd name="connsiteX0" fmla="*/ 0 w 300990"/>
              <a:gd name="connsiteY0" fmla="*/ 190500 h 306705"/>
              <a:gd name="connsiteX1" fmla="*/ 97155 w 300990"/>
              <a:gd name="connsiteY1" fmla="*/ 139065 h 306705"/>
              <a:gd name="connsiteX2" fmla="*/ 127635 w 300990"/>
              <a:gd name="connsiteY2" fmla="*/ 226695 h 306705"/>
              <a:gd name="connsiteX3" fmla="*/ 291465 w 300990"/>
              <a:gd name="connsiteY3" fmla="*/ 0 h 306705"/>
              <a:gd name="connsiteX4" fmla="*/ 300990 w 300990"/>
              <a:gd name="connsiteY4" fmla="*/ 120015 h 306705"/>
              <a:gd name="connsiteX5" fmla="*/ 123825 w 300990"/>
              <a:gd name="connsiteY5" fmla="*/ 306705 h 306705"/>
              <a:gd name="connsiteX6" fmla="*/ 0 w 300990"/>
              <a:gd name="connsiteY6" fmla="*/ 190500 h 306705"/>
              <a:gd name="connsiteX0" fmla="*/ 0 w 300990"/>
              <a:gd name="connsiteY0" fmla="*/ 192405 h 308610"/>
              <a:gd name="connsiteX1" fmla="*/ 97155 w 300990"/>
              <a:gd name="connsiteY1" fmla="*/ 140970 h 308610"/>
              <a:gd name="connsiteX2" fmla="*/ 127635 w 300990"/>
              <a:gd name="connsiteY2" fmla="*/ 228600 h 308610"/>
              <a:gd name="connsiteX3" fmla="*/ 287655 w 300990"/>
              <a:gd name="connsiteY3" fmla="*/ 0 h 308610"/>
              <a:gd name="connsiteX4" fmla="*/ 300990 w 300990"/>
              <a:gd name="connsiteY4" fmla="*/ 121920 h 308610"/>
              <a:gd name="connsiteX5" fmla="*/ 123825 w 300990"/>
              <a:gd name="connsiteY5" fmla="*/ 308610 h 308610"/>
              <a:gd name="connsiteX6" fmla="*/ 0 w 300990"/>
              <a:gd name="connsiteY6" fmla="*/ 192405 h 308610"/>
              <a:gd name="connsiteX0" fmla="*/ 0 w 300990"/>
              <a:gd name="connsiteY0" fmla="*/ 192405 h 308610"/>
              <a:gd name="connsiteX1" fmla="*/ 97155 w 300990"/>
              <a:gd name="connsiteY1" fmla="*/ 140970 h 308610"/>
              <a:gd name="connsiteX2" fmla="*/ 127635 w 300990"/>
              <a:gd name="connsiteY2" fmla="*/ 228600 h 308610"/>
              <a:gd name="connsiteX3" fmla="*/ 287655 w 300990"/>
              <a:gd name="connsiteY3" fmla="*/ 0 h 308610"/>
              <a:gd name="connsiteX4" fmla="*/ 300990 w 300990"/>
              <a:gd name="connsiteY4" fmla="*/ 121920 h 308610"/>
              <a:gd name="connsiteX5" fmla="*/ 123825 w 300990"/>
              <a:gd name="connsiteY5" fmla="*/ 308610 h 308610"/>
              <a:gd name="connsiteX6" fmla="*/ 0 w 300990"/>
              <a:gd name="connsiteY6" fmla="*/ 192405 h 308610"/>
              <a:gd name="connsiteX0" fmla="*/ 0 w 300990"/>
              <a:gd name="connsiteY0" fmla="*/ 192405 h 308610"/>
              <a:gd name="connsiteX1" fmla="*/ 97155 w 300990"/>
              <a:gd name="connsiteY1" fmla="*/ 140970 h 308610"/>
              <a:gd name="connsiteX2" fmla="*/ 127635 w 300990"/>
              <a:gd name="connsiteY2" fmla="*/ 228600 h 308610"/>
              <a:gd name="connsiteX3" fmla="*/ 287655 w 300990"/>
              <a:gd name="connsiteY3" fmla="*/ 0 h 308610"/>
              <a:gd name="connsiteX4" fmla="*/ 300990 w 300990"/>
              <a:gd name="connsiteY4" fmla="*/ 121920 h 308610"/>
              <a:gd name="connsiteX5" fmla="*/ 123825 w 300990"/>
              <a:gd name="connsiteY5" fmla="*/ 308610 h 308610"/>
              <a:gd name="connsiteX6" fmla="*/ 0 w 300990"/>
              <a:gd name="connsiteY6" fmla="*/ 192405 h 308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0990" h="308610">
                <a:moveTo>
                  <a:pt x="0" y="192405"/>
                </a:moveTo>
                <a:lnTo>
                  <a:pt x="97155" y="140970"/>
                </a:lnTo>
                <a:lnTo>
                  <a:pt x="127635" y="228600"/>
                </a:lnTo>
                <a:cubicBezTo>
                  <a:pt x="165100" y="130175"/>
                  <a:pt x="206375" y="67945"/>
                  <a:pt x="287655" y="0"/>
                </a:cubicBezTo>
                <a:cubicBezTo>
                  <a:pt x="278765" y="52070"/>
                  <a:pt x="285115" y="81280"/>
                  <a:pt x="300990" y="121920"/>
                </a:cubicBezTo>
                <a:cubicBezTo>
                  <a:pt x="228600" y="159385"/>
                  <a:pt x="160020" y="233045"/>
                  <a:pt x="123825" y="308610"/>
                </a:cubicBezTo>
                <a:cubicBezTo>
                  <a:pt x="93345" y="254000"/>
                  <a:pt x="66675" y="235585"/>
                  <a:pt x="0" y="192405"/>
                </a:cubicBezTo>
                <a:close/>
              </a:path>
            </a:pathLst>
          </a:cu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五边形 24">
            <a:extLst>
              <a:ext uri="{FF2B5EF4-FFF2-40B4-BE49-F238E27FC236}">
                <a16:creationId xmlns:a16="http://schemas.microsoft.com/office/drawing/2014/main" id="{66BA07AD-FEEF-4CB3-8D55-B5A235B0FBAC}"/>
              </a:ext>
            </a:extLst>
          </p:cNvPr>
          <p:cNvSpPr/>
          <p:nvPr/>
        </p:nvSpPr>
        <p:spPr bwMode="gray">
          <a:xfrm>
            <a:off x="8582129" y="124239"/>
            <a:ext cx="956654" cy="213120"/>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隧道建立</a:t>
            </a:r>
          </a:p>
        </p:txBody>
      </p:sp>
      <p:sp>
        <p:nvSpPr>
          <p:cNvPr id="61" name="燕尾形 26">
            <a:extLst>
              <a:ext uri="{FF2B5EF4-FFF2-40B4-BE49-F238E27FC236}">
                <a16:creationId xmlns:a16="http://schemas.microsoft.com/office/drawing/2014/main" id="{0C19331F-8FCC-488E-9C32-A3F774208D1E}"/>
              </a:ext>
            </a:extLst>
          </p:cNvPr>
          <p:cNvSpPr/>
          <p:nvPr/>
        </p:nvSpPr>
        <p:spPr bwMode="gray">
          <a:xfrm>
            <a:off x="10636767" y="124239"/>
            <a:ext cx="107902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数据帧转发</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燕尾形 26">
            <a:extLst>
              <a:ext uri="{FF2B5EF4-FFF2-40B4-BE49-F238E27FC236}">
                <a16:creationId xmlns:a16="http://schemas.microsoft.com/office/drawing/2014/main" id="{5C797163-D6D3-4ACC-996D-421D87F18D19}"/>
              </a:ext>
            </a:extLst>
          </p:cNvPr>
          <p:cNvSpPr/>
          <p:nvPr/>
        </p:nvSpPr>
        <p:spPr bwMode="gray">
          <a:xfrm>
            <a:off x="9474253" y="124239"/>
            <a:ext cx="1227043"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地址学习</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5409336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任意多边形 77"/>
          <p:cNvSpPr/>
          <p:nvPr/>
        </p:nvSpPr>
        <p:spPr bwMode="gray">
          <a:xfrm>
            <a:off x="2460287" y="3613782"/>
            <a:ext cx="2039298" cy="90047"/>
          </a:xfrm>
          <a:custGeom>
            <a:avLst/>
            <a:gdLst>
              <a:gd name="connsiteX0" fmla="*/ 1447800 w 1447800"/>
              <a:gd name="connsiteY0" fmla="*/ 171450 h 171450"/>
              <a:gd name="connsiteX1" fmla="*/ 0 w 1447800"/>
              <a:gd name="connsiteY1" fmla="*/ 171450 h 171450"/>
              <a:gd name="connsiteX2" fmla="*/ 0 w 1447800"/>
              <a:gd name="connsiteY2" fmla="*/ 0 h 171450"/>
              <a:gd name="connsiteX0" fmla="*/ 1447800 w 1447800"/>
              <a:gd name="connsiteY0" fmla="*/ 0 h 0"/>
              <a:gd name="connsiteX1" fmla="*/ 0 w 1447800"/>
              <a:gd name="connsiteY1" fmla="*/ 0 h 0"/>
            </a:gdLst>
            <a:ahLst/>
            <a:cxnLst>
              <a:cxn ang="0">
                <a:pos x="connsiteX0" y="connsiteY0"/>
              </a:cxn>
              <a:cxn ang="0">
                <a:pos x="connsiteX1" y="connsiteY1"/>
              </a:cxn>
            </a:cxnLst>
            <a:rect l="l" t="t" r="r" b="b"/>
            <a:pathLst>
              <a:path w="1447800">
                <a:moveTo>
                  <a:pt x="1447800" y="0"/>
                </a:moveTo>
                <a:lnTo>
                  <a:pt x="0" y="0"/>
                </a:ln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Freeform 159"/>
          <p:cNvSpPr/>
          <p:nvPr/>
        </p:nvSpPr>
        <p:spPr bwMode="gray">
          <a:xfrm flipH="1">
            <a:off x="4698704" y="2487382"/>
            <a:ext cx="3457500" cy="187456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rgbClr val="94DAE2">
              <a:alpha val="34000"/>
            </a:srgbClr>
          </a:solidFill>
          <a:ln w="12700" cap="flat" cmpd="sng" algn="ctr">
            <a:noFill/>
            <a:prstDash val="solid"/>
            <a:miter lim="800000"/>
          </a:ln>
          <a:effectLst/>
        </p:spPr>
        <p:txBody>
          <a:bodyPr wrap="square" rtlCol="0" anchor="ctr">
            <a:noAutofit/>
          </a:bodyPr>
          <a:lstStyle/>
          <a:p>
            <a:pPr algn="ctr" defTabSz="1219170" fontAlgn="ctr"/>
            <a:endParaRPr lang="en-US" sz="2400"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标题 2"/>
          <p:cNvSpPr>
            <a:spLocks noGrp="1"/>
          </p:cNvSpPr>
          <p:nvPr>
            <p:ph type="title"/>
          </p:nvPr>
        </p:nvSpPr>
        <p:spPr bwMode="gray"/>
        <p:txBody>
          <a:bodyPr/>
          <a:lstStyle/>
          <a:p>
            <a:r>
              <a:rPr lang="en-US" altLang="zh-CN">
                <a:sym typeface="Huawei Sans" panose="020C0503030203020204" pitchFamily="34" charset="0"/>
              </a:rPr>
              <a:t>BUM</a:t>
            </a:r>
            <a:r>
              <a:rPr lang="zh-CN" altLang="en-US">
                <a:sym typeface="Huawei Sans" panose="020C0503030203020204" pitchFamily="34" charset="0"/>
              </a:rPr>
              <a:t>流量转发</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bwMode="gray">
          <a:xfrm>
            <a:off x="455613" y="1047751"/>
            <a:ext cx="11256962" cy="872520"/>
          </a:xfrm>
        </p:spPr>
        <p:txBody>
          <a:bodyPr/>
          <a:lstStyle/>
          <a:p>
            <a:r>
              <a:rPr lang="zh-CN" altLang="en-US" sz="2000" dirty="0"/>
              <a:t>传输</a:t>
            </a:r>
            <a:r>
              <a:rPr lang="en-US" altLang="zh-CN" sz="2000" dirty="0"/>
              <a:t>BUM</a:t>
            </a:r>
            <a:r>
              <a:rPr lang="zh-CN" altLang="en-US" sz="2000" dirty="0"/>
              <a:t>（</a:t>
            </a:r>
            <a:r>
              <a:rPr lang="en-US" altLang="zh-CN" sz="2000" dirty="0"/>
              <a:t>Broadcast</a:t>
            </a:r>
            <a:r>
              <a:rPr lang="zh-CN" altLang="en-US" sz="2000" dirty="0"/>
              <a:t>、</a:t>
            </a:r>
            <a:r>
              <a:rPr lang="en-US" altLang="zh-CN" sz="2000" dirty="0"/>
              <a:t>Unknown</a:t>
            </a:r>
            <a:r>
              <a:rPr lang="zh-CN" altLang="en-US" sz="2000" dirty="0"/>
              <a:t>、</a:t>
            </a:r>
            <a:r>
              <a:rPr lang="en-US" altLang="zh-CN" sz="2000" dirty="0"/>
              <a:t>Multicast</a:t>
            </a:r>
            <a:r>
              <a:rPr lang="zh-CN" altLang="en-US" sz="2000" dirty="0"/>
              <a:t>）流量时，</a:t>
            </a:r>
            <a:r>
              <a:rPr lang="en-US" altLang="zh-CN" sz="2000" dirty="0"/>
              <a:t>VTEP</a:t>
            </a:r>
            <a:r>
              <a:rPr lang="zh-CN" altLang="en-US" sz="2000" dirty="0"/>
              <a:t>会将流量复制多份发送到头端复制列表中的对端</a:t>
            </a:r>
            <a:r>
              <a:rPr lang="en-US" altLang="zh-CN" sz="2000" dirty="0"/>
              <a:t>VTEP</a:t>
            </a:r>
            <a:r>
              <a:rPr lang="zh-CN" altLang="en-US" sz="2000" dirty="0"/>
              <a:t>，从而在</a:t>
            </a:r>
            <a:r>
              <a:rPr lang="en-US" altLang="zh-CN" sz="2000" dirty="0"/>
              <a:t>Overlay</a:t>
            </a:r>
            <a:r>
              <a:rPr lang="zh-CN" altLang="en-US" sz="2000" dirty="0"/>
              <a:t>网络中实现泛洪转发的效果。</a:t>
            </a:r>
          </a:p>
          <a:p>
            <a:endParaRPr lang="zh-CN" altLang="en-US" sz="2000" dirty="0"/>
          </a:p>
        </p:txBody>
      </p:sp>
      <p:sp>
        <p:nvSpPr>
          <p:cNvPr id="12" name="矩形 11"/>
          <p:cNvSpPr/>
          <p:nvPr/>
        </p:nvSpPr>
        <p:spPr bwMode="gray">
          <a:xfrm rot="15603">
            <a:off x="2386156" y="2235337"/>
            <a:ext cx="949299" cy="307777"/>
          </a:xfrm>
          <a:prstGeom prst="rect">
            <a:avLst/>
          </a:prstGeom>
        </p:spPr>
        <p:txBody>
          <a:bodyPr wrap="none">
            <a:spAutoFit/>
          </a:bodyPr>
          <a:lstStyle/>
          <a:p>
            <a:pPr algn="just"/>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BUM</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流量</a:t>
            </a:r>
          </a:p>
        </p:txBody>
      </p:sp>
      <p:grpSp>
        <p:nvGrpSpPr>
          <p:cNvPr id="29" name="组合 28"/>
          <p:cNvGrpSpPr/>
          <p:nvPr/>
        </p:nvGrpSpPr>
        <p:grpSpPr bwMode="gray">
          <a:xfrm rot="10800000">
            <a:off x="4525197" y="3703829"/>
            <a:ext cx="337662" cy="277474"/>
            <a:chOff x="1149331" y="3370821"/>
            <a:chExt cx="598189" cy="335743"/>
          </a:xfrm>
        </p:grpSpPr>
        <p:cxnSp>
          <p:nvCxnSpPr>
            <p:cNvPr id="30" name="直接连接符 29"/>
            <p:cNvCxnSpPr/>
            <p:nvPr/>
          </p:nvCxnSpPr>
          <p:spPr bwMode="gray">
            <a:xfrm flipH="1">
              <a:off x="1149331" y="3370821"/>
              <a:ext cx="59818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bwMode="gray">
            <a:xfrm flipV="1">
              <a:off x="1448425" y="3370821"/>
              <a:ext cx="0" cy="3357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2" name="矩形 31"/>
          <p:cNvSpPr/>
          <p:nvPr/>
        </p:nvSpPr>
        <p:spPr bwMode="gray">
          <a:xfrm>
            <a:off x="4181708" y="3990632"/>
            <a:ext cx="1024640"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VTEP1</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1.1.1.1/32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3" name="组合 32"/>
          <p:cNvGrpSpPr/>
          <p:nvPr/>
        </p:nvGrpSpPr>
        <p:grpSpPr bwMode="gray">
          <a:xfrm rot="10800000">
            <a:off x="7740639" y="4115229"/>
            <a:ext cx="337662" cy="277474"/>
            <a:chOff x="1149331" y="3370821"/>
            <a:chExt cx="598189" cy="335743"/>
          </a:xfrm>
        </p:grpSpPr>
        <p:cxnSp>
          <p:nvCxnSpPr>
            <p:cNvPr id="34" name="直接连接符 33"/>
            <p:cNvCxnSpPr/>
            <p:nvPr/>
          </p:nvCxnSpPr>
          <p:spPr bwMode="gray">
            <a:xfrm flipH="1">
              <a:off x="1149331" y="3370821"/>
              <a:ext cx="59818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gray">
            <a:xfrm flipV="1">
              <a:off x="1448425" y="3370821"/>
              <a:ext cx="0" cy="3357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6" name="矩形 35"/>
          <p:cNvSpPr/>
          <p:nvPr/>
        </p:nvSpPr>
        <p:spPr bwMode="gray">
          <a:xfrm>
            <a:off x="7397151" y="4402032"/>
            <a:ext cx="1024639"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VTEP2</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2.2.2.2/32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7" name="图片 87" descr="汇聚交换机.png"/>
          <p:cNvPicPr>
            <a:picLocks noChangeAspect="1"/>
          </p:cNvPicPr>
          <p:nvPr/>
        </p:nvPicPr>
        <p:blipFill>
          <a:blip r:embed="rId3"/>
          <a:stretch>
            <a:fillRect/>
          </a:stretch>
        </p:blipFill>
        <p:spPr bwMode="gray">
          <a:xfrm>
            <a:off x="4442618" y="3387930"/>
            <a:ext cx="502820" cy="411400"/>
          </a:xfrm>
          <a:prstGeom prst="rect">
            <a:avLst/>
          </a:prstGeom>
        </p:spPr>
      </p:pic>
      <p:grpSp>
        <p:nvGrpSpPr>
          <p:cNvPr id="8" name="组合 7"/>
          <p:cNvGrpSpPr/>
          <p:nvPr/>
        </p:nvGrpSpPr>
        <p:grpSpPr bwMode="gray">
          <a:xfrm>
            <a:off x="7740638" y="2820714"/>
            <a:ext cx="337662" cy="277474"/>
            <a:chOff x="7170494" y="3022832"/>
            <a:chExt cx="337662" cy="277474"/>
          </a:xfrm>
        </p:grpSpPr>
        <p:cxnSp>
          <p:nvCxnSpPr>
            <p:cNvPr id="61" name="直接连接符 60"/>
            <p:cNvCxnSpPr/>
            <p:nvPr/>
          </p:nvCxnSpPr>
          <p:spPr bwMode="gray">
            <a:xfrm rot="10800000" flipH="1">
              <a:off x="7170494" y="3022832"/>
              <a:ext cx="33766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bwMode="gray">
            <a:xfrm rot="10800000" flipV="1">
              <a:off x="7339325" y="3022832"/>
              <a:ext cx="0" cy="2774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3" name="矩形 62"/>
          <p:cNvSpPr/>
          <p:nvPr/>
        </p:nvSpPr>
        <p:spPr bwMode="gray">
          <a:xfrm>
            <a:off x="7397149" y="2297494"/>
            <a:ext cx="1024639"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VTEP3</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3.3.3.3/32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矩形 71"/>
          <p:cNvSpPr/>
          <p:nvPr/>
        </p:nvSpPr>
        <p:spPr bwMode="gray">
          <a:xfrm>
            <a:off x="1544617" y="3878882"/>
            <a:ext cx="1287532"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PC1</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172.16.2.1/24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3" name="图片 11" descr="开放网络-蓝.png"/>
          <p:cNvPicPr>
            <a:picLocks noChangeAspect="1"/>
          </p:cNvPicPr>
          <p:nvPr/>
        </p:nvPicPr>
        <p:blipFill>
          <a:blip r:embed="rId4" cstate="print"/>
          <a:stretch>
            <a:fillRect/>
          </a:stretch>
        </p:blipFill>
        <p:spPr bwMode="gray">
          <a:xfrm>
            <a:off x="1920680" y="3384705"/>
            <a:ext cx="539607" cy="415381"/>
          </a:xfrm>
          <a:prstGeom prst="rect">
            <a:avLst/>
          </a:prstGeom>
        </p:spPr>
      </p:pic>
      <p:sp>
        <p:nvSpPr>
          <p:cNvPr id="80" name="矩形 79"/>
          <p:cNvSpPr/>
          <p:nvPr/>
        </p:nvSpPr>
        <p:spPr bwMode="gray">
          <a:xfrm>
            <a:off x="9561368" y="2116069"/>
            <a:ext cx="1287532"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PC2</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172.16.2.2/24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1" name="图片 11" descr="开放网络-蓝.png"/>
          <p:cNvPicPr>
            <a:picLocks noChangeAspect="1"/>
          </p:cNvPicPr>
          <p:nvPr/>
        </p:nvPicPr>
        <p:blipFill>
          <a:blip r:embed="rId4" cstate="print"/>
          <a:stretch>
            <a:fillRect/>
          </a:stretch>
        </p:blipFill>
        <p:spPr bwMode="gray">
          <a:xfrm>
            <a:off x="9956941" y="2682807"/>
            <a:ext cx="539607" cy="415381"/>
          </a:xfrm>
          <a:prstGeom prst="rect">
            <a:avLst/>
          </a:prstGeom>
        </p:spPr>
      </p:pic>
      <p:sp>
        <p:nvSpPr>
          <p:cNvPr id="82" name="任意多边形 81"/>
          <p:cNvSpPr/>
          <p:nvPr/>
        </p:nvSpPr>
        <p:spPr bwMode="gray">
          <a:xfrm flipH="1">
            <a:off x="8078301" y="3075437"/>
            <a:ext cx="2148442" cy="171450"/>
          </a:xfrm>
          <a:custGeom>
            <a:avLst/>
            <a:gdLst>
              <a:gd name="connsiteX0" fmla="*/ 1447800 w 1447800"/>
              <a:gd name="connsiteY0" fmla="*/ 171450 h 171450"/>
              <a:gd name="connsiteX1" fmla="*/ 0 w 1447800"/>
              <a:gd name="connsiteY1" fmla="*/ 171450 h 171450"/>
              <a:gd name="connsiteX2" fmla="*/ 0 w 1447800"/>
              <a:gd name="connsiteY2" fmla="*/ 0 h 171450"/>
            </a:gdLst>
            <a:ahLst/>
            <a:cxnLst>
              <a:cxn ang="0">
                <a:pos x="connsiteX0" y="connsiteY0"/>
              </a:cxn>
              <a:cxn ang="0">
                <a:pos x="connsiteX1" y="connsiteY1"/>
              </a:cxn>
              <a:cxn ang="0">
                <a:pos x="connsiteX2" y="connsiteY2"/>
              </a:cxn>
            </a:cxnLst>
            <a:rect l="l" t="t" r="r" b="b"/>
            <a:pathLst>
              <a:path w="1447800" h="171450">
                <a:moveTo>
                  <a:pt x="1447800" y="171450"/>
                </a:moveTo>
                <a:lnTo>
                  <a:pt x="0" y="171450"/>
                </a:lnTo>
                <a:lnTo>
                  <a:pt x="0" y="0"/>
                </a:ln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矩形 83"/>
          <p:cNvSpPr/>
          <p:nvPr/>
        </p:nvSpPr>
        <p:spPr bwMode="gray">
          <a:xfrm>
            <a:off x="9606253" y="4631728"/>
            <a:ext cx="1287532"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PC3</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172.16.2.3/24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5" name="图片 11" descr="开放网络-蓝.png"/>
          <p:cNvPicPr>
            <a:picLocks noChangeAspect="1"/>
          </p:cNvPicPr>
          <p:nvPr/>
        </p:nvPicPr>
        <p:blipFill>
          <a:blip r:embed="rId4" cstate="print"/>
          <a:stretch>
            <a:fillRect/>
          </a:stretch>
        </p:blipFill>
        <p:spPr bwMode="gray">
          <a:xfrm>
            <a:off x="9982316" y="4137551"/>
            <a:ext cx="539607" cy="415381"/>
          </a:xfrm>
          <a:prstGeom prst="rect">
            <a:avLst/>
          </a:prstGeom>
        </p:spPr>
      </p:pic>
      <p:sp>
        <p:nvSpPr>
          <p:cNvPr id="86" name="任意多边形 85"/>
          <p:cNvSpPr/>
          <p:nvPr/>
        </p:nvSpPr>
        <p:spPr bwMode="gray">
          <a:xfrm flipH="1" flipV="1">
            <a:off x="8078300" y="3990632"/>
            <a:ext cx="2148444" cy="185076"/>
          </a:xfrm>
          <a:custGeom>
            <a:avLst/>
            <a:gdLst>
              <a:gd name="connsiteX0" fmla="*/ 1447800 w 1447800"/>
              <a:gd name="connsiteY0" fmla="*/ 171450 h 171450"/>
              <a:gd name="connsiteX1" fmla="*/ 0 w 1447800"/>
              <a:gd name="connsiteY1" fmla="*/ 171450 h 171450"/>
              <a:gd name="connsiteX2" fmla="*/ 0 w 1447800"/>
              <a:gd name="connsiteY2" fmla="*/ 0 h 171450"/>
            </a:gdLst>
            <a:ahLst/>
            <a:cxnLst>
              <a:cxn ang="0">
                <a:pos x="connsiteX0" y="connsiteY0"/>
              </a:cxn>
              <a:cxn ang="0">
                <a:pos x="connsiteX1" y="connsiteY1"/>
              </a:cxn>
              <a:cxn ang="0">
                <a:pos x="connsiteX2" y="connsiteY2"/>
              </a:cxn>
            </a:cxnLst>
            <a:rect l="l" t="t" r="r" b="b"/>
            <a:pathLst>
              <a:path w="1447800" h="171450">
                <a:moveTo>
                  <a:pt x="1447800" y="171450"/>
                </a:moveTo>
                <a:lnTo>
                  <a:pt x="0" y="171450"/>
                </a:lnTo>
                <a:lnTo>
                  <a:pt x="0" y="0"/>
                </a:ln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矩形 90"/>
          <p:cNvSpPr/>
          <p:nvPr/>
        </p:nvSpPr>
        <p:spPr bwMode="gray">
          <a:xfrm rot="15603">
            <a:off x="2787203" y="3671706"/>
            <a:ext cx="846707" cy="523220"/>
          </a:xfrm>
          <a:prstGeom prst="rect">
            <a:avLst/>
          </a:prstGeom>
        </p:spPr>
        <p:txBody>
          <a:bodyPr wrap="none">
            <a:spAutoFit/>
          </a:bodyPr>
          <a:lstStyle/>
          <a:p>
            <a:pPr algn="just"/>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BD 20</a:t>
            </a:r>
          </a:p>
          <a:p>
            <a:pPr algn="just"/>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VNI 200</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矩形 91"/>
          <p:cNvSpPr/>
          <p:nvPr/>
        </p:nvSpPr>
        <p:spPr bwMode="gray">
          <a:xfrm rot="15603">
            <a:off x="9150041" y="2606557"/>
            <a:ext cx="846707" cy="523220"/>
          </a:xfrm>
          <a:prstGeom prst="rect">
            <a:avLst/>
          </a:prstGeom>
        </p:spPr>
        <p:txBody>
          <a:bodyPr wrap="none">
            <a:spAutoFit/>
          </a:bodyPr>
          <a:lstStyle/>
          <a:p>
            <a:pPr algn="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BD 20</a:t>
            </a:r>
          </a:p>
          <a:p>
            <a:pPr algn="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VNI 200</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矩形 94"/>
          <p:cNvSpPr/>
          <p:nvPr/>
        </p:nvSpPr>
        <p:spPr bwMode="gray">
          <a:xfrm rot="15603">
            <a:off x="9150041" y="4021840"/>
            <a:ext cx="846707" cy="523220"/>
          </a:xfrm>
          <a:prstGeom prst="rect">
            <a:avLst/>
          </a:prstGeom>
        </p:spPr>
        <p:txBody>
          <a:bodyPr wrap="none">
            <a:spAutoFit/>
          </a:bodyPr>
          <a:lstStyle/>
          <a:p>
            <a:pPr algn="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BD 20</a:t>
            </a:r>
          </a:p>
          <a:p>
            <a:pPr algn="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VNI 200</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圆柱形 101"/>
          <p:cNvSpPr/>
          <p:nvPr/>
        </p:nvSpPr>
        <p:spPr bwMode="gray">
          <a:xfrm rot="15753464">
            <a:off x="6208897" y="1908622"/>
            <a:ext cx="222026" cy="2836593"/>
          </a:xfrm>
          <a:prstGeom prst="can">
            <a:avLst>
              <a:gd name="adj" fmla="val 72803"/>
            </a:avLst>
          </a:prstGeom>
          <a:solidFill>
            <a:srgbClr val="EC7061"/>
          </a:solidFill>
          <a:ln w="12700" cap="flat" cmpd="sng" algn="ctr">
            <a:solidFill>
              <a:sysClr val="window" lastClr="FFFFF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999">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矩形 102"/>
          <p:cNvSpPr/>
          <p:nvPr/>
        </p:nvSpPr>
        <p:spPr bwMode="gray">
          <a:xfrm rot="21150306">
            <a:off x="5721028" y="3183100"/>
            <a:ext cx="1197764" cy="307777"/>
          </a:xfrm>
          <a:prstGeom prst="rect">
            <a:avLst/>
          </a:prstGeom>
        </p:spPr>
        <p:txBody>
          <a:bodyPr wrap="none">
            <a:spAutoFit/>
          </a:bodyPr>
          <a:lstStyle/>
          <a:p>
            <a:pPr algn="just"/>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 </a:t>
            </a:r>
            <a:r>
              <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a:t>
            </a:r>
          </a:p>
        </p:txBody>
      </p:sp>
      <p:sp>
        <p:nvSpPr>
          <p:cNvPr id="104" name="圆柱形 103"/>
          <p:cNvSpPr/>
          <p:nvPr/>
        </p:nvSpPr>
        <p:spPr bwMode="gray">
          <a:xfrm rot="16413445">
            <a:off x="6210621" y="2440008"/>
            <a:ext cx="222026" cy="2836593"/>
          </a:xfrm>
          <a:prstGeom prst="can">
            <a:avLst>
              <a:gd name="adj" fmla="val 72803"/>
            </a:avLst>
          </a:prstGeom>
          <a:solidFill>
            <a:srgbClr val="EC7061"/>
          </a:solidFill>
          <a:ln w="12700" cap="flat" cmpd="sng" algn="ctr">
            <a:solidFill>
              <a:sysClr val="window" lastClr="FFFFF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999">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矩形 104"/>
          <p:cNvSpPr/>
          <p:nvPr/>
        </p:nvSpPr>
        <p:spPr bwMode="gray">
          <a:xfrm rot="231973">
            <a:off x="5759127" y="3714143"/>
            <a:ext cx="1197764" cy="307777"/>
          </a:xfrm>
          <a:prstGeom prst="rect">
            <a:avLst/>
          </a:prstGeom>
        </p:spPr>
        <p:txBody>
          <a:bodyPr wrap="none">
            <a:spAutoFit/>
          </a:bodyPr>
          <a:lstStyle/>
          <a:p>
            <a:pPr algn="just"/>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 </a:t>
            </a:r>
            <a:r>
              <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a:t>
            </a:r>
          </a:p>
        </p:txBody>
      </p:sp>
      <p:cxnSp>
        <p:nvCxnSpPr>
          <p:cNvPr id="106" name="直接连接符 105">
            <a:extLst>
              <a:ext uri="{FF2B5EF4-FFF2-40B4-BE49-F238E27FC236}">
                <a16:creationId xmlns:a16="http://schemas.microsoft.com/office/drawing/2014/main" id="{062F7182-EB4F-47B5-A947-7E338CCA1217}"/>
              </a:ext>
            </a:extLst>
          </p:cNvPr>
          <p:cNvCxnSpPr>
            <a:cxnSpLocks/>
          </p:cNvCxnSpPr>
          <p:nvPr/>
        </p:nvCxnSpPr>
        <p:spPr bwMode="gray">
          <a:xfrm flipH="1">
            <a:off x="2826575" y="3182747"/>
            <a:ext cx="869576" cy="0"/>
          </a:xfrm>
          <a:prstGeom prst="line">
            <a:avLst/>
          </a:prstGeom>
          <a:ln w="38100">
            <a:solidFill>
              <a:srgbClr val="FFD17D"/>
            </a:solidFill>
            <a:headEnd type="triangle"/>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062F7182-EB4F-47B5-A947-7E338CCA1217}"/>
              </a:ext>
            </a:extLst>
          </p:cNvPr>
          <p:cNvCxnSpPr>
            <a:cxnSpLocks/>
          </p:cNvCxnSpPr>
          <p:nvPr/>
        </p:nvCxnSpPr>
        <p:spPr bwMode="gray">
          <a:xfrm flipH="1">
            <a:off x="1870812" y="2376810"/>
            <a:ext cx="512919" cy="0"/>
          </a:xfrm>
          <a:prstGeom prst="line">
            <a:avLst/>
          </a:prstGeom>
          <a:ln w="38100">
            <a:solidFill>
              <a:srgbClr val="FFD17D"/>
            </a:solidFill>
            <a:headEnd type="triangle"/>
          </a:ln>
        </p:spPr>
        <p:style>
          <a:lnRef idx="1">
            <a:schemeClr val="accent1"/>
          </a:lnRef>
          <a:fillRef idx="0">
            <a:schemeClr val="accent1"/>
          </a:fillRef>
          <a:effectRef idx="0">
            <a:schemeClr val="accent1"/>
          </a:effectRef>
          <a:fontRef idx="minor">
            <a:schemeClr val="tx1"/>
          </a:fontRef>
        </p:style>
      </p:cxnSp>
      <p:sp>
        <p:nvSpPr>
          <p:cNvPr id="108" name="椭圆 107"/>
          <p:cNvSpPr>
            <a:spLocks noChangeAspect="1"/>
          </p:cNvSpPr>
          <p:nvPr/>
        </p:nvSpPr>
        <p:spPr bwMode="gray">
          <a:xfrm>
            <a:off x="3084149" y="2787504"/>
            <a:ext cx="252000" cy="25200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椭圆 109"/>
          <p:cNvSpPr>
            <a:spLocks noChangeAspect="1"/>
          </p:cNvSpPr>
          <p:nvPr/>
        </p:nvSpPr>
        <p:spPr bwMode="gray">
          <a:xfrm>
            <a:off x="4078438" y="2665424"/>
            <a:ext cx="252000" cy="25200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矩形 110"/>
          <p:cNvSpPr/>
          <p:nvPr/>
        </p:nvSpPr>
        <p:spPr bwMode="gray">
          <a:xfrm rot="15603">
            <a:off x="4264609" y="2641744"/>
            <a:ext cx="1082348" cy="307777"/>
          </a:xfrm>
          <a:prstGeom prst="rect">
            <a:avLst/>
          </a:prstGeom>
        </p:spPr>
        <p:txBody>
          <a:bodyPr wrap="none">
            <a:spAutoFit/>
          </a:bodyPr>
          <a:lstStyle/>
          <a:p>
            <a:pPr algn="just"/>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复制、封装</a:t>
            </a:r>
          </a:p>
        </p:txBody>
      </p:sp>
      <p:sp>
        <p:nvSpPr>
          <p:cNvPr id="112" name="椭圆 27"/>
          <p:cNvSpPr/>
          <p:nvPr/>
        </p:nvSpPr>
        <p:spPr bwMode="gray">
          <a:xfrm>
            <a:off x="4499585" y="2964858"/>
            <a:ext cx="333676" cy="333676"/>
          </a:xfrm>
          <a:custGeom>
            <a:avLst/>
            <a:gdLst>
              <a:gd name="connsiteX0" fmla="*/ 0 w 333676"/>
              <a:gd name="connsiteY0" fmla="*/ 166838 h 333676"/>
              <a:gd name="connsiteX1" fmla="*/ 166838 w 333676"/>
              <a:gd name="connsiteY1" fmla="*/ 0 h 333676"/>
              <a:gd name="connsiteX2" fmla="*/ 333676 w 333676"/>
              <a:gd name="connsiteY2" fmla="*/ 166838 h 333676"/>
              <a:gd name="connsiteX3" fmla="*/ 166838 w 333676"/>
              <a:gd name="connsiteY3" fmla="*/ 333676 h 333676"/>
              <a:gd name="connsiteX4" fmla="*/ 0 w 333676"/>
              <a:gd name="connsiteY4" fmla="*/ 166838 h 333676"/>
              <a:gd name="connsiteX0" fmla="*/ 166838 w 333676"/>
              <a:gd name="connsiteY0" fmla="*/ 0 h 333676"/>
              <a:gd name="connsiteX1" fmla="*/ 333676 w 333676"/>
              <a:gd name="connsiteY1" fmla="*/ 166838 h 333676"/>
              <a:gd name="connsiteX2" fmla="*/ 166838 w 333676"/>
              <a:gd name="connsiteY2" fmla="*/ 333676 h 333676"/>
              <a:gd name="connsiteX3" fmla="*/ 0 w 333676"/>
              <a:gd name="connsiteY3" fmla="*/ 166838 h 333676"/>
              <a:gd name="connsiteX4" fmla="*/ 258278 w 333676"/>
              <a:gd name="connsiteY4" fmla="*/ 91440 h 333676"/>
              <a:gd name="connsiteX0" fmla="*/ 166838 w 333676"/>
              <a:gd name="connsiteY0" fmla="*/ 0 h 333676"/>
              <a:gd name="connsiteX1" fmla="*/ 333676 w 333676"/>
              <a:gd name="connsiteY1" fmla="*/ 166838 h 333676"/>
              <a:gd name="connsiteX2" fmla="*/ 166838 w 333676"/>
              <a:gd name="connsiteY2" fmla="*/ 333676 h 333676"/>
              <a:gd name="connsiteX3" fmla="*/ 0 w 333676"/>
              <a:gd name="connsiteY3" fmla="*/ 166838 h 333676"/>
            </a:gdLst>
            <a:ahLst/>
            <a:cxnLst>
              <a:cxn ang="0">
                <a:pos x="connsiteX0" y="connsiteY0"/>
              </a:cxn>
              <a:cxn ang="0">
                <a:pos x="connsiteX1" y="connsiteY1"/>
              </a:cxn>
              <a:cxn ang="0">
                <a:pos x="connsiteX2" y="connsiteY2"/>
              </a:cxn>
              <a:cxn ang="0">
                <a:pos x="connsiteX3" y="connsiteY3"/>
              </a:cxn>
            </a:cxnLst>
            <a:rect l="l" t="t" r="r" b="b"/>
            <a:pathLst>
              <a:path w="333676" h="333676">
                <a:moveTo>
                  <a:pt x="166838" y="0"/>
                </a:moveTo>
                <a:cubicBezTo>
                  <a:pt x="258980" y="0"/>
                  <a:pt x="333676" y="74696"/>
                  <a:pt x="333676" y="166838"/>
                </a:cubicBezTo>
                <a:cubicBezTo>
                  <a:pt x="333676" y="258980"/>
                  <a:pt x="258980" y="333676"/>
                  <a:pt x="166838" y="333676"/>
                </a:cubicBezTo>
                <a:cubicBezTo>
                  <a:pt x="74696" y="333676"/>
                  <a:pt x="0" y="258980"/>
                  <a:pt x="0" y="166838"/>
                </a:cubicBezTo>
              </a:path>
            </a:pathLst>
          </a:custGeom>
          <a:ln w="38100">
            <a:solidFill>
              <a:srgbClr val="FFD17D"/>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3" name="直接连接符 112">
            <a:extLst>
              <a:ext uri="{FF2B5EF4-FFF2-40B4-BE49-F238E27FC236}">
                <a16:creationId xmlns:a16="http://schemas.microsoft.com/office/drawing/2014/main" id="{062F7182-EB4F-47B5-A947-7E338CCA1217}"/>
              </a:ext>
            </a:extLst>
          </p:cNvPr>
          <p:cNvCxnSpPr>
            <a:cxnSpLocks/>
          </p:cNvCxnSpPr>
          <p:nvPr/>
        </p:nvCxnSpPr>
        <p:spPr bwMode="gray">
          <a:xfrm flipH="1">
            <a:off x="5827991" y="3030073"/>
            <a:ext cx="792000" cy="96710"/>
          </a:xfrm>
          <a:prstGeom prst="line">
            <a:avLst/>
          </a:prstGeom>
          <a:ln w="38100">
            <a:solidFill>
              <a:srgbClr val="FFD17D"/>
            </a:solidFill>
            <a:headEnd type="triangle"/>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062F7182-EB4F-47B5-A947-7E338CCA1217}"/>
              </a:ext>
            </a:extLst>
          </p:cNvPr>
          <p:cNvCxnSpPr>
            <a:cxnSpLocks/>
          </p:cNvCxnSpPr>
          <p:nvPr/>
        </p:nvCxnSpPr>
        <p:spPr bwMode="gray">
          <a:xfrm flipH="1" flipV="1">
            <a:off x="5827991" y="4180490"/>
            <a:ext cx="792000" cy="38983"/>
          </a:xfrm>
          <a:prstGeom prst="line">
            <a:avLst/>
          </a:prstGeom>
          <a:ln w="38100">
            <a:solidFill>
              <a:srgbClr val="FFD17D"/>
            </a:solidFill>
            <a:headEnd type="triangle"/>
          </a:ln>
        </p:spPr>
        <p:style>
          <a:lnRef idx="1">
            <a:schemeClr val="accent1"/>
          </a:lnRef>
          <a:fillRef idx="0">
            <a:schemeClr val="accent1"/>
          </a:fillRef>
          <a:effectRef idx="0">
            <a:schemeClr val="accent1"/>
          </a:effectRef>
          <a:fontRef idx="minor">
            <a:schemeClr val="tx1"/>
          </a:fontRef>
        </p:style>
      </p:cxnSp>
      <p:graphicFrame>
        <p:nvGraphicFramePr>
          <p:cNvPr id="122" name="表格 121"/>
          <p:cNvGraphicFramePr>
            <a:graphicFrameLocks noGrp="1"/>
          </p:cNvGraphicFramePr>
          <p:nvPr>
            <p:extLst>
              <p:ext uri="{D42A27DB-BD31-4B8C-83A1-F6EECF244321}">
                <p14:modId xmlns:p14="http://schemas.microsoft.com/office/powerpoint/2010/main" val="1361865261"/>
              </p:ext>
            </p:extLst>
          </p:nvPr>
        </p:nvGraphicFramePr>
        <p:xfrm>
          <a:off x="4698704" y="4811948"/>
          <a:ext cx="2541553" cy="1175095"/>
        </p:xfrm>
        <a:graphic>
          <a:graphicData uri="http://schemas.openxmlformats.org/drawingml/2006/table">
            <a:tbl>
              <a:tblPr firstRow="1" bandRow="1">
                <a:tableStyleId>{72833802-FEF1-4C79-8D5D-14CF1EAF98D9}</a:tableStyleId>
              </a:tblPr>
              <a:tblGrid>
                <a:gridCol w="2541553">
                  <a:extLst>
                    <a:ext uri="{9D8B030D-6E8A-4147-A177-3AD203B41FA5}">
                      <a16:colId xmlns:a16="http://schemas.microsoft.com/office/drawing/2014/main" val="20000"/>
                    </a:ext>
                  </a:extLst>
                </a:gridCol>
              </a:tblGrid>
              <a:tr h="288000">
                <a:tc>
                  <a:txBody>
                    <a:bodyPr/>
                    <a:lstStyle/>
                    <a:p>
                      <a:pPr algn="ct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BUM</a:t>
                      </a:r>
                      <a:r>
                        <a:rPr lang="zh-CN" altLang="en-US" sz="120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流量</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lnTlToBr w="12700" cmpd="sng">
                      <a:noFill/>
                      <a:prstDash val="solid"/>
                    </a:lnTlToBr>
                    <a:lnBlToTr w="12700" cmpd="sng">
                      <a:noFill/>
                      <a:prstDash val="solid"/>
                    </a:lnBlToTr>
                    <a:solidFill>
                      <a:srgbClr val="D7F2F5"/>
                    </a:solidFill>
                  </a:tcPr>
                </a:tc>
                <a:extLst>
                  <a:ext uri="{0D108BD9-81ED-4DB2-BD59-A6C34878D82A}">
                    <a16:rowId xmlns:a16="http://schemas.microsoft.com/office/drawing/2014/main" val="10000"/>
                  </a:ext>
                </a:extLst>
              </a:tr>
              <a:tr h="288000">
                <a:tc>
                  <a:txBody>
                    <a:bodyPr/>
                    <a:lstStyle/>
                    <a:p>
                      <a:pPr algn="ctr">
                        <a:lnSpc>
                          <a:spcPct val="120000"/>
                        </a:lnSpc>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头部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88000">
                <a:tc>
                  <a:txBody>
                    <a:bodyPr/>
                    <a:lstStyle/>
                    <a:p>
                      <a:pPr algn="ctr">
                        <a:lnSpc>
                          <a:spcPct val="120000"/>
                        </a:lnSpc>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UDP</a:t>
                      </a: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88000">
                <a:tc>
                  <a:txBody>
                    <a:bodyPr/>
                    <a:lstStyle/>
                    <a:p>
                      <a:pPr algn="ctr">
                        <a:lnSpc>
                          <a:spcPct val="120000"/>
                        </a:lnSpc>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baseline="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aseline="0" dirty="0" err="1">
                          <a:latin typeface="Huawei Sans" panose="020C0503030203020204" pitchFamily="34" charset="0"/>
                          <a:ea typeface="方正兰亭黑简体" panose="02000000000000000000" pitchFamily="2" charset="-122"/>
                          <a:sym typeface="Huawei Sans" panose="020C0503030203020204" pitchFamily="34" charset="0"/>
                        </a:rPr>
                        <a:t>S</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rc</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1.1.1.1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200" baseline="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baseline="0" dirty="0" err="1">
                          <a:latin typeface="Huawei Sans" panose="020C0503030203020204" pitchFamily="34" charset="0"/>
                          <a:ea typeface="方正兰亭黑简体" panose="02000000000000000000" pitchFamily="2" charset="-122"/>
                          <a:sym typeface="Huawei Sans" panose="020C0503030203020204" pitchFamily="34" charset="0"/>
                        </a:rPr>
                        <a:t>D</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st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2.2.2.2</a:t>
                      </a: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125" name="任意多边形 124"/>
          <p:cNvSpPr/>
          <p:nvPr/>
        </p:nvSpPr>
        <p:spPr bwMode="gray">
          <a:xfrm flipH="1" flipV="1">
            <a:off x="4694027" y="4196844"/>
            <a:ext cx="2546229" cy="573979"/>
          </a:xfrm>
          <a:custGeom>
            <a:avLst/>
            <a:gdLst>
              <a:gd name="connsiteX0" fmla="*/ 177800 w 1104900"/>
              <a:gd name="connsiteY0" fmla="*/ 0 h 444500"/>
              <a:gd name="connsiteX1" fmla="*/ 660400 w 1104900"/>
              <a:gd name="connsiteY1" fmla="*/ 0 h 444500"/>
              <a:gd name="connsiteX2" fmla="*/ 1104900 w 1104900"/>
              <a:gd name="connsiteY2" fmla="*/ 444500 h 444500"/>
              <a:gd name="connsiteX3" fmla="*/ 0 w 1104900"/>
              <a:gd name="connsiteY3" fmla="*/ 444500 h 444500"/>
              <a:gd name="connsiteX0" fmla="*/ 177800 w 1104900"/>
              <a:gd name="connsiteY0" fmla="*/ 0 h 444500"/>
              <a:gd name="connsiteX1" fmla="*/ 660400 w 1104900"/>
              <a:gd name="connsiteY1" fmla="*/ 0 h 444500"/>
              <a:gd name="connsiteX2" fmla="*/ 1104900 w 1104900"/>
              <a:gd name="connsiteY2" fmla="*/ 444500 h 444500"/>
              <a:gd name="connsiteX3" fmla="*/ 0 w 1104900"/>
              <a:gd name="connsiteY3" fmla="*/ 444500 h 444500"/>
              <a:gd name="connsiteX4" fmla="*/ 177800 w 1104900"/>
              <a:gd name="connsiteY4" fmla="*/ 0 h 444500"/>
              <a:gd name="connsiteX0" fmla="*/ 73025 w 1104900"/>
              <a:gd name="connsiteY0" fmla="*/ 0 h 687388"/>
              <a:gd name="connsiteX1" fmla="*/ 660400 w 1104900"/>
              <a:gd name="connsiteY1" fmla="*/ 242888 h 687388"/>
              <a:gd name="connsiteX2" fmla="*/ 1104900 w 1104900"/>
              <a:gd name="connsiteY2" fmla="*/ 687388 h 687388"/>
              <a:gd name="connsiteX3" fmla="*/ 0 w 1104900"/>
              <a:gd name="connsiteY3" fmla="*/ 687388 h 687388"/>
              <a:gd name="connsiteX4" fmla="*/ 73025 w 1104900"/>
              <a:gd name="connsiteY4" fmla="*/ 0 h 687388"/>
              <a:gd name="connsiteX0" fmla="*/ 73025 w 1104900"/>
              <a:gd name="connsiteY0" fmla="*/ 0 h 687388"/>
              <a:gd name="connsiteX1" fmla="*/ 1010443 w 1104900"/>
              <a:gd name="connsiteY1" fmla="*/ 0 h 687388"/>
              <a:gd name="connsiteX2" fmla="*/ 1104900 w 1104900"/>
              <a:gd name="connsiteY2" fmla="*/ 687388 h 687388"/>
              <a:gd name="connsiteX3" fmla="*/ 0 w 1104900"/>
              <a:gd name="connsiteY3" fmla="*/ 687388 h 687388"/>
              <a:gd name="connsiteX4" fmla="*/ 73025 w 1104900"/>
              <a:gd name="connsiteY4" fmla="*/ 0 h 687388"/>
              <a:gd name="connsiteX0" fmla="*/ 73025 w 1010443"/>
              <a:gd name="connsiteY0" fmla="*/ 0 h 687388"/>
              <a:gd name="connsiteX1" fmla="*/ 1010443 w 1010443"/>
              <a:gd name="connsiteY1" fmla="*/ 0 h 687388"/>
              <a:gd name="connsiteX2" fmla="*/ 0 w 1010443"/>
              <a:gd name="connsiteY2" fmla="*/ 687388 h 687388"/>
              <a:gd name="connsiteX3" fmla="*/ 73025 w 1010443"/>
              <a:gd name="connsiteY3" fmla="*/ 0 h 687388"/>
              <a:gd name="connsiteX0" fmla="*/ 127794 w 1065212"/>
              <a:gd name="connsiteY0" fmla="*/ 0 h 661195"/>
              <a:gd name="connsiteX1" fmla="*/ 1065212 w 1065212"/>
              <a:gd name="connsiteY1" fmla="*/ 0 h 661195"/>
              <a:gd name="connsiteX2" fmla="*/ 0 w 1065212"/>
              <a:gd name="connsiteY2" fmla="*/ 661195 h 661195"/>
              <a:gd name="connsiteX3" fmla="*/ 127794 w 1065212"/>
              <a:gd name="connsiteY3" fmla="*/ 0 h 661195"/>
              <a:gd name="connsiteX0" fmla="*/ 118269 w 1055687"/>
              <a:gd name="connsiteY0" fmla="*/ 0 h 604045"/>
              <a:gd name="connsiteX1" fmla="*/ 1055687 w 1055687"/>
              <a:gd name="connsiteY1" fmla="*/ 0 h 604045"/>
              <a:gd name="connsiteX2" fmla="*/ 0 w 1055687"/>
              <a:gd name="connsiteY2" fmla="*/ 604045 h 604045"/>
              <a:gd name="connsiteX3" fmla="*/ 118269 w 1055687"/>
              <a:gd name="connsiteY3" fmla="*/ 0 h 604045"/>
              <a:gd name="connsiteX0" fmla="*/ 0 w 3253414"/>
              <a:gd name="connsiteY0" fmla="*/ 0 h 616745"/>
              <a:gd name="connsiteX1" fmla="*/ 3253414 w 3253414"/>
              <a:gd name="connsiteY1" fmla="*/ 12700 h 616745"/>
              <a:gd name="connsiteX2" fmla="*/ 2197727 w 3253414"/>
              <a:gd name="connsiteY2" fmla="*/ 616745 h 616745"/>
              <a:gd name="connsiteX3" fmla="*/ 0 w 3253414"/>
              <a:gd name="connsiteY3" fmla="*/ 0 h 616745"/>
              <a:gd name="connsiteX0" fmla="*/ 0 w 3253414"/>
              <a:gd name="connsiteY0" fmla="*/ 0 h 1175545"/>
              <a:gd name="connsiteX1" fmla="*/ 3253414 w 3253414"/>
              <a:gd name="connsiteY1" fmla="*/ 12700 h 1175545"/>
              <a:gd name="connsiteX2" fmla="*/ 2284422 w 3253414"/>
              <a:gd name="connsiteY2" fmla="*/ 1175545 h 1175545"/>
              <a:gd name="connsiteX3" fmla="*/ 0 w 3253414"/>
              <a:gd name="connsiteY3" fmla="*/ 0 h 1175545"/>
              <a:gd name="connsiteX0" fmla="*/ 0 w 3216259"/>
              <a:gd name="connsiteY0" fmla="*/ 0 h 1175545"/>
              <a:gd name="connsiteX1" fmla="*/ 3216259 w 3216259"/>
              <a:gd name="connsiteY1" fmla="*/ 12700 h 1175545"/>
              <a:gd name="connsiteX2" fmla="*/ 2247267 w 3216259"/>
              <a:gd name="connsiteY2" fmla="*/ 1175545 h 1175545"/>
              <a:gd name="connsiteX3" fmla="*/ 0 w 3216259"/>
              <a:gd name="connsiteY3" fmla="*/ 0 h 1175545"/>
              <a:gd name="connsiteX0" fmla="*/ 0 w 3216259"/>
              <a:gd name="connsiteY0" fmla="*/ 0 h 1361811"/>
              <a:gd name="connsiteX1" fmla="*/ 3216259 w 3216259"/>
              <a:gd name="connsiteY1" fmla="*/ 12700 h 1361811"/>
              <a:gd name="connsiteX2" fmla="*/ 835376 w 3216259"/>
              <a:gd name="connsiteY2" fmla="*/ 1361811 h 1361811"/>
              <a:gd name="connsiteX3" fmla="*/ 0 w 3216259"/>
              <a:gd name="connsiteY3" fmla="*/ 0 h 1361811"/>
              <a:gd name="connsiteX0" fmla="*/ 0 w 3216259"/>
              <a:gd name="connsiteY0" fmla="*/ 0 h 1378744"/>
              <a:gd name="connsiteX1" fmla="*/ 3216259 w 3216259"/>
              <a:gd name="connsiteY1" fmla="*/ 12700 h 1378744"/>
              <a:gd name="connsiteX2" fmla="*/ 1256467 w 3216259"/>
              <a:gd name="connsiteY2" fmla="*/ 1378744 h 1378744"/>
              <a:gd name="connsiteX3" fmla="*/ 0 w 3216259"/>
              <a:gd name="connsiteY3" fmla="*/ 0 h 1378744"/>
            </a:gdLst>
            <a:ahLst/>
            <a:cxnLst>
              <a:cxn ang="0">
                <a:pos x="connsiteX0" y="connsiteY0"/>
              </a:cxn>
              <a:cxn ang="0">
                <a:pos x="connsiteX1" y="connsiteY1"/>
              </a:cxn>
              <a:cxn ang="0">
                <a:pos x="connsiteX2" y="connsiteY2"/>
              </a:cxn>
              <a:cxn ang="0">
                <a:pos x="connsiteX3" y="connsiteY3"/>
              </a:cxn>
            </a:cxnLst>
            <a:rect l="l" t="t" r="r" b="b"/>
            <a:pathLst>
              <a:path w="3216259" h="1378744">
                <a:moveTo>
                  <a:pt x="0" y="0"/>
                </a:moveTo>
                <a:lnTo>
                  <a:pt x="3216259" y="12700"/>
                </a:lnTo>
                <a:lnTo>
                  <a:pt x="1256467" y="1378744"/>
                </a:lnTo>
                <a:lnTo>
                  <a:pt x="0" y="0"/>
                </a:lnTo>
                <a:close/>
              </a:path>
            </a:pathLst>
          </a:custGeom>
          <a:gradFill flip="none" rotWithShape="1">
            <a:gsLst>
              <a:gs pos="0">
                <a:schemeClr val="accent1">
                  <a:lumMod val="5000"/>
                  <a:lumOff val="95000"/>
                  <a:alpha val="0"/>
                </a:schemeClr>
              </a:gs>
              <a:gs pos="100000">
                <a:srgbClr val="D7F2F5"/>
              </a:gs>
            </a:gsLst>
            <a:lin ang="16200000" scaled="1"/>
            <a:tileRect/>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8" name="图片 87" descr="汇聚交换机.png"/>
          <p:cNvPicPr>
            <a:picLocks noChangeAspect="1"/>
          </p:cNvPicPr>
          <p:nvPr/>
        </p:nvPicPr>
        <p:blipFill>
          <a:blip r:embed="rId3"/>
          <a:stretch>
            <a:fillRect/>
          </a:stretch>
        </p:blipFill>
        <p:spPr bwMode="gray">
          <a:xfrm>
            <a:off x="7653384" y="3799330"/>
            <a:ext cx="502820" cy="411400"/>
          </a:xfrm>
          <a:prstGeom prst="rect">
            <a:avLst/>
          </a:prstGeom>
        </p:spPr>
      </p:pic>
      <p:pic>
        <p:nvPicPr>
          <p:cNvPr id="64" name="图片 87" descr="汇聚交换机.png"/>
          <p:cNvPicPr>
            <a:picLocks noChangeAspect="1"/>
          </p:cNvPicPr>
          <p:nvPr/>
        </p:nvPicPr>
        <p:blipFill>
          <a:blip r:embed="rId3"/>
          <a:stretch>
            <a:fillRect/>
          </a:stretch>
        </p:blipFill>
        <p:spPr bwMode="gray">
          <a:xfrm>
            <a:off x="7653384" y="3039504"/>
            <a:ext cx="502820" cy="411400"/>
          </a:xfrm>
          <a:prstGeom prst="rect">
            <a:avLst/>
          </a:prstGeom>
        </p:spPr>
      </p:pic>
      <p:sp>
        <p:nvSpPr>
          <p:cNvPr id="57" name="椭圆 56"/>
          <p:cNvSpPr/>
          <p:nvPr/>
        </p:nvSpPr>
        <p:spPr bwMode="gray">
          <a:xfrm>
            <a:off x="4360597" y="3554942"/>
            <a:ext cx="131526" cy="131526"/>
          </a:xfrm>
          <a:prstGeom prst="ellipse">
            <a:avLst/>
          </a:prstGeom>
          <a:solidFill>
            <a:srgbClr val="EC706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椭圆 57"/>
          <p:cNvSpPr/>
          <p:nvPr/>
        </p:nvSpPr>
        <p:spPr bwMode="gray">
          <a:xfrm>
            <a:off x="8090441" y="3167008"/>
            <a:ext cx="131526" cy="131526"/>
          </a:xfrm>
          <a:prstGeom prst="ellipse">
            <a:avLst/>
          </a:prstGeom>
          <a:solidFill>
            <a:srgbClr val="EC706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椭圆 58"/>
          <p:cNvSpPr/>
          <p:nvPr/>
        </p:nvSpPr>
        <p:spPr bwMode="gray">
          <a:xfrm>
            <a:off x="8090441" y="3930425"/>
            <a:ext cx="131526" cy="131526"/>
          </a:xfrm>
          <a:prstGeom prst="ellipse">
            <a:avLst/>
          </a:prstGeom>
          <a:solidFill>
            <a:srgbClr val="EC706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五边形 24">
            <a:extLst>
              <a:ext uri="{FF2B5EF4-FFF2-40B4-BE49-F238E27FC236}">
                <a16:creationId xmlns:a16="http://schemas.microsoft.com/office/drawing/2014/main" id="{66BA07AD-FEEF-4CB3-8D55-B5A235B0FBAC}"/>
              </a:ext>
            </a:extLst>
          </p:cNvPr>
          <p:cNvSpPr/>
          <p:nvPr/>
        </p:nvSpPr>
        <p:spPr bwMode="gray">
          <a:xfrm>
            <a:off x="8582131" y="124239"/>
            <a:ext cx="956654" cy="213120"/>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隧道建立</a:t>
            </a:r>
          </a:p>
        </p:txBody>
      </p:sp>
      <p:sp>
        <p:nvSpPr>
          <p:cNvPr id="65" name="燕尾形 26">
            <a:extLst>
              <a:ext uri="{FF2B5EF4-FFF2-40B4-BE49-F238E27FC236}">
                <a16:creationId xmlns:a16="http://schemas.microsoft.com/office/drawing/2014/main" id="{0C19331F-8FCC-488E-9C32-A3F774208D1E}"/>
              </a:ext>
            </a:extLst>
          </p:cNvPr>
          <p:cNvSpPr/>
          <p:nvPr/>
        </p:nvSpPr>
        <p:spPr bwMode="gray">
          <a:xfrm>
            <a:off x="10636769" y="124239"/>
            <a:ext cx="107902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数据帧转发</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燕尾形 26">
            <a:extLst>
              <a:ext uri="{FF2B5EF4-FFF2-40B4-BE49-F238E27FC236}">
                <a16:creationId xmlns:a16="http://schemas.microsoft.com/office/drawing/2014/main" id="{5C797163-D6D3-4ACC-996D-421D87F18D19}"/>
              </a:ext>
            </a:extLst>
          </p:cNvPr>
          <p:cNvSpPr/>
          <p:nvPr/>
        </p:nvSpPr>
        <p:spPr bwMode="gray">
          <a:xfrm>
            <a:off x="9474255" y="124239"/>
            <a:ext cx="1227043"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地址学习</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9986573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图片 86" descr="核心交换机.png"/>
          <p:cNvPicPr>
            <a:picLocks noChangeAspect="1"/>
          </p:cNvPicPr>
          <p:nvPr/>
        </p:nvPicPr>
        <p:blipFill>
          <a:blip r:embed="rId3"/>
          <a:stretch>
            <a:fillRect/>
          </a:stretch>
        </p:blipFill>
        <p:spPr bwMode="gray">
          <a:xfrm>
            <a:off x="5784355" y="2188367"/>
            <a:ext cx="608412" cy="497794"/>
          </a:xfrm>
          <a:prstGeom prst="rect">
            <a:avLst/>
          </a:prstGeom>
        </p:spPr>
      </p:pic>
      <p:cxnSp>
        <p:nvCxnSpPr>
          <p:cNvPr id="3" name="直接连接符 2"/>
          <p:cNvCxnSpPr/>
          <p:nvPr/>
        </p:nvCxnSpPr>
        <p:spPr bwMode="gray">
          <a:xfrm flipH="1">
            <a:off x="8776241" y="3386018"/>
            <a:ext cx="191073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bwMode="gray">
          <a:xfrm flipH="1">
            <a:off x="1425419" y="3386018"/>
            <a:ext cx="200754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72" name="图片 87" descr="汇聚交换机.png"/>
          <p:cNvPicPr>
            <a:picLocks noChangeAspect="1"/>
          </p:cNvPicPr>
          <p:nvPr/>
        </p:nvPicPr>
        <p:blipFill>
          <a:blip r:embed="rId4"/>
          <a:stretch>
            <a:fillRect/>
          </a:stretch>
        </p:blipFill>
        <p:spPr bwMode="gray">
          <a:xfrm>
            <a:off x="3149728" y="3132874"/>
            <a:ext cx="608412" cy="497794"/>
          </a:xfrm>
          <a:prstGeom prst="rect">
            <a:avLst/>
          </a:prstGeom>
        </p:spPr>
      </p:pic>
      <p:pic>
        <p:nvPicPr>
          <p:cNvPr id="73" name="图片 87" descr="汇聚交换机.png"/>
          <p:cNvPicPr>
            <a:picLocks noChangeAspect="1"/>
          </p:cNvPicPr>
          <p:nvPr/>
        </p:nvPicPr>
        <p:blipFill>
          <a:blip r:embed="rId4"/>
          <a:stretch>
            <a:fillRect/>
          </a:stretch>
        </p:blipFill>
        <p:spPr bwMode="gray">
          <a:xfrm>
            <a:off x="8469251" y="3132874"/>
            <a:ext cx="608412" cy="497794"/>
          </a:xfrm>
          <a:prstGeom prst="rect">
            <a:avLst/>
          </a:prstGeom>
        </p:spPr>
      </p:pic>
      <p:sp>
        <p:nvSpPr>
          <p:cNvPr id="2" name="标题 1"/>
          <p:cNvSpPr>
            <a:spLocks noGrp="1"/>
          </p:cNvSpPr>
          <p:nvPr>
            <p:ph type="title"/>
          </p:nvPr>
        </p:nvSpPr>
        <p:spPr bwMode="gray"/>
        <p:txBody>
          <a:bodyPr/>
          <a:lstStyle/>
          <a:p>
            <a:r>
              <a:rPr lang="zh-CN" altLang="en-US">
                <a:sym typeface="Huawei Sans" panose="020C0503030203020204" pitchFamily="34" charset="0"/>
              </a:rPr>
              <a:t>跨子网转发</a:t>
            </a:r>
            <a:endParaRPr lang="zh-CN" altLang="en-US" dirty="0">
              <a:sym typeface="Huawei Sans" panose="020C0503030203020204" pitchFamily="34" charset="0"/>
            </a:endParaRPr>
          </a:p>
        </p:txBody>
      </p:sp>
      <p:sp>
        <p:nvSpPr>
          <p:cNvPr id="10" name="矩形 9"/>
          <p:cNvSpPr/>
          <p:nvPr/>
        </p:nvSpPr>
        <p:spPr bwMode="gray">
          <a:xfrm>
            <a:off x="691928" y="2605831"/>
            <a:ext cx="2093843"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PC1 </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192.168.1.1/24</a:t>
            </a:r>
          </a:p>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默认网关 </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192.168.1.254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矩形 10"/>
          <p:cNvSpPr/>
          <p:nvPr/>
        </p:nvSpPr>
        <p:spPr bwMode="gray">
          <a:xfrm>
            <a:off x="9388399" y="2605831"/>
            <a:ext cx="2093843"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Server2 </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192.168.2.1/24</a:t>
            </a:r>
          </a:p>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默认网关 </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192.168.2.254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圆柱形 11"/>
          <p:cNvSpPr/>
          <p:nvPr/>
        </p:nvSpPr>
        <p:spPr bwMode="gray">
          <a:xfrm rot="14890252">
            <a:off x="4628686" y="1665479"/>
            <a:ext cx="244229" cy="2650431"/>
          </a:xfrm>
          <a:prstGeom prst="can">
            <a:avLst>
              <a:gd name="adj" fmla="val 72803"/>
            </a:avLst>
          </a:prstGeom>
          <a:solidFill>
            <a:srgbClr val="EC7061"/>
          </a:solidFill>
          <a:ln w="12700" cap="flat" cmpd="sng" algn="ctr">
            <a:solidFill>
              <a:sysClr val="window" lastClr="FFFFF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999">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矩形 12"/>
          <p:cNvSpPr/>
          <p:nvPr/>
        </p:nvSpPr>
        <p:spPr bwMode="gray">
          <a:xfrm rot="20305855">
            <a:off x="3859032" y="2813063"/>
            <a:ext cx="1903085" cy="307777"/>
          </a:xfrm>
          <a:prstGeom prst="rect">
            <a:avLst/>
          </a:prstGeom>
        </p:spPr>
        <p:txBody>
          <a:bodyPr wrap="none">
            <a:spAutoFit/>
          </a:bodyPr>
          <a:lstStyle/>
          <a:p>
            <a:pPr algn="just"/>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BD 10 </a:t>
            </a:r>
            <a:r>
              <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VNI 1000</a:t>
            </a:r>
            <a:r>
              <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14" name="圆柱形 13"/>
          <p:cNvSpPr/>
          <p:nvPr/>
        </p:nvSpPr>
        <p:spPr bwMode="gray">
          <a:xfrm rot="6643893">
            <a:off x="7315425" y="1639356"/>
            <a:ext cx="244229" cy="2686813"/>
          </a:xfrm>
          <a:prstGeom prst="can">
            <a:avLst>
              <a:gd name="adj" fmla="val 72803"/>
            </a:avLst>
          </a:prstGeom>
          <a:solidFill>
            <a:srgbClr val="EC7061"/>
          </a:solidFill>
          <a:ln w="12700" cap="flat" cmpd="sng" algn="ctr">
            <a:solidFill>
              <a:sysClr val="window" lastClr="FFFFF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999">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14"/>
          <p:cNvSpPr/>
          <p:nvPr/>
        </p:nvSpPr>
        <p:spPr bwMode="gray">
          <a:xfrm rot="1235875">
            <a:off x="6395667" y="2795598"/>
            <a:ext cx="1903085" cy="307777"/>
          </a:xfrm>
          <a:prstGeom prst="rect">
            <a:avLst/>
          </a:prstGeom>
        </p:spPr>
        <p:txBody>
          <a:bodyPr wrap="none">
            <a:spAutoFit/>
          </a:bodyPr>
          <a:lstStyle/>
          <a:p>
            <a:pPr algn="just"/>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BD 20 </a:t>
            </a:r>
            <a:r>
              <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VNI 2000</a:t>
            </a:r>
            <a:r>
              <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16" name="矩形 15"/>
          <p:cNvSpPr/>
          <p:nvPr/>
        </p:nvSpPr>
        <p:spPr bwMode="gray">
          <a:xfrm>
            <a:off x="4224243" y="1793438"/>
            <a:ext cx="1547218" cy="738664"/>
          </a:xfrm>
          <a:prstGeom prst="rect">
            <a:avLst/>
          </a:prstGeom>
        </p:spPr>
        <p:txBody>
          <a:bodyPr wrap="none">
            <a:spAutoFit/>
          </a:bodyPr>
          <a:lstStyle/>
          <a:p>
            <a:pPr algn="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VBDIF 10</a:t>
            </a:r>
          </a:p>
          <a:p>
            <a:pPr algn="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192.168.1.254</a:t>
            </a:r>
          </a:p>
          <a:p>
            <a:pPr algn="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00AB-09FF-1111</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矩形 16"/>
          <p:cNvSpPr/>
          <p:nvPr/>
        </p:nvSpPr>
        <p:spPr bwMode="gray">
          <a:xfrm>
            <a:off x="6410831" y="1793438"/>
            <a:ext cx="1556836" cy="738664"/>
          </a:xfrm>
          <a:prstGeom prst="rect">
            <a:avLst/>
          </a:prstGeom>
        </p:spPr>
        <p:txBody>
          <a:bodyPr wrap="none">
            <a:spAutoFit/>
          </a:bodyPr>
          <a:lstStyle/>
          <a:p>
            <a:r>
              <a:rPr lang="en-US" altLang="zh-CN" sz="14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VBDIF 20</a:t>
            </a:r>
          </a:p>
          <a:p>
            <a:r>
              <a:rPr lang="en-US" altLang="zh-CN" sz="140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192.168.2.254</a:t>
            </a:r>
          </a:p>
          <a:p>
            <a:r>
              <a:rPr lang="en-US" altLang="zh-CN" sz="140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00AB-09FF-2222</a:t>
            </a:r>
          </a:p>
        </p:txBody>
      </p:sp>
      <p:sp>
        <p:nvSpPr>
          <p:cNvPr id="18" name="矩形 17"/>
          <p:cNvSpPr/>
          <p:nvPr/>
        </p:nvSpPr>
        <p:spPr bwMode="gray">
          <a:xfrm>
            <a:off x="3142679" y="2576622"/>
            <a:ext cx="752129" cy="523220"/>
          </a:xfrm>
          <a:prstGeom prst="rect">
            <a:avLst/>
          </a:prstGeom>
        </p:spPr>
        <p:txBody>
          <a:bodyPr wrap="none">
            <a:spAutoFit/>
          </a:bodyPr>
          <a:lstStyle/>
          <a:p>
            <a:pPr algn="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SW1</a:t>
            </a:r>
          </a:p>
          <a:p>
            <a:pPr algn="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网关</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矩形 18"/>
          <p:cNvSpPr/>
          <p:nvPr/>
        </p:nvSpPr>
        <p:spPr bwMode="gray">
          <a:xfrm>
            <a:off x="8384484" y="2576622"/>
            <a:ext cx="752129" cy="523220"/>
          </a:xfrm>
          <a:prstGeom prst="rect">
            <a:avLst/>
          </a:prstGeom>
        </p:spPr>
        <p:txBody>
          <a:bodyPr wrap="none">
            <a:spAutoFit/>
          </a:bodyPr>
          <a:lstStyle/>
          <a:p>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SW2</a:t>
            </a:r>
          </a:p>
          <a:p>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网关</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矩形 19"/>
          <p:cNvSpPr/>
          <p:nvPr/>
        </p:nvSpPr>
        <p:spPr bwMode="gray">
          <a:xfrm>
            <a:off x="5729874" y="1636784"/>
            <a:ext cx="752129" cy="523220"/>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SW3</a:t>
            </a:r>
          </a:p>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网关</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21" name="表格 20"/>
          <p:cNvGraphicFramePr>
            <a:graphicFrameLocks noGrp="1"/>
          </p:cNvGraphicFramePr>
          <p:nvPr>
            <p:extLst>
              <p:ext uri="{D42A27DB-BD31-4B8C-83A1-F6EECF244321}">
                <p14:modId xmlns:p14="http://schemas.microsoft.com/office/powerpoint/2010/main" val="3919482382"/>
              </p:ext>
            </p:extLst>
          </p:nvPr>
        </p:nvGraphicFramePr>
        <p:xfrm>
          <a:off x="7768024" y="1255134"/>
          <a:ext cx="3240000" cy="822960"/>
        </p:xfrm>
        <a:graphic>
          <a:graphicData uri="http://schemas.openxmlformats.org/drawingml/2006/table">
            <a:tbl>
              <a:tblPr firstRow="1" bandRow="1">
                <a:tableStyleId>{5940675A-B579-460E-94D1-54222C63F5DA}</a:tableStyleId>
              </a:tblPr>
              <a:tblGrid>
                <a:gridCol w="1224000">
                  <a:extLst>
                    <a:ext uri="{9D8B030D-6E8A-4147-A177-3AD203B41FA5}">
                      <a16:colId xmlns:a16="http://schemas.microsoft.com/office/drawing/2014/main" val="20000"/>
                    </a:ext>
                  </a:extLst>
                </a:gridCol>
                <a:gridCol w="828000">
                  <a:extLst>
                    <a:ext uri="{9D8B030D-6E8A-4147-A177-3AD203B41FA5}">
                      <a16:colId xmlns:a16="http://schemas.microsoft.com/office/drawing/2014/main" val="20001"/>
                    </a:ext>
                  </a:extLst>
                </a:gridCol>
                <a:gridCol w="1188000">
                  <a:extLst>
                    <a:ext uri="{9D8B030D-6E8A-4147-A177-3AD203B41FA5}">
                      <a16:colId xmlns:a16="http://schemas.microsoft.com/office/drawing/2014/main" val="20002"/>
                    </a:ext>
                  </a:extLst>
                </a:gridCol>
              </a:tblGrid>
              <a:tr h="0">
                <a:tc>
                  <a:txBody>
                    <a:bodyP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目的网络</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掩码</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出接口</a:t>
                      </a: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下一跳</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0"/>
                  </a:ext>
                </a:extLst>
              </a:tr>
              <a:tr h="0">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192.168.1.0/24</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VBDIF 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tc>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192.168.1.254</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0">
                <a:tc>
                  <a:txBody>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192.168.2.0/24</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VBDIF 20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192.168.2.254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22" name="矩形 21"/>
          <p:cNvSpPr/>
          <p:nvPr/>
        </p:nvSpPr>
        <p:spPr bwMode="gray">
          <a:xfrm>
            <a:off x="2683399" y="3648575"/>
            <a:ext cx="1499129"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VTEP</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 1.1.1.1/32</a:t>
            </a:r>
          </a:p>
        </p:txBody>
      </p:sp>
      <p:sp>
        <p:nvSpPr>
          <p:cNvPr id="23" name="矩形 22"/>
          <p:cNvSpPr/>
          <p:nvPr/>
        </p:nvSpPr>
        <p:spPr bwMode="gray">
          <a:xfrm>
            <a:off x="8026678" y="3648575"/>
            <a:ext cx="1499129"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VTEP</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 2.2.2.2/32</a:t>
            </a:r>
          </a:p>
        </p:txBody>
      </p:sp>
      <p:sp>
        <p:nvSpPr>
          <p:cNvPr id="24" name="矩形 23"/>
          <p:cNvSpPr/>
          <p:nvPr/>
        </p:nvSpPr>
        <p:spPr bwMode="gray">
          <a:xfrm>
            <a:off x="5390281" y="2852294"/>
            <a:ext cx="1499129"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VTEP</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 3.3.3.3/32</a:t>
            </a:r>
          </a:p>
        </p:txBody>
      </p:sp>
      <p:cxnSp>
        <p:nvCxnSpPr>
          <p:cNvPr id="25" name="直接连接符 24"/>
          <p:cNvCxnSpPr/>
          <p:nvPr/>
        </p:nvCxnSpPr>
        <p:spPr bwMode="gray">
          <a:xfrm flipH="1">
            <a:off x="1182589" y="4039797"/>
            <a:ext cx="2020959" cy="0"/>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sp>
        <p:nvSpPr>
          <p:cNvPr id="26" name="椭圆 25"/>
          <p:cNvSpPr>
            <a:spLocks noChangeAspect="1"/>
          </p:cNvSpPr>
          <p:nvPr/>
        </p:nvSpPr>
        <p:spPr bwMode="gray">
          <a:xfrm>
            <a:off x="993760" y="3950684"/>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7" name="直接连接符 26"/>
          <p:cNvCxnSpPr>
            <a:endCxn id="28" idx="7"/>
          </p:cNvCxnSpPr>
          <p:nvPr/>
        </p:nvCxnSpPr>
        <p:spPr bwMode="gray">
          <a:xfrm flipH="1">
            <a:off x="3805338" y="3192545"/>
            <a:ext cx="2015147" cy="1598231"/>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sp>
        <p:nvSpPr>
          <p:cNvPr id="28" name="椭圆 27"/>
          <p:cNvSpPr>
            <a:spLocks noChangeAspect="1"/>
          </p:cNvSpPr>
          <p:nvPr/>
        </p:nvSpPr>
        <p:spPr bwMode="gray">
          <a:xfrm>
            <a:off x="3606904" y="4756730"/>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9" name="直接连接符 28"/>
          <p:cNvCxnSpPr/>
          <p:nvPr/>
        </p:nvCxnSpPr>
        <p:spPr bwMode="gray">
          <a:xfrm flipH="1" flipV="1">
            <a:off x="6493934" y="3221174"/>
            <a:ext cx="2048016" cy="1581371"/>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sp>
        <p:nvSpPr>
          <p:cNvPr id="30" name="椭圆 29"/>
          <p:cNvSpPr>
            <a:spLocks noChangeAspect="1"/>
          </p:cNvSpPr>
          <p:nvPr/>
        </p:nvSpPr>
        <p:spPr bwMode="gray">
          <a:xfrm>
            <a:off x="6388812" y="3130129"/>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3" name="直接连接符 32"/>
          <p:cNvCxnSpPr/>
          <p:nvPr/>
        </p:nvCxnSpPr>
        <p:spPr bwMode="gray">
          <a:xfrm flipH="1">
            <a:off x="9053532" y="4039797"/>
            <a:ext cx="2020959" cy="0"/>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sp>
        <p:nvSpPr>
          <p:cNvPr id="34" name="椭圆 33"/>
          <p:cNvSpPr>
            <a:spLocks noChangeAspect="1"/>
          </p:cNvSpPr>
          <p:nvPr/>
        </p:nvSpPr>
        <p:spPr bwMode="gray">
          <a:xfrm>
            <a:off x="8864703" y="3950684"/>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矩形 34"/>
          <p:cNvSpPr/>
          <p:nvPr/>
        </p:nvSpPr>
        <p:spPr bwMode="gray">
          <a:xfrm>
            <a:off x="7655617" y="957067"/>
            <a:ext cx="1292341" cy="307777"/>
          </a:xfrm>
          <a:prstGeom prst="rect">
            <a:avLst/>
          </a:prstGeom>
        </p:spPr>
        <p:txBody>
          <a:bodyPr wrap="none">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SW3</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的路由表</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椭圆 35"/>
          <p:cNvSpPr>
            <a:spLocks noChangeAspect="1"/>
          </p:cNvSpPr>
          <p:nvPr/>
        </p:nvSpPr>
        <p:spPr bwMode="gray">
          <a:xfrm>
            <a:off x="7475466" y="1002468"/>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矩形 36"/>
          <p:cNvSpPr/>
          <p:nvPr/>
        </p:nvSpPr>
        <p:spPr bwMode="gray">
          <a:xfrm>
            <a:off x="1914709" y="4381303"/>
            <a:ext cx="713658" cy="338400"/>
          </a:xfrm>
          <a:prstGeom prst="rect">
            <a:avLst/>
          </a:prstGeom>
          <a:solidFill>
            <a:schemeClr val="bg1">
              <a:lumMod val="95000"/>
            </a:schemeClr>
          </a:solidFill>
          <a:ln w="19050">
            <a:noFill/>
          </a:ln>
        </p:spPr>
        <p:txBody>
          <a:bodyPr wrap="none" anchor="ctr" anchorCtr="0">
            <a:no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载荷</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矩形 37"/>
          <p:cNvSpPr/>
          <p:nvPr/>
        </p:nvSpPr>
        <p:spPr bwMode="gray">
          <a:xfrm>
            <a:off x="985566" y="4381303"/>
            <a:ext cx="954017" cy="338400"/>
          </a:xfrm>
          <a:prstGeom prst="rect">
            <a:avLst/>
          </a:prstGeom>
          <a:solidFill>
            <a:schemeClr val="bg1">
              <a:lumMod val="85000"/>
            </a:schemeClr>
          </a:solidFill>
          <a:ln w="19050">
            <a:noFill/>
          </a:ln>
        </p:spPr>
        <p:txBody>
          <a:bodyPr wrap="none" anchor="ctr" anchorCtr="0">
            <a:no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以太网帧头</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矩形 38"/>
          <p:cNvSpPr/>
          <p:nvPr/>
        </p:nvSpPr>
        <p:spPr bwMode="gray">
          <a:xfrm>
            <a:off x="9807127" y="4381303"/>
            <a:ext cx="713658" cy="338400"/>
          </a:xfrm>
          <a:prstGeom prst="rect">
            <a:avLst/>
          </a:prstGeom>
          <a:solidFill>
            <a:schemeClr val="bg1">
              <a:lumMod val="95000"/>
            </a:schemeClr>
          </a:solidFill>
          <a:ln w="19050">
            <a:noFill/>
          </a:ln>
        </p:spPr>
        <p:txBody>
          <a:bodyPr wrap="none" anchor="ctr" anchorCtr="0">
            <a:no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载荷</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39"/>
          <p:cNvSpPr/>
          <p:nvPr/>
        </p:nvSpPr>
        <p:spPr bwMode="gray">
          <a:xfrm>
            <a:off x="8877984" y="4381303"/>
            <a:ext cx="954017" cy="338400"/>
          </a:xfrm>
          <a:prstGeom prst="rect">
            <a:avLst/>
          </a:prstGeom>
          <a:solidFill>
            <a:schemeClr val="bg1">
              <a:lumMod val="85000"/>
            </a:schemeClr>
          </a:solidFill>
          <a:ln w="19050">
            <a:noFill/>
          </a:ln>
        </p:spPr>
        <p:txBody>
          <a:bodyPr wrap="none" anchor="ctr" anchorCtr="0">
            <a:no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以太网帧头</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40"/>
          <p:cNvSpPr/>
          <p:nvPr/>
        </p:nvSpPr>
        <p:spPr bwMode="gray">
          <a:xfrm>
            <a:off x="4565864" y="5079805"/>
            <a:ext cx="1004879" cy="338400"/>
          </a:xfrm>
          <a:prstGeom prst="rect">
            <a:avLst/>
          </a:prstGeom>
          <a:solidFill>
            <a:schemeClr val="bg1">
              <a:lumMod val="95000"/>
            </a:schemeClr>
          </a:solidFill>
          <a:ln w="19050">
            <a:noFill/>
          </a:ln>
        </p:spPr>
        <p:txBody>
          <a:bodyPr wrap="none" anchor="ctr" anchorCtr="0">
            <a:no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原始数据帧</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bwMode="gray">
          <a:xfrm>
            <a:off x="3557135" y="5079805"/>
            <a:ext cx="1004879" cy="338400"/>
          </a:xfrm>
          <a:prstGeom prst="rect">
            <a:avLst/>
          </a:prstGeom>
          <a:solidFill>
            <a:srgbClr val="EC7061"/>
          </a:solidFill>
          <a:ln w="19050">
            <a:solidFill>
              <a:schemeClr val="bg1"/>
            </a:solidFill>
          </a:ln>
        </p:spPr>
        <p:txBody>
          <a:bodyPr wrap="none" anchor="ctr" anchorCtr="0">
            <a:noAutofit/>
          </a:bodyPr>
          <a:lstStyle/>
          <a:p>
            <a:pPr algn="ctr"/>
            <a:r>
              <a:rPr lang="en-US" altLang="zh-CN"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头部</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矩形 42"/>
          <p:cNvSpPr/>
          <p:nvPr/>
        </p:nvSpPr>
        <p:spPr bwMode="gray">
          <a:xfrm>
            <a:off x="2555404" y="5079805"/>
            <a:ext cx="1004879" cy="338400"/>
          </a:xfrm>
          <a:prstGeom prst="rect">
            <a:avLst/>
          </a:prstGeom>
          <a:solidFill>
            <a:schemeClr val="bg1">
              <a:lumMod val="75000"/>
            </a:schemeClr>
          </a:solidFill>
          <a:ln w="19050">
            <a:noFill/>
          </a:ln>
        </p:spPr>
        <p:txBody>
          <a:bodyPr wrap="none" anchor="ctr" anchorCtr="0">
            <a:noAutofit/>
          </a:bodyPr>
          <a:lstStyle/>
          <a:p>
            <a:pPr algn="ctr"/>
            <a:r>
              <a:rPr lang="en-US" altLang="zh-CN" sz="12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UDP</a:t>
            </a:r>
            <a:r>
              <a:rPr lang="zh-CN" altLang="en-US" sz="12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头部</a:t>
            </a:r>
            <a:endParaRPr lang="zh-CN" altLang="en-US"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矩形 43"/>
          <p:cNvSpPr/>
          <p:nvPr/>
        </p:nvSpPr>
        <p:spPr bwMode="gray">
          <a:xfrm>
            <a:off x="1939945" y="5079805"/>
            <a:ext cx="625571" cy="338400"/>
          </a:xfrm>
          <a:prstGeom prst="rect">
            <a:avLst/>
          </a:prstGeom>
          <a:solidFill>
            <a:schemeClr val="bg1">
              <a:lumMod val="75000"/>
            </a:schemeClr>
          </a:solidFill>
          <a:ln w="19050">
            <a:noFill/>
          </a:ln>
        </p:spPr>
        <p:txBody>
          <a:bodyPr wrap="none" anchor="ctr" anchorCtr="0">
            <a:noAutofit/>
          </a:bodyPr>
          <a:lstStyle/>
          <a:p>
            <a:pPr algn="ctr"/>
            <a:r>
              <a:rPr lang="en-US" altLang="zh-CN" sz="12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头部</a:t>
            </a:r>
            <a:endParaRPr lang="zh-CN" altLang="en-US"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矩形 44"/>
          <p:cNvSpPr/>
          <p:nvPr/>
        </p:nvSpPr>
        <p:spPr bwMode="gray">
          <a:xfrm>
            <a:off x="984003" y="5079805"/>
            <a:ext cx="954017" cy="338400"/>
          </a:xfrm>
          <a:prstGeom prst="rect">
            <a:avLst/>
          </a:prstGeom>
          <a:solidFill>
            <a:schemeClr val="bg1">
              <a:lumMod val="75000"/>
            </a:schemeClr>
          </a:solidFill>
          <a:ln w="19050">
            <a:noFill/>
          </a:ln>
        </p:spPr>
        <p:txBody>
          <a:bodyPr wrap="none" anchor="ctr" anchorCtr="0">
            <a:noAutofit/>
          </a:bodyPr>
          <a:lstStyle/>
          <a:p>
            <a:pPr algn="ctr"/>
            <a:r>
              <a:rPr lang="zh-CN" altLang="en-US" sz="12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以太网帧头</a:t>
            </a:r>
            <a:endParaRPr lang="zh-CN" altLang="en-US"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矩形 45"/>
          <p:cNvSpPr/>
          <p:nvPr/>
        </p:nvSpPr>
        <p:spPr bwMode="gray">
          <a:xfrm>
            <a:off x="1188766" y="5651575"/>
            <a:ext cx="1949893" cy="523220"/>
          </a:xfrm>
          <a:prstGeom prst="rect">
            <a:avLst/>
          </a:prstGeom>
        </p:spPr>
        <p:txBody>
          <a:bodyPr wrap="none">
            <a:spAutoFit/>
          </a:bodyPr>
          <a:lstStyle/>
          <a:p>
            <a:pPr marL="182563" indent="-182563">
              <a:buFont typeface="Arial" panose="020B0604020202020204" pitchFamily="34" charset="0"/>
              <a:buChar char="•"/>
            </a:pP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源</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地址：</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1.1.1.1</a:t>
            </a:r>
          </a:p>
          <a:p>
            <a:pPr marL="182563" indent="-182563">
              <a:buFont typeface="Arial" panose="020B0604020202020204" pitchFamily="34" charset="0"/>
              <a:buChar char="•"/>
            </a:pP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地址：</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3.3.3.3</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右大括号 46"/>
          <p:cNvSpPr/>
          <p:nvPr/>
        </p:nvSpPr>
        <p:spPr bwMode="gray">
          <a:xfrm rot="5400000">
            <a:off x="2195961" y="5219548"/>
            <a:ext cx="103723" cy="623244"/>
          </a:xfrm>
          <a:prstGeom prst="rightBrac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右大括号 47"/>
          <p:cNvSpPr/>
          <p:nvPr/>
        </p:nvSpPr>
        <p:spPr bwMode="gray">
          <a:xfrm rot="5400000">
            <a:off x="4014085" y="5219549"/>
            <a:ext cx="103723" cy="623244"/>
          </a:xfrm>
          <a:prstGeom prst="rightBrac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矩形 48"/>
          <p:cNvSpPr/>
          <p:nvPr/>
        </p:nvSpPr>
        <p:spPr bwMode="gray">
          <a:xfrm>
            <a:off x="3499343" y="5651575"/>
            <a:ext cx="1071127" cy="307777"/>
          </a:xfrm>
          <a:prstGeom prst="rect">
            <a:avLst/>
          </a:prstGeom>
        </p:spPr>
        <p:txBody>
          <a:bodyPr wrap="none">
            <a:spAutoFit/>
          </a:bodyPr>
          <a:lstStyle/>
          <a:p>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VNI</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1000</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矩形 49"/>
          <p:cNvSpPr/>
          <p:nvPr/>
        </p:nvSpPr>
        <p:spPr bwMode="gray">
          <a:xfrm>
            <a:off x="9655965" y="5079805"/>
            <a:ext cx="1004879" cy="338400"/>
          </a:xfrm>
          <a:prstGeom prst="rect">
            <a:avLst/>
          </a:prstGeom>
          <a:solidFill>
            <a:schemeClr val="bg1">
              <a:lumMod val="95000"/>
            </a:schemeClr>
          </a:solidFill>
          <a:ln w="19050">
            <a:noFill/>
          </a:ln>
        </p:spPr>
        <p:txBody>
          <a:bodyPr wrap="none" anchor="ctr" anchorCtr="0">
            <a:no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原始数据帧</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矩形 50"/>
          <p:cNvSpPr/>
          <p:nvPr/>
        </p:nvSpPr>
        <p:spPr bwMode="gray">
          <a:xfrm>
            <a:off x="8647236" y="5079805"/>
            <a:ext cx="1004879" cy="338400"/>
          </a:xfrm>
          <a:prstGeom prst="rect">
            <a:avLst/>
          </a:prstGeom>
          <a:solidFill>
            <a:srgbClr val="EC7061"/>
          </a:solidFill>
          <a:ln w="19050">
            <a:solidFill>
              <a:schemeClr val="bg1"/>
            </a:solidFill>
          </a:ln>
        </p:spPr>
        <p:txBody>
          <a:bodyPr wrap="none" anchor="ctr" anchorCtr="0">
            <a:noAutofit/>
          </a:bodyPr>
          <a:lstStyle/>
          <a:p>
            <a:pPr algn="ctr"/>
            <a:r>
              <a:rPr lang="en-US" altLang="zh-CN"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2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头部</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矩形 51"/>
          <p:cNvSpPr/>
          <p:nvPr/>
        </p:nvSpPr>
        <p:spPr bwMode="gray">
          <a:xfrm>
            <a:off x="7645505" y="5079805"/>
            <a:ext cx="1004879" cy="338400"/>
          </a:xfrm>
          <a:prstGeom prst="rect">
            <a:avLst/>
          </a:prstGeom>
          <a:solidFill>
            <a:schemeClr val="bg1">
              <a:lumMod val="75000"/>
            </a:schemeClr>
          </a:solidFill>
          <a:ln w="19050">
            <a:noFill/>
          </a:ln>
        </p:spPr>
        <p:txBody>
          <a:bodyPr wrap="none" anchor="ctr" anchorCtr="0">
            <a:noAutofit/>
          </a:bodyPr>
          <a:lstStyle/>
          <a:p>
            <a:pPr algn="ctr"/>
            <a:r>
              <a:rPr lang="en-US" altLang="zh-CN" sz="12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UDP</a:t>
            </a:r>
            <a:r>
              <a:rPr lang="zh-CN" altLang="en-US" sz="12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头部</a:t>
            </a:r>
            <a:endParaRPr lang="zh-CN" altLang="en-US"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矩形 52"/>
          <p:cNvSpPr/>
          <p:nvPr/>
        </p:nvSpPr>
        <p:spPr bwMode="gray">
          <a:xfrm>
            <a:off x="7030046" y="5079805"/>
            <a:ext cx="625571" cy="338400"/>
          </a:xfrm>
          <a:prstGeom prst="rect">
            <a:avLst/>
          </a:prstGeom>
          <a:solidFill>
            <a:schemeClr val="bg1">
              <a:lumMod val="75000"/>
            </a:schemeClr>
          </a:solidFill>
          <a:ln w="19050">
            <a:noFill/>
          </a:ln>
        </p:spPr>
        <p:txBody>
          <a:bodyPr wrap="none" anchor="ctr" anchorCtr="0">
            <a:noAutofit/>
          </a:bodyPr>
          <a:lstStyle/>
          <a:p>
            <a:pPr algn="ctr"/>
            <a:r>
              <a:rPr lang="en-US" altLang="zh-CN" sz="12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头部</a:t>
            </a:r>
            <a:endParaRPr lang="zh-CN" altLang="en-US"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矩形 53"/>
          <p:cNvSpPr/>
          <p:nvPr/>
        </p:nvSpPr>
        <p:spPr bwMode="gray">
          <a:xfrm>
            <a:off x="6074104" y="5079805"/>
            <a:ext cx="954017" cy="338400"/>
          </a:xfrm>
          <a:prstGeom prst="rect">
            <a:avLst/>
          </a:prstGeom>
          <a:solidFill>
            <a:schemeClr val="bg1">
              <a:lumMod val="75000"/>
            </a:schemeClr>
          </a:solidFill>
          <a:ln w="19050">
            <a:noFill/>
          </a:ln>
        </p:spPr>
        <p:txBody>
          <a:bodyPr wrap="none" anchor="ctr" anchorCtr="0">
            <a:noAutofit/>
          </a:bodyPr>
          <a:lstStyle/>
          <a:p>
            <a:pPr algn="ctr"/>
            <a:r>
              <a:rPr lang="zh-CN" altLang="en-US" sz="12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以太网帧头</a:t>
            </a:r>
            <a:endParaRPr lang="zh-CN" altLang="en-US"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矩形 54"/>
          <p:cNvSpPr/>
          <p:nvPr/>
        </p:nvSpPr>
        <p:spPr bwMode="gray">
          <a:xfrm>
            <a:off x="6278867" y="5651575"/>
            <a:ext cx="1983556" cy="523220"/>
          </a:xfrm>
          <a:prstGeom prst="rect">
            <a:avLst/>
          </a:prstGeom>
        </p:spPr>
        <p:txBody>
          <a:bodyPr wrap="none">
            <a:spAutoFit/>
          </a:bodyPr>
          <a:lstStyle/>
          <a:p>
            <a:pPr marL="182563" indent="-182563">
              <a:buFont typeface="Arial" panose="020B0604020202020204" pitchFamily="34" charset="0"/>
              <a:buChar char="•"/>
            </a:pP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源</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地址：</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3.3.3.3</a:t>
            </a:r>
          </a:p>
          <a:p>
            <a:pPr marL="182563" indent="-182563">
              <a:buFont typeface="Arial" panose="020B0604020202020204" pitchFamily="34" charset="0"/>
              <a:buChar char="•"/>
            </a:pP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地址：</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2.2.2.2</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右大括号 55"/>
          <p:cNvSpPr/>
          <p:nvPr/>
        </p:nvSpPr>
        <p:spPr bwMode="gray">
          <a:xfrm rot="5400000">
            <a:off x="7286062" y="5219548"/>
            <a:ext cx="103723" cy="623244"/>
          </a:xfrm>
          <a:prstGeom prst="rightBrac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右大括号 56"/>
          <p:cNvSpPr/>
          <p:nvPr/>
        </p:nvSpPr>
        <p:spPr bwMode="gray">
          <a:xfrm rot="5400000">
            <a:off x="9104186" y="5219549"/>
            <a:ext cx="103723" cy="623244"/>
          </a:xfrm>
          <a:prstGeom prst="rightBrac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矩形 57"/>
          <p:cNvSpPr/>
          <p:nvPr/>
        </p:nvSpPr>
        <p:spPr bwMode="gray">
          <a:xfrm>
            <a:off x="8589444" y="5651575"/>
            <a:ext cx="1071127" cy="307777"/>
          </a:xfrm>
          <a:prstGeom prst="rect">
            <a:avLst/>
          </a:prstGeom>
        </p:spPr>
        <p:txBody>
          <a:bodyPr wrap="none">
            <a:spAutoFit/>
          </a:bodyPr>
          <a:lstStyle/>
          <a:p>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VNI</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2000</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0" name="图片 79" descr="PC.png">
            <a:extLst>
              <a:ext uri="{FF2B5EF4-FFF2-40B4-BE49-F238E27FC236}">
                <a16:creationId xmlns:a16="http://schemas.microsoft.com/office/drawing/2014/main" id="{4666702E-823D-4236-BF2F-880359158C83}"/>
              </a:ext>
            </a:extLst>
          </p:cNvPr>
          <p:cNvPicPr>
            <a:picLocks noChangeAspect="1"/>
          </p:cNvPicPr>
          <p:nvPr/>
        </p:nvPicPr>
        <p:blipFill>
          <a:blip r:embed="rId5" cstate="print"/>
          <a:stretch>
            <a:fillRect/>
          </a:stretch>
        </p:blipFill>
        <p:spPr bwMode="gray">
          <a:xfrm>
            <a:off x="1095509" y="3192545"/>
            <a:ext cx="539063" cy="414000"/>
          </a:xfrm>
          <a:prstGeom prst="rect">
            <a:avLst/>
          </a:prstGeom>
        </p:spPr>
      </p:pic>
      <p:pic>
        <p:nvPicPr>
          <p:cNvPr id="62" name="图片 79" descr="PC.png">
            <a:extLst>
              <a:ext uri="{FF2B5EF4-FFF2-40B4-BE49-F238E27FC236}">
                <a16:creationId xmlns:a16="http://schemas.microsoft.com/office/drawing/2014/main" id="{4666702E-823D-4236-BF2F-880359158C83}"/>
              </a:ext>
            </a:extLst>
          </p:cNvPr>
          <p:cNvPicPr>
            <a:picLocks noChangeAspect="1"/>
          </p:cNvPicPr>
          <p:nvPr/>
        </p:nvPicPr>
        <p:blipFill>
          <a:blip r:embed="rId5" cstate="print"/>
          <a:stretch>
            <a:fillRect/>
          </a:stretch>
        </p:blipFill>
        <p:spPr bwMode="gray">
          <a:xfrm>
            <a:off x="10610931" y="3192545"/>
            <a:ext cx="539063" cy="414000"/>
          </a:xfrm>
          <a:prstGeom prst="rect">
            <a:avLst/>
          </a:prstGeom>
        </p:spPr>
      </p:pic>
      <p:sp>
        <p:nvSpPr>
          <p:cNvPr id="63" name="矩形 62"/>
          <p:cNvSpPr/>
          <p:nvPr/>
        </p:nvSpPr>
        <p:spPr bwMode="gray">
          <a:xfrm>
            <a:off x="1255624" y="4065960"/>
            <a:ext cx="1887055"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发送单播帧给</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PC2</a:t>
            </a:r>
          </a:p>
        </p:txBody>
      </p:sp>
      <p:sp>
        <p:nvSpPr>
          <p:cNvPr id="64" name="五边形 24">
            <a:extLst>
              <a:ext uri="{FF2B5EF4-FFF2-40B4-BE49-F238E27FC236}">
                <a16:creationId xmlns:a16="http://schemas.microsoft.com/office/drawing/2014/main" id="{66BA07AD-FEEF-4CB3-8D55-B5A235B0FBAC}"/>
              </a:ext>
            </a:extLst>
          </p:cNvPr>
          <p:cNvSpPr/>
          <p:nvPr/>
        </p:nvSpPr>
        <p:spPr bwMode="gray">
          <a:xfrm>
            <a:off x="8582131" y="124239"/>
            <a:ext cx="956654" cy="213120"/>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隧道建立</a:t>
            </a:r>
          </a:p>
        </p:txBody>
      </p:sp>
      <p:sp>
        <p:nvSpPr>
          <p:cNvPr id="68" name="燕尾形 26">
            <a:extLst>
              <a:ext uri="{FF2B5EF4-FFF2-40B4-BE49-F238E27FC236}">
                <a16:creationId xmlns:a16="http://schemas.microsoft.com/office/drawing/2014/main" id="{0C19331F-8FCC-488E-9C32-A3F774208D1E}"/>
              </a:ext>
            </a:extLst>
          </p:cNvPr>
          <p:cNvSpPr/>
          <p:nvPr/>
        </p:nvSpPr>
        <p:spPr bwMode="gray">
          <a:xfrm>
            <a:off x="10636769" y="124239"/>
            <a:ext cx="1079024"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数据帧转发</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燕尾形 26">
            <a:extLst>
              <a:ext uri="{FF2B5EF4-FFF2-40B4-BE49-F238E27FC236}">
                <a16:creationId xmlns:a16="http://schemas.microsoft.com/office/drawing/2014/main" id="{5C797163-D6D3-4ACC-996D-421D87F18D19}"/>
              </a:ext>
            </a:extLst>
          </p:cNvPr>
          <p:cNvSpPr/>
          <p:nvPr/>
        </p:nvSpPr>
        <p:spPr bwMode="gray">
          <a:xfrm>
            <a:off x="9474255" y="124239"/>
            <a:ext cx="1227043" cy="213120"/>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地址学习</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1266566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a:solidFill>
                  <a:schemeClr val="bg1">
                    <a:lumMod val="50000"/>
                  </a:schemeClr>
                </a:solidFill>
                <a:sym typeface="Huawei Sans" panose="020C0503030203020204" pitchFamily="34" charset="0"/>
              </a:rPr>
              <a:t>VXLAN</a:t>
            </a:r>
            <a:r>
              <a:rPr lang="zh-CN" altLang="en-US" dirty="0">
                <a:solidFill>
                  <a:schemeClr val="bg1">
                    <a:lumMod val="50000"/>
                  </a:schemeClr>
                </a:solidFill>
                <a:sym typeface="Huawei Sans" panose="020C0503030203020204" pitchFamily="34" charset="0"/>
              </a:rPr>
              <a:t>及园区网络虚拟化技术背景</a:t>
            </a:r>
            <a:endParaRPr lang="en-US" altLang="zh-CN" dirty="0">
              <a:solidFill>
                <a:schemeClr val="bg1">
                  <a:lumMod val="50000"/>
                </a:schemeClr>
              </a:solidFill>
              <a:sym typeface="Huawei Sans" panose="020C0503030203020204" pitchFamily="34" charset="0"/>
            </a:endParaRPr>
          </a:p>
          <a:p>
            <a:r>
              <a:rPr lang="en-US" altLang="zh-CN" b="1" dirty="0">
                <a:sym typeface="Huawei Sans" panose="020C0503030203020204" pitchFamily="34" charset="0"/>
              </a:rPr>
              <a:t>VXLAN</a:t>
            </a:r>
            <a:r>
              <a:rPr lang="zh-CN" altLang="en-US" b="1" dirty="0">
                <a:sym typeface="Huawei Sans" panose="020C0503030203020204" pitchFamily="34" charset="0"/>
              </a:rPr>
              <a:t>的基本概念及工作原理</a:t>
            </a:r>
            <a:endParaRPr lang="en-US" altLang="zh-CN" b="1" dirty="0">
              <a:sym typeface="Huawei Sans" panose="020C0503030203020204" pitchFamily="34" charset="0"/>
            </a:endParaRPr>
          </a:p>
          <a:p>
            <a:pPr lvl="1"/>
            <a:r>
              <a:rPr lang="zh-CN" altLang="en-US" dirty="0">
                <a:solidFill>
                  <a:schemeClr val="bg1">
                    <a:lumMod val="50000"/>
                  </a:schemeClr>
                </a:solidFill>
                <a:sym typeface="Huawei Sans" panose="020C0503030203020204" pitchFamily="34" charset="0"/>
              </a:rPr>
              <a:t>基本概念</a:t>
            </a:r>
            <a:endParaRPr lang="en-US" altLang="zh-CN" dirty="0">
              <a:solidFill>
                <a:schemeClr val="bg1">
                  <a:lumMod val="50000"/>
                </a:schemeClr>
              </a:solidFill>
              <a:sym typeface="Huawei Sans" panose="020C0503030203020204" pitchFamily="34" charset="0"/>
            </a:endParaRPr>
          </a:p>
          <a:p>
            <a:pPr lvl="1"/>
            <a:r>
              <a:rPr lang="zh-CN" altLang="en-US" dirty="0">
                <a:solidFill>
                  <a:schemeClr val="bg1">
                    <a:lumMod val="50000"/>
                  </a:schemeClr>
                </a:solidFill>
                <a:sym typeface="Huawei Sans" panose="020C0503030203020204" pitchFamily="34" charset="0"/>
              </a:rPr>
              <a:t>工作原理</a:t>
            </a:r>
            <a:endParaRPr lang="en-US" altLang="zh-CN" dirty="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zh-CN" altLang="en-US" dirty="0">
                <a:sym typeface="Huawei Sans" panose="020C0503030203020204" pitchFamily="34" charset="0"/>
              </a:rPr>
              <a:t>基本配置</a:t>
            </a:r>
            <a:endParaRPr lang="en-US" altLang="zh-CN" dirty="0">
              <a:sym typeface="Huawei Sans" panose="020C0503030203020204" pitchFamily="34" charset="0"/>
            </a:endParaRPr>
          </a:p>
          <a:p>
            <a:r>
              <a:rPr lang="en-US" altLang="zh-CN" dirty="0">
                <a:solidFill>
                  <a:schemeClr val="bg1">
                    <a:lumMod val="50000"/>
                  </a:schemeClr>
                </a:solidFill>
                <a:sym typeface="Huawei Sans" panose="020C0503030203020204" pitchFamily="34" charset="0"/>
              </a:rPr>
              <a:t>BGP EVPN</a:t>
            </a:r>
          </a:p>
          <a:p>
            <a:r>
              <a:rPr lang="zh-CN" altLang="en-US" dirty="0">
                <a:solidFill>
                  <a:schemeClr val="bg1">
                    <a:lumMod val="50000"/>
                  </a:schemeClr>
                </a:solidFill>
                <a:sym typeface="Huawei Sans" panose="020C0503030203020204" pitchFamily="34" charset="0"/>
              </a:rPr>
              <a:t>园区网络虚拟化</a:t>
            </a:r>
          </a:p>
        </p:txBody>
      </p:sp>
    </p:spTree>
    <p:extLst>
      <p:ext uri="{BB962C8B-B14F-4D97-AF65-F5344CB8AC3E}">
        <p14:creationId xmlns:p14="http://schemas.microsoft.com/office/powerpoint/2010/main" val="27046846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lstStyle/>
          <a:p>
            <a:r>
              <a:rPr lang="en-US" altLang="zh-CN" dirty="0">
                <a:sym typeface="Huawei Sans" panose="020C0503030203020204" pitchFamily="34" charset="0"/>
              </a:rPr>
              <a:t>VXLAN</a:t>
            </a:r>
            <a:r>
              <a:rPr lang="zh-CN" altLang="en-US" dirty="0">
                <a:sym typeface="Huawei Sans" panose="020C0503030203020204" pitchFamily="34" charset="0"/>
              </a:rPr>
              <a:t>配置介绍 </a:t>
            </a:r>
            <a:r>
              <a:rPr lang="en-US" altLang="zh-CN" dirty="0">
                <a:sym typeface="Huawei Sans" panose="020C0503030203020204" pitchFamily="34" charset="0"/>
              </a:rPr>
              <a:t>(1)</a:t>
            </a:r>
            <a:endParaRPr lang="zh-CN" altLang="en-US" dirty="0">
              <a:sym typeface="Huawei Sans" panose="020C0503030203020204" pitchFamily="34" charset="0"/>
            </a:endParaRPr>
          </a:p>
        </p:txBody>
      </p:sp>
      <p:sp>
        <p:nvSpPr>
          <p:cNvPr id="5" name="矩形 4">
            <a:extLst>
              <a:ext uri="{FF2B5EF4-FFF2-40B4-BE49-F238E27FC236}">
                <a16:creationId xmlns:a16="http://schemas.microsoft.com/office/drawing/2014/main" id="{836D6BD1-3DFE-4BD7-827C-326FF8D076C8}"/>
              </a:ext>
            </a:extLst>
          </p:cNvPr>
          <p:cNvSpPr/>
          <p:nvPr/>
        </p:nvSpPr>
        <p:spPr bwMode="gray">
          <a:xfrm>
            <a:off x="1031918" y="1493577"/>
            <a:ext cx="10428246" cy="338554"/>
          </a:xfrm>
          <a:prstGeom prst="rect">
            <a:avLst/>
          </a:prstGeom>
          <a:solidFill>
            <a:srgbClr val="D9D9D9"/>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bridge-domain</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bd</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-id</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 name="矩形 5">
            <a:extLst>
              <a:ext uri="{FF2B5EF4-FFF2-40B4-BE49-F238E27FC236}">
                <a16:creationId xmlns:a16="http://schemas.microsoft.com/office/drawing/2014/main" id="{F2AD3732-3035-4194-9077-857E1AF52393}"/>
              </a:ext>
            </a:extLst>
          </p:cNvPr>
          <p:cNvSpPr/>
          <p:nvPr/>
        </p:nvSpPr>
        <p:spPr bwMode="gray">
          <a:xfrm>
            <a:off x="731838" y="1061430"/>
            <a:ext cx="10728325"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创建广播域</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BD</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
        <p:nvSpPr>
          <p:cNvPr id="7" name="矩形 6">
            <a:extLst>
              <a:ext uri="{FF2B5EF4-FFF2-40B4-BE49-F238E27FC236}">
                <a16:creationId xmlns:a16="http://schemas.microsoft.com/office/drawing/2014/main" id="{F192801F-FF34-47F1-85F0-134265964F72}"/>
              </a:ext>
            </a:extLst>
          </p:cNvPr>
          <p:cNvSpPr/>
          <p:nvPr/>
        </p:nvSpPr>
        <p:spPr bwMode="gray">
          <a:xfrm>
            <a:off x="1031917" y="1837774"/>
            <a:ext cx="10608699" cy="377732"/>
          </a:xfrm>
          <a:prstGeom prst="rect">
            <a:avLst/>
          </a:prstGeom>
        </p:spPr>
        <p:txBody>
          <a:bodyPr wrap="square">
            <a:spAutoFit/>
          </a:bodyPr>
          <a:lstStyle/>
          <a:p>
            <a:pPr fontAlgn="auto">
              <a:lnSpc>
                <a:spcPts val="2400"/>
              </a:lnSpc>
            </a:pP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系统视图下创建广播域</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BD</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，进入</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BD</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视图。</a:t>
            </a: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ID</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取值范围为</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16777215</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8" name="矩形 7">
            <a:extLst>
              <a:ext uri="{FF2B5EF4-FFF2-40B4-BE49-F238E27FC236}">
                <a16:creationId xmlns:a16="http://schemas.microsoft.com/office/drawing/2014/main" id="{2D735C2D-95B8-4C27-9425-A21017A34394}"/>
              </a:ext>
            </a:extLst>
          </p:cNvPr>
          <p:cNvSpPr/>
          <p:nvPr/>
        </p:nvSpPr>
        <p:spPr bwMode="gray">
          <a:xfrm>
            <a:off x="1031918" y="2660594"/>
            <a:ext cx="10428246" cy="338554"/>
          </a:xfrm>
          <a:prstGeom prst="rect">
            <a:avLst/>
          </a:prstGeom>
          <a:solidFill>
            <a:srgbClr val="D9D9D9"/>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[Huawei-bd100]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vxlan</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vni</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vni</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-id</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9" name="矩形 8">
            <a:extLst>
              <a:ext uri="{FF2B5EF4-FFF2-40B4-BE49-F238E27FC236}">
                <a16:creationId xmlns:a16="http://schemas.microsoft.com/office/drawing/2014/main" id="{0EF2CBCE-9EC8-47CE-8FE9-8CE8706EEB80}"/>
              </a:ext>
            </a:extLst>
          </p:cNvPr>
          <p:cNvSpPr/>
          <p:nvPr/>
        </p:nvSpPr>
        <p:spPr bwMode="gray">
          <a:xfrm>
            <a:off x="731838" y="2264072"/>
            <a:ext cx="10728325" cy="338554"/>
          </a:xfrm>
          <a:prstGeom prst="rect">
            <a:avLst/>
          </a:prstGeom>
        </p:spPr>
        <p:txBody>
          <a:bodyPr wrap="square">
            <a:spAutoFit/>
          </a:bodyPr>
          <a:lstStyle/>
          <a:p>
            <a:pPr marL="342900" indent="-342900" fontAlgn="auto">
              <a:buFont typeface="+mj-lt"/>
              <a:buAutoNum type="arabicPeriod" startAt="2"/>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创建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VNI</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
        <p:nvSpPr>
          <p:cNvPr id="10" name="矩形 9">
            <a:extLst>
              <a:ext uri="{FF2B5EF4-FFF2-40B4-BE49-F238E27FC236}">
                <a16:creationId xmlns:a16="http://schemas.microsoft.com/office/drawing/2014/main" id="{ECF4582E-9296-413D-8C0B-7D0DD5B6F10F}"/>
              </a:ext>
            </a:extLst>
          </p:cNvPr>
          <p:cNvSpPr/>
          <p:nvPr/>
        </p:nvSpPr>
        <p:spPr bwMode="gray">
          <a:xfrm>
            <a:off x="1031917" y="3009491"/>
            <a:ext cx="10608699" cy="400110"/>
          </a:xfrm>
          <a:prstGeom prst="rect">
            <a:avLst/>
          </a:prstGeom>
        </p:spPr>
        <p:txBody>
          <a:bodyPr wrap="square">
            <a:spAutoFit/>
          </a:bodyPr>
          <a:lstStyle/>
          <a:p>
            <a:pPr fontAlgn="auto">
              <a:lnSpc>
                <a:spcPts val="2400"/>
              </a:lnSpc>
            </a:pP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BD</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视图下创建</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网络标识</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VNI</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并关联广播域</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BD</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ID</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取值范围为</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16777215</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1" name="矩形 10">
            <a:extLst>
              <a:ext uri="{FF2B5EF4-FFF2-40B4-BE49-F238E27FC236}">
                <a16:creationId xmlns:a16="http://schemas.microsoft.com/office/drawing/2014/main" id="{623617E7-D146-4B99-ADF1-413730FB7F02}"/>
              </a:ext>
            </a:extLst>
          </p:cNvPr>
          <p:cNvSpPr/>
          <p:nvPr/>
        </p:nvSpPr>
        <p:spPr bwMode="gray">
          <a:xfrm>
            <a:off x="1031918" y="3922604"/>
            <a:ext cx="10428246" cy="338554"/>
          </a:xfrm>
          <a:prstGeom prst="rect">
            <a:avLst/>
          </a:prstGeom>
          <a:solidFill>
            <a:srgbClr val="D9D9D9"/>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interface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nve</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nve</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-number</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2" name="矩形 11">
            <a:extLst>
              <a:ext uri="{FF2B5EF4-FFF2-40B4-BE49-F238E27FC236}">
                <a16:creationId xmlns:a16="http://schemas.microsoft.com/office/drawing/2014/main" id="{80834B37-AFBE-4B0E-8B4B-75BA87D9F21A}"/>
              </a:ext>
            </a:extLst>
          </p:cNvPr>
          <p:cNvSpPr/>
          <p:nvPr/>
        </p:nvSpPr>
        <p:spPr bwMode="gray">
          <a:xfrm>
            <a:off x="731838" y="3490457"/>
            <a:ext cx="10728325" cy="338554"/>
          </a:xfrm>
          <a:prstGeom prst="rect">
            <a:avLst/>
          </a:prstGeom>
        </p:spPr>
        <p:txBody>
          <a:bodyPr wrap="square">
            <a:spAutoFit/>
          </a:bodyPr>
          <a:lstStyle/>
          <a:p>
            <a:pPr marL="342900" indent="-342900" fontAlgn="auto">
              <a:buFont typeface="+mj-lt"/>
              <a:buAutoNum type="arabicPeriod" startAt="3"/>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创建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NVE</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接口。</a:t>
            </a:r>
          </a:p>
        </p:txBody>
      </p:sp>
      <p:sp>
        <p:nvSpPr>
          <p:cNvPr id="13" name="矩形 12">
            <a:extLst>
              <a:ext uri="{FF2B5EF4-FFF2-40B4-BE49-F238E27FC236}">
                <a16:creationId xmlns:a16="http://schemas.microsoft.com/office/drawing/2014/main" id="{B682574E-C1B0-4230-9CAA-3BD9F576165E}"/>
              </a:ext>
            </a:extLst>
          </p:cNvPr>
          <p:cNvSpPr/>
          <p:nvPr/>
        </p:nvSpPr>
        <p:spPr bwMode="gray">
          <a:xfrm>
            <a:off x="1031917" y="4269024"/>
            <a:ext cx="10608699" cy="377732"/>
          </a:xfrm>
          <a:prstGeom prst="rect">
            <a:avLst/>
          </a:prstGeom>
        </p:spPr>
        <p:txBody>
          <a:bodyPr wrap="square">
            <a:spAutoFit/>
          </a:bodyPr>
          <a:lstStyle/>
          <a:p>
            <a:pPr fontAlgn="auto">
              <a:lnSpc>
                <a:spcPts val="2400"/>
              </a:lnSpc>
            </a:pP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创建</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NVE</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接口，并进入</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NVE</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接口视图。一般情况下</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NVE</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接口编号有且仅为</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4" name="矩形 13">
            <a:extLst>
              <a:ext uri="{FF2B5EF4-FFF2-40B4-BE49-F238E27FC236}">
                <a16:creationId xmlns:a16="http://schemas.microsoft.com/office/drawing/2014/main" id="{16F52784-9DE5-4B19-8BDE-DFE9CE80C4E0}"/>
              </a:ext>
            </a:extLst>
          </p:cNvPr>
          <p:cNvSpPr/>
          <p:nvPr/>
        </p:nvSpPr>
        <p:spPr bwMode="gray">
          <a:xfrm>
            <a:off x="1031918" y="5227073"/>
            <a:ext cx="10428246" cy="338554"/>
          </a:xfrm>
          <a:prstGeom prst="rect">
            <a:avLst/>
          </a:prstGeom>
          <a:solidFill>
            <a:srgbClr val="D9D9D9"/>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[Huawei-Nve1]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source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-address</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5" name="矩形 14">
            <a:extLst>
              <a:ext uri="{FF2B5EF4-FFF2-40B4-BE49-F238E27FC236}">
                <a16:creationId xmlns:a16="http://schemas.microsoft.com/office/drawing/2014/main" id="{8ADC0ABD-10DF-49B2-9A11-597331B8F2A2}"/>
              </a:ext>
            </a:extLst>
          </p:cNvPr>
          <p:cNvSpPr/>
          <p:nvPr/>
        </p:nvSpPr>
        <p:spPr bwMode="gray">
          <a:xfrm>
            <a:off x="731838" y="4794926"/>
            <a:ext cx="10728325" cy="338554"/>
          </a:xfrm>
          <a:prstGeom prst="rect">
            <a:avLst/>
          </a:prstGeom>
        </p:spPr>
        <p:txBody>
          <a:bodyPr wrap="square">
            <a:spAutoFit/>
          </a:bodyPr>
          <a:lstStyle/>
          <a:p>
            <a:pPr fontAlgn="auto"/>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4.   </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配置源</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VTEP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a:t>
            </a:r>
          </a:p>
        </p:txBody>
      </p:sp>
      <p:sp>
        <p:nvSpPr>
          <p:cNvPr id="16" name="矩形 15">
            <a:extLst>
              <a:ext uri="{FF2B5EF4-FFF2-40B4-BE49-F238E27FC236}">
                <a16:creationId xmlns:a16="http://schemas.microsoft.com/office/drawing/2014/main" id="{DA863B41-24EB-4A92-89AB-17EE4E90BD1D}"/>
              </a:ext>
            </a:extLst>
          </p:cNvPr>
          <p:cNvSpPr/>
          <p:nvPr/>
        </p:nvSpPr>
        <p:spPr bwMode="gray">
          <a:xfrm>
            <a:off x="1031917" y="5573493"/>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配置源端</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VTEP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地址。推荐使用</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Loopback</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接口的地址。</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27043063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sym typeface="Huawei Sans" panose="020C0503030203020204" pitchFamily="34" charset="0"/>
              </a:rPr>
              <a:t>VXLAN</a:t>
            </a:r>
            <a:r>
              <a:rPr lang="zh-CN" altLang="en-US" dirty="0">
                <a:sym typeface="Huawei Sans" panose="020C0503030203020204" pitchFamily="34" charset="0"/>
              </a:rPr>
              <a:t>配置介绍 </a:t>
            </a:r>
            <a:r>
              <a:rPr lang="en-US" altLang="zh-CN" dirty="0">
                <a:sym typeface="Huawei Sans" panose="020C0503030203020204" pitchFamily="34" charset="0"/>
              </a:rPr>
              <a:t>(2)</a:t>
            </a:r>
            <a:endParaRPr lang="zh-CN" altLang="en-US" dirty="0">
              <a:sym typeface="Huawei Sans" panose="020C0503030203020204" pitchFamily="34" charset="0"/>
            </a:endParaRPr>
          </a:p>
        </p:txBody>
      </p:sp>
      <p:sp>
        <p:nvSpPr>
          <p:cNvPr id="3" name="矩形 2">
            <a:extLst>
              <a:ext uri="{FF2B5EF4-FFF2-40B4-BE49-F238E27FC236}">
                <a16:creationId xmlns:a16="http://schemas.microsoft.com/office/drawing/2014/main" id="{836D6BD1-3DFE-4BD7-827C-326FF8D076C8}"/>
              </a:ext>
            </a:extLst>
          </p:cNvPr>
          <p:cNvSpPr/>
          <p:nvPr/>
        </p:nvSpPr>
        <p:spPr bwMode="gray">
          <a:xfrm>
            <a:off x="1031918" y="1498044"/>
            <a:ext cx="10428246" cy="338554"/>
          </a:xfrm>
          <a:prstGeom prst="rect">
            <a:avLst/>
          </a:prstGeom>
          <a:solidFill>
            <a:srgbClr val="D9D9D9"/>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-Nve1</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err="1">
                <a:latin typeface="Huawei Sans" panose="020C0503030203020204" pitchFamily="34" charset="0"/>
                <a:ea typeface="方正兰亭黑简体" panose="02000000000000000000" pitchFamily="2" charset="-122"/>
                <a:sym typeface="Huawei Sans" panose="020C0503030203020204" pitchFamily="34" charset="0"/>
              </a:rPr>
              <a:t>vni</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i="1" dirty="0" err="1">
                <a:latin typeface="Huawei Sans" panose="020C0503030203020204" pitchFamily="34" charset="0"/>
                <a:ea typeface="方正兰亭黑简体" panose="02000000000000000000" pitchFamily="2" charset="-122"/>
                <a:sym typeface="Huawei Sans" panose="020C0503030203020204" pitchFamily="34" charset="0"/>
              </a:rPr>
              <a:t>vni</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-id</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head-end peer-list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i="1" dirty="0" err="1">
                <a:latin typeface="Huawei Sans" panose="020C0503030203020204" pitchFamily="34" charset="0"/>
                <a:ea typeface="方正兰亭黑简体" panose="02000000000000000000" pitchFamily="2" charset="-122"/>
                <a:sym typeface="Huawei Sans" panose="020C0503030203020204" pitchFamily="34" charset="0"/>
              </a:rPr>
              <a:t>ip</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-address</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 name="矩形 3">
            <a:extLst>
              <a:ext uri="{FF2B5EF4-FFF2-40B4-BE49-F238E27FC236}">
                <a16:creationId xmlns:a16="http://schemas.microsoft.com/office/drawing/2014/main" id="{F2AD3732-3035-4194-9077-857E1AF52393}"/>
              </a:ext>
            </a:extLst>
          </p:cNvPr>
          <p:cNvSpPr/>
          <p:nvPr/>
        </p:nvSpPr>
        <p:spPr bwMode="gray">
          <a:xfrm>
            <a:off x="731838" y="1065897"/>
            <a:ext cx="10728325" cy="338554"/>
          </a:xfrm>
          <a:prstGeom prst="rect">
            <a:avLst/>
          </a:prstGeom>
        </p:spPr>
        <p:txBody>
          <a:bodyPr wrap="square">
            <a:spAutoFit/>
          </a:bodyPr>
          <a:lstStyle/>
          <a:p>
            <a:pPr fontAlgn="auto"/>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5.  </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配置头端复制列表。</a:t>
            </a:r>
          </a:p>
        </p:txBody>
      </p:sp>
      <p:sp>
        <p:nvSpPr>
          <p:cNvPr id="5" name="矩形 4">
            <a:extLst>
              <a:ext uri="{FF2B5EF4-FFF2-40B4-BE49-F238E27FC236}">
                <a16:creationId xmlns:a16="http://schemas.microsoft.com/office/drawing/2014/main" id="{F192801F-FF34-47F1-85F0-134265964F72}"/>
              </a:ext>
            </a:extLst>
          </p:cNvPr>
          <p:cNvSpPr/>
          <p:nvPr/>
        </p:nvSpPr>
        <p:spPr bwMode="gray">
          <a:xfrm>
            <a:off x="1031917" y="1851766"/>
            <a:ext cx="10608699" cy="377732"/>
          </a:xfrm>
          <a:prstGeom prst="rect">
            <a:avLst/>
          </a:prstGeom>
        </p:spPr>
        <p:txBody>
          <a:bodyPr wrap="square">
            <a:spAutoFit/>
          </a:bodyPr>
          <a:lstStyle/>
          <a:p>
            <a:pPr fontAlgn="auto">
              <a:lnSpc>
                <a:spcPts val="2400"/>
              </a:lnSpc>
            </a:pP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NVE</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视图下配置</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VNI</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指定多个远端</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VTEP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地址建立头端复制列表。本端</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NVE</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将根据此列表复制并转发报文。</a:t>
            </a:r>
          </a:p>
        </p:txBody>
      </p:sp>
      <p:sp>
        <p:nvSpPr>
          <p:cNvPr id="6" name="矩形 5">
            <a:extLst>
              <a:ext uri="{FF2B5EF4-FFF2-40B4-BE49-F238E27FC236}">
                <a16:creationId xmlns:a16="http://schemas.microsoft.com/office/drawing/2014/main" id="{2D735C2D-95B8-4C27-9425-A21017A34394}"/>
              </a:ext>
            </a:extLst>
          </p:cNvPr>
          <p:cNvSpPr/>
          <p:nvPr/>
        </p:nvSpPr>
        <p:spPr bwMode="gray">
          <a:xfrm>
            <a:off x="1031918" y="2688811"/>
            <a:ext cx="10428246" cy="338554"/>
          </a:xfrm>
          <a:prstGeom prst="rect">
            <a:avLst/>
          </a:prstGeom>
          <a:solidFill>
            <a:srgbClr val="D9D9D9"/>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[Huawei-GE1/0/1.1]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encapsulation</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dot1q</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vid</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low-vid</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to</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high-vid</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 |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default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b="1" dirty="0" err="1">
                <a:latin typeface="Huawei Sans" panose="020C0503030203020204" pitchFamily="34" charset="0"/>
                <a:ea typeface="方正兰亭黑简体" panose="02000000000000000000" pitchFamily="2" charset="-122"/>
                <a:sym typeface="Huawei Sans" panose="020C0503030203020204" pitchFamily="34" charset="0"/>
              </a:rPr>
              <a:t>untag</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b="1" dirty="0" err="1">
                <a:latin typeface="Huawei Sans" panose="020C0503030203020204" pitchFamily="34" charset="0"/>
                <a:ea typeface="方正兰亭黑简体" panose="02000000000000000000" pitchFamily="2" charset="-122"/>
                <a:sym typeface="Huawei Sans" panose="020C0503030203020204" pitchFamily="34" charset="0"/>
              </a:rPr>
              <a:t>qinq</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 vid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id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 name="矩形 6">
            <a:extLst>
              <a:ext uri="{FF2B5EF4-FFF2-40B4-BE49-F238E27FC236}">
                <a16:creationId xmlns:a16="http://schemas.microsoft.com/office/drawing/2014/main" id="{0EF2CBCE-9EC8-47CE-8FE9-8CE8706EEB80}"/>
              </a:ext>
            </a:extLst>
          </p:cNvPr>
          <p:cNvSpPr/>
          <p:nvPr/>
        </p:nvSpPr>
        <p:spPr bwMode="gray">
          <a:xfrm>
            <a:off x="731838" y="2292289"/>
            <a:ext cx="10728325" cy="338554"/>
          </a:xfrm>
          <a:prstGeom prst="rect">
            <a:avLst/>
          </a:prstGeom>
        </p:spPr>
        <p:txBody>
          <a:bodyPr wrap="square">
            <a:spAutoFit/>
          </a:bodyPr>
          <a:lstStyle/>
          <a:p>
            <a:pPr fontAlgn="auto"/>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6.  </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配置业务接入（子接口接入方式）。</a:t>
            </a:r>
          </a:p>
        </p:txBody>
      </p:sp>
      <p:sp>
        <p:nvSpPr>
          <p:cNvPr id="8" name="矩形 7">
            <a:extLst>
              <a:ext uri="{FF2B5EF4-FFF2-40B4-BE49-F238E27FC236}">
                <a16:creationId xmlns:a16="http://schemas.microsoft.com/office/drawing/2014/main" id="{ECF4582E-9296-413D-8C0B-7D0DD5B6F10F}"/>
              </a:ext>
            </a:extLst>
          </p:cNvPr>
          <p:cNvSpPr/>
          <p:nvPr/>
        </p:nvSpPr>
        <p:spPr bwMode="gray">
          <a:xfrm>
            <a:off x="1031917" y="3037708"/>
            <a:ext cx="10608699" cy="400110"/>
          </a:xfrm>
          <a:prstGeom prst="rect">
            <a:avLst/>
          </a:prstGeom>
        </p:spPr>
        <p:txBody>
          <a:bodyPr wrap="square">
            <a:spAutoFit/>
          </a:bodyPr>
          <a:lstStyle/>
          <a:p>
            <a:pPr fontAlgn="auto">
              <a:lnSpc>
                <a:spcPts val="2400"/>
              </a:lnSpc>
            </a:pP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二层子接口视图下配置流封装类型，实现不同二层子接口接入不同的数据报文。</a:t>
            </a:r>
          </a:p>
        </p:txBody>
      </p:sp>
      <p:sp>
        <p:nvSpPr>
          <p:cNvPr id="9" name="矩形 8">
            <a:extLst>
              <a:ext uri="{FF2B5EF4-FFF2-40B4-BE49-F238E27FC236}">
                <a16:creationId xmlns:a16="http://schemas.microsoft.com/office/drawing/2014/main" id="{623617E7-D146-4B99-ADF1-413730FB7F02}"/>
              </a:ext>
            </a:extLst>
          </p:cNvPr>
          <p:cNvSpPr/>
          <p:nvPr/>
        </p:nvSpPr>
        <p:spPr bwMode="gray">
          <a:xfrm>
            <a:off x="1031918" y="3950821"/>
            <a:ext cx="10428246" cy="338554"/>
          </a:xfrm>
          <a:prstGeom prst="rect">
            <a:avLst/>
          </a:prstGeom>
          <a:solidFill>
            <a:srgbClr val="D9D9D9"/>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[Huawei-bd100]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l2 binding </a:t>
            </a:r>
            <a:r>
              <a:rPr lang="en-US" altLang="zh-CN" sz="1600" b="1" dirty="0" err="1">
                <a:latin typeface="Huawei Sans" panose="020C0503030203020204" pitchFamily="34" charset="0"/>
                <a:ea typeface="方正兰亭黑简体" panose="02000000000000000000" pitchFamily="2" charset="-122"/>
                <a:sym typeface="Huawei Sans" panose="020C0503030203020204" pitchFamily="34" charset="0"/>
              </a:rPr>
              <a:t>vlan</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i="1" dirty="0" err="1">
                <a:latin typeface="Huawei Sans" panose="020C0503030203020204" pitchFamily="34" charset="0"/>
                <a:ea typeface="方正兰亭黑简体" panose="02000000000000000000" pitchFamily="2" charset="-122"/>
                <a:sym typeface="Huawei Sans" panose="020C0503030203020204" pitchFamily="34" charset="0"/>
              </a:rPr>
              <a:t>vlan</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0" name="矩形 9">
            <a:extLst>
              <a:ext uri="{FF2B5EF4-FFF2-40B4-BE49-F238E27FC236}">
                <a16:creationId xmlns:a16="http://schemas.microsoft.com/office/drawing/2014/main" id="{80834B37-AFBE-4B0E-8B4B-75BA87D9F21A}"/>
              </a:ext>
            </a:extLst>
          </p:cNvPr>
          <p:cNvSpPr/>
          <p:nvPr/>
        </p:nvSpPr>
        <p:spPr bwMode="gray">
          <a:xfrm>
            <a:off x="731838" y="3518674"/>
            <a:ext cx="10728325" cy="338554"/>
          </a:xfrm>
          <a:prstGeom prst="rect">
            <a:avLst/>
          </a:prstGeom>
        </p:spPr>
        <p:txBody>
          <a:bodyPr wrap="square">
            <a:spAutoFit/>
          </a:bodyPr>
          <a:lstStyle/>
          <a:p>
            <a:pPr fontAlgn="auto"/>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7.  </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配置业务接入点（</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接入方式）。</a:t>
            </a:r>
          </a:p>
        </p:txBody>
      </p:sp>
      <p:sp>
        <p:nvSpPr>
          <p:cNvPr id="11" name="矩形 10">
            <a:extLst>
              <a:ext uri="{FF2B5EF4-FFF2-40B4-BE49-F238E27FC236}">
                <a16:creationId xmlns:a16="http://schemas.microsoft.com/office/drawing/2014/main" id="{B682574E-C1B0-4230-9CAA-3BD9F576165E}"/>
              </a:ext>
            </a:extLst>
          </p:cNvPr>
          <p:cNvSpPr/>
          <p:nvPr/>
        </p:nvSpPr>
        <p:spPr bwMode="gray">
          <a:xfrm>
            <a:off x="1031917" y="4297241"/>
            <a:ext cx="10608699" cy="400110"/>
          </a:xfrm>
          <a:prstGeom prst="rect">
            <a:avLst/>
          </a:prstGeom>
        </p:spPr>
        <p:txBody>
          <a:bodyPr wrap="square">
            <a:spAutoFit/>
          </a:bodyPr>
          <a:lstStyle/>
          <a:p>
            <a:pPr fontAlgn="auto">
              <a:lnSpc>
                <a:spcPts val="2400"/>
              </a:lnSpc>
            </a:pPr>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BD</a:t>
            </a: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视图下配置</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。全局</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绑定到广播域</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BD</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前，请确保全局</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已经创建和相关接口已加入该</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2" name="矩形 11">
            <a:extLst>
              <a:ext uri="{FF2B5EF4-FFF2-40B4-BE49-F238E27FC236}">
                <a16:creationId xmlns:a16="http://schemas.microsoft.com/office/drawing/2014/main" id="{16F52784-9DE5-4B19-8BDE-DFE9CE80C4E0}"/>
              </a:ext>
            </a:extLst>
          </p:cNvPr>
          <p:cNvSpPr/>
          <p:nvPr/>
        </p:nvSpPr>
        <p:spPr bwMode="gray">
          <a:xfrm>
            <a:off x="1031918" y="5255290"/>
            <a:ext cx="10428246" cy="338554"/>
          </a:xfrm>
          <a:prstGeom prst="rect">
            <a:avLst/>
          </a:prstGeom>
          <a:solidFill>
            <a:srgbClr val="D9D9D9"/>
          </a:solidFill>
          <a:ln>
            <a:noFill/>
          </a:ln>
        </p:spPr>
        <p:txBody>
          <a:bodyPr wrap="square">
            <a:spAutoFit/>
          </a:bodyPr>
          <a:lstStyle/>
          <a:p>
            <a:pPr fontAlgn="base"/>
            <a:r>
              <a:rPr lang="en-US" altLang="zh-CN"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a:latin typeface="Huawei Sans" panose="020C0503030203020204" pitchFamily="34" charset="0"/>
                <a:ea typeface="方正兰亭黑简体" panose="02000000000000000000" pitchFamily="2" charset="-122"/>
                <a:sym typeface="Huawei Sans" panose="020C0503030203020204" pitchFamily="34" charset="0"/>
              </a:rPr>
              <a:t>interface vbdif</a:t>
            </a:r>
            <a:r>
              <a:rPr lang="en-US" altLang="zh-CN" sz="160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i="1">
                <a:latin typeface="Huawei Sans" panose="020C0503030203020204" pitchFamily="34" charset="0"/>
                <a:ea typeface="方正兰亭黑简体" panose="02000000000000000000" pitchFamily="2" charset="-122"/>
                <a:sym typeface="Huawei Sans" panose="020C0503030203020204" pitchFamily="34" charset="0"/>
              </a:rPr>
              <a:t>bd-id</a:t>
            </a:r>
            <a:endPar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3" name="矩形 12">
            <a:extLst>
              <a:ext uri="{FF2B5EF4-FFF2-40B4-BE49-F238E27FC236}">
                <a16:creationId xmlns:a16="http://schemas.microsoft.com/office/drawing/2014/main" id="{8ADC0ABD-10DF-49B2-9A11-597331B8F2A2}"/>
              </a:ext>
            </a:extLst>
          </p:cNvPr>
          <p:cNvSpPr/>
          <p:nvPr/>
        </p:nvSpPr>
        <p:spPr bwMode="gray">
          <a:xfrm>
            <a:off x="731838" y="4823143"/>
            <a:ext cx="10728325" cy="338554"/>
          </a:xfrm>
          <a:prstGeom prst="rect">
            <a:avLst/>
          </a:prstGeom>
        </p:spPr>
        <p:txBody>
          <a:bodyPr wrap="square">
            <a:spAutoFit/>
          </a:bodyPr>
          <a:lstStyle/>
          <a:p>
            <a:pPr fontAlgn="auto"/>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8.   </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配置三层网关。</a:t>
            </a:r>
          </a:p>
        </p:txBody>
      </p:sp>
      <p:sp>
        <p:nvSpPr>
          <p:cNvPr id="14" name="矩形 13">
            <a:extLst>
              <a:ext uri="{FF2B5EF4-FFF2-40B4-BE49-F238E27FC236}">
                <a16:creationId xmlns:a16="http://schemas.microsoft.com/office/drawing/2014/main" id="{DA863B41-24EB-4A92-89AB-17EE4E90BD1D}"/>
              </a:ext>
            </a:extLst>
          </p:cNvPr>
          <p:cNvSpPr/>
          <p:nvPr/>
        </p:nvSpPr>
        <p:spPr bwMode="gray">
          <a:xfrm>
            <a:off x="1031917" y="5592185"/>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系统视图下创建</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VBDIF</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接口，并进入</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VBDIF</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接口视图后续配置网关</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27770728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CE355C1-7171-434E-9B5B-0BD87FD7E892}"/>
              </a:ext>
            </a:extLst>
          </p:cNvPr>
          <p:cNvSpPr>
            <a:spLocks noGrp="1"/>
          </p:cNvSpPr>
          <p:nvPr>
            <p:ph type="title"/>
          </p:nvPr>
        </p:nvSpPr>
        <p:spPr bwMode="gray"/>
        <p:txBody>
          <a:bodyPr/>
          <a:lstStyle/>
          <a:p>
            <a:r>
              <a:rPr lang="zh-CN" altLang="en-US">
                <a:sym typeface="Huawei Sans" panose="020C0503030203020204" pitchFamily="34" charset="0"/>
              </a:rPr>
              <a:t>配置案例：同子网互访 </a:t>
            </a:r>
            <a:r>
              <a:rPr lang="en-US" altLang="zh-CN">
                <a:sym typeface="Huawei Sans" panose="020C0503030203020204" pitchFamily="34" charset="0"/>
              </a:rPr>
              <a:t>(1)</a:t>
            </a:r>
            <a:endParaRPr lang="zh-CN" altLang="en-US">
              <a:sym typeface="Huawei Sans" panose="020C0503030203020204" pitchFamily="34" charset="0"/>
            </a:endParaRPr>
          </a:p>
        </p:txBody>
      </p:sp>
      <p:grpSp>
        <p:nvGrpSpPr>
          <p:cNvPr id="38" name="组合 37">
            <a:extLst>
              <a:ext uri="{FF2B5EF4-FFF2-40B4-BE49-F238E27FC236}">
                <a16:creationId xmlns:a16="http://schemas.microsoft.com/office/drawing/2014/main" id="{2620C340-032B-4BCA-971B-2E0CE1A5AFFB}"/>
              </a:ext>
            </a:extLst>
          </p:cNvPr>
          <p:cNvGrpSpPr/>
          <p:nvPr/>
        </p:nvGrpSpPr>
        <p:grpSpPr bwMode="gray">
          <a:xfrm>
            <a:off x="1019536" y="1951137"/>
            <a:ext cx="4732865" cy="3141497"/>
            <a:chOff x="473275" y="2149431"/>
            <a:chExt cx="4732865" cy="3141497"/>
          </a:xfrm>
        </p:grpSpPr>
        <p:sp>
          <p:nvSpPr>
            <p:cNvPr id="36" name="矩形: 圆角 35">
              <a:extLst>
                <a:ext uri="{FF2B5EF4-FFF2-40B4-BE49-F238E27FC236}">
                  <a16:creationId xmlns:a16="http://schemas.microsoft.com/office/drawing/2014/main" id="{53D6CAB9-311C-4AE2-A406-DC2FF6065C03}"/>
                </a:ext>
              </a:extLst>
            </p:cNvPr>
            <p:cNvSpPr/>
            <p:nvPr/>
          </p:nvSpPr>
          <p:spPr bwMode="gray">
            <a:xfrm>
              <a:off x="473275" y="2149431"/>
              <a:ext cx="4704367" cy="3141497"/>
            </a:xfrm>
            <a:prstGeom prst="roundRect">
              <a:avLst/>
            </a:prstGeom>
            <a:solidFill>
              <a:schemeClr val="bg1"/>
            </a:solidFill>
            <a:ln w="19050">
              <a:solidFill>
                <a:srgbClr val="30B5C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 name="图片 3">
              <a:extLst>
                <a:ext uri="{FF2B5EF4-FFF2-40B4-BE49-F238E27FC236}">
                  <a16:creationId xmlns:a16="http://schemas.microsoft.com/office/drawing/2014/main" id="{D44872DB-2D16-4F13-93BD-D8A9552CCAA1}"/>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628865" y="2863804"/>
              <a:ext cx="540000" cy="442800"/>
            </a:xfrm>
            <a:prstGeom prst="rect">
              <a:avLst/>
            </a:prstGeom>
          </p:spPr>
        </p:pic>
        <p:pic>
          <p:nvPicPr>
            <p:cNvPr id="5" name="图片 4" descr="PC.png">
              <a:extLst>
                <a:ext uri="{FF2B5EF4-FFF2-40B4-BE49-F238E27FC236}">
                  <a16:creationId xmlns:a16="http://schemas.microsoft.com/office/drawing/2014/main" id="{861429D6-57F7-48AC-944C-0E5ED29FE79F}"/>
                </a:ext>
              </a:extLst>
            </p:cNvPr>
            <p:cNvPicPr>
              <a:picLocks noChangeAspect="1"/>
            </p:cNvPicPr>
            <p:nvPr/>
          </p:nvPicPr>
          <p:blipFill>
            <a:blip r:embed="rId4" cstate="print"/>
            <a:stretch>
              <a:fillRect/>
            </a:stretch>
          </p:blipFill>
          <p:spPr bwMode="gray">
            <a:xfrm>
              <a:off x="888261" y="4130338"/>
              <a:ext cx="539063" cy="414000"/>
            </a:xfrm>
            <a:prstGeom prst="rect">
              <a:avLst/>
            </a:prstGeom>
          </p:spPr>
        </p:pic>
        <p:pic>
          <p:nvPicPr>
            <p:cNvPr id="8" name="图片 7">
              <a:extLst>
                <a:ext uri="{FF2B5EF4-FFF2-40B4-BE49-F238E27FC236}">
                  <a16:creationId xmlns:a16="http://schemas.microsoft.com/office/drawing/2014/main" id="{5A04BFB1-4CF0-449D-9B17-F31922031095}"/>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707054" y="2863804"/>
              <a:ext cx="540000" cy="442800"/>
            </a:xfrm>
            <a:prstGeom prst="rect">
              <a:avLst/>
            </a:prstGeom>
          </p:spPr>
        </p:pic>
        <p:cxnSp>
          <p:nvCxnSpPr>
            <p:cNvPr id="10" name="直接连接符 9">
              <a:extLst>
                <a:ext uri="{FF2B5EF4-FFF2-40B4-BE49-F238E27FC236}">
                  <a16:creationId xmlns:a16="http://schemas.microsoft.com/office/drawing/2014/main" id="{1255024B-421C-44AA-8641-BF66DDA67B83}"/>
                </a:ext>
              </a:extLst>
            </p:cNvPr>
            <p:cNvCxnSpPr>
              <a:stCxn id="4" idx="3"/>
              <a:endCxn id="8" idx="1"/>
            </p:cNvCxnSpPr>
            <p:nvPr/>
          </p:nvCxnSpPr>
          <p:spPr bwMode="gray">
            <a:xfrm>
              <a:off x="2168865" y="3085204"/>
              <a:ext cx="153818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图片 10" descr="PC.png">
              <a:extLst>
                <a:ext uri="{FF2B5EF4-FFF2-40B4-BE49-F238E27FC236}">
                  <a16:creationId xmlns:a16="http://schemas.microsoft.com/office/drawing/2014/main" id="{5266353E-6FE3-4A44-B586-E20EABF1EC25}"/>
                </a:ext>
              </a:extLst>
            </p:cNvPr>
            <p:cNvPicPr>
              <a:picLocks noChangeAspect="1"/>
            </p:cNvPicPr>
            <p:nvPr/>
          </p:nvPicPr>
          <p:blipFill>
            <a:blip r:embed="rId4" cstate="print"/>
            <a:stretch>
              <a:fillRect/>
            </a:stretch>
          </p:blipFill>
          <p:spPr bwMode="gray">
            <a:xfrm>
              <a:off x="3707054" y="4130338"/>
              <a:ext cx="539063" cy="414000"/>
            </a:xfrm>
            <a:prstGeom prst="rect">
              <a:avLst/>
            </a:prstGeom>
          </p:spPr>
        </p:pic>
        <p:cxnSp>
          <p:nvCxnSpPr>
            <p:cNvPr id="12" name="直接连接符 11">
              <a:extLst>
                <a:ext uri="{FF2B5EF4-FFF2-40B4-BE49-F238E27FC236}">
                  <a16:creationId xmlns:a16="http://schemas.microsoft.com/office/drawing/2014/main" id="{8C815446-8A1F-494B-BC2D-C08CC1AD7B9E}"/>
                </a:ext>
              </a:extLst>
            </p:cNvPr>
            <p:cNvCxnSpPr>
              <a:cxnSpLocks/>
              <a:stCxn id="5" idx="0"/>
              <a:endCxn id="4" idx="2"/>
            </p:cNvCxnSpPr>
            <p:nvPr/>
          </p:nvCxnSpPr>
          <p:spPr bwMode="gray">
            <a:xfrm flipV="1">
              <a:off x="1157793" y="3306604"/>
              <a:ext cx="741072" cy="823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A16F311A-A57B-414D-80F9-0ABA6B6CE554}"/>
                </a:ext>
              </a:extLst>
            </p:cNvPr>
            <p:cNvCxnSpPr>
              <a:cxnSpLocks/>
              <a:stCxn id="11" idx="0"/>
              <a:endCxn id="8" idx="2"/>
            </p:cNvCxnSpPr>
            <p:nvPr/>
          </p:nvCxnSpPr>
          <p:spPr bwMode="gray">
            <a:xfrm flipV="1">
              <a:off x="3976586" y="3306604"/>
              <a:ext cx="468" cy="823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6BA187EF-82A0-4B65-8645-1796EF86318E}"/>
                </a:ext>
              </a:extLst>
            </p:cNvPr>
            <p:cNvSpPr txBox="1"/>
            <p:nvPr/>
          </p:nvSpPr>
          <p:spPr bwMode="gray">
            <a:xfrm>
              <a:off x="497025" y="4601458"/>
              <a:ext cx="1388522" cy="523220"/>
            </a:xfrm>
            <a:prstGeom prst="rect">
              <a:avLst/>
            </a:prstGeom>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IP1</a:t>
              </a:r>
            </a:p>
            <a:p>
              <a:pPr algn="l"/>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192.168.1.1/24</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文本框 18">
              <a:extLst>
                <a:ext uri="{FF2B5EF4-FFF2-40B4-BE49-F238E27FC236}">
                  <a16:creationId xmlns:a16="http://schemas.microsoft.com/office/drawing/2014/main" id="{45FB0F96-71FD-4F81-BE5C-6A45AAB80EE8}"/>
                </a:ext>
              </a:extLst>
            </p:cNvPr>
            <p:cNvSpPr txBox="1"/>
            <p:nvPr/>
          </p:nvSpPr>
          <p:spPr bwMode="gray">
            <a:xfrm>
              <a:off x="1914034" y="4601458"/>
              <a:ext cx="1388522" cy="523220"/>
            </a:xfrm>
            <a:prstGeom prst="rect">
              <a:avLst/>
            </a:prstGeom>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IP2</a:t>
              </a:r>
            </a:p>
            <a:p>
              <a:pPr algn="l"/>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192.168.1.2/24</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0" name="图片 19" descr="PC.png">
              <a:extLst>
                <a:ext uri="{FF2B5EF4-FFF2-40B4-BE49-F238E27FC236}">
                  <a16:creationId xmlns:a16="http://schemas.microsoft.com/office/drawing/2014/main" id="{4E2EFEB1-A62E-4E8F-8603-D2C11A1B9AED}"/>
                </a:ext>
              </a:extLst>
            </p:cNvPr>
            <p:cNvPicPr>
              <a:picLocks noChangeAspect="1"/>
            </p:cNvPicPr>
            <p:nvPr/>
          </p:nvPicPr>
          <p:blipFill>
            <a:blip r:embed="rId4" cstate="print"/>
            <a:stretch>
              <a:fillRect/>
            </a:stretch>
          </p:blipFill>
          <p:spPr bwMode="gray">
            <a:xfrm>
              <a:off x="2338763" y="4130338"/>
              <a:ext cx="539063" cy="414000"/>
            </a:xfrm>
            <a:prstGeom prst="rect">
              <a:avLst/>
            </a:prstGeom>
          </p:spPr>
        </p:pic>
        <p:cxnSp>
          <p:nvCxnSpPr>
            <p:cNvPr id="21" name="直接连接符 20">
              <a:extLst>
                <a:ext uri="{FF2B5EF4-FFF2-40B4-BE49-F238E27FC236}">
                  <a16:creationId xmlns:a16="http://schemas.microsoft.com/office/drawing/2014/main" id="{E0E16102-BCAF-43DA-AEE3-52856C9DBDC4}"/>
                </a:ext>
              </a:extLst>
            </p:cNvPr>
            <p:cNvCxnSpPr>
              <a:cxnSpLocks/>
              <a:stCxn id="20" idx="0"/>
              <a:endCxn id="4" idx="2"/>
            </p:cNvCxnSpPr>
            <p:nvPr/>
          </p:nvCxnSpPr>
          <p:spPr bwMode="gray">
            <a:xfrm flipH="1" flipV="1">
              <a:off x="1898865" y="3306604"/>
              <a:ext cx="709430" cy="823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875F33D5-C123-4289-8446-CF2FFBCF0295}"/>
                </a:ext>
              </a:extLst>
            </p:cNvPr>
            <p:cNvSpPr txBox="1"/>
            <p:nvPr/>
          </p:nvSpPr>
          <p:spPr bwMode="gray">
            <a:xfrm>
              <a:off x="3282324" y="4601458"/>
              <a:ext cx="1388522" cy="523220"/>
            </a:xfrm>
            <a:prstGeom prst="rect">
              <a:avLst/>
            </a:prstGeom>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IP3</a:t>
              </a:r>
            </a:p>
            <a:p>
              <a:pPr algn="l"/>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192.168.1.3/24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29">
              <a:extLst>
                <a:ext uri="{FF2B5EF4-FFF2-40B4-BE49-F238E27FC236}">
                  <a16:creationId xmlns:a16="http://schemas.microsoft.com/office/drawing/2014/main" id="{0DDDFB6F-125E-4C45-9747-F83580F9E5FD}"/>
                </a:ext>
              </a:extLst>
            </p:cNvPr>
            <p:cNvSpPr txBox="1"/>
            <p:nvPr/>
          </p:nvSpPr>
          <p:spPr bwMode="gray">
            <a:xfrm>
              <a:off x="625851" y="2822508"/>
              <a:ext cx="984565" cy="523220"/>
            </a:xfrm>
            <a:prstGeom prst="rect">
              <a:avLst/>
            </a:prstGeom>
          </p:spPr>
          <p:txBody>
            <a:bodyPr wrap="none" rtlCol="0">
              <a:spAutoFit/>
            </a:bodyPr>
            <a:lstStyle/>
            <a:p>
              <a:pPr algn="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a:t>
              </a:r>
            </a:p>
            <a:p>
              <a:pPr algn="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1.1.1.1/32</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文本框 30">
              <a:extLst>
                <a:ext uri="{FF2B5EF4-FFF2-40B4-BE49-F238E27FC236}">
                  <a16:creationId xmlns:a16="http://schemas.microsoft.com/office/drawing/2014/main" id="{7ED72902-FB9C-475D-A507-DA6800901859}"/>
                </a:ext>
              </a:extLst>
            </p:cNvPr>
            <p:cNvSpPr txBox="1"/>
            <p:nvPr/>
          </p:nvSpPr>
          <p:spPr bwMode="gray">
            <a:xfrm>
              <a:off x="4221575" y="2823594"/>
              <a:ext cx="984565" cy="523220"/>
            </a:xfrm>
            <a:prstGeom prst="rect">
              <a:avLst/>
            </a:prstGeom>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a:t>
              </a: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2.2.2.2/32</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a:extLst>
                <a:ext uri="{FF2B5EF4-FFF2-40B4-BE49-F238E27FC236}">
                  <a16:creationId xmlns:a16="http://schemas.microsoft.com/office/drawing/2014/main" id="{8F79796C-0761-4145-B8FD-02DA5C6EF1A1}"/>
                </a:ext>
              </a:extLst>
            </p:cNvPr>
            <p:cNvSpPr txBox="1"/>
            <p:nvPr/>
          </p:nvSpPr>
          <p:spPr bwMode="gray">
            <a:xfrm>
              <a:off x="2441452" y="2793876"/>
              <a:ext cx="952505" cy="307777"/>
            </a:xfrm>
            <a:prstGeom prst="rect">
              <a:avLst/>
            </a:prstGeom>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GE1/0/10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文本框 32">
              <a:extLst>
                <a:ext uri="{FF2B5EF4-FFF2-40B4-BE49-F238E27FC236}">
                  <a16:creationId xmlns:a16="http://schemas.microsoft.com/office/drawing/2014/main" id="{15CBEE80-EC51-4AE1-A74B-78AE80D9AB92}"/>
                </a:ext>
              </a:extLst>
            </p:cNvPr>
            <p:cNvSpPr txBox="1"/>
            <p:nvPr/>
          </p:nvSpPr>
          <p:spPr bwMode="gray">
            <a:xfrm rot="18731803">
              <a:off x="1036230" y="3456838"/>
              <a:ext cx="851515" cy="307777"/>
            </a:xfrm>
            <a:prstGeom prst="rect">
              <a:avLst/>
            </a:prstGeom>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GE1/0/1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文本框 33">
              <a:extLst>
                <a:ext uri="{FF2B5EF4-FFF2-40B4-BE49-F238E27FC236}">
                  <a16:creationId xmlns:a16="http://schemas.microsoft.com/office/drawing/2014/main" id="{48AD6316-0986-4139-AB03-C06DE80B345C}"/>
                </a:ext>
              </a:extLst>
            </p:cNvPr>
            <p:cNvSpPr txBox="1"/>
            <p:nvPr/>
          </p:nvSpPr>
          <p:spPr bwMode="gray">
            <a:xfrm rot="2932880">
              <a:off x="1917089" y="3472078"/>
              <a:ext cx="851516" cy="307777"/>
            </a:xfrm>
            <a:prstGeom prst="rect">
              <a:avLst/>
            </a:prstGeom>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GE1/0/2</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a:extLst>
                <a:ext uri="{FF2B5EF4-FFF2-40B4-BE49-F238E27FC236}">
                  <a16:creationId xmlns:a16="http://schemas.microsoft.com/office/drawing/2014/main" id="{DA87D7D9-4F51-481D-85E2-950866817404}"/>
                </a:ext>
              </a:extLst>
            </p:cNvPr>
            <p:cNvSpPr txBox="1"/>
            <p:nvPr/>
          </p:nvSpPr>
          <p:spPr bwMode="gray">
            <a:xfrm>
              <a:off x="3125538" y="3318189"/>
              <a:ext cx="851516" cy="307777"/>
            </a:xfrm>
            <a:prstGeom prst="rect">
              <a:avLst/>
            </a:prstGeom>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GE1/0/1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a:extLst>
                <a:ext uri="{FF2B5EF4-FFF2-40B4-BE49-F238E27FC236}">
                  <a16:creationId xmlns:a16="http://schemas.microsoft.com/office/drawing/2014/main" id="{B9B623FE-66F1-4B0E-8B06-4BA3B705AA52}"/>
                </a:ext>
              </a:extLst>
            </p:cNvPr>
            <p:cNvSpPr txBox="1"/>
            <p:nvPr/>
          </p:nvSpPr>
          <p:spPr bwMode="gray">
            <a:xfrm>
              <a:off x="2425222" y="2199602"/>
              <a:ext cx="1082349" cy="523220"/>
            </a:xfrm>
            <a:prstGeom prst="rect">
              <a:avLst/>
            </a:prstGeom>
          </p:spPr>
          <p:txBody>
            <a:bodyPr wrap="none" rtlCol="0">
              <a:spAutoFit/>
            </a:bodyPr>
            <a:lstStyle/>
            <a:p>
              <a:pPr algn="ct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BD 100</a:t>
              </a:r>
            </a:p>
            <a:p>
              <a:pPr algn="ct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VNI 10000</a:t>
              </a:r>
              <a:endPar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39">
              <a:extLst>
                <a:ext uri="{FF2B5EF4-FFF2-40B4-BE49-F238E27FC236}">
                  <a16:creationId xmlns:a16="http://schemas.microsoft.com/office/drawing/2014/main" id="{FECF0FA8-698D-454B-933A-64BEB4731B04}"/>
                </a:ext>
              </a:extLst>
            </p:cNvPr>
            <p:cNvSpPr txBox="1"/>
            <p:nvPr/>
          </p:nvSpPr>
          <p:spPr bwMode="gray">
            <a:xfrm>
              <a:off x="1645531" y="2506796"/>
              <a:ext cx="575800" cy="307777"/>
            </a:xfrm>
            <a:prstGeom prst="rect">
              <a:avLst/>
            </a:prstGeom>
          </p:spPr>
          <p:txBody>
            <a:bodyPr wrap="none" rtlCol="0">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40">
              <a:extLst>
                <a:ext uri="{FF2B5EF4-FFF2-40B4-BE49-F238E27FC236}">
                  <a16:creationId xmlns:a16="http://schemas.microsoft.com/office/drawing/2014/main" id="{6D47B989-D254-4D49-9B4C-DF02C0C778E2}"/>
                </a:ext>
              </a:extLst>
            </p:cNvPr>
            <p:cNvSpPr txBox="1"/>
            <p:nvPr/>
          </p:nvSpPr>
          <p:spPr bwMode="gray">
            <a:xfrm>
              <a:off x="3688685" y="2506796"/>
              <a:ext cx="575800" cy="307777"/>
            </a:xfrm>
            <a:prstGeom prst="rect">
              <a:avLst/>
            </a:prstGeom>
          </p:spPr>
          <p:txBody>
            <a:bodyPr wrap="none" rtlCol="0">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9" name="文本框 38">
            <a:extLst>
              <a:ext uri="{FF2B5EF4-FFF2-40B4-BE49-F238E27FC236}">
                <a16:creationId xmlns:a16="http://schemas.microsoft.com/office/drawing/2014/main" id="{B3A6D1F0-B215-4EDB-A64A-E73B85799D41}"/>
              </a:ext>
            </a:extLst>
          </p:cNvPr>
          <p:cNvSpPr txBox="1"/>
          <p:nvPr/>
        </p:nvSpPr>
        <p:spPr bwMode="gray">
          <a:xfrm>
            <a:off x="6439408" y="1688139"/>
            <a:ext cx="4314412" cy="523220"/>
          </a:xfrm>
          <a:prstGeom prst="rect">
            <a:avLst/>
          </a:prstGeom>
          <a:solidFill>
            <a:schemeClr val="bg1">
              <a:lumMod val="85000"/>
            </a:schemeClr>
          </a:solidFill>
        </p:spPr>
        <p:txBody>
          <a:bodyPr wrap="square" rtlCol="0">
            <a:spAutoFit/>
          </a:bodyPr>
          <a:lstStyle/>
          <a:p>
            <a:pPr fontAlgn="auto">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 bridge-domain 100</a:t>
            </a:r>
          </a:p>
          <a:p>
            <a:pPr fontAlgn="auto">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[SW1-bd100]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vxlan</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vni</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10000</a:t>
            </a:r>
          </a:p>
        </p:txBody>
      </p:sp>
      <p:sp>
        <p:nvSpPr>
          <p:cNvPr id="42" name="文本框 41">
            <a:extLst>
              <a:ext uri="{FF2B5EF4-FFF2-40B4-BE49-F238E27FC236}">
                <a16:creationId xmlns:a16="http://schemas.microsoft.com/office/drawing/2014/main" id="{D9182255-9697-4D10-88A0-ABA75E895537}"/>
              </a:ext>
            </a:extLst>
          </p:cNvPr>
          <p:cNvSpPr txBox="1"/>
          <p:nvPr/>
        </p:nvSpPr>
        <p:spPr bwMode="gray">
          <a:xfrm>
            <a:off x="6435525" y="2318198"/>
            <a:ext cx="4314412" cy="738664"/>
          </a:xfrm>
          <a:prstGeom prst="rect">
            <a:avLst/>
          </a:prstGeom>
          <a:solidFill>
            <a:schemeClr val="bg1">
              <a:lumMod val="85000"/>
            </a:schemeClr>
          </a:solidFill>
        </p:spPr>
        <p:txBody>
          <a:bodyPr wrap="square" rtlCol="0">
            <a:spAutoFit/>
          </a:bodyPr>
          <a:lstStyle>
            <a:defPPr>
              <a:defRPr lang="en-US"/>
            </a:defPPr>
            <a:lvl1pPr fontAlgn="auto">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r>
              <a:rPr lang="en-US" altLang="zh-CN" dirty="0">
                <a:sym typeface="Huawei Sans" panose="020C0503030203020204" pitchFamily="34" charset="0"/>
              </a:rPr>
              <a:t>[SW1] interface </a:t>
            </a:r>
            <a:r>
              <a:rPr lang="en-US" altLang="zh-CN" dirty="0" err="1">
                <a:sym typeface="Huawei Sans" panose="020C0503030203020204" pitchFamily="34" charset="0"/>
              </a:rPr>
              <a:t>Nve</a:t>
            </a:r>
            <a:r>
              <a:rPr lang="en-US" altLang="zh-CN" dirty="0">
                <a:sym typeface="Huawei Sans" panose="020C0503030203020204" pitchFamily="34" charset="0"/>
              </a:rPr>
              <a:t> 1</a:t>
            </a:r>
          </a:p>
          <a:p>
            <a:r>
              <a:rPr lang="en-US" altLang="zh-CN" dirty="0">
                <a:sym typeface="Huawei Sans" panose="020C0503030203020204" pitchFamily="34" charset="0"/>
              </a:rPr>
              <a:t>[SW1-Nve1] source 1.1.1.1</a:t>
            </a:r>
          </a:p>
          <a:p>
            <a:r>
              <a:rPr lang="en-US" altLang="zh-CN" dirty="0">
                <a:sym typeface="Huawei Sans" panose="020C0503030203020204" pitchFamily="34" charset="0"/>
              </a:rPr>
              <a:t>[SW1-Nve1] </a:t>
            </a:r>
            <a:r>
              <a:rPr lang="en-US" altLang="zh-CN" dirty="0" err="1">
                <a:sym typeface="Huawei Sans" panose="020C0503030203020204" pitchFamily="34" charset="0"/>
              </a:rPr>
              <a:t>vni</a:t>
            </a:r>
            <a:r>
              <a:rPr lang="en-US" altLang="zh-CN" dirty="0">
                <a:sym typeface="Huawei Sans" panose="020C0503030203020204" pitchFamily="34" charset="0"/>
              </a:rPr>
              <a:t> 10000 head-end peer-list 2.2.2.2</a:t>
            </a:r>
          </a:p>
        </p:txBody>
      </p:sp>
      <p:sp>
        <p:nvSpPr>
          <p:cNvPr id="45" name="文本框 44">
            <a:extLst>
              <a:ext uri="{FF2B5EF4-FFF2-40B4-BE49-F238E27FC236}">
                <a16:creationId xmlns:a16="http://schemas.microsoft.com/office/drawing/2014/main" id="{69FBCD92-25AC-447F-A30B-EDECB10F4703}"/>
              </a:ext>
            </a:extLst>
          </p:cNvPr>
          <p:cNvSpPr txBox="1"/>
          <p:nvPr/>
        </p:nvSpPr>
        <p:spPr bwMode="gray">
          <a:xfrm>
            <a:off x="6435525" y="1314819"/>
            <a:ext cx="171232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 </a:t>
            </a:r>
            <a:r>
              <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配置如下：</a:t>
            </a:r>
          </a:p>
        </p:txBody>
      </p:sp>
      <p:sp>
        <p:nvSpPr>
          <p:cNvPr id="48" name="圆角矩形 11">
            <a:extLst>
              <a:ext uri="{FF2B5EF4-FFF2-40B4-BE49-F238E27FC236}">
                <a16:creationId xmlns:a16="http://schemas.microsoft.com/office/drawing/2014/main" id="{8A40B099-94F0-4C96-B24D-330878071C88}"/>
              </a:ext>
            </a:extLst>
          </p:cNvPr>
          <p:cNvSpPr/>
          <p:nvPr/>
        </p:nvSpPr>
        <p:spPr bwMode="gray">
          <a:xfrm>
            <a:off x="1545151" y="1394206"/>
            <a:ext cx="1697901" cy="345103"/>
          </a:xfrm>
          <a:prstGeom prst="roundRect">
            <a:avLst>
              <a:gd name="adj" fmla="val 4298"/>
            </a:avLst>
          </a:prstGeom>
          <a:solidFill>
            <a:srgbClr val="30B5C5"/>
          </a:solidFill>
          <a:ln w="19050">
            <a:noFill/>
          </a:ln>
        </p:spPr>
        <p:txBody>
          <a:bodyPr wrap="none" rtlCol="0">
            <a:spAutoFit/>
          </a:bodyPr>
          <a:lstStyle/>
          <a:p>
            <a:r>
              <a:rPr lang="zh-CN" altLang="en-US"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a:t>
            </a:r>
          </a:p>
        </p:txBody>
      </p:sp>
      <p:sp>
        <p:nvSpPr>
          <p:cNvPr id="49" name="圆角矩形 12">
            <a:extLst>
              <a:ext uri="{FF2B5EF4-FFF2-40B4-BE49-F238E27FC236}">
                <a16:creationId xmlns:a16="http://schemas.microsoft.com/office/drawing/2014/main" id="{5954F4B0-B410-4A71-8F29-9EFD3EC63129}"/>
              </a:ext>
            </a:extLst>
          </p:cNvPr>
          <p:cNvSpPr/>
          <p:nvPr/>
        </p:nvSpPr>
        <p:spPr bwMode="gray">
          <a:xfrm>
            <a:off x="3676551" y="1392596"/>
            <a:ext cx="1458666" cy="346713"/>
          </a:xfrm>
          <a:prstGeom prst="roundRect">
            <a:avLst>
              <a:gd name="adj" fmla="val 4298"/>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配置业务接入</a:t>
            </a:r>
          </a:p>
        </p:txBody>
      </p:sp>
      <p:cxnSp>
        <p:nvCxnSpPr>
          <p:cNvPr id="51" name="直接箭头连接符 50">
            <a:extLst>
              <a:ext uri="{FF2B5EF4-FFF2-40B4-BE49-F238E27FC236}">
                <a16:creationId xmlns:a16="http://schemas.microsoft.com/office/drawing/2014/main" id="{9254255B-81A2-4597-8C3A-2E704E1FC41C}"/>
              </a:ext>
            </a:extLst>
          </p:cNvPr>
          <p:cNvCxnSpPr>
            <a:cxnSpLocks/>
            <a:stCxn id="48" idx="3"/>
            <a:endCxn id="49" idx="1"/>
          </p:cNvCxnSpPr>
          <p:nvPr/>
        </p:nvCxnSpPr>
        <p:spPr bwMode="gray">
          <a:xfrm flipV="1">
            <a:off x="3243052" y="1565953"/>
            <a:ext cx="433499" cy="805"/>
          </a:xfrm>
          <a:prstGeom prst="straightConnector1">
            <a:avLst/>
          </a:prstGeom>
          <a:noFill/>
          <a:ln w="19050" cap="flat" cmpd="sng" algn="ctr">
            <a:solidFill>
              <a:schemeClr val="tx1"/>
            </a:solidFill>
            <a:prstDash val="solid"/>
            <a:round/>
            <a:headEnd type="none" w="med" len="med"/>
            <a:tailEnd type="triangle"/>
          </a:ln>
          <a:effectLst/>
        </p:spPr>
      </p:cxnSp>
      <p:sp>
        <p:nvSpPr>
          <p:cNvPr id="60" name="文本框 59">
            <a:extLst>
              <a:ext uri="{FF2B5EF4-FFF2-40B4-BE49-F238E27FC236}">
                <a16:creationId xmlns:a16="http://schemas.microsoft.com/office/drawing/2014/main" id="{23C0D927-6A4A-4040-AF36-E2FF92000F8A}"/>
              </a:ext>
            </a:extLst>
          </p:cNvPr>
          <p:cNvSpPr txBox="1"/>
          <p:nvPr/>
        </p:nvSpPr>
        <p:spPr bwMode="gray">
          <a:xfrm>
            <a:off x="6403783" y="3564250"/>
            <a:ext cx="171232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 </a:t>
            </a:r>
            <a:r>
              <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配置如下：</a:t>
            </a:r>
          </a:p>
        </p:txBody>
      </p:sp>
      <p:sp>
        <p:nvSpPr>
          <p:cNvPr id="61" name="文本框 60">
            <a:extLst>
              <a:ext uri="{FF2B5EF4-FFF2-40B4-BE49-F238E27FC236}">
                <a16:creationId xmlns:a16="http://schemas.microsoft.com/office/drawing/2014/main" id="{9A8116F0-DCDC-4FA5-8277-A5FD6D84FB34}"/>
              </a:ext>
            </a:extLst>
          </p:cNvPr>
          <p:cNvSpPr txBox="1"/>
          <p:nvPr/>
        </p:nvSpPr>
        <p:spPr bwMode="gray">
          <a:xfrm>
            <a:off x="6466452" y="3913211"/>
            <a:ext cx="4314412" cy="523220"/>
          </a:xfrm>
          <a:prstGeom prst="rect">
            <a:avLst/>
          </a:prstGeom>
          <a:solidFill>
            <a:schemeClr val="bg1">
              <a:lumMod val="85000"/>
            </a:schemeClr>
          </a:solidFill>
        </p:spPr>
        <p:txBody>
          <a:bodyPr wrap="square" rtlCol="0">
            <a:spAutoFit/>
          </a:bodyPr>
          <a:lstStyle>
            <a:defPPr>
              <a:defRPr lang="en-US"/>
            </a:defPPr>
            <a:lvl1pPr fontAlgn="auto">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r>
              <a:rPr lang="en-US" altLang="zh-CN">
                <a:sym typeface="Huawei Sans" panose="020C0503030203020204" pitchFamily="34" charset="0"/>
              </a:rPr>
              <a:t>[SW2] bridge-domain 100</a:t>
            </a:r>
          </a:p>
          <a:p>
            <a:r>
              <a:rPr lang="en-US" altLang="zh-CN">
                <a:sym typeface="Huawei Sans" panose="020C0503030203020204" pitchFamily="34" charset="0"/>
              </a:rPr>
              <a:t>[SW2-bd100] vxlan vni 10000</a:t>
            </a:r>
          </a:p>
        </p:txBody>
      </p:sp>
      <p:sp>
        <p:nvSpPr>
          <p:cNvPr id="62" name="文本框 61">
            <a:extLst>
              <a:ext uri="{FF2B5EF4-FFF2-40B4-BE49-F238E27FC236}">
                <a16:creationId xmlns:a16="http://schemas.microsoft.com/office/drawing/2014/main" id="{ADEE2E15-7326-47A6-BB61-3C9A4D1F990B}"/>
              </a:ext>
            </a:extLst>
          </p:cNvPr>
          <p:cNvSpPr txBox="1"/>
          <p:nvPr/>
        </p:nvSpPr>
        <p:spPr bwMode="gray">
          <a:xfrm>
            <a:off x="6462569" y="4557052"/>
            <a:ext cx="4314412" cy="738664"/>
          </a:xfrm>
          <a:prstGeom prst="rect">
            <a:avLst/>
          </a:prstGeom>
          <a:solidFill>
            <a:schemeClr val="bg1">
              <a:lumMod val="85000"/>
            </a:schemeClr>
          </a:solidFill>
        </p:spPr>
        <p:txBody>
          <a:bodyPr wrap="square" rtlCol="0">
            <a:spAutoFit/>
          </a:bodyPr>
          <a:lstStyle>
            <a:defPPr>
              <a:defRPr lang="en-US"/>
            </a:defPPr>
            <a:lvl1pPr fontAlgn="auto">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r>
              <a:rPr lang="en-US" altLang="zh-CN" dirty="0">
                <a:sym typeface="Huawei Sans" panose="020C0503030203020204" pitchFamily="34" charset="0"/>
              </a:rPr>
              <a:t>[SW2] interface </a:t>
            </a:r>
            <a:r>
              <a:rPr lang="en-US" altLang="zh-CN" dirty="0" err="1">
                <a:sym typeface="Huawei Sans" panose="020C0503030203020204" pitchFamily="34" charset="0"/>
              </a:rPr>
              <a:t>Nve</a:t>
            </a:r>
            <a:r>
              <a:rPr lang="en-US" altLang="zh-CN" dirty="0">
                <a:sym typeface="Huawei Sans" panose="020C0503030203020204" pitchFamily="34" charset="0"/>
              </a:rPr>
              <a:t> 1</a:t>
            </a:r>
          </a:p>
          <a:p>
            <a:r>
              <a:rPr lang="en-US" altLang="zh-CN" dirty="0">
                <a:sym typeface="Huawei Sans" panose="020C0503030203020204" pitchFamily="34" charset="0"/>
              </a:rPr>
              <a:t>[SW2-Nve1] source 2.2.2.2</a:t>
            </a:r>
          </a:p>
          <a:p>
            <a:r>
              <a:rPr lang="en-US" altLang="zh-CN" dirty="0">
                <a:sym typeface="Huawei Sans" panose="020C0503030203020204" pitchFamily="34" charset="0"/>
              </a:rPr>
              <a:t>[SW2-Nve1] </a:t>
            </a:r>
            <a:r>
              <a:rPr lang="en-US" altLang="zh-CN" dirty="0" err="1">
                <a:sym typeface="Huawei Sans" panose="020C0503030203020204" pitchFamily="34" charset="0"/>
              </a:rPr>
              <a:t>vni</a:t>
            </a:r>
            <a:r>
              <a:rPr lang="en-US" altLang="zh-CN" dirty="0">
                <a:sym typeface="Huawei Sans" panose="020C0503030203020204" pitchFamily="34" charset="0"/>
              </a:rPr>
              <a:t> 10000 head-end peer-list 1.1.1.1</a:t>
            </a:r>
          </a:p>
        </p:txBody>
      </p:sp>
      <p:sp>
        <p:nvSpPr>
          <p:cNvPr id="74" name="文本框 73">
            <a:extLst>
              <a:ext uri="{FF2B5EF4-FFF2-40B4-BE49-F238E27FC236}">
                <a16:creationId xmlns:a16="http://schemas.microsoft.com/office/drawing/2014/main" id="{4C21F0C9-8CE6-4E47-AB73-5D416F8BEC78}"/>
              </a:ext>
            </a:extLst>
          </p:cNvPr>
          <p:cNvSpPr txBox="1"/>
          <p:nvPr/>
        </p:nvSpPr>
        <p:spPr bwMode="gray">
          <a:xfrm>
            <a:off x="731837" y="5446895"/>
            <a:ext cx="5364163" cy="707886"/>
          </a:xfrm>
          <a:prstGeom prst="rect">
            <a:avLst/>
          </a:prstGeom>
          <a:noFill/>
        </p:spPr>
        <p:txBody>
          <a:bodyPr wrap="square" rtlCol="0">
            <a:spAutoFit/>
          </a:bodyPr>
          <a:lstStyle/>
          <a:p>
            <a:pPr marL="185738" indent="-185738" algn="just" fontAlgn="auto">
              <a:lnSpc>
                <a:spcPts val="2400"/>
              </a:lnSpc>
              <a:spcBef>
                <a:spcPts val="0"/>
              </a:spcBef>
              <a:spcAft>
                <a:spcPts val="600"/>
              </a:spcAft>
              <a:buFont typeface="Arial" panose="020B0604020202020204" pitchFamily="34" charset="0"/>
              <a:buChar char="•"/>
            </a:pP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两台交换机配置</a:t>
            </a:r>
            <a:r>
              <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隧道，实现相同网段三台</a:t>
            </a:r>
            <a:r>
              <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PC</a:t>
            </a: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之间的互访。</a:t>
            </a:r>
            <a:endPar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04033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CE355C1-7171-434E-9B5B-0BD87FD7E892}"/>
              </a:ext>
            </a:extLst>
          </p:cNvPr>
          <p:cNvSpPr>
            <a:spLocks noGrp="1"/>
          </p:cNvSpPr>
          <p:nvPr>
            <p:ph type="title"/>
          </p:nvPr>
        </p:nvSpPr>
        <p:spPr bwMode="gray"/>
        <p:txBody>
          <a:bodyPr/>
          <a:lstStyle/>
          <a:p>
            <a:r>
              <a:rPr lang="zh-CN" altLang="en-US">
                <a:sym typeface="Huawei Sans" panose="020C0503030203020204" pitchFamily="34" charset="0"/>
              </a:rPr>
              <a:t>配置案例：同子网互访 </a:t>
            </a:r>
            <a:r>
              <a:rPr lang="en-US" altLang="zh-CN">
                <a:sym typeface="Huawei Sans" panose="020C0503030203020204" pitchFamily="34" charset="0"/>
              </a:rPr>
              <a:t>(2)</a:t>
            </a:r>
            <a:r>
              <a:rPr lang="zh-CN" altLang="en-US">
                <a:sym typeface="Huawei Sans" panose="020C0503030203020204" pitchFamily="34" charset="0"/>
              </a:rPr>
              <a:t> </a:t>
            </a:r>
          </a:p>
        </p:txBody>
      </p:sp>
      <p:sp>
        <p:nvSpPr>
          <p:cNvPr id="45" name="文本框 44">
            <a:extLst>
              <a:ext uri="{FF2B5EF4-FFF2-40B4-BE49-F238E27FC236}">
                <a16:creationId xmlns:a16="http://schemas.microsoft.com/office/drawing/2014/main" id="{69FBCD92-25AC-447F-A30B-EDECB10F4703}"/>
              </a:ext>
            </a:extLst>
          </p:cNvPr>
          <p:cNvSpPr txBox="1"/>
          <p:nvPr/>
        </p:nvSpPr>
        <p:spPr bwMode="gray">
          <a:xfrm>
            <a:off x="6435525" y="1314819"/>
            <a:ext cx="1654620"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配置如下：</a:t>
            </a:r>
          </a:p>
        </p:txBody>
      </p:sp>
      <p:sp>
        <p:nvSpPr>
          <p:cNvPr id="60" name="文本框 59">
            <a:extLst>
              <a:ext uri="{FF2B5EF4-FFF2-40B4-BE49-F238E27FC236}">
                <a16:creationId xmlns:a16="http://schemas.microsoft.com/office/drawing/2014/main" id="{23C0D927-6A4A-4040-AF36-E2FF92000F8A}"/>
              </a:ext>
            </a:extLst>
          </p:cNvPr>
          <p:cNvSpPr txBox="1"/>
          <p:nvPr/>
        </p:nvSpPr>
        <p:spPr bwMode="gray">
          <a:xfrm>
            <a:off x="6403783" y="3759322"/>
            <a:ext cx="1654620"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配置如下：</a:t>
            </a:r>
          </a:p>
        </p:txBody>
      </p:sp>
      <p:sp>
        <p:nvSpPr>
          <p:cNvPr id="74" name="文本框 73">
            <a:extLst>
              <a:ext uri="{FF2B5EF4-FFF2-40B4-BE49-F238E27FC236}">
                <a16:creationId xmlns:a16="http://schemas.microsoft.com/office/drawing/2014/main" id="{4C21F0C9-8CE6-4E47-AB73-5D416F8BEC78}"/>
              </a:ext>
            </a:extLst>
          </p:cNvPr>
          <p:cNvSpPr txBox="1"/>
          <p:nvPr/>
        </p:nvSpPr>
        <p:spPr bwMode="gray">
          <a:xfrm>
            <a:off x="731837" y="5446895"/>
            <a:ext cx="5364163" cy="707886"/>
          </a:xfrm>
          <a:prstGeom prst="rect">
            <a:avLst/>
          </a:prstGeom>
          <a:noFill/>
        </p:spPr>
        <p:txBody>
          <a:bodyPr wrap="square" rtlCol="0">
            <a:spAutoFit/>
          </a:bodyPr>
          <a:lstStyle/>
          <a:p>
            <a:pPr marL="185738" indent="-185738" algn="just" fontAlgn="auto">
              <a:lnSpc>
                <a:spcPts val="2400"/>
              </a:lnSpc>
              <a:spcBef>
                <a:spcPts val="0"/>
              </a:spcBef>
              <a:spcAft>
                <a:spcPts val="600"/>
              </a:spcAft>
              <a:buFont typeface="Arial" panose="020B0604020202020204" pitchFamily="34" charset="0"/>
              <a:buChar char="•"/>
            </a:pP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两台交换机配置</a:t>
            </a:r>
            <a:r>
              <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隧道，实现相同网段三台</a:t>
            </a:r>
            <a:r>
              <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PC</a:t>
            </a: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之间的互访。</a:t>
            </a:r>
            <a:endPar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文本框 42">
            <a:extLst>
              <a:ext uri="{FF2B5EF4-FFF2-40B4-BE49-F238E27FC236}">
                <a16:creationId xmlns:a16="http://schemas.microsoft.com/office/drawing/2014/main" id="{B54DABAD-68D1-4C74-8E78-14F6361B6011}"/>
              </a:ext>
            </a:extLst>
          </p:cNvPr>
          <p:cNvSpPr txBox="1"/>
          <p:nvPr/>
        </p:nvSpPr>
        <p:spPr bwMode="gray">
          <a:xfrm>
            <a:off x="6450377" y="1711357"/>
            <a:ext cx="4569076" cy="1384995"/>
          </a:xfrm>
          <a:prstGeom prst="rect">
            <a:avLst/>
          </a:prstGeom>
          <a:solidFill>
            <a:schemeClr val="bg1">
              <a:lumMod val="85000"/>
            </a:schemeClr>
          </a:solidFill>
        </p:spPr>
        <p:txBody>
          <a:bodyPr wrap="square" rtlCol="0">
            <a:spAutoFit/>
          </a:bodyPr>
          <a:lstStyle>
            <a:defPPr>
              <a:defRPr lang="en-US"/>
            </a:defPPr>
            <a:lvl1pPr fontAlgn="auto">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r>
              <a:rPr lang="en-US" altLang="zh-CN" dirty="0">
                <a:sym typeface="Huawei Sans" panose="020C0503030203020204" pitchFamily="34" charset="0"/>
              </a:rPr>
              <a:t>[SW1] interface </a:t>
            </a:r>
            <a:r>
              <a:rPr lang="en-US" altLang="zh-CN" dirty="0" err="1">
                <a:sym typeface="Huawei Sans" panose="020C0503030203020204" pitchFamily="34" charset="0"/>
              </a:rPr>
              <a:t>GigabitEthernet</a:t>
            </a:r>
            <a:r>
              <a:rPr lang="en-US" altLang="zh-CN" dirty="0">
                <a:sym typeface="Huawei Sans" panose="020C0503030203020204" pitchFamily="34" charset="0"/>
              </a:rPr>
              <a:t> 1/0/1.1 mode l2</a:t>
            </a:r>
          </a:p>
          <a:p>
            <a:r>
              <a:rPr lang="en-US" altLang="zh-CN" dirty="0">
                <a:sym typeface="Huawei Sans" panose="020C0503030203020204" pitchFamily="34" charset="0"/>
              </a:rPr>
              <a:t>[SW1-GigabitEthernet1/0/1.1] encapsulation </a:t>
            </a:r>
            <a:r>
              <a:rPr lang="en-US" altLang="zh-CN" dirty="0" err="1">
                <a:sym typeface="Huawei Sans" panose="020C0503030203020204" pitchFamily="34" charset="0"/>
              </a:rPr>
              <a:t>untag</a:t>
            </a:r>
            <a:endParaRPr lang="en-US" altLang="zh-CN" dirty="0">
              <a:sym typeface="Huawei Sans" panose="020C0503030203020204" pitchFamily="34" charset="0"/>
            </a:endParaRPr>
          </a:p>
          <a:p>
            <a:r>
              <a:rPr lang="en-US" altLang="zh-CN" dirty="0">
                <a:sym typeface="Huawei Sans" panose="020C0503030203020204" pitchFamily="34" charset="0"/>
              </a:rPr>
              <a:t>[SW1-GigabitEthernet1/0/1.1] bridge-domain 100</a:t>
            </a:r>
          </a:p>
          <a:p>
            <a:r>
              <a:rPr lang="en-US" altLang="zh-CN" dirty="0">
                <a:sym typeface="Huawei Sans" panose="020C0503030203020204" pitchFamily="34" charset="0"/>
              </a:rPr>
              <a:t>[SW1] interface </a:t>
            </a:r>
            <a:r>
              <a:rPr lang="en-US" altLang="zh-CN" dirty="0" err="1">
                <a:sym typeface="Huawei Sans" panose="020C0503030203020204" pitchFamily="34" charset="0"/>
              </a:rPr>
              <a:t>GigabitEthernet</a:t>
            </a:r>
            <a:r>
              <a:rPr lang="en-US" altLang="zh-CN" dirty="0">
                <a:sym typeface="Huawei Sans" panose="020C0503030203020204" pitchFamily="34" charset="0"/>
              </a:rPr>
              <a:t> 1/0/2.1 mode l2</a:t>
            </a:r>
          </a:p>
          <a:p>
            <a:r>
              <a:rPr lang="en-US" altLang="zh-CN" dirty="0">
                <a:sym typeface="Huawei Sans" panose="020C0503030203020204" pitchFamily="34" charset="0"/>
              </a:rPr>
              <a:t>[SW1-GigabitEthernet1/0/2.1] encapsulation </a:t>
            </a:r>
            <a:r>
              <a:rPr lang="en-US" altLang="zh-CN" dirty="0" err="1">
                <a:sym typeface="Huawei Sans" panose="020C0503030203020204" pitchFamily="34" charset="0"/>
              </a:rPr>
              <a:t>untag</a:t>
            </a:r>
            <a:endParaRPr lang="en-US" altLang="zh-CN" dirty="0">
              <a:sym typeface="Huawei Sans" panose="020C0503030203020204" pitchFamily="34" charset="0"/>
            </a:endParaRPr>
          </a:p>
          <a:p>
            <a:r>
              <a:rPr lang="en-US" altLang="zh-CN" dirty="0">
                <a:sym typeface="Huawei Sans" panose="020C0503030203020204" pitchFamily="34" charset="0"/>
              </a:rPr>
              <a:t>[SW1-GigabitEthernet1/0/2.1] bridge-domain 100</a:t>
            </a:r>
          </a:p>
        </p:txBody>
      </p:sp>
      <p:sp>
        <p:nvSpPr>
          <p:cNvPr id="44" name="文本框 43">
            <a:extLst>
              <a:ext uri="{FF2B5EF4-FFF2-40B4-BE49-F238E27FC236}">
                <a16:creationId xmlns:a16="http://schemas.microsoft.com/office/drawing/2014/main" id="{B1B4F62F-F1DD-444E-9CF3-B12435A7F84C}"/>
              </a:ext>
            </a:extLst>
          </p:cNvPr>
          <p:cNvSpPr txBox="1"/>
          <p:nvPr/>
        </p:nvSpPr>
        <p:spPr bwMode="gray">
          <a:xfrm>
            <a:off x="6435525" y="4183318"/>
            <a:ext cx="4583928" cy="523220"/>
          </a:xfrm>
          <a:prstGeom prst="rect">
            <a:avLst/>
          </a:prstGeom>
          <a:solidFill>
            <a:schemeClr val="bg1">
              <a:lumMod val="85000"/>
            </a:schemeClr>
          </a:solidFill>
        </p:spPr>
        <p:txBody>
          <a:bodyPr wrap="square" rtlCol="0">
            <a:spAutoFit/>
          </a:bodyPr>
          <a:lstStyle>
            <a:defPPr>
              <a:defRPr lang="en-US"/>
            </a:defPPr>
            <a:lvl1pPr fontAlgn="auto">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r>
              <a:rPr lang="en-US" altLang="zh-CN" dirty="0">
                <a:sym typeface="Huawei Sans" panose="020C0503030203020204" pitchFamily="34" charset="0"/>
              </a:rPr>
              <a:t>[SW2] bridge-domain 100</a:t>
            </a:r>
          </a:p>
          <a:p>
            <a:r>
              <a:rPr lang="nl-NL" altLang="zh-CN" dirty="0">
                <a:sym typeface="Huawei Sans" panose="020C0503030203020204" pitchFamily="34" charset="0"/>
              </a:rPr>
              <a:t>[SW2-bd100] l2 binding vlan 1</a:t>
            </a:r>
            <a:endParaRPr lang="en-US" altLang="zh-CN" dirty="0">
              <a:sym typeface="Huawei Sans" panose="020C0503030203020204" pitchFamily="34" charset="0"/>
            </a:endParaRPr>
          </a:p>
        </p:txBody>
      </p:sp>
      <p:sp>
        <p:nvSpPr>
          <p:cNvPr id="46" name="文本框 45">
            <a:extLst>
              <a:ext uri="{FF2B5EF4-FFF2-40B4-BE49-F238E27FC236}">
                <a16:creationId xmlns:a16="http://schemas.microsoft.com/office/drawing/2014/main" id="{063C1797-60E6-4BBA-9428-57B514F935FD}"/>
              </a:ext>
            </a:extLst>
          </p:cNvPr>
          <p:cNvSpPr txBox="1"/>
          <p:nvPr/>
        </p:nvSpPr>
        <p:spPr bwMode="gray">
          <a:xfrm>
            <a:off x="6462569" y="5173527"/>
            <a:ext cx="4264309" cy="338554"/>
          </a:xfrm>
          <a:prstGeom prst="rect">
            <a:avLst/>
          </a:prstGeom>
          <a:solidFill>
            <a:srgbClr val="BEE9EE"/>
          </a:solidFill>
          <a:ln w="19050">
            <a:noFill/>
          </a:ln>
        </p:spPr>
        <p:txBody>
          <a:bodyPr wrap="none" rtlCol="0">
            <a:spAutoFit/>
          </a:bodyPr>
          <a:lstStyle/>
          <a:p>
            <a:pPr fontAlgn="auto">
              <a:spcBef>
                <a:spcPts val="0"/>
              </a:spcBef>
              <a:spcAft>
                <a:spcPts val="0"/>
              </a:spcAft>
            </a:pPr>
            <a:r>
              <a:rPr lang="zh-CN" altLang="en-US" sz="16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思考</a:t>
            </a:r>
            <a:r>
              <a:rPr lang="en-US" altLang="zh-CN" sz="16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6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6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的接入方式和</a:t>
            </a:r>
            <a:r>
              <a:rPr lang="en-US" altLang="zh-CN" sz="16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6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有什么区别？</a:t>
            </a:r>
          </a:p>
        </p:txBody>
      </p:sp>
      <p:sp>
        <p:nvSpPr>
          <p:cNvPr id="47" name="文本框 46">
            <a:extLst>
              <a:ext uri="{FF2B5EF4-FFF2-40B4-BE49-F238E27FC236}">
                <a16:creationId xmlns:a16="http://schemas.microsoft.com/office/drawing/2014/main" id="{D0B224E8-1B04-4C59-9B1E-20D59B28B682}"/>
              </a:ext>
            </a:extLst>
          </p:cNvPr>
          <p:cNvSpPr txBox="1"/>
          <p:nvPr/>
        </p:nvSpPr>
        <p:spPr bwMode="gray">
          <a:xfrm>
            <a:off x="6462569" y="5674987"/>
            <a:ext cx="4287368" cy="338554"/>
          </a:xfrm>
          <a:prstGeom prst="rect">
            <a:avLst/>
          </a:prstGeom>
          <a:solidFill>
            <a:srgbClr val="BEE9EE"/>
          </a:solidFill>
          <a:ln w="19050">
            <a:noFill/>
          </a:ln>
        </p:spPr>
        <p:txBody>
          <a:bodyPr wrap="square" rtlCol="0">
            <a:spAutoFit/>
          </a:bodyPr>
          <a:lstStyle/>
          <a:p>
            <a:pPr fontAlgn="auto">
              <a:spcBef>
                <a:spcPts val="0"/>
              </a:spcBef>
              <a:spcAft>
                <a:spcPts val="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思考</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：如何配置网关</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192.168.1.254</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37" name="圆角矩形 11">
            <a:extLst>
              <a:ext uri="{FF2B5EF4-FFF2-40B4-BE49-F238E27FC236}">
                <a16:creationId xmlns:a16="http://schemas.microsoft.com/office/drawing/2014/main" id="{8A40B099-94F0-4C96-B24D-330878071C88}"/>
              </a:ext>
            </a:extLst>
          </p:cNvPr>
          <p:cNvSpPr/>
          <p:nvPr/>
        </p:nvSpPr>
        <p:spPr bwMode="gray">
          <a:xfrm>
            <a:off x="1545151" y="1394206"/>
            <a:ext cx="1697901" cy="345103"/>
          </a:xfrm>
          <a:prstGeom prst="roundRect">
            <a:avLst>
              <a:gd name="adj" fmla="val 4298"/>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隧道</a:t>
            </a:r>
          </a:p>
        </p:txBody>
      </p:sp>
      <p:sp>
        <p:nvSpPr>
          <p:cNvPr id="38" name="圆角矩形 12">
            <a:extLst>
              <a:ext uri="{FF2B5EF4-FFF2-40B4-BE49-F238E27FC236}">
                <a16:creationId xmlns:a16="http://schemas.microsoft.com/office/drawing/2014/main" id="{5954F4B0-B410-4A71-8F29-9EFD3EC63129}"/>
              </a:ext>
            </a:extLst>
          </p:cNvPr>
          <p:cNvSpPr/>
          <p:nvPr/>
        </p:nvSpPr>
        <p:spPr bwMode="gray">
          <a:xfrm>
            <a:off x="3676551" y="1392596"/>
            <a:ext cx="1458666" cy="346713"/>
          </a:xfrm>
          <a:prstGeom prst="roundRect">
            <a:avLst>
              <a:gd name="adj" fmla="val 4298"/>
            </a:avLst>
          </a:prstGeom>
          <a:solidFill>
            <a:srgbClr val="30B5C5"/>
          </a:solidFill>
          <a:ln w="19050">
            <a:noFill/>
          </a:ln>
        </p:spPr>
        <p:txBody>
          <a:bodyPr wrap="none" rtlCol="0">
            <a:spAutoFit/>
          </a:bodyPr>
          <a:lstStyle/>
          <a:p>
            <a:r>
              <a:rPr lang="zh-CN" altLang="en-US"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配置业务接入</a:t>
            </a:r>
          </a:p>
        </p:txBody>
      </p:sp>
      <p:cxnSp>
        <p:nvCxnSpPr>
          <p:cNvPr id="40" name="直接箭头连接符 39">
            <a:extLst>
              <a:ext uri="{FF2B5EF4-FFF2-40B4-BE49-F238E27FC236}">
                <a16:creationId xmlns:a16="http://schemas.microsoft.com/office/drawing/2014/main" id="{9254255B-81A2-4597-8C3A-2E704E1FC41C}"/>
              </a:ext>
            </a:extLst>
          </p:cNvPr>
          <p:cNvCxnSpPr>
            <a:cxnSpLocks/>
            <a:stCxn id="37" idx="3"/>
            <a:endCxn id="38" idx="1"/>
          </p:cNvCxnSpPr>
          <p:nvPr/>
        </p:nvCxnSpPr>
        <p:spPr bwMode="gray">
          <a:xfrm flipV="1">
            <a:off x="3243052" y="1565953"/>
            <a:ext cx="433499" cy="805"/>
          </a:xfrm>
          <a:prstGeom prst="straightConnector1">
            <a:avLst/>
          </a:prstGeom>
          <a:noFill/>
          <a:ln w="19050" cap="flat" cmpd="sng" algn="ctr">
            <a:solidFill>
              <a:schemeClr val="tx1"/>
            </a:solidFill>
            <a:prstDash val="solid"/>
            <a:round/>
            <a:headEnd type="none" w="med" len="med"/>
            <a:tailEnd type="triangle"/>
          </a:ln>
          <a:effectLst/>
        </p:spPr>
      </p:cxnSp>
      <p:grpSp>
        <p:nvGrpSpPr>
          <p:cNvPr id="36" name="组合 35">
            <a:extLst>
              <a:ext uri="{FF2B5EF4-FFF2-40B4-BE49-F238E27FC236}">
                <a16:creationId xmlns:a16="http://schemas.microsoft.com/office/drawing/2014/main" id="{2620C340-032B-4BCA-971B-2E0CE1A5AFFB}"/>
              </a:ext>
            </a:extLst>
          </p:cNvPr>
          <p:cNvGrpSpPr/>
          <p:nvPr/>
        </p:nvGrpSpPr>
        <p:grpSpPr bwMode="gray">
          <a:xfrm>
            <a:off x="1019536" y="1951137"/>
            <a:ext cx="4732865" cy="3141497"/>
            <a:chOff x="473275" y="2149431"/>
            <a:chExt cx="4732865" cy="3141497"/>
          </a:xfrm>
        </p:grpSpPr>
        <p:sp>
          <p:nvSpPr>
            <p:cNvPr id="41" name="矩形: 圆角 35">
              <a:extLst>
                <a:ext uri="{FF2B5EF4-FFF2-40B4-BE49-F238E27FC236}">
                  <a16:creationId xmlns:a16="http://schemas.microsoft.com/office/drawing/2014/main" id="{53D6CAB9-311C-4AE2-A406-DC2FF6065C03}"/>
                </a:ext>
              </a:extLst>
            </p:cNvPr>
            <p:cNvSpPr/>
            <p:nvPr/>
          </p:nvSpPr>
          <p:spPr bwMode="gray">
            <a:xfrm>
              <a:off x="473275" y="2149431"/>
              <a:ext cx="4704367" cy="3141497"/>
            </a:xfrm>
            <a:prstGeom prst="roundRect">
              <a:avLst/>
            </a:prstGeom>
            <a:solidFill>
              <a:schemeClr val="bg1"/>
            </a:solidFill>
            <a:ln w="19050">
              <a:solidFill>
                <a:srgbClr val="30B5C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8" name="图片 47">
              <a:extLst>
                <a:ext uri="{FF2B5EF4-FFF2-40B4-BE49-F238E27FC236}">
                  <a16:creationId xmlns:a16="http://schemas.microsoft.com/office/drawing/2014/main" id="{D44872DB-2D16-4F13-93BD-D8A9552CCAA1}"/>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628865" y="2863804"/>
              <a:ext cx="540000" cy="442800"/>
            </a:xfrm>
            <a:prstGeom prst="rect">
              <a:avLst/>
            </a:prstGeom>
          </p:spPr>
        </p:pic>
        <p:pic>
          <p:nvPicPr>
            <p:cNvPr id="49" name="图片 48" descr="PC.png">
              <a:extLst>
                <a:ext uri="{FF2B5EF4-FFF2-40B4-BE49-F238E27FC236}">
                  <a16:creationId xmlns:a16="http://schemas.microsoft.com/office/drawing/2014/main" id="{861429D6-57F7-48AC-944C-0E5ED29FE79F}"/>
                </a:ext>
              </a:extLst>
            </p:cNvPr>
            <p:cNvPicPr>
              <a:picLocks noChangeAspect="1"/>
            </p:cNvPicPr>
            <p:nvPr/>
          </p:nvPicPr>
          <p:blipFill>
            <a:blip r:embed="rId4" cstate="print"/>
            <a:stretch>
              <a:fillRect/>
            </a:stretch>
          </p:blipFill>
          <p:spPr bwMode="gray">
            <a:xfrm>
              <a:off x="888261" y="4130338"/>
              <a:ext cx="539063" cy="414000"/>
            </a:xfrm>
            <a:prstGeom prst="rect">
              <a:avLst/>
            </a:prstGeom>
          </p:spPr>
        </p:pic>
        <p:pic>
          <p:nvPicPr>
            <p:cNvPr id="51" name="图片 50">
              <a:extLst>
                <a:ext uri="{FF2B5EF4-FFF2-40B4-BE49-F238E27FC236}">
                  <a16:creationId xmlns:a16="http://schemas.microsoft.com/office/drawing/2014/main" id="{5A04BFB1-4CF0-449D-9B17-F31922031095}"/>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707054" y="2863804"/>
              <a:ext cx="540000" cy="442800"/>
            </a:xfrm>
            <a:prstGeom prst="rect">
              <a:avLst/>
            </a:prstGeom>
          </p:spPr>
        </p:pic>
        <p:cxnSp>
          <p:nvCxnSpPr>
            <p:cNvPr id="73" name="直接连接符 72">
              <a:extLst>
                <a:ext uri="{FF2B5EF4-FFF2-40B4-BE49-F238E27FC236}">
                  <a16:creationId xmlns:a16="http://schemas.microsoft.com/office/drawing/2014/main" id="{1255024B-421C-44AA-8641-BF66DDA67B83}"/>
                </a:ext>
              </a:extLst>
            </p:cNvPr>
            <p:cNvCxnSpPr>
              <a:stCxn id="48" idx="3"/>
              <a:endCxn id="51" idx="1"/>
            </p:cNvCxnSpPr>
            <p:nvPr/>
          </p:nvCxnSpPr>
          <p:spPr bwMode="gray">
            <a:xfrm>
              <a:off x="2168865" y="3085204"/>
              <a:ext cx="153818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75" name="图片 74" descr="PC.png">
              <a:extLst>
                <a:ext uri="{FF2B5EF4-FFF2-40B4-BE49-F238E27FC236}">
                  <a16:creationId xmlns:a16="http://schemas.microsoft.com/office/drawing/2014/main" id="{5266353E-6FE3-4A44-B586-E20EABF1EC25}"/>
                </a:ext>
              </a:extLst>
            </p:cNvPr>
            <p:cNvPicPr>
              <a:picLocks noChangeAspect="1"/>
            </p:cNvPicPr>
            <p:nvPr/>
          </p:nvPicPr>
          <p:blipFill>
            <a:blip r:embed="rId4" cstate="print"/>
            <a:stretch>
              <a:fillRect/>
            </a:stretch>
          </p:blipFill>
          <p:spPr bwMode="gray">
            <a:xfrm>
              <a:off x="3707054" y="4130338"/>
              <a:ext cx="539063" cy="414000"/>
            </a:xfrm>
            <a:prstGeom prst="rect">
              <a:avLst/>
            </a:prstGeom>
          </p:spPr>
        </p:pic>
        <p:cxnSp>
          <p:nvCxnSpPr>
            <p:cNvPr id="76" name="直接连接符 75">
              <a:extLst>
                <a:ext uri="{FF2B5EF4-FFF2-40B4-BE49-F238E27FC236}">
                  <a16:creationId xmlns:a16="http://schemas.microsoft.com/office/drawing/2014/main" id="{8C815446-8A1F-494B-BC2D-C08CC1AD7B9E}"/>
                </a:ext>
              </a:extLst>
            </p:cNvPr>
            <p:cNvCxnSpPr>
              <a:cxnSpLocks/>
              <a:stCxn id="49" idx="0"/>
              <a:endCxn id="48" idx="2"/>
            </p:cNvCxnSpPr>
            <p:nvPr/>
          </p:nvCxnSpPr>
          <p:spPr bwMode="gray">
            <a:xfrm flipV="1">
              <a:off x="1157793" y="3306604"/>
              <a:ext cx="741072" cy="823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A16F311A-A57B-414D-80F9-0ABA6B6CE554}"/>
                </a:ext>
              </a:extLst>
            </p:cNvPr>
            <p:cNvCxnSpPr>
              <a:cxnSpLocks/>
              <a:stCxn id="75" idx="0"/>
              <a:endCxn id="51" idx="2"/>
            </p:cNvCxnSpPr>
            <p:nvPr/>
          </p:nvCxnSpPr>
          <p:spPr bwMode="gray">
            <a:xfrm flipV="1">
              <a:off x="3976586" y="3306604"/>
              <a:ext cx="468" cy="823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文本框 77">
              <a:extLst>
                <a:ext uri="{FF2B5EF4-FFF2-40B4-BE49-F238E27FC236}">
                  <a16:creationId xmlns:a16="http://schemas.microsoft.com/office/drawing/2014/main" id="{6BA187EF-82A0-4B65-8645-1796EF86318E}"/>
                </a:ext>
              </a:extLst>
            </p:cNvPr>
            <p:cNvSpPr txBox="1"/>
            <p:nvPr/>
          </p:nvSpPr>
          <p:spPr bwMode="gray">
            <a:xfrm>
              <a:off x="497025" y="4601458"/>
              <a:ext cx="1388522" cy="523220"/>
            </a:xfrm>
            <a:prstGeom prst="rect">
              <a:avLst/>
            </a:prstGeom>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IP1</a:t>
              </a:r>
            </a:p>
            <a:p>
              <a:pPr algn="l"/>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192.168.1.1/24</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文本框 78">
              <a:extLst>
                <a:ext uri="{FF2B5EF4-FFF2-40B4-BE49-F238E27FC236}">
                  <a16:creationId xmlns:a16="http://schemas.microsoft.com/office/drawing/2014/main" id="{45FB0F96-71FD-4F81-BE5C-6A45AAB80EE8}"/>
                </a:ext>
              </a:extLst>
            </p:cNvPr>
            <p:cNvSpPr txBox="1"/>
            <p:nvPr/>
          </p:nvSpPr>
          <p:spPr bwMode="gray">
            <a:xfrm>
              <a:off x="1914034" y="4601458"/>
              <a:ext cx="1388522" cy="523220"/>
            </a:xfrm>
            <a:prstGeom prst="rect">
              <a:avLst/>
            </a:prstGeom>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IP2</a:t>
              </a:r>
            </a:p>
            <a:p>
              <a:pPr algn="l"/>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192.168.1.2/24</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0" name="图片 79" descr="PC.png">
              <a:extLst>
                <a:ext uri="{FF2B5EF4-FFF2-40B4-BE49-F238E27FC236}">
                  <a16:creationId xmlns:a16="http://schemas.microsoft.com/office/drawing/2014/main" id="{4E2EFEB1-A62E-4E8F-8603-D2C11A1B9AED}"/>
                </a:ext>
              </a:extLst>
            </p:cNvPr>
            <p:cNvPicPr>
              <a:picLocks noChangeAspect="1"/>
            </p:cNvPicPr>
            <p:nvPr/>
          </p:nvPicPr>
          <p:blipFill>
            <a:blip r:embed="rId4" cstate="print"/>
            <a:stretch>
              <a:fillRect/>
            </a:stretch>
          </p:blipFill>
          <p:spPr bwMode="gray">
            <a:xfrm>
              <a:off x="2338763" y="4130338"/>
              <a:ext cx="539063" cy="414000"/>
            </a:xfrm>
            <a:prstGeom prst="rect">
              <a:avLst/>
            </a:prstGeom>
          </p:spPr>
        </p:pic>
        <p:cxnSp>
          <p:nvCxnSpPr>
            <p:cNvPr id="81" name="直接连接符 80">
              <a:extLst>
                <a:ext uri="{FF2B5EF4-FFF2-40B4-BE49-F238E27FC236}">
                  <a16:creationId xmlns:a16="http://schemas.microsoft.com/office/drawing/2014/main" id="{E0E16102-BCAF-43DA-AEE3-52856C9DBDC4}"/>
                </a:ext>
              </a:extLst>
            </p:cNvPr>
            <p:cNvCxnSpPr>
              <a:cxnSpLocks/>
              <a:stCxn id="80" idx="0"/>
              <a:endCxn id="48" idx="2"/>
            </p:cNvCxnSpPr>
            <p:nvPr/>
          </p:nvCxnSpPr>
          <p:spPr bwMode="gray">
            <a:xfrm flipH="1" flipV="1">
              <a:off x="1898865" y="3306604"/>
              <a:ext cx="709430" cy="823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文本框 81">
              <a:extLst>
                <a:ext uri="{FF2B5EF4-FFF2-40B4-BE49-F238E27FC236}">
                  <a16:creationId xmlns:a16="http://schemas.microsoft.com/office/drawing/2014/main" id="{875F33D5-C123-4289-8446-CF2FFBCF0295}"/>
                </a:ext>
              </a:extLst>
            </p:cNvPr>
            <p:cNvSpPr txBox="1"/>
            <p:nvPr/>
          </p:nvSpPr>
          <p:spPr bwMode="gray">
            <a:xfrm>
              <a:off x="3282324" y="4601458"/>
              <a:ext cx="1388522" cy="523220"/>
            </a:xfrm>
            <a:prstGeom prst="rect">
              <a:avLst/>
            </a:prstGeom>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IP3</a:t>
              </a:r>
            </a:p>
            <a:p>
              <a:pPr algn="l"/>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192.168.1.3/24</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文本框 82">
              <a:extLst>
                <a:ext uri="{FF2B5EF4-FFF2-40B4-BE49-F238E27FC236}">
                  <a16:creationId xmlns:a16="http://schemas.microsoft.com/office/drawing/2014/main" id="{0DDDFB6F-125E-4C45-9747-F83580F9E5FD}"/>
                </a:ext>
              </a:extLst>
            </p:cNvPr>
            <p:cNvSpPr txBox="1"/>
            <p:nvPr/>
          </p:nvSpPr>
          <p:spPr bwMode="gray">
            <a:xfrm>
              <a:off x="625851" y="2822508"/>
              <a:ext cx="984565" cy="523220"/>
            </a:xfrm>
            <a:prstGeom prst="rect">
              <a:avLst/>
            </a:prstGeom>
          </p:spPr>
          <p:txBody>
            <a:bodyPr wrap="none" rtlCol="0">
              <a:spAutoFit/>
            </a:bodyPr>
            <a:lstStyle/>
            <a:p>
              <a:pPr algn="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a:t>
              </a:r>
            </a:p>
            <a:p>
              <a:pPr algn="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1.1.1.1/32</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文本框 83">
              <a:extLst>
                <a:ext uri="{FF2B5EF4-FFF2-40B4-BE49-F238E27FC236}">
                  <a16:creationId xmlns:a16="http://schemas.microsoft.com/office/drawing/2014/main" id="{7ED72902-FB9C-475D-A507-DA6800901859}"/>
                </a:ext>
              </a:extLst>
            </p:cNvPr>
            <p:cNvSpPr txBox="1"/>
            <p:nvPr/>
          </p:nvSpPr>
          <p:spPr bwMode="gray">
            <a:xfrm>
              <a:off x="4221575" y="2823594"/>
              <a:ext cx="984565" cy="523220"/>
            </a:xfrm>
            <a:prstGeom prst="rect">
              <a:avLst/>
            </a:prstGeom>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a:t>
              </a: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2.2.2.2/32</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文本框 84">
              <a:extLst>
                <a:ext uri="{FF2B5EF4-FFF2-40B4-BE49-F238E27FC236}">
                  <a16:creationId xmlns:a16="http://schemas.microsoft.com/office/drawing/2014/main" id="{8F79796C-0761-4145-B8FD-02DA5C6EF1A1}"/>
                </a:ext>
              </a:extLst>
            </p:cNvPr>
            <p:cNvSpPr txBox="1"/>
            <p:nvPr/>
          </p:nvSpPr>
          <p:spPr bwMode="gray">
            <a:xfrm>
              <a:off x="2441452" y="2793876"/>
              <a:ext cx="952505" cy="307777"/>
            </a:xfrm>
            <a:prstGeom prst="rect">
              <a:avLst/>
            </a:prstGeom>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GE1/0/10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文本框 85">
              <a:extLst>
                <a:ext uri="{FF2B5EF4-FFF2-40B4-BE49-F238E27FC236}">
                  <a16:creationId xmlns:a16="http://schemas.microsoft.com/office/drawing/2014/main" id="{15CBEE80-EC51-4AE1-A74B-78AE80D9AB92}"/>
                </a:ext>
              </a:extLst>
            </p:cNvPr>
            <p:cNvSpPr txBox="1"/>
            <p:nvPr/>
          </p:nvSpPr>
          <p:spPr bwMode="gray">
            <a:xfrm rot="18731803">
              <a:off x="1036230" y="3456838"/>
              <a:ext cx="851515" cy="307777"/>
            </a:xfrm>
            <a:prstGeom prst="rect">
              <a:avLst/>
            </a:prstGeom>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GE1/0/1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文本框 86">
              <a:extLst>
                <a:ext uri="{FF2B5EF4-FFF2-40B4-BE49-F238E27FC236}">
                  <a16:creationId xmlns:a16="http://schemas.microsoft.com/office/drawing/2014/main" id="{48AD6316-0986-4139-AB03-C06DE80B345C}"/>
                </a:ext>
              </a:extLst>
            </p:cNvPr>
            <p:cNvSpPr txBox="1"/>
            <p:nvPr/>
          </p:nvSpPr>
          <p:spPr bwMode="gray">
            <a:xfrm rot="2932880">
              <a:off x="1917089" y="3472078"/>
              <a:ext cx="851516" cy="307777"/>
            </a:xfrm>
            <a:prstGeom prst="rect">
              <a:avLst/>
            </a:prstGeom>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GE1/0/2</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文本框 87">
              <a:extLst>
                <a:ext uri="{FF2B5EF4-FFF2-40B4-BE49-F238E27FC236}">
                  <a16:creationId xmlns:a16="http://schemas.microsoft.com/office/drawing/2014/main" id="{DA87D7D9-4F51-481D-85E2-950866817404}"/>
                </a:ext>
              </a:extLst>
            </p:cNvPr>
            <p:cNvSpPr txBox="1"/>
            <p:nvPr/>
          </p:nvSpPr>
          <p:spPr bwMode="gray">
            <a:xfrm>
              <a:off x="3125538" y="3318189"/>
              <a:ext cx="851516" cy="307777"/>
            </a:xfrm>
            <a:prstGeom prst="rect">
              <a:avLst/>
            </a:prstGeom>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GE1/0/1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文本框 88">
              <a:extLst>
                <a:ext uri="{FF2B5EF4-FFF2-40B4-BE49-F238E27FC236}">
                  <a16:creationId xmlns:a16="http://schemas.microsoft.com/office/drawing/2014/main" id="{B9B623FE-66F1-4B0E-8B06-4BA3B705AA52}"/>
                </a:ext>
              </a:extLst>
            </p:cNvPr>
            <p:cNvSpPr txBox="1"/>
            <p:nvPr/>
          </p:nvSpPr>
          <p:spPr bwMode="gray">
            <a:xfrm>
              <a:off x="2425222" y="2199602"/>
              <a:ext cx="1082349" cy="523220"/>
            </a:xfrm>
            <a:prstGeom prst="rect">
              <a:avLst/>
            </a:prstGeom>
          </p:spPr>
          <p:txBody>
            <a:bodyPr wrap="none" rtlCol="0">
              <a:spAutoFit/>
            </a:bodyPr>
            <a:lstStyle/>
            <a:p>
              <a:pPr algn="ct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BD 100</a:t>
              </a:r>
            </a:p>
            <a:p>
              <a:pPr algn="ct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VNI 10000</a:t>
              </a:r>
              <a:endPar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文本框 89">
              <a:extLst>
                <a:ext uri="{FF2B5EF4-FFF2-40B4-BE49-F238E27FC236}">
                  <a16:creationId xmlns:a16="http://schemas.microsoft.com/office/drawing/2014/main" id="{FECF0FA8-698D-454B-933A-64BEB4731B04}"/>
                </a:ext>
              </a:extLst>
            </p:cNvPr>
            <p:cNvSpPr txBox="1"/>
            <p:nvPr/>
          </p:nvSpPr>
          <p:spPr bwMode="gray">
            <a:xfrm>
              <a:off x="1645531" y="2506796"/>
              <a:ext cx="575800" cy="307777"/>
            </a:xfrm>
            <a:prstGeom prst="rect">
              <a:avLst/>
            </a:prstGeom>
          </p:spPr>
          <p:txBody>
            <a:bodyPr wrap="none" rtlCol="0">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文本框 90">
              <a:extLst>
                <a:ext uri="{FF2B5EF4-FFF2-40B4-BE49-F238E27FC236}">
                  <a16:creationId xmlns:a16="http://schemas.microsoft.com/office/drawing/2014/main" id="{6D47B989-D254-4D49-9B4C-DF02C0C778E2}"/>
                </a:ext>
              </a:extLst>
            </p:cNvPr>
            <p:cNvSpPr txBox="1"/>
            <p:nvPr/>
          </p:nvSpPr>
          <p:spPr bwMode="gray">
            <a:xfrm>
              <a:off x="3688685" y="2506796"/>
              <a:ext cx="575800" cy="307777"/>
            </a:xfrm>
            <a:prstGeom prst="rect">
              <a:avLst/>
            </a:prstGeom>
          </p:spPr>
          <p:txBody>
            <a:bodyPr wrap="none" rtlCol="0">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2897879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CE355C1-7171-434E-9B5B-0BD87FD7E892}"/>
              </a:ext>
            </a:extLst>
          </p:cNvPr>
          <p:cNvSpPr>
            <a:spLocks noGrp="1"/>
          </p:cNvSpPr>
          <p:nvPr>
            <p:ph type="title"/>
          </p:nvPr>
        </p:nvSpPr>
        <p:spPr bwMode="gray"/>
        <p:txBody>
          <a:bodyPr/>
          <a:lstStyle/>
          <a:p>
            <a:r>
              <a:rPr lang="zh-CN" altLang="en-US" dirty="0">
                <a:sym typeface="Huawei Sans" panose="020C0503030203020204" pitchFamily="34" charset="0"/>
              </a:rPr>
              <a:t>配置案例：不同子网互访 </a:t>
            </a:r>
            <a:r>
              <a:rPr lang="en-US" altLang="zh-CN" dirty="0">
                <a:sym typeface="Huawei Sans" panose="020C0503030203020204" pitchFamily="34" charset="0"/>
              </a:rPr>
              <a:t>(</a:t>
            </a:r>
            <a:r>
              <a:rPr lang="zh-CN" altLang="en-US" dirty="0">
                <a:sym typeface="Huawei Sans" panose="020C0503030203020204" pitchFamily="34" charset="0"/>
              </a:rPr>
              <a:t>集中式网关</a:t>
            </a:r>
            <a:r>
              <a:rPr lang="en-US" altLang="zh-CN" dirty="0">
                <a:sym typeface="Huawei Sans" panose="020C0503030203020204" pitchFamily="34" charset="0"/>
              </a:rPr>
              <a:t>)</a:t>
            </a:r>
            <a:r>
              <a:rPr lang="zh-CN" altLang="en-US" dirty="0">
                <a:sym typeface="Huawei Sans" panose="020C0503030203020204" pitchFamily="34" charset="0"/>
              </a:rPr>
              <a:t> </a:t>
            </a:r>
            <a:r>
              <a:rPr lang="en-US" altLang="zh-CN" dirty="0">
                <a:sym typeface="Huawei Sans" panose="020C0503030203020204" pitchFamily="34" charset="0"/>
              </a:rPr>
              <a:t>(1)</a:t>
            </a:r>
            <a:endParaRPr lang="zh-CN" altLang="en-US" dirty="0">
              <a:sym typeface="Huawei Sans" panose="020C0503030203020204" pitchFamily="34" charset="0"/>
            </a:endParaRPr>
          </a:p>
        </p:txBody>
      </p:sp>
      <p:grpSp>
        <p:nvGrpSpPr>
          <p:cNvPr id="27" name="组合 26">
            <a:extLst>
              <a:ext uri="{FF2B5EF4-FFF2-40B4-BE49-F238E27FC236}">
                <a16:creationId xmlns:a16="http://schemas.microsoft.com/office/drawing/2014/main" id="{CAFE8000-3A13-4F9E-BF1A-360F1208C8FF}"/>
              </a:ext>
            </a:extLst>
          </p:cNvPr>
          <p:cNvGrpSpPr/>
          <p:nvPr/>
        </p:nvGrpSpPr>
        <p:grpSpPr bwMode="gray">
          <a:xfrm>
            <a:off x="1145228" y="2015907"/>
            <a:ext cx="4542144" cy="3147453"/>
            <a:chOff x="895489" y="1566018"/>
            <a:chExt cx="4542144" cy="3147453"/>
          </a:xfrm>
        </p:grpSpPr>
        <p:sp>
          <p:nvSpPr>
            <p:cNvPr id="51" name="矩形: 圆角 50">
              <a:extLst>
                <a:ext uri="{FF2B5EF4-FFF2-40B4-BE49-F238E27FC236}">
                  <a16:creationId xmlns:a16="http://schemas.microsoft.com/office/drawing/2014/main" id="{F5913F65-9398-4BFE-9D62-225BFB110A44}"/>
                </a:ext>
              </a:extLst>
            </p:cNvPr>
            <p:cNvSpPr/>
            <p:nvPr/>
          </p:nvSpPr>
          <p:spPr bwMode="gray">
            <a:xfrm>
              <a:off x="895489" y="1566018"/>
              <a:ext cx="4542144" cy="3147453"/>
            </a:xfrm>
            <a:prstGeom prst="roundRect">
              <a:avLst/>
            </a:prstGeom>
            <a:solidFill>
              <a:srgbClr val="FFF7E1"/>
            </a:solidFill>
            <a:ln>
              <a:solidFill>
                <a:srgbClr val="FCC8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7" name="直接连接符 46">
              <a:extLst>
                <a:ext uri="{FF2B5EF4-FFF2-40B4-BE49-F238E27FC236}">
                  <a16:creationId xmlns:a16="http://schemas.microsoft.com/office/drawing/2014/main" id="{B5C6851E-4929-494D-9B38-B6046EC2C3B3}"/>
                </a:ext>
              </a:extLst>
            </p:cNvPr>
            <p:cNvCxnSpPr>
              <a:cxnSpLocks/>
            </p:cNvCxnSpPr>
            <p:nvPr/>
          </p:nvCxnSpPr>
          <p:spPr bwMode="gray">
            <a:xfrm flipH="1" flipV="1">
              <a:off x="3011614" y="2209273"/>
              <a:ext cx="1334237" cy="9036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C0644F65-2304-4029-B3DD-D5F95F3B6C01}"/>
                </a:ext>
              </a:extLst>
            </p:cNvPr>
            <p:cNvCxnSpPr>
              <a:cxnSpLocks/>
              <a:stCxn id="4" idx="1"/>
            </p:cNvCxnSpPr>
            <p:nvPr/>
          </p:nvCxnSpPr>
          <p:spPr bwMode="gray">
            <a:xfrm flipV="1">
              <a:off x="1729430" y="2209273"/>
              <a:ext cx="1282184" cy="9036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D44872DB-2D16-4F13-93BD-D8A9552CCAA1}"/>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729430" y="2891510"/>
              <a:ext cx="540000" cy="442800"/>
            </a:xfrm>
            <a:prstGeom prst="rect">
              <a:avLst/>
            </a:prstGeom>
          </p:spPr>
        </p:pic>
        <p:pic>
          <p:nvPicPr>
            <p:cNvPr id="5" name="图片 4" descr="PC.png">
              <a:extLst>
                <a:ext uri="{FF2B5EF4-FFF2-40B4-BE49-F238E27FC236}">
                  <a16:creationId xmlns:a16="http://schemas.microsoft.com/office/drawing/2014/main" id="{861429D6-57F7-48AC-944C-0E5ED29FE79F}"/>
                </a:ext>
              </a:extLst>
            </p:cNvPr>
            <p:cNvPicPr>
              <a:picLocks noChangeAspect="1"/>
            </p:cNvPicPr>
            <p:nvPr/>
          </p:nvPicPr>
          <p:blipFill>
            <a:blip r:embed="rId4" cstate="print"/>
            <a:stretch>
              <a:fillRect/>
            </a:stretch>
          </p:blipFill>
          <p:spPr bwMode="gray">
            <a:xfrm>
              <a:off x="1729899" y="3819879"/>
              <a:ext cx="539063" cy="414000"/>
            </a:xfrm>
            <a:prstGeom prst="rect">
              <a:avLst/>
            </a:prstGeom>
          </p:spPr>
        </p:pic>
        <p:pic>
          <p:nvPicPr>
            <p:cNvPr id="11" name="图片 10" descr="PC.png">
              <a:extLst>
                <a:ext uri="{FF2B5EF4-FFF2-40B4-BE49-F238E27FC236}">
                  <a16:creationId xmlns:a16="http://schemas.microsoft.com/office/drawing/2014/main" id="{5266353E-6FE3-4A44-B586-E20EABF1EC25}"/>
                </a:ext>
              </a:extLst>
            </p:cNvPr>
            <p:cNvPicPr>
              <a:picLocks noChangeAspect="1"/>
            </p:cNvPicPr>
            <p:nvPr/>
          </p:nvPicPr>
          <p:blipFill>
            <a:blip r:embed="rId4" cstate="print"/>
            <a:stretch>
              <a:fillRect/>
            </a:stretch>
          </p:blipFill>
          <p:spPr bwMode="gray">
            <a:xfrm>
              <a:off x="3805851" y="3828860"/>
              <a:ext cx="539063" cy="414000"/>
            </a:xfrm>
            <a:prstGeom prst="rect">
              <a:avLst/>
            </a:prstGeom>
          </p:spPr>
        </p:pic>
        <p:cxnSp>
          <p:nvCxnSpPr>
            <p:cNvPr id="12" name="直接连接符 11">
              <a:extLst>
                <a:ext uri="{FF2B5EF4-FFF2-40B4-BE49-F238E27FC236}">
                  <a16:creationId xmlns:a16="http://schemas.microsoft.com/office/drawing/2014/main" id="{8C815446-8A1F-494B-BC2D-C08CC1AD7B9E}"/>
                </a:ext>
              </a:extLst>
            </p:cNvPr>
            <p:cNvCxnSpPr>
              <a:cxnSpLocks/>
              <a:stCxn id="5" idx="0"/>
              <a:endCxn id="4" idx="2"/>
            </p:cNvCxnSpPr>
            <p:nvPr/>
          </p:nvCxnSpPr>
          <p:spPr bwMode="gray">
            <a:xfrm flipH="1" flipV="1">
              <a:off x="1999430" y="3334310"/>
              <a:ext cx="1" cy="4855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A16F311A-A57B-414D-80F9-0ABA6B6CE554}"/>
                </a:ext>
              </a:extLst>
            </p:cNvPr>
            <p:cNvCxnSpPr>
              <a:cxnSpLocks/>
              <a:stCxn id="11" idx="0"/>
            </p:cNvCxnSpPr>
            <p:nvPr/>
          </p:nvCxnSpPr>
          <p:spPr bwMode="gray">
            <a:xfrm flipV="1">
              <a:off x="4075383" y="3334310"/>
              <a:ext cx="468" cy="4945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6BA187EF-82A0-4B65-8645-1796EF86318E}"/>
                </a:ext>
              </a:extLst>
            </p:cNvPr>
            <p:cNvSpPr txBox="1"/>
            <p:nvPr/>
          </p:nvSpPr>
          <p:spPr bwMode="gray">
            <a:xfrm>
              <a:off x="1302598" y="4290999"/>
              <a:ext cx="1489510" cy="307777"/>
            </a:xfrm>
            <a:prstGeom prst="rect">
              <a:avLst/>
            </a:prstGeom>
          </p:spPr>
          <p:txBody>
            <a:bodyPr wrap="none" rtlCol="0">
              <a:spAutoFit/>
            </a:bodyPr>
            <a:lstStyle/>
            <a:p>
              <a:pPr algn="l"/>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192.168.1.10/24</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a:extLst>
                <a:ext uri="{FF2B5EF4-FFF2-40B4-BE49-F238E27FC236}">
                  <a16:creationId xmlns:a16="http://schemas.microsoft.com/office/drawing/2014/main" id="{875F33D5-C123-4289-8446-CF2FFBCF0295}"/>
                </a:ext>
              </a:extLst>
            </p:cNvPr>
            <p:cNvSpPr txBox="1"/>
            <p:nvPr/>
          </p:nvSpPr>
          <p:spPr bwMode="gray">
            <a:xfrm>
              <a:off x="3330627" y="4299980"/>
              <a:ext cx="1489510" cy="307777"/>
            </a:xfrm>
            <a:prstGeom prst="rect">
              <a:avLst/>
            </a:prstGeom>
          </p:spPr>
          <p:txBody>
            <a:bodyPr wrap="none" rtlCol="0">
              <a:spAutoFit/>
            </a:bodyPr>
            <a:lstStyle/>
            <a:p>
              <a:pPr algn="l"/>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192.168.2.10/24</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29">
              <a:extLst>
                <a:ext uri="{FF2B5EF4-FFF2-40B4-BE49-F238E27FC236}">
                  <a16:creationId xmlns:a16="http://schemas.microsoft.com/office/drawing/2014/main" id="{0DDDFB6F-125E-4C45-9747-F83580F9E5FD}"/>
                </a:ext>
              </a:extLst>
            </p:cNvPr>
            <p:cNvSpPr txBox="1"/>
            <p:nvPr/>
          </p:nvSpPr>
          <p:spPr bwMode="gray">
            <a:xfrm>
              <a:off x="2209142" y="2822696"/>
              <a:ext cx="984565" cy="523220"/>
            </a:xfrm>
            <a:prstGeom prst="rect">
              <a:avLst/>
            </a:prstGeom>
          </p:spPr>
          <p:txBody>
            <a:bodyPr wrap="non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VTEP</a:t>
              </a:r>
            </a:p>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1.1.1.1/32</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文本框 30">
              <a:extLst>
                <a:ext uri="{FF2B5EF4-FFF2-40B4-BE49-F238E27FC236}">
                  <a16:creationId xmlns:a16="http://schemas.microsoft.com/office/drawing/2014/main" id="{7ED72902-FB9C-475D-A507-DA6800901859}"/>
                </a:ext>
              </a:extLst>
            </p:cNvPr>
            <p:cNvSpPr txBox="1"/>
            <p:nvPr/>
          </p:nvSpPr>
          <p:spPr bwMode="gray">
            <a:xfrm>
              <a:off x="4320372" y="2851300"/>
              <a:ext cx="984565" cy="523220"/>
            </a:xfrm>
            <a:prstGeom prst="rect">
              <a:avLst/>
            </a:prstGeom>
          </p:spPr>
          <p:txBody>
            <a:bodyPr wrap="non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VTEP</a:t>
              </a:r>
            </a:p>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2.2.2.2/32</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a:extLst>
                <a:ext uri="{FF2B5EF4-FFF2-40B4-BE49-F238E27FC236}">
                  <a16:creationId xmlns:a16="http://schemas.microsoft.com/office/drawing/2014/main" id="{DA87D7D9-4F51-481D-85E2-950866817404}"/>
                </a:ext>
              </a:extLst>
            </p:cNvPr>
            <p:cNvSpPr txBox="1"/>
            <p:nvPr/>
          </p:nvSpPr>
          <p:spPr bwMode="gray">
            <a:xfrm>
              <a:off x="3224335" y="3345895"/>
              <a:ext cx="851516" cy="307777"/>
            </a:xfrm>
            <a:prstGeom prst="rect">
              <a:avLst/>
            </a:prstGeom>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GE1/0/1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39">
              <a:extLst>
                <a:ext uri="{FF2B5EF4-FFF2-40B4-BE49-F238E27FC236}">
                  <a16:creationId xmlns:a16="http://schemas.microsoft.com/office/drawing/2014/main" id="{FECF0FA8-698D-454B-933A-64BEB4731B04}"/>
                </a:ext>
              </a:extLst>
            </p:cNvPr>
            <p:cNvSpPr txBox="1"/>
            <p:nvPr/>
          </p:nvSpPr>
          <p:spPr bwMode="gray">
            <a:xfrm>
              <a:off x="1182502" y="2973649"/>
              <a:ext cx="575800" cy="307777"/>
            </a:xfrm>
            <a:prstGeom prst="rect">
              <a:avLst/>
            </a:prstGeom>
          </p:spPr>
          <p:txBody>
            <a:bodyPr wrap="none" rtlCol="0">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40">
              <a:extLst>
                <a:ext uri="{FF2B5EF4-FFF2-40B4-BE49-F238E27FC236}">
                  <a16:creationId xmlns:a16="http://schemas.microsoft.com/office/drawing/2014/main" id="{6D47B989-D254-4D49-9B4C-DF02C0C778E2}"/>
                </a:ext>
              </a:extLst>
            </p:cNvPr>
            <p:cNvSpPr txBox="1"/>
            <p:nvPr/>
          </p:nvSpPr>
          <p:spPr bwMode="gray">
            <a:xfrm>
              <a:off x="3284248" y="2959021"/>
              <a:ext cx="575800" cy="307777"/>
            </a:xfrm>
            <a:prstGeom prst="rect">
              <a:avLst/>
            </a:prstGeom>
          </p:spPr>
          <p:txBody>
            <a:bodyPr wrap="none" rtlCol="0">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文本框 47">
              <a:extLst>
                <a:ext uri="{FF2B5EF4-FFF2-40B4-BE49-F238E27FC236}">
                  <a16:creationId xmlns:a16="http://schemas.microsoft.com/office/drawing/2014/main" id="{6EDC7BF4-7552-460A-912B-B4B46F33579E}"/>
                </a:ext>
              </a:extLst>
            </p:cNvPr>
            <p:cNvSpPr txBox="1"/>
            <p:nvPr/>
          </p:nvSpPr>
          <p:spPr bwMode="gray">
            <a:xfrm>
              <a:off x="1152099" y="3318433"/>
              <a:ext cx="851516" cy="307777"/>
            </a:xfrm>
            <a:prstGeom prst="rect">
              <a:avLst/>
            </a:prstGeom>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GE1/0/1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文本框 48">
              <a:extLst>
                <a:ext uri="{FF2B5EF4-FFF2-40B4-BE49-F238E27FC236}">
                  <a16:creationId xmlns:a16="http://schemas.microsoft.com/office/drawing/2014/main" id="{9C98FC4F-C68D-423B-926D-A84DE87F4271}"/>
                </a:ext>
              </a:extLst>
            </p:cNvPr>
            <p:cNvSpPr txBox="1"/>
            <p:nvPr/>
          </p:nvSpPr>
          <p:spPr bwMode="gray">
            <a:xfrm>
              <a:off x="2174303" y="1854071"/>
              <a:ext cx="575800" cy="307777"/>
            </a:xfrm>
            <a:prstGeom prst="rect">
              <a:avLst/>
            </a:prstGeom>
          </p:spPr>
          <p:txBody>
            <a:bodyPr wrap="none" rtlCol="0">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文本框 49">
              <a:extLst>
                <a:ext uri="{FF2B5EF4-FFF2-40B4-BE49-F238E27FC236}">
                  <a16:creationId xmlns:a16="http://schemas.microsoft.com/office/drawing/2014/main" id="{C7E5DCCD-1CD1-46FA-9F41-81282ED596B5}"/>
                </a:ext>
              </a:extLst>
            </p:cNvPr>
            <p:cNvSpPr txBox="1"/>
            <p:nvPr/>
          </p:nvSpPr>
          <p:spPr bwMode="gray">
            <a:xfrm>
              <a:off x="3231443" y="1751233"/>
              <a:ext cx="984565" cy="523220"/>
            </a:xfrm>
            <a:prstGeom prst="rect">
              <a:avLst/>
            </a:prstGeom>
          </p:spPr>
          <p:txBody>
            <a:bodyPr wrap="non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VTEP</a:t>
              </a:r>
            </a:p>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3.3.3.3/32</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文本框 51">
              <a:extLst>
                <a:ext uri="{FF2B5EF4-FFF2-40B4-BE49-F238E27FC236}">
                  <a16:creationId xmlns:a16="http://schemas.microsoft.com/office/drawing/2014/main" id="{40EAA19D-966B-4C9F-93E0-10E3587249B8}"/>
                </a:ext>
              </a:extLst>
            </p:cNvPr>
            <p:cNvSpPr txBox="1"/>
            <p:nvPr/>
          </p:nvSpPr>
          <p:spPr bwMode="gray">
            <a:xfrm>
              <a:off x="924065" y="1821438"/>
              <a:ext cx="1157689" cy="738664"/>
            </a:xfrm>
            <a:prstGeom prst="rect">
              <a:avLst/>
            </a:prstGeom>
          </p:spPr>
          <p:txBody>
            <a:bodyPr wrap="none" rtlCol="0">
              <a:spAutoFit/>
            </a:bodyPr>
            <a:lstStyle/>
            <a:p>
              <a:pPr algn="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BD 100</a:t>
              </a:r>
            </a:p>
            <a:p>
              <a:pPr algn="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VNI 10000</a:t>
              </a:r>
            </a:p>
            <a:p>
              <a:pPr algn="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192.168.1.1</a:t>
              </a:r>
            </a:p>
          </p:txBody>
        </p:sp>
        <p:sp>
          <p:nvSpPr>
            <p:cNvPr id="53" name="文本框 52">
              <a:extLst>
                <a:ext uri="{FF2B5EF4-FFF2-40B4-BE49-F238E27FC236}">
                  <a16:creationId xmlns:a16="http://schemas.microsoft.com/office/drawing/2014/main" id="{A276A709-979E-4B5F-A173-F6E4B00971C3}"/>
                </a:ext>
              </a:extLst>
            </p:cNvPr>
            <p:cNvSpPr txBox="1"/>
            <p:nvPr/>
          </p:nvSpPr>
          <p:spPr bwMode="gray">
            <a:xfrm>
              <a:off x="4193051" y="1789482"/>
              <a:ext cx="1157689" cy="738664"/>
            </a:xfrm>
            <a:prstGeom prst="rect">
              <a:avLst/>
            </a:prstGeom>
          </p:spPr>
          <p:txBody>
            <a:bodyPr wrap="none" rtlCol="0">
              <a:spAutoFit/>
            </a:bodyPr>
            <a:lstStyle/>
            <a:p>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BD 200</a:t>
              </a:r>
            </a:p>
            <a:p>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VNI 20000</a:t>
              </a:r>
            </a:p>
            <a:p>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192.168.2.1</a:t>
              </a:r>
              <a:endPar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4" name="图片 53">
              <a:extLst>
                <a:ext uri="{FF2B5EF4-FFF2-40B4-BE49-F238E27FC236}">
                  <a16:creationId xmlns:a16="http://schemas.microsoft.com/office/drawing/2014/main" id="{7EE736AC-84C2-41EA-AFA9-F070DA822AD4}"/>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3793651" y="2885718"/>
              <a:ext cx="540000" cy="442800"/>
            </a:xfrm>
            <a:prstGeom prst="rect">
              <a:avLst/>
            </a:prstGeom>
          </p:spPr>
        </p:pic>
        <p:grpSp>
          <p:nvGrpSpPr>
            <p:cNvPr id="26" name="组合 25">
              <a:extLst>
                <a:ext uri="{FF2B5EF4-FFF2-40B4-BE49-F238E27FC236}">
                  <a16:creationId xmlns:a16="http://schemas.microsoft.com/office/drawing/2014/main" id="{53883D9F-4106-4C96-8BCF-E97680AB1B62}"/>
                </a:ext>
              </a:extLst>
            </p:cNvPr>
            <p:cNvGrpSpPr/>
            <p:nvPr/>
          </p:nvGrpSpPr>
          <p:grpSpPr bwMode="gray">
            <a:xfrm>
              <a:off x="2753067" y="1781239"/>
              <a:ext cx="540247" cy="451523"/>
              <a:chOff x="3665233" y="5134405"/>
              <a:chExt cx="540247" cy="451523"/>
            </a:xfrm>
          </p:grpSpPr>
          <p:pic>
            <p:nvPicPr>
              <p:cNvPr id="55" name="图片 54">
                <a:extLst>
                  <a:ext uri="{FF2B5EF4-FFF2-40B4-BE49-F238E27FC236}">
                    <a16:creationId xmlns:a16="http://schemas.microsoft.com/office/drawing/2014/main" id="{5D417DFC-75AC-4F44-842B-89F13CA1E508}"/>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3665480" y="5134405"/>
                <a:ext cx="540000" cy="442800"/>
              </a:xfrm>
              <a:prstGeom prst="rect">
                <a:avLst/>
              </a:prstGeom>
            </p:spPr>
          </p:pic>
          <p:pic>
            <p:nvPicPr>
              <p:cNvPr id="56" name="图片 55">
                <a:extLst>
                  <a:ext uri="{FF2B5EF4-FFF2-40B4-BE49-F238E27FC236}">
                    <a16:creationId xmlns:a16="http://schemas.microsoft.com/office/drawing/2014/main" id="{77045C62-75F6-4E04-B030-0B22E1351F72}"/>
                  </a:ext>
                </a:extLst>
              </p:cNvPr>
              <p:cNvPicPr>
                <a:picLocks/>
              </p:cNvPicPr>
              <p:nvPr/>
            </p:nvPicPr>
            <p:blipFill rotWithShape="1">
              <a:blip r:embed="rId3" cstate="print">
                <a:extLst>
                  <a:ext uri="{28A0092B-C50C-407E-A947-70E740481C1C}">
                    <a14:useLocalDpi xmlns:a14="http://schemas.microsoft.com/office/drawing/2010/main" val="0"/>
                  </a:ext>
                </a:extLst>
              </a:blip>
              <a:srcRect r="47919"/>
              <a:stretch/>
            </p:blipFill>
            <p:spPr bwMode="gray">
              <a:xfrm>
                <a:off x="3665233" y="5143128"/>
                <a:ext cx="281235" cy="442800"/>
              </a:xfrm>
              <a:prstGeom prst="rect">
                <a:avLst/>
              </a:prstGeom>
            </p:spPr>
          </p:pic>
        </p:grpSp>
      </p:grpSp>
      <p:sp>
        <p:nvSpPr>
          <p:cNvPr id="60" name="文本框 59">
            <a:extLst>
              <a:ext uri="{FF2B5EF4-FFF2-40B4-BE49-F238E27FC236}">
                <a16:creationId xmlns:a16="http://schemas.microsoft.com/office/drawing/2014/main" id="{D5191619-510F-4EA4-AFF7-59194DD4B8B0}"/>
              </a:ext>
            </a:extLst>
          </p:cNvPr>
          <p:cNvSpPr txBox="1"/>
          <p:nvPr/>
        </p:nvSpPr>
        <p:spPr bwMode="gray">
          <a:xfrm>
            <a:off x="731838" y="5446895"/>
            <a:ext cx="5364162" cy="707886"/>
          </a:xfrm>
          <a:prstGeom prst="rect">
            <a:avLst/>
          </a:prstGeom>
          <a:noFill/>
        </p:spPr>
        <p:txBody>
          <a:bodyPr wrap="square" rtlCol="0">
            <a:spAutoFit/>
          </a:bodyPr>
          <a:lstStyle/>
          <a:p>
            <a:pPr marL="185738" indent="-185738" algn="just" fontAlgn="auto">
              <a:lnSpc>
                <a:spcPts val="2400"/>
              </a:lnSpc>
              <a:spcBef>
                <a:spcPts val="0"/>
              </a:spcBef>
              <a:spcAft>
                <a:spcPts val="600"/>
              </a:spcAft>
              <a:buFont typeface="Arial" panose="020B0604020202020204" pitchFamily="34" charset="0"/>
              <a:buChar char="•"/>
            </a:pP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三台交换机配置</a:t>
            </a:r>
            <a:r>
              <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隧道，实现跨网段两台</a:t>
            </a:r>
            <a:r>
              <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PC</a:t>
            </a: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之间的互访。</a:t>
            </a:r>
            <a:r>
              <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网关集中在</a:t>
            </a:r>
            <a:r>
              <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文本框 60">
            <a:extLst>
              <a:ext uri="{FF2B5EF4-FFF2-40B4-BE49-F238E27FC236}">
                <a16:creationId xmlns:a16="http://schemas.microsoft.com/office/drawing/2014/main" id="{325C47B2-091F-4040-AA35-B300E1689F83}"/>
              </a:ext>
            </a:extLst>
          </p:cNvPr>
          <p:cNvSpPr txBox="1"/>
          <p:nvPr/>
        </p:nvSpPr>
        <p:spPr bwMode="gray">
          <a:xfrm>
            <a:off x="6439408" y="1627179"/>
            <a:ext cx="4314412" cy="523220"/>
          </a:xfrm>
          <a:prstGeom prst="rect">
            <a:avLst/>
          </a:prstGeom>
          <a:solidFill>
            <a:schemeClr val="bg1">
              <a:lumMod val="85000"/>
            </a:schemeClr>
          </a:solidFill>
        </p:spPr>
        <p:txBody>
          <a:bodyPr wrap="square" rtlCol="0">
            <a:spAutoFit/>
          </a:bodyPr>
          <a:lstStyle>
            <a:defPPr>
              <a:defRPr lang="en-US"/>
            </a:defPPr>
            <a:lvl1pPr fontAlgn="auto">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r>
              <a:rPr lang="en-US" altLang="zh-CN">
                <a:sym typeface="Huawei Sans" panose="020C0503030203020204" pitchFamily="34" charset="0"/>
              </a:rPr>
              <a:t>[SW1] bridge-domain 100</a:t>
            </a:r>
          </a:p>
          <a:p>
            <a:r>
              <a:rPr lang="en-US" altLang="zh-CN">
                <a:sym typeface="Huawei Sans" panose="020C0503030203020204" pitchFamily="34" charset="0"/>
              </a:rPr>
              <a:t>[SW1-bd100] vxlan vni 10000</a:t>
            </a:r>
          </a:p>
        </p:txBody>
      </p:sp>
      <p:sp>
        <p:nvSpPr>
          <p:cNvPr id="62" name="文本框 61">
            <a:extLst>
              <a:ext uri="{FF2B5EF4-FFF2-40B4-BE49-F238E27FC236}">
                <a16:creationId xmlns:a16="http://schemas.microsoft.com/office/drawing/2014/main" id="{65487F79-6EAD-4C28-A8F2-F2E54887A697}"/>
              </a:ext>
            </a:extLst>
          </p:cNvPr>
          <p:cNvSpPr txBox="1"/>
          <p:nvPr/>
        </p:nvSpPr>
        <p:spPr bwMode="gray">
          <a:xfrm>
            <a:off x="6435525" y="2337826"/>
            <a:ext cx="4314412" cy="738664"/>
          </a:xfrm>
          <a:prstGeom prst="rect">
            <a:avLst/>
          </a:prstGeom>
          <a:solidFill>
            <a:schemeClr val="bg1">
              <a:lumMod val="85000"/>
            </a:schemeClr>
          </a:solidFill>
        </p:spPr>
        <p:txBody>
          <a:bodyPr wrap="square" rtlCol="0">
            <a:spAutoFit/>
          </a:bodyPr>
          <a:lstStyle>
            <a:defPPr>
              <a:defRPr lang="en-US"/>
            </a:defPPr>
            <a:lvl1pPr fontAlgn="auto">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r>
              <a:rPr lang="en-US" altLang="zh-CN" dirty="0">
                <a:sym typeface="Huawei Sans" panose="020C0503030203020204" pitchFamily="34" charset="0"/>
              </a:rPr>
              <a:t>[SW1] interface </a:t>
            </a:r>
            <a:r>
              <a:rPr lang="en-US" altLang="zh-CN" dirty="0" err="1">
                <a:sym typeface="Huawei Sans" panose="020C0503030203020204" pitchFamily="34" charset="0"/>
              </a:rPr>
              <a:t>Nve</a:t>
            </a:r>
            <a:r>
              <a:rPr lang="en-US" altLang="zh-CN" dirty="0">
                <a:sym typeface="Huawei Sans" panose="020C0503030203020204" pitchFamily="34" charset="0"/>
              </a:rPr>
              <a:t> 1</a:t>
            </a:r>
          </a:p>
          <a:p>
            <a:r>
              <a:rPr lang="en-US" altLang="zh-CN" dirty="0">
                <a:sym typeface="Huawei Sans" panose="020C0503030203020204" pitchFamily="34" charset="0"/>
              </a:rPr>
              <a:t>[SW1-Nve1] source 1.1.1.1</a:t>
            </a:r>
          </a:p>
          <a:p>
            <a:r>
              <a:rPr lang="en-US" altLang="zh-CN" dirty="0">
                <a:sym typeface="Huawei Sans" panose="020C0503030203020204" pitchFamily="34" charset="0"/>
              </a:rPr>
              <a:t>[SW1-Nve1] </a:t>
            </a:r>
            <a:r>
              <a:rPr lang="en-US" altLang="zh-CN" dirty="0" err="1">
                <a:sym typeface="Huawei Sans" panose="020C0503030203020204" pitchFamily="34" charset="0"/>
              </a:rPr>
              <a:t>vni</a:t>
            </a:r>
            <a:r>
              <a:rPr lang="en-US" altLang="zh-CN" dirty="0">
                <a:sym typeface="Huawei Sans" panose="020C0503030203020204" pitchFamily="34" charset="0"/>
              </a:rPr>
              <a:t> 10000 head-end peer-list 3.3.3.3</a:t>
            </a:r>
          </a:p>
        </p:txBody>
      </p:sp>
      <p:sp>
        <p:nvSpPr>
          <p:cNvPr id="63" name="文本框 62">
            <a:extLst>
              <a:ext uri="{FF2B5EF4-FFF2-40B4-BE49-F238E27FC236}">
                <a16:creationId xmlns:a16="http://schemas.microsoft.com/office/drawing/2014/main" id="{58E2BD8C-F816-4711-83DC-91B7A452E982}"/>
              </a:ext>
            </a:extLst>
          </p:cNvPr>
          <p:cNvSpPr txBox="1"/>
          <p:nvPr/>
        </p:nvSpPr>
        <p:spPr bwMode="gray">
          <a:xfrm>
            <a:off x="6435525" y="1253859"/>
            <a:ext cx="171232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 </a:t>
            </a:r>
            <a:r>
              <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配置如下：</a:t>
            </a:r>
          </a:p>
        </p:txBody>
      </p:sp>
      <p:sp>
        <p:nvSpPr>
          <p:cNvPr id="64" name="文本框 63">
            <a:extLst>
              <a:ext uri="{FF2B5EF4-FFF2-40B4-BE49-F238E27FC236}">
                <a16:creationId xmlns:a16="http://schemas.microsoft.com/office/drawing/2014/main" id="{3289979F-2640-442E-83D6-5F4E675DEA4A}"/>
              </a:ext>
            </a:extLst>
          </p:cNvPr>
          <p:cNvSpPr txBox="1"/>
          <p:nvPr/>
        </p:nvSpPr>
        <p:spPr bwMode="gray">
          <a:xfrm>
            <a:off x="6403783" y="3356986"/>
            <a:ext cx="171232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 </a:t>
            </a:r>
            <a:r>
              <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配置如下：</a:t>
            </a:r>
          </a:p>
        </p:txBody>
      </p:sp>
      <p:sp>
        <p:nvSpPr>
          <p:cNvPr id="65" name="文本框 64">
            <a:extLst>
              <a:ext uri="{FF2B5EF4-FFF2-40B4-BE49-F238E27FC236}">
                <a16:creationId xmlns:a16="http://schemas.microsoft.com/office/drawing/2014/main" id="{BB7C3A2E-2A53-4542-B0A8-99D02049D2AB}"/>
              </a:ext>
            </a:extLst>
          </p:cNvPr>
          <p:cNvSpPr txBox="1"/>
          <p:nvPr/>
        </p:nvSpPr>
        <p:spPr bwMode="gray">
          <a:xfrm>
            <a:off x="6466452" y="3705947"/>
            <a:ext cx="4314412" cy="523220"/>
          </a:xfrm>
          <a:prstGeom prst="rect">
            <a:avLst/>
          </a:prstGeom>
          <a:solidFill>
            <a:schemeClr val="bg1">
              <a:lumMod val="85000"/>
            </a:schemeClr>
          </a:solidFill>
        </p:spPr>
        <p:txBody>
          <a:bodyPr wrap="square" rtlCol="0">
            <a:spAutoFit/>
          </a:bodyPr>
          <a:lstStyle>
            <a:defPPr>
              <a:defRPr lang="en-US"/>
            </a:defPPr>
            <a:lvl1pPr fontAlgn="auto">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r>
              <a:rPr lang="en-US" altLang="zh-CN">
                <a:sym typeface="Huawei Sans" panose="020C0503030203020204" pitchFamily="34" charset="0"/>
              </a:rPr>
              <a:t>[SW2] bridge-domain 200</a:t>
            </a:r>
          </a:p>
          <a:p>
            <a:r>
              <a:rPr lang="en-US" altLang="zh-CN">
                <a:sym typeface="Huawei Sans" panose="020C0503030203020204" pitchFamily="34" charset="0"/>
              </a:rPr>
              <a:t>[SW2-bd100] vxlan vni 20000</a:t>
            </a:r>
          </a:p>
        </p:txBody>
      </p:sp>
      <p:sp>
        <p:nvSpPr>
          <p:cNvPr id="66" name="文本框 65">
            <a:extLst>
              <a:ext uri="{FF2B5EF4-FFF2-40B4-BE49-F238E27FC236}">
                <a16:creationId xmlns:a16="http://schemas.microsoft.com/office/drawing/2014/main" id="{3A15AFE1-844F-4E2D-9F3F-3244A8326326}"/>
              </a:ext>
            </a:extLst>
          </p:cNvPr>
          <p:cNvSpPr txBox="1"/>
          <p:nvPr/>
        </p:nvSpPr>
        <p:spPr bwMode="gray">
          <a:xfrm>
            <a:off x="6462569" y="4407743"/>
            <a:ext cx="4314412" cy="738664"/>
          </a:xfrm>
          <a:prstGeom prst="rect">
            <a:avLst/>
          </a:prstGeom>
          <a:solidFill>
            <a:schemeClr val="bg1">
              <a:lumMod val="85000"/>
            </a:schemeClr>
          </a:solidFill>
        </p:spPr>
        <p:txBody>
          <a:bodyPr wrap="square" rtlCol="0">
            <a:spAutoFit/>
          </a:bodyPr>
          <a:lstStyle>
            <a:defPPr>
              <a:defRPr lang="en-US"/>
            </a:defPPr>
            <a:lvl1pPr fontAlgn="auto">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r>
              <a:rPr lang="en-US" altLang="zh-CN" dirty="0">
                <a:sym typeface="Huawei Sans" panose="020C0503030203020204" pitchFamily="34" charset="0"/>
              </a:rPr>
              <a:t>[SW2] interface </a:t>
            </a:r>
            <a:r>
              <a:rPr lang="en-US" altLang="zh-CN" dirty="0" err="1">
                <a:sym typeface="Huawei Sans" panose="020C0503030203020204" pitchFamily="34" charset="0"/>
              </a:rPr>
              <a:t>Nve</a:t>
            </a:r>
            <a:r>
              <a:rPr lang="en-US" altLang="zh-CN" dirty="0">
                <a:sym typeface="Huawei Sans" panose="020C0503030203020204" pitchFamily="34" charset="0"/>
              </a:rPr>
              <a:t> 1</a:t>
            </a:r>
          </a:p>
          <a:p>
            <a:r>
              <a:rPr lang="en-US" altLang="zh-CN" dirty="0">
                <a:sym typeface="Huawei Sans" panose="020C0503030203020204" pitchFamily="34" charset="0"/>
              </a:rPr>
              <a:t>[SW2-Nve1] source 2.2.2.2</a:t>
            </a:r>
          </a:p>
          <a:p>
            <a:r>
              <a:rPr lang="en-US" altLang="zh-CN" dirty="0">
                <a:sym typeface="Huawei Sans" panose="020C0503030203020204" pitchFamily="34" charset="0"/>
              </a:rPr>
              <a:t>[SW2-Nve1] </a:t>
            </a:r>
            <a:r>
              <a:rPr lang="en-US" altLang="zh-CN" dirty="0" err="1">
                <a:sym typeface="Huawei Sans" panose="020C0503030203020204" pitchFamily="34" charset="0"/>
              </a:rPr>
              <a:t>vni</a:t>
            </a:r>
            <a:r>
              <a:rPr lang="en-US" altLang="zh-CN" dirty="0">
                <a:sym typeface="Huawei Sans" panose="020C0503030203020204" pitchFamily="34" charset="0"/>
              </a:rPr>
              <a:t> 20000 head-end peer-list 3.3.3.3</a:t>
            </a:r>
          </a:p>
        </p:txBody>
      </p:sp>
      <p:grpSp>
        <p:nvGrpSpPr>
          <p:cNvPr id="6" name="组合 5"/>
          <p:cNvGrpSpPr/>
          <p:nvPr/>
        </p:nvGrpSpPr>
        <p:grpSpPr bwMode="gray">
          <a:xfrm>
            <a:off x="889747" y="1392596"/>
            <a:ext cx="5053105" cy="346713"/>
            <a:chOff x="701519" y="1392596"/>
            <a:chExt cx="5053105" cy="346713"/>
          </a:xfrm>
        </p:grpSpPr>
        <p:sp>
          <p:nvSpPr>
            <p:cNvPr id="57" name="圆角矩形 11">
              <a:extLst>
                <a:ext uri="{FF2B5EF4-FFF2-40B4-BE49-F238E27FC236}">
                  <a16:creationId xmlns:a16="http://schemas.microsoft.com/office/drawing/2014/main" id="{A530A80B-5459-430F-A92E-36DDC5CBF36E}"/>
                </a:ext>
              </a:extLst>
            </p:cNvPr>
            <p:cNvSpPr/>
            <p:nvPr/>
          </p:nvSpPr>
          <p:spPr bwMode="gray">
            <a:xfrm>
              <a:off x="701519" y="1394206"/>
              <a:ext cx="1697901" cy="345103"/>
            </a:xfrm>
            <a:prstGeom prst="roundRect">
              <a:avLst>
                <a:gd name="adj" fmla="val 4298"/>
              </a:avLst>
            </a:prstGeom>
            <a:solidFill>
              <a:srgbClr val="30B5C5"/>
            </a:solidFill>
            <a:ln w="19050">
              <a:noFill/>
            </a:ln>
          </p:spPr>
          <p:txBody>
            <a:bodyPr wrap="none" rtlCol="0">
              <a:spAutoFit/>
            </a:bodyPr>
            <a:lstStyle/>
            <a:p>
              <a:r>
                <a:rPr lang="zh-CN" altLang="en-US" sz="16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6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a:t>
              </a:r>
              <a:endParaRPr lang="zh-CN" altLang="en-US"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圆角矩形 12">
              <a:extLst>
                <a:ext uri="{FF2B5EF4-FFF2-40B4-BE49-F238E27FC236}">
                  <a16:creationId xmlns:a16="http://schemas.microsoft.com/office/drawing/2014/main" id="{BF66EED3-14C7-47F2-BE4B-668C44EA9E42}"/>
                </a:ext>
              </a:extLst>
            </p:cNvPr>
            <p:cNvSpPr/>
            <p:nvPr/>
          </p:nvSpPr>
          <p:spPr bwMode="gray">
            <a:xfrm>
              <a:off x="2832919" y="1392596"/>
              <a:ext cx="1458666" cy="346713"/>
            </a:xfrm>
            <a:prstGeom prst="roundRect">
              <a:avLst>
                <a:gd name="adj" fmla="val 4298"/>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zh-CN" altLang="en-US"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配置业务接入</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9" name="直接箭头连接符 58">
              <a:extLst>
                <a:ext uri="{FF2B5EF4-FFF2-40B4-BE49-F238E27FC236}">
                  <a16:creationId xmlns:a16="http://schemas.microsoft.com/office/drawing/2014/main" id="{03926C8B-E8A1-47EC-85CE-802A0447CA81}"/>
                </a:ext>
              </a:extLst>
            </p:cNvPr>
            <p:cNvCxnSpPr>
              <a:cxnSpLocks/>
              <a:stCxn id="57" idx="3"/>
              <a:endCxn id="58" idx="1"/>
            </p:cNvCxnSpPr>
            <p:nvPr/>
          </p:nvCxnSpPr>
          <p:spPr bwMode="gray">
            <a:xfrm flipV="1">
              <a:off x="2399420" y="1565953"/>
              <a:ext cx="433499" cy="805"/>
            </a:xfrm>
            <a:prstGeom prst="straightConnector1">
              <a:avLst/>
            </a:prstGeom>
            <a:noFill/>
            <a:ln w="19050" cap="flat" cmpd="sng" algn="ctr">
              <a:solidFill>
                <a:schemeClr val="tx1"/>
              </a:solidFill>
              <a:prstDash val="solid"/>
              <a:round/>
              <a:headEnd type="none" w="med" len="med"/>
              <a:tailEnd type="triangle"/>
            </a:ln>
            <a:effectLst/>
          </p:spPr>
        </p:cxnSp>
        <p:sp>
          <p:nvSpPr>
            <p:cNvPr id="68" name="圆角矩形 12">
              <a:extLst>
                <a:ext uri="{FF2B5EF4-FFF2-40B4-BE49-F238E27FC236}">
                  <a16:creationId xmlns:a16="http://schemas.microsoft.com/office/drawing/2014/main" id="{D5F80431-3FD2-47CD-B3AE-5ADA9457C0F4}"/>
                </a:ext>
              </a:extLst>
            </p:cNvPr>
            <p:cNvSpPr/>
            <p:nvPr/>
          </p:nvSpPr>
          <p:spPr bwMode="gray">
            <a:xfrm>
              <a:off x="4725084" y="1392596"/>
              <a:ext cx="1029540" cy="346713"/>
            </a:xfrm>
            <a:prstGeom prst="roundRect">
              <a:avLst>
                <a:gd name="adj" fmla="val 4298"/>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zh-CN" altLang="en-US"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配置网关</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9" name="直接箭头连接符 68">
              <a:extLst>
                <a:ext uri="{FF2B5EF4-FFF2-40B4-BE49-F238E27FC236}">
                  <a16:creationId xmlns:a16="http://schemas.microsoft.com/office/drawing/2014/main" id="{75D570F3-F017-4AE0-8853-2EB384525B55}"/>
                </a:ext>
              </a:extLst>
            </p:cNvPr>
            <p:cNvCxnSpPr>
              <a:cxnSpLocks/>
              <a:stCxn id="58" idx="3"/>
              <a:endCxn id="68" idx="1"/>
            </p:cNvCxnSpPr>
            <p:nvPr/>
          </p:nvCxnSpPr>
          <p:spPr bwMode="gray">
            <a:xfrm>
              <a:off x="4291585" y="1565953"/>
              <a:ext cx="433499" cy="0"/>
            </a:xfrm>
            <a:prstGeom prst="straightConnector1">
              <a:avLst/>
            </a:prstGeom>
            <a:noFill/>
            <a:ln w="19050" cap="flat" cmpd="sng" algn="ctr">
              <a:solidFill>
                <a:schemeClr val="tx1"/>
              </a:solidFill>
              <a:prstDash val="solid"/>
              <a:round/>
              <a:headEnd type="none" w="med" len="med"/>
              <a:tailEnd type="triangle"/>
            </a:ln>
            <a:effectLst/>
          </p:spPr>
        </p:cxnSp>
      </p:grpSp>
      <p:sp>
        <p:nvSpPr>
          <p:cNvPr id="71" name="文本框 70">
            <a:extLst>
              <a:ext uri="{FF2B5EF4-FFF2-40B4-BE49-F238E27FC236}">
                <a16:creationId xmlns:a16="http://schemas.microsoft.com/office/drawing/2014/main" id="{F76DCE7C-771F-4188-BD11-9803925E8DD4}"/>
              </a:ext>
            </a:extLst>
          </p:cNvPr>
          <p:cNvSpPr txBox="1"/>
          <p:nvPr/>
        </p:nvSpPr>
        <p:spPr bwMode="gray">
          <a:xfrm>
            <a:off x="6466452" y="5626638"/>
            <a:ext cx="2270173" cy="338554"/>
          </a:xfrm>
          <a:prstGeom prst="rect">
            <a:avLst/>
          </a:prstGeom>
          <a:solidFill>
            <a:srgbClr val="BEE9EE"/>
          </a:solidFill>
          <a:ln w="19050">
            <a:noFill/>
          </a:ln>
        </p:spPr>
        <p:txBody>
          <a:bodyPr wrap="none" rtlCol="0">
            <a:spAutoFit/>
          </a:bodyPr>
          <a:lstStyle>
            <a:defPPr>
              <a:defRPr lang="en-US"/>
            </a:defPPr>
            <a:lvl1pPr fontAlgn="auto">
              <a:spcBef>
                <a:spcPts val="0"/>
              </a:spcBef>
              <a:spcAft>
                <a:spcPts val="0"/>
              </a:spcAft>
              <a:defRPr sz="1600">
                <a:solidFill>
                  <a:prstClr val="black"/>
                </a:solidFill>
                <a:latin typeface="Huawei Sans" panose="020C0503030203020204" pitchFamily="34" charset="0"/>
                <a:ea typeface="方正兰亭黑简体" panose="02000000000000000000" pitchFamily="2" charset="-122"/>
              </a:defRPr>
            </a:lvl1pPr>
          </a:lstStyle>
          <a:p>
            <a:r>
              <a:rPr lang="zh-CN" altLang="en-US">
                <a:sym typeface="Huawei Sans" panose="020C0503030203020204" pitchFamily="34" charset="0"/>
              </a:rPr>
              <a:t>思考：</a:t>
            </a:r>
            <a:r>
              <a:rPr lang="en-US" altLang="zh-CN">
                <a:sym typeface="Huawei Sans" panose="020C0503030203020204" pitchFamily="34" charset="0"/>
              </a:rPr>
              <a:t>SW3</a:t>
            </a:r>
            <a:r>
              <a:rPr lang="zh-CN" altLang="en-US">
                <a:sym typeface="Huawei Sans" panose="020C0503030203020204" pitchFamily="34" charset="0"/>
              </a:rPr>
              <a:t>如何配置？</a:t>
            </a:r>
          </a:p>
        </p:txBody>
      </p:sp>
    </p:spTree>
    <p:extLst>
      <p:ext uri="{BB962C8B-B14F-4D97-AF65-F5344CB8AC3E}">
        <p14:creationId xmlns:p14="http://schemas.microsoft.com/office/powerpoint/2010/main" val="22478512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CE355C1-7171-434E-9B5B-0BD87FD7E892}"/>
              </a:ext>
            </a:extLst>
          </p:cNvPr>
          <p:cNvSpPr>
            <a:spLocks noGrp="1"/>
          </p:cNvSpPr>
          <p:nvPr>
            <p:ph type="title"/>
          </p:nvPr>
        </p:nvSpPr>
        <p:spPr bwMode="gray"/>
        <p:txBody>
          <a:bodyPr/>
          <a:lstStyle/>
          <a:p>
            <a:r>
              <a:rPr lang="zh-CN" altLang="en-US" dirty="0">
                <a:sym typeface="Huawei Sans" panose="020C0503030203020204" pitchFamily="34" charset="0"/>
              </a:rPr>
              <a:t>配置案例：不同子网互访 </a:t>
            </a:r>
            <a:r>
              <a:rPr lang="en-US" altLang="zh-CN" dirty="0">
                <a:sym typeface="Huawei Sans" panose="020C0503030203020204" pitchFamily="34" charset="0"/>
              </a:rPr>
              <a:t>(</a:t>
            </a:r>
            <a:r>
              <a:rPr lang="zh-CN" altLang="en-US" dirty="0">
                <a:sym typeface="Huawei Sans" panose="020C0503030203020204" pitchFamily="34" charset="0"/>
              </a:rPr>
              <a:t>集中式网关</a:t>
            </a:r>
            <a:r>
              <a:rPr lang="en-US" altLang="zh-CN" dirty="0">
                <a:sym typeface="Huawei Sans" panose="020C0503030203020204" pitchFamily="34" charset="0"/>
              </a:rPr>
              <a:t>)</a:t>
            </a:r>
            <a:r>
              <a:rPr lang="zh-CN" altLang="en-US" dirty="0">
                <a:sym typeface="Huawei Sans" panose="020C0503030203020204" pitchFamily="34" charset="0"/>
              </a:rPr>
              <a:t> </a:t>
            </a:r>
            <a:r>
              <a:rPr lang="en-US" altLang="zh-CN" dirty="0">
                <a:sym typeface="Huawei Sans" panose="020C0503030203020204" pitchFamily="34" charset="0"/>
              </a:rPr>
              <a:t>(2)</a:t>
            </a:r>
            <a:endParaRPr lang="zh-CN" altLang="en-US" dirty="0">
              <a:sym typeface="Huawei Sans" panose="020C0503030203020204" pitchFamily="34" charset="0"/>
            </a:endParaRPr>
          </a:p>
        </p:txBody>
      </p:sp>
      <p:grpSp>
        <p:nvGrpSpPr>
          <p:cNvPr id="43" name="组合 42">
            <a:extLst>
              <a:ext uri="{FF2B5EF4-FFF2-40B4-BE49-F238E27FC236}">
                <a16:creationId xmlns:a16="http://schemas.microsoft.com/office/drawing/2014/main" id="{BB9F8CFA-6EF2-45FC-A9DE-A8699569A0CF}"/>
              </a:ext>
            </a:extLst>
          </p:cNvPr>
          <p:cNvGrpSpPr/>
          <p:nvPr/>
        </p:nvGrpSpPr>
        <p:grpSpPr bwMode="gray">
          <a:xfrm>
            <a:off x="1145228" y="2015907"/>
            <a:ext cx="4542144" cy="3147453"/>
            <a:chOff x="895489" y="1566018"/>
            <a:chExt cx="4542144" cy="3147453"/>
          </a:xfrm>
        </p:grpSpPr>
        <p:sp>
          <p:nvSpPr>
            <p:cNvPr id="44" name="矩形: 圆角 43">
              <a:extLst>
                <a:ext uri="{FF2B5EF4-FFF2-40B4-BE49-F238E27FC236}">
                  <a16:creationId xmlns:a16="http://schemas.microsoft.com/office/drawing/2014/main" id="{5DA26DC5-CD5F-47E2-9F6C-CAA86D2C239B}"/>
                </a:ext>
              </a:extLst>
            </p:cNvPr>
            <p:cNvSpPr/>
            <p:nvPr/>
          </p:nvSpPr>
          <p:spPr bwMode="gray">
            <a:xfrm>
              <a:off x="895489" y="1566018"/>
              <a:ext cx="4542144" cy="3147453"/>
            </a:xfrm>
            <a:prstGeom prst="roundRect">
              <a:avLst/>
            </a:prstGeom>
            <a:solidFill>
              <a:srgbClr val="FFF7E1"/>
            </a:solidFill>
            <a:ln>
              <a:solidFill>
                <a:srgbClr val="FCC8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5" name="直接连接符 44">
              <a:extLst>
                <a:ext uri="{FF2B5EF4-FFF2-40B4-BE49-F238E27FC236}">
                  <a16:creationId xmlns:a16="http://schemas.microsoft.com/office/drawing/2014/main" id="{F43FB89D-A78F-424B-B2C5-54EF09493983}"/>
                </a:ext>
              </a:extLst>
            </p:cNvPr>
            <p:cNvCxnSpPr>
              <a:cxnSpLocks/>
            </p:cNvCxnSpPr>
            <p:nvPr/>
          </p:nvCxnSpPr>
          <p:spPr bwMode="gray">
            <a:xfrm flipH="1" flipV="1">
              <a:off x="3011614" y="2209273"/>
              <a:ext cx="1334237" cy="9036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0F0190DB-DFDB-4216-AF39-1F2724F08840}"/>
                </a:ext>
              </a:extLst>
            </p:cNvPr>
            <p:cNvCxnSpPr>
              <a:cxnSpLocks/>
              <a:stCxn id="68" idx="1"/>
            </p:cNvCxnSpPr>
            <p:nvPr/>
          </p:nvCxnSpPr>
          <p:spPr bwMode="gray">
            <a:xfrm flipV="1">
              <a:off x="1729430" y="2209273"/>
              <a:ext cx="1282184" cy="9036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8" name="图片 67">
              <a:extLst>
                <a:ext uri="{FF2B5EF4-FFF2-40B4-BE49-F238E27FC236}">
                  <a16:creationId xmlns:a16="http://schemas.microsoft.com/office/drawing/2014/main" id="{32690E3B-01DE-4CB7-BB9F-C276B5C61176}"/>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729430" y="2891510"/>
              <a:ext cx="540000" cy="442800"/>
            </a:xfrm>
            <a:prstGeom prst="rect">
              <a:avLst/>
            </a:prstGeom>
          </p:spPr>
        </p:pic>
        <p:pic>
          <p:nvPicPr>
            <p:cNvPr id="69" name="图片 68" descr="PC.png">
              <a:extLst>
                <a:ext uri="{FF2B5EF4-FFF2-40B4-BE49-F238E27FC236}">
                  <a16:creationId xmlns:a16="http://schemas.microsoft.com/office/drawing/2014/main" id="{A0FE9DA8-B85B-4C08-BFDB-050C66A10A9C}"/>
                </a:ext>
              </a:extLst>
            </p:cNvPr>
            <p:cNvPicPr>
              <a:picLocks noChangeAspect="1"/>
            </p:cNvPicPr>
            <p:nvPr/>
          </p:nvPicPr>
          <p:blipFill>
            <a:blip r:embed="rId4" cstate="print"/>
            <a:stretch>
              <a:fillRect/>
            </a:stretch>
          </p:blipFill>
          <p:spPr bwMode="gray">
            <a:xfrm>
              <a:off x="1729899" y="3819879"/>
              <a:ext cx="539063" cy="414000"/>
            </a:xfrm>
            <a:prstGeom prst="rect">
              <a:avLst/>
            </a:prstGeom>
          </p:spPr>
        </p:pic>
        <p:pic>
          <p:nvPicPr>
            <p:cNvPr id="70" name="图片 69" descr="PC.png">
              <a:extLst>
                <a:ext uri="{FF2B5EF4-FFF2-40B4-BE49-F238E27FC236}">
                  <a16:creationId xmlns:a16="http://schemas.microsoft.com/office/drawing/2014/main" id="{0DA4A2D5-B3D7-4438-ADFD-64ED23794DE4}"/>
                </a:ext>
              </a:extLst>
            </p:cNvPr>
            <p:cNvPicPr>
              <a:picLocks noChangeAspect="1"/>
            </p:cNvPicPr>
            <p:nvPr/>
          </p:nvPicPr>
          <p:blipFill>
            <a:blip r:embed="rId4" cstate="print"/>
            <a:stretch>
              <a:fillRect/>
            </a:stretch>
          </p:blipFill>
          <p:spPr bwMode="gray">
            <a:xfrm>
              <a:off x="3805851" y="3828860"/>
              <a:ext cx="539063" cy="414000"/>
            </a:xfrm>
            <a:prstGeom prst="rect">
              <a:avLst/>
            </a:prstGeom>
          </p:spPr>
        </p:pic>
        <p:cxnSp>
          <p:nvCxnSpPr>
            <p:cNvPr id="71" name="直接连接符 70">
              <a:extLst>
                <a:ext uri="{FF2B5EF4-FFF2-40B4-BE49-F238E27FC236}">
                  <a16:creationId xmlns:a16="http://schemas.microsoft.com/office/drawing/2014/main" id="{FD859FDF-0D9C-4BF3-BEAD-5825D70CF122}"/>
                </a:ext>
              </a:extLst>
            </p:cNvPr>
            <p:cNvCxnSpPr>
              <a:cxnSpLocks/>
              <a:stCxn id="69" idx="0"/>
              <a:endCxn id="68" idx="2"/>
            </p:cNvCxnSpPr>
            <p:nvPr/>
          </p:nvCxnSpPr>
          <p:spPr bwMode="gray">
            <a:xfrm flipH="1" flipV="1">
              <a:off x="1999430" y="3334310"/>
              <a:ext cx="1" cy="4855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6BFFFCD9-79BD-4F5A-B4AA-8AD7CCD27994}"/>
                </a:ext>
              </a:extLst>
            </p:cNvPr>
            <p:cNvCxnSpPr>
              <a:cxnSpLocks/>
              <a:stCxn id="70" idx="0"/>
            </p:cNvCxnSpPr>
            <p:nvPr/>
          </p:nvCxnSpPr>
          <p:spPr bwMode="gray">
            <a:xfrm flipV="1">
              <a:off x="4075383" y="3334310"/>
              <a:ext cx="468" cy="4945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文本框 72">
              <a:extLst>
                <a:ext uri="{FF2B5EF4-FFF2-40B4-BE49-F238E27FC236}">
                  <a16:creationId xmlns:a16="http://schemas.microsoft.com/office/drawing/2014/main" id="{95D78739-3D07-4516-A4D0-0F0A46D38804}"/>
                </a:ext>
              </a:extLst>
            </p:cNvPr>
            <p:cNvSpPr txBox="1"/>
            <p:nvPr/>
          </p:nvSpPr>
          <p:spPr bwMode="gray">
            <a:xfrm>
              <a:off x="1302598" y="4290999"/>
              <a:ext cx="1489510" cy="307777"/>
            </a:xfrm>
            <a:prstGeom prst="rect">
              <a:avLst/>
            </a:prstGeom>
          </p:spPr>
          <p:txBody>
            <a:bodyPr wrap="none" rtlCol="0">
              <a:spAutoFit/>
            </a:bodyPr>
            <a:lstStyle/>
            <a:p>
              <a:pPr algn="l"/>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192.168.1.10/24</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文本框 73">
              <a:extLst>
                <a:ext uri="{FF2B5EF4-FFF2-40B4-BE49-F238E27FC236}">
                  <a16:creationId xmlns:a16="http://schemas.microsoft.com/office/drawing/2014/main" id="{86F078FF-261D-4679-9BE1-33764B5F0054}"/>
                </a:ext>
              </a:extLst>
            </p:cNvPr>
            <p:cNvSpPr txBox="1"/>
            <p:nvPr/>
          </p:nvSpPr>
          <p:spPr bwMode="gray">
            <a:xfrm>
              <a:off x="3330627" y="4299980"/>
              <a:ext cx="1489510" cy="307777"/>
            </a:xfrm>
            <a:prstGeom prst="rect">
              <a:avLst/>
            </a:prstGeom>
          </p:spPr>
          <p:txBody>
            <a:bodyPr wrap="none" rtlCol="0">
              <a:spAutoFit/>
            </a:bodyPr>
            <a:lstStyle/>
            <a:p>
              <a:pPr algn="l"/>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192.168.2.10/24</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文本框 74">
              <a:extLst>
                <a:ext uri="{FF2B5EF4-FFF2-40B4-BE49-F238E27FC236}">
                  <a16:creationId xmlns:a16="http://schemas.microsoft.com/office/drawing/2014/main" id="{6BCA076D-5D9D-4CF1-82B1-009FD9090E37}"/>
                </a:ext>
              </a:extLst>
            </p:cNvPr>
            <p:cNvSpPr txBox="1"/>
            <p:nvPr/>
          </p:nvSpPr>
          <p:spPr bwMode="gray">
            <a:xfrm>
              <a:off x="2209142" y="2822696"/>
              <a:ext cx="984565" cy="523220"/>
            </a:xfrm>
            <a:prstGeom prst="rect">
              <a:avLst/>
            </a:prstGeom>
          </p:spPr>
          <p:txBody>
            <a:bodyPr wrap="non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VTEP</a:t>
              </a:r>
            </a:p>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1.1.1.1/32</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文本框 75">
              <a:extLst>
                <a:ext uri="{FF2B5EF4-FFF2-40B4-BE49-F238E27FC236}">
                  <a16:creationId xmlns:a16="http://schemas.microsoft.com/office/drawing/2014/main" id="{9FB7B429-0D09-4142-B15C-A9CAB7C8CBE8}"/>
                </a:ext>
              </a:extLst>
            </p:cNvPr>
            <p:cNvSpPr txBox="1"/>
            <p:nvPr/>
          </p:nvSpPr>
          <p:spPr bwMode="gray">
            <a:xfrm>
              <a:off x="4320372" y="2851300"/>
              <a:ext cx="984565" cy="523220"/>
            </a:xfrm>
            <a:prstGeom prst="rect">
              <a:avLst/>
            </a:prstGeom>
          </p:spPr>
          <p:txBody>
            <a:bodyPr wrap="non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VTEP</a:t>
              </a:r>
            </a:p>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2.2.2.2/32</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文本框 76">
              <a:extLst>
                <a:ext uri="{FF2B5EF4-FFF2-40B4-BE49-F238E27FC236}">
                  <a16:creationId xmlns:a16="http://schemas.microsoft.com/office/drawing/2014/main" id="{D2BD44E1-FB68-4802-9F49-EC424DB1E423}"/>
                </a:ext>
              </a:extLst>
            </p:cNvPr>
            <p:cNvSpPr txBox="1"/>
            <p:nvPr/>
          </p:nvSpPr>
          <p:spPr bwMode="gray">
            <a:xfrm>
              <a:off x="3224335" y="3345895"/>
              <a:ext cx="851516" cy="307777"/>
            </a:xfrm>
            <a:prstGeom prst="rect">
              <a:avLst/>
            </a:prstGeom>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GE1/0/1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文本框 77">
              <a:extLst>
                <a:ext uri="{FF2B5EF4-FFF2-40B4-BE49-F238E27FC236}">
                  <a16:creationId xmlns:a16="http://schemas.microsoft.com/office/drawing/2014/main" id="{62781243-ABF1-460F-A012-8AF96AA0BAD0}"/>
                </a:ext>
              </a:extLst>
            </p:cNvPr>
            <p:cNvSpPr txBox="1"/>
            <p:nvPr/>
          </p:nvSpPr>
          <p:spPr bwMode="gray">
            <a:xfrm>
              <a:off x="1182502" y="2973649"/>
              <a:ext cx="575800" cy="307777"/>
            </a:xfrm>
            <a:prstGeom prst="rect">
              <a:avLst/>
            </a:prstGeom>
          </p:spPr>
          <p:txBody>
            <a:bodyPr wrap="none" rtlCol="0">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文本框 78">
              <a:extLst>
                <a:ext uri="{FF2B5EF4-FFF2-40B4-BE49-F238E27FC236}">
                  <a16:creationId xmlns:a16="http://schemas.microsoft.com/office/drawing/2014/main" id="{BAA8CDB6-8216-4251-9312-C9068CCF4FC5}"/>
                </a:ext>
              </a:extLst>
            </p:cNvPr>
            <p:cNvSpPr txBox="1"/>
            <p:nvPr/>
          </p:nvSpPr>
          <p:spPr bwMode="gray">
            <a:xfrm>
              <a:off x="3284248" y="2959021"/>
              <a:ext cx="575800" cy="307777"/>
            </a:xfrm>
            <a:prstGeom prst="rect">
              <a:avLst/>
            </a:prstGeom>
          </p:spPr>
          <p:txBody>
            <a:bodyPr wrap="none" rtlCol="0">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文本框 79">
              <a:extLst>
                <a:ext uri="{FF2B5EF4-FFF2-40B4-BE49-F238E27FC236}">
                  <a16:creationId xmlns:a16="http://schemas.microsoft.com/office/drawing/2014/main" id="{A1C35BF1-BE03-47FF-8058-463FE90D5089}"/>
                </a:ext>
              </a:extLst>
            </p:cNvPr>
            <p:cNvSpPr txBox="1"/>
            <p:nvPr/>
          </p:nvSpPr>
          <p:spPr bwMode="gray">
            <a:xfrm>
              <a:off x="1152099" y="3318433"/>
              <a:ext cx="851516" cy="307777"/>
            </a:xfrm>
            <a:prstGeom prst="rect">
              <a:avLst/>
            </a:prstGeom>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GE1/0/1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文本框 80">
              <a:extLst>
                <a:ext uri="{FF2B5EF4-FFF2-40B4-BE49-F238E27FC236}">
                  <a16:creationId xmlns:a16="http://schemas.microsoft.com/office/drawing/2014/main" id="{81830523-41BD-40D3-9BC3-A90070EFB8E8}"/>
                </a:ext>
              </a:extLst>
            </p:cNvPr>
            <p:cNvSpPr txBox="1"/>
            <p:nvPr/>
          </p:nvSpPr>
          <p:spPr bwMode="gray">
            <a:xfrm>
              <a:off x="2174303" y="1854071"/>
              <a:ext cx="575800" cy="307777"/>
            </a:xfrm>
            <a:prstGeom prst="rect">
              <a:avLst/>
            </a:prstGeom>
          </p:spPr>
          <p:txBody>
            <a:bodyPr wrap="none" rtlCol="0">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文本框 81">
              <a:extLst>
                <a:ext uri="{FF2B5EF4-FFF2-40B4-BE49-F238E27FC236}">
                  <a16:creationId xmlns:a16="http://schemas.microsoft.com/office/drawing/2014/main" id="{AD3F7AE1-4466-4031-B53A-209E2AEAE977}"/>
                </a:ext>
              </a:extLst>
            </p:cNvPr>
            <p:cNvSpPr txBox="1"/>
            <p:nvPr/>
          </p:nvSpPr>
          <p:spPr bwMode="gray">
            <a:xfrm>
              <a:off x="3231443" y="1751233"/>
              <a:ext cx="984565" cy="523220"/>
            </a:xfrm>
            <a:prstGeom prst="rect">
              <a:avLst/>
            </a:prstGeom>
          </p:spPr>
          <p:txBody>
            <a:bodyPr wrap="non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VTEP</a:t>
              </a:r>
            </a:p>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3.3.3.3/32</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文本框 82">
              <a:extLst>
                <a:ext uri="{FF2B5EF4-FFF2-40B4-BE49-F238E27FC236}">
                  <a16:creationId xmlns:a16="http://schemas.microsoft.com/office/drawing/2014/main" id="{C4A2D38F-4E24-4EA8-AB7F-17FA36292155}"/>
                </a:ext>
              </a:extLst>
            </p:cNvPr>
            <p:cNvSpPr txBox="1"/>
            <p:nvPr/>
          </p:nvSpPr>
          <p:spPr bwMode="gray">
            <a:xfrm>
              <a:off x="924065" y="1821438"/>
              <a:ext cx="1157689" cy="738664"/>
            </a:xfrm>
            <a:prstGeom prst="rect">
              <a:avLst/>
            </a:prstGeom>
          </p:spPr>
          <p:txBody>
            <a:bodyPr wrap="none" rtlCol="0">
              <a:spAutoFit/>
            </a:bodyPr>
            <a:lstStyle/>
            <a:p>
              <a:pPr algn="r"/>
              <a:r>
                <a:rPr lang="en-US" altLang="zh-CN" sz="1400" b="1">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BD 100</a:t>
              </a:r>
            </a:p>
            <a:p>
              <a:pPr algn="r"/>
              <a:r>
                <a:rPr lang="en-US" altLang="zh-CN" sz="1400" b="1">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VNI 10000</a:t>
              </a:r>
            </a:p>
            <a:p>
              <a:pPr algn="r"/>
              <a:r>
                <a:rPr lang="en-US" altLang="zh-CN" sz="1400" b="1">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192.168.1.1</a:t>
              </a:r>
            </a:p>
          </p:txBody>
        </p:sp>
        <p:sp>
          <p:nvSpPr>
            <p:cNvPr id="84" name="文本框 83">
              <a:extLst>
                <a:ext uri="{FF2B5EF4-FFF2-40B4-BE49-F238E27FC236}">
                  <a16:creationId xmlns:a16="http://schemas.microsoft.com/office/drawing/2014/main" id="{5A04347F-26A7-4FF2-9A78-D9C9D7CD1981}"/>
                </a:ext>
              </a:extLst>
            </p:cNvPr>
            <p:cNvSpPr txBox="1"/>
            <p:nvPr/>
          </p:nvSpPr>
          <p:spPr bwMode="gray">
            <a:xfrm>
              <a:off x="4193051" y="1789482"/>
              <a:ext cx="1157689" cy="738664"/>
            </a:xfrm>
            <a:prstGeom prst="rect">
              <a:avLst/>
            </a:prstGeom>
          </p:spPr>
          <p:txBody>
            <a:bodyPr wrap="none" rtlCol="0">
              <a:spAutoFit/>
            </a:bodyPr>
            <a:lstStyle/>
            <a:p>
              <a:r>
                <a:rPr lang="en-US" altLang="zh-CN" sz="1400" b="1">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BD 200</a:t>
              </a:r>
            </a:p>
            <a:p>
              <a:r>
                <a:rPr lang="en-US" altLang="zh-CN" sz="1400" b="1">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VNI 20000</a:t>
              </a:r>
            </a:p>
            <a:p>
              <a:r>
                <a:rPr lang="en-US" altLang="zh-CN" sz="1400" b="1">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192.168.2.1</a:t>
              </a:r>
              <a:endParaRPr lang="zh-CN" altLang="en-US" sz="1400" b="1">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5" name="图片 84">
              <a:extLst>
                <a:ext uri="{FF2B5EF4-FFF2-40B4-BE49-F238E27FC236}">
                  <a16:creationId xmlns:a16="http://schemas.microsoft.com/office/drawing/2014/main" id="{C1FC24D9-D02E-4127-8386-9B6CA38D69C8}"/>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3793651" y="2885718"/>
              <a:ext cx="540000" cy="442800"/>
            </a:xfrm>
            <a:prstGeom prst="rect">
              <a:avLst/>
            </a:prstGeom>
          </p:spPr>
        </p:pic>
        <p:grpSp>
          <p:nvGrpSpPr>
            <p:cNvPr id="86" name="组合 85">
              <a:extLst>
                <a:ext uri="{FF2B5EF4-FFF2-40B4-BE49-F238E27FC236}">
                  <a16:creationId xmlns:a16="http://schemas.microsoft.com/office/drawing/2014/main" id="{8CF45B71-A59D-487E-8D05-1CDD3E195F70}"/>
                </a:ext>
              </a:extLst>
            </p:cNvPr>
            <p:cNvGrpSpPr/>
            <p:nvPr/>
          </p:nvGrpSpPr>
          <p:grpSpPr bwMode="gray">
            <a:xfrm>
              <a:off x="2753067" y="1781239"/>
              <a:ext cx="540247" cy="451523"/>
              <a:chOff x="3665233" y="5134405"/>
              <a:chExt cx="540247" cy="451523"/>
            </a:xfrm>
          </p:grpSpPr>
          <p:pic>
            <p:nvPicPr>
              <p:cNvPr id="87" name="图片 86">
                <a:extLst>
                  <a:ext uri="{FF2B5EF4-FFF2-40B4-BE49-F238E27FC236}">
                    <a16:creationId xmlns:a16="http://schemas.microsoft.com/office/drawing/2014/main" id="{AEC08F11-3609-41C5-A2B1-9176F2B53869}"/>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3665480" y="5134405"/>
                <a:ext cx="540000" cy="442800"/>
              </a:xfrm>
              <a:prstGeom prst="rect">
                <a:avLst/>
              </a:prstGeom>
            </p:spPr>
          </p:pic>
          <p:pic>
            <p:nvPicPr>
              <p:cNvPr id="88" name="图片 87">
                <a:extLst>
                  <a:ext uri="{FF2B5EF4-FFF2-40B4-BE49-F238E27FC236}">
                    <a16:creationId xmlns:a16="http://schemas.microsoft.com/office/drawing/2014/main" id="{1D1C513E-24A1-4150-B7DD-86891DF2D3DD}"/>
                  </a:ext>
                </a:extLst>
              </p:cNvPr>
              <p:cNvPicPr>
                <a:picLocks/>
              </p:cNvPicPr>
              <p:nvPr/>
            </p:nvPicPr>
            <p:blipFill rotWithShape="1">
              <a:blip r:embed="rId3" cstate="print">
                <a:extLst>
                  <a:ext uri="{28A0092B-C50C-407E-A947-70E740481C1C}">
                    <a14:useLocalDpi xmlns:a14="http://schemas.microsoft.com/office/drawing/2010/main" val="0"/>
                  </a:ext>
                </a:extLst>
              </a:blip>
              <a:srcRect r="47919"/>
              <a:stretch/>
            </p:blipFill>
            <p:spPr bwMode="gray">
              <a:xfrm>
                <a:off x="3665233" y="5143128"/>
                <a:ext cx="281235" cy="442800"/>
              </a:xfrm>
              <a:prstGeom prst="rect">
                <a:avLst/>
              </a:prstGeom>
            </p:spPr>
          </p:pic>
        </p:grpSp>
      </p:grpSp>
      <p:sp>
        <p:nvSpPr>
          <p:cNvPr id="92" name="文本框 91">
            <a:extLst>
              <a:ext uri="{FF2B5EF4-FFF2-40B4-BE49-F238E27FC236}">
                <a16:creationId xmlns:a16="http://schemas.microsoft.com/office/drawing/2014/main" id="{92E12448-099D-4163-AEBF-E5EE5A7A4E61}"/>
              </a:ext>
            </a:extLst>
          </p:cNvPr>
          <p:cNvSpPr txBox="1"/>
          <p:nvPr/>
        </p:nvSpPr>
        <p:spPr bwMode="gray">
          <a:xfrm>
            <a:off x="731838" y="5446895"/>
            <a:ext cx="5364162" cy="707886"/>
          </a:xfrm>
          <a:prstGeom prst="rect">
            <a:avLst/>
          </a:prstGeom>
          <a:noFill/>
        </p:spPr>
        <p:txBody>
          <a:bodyPr wrap="square" rtlCol="0">
            <a:spAutoFit/>
          </a:bodyPr>
          <a:lstStyle/>
          <a:p>
            <a:pPr marL="185738" indent="-185738" algn="just" fontAlgn="auto">
              <a:lnSpc>
                <a:spcPts val="2400"/>
              </a:lnSpc>
              <a:spcBef>
                <a:spcPts val="0"/>
              </a:spcBef>
              <a:spcAft>
                <a:spcPts val="600"/>
              </a:spcAft>
              <a:buFont typeface="Arial" panose="020B0604020202020204" pitchFamily="34" charset="0"/>
              <a:buChar char="•"/>
            </a:pPr>
            <a:r>
              <a:rPr lang="zh-CN" altLang="en-US">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三台交换机配置</a:t>
            </a:r>
            <a:r>
              <a:rPr lang="en-US" altLang="zh-CN">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隧道，实现跨网段两台</a:t>
            </a:r>
            <a:r>
              <a:rPr lang="en-US" altLang="zh-CN">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PC</a:t>
            </a:r>
            <a:r>
              <a:rPr lang="zh-CN" altLang="en-US">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之间的互访。</a:t>
            </a:r>
            <a:r>
              <a:rPr lang="en-US" altLang="zh-CN">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网关集中在</a:t>
            </a:r>
            <a:r>
              <a:rPr lang="en-US" altLang="zh-CN">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r>
              <a:rPr lang="zh-CN" altLang="en-US">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文本框 92">
            <a:extLst>
              <a:ext uri="{FF2B5EF4-FFF2-40B4-BE49-F238E27FC236}">
                <a16:creationId xmlns:a16="http://schemas.microsoft.com/office/drawing/2014/main" id="{760BD3C3-5D79-4F85-9D4A-286641834145}"/>
              </a:ext>
            </a:extLst>
          </p:cNvPr>
          <p:cNvSpPr txBox="1"/>
          <p:nvPr/>
        </p:nvSpPr>
        <p:spPr bwMode="gray">
          <a:xfrm>
            <a:off x="6439407" y="2127051"/>
            <a:ext cx="4544025" cy="738664"/>
          </a:xfrm>
          <a:prstGeom prst="rect">
            <a:avLst/>
          </a:prstGeom>
          <a:solidFill>
            <a:schemeClr val="bg1">
              <a:lumMod val="85000"/>
            </a:schemeClr>
          </a:solidFill>
        </p:spPr>
        <p:txBody>
          <a:bodyPr wrap="square" rtlCol="0">
            <a:spAutoFit/>
          </a:bodyPr>
          <a:lstStyle>
            <a:defPPr>
              <a:defRPr lang="en-US"/>
            </a:defPPr>
            <a:lvl1pPr fontAlgn="auto">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r>
              <a:rPr lang="en-US" altLang="zh-CN" dirty="0">
                <a:sym typeface="Huawei Sans" panose="020C0503030203020204" pitchFamily="34" charset="0"/>
              </a:rPr>
              <a:t>[SW1] interface </a:t>
            </a:r>
            <a:r>
              <a:rPr lang="en-US" altLang="zh-CN" dirty="0" err="1">
                <a:sym typeface="Huawei Sans" panose="020C0503030203020204" pitchFamily="34" charset="0"/>
              </a:rPr>
              <a:t>GigabitEthernet</a:t>
            </a:r>
            <a:r>
              <a:rPr lang="en-US" altLang="zh-CN" dirty="0">
                <a:sym typeface="Huawei Sans" panose="020C0503030203020204" pitchFamily="34" charset="0"/>
              </a:rPr>
              <a:t> 1/0/1.1 mode l2</a:t>
            </a:r>
          </a:p>
          <a:p>
            <a:r>
              <a:rPr lang="en-US" altLang="zh-CN" dirty="0">
                <a:sym typeface="Huawei Sans" panose="020C0503030203020204" pitchFamily="34" charset="0"/>
              </a:rPr>
              <a:t>[SW1-GigabitEthernet1/0/1.1] encapsulation </a:t>
            </a:r>
            <a:r>
              <a:rPr lang="en-US" altLang="zh-CN" dirty="0" err="1">
                <a:sym typeface="Huawei Sans" panose="020C0503030203020204" pitchFamily="34" charset="0"/>
              </a:rPr>
              <a:t>untag</a:t>
            </a:r>
            <a:endParaRPr lang="en-US" altLang="zh-CN" dirty="0">
              <a:sym typeface="Huawei Sans" panose="020C0503030203020204" pitchFamily="34" charset="0"/>
            </a:endParaRPr>
          </a:p>
          <a:p>
            <a:r>
              <a:rPr lang="en-US" altLang="zh-CN" dirty="0">
                <a:sym typeface="Huawei Sans" panose="020C0503030203020204" pitchFamily="34" charset="0"/>
              </a:rPr>
              <a:t>[SW1-GigabitEthernet1/0/1.1] bridge-domain 100</a:t>
            </a:r>
          </a:p>
        </p:txBody>
      </p:sp>
      <p:sp>
        <p:nvSpPr>
          <p:cNvPr id="95" name="文本框 94">
            <a:extLst>
              <a:ext uri="{FF2B5EF4-FFF2-40B4-BE49-F238E27FC236}">
                <a16:creationId xmlns:a16="http://schemas.microsoft.com/office/drawing/2014/main" id="{38D0DCBB-B45B-4A83-8F36-85A970743396}"/>
              </a:ext>
            </a:extLst>
          </p:cNvPr>
          <p:cNvSpPr txBox="1"/>
          <p:nvPr/>
        </p:nvSpPr>
        <p:spPr bwMode="gray">
          <a:xfrm>
            <a:off x="6435525" y="1753731"/>
            <a:ext cx="171232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 </a:t>
            </a:r>
            <a:r>
              <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配置如下：</a:t>
            </a:r>
          </a:p>
        </p:txBody>
      </p:sp>
      <p:sp>
        <p:nvSpPr>
          <p:cNvPr id="96" name="文本框 95">
            <a:extLst>
              <a:ext uri="{FF2B5EF4-FFF2-40B4-BE49-F238E27FC236}">
                <a16:creationId xmlns:a16="http://schemas.microsoft.com/office/drawing/2014/main" id="{1D999E67-9E3D-4F98-A3C7-CDABE0420744}"/>
              </a:ext>
            </a:extLst>
          </p:cNvPr>
          <p:cNvSpPr txBox="1"/>
          <p:nvPr/>
        </p:nvSpPr>
        <p:spPr bwMode="gray">
          <a:xfrm>
            <a:off x="6403783" y="3390713"/>
            <a:ext cx="1712328" cy="338554"/>
          </a:xfrm>
          <a:prstGeom prst="rect">
            <a:avLst/>
          </a:prstGeom>
          <a:noFill/>
        </p:spPr>
        <p:txBody>
          <a:bodyPr wrap="none" rtlCol="0">
            <a:spAutoFit/>
          </a:bodyPr>
          <a:lstStyle/>
          <a:p>
            <a:pPr fontAlgn="auto">
              <a:spcBef>
                <a:spcPts val="0"/>
              </a:spcBef>
              <a:spcAft>
                <a:spcPts val="0"/>
              </a:spcAft>
            </a:pPr>
            <a:r>
              <a:rPr lang="en-US" altLang="zh-CN"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 </a:t>
            </a:r>
            <a:r>
              <a:rPr lang="zh-CN" altLang="en-US" sz="16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配置如下：</a:t>
            </a:r>
          </a:p>
        </p:txBody>
      </p:sp>
      <p:sp>
        <p:nvSpPr>
          <p:cNvPr id="97" name="文本框 96">
            <a:extLst>
              <a:ext uri="{FF2B5EF4-FFF2-40B4-BE49-F238E27FC236}">
                <a16:creationId xmlns:a16="http://schemas.microsoft.com/office/drawing/2014/main" id="{9F311893-8575-464B-B2F5-8E855F2B7B61}"/>
              </a:ext>
            </a:extLst>
          </p:cNvPr>
          <p:cNvSpPr txBox="1"/>
          <p:nvPr/>
        </p:nvSpPr>
        <p:spPr bwMode="gray">
          <a:xfrm>
            <a:off x="6466451" y="3739674"/>
            <a:ext cx="4544025" cy="738664"/>
          </a:xfrm>
          <a:prstGeom prst="rect">
            <a:avLst/>
          </a:prstGeom>
          <a:solidFill>
            <a:schemeClr val="bg1">
              <a:lumMod val="85000"/>
            </a:schemeClr>
          </a:solidFill>
        </p:spPr>
        <p:txBody>
          <a:bodyPr wrap="square" rtlCol="0">
            <a:spAutoFit/>
          </a:bodyPr>
          <a:lstStyle>
            <a:defPPr>
              <a:defRPr lang="en-US"/>
            </a:defPPr>
            <a:lvl1pPr fontAlgn="auto">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r>
              <a:rPr lang="en-US" altLang="zh-CN" dirty="0">
                <a:sym typeface="Huawei Sans" panose="020C0503030203020204" pitchFamily="34" charset="0"/>
              </a:rPr>
              <a:t>[SW2] interface </a:t>
            </a:r>
            <a:r>
              <a:rPr lang="en-US" altLang="zh-CN" dirty="0" err="1">
                <a:sym typeface="Huawei Sans" panose="020C0503030203020204" pitchFamily="34" charset="0"/>
              </a:rPr>
              <a:t>GigabitEthernet</a:t>
            </a:r>
            <a:r>
              <a:rPr lang="en-US" altLang="zh-CN" dirty="0">
                <a:sym typeface="Huawei Sans" panose="020C0503030203020204" pitchFamily="34" charset="0"/>
              </a:rPr>
              <a:t> 1/0/1.1 mode l2</a:t>
            </a:r>
          </a:p>
          <a:p>
            <a:r>
              <a:rPr lang="en-US" altLang="zh-CN" dirty="0">
                <a:sym typeface="Huawei Sans" panose="020C0503030203020204" pitchFamily="34" charset="0"/>
              </a:rPr>
              <a:t>[SW2-GigabitEthernet1/0/1.1] encapsulation </a:t>
            </a:r>
            <a:r>
              <a:rPr lang="en-US" altLang="zh-CN" dirty="0" err="1">
                <a:sym typeface="Huawei Sans" panose="020C0503030203020204" pitchFamily="34" charset="0"/>
              </a:rPr>
              <a:t>untag</a:t>
            </a:r>
            <a:endParaRPr lang="en-US" altLang="zh-CN" dirty="0">
              <a:sym typeface="Huawei Sans" panose="020C0503030203020204" pitchFamily="34" charset="0"/>
            </a:endParaRPr>
          </a:p>
          <a:p>
            <a:r>
              <a:rPr lang="en-US" altLang="zh-CN" dirty="0">
                <a:sym typeface="Huawei Sans" panose="020C0503030203020204" pitchFamily="34" charset="0"/>
              </a:rPr>
              <a:t>[SW2-GigabitEthernet1/0/1.1] bridge-domain 200</a:t>
            </a:r>
          </a:p>
        </p:txBody>
      </p:sp>
      <p:grpSp>
        <p:nvGrpSpPr>
          <p:cNvPr id="4" name="组合 3"/>
          <p:cNvGrpSpPr/>
          <p:nvPr/>
        </p:nvGrpSpPr>
        <p:grpSpPr bwMode="gray">
          <a:xfrm>
            <a:off x="889747" y="1392596"/>
            <a:ext cx="5053105" cy="346713"/>
            <a:chOff x="701519" y="1392596"/>
            <a:chExt cx="5053105" cy="346713"/>
          </a:xfrm>
        </p:grpSpPr>
        <p:sp>
          <p:nvSpPr>
            <p:cNvPr id="89" name="圆角矩形 11">
              <a:extLst>
                <a:ext uri="{FF2B5EF4-FFF2-40B4-BE49-F238E27FC236}">
                  <a16:creationId xmlns:a16="http://schemas.microsoft.com/office/drawing/2014/main" id="{B2A1F7B2-220E-4AB7-93EB-15CC3617A14A}"/>
                </a:ext>
              </a:extLst>
            </p:cNvPr>
            <p:cNvSpPr/>
            <p:nvPr/>
          </p:nvSpPr>
          <p:spPr bwMode="gray">
            <a:xfrm>
              <a:off x="701519" y="1394206"/>
              <a:ext cx="1697901" cy="345103"/>
            </a:xfrm>
            <a:prstGeom prst="roundRect">
              <a:avLst>
                <a:gd name="adj" fmla="val 4298"/>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隧道</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圆角矩形 12">
              <a:extLst>
                <a:ext uri="{FF2B5EF4-FFF2-40B4-BE49-F238E27FC236}">
                  <a16:creationId xmlns:a16="http://schemas.microsoft.com/office/drawing/2014/main" id="{3BD8F2E2-E241-48FA-BB69-64765E980304}"/>
                </a:ext>
              </a:extLst>
            </p:cNvPr>
            <p:cNvSpPr/>
            <p:nvPr/>
          </p:nvSpPr>
          <p:spPr bwMode="gray">
            <a:xfrm>
              <a:off x="2832919" y="1392596"/>
              <a:ext cx="1458666" cy="346713"/>
            </a:xfrm>
            <a:prstGeom prst="roundRect">
              <a:avLst>
                <a:gd name="adj" fmla="val 4298"/>
              </a:avLst>
            </a:prstGeom>
            <a:solidFill>
              <a:srgbClr val="30B5C5"/>
            </a:solidFill>
            <a:ln w="19050">
              <a:noFill/>
            </a:ln>
          </p:spPr>
          <p:txBody>
            <a:bodyPr wrap="none" rtlCol="0">
              <a:spAutoFit/>
            </a:bodyPr>
            <a:lstStyle/>
            <a:p>
              <a:r>
                <a:rPr lang="zh-CN" altLang="en-US"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配置业务接入</a:t>
              </a:r>
            </a:p>
          </p:txBody>
        </p:sp>
        <p:cxnSp>
          <p:nvCxnSpPr>
            <p:cNvPr id="91" name="直接箭头连接符 90">
              <a:extLst>
                <a:ext uri="{FF2B5EF4-FFF2-40B4-BE49-F238E27FC236}">
                  <a16:creationId xmlns:a16="http://schemas.microsoft.com/office/drawing/2014/main" id="{671B4E4F-E01F-4505-B1B9-75CD340845B9}"/>
                </a:ext>
              </a:extLst>
            </p:cNvPr>
            <p:cNvCxnSpPr>
              <a:cxnSpLocks/>
              <a:stCxn id="89" idx="3"/>
              <a:endCxn id="90" idx="1"/>
            </p:cNvCxnSpPr>
            <p:nvPr/>
          </p:nvCxnSpPr>
          <p:spPr bwMode="gray">
            <a:xfrm flipV="1">
              <a:off x="2399420" y="1565953"/>
              <a:ext cx="433499" cy="805"/>
            </a:xfrm>
            <a:prstGeom prst="straightConnector1">
              <a:avLst/>
            </a:prstGeom>
            <a:noFill/>
            <a:ln w="19050" cap="flat" cmpd="sng" algn="ctr">
              <a:solidFill>
                <a:schemeClr val="tx1"/>
              </a:solidFill>
              <a:prstDash val="solid"/>
              <a:round/>
              <a:headEnd type="none" w="med" len="med"/>
              <a:tailEnd type="triangle"/>
            </a:ln>
            <a:effectLst/>
          </p:spPr>
        </p:cxnSp>
        <p:sp>
          <p:nvSpPr>
            <p:cNvPr id="99" name="圆角矩形 12">
              <a:extLst>
                <a:ext uri="{FF2B5EF4-FFF2-40B4-BE49-F238E27FC236}">
                  <a16:creationId xmlns:a16="http://schemas.microsoft.com/office/drawing/2014/main" id="{09EE1035-8A6B-4914-82F7-A715FB08D21E}"/>
                </a:ext>
              </a:extLst>
            </p:cNvPr>
            <p:cNvSpPr/>
            <p:nvPr/>
          </p:nvSpPr>
          <p:spPr bwMode="gray">
            <a:xfrm>
              <a:off x="4725084" y="1392596"/>
              <a:ext cx="1029540" cy="346713"/>
            </a:xfrm>
            <a:prstGeom prst="roundRect">
              <a:avLst>
                <a:gd name="adj" fmla="val 4298"/>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zh-CN" altLang="en-US"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配置网关</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0" name="直接箭头连接符 99">
              <a:extLst>
                <a:ext uri="{FF2B5EF4-FFF2-40B4-BE49-F238E27FC236}">
                  <a16:creationId xmlns:a16="http://schemas.microsoft.com/office/drawing/2014/main" id="{3203AB50-E2EC-4D43-B3A9-55EAB83901FF}"/>
                </a:ext>
              </a:extLst>
            </p:cNvPr>
            <p:cNvCxnSpPr>
              <a:cxnSpLocks/>
              <a:stCxn id="90" idx="3"/>
              <a:endCxn id="99" idx="1"/>
            </p:cNvCxnSpPr>
            <p:nvPr/>
          </p:nvCxnSpPr>
          <p:spPr bwMode="gray">
            <a:xfrm>
              <a:off x="4291585" y="1565953"/>
              <a:ext cx="433499" cy="0"/>
            </a:xfrm>
            <a:prstGeom prst="straightConnector1">
              <a:avLst/>
            </a:prstGeom>
            <a:noFill/>
            <a:ln w="19050" cap="flat" cmpd="sng" algn="ctr">
              <a:solidFill>
                <a:schemeClr val="tx1"/>
              </a:solidFill>
              <a:prstDash val="solid"/>
              <a:round/>
              <a:headEnd type="none" w="med" len="med"/>
              <a:tailEnd type="triangle"/>
            </a:ln>
            <a:effectLst/>
          </p:spPr>
        </p:cxnSp>
      </p:grpSp>
      <p:sp>
        <p:nvSpPr>
          <p:cNvPr id="101" name="文本框 100">
            <a:extLst>
              <a:ext uri="{FF2B5EF4-FFF2-40B4-BE49-F238E27FC236}">
                <a16:creationId xmlns:a16="http://schemas.microsoft.com/office/drawing/2014/main" id="{1B47B919-47F9-416D-AEBD-E133696305C1}"/>
              </a:ext>
            </a:extLst>
          </p:cNvPr>
          <p:cNvSpPr txBox="1"/>
          <p:nvPr/>
        </p:nvSpPr>
        <p:spPr bwMode="gray">
          <a:xfrm>
            <a:off x="6466451" y="5202775"/>
            <a:ext cx="4544025" cy="584775"/>
          </a:xfrm>
          <a:prstGeom prst="rect">
            <a:avLst/>
          </a:prstGeom>
          <a:solidFill>
            <a:srgbClr val="BEE9EE"/>
          </a:solidFill>
          <a:ln w="19050">
            <a:noFill/>
          </a:ln>
        </p:spPr>
        <p:txBody>
          <a:bodyPr wrap="square" rtlCol="0">
            <a:spAutoFit/>
          </a:bodyPr>
          <a:lstStyle>
            <a:defPPr>
              <a:defRPr lang="en-US"/>
            </a:defPPr>
            <a:lvl1pPr fontAlgn="auto">
              <a:spcBef>
                <a:spcPts val="0"/>
              </a:spcBef>
              <a:spcAft>
                <a:spcPts val="0"/>
              </a:spcAft>
              <a:defRPr sz="1600">
                <a:solidFill>
                  <a:prstClr val="black"/>
                </a:solidFill>
                <a:latin typeface="Huawei Sans" panose="020C0503030203020204" pitchFamily="34" charset="0"/>
                <a:ea typeface="方正兰亭黑简体" panose="02000000000000000000" pitchFamily="2" charset="-122"/>
              </a:defRPr>
            </a:lvl1pPr>
          </a:lstStyle>
          <a:p>
            <a:r>
              <a:rPr lang="zh-CN" altLang="en-US" dirty="0">
                <a:sym typeface="Huawei Sans" panose="020C0503030203020204" pitchFamily="34" charset="0"/>
              </a:rPr>
              <a:t>思考：如果</a:t>
            </a:r>
            <a:r>
              <a:rPr lang="en-US" altLang="zh-CN" dirty="0">
                <a:sym typeface="Huawei Sans" panose="020C0503030203020204" pitchFamily="34" charset="0"/>
              </a:rPr>
              <a:t>192.168.2.10</a:t>
            </a:r>
            <a:r>
              <a:rPr lang="zh-CN" altLang="en-US" dirty="0">
                <a:sym typeface="Huawei Sans" panose="020C0503030203020204" pitchFamily="34" charset="0"/>
              </a:rPr>
              <a:t>流量携带标签</a:t>
            </a:r>
            <a:r>
              <a:rPr lang="en-US" altLang="zh-CN" dirty="0">
                <a:sym typeface="Huawei Sans" panose="020C0503030203020204" pitchFamily="34" charset="0"/>
              </a:rPr>
              <a:t>VLAN 20</a:t>
            </a:r>
            <a:r>
              <a:rPr lang="zh-CN" altLang="en-US" dirty="0">
                <a:sym typeface="Huawei Sans" panose="020C0503030203020204" pitchFamily="34" charset="0"/>
              </a:rPr>
              <a:t>，该如何配置</a:t>
            </a:r>
            <a:r>
              <a:rPr lang="en-US" altLang="zh-CN" dirty="0">
                <a:sym typeface="Huawei Sans" panose="020C0503030203020204" pitchFamily="34" charset="0"/>
              </a:rPr>
              <a:t>SW2</a:t>
            </a:r>
            <a:r>
              <a:rPr lang="zh-CN" altLang="en-US" dirty="0">
                <a:sym typeface="Huawei Sans" panose="020C0503030203020204" pitchFamily="34" charset="0"/>
              </a:rPr>
              <a:t>？</a:t>
            </a:r>
          </a:p>
        </p:txBody>
      </p:sp>
    </p:spTree>
    <p:extLst>
      <p:ext uri="{BB962C8B-B14F-4D97-AF65-F5344CB8AC3E}">
        <p14:creationId xmlns:p14="http://schemas.microsoft.com/office/powerpoint/2010/main" val="15755232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CE355C1-7171-434E-9B5B-0BD87FD7E892}"/>
              </a:ext>
            </a:extLst>
          </p:cNvPr>
          <p:cNvSpPr>
            <a:spLocks noGrp="1"/>
          </p:cNvSpPr>
          <p:nvPr>
            <p:ph type="title"/>
          </p:nvPr>
        </p:nvSpPr>
        <p:spPr bwMode="gray"/>
        <p:txBody>
          <a:bodyPr/>
          <a:lstStyle/>
          <a:p>
            <a:r>
              <a:rPr lang="zh-CN" altLang="en-US" dirty="0">
                <a:sym typeface="Huawei Sans" panose="020C0503030203020204" pitchFamily="34" charset="0"/>
              </a:rPr>
              <a:t>配置案例：不同子网互访 </a:t>
            </a:r>
            <a:r>
              <a:rPr lang="en-US" altLang="zh-CN" dirty="0">
                <a:sym typeface="Huawei Sans" panose="020C0503030203020204" pitchFamily="34" charset="0"/>
              </a:rPr>
              <a:t>(</a:t>
            </a:r>
            <a:r>
              <a:rPr lang="zh-CN" altLang="en-US" dirty="0">
                <a:sym typeface="Huawei Sans" panose="020C0503030203020204" pitchFamily="34" charset="0"/>
              </a:rPr>
              <a:t>集中式网关</a:t>
            </a:r>
            <a:r>
              <a:rPr lang="en-US" altLang="zh-CN" dirty="0">
                <a:sym typeface="Huawei Sans" panose="020C0503030203020204" pitchFamily="34" charset="0"/>
              </a:rPr>
              <a:t>)</a:t>
            </a:r>
            <a:r>
              <a:rPr lang="zh-CN" altLang="en-US" dirty="0">
                <a:sym typeface="Huawei Sans" panose="020C0503030203020204" pitchFamily="34" charset="0"/>
              </a:rPr>
              <a:t> </a:t>
            </a:r>
            <a:r>
              <a:rPr lang="en-US" altLang="zh-CN" dirty="0">
                <a:sym typeface="Huawei Sans" panose="020C0503030203020204" pitchFamily="34" charset="0"/>
              </a:rPr>
              <a:t>(3)</a:t>
            </a:r>
            <a:endParaRPr lang="zh-CN" altLang="en-US" dirty="0">
              <a:sym typeface="Huawei Sans" panose="020C0503030203020204" pitchFamily="34" charset="0"/>
            </a:endParaRPr>
          </a:p>
        </p:txBody>
      </p:sp>
      <p:grpSp>
        <p:nvGrpSpPr>
          <p:cNvPr id="43" name="组合 42">
            <a:extLst>
              <a:ext uri="{FF2B5EF4-FFF2-40B4-BE49-F238E27FC236}">
                <a16:creationId xmlns:a16="http://schemas.microsoft.com/office/drawing/2014/main" id="{BB9F8CFA-6EF2-45FC-A9DE-A8699569A0CF}"/>
              </a:ext>
            </a:extLst>
          </p:cNvPr>
          <p:cNvGrpSpPr/>
          <p:nvPr/>
        </p:nvGrpSpPr>
        <p:grpSpPr bwMode="gray">
          <a:xfrm>
            <a:off x="1145228" y="2015907"/>
            <a:ext cx="4542144" cy="3147453"/>
            <a:chOff x="895489" y="1566018"/>
            <a:chExt cx="4542144" cy="3147453"/>
          </a:xfrm>
        </p:grpSpPr>
        <p:sp>
          <p:nvSpPr>
            <p:cNvPr id="44" name="矩形: 圆角 43">
              <a:extLst>
                <a:ext uri="{FF2B5EF4-FFF2-40B4-BE49-F238E27FC236}">
                  <a16:creationId xmlns:a16="http://schemas.microsoft.com/office/drawing/2014/main" id="{5DA26DC5-CD5F-47E2-9F6C-CAA86D2C239B}"/>
                </a:ext>
              </a:extLst>
            </p:cNvPr>
            <p:cNvSpPr/>
            <p:nvPr/>
          </p:nvSpPr>
          <p:spPr bwMode="gray">
            <a:xfrm>
              <a:off x="895489" y="1566018"/>
              <a:ext cx="4542144" cy="3147453"/>
            </a:xfrm>
            <a:prstGeom prst="roundRect">
              <a:avLst/>
            </a:prstGeom>
            <a:solidFill>
              <a:srgbClr val="FFF7E1"/>
            </a:solidFill>
            <a:ln>
              <a:solidFill>
                <a:srgbClr val="FCC8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5" name="直接连接符 44">
              <a:extLst>
                <a:ext uri="{FF2B5EF4-FFF2-40B4-BE49-F238E27FC236}">
                  <a16:creationId xmlns:a16="http://schemas.microsoft.com/office/drawing/2014/main" id="{F43FB89D-A78F-424B-B2C5-54EF09493983}"/>
                </a:ext>
              </a:extLst>
            </p:cNvPr>
            <p:cNvCxnSpPr>
              <a:cxnSpLocks/>
            </p:cNvCxnSpPr>
            <p:nvPr/>
          </p:nvCxnSpPr>
          <p:spPr bwMode="gray">
            <a:xfrm flipH="1" flipV="1">
              <a:off x="3011614" y="2209273"/>
              <a:ext cx="1334237" cy="9036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0F0190DB-DFDB-4216-AF39-1F2724F08840}"/>
                </a:ext>
              </a:extLst>
            </p:cNvPr>
            <p:cNvCxnSpPr>
              <a:cxnSpLocks/>
              <a:stCxn id="68" idx="1"/>
            </p:cNvCxnSpPr>
            <p:nvPr/>
          </p:nvCxnSpPr>
          <p:spPr bwMode="gray">
            <a:xfrm flipV="1">
              <a:off x="1729430" y="2209273"/>
              <a:ext cx="1282184" cy="9036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8" name="图片 67">
              <a:extLst>
                <a:ext uri="{FF2B5EF4-FFF2-40B4-BE49-F238E27FC236}">
                  <a16:creationId xmlns:a16="http://schemas.microsoft.com/office/drawing/2014/main" id="{32690E3B-01DE-4CB7-BB9F-C276B5C61176}"/>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729430" y="2891510"/>
              <a:ext cx="540000" cy="442800"/>
            </a:xfrm>
            <a:prstGeom prst="rect">
              <a:avLst/>
            </a:prstGeom>
          </p:spPr>
        </p:pic>
        <p:pic>
          <p:nvPicPr>
            <p:cNvPr id="69" name="图片 68" descr="PC.png">
              <a:extLst>
                <a:ext uri="{FF2B5EF4-FFF2-40B4-BE49-F238E27FC236}">
                  <a16:creationId xmlns:a16="http://schemas.microsoft.com/office/drawing/2014/main" id="{A0FE9DA8-B85B-4C08-BFDB-050C66A10A9C}"/>
                </a:ext>
              </a:extLst>
            </p:cNvPr>
            <p:cNvPicPr>
              <a:picLocks noChangeAspect="1"/>
            </p:cNvPicPr>
            <p:nvPr/>
          </p:nvPicPr>
          <p:blipFill>
            <a:blip r:embed="rId4" cstate="print"/>
            <a:stretch>
              <a:fillRect/>
            </a:stretch>
          </p:blipFill>
          <p:spPr bwMode="gray">
            <a:xfrm>
              <a:off x="1729899" y="3819879"/>
              <a:ext cx="539063" cy="414000"/>
            </a:xfrm>
            <a:prstGeom prst="rect">
              <a:avLst/>
            </a:prstGeom>
          </p:spPr>
        </p:pic>
        <p:pic>
          <p:nvPicPr>
            <p:cNvPr id="70" name="图片 69" descr="PC.png">
              <a:extLst>
                <a:ext uri="{FF2B5EF4-FFF2-40B4-BE49-F238E27FC236}">
                  <a16:creationId xmlns:a16="http://schemas.microsoft.com/office/drawing/2014/main" id="{0DA4A2D5-B3D7-4438-ADFD-64ED23794DE4}"/>
                </a:ext>
              </a:extLst>
            </p:cNvPr>
            <p:cNvPicPr>
              <a:picLocks noChangeAspect="1"/>
            </p:cNvPicPr>
            <p:nvPr/>
          </p:nvPicPr>
          <p:blipFill>
            <a:blip r:embed="rId4" cstate="print"/>
            <a:stretch>
              <a:fillRect/>
            </a:stretch>
          </p:blipFill>
          <p:spPr bwMode="gray">
            <a:xfrm>
              <a:off x="3805851" y="3828860"/>
              <a:ext cx="539063" cy="414000"/>
            </a:xfrm>
            <a:prstGeom prst="rect">
              <a:avLst/>
            </a:prstGeom>
          </p:spPr>
        </p:pic>
        <p:cxnSp>
          <p:nvCxnSpPr>
            <p:cNvPr id="71" name="直接连接符 70">
              <a:extLst>
                <a:ext uri="{FF2B5EF4-FFF2-40B4-BE49-F238E27FC236}">
                  <a16:creationId xmlns:a16="http://schemas.microsoft.com/office/drawing/2014/main" id="{FD859FDF-0D9C-4BF3-BEAD-5825D70CF122}"/>
                </a:ext>
              </a:extLst>
            </p:cNvPr>
            <p:cNvCxnSpPr>
              <a:cxnSpLocks/>
              <a:stCxn id="69" idx="0"/>
              <a:endCxn id="68" idx="2"/>
            </p:cNvCxnSpPr>
            <p:nvPr/>
          </p:nvCxnSpPr>
          <p:spPr bwMode="gray">
            <a:xfrm flipH="1" flipV="1">
              <a:off x="1999430" y="3334310"/>
              <a:ext cx="1" cy="4855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6BFFFCD9-79BD-4F5A-B4AA-8AD7CCD27994}"/>
                </a:ext>
              </a:extLst>
            </p:cNvPr>
            <p:cNvCxnSpPr>
              <a:cxnSpLocks/>
              <a:stCxn id="70" idx="0"/>
            </p:cNvCxnSpPr>
            <p:nvPr/>
          </p:nvCxnSpPr>
          <p:spPr bwMode="gray">
            <a:xfrm flipV="1">
              <a:off x="4075383" y="3334310"/>
              <a:ext cx="468" cy="4945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文本框 72">
              <a:extLst>
                <a:ext uri="{FF2B5EF4-FFF2-40B4-BE49-F238E27FC236}">
                  <a16:creationId xmlns:a16="http://schemas.microsoft.com/office/drawing/2014/main" id="{95D78739-3D07-4516-A4D0-0F0A46D38804}"/>
                </a:ext>
              </a:extLst>
            </p:cNvPr>
            <p:cNvSpPr txBox="1"/>
            <p:nvPr/>
          </p:nvSpPr>
          <p:spPr bwMode="gray">
            <a:xfrm>
              <a:off x="1302598" y="4290999"/>
              <a:ext cx="1489510" cy="307777"/>
            </a:xfrm>
            <a:prstGeom prst="rect">
              <a:avLst/>
            </a:prstGeom>
          </p:spPr>
          <p:txBody>
            <a:bodyPr wrap="none" rtlCol="0">
              <a:spAutoFit/>
            </a:bodyPr>
            <a:lstStyle/>
            <a:p>
              <a:pPr algn="l"/>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192.168.1.10/24</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文本框 73">
              <a:extLst>
                <a:ext uri="{FF2B5EF4-FFF2-40B4-BE49-F238E27FC236}">
                  <a16:creationId xmlns:a16="http://schemas.microsoft.com/office/drawing/2014/main" id="{86F078FF-261D-4679-9BE1-33764B5F0054}"/>
                </a:ext>
              </a:extLst>
            </p:cNvPr>
            <p:cNvSpPr txBox="1"/>
            <p:nvPr/>
          </p:nvSpPr>
          <p:spPr bwMode="gray">
            <a:xfrm>
              <a:off x="3330627" y="4299980"/>
              <a:ext cx="1489510" cy="307777"/>
            </a:xfrm>
            <a:prstGeom prst="rect">
              <a:avLst/>
            </a:prstGeom>
          </p:spPr>
          <p:txBody>
            <a:bodyPr wrap="none" rtlCol="0">
              <a:spAutoFit/>
            </a:bodyPr>
            <a:lstStyle/>
            <a:p>
              <a:pPr algn="l"/>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192.168.2.10/24</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文本框 74">
              <a:extLst>
                <a:ext uri="{FF2B5EF4-FFF2-40B4-BE49-F238E27FC236}">
                  <a16:creationId xmlns:a16="http://schemas.microsoft.com/office/drawing/2014/main" id="{6BCA076D-5D9D-4CF1-82B1-009FD9090E37}"/>
                </a:ext>
              </a:extLst>
            </p:cNvPr>
            <p:cNvSpPr txBox="1"/>
            <p:nvPr/>
          </p:nvSpPr>
          <p:spPr bwMode="gray">
            <a:xfrm>
              <a:off x="2209142" y="2822696"/>
              <a:ext cx="984565" cy="523220"/>
            </a:xfrm>
            <a:prstGeom prst="rect">
              <a:avLst/>
            </a:prstGeom>
          </p:spPr>
          <p:txBody>
            <a:bodyPr wrap="none" rtlCol="0">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a:t>
              </a: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1.1.1.1/32</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文本框 75">
              <a:extLst>
                <a:ext uri="{FF2B5EF4-FFF2-40B4-BE49-F238E27FC236}">
                  <a16:creationId xmlns:a16="http://schemas.microsoft.com/office/drawing/2014/main" id="{9FB7B429-0D09-4142-B15C-A9CAB7C8CBE8}"/>
                </a:ext>
              </a:extLst>
            </p:cNvPr>
            <p:cNvSpPr txBox="1"/>
            <p:nvPr/>
          </p:nvSpPr>
          <p:spPr bwMode="gray">
            <a:xfrm>
              <a:off x="4320372" y="2851300"/>
              <a:ext cx="984565" cy="523220"/>
            </a:xfrm>
            <a:prstGeom prst="rect">
              <a:avLst/>
            </a:prstGeom>
          </p:spPr>
          <p:txBody>
            <a:bodyPr wrap="non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VTEP</a:t>
              </a:r>
            </a:p>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2.2.2.2/32</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文本框 76">
              <a:extLst>
                <a:ext uri="{FF2B5EF4-FFF2-40B4-BE49-F238E27FC236}">
                  <a16:creationId xmlns:a16="http://schemas.microsoft.com/office/drawing/2014/main" id="{D2BD44E1-FB68-4802-9F49-EC424DB1E423}"/>
                </a:ext>
              </a:extLst>
            </p:cNvPr>
            <p:cNvSpPr txBox="1"/>
            <p:nvPr/>
          </p:nvSpPr>
          <p:spPr bwMode="gray">
            <a:xfrm>
              <a:off x="3224335" y="3345895"/>
              <a:ext cx="851516" cy="307777"/>
            </a:xfrm>
            <a:prstGeom prst="rect">
              <a:avLst/>
            </a:prstGeom>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GE1/0/1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文本框 77">
              <a:extLst>
                <a:ext uri="{FF2B5EF4-FFF2-40B4-BE49-F238E27FC236}">
                  <a16:creationId xmlns:a16="http://schemas.microsoft.com/office/drawing/2014/main" id="{62781243-ABF1-460F-A012-8AF96AA0BAD0}"/>
                </a:ext>
              </a:extLst>
            </p:cNvPr>
            <p:cNvSpPr txBox="1"/>
            <p:nvPr/>
          </p:nvSpPr>
          <p:spPr bwMode="gray">
            <a:xfrm>
              <a:off x="1182502" y="2973649"/>
              <a:ext cx="575800" cy="307777"/>
            </a:xfrm>
            <a:prstGeom prst="rect">
              <a:avLst/>
            </a:prstGeom>
          </p:spPr>
          <p:txBody>
            <a:bodyPr wrap="none" rtlCol="0">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文本框 78">
              <a:extLst>
                <a:ext uri="{FF2B5EF4-FFF2-40B4-BE49-F238E27FC236}">
                  <a16:creationId xmlns:a16="http://schemas.microsoft.com/office/drawing/2014/main" id="{BAA8CDB6-8216-4251-9312-C9068CCF4FC5}"/>
                </a:ext>
              </a:extLst>
            </p:cNvPr>
            <p:cNvSpPr txBox="1"/>
            <p:nvPr/>
          </p:nvSpPr>
          <p:spPr bwMode="gray">
            <a:xfrm>
              <a:off x="3284248" y="2959021"/>
              <a:ext cx="575800" cy="307777"/>
            </a:xfrm>
            <a:prstGeom prst="rect">
              <a:avLst/>
            </a:prstGeom>
          </p:spPr>
          <p:txBody>
            <a:bodyPr wrap="none" rtlCol="0">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文本框 79">
              <a:extLst>
                <a:ext uri="{FF2B5EF4-FFF2-40B4-BE49-F238E27FC236}">
                  <a16:creationId xmlns:a16="http://schemas.microsoft.com/office/drawing/2014/main" id="{A1C35BF1-BE03-47FF-8058-463FE90D5089}"/>
                </a:ext>
              </a:extLst>
            </p:cNvPr>
            <p:cNvSpPr txBox="1"/>
            <p:nvPr/>
          </p:nvSpPr>
          <p:spPr bwMode="gray">
            <a:xfrm>
              <a:off x="1152099" y="3318433"/>
              <a:ext cx="851516" cy="307777"/>
            </a:xfrm>
            <a:prstGeom prst="rect">
              <a:avLst/>
            </a:prstGeom>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GE1/0/1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文本框 80">
              <a:extLst>
                <a:ext uri="{FF2B5EF4-FFF2-40B4-BE49-F238E27FC236}">
                  <a16:creationId xmlns:a16="http://schemas.microsoft.com/office/drawing/2014/main" id="{81830523-41BD-40D3-9BC3-A90070EFB8E8}"/>
                </a:ext>
              </a:extLst>
            </p:cNvPr>
            <p:cNvSpPr txBox="1"/>
            <p:nvPr/>
          </p:nvSpPr>
          <p:spPr bwMode="gray">
            <a:xfrm>
              <a:off x="2174303" y="1854071"/>
              <a:ext cx="575800" cy="307777"/>
            </a:xfrm>
            <a:prstGeom prst="rect">
              <a:avLst/>
            </a:prstGeom>
          </p:spPr>
          <p:txBody>
            <a:bodyPr wrap="none" rtlCol="0">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文本框 81">
              <a:extLst>
                <a:ext uri="{FF2B5EF4-FFF2-40B4-BE49-F238E27FC236}">
                  <a16:creationId xmlns:a16="http://schemas.microsoft.com/office/drawing/2014/main" id="{AD3F7AE1-4466-4031-B53A-209E2AEAE977}"/>
                </a:ext>
              </a:extLst>
            </p:cNvPr>
            <p:cNvSpPr txBox="1"/>
            <p:nvPr/>
          </p:nvSpPr>
          <p:spPr bwMode="gray">
            <a:xfrm>
              <a:off x="3231443" y="1751233"/>
              <a:ext cx="984565" cy="523220"/>
            </a:xfrm>
            <a:prstGeom prst="rect">
              <a:avLst/>
            </a:prstGeom>
          </p:spPr>
          <p:txBody>
            <a:bodyPr wrap="none" rtlCol="0">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VTEP</a:t>
              </a:r>
            </a:p>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3.3.3.3/32</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文本框 82">
              <a:extLst>
                <a:ext uri="{FF2B5EF4-FFF2-40B4-BE49-F238E27FC236}">
                  <a16:creationId xmlns:a16="http://schemas.microsoft.com/office/drawing/2014/main" id="{C4A2D38F-4E24-4EA8-AB7F-17FA36292155}"/>
                </a:ext>
              </a:extLst>
            </p:cNvPr>
            <p:cNvSpPr txBox="1"/>
            <p:nvPr/>
          </p:nvSpPr>
          <p:spPr bwMode="gray">
            <a:xfrm>
              <a:off x="924065" y="1821438"/>
              <a:ext cx="1157689" cy="738664"/>
            </a:xfrm>
            <a:prstGeom prst="rect">
              <a:avLst/>
            </a:prstGeom>
          </p:spPr>
          <p:txBody>
            <a:bodyPr wrap="none" rtlCol="0">
              <a:spAutoFit/>
            </a:bodyPr>
            <a:lstStyle/>
            <a:p>
              <a:pPr algn="r"/>
              <a:r>
                <a:rPr lang="en-US" altLang="zh-CN" sz="14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BD 100</a:t>
              </a:r>
            </a:p>
            <a:p>
              <a:pPr algn="r"/>
              <a:r>
                <a:rPr lang="en-US" altLang="zh-CN" sz="14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VNI 10000</a:t>
              </a:r>
            </a:p>
            <a:p>
              <a:pPr algn="r"/>
              <a:r>
                <a:rPr lang="en-US" altLang="zh-CN" sz="14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192.168.1.1</a:t>
              </a:r>
            </a:p>
          </p:txBody>
        </p:sp>
        <p:sp>
          <p:nvSpPr>
            <p:cNvPr id="84" name="文本框 83">
              <a:extLst>
                <a:ext uri="{FF2B5EF4-FFF2-40B4-BE49-F238E27FC236}">
                  <a16:creationId xmlns:a16="http://schemas.microsoft.com/office/drawing/2014/main" id="{5A04347F-26A7-4FF2-9A78-D9C9D7CD1981}"/>
                </a:ext>
              </a:extLst>
            </p:cNvPr>
            <p:cNvSpPr txBox="1"/>
            <p:nvPr/>
          </p:nvSpPr>
          <p:spPr bwMode="gray">
            <a:xfrm>
              <a:off x="4193051" y="1789482"/>
              <a:ext cx="1157689" cy="738664"/>
            </a:xfrm>
            <a:prstGeom prst="rect">
              <a:avLst/>
            </a:prstGeom>
          </p:spPr>
          <p:txBody>
            <a:bodyPr wrap="none" rtlCol="0">
              <a:spAutoFit/>
            </a:bodyPr>
            <a:lstStyle/>
            <a:p>
              <a:r>
                <a:rPr lang="en-US" altLang="zh-CN" sz="14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BD 200</a:t>
              </a:r>
            </a:p>
            <a:p>
              <a:r>
                <a:rPr lang="en-US" altLang="zh-CN" sz="14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VNI 20000</a:t>
              </a:r>
            </a:p>
            <a:p>
              <a:r>
                <a:rPr lang="en-US" altLang="zh-CN" sz="14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rPr>
                <a:t>192.168.2.1</a:t>
              </a:r>
              <a:endParaRPr lang="zh-CN" altLang="en-US" sz="1400" b="1" dirty="0">
                <a:solidFill>
                  <a:srgbClr val="C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5" name="图片 84">
              <a:extLst>
                <a:ext uri="{FF2B5EF4-FFF2-40B4-BE49-F238E27FC236}">
                  <a16:creationId xmlns:a16="http://schemas.microsoft.com/office/drawing/2014/main" id="{C1FC24D9-D02E-4127-8386-9B6CA38D69C8}"/>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3793651" y="2885718"/>
              <a:ext cx="540000" cy="442800"/>
            </a:xfrm>
            <a:prstGeom prst="rect">
              <a:avLst/>
            </a:prstGeom>
          </p:spPr>
        </p:pic>
        <p:grpSp>
          <p:nvGrpSpPr>
            <p:cNvPr id="86" name="组合 85">
              <a:extLst>
                <a:ext uri="{FF2B5EF4-FFF2-40B4-BE49-F238E27FC236}">
                  <a16:creationId xmlns:a16="http://schemas.microsoft.com/office/drawing/2014/main" id="{8CF45B71-A59D-487E-8D05-1CDD3E195F70}"/>
                </a:ext>
              </a:extLst>
            </p:cNvPr>
            <p:cNvGrpSpPr/>
            <p:nvPr/>
          </p:nvGrpSpPr>
          <p:grpSpPr bwMode="gray">
            <a:xfrm>
              <a:off x="2753067" y="1781239"/>
              <a:ext cx="540247" cy="451523"/>
              <a:chOff x="3665233" y="5134405"/>
              <a:chExt cx="540247" cy="451523"/>
            </a:xfrm>
          </p:grpSpPr>
          <p:pic>
            <p:nvPicPr>
              <p:cNvPr id="87" name="图片 86">
                <a:extLst>
                  <a:ext uri="{FF2B5EF4-FFF2-40B4-BE49-F238E27FC236}">
                    <a16:creationId xmlns:a16="http://schemas.microsoft.com/office/drawing/2014/main" id="{AEC08F11-3609-41C5-A2B1-9176F2B53869}"/>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3665480" y="5134405"/>
                <a:ext cx="540000" cy="442800"/>
              </a:xfrm>
              <a:prstGeom prst="rect">
                <a:avLst/>
              </a:prstGeom>
            </p:spPr>
          </p:pic>
          <p:pic>
            <p:nvPicPr>
              <p:cNvPr id="88" name="图片 87">
                <a:extLst>
                  <a:ext uri="{FF2B5EF4-FFF2-40B4-BE49-F238E27FC236}">
                    <a16:creationId xmlns:a16="http://schemas.microsoft.com/office/drawing/2014/main" id="{1D1C513E-24A1-4150-B7DD-86891DF2D3DD}"/>
                  </a:ext>
                </a:extLst>
              </p:cNvPr>
              <p:cNvPicPr>
                <a:picLocks/>
              </p:cNvPicPr>
              <p:nvPr/>
            </p:nvPicPr>
            <p:blipFill rotWithShape="1">
              <a:blip r:embed="rId3" cstate="print">
                <a:extLst>
                  <a:ext uri="{28A0092B-C50C-407E-A947-70E740481C1C}">
                    <a14:useLocalDpi xmlns:a14="http://schemas.microsoft.com/office/drawing/2010/main" val="0"/>
                  </a:ext>
                </a:extLst>
              </a:blip>
              <a:srcRect r="47919"/>
              <a:stretch/>
            </p:blipFill>
            <p:spPr bwMode="gray">
              <a:xfrm>
                <a:off x="3665233" y="5143128"/>
                <a:ext cx="281235" cy="442800"/>
              </a:xfrm>
              <a:prstGeom prst="rect">
                <a:avLst/>
              </a:prstGeom>
            </p:spPr>
          </p:pic>
        </p:grpSp>
      </p:grpSp>
      <p:sp>
        <p:nvSpPr>
          <p:cNvPr id="92" name="文本框 91">
            <a:extLst>
              <a:ext uri="{FF2B5EF4-FFF2-40B4-BE49-F238E27FC236}">
                <a16:creationId xmlns:a16="http://schemas.microsoft.com/office/drawing/2014/main" id="{92E12448-099D-4163-AEBF-E5EE5A7A4E61}"/>
              </a:ext>
            </a:extLst>
          </p:cNvPr>
          <p:cNvSpPr txBox="1"/>
          <p:nvPr/>
        </p:nvSpPr>
        <p:spPr bwMode="gray">
          <a:xfrm>
            <a:off x="731838" y="5446895"/>
            <a:ext cx="5364162" cy="707886"/>
          </a:xfrm>
          <a:prstGeom prst="rect">
            <a:avLst/>
          </a:prstGeom>
          <a:noFill/>
        </p:spPr>
        <p:txBody>
          <a:bodyPr wrap="square" rtlCol="0">
            <a:spAutoFit/>
          </a:bodyPr>
          <a:lstStyle/>
          <a:p>
            <a:pPr marL="185738" indent="-185738" algn="just" fontAlgn="auto">
              <a:lnSpc>
                <a:spcPts val="2400"/>
              </a:lnSpc>
              <a:spcBef>
                <a:spcPts val="0"/>
              </a:spcBef>
              <a:spcAft>
                <a:spcPts val="600"/>
              </a:spcAft>
              <a:buFont typeface="Huawei Sans" panose="020B0604020202020204" pitchFamily="34" charset="0"/>
              <a:buChar char="•"/>
            </a:pP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三台交换机配置</a:t>
            </a:r>
            <a:r>
              <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隧道，实现跨网段两台</a:t>
            </a:r>
            <a:r>
              <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PC</a:t>
            </a: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之间的互访。</a:t>
            </a:r>
            <a:r>
              <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网关集中在</a:t>
            </a:r>
            <a:r>
              <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r>
              <a:rPr lang="zh-CN" altLang="en-US"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文本框 92">
            <a:extLst>
              <a:ext uri="{FF2B5EF4-FFF2-40B4-BE49-F238E27FC236}">
                <a16:creationId xmlns:a16="http://schemas.microsoft.com/office/drawing/2014/main" id="{760BD3C3-5D79-4F85-9D4A-286641834145}"/>
              </a:ext>
            </a:extLst>
          </p:cNvPr>
          <p:cNvSpPr txBox="1"/>
          <p:nvPr/>
        </p:nvSpPr>
        <p:spPr bwMode="gray">
          <a:xfrm>
            <a:off x="6318688" y="4594821"/>
            <a:ext cx="4314412" cy="523220"/>
          </a:xfrm>
          <a:prstGeom prst="rect">
            <a:avLst/>
          </a:prstGeom>
          <a:solidFill>
            <a:schemeClr val="bg1">
              <a:lumMod val="85000"/>
            </a:schemeClr>
          </a:solidFill>
        </p:spPr>
        <p:txBody>
          <a:bodyPr wrap="square" rtlCol="0">
            <a:spAutoFit/>
          </a:bodyPr>
          <a:lstStyle>
            <a:defPPr>
              <a:defRPr lang="en-US"/>
            </a:defPPr>
            <a:lvl1pPr fontAlgn="auto">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r>
              <a:rPr lang="en-US" altLang="zh-CN">
                <a:sym typeface="Huawei Sans" panose="020C0503030203020204" pitchFamily="34" charset="0"/>
              </a:rPr>
              <a:t>[SW3] interface Vbdif100</a:t>
            </a:r>
          </a:p>
          <a:p>
            <a:r>
              <a:rPr lang="en-US" altLang="zh-CN">
                <a:sym typeface="Huawei Sans" panose="020C0503030203020204" pitchFamily="34" charset="0"/>
              </a:rPr>
              <a:t>[SW3-Vbdif100] ip address 192.168.1.1 24</a:t>
            </a:r>
          </a:p>
        </p:txBody>
      </p:sp>
      <p:sp>
        <p:nvSpPr>
          <p:cNvPr id="95" name="文本框 94">
            <a:extLst>
              <a:ext uri="{FF2B5EF4-FFF2-40B4-BE49-F238E27FC236}">
                <a16:creationId xmlns:a16="http://schemas.microsoft.com/office/drawing/2014/main" id="{38D0DCBB-B45B-4A83-8F36-85A970743396}"/>
              </a:ext>
            </a:extLst>
          </p:cNvPr>
          <p:cNvSpPr txBox="1"/>
          <p:nvPr/>
        </p:nvSpPr>
        <p:spPr bwMode="gray">
          <a:xfrm>
            <a:off x="6314805" y="1392596"/>
            <a:ext cx="1712328"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 </a:t>
            </a:r>
            <a:r>
              <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配置如下：</a:t>
            </a:r>
          </a:p>
        </p:txBody>
      </p:sp>
      <p:grpSp>
        <p:nvGrpSpPr>
          <p:cNvPr id="4" name="组合 3"/>
          <p:cNvGrpSpPr/>
          <p:nvPr/>
        </p:nvGrpSpPr>
        <p:grpSpPr bwMode="gray">
          <a:xfrm>
            <a:off x="889747" y="1392596"/>
            <a:ext cx="5053105" cy="346713"/>
            <a:chOff x="701519" y="1392596"/>
            <a:chExt cx="5053105" cy="346713"/>
          </a:xfrm>
        </p:grpSpPr>
        <p:sp>
          <p:nvSpPr>
            <p:cNvPr id="89" name="圆角矩形 11">
              <a:extLst>
                <a:ext uri="{FF2B5EF4-FFF2-40B4-BE49-F238E27FC236}">
                  <a16:creationId xmlns:a16="http://schemas.microsoft.com/office/drawing/2014/main" id="{B2A1F7B2-220E-4AB7-93EB-15CC3617A14A}"/>
                </a:ext>
              </a:extLst>
            </p:cNvPr>
            <p:cNvSpPr/>
            <p:nvPr/>
          </p:nvSpPr>
          <p:spPr bwMode="gray">
            <a:xfrm>
              <a:off x="701519" y="1394206"/>
              <a:ext cx="1697901" cy="345103"/>
            </a:xfrm>
            <a:prstGeom prst="roundRect">
              <a:avLst>
                <a:gd name="adj" fmla="val 4298"/>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隧道</a:t>
              </a:r>
            </a:p>
          </p:txBody>
        </p:sp>
        <p:sp>
          <p:nvSpPr>
            <p:cNvPr id="90" name="圆角矩形 12">
              <a:extLst>
                <a:ext uri="{FF2B5EF4-FFF2-40B4-BE49-F238E27FC236}">
                  <a16:creationId xmlns:a16="http://schemas.microsoft.com/office/drawing/2014/main" id="{3BD8F2E2-E241-48FA-BB69-64765E980304}"/>
                </a:ext>
              </a:extLst>
            </p:cNvPr>
            <p:cNvSpPr/>
            <p:nvPr/>
          </p:nvSpPr>
          <p:spPr bwMode="gray">
            <a:xfrm>
              <a:off x="2832919" y="1392596"/>
              <a:ext cx="1458666" cy="346713"/>
            </a:xfrm>
            <a:prstGeom prst="roundRect">
              <a:avLst>
                <a:gd name="adj" fmla="val 4298"/>
              </a:avLst>
            </a:prstGeom>
            <a:solidFill>
              <a:schemeClr val="bg1">
                <a:lumMod val="95000"/>
              </a:schemeClr>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配置业务接入</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1" name="直接箭头连接符 90">
              <a:extLst>
                <a:ext uri="{FF2B5EF4-FFF2-40B4-BE49-F238E27FC236}">
                  <a16:creationId xmlns:a16="http://schemas.microsoft.com/office/drawing/2014/main" id="{671B4E4F-E01F-4505-B1B9-75CD340845B9}"/>
                </a:ext>
              </a:extLst>
            </p:cNvPr>
            <p:cNvCxnSpPr>
              <a:cxnSpLocks/>
              <a:stCxn id="89" idx="3"/>
              <a:endCxn id="90" idx="1"/>
            </p:cNvCxnSpPr>
            <p:nvPr/>
          </p:nvCxnSpPr>
          <p:spPr bwMode="gray">
            <a:xfrm flipV="1">
              <a:off x="2399420" y="1565953"/>
              <a:ext cx="433499" cy="805"/>
            </a:xfrm>
            <a:prstGeom prst="straightConnector1">
              <a:avLst/>
            </a:prstGeom>
            <a:noFill/>
            <a:ln w="19050" cap="flat" cmpd="sng" algn="ctr">
              <a:solidFill>
                <a:schemeClr val="tx1"/>
              </a:solidFill>
              <a:prstDash val="solid"/>
              <a:round/>
              <a:headEnd type="none" w="med" len="med"/>
              <a:tailEnd type="triangle"/>
            </a:ln>
            <a:effectLst/>
          </p:spPr>
        </p:cxnSp>
        <p:sp>
          <p:nvSpPr>
            <p:cNvPr id="99" name="圆角矩形 12">
              <a:extLst>
                <a:ext uri="{FF2B5EF4-FFF2-40B4-BE49-F238E27FC236}">
                  <a16:creationId xmlns:a16="http://schemas.microsoft.com/office/drawing/2014/main" id="{09EE1035-8A6B-4914-82F7-A715FB08D21E}"/>
                </a:ext>
              </a:extLst>
            </p:cNvPr>
            <p:cNvSpPr/>
            <p:nvPr/>
          </p:nvSpPr>
          <p:spPr bwMode="gray">
            <a:xfrm>
              <a:off x="4725084" y="1392596"/>
              <a:ext cx="1029540" cy="346713"/>
            </a:xfrm>
            <a:prstGeom prst="roundRect">
              <a:avLst>
                <a:gd name="adj" fmla="val 4298"/>
              </a:avLst>
            </a:prstGeom>
            <a:solidFill>
              <a:srgbClr val="30B5C5"/>
            </a:solidFill>
            <a:ln w="19050">
              <a:noFill/>
            </a:ln>
          </p:spPr>
          <p:txBody>
            <a:bodyPr wrap="none" rtlCol="0">
              <a:spAutoFit/>
            </a:bodyPr>
            <a:lstStyle/>
            <a:p>
              <a:r>
                <a:rPr lang="zh-CN" altLang="en-US" sz="16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配置网关</a:t>
              </a:r>
              <a:endParaRPr lang="zh-CN" altLang="en-US"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0" name="直接箭头连接符 99">
              <a:extLst>
                <a:ext uri="{FF2B5EF4-FFF2-40B4-BE49-F238E27FC236}">
                  <a16:creationId xmlns:a16="http://schemas.microsoft.com/office/drawing/2014/main" id="{3203AB50-E2EC-4D43-B3A9-55EAB83901FF}"/>
                </a:ext>
              </a:extLst>
            </p:cNvPr>
            <p:cNvCxnSpPr>
              <a:cxnSpLocks/>
              <a:stCxn id="90" idx="3"/>
              <a:endCxn id="99" idx="1"/>
            </p:cNvCxnSpPr>
            <p:nvPr/>
          </p:nvCxnSpPr>
          <p:spPr bwMode="gray">
            <a:xfrm>
              <a:off x="4291585" y="1565953"/>
              <a:ext cx="433499" cy="0"/>
            </a:xfrm>
            <a:prstGeom prst="straightConnector1">
              <a:avLst/>
            </a:prstGeom>
            <a:noFill/>
            <a:ln w="19050" cap="flat" cmpd="sng" algn="ctr">
              <a:solidFill>
                <a:schemeClr val="tx1"/>
              </a:solidFill>
              <a:prstDash val="solid"/>
              <a:round/>
              <a:headEnd type="none" w="med" len="med"/>
              <a:tailEnd type="triangle"/>
            </a:ln>
            <a:effectLst/>
          </p:spPr>
        </p:cxnSp>
      </p:grpSp>
      <p:sp>
        <p:nvSpPr>
          <p:cNvPr id="39" name="文本框 38">
            <a:extLst>
              <a:ext uri="{FF2B5EF4-FFF2-40B4-BE49-F238E27FC236}">
                <a16:creationId xmlns:a16="http://schemas.microsoft.com/office/drawing/2014/main" id="{31207071-BFD2-4E66-AC26-06EC826361A3}"/>
              </a:ext>
            </a:extLst>
          </p:cNvPr>
          <p:cNvSpPr txBox="1"/>
          <p:nvPr/>
        </p:nvSpPr>
        <p:spPr bwMode="gray">
          <a:xfrm>
            <a:off x="6318688" y="5405748"/>
            <a:ext cx="4314412" cy="523220"/>
          </a:xfrm>
          <a:prstGeom prst="rect">
            <a:avLst/>
          </a:prstGeom>
          <a:solidFill>
            <a:schemeClr val="bg1">
              <a:lumMod val="85000"/>
            </a:schemeClr>
          </a:solidFill>
        </p:spPr>
        <p:txBody>
          <a:bodyPr wrap="square" rtlCol="0">
            <a:spAutoFit/>
          </a:bodyPr>
          <a:lstStyle>
            <a:defPPr>
              <a:defRPr lang="en-US"/>
            </a:defPPr>
            <a:lvl1pPr fontAlgn="auto">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r>
              <a:rPr lang="en-US" altLang="zh-CN">
                <a:sym typeface="Huawei Sans" panose="020C0503030203020204" pitchFamily="34" charset="0"/>
              </a:rPr>
              <a:t>[SW3] interface Vbdif200</a:t>
            </a:r>
          </a:p>
          <a:p>
            <a:r>
              <a:rPr lang="en-US" altLang="zh-CN">
                <a:sym typeface="Huawei Sans" panose="020C0503030203020204" pitchFamily="34" charset="0"/>
              </a:rPr>
              <a:t>[SW3-Vbdif200] ip address 192.168.2.1 24</a:t>
            </a:r>
          </a:p>
        </p:txBody>
      </p:sp>
      <p:sp>
        <p:nvSpPr>
          <p:cNvPr id="37" name="Can 225">
            <a:extLst>
              <a:ext uri="{FF2B5EF4-FFF2-40B4-BE49-F238E27FC236}">
                <a16:creationId xmlns:a16="http://schemas.microsoft.com/office/drawing/2014/main" id="{125A83D8-B282-4E8F-AA1F-255F985B55DE}"/>
              </a:ext>
            </a:extLst>
          </p:cNvPr>
          <p:cNvSpPr/>
          <p:nvPr/>
        </p:nvSpPr>
        <p:spPr bwMode="gray">
          <a:xfrm rot="3266122">
            <a:off x="2523787" y="2474253"/>
            <a:ext cx="164776" cy="960379"/>
          </a:xfrm>
          <a:prstGeom prst="can">
            <a:avLst/>
          </a:prstGeom>
          <a:solidFill>
            <a:srgbClr val="1163AB"/>
          </a:solidFill>
          <a:ln w="9525">
            <a:solidFill>
              <a:srgbClr val="0066CC"/>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VXLAN</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Can 225">
            <a:extLst>
              <a:ext uri="{FF2B5EF4-FFF2-40B4-BE49-F238E27FC236}">
                <a16:creationId xmlns:a16="http://schemas.microsoft.com/office/drawing/2014/main" id="{125A83D8-B282-4E8F-AA1F-255F985B55DE}"/>
              </a:ext>
            </a:extLst>
          </p:cNvPr>
          <p:cNvSpPr/>
          <p:nvPr/>
        </p:nvSpPr>
        <p:spPr bwMode="gray">
          <a:xfrm rot="7449245">
            <a:off x="3855470" y="2489091"/>
            <a:ext cx="164776" cy="960379"/>
          </a:xfrm>
          <a:prstGeom prst="can">
            <a:avLst/>
          </a:prstGeom>
          <a:solidFill>
            <a:srgbClr val="EDAA4A"/>
          </a:solidFill>
          <a:ln w="9525">
            <a:solidFill>
              <a:srgbClr val="EDAA4A"/>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VXLAN</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39">
            <a:extLst>
              <a:ext uri="{FF2B5EF4-FFF2-40B4-BE49-F238E27FC236}">
                <a16:creationId xmlns:a16="http://schemas.microsoft.com/office/drawing/2014/main" id="{325C47B2-091F-4040-AA35-B300E1689F83}"/>
              </a:ext>
            </a:extLst>
          </p:cNvPr>
          <p:cNvSpPr txBox="1"/>
          <p:nvPr/>
        </p:nvSpPr>
        <p:spPr bwMode="gray">
          <a:xfrm>
            <a:off x="6314805" y="1731150"/>
            <a:ext cx="4314412" cy="523220"/>
          </a:xfrm>
          <a:prstGeom prst="rect">
            <a:avLst/>
          </a:prstGeom>
          <a:solidFill>
            <a:schemeClr val="bg1">
              <a:lumMod val="85000"/>
            </a:schemeClr>
          </a:solidFill>
        </p:spPr>
        <p:txBody>
          <a:bodyPr wrap="square" rtlCol="0">
            <a:spAutoFit/>
          </a:bodyPr>
          <a:lstStyle>
            <a:defPPr>
              <a:defRPr lang="en-US"/>
            </a:defPPr>
            <a:lvl1pPr fontAlgn="auto">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r>
              <a:rPr lang="en-US" altLang="zh-CN" dirty="0">
                <a:sym typeface="Huawei Sans" panose="020C0503030203020204" pitchFamily="34" charset="0"/>
              </a:rPr>
              <a:t>[SW3] bridge-domain 100</a:t>
            </a:r>
          </a:p>
          <a:p>
            <a:r>
              <a:rPr lang="en-US" altLang="zh-CN" dirty="0">
                <a:sym typeface="Huawei Sans" panose="020C0503030203020204" pitchFamily="34" charset="0"/>
              </a:rPr>
              <a:t>[SW3-bd100] </a:t>
            </a:r>
            <a:r>
              <a:rPr lang="en-US" altLang="zh-CN" dirty="0" err="1">
                <a:sym typeface="Huawei Sans" panose="020C0503030203020204" pitchFamily="34" charset="0"/>
              </a:rPr>
              <a:t>vxlan</a:t>
            </a:r>
            <a:r>
              <a:rPr lang="en-US" altLang="zh-CN" dirty="0">
                <a:sym typeface="Huawei Sans" panose="020C0503030203020204" pitchFamily="34" charset="0"/>
              </a:rPr>
              <a:t> </a:t>
            </a:r>
            <a:r>
              <a:rPr lang="en-US" altLang="zh-CN" dirty="0" err="1">
                <a:sym typeface="Huawei Sans" panose="020C0503030203020204" pitchFamily="34" charset="0"/>
              </a:rPr>
              <a:t>vni</a:t>
            </a:r>
            <a:r>
              <a:rPr lang="en-US" altLang="zh-CN" dirty="0">
                <a:sym typeface="Huawei Sans" panose="020C0503030203020204" pitchFamily="34" charset="0"/>
              </a:rPr>
              <a:t> 10000</a:t>
            </a:r>
          </a:p>
        </p:txBody>
      </p:sp>
      <p:sp>
        <p:nvSpPr>
          <p:cNvPr id="41" name="文本框 40">
            <a:extLst>
              <a:ext uri="{FF2B5EF4-FFF2-40B4-BE49-F238E27FC236}">
                <a16:creationId xmlns:a16="http://schemas.microsoft.com/office/drawing/2014/main" id="{65487F79-6EAD-4C28-A8F2-F2E54887A697}"/>
              </a:ext>
            </a:extLst>
          </p:cNvPr>
          <p:cNvSpPr txBox="1"/>
          <p:nvPr/>
        </p:nvSpPr>
        <p:spPr bwMode="gray">
          <a:xfrm>
            <a:off x="6318688" y="3353006"/>
            <a:ext cx="4314412" cy="954107"/>
          </a:xfrm>
          <a:prstGeom prst="rect">
            <a:avLst/>
          </a:prstGeom>
          <a:solidFill>
            <a:schemeClr val="bg1">
              <a:lumMod val="85000"/>
            </a:schemeClr>
          </a:solidFill>
        </p:spPr>
        <p:txBody>
          <a:bodyPr wrap="square" rtlCol="0">
            <a:spAutoFit/>
          </a:bodyPr>
          <a:lstStyle>
            <a:defPPr>
              <a:defRPr lang="en-US"/>
            </a:defPPr>
            <a:lvl1pPr fontAlgn="auto">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r>
              <a:rPr lang="en-US" altLang="zh-CN" dirty="0">
                <a:sym typeface="Huawei Sans" panose="020C0503030203020204" pitchFamily="34" charset="0"/>
              </a:rPr>
              <a:t>[SW3] interface </a:t>
            </a:r>
            <a:r>
              <a:rPr lang="en-US" altLang="zh-CN" dirty="0" err="1">
                <a:sym typeface="Huawei Sans" panose="020C0503030203020204" pitchFamily="34" charset="0"/>
              </a:rPr>
              <a:t>Nve</a:t>
            </a:r>
            <a:r>
              <a:rPr lang="en-US" altLang="zh-CN" dirty="0">
                <a:sym typeface="Huawei Sans" panose="020C0503030203020204" pitchFamily="34" charset="0"/>
              </a:rPr>
              <a:t> 1</a:t>
            </a:r>
          </a:p>
          <a:p>
            <a:r>
              <a:rPr lang="en-US" altLang="zh-CN" dirty="0">
                <a:sym typeface="Huawei Sans" panose="020C0503030203020204" pitchFamily="34" charset="0"/>
              </a:rPr>
              <a:t>[SW3-Nve1] source 3.3.3.3</a:t>
            </a:r>
          </a:p>
          <a:p>
            <a:r>
              <a:rPr lang="en-US" altLang="zh-CN" dirty="0">
                <a:sym typeface="Huawei Sans" panose="020C0503030203020204" pitchFamily="34" charset="0"/>
              </a:rPr>
              <a:t>[SW3-Nve1] </a:t>
            </a:r>
            <a:r>
              <a:rPr lang="en-US" altLang="zh-CN" dirty="0" err="1">
                <a:sym typeface="Huawei Sans" panose="020C0503030203020204" pitchFamily="34" charset="0"/>
              </a:rPr>
              <a:t>vni</a:t>
            </a:r>
            <a:r>
              <a:rPr lang="en-US" altLang="zh-CN" dirty="0">
                <a:sym typeface="Huawei Sans" panose="020C0503030203020204" pitchFamily="34" charset="0"/>
              </a:rPr>
              <a:t> 10000 head-end peer-list 1.1.1.1</a:t>
            </a:r>
          </a:p>
          <a:p>
            <a:r>
              <a:rPr lang="en-US" altLang="zh-CN" dirty="0">
                <a:sym typeface="Huawei Sans" panose="020C0503030203020204" pitchFamily="34" charset="0"/>
              </a:rPr>
              <a:t>[SW3-Nve1] </a:t>
            </a:r>
            <a:r>
              <a:rPr lang="en-US" altLang="zh-CN" dirty="0" err="1">
                <a:sym typeface="Huawei Sans" panose="020C0503030203020204" pitchFamily="34" charset="0"/>
              </a:rPr>
              <a:t>vni</a:t>
            </a:r>
            <a:r>
              <a:rPr lang="en-US" altLang="zh-CN" dirty="0">
                <a:sym typeface="Huawei Sans" panose="020C0503030203020204" pitchFamily="34" charset="0"/>
              </a:rPr>
              <a:t> 20000 head-end peer-list 2.2.2.2</a:t>
            </a:r>
          </a:p>
        </p:txBody>
      </p:sp>
      <p:sp>
        <p:nvSpPr>
          <p:cNvPr id="46" name="文本框 45">
            <a:extLst>
              <a:ext uri="{FF2B5EF4-FFF2-40B4-BE49-F238E27FC236}">
                <a16:creationId xmlns:a16="http://schemas.microsoft.com/office/drawing/2014/main" id="{325C47B2-091F-4040-AA35-B300E1689F83}"/>
              </a:ext>
            </a:extLst>
          </p:cNvPr>
          <p:cNvSpPr txBox="1"/>
          <p:nvPr/>
        </p:nvSpPr>
        <p:spPr bwMode="gray">
          <a:xfrm>
            <a:off x="6314805" y="2542078"/>
            <a:ext cx="4314412" cy="523220"/>
          </a:xfrm>
          <a:prstGeom prst="rect">
            <a:avLst/>
          </a:prstGeom>
          <a:solidFill>
            <a:schemeClr val="bg1">
              <a:lumMod val="85000"/>
            </a:schemeClr>
          </a:solidFill>
        </p:spPr>
        <p:txBody>
          <a:bodyPr wrap="square" rtlCol="0">
            <a:spAutoFit/>
          </a:bodyPr>
          <a:lstStyle>
            <a:defPPr>
              <a:defRPr lang="en-US"/>
            </a:defPPr>
            <a:lvl1pPr fontAlgn="auto">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r>
              <a:rPr lang="en-US" altLang="zh-CN" dirty="0">
                <a:sym typeface="Huawei Sans" panose="020C0503030203020204" pitchFamily="34" charset="0"/>
              </a:rPr>
              <a:t>[SW3] bridge-domain 200</a:t>
            </a:r>
          </a:p>
          <a:p>
            <a:r>
              <a:rPr lang="en-US" altLang="zh-CN" dirty="0">
                <a:sym typeface="Huawei Sans" panose="020C0503030203020204" pitchFamily="34" charset="0"/>
              </a:rPr>
              <a:t>[SW3-bd200] </a:t>
            </a:r>
            <a:r>
              <a:rPr lang="en-US" altLang="zh-CN" dirty="0" err="1">
                <a:sym typeface="Huawei Sans" panose="020C0503030203020204" pitchFamily="34" charset="0"/>
              </a:rPr>
              <a:t>vxlan</a:t>
            </a:r>
            <a:r>
              <a:rPr lang="en-US" altLang="zh-CN" dirty="0">
                <a:sym typeface="Huawei Sans" panose="020C0503030203020204" pitchFamily="34" charset="0"/>
              </a:rPr>
              <a:t> </a:t>
            </a:r>
            <a:r>
              <a:rPr lang="en-US" altLang="zh-CN" dirty="0" err="1">
                <a:sym typeface="Huawei Sans" panose="020C0503030203020204" pitchFamily="34" charset="0"/>
              </a:rPr>
              <a:t>vni</a:t>
            </a:r>
            <a:r>
              <a:rPr lang="en-US" altLang="zh-CN" dirty="0">
                <a:sym typeface="Huawei Sans" panose="020C0503030203020204" pitchFamily="34" charset="0"/>
              </a:rPr>
              <a:t> 20000</a:t>
            </a:r>
          </a:p>
        </p:txBody>
      </p:sp>
    </p:spTree>
    <p:extLst>
      <p:ext uri="{BB962C8B-B14F-4D97-AF65-F5344CB8AC3E}">
        <p14:creationId xmlns:p14="http://schemas.microsoft.com/office/powerpoint/2010/main" val="35647679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a:solidFill>
                  <a:schemeClr val="bg1">
                    <a:lumMod val="50000"/>
                  </a:schemeClr>
                </a:solidFill>
                <a:sym typeface="Huawei Sans" panose="020C0503030203020204" pitchFamily="34" charset="0"/>
              </a:rPr>
              <a:t>VXLAN</a:t>
            </a:r>
            <a:r>
              <a:rPr lang="zh-CN" altLang="en-US" dirty="0">
                <a:solidFill>
                  <a:schemeClr val="bg1">
                    <a:lumMod val="50000"/>
                  </a:schemeClr>
                </a:solidFill>
                <a:sym typeface="Huawei Sans" panose="020C0503030203020204" pitchFamily="34" charset="0"/>
              </a:rPr>
              <a:t>及园区网络虚拟化技术背景</a:t>
            </a:r>
            <a:endParaRPr lang="en-US" altLang="zh-CN" dirty="0">
              <a:solidFill>
                <a:schemeClr val="bg1">
                  <a:lumMod val="50000"/>
                </a:schemeClr>
              </a:solidFill>
              <a:sym typeface="Huawei Sans" panose="020C0503030203020204" pitchFamily="34" charset="0"/>
            </a:endParaRPr>
          </a:p>
          <a:p>
            <a:r>
              <a:rPr lang="en-US" altLang="zh-CN" dirty="0">
                <a:solidFill>
                  <a:schemeClr val="bg1">
                    <a:lumMod val="50000"/>
                  </a:schemeClr>
                </a:solidFill>
                <a:sym typeface="Huawei Sans" panose="020C0503030203020204" pitchFamily="34" charset="0"/>
              </a:rPr>
              <a:t>VXLAN</a:t>
            </a:r>
            <a:r>
              <a:rPr lang="zh-CN" altLang="en-US" dirty="0">
                <a:solidFill>
                  <a:schemeClr val="bg1">
                    <a:lumMod val="50000"/>
                  </a:schemeClr>
                </a:solidFill>
                <a:sym typeface="Huawei Sans" panose="020C0503030203020204" pitchFamily="34" charset="0"/>
              </a:rPr>
              <a:t>的基本概念及工作原理</a:t>
            </a:r>
            <a:endParaRPr lang="en-US" altLang="zh-CN" dirty="0">
              <a:solidFill>
                <a:schemeClr val="bg1">
                  <a:lumMod val="50000"/>
                </a:schemeClr>
              </a:solidFill>
              <a:sym typeface="Huawei Sans" panose="020C0503030203020204" pitchFamily="34" charset="0"/>
            </a:endParaRPr>
          </a:p>
          <a:p>
            <a:r>
              <a:rPr lang="en-US" altLang="zh-CN" b="1" dirty="0">
                <a:sym typeface="Huawei Sans" panose="020C0503030203020204" pitchFamily="34" charset="0"/>
              </a:rPr>
              <a:t>BGP EVPN</a:t>
            </a:r>
          </a:p>
          <a:p>
            <a:pPr lvl="1">
              <a:buSzPct val="60000"/>
              <a:buFont typeface="Wingdings" panose="05000000000000000000" pitchFamily="2" charset="2"/>
              <a:buChar char="n"/>
            </a:pPr>
            <a:r>
              <a:rPr lang="zh-CN" altLang="en-US" dirty="0">
                <a:sym typeface="Huawei Sans" panose="020C0503030203020204" pitchFamily="34" charset="0"/>
              </a:rPr>
              <a:t>基本概念</a:t>
            </a:r>
            <a:endParaRPr lang="en-US" altLang="zh-CN" dirty="0">
              <a:sym typeface="Huawei Sans" panose="020C0503030203020204" pitchFamily="34" charset="0"/>
            </a:endParaRPr>
          </a:p>
          <a:p>
            <a:pPr lvl="1"/>
            <a:r>
              <a:rPr lang="en-US" altLang="zh-CN" dirty="0">
                <a:solidFill>
                  <a:schemeClr val="bg1">
                    <a:lumMod val="50000"/>
                  </a:schemeClr>
                </a:solidFill>
                <a:sym typeface="Huawei Sans" panose="020C0503030203020204" pitchFamily="34" charset="0"/>
              </a:rPr>
              <a:t>BGP EVPN</a:t>
            </a:r>
            <a:r>
              <a:rPr lang="zh-CN" altLang="en-US" dirty="0">
                <a:solidFill>
                  <a:schemeClr val="bg1">
                    <a:lumMod val="50000"/>
                  </a:schemeClr>
                </a:solidFill>
                <a:sym typeface="Huawei Sans" panose="020C0503030203020204" pitchFamily="34" charset="0"/>
              </a:rPr>
              <a:t>路由</a:t>
            </a:r>
            <a:endParaRPr lang="en-US" altLang="zh-CN" dirty="0">
              <a:solidFill>
                <a:schemeClr val="bg1">
                  <a:lumMod val="50000"/>
                </a:schemeClr>
              </a:solidFill>
              <a:sym typeface="Huawei Sans" panose="020C0503030203020204" pitchFamily="34" charset="0"/>
            </a:endParaRPr>
          </a:p>
          <a:p>
            <a:pPr lvl="1"/>
            <a:r>
              <a:rPr lang="en-US" altLang="zh-CN" dirty="0">
                <a:solidFill>
                  <a:schemeClr val="bg1">
                    <a:lumMod val="50000"/>
                  </a:schemeClr>
                </a:solidFill>
                <a:sym typeface="Huawei Sans" panose="020C0503030203020204" pitchFamily="34" charset="0"/>
              </a:rPr>
              <a:t>BGP EVPN</a:t>
            </a:r>
            <a:r>
              <a:rPr lang="zh-CN" altLang="en-US" dirty="0">
                <a:solidFill>
                  <a:schemeClr val="bg1">
                    <a:lumMod val="50000"/>
                  </a:schemeClr>
                </a:solidFill>
                <a:sym typeface="Huawei Sans" panose="020C0503030203020204" pitchFamily="34" charset="0"/>
              </a:rPr>
              <a:t>特性</a:t>
            </a:r>
            <a:endParaRPr lang="en-US" altLang="zh-CN" dirty="0">
              <a:solidFill>
                <a:schemeClr val="bg1">
                  <a:lumMod val="50000"/>
                </a:schemeClr>
              </a:solidFill>
              <a:sym typeface="Huawei Sans" panose="020C0503030203020204" pitchFamily="34" charset="0"/>
            </a:endParaRPr>
          </a:p>
          <a:p>
            <a:r>
              <a:rPr lang="zh-CN" altLang="en-US" dirty="0">
                <a:solidFill>
                  <a:schemeClr val="bg1">
                    <a:lumMod val="50000"/>
                  </a:schemeClr>
                </a:solidFill>
                <a:sym typeface="Huawei Sans" panose="020C0503030203020204" pitchFamily="34" charset="0"/>
              </a:rPr>
              <a:t>园区网络虚拟化</a:t>
            </a:r>
          </a:p>
        </p:txBody>
      </p:sp>
    </p:spTree>
    <p:extLst>
      <p:ext uri="{BB962C8B-B14F-4D97-AF65-F5344CB8AC3E}">
        <p14:creationId xmlns:p14="http://schemas.microsoft.com/office/powerpoint/2010/main" val="20820610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sym typeface="Huawei Sans" panose="020C0503030203020204" pitchFamily="34" charset="0"/>
              </a:rPr>
              <a:t>使用</a:t>
            </a:r>
            <a:r>
              <a:rPr lang="en-US" altLang="zh-CN" dirty="0">
                <a:sym typeface="Huawei Sans" panose="020C0503030203020204" pitchFamily="34" charset="0"/>
              </a:rPr>
              <a:t>BGP EVPN</a:t>
            </a:r>
            <a:r>
              <a:rPr lang="zh-CN" altLang="en-US" dirty="0">
                <a:sym typeface="Huawei Sans" panose="020C0503030203020204" pitchFamily="34" charset="0"/>
              </a:rPr>
              <a:t>作为控制面协议</a:t>
            </a:r>
          </a:p>
        </p:txBody>
      </p:sp>
      <p:sp>
        <p:nvSpPr>
          <p:cNvPr id="3" name="圆角矩形 2"/>
          <p:cNvSpPr/>
          <p:nvPr/>
        </p:nvSpPr>
        <p:spPr bwMode="gray">
          <a:xfrm>
            <a:off x="622980" y="993137"/>
            <a:ext cx="5364162" cy="400674"/>
          </a:xfrm>
          <a:prstGeom prst="roundRect">
            <a:avLst>
              <a:gd name="adj" fmla="val 14624"/>
            </a:avLst>
          </a:prstGeom>
          <a:gradFill>
            <a:gsLst>
              <a:gs pos="0">
                <a:schemeClr val="bg1"/>
              </a:gs>
              <a:gs pos="100000">
                <a:schemeClr val="bg1">
                  <a:lumMod val="85000"/>
                </a:schemeClr>
              </a:gs>
            </a:gsLst>
            <a:lin ang="5400000" scaled="1"/>
          </a:gra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如果不使用</a:t>
            </a:r>
            <a:r>
              <a:rPr lang="en-US" altLang="zh-CN"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BGP-EVPN</a:t>
            </a:r>
            <a:endPar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圆角矩形 3"/>
          <p:cNvSpPr/>
          <p:nvPr/>
        </p:nvSpPr>
        <p:spPr bwMode="gray">
          <a:xfrm>
            <a:off x="6178368" y="993137"/>
            <a:ext cx="5336225" cy="400674"/>
          </a:xfrm>
          <a:prstGeom prst="roundRect">
            <a:avLst>
              <a:gd name="adj" fmla="val 1462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使用</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BGP EVPN</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作为控制面协议</a:t>
            </a:r>
          </a:p>
        </p:txBody>
      </p:sp>
      <p:sp>
        <p:nvSpPr>
          <p:cNvPr id="5" name="圆角矩形 4"/>
          <p:cNvSpPr/>
          <p:nvPr/>
        </p:nvSpPr>
        <p:spPr bwMode="gray">
          <a:xfrm>
            <a:off x="622980" y="1451412"/>
            <a:ext cx="5342404" cy="4688400"/>
          </a:xfrm>
          <a:prstGeom prst="roundRect">
            <a:avLst>
              <a:gd name="adj" fmla="val 718"/>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400">
              <a:solidFill>
                <a:srgbClr val="0082B4"/>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圆角矩形 5"/>
          <p:cNvSpPr/>
          <p:nvPr/>
        </p:nvSpPr>
        <p:spPr bwMode="gray">
          <a:xfrm>
            <a:off x="6178368" y="1468562"/>
            <a:ext cx="5336225" cy="4671250"/>
          </a:xfrm>
          <a:prstGeom prst="roundRect">
            <a:avLst>
              <a:gd name="adj" fmla="val 919"/>
            </a:avLst>
          </a:prstGeom>
          <a:noFill/>
          <a:ln w="127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400">
              <a:solidFill>
                <a:srgbClr val="0082B4"/>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矩形 33"/>
          <p:cNvSpPr/>
          <p:nvPr/>
        </p:nvSpPr>
        <p:spPr bwMode="gray">
          <a:xfrm>
            <a:off x="657516" y="3391596"/>
            <a:ext cx="5287990" cy="307777"/>
          </a:xfrm>
          <a:prstGeom prst="rect">
            <a:avLst/>
          </a:prstGeom>
          <a:solidFill>
            <a:schemeClr val="bg1">
              <a:lumMod val="85000"/>
            </a:schemeClr>
          </a:solidFill>
        </p:spPr>
        <p:txBody>
          <a:bodyPr wrap="square">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问题</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N</a:t>
            </a:r>
            <a:r>
              <a:rPr lang="zh-CN" altLang="en-US" sz="14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个节点需要创建</a:t>
            </a:r>
            <a:r>
              <a:rPr lang="en-US" altLang="zh-CN" sz="14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N*(N-1)/2</a:t>
            </a:r>
            <a:r>
              <a:rPr lang="zh-CN" altLang="en-US" sz="1400" dirty="0">
                <a:highlight>
                  <a:srgbClr val="FFFF00"/>
                </a:highlight>
                <a:latin typeface="Huawei Sans" panose="020C0503030203020204" pitchFamily="34" charset="0"/>
                <a:ea typeface="方正兰亭黑简体" panose="02000000000000000000" pitchFamily="2" charset="-122"/>
                <a:sym typeface="Huawei Sans" panose="020C0503030203020204" pitchFamily="34" charset="0"/>
              </a:rPr>
              <a:t>条隧道，配置工作量大。</a:t>
            </a:r>
          </a:p>
        </p:txBody>
      </p:sp>
      <p:sp>
        <p:nvSpPr>
          <p:cNvPr id="51" name="矩形 50"/>
          <p:cNvSpPr/>
          <p:nvPr/>
        </p:nvSpPr>
        <p:spPr bwMode="gray">
          <a:xfrm>
            <a:off x="657516" y="5705562"/>
            <a:ext cx="5287990" cy="307777"/>
          </a:xfrm>
          <a:prstGeom prst="rect">
            <a:avLst/>
          </a:prstGeom>
          <a:solidFill>
            <a:schemeClr val="bg1">
              <a:lumMod val="85000"/>
            </a:schemeClr>
          </a:solidFill>
        </p:spPr>
        <p:txBody>
          <a:bodyPr wrap="square">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问题</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flood and learn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机制学习</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地址，泛洪流量大。</a:t>
            </a:r>
          </a:p>
        </p:txBody>
      </p:sp>
      <p:grpSp>
        <p:nvGrpSpPr>
          <p:cNvPr id="10" name="组合 9"/>
          <p:cNvGrpSpPr/>
          <p:nvPr/>
        </p:nvGrpSpPr>
        <p:grpSpPr bwMode="gray">
          <a:xfrm>
            <a:off x="1019109" y="1873296"/>
            <a:ext cx="4578726" cy="1402908"/>
            <a:chOff x="1346414" y="2203540"/>
            <a:chExt cx="4578726" cy="1402908"/>
          </a:xfrm>
        </p:grpSpPr>
        <p:pic>
          <p:nvPicPr>
            <p:cNvPr id="8" name="图片 87" descr="汇聚交换机.png"/>
            <p:cNvPicPr>
              <a:picLocks noChangeAspect="1"/>
            </p:cNvPicPr>
            <p:nvPr/>
          </p:nvPicPr>
          <p:blipFill>
            <a:blip r:embed="rId3"/>
            <a:stretch>
              <a:fillRect/>
            </a:stretch>
          </p:blipFill>
          <p:spPr bwMode="gray">
            <a:xfrm>
              <a:off x="1346414" y="3331633"/>
              <a:ext cx="335885" cy="274815"/>
            </a:xfrm>
            <a:prstGeom prst="rect">
              <a:avLst/>
            </a:prstGeom>
            <a:ln>
              <a:noFill/>
            </a:ln>
          </p:spPr>
        </p:pic>
        <p:pic>
          <p:nvPicPr>
            <p:cNvPr id="11" name="图片 86" descr="核心交换机.png"/>
            <p:cNvPicPr>
              <a:picLocks noChangeAspect="1"/>
            </p:cNvPicPr>
            <p:nvPr/>
          </p:nvPicPr>
          <p:blipFill>
            <a:blip r:embed="rId4"/>
            <a:stretch>
              <a:fillRect/>
            </a:stretch>
          </p:blipFill>
          <p:spPr bwMode="gray">
            <a:xfrm>
              <a:off x="3254008" y="2203540"/>
              <a:ext cx="369474" cy="302297"/>
            </a:xfrm>
            <a:prstGeom prst="rect">
              <a:avLst/>
            </a:prstGeom>
            <a:ln>
              <a:noFill/>
            </a:ln>
          </p:spPr>
        </p:pic>
        <p:pic>
          <p:nvPicPr>
            <p:cNvPr id="15" name="图片 87" descr="汇聚交换机.png"/>
            <p:cNvPicPr>
              <a:picLocks noChangeAspect="1"/>
            </p:cNvPicPr>
            <p:nvPr/>
          </p:nvPicPr>
          <p:blipFill>
            <a:blip r:embed="rId3"/>
            <a:stretch>
              <a:fillRect/>
            </a:stretch>
          </p:blipFill>
          <p:spPr bwMode="gray">
            <a:xfrm>
              <a:off x="2629340" y="3331633"/>
              <a:ext cx="335885" cy="274815"/>
            </a:xfrm>
            <a:prstGeom prst="rect">
              <a:avLst/>
            </a:prstGeom>
            <a:ln>
              <a:noFill/>
            </a:ln>
          </p:spPr>
        </p:pic>
        <p:pic>
          <p:nvPicPr>
            <p:cNvPr id="16" name="图片 87" descr="汇聚交换机.png"/>
            <p:cNvPicPr>
              <a:picLocks noChangeAspect="1"/>
            </p:cNvPicPr>
            <p:nvPr/>
          </p:nvPicPr>
          <p:blipFill>
            <a:blip r:embed="rId3"/>
            <a:stretch>
              <a:fillRect/>
            </a:stretch>
          </p:blipFill>
          <p:spPr bwMode="gray">
            <a:xfrm>
              <a:off x="3912266" y="3331633"/>
              <a:ext cx="335885" cy="274815"/>
            </a:xfrm>
            <a:prstGeom prst="rect">
              <a:avLst/>
            </a:prstGeom>
            <a:ln>
              <a:noFill/>
            </a:ln>
          </p:spPr>
        </p:pic>
        <p:pic>
          <p:nvPicPr>
            <p:cNvPr id="17" name="图片 87" descr="汇聚交换机.png"/>
            <p:cNvPicPr>
              <a:picLocks noChangeAspect="1"/>
            </p:cNvPicPr>
            <p:nvPr/>
          </p:nvPicPr>
          <p:blipFill>
            <a:blip r:embed="rId3"/>
            <a:stretch>
              <a:fillRect/>
            </a:stretch>
          </p:blipFill>
          <p:spPr bwMode="gray">
            <a:xfrm>
              <a:off x="5195192" y="3331633"/>
              <a:ext cx="335885" cy="274815"/>
            </a:xfrm>
            <a:prstGeom prst="rect">
              <a:avLst/>
            </a:prstGeom>
            <a:ln>
              <a:noFill/>
            </a:ln>
          </p:spPr>
        </p:pic>
        <p:sp>
          <p:nvSpPr>
            <p:cNvPr id="18" name="任意多边形 17"/>
            <p:cNvSpPr/>
            <p:nvPr/>
          </p:nvSpPr>
          <p:spPr bwMode="gray">
            <a:xfrm>
              <a:off x="1700155" y="3230306"/>
              <a:ext cx="922776" cy="118109"/>
            </a:xfrm>
            <a:custGeom>
              <a:avLst/>
              <a:gdLst>
                <a:gd name="connsiteX0" fmla="*/ 0 w 1170432"/>
                <a:gd name="connsiteY0" fmla="*/ 9144 h 9144"/>
                <a:gd name="connsiteX1" fmla="*/ 1170432 w 1170432"/>
                <a:gd name="connsiteY1" fmla="*/ 0 h 9144"/>
                <a:gd name="connsiteX0" fmla="*/ 0 w 8584"/>
                <a:gd name="connsiteY0" fmla="*/ 76667 h 76667"/>
                <a:gd name="connsiteX1" fmla="*/ 8584 w 8584"/>
                <a:gd name="connsiteY1" fmla="*/ 0 h 76667"/>
                <a:gd name="connsiteX0" fmla="*/ 0 w 9109"/>
                <a:gd name="connsiteY0" fmla="*/ 1033 h 1033"/>
                <a:gd name="connsiteX1" fmla="*/ 9109 w 9109"/>
                <a:gd name="connsiteY1" fmla="*/ 0 h 1033"/>
                <a:gd name="connsiteX0" fmla="*/ 0 w 10000"/>
                <a:gd name="connsiteY0" fmla="*/ 118933 h 118933"/>
                <a:gd name="connsiteX1" fmla="*/ 10000 w 10000"/>
                <a:gd name="connsiteY1" fmla="*/ 108933 h 118933"/>
                <a:gd name="connsiteX0" fmla="*/ 0 w 10083"/>
                <a:gd name="connsiteY0" fmla="*/ 126881 h 126881"/>
                <a:gd name="connsiteX1" fmla="*/ 10083 w 10083"/>
                <a:gd name="connsiteY1" fmla="*/ 106359 h 126881"/>
                <a:gd name="connsiteX0" fmla="*/ 0 w 10083"/>
                <a:gd name="connsiteY0" fmla="*/ 247191 h 247191"/>
                <a:gd name="connsiteX1" fmla="*/ 10083 w 10083"/>
                <a:gd name="connsiteY1" fmla="*/ 226669 h 247191"/>
                <a:gd name="connsiteX0" fmla="*/ 0 w 10083"/>
                <a:gd name="connsiteY0" fmla="*/ 275627 h 275627"/>
                <a:gd name="connsiteX1" fmla="*/ 10083 w 10083"/>
                <a:gd name="connsiteY1" fmla="*/ 255105 h 275627"/>
              </a:gdLst>
              <a:ahLst/>
              <a:cxnLst>
                <a:cxn ang="0">
                  <a:pos x="connsiteX0" y="connsiteY0"/>
                </a:cxn>
                <a:cxn ang="0">
                  <a:pos x="connsiteX1" y="connsiteY1"/>
                </a:cxn>
              </a:cxnLst>
              <a:rect l="l" t="t" r="r" b="b"/>
              <a:pathLst>
                <a:path w="10083" h="275627">
                  <a:moveTo>
                    <a:pt x="0" y="275627"/>
                  </a:moveTo>
                  <a:cubicBezTo>
                    <a:pt x="2438" y="-103867"/>
                    <a:pt x="7270" y="-73005"/>
                    <a:pt x="10083" y="255105"/>
                  </a:cubicBezTo>
                </a:path>
              </a:pathLst>
            </a:custGeom>
            <a:noFill/>
            <a:ln w="19050">
              <a:solidFill>
                <a:schemeClr val="bg1">
                  <a:lumMod val="50000"/>
                </a:schemeClr>
              </a:solidFill>
              <a:prstDash val="sysDot"/>
              <a:headEnd type="none" w="med" len="lg"/>
              <a:tailEnd type="non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任意多边形 18"/>
            <p:cNvSpPr/>
            <p:nvPr/>
          </p:nvSpPr>
          <p:spPr bwMode="gray">
            <a:xfrm>
              <a:off x="2971634" y="3230306"/>
              <a:ext cx="922776" cy="118109"/>
            </a:xfrm>
            <a:custGeom>
              <a:avLst/>
              <a:gdLst>
                <a:gd name="connsiteX0" fmla="*/ 0 w 1170432"/>
                <a:gd name="connsiteY0" fmla="*/ 9144 h 9144"/>
                <a:gd name="connsiteX1" fmla="*/ 1170432 w 1170432"/>
                <a:gd name="connsiteY1" fmla="*/ 0 h 9144"/>
                <a:gd name="connsiteX0" fmla="*/ 0 w 8584"/>
                <a:gd name="connsiteY0" fmla="*/ 76667 h 76667"/>
                <a:gd name="connsiteX1" fmla="*/ 8584 w 8584"/>
                <a:gd name="connsiteY1" fmla="*/ 0 h 76667"/>
                <a:gd name="connsiteX0" fmla="*/ 0 w 9109"/>
                <a:gd name="connsiteY0" fmla="*/ 1033 h 1033"/>
                <a:gd name="connsiteX1" fmla="*/ 9109 w 9109"/>
                <a:gd name="connsiteY1" fmla="*/ 0 h 1033"/>
                <a:gd name="connsiteX0" fmla="*/ 0 w 10000"/>
                <a:gd name="connsiteY0" fmla="*/ 118933 h 118933"/>
                <a:gd name="connsiteX1" fmla="*/ 10000 w 10000"/>
                <a:gd name="connsiteY1" fmla="*/ 108933 h 118933"/>
                <a:gd name="connsiteX0" fmla="*/ 0 w 10083"/>
                <a:gd name="connsiteY0" fmla="*/ 126881 h 126881"/>
                <a:gd name="connsiteX1" fmla="*/ 10083 w 10083"/>
                <a:gd name="connsiteY1" fmla="*/ 106359 h 126881"/>
                <a:gd name="connsiteX0" fmla="*/ 0 w 10083"/>
                <a:gd name="connsiteY0" fmla="*/ 247191 h 247191"/>
                <a:gd name="connsiteX1" fmla="*/ 10083 w 10083"/>
                <a:gd name="connsiteY1" fmla="*/ 226669 h 247191"/>
                <a:gd name="connsiteX0" fmla="*/ 0 w 10083"/>
                <a:gd name="connsiteY0" fmla="*/ 275627 h 275627"/>
                <a:gd name="connsiteX1" fmla="*/ 10083 w 10083"/>
                <a:gd name="connsiteY1" fmla="*/ 255105 h 275627"/>
              </a:gdLst>
              <a:ahLst/>
              <a:cxnLst>
                <a:cxn ang="0">
                  <a:pos x="connsiteX0" y="connsiteY0"/>
                </a:cxn>
                <a:cxn ang="0">
                  <a:pos x="connsiteX1" y="connsiteY1"/>
                </a:cxn>
              </a:cxnLst>
              <a:rect l="l" t="t" r="r" b="b"/>
              <a:pathLst>
                <a:path w="10083" h="275627">
                  <a:moveTo>
                    <a:pt x="0" y="275627"/>
                  </a:moveTo>
                  <a:cubicBezTo>
                    <a:pt x="2438" y="-103867"/>
                    <a:pt x="7270" y="-73005"/>
                    <a:pt x="10083" y="255105"/>
                  </a:cubicBezTo>
                </a:path>
              </a:pathLst>
            </a:custGeom>
            <a:noFill/>
            <a:ln w="19050">
              <a:solidFill>
                <a:schemeClr val="bg1">
                  <a:lumMod val="50000"/>
                </a:schemeClr>
              </a:solidFill>
              <a:prstDash val="sysDot"/>
              <a:headEnd type="none" w="med" len="lg"/>
              <a:tailEnd type="non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任意多边形 19"/>
            <p:cNvSpPr/>
            <p:nvPr/>
          </p:nvSpPr>
          <p:spPr bwMode="gray">
            <a:xfrm>
              <a:off x="4260283" y="3230306"/>
              <a:ext cx="922776" cy="118109"/>
            </a:xfrm>
            <a:custGeom>
              <a:avLst/>
              <a:gdLst>
                <a:gd name="connsiteX0" fmla="*/ 0 w 1170432"/>
                <a:gd name="connsiteY0" fmla="*/ 9144 h 9144"/>
                <a:gd name="connsiteX1" fmla="*/ 1170432 w 1170432"/>
                <a:gd name="connsiteY1" fmla="*/ 0 h 9144"/>
                <a:gd name="connsiteX0" fmla="*/ 0 w 8584"/>
                <a:gd name="connsiteY0" fmla="*/ 76667 h 76667"/>
                <a:gd name="connsiteX1" fmla="*/ 8584 w 8584"/>
                <a:gd name="connsiteY1" fmla="*/ 0 h 76667"/>
                <a:gd name="connsiteX0" fmla="*/ 0 w 9109"/>
                <a:gd name="connsiteY0" fmla="*/ 1033 h 1033"/>
                <a:gd name="connsiteX1" fmla="*/ 9109 w 9109"/>
                <a:gd name="connsiteY1" fmla="*/ 0 h 1033"/>
                <a:gd name="connsiteX0" fmla="*/ 0 w 10000"/>
                <a:gd name="connsiteY0" fmla="*/ 118933 h 118933"/>
                <a:gd name="connsiteX1" fmla="*/ 10000 w 10000"/>
                <a:gd name="connsiteY1" fmla="*/ 108933 h 118933"/>
                <a:gd name="connsiteX0" fmla="*/ 0 w 10083"/>
                <a:gd name="connsiteY0" fmla="*/ 126881 h 126881"/>
                <a:gd name="connsiteX1" fmla="*/ 10083 w 10083"/>
                <a:gd name="connsiteY1" fmla="*/ 106359 h 126881"/>
                <a:gd name="connsiteX0" fmla="*/ 0 w 10083"/>
                <a:gd name="connsiteY0" fmla="*/ 247191 h 247191"/>
                <a:gd name="connsiteX1" fmla="*/ 10083 w 10083"/>
                <a:gd name="connsiteY1" fmla="*/ 226669 h 247191"/>
                <a:gd name="connsiteX0" fmla="*/ 0 w 10083"/>
                <a:gd name="connsiteY0" fmla="*/ 275627 h 275627"/>
                <a:gd name="connsiteX1" fmla="*/ 10083 w 10083"/>
                <a:gd name="connsiteY1" fmla="*/ 255105 h 275627"/>
              </a:gdLst>
              <a:ahLst/>
              <a:cxnLst>
                <a:cxn ang="0">
                  <a:pos x="connsiteX0" y="connsiteY0"/>
                </a:cxn>
                <a:cxn ang="0">
                  <a:pos x="connsiteX1" y="connsiteY1"/>
                </a:cxn>
              </a:cxnLst>
              <a:rect l="l" t="t" r="r" b="b"/>
              <a:pathLst>
                <a:path w="10083" h="275627">
                  <a:moveTo>
                    <a:pt x="0" y="275627"/>
                  </a:moveTo>
                  <a:cubicBezTo>
                    <a:pt x="2438" y="-103867"/>
                    <a:pt x="7270" y="-73005"/>
                    <a:pt x="10083" y="255105"/>
                  </a:cubicBezTo>
                </a:path>
              </a:pathLst>
            </a:custGeom>
            <a:noFill/>
            <a:ln w="19050">
              <a:solidFill>
                <a:schemeClr val="bg1">
                  <a:lumMod val="50000"/>
                </a:schemeClr>
              </a:solidFill>
              <a:prstDash val="sysDot"/>
              <a:headEnd type="none" w="med" len="lg"/>
              <a:tailEnd type="non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任意多边形 20"/>
            <p:cNvSpPr/>
            <p:nvPr/>
          </p:nvSpPr>
          <p:spPr bwMode="gray">
            <a:xfrm>
              <a:off x="1682299" y="2878275"/>
              <a:ext cx="2248988" cy="453357"/>
            </a:xfrm>
            <a:custGeom>
              <a:avLst/>
              <a:gdLst>
                <a:gd name="connsiteX0" fmla="*/ 0 w 1170432"/>
                <a:gd name="connsiteY0" fmla="*/ 9144 h 9144"/>
                <a:gd name="connsiteX1" fmla="*/ 1170432 w 1170432"/>
                <a:gd name="connsiteY1" fmla="*/ 0 h 9144"/>
                <a:gd name="connsiteX0" fmla="*/ 0 w 8584"/>
                <a:gd name="connsiteY0" fmla="*/ 76667 h 76667"/>
                <a:gd name="connsiteX1" fmla="*/ 8584 w 8584"/>
                <a:gd name="connsiteY1" fmla="*/ 0 h 76667"/>
                <a:gd name="connsiteX0" fmla="*/ 0 w 9109"/>
                <a:gd name="connsiteY0" fmla="*/ 1033 h 1033"/>
                <a:gd name="connsiteX1" fmla="*/ 9109 w 9109"/>
                <a:gd name="connsiteY1" fmla="*/ 0 h 1033"/>
                <a:gd name="connsiteX0" fmla="*/ 0 w 10000"/>
                <a:gd name="connsiteY0" fmla="*/ 118933 h 118933"/>
                <a:gd name="connsiteX1" fmla="*/ 10000 w 10000"/>
                <a:gd name="connsiteY1" fmla="*/ 108933 h 118933"/>
                <a:gd name="connsiteX0" fmla="*/ 0 w 10083"/>
                <a:gd name="connsiteY0" fmla="*/ 126881 h 126881"/>
                <a:gd name="connsiteX1" fmla="*/ 10083 w 10083"/>
                <a:gd name="connsiteY1" fmla="*/ 106359 h 126881"/>
                <a:gd name="connsiteX0" fmla="*/ 0 w 10083"/>
                <a:gd name="connsiteY0" fmla="*/ 247191 h 247191"/>
                <a:gd name="connsiteX1" fmla="*/ 10083 w 10083"/>
                <a:gd name="connsiteY1" fmla="*/ 226669 h 247191"/>
                <a:gd name="connsiteX0" fmla="*/ 0 w 10083"/>
                <a:gd name="connsiteY0" fmla="*/ 275627 h 275627"/>
                <a:gd name="connsiteX1" fmla="*/ 10083 w 10083"/>
                <a:gd name="connsiteY1" fmla="*/ 255105 h 275627"/>
                <a:gd name="connsiteX0" fmla="*/ 0 w 10169"/>
                <a:gd name="connsiteY0" fmla="*/ 267963 h 267963"/>
                <a:gd name="connsiteX1" fmla="*/ 10169 w 10169"/>
                <a:gd name="connsiteY1" fmla="*/ 263205 h 267963"/>
              </a:gdLst>
              <a:ahLst/>
              <a:cxnLst>
                <a:cxn ang="0">
                  <a:pos x="connsiteX0" y="connsiteY0"/>
                </a:cxn>
                <a:cxn ang="0">
                  <a:pos x="connsiteX1" y="connsiteY1"/>
                </a:cxn>
              </a:cxnLst>
              <a:rect l="l" t="t" r="r" b="b"/>
              <a:pathLst>
                <a:path w="10169" h="267963">
                  <a:moveTo>
                    <a:pt x="0" y="267963"/>
                  </a:moveTo>
                  <a:cubicBezTo>
                    <a:pt x="2438" y="-111531"/>
                    <a:pt x="7356" y="-64905"/>
                    <a:pt x="10169" y="263205"/>
                  </a:cubicBezTo>
                </a:path>
              </a:pathLst>
            </a:custGeom>
            <a:noFill/>
            <a:ln w="19050">
              <a:solidFill>
                <a:schemeClr val="bg1">
                  <a:lumMod val="50000"/>
                </a:schemeClr>
              </a:solidFill>
              <a:prstDash val="sysDot"/>
              <a:headEnd type="none" w="med" len="lg"/>
              <a:tailEnd type="non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任意多边形 22"/>
            <p:cNvSpPr/>
            <p:nvPr/>
          </p:nvSpPr>
          <p:spPr bwMode="gray">
            <a:xfrm>
              <a:off x="1647795" y="2576923"/>
              <a:ext cx="3585934" cy="758518"/>
            </a:xfrm>
            <a:custGeom>
              <a:avLst/>
              <a:gdLst>
                <a:gd name="connsiteX0" fmla="*/ 0 w 1170432"/>
                <a:gd name="connsiteY0" fmla="*/ 9144 h 9144"/>
                <a:gd name="connsiteX1" fmla="*/ 1170432 w 1170432"/>
                <a:gd name="connsiteY1" fmla="*/ 0 h 9144"/>
                <a:gd name="connsiteX0" fmla="*/ 0 w 8584"/>
                <a:gd name="connsiteY0" fmla="*/ 76667 h 76667"/>
                <a:gd name="connsiteX1" fmla="*/ 8584 w 8584"/>
                <a:gd name="connsiteY1" fmla="*/ 0 h 76667"/>
                <a:gd name="connsiteX0" fmla="*/ 0 w 9109"/>
                <a:gd name="connsiteY0" fmla="*/ 1033 h 1033"/>
                <a:gd name="connsiteX1" fmla="*/ 9109 w 9109"/>
                <a:gd name="connsiteY1" fmla="*/ 0 h 1033"/>
                <a:gd name="connsiteX0" fmla="*/ 0 w 10000"/>
                <a:gd name="connsiteY0" fmla="*/ 118933 h 118933"/>
                <a:gd name="connsiteX1" fmla="*/ 10000 w 10000"/>
                <a:gd name="connsiteY1" fmla="*/ 108933 h 118933"/>
                <a:gd name="connsiteX0" fmla="*/ 0 w 10083"/>
                <a:gd name="connsiteY0" fmla="*/ 126881 h 126881"/>
                <a:gd name="connsiteX1" fmla="*/ 10083 w 10083"/>
                <a:gd name="connsiteY1" fmla="*/ 106359 h 126881"/>
                <a:gd name="connsiteX0" fmla="*/ 0 w 10083"/>
                <a:gd name="connsiteY0" fmla="*/ 247191 h 247191"/>
                <a:gd name="connsiteX1" fmla="*/ 10083 w 10083"/>
                <a:gd name="connsiteY1" fmla="*/ 226669 h 247191"/>
                <a:gd name="connsiteX0" fmla="*/ 0 w 10083"/>
                <a:gd name="connsiteY0" fmla="*/ 275627 h 275627"/>
                <a:gd name="connsiteX1" fmla="*/ 10083 w 10083"/>
                <a:gd name="connsiteY1" fmla="*/ 255105 h 275627"/>
                <a:gd name="connsiteX0" fmla="*/ 0 w 9812"/>
                <a:gd name="connsiteY0" fmla="*/ 276419 h 276419"/>
                <a:gd name="connsiteX1" fmla="*/ 9812 w 9812"/>
                <a:gd name="connsiteY1" fmla="*/ 254298 h 276419"/>
                <a:gd name="connsiteX0" fmla="*/ 0 w 10000"/>
                <a:gd name="connsiteY0" fmla="*/ 10619 h 10619"/>
                <a:gd name="connsiteX1" fmla="*/ 10000 w 10000"/>
                <a:gd name="connsiteY1" fmla="*/ 9819 h 10619"/>
                <a:gd name="connsiteX0" fmla="*/ 0 w 9641"/>
                <a:gd name="connsiteY0" fmla="*/ 10403 h 10403"/>
                <a:gd name="connsiteX1" fmla="*/ 9641 w 9641"/>
                <a:gd name="connsiteY1" fmla="*/ 10066 h 10403"/>
                <a:gd name="connsiteX0" fmla="*/ 0 w 10000"/>
                <a:gd name="connsiteY0" fmla="*/ 10684 h 10684"/>
                <a:gd name="connsiteX1" fmla="*/ 10000 w 10000"/>
                <a:gd name="connsiteY1" fmla="*/ 10360 h 10684"/>
                <a:gd name="connsiteX0" fmla="*/ 0 w 10000"/>
                <a:gd name="connsiteY0" fmla="*/ 10912 h 10912"/>
                <a:gd name="connsiteX1" fmla="*/ 10000 w 10000"/>
                <a:gd name="connsiteY1" fmla="*/ 10588 h 10912"/>
                <a:gd name="connsiteX0" fmla="*/ 0 w 10000"/>
                <a:gd name="connsiteY0" fmla="*/ 10788 h 10788"/>
                <a:gd name="connsiteX1" fmla="*/ 10000 w 10000"/>
                <a:gd name="connsiteY1" fmla="*/ 10464 h 10788"/>
                <a:gd name="connsiteX0" fmla="*/ 0 w 10000"/>
                <a:gd name="connsiteY0" fmla="*/ 10558 h 10558"/>
                <a:gd name="connsiteX1" fmla="*/ 10000 w 10000"/>
                <a:gd name="connsiteY1" fmla="*/ 10234 h 10558"/>
                <a:gd name="connsiteX0" fmla="*/ 0 w 10000"/>
                <a:gd name="connsiteY0" fmla="*/ 10766 h 10766"/>
                <a:gd name="connsiteX1" fmla="*/ 10000 w 10000"/>
                <a:gd name="connsiteY1" fmla="*/ 10442 h 10766"/>
                <a:gd name="connsiteX0" fmla="*/ 0 w 10000"/>
                <a:gd name="connsiteY0" fmla="*/ 11071 h 11071"/>
                <a:gd name="connsiteX1" fmla="*/ 10000 w 10000"/>
                <a:gd name="connsiteY1" fmla="*/ 10747 h 11071"/>
              </a:gdLst>
              <a:ahLst/>
              <a:cxnLst>
                <a:cxn ang="0">
                  <a:pos x="connsiteX0" y="connsiteY0"/>
                </a:cxn>
                <a:cxn ang="0">
                  <a:pos x="connsiteX1" y="connsiteY1"/>
                </a:cxn>
              </a:cxnLst>
              <a:rect l="l" t="t" r="r" b="b"/>
              <a:pathLst>
                <a:path w="10000" h="11071">
                  <a:moveTo>
                    <a:pt x="0" y="11071"/>
                  </a:moveTo>
                  <a:cubicBezTo>
                    <a:pt x="1914" y="-4428"/>
                    <a:pt x="7918" y="-2832"/>
                    <a:pt x="10000" y="10747"/>
                  </a:cubicBezTo>
                </a:path>
              </a:pathLst>
            </a:custGeom>
            <a:noFill/>
            <a:ln w="19050">
              <a:solidFill>
                <a:schemeClr val="bg1">
                  <a:lumMod val="50000"/>
                </a:schemeClr>
              </a:solidFill>
              <a:prstDash val="sysDot"/>
              <a:headEnd type="none" w="med" len="lg"/>
              <a:tailEnd type="non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任意多边形 23"/>
            <p:cNvSpPr/>
            <p:nvPr/>
          </p:nvSpPr>
          <p:spPr bwMode="gray">
            <a:xfrm>
              <a:off x="2963363" y="2883683"/>
              <a:ext cx="2247005" cy="451308"/>
            </a:xfrm>
            <a:custGeom>
              <a:avLst/>
              <a:gdLst>
                <a:gd name="connsiteX0" fmla="*/ 0 w 1170432"/>
                <a:gd name="connsiteY0" fmla="*/ 9144 h 9144"/>
                <a:gd name="connsiteX1" fmla="*/ 1170432 w 1170432"/>
                <a:gd name="connsiteY1" fmla="*/ 0 h 9144"/>
                <a:gd name="connsiteX0" fmla="*/ 0 w 8584"/>
                <a:gd name="connsiteY0" fmla="*/ 76667 h 76667"/>
                <a:gd name="connsiteX1" fmla="*/ 8584 w 8584"/>
                <a:gd name="connsiteY1" fmla="*/ 0 h 76667"/>
                <a:gd name="connsiteX0" fmla="*/ 0 w 9109"/>
                <a:gd name="connsiteY0" fmla="*/ 1033 h 1033"/>
                <a:gd name="connsiteX1" fmla="*/ 9109 w 9109"/>
                <a:gd name="connsiteY1" fmla="*/ 0 h 1033"/>
                <a:gd name="connsiteX0" fmla="*/ 0 w 10000"/>
                <a:gd name="connsiteY0" fmla="*/ 118933 h 118933"/>
                <a:gd name="connsiteX1" fmla="*/ 10000 w 10000"/>
                <a:gd name="connsiteY1" fmla="*/ 108933 h 118933"/>
                <a:gd name="connsiteX0" fmla="*/ 0 w 10083"/>
                <a:gd name="connsiteY0" fmla="*/ 126881 h 126881"/>
                <a:gd name="connsiteX1" fmla="*/ 10083 w 10083"/>
                <a:gd name="connsiteY1" fmla="*/ 106359 h 126881"/>
                <a:gd name="connsiteX0" fmla="*/ 0 w 10083"/>
                <a:gd name="connsiteY0" fmla="*/ 247191 h 247191"/>
                <a:gd name="connsiteX1" fmla="*/ 10083 w 10083"/>
                <a:gd name="connsiteY1" fmla="*/ 226669 h 247191"/>
                <a:gd name="connsiteX0" fmla="*/ 0 w 10083"/>
                <a:gd name="connsiteY0" fmla="*/ 275627 h 275627"/>
                <a:gd name="connsiteX1" fmla="*/ 10083 w 10083"/>
                <a:gd name="connsiteY1" fmla="*/ 255105 h 275627"/>
                <a:gd name="connsiteX0" fmla="*/ 0 w 9750"/>
                <a:gd name="connsiteY0" fmla="*/ 275627 h 275627"/>
                <a:gd name="connsiteX1" fmla="*/ 9750 w 9750"/>
                <a:gd name="connsiteY1" fmla="*/ 255105 h 275627"/>
                <a:gd name="connsiteX0" fmla="*/ 0 w 10068"/>
                <a:gd name="connsiteY0" fmla="*/ 9606 h 9678"/>
                <a:gd name="connsiteX1" fmla="*/ 10068 w 10068"/>
                <a:gd name="connsiteY1" fmla="*/ 9678 h 9678"/>
              </a:gdLst>
              <a:ahLst/>
              <a:cxnLst>
                <a:cxn ang="0">
                  <a:pos x="connsiteX0" y="connsiteY0"/>
                </a:cxn>
                <a:cxn ang="0">
                  <a:pos x="connsiteX1" y="connsiteY1"/>
                </a:cxn>
              </a:cxnLst>
              <a:rect l="l" t="t" r="r" b="b"/>
              <a:pathLst>
                <a:path w="10068" h="9678">
                  <a:moveTo>
                    <a:pt x="0" y="9606"/>
                  </a:moveTo>
                  <a:cubicBezTo>
                    <a:pt x="2501" y="-4162"/>
                    <a:pt x="7183" y="-2226"/>
                    <a:pt x="10068" y="9678"/>
                  </a:cubicBezTo>
                </a:path>
              </a:pathLst>
            </a:custGeom>
            <a:noFill/>
            <a:ln w="19050">
              <a:solidFill>
                <a:schemeClr val="bg1">
                  <a:lumMod val="50000"/>
                </a:schemeClr>
              </a:solidFill>
              <a:prstDash val="sysDot"/>
              <a:headEnd type="none" w="med" len="lg"/>
              <a:tailEnd type="non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任意多边形 24"/>
            <p:cNvSpPr/>
            <p:nvPr/>
          </p:nvSpPr>
          <p:spPr bwMode="gray">
            <a:xfrm>
              <a:off x="1630423" y="2327033"/>
              <a:ext cx="1608795" cy="1002779"/>
            </a:xfrm>
            <a:custGeom>
              <a:avLst/>
              <a:gdLst>
                <a:gd name="connsiteX0" fmla="*/ 0 w 1170432"/>
                <a:gd name="connsiteY0" fmla="*/ 9144 h 9144"/>
                <a:gd name="connsiteX1" fmla="*/ 1170432 w 1170432"/>
                <a:gd name="connsiteY1" fmla="*/ 0 h 9144"/>
                <a:gd name="connsiteX0" fmla="*/ 0 w 8584"/>
                <a:gd name="connsiteY0" fmla="*/ 76667 h 76667"/>
                <a:gd name="connsiteX1" fmla="*/ 8584 w 8584"/>
                <a:gd name="connsiteY1" fmla="*/ 0 h 76667"/>
                <a:gd name="connsiteX0" fmla="*/ 0 w 9109"/>
                <a:gd name="connsiteY0" fmla="*/ 1033 h 1033"/>
                <a:gd name="connsiteX1" fmla="*/ 9109 w 9109"/>
                <a:gd name="connsiteY1" fmla="*/ 0 h 1033"/>
                <a:gd name="connsiteX0" fmla="*/ 0 w 10000"/>
                <a:gd name="connsiteY0" fmla="*/ 118933 h 118933"/>
                <a:gd name="connsiteX1" fmla="*/ 10000 w 10000"/>
                <a:gd name="connsiteY1" fmla="*/ 108933 h 118933"/>
                <a:gd name="connsiteX0" fmla="*/ 0 w 10083"/>
                <a:gd name="connsiteY0" fmla="*/ 126881 h 126881"/>
                <a:gd name="connsiteX1" fmla="*/ 10083 w 10083"/>
                <a:gd name="connsiteY1" fmla="*/ 106359 h 126881"/>
                <a:gd name="connsiteX0" fmla="*/ 0 w 10083"/>
                <a:gd name="connsiteY0" fmla="*/ 247191 h 247191"/>
                <a:gd name="connsiteX1" fmla="*/ 10083 w 10083"/>
                <a:gd name="connsiteY1" fmla="*/ 226669 h 247191"/>
                <a:gd name="connsiteX0" fmla="*/ 0 w 10083"/>
                <a:gd name="connsiteY0" fmla="*/ 275627 h 275627"/>
                <a:gd name="connsiteX1" fmla="*/ 10083 w 10083"/>
                <a:gd name="connsiteY1" fmla="*/ 255105 h 275627"/>
                <a:gd name="connsiteX0" fmla="*/ 0 w 9093"/>
                <a:gd name="connsiteY0" fmla="*/ 532036 h 532036"/>
                <a:gd name="connsiteX1" fmla="*/ 9093 w 9093"/>
                <a:gd name="connsiteY1" fmla="*/ 130291 h 532036"/>
                <a:gd name="connsiteX0" fmla="*/ 0 w 10000"/>
                <a:gd name="connsiteY0" fmla="*/ 7551 h 7551"/>
                <a:gd name="connsiteX1" fmla="*/ 10000 w 10000"/>
                <a:gd name="connsiteY1" fmla="*/ 0 h 7551"/>
                <a:gd name="connsiteX0" fmla="*/ 0 w 10726"/>
                <a:gd name="connsiteY0" fmla="*/ 10127 h 10127"/>
                <a:gd name="connsiteX1" fmla="*/ 10726 w 10726"/>
                <a:gd name="connsiteY1" fmla="*/ 0 h 10127"/>
                <a:gd name="connsiteX0" fmla="*/ 0 w 10726"/>
                <a:gd name="connsiteY0" fmla="*/ 10127 h 10127"/>
                <a:gd name="connsiteX1" fmla="*/ 10726 w 10726"/>
                <a:gd name="connsiteY1" fmla="*/ 0 h 10127"/>
                <a:gd name="connsiteX0" fmla="*/ 0 w 10835"/>
                <a:gd name="connsiteY0" fmla="*/ 10318 h 10318"/>
                <a:gd name="connsiteX1" fmla="*/ 10835 w 10835"/>
                <a:gd name="connsiteY1" fmla="*/ 0 h 10318"/>
                <a:gd name="connsiteX0" fmla="*/ 0 w 10835"/>
                <a:gd name="connsiteY0" fmla="*/ 10318 h 10318"/>
                <a:gd name="connsiteX1" fmla="*/ 10835 w 10835"/>
                <a:gd name="connsiteY1" fmla="*/ 0 h 10318"/>
                <a:gd name="connsiteX0" fmla="*/ 0 w 10617"/>
                <a:gd name="connsiteY0" fmla="*/ 10445 h 10445"/>
                <a:gd name="connsiteX1" fmla="*/ 10617 w 10617"/>
                <a:gd name="connsiteY1" fmla="*/ 0 h 10445"/>
                <a:gd name="connsiteX0" fmla="*/ 0 w 10617"/>
                <a:gd name="connsiteY0" fmla="*/ 10445 h 10445"/>
                <a:gd name="connsiteX1" fmla="*/ 10617 w 10617"/>
                <a:gd name="connsiteY1" fmla="*/ 0 h 10445"/>
                <a:gd name="connsiteX0" fmla="*/ 0 w 10617"/>
                <a:gd name="connsiteY0" fmla="*/ 10445 h 10445"/>
                <a:gd name="connsiteX1" fmla="*/ 10617 w 10617"/>
                <a:gd name="connsiteY1" fmla="*/ 0 h 10445"/>
                <a:gd name="connsiteX0" fmla="*/ 0 w 10544"/>
                <a:gd name="connsiteY0" fmla="*/ 9872 h 9872"/>
                <a:gd name="connsiteX1" fmla="*/ 10544 w 10544"/>
                <a:gd name="connsiteY1" fmla="*/ 0 h 9872"/>
                <a:gd name="connsiteX0" fmla="*/ 0 w 10000"/>
                <a:gd name="connsiteY0" fmla="*/ 10000 h 10000"/>
                <a:gd name="connsiteX1" fmla="*/ 10000 w 10000"/>
                <a:gd name="connsiteY1" fmla="*/ 0 h 10000"/>
                <a:gd name="connsiteX0" fmla="*/ 0 w 9725"/>
                <a:gd name="connsiteY0" fmla="*/ 10129 h 10129"/>
                <a:gd name="connsiteX1" fmla="*/ 9725 w 9725"/>
                <a:gd name="connsiteY1" fmla="*/ 0 h 10129"/>
                <a:gd name="connsiteX0" fmla="*/ 0 w 10000"/>
                <a:gd name="connsiteY0" fmla="*/ 10000 h 10000"/>
                <a:gd name="connsiteX1" fmla="*/ 10000 w 10000"/>
                <a:gd name="connsiteY1" fmla="*/ 0 h 10000"/>
                <a:gd name="connsiteX0" fmla="*/ 0 w 10000"/>
                <a:gd name="connsiteY0" fmla="*/ 10000 h 10000"/>
                <a:gd name="connsiteX1" fmla="*/ 10000 w 10000"/>
                <a:gd name="connsiteY1" fmla="*/ 0 h 10000"/>
                <a:gd name="connsiteX0" fmla="*/ 0 w 10000"/>
                <a:gd name="connsiteY0" fmla="*/ 10021 h 10021"/>
                <a:gd name="connsiteX1" fmla="*/ 10000 w 10000"/>
                <a:gd name="connsiteY1" fmla="*/ 21 h 10021"/>
                <a:gd name="connsiteX0" fmla="*/ 0 w 10000"/>
                <a:gd name="connsiteY0" fmla="*/ 10000 h 10000"/>
                <a:gd name="connsiteX1" fmla="*/ 10000 w 10000"/>
                <a:gd name="connsiteY1" fmla="*/ 0 h 10000"/>
                <a:gd name="connsiteX0" fmla="*/ 0 w 9292"/>
                <a:gd name="connsiteY0" fmla="*/ 10159 h 10159"/>
                <a:gd name="connsiteX1" fmla="*/ 9292 w 9292"/>
                <a:gd name="connsiteY1" fmla="*/ 0 h 10159"/>
                <a:gd name="connsiteX0" fmla="*/ 0 w 10000"/>
                <a:gd name="connsiteY0" fmla="*/ 10000 h 10000"/>
                <a:gd name="connsiteX1" fmla="*/ 10000 w 10000"/>
                <a:gd name="connsiteY1" fmla="*/ 0 h 10000"/>
                <a:gd name="connsiteX0" fmla="*/ 0 w 10048"/>
                <a:gd name="connsiteY0" fmla="*/ 10313 h 10313"/>
                <a:gd name="connsiteX1" fmla="*/ 10048 w 10048"/>
                <a:gd name="connsiteY1" fmla="*/ 0 h 10313"/>
                <a:gd name="connsiteX0" fmla="*/ 0 w 10048"/>
                <a:gd name="connsiteY0" fmla="*/ 10313 h 10313"/>
                <a:gd name="connsiteX1" fmla="*/ 10048 w 10048"/>
                <a:gd name="connsiteY1" fmla="*/ 0 h 10313"/>
              </a:gdLst>
              <a:ahLst/>
              <a:cxnLst>
                <a:cxn ang="0">
                  <a:pos x="connsiteX0" y="connsiteY0"/>
                </a:cxn>
                <a:cxn ang="0">
                  <a:pos x="connsiteX1" y="connsiteY1"/>
                </a:cxn>
              </a:cxnLst>
              <a:rect l="l" t="t" r="r" b="b"/>
              <a:pathLst>
                <a:path w="10048" h="10313">
                  <a:moveTo>
                    <a:pt x="0" y="10313"/>
                  </a:moveTo>
                  <a:cubicBezTo>
                    <a:pt x="1847" y="3899"/>
                    <a:pt x="4854" y="204"/>
                    <a:pt x="10048" y="0"/>
                  </a:cubicBezTo>
                </a:path>
              </a:pathLst>
            </a:custGeom>
            <a:noFill/>
            <a:ln w="19050">
              <a:solidFill>
                <a:schemeClr val="bg1">
                  <a:lumMod val="50000"/>
                </a:schemeClr>
              </a:solidFill>
              <a:prstDash val="sysDot"/>
              <a:headEnd type="none" w="med" len="lg"/>
              <a:tailEnd type="non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任意多边形 25"/>
            <p:cNvSpPr/>
            <p:nvPr/>
          </p:nvSpPr>
          <p:spPr bwMode="gray">
            <a:xfrm>
              <a:off x="2801821" y="2365437"/>
              <a:ext cx="443421" cy="953222"/>
            </a:xfrm>
            <a:custGeom>
              <a:avLst/>
              <a:gdLst>
                <a:gd name="connsiteX0" fmla="*/ 0 w 1170432"/>
                <a:gd name="connsiteY0" fmla="*/ 9144 h 9144"/>
                <a:gd name="connsiteX1" fmla="*/ 1170432 w 1170432"/>
                <a:gd name="connsiteY1" fmla="*/ 0 h 9144"/>
                <a:gd name="connsiteX0" fmla="*/ 0 w 8584"/>
                <a:gd name="connsiteY0" fmla="*/ 76667 h 76667"/>
                <a:gd name="connsiteX1" fmla="*/ 8584 w 8584"/>
                <a:gd name="connsiteY1" fmla="*/ 0 h 76667"/>
                <a:gd name="connsiteX0" fmla="*/ 0 w 9109"/>
                <a:gd name="connsiteY0" fmla="*/ 1033 h 1033"/>
                <a:gd name="connsiteX1" fmla="*/ 9109 w 9109"/>
                <a:gd name="connsiteY1" fmla="*/ 0 h 1033"/>
                <a:gd name="connsiteX0" fmla="*/ 0 w 10000"/>
                <a:gd name="connsiteY0" fmla="*/ 118933 h 118933"/>
                <a:gd name="connsiteX1" fmla="*/ 10000 w 10000"/>
                <a:gd name="connsiteY1" fmla="*/ 108933 h 118933"/>
                <a:gd name="connsiteX0" fmla="*/ 0 w 10083"/>
                <a:gd name="connsiteY0" fmla="*/ 126881 h 126881"/>
                <a:gd name="connsiteX1" fmla="*/ 10083 w 10083"/>
                <a:gd name="connsiteY1" fmla="*/ 106359 h 126881"/>
                <a:gd name="connsiteX0" fmla="*/ 0 w 10083"/>
                <a:gd name="connsiteY0" fmla="*/ 247191 h 247191"/>
                <a:gd name="connsiteX1" fmla="*/ 10083 w 10083"/>
                <a:gd name="connsiteY1" fmla="*/ 226669 h 247191"/>
                <a:gd name="connsiteX0" fmla="*/ 0 w 10083"/>
                <a:gd name="connsiteY0" fmla="*/ 275627 h 275627"/>
                <a:gd name="connsiteX1" fmla="*/ 10083 w 10083"/>
                <a:gd name="connsiteY1" fmla="*/ 255105 h 275627"/>
                <a:gd name="connsiteX0" fmla="*/ 0 w 9093"/>
                <a:gd name="connsiteY0" fmla="*/ 532036 h 532036"/>
                <a:gd name="connsiteX1" fmla="*/ 9093 w 9093"/>
                <a:gd name="connsiteY1" fmla="*/ 130291 h 532036"/>
                <a:gd name="connsiteX0" fmla="*/ 0 w 10000"/>
                <a:gd name="connsiteY0" fmla="*/ 7551 h 7551"/>
                <a:gd name="connsiteX1" fmla="*/ 10000 w 10000"/>
                <a:gd name="connsiteY1" fmla="*/ 0 h 7551"/>
                <a:gd name="connsiteX0" fmla="*/ 0 w 10726"/>
                <a:gd name="connsiteY0" fmla="*/ 10127 h 10127"/>
                <a:gd name="connsiteX1" fmla="*/ 10726 w 10726"/>
                <a:gd name="connsiteY1" fmla="*/ 0 h 10127"/>
                <a:gd name="connsiteX0" fmla="*/ 0 w 10726"/>
                <a:gd name="connsiteY0" fmla="*/ 10127 h 10127"/>
                <a:gd name="connsiteX1" fmla="*/ 10726 w 10726"/>
                <a:gd name="connsiteY1" fmla="*/ 0 h 10127"/>
                <a:gd name="connsiteX0" fmla="*/ 0 w 10835"/>
                <a:gd name="connsiteY0" fmla="*/ 10318 h 10318"/>
                <a:gd name="connsiteX1" fmla="*/ 10835 w 10835"/>
                <a:gd name="connsiteY1" fmla="*/ 0 h 10318"/>
                <a:gd name="connsiteX0" fmla="*/ 0 w 10835"/>
                <a:gd name="connsiteY0" fmla="*/ 10318 h 10318"/>
                <a:gd name="connsiteX1" fmla="*/ 10835 w 10835"/>
                <a:gd name="connsiteY1" fmla="*/ 0 h 10318"/>
                <a:gd name="connsiteX0" fmla="*/ 0 w 10617"/>
                <a:gd name="connsiteY0" fmla="*/ 10445 h 10445"/>
                <a:gd name="connsiteX1" fmla="*/ 10617 w 10617"/>
                <a:gd name="connsiteY1" fmla="*/ 0 h 10445"/>
                <a:gd name="connsiteX0" fmla="*/ 0 w 10617"/>
                <a:gd name="connsiteY0" fmla="*/ 10445 h 10445"/>
                <a:gd name="connsiteX1" fmla="*/ 10617 w 10617"/>
                <a:gd name="connsiteY1" fmla="*/ 0 h 10445"/>
                <a:gd name="connsiteX0" fmla="*/ 0 w 10617"/>
                <a:gd name="connsiteY0" fmla="*/ 10445 h 10445"/>
                <a:gd name="connsiteX1" fmla="*/ 10617 w 10617"/>
                <a:gd name="connsiteY1" fmla="*/ 0 h 10445"/>
                <a:gd name="connsiteX0" fmla="*/ 0 w 10544"/>
                <a:gd name="connsiteY0" fmla="*/ 9872 h 9872"/>
                <a:gd name="connsiteX1" fmla="*/ 10544 w 10544"/>
                <a:gd name="connsiteY1" fmla="*/ 0 h 9872"/>
                <a:gd name="connsiteX0" fmla="*/ 0 w 10000"/>
                <a:gd name="connsiteY0" fmla="*/ 10000 h 10000"/>
                <a:gd name="connsiteX1" fmla="*/ 10000 w 10000"/>
                <a:gd name="connsiteY1" fmla="*/ 0 h 10000"/>
                <a:gd name="connsiteX0" fmla="*/ 0 w 9725"/>
                <a:gd name="connsiteY0" fmla="*/ 10129 h 10129"/>
                <a:gd name="connsiteX1" fmla="*/ 9725 w 9725"/>
                <a:gd name="connsiteY1" fmla="*/ 0 h 10129"/>
                <a:gd name="connsiteX0" fmla="*/ 0 w 10000"/>
                <a:gd name="connsiteY0" fmla="*/ 10000 h 10000"/>
                <a:gd name="connsiteX1" fmla="*/ 10000 w 10000"/>
                <a:gd name="connsiteY1" fmla="*/ 0 h 10000"/>
                <a:gd name="connsiteX0" fmla="*/ 0 w 10000"/>
                <a:gd name="connsiteY0" fmla="*/ 10000 h 10000"/>
                <a:gd name="connsiteX1" fmla="*/ 10000 w 10000"/>
                <a:gd name="connsiteY1" fmla="*/ 0 h 10000"/>
                <a:gd name="connsiteX0" fmla="*/ 0 w 10000"/>
                <a:gd name="connsiteY0" fmla="*/ 10021 h 10021"/>
                <a:gd name="connsiteX1" fmla="*/ 10000 w 10000"/>
                <a:gd name="connsiteY1" fmla="*/ 21 h 10021"/>
                <a:gd name="connsiteX0" fmla="*/ 0 w 8846"/>
                <a:gd name="connsiteY0" fmla="*/ 9728 h 9728"/>
                <a:gd name="connsiteX1" fmla="*/ 8846 w 8846"/>
                <a:gd name="connsiteY1" fmla="*/ 25 h 9728"/>
                <a:gd name="connsiteX0" fmla="*/ 0 w 10000"/>
                <a:gd name="connsiteY0" fmla="*/ 9974 h 9974"/>
                <a:gd name="connsiteX1" fmla="*/ 10000 w 10000"/>
                <a:gd name="connsiteY1" fmla="*/ 0 h 9974"/>
                <a:gd name="connsiteX0" fmla="*/ 56 w 10056"/>
                <a:gd name="connsiteY0" fmla="*/ 10000 h 10000"/>
                <a:gd name="connsiteX1" fmla="*/ 10056 w 10056"/>
                <a:gd name="connsiteY1" fmla="*/ 0 h 10000"/>
                <a:gd name="connsiteX0" fmla="*/ 71 w 9478"/>
                <a:gd name="connsiteY0" fmla="*/ 9770 h 9770"/>
                <a:gd name="connsiteX1" fmla="*/ 9478 w 9478"/>
                <a:gd name="connsiteY1" fmla="*/ 0 h 9770"/>
              </a:gdLst>
              <a:ahLst/>
              <a:cxnLst>
                <a:cxn ang="0">
                  <a:pos x="connsiteX0" y="connsiteY0"/>
                </a:cxn>
                <a:cxn ang="0">
                  <a:pos x="connsiteX1" y="connsiteY1"/>
                </a:cxn>
              </a:cxnLst>
              <a:rect l="l" t="t" r="r" b="b"/>
              <a:pathLst>
                <a:path w="9478" h="9770">
                  <a:moveTo>
                    <a:pt x="71" y="9770"/>
                  </a:moveTo>
                  <a:cubicBezTo>
                    <a:pt x="-385" y="4092"/>
                    <a:pt x="1220" y="1635"/>
                    <a:pt x="9478" y="0"/>
                  </a:cubicBezTo>
                </a:path>
              </a:pathLst>
            </a:custGeom>
            <a:noFill/>
            <a:ln w="19050">
              <a:solidFill>
                <a:schemeClr val="bg1">
                  <a:lumMod val="50000"/>
                </a:schemeClr>
              </a:solidFill>
              <a:prstDash val="sysDot"/>
              <a:headEnd type="none" w="med" len="lg"/>
              <a:tailEnd type="non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2" name="组合 31"/>
            <p:cNvGrpSpPr/>
            <p:nvPr/>
          </p:nvGrpSpPr>
          <p:grpSpPr bwMode="gray">
            <a:xfrm flipH="1">
              <a:off x="3637348" y="2327033"/>
              <a:ext cx="1614819" cy="1002779"/>
              <a:chOff x="2433132" y="2613356"/>
              <a:chExt cx="1614819" cy="1002779"/>
            </a:xfrm>
          </p:grpSpPr>
          <p:sp>
            <p:nvSpPr>
              <p:cNvPr id="30" name="任意多边形 29"/>
              <p:cNvSpPr/>
              <p:nvPr/>
            </p:nvSpPr>
            <p:spPr bwMode="gray">
              <a:xfrm>
                <a:off x="2433132" y="2613356"/>
                <a:ext cx="1608795" cy="1002779"/>
              </a:xfrm>
              <a:custGeom>
                <a:avLst/>
                <a:gdLst>
                  <a:gd name="connsiteX0" fmla="*/ 0 w 1170432"/>
                  <a:gd name="connsiteY0" fmla="*/ 9144 h 9144"/>
                  <a:gd name="connsiteX1" fmla="*/ 1170432 w 1170432"/>
                  <a:gd name="connsiteY1" fmla="*/ 0 h 9144"/>
                  <a:gd name="connsiteX0" fmla="*/ 0 w 8584"/>
                  <a:gd name="connsiteY0" fmla="*/ 76667 h 76667"/>
                  <a:gd name="connsiteX1" fmla="*/ 8584 w 8584"/>
                  <a:gd name="connsiteY1" fmla="*/ 0 h 76667"/>
                  <a:gd name="connsiteX0" fmla="*/ 0 w 9109"/>
                  <a:gd name="connsiteY0" fmla="*/ 1033 h 1033"/>
                  <a:gd name="connsiteX1" fmla="*/ 9109 w 9109"/>
                  <a:gd name="connsiteY1" fmla="*/ 0 h 1033"/>
                  <a:gd name="connsiteX0" fmla="*/ 0 w 10000"/>
                  <a:gd name="connsiteY0" fmla="*/ 118933 h 118933"/>
                  <a:gd name="connsiteX1" fmla="*/ 10000 w 10000"/>
                  <a:gd name="connsiteY1" fmla="*/ 108933 h 118933"/>
                  <a:gd name="connsiteX0" fmla="*/ 0 w 10083"/>
                  <a:gd name="connsiteY0" fmla="*/ 126881 h 126881"/>
                  <a:gd name="connsiteX1" fmla="*/ 10083 w 10083"/>
                  <a:gd name="connsiteY1" fmla="*/ 106359 h 126881"/>
                  <a:gd name="connsiteX0" fmla="*/ 0 w 10083"/>
                  <a:gd name="connsiteY0" fmla="*/ 247191 h 247191"/>
                  <a:gd name="connsiteX1" fmla="*/ 10083 w 10083"/>
                  <a:gd name="connsiteY1" fmla="*/ 226669 h 247191"/>
                  <a:gd name="connsiteX0" fmla="*/ 0 w 10083"/>
                  <a:gd name="connsiteY0" fmla="*/ 275627 h 275627"/>
                  <a:gd name="connsiteX1" fmla="*/ 10083 w 10083"/>
                  <a:gd name="connsiteY1" fmla="*/ 255105 h 275627"/>
                  <a:gd name="connsiteX0" fmla="*/ 0 w 9093"/>
                  <a:gd name="connsiteY0" fmla="*/ 532036 h 532036"/>
                  <a:gd name="connsiteX1" fmla="*/ 9093 w 9093"/>
                  <a:gd name="connsiteY1" fmla="*/ 130291 h 532036"/>
                  <a:gd name="connsiteX0" fmla="*/ 0 w 10000"/>
                  <a:gd name="connsiteY0" fmla="*/ 7551 h 7551"/>
                  <a:gd name="connsiteX1" fmla="*/ 10000 w 10000"/>
                  <a:gd name="connsiteY1" fmla="*/ 0 h 7551"/>
                  <a:gd name="connsiteX0" fmla="*/ 0 w 10726"/>
                  <a:gd name="connsiteY0" fmla="*/ 10127 h 10127"/>
                  <a:gd name="connsiteX1" fmla="*/ 10726 w 10726"/>
                  <a:gd name="connsiteY1" fmla="*/ 0 h 10127"/>
                  <a:gd name="connsiteX0" fmla="*/ 0 w 10726"/>
                  <a:gd name="connsiteY0" fmla="*/ 10127 h 10127"/>
                  <a:gd name="connsiteX1" fmla="*/ 10726 w 10726"/>
                  <a:gd name="connsiteY1" fmla="*/ 0 h 10127"/>
                  <a:gd name="connsiteX0" fmla="*/ 0 w 10835"/>
                  <a:gd name="connsiteY0" fmla="*/ 10318 h 10318"/>
                  <a:gd name="connsiteX1" fmla="*/ 10835 w 10835"/>
                  <a:gd name="connsiteY1" fmla="*/ 0 h 10318"/>
                  <a:gd name="connsiteX0" fmla="*/ 0 w 10835"/>
                  <a:gd name="connsiteY0" fmla="*/ 10318 h 10318"/>
                  <a:gd name="connsiteX1" fmla="*/ 10835 w 10835"/>
                  <a:gd name="connsiteY1" fmla="*/ 0 h 10318"/>
                  <a:gd name="connsiteX0" fmla="*/ 0 w 10617"/>
                  <a:gd name="connsiteY0" fmla="*/ 10445 h 10445"/>
                  <a:gd name="connsiteX1" fmla="*/ 10617 w 10617"/>
                  <a:gd name="connsiteY1" fmla="*/ 0 h 10445"/>
                  <a:gd name="connsiteX0" fmla="*/ 0 w 10617"/>
                  <a:gd name="connsiteY0" fmla="*/ 10445 h 10445"/>
                  <a:gd name="connsiteX1" fmla="*/ 10617 w 10617"/>
                  <a:gd name="connsiteY1" fmla="*/ 0 h 10445"/>
                  <a:gd name="connsiteX0" fmla="*/ 0 w 10617"/>
                  <a:gd name="connsiteY0" fmla="*/ 10445 h 10445"/>
                  <a:gd name="connsiteX1" fmla="*/ 10617 w 10617"/>
                  <a:gd name="connsiteY1" fmla="*/ 0 h 10445"/>
                  <a:gd name="connsiteX0" fmla="*/ 0 w 10544"/>
                  <a:gd name="connsiteY0" fmla="*/ 9872 h 9872"/>
                  <a:gd name="connsiteX1" fmla="*/ 10544 w 10544"/>
                  <a:gd name="connsiteY1" fmla="*/ 0 h 9872"/>
                  <a:gd name="connsiteX0" fmla="*/ 0 w 10000"/>
                  <a:gd name="connsiteY0" fmla="*/ 10000 h 10000"/>
                  <a:gd name="connsiteX1" fmla="*/ 10000 w 10000"/>
                  <a:gd name="connsiteY1" fmla="*/ 0 h 10000"/>
                  <a:gd name="connsiteX0" fmla="*/ 0 w 9725"/>
                  <a:gd name="connsiteY0" fmla="*/ 10129 h 10129"/>
                  <a:gd name="connsiteX1" fmla="*/ 9725 w 9725"/>
                  <a:gd name="connsiteY1" fmla="*/ 0 h 10129"/>
                  <a:gd name="connsiteX0" fmla="*/ 0 w 10000"/>
                  <a:gd name="connsiteY0" fmla="*/ 10000 h 10000"/>
                  <a:gd name="connsiteX1" fmla="*/ 10000 w 10000"/>
                  <a:gd name="connsiteY1" fmla="*/ 0 h 10000"/>
                  <a:gd name="connsiteX0" fmla="*/ 0 w 10000"/>
                  <a:gd name="connsiteY0" fmla="*/ 10000 h 10000"/>
                  <a:gd name="connsiteX1" fmla="*/ 10000 w 10000"/>
                  <a:gd name="connsiteY1" fmla="*/ 0 h 10000"/>
                  <a:gd name="connsiteX0" fmla="*/ 0 w 10000"/>
                  <a:gd name="connsiteY0" fmla="*/ 10021 h 10021"/>
                  <a:gd name="connsiteX1" fmla="*/ 10000 w 10000"/>
                  <a:gd name="connsiteY1" fmla="*/ 21 h 10021"/>
                  <a:gd name="connsiteX0" fmla="*/ 0 w 10000"/>
                  <a:gd name="connsiteY0" fmla="*/ 10000 h 10000"/>
                  <a:gd name="connsiteX1" fmla="*/ 10000 w 10000"/>
                  <a:gd name="connsiteY1" fmla="*/ 0 h 10000"/>
                  <a:gd name="connsiteX0" fmla="*/ 0 w 9292"/>
                  <a:gd name="connsiteY0" fmla="*/ 10159 h 10159"/>
                  <a:gd name="connsiteX1" fmla="*/ 9292 w 9292"/>
                  <a:gd name="connsiteY1" fmla="*/ 0 h 10159"/>
                  <a:gd name="connsiteX0" fmla="*/ 0 w 10000"/>
                  <a:gd name="connsiteY0" fmla="*/ 10000 h 10000"/>
                  <a:gd name="connsiteX1" fmla="*/ 10000 w 10000"/>
                  <a:gd name="connsiteY1" fmla="*/ 0 h 10000"/>
                  <a:gd name="connsiteX0" fmla="*/ 0 w 10048"/>
                  <a:gd name="connsiteY0" fmla="*/ 10313 h 10313"/>
                  <a:gd name="connsiteX1" fmla="*/ 10048 w 10048"/>
                  <a:gd name="connsiteY1" fmla="*/ 0 h 10313"/>
                  <a:gd name="connsiteX0" fmla="*/ 0 w 10048"/>
                  <a:gd name="connsiteY0" fmla="*/ 10313 h 10313"/>
                  <a:gd name="connsiteX1" fmla="*/ 10048 w 10048"/>
                  <a:gd name="connsiteY1" fmla="*/ 0 h 10313"/>
                </a:gdLst>
                <a:ahLst/>
                <a:cxnLst>
                  <a:cxn ang="0">
                    <a:pos x="connsiteX0" y="connsiteY0"/>
                  </a:cxn>
                  <a:cxn ang="0">
                    <a:pos x="connsiteX1" y="connsiteY1"/>
                  </a:cxn>
                </a:cxnLst>
                <a:rect l="l" t="t" r="r" b="b"/>
                <a:pathLst>
                  <a:path w="10048" h="10313">
                    <a:moveTo>
                      <a:pt x="0" y="10313"/>
                    </a:moveTo>
                    <a:cubicBezTo>
                      <a:pt x="1847" y="3899"/>
                      <a:pt x="4854" y="204"/>
                      <a:pt x="10048" y="0"/>
                    </a:cubicBezTo>
                  </a:path>
                </a:pathLst>
              </a:custGeom>
              <a:noFill/>
              <a:ln w="19050">
                <a:solidFill>
                  <a:schemeClr val="bg1">
                    <a:lumMod val="50000"/>
                  </a:schemeClr>
                </a:solidFill>
                <a:prstDash val="sysDot"/>
                <a:headEnd type="none" w="med" len="lg"/>
                <a:tailEnd type="non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任意多边形 30"/>
              <p:cNvSpPr/>
              <p:nvPr/>
            </p:nvSpPr>
            <p:spPr bwMode="gray">
              <a:xfrm>
                <a:off x="3604530" y="2651760"/>
                <a:ext cx="443421" cy="953222"/>
              </a:xfrm>
              <a:custGeom>
                <a:avLst/>
                <a:gdLst>
                  <a:gd name="connsiteX0" fmla="*/ 0 w 1170432"/>
                  <a:gd name="connsiteY0" fmla="*/ 9144 h 9144"/>
                  <a:gd name="connsiteX1" fmla="*/ 1170432 w 1170432"/>
                  <a:gd name="connsiteY1" fmla="*/ 0 h 9144"/>
                  <a:gd name="connsiteX0" fmla="*/ 0 w 8584"/>
                  <a:gd name="connsiteY0" fmla="*/ 76667 h 76667"/>
                  <a:gd name="connsiteX1" fmla="*/ 8584 w 8584"/>
                  <a:gd name="connsiteY1" fmla="*/ 0 h 76667"/>
                  <a:gd name="connsiteX0" fmla="*/ 0 w 9109"/>
                  <a:gd name="connsiteY0" fmla="*/ 1033 h 1033"/>
                  <a:gd name="connsiteX1" fmla="*/ 9109 w 9109"/>
                  <a:gd name="connsiteY1" fmla="*/ 0 h 1033"/>
                  <a:gd name="connsiteX0" fmla="*/ 0 w 10000"/>
                  <a:gd name="connsiteY0" fmla="*/ 118933 h 118933"/>
                  <a:gd name="connsiteX1" fmla="*/ 10000 w 10000"/>
                  <a:gd name="connsiteY1" fmla="*/ 108933 h 118933"/>
                  <a:gd name="connsiteX0" fmla="*/ 0 w 10083"/>
                  <a:gd name="connsiteY0" fmla="*/ 126881 h 126881"/>
                  <a:gd name="connsiteX1" fmla="*/ 10083 w 10083"/>
                  <a:gd name="connsiteY1" fmla="*/ 106359 h 126881"/>
                  <a:gd name="connsiteX0" fmla="*/ 0 w 10083"/>
                  <a:gd name="connsiteY0" fmla="*/ 247191 h 247191"/>
                  <a:gd name="connsiteX1" fmla="*/ 10083 w 10083"/>
                  <a:gd name="connsiteY1" fmla="*/ 226669 h 247191"/>
                  <a:gd name="connsiteX0" fmla="*/ 0 w 10083"/>
                  <a:gd name="connsiteY0" fmla="*/ 275627 h 275627"/>
                  <a:gd name="connsiteX1" fmla="*/ 10083 w 10083"/>
                  <a:gd name="connsiteY1" fmla="*/ 255105 h 275627"/>
                  <a:gd name="connsiteX0" fmla="*/ 0 w 9093"/>
                  <a:gd name="connsiteY0" fmla="*/ 532036 h 532036"/>
                  <a:gd name="connsiteX1" fmla="*/ 9093 w 9093"/>
                  <a:gd name="connsiteY1" fmla="*/ 130291 h 532036"/>
                  <a:gd name="connsiteX0" fmla="*/ 0 w 10000"/>
                  <a:gd name="connsiteY0" fmla="*/ 7551 h 7551"/>
                  <a:gd name="connsiteX1" fmla="*/ 10000 w 10000"/>
                  <a:gd name="connsiteY1" fmla="*/ 0 h 7551"/>
                  <a:gd name="connsiteX0" fmla="*/ 0 w 10726"/>
                  <a:gd name="connsiteY0" fmla="*/ 10127 h 10127"/>
                  <a:gd name="connsiteX1" fmla="*/ 10726 w 10726"/>
                  <a:gd name="connsiteY1" fmla="*/ 0 h 10127"/>
                  <a:gd name="connsiteX0" fmla="*/ 0 w 10726"/>
                  <a:gd name="connsiteY0" fmla="*/ 10127 h 10127"/>
                  <a:gd name="connsiteX1" fmla="*/ 10726 w 10726"/>
                  <a:gd name="connsiteY1" fmla="*/ 0 h 10127"/>
                  <a:gd name="connsiteX0" fmla="*/ 0 w 10835"/>
                  <a:gd name="connsiteY0" fmla="*/ 10318 h 10318"/>
                  <a:gd name="connsiteX1" fmla="*/ 10835 w 10835"/>
                  <a:gd name="connsiteY1" fmla="*/ 0 h 10318"/>
                  <a:gd name="connsiteX0" fmla="*/ 0 w 10835"/>
                  <a:gd name="connsiteY0" fmla="*/ 10318 h 10318"/>
                  <a:gd name="connsiteX1" fmla="*/ 10835 w 10835"/>
                  <a:gd name="connsiteY1" fmla="*/ 0 h 10318"/>
                  <a:gd name="connsiteX0" fmla="*/ 0 w 10617"/>
                  <a:gd name="connsiteY0" fmla="*/ 10445 h 10445"/>
                  <a:gd name="connsiteX1" fmla="*/ 10617 w 10617"/>
                  <a:gd name="connsiteY1" fmla="*/ 0 h 10445"/>
                  <a:gd name="connsiteX0" fmla="*/ 0 w 10617"/>
                  <a:gd name="connsiteY0" fmla="*/ 10445 h 10445"/>
                  <a:gd name="connsiteX1" fmla="*/ 10617 w 10617"/>
                  <a:gd name="connsiteY1" fmla="*/ 0 h 10445"/>
                  <a:gd name="connsiteX0" fmla="*/ 0 w 10617"/>
                  <a:gd name="connsiteY0" fmla="*/ 10445 h 10445"/>
                  <a:gd name="connsiteX1" fmla="*/ 10617 w 10617"/>
                  <a:gd name="connsiteY1" fmla="*/ 0 h 10445"/>
                  <a:gd name="connsiteX0" fmla="*/ 0 w 10544"/>
                  <a:gd name="connsiteY0" fmla="*/ 9872 h 9872"/>
                  <a:gd name="connsiteX1" fmla="*/ 10544 w 10544"/>
                  <a:gd name="connsiteY1" fmla="*/ 0 h 9872"/>
                  <a:gd name="connsiteX0" fmla="*/ 0 w 10000"/>
                  <a:gd name="connsiteY0" fmla="*/ 10000 h 10000"/>
                  <a:gd name="connsiteX1" fmla="*/ 10000 w 10000"/>
                  <a:gd name="connsiteY1" fmla="*/ 0 h 10000"/>
                  <a:gd name="connsiteX0" fmla="*/ 0 w 9725"/>
                  <a:gd name="connsiteY0" fmla="*/ 10129 h 10129"/>
                  <a:gd name="connsiteX1" fmla="*/ 9725 w 9725"/>
                  <a:gd name="connsiteY1" fmla="*/ 0 h 10129"/>
                  <a:gd name="connsiteX0" fmla="*/ 0 w 10000"/>
                  <a:gd name="connsiteY0" fmla="*/ 10000 h 10000"/>
                  <a:gd name="connsiteX1" fmla="*/ 10000 w 10000"/>
                  <a:gd name="connsiteY1" fmla="*/ 0 h 10000"/>
                  <a:gd name="connsiteX0" fmla="*/ 0 w 10000"/>
                  <a:gd name="connsiteY0" fmla="*/ 10000 h 10000"/>
                  <a:gd name="connsiteX1" fmla="*/ 10000 w 10000"/>
                  <a:gd name="connsiteY1" fmla="*/ 0 h 10000"/>
                  <a:gd name="connsiteX0" fmla="*/ 0 w 10000"/>
                  <a:gd name="connsiteY0" fmla="*/ 10021 h 10021"/>
                  <a:gd name="connsiteX1" fmla="*/ 10000 w 10000"/>
                  <a:gd name="connsiteY1" fmla="*/ 21 h 10021"/>
                  <a:gd name="connsiteX0" fmla="*/ 0 w 8846"/>
                  <a:gd name="connsiteY0" fmla="*/ 9728 h 9728"/>
                  <a:gd name="connsiteX1" fmla="*/ 8846 w 8846"/>
                  <a:gd name="connsiteY1" fmla="*/ 25 h 9728"/>
                  <a:gd name="connsiteX0" fmla="*/ 0 w 10000"/>
                  <a:gd name="connsiteY0" fmla="*/ 9974 h 9974"/>
                  <a:gd name="connsiteX1" fmla="*/ 10000 w 10000"/>
                  <a:gd name="connsiteY1" fmla="*/ 0 h 9974"/>
                  <a:gd name="connsiteX0" fmla="*/ 56 w 10056"/>
                  <a:gd name="connsiteY0" fmla="*/ 10000 h 10000"/>
                  <a:gd name="connsiteX1" fmla="*/ 10056 w 10056"/>
                  <a:gd name="connsiteY1" fmla="*/ 0 h 10000"/>
                  <a:gd name="connsiteX0" fmla="*/ 71 w 9478"/>
                  <a:gd name="connsiteY0" fmla="*/ 9770 h 9770"/>
                  <a:gd name="connsiteX1" fmla="*/ 9478 w 9478"/>
                  <a:gd name="connsiteY1" fmla="*/ 0 h 9770"/>
                </a:gdLst>
                <a:ahLst/>
                <a:cxnLst>
                  <a:cxn ang="0">
                    <a:pos x="connsiteX0" y="connsiteY0"/>
                  </a:cxn>
                  <a:cxn ang="0">
                    <a:pos x="connsiteX1" y="connsiteY1"/>
                  </a:cxn>
                </a:cxnLst>
                <a:rect l="l" t="t" r="r" b="b"/>
                <a:pathLst>
                  <a:path w="9478" h="9770">
                    <a:moveTo>
                      <a:pt x="71" y="9770"/>
                    </a:moveTo>
                    <a:cubicBezTo>
                      <a:pt x="-385" y="4092"/>
                      <a:pt x="1220" y="1635"/>
                      <a:pt x="9478" y="0"/>
                    </a:cubicBezTo>
                  </a:path>
                </a:pathLst>
              </a:custGeom>
              <a:noFill/>
              <a:ln w="19050">
                <a:solidFill>
                  <a:schemeClr val="bg1">
                    <a:lumMod val="50000"/>
                  </a:schemeClr>
                </a:solidFill>
                <a:prstDash val="sysDot"/>
                <a:headEnd type="none" w="med" len="lg"/>
                <a:tailEnd type="none"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81" name="文本框 80"/>
            <p:cNvSpPr txBox="1"/>
            <p:nvPr/>
          </p:nvSpPr>
          <p:spPr bwMode="gray">
            <a:xfrm>
              <a:off x="4817144" y="2500792"/>
              <a:ext cx="1107996" cy="307777"/>
            </a:xfrm>
            <a:prstGeom prst="rect">
              <a:avLst/>
            </a:prstGeom>
            <a:noFill/>
            <a:ln>
              <a:noFill/>
            </a:ln>
          </p:spPr>
          <p:txBody>
            <a:bodyPr wrap="none" rtlCol="0">
              <a:spAutoFit/>
            </a:bodyPr>
            <a:lstStyle/>
            <a:p>
              <a:r>
                <a:rPr lang="en-US" altLang="zh-CN" sz="1400" dirty="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隧道</a:t>
              </a:r>
            </a:p>
          </p:txBody>
        </p:sp>
      </p:grpSp>
      <p:grpSp>
        <p:nvGrpSpPr>
          <p:cNvPr id="12" name="组合 11"/>
          <p:cNvGrpSpPr/>
          <p:nvPr/>
        </p:nvGrpSpPr>
        <p:grpSpPr bwMode="gray">
          <a:xfrm>
            <a:off x="712522" y="4149284"/>
            <a:ext cx="5191901" cy="1389167"/>
            <a:chOff x="728031" y="4210247"/>
            <a:chExt cx="5191901" cy="1389167"/>
          </a:xfrm>
        </p:grpSpPr>
        <p:cxnSp>
          <p:nvCxnSpPr>
            <p:cNvPr id="57" name="直接连接符 56"/>
            <p:cNvCxnSpPr/>
            <p:nvPr/>
          </p:nvCxnSpPr>
          <p:spPr bwMode="gray">
            <a:xfrm>
              <a:off x="5087510" y="5462006"/>
              <a:ext cx="525233"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bwMode="gray">
            <a:xfrm>
              <a:off x="1011787" y="5462006"/>
              <a:ext cx="525233"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5" name="图片 87" descr="汇聚交换机.png"/>
            <p:cNvPicPr>
              <a:picLocks noChangeAspect="1"/>
            </p:cNvPicPr>
            <p:nvPr/>
          </p:nvPicPr>
          <p:blipFill>
            <a:blip r:embed="rId3"/>
            <a:stretch>
              <a:fillRect/>
            </a:stretch>
          </p:blipFill>
          <p:spPr bwMode="gray">
            <a:xfrm>
              <a:off x="1369078" y="5324599"/>
              <a:ext cx="335885" cy="274815"/>
            </a:xfrm>
            <a:prstGeom prst="rect">
              <a:avLst/>
            </a:prstGeom>
          </p:spPr>
        </p:pic>
        <p:pic>
          <p:nvPicPr>
            <p:cNvPr id="36" name="图片 86" descr="核心交换机.png"/>
            <p:cNvPicPr>
              <a:picLocks noChangeAspect="1"/>
            </p:cNvPicPr>
            <p:nvPr/>
          </p:nvPicPr>
          <p:blipFill>
            <a:blip r:embed="rId4"/>
            <a:stretch>
              <a:fillRect/>
            </a:stretch>
          </p:blipFill>
          <p:spPr bwMode="gray">
            <a:xfrm>
              <a:off x="3293467" y="4210247"/>
              <a:ext cx="335885" cy="274815"/>
            </a:xfrm>
            <a:prstGeom prst="rect">
              <a:avLst/>
            </a:prstGeom>
          </p:spPr>
        </p:pic>
        <p:pic>
          <p:nvPicPr>
            <p:cNvPr id="37" name="图片 87" descr="汇聚交换机.png"/>
            <p:cNvPicPr>
              <a:picLocks noChangeAspect="1"/>
            </p:cNvPicPr>
            <p:nvPr/>
          </p:nvPicPr>
          <p:blipFill>
            <a:blip r:embed="rId3"/>
            <a:stretch>
              <a:fillRect/>
            </a:stretch>
          </p:blipFill>
          <p:spPr bwMode="gray">
            <a:xfrm>
              <a:off x="2484061" y="5324599"/>
              <a:ext cx="335885" cy="274815"/>
            </a:xfrm>
            <a:prstGeom prst="rect">
              <a:avLst/>
            </a:prstGeom>
          </p:spPr>
        </p:pic>
        <p:pic>
          <p:nvPicPr>
            <p:cNvPr id="38" name="图片 87" descr="汇聚交换机.png"/>
            <p:cNvPicPr>
              <a:picLocks noChangeAspect="1"/>
            </p:cNvPicPr>
            <p:nvPr/>
          </p:nvPicPr>
          <p:blipFill>
            <a:blip r:embed="rId3"/>
            <a:stretch>
              <a:fillRect/>
            </a:stretch>
          </p:blipFill>
          <p:spPr bwMode="gray">
            <a:xfrm>
              <a:off x="3790147" y="5324599"/>
              <a:ext cx="335885" cy="274815"/>
            </a:xfrm>
            <a:prstGeom prst="rect">
              <a:avLst/>
            </a:prstGeom>
          </p:spPr>
        </p:pic>
        <p:pic>
          <p:nvPicPr>
            <p:cNvPr id="39" name="图片 87" descr="汇聚交换机.png"/>
            <p:cNvPicPr>
              <a:picLocks noChangeAspect="1"/>
            </p:cNvPicPr>
            <p:nvPr/>
          </p:nvPicPr>
          <p:blipFill>
            <a:blip r:embed="rId3"/>
            <a:stretch>
              <a:fillRect/>
            </a:stretch>
          </p:blipFill>
          <p:spPr bwMode="gray">
            <a:xfrm>
              <a:off x="5014242" y="5324599"/>
              <a:ext cx="335885" cy="274815"/>
            </a:xfrm>
            <a:prstGeom prst="rect">
              <a:avLst/>
            </a:prstGeom>
          </p:spPr>
        </p:pic>
        <p:pic>
          <p:nvPicPr>
            <p:cNvPr id="52" name="图片 11" descr="开放网络-蓝.png"/>
            <p:cNvPicPr>
              <a:picLocks noChangeAspect="1"/>
            </p:cNvPicPr>
            <p:nvPr/>
          </p:nvPicPr>
          <p:blipFill>
            <a:blip r:embed="rId5" cstate="print"/>
            <a:stretch>
              <a:fillRect/>
            </a:stretch>
          </p:blipFill>
          <p:spPr bwMode="gray">
            <a:xfrm>
              <a:off x="728031" y="5333047"/>
              <a:ext cx="335054" cy="257919"/>
            </a:xfrm>
            <a:prstGeom prst="rect">
              <a:avLst/>
            </a:prstGeom>
          </p:spPr>
        </p:pic>
        <p:pic>
          <p:nvPicPr>
            <p:cNvPr id="53" name="图片 11" descr="开放网络-蓝.png"/>
            <p:cNvPicPr>
              <a:picLocks noChangeAspect="1"/>
            </p:cNvPicPr>
            <p:nvPr/>
          </p:nvPicPr>
          <p:blipFill>
            <a:blip r:embed="rId5" cstate="print"/>
            <a:stretch>
              <a:fillRect/>
            </a:stretch>
          </p:blipFill>
          <p:spPr bwMode="gray">
            <a:xfrm>
              <a:off x="5584878" y="5333047"/>
              <a:ext cx="335054" cy="257919"/>
            </a:xfrm>
            <a:prstGeom prst="rect">
              <a:avLst/>
            </a:prstGeom>
          </p:spPr>
        </p:pic>
        <p:cxnSp>
          <p:nvCxnSpPr>
            <p:cNvPr id="58" name="直接连接符 57"/>
            <p:cNvCxnSpPr/>
            <p:nvPr/>
          </p:nvCxnSpPr>
          <p:spPr bwMode="gray">
            <a:xfrm>
              <a:off x="1109254" y="5396215"/>
              <a:ext cx="238743" cy="0"/>
            </a:xfrm>
            <a:prstGeom prst="line">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1" name="任意多边形 60"/>
            <p:cNvSpPr/>
            <p:nvPr/>
          </p:nvSpPr>
          <p:spPr bwMode="gray">
            <a:xfrm>
              <a:off x="1702501" y="5131374"/>
              <a:ext cx="943093" cy="204213"/>
            </a:xfrm>
            <a:custGeom>
              <a:avLst/>
              <a:gdLst>
                <a:gd name="connsiteX0" fmla="*/ 0 w 1170432"/>
                <a:gd name="connsiteY0" fmla="*/ 9144 h 9144"/>
                <a:gd name="connsiteX1" fmla="*/ 1170432 w 1170432"/>
                <a:gd name="connsiteY1" fmla="*/ 0 h 9144"/>
                <a:gd name="connsiteX0" fmla="*/ 0 w 8584"/>
                <a:gd name="connsiteY0" fmla="*/ 76667 h 76667"/>
                <a:gd name="connsiteX1" fmla="*/ 8584 w 8584"/>
                <a:gd name="connsiteY1" fmla="*/ 0 h 76667"/>
                <a:gd name="connsiteX0" fmla="*/ 0 w 9109"/>
                <a:gd name="connsiteY0" fmla="*/ 1033 h 1033"/>
                <a:gd name="connsiteX1" fmla="*/ 9109 w 9109"/>
                <a:gd name="connsiteY1" fmla="*/ 0 h 1033"/>
                <a:gd name="connsiteX0" fmla="*/ 0 w 10000"/>
                <a:gd name="connsiteY0" fmla="*/ 118933 h 118933"/>
                <a:gd name="connsiteX1" fmla="*/ 10000 w 10000"/>
                <a:gd name="connsiteY1" fmla="*/ 108933 h 118933"/>
                <a:gd name="connsiteX0" fmla="*/ 0 w 10083"/>
                <a:gd name="connsiteY0" fmla="*/ 126881 h 126881"/>
                <a:gd name="connsiteX1" fmla="*/ 10083 w 10083"/>
                <a:gd name="connsiteY1" fmla="*/ 106359 h 126881"/>
                <a:gd name="connsiteX0" fmla="*/ 0 w 10083"/>
                <a:gd name="connsiteY0" fmla="*/ 247191 h 247191"/>
                <a:gd name="connsiteX1" fmla="*/ 10083 w 10083"/>
                <a:gd name="connsiteY1" fmla="*/ 226669 h 247191"/>
                <a:gd name="connsiteX0" fmla="*/ 0 w 10083"/>
                <a:gd name="connsiteY0" fmla="*/ 275627 h 275627"/>
                <a:gd name="connsiteX1" fmla="*/ 10083 w 10083"/>
                <a:gd name="connsiteY1" fmla="*/ 255105 h 275627"/>
                <a:gd name="connsiteX0" fmla="*/ 0 w 10305"/>
                <a:gd name="connsiteY0" fmla="*/ 277340 h 277340"/>
                <a:gd name="connsiteX1" fmla="*/ 10305 w 10305"/>
                <a:gd name="connsiteY1" fmla="*/ 253368 h 277340"/>
              </a:gdLst>
              <a:ahLst/>
              <a:cxnLst>
                <a:cxn ang="0">
                  <a:pos x="connsiteX0" y="connsiteY0"/>
                </a:cxn>
                <a:cxn ang="0">
                  <a:pos x="connsiteX1" y="connsiteY1"/>
                </a:cxn>
              </a:cxnLst>
              <a:rect l="l" t="t" r="r" b="b"/>
              <a:pathLst>
                <a:path w="10305" h="277340">
                  <a:moveTo>
                    <a:pt x="0" y="277340"/>
                  </a:moveTo>
                  <a:cubicBezTo>
                    <a:pt x="2438" y="-102154"/>
                    <a:pt x="7492" y="-74742"/>
                    <a:pt x="10305" y="253368"/>
                  </a:cubicBezTo>
                </a:path>
              </a:pathLst>
            </a:cu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任意多边形 61"/>
            <p:cNvSpPr/>
            <p:nvPr/>
          </p:nvSpPr>
          <p:spPr bwMode="gray">
            <a:xfrm>
              <a:off x="1678501" y="4908572"/>
              <a:ext cx="2256428" cy="413684"/>
            </a:xfrm>
            <a:custGeom>
              <a:avLst/>
              <a:gdLst>
                <a:gd name="connsiteX0" fmla="*/ 0 w 1170432"/>
                <a:gd name="connsiteY0" fmla="*/ 9144 h 9144"/>
                <a:gd name="connsiteX1" fmla="*/ 1170432 w 1170432"/>
                <a:gd name="connsiteY1" fmla="*/ 0 h 9144"/>
                <a:gd name="connsiteX0" fmla="*/ 0 w 8584"/>
                <a:gd name="connsiteY0" fmla="*/ 76667 h 76667"/>
                <a:gd name="connsiteX1" fmla="*/ 8584 w 8584"/>
                <a:gd name="connsiteY1" fmla="*/ 0 h 76667"/>
                <a:gd name="connsiteX0" fmla="*/ 0 w 9109"/>
                <a:gd name="connsiteY0" fmla="*/ 1033 h 1033"/>
                <a:gd name="connsiteX1" fmla="*/ 9109 w 9109"/>
                <a:gd name="connsiteY1" fmla="*/ 0 h 1033"/>
                <a:gd name="connsiteX0" fmla="*/ 0 w 10000"/>
                <a:gd name="connsiteY0" fmla="*/ 118933 h 118933"/>
                <a:gd name="connsiteX1" fmla="*/ 10000 w 10000"/>
                <a:gd name="connsiteY1" fmla="*/ 108933 h 118933"/>
                <a:gd name="connsiteX0" fmla="*/ 0 w 10083"/>
                <a:gd name="connsiteY0" fmla="*/ 126881 h 126881"/>
                <a:gd name="connsiteX1" fmla="*/ 10083 w 10083"/>
                <a:gd name="connsiteY1" fmla="*/ 106359 h 126881"/>
                <a:gd name="connsiteX0" fmla="*/ 0 w 10083"/>
                <a:gd name="connsiteY0" fmla="*/ 247191 h 247191"/>
                <a:gd name="connsiteX1" fmla="*/ 10083 w 10083"/>
                <a:gd name="connsiteY1" fmla="*/ 226669 h 247191"/>
                <a:gd name="connsiteX0" fmla="*/ 0 w 10083"/>
                <a:gd name="connsiteY0" fmla="*/ 275627 h 275627"/>
                <a:gd name="connsiteX1" fmla="*/ 10083 w 10083"/>
                <a:gd name="connsiteY1" fmla="*/ 255105 h 275627"/>
                <a:gd name="connsiteX0" fmla="*/ 0 w 10250"/>
                <a:gd name="connsiteY0" fmla="*/ 272284 h 272284"/>
                <a:gd name="connsiteX1" fmla="*/ 10250 w 10250"/>
                <a:gd name="connsiteY1" fmla="*/ 258569 h 272284"/>
                <a:gd name="connsiteX0" fmla="*/ 0 w 10285"/>
                <a:gd name="connsiteY0" fmla="*/ 279778 h 279778"/>
                <a:gd name="connsiteX1" fmla="*/ 10285 w 10285"/>
                <a:gd name="connsiteY1" fmla="*/ 250936 h 279778"/>
                <a:gd name="connsiteX0" fmla="*/ 0 w 10285"/>
                <a:gd name="connsiteY0" fmla="*/ 307969 h 307969"/>
                <a:gd name="connsiteX1" fmla="*/ 10285 w 10285"/>
                <a:gd name="connsiteY1" fmla="*/ 279127 h 307969"/>
              </a:gdLst>
              <a:ahLst/>
              <a:cxnLst>
                <a:cxn ang="0">
                  <a:pos x="connsiteX0" y="connsiteY0"/>
                </a:cxn>
                <a:cxn ang="0">
                  <a:pos x="connsiteX1" y="connsiteY1"/>
                </a:cxn>
              </a:cxnLst>
              <a:rect l="l" t="t" r="r" b="b"/>
              <a:pathLst>
                <a:path w="10285" h="307969">
                  <a:moveTo>
                    <a:pt x="0" y="307969"/>
                  </a:moveTo>
                  <a:cubicBezTo>
                    <a:pt x="2091" y="-145271"/>
                    <a:pt x="7472" y="-48983"/>
                    <a:pt x="10285" y="279127"/>
                  </a:cubicBezTo>
                </a:path>
              </a:pathLst>
            </a:cu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任意多边形 62"/>
            <p:cNvSpPr/>
            <p:nvPr/>
          </p:nvSpPr>
          <p:spPr bwMode="gray">
            <a:xfrm>
              <a:off x="1631738" y="4688407"/>
              <a:ext cx="3586117" cy="636192"/>
            </a:xfrm>
            <a:custGeom>
              <a:avLst/>
              <a:gdLst>
                <a:gd name="connsiteX0" fmla="*/ 0 w 1170432"/>
                <a:gd name="connsiteY0" fmla="*/ 9144 h 9144"/>
                <a:gd name="connsiteX1" fmla="*/ 1170432 w 1170432"/>
                <a:gd name="connsiteY1" fmla="*/ 0 h 9144"/>
                <a:gd name="connsiteX0" fmla="*/ 0 w 8584"/>
                <a:gd name="connsiteY0" fmla="*/ 76667 h 76667"/>
                <a:gd name="connsiteX1" fmla="*/ 8584 w 8584"/>
                <a:gd name="connsiteY1" fmla="*/ 0 h 76667"/>
                <a:gd name="connsiteX0" fmla="*/ 0 w 9109"/>
                <a:gd name="connsiteY0" fmla="*/ 1033 h 1033"/>
                <a:gd name="connsiteX1" fmla="*/ 9109 w 9109"/>
                <a:gd name="connsiteY1" fmla="*/ 0 h 1033"/>
                <a:gd name="connsiteX0" fmla="*/ 0 w 10000"/>
                <a:gd name="connsiteY0" fmla="*/ 118933 h 118933"/>
                <a:gd name="connsiteX1" fmla="*/ 10000 w 10000"/>
                <a:gd name="connsiteY1" fmla="*/ 108933 h 118933"/>
                <a:gd name="connsiteX0" fmla="*/ 0 w 10083"/>
                <a:gd name="connsiteY0" fmla="*/ 126881 h 126881"/>
                <a:gd name="connsiteX1" fmla="*/ 10083 w 10083"/>
                <a:gd name="connsiteY1" fmla="*/ 106359 h 126881"/>
                <a:gd name="connsiteX0" fmla="*/ 0 w 10083"/>
                <a:gd name="connsiteY0" fmla="*/ 247191 h 247191"/>
                <a:gd name="connsiteX1" fmla="*/ 10083 w 10083"/>
                <a:gd name="connsiteY1" fmla="*/ 226669 h 247191"/>
                <a:gd name="connsiteX0" fmla="*/ 0 w 10083"/>
                <a:gd name="connsiteY0" fmla="*/ 275627 h 275627"/>
                <a:gd name="connsiteX1" fmla="*/ 10083 w 10083"/>
                <a:gd name="connsiteY1" fmla="*/ 255105 h 275627"/>
                <a:gd name="connsiteX0" fmla="*/ 0 w 10250"/>
                <a:gd name="connsiteY0" fmla="*/ 272284 h 272284"/>
                <a:gd name="connsiteX1" fmla="*/ 10250 w 10250"/>
                <a:gd name="connsiteY1" fmla="*/ 258569 h 272284"/>
                <a:gd name="connsiteX0" fmla="*/ 0 w 10250"/>
                <a:gd name="connsiteY0" fmla="*/ 305543 h 305543"/>
                <a:gd name="connsiteX1" fmla="*/ 10250 w 10250"/>
                <a:gd name="connsiteY1" fmla="*/ 291828 h 305543"/>
                <a:gd name="connsiteX0" fmla="*/ 0 w 10250"/>
                <a:gd name="connsiteY0" fmla="*/ 300392 h 300392"/>
                <a:gd name="connsiteX1" fmla="*/ 10250 w 10250"/>
                <a:gd name="connsiteY1" fmla="*/ 286677 h 300392"/>
                <a:gd name="connsiteX0" fmla="*/ 0 w 10250"/>
                <a:gd name="connsiteY0" fmla="*/ 303332 h 303332"/>
                <a:gd name="connsiteX1" fmla="*/ 10250 w 10250"/>
                <a:gd name="connsiteY1" fmla="*/ 289617 h 303332"/>
                <a:gd name="connsiteX0" fmla="*/ 0 w 10250"/>
                <a:gd name="connsiteY0" fmla="*/ 309191 h 309191"/>
                <a:gd name="connsiteX1" fmla="*/ 10250 w 10250"/>
                <a:gd name="connsiteY1" fmla="*/ 295476 h 309191"/>
              </a:gdLst>
              <a:ahLst/>
              <a:cxnLst>
                <a:cxn ang="0">
                  <a:pos x="connsiteX0" y="connsiteY0"/>
                </a:cxn>
                <a:cxn ang="0">
                  <a:pos x="connsiteX1" y="connsiteY1"/>
                </a:cxn>
              </a:cxnLst>
              <a:rect l="l" t="t" r="r" b="b"/>
              <a:pathLst>
                <a:path w="10250" h="309191">
                  <a:moveTo>
                    <a:pt x="0" y="309191"/>
                  </a:moveTo>
                  <a:cubicBezTo>
                    <a:pt x="1751" y="-149925"/>
                    <a:pt x="7470" y="-49299"/>
                    <a:pt x="10250" y="295476"/>
                  </a:cubicBezTo>
                </a:path>
              </a:pathLst>
            </a:cu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任意多边形 63"/>
            <p:cNvSpPr/>
            <p:nvPr/>
          </p:nvSpPr>
          <p:spPr bwMode="gray">
            <a:xfrm>
              <a:off x="1585258" y="4359096"/>
              <a:ext cx="1676668" cy="965503"/>
            </a:xfrm>
            <a:custGeom>
              <a:avLst/>
              <a:gdLst>
                <a:gd name="connsiteX0" fmla="*/ 0 w 1170432"/>
                <a:gd name="connsiteY0" fmla="*/ 9144 h 9144"/>
                <a:gd name="connsiteX1" fmla="*/ 1170432 w 1170432"/>
                <a:gd name="connsiteY1" fmla="*/ 0 h 9144"/>
                <a:gd name="connsiteX0" fmla="*/ 0 w 8584"/>
                <a:gd name="connsiteY0" fmla="*/ 76667 h 76667"/>
                <a:gd name="connsiteX1" fmla="*/ 8584 w 8584"/>
                <a:gd name="connsiteY1" fmla="*/ 0 h 76667"/>
                <a:gd name="connsiteX0" fmla="*/ 0 w 9109"/>
                <a:gd name="connsiteY0" fmla="*/ 1033 h 1033"/>
                <a:gd name="connsiteX1" fmla="*/ 9109 w 9109"/>
                <a:gd name="connsiteY1" fmla="*/ 0 h 1033"/>
                <a:gd name="connsiteX0" fmla="*/ 0 w 10000"/>
                <a:gd name="connsiteY0" fmla="*/ 118933 h 118933"/>
                <a:gd name="connsiteX1" fmla="*/ 10000 w 10000"/>
                <a:gd name="connsiteY1" fmla="*/ 108933 h 118933"/>
                <a:gd name="connsiteX0" fmla="*/ 0 w 10083"/>
                <a:gd name="connsiteY0" fmla="*/ 126881 h 126881"/>
                <a:gd name="connsiteX1" fmla="*/ 10083 w 10083"/>
                <a:gd name="connsiteY1" fmla="*/ 106359 h 126881"/>
                <a:gd name="connsiteX0" fmla="*/ 0 w 10083"/>
                <a:gd name="connsiteY0" fmla="*/ 247191 h 247191"/>
                <a:gd name="connsiteX1" fmla="*/ 10083 w 10083"/>
                <a:gd name="connsiteY1" fmla="*/ 226669 h 247191"/>
                <a:gd name="connsiteX0" fmla="*/ 0 w 10083"/>
                <a:gd name="connsiteY0" fmla="*/ 275627 h 275627"/>
                <a:gd name="connsiteX1" fmla="*/ 10083 w 10083"/>
                <a:gd name="connsiteY1" fmla="*/ 255105 h 275627"/>
                <a:gd name="connsiteX0" fmla="*/ 0 w 10250"/>
                <a:gd name="connsiteY0" fmla="*/ 272284 h 272284"/>
                <a:gd name="connsiteX1" fmla="*/ 10250 w 10250"/>
                <a:gd name="connsiteY1" fmla="*/ 258569 h 272284"/>
                <a:gd name="connsiteX0" fmla="*/ 0 w 10250"/>
                <a:gd name="connsiteY0" fmla="*/ 305543 h 305543"/>
                <a:gd name="connsiteX1" fmla="*/ 10250 w 10250"/>
                <a:gd name="connsiteY1" fmla="*/ 291828 h 305543"/>
                <a:gd name="connsiteX0" fmla="*/ 0 w 10250"/>
                <a:gd name="connsiteY0" fmla="*/ 300392 h 300392"/>
                <a:gd name="connsiteX1" fmla="*/ 10250 w 10250"/>
                <a:gd name="connsiteY1" fmla="*/ 286677 h 300392"/>
                <a:gd name="connsiteX0" fmla="*/ 0 w 10250"/>
                <a:gd name="connsiteY0" fmla="*/ 303332 h 303332"/>
                <a:gd name="connsiteX1" fmla="*/ 10250 w 10250"/>
                <a:gd name="connsiteY1" fmla="*/ 289617 h 303332"/>
                <a:gd name="connsiteX0" fmla="*/ 0 w 10250"/>
                <a:gd name="connsiteY0" fmla="*/ 309191 h 309191"/>
                <a:gd name="connsiteX1" fmla="*/ 10250 w 10250"/>
                <a:gd name="connsiteY1" fmla="*/ 295476 h 309191"/>
                <a:gd name="connsiteX0" fmla="*/ 0 w 8126"/>
                <a:gd name="connsiteY0" fmla="*/ 607348 h 607348"/>
                <a:gd name="connsiteX1" fmla="*/ 8126 w 8126"/>
                <a:gd name="connsiteY1" fmla="*/ 138122 h 607348"/>
                <a:gd name="connsiteX0" fmla="*/ 0 w 10000"/>
                <a:gd name="connsiteY0" fmla="*/ 7726 h 7726"/>
                <a:gd name="connsiteX1" fmla="*/ 10000 w 10000"/>
                <a:gd name="connsiteY1" fmla="*/ 0 h 7726"/>
                <a:gd name="connsiteX0" fmla="*/ 0 w 10000"/>
                <a:gd name="connsiteY0" fmla="*/ 10000 h 10000"/>
                <a:gd name="connsiteX1" fmla="*/ 10000 w 10000"/>
                <a:gd name="connsiteY1" fmla="*/ 0 h 10000"/>
              </a:gdLst>
              <a:ahLst/>
              <a:cxnLst>
                <a:cxn ang="0">
                  <a:pos x="connsiteX0" y="connsiteY0"/>
                </a:cxn>
                <a:cxn ang="0">
                  <a:pos x="connsiteX1" y="connsiteY1"/>
                </a:cxn>
              </a:cxnLst>
              <a:rect l="l" t="t" r="r" b="b"/>
              <a:pathLst>
                <a:path w="10000" h="10000">
                  <a:moveTo>
                    <a:pt x="0" y="10000"/>
                  </a:moveTo>
                  <a:cubicBezTo>
                    <a:pt x="2155" y="1952"/>
                    <a:pt x="6715" y="189"/>
                    <a:pt x="10000" y="0"/>
                  </a:cubicBezTo>
                </a:path>
              </a:pathLst>
            </a:cu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文本框 81"/>
            <p:cNvSpPr txBox="1"/>
            <p:nvPr/>
          </p:nvSpPr>
          <p:spPr bwMode="gray">
            <a:xfrm>
              <a:off x="4171438" y="4549907"/>
              <a:ext cx="902811" cy="307777"/>
            </a:xfrm>
            <a:prstGeom prst="rect">
              <a:avLst/>
            </a:prstGeom>
            <a:noFill/>
          </p:spPr>
          <p:txBody>
            <a:bodyPr wrap="none" rtlCol="0">
              <a:spAutoFit/>
            </a:bodyPr>
            <a:lstStyle/>
            <a:p>
              <a:r>
                <a:rPr lang="zh-CN" altLang="en-US" sz="1400" dirty="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流量泛洪</a:t>
              </a:r>
            </a:p>
          </p:txBody>
        </p:sp>
      </p:grpSp>
      <p:grpSp>
        <p:nvGrpSpPr>
          <p:cNvPr id="13" name="组合 12"/>
          <p:cNvGrpSpPr/>
          <p:nvPr/>
        </p:nvGrpSpPr>
        <p:grpSpPr bwMode="gray">
          <a:xfrm>
            <a:off x="6737799" y="3910599"/>
            <a:ext cx="4184663" cy="1710976"/>
            <a:chOff x="6941496" y="3971562"/>
            <a:chExt cx="4184663" cy="1710976"/>
          </a:xfrm>
        </p:grpSpPr>
        <p:pic>
          <p:nvPicPr>
            <p:cNvPr id="65" name="图片 87" descr="汇聚交换机.png"/>
            <p:cNvPicPr>
              <a:picLocks noChangeAspect="1"/>
            </p:cNvPicPr>
            <p:nvPr/>
          </p:nvPicPr>
          <p:blipFill>
            <a:blip r:embed="rId3"/>
            <a:stretch>
              <a:fillRect/>
            </a:stretch>
          </p:blipFill>
          <p:spPr bwMode="gray">
            <a:xfrm>
              <a:off x="6941496" y="5407723"/>
              <a:ext cx="335885" cy="274815"/>
            </a:xfrm>
            <a:prstGeom prst="rect">
              <a:avLst/>
            </a:prstGeom>
          </p:spPr>
        </p:pic>
        <p:pic>
          <p:nvPicPr>
            <p:cNvPr id="66" name="图片 86" descr="核心交换机.png"/>
            <p:cNvPicPr>
              <a:picLocks noChangeAspect="1"/>
            </p:cNvPicPr>
            <p:nvPr/>
          </p:nvPicPr>
          <p:blipFill>
            <a:blip r:embed="rId4"/>
            <a:stretch>
              <a:fillRect/>
            </a:stretch>
          </p:blipFill>
          <p:spPr bwMode="gray">
            <a:xfrm>
              <a:off x="8865885" y="4293371"/>
              <a:ext cx="335885" cy="274815"/>
            </a:xfrm>
            <a:prstGeom prst="rect">
              <a:avLst/>
            </a:prstGeom>
          </p:spPr>
        </p:pic>
        <p:pic>
          <p:nvPicPr>
            <p:cNvPr id="67" name="图片 87" descr="汇聚交换机.png"/>
            <p:cNvPicPr>
              <a:picLocks noChangeAspect="1"/>
            </p:cNvPicPr>
            <p:nvPr/>
          </p:nvPicPr>
          <p:blipFill>
            <a:blip r:embed="rId3"/>
            <a:stretch>
              <a:fillRect/>
            </a:stretch>
          </p:blipFill>
          <p:spPr bwMode="gray">
            <a:xfrm>
              <a:off x="8224422" y="5407723"/>
              <a:ext cx="335885" cy="274815"/>
            </a:xfrm>
            <a:prstGeom prst="rect">
              <a:avLst/>
            </a:prstGeom>
          </p:spPr>
        </p:pic>
        <p:pic>
          <p:nvPicPr>
            <p:cNvPr id="68" name="图片 87" descr="汇聚交换机.png"/>
            <p:cNvPicPr>
              <a:picLocks noChangeAspect="1"/>
            </p:cNvPicPr>
            <p:nvPr/>
          </p:nvPicPr>
          <p:blipFill>
            <a:blip r:embed="rId3"/>
            <a:stretch>
              <a:fillRect/>
            </a:stretch>
          </p:blipFill>
          <p:spPr bwMode="gray">
            <a:xfrm>
              <a:off x="9507348" y="5407723"/>
              <a:ext cx="335885" cy="274815"/>
            </a:xfrm>
            <a:prstGeom prst="rect">
              <a:avLst/>
            </a:prstGeom>
          </p:spPr>
        </p:pic>
        <p:pic>
          <p:nvPicPr>
            <p:cNvPr id="69" name="图片 87" descr="汇聚交换机.png"/>
            <p:cNvPicPr>
              <a:picLocks noChangeAspect="1"/>
            </p:cNvPicPr>
            <p:nvPr/>
          </p:nvPicPr>
          <p:blipFill>
            <a:blip r:embed="rId3"/>
            <a:stretch>
              <a:fillRect/>
            </a:stretch>
          </p:blipFill>
          <p:spPr bwMode="gray">
            <a:xfrm>
              <a:off x="10790274" y="5407723"/>
              <a:ext cx="335885" cy="274815"/>
            </a:xfrm>
            <a:prstGeom prst="rect">
              <a:avLst/>
            </a:prstGeom>
          </p:spPr>
        </p:pic>
        <p:sp>
          <p:nvSpPr>
            <p:cNvPr id="76" name="任意多边形 75"/>
            <p:cNvSpPr/>
            <p:nvPr/>
          </p:nvSpPr>
          <p:spPr bwMode="gray">
            <a:xfrm>
              <a:off x="7225505" y="4403123"/>
              <a:ext cx="1608795" cy="1002779"/>
            </a:xfrm>
            <a:custGeom>
              <a:avLst/>
              <a:gdLst>
                <a:gd name="connsiteX0" fmla="*/ 0 w 1170432"/>
                <a:gd name="connsiteY0" fmla="*/ 9144 h 9144"/>
                <a:gd name="connsiteX1" fmla="*/ 1170432 w 1170432"/>
                <a:gd name="connsiteY1" fmla="*/ 0 h 9144"/>
                <a:gd name="connsiteX0" fmla="*/ 0 w 8584"/>
                <a:gd name="connsiteY0" fmla="*/ 76667 h 76667"/>
                <a:gd name="connsiteX1" fmla="*/ 8584 w 8584"/>
                <a:gd name="connsiteY1" fmla="*/ 0 h 76667"/>
                <a:gd name="connsiteX0" fmla="*/ 0 w 9109"/>
                <a:gd name="connsiteY0" fmla="*/ 1033 h 1033"/>
                <a:gd name="connsiteX1" fmla="*/ 9109 w 9109"/>
                <a:gd name="connsiteY1" fmla="*/ 0 h 1033"/>
                <a:gd name="connsiteX0" fmla="*/ 0 w 10000"/>
                <a:gd name="connsiteY0" fmla="*/ 118933 h 118933"/>
                <a:gd name="connsiteX1" fmla="*/ 10000 w 10000"/>
                <a:gd name="connsiteY1" fmla="*/ 108933 h 118933"/>
                <a:gd name="connsiteX0" fmla="*/ 0 w 10083"/>
                <a:gd name="connsiteY0" fmla="*/ 126881 h 126881"/>
                <a:gd name="connsiteX1" fmla="*/ 10083 w 10083"/>
                <a:gd name="connsiteY1" fmla="*/ 106359 h 126881"/>
                <a:gd name="connsiteX0" fmla="*/ 0 w 10083"/>
                <a:gd name="connsiteY0" fmla="*/ 247191 h 247191"/>
                <a:gd name="connsiteX1" fmla="*/ 10083 w 10083"/>
                <a:gd name="connsiteY1" fmla="*/ 226669 h 247191"/>
                <a:gd name="connsiteX0" fmla="*/ 0 w 10083"/>
                <a:gd name="connsiteY0" fmla="*/ 275627 h 275627"/>
                <a:gd name="connsiteX1" fmla="*/ 10083 w 10083"/>
                <a:gd name="connsiteY1" fmla="*/ 255105 h 275627"/>
                <a:gd name="connsiteX0" fmla="*/ 0 w 9093"/>
                <a:gd name="connsiteY0" fmla="*/ 532036 h 532036"/>
                <a:gd name="connsiteX1" fmla="*/ 9093 w 9093"/>
                <a:gd name="connsiteY1" fmla="*/ 130291 h 532036"/>
                <a:gd name="connsiteX0" fmla="*/ 0 w 10000"/>
                <a:gd name="connsiteY0" fmla="*/ 7551 h 7551"/>
                <a:gd name="connsiteX1" fmla="*/ 10000 w 10000"/>
                <a:gd name="connsiteY1" fmla="*/ 0 h 7551"/>
                <a:gd name="connsiteX0" fmla="*/ 0 w 10726"/>
                <a:gd name="connsiteY0" fmla="*/ 10127 h 10127"/>
                <a:gd name="connsiteX1" fmla="*/ 10726 w 10726"/>
                <a:gd name="connsiteY1" fmla="*/ 0 h 10127"/>
                <a:gd name="connsiteX0" fmla="*/ 0 w 10726"/>
                <a:gd name="connsiteY0" fmla="*/ 10127 h 10127"/>
                <a:gd name="connsiteX1" fmla="*/ 10726 w 10726"/>
                <a:gd name="connsiteY1" fmla="*/ 0 h 10127"/>
                <a:gd name="connsiteX0" fmla="*/ 0 w 10835"/>
                <a:gd name="connsiteY0" fmla="*/ 10318 h 10318"/>
                <a:gd name="connsiteX1" fmla="*/ 10835 w 10835"/>
                <a:gd name="connsiteY1" fmla="*/ 0 h 10318"/>
                <a:gd name="connsiteX0" fmla="*/ 0 w 10835"/>
                <a:gd name="connsiteY0" fmla="*/ 10318 h 10318"/>
                <a:gd name="connsiteX1" fmla="*/ 10835 w 10835"/>
                <a:gd name="connsiteY1" fmla="*/ 0 h 10318"/>
                <a:gd name="connsiteX0" fmla="*/ 0 w 10617"/>
                <a:gd name="connsiteY0" fmla="*/ 10445 h 10445"/>
                <a:gd name="connsiteX1" fmla="*/ 10617 w 10617"/>
                <a:gd name="connsiteY1" fmla="*/ 0 h 10445"/>
                <a:gd name="connsiteX0" fmla="*/ 0 w 10617"/>
                <a:gd name="connsiteY0" fmla="*/ 10445 h 10445"/>
                <a:gd name="connsiteX1" fmla="*/ 10617 w 10617"/>
                <a:gd name="connsiteY1" fmla="*/ 0 h 10445"/>
                <a:gd name="connsiteX0" fmla="*/ 0 w 10617"/>
                <a:gd name="connsiteY0" fmla="*/ 10445 h 10445"/>
                <a:gd name="connsiteX1" fmla="*/ 10617 w 10617"/>
                <a:gd name="connsiteY1" fmla="*/ 0 h 10445"/>
                <a:gd name="connsiteX0" fmla="*/ 0 w 10544"/>
                <a:gd name="connsiteY0" fmla="*/ 9872 h 9872"/>
                <a:gd name="connsiteX1" fmla="*/ 10544 w 10544"/>
                <a:gd name="connsiteY1" fmla="*/ 0 h 9872"/>
                <a:gd name="connsiteX0" fmla="*/ 0 w 10000"/>
                <a:gd name="connsiteY0" fmla="*/ 10000 h 10000"/>
                <a:gd name="connsiteX1" fmla="*/ 10000 w 10000"/>
                <a:gd name="connsiteY1" fmla="*/ 0 h 10000"/>
                <a:gd name="connsiteX0" fmla="*/ 0 w 9725"/>
                <a:gd name="connsiteY0" fmla="*/ 10129 h 10129"/>
                <a:gd name="connsiteX1" fmla="*/ 9725 w 9725"/>
                <a:gd name="connsiteY1" fmla="*/ 0 h 10129"/>
                <a:gd name="connsiteX0" fmla="*/ 0 w 10000"/>
                <a:gd name="connsiteY0" fmla="*/ 10000 h 10000"/>
                <a:gd name="connsiteX1" fmla="*/ 10000 w 10000"/>
                <a:gd name="connsiteY1" fmla="*/ 0 h 10000"/>
                <a:gd name="connsiteX0" fmla="*/ 0 w 10000"/>
                <a:gd name="connsiteY0" fmla="*/ 10000 h 10000"/>
                <a:gd name="connsiteX1" fmla="*/ 10000 w 10000"/>
                <a:gd name="connsiteY1" fmla="*/ 0 h 10000"/>
                <a:gd name="connsiteX0" fmla="*/ 0 w 10000"/>
                <a:gd name="connsiteY0" fmla="*/ 10021 h 10021"/>
                <a:gd name="connsiteX1" fmla="*/ 10000 w 10000"/>
                <a:gd name="connsiteY1" fmla="*/ 21 h 10021"/>
                <a:gd name="connsiteX0" fmla="*/ 0 w 10000"/>
                <a:gd name="connsiteY0" fmla="*/ 10000 h 10000"/>
                <a:gd name="connsiteX1" fmla="*/ 10000 w 10000"/>
                <a:gd name="connsiteY1" fmla="*/ 0 h 10000"/>
                <a:gd name="connsiteX0" fmla="*/ 0 w 9292"/>
                <a:gd name="connsiteY0" fmla="*/ 10159 h 10159"/>
                <a:gd name="connsiteX1" fmla="*/ 9292 w 9292"/>
                <a:gd name="connsiteY1" fmla="*/ 0 h 10159"/>
                <a:gd name="connsiteX0" fmla="*/ 0 w 10000"/>
                <a:gd name="connsiteY0" fmla="*/ 10000 h 10000"/>
                <a:gd name="connsiteX1" fmla="*/ 10000 w 10000"/>
                <a:gd name="connsiteY1" fmla="*/ 0 h 10000"/>
                <a:gd name="connsiteX0" fmla="*/ 0 w 10048"/>
                <a:gd name="connsiteY0" fmla="*/ 10313 h 10313"/>
                <a:gd name="connsiteX1" fmla="*/ 10048 w 10048"/>
                <a:gd name="connsiteY1" fmla="*/ 0 h 10313"/>
                <a:gd name="connsiteX0" fmla="*/ 0 w 10048"/>
                <a:gd name="connsiteY0" fmla="*/ 10313 h 10313"/>
                <a:gd name="connsiteX1" fmla="*/ 10048 w 10048"/>
                <a:gd name="connsiteY1" fmla="*/ 0 h 10313"/>
              </a:gdLst>
              <a:ahLst/>
              <a:cxnLst>
                <a:cxn ang="0">
                  <a:pos x="connsiteX0" y="connsiteY0"/>
                </a:cxn>
                <a:cxn ang="0">
                  <a:pos x="connsiteX1" y="connsiteY1"/>
                </a:cxn>
              </a:cxnLst>
              <a:rect l="l" t="t" r="r" b="b"/>
              <a:pathLst>
                <a:path w="10048" h="10313">
                  <a:moveTo>
                    <a:pt x="0" y="10313"/>
                  </a:moveTo>
                  <a:cubicBezTo>
                    <a:pt x="1847" y="3899"/>
                    <a:pt x="4854" y="204"/>
                    <a:pt x="10048" y="0"/>
                  </a:cubicBezTo>
                </a:path>
              </a:pathLst>
            </a:custGeom>
            <a:noFill/>
            <a:ln w="19050">
              <a:solidFill>
                <a:srgbClr val="EC7061"/>
              </a:solidFill>
              <a:prstDash val="sysDot"/>
              <a:headEnd type="triangle" w="sm" len="me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任意多边形 76"/>
            <p:cNvSpPr/>
            <p:nvPr/>
          </p:nvSpPr>
          <p:spPr bwMode="gray">
            <a:xfrm>
              <a:off x="8396903" y="4441527"/>
              <a:ext cx="443421" cy="953222"/>
            </a:xfrm>
            <a:custGeom>
              <a:avLst/>
              <a:gdLst>
                <a:gd name="connsiteX0" fmla="*/ 0 w 1170432"/>
                <a:gd name="connsiteY0" fmla="*/ 9144 h 9144"/>
                <a:gd name="connsiteX1" fmla="*/ 1170432 w 1170432"/>
                <a:gd name="connsiteY1" fmla="*/ 0 h 9144"/>
                <a:gd name="connsiteX0" fmla="*/ 0 w 8584"/>
                <a:gd name="connsiteY0" fmla="*/ 76667 h 76667"/>
                <a:gd name="connsiteX1" fmla="*/ 8584 w 8584"/>
                <a:gd name="connsiteY1" fmla="*/ 0 h 76667"/>
                <a:gd name="connsiteX0" fmla="*/ 0 w 9109"/>
                <a:gd name="connsiteY0" fmla="*/ 1033 h 1033"/>
                <a:gd name="connsiteX1" fmla="*/ 9109 w 9109"/>
                <a:gd name="connsiteY1" fmla="*/ 0 h 1033"/>
                <a:gd name="connsiteX0" fmla="*/ 0 w 10000"/>
                <a:gd name="connsiteY0" fmla="*/ 118933 h 118933"/>
                <a:gd name="connsiteX1" fmla="*/ 10000 w 10000"/>
                <a:gd name="connsiteY1" fmla="*/ 108933 h 118933"/>
                <a:gd name="connsiteX0" fmla="*/ 0 w 10083"/>
                <a:gd name="connsiteY0" fmla="*/ 126881 h 126881"/>
                <a:gd name="connsiteX1" fmla="*/ 10083 w 10083"/>
                <a:gd name="connsiteY1" fmla="*/ 106359 h 126881"/>
                <a:gd name="connsiteX0" fmla="*/ 0 w 10083"/>
                <a:gd name="connsiteY0" fmla="*/ 247191 h 247191"/>
                <a:gd name="connsiteX1" fmla="*/ 10083 w 10083"/>
                <a:gd name="connsiteY1" fmla="*/ 226669 h 247191"/>
                <a:gd name="connsiteX0" fmla="*/ 0 w 10083"/>
                <a:gd name="connsiteY0" fmla="*/ 275627 h 275627"/>
                <a:gd name="connsiteX1" fmla="*/ 10083 w 10083"/>
                <a:gd name="connsiteY1" fmla="*/ 255105 h 275627"/>
                <a:gd name="connsiteX0" fmla="*/ 0 w 9093"/>
                <a:gd name="connsiteY0" fmla="*/ 532036 h 532036"/>
                <a:gd name="connsiteX1" fmla="*/ 9093 w 9093"/>
                <a:gd name="connsiteY1" fmla="*/ 130291 h 532036"/>
                <a:gd name="connsiteX0" fmla="*/ 0 w 10000"/>
                <a:gd name="connsiteY0" fmla="*/ 7551 h 7551"/>
                <a:gd name="connsiteX1" fmla="*/ 10000 w 10000"/>
                <a:gd name="connsiteY1" fmla="*/ 0 h 7551"/>
                <a:gd name="connsiteX0" fmla="*/ 0 w 10726"/>
                <a:gd name="connsiteY0" fmla="*/ 10127 h 10127"/>
                <a:gd name="connsiteX1" fmla="*/ 10726 w 10726"/>
                <a:gd name="connsiteY1" fmla="*/ 0 h 10127"/>
                <a:gd name="connsiteX0" fmla="*/ 0 w 10726"/>
                <a:gd name="connsiteY0" fmla="*/ 10127 h 10127"/>
                <a:gd name="connsiteX1" fmla="*/ 10726 w 10726"/>
                <a:gd name="connsiteY1" fmla="*/ 0 h 10127"/>
                <a:gd name="connsiteX0" fmla="*/ 0 w 10835"/>
                <a:gd name="connsiteY0" fmla="*/ 10318 h 10318"/>
                <a:gd name="connsiteX1" fmla="*/ 10835 w 10835"/>
                <a:gd name="connsiteY1" fmla="*/ 0 h 10318"/>
                <a:gd name="connsiteX0" fmla="*/ 0 w 10835"/>
                <a:gd name="connsiteY0" fmla="*/ 10318 h 10318"/>
                <a:gd name="connsiteX1" fmla="*/ 10835 w 10835"/>
                <a:gd name="connsiteY1" fmla="*/ 0 h 10318"/>
                <a:gd name="connsiteX0" fmla="*/ 0 w 10617"/>
                <a:gd name="connsiteY0" fmla="*/ 10445 h 10445"/>
                <a:gd name="connsiteX1" fmla="*/ 10617 w 10617"/>
                <a:gd name="connsiteY1" fmla="*/ 0 h 10445"/>
                <a:gd name="connsiteX0" fmla="*/ 0 w 10617"/>
                <a:gd name="connsiteY0" fmla="*/ 10445 h 10445"/>
                <a:gd name="connsiteX1" fmla="*/ 10617 w 10617"/>
                <a:gd name="connsiteY1" fmla="*/ 0 h 10445"/>
                <a:gd name="connsiteX0" fmla="*/ 0 w 10617"/>
                <a:gd name="connsiteY0" fmla="*/ 10445 h 10445"/>
                <a:gd name="connsiteX1" fmla="*/ 10617 w 10617"/>
                <a:gd name="connsiteY1" fmla="*/ 0 h 10445"/>
                <a:gd name="connsiteX0" fmla="*/ 0 w 10544"/>
                <a:gd name="connsiteY0" fmla="*/ 9872 h 9872"/>
                <a:gd name="connsiteX1" fmla="*/ 10544 w 10544"/>
                <a:gd name="connsiteY1" fmla="*/ 0 h 9872"/>
                <a:gd name="connsiteX0" fmla="*/ 0 w 10000"/>
                <a:gd name="connsiteY0" fmla="*/ 10000 h 10000"/>
                <a:gd name="connsiteX1" fmla="*/ 10000 w 10000"/>
                <a:gd name="connsiteY1" fmla="*/ 0 h 10000"/>
                <a:gd name="connsiteX0" fmla="*/ 0 w 9725"/>
                <a:gd name="connsiteY0" fmla="*/ 10129 h 10129"/>
                <a:gd name="connsiteX1" fmla="*/ 9725 w 9725"/>
                <a:gd name="connsiteY1" fmla="*/ 0 h 10129"/>
                <a:gd name="connsiteX0" fmla="*/ 0 w 10000"/>
                <a:gd name="connsiteY0" fmla="*/ 10000 h 10000"/>
                <a:gd name="connsiteX1" fmla="*/ 10000 w 10000"/>
                <a:gd name="connsiteY1" fmla="*/ 0 h 10000"/>
                <a:gd name="connsiteX0" fmla="*/ 0 w 10000"/>
                <a:gd name="connsiteY0" fmla="*/ 10000 h 10000"/>
                <a:gd name="connsiteX1" fmla="*/ 10000 w 10000"/>
                <a:gd name="connsiteY1" fmla="*/ 0 h 10000"/>
                <a:gd name="connsiteX0" fmla="*/ 0 w 10000"/>
                <a:gd name="connsiteY0" fmla="*/ 10021 h 10021"/>
                <a:gd name="connsiteX1" fmla="*/ 10000 w 10000"/>
                <a:gd name="connsiteY1" fmla="*/ 21 h 10021"/>
                <a:gd name="connsiteX0" fmla="*/ 0 w 8846"/>
                <a:gd name="connsiteY0" fmla="*/ 9728 h 9728"/>
                <a:gd name="connsiteX1" fmla="*/ 8846 w 8846"/>
                <a:gd name="connsiteY1" fmla="*/ 25 h 9728"/>
                <a:gd name="connsiteX0" fmla="*/ 0 w 10000"/>
                <a:gd name="connsiteY0" fmla="*/ 9974 h 9974"/>
                <a:gd name="connsiteX1" fmla="*/ 10000 w 10000"/>
                <a:gd name="connsiteY1" fmla="*/ 0 h 9974"/>
                <a:gd name="connsiteX0" fmla="*/ 56 w 10056"/>
                <a:gd name="connsiteY0" fmla="*/ 10000 h 10000"/>
                <a:gd name="connsiteX1" fmla="*/ 10056 w 10056"/>
                <a:gd name="connsiteY1" fmla="*/ 0 h 10000"/>
                <a:gd name="connsiteX0" fmla="*/ 71 w 9478"/>
                <a:gd name="connsiteY0" fmla="*/ 9770 h 9770"/>
                <a:gd name="connsiteX1" fmla="*/ 9478 w 9478"/>
                <a:gd name="connsiteY1" fmla="*/ 0 h 9770"/>
              </a:gdLst>
              <a:ahLst/>
              <a:cxnLst>
                <a:cxn ang="0">
                  <a:pos x="connsiteX0" y="connsiteY0"/>
                </a:cxn>
                <a:cxn ang="0">
                  <a:pos x="connsiteX1" y="connsiteY1"/>
                </a:cxn>
              </a:cxnLst>
              <a:rect l="l" t="t" r="r" b="b"/>
              <a:pathLst>
                <a:path w="9478" h="9770">
                  <a:moveTo>
                    <a:pt x="71" y="9770"/>
                  </a:moveTo>
                  <a:cubicBezTo>
                    <a:pt x="-385" y="4092"/>
                    <a:pt x="1220" y="1635"/>
                    <a:pt x="9478" y="0"/>
                  </a:cubicBezTo>
                </a:path>
              </a:pathLst>
            </a:custGeom>
            <a:noFill/>
            <a:ln w="19050">
              <a:solidFill>
                <a:srgbClr val="EC7061"/>
              </a:solidFill>
              <a:prstDash val="sysDot"/>
              <a:headEnd type="triangle" w="sm" len="me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8" name="组合 77"/>
            <p:cNvGrpSpPr/>
            <p:nvPr/>
          </p:nvGrpSpPr>
          <p:grpSpPr bwMode="gray">
            <a:xfrm flipH="1">
              <a:off x="9232430" y="4403123"/>
              <a:ext cx="1614819" cy="1002779"/>
              <a:chOff x="2433132" y="2613356"/>
              <a:chExt cx="1614819" cy="1002779"/>
            </a:xfrm>
          </p:grpSpPr>
          <p:sp>
            <p:nvSpPr>
              <p:cNvPr id="79" name="任意多边形 78"/>
              <p:cNvSpPr/>
              <p:nvPr/>
            </p:nvSpPr>
            <p:spPr bwMode="gray">
              <a:xfrm>
                <a:off x="2433132" y="2613356"/>
                <a:ext cx="1608795" cy="1002779"/>
              </a:xfrm>
              <a:custGeom>
                <a:avLst/>
                <a:gdLst>
                  <a:gd name="connsiteX0" fmla="*/ 0 w 1170432"/>
                  <a:gd name="connsiteY0" fmla="*/ 9144 h 9144"/>
                  <a:gd name="connsiteX1" fmla="*/ 1170432 w 1170432"/>
                  <a:gd name="connsiteY1" fmla="*/ 0 h 9144"/>
                  <a:gd name="connsiteX0" fmla="*/ 0 w 8584"/>
                  <a:gd name="connsiteY0" fmla="*/ 76667 h 76667"/>
                  <a:gd name="connsiteX1" fmla="*/ 8584 w 8584"/>
                  <a:gd name="connsiteY1" fmla="*/ 0 h 76667"/>
                  <a:gd name="connsiteX0" fmla="*/ 0 w 9109"/>
                  <a:gd name="connsiteY0" fmla="*/ 1033 h 1033"/>
                  <a:gd name="connsiteX1" fmla="*/ 9109 w 9109"/>
                  <a:gd name="connsiteY1" fmla="*/ 0 h 1033"/>
                  <a:gd name="connsiteX0" fmla="*/ 0 w 10000"/>
                  <a:gd name="connsiteY0" fmla="*/ 118933 h 118933"/>
                  <a:gd name="connsiteX1" fmla="*/ 10000 w 10000"/>
                  <a:gd name="connsiteY1" fmla="*/ 108933 h 118933"/>
                  <a:gd name="connsiteX0" fmla="*/ 0 w 10083"/>
                  <a:gd name="connsiteY0" fmla="*/ 126881 h 126881"/>
                  <a:gd name="connsiteX1" fmla="*/ 10083 w 10083"/>
                  <a:gd name="connsiteY1" fmla="*/ 106359 h 126881"/>
                  <a:gd name="connsiteX0" fmla="*/ 0 w 10083"/>
                  <a:gd name="connsiteY0" fmla="*/ 247191 h 247191"/>
                  <a:gd name="connsiteX1" fmla="*/ 10083 w 10083"/>
                  <a:gd name="connsiteY1" fmla="*/ 226669 h 247191"/>
                  <a:gd name="connsiteX0" fmla="*/ 0 w 10083"/>
                  <a:gd name="connsiteY0" fmla="*/ 275627 h 275627"/>
                  <a:gd name="connsiteX1" fmla="*/ 10083 w 10083"/>
                  <a:gd name="connsiteY1" fmla="*/ 255105 h 275627"/>
                  <a:gd name="connsiteX0" fmla="*/ 0 w 9093"/>
                  <a:gd name="connsiteY0" fmla="*/ 532036 h 532036"/>
                  <a:gd name="connsiteX1" fmla="*/ 9093 w 9093"/>
                  <a:gd name="connsiteY1" fmla="*/ 130291 h 532036"/>
                  <a:gd name="connsiteX0" fmla="*/ 0 w 10000"/>
                  <a:gd name="connsiteY0" fmla="*/ 7551 h 7551"/>
                  <a:gd name="connsiteX1" fmla="*/ 10000 w 10000"/>
                  <a:gd name="connsiteY1" fmla="*/ 0 h 7551"/>
                  <a:gd name="connsiteX0" fmla="*/ 0 w 10726"/>
                  <a:gd name="connsiteY0" fmla="*/ 10127 h 10127"/>
                  <a:gd name="connsiteX1" fmla="*/ 10726 w 10726"/>
                  <a:gd name="connsiteY1" fmla="*/ 0 h 10127"/>
                  <a:gd name="connsiteX0" fmla="*/ 0 w 10726"/>
                  <a:gd name="connsiteY0" fmla="*/ 10127 h 10127"/>
                  <a:gd name="connsiteX1" fmla="*/ 10726 w 10726"/>
                  <a:gd name="connsiteY1" fmla="*/ 0 h 10127"/>
                  <a:gd name="connsiteX0" fmla="*/ 0 w 10835"/>
                  <a:gd name="connsiteY0" fmla="*/ 10318 h 10318"/>
                  <a:gd name="connsiteX1" fmla="*/ 10835 w 10835"/>
                  <a:gd name="connsiteY1" fmla="*/ 0 h 10318"/>
                  <a:gd name="connsiteX0" fmla="*/ 0 w 10835"/>
                  <a:gd name="connsiteY0" fmla="*/ 10318 h 10318"/>
                  <a:gd name="connsiteX1" fmla="*/ 10835 w 10835"/>
                  <a:gd name="connsiteY1" fmla="*/ 0 h 10318"/>
                  <a:gd name="connsiteX0" fmla="*/ 0 w 10617"/>
                  <a:gd name="connsiteY0" fmla="*/ 10445 h 10445"/>
                  <a:gd name="connsiteX1" fmla="*/ 10617 w 10617"/>
                  <a:gd name="connsiteY1" fmla="*/ 0 h 10445"/>
                  <a:gd name="connsiteX0" fmla="*/ 0 w 10617"/>
                  <a:gd name="connsiteY0" fmla="*/ 10445 h 10445"/>
                  <a:gd name="connsiteX1" fmla="*/ 10617 w 10617"/>
                  <a:gd name="connsiteY1" fmla="*/ 0 h 10445"/>
                  <a:gd name="connsiteX0" fmla="*/ 0 w 10617"/>
                  <a:gd name="connsiteY0" fmla="*/ 10445 h 10445"/>
                  <a:gd name="connsiteX1" fmla="*/ 10617 w 10617"/>
                  <a:gd name="connsiteY1" fmla="*/ 0 h 10445"/>
                  <a:gd name="connsiteX0" fmla="*/ 0 w 10544"/>
                  <a:gd name="connsiteY0" fmla="*/ 9872 h 9872"/>
                  <a:gd name="connsiteX1" fmla="*/ 10544 w 10544"/>
                  <a:gd name="connsiteY1" fmla="*/ 0 h 9872"/>
                  <a:gd name="connsiteX0" fmla="*/ 0 w 10000"/>
                  <a:gd name="connsiteY0" fmla="*/ 10000 h 10000"/>
                  <a:gd name="connsiteX1" fmla="*/ 10000 w 10000"/>
                  <a:gd name="connsiteY1" fmla="*/ 0 h 10000"/>
                  <a:gd name="connsiteX0" fmla="*/ 0 w 9725"/>
                  <a:gd name="connsiteY0" fmla="*/ 10129 h 10129"/>
                  <a:gd name="connsiteX1" fmla="*/ 9725 w 9725"/>
                  <a:gd name="connsiteY1" fmla="*/ 0 h 10129"/>
                  <a:gd name="connsiteX0" fmla="*/ 0 w 10000"/>
                  <a:gd name="connsiteY0" fmla="*/ 10000 h 10000"/>
                  <a:gd name="connsiteX1" fmla="*/ 10000 w 10000"/>
                  <a:gd name="connsiteY1" fmla="*/ 0 h 10000"/>
                  <a:gd name="connsiteX0" fmla="*/ 0 w 10000"/>
                  <a:gd name="connsiteY0" fmla="*/ 10000 h 10000"/>
                  <a:gd name="connsiteX1" fmla="*/ 10000 w 10000"/>
                  <a:gd name="connsiteY1" fmla="*/ 0 h 10000"/>
                  <a:gd name="connsiteX0" fmla="*/ 0 w 10000"/>
                  <a:gd name="connsiteY0" fmla="*/ 10021 h 10021"/>
                  <a:gd name="connsiteX1" fmla="*/ 10000 w 10000"/>
                  <a:gd name="connsiteY1" fmla="*/ 21 h 10021"/>
                  <a:gd name="connsiteX0" fmla="*/ 0 w 10000"/>
                  <a:gd name="connsiteY0" fmla="*/ 10000 h 10000"/>
                  <a:gd name="connsiteX1" fmla="*/ 10000 w 10000"/>
                  <a:gd name="connsiteY1" fmla="*/ 0 h 10000"/>
                  <a:gd name="connsiteX0" fmla="*/ 0 w 9292"/>
                  <a:gd name="connsiteY0" fmla="*/ 10159 h 10159"/>
                  <a:gd name="connsiteX1" fmla="*/ 9292 w 9292"/>
                  <a:gd name="connsiteY1" fmla="*/ 0 h 10159"/>
                  <a:gd name="connsiteX0" fmla="*/ 0 w 10000"/>
                  <a:gd name="connsiteY0" fmla="*/ 10000 h 10000"/>
                  <a:gd name="connsiteX1" fmla="*/ 10000 w 10000"/>
                  <a:gd name="connsiteY1" fmla="*/ 0 h 10000"/>
                  <a:gd name="connsiteX0" fmla="*/ 0 w 10048"/>
                  <a:gd name="connsiteY0" fmla="*/ 10313 h 10313"/>
                  <a:gd name="connsiteX1" fmla="*/ 10048 w 10048"/>
                  <a:gd name="connsiteY1" fmla="*/ 0 h 10313"/>
                  <a:gd name="connsiteX0" fmla="*/ 0 w 10048"/>
                  <a:gd name="connsiteY0" fmla="*/ 10313 h 10313"/>
                  <a:gd name="connsiteX1" fmla="*/ 10048 w 10048"/>
                  <a:gd name="connsiteY1" fmla="*/ 0 h 10313"/>
                </a:gdLst>
                <a:ahLst/>
                <a:cxnLst>
                  <a:cxn ang="0">
                    <a:pos x="connsiteX0" y="connsiteY0"/>
                  </a:cxn>
                  <a:cxn ang="0">
                    <a:pos x="connsiteX1" y="connsiteY1"/>
                  </a:cxn>
                </a:cxnLst>
                <a:rect l="l" t="t" r="r" b="b"/>
                <a:pathLst>
                  <a:path w="10048" h="10313">
                    <a:moveTo>
                      <a:pt x="0" y="10313"/>
                    </a:moveTo>
                    <a:cubicBezTo>
                      <a:pt x="1847" y="3899"/>
                      <a:pt x="4854" y="204"/>
                      <a:pt x="10048" y="0"/>
                    </a:cubicBezTo>
                  </a:path>
                </a:pathLst>
              </a:custGeom>
              <a:noFill/>
              <a:ln w="19050">
                <a:solidFill>
                  <a:srgbClr val="EC7061"/>
                </a:solidFill>
                <a:prstDash val="sysDot"/>
                <a:headEnd type="triangle" w="sm" len="me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任意多边形 79"/>
              <p:cNvSpPr/>
              <p:nvPr/>
            </p:nvSpPr>
            <p:spPr bwMode="gray">
              <a:xfrm>
                <a:off x="3604530" y="2651760"/>
                <a:ext cx="443421" cy="953222"/>
              </a:xfrm>
              <a:custGeom>
                <a:avLst/>
                <a:gdLst>
                  <a:gd name="connsiteX0" fmla="*/ 0 w 1170432"/>
                  <a:gd name="connsiteY0" fmla="*/ 9144 h 9144"/>
                  <a:gd name="connsiteX1" fmla="*/ 1170432 w 1170432"/>
                  <a:gd name="connsiteY1" fmla="*/ 0 h 9144"/>
                  <a:gd name="connsiteX0" fmla="*/ 0 w 8584"/>
                  <a:gd name="connsiteY0" fmla="*/ 76667 h 76667"/>
                  <a:gd name="connsiteX1" fmla="*/ 8584 w 8584"/>
                  <a:gd name="connsiteY1" fmla="*/ 0 h 76667"/>
                  <a:gd name="connsiteX0" fmla="*/ 0 w 9109"/>
                  <a:gd name="connsiteY0" fmla="*/ 1033 h 1033"/>
                  <a:gd name="connsiteX1" fmla="*/ 9109 w 9109"/>
                  <a:gd name="connsiteY1" fmla="*/ 0 h 1033"/>
                  <a:gd name="connsiteX0" fmla="*/ 0 w 10000"/>
                  <a:gd name="connsiteY0" fmla="*/ 118933 h 118933"/>
                  <a:gd name="connsiteX1" fmla="*/ 10000 w 10000"/>
                  <a:gd name="connsiteY1" fmla="*/ 108933 h 118933"/>
                  <a:gd name="connsiteX0" fmla="*/ 0 w 10083"/>
                  <a:gd name="connsiteY0" fmla="*/ 126881 h 126881"/>
                  <a:gd name="connsiteX1" fmla="*/ 10083 w 10083"/>
                  <a:gd name="connsiteY1" fmla="*/ 106359 h 126881"/>
                  <a:gd name="connsiteX0" fmla="*/ 0 w 10083"/>
                  <a:gd name="connsiteY0" fmla="*/ 247191 h 247191"/>
                  <a:gd name="connsiteX1" fmla="*/ 10083 w 10083"/>
                  <a:gd name="connsiteY1" fmla="*/ 226669 h 247191"/>
                  <a:gd name="connsiteX0" fmla="*/ 0 w 10083"/>
                  <a:gd name="connsiteY0" fmla="*/ 275627 h 275627"/>
                  <a:gd name="connsiteX1" fmla="*/ 10083 w 10083"/>
                  <a:gd name="connsiteY1" fmla="*/ 255105 h 275627"/>
                  <a:gd name="connsiteX0" fmla="*/ 0 w 9093"/>
                  <a:gd name="connsiteY0" fmla="*/ 532036 h 532036"/>
                  <a:gd name="connsiteX1" fmla="*/ 9093 w 9093"/>
                  <a:gd name="connsiteY1" fmla="*/ 130291 h 532036"/>
                  <a:gd name="connsiteX0" fmla="*/ 0 w 10000"/>
                  <a:gd name="connsiteY0" fmla="*/ 7551 h 7551"/>
                  <a:gd name="connsiteX1" fmla="*/ 10000 w 10000"/>
                  <a:gd name="connsiteY1" fmla="*/ 0 h 7551"/>
                  <a:gd name="connsiteX0" fmla="*/ 0 w 10726"/>
                  <a:gd name="connsiteY0" fmla="*/ 10127 h 10127"/>
                  <a:gd name="connsiteX1" fmla="*/ 10726 w 10726"/>
                  <a:gd name="connsiteY1" fmla="*/ 0 h 10127"/>
                  <a:gd name="connsiteX0" fmla="*/ 0 w 10726"/>
                  <a:gd name="connsiteY0" fmla="*/ 10127 h 10127"/>
                  <a:gd name="connsiteX1" fmla="*/ 10726 w 10726"/>
                  <a:gd name="connsiteY1" fmla="*/ 0 h 10127"/>
                  <a:gd name="connsiteX0" fmla="*/ 0 w 10835"/>
                  <a:gd name="connsiteY0" fmla="*/ 10318 h 10318"/>
                  <a:gd name="connsiteX1" fmla="*/ 10835 w 10835"/>
                  <a:gd name="connsiteY1" fmla="*/ 0 h 10318"/>
                  <a:gd name="connsiteX0" fmla="*/ 0 w 10835"/>
                  <a:gd name="connsiteY0" fmla="*/ 10318 h 10318"/>
                  <a:gd name="connsiteX1" fmla="*/ 10835 w 10835"/>
                  <a:gd name="connsiteY1" fmla="*/ 0 h 10318"/>
                  <a:gd name="connsiteX0" fmla="*/ 0 w 10617"/>
                  <a:gd name="connsiteY0" fmla="*/ 10445 h 10445"/>
                  <a:gd name="connsiteX1" fmla="*/ 10617 w 10617"/>
                  <a:gd name="connsiteY1" fmla="*/ 0 h 10445"/>
                  <a:gd name="connsiteX0" fmla="*/ 0 w 10617"/>
                  <a:gd name="connsiteY0" fmla="*/ 10445 h 10445"/>
                  <a:gd name="connsiteX1" fmla="*/ 10617 w 10617"/>
                  <a:gd name="connsiteY1" fmla="*/ 0 h 10445"/>
                  <a:gd name="connsiteX0" fmla="*/ 0 w 10617"/>
                  <a:gd name="connsiteY0" fmla="*/ 10445 h 10445"/>
                  <a:gd name="connsiteX1" fmla="*/ 10617 w 10617"/>
                  <a:gd name="connsiteY1" fmla="*/ 0 h 10445"/>
                  <a:gd name="connsiteX0" fmla="*/ 0 w 10544"/>
                  <a:gd name="connsiteY0" fmla="*/ 9872 h 9872"/>
                  <a:gd name="connsiteX1" fmla="*/ 10544 w 10544"/>
                  <a:gd name="connsiteY1" fmla="*/ 0 h 9872"/>
                  <a:gd name="connsiteX0" fmla="*/ 0 w 10000"/>
                  <a:gd name="connsiteY0" fmla="*/ 10000 h 10000"/>
                  <a:gd name="connsiteX1" fmla="*/ 10000 w 10000"/>
                  <a:gd name="connsiteY1" fmla="*/ 0 h 10000"/>
                  <a:gd name="connsiteX0" fmla="*/ 0 w 9725"/>
                  <a:gd name="connsiteY0" fmla="*/ 10129 h 10129"/>
                  <a:gd name="connsiteX1" fmla="*/ 9725 w 9725"/>
                  <a:gd name="connsiteY1" fmla="*/ 0 h 10129"/>
                  <a:gd name="connsiteX0" fmla="*/ 0 w 10000"/>
                  <a:gd name="connsiteY0" fmla="*/ 10000 h 10000"/>
                  <a:gd name="connsiteX1" fmla="*/ 10000 w 10000"/>
                  <a:gd name="connsiteY1" fmla="*/ 0 h 10000"/>
                  <a:gd name="connsiteX0" fmla="*/ 0 w 10000"/>
                  <a:gd name="connsiteY0" fmla="*/ 10000 h 10000"/>
                  <a:gd name="connsiteX1" fmla="*/ 10000 w 10000"/>
                  <a:gd name="connsiteY1" fmla="*/ 0 h 10000"/>
                  <a:gd name="connsiteX0" fmla="*/ 0 w 10000"/>
                  <a:gd name="connsiteY0" fmla="*/ 10021 h 10021"/>
                  <a:gd name="connsiteX1" fmla="*/ 10000 w 10000"/>
                  <a:gd name="connsiteY1" fmla="*/ 21 h 10021"/>
                  <a:gd name="connsiteX0" fmla="*/ 0 w 8846"/>
                  <a:gd name="connsiteY0" fmla="*/ 9728 h 9728"/>
                  <a:gd name="connsiteX1" fmla="*/ 8846 w 8846"/>
                  <a:gd name="connsiteY1" fmla="*/ 25 h 9728"/>
                  <a:gd name="connsiteX0" fmla="*/ 0 w 10000"/>
                  <a:gd name="connsiteY0" fmla="*/ 9974 h 9974"/>
                  <a:gd name="connsiteX1" fmla="*/ 10000 w 10000"/>
                  <a:gd name="connsiteY1" fmla="*/ 0 h 9974"/>
                  <a:gd name="connsiteX0" fmla="*/ 56 w 10056"/>
                  <a:gd name="connsiteY0" fmla="*/ 10000 h 10000"/>
                  <a:gd name="connsiteX1" fmla="*/ 10056 w 10056"/>
                  <a:gd name="connsiteY1" fmla="*/ 0 h 10000"/>
                  <a:gd name="connsiteX0" fmla="*/ 71 w 9478"/>
                  <a:gd name="connsiteY0" fmla="*/ 9770 h 9770"/>
                  <a:gd name="connsiteX1" fmla="*/ 9478 w 9478"/>
                  <a:gd name="connsiteY1" fmla="*/ 0 h 9770"/>
                </a:gdLst>
                <a:ahLst/>
                <a:cxnLst>
                  <a:cxn ang="0">
                    <a:pos x="connsiteX0" y="connsiteY0"/>
                  </a:cxn>
                  <a:cxn ang="0">
                    <a:pos x="connsiteX1" y="connsiteY1"/>
                  </a:cxn>
                </a:cxnLst>
                <a:rect l="l" t="t" r="r" b="b"/>
                <a:pathLst>
                  <a:path w="9478" h="9770">
                    <a:moveTo>
                      <a:pt x="71" y="9770"/>
                    </a:moveTo>
                    <a:cubicBezTo>
                      <a:pt x="-385" y="4092"/>
                      <a:pt x="1220" y="1635"/>
                      <a:pt x="9478" y="0"/>
                    </a:cubicBezTo>
                  </a:path>
                </a:pathLst>
              </a:custGeom>
              <a:noFill/>
              <a:ln w="19050">
                <a:solidFill>
                  <a:srgbClr val="EC7061"/>
                </a:solidFill>
                <a:prstDash val="sysDot"/>
                <a:headEnd type="triangle" w="sm" len="me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84" name="文本框 83"/>
            <p:cNvSpPr txBox="1"/>
            <p:nvPr/>
          </p:nvSpPr>
          <p:spPr bwMode="gray">
            <a:xfrm>
              <a:off x="8553241" y="4742780"/>
              <a:ext cx="1082348" cy="523220"/>
            </a:xfrm>
            <a:prstGeom prst="rect">
              <a:avLst/>
            </a:prstGeom>
            <a:noFill/>
          </p:spPr>
          <p:txBody>
            <a:bodyPr wrap="none" rtlCol="0">
              <a:spAutoFit/>
            </a:bodyPr>
            <a:lstStyle/>
            <a:p>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BGP EVPN</a:t>
              </a:r>
            </a:p>
            <a:p>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对等体关系</a:t>
              </a:r>
            </a:p>
          </p:txBody>
        </p:sp>
        <p:sp>
          <p:nvSpPr>
            <p:cNvPr id="85" name="文本框 84"/>
            <p:cNvSpPr txBox="1"/>
            <p:nvPr/>
          </p:nvSpPr>
          <p:spPr bwMode="gray">
            <a:xfrm>
              <a:off x="8304775" y="3971562"/>
              <a:ext cx="1659429" cy="307777"/>
            </a:xfrm>
            <a:prstGeom prst="rect">
              <a:avLst/>
            </a:prstGeom>
            <a:noFill/>
          </p:spPr>
          <p:txBody>
            <a:bodyPr wrap="none" rtlCol="0">
              <a:spAutoFit/>
            </a:bodyPr>
            <a:lstStyle/>
            <a:p>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路由反射器（</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p>
          </p:txBody>
        </p:sp>
      </p:grpSp>
      <p:sp>
        <p:nvSpPr>
          <p:cNvPr id="86" name="矩形 85"/>
          <p:cNvSpPr/>
          <p:nvPr/>
        </p:nvSpPr>
        <p:spPr bwMode="gray">
          <a:xfrm>
            <a:off x="6178369" y="1511906"/>
            <a:ext cx="5336224" cy="1631216"/>
          </a:xfrm>
          <a:prstGeom prst="rect">
            <a:avLst/>
          </a:prstGeom>
        </p:spPr>
        <p:txBody>
          <a:bodyPr wrap="square">
            <a:spAutoFit/>
          </a:bodyPr>
          <a:lstStyle/>
          <a:p>
            <a:pPr marL="176213" indent="-176213">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设备使能</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 EVPN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，建立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 EVPN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对等体关系。</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设备之间通过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 EVPN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路由通告，完成</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控制面的相关工作。</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nSpc>
                <a:spcPts val="2400"/>
              </a:lnSpc>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隧道通过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 EVPN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自动建立，转发表项通过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 EVPN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动态刷新。</a:t>
            </a:r>
          </a:p>
        </p:txBody>
      </p:sp>
      <p:sp>
        <p:nvSpPr>
          <p:cNvPr id="59" name="矩形 58"/>
          <p:cNvSpPr/>
          <p:nvPr/>
        </p:nvSpPr>
        <p:spPr bwMode="gray">
          <a:xfrm>
            <a:off x="6216212" y="5705562"/>
            <a:ext cx="5287990" cy="307777"/>
          </a:xfrm>
          <a:prstGeom prst="rect">
            <a:avLst/>
          </a:prstGeom>
          <a:solidFill>
            <a:srgbClr val="D7F2F5"/>
          </a:solidFill>
        </p:spPr>
        <p:txBody>
          <a:bodyPr wrap="square">
            <a:spAutoFit/>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实际部署中，可通过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，进一步减少</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 EVPN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对等体关系数量。</a:t>
            </a:r>
          </a:p>
        </p:txBody>
      </p:sp>
    </p:spTree>
    <p:extLst>
      <p:ext uri="{BB962C8B-B14F-4D97-AF65-F5344CB8AC3E}">
        <p14:creationId xmlns:p14="http://schemas.microsoft.com/office/powerpoint/2010/main" val="24245476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a:extLst>
              <a:ext uri="{FF2B5EF4-FFF2-40B4-BE49-F238E27FC236}">
                <a16:creationId xmlns:a16="http://schemas.microsoft.com/office/drawing/2014/main" id="{A85C531B-A61B-4CE2-87A7-639C7C7B5C89}"/>
              </a:ext>
            </a:extLst>
          </p:cNvPr>
          <p:cNvSpPr>
            <a:spLocks noGrp="1"/>
          </p:cNvSpPr>
          <p:nvPr>
            <p:ph type="title"/>
          </p:nvPr>
        </p:nvSpPr>
        <p:spPr bwMode="gray"/>
        <p:txBody>
          <a:bodyPr/>
          <a:lstStyle/>
          <a:p>
            <a:r>
              <a:rPr lang="en-US" altLang="zh-CN">
                <a:sym typeface="Huawei Sans" panose="020C0503030203020204" pitchFamily="34" charset="0"/>
              </a:rPr>
              <a:t>BGP EVPN</a:t>
            </a:r>
            <a:r>
              <a:rPr lang="zh-CN" altLang="en-US">
                <a:sym typeface="Huawei Sans" panose="020C0503030203020204" pitchFamily="34" charset="0"/>
              </a:rPr>
              <a:t>概述</a:t>
            </a:r>
            <a:endParaRPr lang="zh-CN" altLang="en-US" dirty="0">
              <a:sym typeface="Huawei Sans" panose="020C0503030203020204" pitchFamily="34" charset="0"/>
            </a:endParaRPr>
          </a:p>
        </p:txBody>
      </p:sp>
      <p:sp>
        <p:nvSpPr>
          <p:cNvPr id="44" name="文本占位符 43"/>
          <p:cNvSpPr>
            <a:spLocks noGrp="1"/>
          </p:cNvSpPr>
          <p:nvPr>
            <p:ph type="body" sz="quarter" idx="10"/>
          </p:nvPr>
        </p:nvSpPr>
        <p:spPr bwMode="gray">
          <a:xfrm>
            <a:off x="455613" y="1047750"/>
            <a:ext cx="11256962" cy="1686467"/>
          </a:xfrm>
        </p:spPr>
        <p:txBody>
          <a:bodyPr/>
          <a:lstStyle/>
          <a:p>
            <a:r>
              <a:rPr lang="en-US" altLang="zh-CN" sz="1800" dirty="0">
                <a:sym typeface="Huawei Sans" panose="020C0503030203020204" pitchFamily="34" charset="0"/>
              </a:rPr>
              <a:t>BGP EVPN</a:t>
            </a:r>
            <a:r>
              <a:rPr lang="zh-CN" altLang="en-US" sz="1800" dirty="0">
                <a:sym typeface="Huawei Sans" panose="020C0503030203020204" pitchFamily="34" charset="0"/>
              </a:rPr>
              <a:t>通过扩展</a:t>
            </a:r>
            <a:r>
              <a:rPr lang="en-US" altLang="zh-CN" sz="1800" dirty="0">
                <a:sym typeface="Huawei Sans" panose="020C0503030203020204" pitchFamily="34" charset="0"/>
              </a:rPr>
              <a:t>BGP</a:t>
            </a:r>
            <a:r>
              <a:rPr lang="zh-CN" altLang="en-US" sz="1800" dirty="0">
                <a:sym typeface="Huawei Sans" panose="020C0503030203020204" pitchFamily="34" charset="0"/>
              </a:rPr>
              <a:t>协议新定义了几种</a:t>
            </a:r>
            <a:r>
              <a:rPr lang="en-US" altLang="zh-CN" sz="1800" dirty="0">
                <a:sym typeface="Huawei Sans" panose="020C0503030203020204" pitchFamily="34" charset="0"/>
              </a:rPr>
              <a:t>BGP EVPN</a:t>
            </a:r>
            <a:r>
              <a:rPr lang="zh-CN" altLang="en-US" sz="1800" dirty="0">
                <a:sym typeface="Huawei Sans" panose="020C0503030203020204" pitchFamily="34" charset="0"/>
              </a:rPr>
              <a:t>路由（在</a:t>
            </a:r>
            <a:r>
              <a:rPr lang="en-US" altLang="zh-CN" sz="1800" dirty="0">
                <a:highlight>
                  <a:srgbClr val="FFFF00"/>
                </a:highlight>
                <a:sym typeface="Huawei Sans" panose="020C0503030203020204" pitchFamily="34" charset="0"/>
              </a:rPr>
              <a:t>MP_REACH_NLRI</a:t>
            </a:r>
            <a:r>
              <a:rPr lang="zh-CN" altLang="en-US" sz="1800" dirty="0">
                <a:sym typeface="Huawei Sans" panose="020C0503030203020204" pitchFamily="34" charset="0"/>
              </a:rPr>
              <a:t>属性中新定义了几种</a:t>
            </a:r>
            <a:r>
              <a:rPr lang="en-US" altLang="zh-CN" sz="1800" dirty="0">
                <a:sym typeface="Huawei Sans" panose="020C0503030203020204" pitchFamily="34" charset="0"/>
              </a:rPr>
              <a:t>NLRI</a:t>
            </a:r>
            <a:r>
              <a:rPr lang="zh-CN" altLang="en-US" sz="1800" dirty="0">
                <a:sym typeface="Huawei Sans" panose="020C0503030203020204" pitchFamily="34" charset="0"/>
              </a:rPr>
              <a:t>，称作</a:t>
            </a:r>
            <a:r>
              <a:rPr lang="en-US" altLang="zh-CN" sz="1800" dirty="0">
                <a:sym typeface="Huawei Sans" panose="020C0503030203020204" pitchFamily="34" charset="0"/>
              </a:rPr>
              <a:t>EVPN NLRI</a:t>
            </a:r>
            <a:r>
              <a:rPr lang="zh-CN" altLang="en-US" sz="1800" dirty="0">
                <a:sym typeface="Huawei Sans" panose="020C0503030203020204" pitchFamily="34" charset="0"/>
              </a:rPr>
              <a:t>）。</a:t>
            </a:r>
            <a:endParaRPr lang="en-US" altLang="zh-CN" sz="1800" dirty="0">
              <a:sym typeface="Huawei Sans" panose="020C0503030203020204" pitchFamily="34" charset="0"/>
            </a:endParaRPr>
          </a:p>
          <a:p>
            <a:r>
              <a:rPr lang="zh-CN" altLang="en-US" sz="1800" dirty="0">
                <a:sym typeface="Huawei Sans" panose="020C0503030203020204" pitchFamily="34" charset="0"/>
              </a:rPr>
              <a:t>这些</a:t>
            </a:r>
            <a:r>
              <a:rPr lang="en-US" altLang="zh-CN" sz="1800" dirty="0">
                <a:sym typeface="Huawei Sans" panose="020C0503030203020204" pitchFamily="34" charset="0"/>
              </a:rPr>
              <a:t>BGP EVPN</a:t>
            </a:r>
            <a:r>
              <a:rPr lang="zh-CN" altLang="en-US" sz="1800" dirty="0">
                <a:sym typeface="Huawei Sans" panose="020C0503030203020204" pitchFamily="34" charset="0"/>
              </a:rPr>
              <a:t>路由可以用于传递</a:t>
            </a:r>
            <a:r>
              <a:rPr lang="en-US" altLang="zh-CN" sz="1800" dirty="0">
                <a:sym typeface="Huawei Sans" panose="020C0503030203020204" pitchFamily="34" charset="0"/>
              </a:rPr>
              <a:t>VTEP</a:t>
            </a:r>
            <a:r>
              <a:rPr lang="zh-CN" altLang="en-US" sz="1800" dirty="0">
                <a:sym typeface="Huawei Sans" panose="020C0503030203020204" pitchFamily="34" charset="0"/>
              </a:rPr>
              <a:t>地址和主机信息，因此</a:t>
            </a:r>
            <a:r>
              <a:rPr lang="en-US" altLang="zh-CN" sz="1800" dirty="0">
                <a:sym typeface="Huawei Sans" panose="020C0503030203020204" pitchFamily="34" charset="0"/>
              </a:rPr>
              <a:t>BGP EVPN</a:t>
            </a:r>
            <a:r>
              <a:rPr lang="zh-CN" altLang="en-US" sz="1800" dirty="0">
                <a:sym typeface="Huawei Sans" panose="020C0503030203020204" pitchFamily="34" charset="0"/>
              </a:rPr>
              <a:t>应用于</a:t>
            </a:r>
            <a:r>
              <a:rPr lang="en-US" altLang="zh-CN" sz="1800" dirty="0">
                <a:sym typeface="Huawei Sans" panose="020C0503030203020204" pitchFamily="34" charset="0"/>
              </a:rPr>
              <a:t>VXLAN</a:t>
            </a:r>
            <a:r>
              <a:rPr lang="zh-CN" altLang="en-US" sz="1800" dirty="0">
                <a:sym typeface="Huawei Sans" panose="020C0503030203020204" pitchFamily="34" charset="0"/>
              </a:rPr>
              <a:t>网络中，可以使</a:t>
            </a:r>
            <a:r>
              <a:rPr lang="en-US" altLang="zh-CN" sz="1800" dirty="0">
                <a:sym typeface="Huawei Sans" panose="020C0503030203020204" pitchFamily="34" charset="0"/>
              </a:rPr>
              <a:t>VTEP</a:t>
            </a:r>
            <a:r>
              <a:rPr lang="zh-CN" altLang="en-US" sz="1800" dirty="0">
                <a:sym typeface="Huawei Sans" panose="020C0503030203020204" pitchFamily="34" charset="0"/>
              </a:rPr>
              <a:t>发现和主机信息学习从数据平面转移到控制平面。</a:t>
            </a:r>
          </a:p>
        </p:txBody>
      </p:sp>
      <p:sp>
        <p:nvSpPr>
          <p:cNvPr id="25" name="Freeform 159"/>
          <p:cNvSpPr/>
          <p:nvPr/>
        </p:nvSpPr>
        <p:spPr bwMode="gray">
          <a:xfrm flipH="1">
            <a:off x="4331554" y="2734218"/>
            <a:ext cx="3457500" cy="1870256"/>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4" name="图片 87" descr="汇聚交换机.png"/>
          <p:cNvPicPr>
            <a:picLocks noChangeAspect="1"/>
          </p:cNvPicPr>
          <p:nvPr/>
        </p:nvPicPr>
        <p:blipFill>
          <a:blip r:embed="rId3"/>
          <a:stretch>
            <a:fillRect/>
          </a:stretch>
        </p:blipFill>
        <p:spPr bwMode="gray">
          <a:xfrm>
            <a:off x="4080144" y="3654645"/>
            <a:ext cx="502820" cy="411400"/>
          </a:xfrm>
          <a:prstGeom prst="rect">
            <a:avLst/>
          </a:prstGeom>
        </p:spPr>
      </p:pic>
      <p:pic>
        <p:nvPicPr>
          <p:cNvPr id="35" name="图片 87" descr="汇聚交换机.png"/>
          <p:cNvPicPr>
            <a:picLocks noChangeAspect="1"/>
          </p:cNvPicPr>
          <p:nvPr/>
        </p:nvPicPr>
        <p:blipFill>
          <a:blip r:embed="rId3"/>
          <a:stretch>
            <a:fillRect/>
          </a:stretch>
        </p:blipFill>
        <p:spPr bwMode="gray">
          <a:xfrm>
            <a:off x="7537644" y="3654645"/>
            <a:ext cx="502820" cy="411400"/>
          </a:xfrm>
          <a:prstGeom prst="rect">
            <a:avLst/>
          </a:prstGeom>
        </p:spPr>
      </p:pic>
      <p:sp>
        <p:nvSpPr>
          <p:cNvPr id="38" name="文本框 37"/>
          <p:cNvSpPr txBox="1"/>
          <p:nvPr/>
        </p:nvSpPr>
        <p:spPr bwMode="gray">
          <a:xfrm>
            <a:off x="3545540" y="3711681"/>
            <a:ext cx="575799" cy="307777"/>
          </a:xfrm>
          <a:prstGeom prst="rect">
            <a:avLst/>
          </a:prstGeom>
          <a:noFill/>
        </p:spPr>
        <p:txBody>
          <a:bodyPr wrap="none" rtlCol="0">
            <a:spAutoFit/>
          </a:bodyPr>
          <a:lstStyle/>
          <a:p>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bwMode="gray">
          <a:xfrm>
            <a:off x="8029097" y="3711681"/>
            <a:ext cx="575799" cy="307777"/>
          </a:xfrm>
          <a:prstGeom prst="rect">
            <a:avLst/>
          </a:prstGeom>
          <a:noFill/>
        </p:spPr>
        <p:txBody>
          <a:bodyPr wrap="none" rtlCol="0">
            <a:spAutoFit/>
          </a:bodyPr>
          <a:lstStyle/>
          <a:p>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任意多边形 39"/>
          <p:cNvSpPr/>
          <p:nvPr/>
        </p:nvSpPr>
        <p:spPr bwMode="gray">
          <a:xfrm flipH="1" flipV="1">
            <a:off x="4638852" y="3348579"/>
            <a:ext cx="2827666" cy="474713"/>
          </a:xfrm>
          <a:custGeom>
            <a:avLst/>
            <a:gdLst>
              <a:gd name="connsiteX0" fmla="*/ 0 w 1388533"/>
              <a:gd name="connsiteY0" fmla="*/ 0 h 33866"/>
              <a:gd name="connsiteX1" fmla="*/ 1388533 w 1388533"/>
              <a:gd name="connsiteY1" fmla="*/ 33866 h 33866"/>
              <a:gd name="connsiteX0" fmla="*/ 0 w 1319173"/>
              <a:gd name="connsiteY0" fmla="*/ 0 h 51234"/>
              <a:gd name="connsiteX1" fmla="*/ 1319173 w 1319173"/>
              <a:gd name="connsiteY1" fmla="*/ 51234 h 51234"/>
              <a:gd name="connsiteX0" fmla="*/ 0 w 944632"/>
              <a:gd name="connsiteY0" fmla="*/ 0 h 603"/>
              <a:gd name="connsiteX1" fmla="*/ 944632 w 944632"/>
              <a:gd name="connsiteY1" fmla="*/ 603 h 603"/>
              <a:gd name="connsiteX0" fmla="*/ 0 w 10000"/>
              <a:gd name="connsiteY0" fmla="*/ 185459 h 195459"/>
              <a:gd name="connsiteX1" fmla="*/ 10000 w 10000"/>
              <a:gd name="connsiteY1" fmla="*/ 195459 h 195459"/>
              <a:gd name="connsiteX0" fmla="*/ 0 w 10000"/>
              <a:gd name="connsiteY0" fmla="*/ 302781 h 312781"/>
              <a:gd name="connsiteX1" fmla="*/ 10000 w 10000"/>
              <a:gd name="connsiteY1" fmla="*/ 312781 h 312781"/>
              <a:gd name="connsiteX0" fmla="*/ 0 w 9869"/>
              <a:gd name="connsiteY0" fmla="*/ 283816 h 334869"/>
              <a:gd name="connsiteX1" fmla="*/ 9869 w 9869"/>
              <a:gd name="connsiteY1" fmla="*/ 334869 h 334869"/>
              <a:gd name="connsiteX0" fmla="*/ 0 w 15423"/>
              <a:gd name="connsiteY0" fmla="*/ 4447 h 20683"/>
              <a:gd name="connsiteX1" fmla="*/ 15423 w 15423"/>
              <a:gd name="connsiteY1" fmla="*/ 20683 h 20683"/>
              <a:gd name="connsiteX0" fmla="*/ 0 w 15423"/>
              <a:gd name="connsiteY0" fmla="*/ 219 h 16455"/>
              <a:gd name="connsiteX1" fmla="*/ 15423 w 15423"/>
              <a:gd name="connsiteY1" fmla="*/ 16455 h 16455"/>
              <a:gd name="connsiteX0" fmla="*/ 0 w 15423"/>
              <a:gd name="connsiteY0" fmla="*/ 0 h 16236"/>
              <a:gd name="connsiteX1" fmla="*/ 15423 w 15423"/>
              <a:gd name="connsiteY1" fmla="*/ 16236 h 16236"/>
              <a:gd name="connsiteX0" fmla="*/ 0 w 16084"/>
              <a:gd name="connsiteY0" fmla="*/ 0 h 16542"/>
              <a:gd name="connsiteX1" fmla="*/ 16084 w 16084"/>
              <a:gd name="connsiteY1" fmla="*/ 16542 h 16542"/>
              <a:gd name="connsiteX0" fmla="*/ 0 w 16084"/>
              <a:gd name="connsiteY0" fmla="*/ 0 h 16542"/>
              <a:gd name="connsiteX1" fmla="*/ 16084 w 16084"/>
              <a:gd name="connsiteY1" fmla="*/ 16542 h 16542"/>
              <a:gd name="connsiteX0" fmla="*/ 0 w 16005"/>
              <a:gd name="connsiteY0" fmla="*/ 0 h 30325"/>
              <a:gd name="connsiteX1" fmla="*/ 16005 w 16005"/>
              <a:gd name="connsiteY1" fmla="*/ 30325 h 30325"/>
              <a:gd name="connsiteX0" fmla="*/ 2950 w 18955"/>
              <a:gd name="connsiteY0" fmla="*/ 0 h 30325"/>
              <a:gd name="connsiteX1" fmla="*/ 18955 w 18955"/>
              <a:gd name="connsiteY1" fmla="*/ 30325 h 30325"/>
              <a:gd name="connsiteX0" fmla="*/ 45031 w 45031"/>
              <a:gd name="connsiteY0" fmla="*/ 0 h 13462"/>
              <a:gd name="connsiteX1" fmla="*/ 88 w 45031"/>
              <a:gd name="connsiteY1" fmla="*/ 13462 h 13462"/>
              <a:gd name="connsiteX0" fmla="*/ 44943 w 44943"/>
              <a:gd name="connsiteY0" fmla="*/ 0 h 15281"/>
              <a:gd name="connsiteX1" fmla="*/ 0 w 44943"/>
              <a:gd name="connsiteY1" fmla="*/ 13462 h 15281"/>
              <a:gd name="connsiteX0" fmla="*/ 43872 w 43872"/>
              <a:gd name="connsiteY0" fmla="*/ 639 h 5533"/>
              <a:gd name="connsiteX1" fmla="*/ 0 w 43872"/>
              <a:gd name="connsiteY1" fmla="*/ 0 h 5533"/>
              <a:gd name="connsiteX0" fmla="*/ 10000 w 10000"/>
              <a:gd name="connsiteY0" fmla="*/ 1155 h 16005"/>
              <a:gd name="connsiteX1" fmla="*/ 0 w 10000"/>
              <a:gd name="connsiteY1" fmla="*/ 0 h 16005"/>
              <a:gd name="connsiteX0" fmla="*/ 10027 w 10027"/>
              <a:gd name="connsiteY0" fmla="*/ 466 h 15734"/>
              <a:gd name="connsiteX1" fmla="*/ 0 w 10027"/>
              <a:gd name="connsiteY1" fmla="*/ 0 h 15734"/>
              <a:gd name="connsiteX0" fmla="*/ 10027 w 10027"/>
              <a:gd name="connsiteY0" fmla="*/ 466 h 18683"/>
              <a:gd name="connsiteX1" fmla="*/ 0 w 10027"/>
              <a:gd name="connsiteY1" fmla="*/ 0 h 18683"/>
              <a:gd name="connsiteX0" fmla="*/ 9918 w 9918"/>
              <a:gd name="connsiteY0" fmla="*/ 466 h 18683"/>
              <a:gd name="connsiteX1" fmla="*/ 0 w 9918"/>
              <a:gd name="connsiteY1" fmla="*/ 0 h 18683"/>
              <a:gd name="connsiteX0" fmla="*/ 10000 w 10000"/>
              <a:gd name="connsiteY0" fmla="*/ 249 h 9714"/>
              <a:gd name="connsiteX1" fmla="*/ 0 w 10000"/>
              <a:gd name="connsiteY1" fmla="*/ 0 h 9714"/>
              <a:gd name="connsiteX0" fmla="*/ 10030 w 10030"/>
              <a:gd name="connsiteY0" fmla="*/ 0 h 12302"/>
              <a:gd name="connsiteX1" fmla="*/ 0 w 10030"/>
              <a:gd name="connsiteY1" fmla="*/ 4134 h 12302"/>
              <a:gd name="connsiteX0" fmla="*/ 10030 w 10030"/>
              <a:gd name="connsiteY0" fmla="*/ 0 h 16644"/>
              <a:gd name="connsiteX1" fmla="*/ 0 w 10030"/>
              <a:gd name="connsiteY1" fmla="*/ 4134 h 16644"/>
              <a:gd name="connsiteX0" fmla="*/ 10152 w 10152"/>
              <a:gd name="connsiteY0" fmla="*/ 0 h 14970"/>
              <a:gd name="connsiteX1" fmla="*/ 0 w 10152"/>
              <a:gd name="connsiteY1" fmla="*/ 371 h 14970"/>
              <a:gd name="connsiteX0" fmla="*/ 10152 w 10152"/>
              <a:gd name="connsiteY0" fmla="*/ 0 h 17015"/>
              <a:gd name="connsiteX1" fmla="*/ 0 w 10152"/>
              <a:gd name="connsiteY1" fmla="*/ 371 h 17015"/>
              <a:gd name="connsiteX0" fmla="*/ 10152 w 10152"/>
              <a:gd name="connsiteY0" fmla="*/ 0 h 17583"/>
              <a:gd name="connsiteX1" fmla="*/ 0 w 10152"/>
              <a:gd name="connsiteY1" fmla="*/ 371 h 17583"/>
            </a:gdLst>
            <a:ahLst/>
            <a:cxnLst>
              <a:cxn ang="0">
                <a:pos x="connsiteX0" y="connsiteY0"/>
              </a:cxn>
              <a:cxn ang="0">
                <a:pos x="connsiteX1" y="connsiteY1"/>
              </a:cxn>
            </a:cxnLst>
            <a:rect l="l" t="t" r="r" b="b"/>
            <a:pathLst>
              <a:path w="10152" h="17583">
                <a:moveTo>
                  <a:pt x="10152" y="0"/>
                </a:moveTo>
                <a:cubicBezTo>
                  <a:pt x="8055" y="24624"/>
                  <a:pt x="2520" y="22118"/>
                  <a:pt x="0" y="371"/>
                </a:cubicBezTo>
              </a:path>
            </a:pathLst>
          </a:custGeom>
          <a:ln w="28575">
            <a:solidFill>
              <a:srgbClr val="EC7061"/>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40"/>
          <p:cNvSpPr txBox="1"/>
          <p:nvPr/>
        </p:nvSpPr>
        <p:spPr bwMode="gray">
          <a:xfrm>
            <a:off x="5139459" y="3027462"/>
            <a:ext cx="1810111" cy="338554"/>
          </a:xfrm>
          <a:prstGeom prst="rect">
            <a:avLst/>
          </a:prstGeom>
          <a:noFill/>
        </p:spPr>
        <p:txBody>
          <a:bodyPr wrap="none" rtlCol="0">
            <a:spAutoFit/>
          </a:bodyPr>
          <a:lstStyle/>
          <a:p>
            <a:pPr algn="ctr"/>
            <a:r>
              <a:rPr lang="en-US" altLang="zh-CN" sz="16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BGP EVPN</a:t>
            </a:r>
            <a:r>
              <a:rPr lang="zh-CN" altLang="en-US" sz="16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对等体</a:t>
            </a:r>
            <a:endParaRPr lang="en-US" altLang="zh-CN" sz="16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2" name="直接连接符 41">
            <a:extLst>
              <a:ext uri="{FF2B5EF4-FFF2-40B4-BE49-F238E27FC236}">
                <a16:creationId xmlns:a16="http://schemas.microsoft.com/office/drawing/2014/main" id="{062F7182-EB4F-47B5-A947-7E338CCA1217}"/>
              </a:ext>
            </a:extLst>
          </p:cNvPr>
          <p:cNvCxnSpPr>
            <a:cxnSpLocks/>
          </p:cNvCxnSpPr>
          <p:nvPr/>
        </p:nvCxnSpPr>
        <p:spPr bwMode="gray">
          <a:xfrm flipH="1">
            <a:off x="4638852" y="3995369"/>
            <a:ext cx="2827666" cy="0"/>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sp>
        <p:nvSpPr>
          <p:cNvPr id="15" name="矩形 14"/>
          <p:cNvSpPr/>
          <p:nvPr/>
        </p:nvSpPr>
        <p:spPr bwMode="gray">
          <a:xfrm>
            <a:off x="821267" y="4703408"/>
            <a:ext cx="10549466" cy="1477328"/>
          </a:xfrm>
          <a:prstGeom prst="rect">
            <a:avLst/>
          </a:prstGeom>
        </p:spPr>
        <p:txBody>
          <a:bodyPr wrap="square">
            <a:spAutoFit/>
          </a:bodyPr>
          <a:lstStyle/>
          <a:p>
            <a:pPr marL="285750" indent="-285750">
              <a:lnSpc>
                <a:spcPts val="2400"/>
              </a:lnSpc>
              <a:spcAft>
                <a:spcPts val="600"/>
              </a:spcAft>
              <a:buFont typeface="Arial" panose="020B0604020202020204" pitchFamily="34" charset="0"/>
              <a:buChar char="•"/>
            </a:pP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Type 2</a:t>
            </a: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路由（</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MAC/IP</a:t>
            </a: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路由）</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：用于主机</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/ARP/IP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路由通告。</a:t>
            </a:r>
          </a:p>
          <a:p>
            <a:pPr marL="285750" indent="-285750">
              <a:lnSpc>
                <a:spcPts val="2400"/>
              </a:lnSpc>
              <a:spcAft>
                <a:spcPts val="600"/>
              </a:spcAft>
              <a:buFont typeface="Arial" panose="020B0604020202020204" pitchFamily="34" charset="0"/>
              <a:buChar char="•"/>
            </a:pP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Type 3</a:t>
            </a: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路由（</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Inclusive Multicast</a:t>
            </a: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路由）</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：用于传递二层</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VNI</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VTEP IP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地址信息，实现</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VTEP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的自动发现和</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隧道的动态建立，实现</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BUM</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报文转发。</a:t>
            </a:r>
          </a:p>
          <a:p>
            <a:pPr marL="285750" indent="-285750">
              <a:lnSpc>
                <a:spcPts val="2400"/>
              </a:lnSpc>
              <a:spcAft>
                <a:spcPts val="600"/>
              </a:spcAft>
              <a:buFont typeface="Arial" panose="020B0604020202020204" pitchFamily="34" charset="0"/>
              <a:buChar char="•"/>
            </a:pP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Type 5</a:t>
            </a: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路由（</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前缀路由）：</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用于主机</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/ARP/IP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路由通告，外部网络路由通告。</a:t>
            </a:r>
          </a:p>
        </p:txBody>
      </p:sp>
    </p:spTree>
    <p:extLst>
      <p:ext uri="{BB962C8B-B14F-4D97-AF65-F5344CB8AC3E}">
        <p14:creationId xmlns:p14="http://schemas.microsoft.com/office/powerpoint/2010/main" val="21065238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a:sym typeface="Huawei Sans" panose="020C0503030203020204" pitchFamily="34" charset="0"/>
              </a:rPr>
              <a:t>EVPN NLRI</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a:xfrm>
            <a:off x="455613" y="1047751"/>
            <a:ext cx="11256962" cy="823564"/>
          </a:xfrm>
        </p:spPr>
        <p:txBody>
          <a:bodyPr/>
          <a:lstStyle/>
          <a:p>
            <a:r>
              <a:rPr lang="en-US" altLang="zh-CN" sz="1800" dirty="0">
                <a:sym typeface="Huawei Sans" panose="020C0503030203020204" pitchFamily="34" charset="0"/>
              </a:rPr>
              <a:t>EVPN NLRI</a:t>
            </a:r>
            <a:r>
              <a:rPr lang="zh-CN" altLang="en-US" sz="1800" dirty="0">
                <a:sym typeface="Huawei Sans" panose="020C0503030203020204" pitchFamily="34" charset="0"/>
              </a:rPr>
              <a:t>通过路径属性</a:t>
            </a:r>
            <a:r>
              <a:rPr lang="en-US" altLang="zh-CN" sz="1800" dirty="0">
                <a:sym typeface="Huawei Sans" panose="020C0503030203020204" pitchFamily="34" charset="0"/>
              </a:rPr>
              <a:t>MP_REACH_NLRI</a:t>
            </a:r>
            <a:r>
              <a:rPr lang="zh-CN" altLang="en-US" sz="1800" dirty="0">
                <a:sym typeface="Huawei Sans" panose="020C0503030203020204" pitchFamily="34" charset="0"/>
              </a:rPr>
              <a:t>携带，地址族标识符（</a:t>
            </a:r>
            <a:r>
              <a:rPr lang="en-US" altLang="zh-CN" sz="1800" dirty="0">
                <a:sym typeface="Huawei Sans" panose="020C0503030203020204" pitchFamily="34" charset="0"/>
              </a:rPr>
              <a:t>AFI</a:t>
            </a:r>
            <a:r>
              <a:rPr lang="zh-CN" altLang="en-US" sz="1800" dirty="0">
                <a:sym typeface="Huawei Sans" panose="020C0503030203020204" pitchFamily="34" charset="0"/>
              </a:rPr>
              <a:t>）为</a:t>
            </a:r>
            <a:r>
              <a:rPr lang="en-US" altLang="zh-CN" sz="1800" dirty="0">
                <a:sym typeface="Huawei Sans" panose="020C0503030203020204" pitchFamily="34" charset="0"/>
              </a:rPr>
              <a:t>25</a:t>
            </a:r>
            <a:r>
              <a:rPr lang="zh-CN" altLang="en-US" sz="1800" dirty="0">
                <a:sym typeface="Huawei Sans" panose="020C0503030203020204" pitchFamily="34" charset="0"/>
              </a:rPr>
              <a:t>，代表</a:t>
            </a:r>
            <a:r>
              <a:rPr lang="en-US" altLang="zh-CN" sz="1800" dirty="0">
                <a:sym typeface="Huawei Sans" panose="020C0503030203020204" pitchFamily="34" charset="0"/>
              </a:rPr>
              <a:t>L2VPN</a:t>
            </a:r>
            <a:r>
              <a:rPr lang="zh-CN" altLang="en-US" sz="1800" dirty="0">
                <a:sym typeface="Huawei Sans" panose="020C0503030203020204" pitchFamily="34" charset="0"/>
              </a:rPr>
              <a:t>，子地址族标识符（</a:t>
            </a:r>
            <a:r>
              <a:rPr lang="en-US" altLang="zh-CN" sz="1800" dirty="0">
                <a:sym typeface="Huawei Sans" panose="020C0503030203020204" pitchFamily="34" charset="0"/>
              </a:rPr>
              <a:t>SAFI</a:t>
            </a:r>
            <a:r>
              <a:rPr lang="zh-CN" altLang="en-US" sz="1800" dirty="0">
                <a:sym typeface="Huawei Sans" panose="020C0503030203020204" pitchFamily="34" charset="0"/>
              </a:rPr>
              <a:t>）为</a:t>
            </a:r>
            <a:r>
              <a:rPr lang="en-US" altLang="zh-CN" sz="1800" dirty="0">
                <a:sym typeface="Huawei Sans" panose="020C0503030203020204" pitchFamily="34" charset="0"/>
              </a:rPr>
              <a:t>70</a:t>
            </a:r>
            <a:r>
              <a:rPr lang="zh-CN" altLang="en-US" sz="1800" dirty="0">
                <a:sym typeface="Huawei Sans" panose="020C0503030203020204" pitchFamily="34" charset="0"/>
              </a:rPr>
              <a:t>。</a:t>
            </a:r>
            <a:endParaRPr lang="en-US" altLang="zh-CN" sz="1800" dirty="0">
              <a:sym typeface="Huawei Sans" panose="020C0503030203020204" pitchFamily="34"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4070689862"/>
              </p:ext>
            </p:extLst>
          </p:nvPr>
        </p:nvGraphicFramePr>
        <p:xfrm>
          <a:off x="3253121" y="2088880"/>
          <a:ext cx="5685759" cy="3557397"/>
        </p:xfrm>
        <a:graphic>
          <a:graphicData uri="http://schemas.openxmlformats.org/drawingml/2006/table">
            <a:tbl>
              <a:tblPr firstRow="1" bandRow="1">
                <a:tableStyleId>{72833802-FEF1-4C79-8D5D-14CF1EAF98D9}</a:tableStyleId>
              </a:tblPr>
              <a:tblGrid>
                <a:gridCol w="5685759">
                  <a:extLst>
                    <a:ext uri="{9D8B030D-6E8A-4147-A177-3AD203B41FA5}">
                      <a16:colId xmlns:a16="http://schemas.microsoft.com/office/drawing/2014/main" val="20000"/>
                    </a:ext>
                  </a:extLst>
                </a:gridCol>
              </a:tblGrid>
              <a:tr h="288000">
                <a:tc>
                  <a:txBody>
                    <a:bodyPr/>
                    <a:lstStyle/>
                    <a:p>
                      <a:pPr algn="ctr"/>
                      <a:r>
                        <a:rPr lang="en-US" altLang="zh-CN" sz="18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Path Attribute - MP_REACH_NLRI</a:t>
                      </a: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rgbClr val="F2FBFC"/>
                    </a:solidFill>
                  </a:tcPr>
                </a:tc>
                <a:extLst>
                  <a:ext uri="{0D108BD9-81ED-4DB2-BD59-A6C34878D82A}">
                    <a16:rowId xmlns:a16="http://schemas.microsoft.com/office/drawing/2014/main" val="10000"/>
                  </a:ext>
                </a:extLst>
              </a:tr>
              <a:tr h="288000">
                <a:tc>
                  <a:txBody>
                    <a:bodyPr/>
                    <a:lstStyle/>
                    <a:p>
                      <a:pPr algn="ctr">
                        <a:lnSpc>
                          <a:spcPct val="1200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Flags</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Optional, Non-transitive</a:t>
                      </a: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tcPr>
                </a:tc>
                <a:extLst>
                  <a:ext uri="{0D108BD9-81ED-4DB2-BD59-A6C34878D82A}">
                    <a16:rowId xmlns:a16="http://schemas.microsoft.com/office/drawing/2014/main" val="10001"/>
                  </a:ext>
                </a:extLst>
              </a:tr>
              <a:tr h="288000">
                <a:tc>
                  <a:txBody>
                    <a:bodyPr/>
                    <a:lstStyle/>
                    <a:p>
                      <a:pPr algn="ctr">
                        <a:lnSpc>
                          <a:spcPct val="1200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Type Code: MP_REACH_NLRI (14)</a:t>
                      </a: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tcPr>
                </a:tc>
                <a:extLst>
                  <a:ext uri="{0D108BD9-81ED-4DB2-BD59-A6C34878D82A}">
                    <a16:rowId xmlns:a16="http://schemas.microsoft.com/office/drawing/2014/main" val="10002"/>
                  </a:ext>
                </a:extLst>
              </a:tr>
              <a:tr h="288000">
                <a:tc>
                  <a:txBody>
                    <a:bodyPr/>
                    <a:lstStyle/>
                    <a:p>
                      <a:pPr algn="ctr">
                        <a:lnSpc>
                          <a:spcPct val="1200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Length</a:t>
                      </a: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tcPr>
                </a:tc>
                <a:extLst>
                  <a:ext uri="{0D108BD9-81ED-4DB2-BD59-A6C34878D82A}">
                    <a16:rowId xmlns:a16="http://schemas.microsoft.com/office/drawing/2014/main" val="10003"/>
                  </a:ext>
                </a:extLst>
              </a:tr>
              <a:tr h="288000">
                <a:tc>
                  <a:txBody>
                    <a:bodyPr/>
                    <a:lstStyle/>
                    <a:p>
                      <a:pPr algn="ctr">
                        <a:lnSpc>
                          <a:spcPct val="1200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Address family identifier (AFI): </a:t>
                      </a:r>
                      <a:r>
                        <a:rPr lang="en-US" altLang="zh-CN" sz="16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Layer-2 VPN (25)</a:t>
                      </a: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tcPr>
                </a:tc>
                <a:extLst>
                  <a:ext uri="{0D108BD9-81ED-4DB2-BD59-A6C34878D82A}">
                    <a16:rowId xmlns:a16="http://schemas.microsoft.com/office/drawing/2014/main" val="10004"/>
                  </a:ext>
                </a:extLst>
              </a:tr>
              <a:tr h="288000">
                <a:tc>
                  <a:txBody>
                    <a:bodyPr/>
                    <a:lstStyle/>
                    <a:p>
                      <a:pPr algn="ctr">
                        <a:lnSpc>
                          <a:spcPct val="1200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Subsequent address family identifier (SAFI): </a:t>
                      </a:r>
                      <a:r>
                        <a:rPr lang="en-US" altLang="zh-CN" sz="16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EVPN (70)</a:t>
                      </a: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tcPr>
                </a:tc>
                <a:extLst>
                  <a:ext uri="{0D108BD9-81ED-4DB2-BD59-A6C34878D82A}">
                    <a16:rowId xmlns:a16="http://schemas.microsoft.com/office/drawing/2014/main" val="10005"/>
                  </a:ext>
                </a:extLst>
              </a:tr>
              <a:tr h="288000">
                <a:tc>
                  <a:txBody>
                    <a:bodyPr/>
                    <a:lstStyle/>
                    <a:p>
                      <a:pPr algn="ctr">
                        <a:lnSpc>
                          <a:spcPct val="1200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Next hop network address (4 Byte)</a:t>
                      </a: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tcPr>
                </a:tc>
                <a:extLst>
                  <a:ext uri="{0D108BD9-81ED-4DB2-BD59-A6C34878D82A}">
                    <a16:rowId xmlns:a16="http://schemas.microsoft.com/office/drawing/2014/main" val="10006"/>
                  </a:ext>
                </a:extLst>
              </a:tr>
              <a:tr h="288000">
                <a:tc>
                  <a:txBody>
                    <a:bodyPr/>
                    <a:lstStyle/>
                    <a:p>
                      <a:pPr algn="ctr"/>
                      <a:r>
                        <a:rPr lang="en-US" altLang="zh-CN"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Route Type (1 octet)</a:t>
                      </a:r>
                      <a:endParaRPr lang="en-US" altLang="zh-CN" sz="16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7"/>
                  </a:ext>
                </a:extLst>
              </a:tr>
              <a:tr h="288000">
                <a:tc>
                  <a:txBody>
                    <a:bodyPr/>
                    <a:lstStyle/>
                    <a:p>
                      <a:pPr algn="ctr"/>
                      <a:r>
                        <a:rPr lang="en-US" altLang="zh-CN"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Length (1 octet) </a:t>
                      </a:r>
                      <a:endParaRPr lang="en-US" altLang="zh-CN" sz="16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8"/>
                  </a:ext>
                </a:extLst>
              </a:tr>
              <a:tr h="288000">
                <a:tc>
                  <a:txBody>
                    <a:bodyPr/>
                    <a:lstStyle/>
                    <a:p>
                      <a:pPr algn="ctr"/>
                      <a:r>
                        <a:rPr lang="en-US" altLang="zh-CN"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Route Type specific (variable) </a:t>
                      </a:r>
                      <a:endParaRPr lang="en-US" altLang="zh-CN" sz="16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9"/>
                  </a:ext>
                </a:extLst>
              </a:tr>
            </a:tbl>
          </a:graphicData>
        </a:graphic>
      </p:graphicFrame>
      <p:sp>
        <p:nvSpPr>
          <p:cNvPr id="6" name="文本占位符 2"/>
          <p:cNvSpPr txBox="1">
            <a:spLocks/>
          </p:cNvSpPr>
          <p:nvPr/>
        </p:nvSpPr>
        <p:spPr bwMode="gray">
          <a:xfrm>
            <a:off x="8938880" y="5037167"/>
            <a:ext cx="1104673" cy="351448"/>
          </a:xfrm>
          <a:prstGeom prst="rect">
            <a:avLst/>
          </a:prstGeom>
          <a:noFill/>
          <a:ln w="9525">
            <a:noFill/>
            <a:miter lim="800000"/>
            <a:headEnd/>
            <a:tailEnd/>
          </a:ln>
        </p:spPr>
        <p:txBody>
          <a:bodyPr vert="horz" wrap="square" lIns="80141" tIns="40071" rIns="80141" bIns="40071" numCol="1" anchor="t" anchorCtr="0" compatLnSpc="1">
            <a:prstTxWarp prst="textNoShape">
              <a:avLst/>
            </a:prstTxWarp>
            <a:spAutoFit/>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lgn="l">
              <a:buNone/>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EVPN NLRI</a:t>
            </a:r>
          </a:p>
        </p:txBody>
      </p:sp>
      <p:grpSp>
        <p:nvGrpSpPr>
          <p:cNvPr id="7" name="组合 6"/>
          <p:cNvGrpSpPr/>
          <p:nvPr/>
        </p:nvGrpSpPr>
        <p:grpSpPr bwMode="gray">
          <a:xfrm rot="10800000">
            <a:off x="9064282" y="5453545"/>
            <a:ext cx="337662" cy="277474"/>
            <a:chOff x="1149331" y="3370821"/>
            <a:chExt cx="598189" cy="335743"/>
          </a:xfrm>
        </p:grpSpPr>
        <p:cxnSp>
          <p:nvCxnSpPr>
            <p:cNvPr id="8" name="直接连接符 7"/>
            <p:cNvCxnSpPr/>
            <p:nvPr/>
          </p:nvCxnSpPr>
          <p:spPr bwMode="gray">
            <a:xfrm flipH="1">
              <a:off x="1149331" y="3370821"/>
              <a:ext cx="59818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bwMode="gray">
            <a:xfrm flipV="1">
              <a:off x="1448425" y="3370821"/>
              <a:ext cx="0" cy="3357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bwMode="gray">
          <a:xfrm>
            <a:off x="9064282" y="4739846"/>
            <a:ext cx="337662" cy="277474"/>
            <a:chOff x="7170494" y="3022832"/>
            <a:chExt cx="337662" cy="277474"/>
          </a:xfrm>
        </p:grpSpPr>
        <p:cxnSp>
          <p:nvCxnSpPr>
            <p:cNvPr id="11" name="直接连接符 10"/>
            <p:cNvCxnSpPr/>
            <p:nvPr/>
          </p:nvCxnSpPr>
          <p:spPr bwMode="gray">
            <a:xfrm rot="10800000" flipH="1">
              <a:off x="7170494" y="3022832"/>
              <a:ext cx="33766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gray">
            <a:xfrm rot="10800000" flipV="1">
              <a:off x="7339325" y="3022832"/>
              <a:ext cx="0" cy="2774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297917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ym typeface="Huawei Sans" panose="020C0503030203020204" pitchFamily="34" charset="0"/>
              </a:rPr>
              <a:t>Extended Community</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a:xfrm>
            <a:off x="455613" y="1047750"/>
            <a:ext cx="11256962" cy="2043793"/>
          </a:xfrm>
        </p:spPr>
        <p:txBody>
          <a:bodyPr/>
          <a:lstStyle/>
          <a:p>
            <a:r>
              <a:rPr lang="en-US" altLang="zh-CN" sz="1800" dirty="0">
                <a:sym typeface="Huawei Sans" panose="020C0503030203020204" pitchFamily="34" charset="0"/>
              </a:rPr>
              <a:t>BGP EVPN</a:t>
            </a:r>
            <a:r>
              <a:rPr lang="zh-CN" altLang="en-US" sz="1800" dirty="0">
                <a:sym typeface="Huawei Sans" panose="020C0503030203020204" pitchFamily="34" charset="0"/>
              </a:rPr>
              <a:t>与</a:t>
            </a:r>
            <a:r>
              <a:rPr lang="en-US" altLang="zh-CN" sz="1800" dirty="0">
                <a:sym typeface="Huawei Sans" panose="020C0503030203020204" pitchFamily="34" charset="0"/>
              </a:rPr>
              <a:t>MPLS VPN</a:t>
            </a:r>
            <a:r>
              <a:rPr lang="zh-CN" altLang="en-US" sz="1800" dirty="0">
                <a:sym typeface="Huawei Sans" panose="020C0503030203020204" pitchFamily="34" charset="0"/>
              </a:rPr>
              <a:t>类似，为了控制路由的发送、接收，</a:t>
            </a:r>
            <a:r>
              <a:rPr lang="en-US" altLang="zh-CN" sz="1800" dirty="0">
                <a:sym typeface="Huawei Sans" panose="020C0503030203020204" pitchFamily="34" charset="0"/>
              </a:rPr>
              <a:t>BGP EVPN</a:t>
            </a:r>
            <a:r>
              <a:rPr lang="zh-CN" altLang="en-US" sz="1800" dirty="0">
                <a:sym typeface="Huawei Sans" panose="020C0503030203020204" pitchFamily="34" charset="0"/>
              </a:rPr>
              <a:t>同样存在</a:t>
            </a:r>
            <a:r>
              <a:rPr lang="en-US" altLang="zh-CN" sz="1800" dirty="0">
                <a:sym typeface="Huawei Sans" panose="020C0503030203020204" pitchFamily="34" charset="0"/>
              </a:rPr>
              <a:t>VPN</a:t>
            </a:r>
            <a:r>
              <a:rPr lang="zh-CN" altLang="en-US" sz="1800" dirty="0">
                <a:sym typeface="Huawei Sans" panose="020C0503030203020204" pitchFamily="34" charset="0"/>
              </a:rPr>
              <a:t>实例的概念（</a:t>
            </a:r>
            <a:r>
              <a:rPr lang="en-US" altLang="zh-CN" sz="1800" dirty="0">
                <a:sym typeface="Huawei Sans" panose="020C0503030203020204" pitchFamily="34" charset="0"/>
              </a:rPr>
              <a:t>EVPN</a:t>
            </a:r>
            <a:r>
              <a:rPr lang="zh-CN" altLang="en-US" sz="1800" dirty="0">
                <a:sym typeface="Huawei Sans" panose="020C0503030203020204" pitchFamily="34" charset="0"/>
              </a:rPr>
              <a:t>实例），与传统的</a:t>
            </a:r>
            <a:r>
              <a:rPr lang="en-US" altLang="zh-CN" sz="1800" dirty="0">
                <a:sym typeface="Huawei Sans" panose="020C0503030203020204" pitchFamily="34" charset="0"/>
              </a:rPr>
              <a:t>IP VPN</a:t>
            </a:r>
            <a:r>
              <a:rPr lang="zh-CN" altLang="en-US" sz="1800" dirty="0">
                <a:sym typeface="Huawei Sans" panose="020C0503030203020204" pitchFamily="34" charset="0"/>
              </a:rPr>
              <a:t>实例相同，</a:t>
            </a:r>
            <a:r>
              <a:rPr lang="en-US" altLang="zh-CN" sz="1800" dirty="0">
                <a:sym typeface="Huawei Sans" panose="020C0503030203020204" pitchFamily="34" charset="0"/>
              </a:rPr>
              <a:t>EVPN</a:t>
            </a:r>
            <a:r>
              <a:rPr lang="zh-CN" altLang="en-US" sz="1800" dirty="0">
                <a:sym typeface="Huawei Sans" panose="020C0503030203020204" pitchFamily="34" charset="0"/>
              </a:rPr>
              <a:t>实例存在</a:t>
            </a:r>
            <a:r>
              <a:rPr lang="en-US" altLang="zh-CN" sz="1800" dirty="0">
                <a:sym typeface="Huawei Sans" panose="020C0503030203020204" pitchFamily="34" charset="0"/>
              </a:rPr>
              <a:t>RD</a:t>
            </a:r>
            <a:r>
              <a:rPr lang="zh-CN" altLang="en-US" sz="1800" dirty="0">
                <a:sym typeface="Huawei Sans" panose="020C0503030203020204" pitchFamily="34" charset="0"/>
              </a:rPr>
              <a:t>和</a:t>
            </a:r>
            <a:r>
              <a:rPr lang="en-US" altLang="zh-CN" sz="1800" dirty="0">
                <a:sym typeface="Huawei Sans" panose="020C0503030203020204" pitchFamily="34" charset="0"/>
              </a:rPr>
              <a:t>RT</a:t>
            </a:r>
            <a:r>
              <a:rPr lang="zh-CN" altLang="en-US" sz="1800" dirty="0">
                <a:sym typeface="Huawei Sans" panose="020C0503030203020204" pitchFamily="34" charset="0"/>
              </a:rPr>
              <a:t>值，传递路由时使用扩展团体属性携带</a:t>
            </a:r>
            <a:r>
              <a:rPr lang="en-US" altLang="zh-CN" sz="1800" dirty="0">
                <a:sym typeface="Huawei Sans" panose="020C0503030203020204" pitchFamily="34" charset="0"/>
              </a:rPr>
              <a:t>EVPN</a:t>
            </a:r>
            <a:r>
              <a:rPr lang="zh-CN" altLang="en-US" sz="1800" dirty="0">
                <a:sym typeface="Huawei Sans" panose="020C0503030203020204" pitchFamily="34" charset="0"/>
              </a:rPr>
              <a:t>实例</a:t>
            </a:r>
            <a:r>
              <a:rPr lang="en-US" altLang="zh-CN" sz="1800" dirty="0">
                <a:sym typeface="Huawei Sans" panose="020C0503030203020204" pitchFamily="34" charset="0"/>
              </a:rPr>
              <a:t>RT</a:t>
            </a:r>
            <a:r>
              <a:rPr lang="zh-CN" altLang="en-US" sz="1800" dirty="0">
                <a:sym typeface="Huawei Sans" panose="020C0503030203020204" pitchFamily="34" charset="0"/>
              </a:rPr>
              <a:t>值。</a:t>
            </a:r>
            <a:endParaRPr lang="en-US" altLang="zh-CN" sz="1800" dirty="0">
              <a:sym typeface="Huawei Sans" panose="020C0503030203020204" pitchFamily="34" charset="0"/>
            </a:endParaRPr>
          </a:p>
          <a:p>
            <a:r>
              <a:rPr lang="zh-CN" altLang="en-US" sz="1800" dirty="0">
                <a:sym typeface="Huawei Sans" panose="020C0503030203020204" pitchFamily="34" charset="0"/>
              </a:rPr>
              <a:t>除了</a:t>
            </a:r>
            <a:r>
              <a:rPr lang="en-US" altLang="zh-CN" sz="1800" dirty="0">
                <a:sym typeface="Huawei Sans" panose="020C0503030203020204" pitchFamily="34" charset="0"/>
              </a:rPr>
              <a:t>RT</a:t>
            </a:r>
            <a:r>
              <a:rPr lang="zh-CN" altLang="en-US" sz="1800" dirty="0">
                <a:sym typeface="Huawei Sans" panose="020C0503030203020204" pitchFamily="34" charset="0"/>
              </a:rPr>
              <a:t>值之外，为了支持一些特性，</a:t>
            </a:r>
            <a:r>
              <a:rPr lang="en-US" altLang="zh-CN" sz="1800" dirty="0">
                <a:sym typeface="Huawei Sans" panose="020C0503030203020204" pitchFamily="34" charset="0"/>
              </a:rPr>
              <a:t>BGP EVPN</a:t>
            </a:r>
            <a:r>
              <a:rPr lang="zh-CN" altLang="en-US" sz="1800" dirty="0">
                <a:sym typeface="Huawei Sans" panose="020C0503030203020204" pitchFamily="34" charset="0"/>
              </a:rPr>
              <a:t>在扩展团体属性中增加了一些新子类型：</a:t>
            </a:r>
            <a:r>
              <a:rPr lang="en-US" altLang="zh-CN" sz="1800" dirty="0">
                <a:sym typeface="Huawei Sans" panose="020C0503030203020204" pitchFamily="34" charset="0"/>
              </a:rPr>
              <a:t>MAC Mobility</a:t>
            </a:r>
            <a:r>
              <a:rPr lang="zh-CN" altLang="en-US" sz="1800" dirty="0">
                <a:sym typeface="Huawei Sans" panose="020C0503030203020204" pitchFamily="34" charset="0"/>
              </a:rPr>
              <a:t>、</a:t>
            </a:r>
            <a:r>
              <a:rPr lang="en-US" altLang="zh-CN" sz="1800" dirty="0">
                <a:sym typeface="Huawei Sans" panose="020C0503030203020204" pitchFamily="34" charset="0"/>
              </a:rPr>
              <a:t>EVPN Router’s MAC Extended Community</a:t>
            </a:r>
            <a:r>
              <a:rPr lang="zh-CN" altLang="en-US" sz="1800" dirty="0">
                <a:sym typeface="Huawei Sans" panose="020C0503030203020204" pitchFamily="34" charset="0"/>
              </a:rPr>
              <a:t>，后续我们会进行详细介绍。</a:t>
            </a:r>
            <a:endParaRPr lang="en-US" altLang="zh-CN" sz="1800" dirty="0">
              <a:sym typeface="Huawei Sans" panose="020C0503030203020204" pitchFamily="34"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4152051612"/>
              </p:ext>
            </p:extLst>
          </p:nvPr>
        </p:nvGraphicFramePr>
        <p:xfrm>
          <a:off x="3161681" y="3204636"/>
          <a:ext cx="5685759" cy="2808000"/>
        </p:xfrm>
        <a:graphic>
          <a:graphicData uri="http://schemas.openxmlformats.org/drawingml/2006/table">
            <a:tbl>
              <a:tblPr firstRow="1" bandRow="1">
                <a:tableStyleId>{72833802-FEF1-4C79-8D5D-14CF1EAF98D9}</a:tableStyleId>
              </a:tblPr>
              <a:tblGrid>
                <a:gridCol w="5685759">
                  <a:extLst>
                    <a:ext uri="{9D8B030D-6E8A-4147-A177-3AD203B41FA5}">
                      <a16:colId xmlns:a16="http://schemas.microsoft.com/office/drawing/2014/main" val="20000"/>
                    </a:ext>
                  </a:extLst>
                </a:gridCol>
              </a:tblGrid>
              <a:tr h="432000">
                <a:tc>
                  <a:txBody>
                    <a:bodyPr/>
                    <a:lstStyle/>
                    <a:p>
                      <a:pPr algn="ctr"/>
                      <a:r>
                        <a:rPr lang="en-US" altLang="zh-CN" sz="18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Path Attribute - EXTENDED_COMMUNITIES</a:t>
                      </a: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rgbClr val="F2FBFC"/>
                    </a:solidFill>
                  </a:tcPr>
                </a:tc>
                <a:extLst>
                  <a:ext uri="{0D108BD9-81ED-4DB2-BD59-A6C34878D82A}">
                    <a16:rowId xmlns:a16="http://schemas.microsoft.com/office/drawing/2014/main" val="10000"/>
                  </a:ext>
                </a:extLst>
              </a:tr>
              <a:tr h="396000">
                <a:tc>
                  <a:txBody>
                    <a:bodyPr/>
                    <a:lstStyle/>
                    <a:p>
                      <a:pPr algn="ctr">
                        <a:lnSpc>
                          <a:spcPct val="1200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Flags</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Optional</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Transitive</a:t>
                      </a: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tcPr>
                </a:tc>
                <a:extLst>
                  <a:ext uri="{0D108BD9-81ED-4DB2-BD59-A6C34878D82A}">
                    <a16:rowId xmlns:a16="http://schemas.microsoft.com/office/drawing/2014/main" val="10001"/>
                  </a:ext>
                </a:extLst>
              </a:tr>
              <a:tr h="396000">
                <a:tc>
                  <a:txBody>
                    <a:bodyPr/>
                    <a:lstStyle/>
                    <a:p>
                      <a:pPr algn="ctr">
                        <a:lnSpc>
                          <a:spcPct val="1200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Type Code</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EXTENDED_COMMUNITIES</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16</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tcPr>
                </a:tc>
                <a:extLst>
                  <a:ext uri="{0D108BD9-81ED-4DB2-BD59-A6C34878D82A}">
                    <a16:rowId xmlns:a16="http://schemas.microsoft.com/office/drawing/2014/main" val="10002"/>
                  </a:ext>
                </a:extLst>
              </a:tr>
              <a:tr h="396000">
                <a:tc>
                  <a:txBody>
                    <a:bodyPr/>
                    <a:lstStyle/>
                    <a:p>
                      <a:pPr algn="ctr">
                        <a:lnSpc>
                          <a:spcPct val="1200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Length</a:t>
                      </a: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tcPr>
                </a:tc>
                <a:extLst>
                  <a:ext uri="{0D108BD9-81ED-4DB2-BD59-A6C34878D82A}">
                    <a16:rowId xmlns:a16="http://schemas.microsoft.com/office/drawing/2014/main" val="10003"/>
                  </a:ext>
                </a:extLst>
              </a:tr>
              <a:tr h="396000">
                <a:tc>
                  <a:txBody>
                    <a:bodyPr/>
                    <a:lstStyle/>
                    <a:p>
                      <a:pPr algn="ctr"/>
                      <a:r>
                        <a:rPr lang="en-US" altLang="zh-CN"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RT</a:t>
                      </a:r>
                      <a:r>
                        <a:rPr lang="zh-CN" altLang="en-US"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Route Target</a:t>
                      </a:r>
                      <a:r>
                        <a:rPr lang="zh-CN" altLang="en-US"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396000">
                <a:tc>
                  <a:txBody>
                    <a:bodyPr/>
                    <a:lstStyle/>
                    <a:p>
                      <a:pPr algn="ctr"/>
                      <a:r>
                        <a:rPr lang="en-US" altLang="zh-CN"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MAC Mobility</a:t>
                      </a:r>
                      <a:endParaRPr lang="en-US" altLang="zh-CN" sz="16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5"/>
                  </a:ext>
                </a:extLst>
              </a:tr>
              <a:tr h="396000">
                <a:tc>
                  <a:txBody>
                    <a:bodyPr/>
                    <a:lstStyle/>
                    <a:p>
                      <a:pPr algn="ctr"/>
                      <a:r>
                        <a:rPr lang="en-US" altLang="zh-CN"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EVPN Router’s MAC Extended Community</a:t>
                      </a:r>
                      <a:endParaRPr lang="en-US" altLang="zh-CN" sz="16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bl>
          </a:graphicData>
        </a:graphic>
      </p:graphicFrame>
      <p:sp>
        <p:nvSpPr>
          <p:cNvPr id="6" name="文本占位符 2"/>
          <p:cNvSpPr txBox="1">
            <a:spLocks/>
          </p:cNvSpPr>
          <p:nvPr/>
        </p:nvSpPr>
        <p:spPr bwMode="auto">
          <a:xfrm>
            <a:off x="8785527" y="5220959"/>
            <a:ext cx="1972960" cy="351448"/>
          </a:xfrm>
          <a:prstGeom prst="rect">
            <a:avLst/>
          </a:prstGeom>
          <a:noFill/>
          <a:ln w="9525">
            <a:noFill/>
            <a:miter lim="800000"/>
            <a:headEnd/>
            <a:tailEnd/>
          </a:ln>
        </p:spPr>
        <p:txBody>
          <a:bodyPr vert="horz" wrap="square" lIns="80141" tIns="40071" rIns="80141" bIns="40071" numCol="1" anchor="t" anchorCtr="0" compatLnSpc="1">
            <a:prstTxWarp prst="textNoShape">
              <a:avLst/>
            </a:prstTxWarp>
            <a:spAutoFit/>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lgn="l">
              <a:buNone/>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Extended Community</a:t>
            </a:r>
          </a:p>
        </p:txBody>
      </p:sp>
      <p:grpSp>
        <p:nvGrpSpPr>
          <p:cNvPr id="7" name="组合 6"/>
          <p:cNvGrpSpPr/>
          <p:nvPr/>
        </p:nvGrpSpPr>
        <p:grpSpPr>
          <a:xfrm rot="10800000">
            <a:off x="8941488" y="5735162"/>
            <a:ext cx="337662" cy="277474"/>
            <a:chOff x="1149331" y="3370821"/>
            <a:chExt cx="598189" cy="335743"/>
          </a:xfrm>
        </p:grpSpPr>
        <p:cxnSp>
          <p:nvCxnSpPr>
            <p:cNvPr id="8" name="直接连接符 7"/>
            <p:cNvCxnSpPr/>
            <p:nvPr/>
          </p:nvCxnSpPr>
          <p:spPr>
            <a:xfrm flipH="1">
              <a:off x="1149331" y="3370821"/>
              <a:ext cx="59818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1448425" y="3370821"/>
              <a:ext cx="0" cy="3357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a:xfrm>
            <a:off x="8941488" y="4843473"/>
            <a:ext cx="337662" cy="277474"/>
            <a:chOff x="7170494" y="3022832"/>
            <a:chExt cx="337662" cy="277474"/>
          </a:xfrm>
        </p:grpSpPr>
        <p:cxnSp>
          <p:nvCxnSpPr>
            <p:cNvPr id="11" name="直接连接符 10"/>
            <p:cNvCxnSpPr/>
            <p:nvPr/>
          </p:nvCxnSpPr>
          <p:spPr>
            <a:xfrm rot="10800000" flipH="1">
              <a:off x="7170494" y="3022832"/>
              <a:ext cx="33766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10800000" flipV="1">
              <a:off x="7339325" y="3022832"/>
              <a:ext cx="0" cy="2774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958974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5" name="直接连接符 44"/>
          <p:cNvCxnSpPr>
            <a:stCxn id="26" idx="3"/>
            <a:endCxn id="44" idx="1"/>
          </p:cNvCxnSpPr>
          <p:nvPr/>
        </p:nvCxnSpPr>
        <p:spPr bwMode="gray">
          <a:xfrm>
            <a:off x="7731919" y="4491713"/>
            <a:ext cx="173093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bwMode="gray"/>
        <p:txBody>
          <a:bodyPr/>
          <a:lstStyle/>
          <a:p>
            <a:r>
              <a:rPr lang="en-US" altLang="zh-CN">
                <a:sym typeface="Huawei Sans" panose="020C0503030203020204" pitchFamily="34" charset="0"/>
              </a:rPr>
              <a:t>EVPN</a:t>
            </a:r>
            <a:r>
              <a:rPr lang="zh-CN" altLang="en-US">
                <a:sym typeface="Huawei Sans" panose="020C0503030203020204" pitchFamily="34" charset="0"/>
              </a:rPr>
              <a:t> </a:t>
            </a:r>
            <a:r>
              <a:rPr lang="en-US" altLang="zh-CN">
                <a:sym typeface="Huawei Sans" panose="020C0503030203020204" pitchFamily="34" charset="0"/>
              </a:rPr>
              <a:t>VPN-Instance </a:t>
            </a:r>
            <a:endParaRPr lang="zh-CN" altLang="en-US" dirty="0">
              <a:sym typeface="Huawei Sans" panose="020C0503030203020204" pitchFamily="34" charset="0"/>
            </a:endParaRPr>
          </a:p>
        </p:txBody>
      </p:sp>
      <p:sp>
        <p:nvSpPr>
          <p:cNvPr id="55" name="文本占位符 2"/>
          <p:cNvSpPr>
            <a:spLocks noGrp="1"/>
          </p:cNvSpPr>
          <p:nvPr>
            <p:ph type="body" sz="quarter" idx="10"/>
          </p:nvPr>
        </p:nvSpPr>
        <p:spPr bwMode="gray">
          <a:xfrm>
            <a:off x="455613" y="1047751"/>
            <a:ext cx="11256962" cy="1180052"/>
          </a:xfrm>
        </p:spPr>
        <p:txBody>
          <a:bodyPr/>
          <a:lstStyle/>
          <a:p>
            <a:r>
              <a:rPr lang="en-US" altLang="zh-CN" sz="1800" dirty="0">
                <a:sym typeface="Huawei Sans" panose="020C0503030203020204" pitchFamily="34" charset="0"/>
              </a:rPr>
              <a:t>EVPN</a:t>
            </a:r>
            <a:r>
              <a:rPr lang="zh-CN" altLang="en-US" sz="1800" dirty="0">
                <a:sym typeface="Huawei Sans" panose="020C0503030203020204" pitchFamily="34" charset="0"/>
              </a:rPr>
              <a:t>实例与</a:t>
            </a:r>
            <a:r>
              <a:rPr lang="en-US" altLang="zh-CN" sz="1800" dirty="0">
                <a:sym typeface="Huawei Sans" panose="020C0503030203020204" pitchFamily="34" charset="0"/>
              </a:rPr>
              <a:t>BD</a:t>
            </a:r>
            <a:r>
              <a:rPr lang="zh-CN" altLang="en-US" sz="1800" dirty="0">
                <a:sym typeface="Huawei Sans" panose="020C0503030203020204" pitchFamily="34" charset="0"/>
              </a:rPr>
              <a:t>进行绑定，</a:t>
            </a:r>
            <a:r>
              <a:rPr lang="en-US" altLang="zh-CN" sz="1800" dirty="0">
                <a:sym typeface="Huawei Sans" panose="020C0503030203020204" pitchFamily="34" charset="0"/>
              </a:rPr>
              <a:t>BD</a:t>
            </a:r>
            <a:r>
              <a:rPr lang="zh-CN" altLang="en-US" sz="1800" dirty="0">
                <a:sym typeface="Huawei Sans" panose="020C0503030203020204" pitchFamily="34" charset="0"/>
              </a:rPr>
              <a:t>下的</a:t>
            </a:r>
            <a:r>
              <a:rPr lang="en-US" altLang="zh-CN" sz="1800" dirty="0">
                <a:sym typeface="Huawei Sans" panose="020C0503030203020204" pitchFamily="34" charset="0"/>
              </a:rPr>
              <a:t>MAC</a:t>
            </a:r>
            <a:r>
              <a:rPr lang="zh-CN" altLang="en-US" sz="1800" dirty="0">
                <a:sym typeface="Huawei Sans" panose="020C0503030203020204" pitchFamily="34" charset="0"/>
              </a:rPr>
              <a:t>地址表项会通过</a:t>
            </a:r>
            <a:r>
              <a:rPr lang="en-US" altLang="zh-CN" sz="1800" dirty="0">
                <a:sym typeface="Huawei Sans" panose="020C0503030203020204" pitchFamily="34" charset="0"/>
              </a:rPr>
              <a:t>BGP EVPN</a:t>
            </a:r>
            <a:r>
              <a:rPr lang="zh-CN" altLang="en-US" sz="1800" dirty="0">
                <a:sym typeface="Huawei Sans" panose="020C0503030203020204" pitchFamily="34" charset="0"/>
              </a:rPr>
              <a:t>路由进行传递，在传递时会携带</a:t>
            </a:r>
            <a:r>
              <a:rPr lang="en-US" altLang="zh-CN" sz="1800" dirty="0">
                <a:sym typeface="Huawei Sans" panose="020C0503030203020204" pitchFamily="34" charset="0"/>
              </a:rPr>
              <a:t>BD</a:t>
            </a:r>
            <a:r>
              <a:rPr lang="zh-CN" altLang="en-US" sz="1800" dirty="0">
                <a:sym typeface="Huawei Sans" panose="020C0503030203020204" pitchFamily="34" charset="0"/>
              </a:rPr>
              <a:t>绑定的</a:t>
            </a:r>
            <a:r>
              <a:rPr lang="en-US" altLang="zh-CN" sz="1800" dirty="0">
                <a:sym typeface="Huawei Sans" panose="020C0503030203020204" pitchFamily="34" charset="0"/>
              </a:rPr>
              <a:t>EVPN</a:t>
            </a:r>
            <a:r>
              <a:rPr lang="zh-CN" altLang="en-US" sz="1800" dirty="0">
                <a:sym typeface="Huawei Sans" panose="020C0503030203020204" pitchFamily="34" charset="0"/>
              </a:rPr>
              <a:t>实例</a:t>
            </a:r>
            <a:r>
              <a:rPr lang="en-US" altLang="zh-CN" sz="1800" dirty="0">
                <a:sym typeface="Huawei Sans" panose="020C0503030203020204" pitchFamily="34" charset="0"/>
              </a:rPr>
              <a:t>ERT</a:t>
            </a:r>
            <a:r>
              <a:rPr lang="zh-CN" altLang="en-US" sz="1800" dirty="0">
                <a:sym typeface="Huawei Sans" panose="020C0503030203020204" pitchFamily="34" charset="0"/>
              </a:rPr>
              <a:t>值，对端收到之后对比本地</a:t>
            </a:r>
            <a:r>
              <a:rPr lang="en-US" altLang="zh-CN" sz="1800" dirty="0">
                <a:sym typeface="Huawei Sans" panose="020C0503030203020204" pitchFamily="34" charset="0"/>
              </a:rPr>
              <a:t>EVPN</a:t>
            </a:r>
            <a:r>
              <a:rPr lang="zh-CN" altLang="en-US" sz="1800" dirty="0">
                <a:sym typeface="Huawei Sans" panose="020C0503030203020204" pitchFamily="34" charset="0"/>
              </a:rPr>
              <a:t>实例的</a:t>
            </a:r>
            <a:r>
              <a:rPr lang="en-US" altLang="zh-CN" sz="1800" dirty="0">
                <a:sym typeface="Huawei Sans" panose="020C0503030203020204" pitchFamily="34" charset="0"/>
              </a:rPr>
              <a:t>IRT</a:t>
            </a:r>
            <a:r>
              <a:rPr lang="zh-CN" altLang="en-US" sz="1800" dirty="0">
                <a:sym typeface="Huawei Sans" panose="020C0503030203020204" pitchFamily="34" charset="0"/>
              </a:rPr>
              <a:t>值，将</a:t>
            </a:r>
            <a:r>
              <a:rPr lang="en-US" altLang="zh-CN" sz="1800" dirty="0">
                <a:sym typeface="Huawei Sans" panose="020C0503030203020204" pitchFamily="34" charset="0"/>
              </a:rPr>
              <a:t>EVPN</a:t>
            </a:r>
            <a:r>
              <a:rPr lang="zh-CN" altLang="en-US" sz="1800" dirty="0">
                <a:sym typeface="Huawei Sans" panose="020C0503030203020204" pitchFamily="34" charset="0"/>
              </a:rPr>
              <a:t>路由放入对应的</a:t>
            </a:r>
            <a:r>
              <a:rPr lang="en-US" altLang="zh-CN" sz="1800" dirty="0">
                <a:sym typeface="Huawei Sans" panose="020C0503030203020204" pitchFamily="34" charset="0"/>
              </a:rPr>
              <a:t>EVPN</a:t>
            </a:r>
            <a:r>
              <a:rPr lang="zh-CN" altLang="en-US" sz="1800" dirty="0">
                <a:sym typeface="Huawei Sans" panose="020C0503030203020204" pitchFamily="34" charset="0"/>
              </a:rPr>
              <a:t>实例路由表，同时解析</a:t>
            </a:r>
            <a:r>
              <a:rPr lang="en-US" altLang="zh-CN" sz="1800" dirty="0">
                <a:sym typeface="Huawei Sans" panose="020C0503030203020204" pitchFamily="34" charset="0"/>
              </a:rPr>
              <a:t>EVPN</a:t>
            </a:r>
            <a:r>
              <a:rPr lang="zh-CN" altLang="en-US" sz="1800" dirty="0">
                <a:sym typeface="Huawei Sans" panose="020C0503030203020204" pitchFamily="34" charset="0"/>
              </a:rPr>
              <a:t>路由表获取</a:t>
            </a:r>
            <a:r>
              <a:rPr lang="en-US" altLang="zh-CN" sz="1800" dirty="0">
                <a:sym typeface="Huawei Sans" panose="020C0503030203020204" pitchFamily="34" charset="0"/>
              </a:rPr>
              <a:t>MAC</a:t>
            </a:r>
            <a:r>
              <a:rPr lang="zh-CN" altLang="en-US" sz="1800" dirty="0">
                <a:sym typeface="Huawei Sans" panose="020C0503030203020204" pitchFamily="34" charset="0"/>
              </a:rPr>
              <a:t>地址表项，放入本端与该</a:t>
            </a:r>
            <a:r>
              <a:rPr lang="en-US" altLang="zh-CN" sz="1800" dirty="0">
                <a:sym typeface="Huawei Sans" panose="020C0503030203020204" pitchFamily="34" charset="0"/>
              </a:rPr>
              <a:t>EVPN</a:t>
            </a:r>
            <a:r>
              <a:rPr lang="zh-CN" altLang="en-US" sz="1800" dirty="0">
                <a:sym typeface="Huawei Sans" panose="020C0503030203020204" pitchFamily="34" charset="0"/>
              </a:rPr>
              <a:t>实例绑定的</a:t>
            </a:r>
            <a:r>
              <a:rPr lang="en-US" altLang="zh-CN" sz="1800" dirty="0">
                <a:sym typeface="Huawei Sans" panose="020C0503030203020204" pitchFamily="34" charset="0"/>
              </a:rPr>
              <a:t>BD</a:t>
            </a:r>
            <a:r>
              <a:rPr lang="zh-CN" altLang="en-US" sz="1800" dirty="0">
                <a:sym typeface="Huawei Sans" panose="020C0503030203020204" pitchFamily="34" charset="0"/>
              </a:rPr>
              <a:t>的</a:t>
            </a:r>
            <a:r>
              <a:rPr lang="en-US" altLang="zh-CN" sz="1800" dirty="0">
                <a:sym typeface="Huawei Sans" panose="020C0503030203020204" pitchFamily="34" charset="0"/>
              </a:rPr>
              <a:t>MAC</a:t>
            </a:r>
            <a:r>
              <a:rPr lang="zh-CN" altLang="en-US" sz="1800" dirty="0">
                <a:sym typeface="Huawei Sans" panose="020C0503030203020204" pitchFamily="34" charset="0"/>
              </a:rPr>
              <a:t>地址表中。</a:t>
            </a:r>
            <a:endParaRPr lang="en-US" altLang="zh-CN" sz="1800" dirty="0">
              <a:sym typeface="Huawei Sans" panose="020C0503030203020204" pitchFamily="34" charset="0"/>
            </a:endParaRPr>
          </a:p>
        </p:txBody>
      </p:sp>
      <p:grpSp>
        <p:nvGrpSpPr>
          <p:cNvPr id="7" name="组合 6"/>
          <p:cNvGrpSpPr/>
          <p:nvPr/>
        </p:nvGrpSpPr>
        <p:grpSpPr bwMode="gray">
          <a:xfrm>
            <a:off x="4279168" y="4091168"/>
            <a:ext cx="442385" cy="432048"/>
            <a:chOff x="1194287" y="4005064"/>
            <a:chExt cx="442385" cy="432048"/>
          </a:xfrm>
        </p:grpSpPr>
        <p:cxnSp>
          <p:nvCxnSpPr>
            <p:cNvPr id="8" name="直接连接符 7"/>
            <p:cNvCxnSpPr/>
            <p:nvPr/>
          </p:nvCxnSpPr>
          <p:spPr bwMode="gray">
            <a:xfrm flipV="1">
              <a:off x="1415479" y="400506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bwMode="gray">
            <a:xfrm>
              <a:off x="1194287" y="400506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bwMode="gray">
          <a:xfrm>
            <a:off x="4212461" y="4693656"/>
            <a:ext cx="575799"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SW1</a:t>
            </a:r>
          </a:p>
        </p:txBody>
      </p:sp>
      <p:sp>
        <p:nvSpPr>
          <p:cNvPr id="11" name="矩形 10"/>
          <p:cNvSpPr/>
          <p:nvPr/>
        </p:nvSpPr>
        <p:spPr bwMode="gray">
          <a:xfrm>
            <a:off x="3761215" y="3764591"/>
            <a:ext cx="1478290"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VTEP</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 1.1.1.1/32</a:t>
            </a:r>
          </a:p>
        </p:txBody>
      </p:sp>
      <p:grpSp>
        <p:nvGrpSpPr>
          <p:cNvPr id="12" name="组合 11"/>
          <p:cNvGrpSpPr/>
          <p:nvPr/>
        </p:nvGrpSpPr>
        <p:grpSpPr bwMode="gray">
          <a:xfrm>
            <a:off x="7241473" y="4091168"/>
            <a:ext cx="442385" cy="432048"/>
            <a:chOff x="1194287" y="4005064"/>
            <a:chExt cx="442385" cy="432048"/>
          </a:xfrm>
        </p:grpSpPr>
        <p:cxnSp>
          <p:nvCxnSpPr>
            <p:cNvPr id="13" name="直接连接符 12"/>
            <p:cNvCxnSpPr/>
            <p:nvPr/>
          </p:nvCxnSpPr>
          <p:spPr bwMode="gray">
            <a:xfrm flipV="1">
              <a:off x="1415479" y="400506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gray">
            <a:xfrm>
              <a:off x="1194287" y="400506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矩形 14"/>
          <p:cNvSpPr/>
          <p:nvPr/>
        </p:nvSpPr>
        <p:spPr bwMode="gray">
          <a:xfrm>
            <a:off x="7174766" y="4693656"/>
            <a:ext cx="575799"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SW2</a:t>
            </a:r>
          </a:p>
        </p:txBody>
      </p:sp>
      <p:sp>
        <p:nvSpPr>
          <p:cNvPr id="16" name="矩形 15"/>
          <p:cNvSpPr/>
          <p:nvPr/>
        </p:nvSpPr>
        <p:spPr bwMode="gray">
          <a:xfrm>
            <a:off x="6723524" y="3764591"/>
            <a:ext cx="1478290"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VTEP</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 2.2.2.2/32</a:t>
            </a:r>
          </a:p>
        </p:txBody>
      </p:sp>
      <p:grpSp>
        <p:nvGrpSpPr>
          <p:cNvPr id="40" name="组合 39"/>
          <p:cNvGrpSpPr/>
          <p:nvPr/>
        </p:nvGrpSpPr>
        <p:grpSpPr bwMode="gray">
          <a:xfrm>
            <a:off x="4640985" y="4375638"/>
            <a:ext cx="2691181" cy="307777"/>
            <a:chOff x="4374940" y="2613397"/>
            <a:chExt cx="2691181" cy="307777"/>
          </a:xfrm>
        </p:grpSpPr>
        <p:sp>
          <p:nvSpPr>
            <p:cNvPr id="17" name="圆柱形 16"/>
            <p:cNvSpPr/>
            <p:nvPr/>
          </p:nvSpPr>
          <p:spPr bwMode="gray">
            <a:xfrm rot="16200000">
              <a:off x="5599511" y="1410697"/>
              <a:ext cx="242039" cy="2691181"/>
            </a:xfrm>
            <a:prstGeom prst="can">
              <a:avLst>
                <a:gd name="adj" fmla="val 72803"/>
              </a:avLst>
            </a:prstGeom>
            <a:solidFill>
              <a:srgbClr val="EC7061"/>
            </a:solidFill>
            <a:ln w="12700" cap="flat" cmpd="sng" algn="ctr">
              <a:solidFill>
                <a:sysClr val="window" lastClr="FFFFF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999">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矩形 17"/>
            <p:cNvSpPr/>
            <p:nvPr/>
          </p:nvSpPr>
          <p:spPr bwMode="gray">
            <a:xfrm>
              <a:off x="5149701" y="2613397"/>
              <a:ext cx="1141659" cy="307777"/>
            </a:xfrm>
            <a:prstGeom prst="rect">
              <a:avLst/>
            </a:prstGeom>
          </p:spPr>
          <p:txBody>
            <a:bodyPr wrap="none">
              <a:spAutoFit/>
            </a:bodyPr>
            <a:lstStyle/>
            <a:p>
              <a:pPr algn="just"/>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a:t>
              </a:r>
            </a:p>
          </p:txBody>
        </p:sp>
      </p:grpSp>
      <p:sp>
        <p:nvSpPr>
          <p:cNvPr id="19" name="矩形 18"/>
          <p:cNvSpPr/>
          <p:nvPr/>
        </p:nvSpPr>
        <p:spPr bwMode="gray">
          <a:xfrm>
            <a:off x="1803039" y="4687596"/>
            <a:ext cx="508473"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0" name="直接连接符 19"/>
          <p:cNvCxnSpPr>
            <a:stCxn id="27" idx="3"/>
            <a:endCxn id="25" idx="1"/>
          </p:cNvCxnSpPr>
          <p:nvPr/>
        </p:nvCxnSpPr>
        <p:spPr bwMode="gray">
          <a:xfrm>
            <a:off x="2280253" y="4491713"/>
            <a:ext cx="19686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5" name="图片 87" descr="汇聚交换机.png"/>
          <p:cNvPicPr>
            <a:picLocks noChangeAspect="1"/>
          </p:cNvPicPr>
          <p:nvPr/>
        </p:nvPicPr>
        <p:blipFill>
          <a:blip r:embed="rId3"/>
          <a:stretch>
            <a:fillRect/>
          </a:stretch>
        </p:blipFill>
        <p:spPr bwMode="gray">
          <a:xfrm>
            <a:off x="4248951" y="4286013"/>
            <a:ext cx="502820" cy="411400"/>
          </a:xfrm>
          <a:prstGeom prst="rect">
            <a:avLst/>
          </a:prstGeom>
        </p:spPr>
      </p:pic>
      <p:pic>
        <p:nvPicPr>
          <p:cNvPr id="26" name="图片 87" descr="汇聚交换机.png"/>
          <p:cNvPicPr>
            <a:picLocks noChangeAspect="1"/>
          </p:cNvPicPr>
          <p:nvPr/>
        </p:nvPicPr>
        <p:blipFill>
          <a:blip r:embed="rId3"/>
          <a:stretch>
            <a:fillRect/>
          </a:stretch>
        </p:blipFill>
        <p:spPr bwMode="gray">
          <a:xfrm>
            <a:off x="7229099" y="4286013"/>
            <a:ext cx="502820" cy="411400"/>
          </a:xfrm>
          <a:prstGeom prst="rect">
            <a:avLst/>
          </a:prstGeom>
        </p:spPr>
      </p:pic>
      <p:pic>
        <p:nvPicPr>
          <p:cNvPr id="27" name="图片 11" descr="开放网络-蓝.png"/>
          <p:cNvPicPr>
            <a:picLocks noChangeAspect="1"/>
          </p:cNvPicPr>
          <p:nvPr/>
        </p:nvPicPr>
        <p:blipFill>
          <a:blip r:embed="rId4" cstate="print"/>
          <a:stretch>
            <a:fillRect/>
          </a:stretch>
        </p:blipFill>
        <p:spPr bwMode="gray">
          <a:xfrm>
            <a:off x="1834297" y="4320068"/>
            <a:ext cx="445956" cy="343290"/>
          </a:xfrm>
          <a:prstGeom prst="rect">
            <a:avLst/>
          </a:prstGeom>
        </p:spPr>
      </p:pic>
      <p:sp>
        <p:nvSpPr>
          <p:cNvPr id="33" name="文本框 32">
            <a:extLst>
              <a:ext uri="{FF2B5EF4-FFF2-40B4-BE49-F238E27FC236}">
                <a16:creationId xmlns:a16="http://schemas.microsoft.com/office/drawing/2014/main" id="{06B15736-FC8B-4050-A2F5-AB6BD864A78D}"/>
              </a:ext>
            </a:extLst>
          </p:cNvPr>
          <p:cNvSpPr txBox="1"/>
          <p:nvPr/>
        </p:nvSpPr>
        <p:spPr bwMode="gray">
          <a:xfrm>
            <a:off x="2311512" y="5383329"/>
            <a:ext cx="1860908" cy="748741"/>
          </a:xfrm>
          <a:prstGeom prst="rect">
            <a:avLst/>
          </a:prstGeom>
          <a:solidFill>
            <a:schemeClr val="bg1"/>
          </a:solidFill>
          <a:ln w="12700">
            <a:solidFill>
              <a:schemeClr val="tx1"/>
            </a:solidFill>
          </a:ln>
        </p:spPr>
        <p:txBody>
          <a:bodyPr wrap="none" lIns="72000" tIns="72000" rIns="72000" bIns="72000" rtlCol="0" anchor="ctr" anchorCtr="0">
            <a:no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EVPN RD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20:1</a:t>
            </a: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EVPN ERT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202:1</a:t>
            </a: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EVPN IRT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200:1</a:t>
            </a:r>
          </a:p>
        </p:txBody>
      </p:sp>
      <p:sp>
        <p:nvSpPr>
          <p:cNvPr id="37" name="矩形 36"/>
          <p:cNvSpPr/>
          <p:nvPr/>
        </p:nvSpPr>
        <p:spPr bwMode="gray">
          <a:xfrm rot="15603">
            <a:off x="2911245" y="4601978"/>
            <a:ext cx="1247457" cy="738664"/>
          </a:xfrm>
          <a:prstGeom prst="rect">
            <a:avLst/>
          </a:prstGeom>
        </p:spPr>
        <p:txBody>
          <a:bodyPr wrap="none">
            <a:spAutoFit/>
          </a:bodyPr>
          <a:lstStyle/>
          <a:p>
            <a:pPr algn="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BD 20</a:t>
            </a:r>
          </a:p>
          <a:p>
            <a:pPr algn="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VNI 200</a:t>
            </a:r>
          </a:p>
          <a:p>
            <a:pPr algn="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EVPN</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实例 </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e1</a:t>
            </a:r>
          </a:p>
        </p:txBody>
      </p:sp>
      <p:sp>
        <p:nvSpPr>
          <p:cNvPr id="38" name="矩形 37"/>
          <p:cNvSpPr/>
          <p:nvPr/>
        </p:nvSpPr>
        <p:spPr bwMode="gray">
          <a:xfrm rot="15603">
            <a:off x="7804267" y="4601976"/>
            <a:ext cx="1247457" cy="738664"/>
          </a:xfrm>
          <a:prstGeom prst="rect">
            <a:avLst/>
          </a:prstGeom>
        </p:spPr>
        <p:txBody>
          <a:bodyPr wrap="none">
            <a:spAutoFit/>
          </a:bodyPr>
          <a:lstStyle/>
          <a:p>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BD 20</a:t>
            </a:r>
          </a:p>
          <a:p>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VNI 200</a:t>
            </a:r>
          </a:p>
          <a:p>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EVPN</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实例 </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e1</a:t>
            </a:r>
          </a:p>
        </p:txBody>
      </p:sp>
      <p:sp>
        <p:nvSpPr>
          <p:cNvPr id="41" name="文本框 40">
            <a:extLst>
              <a:ext uri="{FF2B5EF4-FFF2-40B4-BE49-F238E27FC236}">
                <a16:creationId xmlns:a16="http://schemas.microsoft.com/office/drawing/2014/main" id="{06B15736-FC8B-4050-A2F5-AB6BD864A78D}"/>
              </a:ext>
            </a:extLst>
          </p:cNvPr>
          <p:cNvSpPr txBox="1"/>
          <p:nvPr/>
        </p:nvSpPr>
        <p:spPr bwMode="gray">
          <a:xfrm>
            <a:off x="7802598" y="5391988"/>
            <a:ext cx="1860908" cy="748741"/>
          </a:xfrm>
          <a:prstGeom prst="rect">
            <a:avLst/>
          </a:prstGeom>
          <a:solidFill>
            <a:schemeClr val="bg1"/>
          </a:solidFill>
          <a:ln w="12700">
            <a:solidFill>
              <a:schemeClr val="tx1"/>
            </a:solidFill>
          </a:ln>
        </p:spPr>
        <p:txBody>
          <a:bodyPr wrap="none" lIns="72000" tIns="72000" rIns="72000" bIns="72000" rtlCol="0" anchor="ctr" anchorCtr="0">
            <a:noAutofit/>
          </a:bodyPr>
          <a:lstStyle>
            <a:defPPr>
              <a:defRPr lang="en-US"/>
            </a:defPPr>
            <a:lvl1pPr>
              <a:defRPr sz="1400">
                <a:latin typeface="Huawei Sans" panose="020C0503030203020204" pitchFamily="34" charset="0"/>
                <a:ea typeface="方正兰亭黑简体" panose="02000000000000000000" pitchFamily="2" charset="-122"/>
              </a:defRPr>
            </a:lvl1pPr>
          </a:lstStyle>
          <a:p>
            <a:r>
              <a:rPr lang="en-US" altLang="zh-CN" dirty="0">
                <a:sym typeface="Huawei Sans" panose="020C0503030203020204" pitchFamily="34" charset="0"/>
              </a:rPr>
              <a:t>EVPN RD</a:t>
            </a:r>
            <a:r>
              <a:rPr lang="zh-CN" altLang="en-US" dirty="0">
                <a:sym typeface="Huawei Sans" panose="020C0503030203020204" pitchFamily="34" charset="0"/>
              </a:rPr>
              <a:t>：</a:t>
            </a:r>
            <a:r>
              <a:rPr lang="en-US" altLang="zh-CN" dirty="0">
                <a:sym typeface="Huawei Sans" panose="020C0503030203020204" pitchFamily="34" charset="0"/>
              </a:rPr>
              <a:t>20:1</a:t>
            </a:r>
          </a:p>
          <a:p>
            <a:r>
              <a:rPr lang="en-US" altLang="zh-CN" dirty="0">
                <a:sym typeface="Huawei Sans" panose="020C0503030203020204" pitchFamily="34" charset="0"/>
              </a:rPr>
              <a:t>EVPN ERT</a:t>
            </a:r>
            <a:r>
              <a:rPr lang="zh-CN" altLang="en-US" dirty="0">
                <a:sym typeface="Huawei Sans" panose="020C0503030203020204" pitchFamily="34" charset="0"/>
              </a:rPr>
              <a:t>：</a:t>
            </a:r>
            <a:r>
              <a:rPr lang="en-US" altLang="zh-CN" dirty="0">
                <a:sym typeface="Huawei Sans" panose="020C0503030203020204" pitchFamily="34" charset="0"/>
              </a:rPr>
              <a:t>200:1</a:t>
            </a:r>
          </a:p>
          <a:p>
            <a:r>
              <a:rPr lang="en-US" altLang="zh-CN" dirty="0">
                <a:sym typeface="Huawei Sans" panose="020C0503030203020204" pitchFamily="34" charset="0"/>
              </a:rPr>
              <a:t>EVPN IRT</a:t>
            </a:r>
            <a:r>
              <a:rPr lang="zh-CN" altLang="en-US" dirty="0">
                <a:sym typeface="Huawei Sans" panose="020C0503030203020204" pitchFamily="34" charset="0"/>
              </a:rPr>
              <a:t>：</a:t>
            </a:r>
            <a:r>
              <a:rPr lang="en-US" altLang="zh-CN" dirty="0">
                <a:solidFill>
                  <a:srgbClr val="C7000B"/>
                </a:solidFill>
                <a:sym typeface="Huawei Sans" panose="020C0503030203020204" pitchFamily="34" charset="0"/>
              </a:rPr>
              <a:t>202:1</a:t>
            </a:r>
          </a:p>
        </p:txBody>
      </p:sp>
      <p:sp>
        <p:nvSpPr>
          <p:cNvPr id="43" name="矩形 42"/>
          <p:cNvSpPr/>
          <p:nvPr/>
        </p:nvSpPr>
        <p:spPr bwMode="gray">
          <a:xfrm>
            <a:off x="9431600" y="4687596"/>
            <a:ext cx="508473"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4" name="图片 11" descr="开放网络-蓝.png"/>
          <p:cNvPicPr>
            <a:picLocks noChangeAspect="1"/>
          </p:cNvPicPr>
          <p:nvPr/>
        </p:nvPicPr>
        <p:blipFill>
          <a:blip r:embed="rId4" cstate="print"/>
          <a:stretch>
            <a:fillRect/>
          </a:stretch>
        </p:blipFill>
        <p:spPr bwMode="gray">
          <a:xfrm>
            <a:off x="9462858" y="4320068"/>
            <a:ext cx="445956" cy="343290"/>
          </a:xfrm>
          <a:prstGeom prst="rect">
            <a:avLst/>
          </a:prstGeom>
        </p:spPr>
      </p:pic>
      <p:sp>
        <p:nvSpPr>
          <p:cNvPr id="52" name="任意多边形 51"/>
          <p:cNvSpPr/>
          <p:nvPr/>
        </p:nvSpPr>
        <p:spPr bwMode="gray">
          <a:xfrm>
            <a:off x="4826055" y="3467099"/>
            <a:ext cx="2527977" cy="246901"/>
          </a:xfrm>
          <a:custGeom>
            <a:avLst/>
            <a:gdLst>
              <a:gd name="connsiteX0" fmla="*/ 0 w 1170432"/>
              <a:gd name="connsiteY0" fmla="*/ 9144 h 9144"/>
              <a:gd name="connsiteX1" fmla="*/ 1170432 w 1170432"/>
              <a:gd name="connsiteY1" fmla="*/ 0 h 9144"/>
              <a:gd name="connsiteX0" fmla="*/ 0 w 8584"/>
              <a:gd name="connsiteY0" fmla="*/ 76667 h 76667"/>
              <a:gd name="connsiteX1" fmla="*/ 8584 w 8584"/>
              <a:gd name="connsiteY1" fmla="*/ 0 h 76667"/>
              <a:gd name="connsiteX0" fmla="*/ 0 w 9109"/>
              <a:gd name="connsiteY0" fmla="*/ 1033 h 1033"/>
              <a:gd name="connsiteX1" fmla="*/ 9109 w 9109"/>
              <a:gd name="connsiteY1" fmla="*/ 0 h 1033"/>
              <a:gd name="connsiteX0" fmla="*/ 0 w 10000"/>
              <a:gd name="connsiteY0" fmla="*/ 118933 h 118933"/>
              <a:gd name="connsiteX1" fmla="*/ 10000 w 10000"/>
              <a:gd name="connsiteY1" fmla="*/ 108933 h 118933"/>
              <a:gd name="connsiteX0" fmla="*/ 0 w 10083"/>
              <a:gd name="connsiteY0" fmla="*/ 126881 h 126881"/>
              <a:gd name="connsiteX1" fmla="*/ 10083 w 10083"/>
              <a:gd name="connsiteY1" fmla="*/ 106359 h 126881"/>
              <a:gd name="connsiteX0" fmla="*/ 0 w 10083"/>
              <a:gd name="connsiteY0" fmla="*/ 247191 h 247191"/>
              <a:gd name="connsiteX1" fmla="*/ 10083 w 10083"/>
              <a:gd name="connsiteY1" fmla="*/ 226669 h 247191"/>
              <a:gd name="connsiteX0" fmla="*/ 0 w 10083"/>
              <a:gd name="connsiteY0" fmla="*/ 275627 h 275627"/>
              <a:gd name="connsiteX1" fmla="*/ 10083 w 10083"/>
              <a:gd name="connsiteY1" fmla="*/ 255105 h 275627"/>
              <a:gd name="connsiteX0" fmla="*/ 0 w 10305"/>
              <a:gd name="connsiteY0" fmla="*/ 277340 h 277340"/>
              <a:gd name="connsiteX1" fmla="*/ 10305 w 10305"/>
              <a:gd name="connsiteY1" fmla="*/ 253368 h 277340"/>
            </a:gdLst>
            <a:ahLst/>
            <a:cxnLst>
              <a:cxn ang="0">
                <a:pos x="connsiteX0" y="connsiteY0"/>
              </a:cxn>
              <a:cxn ang="0">
                <a:pos x="connsiteX1" y="connsiteY1"/>
              </a:cxn>
            </a:cxnLst>
            <a:rect l="l" t="t" r="r" b="b"/>
            <a:pathLst>
              <a:path w="10305" h="277340">
                <a:moveTo>
                  <a:pt x="0" y="277340"/>
                </a:moveTo>
                <a:cubicBezTo>
                  <a:pt x="2438" y="-102154"/>
                  <a:pt x="7492" y="-74742"/>
                  <a:pt x="10305" y="253368"/>
                </a:cubicBezTo>
              </a:path>
            </a:pathLst>
          </a:custGeom>
          <a:ln w="19050">
            <a:solidFill>
              <a:srgbClr val="30B5C5"/>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bwMode="gray">
          <a:xfrm>
            <a:off x="4500360" y="5414213"/>
            <a:ext cx="3011053" cy="656590"/>
          </a:xfrm>
          <a:prstGeom prst="rect">
            <a:avLst/>
          </a:prstGeom>
          <a:solidFill>
            <a:srgbClr val="FFF7E1"/>
          </a:solidFill>
          <a:ln w="12700" cap="flat" cmpd="sng" algn="ctr">
            <a:solidFill>
              <a:srgbClr val="FCC800"/>
            </a:solidFill>
            <a:prstDash val="solid"/>
            <a:miter lim="800000"/>
          </a:ln>
          <a:effectLst/>
        </p:spPr>
        <p:txBody>
          <a:bodyPr rtlCol="0" anchor="ctr"/>
          <a:lstStyle/>
          <a:p>
            <a:pPr defTabSz="914400">
              <a:lnSpc>
                <a:spcPts val="2200"/>
              </a:lnSpc>
            </a:pPr>
            <a:r>
              <a:rPr lang="zh-CN" altLang="en-US"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后续如果没有标明</a:t>
            </a:r>
            <a:r>
              <a:rPr lang="en-US" altLang="zh-CN"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ERT</a:t>
            </a:r>
            <a:r>
              <a:rPr lang="zh-CN" altLang="en-US"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IRT</a:t>
            </a:r>
            <a:r>
              <a:rPr lang="zh-CN" altLang="en-US"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，只有</a:t>
            </a:r>
            <a:r>
              <a:rPr lang="en-US" altLang="zh-CN"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RT</a:t>
            </a:r>
            <a:r>
              <a:rPr lang="zh-CN" altLang="en-US"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值，代表</a:t>
            </a:r>
            <a:r>
              <a:rPr lang="en-US" altLang="zh-CN"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ERT</a:t>
            </a:r>
            <a:r>
              <a:rPr lang="zh-CN" altLang="en-US"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IRT</a:t>
            </a:r>
            <a:r>
              <a:rPr lang="zh-CN" altLang="en-US" sz="1400" kern="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值保持一致。</a:t>
            </a:r>
          </a:p>
        </p:txBody>
      </p:sp>
      <p:grpSp>
        <p:nvGrpSpPr>
          <p:cNvPr id="51" name="组合 50"/>
          <p:cNvGrpSpPr/>
          <p:nvPr/>
        </p:nvGrpSpPr>
        <p:grpSpPr bwMode="gray">
          <a:xfrm>
            <a:off x="4730111" y="2335238"/>
            <a:ext cx="2643988" cy="1076635"/>
            <a:chOff x="4818678" y="2133290"/>
            <a:chExt cx="2643988" cy="1076635"/>
          </a:xfrm>
        </p:grpSpPr>
        <p:sp>
          <p:nvSpPr>
            <p:cNvPr id="53" name="文本框 52"/>
            <p:cNvSpPr txBox="1"/>
            <p:nvPr/>
          </p:nvSpPr>
          <p:spPr bwMode="gray">
            <a:xfrm>
              <a:off x="4818678" y="2133290"/>
              <a:ext cx="2643988" cy="318401"/>
            </a:xfrm>
            <a:prstGeom prst="round2SameRect">
              <a:avLst>
                <a:gd name="adj1" fmla="val 20890"/>
                <a:gd name="adj2" fmla="val 0"/>
              </a:avLst>
            </a:prstGeom>
            <a:solidFill>
              <a:srgbClr val="EC7061"/>
            </a:solidFill>
            <a:ln w="19050">
              <a:solidFill>
                <a:sysClr val="window" lastClr="FFFFFF"/>
              </a:solidFill>
            </a:ln>
          </p:spPr>
          <p:txBody>
            <a:bodyPr wrap="none" lIns="0" tIns="0" rIns="0" bIns="0" rtlCol="0" anchor="ctr" anchorCtr="0">
              <a:noAutofit/>
            </a:bodyPr>
            <a:lstStyle>
              <a:defPPr>
                <a:defRPr lang="en-US"/>
              </a:defPPr>
              <a:lvl1pPr algn="ctr">
                <a:defRPr sz="1200" b="1">
                  <a:solidFill>
                    <a:schemeClr val="bg1"/>
                  </a:solidFill>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BGP Update</a:t>
              </a:r>
              <a:r>
                <a:rPr kumimoji="0" lang="zh-CN" altLang="en-US"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报文</a:t>
              </a:r>
              <a:endPar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文本框 56"/>
            <p:cNvSpPr txBox="1"/>
            <p:nvPr/>
          </p:nvSpPr>
          <p:spPr bwMode="gray">
            <a:xfrm>
              <a:off x="4818678" y="2458042"/>
              <a:ext cx="2643988" cy="751883"/>
            </a:xfrm>
            <a:prstGeom prst="rect">
              <a:avLst/>
            </a:prstGeom>
            <a:solidFill>
              <a:srgbClr val="EC7061">
                <a:lumMod val="20000"/>
                <a:lumOff val="80000"/>
              </a:srgbClr>
            </a:solidFill>
            <a:ln w="19050">
              <a:solidFill>
                <a:sysClr val="window" lastClr="FFFFFF"/>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文本框 57"/>
            <p:cNvSpPr txBox="1"/>
            <p:nvPr/>
          </p:nvSpPr>
          <p:spPr bwMode="gray">
            <a:xfrm>
              <a:off x="4924212" y="2801610"/>
              <a:ext cx="2432922" cy="270377"/>
            </a:xfrm>
            <a:prstGeom prst="rect">
              <a:avLst/>
            </a:prstGeom>
            <a:solidFill>
              <a:srgbClr val="EC7061">
                <a:lumMod val="40000"/>
                <a:lumOff val="60000"/>
              </a:srgbClr>
            </a:solidFill>
            <a:ln w="19050">
              <a:solidFill>
                <a:srgbClr val="EC7061">
                  <a:lumMod val="60000"/>
                  <a:lumOff val="40000"/>
                </a:srgbClr>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EVPN </a:t>
              </a: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路由</a:t>
              </a:r>
            </a:p>
          </p:txBody>
        </p:sp>
        <p:sp>
          <p:nvSpPr>
            <p:cNvPr id="59" name="矩形 58"/>
            <p:cNvSpPr/>
            <p:nvPr/>
          </p:nvSpPr>
          <p:spPr bwMode="gray">
            <a:xfrm>
              <a:off x="5358247" y="2506441"/>
              <a:ext cx="1564852" cy="307777"/>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EVPN RT</a:t>
              </a: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 </a:t>
              </a: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 </a:t>
              </a:r>
              <a:r>
                <a:rPr kumimoji="0" lang="en-US" altLang="zh-CN" sz="1400" b="0" i="0" u="none" strike="noStrike" kern="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202:1</a:t>
              </a:r>
            </a:p>
          </p:txBody>
        </p:sp>
      </p:grpSp>
      <p:sp>
        <p:nvSpPr>
          <p:cNvPr id="39" name="椭圆 38"/>
          <p:cNvSpPr/>
          <p:nvPr/>
        </p:nvSpPr>
        <p:spPr bwMode="gray">
          <a:xfrm>
            <a:off x="4172622" y="4425950"/>
            <a:ext cx="131526" cy="131526"/>
          </a:xfrm>
          <a:prstGeom prst="ellipse">
            <a:avLst/>
          </a:prstGeom>
          <a:solidFill>
            <a:srgbClr val="EC706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椭圆 45"/>
          <p:cNvSpPr/>
          <p:nvPr/>
        </p:nvSpPr>
        <p:spPr bwMode="gray">
          <a:xfrm>
            <a:off x="7671071" y="4425950"/>
            <a:ext cx="131526" cy="131526"/>
          </a:xfrm>
          <a:prstGeom prst="ellipse">
            <a:avLst/>
          </a:prstGeom>
          <a:solidFill>
            <a:srgbClr val="EC706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6704863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a:solidFill>
                  <a:schemeClr val="bg1">
                    <a:lumMod val="50000"/>
                  </a:schemeClr>
                </a:solidFill>
                <a:sym typeface="Huawei Sans" panose="020C0503030203020204" pitchFamily="34" charset="0"/>
              </a:rPr>
              <a:t>VXLAN</a:t>
            </a:r>
            <a:r>
              <a:rPr lang="zh-CN" altLang="en-US" dirty="0">
                <a:solidFill>
                  <a:schemeClr val="bg1">
                    <a:lumMod val="50000"/>
                  </a:schemeClr>
                </a:solidFill>
                <a:sym typeface="Huawei Sans" panose="020C0503030203020204" pitchFamily="34" charset="0"/>
              </a:rPr>
              <a:t>及园区网络虚拟化技术背景</a:t>
            </a:r>
            <a:endParaRPr lang="en-US" altLang="zh-CN" dirty="0">
              <a:solidFill>
                <a:schemeClr val="bg1">
                  <a:lumMod val="50000"/>
                </a:schemeClr>
              </a:solidFill>
              <a:sym typeface="Huawei Sans" panose="020C0503030203020204" pitchFamily="34" charset="0"/>
            </a:endParaRPr>
          </a:p>
          <a:p>
            <a:r>
              <a:rPr lang="en-US" altLang="zh-CN" dirty="0">
                <a:solidFill>
                  <a:schemeClr val="bg1">
                    <a:lumMod val="50000"/>
                  </a:schemeClr>
                </a:solidFill>
                <a:sym typeface="Huawei Sans" panose="020C0503030203020204" pitchFamily="34" charset="0"/>
              </a:rPr>
              <a:t>VXLAN</a:t>
            </a:r>
            <a:r>
              <a:rPr lang="zh-CN" altLang="en-US" dirty="0">
                <a:solidFill>
                  <a:schemeClr val="bg1">
                    <a:lumMod val="50000"/>
                  </a:schemeClr>
                </a:solidFill>
                <a:sym typeface="Huawei Sans" panose="020C0503030203020204" pitchFamily="34" charset="0"/>
              </a:rPr>
              <a:t>的基本概念及工作原理</a:t>
            </a:r>
            <a:endParaRPr lang="en-US" altLang="zh-CN" dirty="0">
              <a:solidFill>
                <a:schemeClr val="bg1">
                  <a:lumMod val="50000"/>
                </a:schemeClr>
              </a:solidFill>
              <a:sym typeface="Huawei Sans" panose="020C0503030203020204" pitchFamily="34" charset="0"/>
            </a:endParaRPr>
          </a:p>
          <a:p>
            <a:r>
              <a:rPr lang="en-US" altLang="zh-CN" b="1" dirty="0">
                <a:sym typeface="Huawei Sans" panose="020C0503030203020204" pitchFamily="34" charset="0"/>
              </a:rPr>
              <a:t>BGP EVPN</a:t>
            </a:r>
          </a:p>
          <a:p>
            <a:pPr lvl="1"/>
            <a:r>
              <a:rPr lang="zh-CN" altLang="en-US" dirty="0">
                <a:solidFill>
                  <a:schemeClr val="bg1">
                    <a:lumMod val="50000"/>
                  </a:schemeClr>
                </a:solidFill>
                <a:sym typeface="Huawei Sans" panose="020C0503030203020204" pitchFamily="34" charset="0"/>
              </a:rPr>
              <a:t>基本概念</a:t>
            </a:r>
            <a:endParaRPr lang="en-US" altLang="zh-CN" dirty="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en-US" altLang="zh-CN" dirty="0">
                <a:sym typeface="Huawei Sans" panose="020C0503030203020204" pitchFamily="34" charset="0"/>
              </a:rPr>
              <a:t>BGP EVPN</a:t>
            </a:r>
            <a:r>
              <a:rPr lang="zh-CN" altLang="en-US" dirty="0">
                <a:sym typeface="Huawei Sans" panose="020C0503030203020204" pitchFamily="34" charset="0"/>
              </a:rPr>
              <a:t>路由</a:t>
            </a:r>
            <a:endParaRPr lang="en-US" altLang="zh-CN" dirty="0">
              <a:sym typeface="Huawei Sans" panose="020C0503030203020204" pitchFamily="34" charset="0"/>
            </a:endParaRPr>
          </a:p>
          <a:p>
            <a:pPr lvl="1"/>
            <a:r>
              <a:rPr lang="en-US" altLang="zh-CN" dirty="0">
                <a:solidFill>
                  <a:schemeClr val="bg1">
                    <a:lumMod val="50000"/>
                  </a:schemeClr>
                </a:solidFill>
                <a:sym typeface="Huawei Sans" panose="020C0503030203020204" pitchFamily="34" charset="0"/>
              </a:rPr>
              <a:t>BGP EVPN</a:t>
            </a:r>
            <a:r>
              <a:rPr lang="zh-CN" altLang="en-US" dirty="0">
                <a:solidFill>
                  <a:schemeClr val="bg1">
                    <a:lumMod val="50000"/>
                  </a:schemeClr>
                </a:solidFill>
                <a:sym typeface="Huawei Sans" panose="020C0503030203020204" pitchFamily="34" charset="0"/>
              </a:rPr>
              <a:t>特性</a:t>
            </a:r>
            <a:endParaRPr lang="en-US" altLang="zh-CN" dirty="0">
              <a:solidFill>
                <a:schemeClr val="bg1">
                  <a:lumMod val="50000"/>
                </a:schemeClr>
              </a:solidFill>
              <a:sym typeface="Huawei Sans" panose="020C0503030203020204" pitchFamily="34" charset="0"/>
            </a:endParaRPr>
          </a:p>
          <a:p>
            <a:r>
              <a:rPr lang="zh-CN" altLang="en-US" dirty="0">
                <a:solidFill>
                  <a:schemeClr val="bg1">
                    <a:lumMod val="50000"/>
                  </a:schemeClr>
                </a:solidFill>
                <a:sym typeface="Huawei Sans" panose="020C0503030203020204" pitchFamily="34" charset="0"/>
              </a:rPr>
              <a:t>园区网络虚拟化</a:t>
            </a:r>
          </a:p>
        </p:txBody>
      </p:sp>
    </p:spTree>
    <p:extLst>
      <p:ext uri="{BB962C8B-B14F-4D97-AF65-F5344CB8AC3E}">
        <p14:creationId xmlns:p14="http://schemas.microsoft.com/office/powerpoint/2010/main" val="25578002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sym typeface="Huawei Sans" panose="020C0503030203020204" pitchFamily="34" charset="0"/>
              </a:rPr>
              <a:t>Type 2</a:t>
            </a:r>
            <a:r>
              <a:rPr lang="zh-CN" altLang="en-US" dirty="0">
                <a:sym typeface="Huawei Sans" panose="020C0503030203020204" pitchFamily="34" charset="0"/>
              </a:rPr>
              <a:t>类路由描述 </a:t>
            </a:r>
            <a:r>
              <a:rPr lang="en-US" altLang="zh-CN" dirty="0">
                <a:sym typeface="Huawei Sans" panose="020C0503030203020204" pitchFamily="34" charset="0"/>
              </a:rPr>
              <a:t>(1)</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a:xfrm>
            <a:off x="455613" y="1047750"/>
            <a:ext cx="11256962" cy="467541"/>
          </a:xfrm>
        </p:spPr>
        <p:txBody>
          <a:bodyPr/>
          <a:lstStyle/>
          <a:p>
            <a:r>
              <a:rPr lang="en-US" altLang="zh-CN" sz="1800" dirty="0">
                <a:sym typeface="Huawei Sans" panose="020C0503030203020204" pitchFamily="34" charset="0"/>
              </a:rPr>
              <a:t>Type 2</a:t>
            </a:r>
            <a:r>
              <a:rPr lang="zh-CN" altLang="en-US" sz="1800" dirty="0">
                <a:sym typeface="Huawei Sans" panose="020C0503030203020204" pitchFamily="34" charset="0"/>
              </a:rPr>
              <a:t>路由（</a:t>
            </a:r>
            <a:r>
              <a:rPr lang="en-US" altLang="zh-CN" sz="1800" dirty="0">
                <a:sym typeface="Huawei Sans" panose="020C0503030203020204" pitchFamily="34" charset="0"/>
              </a:rPr>
              <a:t>MAC/IP</a:t>
            </a:r>
            <a:r>
              <a:rPr lang="zh-CN" altLang="en-US" sz="1800" dirty="0">
                <a:sym typeface="Huawei Sans" panose="020C0503030203020204" pitchFamily="34" charset="0"/>
              </a:rPr>
              <a:t>路由）：主要用于</a:t>
            </a:r>
            <a:r>
              <a:rPr lang="en-US" altLang="zh-CN" sz="1800" dirty="0">
                <a:sym typeface="Huawei Sans" panose="020C0503030203020204" pitchFamily="34" charset="0"/>
              </a:rPr>
              <a:t>MAC</a:t>
            </a:r>
            <a:r>
              <a:rPr lang="zh-CN" altLang="en-US" sz="1800" dirty="0">
                <a:sym typeface="Huawei Sans" panose="020C0503030203020204" pitchFamily="34" charset="0"/>
              </a:rPr>
              <a:t>地址通告、</a:t>
            </a:r>
            <a:r>
              <a:rPr lang="en-US" altLang="zh-CN" sz="1800" dirty="0">
                <a:sym typeface="Huawei Sans" panose="020C0503030203020204" pitchFamily="34" charset="0"/>
              </a:rPr>
              <a:t>ARP</a:t>
            </a:r>
            <a:r>
              <a:rPr lang="zh-CN" altLang="en-US" sz="1800" dirty="0">
                <a:sym typeface="Huawei Sans" panose="020C0503030203020204" pitchFamily="34" charset="0"/>
              </a:rPr>
              <a:t>信息通告以及主机</a:t>
            </a:r>
            <a:r>
              <a:rPr lang="en-US" altLang="zh-CN" sz="1800" dirty="0">
                <a:sym typeface="Huawei Sans" panose="020C0503030203020204" pitchFamily="34" charset="0"/>
              </a:rPr>
              <a:t>IP</a:t>
            </a:r>
            <a:r>
              <a:rPr lang="zh-CN" altLang="en-US" sz="1800" dirty="0">
                <a:sym typeface="Huawei Sans" panose="020C0503030203020204" pitchFamily="34" charset="0"/>
              </a:rPr>
              <a:t>路由通告。</a:t>
            </a:r>
          </a:p>
        </p:txBody>
      </p:sp>
      <p:graphicFrame>
        <p:nvGraphicFramePr>
          <p:cNvPr id="4" name="表格 3"/>
          <p:cNvGraphicFramePr>
            <a:graphicFrameLocks noGrp="1"/>
          </p:cNvGraphicFramePr>
          <p:nvPr>
            <p:extLst>
              <p:ext uri="{D42A27DB-BD31-4B8C-83A1-F6EECF244321}">
                <p14:modId xmlns:p14="http://schemas.microsoft.com/office/powerpoint/2010/main" val="615522798"/>
              </p:ext>
            </p:extLst>
          </p:nvPr>
        </p:nvGraphicFramePr>
        <p:xfrm>
          <a:off x="1847528" y="2379256"/>
          <a:ext cx="3491768" cy="2880324"/>
        </p:xfrm>
        <a:graphic>
          <a:graphicData uri="http://schemas.openxmlformats.org/drawingml/2006/table">
            <a:tbl>
              <a:tblPr firstRow="1" bandRow="1">
                <a:tableStyleId>{5940675A-B579-460E-94D1-54222C63F5DA}</a:tableStyleId>
              </a:tblPr>
              <a:tblGrid>
                <a:gridCol w="3491768">
                  <a:extLst>
                    <a:ext uri="{9D8B030D-6E8A-4147-A177-3AD203B41FA5}">
                      <a16:colId xmlns:a16="http://schemas.microsoft.com/office/drawing/2014/main" val="20000"/>
                    </a:ext>
                  </a:extLst>
                </a:gridCol>
              </a:tblGrid>
              <a:tr h="320036">
                <a:tc>
                  <a:txBody>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Route Distinguisher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8 Byte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p>
                  </a:txBody>
                  <a:tcPr>
                    <a:solidFill>
                      <a:srgbClr val="FFF7E1"/>
                    </a:solidFill>
                  </a:tcPr>
                </a:tc>
                <a:extLst>
                  <a:ext uri="{0D108BD9-81ED-4DB2-BD59-A6C34878D82A}">
                    <a16:rowId xmlns:a16="http://schemas.microsoft.com/office/drawing/2014/main" val="10000"/>
                  </a:ext>
                </a:extLst>
              </a:tr>
              <a:tr h="320036">
                <a:tc>
                  <a:txBody>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Ethernet Segment Identifier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 Byte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p>
                  </a:txBody>
                  <a:tcPr>
                    <a:solidFill>
                      <a:srgbClr val="FFF7E1"/>
                    </a:solidFill>
                  </a:tcPr>
                </a:tc>
                <a:extLst>
                  <a:ext uri="{0D108BD9-81ED-4DB2-BD59-A6C34878D82A}">
                    <a16:rowId xmlns:a16="http://schemas.microsoft.com/office/drawing/2014/main" val="10001"/>
                  </a:ext>
                </a:extLst>
              </a:tr>
              <a:tr h="320036">
                <a:tc>
                  <a:txBody>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Ethernet Tag ID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4 Byte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p>
                  </a:txBody>
                  <a:tcPr>
                    <a:solidFill>
                      <a:srgbClr val="FFF7E1"/>
                    </a:solidFill>
                  </a:tcPr>
                </a:tc>
                <a:extLst>
                  <a:ext uri="{0D108BD9-81ED-4DB2-BD59-A6C34878D82A}">
                    <a16:rowId xmlns:a16="http://schemas.microsoft.com/office/drawing/2014/main" val="10002"/>
                  </a:ext>
                </a:extLst>
              </a:tr>
              <a:tr h="320036">
                <a:tc>
                  <a:txBody>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en-US" altLang="zh-CN" sz="1400" baseline="0" dirty="0">
                          <a:latin typeface="Huawei Sans" panose="020C0503030203020204" pitchFamily="34" charset="0"/>
                          <a:ea typeface="方正兰亭黑简体" panose="02000000000000000000" pitchFamily="2" charset="-122"/>
                          <a:sym typeface="Huawei Sans" panose="020C0503030203020204" pitchFamily="34" charset="0"/>
                        </a:rPr>
                        <a:t> Address Length</a:t>
                      </a:r>
                      <a:r>
                        <a:rPr lang="zh-CN" altLang="en-US" sz="1400" baseline="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aseline="0" dirty="0">
                          <a:latin typeface="Huawei Sans" panose="020C0503030203020204" pitchFamily="34" charset="0"/>
                          <a:ea typeface="方正兰亭黑简体" panose="02000000000000000000" pitchFamily="2" charset="-122"/>
                          <a:sym typeface="Huawei Sans" panose="020C0503030203020204" pitchFamily="34" charset="0"/>
                        </a:rPr>
                        <a:t>1 Byte</a:t>
                      </a:r>
                      <a:r>
                        <a:rPr lang="zh-CN" altLang="en-US" sz="1400" baseline="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solidFill>
                      <a:srgbClr val="FFF7E1"/>
                    </a:solidFill>
                  </a:tcPr>
                </a:tc>
                <a:extLst>
                  <a:ext uri="{0D108BD9-81ED-4DB2-BD59-A6C34878D82A}">
                    <a16:rowId xmlns:a16="http://schemas.microsoft.com/office/drawing/2014/main" val="10003"/>
                  </a:ext>
                </a:extLst>
              </a:tr>
              <a:tr h="320036">
                <a:tc>
                  <a:txBody>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Address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6 Byte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p>
                  </a:txBody>
                  <a:tcPr>
                    <a:solidFill>
                      <a:srgbClr val="FFF7E1"/>
                    </a:solidFill>
                  </a:tcPr>
                </a:tc>
                <a:extLst>
                  <a:ext uri="{0D108BD9-81ED-4DB2-BD59-A6C34878D82A}">
                    <a16:rowId xmlns:a16="http://schemas.microsoft.com/office/drawing/2014/main" val="10004"/>
                  </a:ext>
                </a:extLst>
              </a:tr>
              <a:tr h="320036">
                <a:tc>
                  <a:txBody>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 Address Length</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 Byte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p>
                  </a:txBody>
                  <a:tcPr>
                    <a:solidFill>
                      <a:srgbClr val="FFF7E1"/>
                    </a:solidFill>
                  </a:tcPr>
                </a:tc>
                <a:extLst>
                  <a:ext uri="{0D108BD9-81ED-4DB2-BD59-A6C34878D82A}">
                    <a16:rowId xmlns:a16="http://schemas.microsoft.com/office/drawing/2014/main" val="10005"/>
                  </a:ext>
                </a:extLst>
              </a:tr>
              <a:tr h="320036">
                <a:tc>
                  <a:txBody>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 Address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或</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或</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16 Byte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p>
                  </a:txBody>
                  <a:tcPr>
                    <a:solidFill>
                      <a:srgbClr val="FFF7E1"/>
                    </a:solidFill>
                  </a:tcPr>
                </a:tc>
                <a:extLst>
                  <a:ext uri="{0D108BD9-81ED-4DB2-BD59-A6C34878D82A}">
                    <a16:rowId xmlns:a16="http://schemas.microsoft.com/office/drawing/2014/main" val="10006"/>
                  </a:ext>
                </a:extLst>
              </a:tr>
              <a:tr h="320036">
                <a:tc>
                  <a:txBody>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MPLS Label1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3 Byte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p>
                  </a:txBody>
                  <a:tcPr>
                    <a:solidFill>
                      <a:srgbClr val="FFF7E1"/>
                    </a:solidFill>
                  </a:tcPr>
                </a:tc>
                <a:extLst>
                  <a:ext uri="{0D108BD9-81ED-4DB2-BD59-A6C34878D82A}">
                    <a16:rowId xmlns:a16="http://schemas.microsoft.com/office/drawing/2014/main" val="10007"/>
                  </a:ext>
                </a:extLst>
              </a:tr>
              <a:tr h="320036">
                <a:tc>
                  <a:txBody>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MPLS Label2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或</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3 Byte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p>
                  </a:txBody>
                  <a:tcPr>
                    <a:solidFill>
                      <a:srgbClr val="FFF7E1"/>
                    </a:solidFill>
                  </a:tcPr>
                </a:tc>
                <a:extLst>
                  <a:ext uri="{0D108BD9-81ED-4DB2-BD59-A6C34878D82A}">
                    <a16:rowId xmlns:a16="http://schemas.microsoft.com/office/drawing/2014/main" val="10008"/>
                  </a:ext>
                </a:extLst>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1369148103"/>
              </p:ext>
            </p:extLst>
          </p:nvPr>
        </p:nvGraphicFramePr>
        <p:xfrm>
          <a:off x="5699336" y="2379256"/>
          <a:ext cx="4872128" cy="2883600"/>
        </p:xfrm>
        <a:graphic>
          <a:graphicData uri="http://schemas.openxmlformats.org/drawingml/2006/table">
            <a:tbl>
              <a:tblPr>
                <a:tableStyleId>{5940675A-B579-460E-94D1-54222C63F5DA}</a:tableStyleId>
              </a:tblPr>
              <a:tblGrid>
                <a:gridCol w="4872128">
                  <a:extLst>
                    <a:ext uri="{9D8B030D-6E8A-4147-A177-3AD203B41FA5}">
                      <a16:colId xmlns:a16="http://schemas.microsoft.com/office/drawing/2014/main" val="20000"/>
                    </a:ext>
                  </a:extLst>
                </a:gridCol>
              </a:tblGrid>
              <a:tr h="320400">
                <a:tc>
                  <a:txBody>
                    <a:bodyPr/>
                    <a:lstStyle/>
                    <a:p>
                      <a:r>
                        <a:rPr lang="zh-CN" altLang="en-US" sz="1400" dirty="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该字段为</a:t>
                      </a:r>
                      <a:r>
                        <a:rPr lang="en-US" sz="1400" dirty="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EVPN</a:t>
                      </a:r>
                      <a:r>
                        <a:rPr lang="zh-CN" altLang="en-US" sz="1400" dirty="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实例下设置的</a:t>
                      </a:r>
                      <a:r>
                        <a:rPr lang="en-US" sz="1400" dirty="0" err="1">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RD（Route</a:t>
                      </a:r>
                      <a:r>
                        <a:rPr lang="en-US" sz="1400" dirty="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 Distinguisher）</a:t>
                      </a:r>
                      <a:r>
                        <a:rPr lang="zh-CN" altLang="en-US" sz="1400" dirty="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值。</a:t>
                      </a:r>
                    </a:p>
                  </a:txBody>
                  <a:tcPr marL="23295" marR="23295" marT="23295" marB="23295"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0"/>
                  </a:ext>
                </a:extLst>
              </a:tr>
              <a:tr h="320400">
                <a:tc>
                  <a:txBody>
                    <a:bodyPr/>
                    <a:lstStyle/>
                    <a:p>
                      <a:r>
                        <a:rPr lang="zh-CN" altLang="en-US" sz="140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该字段为当前设备与对端连接定义的唯一标识。</a:t>
                      </a:r>
                    </a:p>
                  </a:txBody>
                  <a:tcPr marL="23295" marR="23295" marT="23295" marB="23295"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20400">
                <a:tc>
                  <a:txBody>
                    <a:bodyPr/>
                    <a:lstStyle/>
                    <a:p>
                      <a:r>
                        <a:rPr lang="zh-CN" altLang="en-US" sz="140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该字段为当前设备上实际配置的</a:t>
                      </a:r>
                      <a:r>
                        <a:rPr lang="en-US" altLang="zh-CN" sz="140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VLAN ID</a:t>
                      </a:r>
                      <a:r>
                        <a:rPr lang="zh-CN" altLang="en-US" sz="140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p>
                  </a:txBody>
                  <a:tcPr marL="23295" marR="23295" marT="23295" marB="23295"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2"/>
                  </a:ext>
                </a:extLst>
              </a:tr>
              <a:tr h="320400">
                <a:tc>
                  <a:txBody>
                    <a:bodyPr/>
                    <a:lstStyle/>
                    <a:p>
                      <a:r>
                        <a:rPr lang="zh-CN" altLang="en-US" sz="140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该字段为此路由携带的主机</a:t>
                      </a:r>
                      <a:r>
                        <a:rPr lang="en-US" altLang="zh-CN" sz="140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地址的长度。</a:t>
                      </a:r>
                    </a:p>
                  </a:txBody>
                  <a:tcPr marL="23295" marR="23295" marT="23295" marB="23295"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3"/>
                  </a:ext>
                </a:extLst>
              </a:tr>
              <a:tr h="320400">
                <a:tc>
                  <a:txBody>
                    <a:bodyPr/>
                    <a:lstStyle/>
                    <a:p>
                      <a:r>
                        <a:rPr lang="zh-CN" altLang="en-US" sz="140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该字段为此路由携带的主机</a:t>
                      </a:r>
                      <a:r>
                        <a:rPr lang="en-US" altLang="zh-CN" sz="140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a:t>
                      </a:r>
                    </a:p>
                  </a:txBody>
                  <a:tcPr marL="23295" marR="23295" marT="23295" marB="23295"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4"/>
                  </a:ext>
                </a:extLst>
              </a:tr>
              <a:tr h="320400">
                <a:tc>
                  <a:txBody>
                    <a:bodyPr/>
                    <a:lstStyle/>
                    <a:p>
                      <a:r>
                        <a:rPr lang="zh-CN" altLang="en-US" sz="140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该字段为此路由携带的主机</a:t>
                      </a:r>
                      <a:r>
                        <a:rPr lang="en-US" altLang="zh-CN" sz="140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地址的掩码长度。</a:t>
                      </a:r>
                    </a:p>
                  </a:txBody>
                  <a:tcPr marL="23295" marR="23295" marT="23295" marB="23295"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5"/>
                  </a:ext>
                </a:extLst>
              </a:tr>
              <a:tr h="320400">
                <a:tc>
                  <a:txBody>
                    <a:bodyPr/>
                    <a:lstStyle/>
                    <a:p>
                      <a:r>
                        <a:rPr lang="zh-CN" altLang="en-US" sz="140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该字段为此路由携带的主机</a:t>
                      </a:r>
                      <a:r>
                        <a:rPr lang="en-US" altLang="zh-CN" sz="140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地址。</a:t>
                      </a:r>
                    </a:p>
                  </a:txBody>
                  <a:tcPr marL="23295" marR="23295" marT="23295" marB="23295"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6"/>
                  </a:ext>
                </a:extLst>
              </a:tr>
              <a:tr h="320400">
                <a:tc>
                  <a:txBody>
                    <a:bodyPr/>
                    <a:lstStyle/>
                    <a:p>
                      <a:r>
                        <a:rPr lang="zh-CN" altLang="en-US" sz="140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该字段为此路由携带的二层</a:t>
                      </a:r>
                      <a:r>
                        <a:rPr lang="en-US" altLang="zh-CN" sz="140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VNI</a:t>
                      </a:r>
                      <a:r>
                        <a:rPr lang="zh-CN" altLang="en-US" sz="140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p>
                  </a:txBody>
                  <a:tcPr marL="23295" marR="23295" marT="23295" marB="23295"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7"/>
                  </a:ext>
                </a:extLst>
              </a:tr>
              <a:tr h="320400">
                <a:tc>
                  <a:txBody>
                    <a:bodyPr/>
                    <a:lstStyle/>
                    <a:p>
                      <a:r>
                        <a:rPr lang="zh-CN" altLang="en-US" sz="1400" dirty="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该字段为此路由携带的三层</a:t>
                      </a:r>
                      <a:r>
                        <a:rPr lang="en-US" altLang="zh-CN" sz="1400" dirty="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VNI</a:t>
                      </a:r>
                      <a:r>
                        <a:rPr lang="zh-CN" altLang="en-US" sz="1400" dirty="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p>
                  </a:txBody>
                  <a:tcPr marL="23295" marR="23295" marT="23295" marB="23295"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
        <p:nvSpPr>
          <p:cNvPr id="6" name="矩形 5"/>
          <p:cNvSpPr/>
          <p:nvPr/>
        </p:nvSpPr>
        <p:spPr bwMode="gray">
          <a:xfrm>
            <a:off x="3117160" y="1988840"/>
            <a:ext cx="952504" cy="307777"/>
          </a:xfrm>
          <a:prstGeom prst="rect">
            <a:avLst/>
          </a:prstGeom>
        </p:spPr>
        <p:txBody>
          <a:bodyPr wrap="none">
            <a:spAutoFit/>
          </a:bodyPr>
          <a:lstStyle/>
          <a:p>
            <a:pPr algn="ct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报文格式 </a:t>
            </a:r>
          </a:p>
        </p:txBody>
      </p:sp>
      <p:sp>
        <p:nvSpPr>
          <p:cNvPr id="7" name="矩形 6"/>
          <p:cNvSpPr/>
          <p:nvPr/>
        </p:nvSpPr>
        <p:spPr bwMode="gray">
          <a:xfrm>
            <a:off x="7683995" y="1988840"/>
            <a:ext cx="902811" cy="307777"/>
          </a:xfrm>
          <a:prstGeom prst="rect">
            <a:avLst/>
          </a:prstGeom>
        </p:spPr>
        <p:txBody>
          <a:bodyPr wrap="none">
            <a:spAutoFit/>
          </a:bodyPr>
          <a:lstStyle/>
          <a:p>
            <a:pPr algn="ct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字段说明</a:t>
            </a:r>
          </a:p>
        </p:txBody>
      </p:sp>
      <p:sp>
        <p:nvSpPr>
          <p:cNvPr id="8" name="五边形 24">
            <a:extLst>
              <a:ext uri="{FF2B5EF4-FFF2-40B4-BE49-F238E27FC236}">
                <a16:creationId xmlns:a16="http://schemas.microsoft.com/office/drawing/2014/main" id="{66BA07AD-FEEF-4CB3-8D55-B5A235B0FBAC}"/>
              </a:ext>
            </a:extLst>
          </p:cNvPr>
          <p:cNvSpPr/>
          <p:nvPr/>
        </p:nvSpPr>
        <p:spPr bwMode="gray">
          <a:xfrm>
            <a:off x="8632177" y="124239"/>
            <a:ext cx="108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Type 2</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燕尾形 26">
            <a:extLst>
              <a:ext uri="{FF2B5EF4-FFF2-40B4-BE49-F238E27FC236}">
                <a16:creationId xmlns:a16="http://schemas.microsoft.com/office/drawing/2014/main" id="{0C19331F-8FCC-488E-9C32-A3F774208D1E}"/>
              </a:ext>
            </a:extLst>
          </p:cNvPr>
          <p:cNvSpPr/>
          <p:nvPr/>
        </p:nvSpPr>
        <p:spPr bwMode="gray">
          <a:xfrm>
            <a:off x="10629665"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5</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p>
        </p:txBody>
      </p:sp>
      <p:sp>
        <p:nvSpPr>
          <p:cNvPr id="10" name="燕尾形 26">
            <a:extLst>
              <a:ext uri="{FF2B5EF4-FFF2-40B4-BE49-F238E27FC236}">
                <a16:creationId xmlns:a16="http://schemas.microsoft.com/office/drawing/2014/main" id="{5C797163-D6D3-4ACC-996D-421D87F18D19}"/>
              </a:ext>
            </a:extLst>
          </p:cNvPr>
          <p:cNvSpPr/>
          <p:nvPr/>
        </p:nvSpPr>
        <p:spPr bwMode="gray">
          <a:xfrm>
            <a:off x="9630921"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3</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7208527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sym typeface="Huawei Sans" panose="020C0503030203020204" pitchFamily="34" charset="0"/>
              </a:rPr>
              <a:t>Type 2</a:t>
            </a:r>
            <a:r>
              <a:rPr lang="zh-CN" altLang="en-US" dirty="0">
                <a:sym typeface="Huawei Sans" panose="020C0503030203020204" pitchFamily="34" charset="0"/>
              </a:rPr>
              <a:t>类路由描述 </a:t>
            </a:r>
            <a:r>
              <a:rPr lang="en-US" altLang="zh-CN" dirty="0">
                <a:sym typeface="Huawei Sans" panose="020C0503030203020204" pitchFamily="34" charset="0"/>
              </a:rPr>
              <a:t>(2)</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a:xfrm>
            <a:off x="455613" y="1047751"/>
            <a:ext cx="11256962" cy="476250"/>
          </a:xfrm>
        </p:spPr>
        <p:txBody>
          <a:bodyPr/>
          <a:lstStyle/>
          <a:p>
            <a:r>
              <a:rPr lang="zh-CN" altLang="en-US" sz="1800" dirty="0">
                <a:sym typeface="Huawei Sans" panose="020C0503030203020204" pitchFamily="34" charset="0"/>
              </a:rPr>
              <a:t>在不同场景下，</a:t>
            </a:r>
            <a:r>
              <a:rPr lang="en-US" altLang="zh-CN" sz="1800" dirty="0">
                <a:sym typeface="Huawei Sans" panose="020C0503030203020204" pitchFamily="34" charset="0"/>
              </a:rPr>
              <a:t>BGP EVPN</a:t>
            </a:r>
            <a:r>
              <a:rPr lang="zh-CN" altLang="en-US" sz="1800" dirty="0">
                <a:sym typeface="Huawei Sans" panose="020C0503030203020204" pitchFamily="34" charset="0"/>
              </a:rPr>
              <a:t>的</a:t>
            </a:r>
            <a:r>
              <a:rPr lang="en-US" altLang="zh-CN" sz="1800" dirty="0">
                <a:sym typeface="Huawei Sans" panose="020C0503030203020204" pitchFamily="34" charset="0"/>
              </a:rPr>
              <a:t>Type 2</a:t>
            </a:r>
            <a:r>
              <a:rPr lang="zh-CN" altLang="en-US" sz="1800" dirty="0">
                <a:sym typeface="Huawei Sans" panose="020C0503030203020204" pitchFamily="34" charset="0"/>
              </a:rPr>
              <a:t>路由携带的内容并不一致。</a:t>
            </a:r>
          </a:p>
        </p:txBody>
      </p:sp>
      <p:sp>
        <p:nvSpPr>
          <p:cNvPr id="14" name="圆角矩形 13">
            <a:extLst>
              <a:ext uri="{FF2B5EF4-FFF2-40B4-BE49-F238E27FC236}">
                <a16:creationId xmlns:a16="http://schemas.microsoft.com/office/drawing/2014/main" id="{A5974428-814C-4128-864B-82FEA3DDA9C8}"/>
              </a:ext>
            </a:extLst>
          </p:cNvPr>
          <p:cNvSpPr/>
          <p:nvPr/>
        </p:nvSpPr>
        <p:spPr bwMode="gray">
          <a:xfrm>
            <a:off x="743268" y="1731072"/>
            <a:ext cx="3420000" cy="364249"/>
          </a:xfrm>
          <a:prstGeom prst="round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地址通告</a:t>
            </a:r>
          </a:p>
        </p:txBody>
      </p:sp>
      <p:sp>
        <p:nvSpPr>
          <p:cNvPr id="15" name="圆角矩形 14">
            <a:extLst>
              <a:ext uri="{FF2B5EF4-FFF2-40B4-BE49-F238E27FC236}">
                <a16:creationId xmlns:a16="http://schemas.microsoft.com/office/drawing/2014/main" id="{C522E92A-1854-4B5A-83BE-AC1E87B6177E}"/>
              </a:ext>
            </a:extLst>
          </p:cNvPr>
          <p:cNvSpPr/>
          <p:nvPr/>
        </p:nvSpPr>
        <p:spPr bwMode="gray">
          <a:xfrm>
            <a:off x="4409284" y="1731072"/>
            <a:ext cx="3420001" cy="364249"/>
          </a:xfrm>
          <a:prstGeom prst="round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通告</a:t>
            </a:r>
          </a:p>
        </p:txBody>
      </p:sp>
      <p:sp>
        <p:nvSpPr>
          <p:cNvPr id="16" name="圆角矩形 15">
            <a:extLst>
              <a:ext uri="{FF2B5EF4-FFF2-40B4-BE49-F238E27FC236}">
                <a16:creationId xmlns:a16="http://schemas.microsoft.com/office/drawing/2014/main" id="{5959441C-9524-40DB-81DC-AF0E8F48F14C}"/>
              </a:ext>
            </a:extLst>
          </p:cNvPr>
          <p:cNvSpPr/>
          <p:nvPr/>
        </p:nvSpPr>
        <p:spPr bwMode="gray">
          <a:xfrm>
            <a:off x="8040164" y="1731072"/>
            <a:ext cx="3420000" cy="364249"/>
          </a:xfrm>
          <a:prstGeom prst="roundRect">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路由通告</a:t>
            </a:r>
          </a:p>
        </p:txBody>
      </p:sp>
      <p:graphicFrame>
        <p:nvGraphicFramePr>
          <p:cNvPr id="17" name="表格 16">
            <a:extLst>
              <a:ext uri="{FF2B5EF4-FFF2-40B4-BE49-F238E27FC236}">
                <a16:creationId xmlns:a16="http://schemas.microsoft.com/office/drawing/2014/main" id="{673AC608-D58A-4B2F-9BB0-312415456AA2}"/>
              </a:ext>
            </a:extLst>
          </p:cNvPr>
          <p:cNvGraphicFramePr>
            <a:graphicFrameLocks noGrp="1"/>
          </p:cNvGraphicFramePr>
          <p:nvPr>
            <p:extLst>
              <p:ext uri="{D42A27DB-BD31-4B8C-83A1-F6EECF244321}">
                <p14:modId xmlns:p14="http://schemas.microsoft.com/office/powerpoint/2010/main" val="3303852753"/>
              </p:ext>
            </p:extLst>
          </p:nvPr>
        </p:nvGraphicFramePr>
        <p:xfrm>
          <a:off x="743268" y="2192729"/>
          <a:ext cx="3420000" cy="2468880"/>
        </p:xfrm>
        <a:graphic>
          <a:graphicData uri="http://schemas.openxmlformats.org/drawingml/2006/table">
            <a:tbl>
              <a:tblPr firstRow="1" bandRow="1">
                <a:tableStyleId>{5940675A-B579-460E-94D1-54222C63F5DA}</a:tableStyleId>
              </a:tblPr>
              <a:tblGrid>
                <a:gridCol w="3420000">
                  <a:extLst>
                    <a:ext uri="{9D8B030D-6E8A-4147-A177-3AD203B41FA5}">
                      <a16:colId xmlns:a16="http://schemas.microsoft.com/office/drawing/2014/main" val="20000"/>
                    </a:ext>
                  </a:extLst>
                </a:gridCol>
              </a:tblGrid>
              <a:tr h="0">
                <a:tc>
                  <a:txBody>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Route Distinguisher</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solidFill>
                      <a:schemeClr val="bg1"/>
                    </a:solidFill>
                  </a:tcPr>
                </a:tc>
                <a:extLst>
                  <a:ext uri="{0D108BD9-81ED-4DB2-BD59-A6C34878D82A}">
                    <a16:rowId xmlns:a16="http://schemas.microsoft.com/office/drawing/2014/main" val="10000"/>
                  </a:ext>
                </a:extLst>
              </a:tr>
              <a:tr h="0">
                <a:tc>
                  <a:txBody>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Ethernet Segment Identifier</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solidFill>
                      <a:schemeClr val="bg1"/>
                    </a:solidFill>
                  </a:tcPr>
                </a:tc>
                <a:extLst>
                  <a:ext uri="{0D108BD9-81ED-4DB2-BD59-A6C34878D82A}">
                    <a16:rowId xmlns:a16="http://schemas.microsoft.com/office/drawing/2014/main" val="10001"/>
                  </a:ext>
                </a:extLst>
              </a:tr>
              <a:tr h="0">
                <a:tc>
                  <a:txBody>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Ethernet Tag ID</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solidFill>
                      <a:schemeClr val="bg1"/>
                    </a:solidFill>
                  </a:tcPr>
                </a:tc>
                <a:extLst>
                  <a:ext uri="{0D108BD9-81ED-4DB2-BD59-A6C34878D82A}">
                    <a16:rowId xmlns:a16="http://schemas.microsoft.com/office/drawing/2014/main" val="10002"/>
                  </a:ext>
                </a:extLst>
              </a:tr>
              <a:tr h="0">
                <a:tc>
                  <a:txBody>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MAC</a:t>
                      </a:r>
                      <a:r>
                        <a:rPr lang="en-US" altLang="zh-CN" sz="1200" baseline="0" dirty="0">
                          <a:latin typeface="Huawei Sans" panose="020C0503030203020204" pitchFamily="34" charset="0"/>
                          <a:ea typeface="方正兰亭黑简体" panose="02000000000000000000" pitchFamily="2" charset="-122"/>
                          <a:sym typeface="Huawei Sans" panose="020C0503030203020204" pitchFamily="34" charset="0"/>
                        </a:rPr>
                        <a:t> Address Length = MAC</a:t>
                      </a:r>
                      <a:r>
                        <a:rPr lang="zh-CN" altLang="en-US" sz="1200" baseline="0" dirty="0">
                          <a:latin typeface="Huawei Sans" panose="020C0503030203020204" pitchFamily="34" charset="0"/>
                          <a:ea typeface="方正兰亭黑简体" panose="02000000000000000000" pitchFamily="2" charset="-122"/>
                          <a:sym typeface="Huawei Sans" panose="020C0503030203020204" pitchFamily="34" charset="0"/>
                        </a:rPr>
                        <a:t>地址长度</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solidFill>
                      <a:srgbClr val="FFF7E1"/>
                    </a:solidFill>
                  </a:tcPr>
                </a:tc>
                <a:extLst>
                  <a:ext uri="{0D108BD9-81ED-4DB2-BD59-A6C34878D82A}">
                    <a16:rowId xmlns:a16="http://schemas.microsoft.com/office/drawing/2014/main" val="10003"/>
                  </a:ext>
                </a:extLst>
              </a:tr>
              <a:tr h="0">
                <a:tc>
                  <a:txBody>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MAC Address = MAC</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地址（源主机 </a:t>
                      </a: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solidFill>
                      <a:srgbClr val="FFF7E1"/>
                    </a:solidFill>
                  </a:tcPr>
                </a:tc>
                <a:extLst>
                  <a:ext uri="{0D108BD9-81ED-4DB2-BD59-A6C34878D82A}">
                    <a16:rowId xmlns:a16="http://schemas.microsoft.com/office/drawing/2014/main" val="10004"/>
                  </a:ext>
                </a:extLst>
              </a:tr>
              <a:tr h="0">
                <a:tc>
                  <a:txBody>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 Address Length</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solidFill>
                      <a:schemeClr val="bg1">
                        <a:lumMod val="95000"/>
                      </a:schemeClr>
                    </a:solidFill>
                  </a:tcPr>
                </a:tc>
                <a:extLst>
                  <a:ext uri="{0D108BD9-81ED-4DB2-BD59-A6C34878D82A}">
                    <a16:rowId xmlns:a16="http://schemas.microsoft.com/office/drawing/2014/main" val="10005"/>
                  </a:ext>
                </a:extLst>
              </a:tr>
              <a:tr h="0">
                <a:tc>
                  <a:txBody>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 Address</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solidFill>
                      <a:schemeClr val="bg1">
                        <a:lumMod val="95000"/>
                      </a:schemeClr>
                    </a:solidFill>
                  </a:tcPr>
                </a:tc>
                <a:extLst>
                  <a:ext uri="{0D108BD9-81ED-4DB2-BD59-A6C34878D82A}">
                    <a16:rowId xmlns:a16="http://schemas.microsoft.com/office/drawing/2014/main" val="10006"/>
                  </a:ext>
                </a:extLst>
              </a:tr>
              <a:tr h="0">
                <a:tc>
                  <a:txBody>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MPLS Label1 = VNI</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（二层）</a:t>
                      </a:r>
                    </a:p>
                  </a:txBody>
                  <a:tcPr>
                    <a:solidFill>
                      <a:srgbClr val="FFF7E1"/>
                    </a:solidFill>
                  </a:tcPr>
                </a:tc>
                <a:extLst>
                  <a:ext uri="{0D108BD9-81ED-4DB2-BD59-A6C34878D82A}">
                    <a16:rowId xmlns:a16="http://schemas.microsoft.com/office/drawing/2014/main" val="10007"/>
                  </a:ext>
                </a:extLst>
              </a:tr>
              <a:tr h="0">
                <a:tc>
                  <a:txBody>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MPLS Label2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solidFill>
                      <a:schemeClr val="bg1">
                        <a:lumMod val="95000"/>
                      </a:schemeClr>
                    </a:solidFill>
                  </a:tcPr>
                </a:tc>
                <a:extLst>
                  <a:ext uri="{0D108BD9-81ED-4DB2-BD59-A6C34878D82A}">
                    <a16:rowId xmlns:a16="http://schemas.microsoft.com/office/drawing/2014/main" val="10008"/>
                  </a:ext>
                </a:extLst>
              </a:tr>
            </a:tbl>
          </a:graphicData>
        </a:graphic>
      </p:graphicFrame>
      <p:graphicFrame>
        <p:nvGraphicFramePr>
          <p:cNvPr id="18" name="表格 17">
            <a:extLst>
              <a:ext uri="{FF2B5EF4-FFF2-40B4-BE49-F238E27FC236}">
                <a16:creationId xmlns:a16="http://schemas.microsoft.com/office/drawing/2014/main" id="{CA202969-5FE5-44C4-BB9F-E098AAED7F76}"/>
              </a:ext>
            </a:extLst>
          </p:cNvPr>
          <p:cNvGraphicFramePr>
            <a:graphicFrameLocks noGrp="1"/>
          </p:cNvGraphicFramePr>
          <p:nvPr>
            <p:extLst>
              <p:ext uri="{D42A27DB-BD31-4B8C-83A1-F6EECF244321}">
                <p14:modId xmlns:p14="http://schemas.microsoft.com/office/powerpoint/2010/main" val="1905097137"/>
              </p:ext>
            </p:extLst>
          </p:nvPr>
        </p:nvGraphicFramePr>
        <p:xfrm>
          <a:off x="4409285" y="2192729"/>
          <a:ext cx="3420000" cy="2468880"/>
        </p:xfrm>
        <a:graphic>
          <a:graphicData uri="http://schemas.openxmlformats.org/drawingml/2006/table">
            <a:tbl>
              <a:tblPr firstRow="1" bandRow="1">
                <a:tableStyleId>{5940675A-B579-460E-94D1-54222C63F5DA}</a:tableStyleId>
              </a:tblPr>
              <a:tblGrid>
                <a:gridCol w="3420000">
                  <a:extLst>
                    <a:ext uri="{9D8B030D-6E8A-4147-A177-3AD203B41FA5}">
                      <a16:colId xmlns:a16="http://schemas.microsoft.com/office/drawing/2014/main" val="20000"/>
                    </a:ext>
                  </a:extLst>
                </a:gridCol>
              </a:tblGrid>
              <a:tr h="0">
                <a:tc>
                  <a:txBody>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Route Distinguisher</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solidFill>
                      <a:schemeClr val="bg1"/>
                    </a:solidFill>
                  </a:tcPr>
                </a:tc>
                <a:extLst>
                  <a:ext uri="{0D108BD9-81ED-4DB2-BD59-A6C34878D82A}">
                    <a16:rowId xmlns:a16="http://schemas.microsoft.com/office/drawing/2014/main" val="10000"/>
                  </a:ext>
                </a:extLst>
              </a:tr>
              <a:tr h="0">
                <a:tc>
                  <a:txBody>
                    <a:bodyPr/>
                    <a:lstStyle/>
                    <a:p>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Ethernet Segment Identifier</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solidFill>
                      <a:schemeClr val="bg1"/>
                    </a:solidFill>
                  </a:tcPr>
                </a:tc>
                <a:extLst>
                  <a:ext uri="{0D108BD9-81ED-4DB2-BD59-A6C34878D82A}">
                    <a16:rowId xmlns:a16="http://schemas.microsoft.com/office/drawing/2014/main" val="10001"/>
                  </a:ext>
                </a:extLst>
              </a:tr>
              <a:tr h="0">
                <a:tc>
                  <a:txBody>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Ethernet Tag ID</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solidFill>
                      <a:schemeClr val="bg1"/>
                    </a:solidFill>
                  </a:tcPr>
                </a:tc>
                <a:extLst>
                  <a:ext uri="{0D108BD9-81ED-4DB2-BD59-A6C34878D82A}">
                    <a16:rowId xmlns:a16="http://schemas.microsoft.com/office/drawing/2014/main" val="10002"/>
                  </a:ext>
                </a:extLst>
              </a:tr>
              <a:tr h="0">
                <a:tc>
                  <a:txBody>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MAC</a:t>
                      </a:r>
                      <a:r>
                        <a:rPr lang="en-US" altLang="zh-CN" sz="1200" baseline="0" dirty="0">
                          <a:latin typeface="Huawei Sans" panose="020C0503030203020204" pitchFamily="34" charset="0"/>
                          <a:ea typeface="方正兰亭黑简体" panose="02000000000000000000" pitchFamily="2" charset="-122"/>
                          <a:sym typeface="Huawei Sans" panose="020C0503030203020204" pitchFamily="34" charset="0"/>
                        </a:rPr>
                        <a:t> Address Length = MAC</a:t>
                      </a:r>
                      <a:r>
                        <a:rPr lang="zh-CN" altLang="en-US" sz="1200" baseline="0" dirty="0">
                          <a:latin typeface="Huawei Sans" panose="020C0503030203020204" pitchFamily="34" charset="0"/>
                          <a:ea typeface="方正兰亭黑简体" panose="02000000000000000000" pitchFamily="2" charset="-122"/>
                          <a:sym typeface="Huawei Sans" panose="020C0503030203020204" pitchFamily="34" charset="0"/>
                        </a:rPr>
                        <a:t>地址长度</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solidFill>
                      <a:srgbClr val="FFF7E1"/>
                    </a:solidFill>
                  </a:tcPr>
                </a:tc>
                <a:extLst>
                  <a:ext uri="{0D108BD9-81ED-4DB2-BD59-A6C34878D82A}">
                    <a16:rowId xmlns:a16="http://schemas.microsoft.com/office/drawing/2014/main" val="10003"/>
                  </a:ext>
                </a:extLst>
              </a:tr>
              <a:tr h="0">
                <a:tc>
                  <a:txBody>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MAC Address = MAC</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a:t>
                      </a:r>
                    </a:p>
                  </a:txBody>
                  <a:tcPr>
                    <a:solidFill>
                      <a:srgbClr val="FFF7E1"/>
                    </a:solidFill>
                  </a:tcPr>
                </a:tc>
                <a:extLst>
                  <a:ext uri="{0D108BD9-81ED-4DB2-BD59-A6C34878D82A}">
                    <a16:rowId xmlns:a16="http://schemas.microsoft.com/office/drawing/2014/main" val="10004"/>
                  </a:ext>
                </a:extLst>
              </a:tr>
              <a:tr h="0">
                <a:tc>
                  <a:txBody>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 Address Length = IP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地址长度</a:t>
                      </a:r>
                    </a:p>
                  </a:txBody>
                  <a:tcPr>
                    <a:solidFill>
                      <a:srgbClr val="FFF7E1"/>
                    </a:solidFill>
                  </a:tcPr>
                </a:tc>
                <a:extLst>
                  <a:ext uri="{0D108BD9-81ED-4DB2-BD59-A6C34878D82A}">
                    <a16:rowId xmlns:a16="http://schemas.microsoft.com/office/drawing/2014/main" val="10005"/>
                  </a:ext>
                </a:extLst>
              </a:tr>
              <a:tr h="0">
                <a:tc>
                  <a:txBody>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 Address = IP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a:t>
                      </a:r>
                    </a:p>
                  </a:txBody>
                  <a:tcPr>
                    <a:solidFill>
                      <a:srgbClr val="FFF7E1"/>
                    </a:solidFill>
                  </a:tcPr>
                </a:tc>
                <a:extLst>
                  <a:ext uri="{0D108BD9-81ED-4DB2-BD59-A6C34878D82A}">
                    <a16:rowId xmlns:a16="http://schemas.microsoft.com/office/drawing/2014/main" val="10006"/>
                  </a:ext>
                </a:extLst>
              </a:tr>
              <a:tr h="0">
                <a:tc>
                  <a:txBody>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MPLS Label1 = VNI</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（二层）</a:t>
                      </a:r>
                    </a:p>
                  </a:txBody>
                  <a:tcPr>
                    <a:solidFill>
                      <a:srgbClr val="FFF7E1"/>
                    </a:solidFill>
                  </a:tcPr>
                </a:tc>
                <a:extLst>
                  <a:ext uri="{0D108BD9-81ED-4DB2-BD59-A6C34878D82A}">
                    <a16:rowId xmlns:a16="http://schemas.microsoft.com/office/drawing/2014/main" val="10007"/>
                  </a:ext>
                </a:extLst>
              </a:tr>
              <a:tr h="0">
                <a:tc>
                  <a:txBody>
                    <a:bodyPr/>
                    <a:lstStyle/>
                    <a:p>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MPLS Label2</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solidFill>
                      <a:schemeClr val="bg1">
                        <a:lumMod val="95000"/>
                      </a:schemeClr>
                    </a:solidFill>
                  </a:tcPr>
                </a:tc>
                <a:extLst>
                  <a:ext uri="{0D108BD9-81ED-4DB2-BD59-A6C34878D82A}">
                    <a16:rowId xmlns:a16="http://schemas.microsoft.com/office/drawing/2014/main" val="10008"/>
                  </a:ext>
                </a:extLst>
              </a:tr>
            </a:tbl>
          </a:graphicData>
        </a:graphic>
      </p:graphicFrame>
      <p:graphicFrame>
        <p:nvGraphicFramePr>
          <p:cNvPr id="19" name="表格 18">
            <a:extLst>
              <a:ext uri="{FF2B5EF4-FFF2-40B4-BE49-F238E27FC236}">
                <a16:creationId xmlns:a16="http://schemas.microsoft.com/office/drawing/2014/main" id="{2F0A9059-0552-4B87-92E2-2A93E376527F}"/>
              </a:ext>
            </a:extLst>
          </p:cNvPr>
          <p:cNvGraphicFramePr>
            <a:graphicFrameLocks noGrp="1"/>
          </p:cNvGraphicFramePr>
          <p:nvPr>
            <p:extLst>
              <p:ext uri="{D42A27DB-BD31-4B8C-83A1-F6EECF244321}">
                <p14:modId xmlns:p14="http://schemas.microsoft.com/office/powerpoint/2010/main" val="3433392434"/>
              </p:ext>
            </p:extLst>
          </p:nvPr>
        </p:nvGraphicFramePr>
        <p:xfrm>
          <a:off x="8040164" y="2192729"/>
          <a:ext cx="3420000" cy="2468880"/>
        </p:xfrm>
        <a:graphic>
          <a:graphicData uri="http://schemas.openxmlformats.org/drawingml/2006/table">
            <a:tbl>
              <a:tblPr firstRow="1" bandRow="1">
                <a:tableStyleId>{5940675A-B579-460E-94D1-54222C63F5DA}</a:tableStyleId>
              </a:tblPr>
              <a:tblGrid>
                <a:gridCol w="3420000">
                  <a:extLst>
                    <a:ext uri="{9D8B030D-6E8A-4147-A177-3AD203B41FA5}">
                      <a16:colId xmlns:a16="http://schemas.microsoft.com/office/drawing/2014/main" val="20000"/>
                    </a:ext>
                  </a:extLst>
                </a:gridCol>
              </a:tblGrid>
              <a:tr h="0">
                <a:tc>
                  <a:txBody>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Route Distinguisher</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solidFill>
                      <a:schemeClr val="bg1"/>
                    </a:solidFill>
                  </a:tcPr>
                </a:tc>
                <a:extLst>
                  <a:ext uri="{0D108BD9-81ED-4DB2-BD59-A6C34878D82A}">
                    <a16:rowId xmlns:a16="http://schemas.microsoft.com/office/drawing/2014/main" val="10000"/>
                  </a:ext>
                </a:extLst>
              </a:tr>
              <a:tr h="0">
                <a:tc>
                  <a:txBody>
                    <a:bodyPr/>
                    <a:lstStyle/>
                    <a:p>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Ethernet Segment Identifier</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solidFill>
                      <a:schemeClr val="bg1"/>
                    </a:solidFill>
                  </a:tcPr>
                </a:tc>
                <a:extLst>
                  <a:ext uri="{0D108BD9-81ED-4DB2-BD59-A6C34878D82A}">
                    <a16:rowId xmlns:a16="http://schemas.microsoft.com/office/drawing/2014/main" val="10001"/>
                  </a:ext>
                </a:extLst>
              </a:tr>
              <a:tr h="0">
                <a:tc>
                  <a:txBody>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Ethernet Tag ID</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solidFill>
                      <a:schemeClr val="bg1"/>
                    </a:solidFill>
                  </a:tcPr>
                </a:tc>
                <a:extLst>
                  <a:ext uri="{0D108BD9-81ED-4DB2-BD59-A6C34878D82A}">
                    <a16:rowId xmlns:a16="http://schemas.microsoft.com/office/drawing/2014/main" val="10002"/>
                  </a:ext>
                </a:extLst>
              </a:tr>
              <a:tr h="0">
                <a:tc>
                  <a:txBody>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MAC</a:t>
                      </a:r>
                      <a:r>
                        <a:rPr lang="en-US" altLang="zh-CN" sz="1200" baseline="0" dirty="0">
                          <a:latin typeface="Huawei Sans" panose="020C0503030203020204" pitchFamily="34" charset="0"/>
                          <a:ea typeface="方正兰亭黑简体" panose="02000000000000000000" pitchFamily="2" charset="-122"/>
                          <a:sym typeface="Huawei Sans" panose="020C0503030203020204" pitchFamily="34" charset="0"/>
                        </a:rPr>
                        <a:t> Address Length = MAC</a:t>
                      </a:r>
                      <a:r>
                        <a:rPr lang="zh-CN" altLang="en-US" sz="1200" baseline="0" dirty="0">
                          <a:latin typeface="Huawei Sans" panose="020C0503030203020204" pitchFamily="34" charset="0"/>
                          <a:ea typeface="方正兰亭黑简体" panose="02000000000000000000" pitchFamily="2" charset="-122"/>
                          <a:sym typeface="Huawei Sans" panose="020C0503030203020204" pitchFamily="34" charset="0"/>
                        </a:rPr>
                        <a:t>地址长度</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solidFill>
                      <a:srgbClr val="FFF7E1"/>
                    </a:solidFill>
                  </a:tcPr>
                </a:tc>
                <a:extLst>
                  <a:ext uri="{0D108BD9-81ED-4DB2-BD59-A6C34878D82A}">
                    <a16:rowId xmlns:a16="http://schemas.microsoft.com/office/drawing/2014/main" val="10003"/>
                  </a:ext>
                </a:extLst>
              </a:tr>
              <a:tr h="0">
                <a:tc>
                  <a:txBody>
                    <a:bodyPr/>
                    <a:lstStyle/>
                    <a:p>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MAC Address = MAC</a:t>
                      </a: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地址</a:t>
                      </a:r>
                    </a:p>
                  </a:txBody>
                  <a:tcPr>
                    <a:solidFill>
                      <a:srgbClr val="FFF7E1"/>
                    </a:solidFill>
                  </a:tcPr>
                </a:tc>
                <a:extLst>
                  <a:ext uri="{0D108BD9-81ED-4DB2-BD59-A6C34878D82A}">
                    <a16:rowId xmlns:a16="http://schemas.microsoft.com/office/drawing/2014/main" val="10004"/>
                  </a:ext>
                </a:extLst>
              </a:tr>
              <a:tr h="0">
                <a:tc>
                  <a:txBody>
                    <a:bodyPr/>
                    <a:lstStyle/>
                    <a:p>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IP Address Length = IP</a:t>
                      </a: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地址长度</a:t>
                      </a:r>
                    </a:p>
                  </a:txBody>
                  <a:tcPr>
                    <a:solidFill>
                      <a:srgbClr val="FFF7E1"/>
                    </a:solidFill>
                  </a:tcPr>
                </a:tc>
                <a:extLst>
                  <a:ext uri="{0D108BD9-81ED-4DB2-BD59-A6C34878D82A}">
                    <a16:rowId xmlns:a16="http://schemas.microsoft.com/office/drawing/2014/main" val="10005"/>
                  </a:ext>
                </a:extLst>
              </a:tr>
              <a:tr h="0">
                <a:tc>
                  <a:txBody>
                    <a:bodyPr/>
                    <a:lstStyle/>
                    <a:p>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IP Address = IP</a:t>
                      </a: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地址</a:t>
                      </a:r>
                    </a:p>
                  </a:txBody>
                  <a:tcPr>
                    <a:solidFill>
                      <a:srgbClr val="FFF7E1"/>
                    </a:solidFill>
                  </a:tcPr>
                </a:tc>
                <a:extLst>
                  <a:ext uri="{0D108BD9-81ED-4DB2-BD59-A6C34878D82A}">
                    <a16:rowId xmlns:a16="http://schemas.microsoft.com/office/drawing/2014/main" val="10006"/>
                  </a:ext>
                </a:extLst>
              </a:tr>
              <a:tr h="0">
                <a:tc>
                  <a:txBody>
                    <a:bodyPr/>
                    <a:lstStyle/>
                    <a:p>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MPLS Label1 = VNI</a:t>
                      </a: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（二层）</a:t>
                      </a:r>
                    </a:p>
                  </a:txBody>
                  <a:tcPr>
                    <a:solidFill>
                      <a:srgbClr val="FFF7E1"/>
                    </a:solidFill>
                  </a:tcPr>
                </a:tc>
                <a:extLst>
                  <a:ext uri="{0D108BD9-81ED-4DB2-BD59-A6C34878D82A}">
                    <a16:rowId xmlns:a16="http://schemas.microsoft.com/office/drawing/2014/main" val="10007"/>
                  </a:ext>
                </a:extLst>
              </a:tr>
              <a:tr h="0">
                <a:tc>
                  <a:txBody>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MPLS Label2 = VNI</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（三层）</a:t>
                      </a:r>
                    </a:p>
                  </a:txBody>
                  <a:tcPr>
                    <a:solidFill>
                      <a:srgbClr val="FFF7E1"/>
                    </a:solidFill>
                  </a:tcPr>
                </a:tc>
                <a:extLst>
                  <a:ext uri="{0D108BD9-81ED-4DB2-BD59-A6C34878D82A}">
                    <a16:rowId xmlns:a16="http://schemas.microsoft.com/office/drawing/2014/main" val="10008"/>
                  </a:ext>
                </a:extLst>
              </a:tr>
            </a:tbl>
          </a:graphicData>
        </a:graphic>
      </p:graphicFrame>
      <p:sp>
        <p:nvSpPr>
          <p:cNvPr id="20" name="文本占位符 2"/>
          <p:cNvSpPr txBox="1">
            <a:spLocks/>
          </p:cNvSpPr>
          <p:nvPr/>
        </p:nvSpPr>
        <p:spPr bwMode="gray">
          <a:xfrm>
            <a:off x="731838" y="4725109"/>
            <a:ext cx="3431430" cy="656531"/>
          </a:xfrm>
          <a:prstGeom prst="rect">
            <a:avLst/>
          </a:prstGeom>
          <a:noFill/>
          <a:ln w="9525">
            <a:noFill/>
            <a:miter lim="800000"/>
            <a:headEnd/>
            <a:tailEnd/>
          </a:ln>
        </p:spPr>
        <p:txBody>
          <a:bodyPr vert="horz" wrap="square" lIns="80141" tIns="40071" rIns="80141" bIns="40071" numCol="1" anchor="t" anchorCtr="0" compatLnSpc="1">
            <a:prstTxWarp prst="textNoShape">
              <a:avLst/>
            </a:prstTxWarp>
            <a:spAutoFit/>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相同子网主机互访场景下进行主机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地址通告，包含主机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信息和二层</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VNI</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21" name="文本占位符 2"/>
          <p:cNvSpPr txBox="1">
            <a:spLocks/>
          </p:cNvSpPr>
          <p:nvPr/>
        </p:nvSpPr>
        <p:spPr bwMode="gray">
          <a:xfrm>
            <a:off x="4409284" y="4725109"/>
            <a:ext cx="3420001" cy="656531"/>
          </a:xfrm>
          <a:prstGeom prst="rect">
            <a:avLst/>
          </a:prstGeom>
          <a:noFill/>
          <a:ln w="9525">
            <a:noFill/>
            <a:miter lim="800000"/>
            <a:headEnd/>
            <a:tailEnd/>
          </a:ln>
        </p:spPr>
        <p:txBody>
          <a:bodyPr vert="horz" wrap="square" lIns="80141" tIns="40071" rIns="80141" bIns="40071" numCol="1" anchor="t" anchorCtr="0" compatLnSpc="1">
            <a:prstTxWarp prst="textNoShape">
              <a:avLst/>
            </a:prstTxWarp>
            <a:spAutoFit/>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集中式网关部署场景下通告</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类型路由，包含主机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信息和二层</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VNI</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占位符 2"/>
          <p:cNvSpPr txBox="1">
            <a:spLocks/>
          </p:cNvSpPr>
          <p:nvPr/>
        </p:nvSpPr>
        <p:spPr bwMode="gray">
          <a:xfrm>
            <a:off x="8028734" y="4725109"/>
            <a:ext cx="3431430" cy="985788"/>
          </a:xfrm>
          <a:prstGeom prst="rect">
            <a:avLst/>
          </a:prstGeom>
          <a:noFill/>
          <a:ln w="9525">
            <a:noFill/>
            <a:miter lim="800000"/>
            <a:headEnd/>
            <a:tailEnd/>
          </a:ln>
        </p:spPr>
        <p:txBody>
          <a:bodyPr vert="horz" wrap="square" lIns="80141" tIns="40071" rIns="80141" bIns="40071" numCol="1" anchor="t" anchorCtr="0" compatLnSpc="1">
            <a:prstTxWarp prst="textNoShape">
              <a:avLst/>
            </a:prstTxWarp>
            <a:spAutoFit/>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分布式网关部署不同子网互访场景下，进行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IRB</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类型路由通告。它包括主机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信息、二层</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VNI</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和三层</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VNI</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25" name="五边形 24">
            <a:extLst>
              <a:ext uri="{FF2B5EF4-FFF2-40B4-BE49-F238E27FC236}">
                <a16:creationId xmlns:a16="http://schemas.microsoft.com/office/drawing/2014/main" id="{66BA07AD-FEEF-4CB3-8D55-B5A235B0FBAC}"/>
              </a:ext>
            </a:extLst>
          </p:cNvPr>
          <p:cNvSpPr/>
          <p:nvPr/>
        </p:nvSpPr>
        <p:spPr bwMode="gray">
          <a:xfrm>
            <a:off x="8632178" y="124239"/>
            <a:ext cx="108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Type 2</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燕尾形 26">
            <a:extLst>
              <a:ext uri="{FF2B5EF4-FFF2-40B4-BE49-F238E27FC236}">
                <a16:creationId xmlns:a16="http://schemas.microsoft.com/office/drawing/2014/main" id="{0C19331F-8FCC-488E-9C32-A3F774208D1E}"/>
              </a:ext>
            </a:extLst>
          </p:cNvPr>
          <p:cNvSpPr/>
          <p:nvPr/>
        </p:nvSpPr>
        <p:spPr bwMode="gray">
          <a:xfrm>
            <a:off x="10629666"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5</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p>
        </p:txBody>
      </p:sp>
      <p:sp>
        <p:nvSpPr>
          <p:cNvPr id="27" name="燕尾形 26">
            <a:extLst>
              <a:ext uri="{FF2B5EF4-FFF2-40B4-BE49-F238E27FC236}">
                <a16:creationId xmlns:a16="http://schemas.microsoft.com/office/drawing/2014/main" id="{5C797163-D6D3-4ACC-996D-421D87F18D19}"/>
              </a:ext>
            </a:extLst>
          </p:cNvPr>
          <p:cNvSpPr/>
          <p:nvPr/>
        </p:nvSpPr>
        <p:spPr bwMode="gray">
          <a:xfrm>
            <a:off x="9630922"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3</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9287521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sym typeface="Huawei Sans" panose="020C0503030203020204" pitchFamily="34" charset="0"/>
              </a:rPr>
              <a:t>主机</a:t>
            </a:r>
            <a:r>
              <a:rPr lang="en-US" altLang="zh-CN">
                <a:sym typeface="Huawei Sans" panose="020C0503030203020204" pitchFamily="34" charset="0"/>
              </a:rPr>
              <a:t>MAC</a:t>
            </a:r>
            <a:r>
              <a:rPr lang="zh-CN" altLang="en-US">
                <a:sym typeface="Huawei Sans" panose="020C0503030203020204" pitchFamily="34" charset="0"/>
              </a:rPr>
              <a:t>地址通告</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a:xfrm>
            <a:off x="455613" y="1047751"/>
            <a:ext cx="11256962" cy="513610"/>
          </a:xfrm>
        </p:spPr>
        <p:txBody>
          <a:bodyPr/>
          <a:lstStyle/>
          <a:p>
            <a:r>
              <a:rPr lang="zh-CN" altLang="en-US" sz="1800" dirty="0">
                <a:sym typeface="Huawei Sans" panose="020C0503030203020204" pitchFamily="34" charset="0"/>
              </a:rPr>
              <a:t>本页展示</a:t>
            </a:r>
            <a:r>
              <a:rPr lang="en-US" altLang="zh-CN" sz="1800" dirty="0">
                <a:sym typeface="Huawei Sans" panose="020C0503030203020204" pitchFamily="34" charset="0"/>
              </a:rPr>
              <a:t>BGP EVPN</a:t>
            </a:r>
            <a:r>
              <a:rPr lang="zh-CN" altLang="en-US" sz="1800" dirty="0">
                <a:sym typeface="Huawei Sans" panose="020C0503030203020204" pitchFamily="34" charset="0"/>
              </a:rPr>
              <a:t>使用</a:t>
            </a:r>
            <a:r>
              <a:rPr lang="en-US" altLang="zh-CN" sz="1800" dirty="0">
                <a:sym typeface="Huawei Sans" panose="020C0503030203020204" pitchFamily="34" charset="0"/>
              </a:rPr>
              <a:t>Type 2</a:t>
            </a:r>
            <a:r>
              <a:rPr lang="zh-CN" altLang="en-US" sz="1800" dirty="0">
                <a:sym typeface="Huawei Sans" panose="020C0503030203020204" pitchFamily="34" charset="0"/>
              </a:rPr>
              <a:t>路由实现</a:t>
            </a:r>
            <a:r>
              <a:rPr lang="en-US" altLang="zh-CN" sz="1800" dirty="0">
                <a:sym typeface="Huawei Sans" panose="020C0503030203020204" pitchFamily="34" charset="0"/>
              </a:rPr>
              <a:t>MAC</a:t>
            </a:r>
            <a:r>
              <a:rPr lang="zh-CN" altLang="en-US" sz="1800" dirty="0">
                <a:sym typeface="Huawei Sans" panose="020C0503030203020204" pitchFamily="34" charset="0"/>
              </a:rPr>
              <a:t>地址动态学习。该功能主要用于实现</a:t>
            </a:r>
            <a:r>
              <a:rPr lang="en-US" altLang="zh-CN" sz="1800" dirty="0">
                <a:sym typeface="Huawei Sans" panose="020C0503030203020204" pitchFamily="34" charset="0"/>
              </a:rPr>
              <a:t>VXLAN</a:t>
            </a:r>
            <a:r>
              <a:rPr lang="zh-CN" altLang="en-US" sz="1800" dirty="0">
                <a:sym typeface="Huawei Sans" panose="020C0503030203020204" pitchFamily="34" charset="0"/>
              </a:rPr>
              <a:t>同子网互访。</a:t>
            </a:r>
          </a:p>
        </p:txBody>
      </p:sp>
      <p:cxnSp>
        <p:nvCxnSpPr>
          <p:cNvPr id="5" name="直接连接符 4"/>
          <p:cNvCxnSpPr/>
          <p:nvPr/>
        </p:nvCxnSpPr>
        <p:spPr bwMode="gray">
          <a:xfrm>
            <a:off x="9078391" y="3257131"/>
            <a:ext cx="13753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bwMode="gray">
          <a:xfrm>
            <a:off x="3367780" y="2825083"/>
            <a:ext cx="442385" cy="432048"/>
            <a:chOff x="1194287" y="4005064"/>
            <a:chExt cx="442385" cy="432048"/>
          </a:xfrm>
        </p:grpSpPr>
        <p:cxnSp>
          <p:nvCxnSpPr>
            <p:cNvPr id="7" name="直接连接符 6"/>
            <p:cNvCxnSpPr/>
            <p:nvPr/>
          </p:nvCxnSpPr>
          <p:spPr bwMode="gray">
            <a:xfrm flipV="1">
              <a:off x="1415479" y="400506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bwMode="gray">
            <a:xfrm>
              <a:off x="1194287" y="400506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bwMode="gray">
          <a:xfrm>
            <a:off x="2841815" y="3427571"/>
            <a:ext cx="1494320"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矩形 10"/>
          <p:cNvSpPr/>
          <p:nvPr/>
        </p:nvSpPr>
        <p:spPr bwMode="gray">
          <a:xfrm>
            <a:off x="2849827" y="2498506"/>
            <a:ext cx="1478290"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VTEP</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 1.1.1.1/32</a:t>
            </a:r>
          </a:p>
        </p:txBody>
      </p:sp>
      <p:grpSp>
        <p:nvGrpSpPr>
          <p:cNvPr id="12" name="组合 11"/>
          <p:cNvGrpSpPr/>
          <p:nvPr/>
        </p:nvGrpSpPr>
        <p:grpSpPr bwMode="gray">
          <a:xfrm>
            <a:off x="8857199" y="2825083"/>
            <a:ext cx="442385" cy="432048"/>
            <a:chOff x="1194287" y="4005064"/>
            <a:chExt cx="442385" cy="432048"/>
          </a:xfrm>
        </p:grpSpPr>
        <p:cxnSp>
          <p:nvCxnSpPr>
            <p:cNvPr id="13" name="直接连接符 12"/>
            <p:cNvCxnSpPr/>
            <p:nvPr/>
          </p:nvCxnSpPr>
          <p:spPr bwMode="gray">
            <a:xfrm flipV="1">
              <a:off x="1415479" y="400506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gray">
            <a:xfrm>
              <a:off x="1194287" y="400506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 name="矩形 15"/>
          <p:cNvSpPr/>
          <p:nvPr/>
        </p:nvSpPr>
        <p:spPr bwMode="gray">
          <a:xfrm>
            <a:off x="8331232" y="3427571"/>
            <a:ext cx="1494320"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矩形 16"/>
          <p:cNvSpPr/>
          <p:nvPr/>
        </p:nvSpPr>
        <p:spPr bwMode="gray">
          <a:xfrm>
            <a:off x="8339250" y="2498506"/>
            <a:ext cx="1478290"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VTEP</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 2.2.2.2/32</a:t>
            </a:r>
          </a:p>
        </p:txBody>
      </p:sp>
      <p:sp>
        <p:nvSpPr>
          <p:cNvPr id="20" name="圆柱形 19"/>
          <p:cNvSpPr/>
          <p:nvPr/>
        </p:nvSpPr>
        <p:spPr bwMode="gray">
          <a:xfrm rot="16200000">
            <a:off x="6242443" y="796558"/>
            <a:ext cx="242039" cy="4911772"/>
          </a:xfrm>
          <a:prstGeom prst="can">
            <a:avLst>
              <a:gd name="adj" fmla="val 72803"/>
            </a:avLst>
          </a:prstGeom>
          <a:solidFill>
            <a:srgbClr val="EC7061"/>
          </a:solidFill>
          <a:ln w="12700" cap="flat" cmpd="sng" algn="ctr">
            <a:solidFill>
              <a:sysClr val="window" lastClr="FFFFF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999">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矩形 20"/>
          <p:cNvSpPr/>
          <p:nvPr/>
        </p:nvSpPr>
        <p:spPr bwMode="gray">
          <a:xfrm>
            <a:off x="5759035" y="3109553"/>
            <a:ext cx="1141659" cy="307777"/>
          </a:xfrm>
          <a:prstGeom prst="rect">
            <a:avLst/>
          </a:prstGeom>
        </p:spPr>
        <p:txBody>
          <a:bodyPr wrap="none">
            <a:spAutoFit/>
          </a:bodyPr>
          <a:lstStyle/>
          <a:p>
            <a:pPr algn="just"/>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a:t>
            </a:r>
          </a:p>
        </p:txBody>
      </p:sp>
      <p:graphicFrame>
        <p:nvGraphicFramePr>
          <p:cNvPr id="22" name="表格 21"/>
          <p:cNvGraphicFramePr>
            <a:graphicFrameLocks noGrp="1"/>
          </p:cNvGraphicFramePr>
          <p:nvPr>
            <p:extLst>
              <p:ext uri="{D42A27DB-BD31-4B8C-83A1-F6EECF244321}">
                <p14:modId xmlns:p14="http://schemas.microsoft.com/office/powerpoint/2010/main" val="4111134933"/>
              </p:ext>
            </p:extLst>
          </p:nvPr>
        </p:nvGraphicFramePr>
        <p:xfrm>
          <a:off x="2113001" y="1811700"/>
          <a:ext cx="2880000" cy="609600"/>
        </p:xfrm>
        <a:graphic>
          <a:graphicData uri="http://schemas.openxmlformats.org/drawingml/2006/table">
            <a:tbl>
              <a:tblPr firstRow="1" bandRow="1">
                <a:tableStyleId>{5940675A-B579-460E-94D1-54222C63F5DA}</a:tableStyleId>
              </a:tblPr>
              <a:tblGrid>
                <a:gridCol w="1656000">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tblGrid>
              <a:tr h="0">
                <a:tc>
                  <a:txBody>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地址</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BD</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学习自</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0"/>
                  </a:ext>
                </a:extLst>
              </a:tr>
              <a:tr h="0">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0000-0000-0001</a:t>
                      </a: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Port1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4" name="矩形 23"/>
          <p:cNvSpPr/>
          <p:nvPr/>
        </p:nvSpPr>
        <p:spPr bwMode="gray">
          <a:xfrm>
            <a:off x="950093" y="3554169"/>
            <a:ext cx="1667444"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PC1 </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172.16.1.1/24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0000-0000-0001</a:t>
            </a:r>
          </a:p>
        </p:txBody>
      </p:sp>
      <p:cxnSp>
        <p:nvCxnSpPr>
          <p:cNvPr id="25" name="直接连接符 24"/>
          <p:cNvCxnSpPr/>
          <p:nvPr/>
        </p:nvCxnSpPr>
        <p:spPr bwMode="gray">
          <a:xfrm>
            <a:off x="2005928" y="3257131"/>
            <a:ext cx="137816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矩形 27"/>
          <p:cNvSpPr/>
          <p:nvPr/>
        </p:nvSpPr>
        <p:spPr bwMode="gray">
          <a:xfrm>
            <a:off x="10422465" y="3554169"/>
            <a:ext cx="508473" cy="307777"/>
          </a:xfrm>
          <a:prstGeom prst="rect">
            <a:avLst/>
          </a:prstGeom>
        </p:spPr>
        <p:txBody>
          <a:bodyPr wrap="none">
            <a:spAutoFit/>
          </a:bodyPr>
          <a:lstStyle/>
          <a:p>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PC2</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35" name="表格 34"/>
          <p:cNvGraphicFramePr>
            <a:graphicFrameLocks noGrp="1"/>
          </p:cNvGraphicFramePr>
          <p:nvPr>
            <p:extLst>
              <p:ext uri="{D42A27DB-BD31-4B8C-83A1-F6EECF244321}">
                <p14:modId xmlns:p14="http://schemas.microsoft.com/office/powerpoint/2010/main" val="1699961153"/>
              </p:ext>
            </p:extLst>
          </p:nvPr>
        </p:nvGraphicFramePr>
        <p:xfrm>
          <a:off x="7602421" y="1811700"/>
          <a:ext cx="2880000" cy="609600"/>
        </p:xfrm>
        <a:graphic>
          <a:graphicData uri="http://schemas.openxmlformats.org/drawingml/2006/table">
            <a:tbl>
              <a:tblPr firstRow="1" bandRow="1">
                <a:tableStyleId>{5940675A-B579-460E-94D1-54222C63F5DA}</a:tableStyleId>
              </a:tblPr>
              <a:tblGrid>
                <a:gridCol w="1656000">
                  <a:extLst>
                    <a:ext uri="{9D8B030D-6E8A-4147-A177-3AD203B41FA5}">
                      <a16:colId xmlns:a16="http://schemas.microsoft.com/office/drawing/2014/main" val="20000"/>
                    </a:ext>
                  </a:extLst>
                </a:gridCol>
                <a:gridCol w="504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tblGrid>
              <a:tr h="0">
                <a:tc>
                  <a:txBody>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地址</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BD</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学习自</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0"/>
                  </a:ext>
                </a:extLst>
              </a:tr>
              <a:tr h="0">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0000-0000-0001</a:t>
                      </a: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10</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1.1.1.1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6" name="椭圆 35"/>
          <p:cNvSpPr>
            <a:spLocks noChangeAspect="1"/>
          </p:cNvSpPr>
          <p:nvPr/>
        </p:nvSpPr>
        <p:spPr bwMode="gray">
          <a:xfrm>
            <a:off x="1710396" y="1787982"/>
            <a:ext cx="232480" cy="232480"/>
          </a:xfrm>
          <a:prstGeom prst="ellipse">
            <a:avLst/>
          </a:prstGeom>
          <a:solidFill>
            <a:srgbClr val="EC7061">
              <a:lumMod val="100000"/>
            </a:srgbClr>
          </a:solidFill>
          <a:ln w="19050" cap="flat" cmpd="sng" algn="ctr">
            <a:noFill/>
            <a:prstDash val="solid"/>
            <a:miter lim="800000"/>
          </a:ln>
          <a:effectLst/>
        </p:spPr>
        <p:txBody>
          <a:bodyPr wrap="none" lIns="0" tIns="0" rIns="0" bIns="0" rtlCol="0" anchor="ctr"/>
          <a:lstStyle/>
          <a:p>
            <a:pPr algn="ctr"/>
            <a:r>
              <a:rPr lang="en-US" altLang="zh-CN" sz="1400" b="1"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6" name="直接连接符 55"/>
          <p:cNvCxnSpPr/>
          <p:nvPr/>
        </p:nvCxnSpPr>
        <p:spPr bwMode="gray">
          <a:xfrm flipH="1">
            <a:off x="7731609" y="4896776"/>
            <a:ext cx="935403" cy="0"/>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sp>
        <p:nvSpPr>
          <p:cNvPr id="37" name="椭圆 36"/>
          <p:cNvSpPr>
            <a:spLocks noChangeAspect="1"/>
          </p:cNvSpPr>
          <p:nvPr/>
        </p:nvSpPr>
        <p:spPr bwMode="gray">
          <a:xfrm>
            <a:off x="4896535" y="3807095"/>
            <a:ext cx="232480" cy="232480"/>
          </a:xfrm>
          <a:prstGeom prst="ellipse">
            <a:avLst/>
          </a:prstGeom>
          <a:solidFill>
            <a:srgbClr val="EC7061">
              <a:lumMod val="100000"/>
            </a:srgbClr>
          </a:solidFill>
          <a:ln w="19050" cap="flat" cmpd="sng" algn="ctr">
            <a:noFill/>
            <a:prstDash val="solid"/>
            <a:miter lim="800000"/>
          </a:ln>
          <a:effectLst/>
        </p:spPr>
        <p:txBody>
          <a:bodyPr wrap="none" lIns="0" tIns="0" rIns="0" bIns="0" rtlCol="0" anchor="ctr"/>
          <a:lstStyle/>
          <a:p>
            <a:pPr algn="ctr"/>
            <a:r>
              <a:rPr lang="en-US" altLang="zh-CN" sz="1400" b="1"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2" name="图片 87" descr="汇聚交换机.png"/>
          <p:cNvPicPr>
            <a:picLocks noChangeAspect="1"/>
          </p:cNvPicPr>
          <p:nvPr/>
        </p:nvPicPr>
        <p:blipFill>
          <a:blip r:embed="rId3"/>
          <a:stretch>
            <a:fillRect/>
          </a:stretch>
        </p:blipFill>
        <p:spPr bwMode="gray">
          <a:xfrm>
            <a:off x="3337563" y="3016171"/>
            <a:ext cx="502820" cy="411400"/>
          </a:xfrm>
          <a:prstGeom prst="rect">
            <a:avLst/>
          </a:prstGeom>
        </p:spPr>
      </p:pic>
      <p:pic>
        <p:nvPicPr>
          <p:cNvPr id="43" name="图片 87" descr="汇聚交换机.png"/>
          <p:cNvPicPr>
            <a:picLocks noChangeAspect="1"/>
          </p:cNvPicPr>
          <p:nvPr/>
        </p:nvPicPr>
        <p:blipFill>
          <a:blip r:embed="rId3"/>
          <a:stretch>
            <a:fillRect/>
          </a:stretch>
        </p:blipFill>
        <p:spPr bwMode="gray">
          <a:xfrm>
            <a:off x="8844825" y="3016171"/>
            <a:ext cx="502820" cy="411400"/>
          </a:xfrm>
          <a:prstGeom prst="rect">
            <a:avLst/>
          </a:prstGeom>
        </p:spPr>
      </p:pic>
      <p:pic>
        <p:nvPicPr>
          <p:cNvPr id="44" name="图片 11" descr="开放网络-蓝.png"/>
          <p:cNvPicPr>
            <a:picLocks noChangeAspect="1"/>
          </p:cNvPicPr>
          <p:nvPr/>
        </p:nvPicPr>
        <p:blipFill>
          <a:blip r:embed="rId4" cstate="print"/>
          <a:stretch>
            <a:fillRect/>
          </a:stretch>
        </p:blipFill>
        <p:spPr bwMode="gray">
          <a:xfrm>
            <a:off x="1560837" y="3091796"/>
            <a:ext cx="445956" cy="343290"/>
          </a:xfrm>
          <a:prstGeom prst="rect">
            <a:avLst/>
          </a:prstGeom>
        </p:spPr>
      </p:pic>
      <p:cxnSp>
        <p:nvCxnSpPr>
          <p:cNvPr id="46" name="直接连接符 45"/>
          <p:cNvCxnSpPr/>
          <p:nvPr/>
        </p:nvCxnSpPr>
        <p:spPr bwMode="gray">
          <a:xfrm flipH="1">
            <a:off x="1654880" y="4240781"/>
            <a:ext cx="688214" cy="0"/>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sp>
        <p:nvSpPr>
          <p:cNvPr id="49" name="矩形 48"/>
          <p:cNvSpPr/>
          <p:nvPr/>
        </p:nvSpPr>
        <p:spPr bwMode="gray">
          <a:xfrm>
            <a:off x="1560837" y="4264791"/>
            <a:ext cx="902811" cy="307777"/>
          </a:xfrm>
          <a:prstGeom prst="rect">
            <a:avLst/>
          </a:prstGeom>
        </p:spPr>
        <p:txBody>
          <a:bodyPr wrap="none">
            <a:spAutoFit/>
          </a:bodyPr>
          <a:lstStyle/>
          <a:p>
            <a:pPr algn="ct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发送流量</a:t>
            </a:r>
            <a:endPar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椭圆 50"/>
          <p:cNvSpPr>
            <a:spLocks noChangeAspect="1"/>
          </p:cNvSpPr>
          <p:nvPr/>
        </p:nvSpPr>
        <p:spPr bwMode="gray">
          <a:xfrm>
            <a:off x="1374185" y="4191448"/>
            <a:ext cx="232480" cy="232480"/>
          </a:xfrm>
          <a:prstGeom prst="ellipse">
            <a:avLst/>
          </a:prstGeom>
          <a:solidFill>
            <a:srgbClr val="EC7061">
              <a:lumMod val="100000"/>
            </a:srgbClr>
          </a:solidFill>
          <a:ln w="19050" cap="flat" cmpd="sng" algn="ctr">
            <a:noFill/>
            <a:prstDash val="solid"/>
            <a:miter lim="800000"/>
          </a:ln>
          <a:effectLst/>
        </p:spPr>
        <p:txBody>
          <a:bodyPr wrap="none" lIns="0" tIns="0" rIns="0" bIns="0" rtlCol="0" anchor="ctr"/>
          <a:lstStyle/>
          <a:p>
            <a:pPr algn="ctr"/>
            <a:r>
              <a:rPr lang="en-US" altLang="zh-CN" sz="1400" b="1"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矩形 51"/>
          <p:cNvSpPr/>
          <p:nvPr/>
        </p:nvSpPr>
        <p:spPr bwMode="gray">
          <a:xfrm>
            <a:off x="588250" y="2042872"/>
            <a:ext cx="1496887" cy="523220"/>
          </a:xfrm>
          <a:prstGeom prst="rect">
            <a:avLst/>
          </a:prstGeom>
        </p:spPr>
        <p:txBody>
          <a:bodyPr wrap="square">
            <a:spAutoFit/>
          </a:bodyPr>
          <a:lstStyle/>
          <a:p>
            <a:pPr algn="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学习到</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椭圆 52"/>
          <p:cNvSpPr>
            <a:spLocks noChangeAspect="1"/>
          </p:cNvSpPr>
          <p:nvPr/>
        </p:nvSpPr>
        <p:spPr bwMode="gray">
          <a:xfrm>
            <a:off x="7314213" y="2102954"/>
            <a:ext cx="232480" cy="232480"/>
          </a:xfrm>
          <a:prstGeom prst="ellipse">
            <a:avLst/>
          </a:prstGeom>
          <a:solidFill>
            <a:srgbClr val="EC7061">
              <a:lumMod val="100000"/>
            </a:srgbClr>
          </a:solidFill>
          <a:ln w="19050" cap="flat" cmpd="sng" algn="ctr">
            <a:noFill/>
            <a:prstDash val="solid"/>
            <a:miter lim="800000"/>
          </a:ln>
          <a:effectLst/>
        </p:spPr>
        <p:txBody>
          <a:bodyPr wrap="none" lIns="0" tIns="0" rIns="0" bIns="0" rtlCol="0" anchor="ctr"/>
          <a:lstStyle/>
          <a:p>
            <a:pPr algn="ctr"/>
            <a:r>
              <a:rPr lang="en-US" altLang="zh-CN" sz="1400" b="1"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4" name="图片 11" descr="开放网络-蓝.png"/>
          <p:cNvPicPr>
            <a:picLocks noChangeAspect="1"/>
          </p:cNvPicPr>
          <p:nvPr/>
        </p:nvPicPr>
        <p:blipFill>
          <a:blip r:embed="rId4" cstate="print"/>
          <a:stretch>
            <a:fillRect/>
          </a:stretch>
        </p:blipFill>
        <p:spPr bwMode="gray">
          <a:xfrm>
            <a:off x="10453724" y="3091796"/>
            <a:ext cx="445956" cy="343290"/>
          </a:xfrm>
          <a:prstGeom prst="rect">
            <a:avLst/>
          </a:prstGeom>
        </p:spPr>
      </p:pic>
      <p:sp>
        <p:nvSpPr>
          <p:cNvPr id="50" name="文本框 49">
            <a:extLst>
              <a:ext uri="{FF2B5EF4-FFF2-40B4-BE49-F238E27FC236}">
                <a16:creationId xmlns:a16="http://schemas.microsoft.com/office/drawing/2014/main" id="{06B15736-FC8B-4050-A2F5-AB6BD864A78D}"/>
              </a:ext>
            </a:extLst>
          </p:cNvPr>
          <p:cNvSpPr txBox="1">
            <a:spLocks/>
          </p:cNvSpPr>
          <p:nvPr/>
        </p:nvSpPr>
        <p:spPr bwMode="gray">
          <a:xfrm>
            <a:off x="2617537" y="3764176"/>
            <a:ext cx="1854871" cy="1031874"/>
          </a:xfrm>
          <a:prstGeom prst="rect">
            <a:avLst/>
          </a:prstGeom>
          <a:solidFill>
            <a:schemeClr val="bg1"/>
          </a:solidFill>
          <a:ln w="12700">
            <a:solidFill>
              <a:schemeClr val="tx1"/>
            </a:solidFill>
          </a:ln>
        </p:spPr>
        <p:txBody>
          <a:bodyPr wrap="none" lIns="0" tIns="0" rIns="0" bIns="0" rtlCol="0" anchor="ctr" anchorCtr="0">
            <a:no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BD 10   </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L2 VNI 10  </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RD 10:1 </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ERT 10:1 </a:t>
            </a:r>
          </a:p>
        </p:txBody>
      </p:sp>
      <p:sp>
        <p:nvSpPr>
          <p:cNvPr id="55" name="文本框 54">
            <a:extLst>
              <a:ext uri="{FF2B5EF4-FFF2-40B4-BE49-F238E27FC236}">
                <a16:creationId xmlns:a16="http://schemas.microsoft.com/office/drawing/2014/main" id="{1B456A00-856E-41AC-A1F4-6EE7823F6030}"/>
              </a:ext>
            </a:extLst>
          </p:cNvPr>
          <p:cNvSpPr txBox="1">
            <a:spLocks/>
          </p:cNvSpPr>
          <p:nvPr/>
        </p:nvSpPr>
        <p:spPr bwMode="gray">
          <a:xfrm>
            <a:off x="8150956" y="3764176"/>
            <a:ext cx="1854871" cy="1031874"/>
          </a:xfrm>
          <a:prstGeom prst="rect">
            <a:avLst/>
          </a:prstGeom>
          <a:solidFill>
            <a:schemeClr val="bg1"/>
          </a:solidFill>
          <a:ln w="12700">
            <a:solidFill>
              <a:schemeClr val="tx1"/>
            </a:solidFill>
          </a:ln>
        </p:spPr>
        <p:txBody>
          <a:bodyPr wrap="none" lIns="0" tIns="0" rIns="0" bIns="0" rtlCol="0" anchor="ctr" anchorCtr="0">
            <a:no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BD 10    </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L2 VNI 10 </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RD 20:1 </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IRT 10:1</a:t>
            </a:r>
          </a:p>
        </p:txBody>
      </p:sp>
      <p:grpSp>
        <p:nvGrpSpPr>
          <p:cNvPr id="72" name="组合 71"/>
          <p:cNvGrpSpPr/>
          <p:nvPr/>
        </p:nvGrpSpPr>
        <p:grpSpPr bwMode="gray">
          <a:xfrm>
            <a:off x="5148279" y="3772786"/>
            <a:ext cx="2643988" cy="1912436"/>
            <a:chOff x="5148279" y="4064886"/>
            <a:chExt cx="2643988" cy="1912436"/>
          </a:xfrm>
        </p:grpSpPr>
        <p:sp>
          <p:nvSpPr>
            <p:cNvPr id="73" name="文本框 72"/>
            <p:cNvSpPr txBox="1"/>
            <p:nvPr/>
          </p:nvSpPr>
          <p:spPr bwMode="gray">
            <a:xfrm>
              <a:off x="5148279" y="4064886"/>
              <a:ext cx="2643988" cy="318401"/>
            </a:xfrm>
            <a:prstGeom prst="round2SameRect">
              <a:avLst>
                <a:gd name="adj1" fmla="val 20890"/>
                <a:gd name="adj2" fmla="val 0"/>
              </a:avLst>
            </a:prstGeom>
            <a:solidFill>
              <a:srgbClr val="EC7061"/>
            </a:solidFill>
            <a:ln w="19050">
              <a:solidFill>
                <a:sysClr val="window" lastClr="FFFFFF"/>
              </a:solidFill>
            </a:ln>
          </p:spPr>
          <p:txBody>
            <a:bodyPr wrap="none" lIns="0" tIns="0" rIns="0" bIns="0" rtlCol="0" anchor="ctr" anchorCtr="0">
              <a:noAutofit/>
            </a:bodyPr>
            <a:lstStyle>
              <a:defPPr>
                <a:defRPr lang="en-US"/>
              </a:defPPr>
              <a:lvl1pPr algn="ctr">
                <a:defRPr sz="1200" b="1">
                  <a:solidFill>
                    <a:schemeClr val="bg1"/>
                  </a:solidFill>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BGP Update</a:t>
              </a:r>
              <a:r>
                <a:rPr kumimoji="0" lang="zh-CN" altLang="en-US"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报文</a:t>
              </a:r>
              <a:endPar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文本框 73"/>
            <p:cNvSpPr txBox="1"/>
            <p:nvPr/>
          </p:nvSpPr>
          <p:spPr bwMode="gray">
            <a:xfrm>
              <a:off x="5148279" y="4389637"/>
              <a:ext cx="2643988" cy="1587685"/>
            </a:xfrm>
            <a:prstGeom prst="rect">
              <a:avLst/>
            </a:prstGeom>
            <a:solidFill>
              <a:srgbClr val="EC7061">
                <a:lumMod val="20000"/>
                <a:lumOff val="80000"/>
              </a:srgbClr>
            </a:solidFill>
            <a:ln w="19050">
              <a:solidFill>
                <a:sysClr val="window" lastClr="FFFFFF"/>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文本框 74"/>
            <p:cNvSpPr txBox="1"/>
            <p:nvPr/>
          </p:nvSpPr>
          <p:spPr bwMode="gray">
            <a:xfrm>
              <a:off x="5253813" y="4817774"/>
              <a:ext cx="2432922" cy="270377"/>
            </a:xfrm>
            <a:prstGeom prst="rect">
              <a:avLst/>
            </a:prstGeom>
            <a:solidFill>
              <a:srgbClr val="EC7061">
                <a:lumMod val="40000"/>
                <a:lumOff val="60000"/>
              </a:srgbClr>
            </a:solidFill>
            <a:ln w="19050">
              <a:solidFill>
                <a:srgbClr val="EC7061">
                  <a:lumMod val="60000"/>
                  <a:lumOff val="40000"/>
                </a:srgbClr>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Type 2</a:t>
              </a: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路由</a:t>
              </a:r>
            </a:p>
          </p:txBody>
        </p:sp>
        <p:sp>
          <p:nvSpPr>
            <p:cNvPr id="76" name="文本框 75"/>
            <p:cNvSpPr txBox="1"/>
            <p:nvPr/>
          </p:nvSpPr>
          <p:spPr bwMode="gray">
            <a:xfrm>
              <a:off x="5253813" y="5088151"/>
              <a:ext cx="2432922" cy="742605"/>
            </a:xfrm>
            <a:prstGeom prst="rect">
              <a:avLst/>
            </a:prstGeom>
            <a:solidFill>
              <a:sysClr val="window" lastClr="FFFFFF"/>
            </a:solidFill>
            <a:ln w="19050">
              <a:solidFill>
                <a:srgbClr val="EC7061">
                  <a:lumMod val="60000"/>
                  <a:lumOff val="40000"/>
                </a:srgbClr>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RD = 10:1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MAC</a:t>
              </a: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地址</a:t>
              </a: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=0000-0000-0001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VNI = </a:t>
              </a:r>
              <a:r>
                <a:rPr kumimoji="0" lang="en-US" altLang="zh-CN" sz="1400" b="0" i="0" u="none" strike="noStrike" kern="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10</a:t>
              </a:r>
            </a:p>
          </p:txBody>
        </p:sp>
        <p:sp>
          <p:nvSpPr>
            <p:cNvPr id="77" name="矩形 76"/>
            <p:cNvSpPr/>
            <p:nvPr/>
          </p:nvSpPr>
          <p:spPr bwMode="gray">
            <a:xfrm>
              <a:off x="5738344" y="4512226"/>
              <a:ext cx="1463863" cy="307777"/>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EVPN RT</a:t>
              </a: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 </a:t>
              </a: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 </a:t>
              </a:r>
              <a:r>
                <a:rPr kumimoji="0" lang="en-US" altLang="zh-CN" sz="1400" b="0" i="0" u="none" strike="noStrike" kern="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10:1</a:t>
              </a:r>
            </a:p>
          </p:txBody>
        </p:sp>
      </p:grpSp>
      <p:sp>
        <p:nvSpPr>
          <p:cNvPr id="4" name="圆角矩形 3"/>
          <p:cNvSpPr/>
          <p:nvPr/>
        </p:nvSpPr>
        <p:spPr bwMode="gray">
          <a:xfrm>
            <a:off x="711404" y="5943600"/>
            <a:ext cx="1474584" cy="257175"/>
          </a:xfrm>
          <a:prstGeom prst="roundRect">
            <a:avLst/>
          </a:prstGeom>
          <a:solidFill>
            <a:srgbClr val="AFD89C"/>
          </a:solid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地址通告</a:t>
            </a:r>
          </a:p>
        </p:txBody>
      </p:sp>
      <p:sp>
        <p:nvSpPr>
          <p:cNvPr id="63" name="圆角矩形 62"/>
          <p:cNvSpPr/>
          <p:nvPr/>
        </p:nvSpPr>
        <p:spPr bwMode="gray">
          <a:xfrm>
            <a:off x="2185988" y="5943600"/>
            <a:ext cx="1474584" cy="257175"/>
          </a:xfrm>
          <a:prstGeom prst="roundRect">
            <a:avLst/>
          </a:prstGeom>
          <a:solidFill>
            <a:schemeClr val="bg1">
              <a:lumMod val="7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通告</a:t>
            </a:r>
          </a:p>
        </p:txBody>
      </p:sp>
      <p:sp>
        <p:nvSpPr>
          <p:cNvPr id="64" name="圆角矩形 63"/>
          <p:cNvSpPr/>
          <p:nvPr/>
        </p:nvSpPr>
        <p:spPr bwMode="gray">
          <a:xfrm>
            <a:off x="3673695" y="5943600"/>
            <a:ext cx="1474584" cy="257175"/>
          </a:xfrm>
          <a:prstGeom prst="roundRect">
            <a:avLst/>
          </a:prstGeom>
          <a:solidFill>
            <a:schemeClr val="bg1">
              <a:lumMod val="7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路由通告</a:t>
            </a:r>
          </a:p>
        </p:txBody>
      </p:sp>
      <p:sp>
        <p:nvSpPr>
          <p:cNvPr id="60" name="五边形 24">
            <a:extLst>
              <a:ext uri="{FF2B5EF4-FFF2-40B4-BE49-F238E27FC236}">
                <a16:creationId xmlns:a16="http://schemas.microsoft.com/office/drawing/2014/main" id="{66BA07AD-FEEF-4CB3-8D55-B5A235B0FBAC}"/>
              </a:ext>
            </a:extLst>
          </p:cNvPr>
          <p:cNvSpPr/>
          <p:nvPr/>
        </p:nvSpPr>
        <p:spPr bwMode="gray">
          <a:xfrm>
            <a:off x="8632177" y="124239"/>
            <a:ext cx="108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Type 2</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燕尾形 26">
            <a:extLst>
              <a:ext uri="{FF2B5EF4-FFF2-40B4-BE49-F238E27FC236}">
                <a16:creationId xmlns:a16="http://schemas.microsoft.com/office/drawing/2014/main" id="{0C19331F-8FCC-488E-9C32-A3F774208D1E}"/>
              </a:ext>
            </a:extLst>
          </p:cNvPr>
          <p:cNvSpPr/>
          <p:nvPr/>
        </p:nvSpPr>
        <p:spPr bwMode="gray">
          <a:xfrm>
            <a:off x="10629665"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5</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p>
        </p:txBody>
      </p:sp>
      <p:sp>
        <p:nvSpPr>
          <p:cNvPr id="62" name="燕尾形 26">
            <a:extLst>
              <a:ext uri="{FF2B5EF4-FFF2-40B4-BE49-F238E27FC236}">
                <a16:creationId xmlns:a16="http://schemas.microsoft.com/office/drawing/2014/main" id="{5C797163-D6D3-4ACC-996D-421D87F18D19}"/>
              </a:ext>
            </a:extLst>
          </p:cNvPr>
          <p:cNvSpPr/>
          <p:nvPr/>
        </p:nvSpPr>
        <p:spPr bwMode="gray">
          <a:xfrm>
            <a:off x="9630921"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3</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1250140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sym typeface="Huawei Sans" panose="020C0503030203020204" pitchFamily="34" charset="0"/>
              </a:rPr>
              <a:t>主机</a:t>
            </a:r>
            <a:r>
              <a:rPr lang="en-US" altLang="zh-CN">
                <a:sym typeface="Huawei Sans" panose="020C0503030203020204" pitchFamily="34" charset="0"/>
              </a:rPr>
              <a:t>ARP</a:t>
            </a:r>
            <a:r>
              <a:rPr lang="zh-CN" altLang="en-US">
                <a:sym typeface="Huawei Sans" panose="020C0503030203020204" pitchFamily="34" charset="0"/>
              </a:rPr>
              <a:t>通告</a:t>
            </a:r>
            <a:endParaRPr lang="zh-CN" altLang="en-US" dirty="0">
              <a:sym typeface="Huawei Sans" panose="020C0503030203020204" pitchFamily="34" charset="0"/>
            </a:endParaRPr>
          </a:p>
        </p:txBody>
      </p:sp>
      <p:sp>
        <p:nvSpPr>
          <p:cNvPr id="4" name="文本占位符 2"/>
          <p:cNvSpPr>
            <a:spLocks noGrp="1"/>
          </p:cNvSpPr>
          <p:nvPr>
            <p:ph type="body" sz="quarter" idx="10"/>
          </p:nvPr>
        </p:nvSpPr>
        <p:spPr bwMode="gray">
          <a:xfrm>
            <a:off x="455613" y="1047751"/>
            <a:ext cx="11256962" cy="506988"/>
          </a:xfrm>
        </p:spPr>
        <p:txBody>
          <a:bodyPr/>
          <a:lstStyle/>
          <a:p>
            <a:r>
              <a:rPr lang="zh-CN" altLang="en-US" sz="1800" dirty="0">
                <a:sym typeface="Huawei Sans" panose="020C0503030203020204" pitchFamily="34" charset="0"/>
              </a:rPr>
              <a:t>本页展示</a:t>
            </a:r>
            <a:r>
              <a:rPr lang="en-US" altLang="zh-CN" sz="1800" dirty="0">
                <a:sym typeface="Huawei Sans" panose="020C0503030203020204" pitchFamily="34" charset="0"/>
              </a:rPr>
              <a:t>BGP EVPN</a:t>
            </a:r>
            <a:r>
              <a:rPr lang="zh-CN" altLang="en-US" sz="1800" dirty="0">
                <a:sym typeface="Huawei Sans" panose="020C0503030203020204" pitchFamily="34" charset="0"/>
              </a:rPr>
              <a:t>使用</a:t>
            </a:r>
            <a:r>
              <a:rPr lang="en-US" altLang="zh-CN" sz="1800" dirty="0">
                <a:sym typeface="Huawei Sans" panose="020C0503030203020204" pitchFamily="34" charset="0"/>
              </a:rPr>
              <a:t>Type 2</a:t>
            </a:r>
            <a:r>
              <a:rPr lang="zh-CN" altLang="en-US" sz="1800" dirty="0">
                <a:sym typeface="Huawei Sans" panose="020C0503030203020204" pitchFamily="34" charset="0"/>
              </a:rPr>
              <a:t>路由实现主机</a:t>
            </a:r>
            <a:r>
              <a:rPr lang="en-US" altLang="zh-CN" sz="1800" dirty="0">
                <a:sym typeface="Huawei Sans" panose="020C0503030203020204" pitchFamily="34" charset="0"/>
              </a:rPr>
              <a:t>ARP</a:t>
            </a:r>
            <a:r>
              <a:rPr lang="zh-CN" altLang="en-US" sz="1800" dirty="0">
                <a:sym typeface="Huawei Sans" panose="020C0503030203020204" pitchFamily="34" charset="0"/>
              </a:rPr>
              <a:t>通告。</a:t>
            </a:r>
          </a:p>
        </p:txBody>
      </p:sp>
      <p:cxnSp>
        <p:nvCxnSpPr>
          <p:cNvPr id="6" name="直接连接符 5"/>
          <p:cNvCxnSpPr/>
          <p:nvPr/>
        </p:nvCxnSpPr>
        <p:spPr bwMode="gray">
          <a:xfrm flipH="1">
            <a:off x="7855444" y="4390921"/>
            <a:ext cx="1530532" cy="0"/>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bwMode="gray">
          <a:xfrm>
            <a:off x="3684175" y="2286209"/>
            <a:ext cx="442385" cy="432048"/>
            <a:chOff x="1194287" y="4005064"/>
            <a:chExt cx="442385" cy="432048"/>
          </a:xfrm>
        </p:grpSpPr>
        <p:cxnSp>
          <p:nvCxnSpPr>
            <p:cNvPr id="32" name="直接连接符 31"/>
            <p:cNvCxnSpPr/>
            <p:nvPr/>
          </p:nvCxnSpPr>
          <p:spPr bwMode="gray">
            <a:xfrm flipV="1">
              <a:off x="1415479" y="400506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bwMode="gray">
            <a:xfrm>
              <a:off x="1194287" y="400506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矩形 8"/>
          <p:cNvSpPr/>
          <p:nvPr/>
        </p:nvSpPr>
        <p:spPr bwMode="gray">
          <a:xfrm>
            <a:off x="3158208" y="2888697"/>
            <a:ext cx="1494320"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9"/>
          <p:cNvSpPr/>
          <p:nvPr/>
        </p:nvSpPr>
        <p:spPr bwMode="gray">
          <a:xfrm>
            <a:off x="3166222" y="1959632"/>
            <a:ext cx="1478290"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VTEP</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 1.1.1.1/32</a:t>
            </a:r>
          </a:p>
        </p:txBody>
      </p:sp>
      <p:grpSp>
        <p:nvGrpSpPr>
          <p:cNvPr id="11" name="组合 10"/>
          <p:cNvGrpSpPr/>
          <p:nvPr/>
        </p:nvGrpSpPr>
        <p:grpSpPr bwMode="gray">
          <a:xfrm>
            <a:off x="9173594" y="2286209"/>
            <a:ext cx="442385" cy="432048"/>
            <a:chOff x="1194287" y="4005064"/>
            <a:chExt cx="442385" cy="432048"/>
          </a:xfrm>
        </p:grpSpPr>
        <p:cxnSp>
          <p:nvCxnSpPr>
            <p:cNvPr id="30" name="直接连接符 29"/>
            <p:cNvCxnSpPr/>
            <p:nvPr/>
          </p:nvCxnSpPr>
          <p:spPr bwMode="gray">
            <a:xfrm flipV="1">
              <a:off x="1415479" y="400506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bwMode="gray">
            <a:xfrm>
              <a:off x="1194287" y="400506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矩形 11"/>
          <p:cNvSpPr/>
          <p:nvPr/>
        </p:nvSpPr>
        <p:spPr bwMode="gray">
          <a:xfrm>
            <a:off x="8647627" y="2888697"/>
            <a:ext cx="1494320"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矩形 12"/>
          <p:cNvSpPr/>
          <p:nvPr/>
        </p:nvSpPr>
        <p:spPr bwMode="gray">
          <a:xfrm>
            <a:off x="8655645" y="1959632"/>
            <a:ext cx="1478290"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VTEP</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 2.2.2.2/32</a:t>
            </a:r>
          </a:p>
        </p:txBody>
      </p:sp>
      <p:sp>
        <p:nvSpPr>
          <p:cNvPr id="14" name="圆柱形 13"/>
          <p:cNvSpPr/>
          <p:nvPr/>
        </p:nvSpPr>
        <p:spPr bwMode="gray">
          <a:xfrm rot="16200000">
            <a:off x="6558838" y="257684"/>
            <a:ext cx="242039" cy="4911772"/>
          </a:xfrm>
          <a:prstGeom prst="can">
            <a:avLst>
              <a:gd name="adj" fmla="val 72803"/>
            </a:avLst>
          </a:prstGeom>
          <a:solidFill>
            <a:srgbClr val="EC7061"/>
          </a:solidFill>
          <a:ln w="12700" cap="flat" cmpd="sng" algn="ctr">
            <a:solidFill>
              <a:sysClr val="window" lastClr="FFFFF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999">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矩形 14"/>
          <p:cNvSpPr/>
          <p:nvPr/>
        </p:nvSpPr>
        <p:spPr bwMode="gray">
          <a:xfrm>
            <a:off x="6075429" y="2570679"/>
            <a:ext cx="1141659" cy="307777"/>
          </a:xfrm>
          <a:prstGeom prst="rect">
            <a:avLst/>
          </a:prstGeom>
        </p:spPr>
        <p:txBody>
          <a:bodyPr wrap="none">
            <a:spAutoFit/>
          </a:bodyPr>
          <a:lstStyle/>
          <a:p>
            <a:pPr algn="just"/>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a:t>
            </a:r>
          </a:p>
        </p:txBody>
      </p:sp>
      <p:sp>
        <p:nvSpPr>
          <p:cNvPr id="16" name="矩形 15"/>
          <p:cNvSpPr/>
          <p:nvPr/>
        </p:nvSpPr>
        <p:spPr bwMode="gray">
          <a:xfrm>
            <a:off x="1150248" y="3015295"/>
            <a:ext cx="1667444"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PC1 </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172.16.1.1/24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0000-0000-0001</a:t>
            </a:r>
          </a:p>
        </p:txBody>
      </p:sp>
      <p:cxnSp>
        <p:nvCxnSpPr>
          <p:cNvPr id="17" name="直接连接符 16"/>
          <p:cNvCxnSpPr/>
          <p:nvPr/>
        </p:nvCxnSpPr>
        <p:spPr bwMode="gray">
          <a:xfrm>
            <a:off x="2322323" y="2718257"/>
            <a:ext cx="137816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图片 87" descr="汇聚交换机.png"/>
          <p:cNvPicPr>
            <a:picLocks noChangeAspect="1"/>
          </p:cNvPicPr>
          <p:nvPr/>
        </p:nvPicPr>
        <p:blipFill>
          <a:blip r:embed="rId3"/>
          <a:stretch>
            <a:fillRect/>
          </a:stretch>
        </p:blipFill>
        <p:spPr bwMode="gray">
          <a:xfrm>
            <a:off x="3653958" y="2477297"/>
            <a:ext cx="502820" cy="411400"/>
          </a:xfrm>
          <a:prstGeom prst="rect">
            <a:avLst/>
          </a:prstGeom>
        </p:spPr>
      </p:pic>
      <p:pic>
        <p:nvPicPr>
          <p:cNvPr id="23" name="图片 87" descr="汇聚交换机.png"/>
          <p:cNvPicPr>
            <a:picLocks noChangeAspect="1"/>
          </p:cNvPicPr>
          <p:nvPr/>
        </p:nvPicPr>
        <p:blipFill>
          <a:blip r:embed="rId3"/>
          <a:stretch>
            <a:fillRect/>
          </a:stretch>
        </p:blipFill>
        <p:spPr bwMode="gray">
          <a:xfrm>
            <a:off x="9161220" y="2477297"/>
            <a:ext cx="502820" cy="411400"/>
          </a:xfrm>
          <a:prstGeom prst="rect">
            <a:avLst/>
          </a:prstGeom>
        </p:spPr>
      </p:pic>
      <p:pic>
        <p:nvPicPr>
          <p:cNvPr id="24" name="图片 11" descr="开放网络-蓝.png"/>
          <p:cNvPicPr>
            <a:picLocks noChangeAspect="1"/>
          </p:cNvPicPr>
          <p:nvPr/>
        </p:nvPicPr>
        <p:blipFill>
          <a:blip r:embed="rId4" cstate="print"/>
          <a:stretch>
            <a:fillRect/>
          </a:stretch>
        </p:blipFill>
        <p:spPr bwMode="gray">
          <a:xfrm>
            <a:off x="1877232" y="2552922"/>
            <a:ext cx="445956" cy="343290"/>
          </a:xfrm>
          <a:prstGeom prst="rect">
            <a:avLst/>
          </a:prstGeom>
        </p:spPr>
      </p:pic>
      <p:sp>
        <p:nvSpPr>
          <p:cNvPr id="25" name="椭圆 24"/>
          <p:cNvSpPr>
            <a:spLocks noChangeAspect="1"/>
          </p:cNvSpPr>
          <p:nvPr/>
        </p:nvSpPr>
        <p:spPr bwMode="gray">
          <a:xfrm>
            <a:off x="3432854" y="4278260"/>
            <a:ext cx="232480" cy="232480"/>
          </a:xfrm>
          <a:prstGeom prst="ellipse">
            <a:avLst/>
          </a:prstGeom>
          <a:solidFill>
            <a:srgbClr val="EC7061">
              <a:lumMod val="100000"/>
            </a:srgbClr>
          </a:solidFill>
          <a:ln w="19050" cap="flat" cmpd="sng" algn="ctr">
            <a:noFill/>
            <a:prstDash val="solid"/>
            <a:miter lim="800000"/>
          </a:ln>
          <a:effectLst/>
        </p:spPr>
        <p:txBody>
          <a:bodyPr wrap="none" lIns="0" tIns="0" rIns="0" bIns="0" rtlCol="0" anchor="ctr"/>
          <a:lstStyle/>
          <a:p>
            <a:pPr algn="ctr"/>
            <a:r>
              <a:rPr lang="en-US" altLang="zh-CN" sz="1400" b="1"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矩形 25"/>
          <p:cNvSpPr/>
          <p:nvPr/>
        </p:nvSpPr>
        <p:spPr bwMode="gray">
          <a:xfrm>
            <a:off x="2757977" y="4553830"/>
            <a:ext cx="1582234" cy="523220"/>
          </a:xfrm>
          <a:prstGeom prst="rect">
            <a:avLst/>
          </a:prstGeom>
        </p:spPr>
        <p:txBody>
          <a:bodyPr wrap="square">
            <a:spAutoFit/>
          </a:bodyPr>
          <a:lstStyle/>
          <a:p>
            <a:pPr algn="ct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学习到</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表项</a:t>
            </a:r>
            <a:endPar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椭圆 26"/>
          <p:cNvSpPr>
            <a:spLocks noChangeAspect="1"/>
          </p:cNvSpPr>
          <p:nvPr/>
        </p:nvSpPr>
        <p:spPr bwMode="gray">
          <a:xfrm>
            <a:off x="5047984" y="3588429"/>
            <a:ext cx="232480" cy="232480"/>
          </a:xfrm>
          <a:prstGeom prst="ellipse">
            <a:avLst/>
          </a:prstGeom>
          <a:solidFill>
            <a:srgbClr val="EC7061">
              <a:lumMod val="100000"/>
            </a:srgbClr>
          </a:solidFill>
          <a:ln w="19050" cap="flat" cmpd="sng" algn="ctr">
            <a:noFill/>
            <a:prstDash val="solid"/>
            <a:miter lim="800000"/>
          </a:ln>
          <a:effectLst/>
        </p:spPr>
        <p:txBody>
          <a:bodyPr wrap="none" lIns="0" tIns="0" rIns="0" bIns="0" rtlCol="0" anchor="ctr"/>
          <a:lstStyle/>
          <a:p>
            <a:pPr algn="ctr"/>
            <a:r>
              <a:rPr lang="en-US" altLang="zh-CN" sz="1400" b="1"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椭圆 27"/>
          <p:cNvSpPr>
            <a:spLocks noChangeAspect="1"/>
          </p:cNvSpPr>
          <p:nvPr/>
        </p:nvSpPr>
        <p:spPr bwMode="gray">
          <a:xfrm>
            <a:off x="9699383" y="4226015"/>
            <a:ext cx="232480" cy="232480"/>
          </a:xfrm>
          <a:prstGeom prst="ellipse">
            <a:avLst/>
          </a:prstGeom>
          <a:solidFill>
            <a:srgbClr val="EC7061">
              <a:lumMod val="100000"/>
            </a:srgbClr>
          </a:solidFill>
          <a:ln w="19050" cap="flat" cmpd="sng" algn="ctr">
            <a:noFill/>
            <a:prstDash val="solid"/>
            <a:miter lim="800000"/>
          </a:ln>
          <a:effectLst/>
        </p:spPr>
        <p:txBody>
          <a:bodyPr wrap="none" lIns="0" tIns="0" rIns="0" bIns="0" rtlCol="0" anchor="ctr"/>
          <a:lstStyle/>
          <a:p>
            <a:pPr algn="ctr"/>
            <a:r>
              <a:rPr lang="en-US" altLang="zh-CN" sz="1400" b="1"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矩形 28"/>
          <p:cNvSpPr/>
          <p:nvPr/>
        </p:nvSpPr>
        <p:spPr bwMode="gray">
          <a:xfrm>
            <a:off x="9404568" y="4501585"/>
            <a:ext cx="1767784" cy="523220"/>
          </a:xfrm>
          <a:prstGeom prst="rect">
            <a:avLst/>
          </a:prstGeom>
        </p:spPr>
        <p:txBody>
          <a:bodyPr wrap="square">
            <a:spAutoFit/>
          </a:bodyPr>
          <a:lstStyle/>
          <a:p>
            <a:pPr algn="ct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网关</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获得关于</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信息</a:t>
            </a:r>
            <a:endPar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a:extLst>
              <a:ext uri="{FF2B5EF4-FFF2-40B4-BE49-F238E27FC236}">
                <a16:creationId xmlns:a16="http://schemas.microsoft.com/office/drawing/2014/main" id="{06B15736-FC8B-4050-A2F5-AB6BD864A78D}"/>
              </a:ext>
            </a:extLst>
          </p:cNvPr>
          <p:cNvSpPr txBox="1">
            <a:spLocks/>
          </p:cNvSpPr>
          <p:nvPr/>
        </p:nvSpPr>
        <p:spPr bwMode="gray">
          <a:xfrm>
            <a:off x="2817692" y="3190670"/>
            <a:ext cx="1854871" cy="900621"/>
          </a:xfrm>
          <a:prstGeom prst="rect">
            <a:avLst/>
          </a:prstGeom>
          <a:solidFill>
            <a:schemeClr val="bg1"/>
          </a:solidFill>
          <a:ln w="12700">
            <a:solidFill>
              <a:schemeClr val="tx1"/>
            </a:solidFill>
          </a:ln>
        </p:spPr>
        <p:txBody>
          <a:bodyPr wrap="none" lIns="0" tIns="0" rIns="0" bIns="0" rtlCol="0" anchor="ctr" anchorCtr="0">
            <a:noAutofit/>
          </a:bodyPr>
          <a:lstStyle>
            <a:defPPr>
              <a:defRPr lang="en-US"/>
            </a:defPPr>
            <a:lvl1pPr algn="ctr">
              <a:defRPr sz="1400">
                <a:latin typeface="Huawei Sans" panose="020C0503030203020204" pitchFamily="34" charset="0"/>
                <a:ea typeface="方正兰亭黑简体" panose="02000000000000000000" pitchFamily="2" charset="-122"/>
              </a:defRPr>
            </a:lvl1pPr>
          </a:lstStyle>
          <a:p>
            <a:r>
              <a:rPr lang="en-US" altLang="zh-CN" dirty="0">
                <a:sym typeface="Huawei Sans" panose="020C0503030203020204" pitchFamily="34" charset="0"/>
              </a:rPr>
              <a:t>BD 10</a:t>
            </a:r>
          </a:p>
          <a:p>
            <a:r>
              <a:rPr lang="en-US" altLang="zh-CN" dirty="0">
                <a:sym typeface="Huawei Sans" panose="020C0503030203020204" pitchFamily="34" charset="0"/>
              </a:rPr>
              <a:t>L2 VNI 10</a:t>
            </a:r>
          </a:p>
          <a:p>
            <a:r>
              <a:rPr lang="en-US" altLang="zh-CN" dirty="0">
                <a:sym typeface="Huawei Sans" panose="020C0503030203020204" pitchFamily="34" charset="0"/>
              </a:rPr>
              <a:t>RD 10:1</a:t>
            </a:r>
          </a:p>
          <a:p>
            <a:r>
              <a:rPr lang="en-US" altLang="zh-CN" dirty="0">
                <a:sym typeface="Huawei Sans" panose="020C0503030203020204" pitchFamily="34" charset="0"/>
              </a:rPr>
              <a:t>ERT 10:1 </a:t>
            </a:r>
          </a:p>
        </p:txBody>
      </p:sp>
      <p:sp>
        <p:nvSpPr>
          <p:cNvPr id="36" name="文本框 35">
            <a:extLst>
              <a:ext uri="{FF2B5EF4-FFF2-40B4-BE49-F238E27FC236}">
                <a16:creationId xmlns:a16="http://schemas.microsoft.com/office/drawing/2014/main" id="{1B456A00-856E-41AC-A1F4-6EE7823F6030}"/>
              </a:ext>
            </a:extLst>
          </p:cNvPr>
          <p:cNvSpPr txBox="1">
            <a:spLocks/>
          </p:cNvSpPr>
          <p:nvPr/>
        </p:nvSpPr>
        <p:spPr bwMode="gray">
          <a:xfrm>
            <a:off x="8485194" y="3190670"/>
            <a:ext cx="1854871" cy="900621"/>
          </a:xfrm>
          <a:prstGeom prst="rect">
            <a:avLst/>
          </a:prstGeom>
          <a:solidFill>
            <a:schemeClr val="bg1"/>
          </a:solidFill>
          <a:ln w="12700">
            <a:solidFill>
              <a:schemeClr val="tx1"/>
            </a:solidFill>
          </a:ln>
        </p:spPr>
        <p:txBody>
          <a:bodyPr wrap="none" lIns="0" tIns="0" rIns="0" bIns="0" rtlCol="0" anchor="ctr" anchorCtr="0">
            <a:noAutofit/>
          </a:bodyPr>
          <a:lstStyle>
            <a:defPPr>
              <a:defRPr lang="en-US"/>
            </a:defPPr>
            <a:lvl1pPr algn="ctr">
              <a:defRPr sz="1400">
                <a:latin typeface="Huawei Sans" panose="020C0503030203020204" pitchFamily="34" charset="0"/>
                <a:ea typeface="方正兰亭黑简体" panose="02000000000000000000" pitchFamily="2" charset="-122"/>
              </a:defRPr>
            </a:lvl1pPr>
          </a:lstStyle>
          <a:p>
            <a:r>
              <a:rPr lang="en-US" altLang="zh-CN" dirty="0">
                <a:sym typeface="Huawei Sans" panose="020C0503030203020204" pitchFamily="34" charset="0"/>
              </a:rPr>
              <a:t>BD 10</a:t>
            </a:r>
          </a:p>
          <a:p>
            <a:r>
              <a:rPr lang="en-US" altLang="zh-CN" dirty="0">
                <a:sym typeface="Huawei Sans" panose="020C0503030203020204" pitchFamily="34" charset="0"/>
              </a:rPr>
              <a:t>L2 VNI 10 </a:t>
            </a:r>
          </a:p>
          <a:p>
            <a:r>
              <a:rPr lang="en-US" altLang="zh-CN" dirty="0">
                <a:sym typeface="Huawei Sans" panose="020C0503030203020204" pitchFamily="34" charset="0"/>
              </a:rPr>
              <a:t>RD 20:1</a:t>
            </a:r>
          </a:p>
          <a:p>
            <a:r>
              <a:rPr lang="en-US" altLang="zh-CN" dirty="0">
                <a:sym typeface="Huawei Sans" panose="020C0503030203020204" pitchFamily="34" charset="0"/>
              </a:rPr>
              <a:t>IRT 10:1</a:t>
            </a:r>
          </a:p>
        </p:txBody>
      </p:sp>
      <p:grpSp>
        <p:nvGrpSpPr>
          <p:cNvPr id="49" name="组合 48"/>
          <p:cNvGrpSpPr/>
          <p:nvPr/>
        </p:nvGrpSpPr>
        <p:grpSpPr bwMode="gray">
          <a:xfrm>
            <a:off x="5316988" y="3073217"/>
            <a:ext cx="2643988" cy="2130832"/>
            <a:chOff x="5316988" y="3136717"/>
            <a:chExt cx="2643988" cy="2130832"/>
          </a:xfrm>
        </p:grpSpPr>
        <p:sp>
          <p:nvSpPr>
            <p:cNvPr id="50" name="文本框 49"/>
            <p:cNvSpPr txBox="1"/>
            <p:nvPr/>
          </p:nvSpPr>
          <p:spPr bwMode="gray">
            <a:xfrm>
              <a:off x="5316988" y="3136717"/>
              <a:ext cx="2643988" cy="318401"/>
            </a:xfrm>
            <a:prstGeom prst="round2SameRect">
              <a:avLst>
                <a:gd name="adj1" fmla="val 20890"/>
                <a:gd name="adj2" fmla="val 0"/>
              </a:avLst>
            </a:prstGeom>
            <a:solidFill>
              <a:srgbClr val="EC7061"/>
            </a:solidFill>
            <a:ln w="19050">
              <a:solidFill>
                <a:sysClr val="window" lastClr="FFFFFF"/>
              </a:solidFill>
            </a:ln>
          </p:spPr>
          <p:txBody>
            <a:bodyPr wrap="none" lIns="0" tIns="0" rIns="0" bIns="0" rtlCol="0" anchor="ctr" anchorCtr="0">
              <a:noAutofit/>
            </a:bodyPr>
            <a:lstStyle>
              <a:defPPr>
                <a:defRPr lang="en-US"/>
              </a:defPPr>
              <a:lvl1pPr algn="ctr">
                <a:defRPr sz="1200" b="1">
                  <a:solidFill>
                    <a:schemeClr val="bg1"/>
                  </a:solidFill>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BGP Update</a:t>
              </a:r>
              <a:r>
                <a:rPr kumimoji="0" lang="zh-CN" altLang="en-US"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报文</a:t>
              </a:r>
              <a:endPar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文本框 50"/>
            <p:cNvSpPr txBox="1"/>
            <p:nvPr/>
          </p:nvSpPr>
          <p:spPr bwMode="gray">
            <a:xfrm>
              <a:off x="5316988" y="3461468"/>
              <a:ext cx="2643988" cy="1806081"/>
            </a:xfrm>
            <a:prstGeom prst="rect">
              <a:avLst/>
            </a:prstGeom>
            <a:solidFill>
              <a:srgbClr val="EC7061">
                <a:lumMod val="20000"/>
                <a:lumOff val="80000"/>
              </a:srgbClr>
            </a:solidFill>
            <a:ln w="19050">
              <a:solidFill>
                <a:sysClr val="window" lastClr="FFFFFF"/>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文本框 51"/>
            <p:cNvSpPr txBox="1"/>
            <p:nvPr/>
          </p:nvSpPr>
          <p:spPr bwMode="gray">
            <a:xfrm>
              <a:off x="5422522" y="3884412"/>
              <a:ext cx="2432922" cy="270377"/>
            </a:xfrm>
            <a:prstGeom prst="rect">
              <a:avLst/>
            </a:prstGeom>
            <a:solidFill>
              <a:srgbClr val="EC7061">
                <a:lumMod val="40000"/>
                <a:lumOff val="60000"/>
              </a:srgbClr>
            </a:solidFill>
            <a:ln w="19050">
              <a:solidFill>
                <a:srgbClr val="EC7061">
                  <a:lumMod val="60000"/>
                  <a:lumOff val="40000"/>
                </a:srgbClr>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Type 2</a:t>
              </a: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路由</a:t>
              </a:r>
            </a:p>
          </p:txBody>
        </p:sp>
        <p:sp>
          <p:nvSpPr>
            <p:cNvPr id="53" name="文本框 52"/>
            <p:cNvSpPr txBox="1"/>
            <p:nvPr/>
          </p:nvSpPr>
          <p:spPr bwMode="gray">
            <a:xfrm>
              <a:off x="5422522" y="4154790"/>
              <a:ext cx="2432922" cy="985760"/>
            </a:xfrm>
            <a:prstGeom prst="rect">
              <a:avLst/>
            </a:prstGeom>
            <a:solidFill>
              <a:sysClr val="window" lastClr="FFFFFF"/>
            </a:solidFill>
            <a:ln w="19050">
              <a:solidFill>
                <a:srgbClr val="EC7061">
                  <a:lumMod val="60000"/>
                  <a:lumOff val="40000"/>
                </a:srgbClr>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RD = 10:1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MAC</a:t>
              </a: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地址</a:t>
              </a: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=0000-0000-0001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a:t>
              </a:r>
              <a:r>
                <a:rPr kumimoji="0" lang="zh-CN" altLang="pt-BR"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地址 </a:t>
              </a:r>
              <a:r>
                <a:rPr kumimoji="0" lang="pt-BR"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 172.16.1.1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L2 VNI=</a:t>
              </a:r>
              <a:r>
                <a:rPr kumimoji="0" lang="pt-BR" altLang="zh-CN" sz="1400" b="0" i="0" u="none" strike="noStrike" kern="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10</a:t>
              </a:r>
            </a:p>
          </p:txBody>
        </p:sp>
        <p:sp>
          <p:nvSpPr>
            <p:cNvPr id="54" name="矩形 53"/>
            <p:cNvSpPr/>
            <p:nvPr/>
          </p:nvSpPr>
          <p:spPr bwMode="gray">
            <a:xfrm>
              <a:off x="5907052" y="3589243"/>
              <a:ext cx="1463862" cy="307777"/>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EVPN RT</a:t>
              </a: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 </a:t>
              </a: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 </a:t>
              </a:r>
              <a:r>
                <a:rPr kumimoji="0" lang="en-US" altLang="zh-CN" sz="1400" b="0" i="0" u="none" strike="noStrike" kern="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10:1</a:t>
              </a:r>
            </a:p>
          </p:txBody>
        </p:sp>
      </p:grpSp>
      <p:sp>
        <p:nvSpPr>
          <p:cNvPr id="39" name="圆角矩形 38"/>
          <p:cNvSpPr/>
          <p:nvPr/>
        </p:nvSpPr>
        <p:spPr bwMode="gray">
          <a:xfrm>
            <a:off x="711404" y="5943600"/>
            <a:ext cx="1474584" cy="257175"/>
          </a:xfrm>
          <a:prstGeom prst="roundRect">
            <a:avLst/>
          </a:prstGeom>
          <a:solidFill>
            <a:schemeClr val="bg1">
              <a:lumMod val="7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地址通告</a:t>
            </a:r>
          </a:p>
        </p:txBody>
      </p:sp>
      <p:sp>
        <p:nvSpPr>
          <p:cNvPr id="43" name="圆角矩形 42"/>
          <p:cNvSpPr/>
          <p:nvPr/>
        </p:nvSpPr>
        <p:spPr bwMode="gray">
          <a:xfrm>
            <a:off x="2185988" y="5943600"/>
            <a:ext cx="1474584" cy="257175"/>
          </a:xfrm>
          <a:prstGeom prst="roundRect">
            <a:avLst/>
          </a:prstGeom>
          <a:solidFill>
            <a:srgbClr val="AFD89C"/>
          </a:solid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通告</a:t>
            </a:r>
          </a:p>
        </p:txBody>
      </p:sp>
      <p:sp>
        <p:nvSpPr>
          <p:cNvPr id="44" name="圆角矩形 43"/>
          <p:cNvSpPr/>
          <p:nvPr/>
        </p:nvSpPr>
        <p:spPr bwMode="gray">
          <a:xfrm>
            <a:off x="3673695" y="5943600"/>
            <a:ext cx="1474584" cy="257175"/>
          </a:xfrm>
          <a:prstGeom prst="roundRect">
            <a:avLst/>
          </a:prstGeom>
          <a:solidFill>
            <a:schemeClr val="bg1">
              <a:lumMod val="7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路由通告</a:t>
            </a:r>
          </a:p>
        </p:txBody>
      </p:sp>
      <p:sp>
        <p:nvSpPr>
          <p:cNvPr id="45" name="五边形 24">
            <a:extLst>
              <a:ext uri="{FF2B5EF4-FFF2-40B4-BE49-F238E27FC236}">
                <a16:creationId xmlns:a16="http://schemas.microsoft.com/office/drawing/2014/main" id="{66BA07AD-FEEF-4CB3-8D55-B5A235B0FBAC}"/>
              </a:ext>
            </a:extLst>
          </p:cNvPr>
          <p:cNvSpPr/>
          <p:nvPr/>
        </p:nvSpPr>
        <p:spPr bwMode="gray">
          <a:xfrm>
            <a:off x="8632183" y="124239"/>
            <a:ext cx="108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Type 2</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燕尾形 26">
            <a:extLst>
              <a:ext uri="{FF2B5EF4-FFF2-40B4-BE49-F238E27FC236}">
                <a16:creationId xmlns:a16="http://schemas.microsoft.com/office/drawing/2014/main" id="{0C19331F-8FCC-488E-9C32-A3F774208D1E}"/>
              </a:ext>
            </a:extLst>
          </p:cNvPr>
          <p:cNvSpPr/>
          <p:nvPr/>
        </p:nvSpPr>
        <p:spPr bwMode="gray">
          <a:xfrm>
            <a:off x="10629671"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5</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p>
        </p:txBody>
      </p:sp>
      <p:sp>
        <p:nvSpPr>
          <p:cNvPr id="47" name="燕尾形 26">
            <a:extLst>
              <a:ext uri="{FF2B5EF4-FFF2-40B4-BE49-F238E27FC236}">
                <a16:creationId xmlns:a16="http://schemas.microsoft.com/office/drawing/2014/main" id="{5C797163-D6D3-4ACC-996D-421D87F18D19}"/>
              </a:ext>
            </a:extLst>
          </p:cNvPr>
          <p:cNvSpPr/>
          <p:nvPr/>
        </p:nvSpPr>
        <p:spPr bwMode="gray">
          <a:xfrm>
            <a:off x="9630927"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3</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文本占位符 2"/>
          <p:cNvSpPr txBox="1">
            <a:spLocks/>
          </p:cNvSpPr>
          <p:nvPr/>
        </p:nvSpPr>
        <p:spPr bwMode="gray">
          <a:xfrm>
            <a:off x="455613" y="5436612"/>
            <a:ext cx="11256962" cy="506988"/>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algn="l" defTabSz="914034" rtl="0" eaLnBrk="1" fontAlgn="auto"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auto"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auto"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auto"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zh-CN" altLang="en-US" sz="1600" dirty="0">
                <a:sym typeface="Huawei Sans" panose="020C0503030203020204" pitchFamily="34" charset="0"/>
              </a:rPr>
              <a:t>在集中式网关场景下使用</a:t>
            </a:r>
            <a:r>
              <a:rPr lang="en-US" altLang="zh-CN" sz="1600" dirty="0">
                <a:sym typeface="Huawei Sans" panose="020C0503030203020204" pitchFamily="34" charset="0"/>
              </a:rPr>
              <a:t>BGP EVPN</a:t>
            </a:r>
            <a:r>
              <a:rPr lang="zh-CN" altLang="en-US" sz="1600" dirty="0">
                <a:sym typeface="Huawei Sans" panose="020C0503030203020204" pitchFamily="34" charset="0"/>
              </a:rPr>
              <a:t>时，跨子网报文转发过程与此前介绍过的静态</a:t>
            </a:r>
            <a:r>
              <a:rPr lang="en-US" altLang="zh-CN" sz="1600" dirty="0">
                <a:sym typeface="Huawei Sans" panose="020C0503030203020204" pitchFamily="34" charset="0"/>
              </a:rPr>
              <a:t>VXLAN</a:t>
            </a:r>
            <a:r>
              <a:rPr lang="zh-CN" altLang="en-US" sz="1600" dirty="0">
                <a:sym typeface="Huawei Sans" panose="020C0503030203020204" pitchFamily="34" charset="0"/>
              </a:rPr>
              <a:t>场景相似，不再赘述。</a:t>
            </a:r>
          </a:p>
        </p:txBody>
      </p:sp>
    </p:spTree>
    <p:extLst>
      <p:ext uri="{BB962C8B-B14F-4D97-AF65-F5344CB8AC3E}">
        <p14:creationId xmlns:p14="http://schemas.microsoft.com/office/powerpoint/2010/main" val="31380141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2" name="直接连接符 71">
            <a:extLst>
              <a:ext uri="{FF2B5EF4-FFF2-40B4-BE49-F238E27FC236}">
                <a16:creationId xmlns:a16="http://schemas.microsoft.com/office/drawing/2014/main" id="{52DC6F41-F8AF-440B-A7D8-2F383A91BFE3}"/>
              </a:ext>
            </a:extLst>
          </p:cNvPr>
          <p:cNvCxnSpPr>
            <a:cxnSpLocks/>
          </p:cNvCxnSpPr>
          <p:nvPr/>
        </p:nvCxnSpPr>
        <p:spPr bwMode="gray">
          <a:xfrm>
            <a:off x="7644383" y="2927537"/>
            <a:ext cx="269432" cy="228353"/>
          </a:xfrm>
          <a:prstGeom prst="line">
            <a:avLst/>
          </a:prstGeom>
          <a:ln w="19050">
            <a:solidFill>
              <a:srgbClr val="F79646"/>
            </a:solidFill>
            <a:prstDash val="sysDot"/>
          </a:ln>
        </p:spPr>
        <p:style>
          <a:lnRef idx="1">
            <a:schemeClr val="accent1"/>
          </a:lnRef>
          <a:fillRef idx="0">
            <a:schemeClr val="accent1"/>
          </a:fillRef>
          <a:effectRef idx="0">
            <a:schemeClr val="accent1"/>
          </a:effectRef>
          <a:fontRef idx="minor">
            <a:schemeClr val="tx1"/>
          </a:fontRef>
        </p:style>
      </p:cxnSp>
      <p:sp>
        <p:nvSpPr>
          <p:cNvPr id="34" name="任意多边形 33"/>
          <p:cNvSpPr/>
          <p:nvPr/>
        </p:nvSpPr>
        <p:spPr bwMode="gray">
          <a:xfrm flipH="1">
            <a:off x="9938508" y="4091033"/>
            <a:ext cx="720000" cy="45719"/>
          </a:xfrm>
          <a:custGeom>
            <a:avLst/>
            <a:gdLst>
              <a:gd name="connsiteX0" fmla="*/ 1447800 w 1447800"/>
              <a:gd name="connsiteY0" fmla="*/ 171450 h 171450"/>
              <a:gd name="connsiteX1" fmla="*/ 0 w 1447800"/>
              <a:gd name="connsiteY1" fmla="*/ 171450 h 171450"/>
              <a:gd name="connsiteX2" fmla="*/ 0 w 1447800"/>
              <a:gd name="connsiteY2" fmla="*/ 0 h 171450"/>
              <a:gd name="connsiteX0" fmla="*/ 1447800 w 1447800"/>
              <a:gd name="connsiteY0" fmla="*/ 0 h 0"/>
              <a:gd name="connsiteX1" fmla="*/ 0 w 1447800"/>
              <a:gd name="connsiteY1" fmla="*/ 0 h 0"/>
            </a:gdLst>
            <a:ahLst/>
            <a:cxnLst>
              <a:cxn ang="0">
                <a:pos x="connsiteX0" y="connsiteY0"/>
              </a:cxn>
              <a:cxn ang="0">
                <a:pos x="connsiteX1" y="connsiteY1"/>
              </a:cxn>
            </a:cxnLst>
            <a:rect l="l" t="t" r="r" b="b"/>
            <a:pathLst>
              <a:path w="1447800">
                <a:moveTo>
                  <a:pt x="1447800" y="0"/>
                </a:moveTo>
                <a:lnTo>
                  <a:pt x="0" y="0"/>
                </a:ln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0" name="组合 49"/>
          <p:cNvGrpSpPr/>
          <p:nvPr/>
        </p:nvGrpSpPr>
        <p:grpSpPr bwMode="gray">
          <a:xfrm rot="10800000">
            <a:off x="9520736" y="4222905"/>
            <a:ext cx="337662" cy="277474"/>
            <a:chOff x="1149331" y="3370821"/>
            <a:chExt cx="598189" cy="335743"/>
          </a:xfrm>
        </p:grpSpPr>
        <p:cxnSp>
          <p:nvCxnSpPr>
            <p:cNvPr id="51" name="直接连接符 50"/>
            <p:cNvCxnSpPr/>
            <p:nvPr/>
          </p:nvCxnSpPr>
          <p:spPr bwMode="gray">
            <a:xfrm flipH="1">
              <a:off x="1149331" y="3370821"/>
              <a:ext cx="59818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bwMode="gray">
            <a:xfrm flipV="1">
              <a:off x="1448425" y="3370821"/>
              <a:ext cx="0" cy="3357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标题 1"/>
          <p:cNvSpPr>
            <a:spLocks noGrp="1"/>
          </p:cNvSpPr>
          <p:nvPr>
            <p:ph type="title"/>
          </p:nvPr>
        </p:nvSpPr>
        <p:spPr bwMode="gray"/>
        <p:txBody>
          <a:bodyPr/>
          <a:lstStyle/>
          <a:p>
            <a:r>
              <a:rPr lang="zh-CN" altLang="en-US">
                <a:sym typeface="Huawei Sans" panose="020C0503030203020204" pitchFamily="34" charset="0"/>
              </a:rPr>
              <a:t>分布式网关下的跨子网通信</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a:xfrm>
            <a:off x="455613" y="1047750"/>
            <a:ext cx="11256962" cy="1117513"/>
          </a:xfrm>
        </p:spPr>
        <p:txBody>
          <a:bodyPr/>
          <a:lstStyle/>
          <a:p>
            <a:r>
              <a:rPr lang="zh-CN" altLang="en-US" sz="1800" dirty="0">
                <a:sym typeface="Huawei Sans" panose="020C0503030203020204" pitchFamily="34" charset="0"/>
              </a:rPr>
              <a:t>分布式网关组网中</a:t>
            </a:r>
            <a:r>
              <a:rPr lang="en-US" altLang="zh-CN" sz="1800" dirty="0">
                <a:sym typeface="Huawei Sans" panose="020C0503030203020204" pitchFamily="34" charset="0"/>
              </a:rPr>
              <a:t>VTEP</a:t>
            </a:r>
            <a:r>
              <a:rPr lang="zh-CN" altLang="en-US" sz="1800" dirty="0">
                <a:sym typeface="Huawei Sans" panose="020C0503030203020204" pitchFamily="34" charset="0"/>
              </a:rPr>
              <a:t>设备既是</a:t>
            </a:r>
            <a:r>
              <a:rPr lang="en-US" altLang="zh-CN" sz="1800" dirty="0">
                <a:sym typeface="Huawei Sans" panose="020C0503030203020204" pitchFamily="34" charset="0"/>
              </a:rPr>
              <a:t>L2</a:t>
            </a:r>
            <a:r>
              <a:rPr lang="zh-CN" altLang="en-US" sz="1800" dirty="0">
                <a:sym typeface="Huawei Sans" panose="020C0503030203020204" pitchFamily="34" charset="0"/>
              </a:rPr>
              <a:t>网关，又是</a:t>
            </a:r>
            <a:r>
              <a:rPr lang="en-US" altLang="zh-CN" sz="1800" dirty="0">
                <a:sym typeface="Huawei Sans" panose="020C0503030203020204" pitchFamily="34" charset="0"/>
              </a:rPr>
              <a:t>L3</a:t>
            </a:r>
            <a:r>
              <a:rPr lang="zh-CN" altLang="en-US" sz="1800" dirty="0">
                <a:sym typeface="Huawei Sans" panose="020C0503030203020204" pitchFamily="34" charset="0"/>
              </a:rPr>
              <a:t>网关。在该组网下跨子网通信的实现方式并不唯一，根据接收报文的</a:t>
            </a:r>
            <a:r>
              <a:rPr lang="en-US" altLang="zh-CN" sz="1800" dirty="0">
                <a:sym typeface="Huawei Sans" panose="020C0503030203020204" pitchFamily="34" charset="0"/>
              </a:rPr>
              <a:t>VTEP</a:t>
            </a:r>
            <a:r>
              <a:rPr lang="zh-CN" altLang="en-US" sz="1800" dirty="0">
                <a:sym typeface="Huawei Sans" panose="020C0503030203020204" pitchFamily="34" charset="0"/>
              </a:rPr>
              <a:t>（</a:t>
            </a:r>
            <a:r>
              <a:rPr lang="en-US" altLang="zh-CN" sz="1800" dirty="0">
                <a:sym typeface="Huawei Sans" panose="020C0503030203020204" pitchFamily="34" charset="0"/>
              </a:rPr>
              <a:t>Ingress VTEP</a:t>
            </a:r>
            <a:r>
              <a:rPr lang="zh-CN" altLang="en-US" sz="1800" dirty="0">
                <a:sym typeface="Huawei Sans" panose="020C0503030203020204" pitchFamily="34" charset="0"/>
              </a:rPr>
              <a:t>）处理方式不同，可以划分为：非对称</a:t>
            </a:r>
            <a:r>
              <a:rPr lang="en-US" altLang="zh-CN" sz="1800" dirty="0">
                <a:sym typeface="Huawei Sans" panose="020C0503030203020204" pitchFamily="34" charset="0"/>
              </a:rPr>
              <a:t>IRB</a:t>
            </a:r>
            <a:r>
              <a:rPr lang="zh-CN" altLang="en-US" sz="1800" dirty="0">
                <a:sym typeface="Huawei Sans" panose="020C0503030203020204" pitchFamily="34" charset="0"/>
              </a:rPr>
              <a:t>转发（</a:t>
            </a:r>
            <a:r>
              <a:rPr lang="en-US" altLang="zh-CN" sz="1800" dirty="0">
                <a:sym typeface="Huawei Sans" panose="020C0503030203020204" pitchFamily="34" charset="0"/>
              </a:rPr>
              <a:t>Asymmetric Integrated Routing and Bridging</a:t>
            </a:r>
            <a:r>
              <a:rPr lang="zh-CN" altLang="en-US" sz="1800" dirty="0">
                <a:sym typeface="Huawei Sans" panose="020C0503030203020204" pitchFamily="34" charset="0"/>
              </a:rPr>
              <a:t>）、对称</a:t>
            </a:r>
            <a:r>
              <a:rPr lang="en-US" altLang="zh-CN" sz="1800" dirty="0">
                <a:sym typeface="Huawei Sans" panose="020C0503030203020204" pitchFamily="34" charset="0"/>
              </a:rPr>
              <a:t>IRB</a:t>
            </a:r>
            <a:r>
              <a:rPr lang="zh-CN" altLang="en-US" sz="1800" dirty="0">
                <a:sym typeface="Huawei Sans" panose="020C0503030203020204" pitchFamily="34" charset="0"/>
              </a:rPr>
              <a:t>转发（</a:t>
            </a:r>
            <a:r>
              <a:rPr lang="en-US" altLang="zh-CN" sz="1800" dirty="0">
                <a:sym typeface="Huawei Sans" panose="020C0503030203020204" pitchFamily="34" charset="0"/>
              </a:rPr>
              <a:t>Symmetric Integrated Routing and Bridging</a:t>
            </a:r>
            <a:r>
              <a:rPr lang="zh-CN" altLang="en-US" sz="1800" dirty="0">
                <a:sym typeface="Huawei Sans" panose="020C0503030203020204" pitchFamily="34" charset="0"/>
              </a:rPr>
              <a:t>）。</a:t>
            </a:r>
            <a:endParaRPr lang="en-US" altLang="zh-CN" sz="1800" dirty="0">
              <a:sym typeface="Huawei Sans" panose="020C0503030203020204" pitchFamily="34" charset="0"/>
            </a:endParaRPr>
          </a:p>
        </p:txBody>
      </p:sp>
      <p:sp>
        <p:nvSpPr>
          <p:cNvPr id="8" name="任意多边形 7"/>
          <p:cNvSpPr/>
          <p:nvPr/>
        </p:nvSpPr>
        <p:spPr bwMode="gray">
          <a:xfrm>
            <a:off x="6906830" y="4113893"/>
            <a:ext cx="720000" cy="45719"/>
          </a:xfrm>
          <a:custGeom>
            <a:avLst/>
            <a:gdLst>
              <a:gd name="connsiteX0" fmla="*/ 1447800 w 1447800"/>
              <a:gd name="connsiteY0" fmla="*/ 171450 h 171450"/>
              <a:gd name="connsiteX1" fmla="*/ 0 w 1447800"/>
              <a:gd name="connsiteY1" fmla="*/ 171450 h 171450"/>
              <a:gd name="connsiteX2" fmla="*/ 0 w 1447800"/>
              <a:gd name="connsiteY2" fmla="*/ 0 h 171450"/>
              <a:gd name="connsiteX0" fmla="*/ 1447800 w 1447800"/>
              <a:gd name="connsiteY0" fmla="*/ 0 h 0"/>
              <a:gd name="connsiteX1" fmla="*/ 0 w 1447800"/>
              <a:gd name="connsiteY1" fmla="*/ 0 h 0"/>
            </a:gdLst>
            <a:ahLst/>
            <a:cxnLst>
              <a:cxn ang="0">
                <a:pos x="connsiteX0" y="connsiteY0"/>
              </a:cxn>
              <a:cxn ang="0">
                <a:pos x="connsiteX1" y="connsiteY1"/>
              </a:cxn>
            </a:cxnLst>
            <a:rect l="l" t="t" r="r" b="b"/>
            <a:pathLst>
              <a:path w="1447800">
                <a:moveTo>
                  <a:pt x="1447800" y="0"/>
                </a:moveTo>
                <a:lnTo>
                  <a:pt x="0" y="0"/>
                </a:ln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0" name="组合 9"/>
          <p:cNvGrpSpPr/>
          <p:nvPr/>
        </p:nvGrpSpPr>
        <p:grpSpPr bwMode="gray">
          <a:xfrm rot="10800000">
            <a:off x="7644384" y="4222905"/>
            <a:ext cx="337662" cy="277474"/>
            <a:chOff x="1149331" y="3370821"/>
            <a:chExt cx="598189" cy="335743"/>
          </a:xfrm>
        </p:grpSpPr>
        <p:cxnSp>
          <p:nvCxnSpPr>
            <p:cNvPr id="11" name="直接连接符 10"/>
            <p:cNvCxnSpPr/>
            <p:nvPr/>
          </p:nvCxnSpPr>
          <p:spPr bwMode="gray">
            <a:xfrm flipH="1">
              <a:off x="1149331" y="3370821"/>
              <a:ext cx="59818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gray">
            <a:xfrm flipV="1">
              <a:off x="1448425" y="3370821"/>
              <a:ext cx="0" cy="3357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矩形 12"/>
          <p:cNvSpPr/>
          <p:nvPr/>
        </p:nvSpPr>
        <p:spPr bwMode="gray">
          <a:xfrm>
            <a:off x="7449974" y="4500379"/>
            <a:ext cx="726481"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VTEP1</a:t>
            </a:r>
          </a:p>
        </p:txBody>
      </p:sp>
      <p:pic>
        <p:nvPicPr>
          <p:cNvPr id="18" name="图片 87" descr="汇聚交换机.png"/>
          <p:cNvPicPr>
            <a:picLocks noChangeAspect="1"/>
          </p:cNvPicPr>
          <p:nvPr/>
        </p:nvPicPr>
        <p:blipFill>
          <a:blip r:embed="rId3"/>
          <a:stretch>
            <a:fillRect/>
          </a:stretch>
        </p:blipFill>
        <p:spPr bwMode="gray">
          <a:xfrm>
            <a:off x="7561805" y="3897677"/>
            <a:ext cx="502820" cy="411400"/>
          </a:xfrm>
          <a:prstGeom prst="rect">
            <a:avLst/>
          </a:prstGeom>
        </p:spPr>
      </p:pic>
      <p:pic>
        <p:nvPicPr>
          <p:cNvPr id="24" name="图片 87" descr="汇聚交换机.png"/>
          <p:cNvPicPr>
            <a:picLocks noChangeAspect="1"/>
          </p:cNvPicPr>
          <p:nvPr/>
        </p:nvPicPr>
        <p:blipFill>
          <a:blip r:embed="rId3"/>
          <a:stretch>
            <a:fillRect/>
          </a:stretch>
        </p:blipFill>
        <p:spPr bwMode="gray">
          <a:xfrm>
            <a:off x="9435688" y="3897677"/>
            <a:ext cx="502820" cy="411400"/>
          </a:xfrm>
          <a:prstGeom prst="rect">
            <a:avLst/>
          </a:prstGeom>
        </p:spPr>
      </p:pic>
      <p:sp>
        <p:nvSpPr>
          <p:cNvPr id="29" name="矩形 28"/>
          <p:cNvSpPr/>
          <p:nvPr/>
        </p:nvSpPr>
        <p:spPr bwMode="gray">
          <a:xfrm>
            <a:off x="6035975" y="4352867"/>
            <a:ext cx="1287532"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PC1</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172.16.2.1/24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0" name="图片 11" descr="开放网络-蓝.png"/>
          <p:cNvPicPr>
            <a:picLocks noChangeAspect="1"/>
          </p:cNvPicPr>
          <p:nvPr/>
        </p:nvPicPr>
        <p:blipFill>
          <a:blip r:embed="rId4" cstate="print"/>
          <a:stretch>
            <a:fillRect/>
          </a:stretch>
        </p:blipFill>
        <p:spPr bwMode="gray">
          <a:xfrm>
            <a:off x="6412038" y="3883803"/>
            <a:ext cx="539607" cy="415381"/>
          </a:xfrm>
          <a:prstGeom prst="rect">
            <a:avLst/>
          </a:prstGeom>
        </p:spPr>
      </p:pic>
      <p:sp>
        <p:nvSpPr>
          <p:cNvPr id="32" name="矩形 31"/>
          <p:cNvSpPr/>
          <p:nvPr/>
        </p:nvSpPr>
        <p:spPr bwMode="gray">
          <a:xfrm>
            <a:off x="10288462" y="4352867"/>
            <a:ext cx="1287532"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PC2</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172.16.1.2/24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39"/>
          <p:cNvSpPr/>
          <p:nvPr/>
        </p:nvSpPr>
        <p:spPr bwMode="gray">
          <a:xfrm rot="15603">
            <a:off x="6284729" y="3331241"/>
            <a:ext cx="846707" cy="523220"/>
          </a:xfrm>
          <a:prstGeom prst="rect">
            <a:avLst/>
          </a:prstGeom>
        </p:spPr>
        <p:txBody>
          <a:bodyPr wrap="none">
            <a:spAutoFit/>
          </a:bodyPr>
          <a:lstStyle/>
          <a:p>
            <a:pPr algn="just"/>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BD 20</a:t>
            </a:r>
          </a:p>
          <a:p>
            <a:pPr algn="just"/>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VNI 200</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40"/>
          <p:cNvSpPr/>
          <p:nvPr/>
        </p:nvSpPr>
        <p:spPr bwMode="gray">
          <a:xfrm rot="15603">
            <a:off x="10517627" y="3331241"/>
            <a:ext cx="846707" cy="523220"/>
          </a:xfrm>
          <a:prstGeom prst="rect">
            <a:avLst/>
          </a:prstGeom>
        </p:spPr>
        <p:txBody>
          <a:bodyPr wrap="none">
            <a:spAutoFit/>
          </a:bodyPr>
          <a:lstStyle/>
          <a:p>
            <a:pPr algn="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BD 10</a:t>
            </a:r>
          </a:p>
          <a:p>
            <a:pPr algn="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VNI 100</a:t>
            </a:r>
            <a:endPar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圆柱形 46"/>
          <p:cNvSpPr/>
          <p:nvPr/>
        </p:nvSpPr>
        <p:spPr bwMode="gray">
          <a:xfrm rot="16200000">
            <a:off x="8671661" y="3388916"/>
            <a:ext cx="242039" cy="1456111"/>
          </a:xfrm>
          <a:prstGeom prst="can">
            <a:avLst>
              <a:gd name="adj" fmla="val 72803"/>
            </a:avLst>
          </a:prstGeom>
          <a:solidFill>
            <a:srgbClr val="EC7061"/>
          </a:solidFill>
          <a:ln w="12700" cap="flat" cmpd="sng" algn="ctr">
            <a:solidFill>
              <a:sysClr val="window" lastClr="FFFFF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999">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矩形 48"/>
          <p:cNvSpPr/>
          <p:nvPr/>
        </p:nvSpPr>
        <p:spPr bwMode="gray">
          <a:xfrm>
            <a:off x="8253255" y="3969147"/>
            <a:ext cx="1141659" cy="307777"/>
          </a:xfrm>
          <a:prstGeom prst="rect">
            <a:avLst/>
          </a:prstGeom>
        </p:spPr>
        <p:txBody>
          <a:bodyPr wrap="none">
            <a:spAutoFit/>
          </a:bodyPr>
          <a:lstStyle/>
          <a:p>
            <a:pPr algn="just"/>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a:t>
            </a:r>
          </a:p>
        </p:txBody>
      </p:sp>
      <p:sp>
        <p:nvSpPr>
          <p:cNvPr id="53" name="矩形 52"/>
          <p:cNvSpPr/>
          <p:nvPr/>
        </p:nvSpPr>
        <p:spPr bwMode="gray">
          <a:xfrm>
            <a:off x="9326325" y="4500379"/>
            <a:ext cx="726482"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VTEP2</a:t>
            </a:r>
          </a:p>
        </p:txBody>
      </p:sp>
      <p:pic>
        <p:nvPicPr>
          <p:cNvPr id="33" name="图片 11" descr="开放网络-蓝.png"/>
          <p:cNvPicPr>
            <a:picLocks noChangeAspect="1"/>
          </p:cNvPicPr>
          <p:nvPr/>
        </p:nvPicPr>
        <p:blipFill>
          <a:blip r:embed="rId4" cstate="print"/>
          <a:stretch>
            <a:fillRect/>
          </a:stretch>
        </p:blipFill>
        <p:spPr bwMode="gray">
          <a:xfrm>
            <a:off x="10643929" y="3930349"/>
            <a:ext cx="539607" cy="415381"/>
          </a:xfrm>
          <a:prstGeom prst="rect">
            <a:avLst/>
          </a:prstGeom>
        </p:spPr>
      </p:pic>
      <p:sp>
        <p:nvSpPr>
          <p:cNvPr id="54" name="椭圆 53">
            <a:extLst>
              <a:ext uri="{FF2B5EF4-FFF2-40B4-BE49-F238E27FC236}">
                <a16:creationId xmlns:a16="http://schemas.microsoft.com/office/drawing/2014/main" id="{0B715521-6FFC-425A-9709-08A533BD8FE8}"/>
              </a:ext>
            </a:extLst>
          </p:cNvPr>
          <p:cNvSpPr/>
          <p:nvPr/>
        </p:nvSpPr>
        <p:spPr bwMode="gray">
          <a:xfrm rot="5400000" flipH="1">
            <a:off x="7829626" y="3918192"/>
            <a:ext cx="168379" cy="168357"/>
          </a:xfrm>
          <a:prstGeom prst="ellipse">
            <a:avLst/>
          </a:prstGeom>
          <a:solidFill>
            <a:srgbClr val="FFFFCC"/>
          </a:solidFill>
          <a:ln>
            <a:solidFill>
              <a:srgbClr val="F79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椭圆 54">
            <a:extLst>
              <a:ext uri="{FF2B5EF4-FFF2-40B4-BE49-F238E27FC236}">
                <a16:creationId xmlns:a16="http://schemas.microsoft.com/office/drawing/2014/main" id="{696C030C-47C1-4426-8FEA-7FF0447ECB4C}"/>
              </a:ext>
            </a:extLst>
          </p:cNvPr>
          <p:cNvSpPr/>
          <p:nvPr/>
        </p:nvSpPr>
        <p:spPr bwMode="gray">
          <a:xfrm rot="5400000" flipH="1">
            <a:off x="7606036" y="3918192"/>
            <a:ext cx="168379" cy="168357"/>
          </a:xfrm>
          <a:prstGeom prst="ellipse">
            <a:avLst/>
          </a:prstGeom>
          <a:solidFill>
            <a:srgbClr val="BDD7EE"/>
          </a:solidFill>
          <a:ln>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6" name="直接连接符 55">
            <a:extLst>
              <a:ext uri="{FF2B5EF4-FFF2-40B4-BE49-F238E27FC236}">
                <a16:creationId xmlns:a16="http://schemas.microsoft.com/office/drawing/2014/main" id="{52DC6F41-F8AF-440B-A7D8-2F383A91BFE3}"/>
              </a:ext>
            </a:extLst>
          </p:cNvPr>
          <p:cNvCxnSpPr>
            <a:cxnSpLocks/>
            <a:endCxn id="54" idx="6"/>
          </p:cNvCxnSpPr>
          <p:nvPr/>
        </p:nvCxnSpPr>
        <p:spPr bwMode="gray">
          <a:xfrm>
            <a:off x="7913815" y="3155890"/>
            <a:ext cx="0" cy="762291"/>
          </a:xfrm>
          <a:prstGeom prst="line">
            <a:avLst/>
          </a:prstGeom>
          <a:ln w="19050">
            <a:solidFill>
              <a:srgbClr val="F79646"/>
            </a:solidFill>
            <a:prstDash val="sysDot"/>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BD69DE19-F81B-479A-A5D4-18C55D0BD6ED}"/>
              </a:ext>
            </a:extLst>
          </p:cNvPr>
          <p:cNvCxnSpPr>
            <a:cxnSpLocks/>
            <a:endCxn id="55" idx="6"/>
          </p:cNvCxnSpPr>
          <p:nvPr/>
        </p:nvCxnSpPr>
        <p:spPr bwMode="gray">
          <a:xfrm>
            <a:off x="7690225" y="3206726"/>
            <a:ext cx="0" cy="711455"/>
          </a:xfrm>
          <a:prstGeom prst="line">
            <a:avLst/>
          </a:prstGeom>
          <a:ln w="19050">
            <a:solidFill>
              <a:srgbClr val="30B5C5"/>
            </a:solidFill>
            <a:prstDash val="sysDot"/>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52DC6F41-F8AF-440B-A7D8-2F383A91BFE3}"/>
              </a:ext>
            </a:extLst>
          </p:cNvPr>
          <p:cNvCxnSpPr>
            <a:cxnSpLocks/>
            <a:stCxn id="83" idx="3"/>
          </p:cNvCxnSpPr>
          <p:nvPr/>
        </p:nvCxnSpPr>
        <p:spPr bwMode="gray">
          <a:xfrm flipH="1">
            <a:off x="9564079" y="2907050"/>
            <a:ext cx="247879" cy="248840"/>
          </a:xfrm>
          <a:prstGeom prst="line">
            <a:avLst/>
          </a:prstGeom>
          <a:ln w="19050">
            <a:solidFill>
              <a:srgbClr val="F79646"/>
            </a:solidFill>
            <a:prstDash val="sysDot"/>
          </a:ln>
        </p:spPr>
        <p:style>
          <a:lnRef idx="1">
            <a:schemeClr val="accent1"/>
          </a:lnRef>
          <a:fillRef idx="0">
            <a:schemeClr val="accent1"/>
          </a:fillRef>
          <a:effectRef idx="0">
            <a:schemeClr val="accent1"/>
          </a:effectRef>
          <a:fontRef idx="minor">
            <a:schemeClr val="tx1"/>
          </a:fontRef>
        </p:style>
      </p:cxnSp>
      <p:sp>
        <p:nvSpPr>
          <p:cNvPr id="76" name="椭圆 75">
            <a:extLst>
              <a:ext uri="{FF2B5EF4-FFF2-40B4-BE49-F238E27FC236}">
                <a16:creationId xmlns:a16="http://schemas.microsoft.com/office/drawing/2014/main" id="{0B715521-6FFC-425A-9709-08A533BD8FE8}"/>
              </a:ext>
            </a:extLst>
          </p:cNvPr>
          <p:cNvSpPr/>
          <p:nvPr/>
        </p:nvSpPr>
        <p:spPr bwMode="gray">
          <a:xfrm rot="5400000" flipH="1">
            <a:off x="9506252" y="3918192"/>
            <a:ext cx="168379" cy="168357"/>
          </a:xfrm>
          <a:prstGeom prst="ellipse">
            <a:avLst/>
          </a:prstGeom>
          <a:solidFill>
            <a:srgbClr val="FFFFCC"/>
          </a:solidFill>
          <a:ln>
            <a:solidFill>
              <a:srgbClr val="F79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8" name="直接连接符 77">
            <a:extLst>
              <a:ext uri="{FF2B5EF4-FFF2-40B4-BE49-F238E27FC236}">
                <a16:creationId xmlns:a16="http://schemas.microsoft.com/office/drawing/2014/main" id="{52DC6F41-F8AF-440B-A7D8-2F383A91BFE3}"/>
              </a:ext>
            </a:extLst>
          </p:cNvPr>
          <p:cNvCxnSpPr>
            <a:cxnSpLocks/>
            <a:endCxn id="76" idx="6"/>
          </p:cNvCxnSpPr>
          <p:nvPr/>
        </p:nvCxnSpPr>
        <p:spPr bwMode="gray">
          <a:xfrm>
            <a:off x="9590441" y="3155890"/>
            <a:ext cx="0" cy="762291"/>
          </a:xfrm>
          <a:prstGeom prst="line">
            <a:avLst/>
          </a:prstGeom>
          <a:ln w="19050">
            <a:solidFill>
              <a:srgbClr val="F79646"/>
            </a:solidFill>
            <a:prstDash val="sysDot"/>
          </a:ln>
        </p:spPr>
        <p:style>
          <a:lnRef idx="1">
            <a:schemeClr val="accent1"/>
          </a:lnRef>
          <a:fillRef idx="0">
            <a:schemeClr val="accent1"/>
          </a:fillRef>
          <a:effectRef idx="0">
            <a:schemeClr val="accent1"/>
          </a:effectRef>
          <a:fontRef idx="minor">
            <a:schemeClr val="tx1"/>
          </a:fontRef>
        </p:style>
      </p:cxnSp>
      <p:sp>
        <p:nvSpPr>
          <p:cNvPr id="77" name="椭圆 76">
            <a:extLst>
              <a:ext uri="{FF2B5EF4-FFF2-40B4-BE49-F238E27FC236}">
                <a16:creationId xmlns:a16="http://schemas.microsoft.com/office/drawing/2014/main" id="{696C030C-47C1-4426-8FEA-7FF0447ECB4C}"/>
              </a:ext>
            </a:extLst>
          </p:cNvPr>
          <p:cNvSpPr/>
          <p:nvPr/>
        </p:nvSpPr>
        <p:spPr bwMode="gray">
          <a:xfrm rot="5400000" flipH="1">
            <a:off x="9718732" y="3918192"/>
            <a:ext cx="168379" cy="168357"/>
          </a:xfrm>
          <a:prstGeom prst="ellipse">
            <a:avLst/>
          </a:prstGeom>
          <a:solidFill>
            <a:srgbClr val="BDD7EE"/>
          </a:solidFill>
          <a:ln>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9" name="直接连接符 78">
            <a:extLst>
              <a:ext uri="{FF2B5EF4-FFF2-40B4-BE49-F238E27FC236}">
                <a16:creationId xmlns:a16="http://schemas.microsoft.com/office/drawing/2014/main" id="{BD69DE19-F81B-479A-A5D4-18C55D0BD6ED}"/>
              </a:ext>
            </a:extLst>
          </p:cNvPr>
          <p:cNvCxnSpPr>
            <a:cxnSpLocks/>
            <a:endCxn id="77" idx="6"/>
          </p:cNvCxnSpPr>
          <p:nvPr/>
        </p:nvCxnSpPr>
        <p:spPr bwMode="gray">
          <a:xfrm>
            <a:off x="9802921" y="3206726"/>
            <a:ext cx="0" cy="711455"/>
          </a:xfrm>
          <a:prstGeom prst="line">
            <a:avLst/>
          </a:prstGeom>
          <a:ln w="19050">
            <a:solidFill>
              <a:srgbClr val="30B5C5"/>
            </a:solidFill>
            <a:prstDash val="sysDot"/>
          </a:ln>
        </p:spPr>
        <p:style>
          <a:lnRef idx="1">
            <a:schemeClr val="accent1"/>
          </a:lnRef>
          <a:fillRef idx="0">
            <a:schemeClr val="accent1"/>
          </a:fillRef>
          <a:effectRef idx="0">
            <a:schemeClr val="accent1"/>
          </a:effectRef>
          <a:fontRef idx="minor">
            <a:schemeClr val="tx1"/>
          </a:fontRef>
        </p:style>
      </p:cxnSp>
      <p:sp>
        <p:nvSpPr>
          <p:cNvPr id="232" name="文本占位符 2"/>
          <p:cNvSpPr txBox="1">
            <a:spLocks/>
          </p:cNvSpPr>
          <p:nvPr/>
        </p:nvSpPr>
        <p:spPr bwMode="gray">
          <a:xfrm>
            <a:off x="6115947" y="5041553"/>
            <a:ext cx="5344217" cy="684167"/>
          </a:xfrm>
          <a:prstGeom prst="rect">
            <a:avLst/>
          </a:prstGeom>
          <a:noFill/>
          <a:ln w="9525">
            <a:noFill/>
            <a:miter lim="800000"/>
            <a:headEnd/>
            <a:tailEnd/>
          </a:ln>
        </p:spPr>
        <p:txBody>
          <a:bodyPr vert="horz" wrap="square" lIns="80141" tIns="40071" rIns="80141" bIns="40071" numCol="1" anchor="t" anchorCtr="0" compatLnSpc="1">
            <a:prstTxWarp prst="textNoShape">
              <a:avLst/>
            </a:prstTxWarp>
            <a:spAutoFit/>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分布式网关组网下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上都可以创建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VBDIF 10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20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，跨子网通信时如何完成</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VBDIF</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之间的路由过程呢？</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6" name="圆角矩形 235"/>
          <p:cNvSpPr/>
          <p:nvPr/>
        </p:nvSpPr>
        <p:spPr bwMode="gray">
          <a:xfrm>
            <a:off x="731838" y="2225611"/>
            <a:ext cx="5345866" cy="360000"/>
          </a:xfrm>
          <a:prstGeom prst="roundRect">
            <a:avLst>
              <a:gd name="adj" fmla="val 14624"/>
            </a:avLst>
          </a:prstGeom>
          <a:gradFill>
            <a:gsLst>
              <a:gs pos="0">
                <a:schemeClr val="bg1"/>
              </a:gs>
              <a:gs pos="100000">
                <a:schemeClr val="bg1">
                  <a:lumMod val="95000"/>
                </a:schemeClr>
              </a:gs>
            </a:gsLst>
            <a:lin ang="5400000" scaled="1"/>
          </a:gra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VLANIF</a:t>
            </a:r>
            <a:r>
              <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实现</a:t>
            </a:r>
            <a:r>
              <a:rPr lang="en-US" altLang="zh-CN"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跨子网转发</a:t>
            </a:r>
          </a:p>
        </p:txBody>
      </p:sp>
      <p:sp>
        <p:nvSpPr>
          <p:cNvPr id="237" name="圆角矩形 236"/>
          <p:cNvSpPr/>
          <p:nvPr/>
        </p:nvSpPr>
        <p:spPr bwMode="gray">
          <a:xfrm>
            <a:off x="6135768" y="2225611"/>
            <a:ext cx="5324396" cy="360000"/>
          </a:xfrm>
          <a:prstGeom prst="roundRect">
            <a:avLst>
              <a:gd name="adj" fmla="val 1462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VBDIF</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实现</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BD</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间跨子网转发</a:t>
            </a:r>
          </a:p>
        </p:txBody>
      </p:sp>
      <p:sp>
        <p:nvSpPr>
          <p:cNvPr id="194" name="任意多边形 193"/>
          <p:cNvSpPr/>
          <p:nvPr/>
        </p:nvSpPr>
        <p:spPr bwMode="gray">
          <a:xfrm flipH="1">
            <a:off x="2173693" y="4033054"/>
            <a:ext cx="1009511" cy="685235"/>
          </a:xfrm>
          <a:custGeom>
            <a:avLst/>
            <a:gdLst>
              <a:gd name="connsiteX0" fmla="*/ 0 w 809625"/>
              <a:gd name="connsiteY0" fmla="*/ 0 h 583407"/>
              <a:gd name="connsiteX1" fmla="*/ 809625 w 809625"/>
              <a:gd name="connsiteY1" fmla="*/ 0 h 583407"/>
              <a:gd name="connsiteX2" fmla="*/ 809625 w 809625"/>
              <a:gd name="connsiteY2" fmla="*/ 583407 h 583407"/>
            </a:gdLst>
            <a:ahLst/>
            <a:cxnLst>
              <a:cxn ang="0">
                <a:pos x="connsiteX0" y="connsiteY0"/>
              </a:cxn>
              <a:cxn ang="0">
                <a:pos x="connsiteX1" y="connsiteY1"/>
              </a:cxn>
              <a:cxn ang="0">
                <a:pos x="connsiteX2" y="connsiteY2"/>
              </a:cxn>
            </a:cxnLst>
            <a:rect l="l" t="t" r="r" b="b"/>
            <a:pathLst>
              <a:path w="809625" h="583407">
                <a:moveTo>
                  <a:pt x="0" y="0"/>
                </a:moveTo>
                <a:lnTo>
                  <a:pt x="809625" y="0"/>
                </a:lnTo>
                <a:lnTo>
                  <a:pt x="809625" y="583407"/>
                </a:ln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6" name="任意多边形 205"/>
          <p:cNvSpPr/>
          <p:nvPr/>
        </p:nvSpPr>
        <p:spPr bwMode="gray">
          <a:xfrm>
            <a:off x="3568346" y="4033054"/>
            <a:ext cx="996141" cy="685235"/>
          </a:xfrm>
          <a:custGeom>
            <a:avLst/>
            <a:gdLst>
              <a:gd name="connsiteX0" fmla="*/ 0 w 809625"/>
              <a:gd name="connsiteY0" fmla="*/ 0 h 583407"/>
              <a:gd name="connsiteX1" fmla="*/ 809625 w 809625"/>
              <a:gd name="connsiteY1" fmla="*/ 0 h 583407"/>
              <a:gd name="connsiteX2" fmla="*/ 809625 w 809625"/>
              <a:gd name="connsiteY2" fmla="*/ 583407 h 583407"/>
            </a:gdLst>
            <a:ahLst/>
            <a:cxnLst>
              <a:cxn ang="0">
                <a:pos x="connsiteX0" y="connsiteY0"/>
              </a:cxn>
              <a:cxn ang="0">
                <a:pos x="connsiteX1" y="connsiteY1"/>
              </a:cxn>
              <a:cxn ang="0">
                <a:pos x="connsiteX2" y="connsiteY2"/>
              </a:cxn>
            </a:cxnLst>
            <a:rect l="l" t="t" r="r" b="b"/>
            <a:pathLst>
              <a:path w="809625" h="583407">
                <a:moveTo>
                  <a:pt x="0" y="0"/>
                </a:moveTo>
                <a:lnTo>
                  <a:pt x="809625" y="0"/>
                </a:lnTo>
                <a:lnTo>
                  <a:pt x="809625" y="583407"/>
                </a:ln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40" name="直接连接符 139">
            <a:extLst>
              <a:ext uri="{FF2B5EF4-FFF2-40B4-BE49-F238E27FC236}">
                <a16:creationId xmlns:a16="http://schemas.microsoft.com/office/drawing/2014/main" id="{0817F211-A19D-40AC-ABC2-04E3A653D7AC}"/>
              </a:ext>
            </a:extLst>
          </p:cNvPr>
          <p:cNvCxnSpPr>
            <a:cxnSpLocks/>
          </p:cNvCxnSpPr>
          <p:nvPr/>
        </p:nvCxnSpPr>
        <p:spPr bwMode="gray">
          <a:xfrm flipH="1">
            <a:off x="3738125" y="3503924"/>
            <a:ext cx="379414" cy="0"/>
          </a:xfrm>
          <a:prstGeom prst="line">
            <a:avLst/>
          </a:prstGeom>
          <a:ln w="19050">
            <a:solidFill>
              <a:srgbClr val="30B5C5"/>
            </a:solidFill>
            <a:prstDash val="sysDot"/>
          </a:ln>
        </p:spPr>
        <p:style>
          <a:lnRef idx="1">
            <a:schemeClr val="accent1"/>
          </a:lnRef>
          <a:fillRef idx="0">
            <a:schemeClr val="accent1"/>
          </a:fillRef>
          <a:effectRef idx="0">
            <a:schemeClr val="accent1"/>
          </a:effectRef>
          <a:fontRef idx="minor">
            <a:schemeClr val="tx1"/>
          </a:fontRef>
        </p:style>
      </p:cxnSp>
      <p:pic>
        <p:nvPicPr>
          <p:cNvPr id="133" name="图片 87" descr="汇聚交换机.png"/>
          <p:cNvPicPr>
            <a:picLocks noChangeAspect="1"/>
          </p:cNvPicPr>
          <p:nvPr/>
        </p:nvPicPr>
        <p:blipFill>
          <a:blip r:embed="rId3"/>
          <a:stretch>
            <a:fillRect/>
          </a:stretch>
        </p:blipFill>
        <p:spPr bwMode="gray">
          <a:xfrm>
            <a:off x="3150455" y="3871869"/>
            <a:ext cx="502820" cy="411400"/>
          </a:xfrm>
          <a:prstGeom prst="rect">
            <a:avLst/>
          </a:prstGeom>
        </p:spPr>
      </p:pic>
      <p:sp>
        <p:nvSpPr>
          <p:cNvPr id="135" name="椭圆 134">
            <a:extLst>
              <a:ext uri="{FF2B5EF4-FFF2-40B4-BE49-F238E27FC236}">
                <a16:creationId xmlns:a16="http://schemas.microsoft.com/office/drawing/2014/main" id="{90866D99-4B10-40A7-B8A5-FD11EF24C0F6}"/>
              </a:ext>
            </a:extLst>
          </p:cNvPr>
          <p:cNvSpPr/>
          <p:nvPr/>
        </p:nvSpPr>
        <p:spPr bwMode="gray">
          <a:xfrm>
            <a:off x="3230573" y="3880475"/>
            <a:ext cx="121170" cy="121170"/>
          </a:xfrm>
          <a:prstGeom prst="ellipse">
            <a:avLst/>
          </a:prstGeom>
          <a:solidFill>
            <a:srgbClr val="FFFFCC"/>
          </a:solidFill>
          <a:ln>
            <a:solidFill>
              <a:srgbClr val="F79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6" name="椭圆 135">
            <a:extLst>
              <a:ext uri="{FF2B5EF4-FFF2-40B4-BE49-F238E27FC236}">
                <a16:creationId xmlns:a16="http://schemas.microsoft.com/office/drawing/2014/main" id="{2FD06636-17D8-42D4-AD34-CFED90FC5492}"/>
              </a:ext>
            </a:extLst>
          </p:cNvPr>
          <p:cNvSpPr/>
          <p:nvPr/>
        </p:nvSpPr>
        <p:spPr bwMode="gray">
          <a:xfrm>
            <a:off x="3447177" y="3880475"/>
            <a:ext cx="121170" cy="121170"/>
          </a:xfrm>
          <a:prstGeom prst="ellipse">
            <a:avLst/>
          </a:prstGeom>
          <a:solidFill>
            <a:srgbClr val="BDD7EE"/>
          </a:solidFill>
          <a:ln>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01" name="组合 200"/>
          <p:cNvGrpSpPr/>
          <p:nvPr/>
        </p:nvGrpSpPr>
        <p:grpSpPr bwMode="gray">
          <a:xfrm>
            <a:off x="3984326" y="3380940"/>
            <a:ext cx="1080000" cy="216000"/>
            <a:chOff x="3173381" y="3804595"/>
            <a:chExt cx="1050357" cy="204307"/>
          </a:xfrm>
          <a:solidFill>
            <a:srgbClr val="BEE9EE"/>
          </a:solidFill>
        </p:grpSpPr>
        <p:sp>
          <p:nvSpPr>
            <p:cNvPr id="145" name="任意多边形: 形状 27">
              <a:extLst>
                <a:ext uri="{FF2B5EF4-FFF2-40B4-BE49-F238E27FC236}">
                  <a16:creationId xmlns:a16="http://schemas.microsoft.com/office/drawing/2014/main" id="{BC1DCD05-1BD0-4B0C-8B0E-F2DE5DCD5CFC}"/>
                </a:ext>
              </a:extLst>
            </p:cNvPr>
            <p:cNvSpPr/>
            <p:nvPr/>
          </p:nvSpPr>
          <p:spPr bwMode="gray">
            <a:xfrm flipH="1">
              <a:off x="3173381" y="3804595"/>
              <a:ext cx="1000037" cy="204307"/>
            </a:xfrm>
            <a:custGeom>
              <a:avLst/>
              <a:gdLst>
                <a:gd name="connsiteX0" fmla="*/ 0 w 1703698"/>
                <a:gd name="connsiteY0" fmla="*/ 0 h 627538"/>
                <a:gd name="connsiteX1" fmla="*/ 1572253 w 1703698"/>
                <a:gd name="connsiteY1" fmla="*/ 0 h 627538"/>
                <a:gd name="connsiteX2" fmla="*/ 1703698 w 1703698"/>
                <a:gd name="connsiteY2" fmla="*/ 313769 h 627538"/>
                <a:gd name="connsiteX3" fmla="*/ 1572253 w 1703698"/>
                <a:gd name="connsiteY3" fmla="*/ 627538 h 627538"/>
                <a:gd name="connsiteX4" fmla="*/ 1572249 w 1703698"/>
                <a:gd name="connsiteY4" fmla="*/ 627537 h 627538"/>
                <a:gd name="connsiteX5" fmla="*/ 0 w 1703698"/>
                <a:gd name="connsiteY5" fmla="*/ 627537 h 62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3698" h="627538">
                  <a:moveTo>
                    <a:pt x="0" y="0"/>
                  </a:moveTo>
                  <a:lnTo>
                    <a:pt x="1572253" y="0"/>
                  </a:lnTo>
                  <a:cubicBezTo>
                    <a:pt x="1644848" y="0"/>
                    <a:pt x="1703698" y="140479"/>
                    <a:pt x="1703698" y="313769"/>
                  </a:cubicBezTo>
                  <a:cubicBezTo>
                    <a:pt x="1703698" y="487059"/>
                    <a:pt x="1644848" y="627538"/>
                    <a:pt x="1572253" y="627538"/>
                  </a:cubicBezTo>
                  <a:lnTo>
                    <a:pt x="1572249" y="627537"/>
                  </a:lnTo>
                  <a:lnTo>
                    <a:pt x="0" y="627537"/>
                  </a:lnTo>
                  <a:close/>
                </a:path>
              </a:pathLst>
            </a:custGeom>
            <a:grpFill/>
            <a:ln w="12700">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6" name="椭圆 145">
              <a:extLst>
                <a:ext uri="{FF2B5EF4-FFF2-40B4-BE49-F238E27FC236}">
                  <a16:creationId xmlns:a16="http://schemas.microsoft.com/office/drawing/2014/main" id="{756B275B-9D18-4B2A-8BCC-B5E97C03BB36}"/>
                </a:ext>
              </a:extLst>
            </p:cNvPr>
            <p:cNvSpPr/>
            <p:nvPr/>
          </p:nvSpPr>
          <p:spPr bwMode="gray">
            <a:xfrm>
              <a:off x="4123096" y="3804595"/>
              <a:ext cx="100642" cy="204307"/>
            </a:xfrm>
            <a:prstGeom prst="ellipse">
              <a:avLst/>
            </a:prstGeom>
            <a:grpFill/>
            <a:ln w="12700">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48" name="TextBox 120">
            <a:extLst>
              <a:ext uri="{FF2B5EF4-FFF2-40B4-BE49-F238E27FC236}">
                <a16:creationId xmlns:a16="http://schemas.microsoft.com/office/drawing/2014/main" id="{E9BE4350-2E44-4728-9CFA-59A13C85D084}"/>
              </a:ext>
            </a:extLst>
          </p:cNvPr>
          <p:cNvSpPr txBox="1"/>
          <p:nvPr/>
        </p:nvSpPr>
        <p:spPr bwMode="gray">
          <a:xfrm>
            <a:off x="4036934" y="3350441"/>
            <a:ext cx="1008000" cy="276999"/>
          </a:xfrm>
          <a:prstGeom prst="rect">
            <a:avLst/>
          </a:prstGeom>
          <a:noFill/>
        </p:spPr>
        <p:txBody>
          <a:bodyPr wrap="square" rtlCol="0" anchor="ctr">
            <a:spAutoFit/>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VLANIF 20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65" name="直接连接符 164">
            <a:extLst>
              <a:ext uri="{FF2B5EF4-FFF2-40B4-BE49-F238E27FC236}">
                <a16:creationId xmlns:a16="http://schemas.microsoft.com/office/drawing/2014/main" id="{0817F211-A19D-40AC-ABC2-04E3A653D7AC}"/>
              </a:ext>
            </a:extLst>
          </p:cNvPr>
          <p:cNvCxnSpPr>
            <a:cxnSpLocks/>
          </p:cNvCxnSpPr>
          <p:nvPr/>
        </p:nvCxnSpPr>
        <p:spPr bwMode="gray">
          <a:xfrm flipH="1">
            <a:off x="2695031" y="3495572"/>
            <a:ext cx="316019" cy="0"/>
          </a:xfrm>
          <a:prstGeom prst="line">
            <a:avLst/>
          </a:prstGeom>
          <a:ln w="19050">
            <a:solidFill>
              <a:srgbClr val="F79646"/>
            </a:solidFill>
            <a:prstDash val="sysDot"/>
          </a:ln>
        </p:spPr>
        <p:style>
          <a:lnRef idx="1">
            <a:schemeClr val="accent1"/>
          </a:lnRef>
          <a:fillRef idx="0">
            <a:schemeClr val="accent1"/>
          </a:fillRef>
          <a:effectRef idx="0">
            <a:schemeClr val="accent1"/>
          </a:effectRef>
          <a:fontRef idx="minor">
            <a:schemeClr val="tx1"/>
          </a:fontRef>
        </p:style>
      </p:cxnSp>
      <p:grpSp>
        <p:nvGrpSpPr>
          <p:cNvPr id="168" name="组合 167">
            <a:extLst>
              <a:ext uri="{FF2B5EF4-FFF2-40B4-BE49-F238E27FC236}">
                <a16:creationId xmlns:a16="http://schemas.microsoft.com/office/drawing/2014/main" id="{84B7F11F-B57D-4F99-9D21-2CAFD7EC5D96}"/>
              </a:ext>
            </a:extLst>
          </p:cNvPr>
          <p:cNvGrpSpPr/>
          <p:nvPr/>
        </p:nvGrpSpPr>
        <p:grpSpPr bwMode="gray">
          <a:xfrm>
            <a:off x="1628746" y="3398940"/>
            <a:ext cx="1080000" cy="180000"/>
            <a:chOff x="6623210" y="5220119"/>
            <a:chExt cx="1129397" cy="228830"/>
          </a:xfrm>
          <a:solidFill>
            <a:srgbClr val="F7C846"/>
          </a:solidFill>
        </p:grpSpPr>
        <p:sp>
          <p:nvSpPr>
            <p:cNvPr id="170" name="任意多边形: 形状 24">
              <a:extLst>
                <a:ext uri="{FF2B5EF4-FFF2-40B4-BE49-F238E27FC236}">
                  <a16:creationId xmlns:a16="http://schemas.microsoft.com/office/drawing/2014/main" id="{D0E49D38-B0D3-48AA-8BEE-A880E16973D1}"/>
                </a:ext>
              </a:extLst>
            </p:cNvPr>
            <p:cNvSpPr/>
            <p:nvPr/>
          </p:nvSpPr>
          <p:spPr bwMode="gray">
            <a:xfrm flipH="1">
              <a:off x="6623210" y="5220119"/>
              <a:ext cx="1075312" cy="228830"/>
            </a:xfrm>
            <a:custGeom>
              <a:avLst/>
              <a:gdLst>
                <a:gd name="connsiteX0" fmla="*/ 0 w 1703698"/>
                <a:gd name="connsiteY0" fmla="*/ 0 h 627538"/>
                <a:gd name="connsiteX1" fmla="*/ 1572253 w 1703698"/>
                <a:gd name="connsiteY1" fmla="*/ 0 h 627538"/>
                <a:gd name="connsiteX2" fmla="*/ 1703698 w 1703698"/>
                <a:gd name="connsiteY2" fmla="*/ 313769 h 627538"/>
                <a:gd name="connsiteX3" fmla="*/ 1572253 w 1703698"/>
                <a:gd name="connsiteY3" fmla="*/ 627538 h 627538"/>
                <a:gd name="connsiteX4" fmla="*/ 1572249 w 1703698"/>
                <a:gd name="connsiteY4" fmla="*/ 627537 h 627538"/>
                <a:gd name="connsiteX5" fmla="*/ 0 w 1703698"/>
                <a:gd name="connsiteY5" fmla="*/ 627537 h 62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3698" h="627538">
                  <a:moveTo>
                    <a:pt x="0" y="0"/>
                  </a:moveTo>
                  <a:lnTo>
                    <a:pt x="1572253" y="0"/>
                  </a:lnTo>
                  <a:cubicBezTo>
                    <a:pt x="1644848" y="0"/>
                    <a:pt x="1703698" y="140479"/>
                    <a:pt x="1703698" y="313769"/>
                  </a:cubicBezTo>
                  <a:cubicBezTo>
                    <a:pt x="1703698" y="487059"/>
                    <a:pt x="1644848" y="627538"/>
                    <a:pt x="1572253" y="627538"/>
                  </a:cubicBezTo>
                  <a:lnTo>
                    <a:pt x="1572249" y="627537"/>
                  </a:lnTo>
                  <a:lnTo>
                    <a:pt x="0" y="627537"/>
                  </a:lnTo>
                  <a:close/>
                </a:path>
              </a:pathLst>
            </a:custGeom>
            <a:grpFill/>
            <a:ln w="12700">
              <a:solidFill>
                <a:srgbClr val="F7964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1" name="椭圆 170">
              <a:extLst>
                <a:ext uri="{FF2B5EF4-FFF2-40B4-BE49-F238E27FC236}">
                  <a16:creationId xmlns:a16="http://schemas.microsoft.com/office/drawing/2014/main" id="{0CD5AD72-AC28-4167-967C-411011E9DD85}"/>
                </a:ext>
              </a:extLst>
            </p:cNvPr>
            <p:cNvSpPr/>
            <p:nvPr/>
          </p:nvSpPr>
          <p:spPr bwMode="gray">
            <a:xfrm>
              <a:off x="7644390" y="5220119"/>
              <a:ext cx="108217" cy="228830"/>
            </a:xfrm>
            <a:prstGeom prst="ellipse">
              <a:avLst/>
            </a:prstGeom>
            <a:grpFill/>
            <a:ln w="12700">
              <a:solidFill>
                <a:srgbClr val="F7964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69" name="TextBox 120">
            <a:extLst>
              <a:ext uri="{FF2B5EF4-FFF2-40B4-BE49-F238E27FC236}">
                <a16:creationId xmlns:a16="http://schemas.microsoft.com/office/drawing/2014/main" id="{D045A33A-BE4B-472A-A9C0-C4F569549D79}"/>
              </a:ext>
            </a:extLst>
          </p:cNvPr>
          <p:cNvSpPr txBox="1"/>
          <p:nvPr/>
        </p:nvSpPr>
        <p:spPr bwMode="gray">
          <a:xfrm>
            <a:off x="1628746" y="3350441"/>
            <a:ext cx="1080000" cy="276999"/>
          </a:xfrm>
          <a:prstGeom prst="rect">
            <a:avLst/>
          </a:prstGeom>
          <a:noFill/>
        </p:spPr>
        <p:txBody>
          <a:bodyPr wrap="square" rtlCol="0" anchor="ctr">
            <a:spAutoFit/>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VLANIF 10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76" name="直接连接符 175">
            <a:extLst>
              <a:ext uri="{FF2B5EF4-FFF2-40B4-BE49-F238E27FC236}">
                <a16:creationId xmlns:a16="http://schemas.microsoft.com/office/drawing/2014/main" id="{0817F211-A19D-40AC-ABC2-04E3A653D7AC}"/>
              </a:ext>
            </a:extLst>
          </p:cNvPr>
          <p:cNvCxnSpPr>
            <a:cxnSpLocks/>
            <a:endCxn id="136" idx="0"/>
          </p:cNvCxnSpPr>
          <p:nvPr/>
        </p:nvCxnSpPr>
        <p:spPr bwMode="gray">
          <a:xfrm flipH="1">
            <a:off x="3507762" y="3495572"/>
            <a:ext cx="230364" cy="384903"/>
          </a:xfrm>
          <a:prstGeom prst="line">
            <a:avLst/>
          </a:prstGeom>
          <a:ln w="19050">
            <a:solidFill>
              <a:srgbClr val="30B5C5"/>
            </a:solidFill>
            <a:prstDash val="sysDot"/>
          </a:ln>
        </p:spPr>
        <p:style>
          <a:lnRef idx="1">
            <a:schemeClr val="accent1"/>
          </a:lnRef>
          <a:fillRef idx="0">
            <a:schemeClr val="accent1"/>
          </a:fillRef>
          <a:effectRef idx="0">
            <a:schemeClr val="accent1"/>
          </a:effectRef>
          <a:fontRef idx="minor">
            <a:schemeClr val="tx1"/>
          </a:fontRef>
        </p:style>
      </p:cxnSp>
      <p:cxnSp>
        <p:nvCxnSpPr>
          <p:cNvPr id="177" name="直接连接符 176">
            <a:extLst>
              <a:ext uri="{FF2B5EF4-FFF2-40B4-BE49-F238E27FC236}">
                <a16:creationId xmlns:a16="http://schemas.microsoft.com/office/drawing/2014/main" id="{0817F211-A19D-40AC-ABC2-04E3A653D7AC}"/>
              </a:ext>
            </a:extLst>
          </p:cNvPr>
          <p:cNvCxnSpPr>
            <a:cxnSpLocks/>
            <a:stCxn id="135" idx="0"/>
          </p:cNvCxnSpPr>
          <p:nvPr/>
        </p:nvCxnSpPr>
        <p:spPr bwMode="gray">
          <a:xfrm flipH="1" flipV="1">
            <a:off x="3002078" y="3473378"/>
            <a:ext cx="289080" cy="407097"/>
          </a:xfrm>
          <a:prstGeom prst="line">
            <a:avLst/>
          </a:prstGeom>
          <a:ln w="19050">
            <a:solidFill>
              <a:srgbClr val="F79646"/>
            </a:solidFill>
            <a:prstDash val="sysDot"/>
          </a:ln>
        </p:spPr>
        <p:style>
          <a:lnRef idx="1">
            <a:schemeClr val="accent1"/>
          </a:lnRef>
          <a:fillRef idx="0">
            <a:schemeClr val="accent1"/>
          </a:fillRef>
          <a:effectRef idx="0">
            <a:schemeClr val="accent1"/>
          </a:effectRef>
          <a:fontRef idx="minor">
            <a:schemeClr val="tx1"/>
          </a:fontRef>
        </p:style>
      </p:cxnSp>
      <p:sp>
        <p:nvSpPr>
          <p:cNvPr id="185" name="矩形 184"/>
          <p:cNvSpPr/>
          <p:nvPr/>
        </p:nvSpPr>
        <p:spPr bwMode="gray">
          <a:xfrm>
            <a:off x="1475183" y="5116925"/>
            <a:ext cx="1388522" cy="738664"/>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PC1</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172.16.10.1/24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86" name="图片 11" descr="开放网络-蓝.png"/>
          <p:cNvPicPr>
            <a:picLocks noChangeAspect="1"/>
          </p:cNvPicPr>
          <p:nvPr/>
        </p:nvPicPr>
        <p:blipFill>
          <a:blip r:embed="rId4" cstate="print"/>
          <a:stretch>
            <a:fillRect/>
          </a:stretch>
        </p:blipFill>
        <p:spPr bwMode="gray">
          <a:xfrm>
            <a:off x="1901741" y="4688211"/>
            <a:ext cx="539607" cy="415381"/>
          </a:xfrm>
          <a:prstGeom prst="rect">
            <a:avLst/>
          </a:prstGeom>
        </p:spPr>
      </p:pic>
      <p:sp>
        <p:nvSpPr>
          <p:cNvPr id="195" name="矩形 194"/>
          <p:cNvSpPr/>
          <p:nvPr/>
        </p:nvSpPr>
        <p:spPr bwMode="gray">
          <a:xfrm rot="15603">
            <a:off x="2148470" y="4050951"/>
            <a:ext cx="902811" cy="307777"/>
          </a:xfrm>
          <a:prstGeom prst="rect">
            <a:avLst/>
          </a:prstGeom>
        </p:spPr>
        <p:txBody>
          <a:bodyPr wrap="none">
            <a:spAutoFit/>
          </a:bodyPr>
          <a:lstStyle/>
          <a:p>
            <a:pPr algn="just"/>
            <a:r>
              <a:rPr lang="en-US" altLang="zh-CN"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VLAN 10</a:t>
            </a:r>
            <a:endParaRPr lang="zh-CN" altLang="en-US"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7" name="矩形 206"/>
          <p:cNvSpPr/>
          <p:nvPr/>
        </p:nvSpPr>
        <p:spPr bwMode="gray">
          <a:xfrm>
            <a:off x="3865977" y="5116925"/>
            <a:ext cx="1388522" cy="738664"/>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PC2</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172.16.20.2/24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3</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08" name="图片 11" descr="开放网络-蓝.png"/>
          <p:cNvPicPr>
            <a:picLocks noChangeAspect="1"/>
          </p:cNvPicPr>
          <p:nvPr/>
        </p:nvPicPr>
        <p:blipFill>
          <a:blip r:embed="rId4" cstate="print"/>
          <a:stretch>
            <a:fillRect/>
          </a:stretch>
        </p:blipFill>
        <p:spPr bwMode="gray">
          <a:xfrm>
            <a:off x="4292535" y="4688211"/>
            <a:ext cx="539607" cy="415381"/>
          </a:xfrm>
          <a:prstGeom prst="rect">
            <a:avLst/>
          </a:prstGeom>
        </p:spPr>
      </p:pic>
      <p:sp>
        <p:nvSpPr>
          <p:cNvPr id="209" name="矩形 208"/>
          <p:cNvSpPr/>
          <p:nvPr/>
        </p:nvSpPr>
        <p:spPr bwMode="gray">
          <a:xfrm rot="15603">
            <a:off x="3680140" y="4038251"/>
            <a:ext cx="902811" cy="307777"/>
          </a:xfrm>
          <a:prstGeom prst="rect">
            <a:avLst/>
          </a:prstGeom>
        </p:spPr>
        <p:txBody>
          <a:bodyPr wrap="none">
            <a:spAutoFit/>
          </a:bodyPr>
          <a:lstStyle/>
          <a:p>
            <a:pPr algn="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VLAN 20</a:t>
            </a:r>
            <a:endPar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5" name="TextBox 120">
            <a:extLst>
              <a:ext uri="{FF2B5EF4-FFF2-40B4-BE49-F238E27FC236}">
                <a16:creationId xmlns:a16="http://schemas.microsoft.com/office/drawing/2014/main" id="{6D04553C-11BC-4933-9D65-580C2BD65376}"/>
              </a:ext>
            </a:extLst>
          </p:cNvPr>
          <p:cNvSpPr txBox="1"/>
          <p:nvPr/>
        </p:nvSpPr>
        <p:spPr bwMode="gray">
          <a:xfrm>
            <a:off x="1060462" y="4016335"/>
            <a:ext cx="724583" cy="307777"/>
          </a:xfrm>
          <a:prstGeom prst="rect">
            <a:avLst/>
          </a:prstGeom>
          <a:noFill/>
        </p:spPr>
        <p:txBody>
          <a:bodyPr wrap="square" rtlCol="0">
            <a:spAutoFit/>
          </a:bodyPr>
          <a:lstStyle/>
          <a:p>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Bridge</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1" name="椭圆 210"/>
          <p:cNvSpPr>
            <a:spLocks noChangeAspect="1"/>
          </p:cNvSpPr>
          <p:nvPr/>
        </p:nvSpPr>
        <p:spPr bwMode="gray">
          <a:xfrm>
            <a:off x="827983" y="4053983"/>
            <a:ext cx="232480" cy="232480"/>
          </a:xfrm>
          <a:prstGeom prst="ellipse">
            <a:avLst/>
          </a:prstGeom>
          <a:solidFill>
            <a:srgbClr val="EC7061">
              <a:lumMod val="100000"/>
            </a:srgbClr>
          </a:solidFill>
          <a:ln w="19050" cap="flat" cmpd="sng" algn="ctr">
            <a:noFill/>
            <a:prstDash val="solid"/>
            <a:miter lim="800000"/>
          </a:ln>
          <a:effectLst/>
        </p:spPr>
        <p:txBody>
          <a:bodyPr wrap="none" lIns="0" tIns="0" rIns="0" bIns="0" rtlCol="0" anchor="ctr"/>
          <a:lstStyle/>
          <a:p>
            <a:pPr algn="ctr"/>
            <a:r>
              <a:rPr lang="en-US" altLang="zh-CN" sz="1400" b="1"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1" name="任意多边形 220"/>
          <p:cNvSpPr/>
          <p:nvPr/>
        </p:nvSpPr>
        <p:spPr bwMode="gray">
          <a:xfrm>
            <a:off x="1731045" y="3767122"/>
            <a:ext cx="108000" cy="900000"/>
          </a:xfrm>
          <a:custGeom>
            <a:avLst/>
            <a:gdLst>
              <a:gd name="connsiteX0" fmla="*/ 107164 w 111926"/>
              <a:gd name="connsiteY0" fmla="*/ 1071562 h 1071562"/>
              <a:gd name="connsiteX1" fmla="*/ 8 w 111926"/>
              <a:gd name="connsiteY1" fmla="*/ 547687 h 1071562"/>
              <a:gd name="connsiteX2" fmla="*/ 111926 w 111926"/>
              <a:gd name="connsiteY2" fmla="*/ 0 h 1071562"/>
            </a:gdLst>
            <a:ahLst/>
            <a:cxnLst>
              <a:cxn ang="0">
                <a:pos x="connsiteX0" y="connsiteY0"/>
              </a:cxn>
              <a:cxn ang="0">
                <a:pos x="connsiteX1" y="connsiteY1"/>
              </a:cxn>
              <a:cxn ang="0">
                <a:pos x="connsiteX2" y="connsiteY2"/>
              </a:cxn>
            </a:cxnLst>
            <a:rect l="l" t="t" r="r" b="b"/>
            <a:pathLst>
              <a:path w="111926" h="1071562">
                <a:moveTo>
                  <a:pt x="107164" y="1071562"/>
                </a:moveTo>
                <a:cubicBezTo>
                  <a:pt x="53189" y="898921"/>
                  <a:pt x="-786" y="726281"/>
                  <a:pt x="8" y="547687"/>
                </a:cubicBezTo>
                <a:cubicBezTo>
                  <a:pt x="802" y="369093"/>
                  <a:pt x="111926" y="0"/>
                  <a:pt x="111926" y="0"/>
                </a:cubicBezTo>
              </a:path>
            </a:pathLst>
          </a:custGeom>
          <a:ln w="28575">
            <a:solidFill>
              <a:srgbClr val="F7C84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2" name="TextBox 120">
            <a:extLst>
              <a:ext uri="{FF2B5EF4-FFF2-40B4-BE49-F238E27FC236}">
                <a16:creationId xmlns:a16="http://schemas.microsoft.com/office/drawing/2014/main" id="{6D04553C-11BC-4933-9D65-580C2BD65376}"/>
              </a:ext>
            </a:extLst>
          </p:cNvPr>
          <p:cNvSpPr txBox="1"/>
          <p:nvPr/>
        </p:nvSpPr>
        <p:spPr bwMode="gray">
          <a:xfrm>
            <a:off x="5296806" y="4016335"/>
            <a:ext cx="730438" cy="307777"/>
          </a:xfrm>
          <a:prstGeom prst="rect">
            <a:avLst/>
          </a:prstGeom>
          <a:noFill/>
        </p:spPr>
        <p:txBody>
          <a:bodyPr wrap="square" rtlCol="0">
            <a:spAutoFit/>
          </a:bodyPr>
          <a:lstStyle/>
          <a:p>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Bridge</a:t>
            </a:r>
            <a:endPar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3" name="椭圆 222"/>
          <p:cNvSpPr>
            <a:spLocks noChangeAspect="1"/>
          </p:cNvSpPr>
          <p:nvPr/>
        </p:nvSpPr>
        <p:spPr bwMode="gray">
          <a:xfrm>
            <a:off x="5064326" y="4053983"/>
            <a:ext cx="232480" cy="232480"/>
          </a:xfrm>
          <a:prstGeom prst="ellipse">
            <a:avLst/>
          </a:prstGeom>
          <a:solidFill>
            <a:srgbClr val="EC7061">
              <a:lumMod val="100000"/>
            </a:srgbClr>
          </a:solidFill>
          <a:ln w="19050" cap="flat" cmpd="sng" algn="ctr">
            <a:noFill/>
            <a:prstDash val="solid"/>
            <a:miter lim="800000"/>
          </a:ln>
          <a:effectLst/>
        </p:spPr>
        <p:txBody>
          <a:bodyPr wrap="none" lIns="0" tIns="0" rIns="0" bIns="0" rtlCol="0" anchor="ctr"/>
          <a:lstStyle/>
          <a:p>
            <a:pPr algn="ctr"/>
            <a:r>
              <a:rPr lang="en-US" altLang="zh-CN" sz="1400" b="1"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4" name="任意多边形 223"/>
          <p:cNvSpPr/>
          <p:nvPr/>
        </p:nvSpPr>
        <p:spPr bwMode="gray">
          <a:xfrm flipH="1">
            <a:off x="4907646" y="3767122"/>
            <a:ext cx="108000" cy="900000"/>
          </a:xfrm>
          <a:custGeom>
            <a:avLst/>
            <a:gdLst>
              <a:gd name="connsiteX0" fmla="*/ 107164 w 111926"/>
              <a:gd name="connsiteY0" fmla="*/ 1071562 h 1071562"/>
              <a:gd name="connsiteX1" fmla="*/ 8 w 111926"/>
              <a:gd name="connsiteY1" fmla="*/ 547687 h 1071562"/>
              <a:gd name="connsiteX2" fmla="*/ 111926 w 111926"/>
              <a:gd name="connsiteY2" fmla="*/ 0 h 1071562"/>
            </a:gdLst>
            <a:ahLst/>
            <a:cxnLst>
              <a:cxn ang="0">
                <a:pos x="connsiteX0" y="connsiteY0"/>
              </a:cxn>
              <a:cxn ang="0">
                <a:pos x="connsiteX1" y="connsiteY1"/>
              </a:cxn>
              <a:cxn ang="0">
                <a:pos x="connsiteX2" y="connsiteY2"/>
              </a:cxn>
            </a:cxnLst>
            <a:rect l="l" t="t" r="r" b="b"/>
            <a:pathLst>
              <a:path w="111926" h="1071562">
                <a:moveTo>
                  <a:pt x="107164" y="1071562"/>
                </a:moveTo>
                <a:cubicBezTo>
                  <a:pt x="53189" y="898921"/>
                  <a:pt x="-786" y="726281"/>
                  <a:pt x="8" y="547687"/>
                </a:cubicBezTo>
                <a:cubicBezTo>
                  <a:pt x="802" y="369093"/>
                  <a:pt x="111926" y="0"/>
                  <a:pt x="111926" y="0"/>
                </a:cubicBezTo>
              </a:path>
            </a:pathLst>
          </a:custGeom>
          <a:ln w="28575">
            <a:solidFill>
              <a:srgbClr val="30B5C5"/>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5" name="任意多边形 224"/>
          <p:cNvSpPr/>
          <p:nvPr/>
        </p:nvSpPr>
        <p:spPr bwMode="gray">
          <a:xfrm>
            <a:off x="3412976" y="2982941"/>
            <a:ext cx="887506" cy="268965"/>
          </a:xfrm>
          <a:custGeom>
            <a:avLst/>
            <a:gdLst>
              <a:gd name="connsiteX0" fmla="*/ 0 w 1748118"/>
              <a:gd name="connsiteY0" fmla="*/ 286894 h 286894"/>
              <a:gd name="connsiteX1" fmla="*/ 860612 w 1748118"/>
              <a:gd name="connsiteY1" fmla="*/ 24 h 286894"/>
              <a:gd name="connsiteX2" fmla="*/ 1748118 w 1748118"/>
              <a:gd name="connsiteY2" fmla="*/ 268965 h 286894"/>
              <a:gd name="connsiteX0" fmla="*/ 0 w 887506"/>
              <a:gd name="connsiteY0" fmla="*/ 24 h 268965"/>
              <a:gd name="connsiteX1" fmla="*/ 887506 w 887506"/>
              <a:gd name="connsiteY1" fmla="*/ 268965 h 268965"/>
            </a:gdLst>
            <a:ahLst/>
            <a:cxnLst>
              <a:cxn ang="0">
                <a:pos x="connsiteX0" y="connsiteY0"/>
              </a:cxn>
              <a:cxn ang="0">
                <a:pos x="connsiteX1" y="connsiteY1"/>
              </a:cxn>
            </a:cxnLst>
            <a:rect l="l" t="t" r="r" b="b"/>
            <a:pathLst>
              <a:path w="887506" h="268965">
                <a:moveTo>
                  <a:pt x="0" y="24"/>
                </a:moveTo>
                <a:cubicBezTo>
                  <a:pt x="291353" y="-2964"/>
                  <a:pt x="773953" y="262989"/>
                  <a:pt x="887506" y="268965"/>
                </a:cubicBezTo>
              </a:path>
            </a:pathLst>
          </a:custGeom>
          <a:ln w="28575">
            <a:solidFill>
              <a:srgbClr val="30B5C5"/>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6" name="任意多边形 225"/>
          <p:cNvSpPr/>
          <p:nvPr/>
        </p:nvSpPr>
        <p:spPr bwMode="gray">
          <a:xfrm>
            <a:off x="2552364" y="2982966"/>
            <a:ext cx="860612" cy="286870"/>
          </a:xfrm>
          <a:custGeom>
            <a:avLst/>
            <a:gdLst>
              <a:gd name="connsiteX0" fmla="*/ 0 w 1748118"/>
              <a:gd name="connsiteY0" fmla="*/ 286894 h 286894"/>
              <a:gd name="connsiteX1" fmla="*/ 860612 w 1748118"/>
              <a:gd name="connsiteY1" fmla="*/ 24 h 286894"/>
              <a:gd name="connsiteX2" fmla="*/ 1748118 w 1748118"/>
              <a:gd name="connsiteY2" fmla="*/ 268965 h 286894"/>
              <a:gd name="connsiteX0" fmla="*/ 0 w 860612"/>
              <a:gd name="connsiteY0" fmla="*/ 286870 h 286870"/>
              <a:gd name="connsiteX1" fmla="*/ 860612 w 860612"/>
              <a:gd name="connsiteY1" fmla="*/ 0 h 286870"/>
            </a:gdLst>
            <a:ahLst/>
            <a:cxnLst>
              <a:cxn ang="0">
                <a:pos x="connsiteX0" y="connsiteY0"/>
              </a:cxn>
              <a:cxn ang="0">
                <a:pos x="connsiteX1" y="connsiteY1"/>
              </a:cxn>
            </a:cxnLst>
            <a:rect l="l" t="t" r="r" b="b"/>
            <a:pathLst>
              <a:path w="860612" h="286870">
                <a:moveTo>
                  <a:pt x="0" y="286870"/>
                </a:moveTo>
                <a:cubicBezTo>
                  <a:pt x="284629" y="144929"/>
                  <a:pt x="569259" y="2988"/>
                  <a:pt x="860612" y="0"/>
                </a:cubicBezTo>
              </a:path>
            </a:pathLst>
          </a:custGeom>
          <a:ln w="28575">
            <a:solidFill>
              <a:srgbClr val="F7C846"/>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8" name="TextBox 120">
            <a:extLst>
              <a:ext uri="{FF2B5EF4-FFF2-40B4-BE49-F238E27FC236}">
                <a16:creationId xmlns:a16="http://schemas.microsoft.com/office/drawing/2014/main" id="{6D04553C-11BC-4933-9D65-580C2BD65376}"/>
              </a:ext>
            </a:extLst>
          </p:cNvPr>
          <p:cNvSpPr txBox="1"/>
          <p:nvPr/>
        </p:nvSpPr>
        <p:spPr bwMode="gray">
          <a:xfrm>
            <a:off x="3002078" y="2675189"/>
            <a:ext cx="1216186" cy="307777"/>
          </a:xfrm>
          <a:prstGeom prst="rect">
            <a:avLst/>
          </a:prstGeom>
          <a:noFill/>
        </p:spPr>
        <p:txBody>
          <a:bodyPr wrap="square" rtlCol="0">
            <a:spAutoFit/>
          </a:bodyPr>
          <a:lstStyle/>
          <a:p>
            <a:pPr algn="ct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Routing</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9" name="椭圆 228"/>
          <p:cNvSpPr>
            <a:spLocks noChangeAspect="1"/>
          </p:cNvSpPr>
          <p:nvPr/>
        </p:nvSpPr>
        <p:spPr bwMode="gray">
          <a:xfrm>
            <a:off x="2950725" y="2712837"/>
            <a:ext cx="232480" cy="232480"/>
          </a:xfrm>
          <a:prstGeom prst="ellipse">
            <a:avLst/>
          </a:prstGeom>
          <a:solidFill>
            <a:srgbClr val="EC7061">
              <a:lumMod val="100000"/>
            </a:srgbClr>
          </a:solidFill>
          <a:ln w="19050" cap="flat" cmpd="sng" algn="ctr">
            <a:noFill/>
            <a:prstDash val="solid"/>
            <a:miter lim="800000"/>
          </a:ln>
          <a:effectLst/>
        </p:spPr>
        <p:txBody>
          <a:bodyPr wrap="none" lIns="0" tIns="0" rIns="0" bIns="0" rtlCol="0" anchor="ctr"/>
          <a:lstStyle/>
          <a:p>
            <a:pPr algn="ctr"/>
            <a:r>
              <a:rPr lang="en-US" altLang="zh-CN" sz="1400" b="1"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矩形 97"/>
          <p:cNvSpPr/>
          <p:nvPr/>
        </p:nvSpPr>
        <p:spPr bwMode="gray">
          <a:xfrm rot="15603">
            <a:off x="1625118" y="3115947"/>
            <a:ext cx="734496" cy="307777"/>
          </a:xfrm>
          <a:prstGeom prst="rect">
            <a:avLst/>
          </a:prstGeom>
        </p:spPr>
        <p:txBody>
          <a:bodyPr wrap="none">
            <a:spAutoFit/>
          </a:bodyPr>
          <a:lstStyle/>
          <a:p>
            <a:pPr algn="just"/>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MAC 2</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矩形 98"/>
          <p:cNvSpPr/>
          <p:nvPr/>
        </p:nvSpPr>
        <p:spPr bwMode="gray">
          <a:xfrm rot="15603">
            <a:off x="4346717" y="3115948"/>
            <a:ext cx="734496" cy="307777"/>
          </a:xfrm>
          <a:prstGeom prst="rect">
            <a:avLst/>
          </a:prstGeom>
        </p:spPr>
        <p:txBody>
          <a:bodyPr wrap="none">
            <a:spAutoFit/>
          </a:bodyPr>
          <a:lstStyle/>
          <a:p>
            <a:pPr algn="just"/>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MAC 2</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圆角矩形 99"/>
          <p:cNvSpPr/>
          <p:nvPr/>
        </p:nvSpPr>
        <p:spPr bwMode="gray">
          <a:xfrm>
            <a:off x="711404" y="5943600"/>
            <a:ext cx="1474584" cy="257175"/>
          </a:xfrm>
          <a:prstGeom prst="roundRect">
            <a:avLst/>
          </a:prstGeom>
          <a:solidFill>
            <a:schemeClr val="bg1">
              <a:lumMod val="7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地址通告</a:t>
            </a:r>
          </a:p>
        </p:txBody>
      </p:sp>
      <p:sp>
        <p:nvSpPr>
          <p:cNvPr id="101" name="圆角矩形 100"/>
          <p:cNvSpPr/>
          <p:nvPr/>
        </p:nvSpPr>
        <p:spPr bwMode="gray">
          <a:xfrm>
            <a:off x="2185988" y="5943600"/>
            <a:ext cx="1474584" cy="257175"/>
          </a:xfrm>
          <a:prstGeom prst="roundRect">
            <a:avLst/>
          </a:prstGeom>
          <a:solidFill>
            <a:schemeClr val="bg1">
              <a:lumMod val="7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通告</a:t>
            </a:r>
          </a:p>
        </p:txBody>
      </p:sp>
      <p:sp>
        <p:nvSpPr>
          <p:cNvPr id="105" name="圆角矩形 104"/>
          <p:cNvSpPr/>
          <p:nvPr/>
        </p:nvSpPr>
        <p:spPr bwMode="gray">
          <a:xfrm>
            <a:off x="3673695" y="5943600"/>
            <a:ext cx="1474584" cy="257175"/>
          </a:xfrm>
          <a:prstGeom prst="roundRect">
            <a:avLst/>
          </a:prstGeom>
          <a:solidFill>
            <a:srgbClr val="AFD89C"/>
          </a:solid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路由通告</a:t>
            </a:r>
          </a:p>
        </p:txBody>
      </p:sp>
      <p:sp>
        <p:nvSpPr>
          <p:cNvPr id="106" name="五边形 24">
            <a:extLst>
              <a:ext uri="{FF2B5EF4-FFF2-40B4-BE49-F238E27FC236}">
                <a16:creationId xmlns:a16="http://schemas.microsoft.com/office/drawing/2014/main" id="{66BA07AD-FEEF-4CB3-8D55-B5A235B0FBAC}"/>
              </a:ext>
            </a:extLst>
          </p:cNvPr>
          <p:cNvSpPr/>
          <p:nvPr/>
        </p:nvSpPr>
        <p:spPr bwMode="gray">
          <a:xfrm>
            <a:off x="8632180" y="124239"/>
            <a:ext cx="108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Type 2</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燕尾形 26">
            <a:extLst>
              <a:ext uri="{FF2B5EF4-FFF2-40B4-BE49-F238E27FC236}">
                <a16:creationId xmlns:a16="http://schemas.microsoft.com/office/drawing/2014/main" id="{0C19331F-8FCC-488E-9C32-A3F774208D1E}"/>
              </a:ext>
            </a:extLst>
          </p:cNvPr>
          <p:cNvSpPr/>
          <p:nvPr/>
        </p:nvSpPr>
        <p:spPr bwMode="gray">
          <a:xfrm>
            <a:off x="10629668"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5</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p>
        </p:txBody>
      </p:sp>
      <p:sp>
        <p:nvSpPr>
          <p:cNvPr id="108" name="燕尾形 26">
            <a:extLst>
              <a:ext uri="{FF2B5EF4-FFF2-40B4-BE49-F238E27FC236}">
                <a16:creationId xmlns:a16="http://schemas.microsoft.com/office/drawing/2014/main" id="{5C797163-D6D3-4ACC-996D-421D87F18D19}"/>
              </a:ext>
            </a:extLst>
          </p:cNvPr>
          <p:cNvSpPr/>
          <p:nvPr/>
        </p:nvSpPr>
        <p:spPr bwMode="gray">
          <a:xfrm>
            <a:off x="9630924"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3</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96" name="组合 95"/>
          <p:cNvGrpSpPr/>
          <p:nvPr/>
        </p:nvGrpSpPr>
        <p:grpSpPr bwMode="gray">
          <a:xfrm flipH="1">
            <a:off x="6591243" y="3043970"/>
            <a:ext cx="1080000" cy="216000"/>
            <a:chOff x="3173381" y="3804595"/>
            <a:chExt cx="1050357" cy="204307"/>
          </a:xfrm>
          <a:solidFill>
            <a:srgbClr val="BEE9EE"/>
          </a:solidFill>
        </p:grpSpPr>
        <p:sp>
          <p:nvSpPr>
            <p:cNvPr id="102" name="任意多边形: 形状 27">
              <a:extLst>
                <a:ext uri="{FF2B5EF4-FFF2-40B4-BE49-F238E27FC236}">
                  <a16:creationId xmlns:a16="http://schemas.microsoft.com/office/drawing/2014/main" id="{BC1DCD05-1BD0-4B0C-8B0E-F2DE5DCD5CFC}"/>
                </a:ext>
              </a:extLst>
            </p:cNvPr>
            <p:cNvSpPr/>
            <p:nvPr/>
          </p:nvSpPr>
          <p:spPr bwMode="gray">
            <a:xfrm flipH="1">
              <a:off x="3173381" y="3804595"/>
              <a:ext cx="1000037" cy="204307"/>
            </a:xfrm>
            <a:custGeom>
              <a:avLst/>
              <a:gdLst>
                <a:gd name="connsiteX0" fmla="*/ 0 w 1703698"/>
                <a:gd name="connsiteY0" fmla="*/ 0 h 627538"/>
                <a:gd name="connsiteX1" fmla="*/ 1572253 w 1703698"/>
                <a:gd name="connsiteY1" fmla="*/ 0 h 627538"/>
                <a:gd name="connsiteX2" fmla="*/ 1703698 w 1703698"/>
                <a:gd name="connsiteY2" fmla="*/ 313769 h 627538"/>
                <a:gd name="connsiteX3" fmla="*/ 1572253 w 1703698"/>
                <a:gd name="connsiteY3" fmla="*/ 627538 h 627538"/>
                <a:gd name="connsiteX4" fmla="*/ 1572249 w 1703698"/>
                <a:gd name="connsiteY4" fmla="*/ 627537 h 627538"/>
                <a:gd name="connsiteX5" fmla="*/ 0 w 1703698"/>
                <a:gd name="connsiteY5" fmla="*/ 627537 h 62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3698" h="627538">
                  <a:moveTo>
                    <a:pt x="0" y="0"/>
                  </a:moveTo>
                  <a:lnTo>
                    <a:pt x="1572253" y="0"/>
                  </a:lnTo>
                  <a:cubicBezTo>
                    <a:pt x="1644848" y="0"/>
                    <a:pt x="1703698" y="140479"/>
                    <a:pt x="1703698" y="313769"/>
                  </a:cubicBezTo>
                  <a:cubicBezTo>
                    <a:pt x="1703698" y="487059"/>
                    <a:pt x="1644848" y="627538"/>
                    <a:pt x="1572253" y="627538"/>
                  </a:cubicBezTo>
                  <a:lnTo>
                    <a:pt x="1572249" y="627537"/>
                  </a:lnTo>
                  <a:lnTo>
                    <a:pt x="0" y="627537"/>
                  </a:lnTo>
                  <a:close/>
                </a:path>
              </a:pathLst>
            </a:custGeom>
            <a:grpFill/>
            <a:ln w="12700">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椭圆 102">
              <a:extLst>
                <a:ext uri="{FF2B5EF4-FFF2-40B4-BE49-F238E27FC236}">
                  <a16:creationId xmlns:a16="http://schemas.microsoft.com/office/drawing/2014/main" id="{756B275B-9D18-4B2A-8BCC-B5E97C03BB36}"/>
                </a:ext>
              </a:extLst>
            </p:cNvPr>
            <p:cNvSpPr/>
            <p:nvPr/>
          </p:nvSpPr>
          <p:spPr bwMode="gray">
            <a:xfrm>
              <a:off x="4123096" y="3804595"/>
              <a:ext cx="100642" cy="204307"/>
            </a:xfrm>
            <a:prstGeom prst="ellipse">
              <a:avLst/>
            </a:prstGeom>
            <a:grpFill/>
            <a:ln w="12700">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04" name="TextBox 120">
            <a:extLst>
              <a:ext uri="{FF2B5EF4-FFF2-40B4-BE49-F238E27FC236}">
                <a16:creationId xmlns:a16="http://schemas.microsoft.com/office/drawing/2014/main" id="{E9BE4350-2E44-4728-9CFA-59A13C85D084}"/>
              </a:ext>
            </a:extLst>
          </p:cNvPr>
          <p:cNvSpPr txBox="1"/>
          <p:nvPr/>
        </p:nvSpPr>
        <p:spPr bwMode="gray">
          <a:xfrm>
            <a:off x="6643851" y="3013471"/>
            <a:ext cx="1008000" cy="276999"/>
          </a:xfrm>
          <a:prstGeom prst="rect">
            <a:avLst/>
          </a:prstGeom>
          <a:noFill/>
        </p:spPr>
        <p:txBody>
          <a:bodyPr wrap="square" rtlCol="0" anchor="ctr">
            <a:spAutoFit/>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VBDIF 20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09" name="组合 108"/>
          <p:cNvGrpSpPr/>
          <p:nvPr/>
        </p:nvGrpSpPr>
        <p:grpSpPr bwMode="gray">
          <a:xfrm flipH="1">
            <a:off x="9781544" y="3043970"/>
            <a:ext cx="1080000" cy="216000"/>
            <a:chOff x="3173381" y="3804595"/>
            <a:chExt cx="1050357" cy="204307"/>
          </a:xfrm>
          <a:solidFill>
            <a:srgbClr val="BEE9EE"/>
          </a:solidFill>
        </p:grpSpPr>
        <p:sp>
          <p:nvSpPr>
            <p:cNvPr id="110" name="任意多边形: 形状 27">
              <a:extLst>
                <a:ext uri="{FF2B5EF4-FFF2-40B4-BE49-F238E27FC236}">
                  <a16:creationId xmlns:a16="http://schemas.microsoft.com/office/drawing/2014/main" id="{BC1DCD05-1BD0-4B0C-8B0E-F2DE5DCD5CFC}"/>
                </a:ext>
              </a:extLst>
            </p:cNvPr>
            <p:cNvSpPr/>
            <p:nvPr/>
          </p:nvSpPr>
          <p:spPr bwMode="gray">
            <a:xfrm flipH="1">
              <a:off x="3173381" y="3804595"/>
              <a:ext cx="1000037" cy="204307"/>
            </a:xfrm>
            <a:custGeom>
              <a:avLst/>
              <a:gdLst>
                <a:gd name="connsiteX0" fmla="*/ 0 w 1703698"/>
                <a:gd name="connsiteY0" fmla="*/ 0 h 627538"/>
                <a:gd name="connsiteX1" fmla="*/ 1572253 w 1703698"/>
                <a:gd name="connsiteY1" fmla="*/ 0 h 627538"/>
                <a:gd name="connsiteX2" fmla="*/ 1703698 w 1703698"/>
                <a:gd name="connsiteY2" fmla="*/ 313769 h 627538"/>
                <a:gd name="connsiteX3" fmla="*/ 1572253 w 1703698"/>
                <a:gd name="connsiteY3" fmla="*/ 627538 h 627538"/>
                <a:gd name="connsiteX4" fmla="*/ 1572249 w 1703698"/>
                <a:gd name="connsiteY4" fmla="*/ 627537 h 627538"/>
                <a:gd name="connsiteX5" fmla="*/ 0 w 1703698"/>
                <a:gd name="connsiteY5" fmla="*/ 627537 h 62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3698" h="627538">
                  <a:moveTo>
                    <a:pt x="0" y="0"/>
                  </a:moveTo>
                  <a:lnTo>
                    <a:pt x="1572253" y="0"/>
                  </a:lnTo>
                  <a:cubicBezTo>
                    <a:pt x="1644848" y="0"/>
                    <a:pt x="1703698" y="140479"/>
                    <a:pt x="1703698" y="313769"/>
                  </a:cubicBezTo>
                  <a:cubicBezTo>
                    <a:pt x="1703698" y="487059"/>
                    <a:pt x="1644848" y="627538"/>
                    <a:pt x="1572253" y="627538"/>
                  </a:cubicBezTo>
                  <a:lnTo>
                    <a:pt x="1572249" y="627537"/>
                  </a:lnTo>
                  <a:lnTo>
                    <a:pt x="0" y="627537"/>
                  </a:lnTo>
                  <a:close/>
                </a:path>
              </a:pathLst>
            </a:custGeom>
            <a:grpFill/>
            <a:ln w="12700">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椭圆 110">
              <a:extLst>
                <a:ext uri="{FF2B5EF4-FFF2-40B4-BE49-F238E27FC236}">
                  <a16:creationId xmlns:a16="http://schemas.microsoft.com/office/drawing/2014/main" id="{756B275B-9D18-4B2A-8BCC-B5E97C03BB36}"/>
                </a:ext>
              </a:extLst>
            </p:cNvPr>
            <p:cNvSpPr/>
            <p:nvPr/>
          </p:nvSpPr>
          <p:spPr bwMode="gray">
            <a:xfrm>
              <a:off x="4123096" y="3804595"/>
              <a:ext cx="100642" cy="204307"/>
            </a:xfrm>
            <a:prstGeom prst="ellipse">
              <a:avLst/>
            </a:prstGeom>
            <a:grpFill/>
            <a:ln w="12700">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12" name="TextBox 120">
            <a:extLst>
              <a:ext uri="{FF2B5EF4-FFF2-40B4-BE49-F238E27FC236}">
                <a16:creationId xmlns:a16="http://schemas.microsoft.com/office/drawing/2014/main" id="{E9BE4350-2E44-4728-9CFA-59A13C85D084}"/>
              </a:ext>
            </a:extLst>
          </p:cNvPr>
          <p:cNvSpPr txBox="1"/>
          <p:nvPr/>
        </p:nvSpPr>
        <p:spPr bwMode="gray">
          <a:xfrm>
            <a:off x="9834152" y="3013471"/>
            <a:ext cx="1008000" cy="276999"/>
          </a:xfrm>
          <a:prstGeom prst="rect">
            <a:avLst/>
          </a:prstGeom>
          <a:noFill/>
        </p:spPr>
        <p:txBody>
          <a:bodyPr wrap="square" rtlCol="0" anchor="ctr">
            <a:spAutoFit/>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VBDIF 20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13" name="组合 112">
            <a:extLst>
              <a:ext uri="{FF2B5EF4-FFF2-40B4-BE49-F238E27FC236}">
                <a16:creationId xmlns:a16="http://schemas.microsoft.com/office/drawing/2014/main" id="{84B7F11F-B57D-4F99-9D21-2CAFD7EC5D96}"/>
              </a:ext>
            </a:extLst>
          </p:cNvPr>
          <p:cNvGrpSpPr/>
          <p:nvPr/>
        </p:nvGrpSpPr>
        <p:grpSpPr bwMode="gray">
          <a:xfrm flipH="1">
            <a:off x="6588746" y="2786921"/>
            <a:ext cx="1080000" cy="180000"/>
            <a:chOff x="6623210" y="5220119"/>
            <a:chExt cx="1129397" cy="228830"/>
          </a:xfrm>
          <a:solidFill>
            <a:srgbClr val="F7C846"/>
          </a:solidFill>
        </p:grpSpPr>
        <p:sp>
          <p:nvSpPr>
            <p:cNvPr id="114" name="任意多边形: 形状 24">
              <a:extLst>
                <a:ext uri="{FF2B5EF4-FFF2-40B4-BE49-F238E27FC236}">
                  <a16:creationId xmlns:a16="http://schemas.microsoft.com/office/drawing/2014/main" id="{D0E49D38-B0D3-48AA-8BEE-A880E16973D1}"/>
                </a:ext>
              </a:extLst>
            </p:cNvPr>
            <p:cNvSpPr/>
            <p:nvPr/>
          </p:nvSpPr>
          <p:spPr bwMode="gray">
            <a:xfrm flipH="1">
              <a:off x="6623210" y="5220119"/>
              <a:ext cx="1075312" cy="228830"/>
            </a:xfrm>
            <a:custGeom>
              <a:avLst/>
              <a:gdLst>
                <a:gd name="connsiteX0" fmla="*/ 0 w 1703698"/>
                <a:gd name="connsiteY0" fmla="*/ 0 h 627538"/>
                <a:gd name="connsiteX1" fmla="*/ 1572253 w 1703698"/>
                <a:gd name="connsiteY1" fmla="*/ 0 h 627538"/>
                <a:gd name="connsiteX2" fmla="*/ 1703698 w 1703698"/>
                <a:gd name="connsiteY2" fmla="*/ 313769 h 627538"/>
                <a:gd name="connsiteX3" fmla="*/ 1572253 w 1703698"/>
                <a:gd name="connsiteY3" fmla="*/ 627538 h 627538"/>
                <a:gd name="connsiteX4" fmla="*/ 1572249 w 1703698"/>
                <a:gd name="connsiteY4" fmla="*/ 627537 h 627538"/>
                <a:gd name="connsiteX5" fmla="*/ 0 w 1703698"/>
                <a:gd name="connsiteY5" fmla="*/ 627537 h 62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3698" h="627538">
                  <a:moveTo>
                    <a:pt x="0" y="0"/>
                  </a:moveTo>
                  <a:lnTo>
                    <a:pt x="1572253" y="0"/>
                  </a:lnTo>
                  <a:cubicBezTo>
                    <a:pt x="1644848" y="0"/>
                    <a:pt x="1703698" y="140479"/>
                    <a:pt x="1703698" y="313769"/>
                  </a:cubicBezTo>
                  <a:cubicBezTo>
                    <a:pt x="1703698" y="487059"/>
                    <a:pt x="1644848" y="627538"/>
                    <a:pt x="1572253" y="627538"/>
                  </a:cubicBezTo>
                  <a:lnTo>
                    <a:pt x="1572249" y="627537"/>
                  </a:lnTo>
                  <a:lnTo>
                    <a:pt x="0" y="627537"/>
                  </a:lnTo>
                  <a:close/>
                </a:path>
              </a:pathLst>
            </a:custGeom>
            <a:grpFill/>
            <a:ln w="12700">
              <a:solidFill>
                <a:srgbClr val="F7964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5" name="椭圆 114">
              <a:extLst>
                <a:ext uri="{FF2B5EF4-FFF2-40B4-BE49-F238E27FC236}">
                  <a16:creationId xmlns:a16="http://schemas.microsoft.com/office/drawing/2014/main" id="{0CD5AD72-AC28-4167-967C-411011E9DD85}"/>
                </a:ext>
              </a:extLst>
            </p:cNvPr>
            <p:cNvSpPr/>
            <p:nvPr/>
          </p:nvSpPr>
          <p:spPr bwMode="gray">
            <a:xfrm>
              <a:off x="7644390" y="5220119"/>
              <a:ext cx="108217" cy="228830"/>
            </a:xfrm>
            <a:prstGeom prst="ellipse">
              <a:avLst/>
            </a:prstGeom>
            <a:grpFill/>
            <a:ln w="12700">
              <a:solidFill>
                <a:srgbClr val="F7964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16" name="TextBox 120">
            <a:extLst>
              <a:ext uri="{FF2B5EF4-FFF2-40B4-BE49-F238E27FC236}">
                <a16:creationId xmlns:a16="http://schemas.microsoft.com/office/drawing/2014/main" id="{D045A33A-BE4B-472A-A9C0-C4F569549D79}"/>
              </a:ext>
            </a:extLst>
          </p:cNvPr>
          <p:cNvSpPr txBox="1"/>
          <p:nvPr/>
        </p:nvSpPr>
        <p:spPr bwMode="gray">
          <a:xfrm flipH="1">
            <a:off x="6588746" y="2738422"/>
            <a:ext cx="1080000" cy="276999"/>
          </a:xfrm>
          <a:prstGeom prst="rect">
            <a:avLst/>
          </a:prstGeom>
          <a:noFill/>
        </p:spPr>
        <p:txBody>
          <a:bodyPr wrap="square" rtlCol="0" anchor="ctr">
            <a:spAutoFit/>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VBDIF 10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17" name="组合 116">
            <a:extLst>
              <a:ext uri="{FF2B5EF4-FFF2-40B4-BE49-F238E27FC236}">
                <a16:creationId xmlns:a16="http://schemas.microsoft.com/office/drawing/2014/main" id="{84B7F11F-B57D-4F99-9D21-2CAFD7EC5D96}"/>
              </a:ext>
            </a:extLst>
          </p:cNvPr>
          <p:cNvGrpSpPr/>
          <p:nvPr/>
        </p:nvGrpSpPr>
        <p:grpSpPr bwMode="gray">
          <a:xfrm flipH="1">
            <a:off x="9781544" y="2786921"/>
            <a:ext cx="1080000" cy="180000"/>
            <a:chOff x="6623210" y="5220119"/>
            <a:chExt cx="1129397" cy="228830"/>
          </a:xfrm>
          <a:solidFill>
            <a:srgbClr val="F7C846"/>
          </a:solidFill>
        </p:grpSpPr>
        <p:sp>
          <p:nvSpPr>
            <p:cNvPr id="118" name="任意多边形: 形状 24">
              <a:extLst>
                <a:ext uri="{FF2B5EF4-FFF2-40B4-BE49-F238E27FC236}">
                  <a16:creationId xmlns:a16="http://schemas.microsoft.com/office/drawing/2014/main" id="{D0E49D38-B0D3-48AA-8BEE-A880E16973D1}"/>
                </a:ext>
              </a:extLst>
            </p:cNvPr>
            <p:cNvSpPr/>
            <p:nvPr/>
          </p:nvSpPr>
          <p:spPr bwMode="gray">
            <a:xfrm flipH="1">
              <a:off x="6623210" y="5220119"/>
              <a:ext cx="1075312" cy="228830"/>
            </a:xfrm>
            <a:custGeom>
              <a:avLst/>
              <a:gdLst>
                <a:gd name="connsiteX0" fmla="*/ 0 w 1703698"/>
                <a:gd name="connsiteY0" fmla="*/ 0 h 627538"/>
                <a:gd name="connsiteX1" fmla="*/ 1572253 w 1703698"/>
                <a:gd name="connsiteY1" fmla="*/ 0 h 627538"/>
                <a:gd name="connsiteX2" fmla="*/ 1703698 w 1703698"/>
                <a:gd name="connsiteY2" fmla="*/ 313769 h 627538"/>
                <a:gd name="connsiteX3" fmla="*/ 1572253 w 1703698"/>
                <a:gd name="connsiteY3" fmla="*/ 627538 h 627538"/>
                <a:gd name="connsiteX4" fmla="*/ 1572249 w 1703698"/>
                <a:gd name="connsiteY4" fmla="*/ 627537 h 627538"/>
                <a:gd name="connsiteX5" fmla="*/ 0 w 1703698"/>
                <a:gd name="connsiteY5" fmla="*/ 627537 h 62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3698" h="627538">
                  <a:moveTo>
                    <a:pt x="0" y="0"/>
                  </a:moveTo>
                  <a:lnTo>
                    <a:pt x="1572253" y="0"/>
                  </a:lnTo>
                  <a:cubicBezTo>
                    <a:pt x="1644848" y="0"/>
                    <a:pt x="1703698" y="140479"/>
                    <a:pt x="1703698" y="313769"/>
                  </a:cubicBezTo>
                  <a:cubicBezTo>
                    <a:pt x="1703698" y="487059"/>
                    <a:pt x="1644848" y="627538"/>
                    <a:pt x="1572253" y="627538"/>
                  </a:cubicBezTo>
                  <a:lnTo>
                    <a:pt x="1572249" y="627537"/>
                  </a:lnTo>
                  <a:lnTo>
                    <a:pt x="0" y="627537"/>
                  </a:lnTo>
                  <a:close/>
                </a:path>
              </a:pathLst>
            </a:custGeom>
            <a:grpFill/>
            <a:ln w="12700">
              <a:solidFill>
                <a:srgbClr val="F7964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9" name="椭圆 118">
              <a:extLst>
                <a:ext uri="{FF2B5EF4-FFF2-40B4-BE49-F238E27FC236}">
                  <a16:creationId xmlns:a16="http://schemas.microsoft.com/office/drawing/2014/main" id="{0CD5AD72-AC28-4167-967C-411011E9DD85}"/>
                </a:ext>
              </a:extLst>
            </p:cNvPr>
            <p:cNvSpPr/>
            <p:nvPr/>
          </p:nvSpPr>
          <p:spPr bwMode="gray">
            <a:xfrm>
              <a:off x="7644390" y="5220119"/>
              <a:ext cx="108217" cy="228830"/>
            </a:xfrm>
            <a:prstGeom prst="ellipse">
              <a:avLst/>
            </a:prstGeom>
            <a:grpFill/>
            <a:ln w="12700">
              <a:solidFill>
                <a:srgbClr val="F7964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20" name="TextBox 120">
            <a:extLst>
              <a:ext uri="{FF2B5EF4-FFF2-40B4-BE49-F238E27FC236}">
                <a16:creationId xmlns:a16="http://schemas.microsoft.com/office/drawing/2014/main" id="{D045A33A-BE4B-472A-A9C0-C4F569549D79}"/>
              </a:ext>
            </a:extLst>
          </p:cNvPr>
          <p:cNvSpPr txBox="1"/>
          <p:nvPr/>
        </p:nvSpPr>
        <p:spPr bwMode="gray">
          <a:xfrm>
            <a:off x="9781544" y="2738422"/>
            <a:ext cx="1080000" cy="276999"/>
          </a:xfrm>
          <a:prstGeom prst="rect">
            <a:avLst/>
          </a:prstGeom>
          <a:noFill/>
        </p:spPr>
        <p:txBody>
          <a:bodyPr wrap="square" rtlCol="0" anchor="ctr">
            <a:spAutoFit/>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VBDIF 10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9461095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任意多边形 55"/>
          <p:cNvSpPr/>
          <p:nvPr/>
        </p:nvSpPr>
        <p:spPr bwMode="gray">
          <a:xfrm>
            <a:off x="8870952" y="3769087"/>
            <a:ext cx="1957068" cy="729696"/>
          </a:xfrm>
          <a:custGeom>
            <a:avLst/>
            <a:gdLst>
              <a:gd name="connsiteX0" fmla="*/ 0 w 809625"/>
              <a:gd name="connsiteY0" fmla="*/ 0 h 583407"/>
              <a:gd name="connsiteX1" fmla="*/ 809625 w 809625"/>
              <a:gd name="connsiteY1" fmla="*/ 0 h 583407"/>
              <a:gd name="connsiteX2" fmla="*/ 809625 w 809625"/>
              <a:gd name="connsiteY2" fmla="*/ 583407 h 583407"/>
            </a:gdLst>
            <a:ahLst/>
            <a:cxnLst>
              <a:cxn ang="0">
                <a:pos x="connsiteX0" y="connsiteY0"/>
              </a:cxn>
              <a:cxn ang="0">
                <a:pos x="connsiteX1" y="connsiteY1"/>
              </a:cxn>
              <a:cxn ang="0">
                <a:pos x="connsiteX2" y="connsiteY2"/>
              </a:cxn>
            </a:cxnLst>
            <a:rect l="l" t="t" r="r" b="b"/>
            <a:pathLst>
              <a:path w="809625" h="583407">
                <a:moveTo>
                  <a:pt x="0" y="0"/>
                </a:moveTo>
                <a:lnTo>
                  <a:pt x="809625" y="0"/>
                </a:lnTo>
                <a:lnTo>
                  <a:pt x="809625" y="583407"/>
                </a:ln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7" name="组合 56"/>
          <p:cNvGrpSpPr/>
          <p:nvPr/>
        </p:nvGrpSpPr>
        <p:grpSpPr bwMode="gray">
          <a:xfrm>
            <a:off x="3213477" y="3341800"/>
            <a:ext cx="442385" cy="432048"/>
            <a:chOff x="1194287" y="4005064"/>
            <a:chExt cx="442385" cy="432048"/>
          </a:xfrm>
        </p:grpSpPr>
        <p:cxnSp>
          <p:nvCxnSpPr>
            <p:cNvPr id="58" name="直接连接符 57"/>
            <p:cNvCxnSpPr/>
            <p:nvPr/>
          </p:nvCxnSpPr>
          <p:spPr bwMode="gray">
            <a:xfrm flipV="1">
              <a:off x="1415479" y="400506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bwMode="gray">
            <a:xfrm>
              <a:off x="1194287" y="400506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0" name="组合 59"/>
          <p:cNvGrpSpPr/>
          <p:nvPr/>
        </p:nvGrpSpPr>
        <p:grpSpPr bwMode="gray">
          <a:xfrm>
            <a:off x="8588381" y="3311320"/>
            <a:ext cx="442385" cy="432048"/>
            <a:chOff x="1194287" y="4005064"/>
            <a:chExt cx="442385" cy="432048"/>
          </a:xfrm>
        </p:grpSpPr>
        <p:cxnSp>
          <p:nvCxnSpPr>
            <p:cNvPr id="61" name="直接连接符 60"/>
            <p:cNvCxnSpPr/>
            <p:nvPr/>
          </p:nvCxnSpPr>
          <p:spPr bwMode="gray">
            <a:xfrm flipV="1">
              <a:off x="1415479" y="400506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bwMode="gray">
            <a:xfrm>
              <a:off x="1194287" y="400506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标题 1"/>
          <p:cNvSpPr>
            <a:spLocks noGrp="1"/>
          </p:cNvSpPr>
          <p:nvPr>
            <p:ph type="title"/>
          </p:nvPr>
        </p:nvSpPr>
        <p:spPr bwMode="gray"/>
        <p:txBody>
          <a:bodyPr/>
          <a:lstStyle/>
          <a:p>
            <a:r>
              <a:rPr lang="zh-CN" altLang="en-US">
                <a:sym typeface="Huawei Sans" panose="020C0503030203020204" pitchFamily="34" charset="0"/>
              </a:rPr>
              <a:t>非对称</a:t>
            </a:r>
            <a:r>
              <a:rPr lang="en-US" altLang="zh-CN">
                <a:sym typeface="Huawei Sans" panose="020C0503030203020204" pitchFamily="34" charset="0"/>
              </a:rPr>
              <a:t>IRB</a:t>
            </a:r>
            <a:r>
              <a:rPr lang="zh-CN" altLang="en-US">
                <a:sym typeface="Huawei Sans" panose="020C0503030203020204" pitchFamily="34" charset="0"/>
              </a:rPr>
              <a:t>转发</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a:xfrm>
            <a:off x="455613" y="1047751"/>
            <a:ext cx="11256962" cy="781618"/>
          </a:xfrm>
        </p:spPr>
        <p:txBody>
          <a:bodyPr/>
          <a:lstStyle/>
          <a:p>
            <a:r>
              <a:rPr lang="zh-CN" altLang="en-US" sz="1800" dirty="0">
                <a:sym typeface="Huawei Sans" panose="020C0503030203020204" pitchFamily="34" charset="0"/>
              </a:rPr>
              <a:t>非对称</a:t>
            </a:r>
            <a:r>
              <a:rPr lang="en-US" altLang="zh-CN" sz="1800" dirty="0">
                <a:sym typeface="Huawei Sans" panose="020C0503030203020204" pitchFamily="34" charset="0"/>
              </a:rPr>
              <a:t>IRB</a:t>
            </a:r>
            <a:r>
              <a:rPr lang="zh-CN" altLang="en-US" sz="1800" dirty="0">
                <a:sym typeface="Huawei Sans" panose="020C0503030203020204" pitchFamily="34" charset="0"/>
              </a:rPr>
              <a:t>转发：</a:t>
            </a:r>
            <a:r>
              <a:rPr lang="en-US" altLang="zh-CN" sz="1800" dirty="0">
                <a:sym typeface="Huawei Sans" panose="020C0503030203020204" pitchFamily="34" charset="0"/>
              </a:rPr>
              <a:t>Ingress VTEP</a:t>
            </a:r>
            <a:r>
              <a:rPr lang="zh-CN" altLang="en-US" sz="1800" dirty="0">
                <a:sym typeface="Huawei Sans" panose="020C0503030203020204" pitchFamily="34" charset="0"/>
              </a:rPr>
              <a:t>同时执行</a:t>
            </a:r>
            <a:r>
              <a:rPr lang="en-US" altLang="zh-CN" sz="1800" dirty="0">
                <a:sym typeface="Huawei Sans" panose="020C0503030203020204" pitchFamily="34" charset="0"/>
              </a:rPr>
              <a:t>L3</a:t>
            </a:r>
            <a:r>
              <a:rPr lang="zh-CN" altLang="en-US" sz="1800" dirty="0">
                <a:sym typeface="Huawei Sans" panose="020C0503030203020204" pitchFamily="34" charset="0"/>
              </a:rPr>
              <a:t>、</a:t>
            </a:r>
            <a:r>
              <a:rPr lang="en-US" altLang="zh-CN" sz="1800" dirty="0">
                <a:sym typeface="Huawei Sans" panose="020C0503030203020204" pitchFamily="34" charset="0"/>
              </a:rPr>
              <a:t>L2</a:t>
            </a:r>
            <a:r>
              <a:rPr lang="zh-CN" altLang="en-US" sz="1800" dirty="0">
                <a:sym typeface="Huawei Sans" panose="020C0503030203020204" pitchFamily="34" charset="0"/>
              </a:rPr>
              <a:t>查表转发，</a:t>
            </a:r>
            <a:r>
              <a:rPr lang="en-US" altLang="zh-CN" sz="1800" dirty="0">
                <a:sym typeface="Huawei Sans" panose="020C0503030203020204" pitchFamily="34" charset="0"/>
              </a:rPr>
              <a:t>Egress VTEP</a:t>
            </a:r>
            <a:r>
              <a:rPr lang="zh-CN" altLang="en-US" sz="1800" dirty="0">
                <a:sym typeface="Huawei Sans" panose="020C0503030203020204" pitchFamily="34" charset="0"/>
              </a:rPr>
              <a:t>只需要进行</a:t>
            </a:r>
            <a:r>
              <a:rPr lang="en-US" altLang="zh-CN" sz="1800" dirty="0">
                <a:sym typeface="Huawei Sans" panose="020C0503030203020204" pitchFamily="34" charset="0"/>
              </a:rPr>
              <a:t>L2</a:t>
            </a:r>
            <a:r>
              <a:rPr lang="zh-CN" altLang="en-US" sz="1800" dirty="0">
                <a:sym typeface="Huawei Sans" panose="020C0503030203020204" pitchFamily="34" charset="0"/>
              </a:rPr>
              <a:t>查表、转发，因为</a:t>
            </a:r>
            <a:r>
              <a:rPr lang="en-US" altLang="zh-CN" sz="1800" dirty="0">
                <a:sym typeface="Huawei Sans" panose="020C0503030203020204" pitchFamily="34" charset="0"/>
              </a:rPr>
              <a:t>Ingress</a:t>
            </a:r>
            <a:r>
              <a:rPr lang="zh-CN" altLang="en-US" sz="1800" dirty="0">
                <a:sym typeface="Huawei Sans" panose="020C0503030203020204" pitchFamily="34" charset="0"/>
              </a:rPr>
              <a:t>、</a:t>
            </a:r>
            <a:r>
              <a:rPr lang="en-US" altLang="zh-CN" sz="1800" dirty="0">
                <a:sym typeface="Huawei Sans" panose="020C0503030203020204" pitchFamily="34" charset="0"/>
              </a:rPr>
              <a:t>Egress</a:t>
            </a:r>
            <a:r>
              <a:rPr lang="zh-CN" altLang="en-US" sz="1800" dirty="0">
                <a:sym typeface="Huawei Sans" panose="020C0503030203020204" pitchFamily="34" charset="0"/>
              </a:rPr>
              <a:t>所执行操作不一致，被称为非对称转发。</a:t>
            </a:r>
          </a:p>
        </p:txBody>
      </p:sp>
      <p:pic>
        <p:nvPicPr>
          <p:cNvPr id="14" name="图片 87" descr="汇聚交换机.png"/>
          <p:cNvPicPr>
            <a:picLocks noChangeAspect="1"/>
          </p:cNvPicPr>
          <p:nvPr/>
        </p:nvPicPr>
        <p:blipFill>
          <a:blip r:embed="rId3"/>
          <a:stretch>
            <a:fillRect/>
          </a:stretch>
        </p:blipFill>
        <p:spPr bwMode="gray">
          <a:xfrm>
            <a:off x="3180443" y="3553463"/>
            <a:ext cx="502820" cy="411400"/>
          </a:xfrm>
          <a:prstGeom prst="rect">
            <a:avLst/>
          </a:prstGeom>
        </p:spPr>
      </p:pic>
      <p:pic>
        <p:nvPicPr>
          <p:cNvPr id="15" name="图片 87" descr="汇聚交换机.png"/>
          <p:cNvPicPr>
            <a:picLocks noChangeAspect="1"/>
          </p:cNvPicPr>
          <p:nvPr/>
        </p:nvPicPr>
        <p:blipFill>
          <a:blip r:embed="rId3"/>
          <a:stretch>
            <a:fillRect/>
          </a:stretch>
        </p:blipFill>
        <p:spPr bwMode="gray">
          <a:xfrm>
            <a:off x="8548976" y="3553463"/>
            <a:ext cx="502820" cy="411400"/>
          </a:xfrm>
          <a:prstGeom prst="rect">
            <a:avLst/>
          </a:prstGeom>
        </p:spPr>
      </p:pic>
      <p:sp>
        <p:nvSpPr>
          <p:cNvPr id="16" name="矩形 15"/>
          <p:cNvSpPr/>
          <p:nvPr/>
        </p:nvSpPr>
        <p:spPr bwMode="gray">
          <a:xfrm>
            <a:off x="605690" y="5000937"/>
            <a:ext cx="1287532" cy="738664"/>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PC1</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172.16.2.1/24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A</a:t>
            </a:r>
          </a:p>
        </p:txBody>
      </p:sp>
      <p:pic>
        <p:nvPicPr>
          <p:cNvPr id="17" name="图片 11" descr="开放网络-蓝.png"/>
          <p:cNvPicPr>
            <a:picLocks noChangeAspect="1"/>
          </p:cNvPicPr>
          <p:nvPr/>
        </p:nvPicPr>
        <p:blipFill>
          <a:blip r:embed="rId4" cstate="print"/>
          <a:stretch>
            <a:fillRect/>
          </a:stretch>
        </p:blipFill>
        <p:spPr bwMode="gray">
          <a:xfrm>
            <a:off x="981752" y="4531873"/>
            <a:ext cx="539607" cy="415381"/>
          </a:xfrm>
          <a:prstGeom prst="rect">
            <a:avLst/>
          </a:prstGeom>
        </p:spPr>
      </p:pic>
      <p:sp>
        <p:nvSpPr>
          <p:cNvPr id="18" name="矩形 17"/>
          <p:cNvSpPr/>
          <p:nvPr/>
        </p:nvSpPr>
        <p:spPr bwMode="gray">
          <a:xfrm>
            <a:off x="10172632" y="4886460"/>
            <a:ext cx="1287532" cy="738664"/>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PC2</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172.16.1.2/24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B</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矩形 18"/>
          <p:cNvSpPr/>
          <p:nvPr/>
        </p:nvSpPr>
        <p:spPr bwMode="gray">
          <a:xfrm rot="15603">
            <a:off x="1269642" y="3776964"/>
            <a:ext cx="846707" cy="523220"/>
          </a:xfrm>
          <a:prstGeom prst="rect">
            <a:avLst/>
          </a:prstGeom>
        </p:spPr>
        <p:txBody>
          <a:bodyPr wrap="none">
            <a:spAutoFit/>
          </a:bodyPr>
          <a:lstStyle/>
          <a:p>
            <a:pPr algn="just"/>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BD 20</a:t>
            </a:r>
          </a:p>
          <a:p>
            <a:pPr algn="just"/>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VNI 200</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矩形 19"/>
          <p:cNvSpPr/>
          <p:nvPr/>
        </p:nvSpPr>
        <p:spPr bwMode="gray">
          <a:xfrm rot="15603">
            <a:off x="9980129" y="3769343"/>
            <a:ext cx="846707" cy="523220"/>
          </a:xfrm>
          <a:prstGeom prst="rect">
            <a:avLst/>
          </a:prstGeom>
        </p:spPr>
        <p:txBody>
          <a:bodyPr wrap="none">
            <a:spAutoFit/>
          </a:bodyPr>
          <a:lstStyle/>
          <a:p>
            <a:pPr algn="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BD 10</a:t>
            </a:r>
          </a:p>
          <a:p>
            <a:pPr algn="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VNI 100</a:t>
            </a:r>
            <a:endPar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圆柱形 20"/>
          <p:cNvSpPr/>
          <p:nvPr/>
        </p:nvSpPr>
        <p:spPr bwMode="gray">
          <a:xfrm rot="16200000">
            <a:off x="5981400" y="1326200"/>
            <a:ext cx="242039" cy="4893112"/>
          </a:xfrm>
          <a:prstGeom prst="can">
            <a:avLst>
              <a:gd name="adj" fmla="val 72803"/>
            </a:avLst>
          </a:prstGeom>
          <a:solidFill>
            <a:srgbClr val="EC7061"/>
          </a:solidFill>
          <a:ln w="12700" cap="flat" cmpd="sng" algn="ctr">
            <a:solidFill>
              <a:sysClr val="window" lastClr="FFFFF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999">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矩形 21"/>
          <p:cNvSpPr/>
          <p:nvPr/>
        </p:nvSpPr>
        <p:spPr bwMode="gray">
          <a:xfrm>
            <a:off x="5531590" y="3624933"/>
            <a:ext cx="1141659" cy="307777"/>
          </a:xfrm>
          <a:prstGeom prst="rect">
            <a:avLst/>
          </a:prstGeom>
        </p:spPr>
        <p:txBody>
          <a:bodyPr wrap="none">
            <a:spAutoFit/>
          </a:bodyPr>
          <a:lstStyle/>
          <a:p>
            <a:pPr algn="just"/>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a:t>
            </a:r>
          </a:p>
        </p:txBody>
      </p:sp>
      <p:pic>
        <p:nvPicPr>
          <p:cNvPr id="24" name="图片 11" descr="开放网络-蓝.png"/>
          <p:cNvPicPr>
            <a:picLocks noChangeAspect="1"/>
          </p:cNvPicPr>
          <p:nvPr/>
        </p:nvPicPr>
        <p:blipFill>
          <a:blip r:embed="rId4" cstate="print"/>
          <a:stretch>
            <a:fillRect/>
          </a:stretch>
        </p:blipFill>
        <p:spPr bwMode="gray">
          <a:xfrm>
            <a:off x="10528098" y="4463942"/>
            <a:ext cx="539607" cy="415381"/>
          </a:xfrm>
          <a:prstGeom prst="rect">
            <a:avLst/>
          </a:prstGeom>
        </p:spPr>
      </p:pic>
      <p:sp>
        <p:nvSpPr>
          <p:cNvPr id="25" name="椭圆 24">
            <a:extLst>
              <a:ext uri="{FF2B5EF4-FFF2-40B4-BE49-F238E27FC236}">
                <a16:creationId xmlns:a16="http://schemas.microsoft.com/office/drawing/2014/main" id="{0B715521-6FFC-425A-9709-08A533BD8FE8}"/>
              </a:ext>
            </a:extLst>
          </p:cNvPr>
          <p:cNvSpPr/>
          <p:nvPr/>
        </p:nvSpPr>
        <p:spPr bwMode="gray">
          <a:xfrm rot="5400000" flipH="1">
            <a:off x="3448264" y="3773859"/>
            <a:ext cx="168379" cy="168357"/>
          </a:xfrm>
          <a:prstGeom prst="ellipse">
            <a:avLst/>
          </a:prstGeom>
          <a:solidFill>
            <a:srgbClr val="FFFFCC"/>
          </a:solidFill>
          <a:ln>
            <a:solidFill>
              <a:srgbClr val="F79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椭圆 25">
            <a:extLst>
              <a:ext uri="{FF2B5EF4-FFF2-40B4-BE49-F238E27FC236}">
                <a16:creationId xmlns:a16="http://schemas.microsoft.com/office/drawing/2014/main" id="{696C030C-47C1-4426-8FEA-7FF0447ECB4C}"/>
              </a:ext>
            </a:extLst>
          </p:cNvPr>
          <p:cNvSpPr/>
          <p:nvPr/>
        </p:nvSpPr>
        <p:spPr bwMode="gray">
          <a:xfrm rot="5400000" flipH="1">
            <a:off x="3224674" y="3773859"/>
            <a:ext cx="168379" cy="168357"/>
          </a:xfrm>
          <a:prstGeom prst="ellipse">
            <a:avLst/>
          </a:prstGeom>
          <a:solidFill>
            <a:srgbClr val="BDD7EE"/>
          </a:solidFill>
          <a:ln>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7" name="直接连接符 26">
            <a:extLst>
              <a:ext uri="{FF2B5EF4-FFF2-40B4-BE49-F238E27FC236}">
                <a16:creationId xmlns:a16="http://schemas.microsoft.com/office/drawing/2014/main" id="{52DC6F41-F8AF-440B-A7D8-2F383A91BFE3}"/>
              </a:ext>
            </a:extLst>
          </p:cNvPr>
          <p:cNvCxnSpPr>
            <a:cxnSpLocks/>
          </p:cNvCxnSpPr>
          <p:nvPr/>
        </p:nvCxnSpPr>
        <p:spPr bwMode="gray">
          <a:xfrm flipV="1">
            <a:off x="3535891" y="3942228"/>
            <a:ext cx="0" cy="758720"/>
          </a:xfrm>
          <a:prstGeom prst="line">
            <a:avLst/>
          </a:prstGeom>
          <a:ln w="19050">
            <a:solidFill>
              <a:srgbClr val="F79646"/>
            </a:solidFill>
            <a:prstDash val="sysDot"/>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BD69DE19-F81B-479A-A5D4-18C55D0BD6ED}"/>
              </a:ext>
            </a:extLst>
          </p:cNvPr>
          <p:cNvCxnSpPr>
            <a:cxnSpLocks/>
          </p:cNvCxnSpPr>
          <p:nvPr/>
        </p:nvCxnSpPr>
        <p:spPr bwMode="gray">
          <a:xfrm flipV="1">
            <a:off x="3312301" y="3942228"/>
            <a:ext cx="0" cy="758720"/>
          </a:xfrm>
          <a:prstGeom prst="line">
            <a:avLst/>
          </a:prstGeom>
          <a:ln w="19050">
            <a:solidFill>
              <a:srgbClr val="30B5C5"/>
            </a:solidFill>
            <a:prstDash val="sysDot"/>
          </a:ln>
        </p:spPr>
        <p:style>
          <a:lnRef idx="1">
            <a:schemeClr val="accent1"/>
          </a:lnRef>
          <a:fillRef idx="0">
            <a:schemeClr val="accent1"/>
          </a:fillRef>
          <a:effectRef idx="0">
            <a:schemeClr val="accent1"/>
          </a:effectRef>
          <a:fontRef idx="minor">
            <a:schemeClr val="tx1"/>
          </a:fontRef>
        </p:style>
      </p:cxnSp>
      <p:sp>
        <p:nvSpPr>
          <p:cNvPr id="55" name="任意多边形 54"/>
          <p:cNvSpPr/>
          <p:nvPr/>
        </p:nvSpPr>
        <p:spPr bwMode="gray">
          <a:xfrm flipH="1">
            <a:off x="1268460" y="3769086"/>
            <a:ext cx="1925735" cy="804862"/>
          </a:xfrm>
          <a:custGeom>
            <a:avLst/>
            <a:gdLst>
              <a:gd name="connsiteX0" fmla="*/ 0 w 809625"/>
              <a:gd name="connsiteY0" fmla="*/ 0 h 583407"/>
              <a:gd name="connsiteX1" fmla="*/ 809625 w 809625"/>
              <a:gd name="connsiteY1" fmla="*/ 0 h 583407"/>
              <a:gd name="connsiteX2" fmla="*/ 809625 w 809625"/>
              <a:gd name="connsiteY2" fmla="*/ 583407 h 583407"/>
            </a:gdLst>
            <a:ahLst/>
            <a:cxnLst>
              <a:cxn ang="0">
                <a:pos x="connsiteX0" y="connsiteY0"/>
              </a:cxn>
              <a:cxn ang="0">
                <a:pos x="connsiteX1" y="connsiteY1"/>
              </a:cxn>
              <a:cxn ang="0">
                <a:pos x="connsiteX2" y="connsiteY2"/>
              </a:cxn>
            </a:cxnLst>
            <a:rect l="l" t="t" r="r" b="b"/>
            <a:pathLst>
              <a:path w="809625" h="583407">
                <a:moveTo>
                  <a:pt x="0" y="0"/>
                </a:moveTo>
                <a:lnTo>
                  <a:pt x="809625" y="0"/>
                </a:lnTo>
                <a:lnTo>
                  <a:pt x="809625" y="583407"/>
                </a:ln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文本框 70">
            <a:extLst>
              <a:ext uri="{FF2B5EF4-FFF2-40B4-BE49-F238E27FC236}">
                <a16:creationId xmlns:a16="http://schemas.microsoft.com/office/drawing/2014/main" id="{06B15736-FC8B-4050-A2F5-AB6BD864A78D}"/>
              </a:ext>
            </a:extLst>
          </p:cNvPr>
          <p:cNvSpPr txBox="1">
            <a:spLocks/>
          </p:cNvSpPr>
          <p:nvPr/>
        </p:nvSpPr>
        <p:spPr bwMode="gray">
          <a:xfrm>
            <a:off x="2333626" y="4227083"/>
            <a:ext cx="1006341" cy="628440"/>
          </a:xfrm>
          <a:prstGeom prst="rect">
            <a:avLst/>
          </a:prstGeom>
          <a:solidFill>
            <a:srgbClr val="BEE9EE"/>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200" dirty="0">
                <a:solidFill>
                  <a:schemeClr val="tx1"/>
                </a:solidFill>
                <a:sym typeface="Huawei Sans" panose="020C0503030203020204" pitchFamily="34" charset="0"/>
              </a:rPr>
              <a:t>BD 20</a:t>
            </a:r>
          </a:p>
          <a:p>
            <a:r>
              <a:rPr lang="en-US" altLang="zh-CN" sz="1200" dirty="0">
                <a:solidFill>
                  <a:schemeClr val="tx1"/>
                </a:solidFill>
                <a:sym typeface="Huawei Sans" panose="020C0503030203020204" pitchFamily="34" charset="0"/>
              </a:rPr>
              <a:t>VNI 200</a:t>
            </a:r>
          </a:p>
        </p:txBody>
      </p:sp>
      <p:sp>
        <p:nvSpPr>
          <p:cNvPr id="72" name="文本框 71">
            <a:extLst>
              <a:ext uri="{FF2B5EF4-FFF2-40B4-BE49-F238E27FC236}">
                <a16:creationId xmlns:a16="http://schemas.microsoft.com/office/drawing/2014/main" id="{06B15736-FC8B-4050-A2F5-AB6BD864A78D}"/>
              </a:ext>
            </a:extLst>
          </p:cNvPr>
          <p:cNvSpPr txBox="1">
            <a:spLocks/>
          </p:cNvSpPr>
          <p:nvPr/>
        </p:nvSpPr>
        <p:spPr bwMode="gray">
          <a:xfrm>
            <a:off x="3528271" y="4227083"/>
            <a:ext cx="1006341" cy="628440"/>
          </a:xfrm>
          <a:prstGeom prst="rect">
            <a:avLst/>
          </a:prstGeom>
          <a:solidFill>
            <a:srgbClr val="FFFFCC"/>
          </a:solidFill>
          <a:ln>
            <a:solidFill>
              <a:srgbClr val="F79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200" dirty="0">
                <a:solidFill>
                  <a:schemeClr val="tx1"/>
                </a:solidFill>
                <a:sym typeface="Huawei Sans" panose="020C0503030203020204" pitchFamily="34" charset="0"/>
              </a:rPr>
              <a:t>BD 10</a:t>
            </a:r>
          </a:p>
          <a:p>
            <a:r>
              <a:rPr lang="en-US" altLang="zh-CN" sz="1200" dirty="0">
                <a:solidFill>
                  <a:schemeClr val="tx1"/>
                </a:solidFill>
                <a:sym typeface="Huawei Sans" panose="020C0503030203020204" pitchFamily="34" charset="0"/>
              </a:rPr>
              <a:t>VNI 100</a:t>
            </a:r>
          </a:p>
        </p:txBody>
      </p:sp>
      <p:sp>
        <p:nvSpPr>
          <p:cNvPr id="73" name="任意多边形 72"/>
          <p:cNvSpPr/>
          <p:nvPr/>
        </p:nvSpPr>
        <p:spPr bwMode="gray">
          <a:xfrm>
            <a:off x="3063928" y="4859877"/>
            <a:ext cx="687978" cy="418012"/>
          </a:xfrm>
          <a:custGeom>
            <a:avLst/>
            <a:gdLst>
              <a:gd name="connsiteX0" fmla="*/ 0 w 687978"/>
              <a:gd name="connsiteY0" fmla="*/ 0 h 418012"/>
              <a:gd name="connsiteX1" fmla="*/ 0 w 687978"/>
              <a:gd name="connsiteY1" fmla="*/ 418012 h 418012"/>
              <a:gd name="connsiteX2" fmla="*/ 687978 w 687978"/>
              <a:gd name="connsiteY2" fmla="*/ 418012 h 418012"/>
              <a:gd name="connsiteX3" fmla="*/ 687978 w 687978"/>
              <a:gd name="connsiteY3" fmla="*/ 60960 h 418012"/>
            </a:gdLst>
            <a:ahLst/>
            <a:cxnLst>
              <a:cxn ang="0">
                <a:pos x="connsiteX0" y="connsiteY0"/>
              </a:cxn>
              <a:cxn ang="0">
                <a:pos x="connsiteX1" y="connsiteY1"/>
              </a:cxn>
              <a:cxn ang="0">
                <a:pos x="connsiteX2" y="connsiteY2"/>
              </a:cxn>
              <a:cxn ang="0">
                <a:pos x="connsiteX3" y="connsiteY3"/>
              </a:cxn>
            </a:cxnLst>
            <a:rect l="l" t="t" r="r" b="b"/>
            <a:pathLst>
              <a:path w="687978" h="418012">
                <a:moveTo>
                  <a:pt x="0" y="0"/>
                </a:moveTo>
                <a:lnTo>
                  <a:pt x="0" y="418012"/>
                </a:lnTo>
                <a:lnTo>
                  <a:pt x="687978" y="418012"/>
                </a:lnTo>
                <a:lnTo>
                  <a:pt x="687978" y="60960"/>
                </a:lnTo>
              </a:path>
            </a:pathLst>
          </a:custGeom>
          <a:ln w="38100">
            <a:solidFill>
              <a:srgbClr val="EC706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4" name="直接连接符 73"/>
          <p:cNvCxnSpPr/>
          <p:nvPr/>
        </p:nvCxnSpPr>
        <p:spPr bwMode="gray">
          <a:xfrm flipH="1">
            <a:off x="1001694" y="3285157"/>
            <a:ext cx="2020959" cy="0"/>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sp>
        <p:nvSpPr>
          <p:cNvPr id="75" name="椭圆 74"/>
          <p:cNvSpPr>
            <a:spLocks noChangeAspect="1"/>
          </p:cNvSpPr>
          <p:nvPr/>
        </p:nvSpPr>
        <p:spPr bwMode="gray">
          <a:xfrm>
            <a:off x="812865" y="3196044"/>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矩形 75"/>
          <p:cNvSpPr/>
          <p:nvPr/>
        </p:nvSpPr>
        <p:spPr bwMode="gray">
          <a:xfrm>
            <a:off x="1074729" y="3311320"/>
            <a:ext cx="2066591"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发送单播帧给</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椭圆 76"/>
          <p:cNvSpPr>
            <a:spLocks noChangeAspect="1"/>
          </p:cNvSpPr>
          <p:nvPr/>
        </p:nvSpPr>
        <p:spPr bwMode="gray">
          <a:xfrm>
            <a:off x="2180165" y="5433727"/>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矩形 77"/>
          <p:cNvSpPr/>
          <p:nvPr/>
        </p:nvSpPr>
        <p:spPr bwMode="gray">
          <a:xfrm>
            <a:off x="2412645" y="5404034"/>
            <a:ext cx="2016899" cy="523220"/>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VBDIF 20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查询路由表，</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将报文交给</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VBDIF 10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椭圆 78"/>
          <p:cNvSpPr>
            <a:spLocks noChangeAspect="1"/>
          </p:cNvSpPr>
          <p:nvPr/>
        </p:nvSpPr>
        <p:spPr bwMode="gray">
          <a:xfrm>
            <a:off x="4645000" y="4366992"/>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矩形 79"/>
          <p:cNvSpPr/>
          <p:nvPr/>
        </p:nvSpPr>
        <p:spPr bwMode="gray">
          <a:xfrm>
            <a:off x="4877479" y="4337299"/>
            <a:ext cx="2048803" cy="954107"/>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VBDIF 10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查询</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BD 10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地址表，发现目的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 （通过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Type 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路由学习）属于远端</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椭圆 80"/>
          <p:cNvSpPr>
            <a:spLocks noChangeAspect="1"/>
          </p:cNvSpPr>
          <p:nvPr/>
        </p:nvSpPr>
        <p:spPr bwMode="gray">
          <a:xfrm>
            <a:off x="3875209" y="3386616"/>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矩形 81"/>
          <p:cNvSpPr/>
          <p:nvPr/>
        </p:nvSpPr>
        <p:spPr bwMode="gray">
          <a:xfrm>
            <a:off x="4107688" y="3348968"/>
            <a:ext cx="3976627" cy="307777"/>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隧道将数据帧发往</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椭圆 95">
            <a:extLst>
              <a:ext uri="{FF2B5EF4-FFF2-40B4-BE49-F238E27FC236}">
                <a16:creationId xmlns:a16="http://schemas.microsoft.com/office/drawing/2014/main" id="{0B715521-6FFC-425A-9709-08A533BD8FE8}"/>
              </a:ext>
            </a:extLst>
          </p:cNvPr>
          <p:cNvSpPr/>
          <p:nvPr/>
        </p:nvSpPr>
        <p:spPr bwMode="gray">
          <a:xfrm rot="5400000" flipH="1">
            <a:off x="8848999" y="3773859"/>
            <a:ext cx="168379" cy="168357"/>
          </a:xfrm>
          <a:prstGeom prst="ellipse">
            <a:avLst/>
          </a:prstGeom>
          <a:solidFill>
            <a:srgbClr val="FFFFCC"/>
          </a:solidFill>
          <a:ln>
            <a:solidFill>
              <a:srgbClr val="F79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8" name="直接连接符 97">
            <a:extLst>
              <a:ext uri="{FF2B5EF4-FFF2-40B4-BE49-F238E27FC236}">
                <a16:creationId xmlns:a16="http://schemas.microsoft.com/office/drawing/2014/main" id="{52DC6F41-F8AF-440B-A7D8-2F383A91BFE3}"/>
              </a:ext>
            </a:extLst>
          </p:cNvPr>
          <p:cNvCxnSpPr>
            <a:cxnSpLocks/>
          </p:cNvCxnSpPr>
          <p:nvPr/>
        </p:nvCxnSpPr>
        <p:spPr bwMode="gray">
          <a:xfrm flipV="1">
            <a:off x="8936626" y="3942228"/>
            <a:ext cx="0" cy="758720"/>
          </a:xfrm>
          <a:prstGeom prst="line">
            <a:avLst/>
          </a:prstGeom>
          <a:ln w="19050">
            <a:solidFill>
              <a:srgbClr val="F79646"/>
            </a:solidFill>
            <a:prstDash val="sysDot"/>
          </a:ln>
        </p:spPr>
        <p:style>
          <a:lnRef idx="1">
            <a:schemeClr val="accent1"/>
          </a:lnRef>
          <a:fillRef idx="0">
            <a:schemeClr val="accent1"/>
          </a:fillRef>
          <a:effectRef idx="0">
            <a:schemeClr val="accent1"/>
          </a:effectRef>
          <a:fontRef idx="minor">
            <a:schemeClr val="tx1"/>
          </a:fontRef>
        </p:style>
      </p:cxnSp>
      <p:sp>
        <p:nvSpPr>
          <p:cNvPr id="101" name="文本框 100">
            <a:extLst>
              <a:ext uri="{FF2B5EF4-FFF2-40B4-BE49-F238E27FC236}">
                <a16:creationId xmlns:a16="http://schemas.microsoft.com/office/drawing/2014/main" id="{06B15736-FC8B-4050-A2F5-AB6BD864A78D}"/>
              </a:ext>
            </a:extLst>
          </p:cNvPr>
          <p:cNvSpPr txBox="1">
            <a:spLocks/>
          </p:cNvSpPr>
          <p:nvPr/>
        </p:nvSpPr>
        <p:spPr bwMode="gray">
          <a:xfrm>
            <a:off x="8011026" y="4227083"/>
            <a:ext cx="1006341" cy="628440"/>
          </a:xfrm>
          <a:prstGeom prst="rect">
            <a:avLst/>
          </a:prstGeom>
          <a:solidFill>
            <a:srgbClr val="FFFFCC"/>
          </a:solidFill>
          <a:ln>
            <a:solidFill>
              <a:srgbClr val="F79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200" dirty="0">
                <a:solidFill>
                  <a:schemeClr val="tx1"/>
                </a:solidFill>
                <a:sym typeface="Huawei Sans" panose="020C0503030203020204" pitchFamily="34" charset="0"/>
              </a:rPr>
              <a:t>BD 10</a:t>
            </a:r>
          </a:p>
          <a:p>
            <a:r>
              <a:rPr lang="en-US" altLang="zh-CN" sz="1200" dirty="0">
                <a:solidFill>
                  <a:schemeClr val="tx1"/>
                </a:solidFill>
                <a:sym typeface="Huawei Sans" panose="020C0503030203020204" pitchFamily="34" charset="0"/>
              </a:rPr>
              <a:t>VNI 100</a:t>
            </a:r>
          </a:p>
        </p:txBody>
      </p:sp>
      <p:sp>
        <p:nvSpPr>
          <p:cNvPr id="103" name="椭圆 102"/>
          <p:cNvSpPr>
            <a:spLocks noChangeAspect="1"/>
          </p:cNvSpPr>
          <p:nvPr/>
        </p:nvSpPr>
        <p:spPr bwMode="gray">
          <a:xfrm>
            <a:off x="7483994" y="5001939"/>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矩形 103"/>
          <p:cNvSpPr/>
          <p:nvPr/>
        </p:nvSpPr>
        <p:spPr bwMode="gray">
          <a:xfrm>
            <a:off x="7716473" y="4972246"/>
            <a:ext cx="2194065" cy="523220"/>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VNI 100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所对应的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）进行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查表。</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椭圆 104"/>
          <p:cNvSpPr>
            <a:spLocks noChangeAspect="1"/>
          </p:cNvSpPr>
          <p:nvPr/>
        </p:nvSpPr>
        <p:spPr bwMode="gray">
          <a:xfrm>
            <a:off x="9285952" y="3117051"/>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6</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矩形 105"/>
          <p:cNvSpPr/>
          <p:nvPr/>
        </p:nvSpPr>
        <p:spPr bwMode="gray">
          <a:xfrm>
            <a:off x="9518431" y="3087358"/>
            <a:ext cx="2194143" cy="307777"/>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将数据帧发给</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4" name="直接连接符 53">
            <a:extLst>
              <a:ext uri="{FF2B5EF4-FFF2-40B4-BE49-F238E27FC236}">
                <a16:creationId xmlns:a16="http://schemas.microsoft.com/office/drawing/2014/main" id="{52DC6F41-F8AF-440B-A7D8-2F383A91BFE3}"/>
              </a:ext>
            </a:extLst>
          </p:cNvPr>
          <p:cNvCxnSpPr>
            <a:cxnSpLocks/>
          </p:cNvCxnSpPr>
          <p:nvPr/>
        </p:nvCxnSpPr>
        <p:spPr bwMode="gray">
          <a:xfrm>
            <a:off x="3268748" y="2538210"/>
            <a:ext cx="269432" cy="228353"/>
          </a:xfrm>
          <a:prstGeom prst="line">
            <a:avLst/>
          </a:prstGeom>
          <a:ln w="19050">
            <a:solidFill>
              <a:srgbClr val="F79646"/>
            </a:solidFill>
            <a:prstDash val="sysDot"/>
          </a:ln>
        </p:spPr>
        <p:style>
          <a:lnRef idx="1">
            <a:schemeClr val="accent1"/>
          </a:lnRef>
          <a:fillRef idx="0">
            <a:schemeClr val="accent1"/>
          </a:fillRef>
          <a:effectRef idx="0">
            <a:schemeClr val="accent1"/>
          </a:effectRef>
          <a:fontRef idx="minor">
            <a:schemeClr val="tx1"/>
          </a:fontRef>
        </p:style>
      </p:cxnSp>
      <p:sp>
        <p:nvSpPr>
          <p:cNvPr id="63" name="椭圆 62">
            <a:extLst>
              <a:ext uri="{FF2B5EF4-FFF2-40B4-BE49-F238E27FC236}">
                <a16:creationId xmlns:a16="http://schemas.microsoft.com/office/drawing/2014/main" id="{0B715521-6FFC-425A-9709-08A533BD8FE8}"/>
              </a:ext>
            </a:extLst>
          </p:cNvPr>
          <p:cNvSpPr/>
          <p:nvPr/>
        </p:nvSpPr>
        <p:spPr bwMode="gray">
          <a:xfrm rot="5400000" flipH="1">
            <a:off x="3453991" y="3499048"/>
            <a:ext cx="168379" cy="168357"/>
          </a:xfrm>
          <a:prstGeom prst="ellipse">
            <a:avLst/>
          </a:prstGeom>
          <a:solidFill>
            <a:srgbClr val="FFFFCC"/>
          </a:solidFill>
          <a:ln>
            <a:solidFill>
              <a:srgbClr val="F79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椭圆 63">
            <a:extLst>
              <a:ext uri="{FF2B5EF4-FFF2-40B4-BE49-F238E27FC236}">
                <a16:creationId xmlns:a16="http://schemas.microsoft.com/office/drawing/2014/main" id="{696C030C-47C1-4426-8FEA-7FF0447ECB4C}"/>
              </a:ext>
            </a:extLst>
          </p:cNvPr>
          <p:cNvSpPr/>
          <p:nvPr/>
        </p:nvSpPr>
        <p:spPr bwMode="gray">
          <a:xfrm rot="5400000" flipH="1">
            <a:off x="3230401" y="3499048"/>
            <a:ext cx="168379" cy="168357"/>
          </a:xfrm>
          <a:prstGeom prst="ellipse">
            <a:avLst/>
          </a:prstGeom>
          <a:solidFill>
            <a:srgbClr val="BDD7EE"/>
          </a:solidFill>
          <a:ln>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5" name="直接连接符 64">
            <a:extLst>
              <a:ext uri="{FF2B5EF4-FFF2-40B4-BE49-F238E27FC236}">
                <a16:creationId xmlns:a16="http://schemas.microsoft.com/office/drawing/2014/main" id="{52DC6F41-F8AF-440B-A7D8-2F383A91BFE3}"/>
              </a:ext>
            </a:extLst>
          </p:cNvPr>
          <p:cNvCxnSpPr>
            <a:cxnSpLocks/>
            <a:endCxn id="63" idx="6"/>
          </p:cNvCxnSpPr>
          <p:nvPr/>
        </p:nvCxnSpPr>
        <p:spPr bwMode="gray">
          <a:xfrm>
            <a:off x="3538180" y="2736746"/>
            <a:ext cx="0" cy="762291"/>
          </a:xfrm>
          <a:prstGeom prst="line">
            <a:avLst/>
          </a:prstGeom>
          <a:ln w="19050">
            <a:solidFill>
              <a:srgbClr val="F79646"/>
            </a:solidFill>
            <a:prstDash val="sysDot"/>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BD69DE19-F81B-479A-A5D4-18C55D0BD6ED}"/>
              </a:ext>
            </a:extLst>
          </p:cNvPr>
          <p:cNvCxnSpPr>
            <a:cxnSpLocks/>
            <a:endCxn id="64" idx="6"/>
          </p:cNvCxnSpPr>
          <p:nvPr/>
        </p:nvCxnSpPr>
        <p:spPr bwMode="gray">
          <a:xfrm>
            <a:off x="3314590" y="2787582"/>
            <a:ext cx="0" cy="711455"/>
          </a:xfrm>
          <a:prstGeom prst="line">
            <a:avLst/>
          </a:prstGeom>
          <a:ln w="19050">
            <a:solidFill>
              <a:srgbClr val="30B5C5"/>
            </a:solidFill>
            <a:prstDash val="sysDot"/>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52DC6F41-F8AF-440B-A7D8-2F383A91BFE3}"/>
              </a:ext>
            </a:extLst>
          </p:cNvPr>
          <p:cNvCxnSpPr>
            <a:cxnSpLocks/>
            <a:stCxn id="99" idx="3"/>
          </p:cNvCxnSpPr>
          <p:nvPr/>
        </p:nvCxnSpPr>
        <p:spPr bwMode="gray">
          <a:xfrm flipH="1">
            <a:off x="8662914" y="2492757"/>
            <a:ext cx="247879" cy="248840"/>
          </a:xfrm>
          <a:prstGeom prst="line">
            <a:avLst/>
          </a:prstGeom>
          <a:ln w="19050">
            <a:solidFill>
              <a:srgbClr val="F79646"/>
            </a:solidFill>
            <a:prstDash val="sysDot"/>
          </a:ln>
        </p:spPr>
        <p:style>
          <a:lnRef idx="1">
            <a:schemeClr val="accent1"/>
          </a:lnRef>
          <a:fillRef idx="0">
            <a:schemeClr val="accent1"/>
          </a:fillRef>
          <a:effectRef idx="0">
            <a:schemeClr val="accent1"/>
          </a:effectRef>
          <a:fontRef idx="minor">
            <a:schemeClr val="tx1"/>
          </a:fontRef>
        </p:style>
      </p:cxnSp>
      <p:sp>
        <p:nvSpPr>
          <p:cNvPr id="90" name="椭圆 89">
            <a:extLst>
              <a:ext uri="{FF2B5EF4-FFF2-40B4-BE49-F238E27FC236}">
                <a16:creationId xmlns:a16="http://schemas.microsoft.com/office/drawing/2014/main" id="{0B715521-6FFC-425A-9709-08A533BD8FE8}"/>
              </a:ext>
            </a:extLst>
          </p:cNvPr>
          <p:cNvSpPr/>
          <p:nvPr/>
        </p:nvSpPr>
        <p:spPr bwMode="gray">
          <a:xfrm rot="5400000" flipH="1">
            <a:off x="8605087" y="3503899"/>
            <a:ext cx="168379" cy="168357"/>
          </a:xfrm>
          <a:prstGeom prst="ellipse">
            <a:avLst/>
          </a:prstGeom>
          <a:solidFill>
            <a:srgbClr val="FFFFCC"/>
          </a:solidFill>
          <a:ln>
            <a:solidFill>
              <a:srgbClr val="F79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1" name="直接连接符 90">
            <a:extLst>
              <a:ext uri="{FF2B5EF4-FFF2-40B4-BE49-F238E27FC236}">
                <a16:creationId xmlns:a16="http://schemas.microsoft.com/office/drawing/2014/main" id="{52DC6F41-F8AF-440B-A7D8-2F383A91BFE3}"/>
              </a:ext>
            </a:extLst>
          </p:cNvPr>
          <p:cNvCxnSpPr>
            <a:cxnSpLocks/>
            <a:endCxn id="90" idx="6"/>
          </p:cNvCxnSpPr>
          <p:nvPr/>
        </p:nvCxnSpPr>
        <p:spPr bwMode="gray">
          <a:xfrm>
            <a:off x="8689276" y="2741597"/>
            <a:ext cx="0" cy="762291"/>
          </a:xfrm>
          <a:prstGeom prst="line">
            <a:avLst/>
          </a:prstGeom>
          <a:ln w="19050">
            <a:solidFill>
              <a:srgbClr val="F79646"/>
            </a:solidFill>
            <a:prstDash val="sysDot"/>
          </a:ln>
        </p:spPr>
        <p:style>
          <a:lnRef idx="1">
            <a:schemeClr val="accent1"/>
          </a:lnRef>
          <a:fillRef idx="0">
            <a:schemeClr val="accent1"/>
          </a:fillRef>
          <a:effectRef idx="0">
            <a:schemeClr val="accent1"/>
          </a:effectRef>
          <a:fontRef idx="minor">
            <a:schemeClr val="tx1"/>
          </a:fontRef>
        </p:style>
      </p:cxnSp>
      <p:sp>
        <p:nvSpPr>
          <p:cNvPr id="93" name="椭圆 92">
            <a:extLst>
              <a:ext uri="{FF2B5EF4-FFF2-40B4-BE49-F238E27FC236}">
                <a16:creationId xmlns:a16="http://schemas.microsoft.com/office/drawing/2014/main" id="{696C030C-47C1-4426-8FEA-7FF0447ECB4C}"/>
              </a:ext>
            </a:extLst>
          </p:cNvPr>
          <p:cNvSpPr/>
          <p:nvPr/>
        </p:nvSpPr>
        <p:spPr bwMode="gray">
          <a:xfrm rot="5400000" flipH="1">
            <a:off x="8817567" y="3503899"/>
            <a:ext cx="168379" cy="168357"/>
          </a:xfrm>
          <a:prstGeom prst="ellipse">
            <a:avLst/>
          </a:prstGeom>
          <a:solidFill>
            <a:srgbClr val="BDD7EE"/>
          </a:solidFill>
          <a:ln>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4" name="直接连接符 93">
            <a:extLst>
              <a:ext uri="{FF2B5EF4-FFF2-40B4-BE49-F238E27FC236}">
                <a16:creationId xmlns:a16="http://schemas.microsoft.com/office/drawing/2014/main" id="{BD69DE19-F81B-479A-A5D4-18C55D0BD6ED}"/>
              </a:ext>
            </a:extLst>
          </p:cNvPr>
          <p:cNvCxnSpPr>
            <a:cxnSpLocks/>
            <a:endCxn id="93" idx="6"/>
          </p:cNvCxnSpPr>
          <p:nvPr/>
        </p:nvCxnSpPr>
        <p:spPr bwMode="gray">
          <a:xfrm>
            <a:off x="8901756" y="2792433"/>
            <a:ext cx="0" cy="711455"/>
          </a:xfrm>
          <a:prstGeom prst="line">
            <a:avLst/>
          </a:prstGeom>
          <a:ln w="19050">
            <a:solidFill>
              <a:srgbClr val="30B5C5"/>
            </a:solidFill>
            <a:prstDash val="sysDot"/>
          </a:ln>
        </p:spPr>
        <p:style>
          <a:lnRef idx="1">
            <a:schemeClr val="accent1"/>
          </a:lnRef>
          <a:fillRef idx="0">
            <a:schemeClr val="accent1"/>
          </a:fillRef>
          <a:effectRef idx="0">
            <a:schemeClr val="accent1"/>
          </a:effectRef>
          <a:fontRef idx="minor">
            <a:schemeClr val="tx1"/>
          </a:fontRef>
        </p:style>
      </p:cxnSp>
      <p:sp>
        <p:nvSpPr>
          <p:cNvPr id="13" name="矩形 12"/>
          <p:cNvSpPr/>
          <p:nvPr/>
        </p:nvSpPr>
        <p:spPr bwMode="gray">
          <a:xfrm>
            <a:off x="3061399" y="2792626"/>
            <a:ext cx="740908"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VTEP1</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1.1.1.1</a:t>
            </a:r>
          </a:p>
        </p:txBody>
      </p:sp>
      <p:sp>
        <p:nvSpPr>
          <p:cNvPr id="23" name="矩形 22"/>
          <p:cNvSpPr/>
          <p:nvPr/>
        </p:nvSpPr>
        <p:spPr bwMode="gray">
          <a:xfrm>
            <a:off x="8432398" y="2792626"/>
            <a:ext cx="740908"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VTEP2</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2.2.2.2</a:t>
            </a:r>
          </a:p>
        </p:txBody>
      </p:sp>
      <p:graphicFrame>
        <p:nvGraphicFramePr>
          <p:cNvPr id="112" name="表格 111"/>
          <p:cNvGraphicFramePr>
            <a:graphicFrameLocks noGrp="1"/>
          </p:cNvGraphicFramePr>
          <p:nvPr>
            <p:extLst>
              <p:ext uri="{D42A27DB-BD31-4B8C-83A1-F6EECF244321}">
                <p14:modId xmlns:p14="http://schemas.microsoft.com/office/powerpoint/2010/main" val="3572867589"/>
              </p:ext>
            </p:extLst>
          </p:nvPr>
        </p:nvGraphicFramePr>
        <p:xfrm>
          <a:off x="4831642" y="1864139"/>
          <a:ext cx="2541553" cy="1336893"/>
        </p:xfrm>
        <a:graphic>
          <a:graphicData uri="http://schemas.openxmlformats.org/drawingml/2006/table">
            <a:tbl>
              <a:tblPr firstRow="1" bandRow="1">
                <a:tableStyleId>{72833802-FEF1-4C79-8D5D-14CF1EAF98D9}</a:tableStyleId>
              </a:tblPr>
              <a:tblGrid>
                <a:gridCol w="2541553">
                  <a:extLst>
                    <a:ext uri="{9D8B030D-6E8A-4147-A177-3AD203B41FA5}">
                      <a16:colId xmlns:a16="http://schemas.microsoft.com/office/drawing/2014/main" val="20000"/>
                    </a:ext>
                  </a:extLst>
                </a:gridCol>
              </a:tblGrid>
              <a:tr h="288000">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Outer</a:t>
                      </a:r>
                      <a:r>
                        <a:rPr lang="en-US" altLang="zh-CN" sz="120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noFill/>
                  </a:tcPr>
                </a:tc>
                <a:extLst>
                  <a:ext uri="{0D108BD9-81ED-4DB2-BD59-A6C34878D82A}">
                    <a16:rowId xmlns:a16="http://schemas.microsoft.com/office/drawing/2014/main" val="10000"/>
                  </a:ext>
                </a:extLst>
              </a:tr>
              <a:tr h="288000">
                <a:tc>
                  <a:txBody>
                    <a:bodyPr/>
                    <a:lstStyle/>
                    <a:p>
                      <a:pPr marL="0" marR="0" lvl="0" indent="0" algn="ctr" defTabSz="914034" rtl="0" eaLnBrk="1" fontAlgn="auto" latinLnBrk="0" hangingPunct="1">
                        <a:lnSpc>
                          <a:spcPct val="120000"/>
                        </a:lnSpc>
                        <a:spcBef>
                          <a:spcPts val="0"/>
                        </a:spcBef>
                        <a:spcAft>
                          <a:spcPts val="0"/>
                        </a:spcAft>
                        <a:buClrTx/>
                        <a:buSzTx/>
                        <a:buFontTx/>
                        <a:buNone/>
                        <a:tabLst/>
                        <a:defRPr/>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UDP</a:t>
                      </a: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tcPr>
                </a:tc>
                <a:extLst>
                  <a:ext uri="{0D108BD9-81ED-4DB2-BD59-A6C34878D82A}">
                    <a16:rowId xmlns:a16="http://schemas.microsoft.com/office/drawing/2014/main" val="10001"/>
                  </a:ext>
                </a:extLst>
              </a:tr>
              <a:tr h="288000">
                <a:tc>
                  <a:txBody>
                    <a:bodyPr/>
                    <a:lstStyle/>
                    <a:p>
                      <a:pPr marL="0" marR="0" lvl="0" indent="0" algn="ctr" defTabSz="914034" rtl="0" eaLnBrk="1" fontAlgn="auto" latinLnBrk="0" hangingPunct="1">
                        <a:lnSpc>
                          <a:spcPct val="120000"/>
                        </a:lnSpc>
                        <a:spcBef>
                          <a:spcPts val="0"/>
                        </a:spcBef>
                        <a:spcAft>
                          <a:spcPts val="0"/>
                        </a:spcAft>
                        <a:buClrTx/>
                        <a:buSzTx/>
                        <a:buFontTx/>
                        <a:buNone/>
                        <a:tabLst/>
                        <a:defRPr/>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头部</a:t>
                      </a:r>
                      <a:r>
                        <a:rPr lang="zh-CN" altLang="en-US"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VNI 100</a:t>
                      </a:r>
                      <a:r>
                        <a:rPr lang="zh-CN" altLang="en-US"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tcPr>
                </a:tc>
                <a:extLst>
                  <a:ext uri="{0D108BD9-81ED-4DB2-BD59-A6C34878D82A}">
                    <a16:rowId xmlns:a16="http://schemas.microsoft.com/office/drawing/2014/main" val="10002"/>
                  </a:ext>
                </a:extLst>
              </a:tr>
              <a:tr h="288000">
                <a:tc>
                  <a:txBody>
                    <a:bodyPr/>
                    <a:lstStyle/>
                    <a:p>
                      <a:pPr algn="ctr"/>
                      <a:r>
                        <a:rPr lang="zh-CN" altLang="en-US" sz="1200" b="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源</a:t>
                      </a:r>
                      <a:r>
                        <a:rPr lang="en-US" altLang="zh-CN" sz="1200" b="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b="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VBDIF 10</a:t>
                      </a:r>
                      <a:r>
                        <a:rPr lang="en-US" altLang="zh-CN" sz="1200" b="0" baseline="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 MAC</a:t>
                      </a:r>
                    </a:p>
                    <a:p>
                      <a:pPr algn="ctr"/>
                      <a:r>
                        <a:rPr lang="zh-CN" altLang="en-US" sz="1200" b="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200" b="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b="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MAC B</a:t>
                      </a:r>
                      <a:endParaRPr lang="zh-CN" altLang="en-US" sz="1200" b="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rgbClr val="F2FBFC"/>
                    </a:solidFill>
                  </a:tcPr>
                </a:tc>
                <a:extLst>
                  <a:ext uri="{0D108BD9-81ED-4DB2-BD59-A6C34878D82A}">
                    <a16:rowId xmlns:a16="http://schemas.microsoft.com/office/drawing/2014/main" val="10003"/>
                  </a:ext>
                </a:extLst>
              </a:tr>
            </a:tbl>
          </a:graphicData>
        </a:graphic>
      </p:graphicFrame>
      <p:sp>
        <p:nvSpPr>
          <p:cNvPr id="115" name="圆角矩形 114"/>
          <p:cNvSpPr/>
          <p:nvPr/>
        </p:nvSpPr>
        <p:spPr bwMode="gray">
          <a:xfrm>
            <a:off x="711404" y="5943600"/>
            <a:ext cx="1474584" cy="257175"/>
          </a:xfrm>
          <a:prstGeom prst="roundRect">
            <a:avLst/>
          </a:prstGeom>
          <a:solidFill>
            <a:schemeClr val="bg1">
              <a:lumMod val="7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地址通告</a:t>
            </a:r>
          </a:p>
        </p:txBody>
      </p:sp>
      <p:sp>
        <p:nvSpPr>
          <p:cNvPr id="116" name="圆角矩形 115"/>
          <p:cNvSpPr/>
          <p:nvPr/>
        </p:nvSpPr>
        <p:spPr bwMode="gray">
          <a:xfrm>
            <a:off x="2185988" y="5943600"/>
            <a:ext cx="1474584" cy="257175"/>
          </a:xfrm>
          <a:prstGeom prst="roundRect">
            <a:avLst/>
          </a:prstGeom>
          <a:solidFill>
            <a:schemeClr val="bg1">
              <a:lumMod val="7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通告</a:t>
            </a:r>
          </a:p>
        </p:txBody>
      </p:sp>
      <p:sp>
        <p:nvSpPr>
          <p:cNvPr id="117" name="圆角矩形 116"/>
          <p:cNvSpPr/>
          <p:nvPr/>
        </p:nvSpPr>
        <p:spPr bwMode="gray">
          <a:xfrm>
            <a:off x="3673695" y="5943600"/>
            <a:ext cx="1474584" cy="257175"/>
          </a:xfrm>
          <a:prstGeom prst="roundRect">
            <a:avLst/>
          </a:prstGeom>
          <a:solidFill>
            <a:srgbClr val="AFD89C"/>
          </a:solid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路由通告</a:t>
            </a:r>
          </a:p>
        </p:txBody>
      </p:sp>
      <p:sp>
        <p:nvSpPr>
          <p:cNvPr id="92" name="五边形 24">
            <a:extLst>
              <a:ext uri="{FF2B5EF4-FFF2-40B4-BE49-F238E27FC236}">
                <a16:creationId xmlns:a16="http://schemas.microsoft.com/office/drawing/2014/main" id="{66BA07AD-FEEF-4CB3-8D55-B5A235B0FBAC}"/>
              </a:ext>
            </a:extLst>
          </p:cNvPr>
          <p:cNvSpPr/>
          <p:nvPr/>
        </p:nvSpPr>
        <p:spPr bwMode="gray">
          <a:xfrm>
            <a:off x="8632180" y="124239"/>
            <a:ext cx="108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Type 2</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3" name="燕尾形 26">
            <a:extLst>
              <a:ext uri="{FF2B5EF4-FFF2-40B4-BE49-F238E27FC236}">
                <a16:creationId xmlns:a16="http://schemas.microsoft.com/office/drawing/2014/main" id="{0C19331F-8FCC-488E-9C32-A3F774208D1E}"/>
              </a:ext>
            </a:extLst>
          </p:cNvPr>
          <p:cNvSpPr/>
          <p:nvPr/>
        </p:nvSpPr>
        <p:spPr bwMode="gray">
          <a:xfrm>
            <a:off x="10629668"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5</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p>
        </p:txBody>
      </p:sp>
      <p:sp>
        <p:nvSpPr>
          <p:cNvPr id="114" name="燕尾形 26">
            <a:extLst>
              <a:ext uri="{FF2B5EF4-FFF2-40B4-BE49-F238E27FC236}">
                <a16:creationId xmlns:a16="http://schemas.microsoft.com/office/drawing/2014/main" id="{5C797163-D6D3-4ACC-996D-421D87F18D19}"/>
              </a:ext>
            </a:extLst>
          </p:cNvPr>
          <p:cNvSpPr/>
          <p:nvPr/>
        </p:nvSpPr>
        <p:spPr bwMode="gray">
          <a:xfrm>
            <a:off x="9630924"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3</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4" name="组合 83"/>
          <p:cNvGrpSpPr/>
          <p:nvPr/>
        </p:nvGrpSpPr>
        <p:grpSpPr bwMode="gray">
          <a:xfrm flipH="1">
            <a:off x="2244238" y="2585683"/>
            <a:ext cx="1080000" cy="216000"/>
            <a:chOff x="3173381" y="3804595"/>
            <a:chExt cx="1050357" cy="204307"/>
          </a:xfrm>
          <a:solidFill>
            <a:srgbClr val="BEE9EE"/>
          </a:solidFill>
        </p:grpSpPr>
        <p:sp>
          <p:nvSpPr>
            <p:cNvPr id="107" name="任意多边形: 形状 27">
              <a:extLst>
                <a:ext uri="{FF2B5EF4-FFF2-40B4-BE49-F238E27FC236}">
                  <a16:creationId xmlns:a16="http://schemas.microsoft.com/office/drawing/2014/main" id="{BC1DCD05-1BD0-4B0C-8B0E-F2DE5DCD5CFC}"/>
                </a:ext>
              </a:extLst>
            </p:cNvPr>
            <p:cNvSpPr/>
            <p:nvPr/>
          </p:nvSpPr>
          <p:spPr bwMode="gray">
            <a:xfrm flipH="1">
              <a:off x="3173381" y="3804595"/>
              <a:ext cx="1000037" cy="204307"/>
            </a:xfrm>
            <a:custGeom>
              <a:avLst/>
              <a:gdLst>
                <a:gd name="connsiteX0" fmla="*/ 0 w 1703698"/>
                <a:gd name="connsiteY0" fmla="*/ 0 h 627538"/>
                <a:gd name="connsiteX1" fmla="*/ 1572253 w 1703698"/>
                <a:gd name="connsiteY1" fmla="*/ 0 h 627538"/>
                <a:gd name="connsiteX2" fmla="*/ 1703698 w 1703698"/>
                <a:gd name="connsiteY2" fmla="*/ 313769 h 627538"/>
                <a:gd name="connsiteX3" fmla="*/ 1572253 w 1703698"/>
                <a:gd name="connsiteY3" fmla="*/ 627538 h 627538"/>
                <a:gd name="connsiteX4" fmla="*/ 1572249 w 1703698"/>
                <a:gd name="connsiteY4" fmla="*/ 627537 h 627538"/>
                <a:gd name="connsiteX5" fmla="*/ 0 w 1703698"/>
                <a:gd name="connsiteY5" fmla="*/ 627537 h 62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3698" h="627538">
                  <a:moveTo>
                    <a:pt x="0" y="0"/>
                  </a:moveTo>
                  <a:lnTo>
                    <a:pt x="1572253" y="0"/>
                  </a:lnTo>
                  <a:cubicBezTo>
                    <a:pt x="1644848" y="0"/>
                    <a:pt x="1703698" y="140479"/>
                    <a:pt x="1703698" y="313769"/>
                  </a:cubicBezTo>
                  <a:cubicBezTo>
                    <a:pt x="1703698" y="487059"/>
                    <a:pt x="1644848" y="627538"/>
                    <a:pt x="1572253" y="627538"/>
                  </a:cubicBezTo>
                  <a:lnTo>
                    <a:pt x="1572249" y="627537"/>
                  </a:lnTo>
                  <a:lnTo>
                    <a:pt x="0" y="627537"/>
                  </a:lnTo>
                  <a:close/>
                </a:path>
              </a:pathLst>
            </a:custGeom>
            <a:grpFill/>
            <a:ln w="12700">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8" name="椭圆 117">
              <a:extLst>
                <a:ext uri="{FF2B5EF4-FFF2-40B4-BE49-F238E27FC236}">
                  <a16:creationId xmlns:a16="http://schemas.microsoft.com/office/drawing/2014/main" id="{756B275B-9D18-4B2A-8BCC-B5E97C03BB36}"/>
                </a:ext>
              </a:extLst>
            </p:cNvPr>
            <p:cNvSpPr/>
            <p:nvPr/>
          </p:nvSpPr>
          <p:spPr bwMode="gray">
            <a:xfrm>
              <a:off x="4123096" y="3804595"/>
              <a:ext cx="100642" cy="204307"/>
            </a:xfrm>
            <a:prstGeom prst="ellipse">
              <a:avLst/>
            </a:prstGeom>
            <a:grpFill/>
            <a:ln w="12700">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19" name="TextBox 120">
            <a:extLst>
              <a:ext uri="{FF2B5EF4-FFF2-40B4-BE49-F238E27FC236}">
                <a16:creationId xmlns:a16="http://schemas.microsoft.com/office/drawing/2014/main" id="{E9BE4350-2E44-4728-9CFA-59A13C85D084}"/>
              </a:ext>
            </a:extLst>
          </p:cNvPr>
          <p:cNvSpPr txBox="1"/>
          <p:nvPr/>
        </p:nvSpPr>
        <p:spPr bwMode="gray">
          <a:xfrm>
            <a:off x="2296846" y="2555184"/>
            <a:ext cx="1008000" cy="276999"/>
          </a:xfrm>
          <a:prstGeom prst="rect">
            <a:avLst/>
          </a:prstGeom>
          <a:noFill/>
        </p:spPr>
        <p:txBody>
          <a:bodyPr wrap="square" rtlCol="0" anchor="ctr">
            <a:spAutoFit/>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VBDIF 20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20" name="组合 119">
            <a:extLst>
              <a:ext uri="{FF2B5EF4-FFF2-40B4-BE49-F238E27FC236}">
                <a16:creationId xmlns:a16="http://schemas.microsoft.com/office/drawing/2014/main" id="{84B7F11F-B57D-4F99-9D21-2CAFD7EC5D96}"/>
              </a:ext>
            </a:extLst>
          </p:cNvPr>
          <p:cNvGrpSpPr/>
          <p:nvPr/>
        </p:nvGrpSpPr>
        <p:grpSpPr bwMode="gray">
          <a:xfrm flipH="1">
            <a:off x="2241741" y="2368390"/>
            <a:ext cx="1080000" cy="180000"/>
            <a:chOff x="6623210" y="5220119"/>
            <a:chExt cx="1129397" cy="228830"/>
          </a:xfrm>
          <a:solidFill>
            <a:srgbClr val="F7C846"/>
          </a:solidFill>
        </p:grpSpPr>
        <p:sp>
          <p:nvSpPr>
            <p:cNvPr id="121" name="任意多边形: 形状 24">
              <a:extLst>
                <a:ext uri="{FF2B5EF4-FFF2-40B4-BE49-F238E27FC236}">
                  <a16:creationId xmlns:a16="http://schemas.microsoft.com/office/drawing/2014/main" id="{D0E49D38-B0D3-48AA-8BEE-A880E16973D1}"/>
                </a:ext>
              </a:extLst>
            </p:cNvPr>
            <p:cNvSpPr/>
            <p:nvPr/>
          </p:nvSpPr>
          <p:spPr bwMode="gray">
            <a:xfrm flipH="1">
              <a:off x="6623210" y="5220119"/>
              <a:ext cx="1075312" cy="228830"/>
            </a:xfrm>
            <a:custGeom>
              <a:avLst/>
              <a:gdLst>
                <a:gd name="connsiteX0" fmla="*/ 0 w 1703698"/>
                <a:gd name="connsiteY0" fmla="*/ 0 h 627538"/>
                <a:gd name="connsiteX1" fmla="*/ 1572253 w 1703698"/>
                <a:gd name="connsiteY1" fmla="*/ 0 h 627538"/>
                <a:gd name="connsiteX2" fmla="*/ 1703698 w 1703698"/>
                <a:gd name="connsiteY2" fmla="*/ 313769 h 627538"/>
                <a:gd name="connsiteX3" fmla="*/ 1572253 w 1703698"/>
                <a:gd name="connsiteY3" fmla="*/ 627538 h 627538"/>
                <a:gd name="connsiteX4" fmla="*/ 1572249 w 1703698"/>
                <a:gd name="connsiteY4" fmla="*/ 627537 h 627538"/>
                <a:gd name="connsiteX5" fmla="*/ 0 w 1703698"/>
                <a:gd name="connsiteY5" fmla="*/ 627537 h 62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3698" h="627538">
                  <a:moveTo>
                    <a:pt x="0" y="0"/>
                  </a:moveTo>
                  <a:lnTo>
                    <a:pt x="1572253" y="0"/>
                  </a:lnTo>
                  <a:cubicBezTo>
                    <a:pt x="1644848" y="0"/>
                    <a:pt x="1703698" y="140479"/>
                    <a:pt x="1703698" y="313769"/>
                  </a:cubicBezTo>
                  <a:cubicBezTo>
                    <a:pt x="1703698" y="487059"/>
                    <a:pt x="1644848" y="627538"/>
                    <a:pt x="1572253" y="627538"/>
                  </a:cubicBezTo>
                  <a:lnTo>
                    <a:pt x="1572249" y="627537"/>
                  </a:lnTo>
                  <a:lnTo>
                    <a:pt x="0" y="627537"/>
                  </a:lnTo>
                  <a:close/>
                </a:path>
              </a:pathLst>
            </a:custGeom>
            <a:grpFill/>
            <a:ln w="12700">
              <a:solidFill>
                <a:srgbClr val="F7964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椭圆 121">
              <a:extLst>
                <a:ext uri="{FF2B5EF4-FFF2-40B4-BE49-F238E27FC236}">
                  <a16:creationId xmlns:a16="http://schemas.microsoft.com/office/drawing/2014/main" id="{0CD5AD72-AC28-4167-967C-411011E9DD85}"/>
                </a:ext>
              </a:extLst>
            </p:cNvPr>
            <p:cNvSpPr/>
            <p:nvPr/>
          </p:nvSpPr>
          <p:spPr bwMode="gray">
            <a:xfrm>
              <a:off x="7644390" y="5220119"/>
              <a:ext cx="108217" cy="228830"/>
            </a:xfrm>
            <a:prstGeom prst="ellipse">
              <a:avLst/>
            </a:prstGeom>
            <a:grpFill/>
            <a:ln w="12700">
              <a:solidFill>
                <a:srgbClr val="F7964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23" name="TextBox 120">
            <a:extLst>
              <a:ext uri="{FF2B5EF4-FFF2-40B4-BE49-F238E27FC236}">
                <a16:creationId xmlns:a16="http://schemas.microsoft.com/office/drawing/2014/main" id="{D045A33A-BE4B-472A-A9C0-C4F569549D79}"/>
              </a:ext>
            </a:extLst>
          </p:cNvPr>
          <p:cNvSpPr txBox="1"/>
          <p:nvPr/>
        </p:nvSpPr>
        <p:spPr bwMode="gray">
          <a:xfrm>
            <a:off x="2241741" y="2309952"/>
            <a:ext cx="1080000" cy="276999"/>
          </a:xfrm>
          <a:prstGeom prst="rect">
            <a:avLst/>
          </a:prstGeom>
          <a:noFill/>
        </p:spPr>
        <p:txBody>
          <a:bodyPr wrap="square" rtlCol="0" anchor="ctr">
            <a:spAutoFit/>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VBDIF 10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33" name="组合 132"/>
          <p:cNvGrpSpPr/>
          <p:nvPr/>
        </p:nvGrpSpPr>
        <p:grpSpPr bwMode="gray">
          <a:xfrm flipH="1">
            <a:off x="8904956" y="2585683"/>
            <a:ext cx="1080000" cy="216000"/>
            <a:chOff x="3173381" y="3804595"/>
            <a:chExt cx="1050357" cy="204307"/>
          </a:xfrm>
          <a:solidFill>
            <a:srgbClr val="BEE9EE"/>
          </a:solidFill>
        </p:grpSpPr>
        <p:sp>
          <p:nvSpPr>
            <p:cNvPr id="134" name="任意多边形: 形状 27">
              <a:extLst>
                <a:ext uri="{FF2B5EF4-FFF2-40B4-BE49-F238E27FC236}">
                  <a16:creationId xmlns:a16="http://schemas.microsoft.com/office/drawing/2014/main" id="{BC1DCD05-1BD0-4B0C-8B0E-F2DE5DCD5CFC}"/>
                </a:ext>
              </a:extLst>
            </p:cNvPr>
            <p:cNvSpPr/>
            <p:nvPr/>
          </p:nvSpPr>
          <p:spPr bwMode="gray">
            <a:xfrm flipH="1">
              <a:off x="3173381" y="3804595"/>
              <a:ext cx="1000037" cy="204307"/>
            </a:xfrm>
            <a:custGeom>
              <a:avLst/>
              <a:gdLst>
                <a:gd name="connsiteX0" fmla="*/ 0 w 1703698"/>
                <a:gd name="connsiteY0" fmla="*/ 0 h 627538"/>
                <a:gd name="connsiteX1" fmla="*/ 1572253 w 1703698"/>
                <a:gd name="connsiteY1" fmla="*/ 0 h 627538"/>
                <a:gd name="connsiteX2" fmla="*/ 1703698 w 1703698"/>
                <a:gd name="connsiteY2" fmla="*/ 313769 h 627538"/>
                <a:gd name="connsiteX3" fmla="*/ 1572253 w 1703698"/>
                <a:gd name="connsiteY3" fmla="*/ 627538 h 627538"/>
                <a:gd name="connsiteX4" fmla="*/ 1572249 w 1703698"/>
                <a:gd name="connsiteY4" fmla="*/ 627537 h 627538"/>
                <a:gd name="connsiteX5" fmla="*/ 0 w 1703698"/>
                <a:gd name="connsiteY5" fmla="*/ 627537 h 62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3698" h="627538">
                  <a:moveTo>
                    <a:pt x="0" y="0"/>
                  </a:moveTo>
                  <a:lnTo>
                    <a:pt x="1572253" y="0"/>
                  </a:lnTo>
                  <a:cubicBezTo>
                    <a:pt x="1644848" y="0"/>
                    <a:pt x="1703698" y="140479"/>
                    <a:pt x="1703698" y="313769"/>
                  </a:cubicBezTo>
                  <a:cubicBezTo>
                    <a:pt x="1703698" y="487059"/>
                    <a:pt x="1644848" y="627538"/>
                    <a:pt x="1572253" y="627538"/>
                  </a:cubicBezTo>
                  <a:lnTo>
                    <a:pt x="1572249" y="627537"/>
                  </a:lnTo>
                  <a:lnTo>
                    <a:pt x="0" y="627537"/>
                  </a:lnTo>
                  <a:close/>
                </a:path>
              </a:pathLst>
            </a:custGeom>
            <a:grpFill/>
            <a:ln w="12700">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5" name="椭圆 134">
              <a:extLst>
                <a:ext uri="{FF2B5EF4-FFF2-40B4-BE49-F238E27FC236}">
                  <a16:creationId xmlns:a16="http://schemas.microsoft.com/office/drawing/2014/main" id="{756B275B-9D18-4B2A-8BCC-B5E97C03BB36}"/>
                </a:ext>
              </a:extLst>
            </p:cNvPr>
            <p:cNvSpPr/>
            <p:nvPr/>
          </p:nvSpPr>
          <p:spPr bwMode="gray">
            <a:xfrm>
              <a:off x="4123096" y="3804595"/>
              <a:ext cx="100642" cy="204307"/>
            </a:xfrm>
            <a:prstGeom prst="ellipse">
              <a:avLst/>
            </a:prstGeom>
            <a:grpFill/>
            <a:ln w="12700">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36" name="组合 135">
            <a:extLst>
              <a:ext uri="{FF2B5EF4-FFF2-40B4-BE49-F238E27FC236}">
                <a16:creationId xmlns:a16="http://schemas.microsoft.com/office/drawing/2014/main" id="{84B7F11F-B57D-4F99-9D21-2CAFD7EC5D96}"/>
              </a:ext>
            </a:extLst>
          </p:cNvPr>
          <p:cNvGrpSpPr/>
          <p:nvPr/>
        </p:nvGrpSpPr>
        <p:grpSpPr bwMode="gray">
          <a:xfrm flipH="1">
            <a:off x="8902459" y="2368390"/>
            <a:ext cx="1080000" cy="180000"/>
            <a:chOff x="6623210" y="5220119"/>
            <a:chExt cx="1129397" cy="228830"/>
          </a:xfrm>
          <a:solidFill>
            <a:srgbClr val="F7C846"/>
          </a:solidFill>
        </p:grpSpPr>
        <p:sp>
          <p:nvSpPr>
            <p:cNvPr id="137" name="任意多边形: 形状 24">
              <a:extLst>
                <a:ext uri="{FF2B5EF4-FFF2-40B4-BE49-F238E27FC236}">
                  <a16:creationId xmlns:a16="http://schemas.microsoft.com/office/drawing/2014/main" id="{D0E49D38-B0D3-48AA-8BEE-A880E16973D1}"/>
                </a:ext>
              </a:extLst>
            </p:cNvPr>
            <p:cNvSpPr/>
            <p:nvPr/>
          </p:nvSpPr>
          <p:spPr bwMode="gray">
            <a:xfrm flipH="1">
              <a:off x="6623210" y="5220119"/>
              <a:ext cx="1075312" cy="228830"/>
            </a:xfrm>
            <a:custGeom>
              <a:avLst/>
              <a:gdLst>
                <a:gd name="connsiteX0" fmla="*/ 0 w 1703698"/>
                <a:gd name="connsiteY0" fmla="*/ 0 h 627538"/>
                <a:gd name="connsiteX1" fmla="*/ 1572253 w 1703698"/>
                <a:gd name="connsiteY1" fmla="*/ 0 h 627538"/>
                <a:gd name="connsiteX2" fmla="*/ 1703698 w 1703698"/>
                <a:gd name="connsiteY2" fmla="*/ 313769 h 627538"/>
                <a:gd name="connsiteX3" fmla="*/ 1572253 w 1703698"/>
                <a:gd name="connsiteY3" fmla="*/ 627538 h 627538"/>
                <a:gd name="connsiteX4" fmla="*/ 1572249 w 1703698"/>
                <a:gd name="connsiteY4" fmla="*/ 627537 h 627538"/>
                <a:gd name="connsiteX5" fmla="*/ 0 w 1703698"/>
                <a:gd name="connsiteY5" fmla="*/ 627537 h 627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03698" h="627538">
                  <a:moveTo>
                    <a:pt x="0" y="0"/>
                  </a:moveTo>
                  <a:lnTo>
                    <a:pt x="1572253" y="0"/>
                  </a:lnTo>
                  <a:cubicBezTo>
                    <a:pt x="1644848" y="0"/>
                    <a:pt x="1703698" y="140479"/>
                    <a:pt x="1703698" y="313769"/>
                  </a:cubicBezTo>
                  <a:cubicBezTo>
                    <a:pt x="1703698" y="487059"/>
                    <a:pt x="1644848" y="627538"/>
                    <a:pt x="1572253" y="627538"/>
                  </a:cubicBezTo>
                  <a:lnTo>
                    <a:pt x="1572249" y="627537"/>
                  </a:lnTo>
                  <a:lnTo>
                    <a:pt x="0" y="627537"/>
                  </a:lnTo>
                  <a:close/>
                </a:path>
              </a:pathLst>
            </a:custGeom>
            <a:grpFill/>
            <a:ln w="12700">
              <a:solidFill>
                <a:srgbClr val="F7964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8" name="椭圆 137">
              <a:extLst>
                <a:ext uri="{FF2B5EF4-FFF2-40B4-BE49-F238E27FC236}">
                  <a16:creationId xmlns:a16="http://schemas.microsoft.com/office/drawing/2014/main" id="{0CD5AD72-AC28-4167-967C-411011E9DD85}"/>
                </a:ext>
              </a:extLst>
            </p:cNvPr>
            <p:cNvSpPr/>
            <p:nvPr/>
          </p:nvSpPr>
          <p:spPr bwMode="gray">
            <a:xfrm>
              <a:off x="7644390" y="5220119"/>
              <a:ext cx="108217" cy="228830"/>
            </a:xfrm>
            <a:prstGeom prst="ellipse">
              <a:avLst/>
            </a:prstGeom>
            <a:grpFill/>
            <a:ln w="12700">
              <a:solidFill>
                <a:srgbClr val="F7964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39" name="TextBox 120">
            <a:extLst>
              <a:ext uri="{FF2B5EF4-FFF2-40B4-BE49-F238E27FC236}">
                <a16:creationId xmlns:a16="http://schemas.microsoft.com/office/drawing/2014/main" id="{D045A33A-BE4B-472A-A9C0-C4F569549D79}"/>
              </a:ext>
            </a:extLst>
          </p:cNvPr>
          <p:cNvSpPr txBox="1"/>
          <p:nvPr/>
        </p:nvSpPr>
        <p:spPr bwMode="gray">
          <a:xfrm>
            <a:off x="8902459" y="2309952"/>
            <a:ext cx="1080000" cy="276999"/>
          </a:xfrm>
          <a:prstGeom prst="rect">
            <a:avLst/>
          </a:prstGeom>
          <a:noFill/>
        </p:spPr>
        <p:txBody>
          <a:bodyPr wrap="square" rtlCol="0" anchor="ctr">
            <a:spAutoFit/>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VBDIF 10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0" name="TextBox 120">
            <a:extLst>
              <a:ext uri="{FF2B5EF4-FFF2-40B4-BE49-F238E27FC236}">
                <a16:creationId xmlns:a16="http://schemas.microsoft.com/office/drawing/2014/main" id="{E9BE4350-2E44-4728-9CFA-59A13C85D084}"/>
              </a:ext>
            </a:extLst>
          </p:cNvPr>
          <p:cNvSpPr txBox="1"/>
          <p:nvPr/>
        </p:nvSpPr>
        <p:spPr bwMode="gray">
          <a:xfrm>
            <a:off x="8956421" y="2555184"/>
            <a:ext cx="1008000" cy="276999"/>
          </a:xfrm>
          <a:prstGeom prst="rect">
            <a:avLst/>
          </a:prstGeom>
          <a:noFill/>
        </p:spPr>
        <p:txBody>
          <a:bodyPr wrap="square" rtlCol="0" anchor="ctr">
            <a:spAutoFit/>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VBDIF 20</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5073325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sym typeface="Huawei Sans" panose="020C0503030203020204" pitchFamily="34" charset="0"/>
              </a:rPr>
              <a:t>对称</a:t>
            </a:r>
            <a:r>
              <a:rPr lang="en-US" altLang="zh-CN">
                <a:sym typeface="Huawei Sans" panose="020C0503030203020204" pitchFamily="34" charset="0"/>
              </a:rPr>
              <a:t>IRB</a:t>
            </a:r>
            <a:r>
              <a:rPr lang="zh-CN" altLang="en-US">
                <a:sym typeface="Huawei Sans" panose="020C0503030203020204" pitchFamily="34" charset="0"/>
              </a:rPr>
              <a:t>转发</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a:xfrm>
            <a:off x="455613" y="1047750"/>
            <a:ext cx="11256962" cy="1739914"/>
          </a:xfrm>
        </p:spPr>
        <p:txBody>
          <a:bodyPr/>
          <a:lstStyle/>
          <a:p>
            <a:r>
              <a:rPr lang="zh-CN" altLang="en-US" sz="1800" dirty="0">
                <a:sym typeface="Huawei Sans" panose="020C0503030203020204" pitchFamily="34" charset="0"/>
              </a:rPr>
              <a:t>对称</a:t>
            </a:r>
            <a:r>
              <a:rPr lang="en-US" altLang="zh-CN" sz="1800" dirty="0">
                <a:sym typeface="Huawei Sans" panose="020C0503030203020204" pitchFamily="34" charset="0"/>
              </a:rPr>
              <a:t>IRB</a:t>
            </a:r>
            <a:r>
              <a:rPr lang="zh-CN" altLang="en-US" sz="1800" dirty="0">
                <a:sym typeface="Huawei Sans" panose="020C0503030203020204" pitchFamily="34" charset="0"/>
              </a:rPr>
              <a:t>转发：</a:t>
            </a:r>
            <a:r>
              <a:rPr lang="en-US" altLang="zh-CN" sz="1800" dirty="0">
                <a:sym typeface="Huawei Sans" panose="020C0503030203020204" pitchFamily="34" charset="0"/>
              </a:rPr>
              <a:t>Ingress VTEP</a:t>
            </a:r>
            <a:r>
              <a:rPr lang="zh-CN" altLang="en-US" sz="1800" dirty="0">
                <a:sym typeface="Huawei Sans" panose="020C0503030203020204" pitchFamily="34" charset="0"/>
              </a:rPr>
              <a:t>、</a:t>
            </a:r>
            <a:r>
              <a:rPr lang="en-US" altLang="zh-CN" sz="1800" dirty="0">
                <a:sym typeface="Huawei Sans" panose="020C0503030203020204" pitchFamily="34" charset="0"/>
              </a:rPr>
              <a:t>Egress VTEP</a:t>
            </a:r>
            <a:r>
              <a:rPr lang="zh-CN" altLang="en-US" sz="1800" dirty="0">
                <a:sym typeface="Huawei Sans" panose="020C0503030203020204" pitchFamily="34" charset="0"/>
              </a:rPr>
              <a:t>都执行</a:t>
            </a:r>
            <a:r>
              <a:rPr lang="en-US" altLang="zh-CN" sz="1800" dirty="0">
                <a:sym typeface="Huawei Sans" panose="020C0503030203020204" pitchFamily="34" charset="0"/>
              </a:rPr>
              <a:t>L3</a:t>
            </a:r>
            <a:r>
              <a:rPr lang="zh-CN" altLang="en-US" sz="1800" dirty="0">
                <a:sym typeface="Huawei Sans" panose="020C0503030203020204" pitchFamily="34" charset="0"/>
              </a:rPr>
              <a:t>查表转发。</a:t>
            </a:r>
            <a:endParaRPr lang="en-US" altLang="zh-CN" sz="1800" dirty="0">
              <a:sym typeface="Huawei Sans" panose="020C0503030203020204" pitchFamily="34" charset="0"/>
            </a:endParaRPr>
          </a:p>
          <a:p>
            <a:r>
              <a:rPr lang="zh-CN" altLang="en-US" sz="1800" dirty="0">
                <a:sym typeface="Huawei Sans" panose="020C0503030203020204" pitchFamily="34" charset="0"/>
              </a:rPr>
              <a:t>相比较于非对称</a:t>
            </a:r>
            <a:r>
              <a:rPr lang="en-US" altLang="zh-CN" sz="1800" dirty="0">
                <a:sym typeface="Huawei Sans" panose="020C0503030203020204" pitchFamily="34" charset="0"/>
              </a:rPr>
              <a:t>IRB</a:t>
            </a:r>
            <a:r>
              <a:rPr lang="zh-CN" altLang="en-US" sz="1800" dirty="0">
                <a:sym typeface="Huawei Sans" panose="020C0503030203020204" pitchFamily="34" charset="0"/>
              </a:rPr>
              <a:t>转发，新增了一个</a:t>
            </a:r>
            <a:r>
              <a:rPr lang="en-US" altLang="zh-CN" sz="1800" dirty="0">
                <a:sym typeface="Huawei Sans" panose="020C0503030203020204" pitchFamily="34" charset="0"/>
              </a:rPr>
              <a:t>IP VPN</a:t>
            </a:r>
            <a:r>
              <a:rPr lang="zh-CN" altLang="en-US" sz="1800" dirty="0">
                <a:sym typeface="Huawei Sans" panose="020C0503030203020204" pitchFamily="34" charset="0"/>
              </a:rPr>
              <a:t>实例以及其所绑定的</a:t>
            </a:r>
            <a:r>
              <a:rPr lang="en-US" altLang="zh-CN" sz="1800" dirty="0">
                <a:sym typeface="Huawei Sans" panose="020C0503030203020204" pitchFamily="34" charset="0"/>
              </a:rPr>
              <a:t>L3 VNI</a:t>
            </a:r>
            <a:r>
              <a:rPr lang="zh-CN" altLang="en-US" sz="1800" dirty="0">
                <a:sym typeface="Huawei Sans" panose="020C0503030203020204" pitchFamily="34" charset="0"/>
              </a:rPr>
              <a:t>概念（非对称</a:t>
            </a:r>
            <a:r>
              <a:rPr lang="en-US" altLang="zh-CN" sz="1800" dirty="0">
                <a:sym typeface="Huawei Sans" panose="020C0503030203020204" pitchFamily="34" charset="0"/>
              </a:rPr>
              <a:t>IRB</a:t>
            </a:r>
            <a:r>
              <a:rPr lang="zh-CN" altLang="en-US" sz="1800" dirty="0">
                <a:sym typeface="Huawei Sans" panose="020C0503030203020204" pitchFamily="34" charset="0"/>
              </a:rPr>
              <a:t>转发时</a:t>
            </a:r>
            <a:r>
              <a:rPr lang="en-US" altLang="zh-CN" sz="1800" dirty="0">
                <a:sym typeface="Huawei Sans" panose="020C0503030203020204" pitchFamily="34" charset="0"/>
              </a:rPr>
              <a:t>VTEP</a:t>
            </a:r>
            <a:r>
              <a:rPr lang="zh-CN" altLang="en-US" sz="1800" dirty="0">
                <a:sym typeface="Huawei Sans" panose="020C0503030203020204" pitchFamily="34" charset="0"/>
              </a:rPr>
              <a:t>之间传输的报文其</a:t>
            </a:r>
            <a:r>
              <a:rPr lang="en-US" altLang="zh-CN" sz="1800" dirty="0">
                <a:sym typeface="Huawei Sans" panose="020C0503030203020204" pitchFamily="34" charset="0"/>
              </a:rPr>
              <a:t>VXLAN</a:t>
            </a:r>
            <a:r>
              <a:rPr lang="zh-CN" altLang="en-US" sz="1800" dirty="0">
                <a:sym typeface="Huawei Sans" panose="020C0503030203020204" pitchFamily="34" charset="0"/>
              </a:rPr>
              <a:t>头部中</a:t>
            </a:r>
            <a:r>
              <a:rPr lang="en-US" altLang="zh-CN" sz="1800" dirty="0">
                <a:sym typeface="Huawei Sans" panose="020C0503030203020204" pitchFamily="34" charset="0"/>
              </a:rPr>
              <a:t>VNI</a:t>
            </a:r>
            <a:r>
              <a:rPr lang="zh-CN" altLang="en-US" sz="1800" dirty="0">
                <a:sym typeface="Huawei Sans" panose="020C0503030203020204" pitchFamily="34" charset="0"/>
              </a:rPr>
              <a:t>值为</a:t>
            </a:r>
            <a:r>
              <a:rPr lang="en-US" altLang="zh-CN" sz="1800" dirty="0">
                <a:sym typeface="Huawei Sans" panose="020C0503030203020204" pitchFamily="34" charset="0"/>
              </a:rPr>
              <a:t>L2 VNI</a:t>
            </a:r>
            <a:r>
              <a:rPr lang="zh-CN" altLang="en-US" sz="1800" dirty="0">
                <a:sym typeface="Huawei Sans" panose="020C0503030203020204" pitchFamily="34" charset="0"/>
              </a:rPr>
              <a:t>），</a:t>
            </a:r>
            <a:r>
              <a:rPr lang="en-US" altLang="zh-CN" sz="1800" dirty="0">
                <a:sym typeface="Huawei Sans" panose="020C0503030203020204" pitchFamily="34" charset="0"/>
              </a:rPr>
              <a:t>VBDIF</a:t>
            </a:r>
            <a:r>
              <a:rPr lang="zh-CN" altLang="en-US" sz="1800" dirty="0">
                <a:sym typeface="Huawei Sans" panose="020C0503030203020204" pitchFamily="34" charset="0"/>
              </a:rPr>
              <a:t>接口需要绑定</a:t>
            </a:r>
            <a:r>
              <a:rPr lang="en-US" altLang="zh-CN" sz="1800" dirty="0">
                <a:sym typeface="Huawei Sans" panose="020C0503030203020204" pitchFamily="34" charset="0"/>
              </a:rPr>
              <a:t>IP VPN</a:t>
            </a:r>
            <a:r>
              <a:rPr lang="zh-CN" altLang="en-US" sz="1800" dirty="0">
                <a:sym typeface="Huawei Sans" panose="020C0503030203020204" pitchFamily="34" charset="0"/>
              </a:rPr>
              <a:t>实例，此时该</a:t>
            </a:r>
            <a:r>
              <a:rPr lang="en-US" altLang="zh-CN" sz="1800" dirty="0">
                <a:sym typeface="Huawei Sans" panose="020C0503030203020204" pitchFamily="34" charset="0"/>
              </a:rPr>
              <a:t>VBDIF</a:t>
            </a:r>
            <a:r>
              <a:rPr lang="zh-CN" altLang="en-US" sz="1800" dirty="0">
                <a:sym typeface="Huawei Sans" panose="020C0503030203020204" pitchFamily="34" charset="0"/>
              </a:rPr>
              <a:t>接口的路由学习、数据转发都被限制在该</a:t>
            </a:r>
            <a:r>
              <a:rPr lang="en-US" altLang="zh-CN" sz="1800" dirty="0">
                <a:sym typeface="Huawei Sans" panose="020C0503030203020204" pitchFamily="34" charset="0"/>
              </a:rPr>
              <a:t>IP VPN</a:t>
            </a:r>
            <a:r>
              <a:rPr lang="zh-CN" altLang="en-US" sz="1800" dirty="0">
                <a:sym typeface="Huawei Sans" panose="020C0503030203020204" pitchFamily="34" charset="0"/>
              </a:rPr>
              <a:t>实例中，与</a:t>
            </a:r>
            <a:r>
              <a:rPr lang="en-US" altLang="zh-CN" sz="1800" dirty="0">
                <a:sym typeface="Huawei Sans" panose="020C0503030203020204" pitchFamily="34" charset="0"/>
              </a:rPr>
              <a:t>MPLS VPN</a:t>
            </a:r>
            <a:r>
              <a:rPr lang="zh-CN" altLang="en-US" sz="1800" dirty="0">
                <a:sym typeface="Huawei Sans" panose="020C0503030203020204" pitchFamily="34" charset="0"/>
              </a:rPr>
              <a:t>类似。</a:t>
            </a:r>
            <a:endParaRPr lang="en-US" altLang="zh-CN" sz="1800" dirty="0">
              <a:sym typeface="Huawei Sans" panose="020C0503030203020204" pitchFamily="34" charset="0"/>
            </a:endParaRPr>
          </a:p>
        </p:txBody>
      </p:sp>
      <p:sp>
        <p:nvSpPr>
          <p:cNvPr id="120" name="文本框 119">
            <a:extLst>
              <a:ext uri="{FF2B5EF4-FFF2-40B4-BE49-F238E27FC236}">
                <a16:creationId xmlns:a16="http://schemas.microsoft.com/office/drawing/2014/main" id="{06B15736-FC8B-4050-A2F5-AB6BD864A78D}"/>
              </a:ext>
            </a:extLst>
          </p:cNvPr>
          <p:cNvSpPr txBox="1">
            <a:spLocks/>
          </p:cNvSpPr>
          <p:nvPr/>
        </p:nvSpPr>
        <p:spPr bwMode="gray">
          <a:xfrm>
            <a:off x="1428750" y="4751625"/>
            <a:ext cx="2105025" cy="1065449"/>
          </a:xfrm>
          <a:prstGeom prst="rect">
            <a:avLst/>
          </a:prstGeom>
          <a:solidFill>
            <a:srgbClr val="BEE9EE"/>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20000"/>
              </a:lnSpc>
            </a:pPr>
            <a:r>
              <a:rPr lang="en-US" altLang="zh-CN" sz="1200" dirty="0">
                <a:solidFill>
                  <a:schemeClr val="tx1"/>
                </a:solidFill>
                <a:sym typeface="Huawei Sans" panose="020C0503030203020204" pitchFamily="34" charset="0"/>
              </a:rPr>
              <a:t>IP VPN-Instance VPN1</a:t>
            </a:r>
          </a:p>
          <a:p>
            <a:pPr>
              <a:lnSpc>
                <a:spcPct val="120000"/>
              </a:lnSpc>
            </a:pPr>
            <a:r>
              <a:rPr lang="en-US" altLang="zh-CN" sz="1200" dirty="0">
                <a:solidFill>
                  <a:schemeClr val="tx1"/>
                </a:solidFill>
                <a:sym typeface="Huawei Sans" panose="020C0503030203020204" pitchFamily="34" charset="0"/>
              </a:rPr>
              <a:t>VXLAN VNI </a:t>
            </a:r>
            <a:r>
              <a:rPr lang="en-US" altLang="zh-CN" sz="1200" dirty="0">
                <a:solidFill>
                  <a:srgbClr val="C7000B"/>
                </a:solidFill>
                <a:sym typeface="Huawei Sans" panose="020C0503030203020204" pitchFamily="34" charset="0"/>
              </a:rPr>
              <a:t>1000</a:t>
            </a:r>
            <a:r>
              <a:rPr lang="zh-CN" altLang="en-US" sz="1200" dirty="0">
                <a:solidFill>
                  <a:srgbClr val="C7000B"/>
                </a:solidFill>
                <a:sym typeface="Huawei Sans" panose="020C0503030203020204" pitchFamily="34" charset="0"/>
              </a:rPr>
              <a:t>（</a:t>
            </a:r>
            <a:r>
              <a:rPr lang="en-US" altLang="zh-CN" sz="1200" dirty="0">
                <a:solidFill>
                  <a:srgbClr val="C7000B"/>
                </a:solidFill>
                <a:sym typeface="Huawei Sans" panose="020C0503030203020204" pitchFamily="34" charset="0"/>
              </a:rPr>
              <a:t>L3 VNI</a:t>
            </a:r>
            <a:r>
              <a:rPr lang="zh-CN" altLang="en-US" sz="1200" dirty="0">
                <a:solidFill>
                  <a:srgbClr val="C7000B"/>
                </a:solidFill>
                <a:sym typeface="Huawei Sans" panose="020C0503030203020204" pitchFamily="34" charset="0"/>
              </a:rPr>
              <a:t>）</a:t>
            </a:r>
            <a:endParaRPr lang="en-US" altLang="zh-CN" sz="1200" dirty="0">
              <a:solidFill>
                <a:srgbClr val="C7000B"/>
              </a:solidFill>
              <a:sym typeface="Huawei Sans" panose="020C0503030203020204" pitchFamily="34" charset="0"/>
            </a:endParaRPr>
          </a:p>
          <a:p>
            <a:pPr>
              <a:lnSpc>
                <a:spcPct val="120000"/>
              </a:lnSpc>
            </a:pPr>
            <a:r>
              <a:rPr lang="en-US" altLang="zh-CN" sz="1200" dirty="0">
                <a:solidFill>
                  <a:schemeClr val="tx1"/>
                </a:solidFill>
                <a:sym typeface="Huawei Sans" panose="020C0503030203020204" pitchFamily="34" charset="0"/>
              </a:rPr>
              <a:t>RD 203:1</a:t>
            </a:r>
          </a:p>
          <a:p>
            <a:pPr>
              <a:lnSpc>
                <a:spcPct val="120000"/>
              </a:lnSpc>
            </a:pPr>
            <a:r>
              <a:rPr lang="en-US" altLang="zh-CN" sz="1200" dirty="0">
                <a:solidFill>
                  <a:srgbClr val="C7000B"/>
                </a:solidFill>
                <a:sym typeface="Huawei Sans" panose="020C0503030203020204" pitchFamily="34" charset="0"/>
              </a:rPr>
              <a:t>RT 10:1</a:t>
            </a:r>
          </a:p>
        </p:txBody>
      </p:sp>
      <p:sp>
        <p:nvSpPr>
          <p:cNvPr id="131" name="文本框 130">
            <a:extLst>
              <a:ext uri="{FF2B5EF4-FFF2-40B4-BE49-F238E27FC236}">
                <a16:creationId xmlns:a16="http://schemas.microsoft.com/office/drawing/2014/main" id="{06B15736-FC8B-4050-A2F5-AB6BD864A78D}"/>
              </a:ext>
            </a:extLst>
          </p:cNvPr>
          <p:cNvSpPr txBox="1">
            <a:spLocks/>
          </p:cNvSpPr>
          <p:nvPr/>
        </p:nvSpPr>
        <p:spPr bwMode="gray">
          <a:xfrm>
            <a:off x="1032575" y="3791313"/>
            <a:ext cx="2495549" cy="738664"/>
          </a:xfrm>
          <a:prstGeom prst="rect">
            <a:avLst/>
          </a:prstGeom>
          <a:solidFill>
            <a:schemeClr val="bg1"/>
          </a:solidFill>
          <a:ln w="12700">
            <a:solidFill>
              <a:schemeClr val="tx1"/>
            </a:solidFill>
          </a:ln>
        </p:spPr>
        <p:txBody>
          <a:bodyPr wrap="none" lIns="0" tIns="0" rIns="0" bIns="0" rtlCol="0" anchor="ctr" anchorCtr="0">
            <a:noAutofit/>
          </a:bodyPr>
          <a:lstStyle>
            <a:defPPr>
              <a:defRPr lang="en-US"/>
            </a:defPPr>
            <a:lvl1pPr algn="ctr">
              <a:defRPr sz="1400">
                <a:latin typeface="Huawei Sans" panose="020C0503030203020204" pitchFamily="34" charset="0"/>
                <a:ea typeface="方正兰亭黑简体" panose="02000000000000000000" pitchFamily="2" charset="-122"/>
              </a:defRPr>
            </a:lvl1pPr>
          </a:lstStyle>
          <a:p>
            <a:r>
              <a:rPr lang="en-US" altLang="zh-CN" dirty="0">
                <a:sym typeface="Huawei Sans" panose="020C0503030203020204" pitchFamily="34" charset="0"/>
              </a:rPr>
              <a:t>VBDIF 20</a:t>
            </a:r>
          </a:p>
          <a:p>
            <a:r>
              <a:rPr lang="en-US" altLang="zh-CN" dirty="0">
                <a:sym typeface="Huawei Sans" panose="020C0503030203020204" pitchFamily="34" charset="0"/>
              </a:rPr>
              <a:t>IP Bind VPN-Instance </a:t>
            </a:r>
            <a:r>
              <a:rPr lang="en-US" altLang="zh-CN" dirty="0">
                <a:solidFill>
                  <a:srgbClr val="C7000B"/>
                </a:solidFill>
                <a:sym typeface="Huawei Sans" panose="020C0503030203020204" pitchFamily="34" charset="0"/>
              </a:rPr>
              <a:t>VPN1</a:t>
            </a:r>
            <a:endParaRPr lang="en-US" altLang="zh-CN" dirty="0">
              <a:sym typeface="Huawei Sans" panose="020C0503030203020204" pitchFamily="34" charset="0"/>
            </a:endParaRPr>
          </a:p>
          <a:p>
            <a:r>
              <a:rPr lang="en-US" altLang="zh-CN" dirty="0">
                <a:sym typeface="Huawei Sans" panose="020C0503030203020204" pitchFamily="34" charset="0"/>
              </a:rPr>
              <a:t>BD 20</a:t>
            </a:r>
          </a:p>
        </p:txBody>
      </p:sp>
      <p:cxnSp>
        <p:nvCxnSpPr>
          <p:cNvPr id="133" name="肘形连接符 132"/>
          <p:cNvCxnSpPr>
            <a:stCxn id="120" idx="3"/>
            <a:endCxn id="131" idx="3"/>
          </p:cNvCxnSpPr>
          <p:nvPr/>
        </p:nvCxnSpPr>
        <p:spPr bwMode="gray">
          <a:xfrm flipH="1" flipV="1">
            <a:off x="3528124" y="4160645"/>
            <a:ext cx="5651" cy="1123705"/>
          </a:xfrm>
          <a:prstGeom prst="bentConnector3">
            <a:avLst>
              <a:gd name="adj1" fmla="val -4045302"/>
            </a:avLst>
          </a:prstGeom>
          <a:ln>
            <a:solidFill>
              <a:srgbClr val="30B5C5"/>
            </a:solidFill>
            <a:tailEnd type="triangle"/>
          </a:ln>
        </p:spPr>
        <p:style>
          <a:lnRef idx="1">
            <a:schemeClr val="accent1"/>
          </a:lnRef>
          <a:fillRef idx="0">
            <a:schemeClr val="accent1"/>
          </a:fillRef>
          <a:effectRef idx="0">
            <a:schemeClr val="accent1"/>
          </a:effectRef>
          <a:fontRef idx="minor">
            <a:schemeClr val="tx1"/>
          </a:fontRef>
        </p:style>
      </p:cxnSp>
      <p:grpSp>
        <p:nvGrpSpPr>
          <p:cNvPr id="134" name="组合 133"/>
          <p:cNvGrpSpPr/>
          <p:nvPr/>
        </p:nvGrpSpPr>
        <p:grpSpPr bwMode="gray">
          <a:xfrm>
            <a:off x="3213477" y="3211513"/>
            <a:ext cx="442385" cy="432048"/>
            <a:chOff x="1194287" y="4005064"/>
            <a:chExt cx="442385" cy="432048"/>
          </a:xfrm>
        </p:grpSpPr>
        <p:cxnSp>
          <p:nvCxnSpPr>
            <p:cNvPr id="135" name="直接连接符 134"/>
            <p:cNvCxnSpPr/>
            <p:nvPr/>
          </p:nvCxnSpPr>
          <p:spPr bwMode="gray">
            <a:xfrm flipV="1">
              <a:off x="1415479" y="400506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bwMode="gray">
            <a:xfrm>
              <a:off x="1194287" y="400506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7" name="组合 136"/>
          <p:cNvGrpSpPr/>
          <p:nvPr/>
        </p:nvGrpSpPr>
        <p:grpSpPr bwMode="gray">
          <a:xfrm>
            <a:off x="8588381" y="3211513"/>
            <a:ext cx="442385" cy="432048"/>
            <a:chOff x="1194287" y="4005064"/>
            <a:chExt cx="442385" cy="432048"/>
          </a:xfrm>
        </p:grpSpPr>
        <p:cxnSp>
          <p:nvCxnSpPr>
            <p:cNvPr id="138" name="直接连接符 137"/>
            <p:cNvCxnSpPr/>
            <p:nvPr/>
          </p:nvCxnSpPr>
          <p:spPr bwMode="gray">
            <a:xfrm flipV="1">
              <a:off x="1415479" y="400506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bwMode="gray">
            <a:xfrm>
              <a:off x="1194287" y="400506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0" name="矩形 139"/>
          <p:cNvSpPr/>
          <p:nvPr/>
        </p:nvSpPr>
        <p:spPr bwMode="gray">
          <a:xfrm>
            <a:off x="3061399" y="2717666"/>
            <a:ext cx="740908"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VTEP1</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1.1.1.1</a:t>
            </a:r>
          </a:p>
        </p:txBody>
      </p:sp>
      <p:pic>
        <p:nvPicPr>
          <p:cNvPr id="141" name="图片 87" descr="汇聚交换机.png"/>
          <p:cNvPicPr>
            <a:picLocks noChangeAspect="1"/>
          </p:cNvPicPr>
          <p:nvPr/>
        </p:nvPicPr>
        <p:blipFill>
          <a:blip r:embed="rId3"/>
          <a:stretch>
            <a:fillRect/>
          </a:stretch>
        </p:blipFill>
        <p:spPr bwMode="gray">
          <a:xfrm>
            <a:off x="3180443" y="3334388"/>
            <a:ext cx="502820" cy="411400"/>
          </a:xfrm>
          <a:prstGeom prst="rect">
            <a:avLst/>
          </a:prstGeom>
        </p:spPr>
      </p:pic>
      <p:pic>
        <p:nvPicPr>
          <p:cNvPr id="142" name="图片 87" descr="汇聚交换机.png"/>
          <p:cNvPicPr>
            <a:picLocks noChangeAspect="1"/>
          </p:cNvPicPr>
          <p:nvPr/>
        </p:nvPicPr>
        <p:blipFill>
          <a:blip r:embed="rId3"/>
          <a:stretch>
            <a:fillRect/>
          </a:stretch>
        </p:blipFill>
        <p:spPr bwMode="gray">
          <a:xfrm>
            <a:off x="8548976" y="3334388"/>
            <a:ext cx="502820" cy="411400"/>
          </a:xfrm>
          <a:prstGeom prst="rect">
            <a:avLst/>
          </a:prstGeom>
        </p:spPr>
      </p:pic>
      <p:sp>
        <p:nvSpPr>
          <p:cNvPr id="143" name="圆柱形 142"/>
          <p:cNvSpPr/>
          <p:nvPr/>
        </p:nvSpPr>
        <p:spPr bwMode="gray">
          <a:xfrm rot="16200000">
            <a:off x="5974980" y="1308019"/>
            <a:ext cx="242039" cy="4491323"/>
          </a:xfrm>
          <a:prstGeom prst="can">
            <a:avLst>
              <a:gd name="adj" fmla="val 72803"/>
            </a:avLst>
          </a:prstGeom>
          <a:solidFill>
            <a:srgbClr val="EC7061"/>
          </a:solidFill>
          <a:ln w="12700" cap="flat" cmpd="sng" algn="ctr">
            <a:solidFill>
              <a:sysClr val="window" lastClr="FFFFF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999">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4" name="矩形 143"/>
          <p:cNvSpPr/>
          <p:nvPr/>
        </p:nvSpPr>
        <p:spPr bwMode="gray">
          <a:xfrm>
            <a:off x="5525170" y="3405858"/>
            <a:ext cx="1141659" cy="307777"/>
          </a:xfrm>
          <a:prstGeom prst="rect">
            <a:avLst/>
          </a:prstGeom>
        </p:spPr>
        <p:txBody>
          <a:bodyPr wrap="none">
            <a:spAutoFit/>
          </a:bodyPr>
          <a:lstStyle/>
          <a:p>
            <a:pPr algn="just"/>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a:t>
            </a:r>
          </a:p>
        </p:txBody>
      </p:sp>
      <p:sp>
        <p:nvSpPr>
          <p:cNvPr id="145" name="矩形 144"/>
          <p:cNvSpPr/>
          <p:nvPr/>
        </p:nvSpPr>
        <p:spPr bwMode="gray">
          <a:xfrm>
            <a:off x="8432398" y="2717666"/>
            <a:ext cx="740908"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VTEP2</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2.2.2.2</a:t>
            </a:r>
          </a:p>
        </p:txBody>
      </p:sp>
      <p:sp>
        <p:nvSpPr>
          <p:cNvPr id="157" name="文本框 156">
            <a:extLst>
              <a:ext uri="{FF2B5EF4-FFF2-40B4-BE49-F238E27FC236}">
                <a16:creationId xmlns:a16="http://schemas.microsoft.com/office/drawing/2014/main" id="{06B15736-FC8B-4050-A2F5-AB6BD864A78D}"/>
              </a:ext>
            </a:extLst>
          </p:cNvPr>
          <p:cNvSpPr txBox="1">
            <a:spLocks/>
          </p:cNvSpPr>
          <p:nvPr/>
        </p:nvSpPr>
        <p:spPr bwMode="gray">
          <a:xfrm>
            <a:off x="8341661" y="4751625"/>
            <a:ext cx="2105025" cy="1065449"/>
          </a:xfrm>
          <a:prstGeom prst="rect">
            <a:avLst/>
          </a:prstGeom>
          <a:solidFill>
            <a:srgbClr val="FFFFCC"/>
          </a:solidFill>
          <a:ln>
            <a:solidFill>
              <a:srgbClr val="F79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1200">
                <a:solidFill>
                  <a:schemeClr val="tx1"/>
                </a:solidFill>
                <a:latin typeface="Huawei Sans" panose="020C0503030203020204" pitchFamily="34" charset="0"/>
                <a:ea typeface="方正兰亭黑简体" panose="02000000000000000000" pitchFamily="2" charset="-122"/>
              </a:defRPr>
            </a:lvl1pPr>
          </a:lstStyle>
          <a:p>
            <a:pPr>
              <a:lnSpc>
                <a:spcPct val="120000"/>
              </a:lnSpc>
            </a:pPr>
            <a:r>
              <a:rPr lang="en-US" altLang="zh-CN" dirty="0">
                <a:sym typeface="Huawei Sans" panose="020C0503030203020204" pitchFamily="34" charset="0"/>
              </a:rPr>
              <a:t>IP VPN-Instance VPN1</a:t>
            </a:r>
          </a:p>
          <a:p>
            <a:pPr>
              <a:lnSpc>
                <a:spcPct val="120000"/>
              </a:lnSpc>
            </a:pPr>
            <a:r>
              <a:rPr lang="en-US" altLang="zh-CN" dirty="0">
                <a:sym typeface="Huawei Sans" panose="020C0503030203020204" pitchFamily="34" charset="0"/>
              </a:rPr>
              <a:t>VXLAN VNI </a:t>
            </a:r>
            <a:r>
              <a:rPr lang="en-US" altLang="zh-CN" dirty="0">
                <a:solidFill>
                  <a:srgbClr val="C7000B"/>
                </a:solidFill>
                <a:sym typeface="Huawei Sans" panose="020C0503030203020204" pitchFamily="34" charset="0"/>
              </a:rPr>
              <a:t>1000</a:t>
            </a:r>
            <a:r>
              <a:rPr lang="zh-CN" altLang="en-US" dirty="0">
                <a:solidFill>
                  <a:srgbClr val="C7000B"/>
                </a:solidFill>
                <a:sym typeface="Huawei Sans" panose="020C0503030203020204" pitchFamily="34" charset="0"/>
              </a:rPr>
              <a:t>（</a:t>
            </a:r>
            <a:r>
              <a:rPr lang="en-US" altLang="zh-CN" dirty="0">
                <a:solidFill>
                  <a:srgbClr val="C7000B"/>
                </a:solidFill>
                <a:sym typeface="Huawei Sans" panose="020C0503030203020204" pitchFamily="34" charset="0"/>
              </a:rPr>
              <a:t>L3 VNI</a:t>
            </a:r>
            <a:r>
              <a:rPr lang="zh-CN" altLang="en-US" dirty="0">
                <a:solidFill>
                  <a:srgbClr val="C7000B"/>
                </a:solidFill>
                <a:sym typeface="Huawei Sans" panose="020C0503030203020204" pitchFamily="34" charset="0"/>
              </a:rPr>
              <a:t>）</a:t>
            </a:r>
            <a:endParaRPr lang="en-US" altLang="zh-CN" dirty="0">
              <a:solidFill>
                <a:srgbClr val="C7000B"/>
              </a:solidFill>
              <a:sym typeface="Huawei Sans" panose="020C0503030203020204" pitchFamily="34" charset="0"/>
            </a:endParaRPr>
          </a:p>
          <a:p>
            <a:pPr>
              <a:lnSpc>
                <a:spcPct val="120000"/>
              </a:lnSpc>
            </a:pPr>
            <a:r>
              <a:rPr lang="en-US" altLang="zh-CN" dirty="0">
                <a:sym typeface="Huawei Sans" panose="020C0503030203020204" pitchFamily="34" charset="0"/>
              </a:rPr>
              <a:t>RD 103:1</a:t>
            </a:r>
          </a:p>
          <a:p>
            <a:pPr>
              <a:lnSpc>
                <a:spcPct val="120000"/>
              </a:lnSpc>
            </a:pPr>
            <a:r>
              <a:rPr lang="en-US" altLang="zh-CN" dirty="0">
                <a:solidFill>
                  <a:srgbClr val="C7000B"/>
                </a:solidFill>
                <a:sym typeface="Huawei Sans" panose="020C0503030203020204" pitchFamily="34" charset="0"/>
              </a:rPr>
              <a:t>RT 10:1</a:t>
            </a:r>
          </a:p>
        </p:txBody>
      </p:sp>
      <p:sp>
        <p:nvSpPr>
          <p:cNvPr id="158" name="文本框 157">
            <a:extLst>
              <a:ext uri="{FF2B5EF4-FFF2-40B4-BE49-F238E27FC236}">
                <a16:creationId xmlns:a16="http://schemas.microsoft.com/office/drawing/2014/main" id="{06B15736-FC8B-4050-A2F5-AB6BD864A78D}"/>
              </a:ext>
            </a:extLst>
          </p:cNvPr>
          <p:cNvSpPr txBox="1">
            <a:spLocks/>
          </p:cNvSpPr>
          <p:nvPr/>
        </p:nvSpPr>
        <p:spPr bwMode="gray">
          <a:xfrm>
            <a:off x="8341661" y="3791313"/>
            <a:ext cx="2495549" cy="738664"/>
          </a:xfrm>
          <a:prstGeom prst="rect">
            <a:avLst/>
          </a:prstGeom>
          <a:solidFill>
            <a:schemeClr val="bg1"/>
          </a:solidFill>
          <a:ln w="12700">
            <a:solidFill>
              <a:schemeClr val="tx1"/>
            </a:solidFill>
          </a:ln>
        </p:spPr>
        <p:txBody>
          <a:bodyPr wrap="none" lIns="0" tIns="0" rIns="0" bIns="0" rtlCol="0" anchor="ctr" anchorCtr="0">
            <a:noAutofit/>
          </a:bodyPr>
          <a:lstStyle>
            <a:defPPr>
              <a:defRPr lang="en-US"/>
            </a:defPPr>
            <a:lvl1pPr algn="ctr">
              <a:defRPr sz="1400">
                <a:latin typeface="Huawei Sans" panose="020C0503030203020204" pitchFamily="34" charset="0"/>
                <a:ea typeface="方正兰亭黑简体" panose="02000000000000000000" pitchFamily="2" charset="-122"/>
              </a:defRPr>
            </a:lvl1pPr>
          </a:lstStyle>
          <a:p>
            <a:r>
              <a:rPr lang="en-US" altLang="zh-CN" dirty="0">
                <a:sym typeface="Huawei Sans" panose="020C0503030203020204" pitchFamily="34" charset="0"/>
              </a:rPr>
              <a:t>VBDIF 10</a:t>
            </a:r>
          </a:p>
          <a:p>
            <a:r>
              <a:rPr lang="en-US" altLang="zh-CN" dirty="0">
                <a:sym typeface="Huawei Sans" panose="020C0503030203020204" pitchFamily="34" charset="0"/>
              </a:rPr>
              <a:t>IP Bind VPN-Instance </a:t>
            </a:r>
            <a:r>
              <a:rPr lang="en-US" altLang="zh-CN" dirty="0">
                <a:solidFill>
                  <a:srgbClr val="C7000B"/>
                </a:solidFill>
                <a:sym typeface="Huawei Sans" panose="020C0503030203020204" pitchFamily="34" charset="0"/>
              </a:rPr>
              <a:t>VPN1</a:t>
            </a:r>
            <a:endParaRPr lang="en-US" altLang="zh-CN" dirty="0">
              <a:sym typeface="Huawei Sans" panose="020C0503030203020204" pitchFamily="34" charset="0"/>
            </a:endParaRPr>
          </a:p>
          <a:p>
            <a:r>
              <a:rPr lang="en-US" altLang="zh-CN" dirty="0">
                <a:sym typeface="Huawei Sans" panose="020C0503030203020204" pitchFamily="34" charset="0"/>
              </a:rPr>
              <a:t>BD 10</a:t>
            </a:r>
          </a:p>
        </p:txBody>
      </p:sp>
      <p:cxnSp>
        <p:nvCxnSpPr>
          <p:cNvPr id="159" name="肘形连接符 158"/>
          <p:cNvCxnSpPr>
            <a:stCxn id="157" idx="3"/>
            <a:endCxn id="158" idx="3"/>
          </p:cNvCxnSpPr>
          <p:nvPr/>
        </p:nvCxnSpPr>
        <p:spPr bwMode="gray">
          <a:xfrm flipV="1">
            <a:off x="10446686" y="4160645"/>
            <a:ext cx="390524" cy="1123705"/>
          </a:xfrm>
          <a:prstGeom prst="bentConnector3">
            <a:avLst>
              <a:gd name="adj1" fmla="val 158537"/>
            </a:avLst>
          </a:prstGeom>
          <a:ln>
            <a:solidFill>
              <a:srgbClr val="30B5C5"/>
            </a:solidFill>
            <a:tailEnd type="triangle"/>
          </a:ln>
        </p:spPr>
        <p:style>
          <a:lnRef idx="1">
            <a:schemeClr val="accent1"/>
          </a:lnRef>
          <a:fillRef idx="0">
            <a:schemeClr val="accent1"/>
          </a:fillRef>
          <a:effectRef idx="0">
            <a:schemeClr val="accent1"/>
          </a:effectRef>
          <a:fontRef idx="minor">
            <a:schemeClr val="tx1"/>
          </a:fontRef>
        </p:style>
      </p:cxnSp>
      <p:sp>
        <p:nvSpPr>
          <p:cNvPr id="160" name="文本占位符 2"/>
          <p:cNvSpPr txBox="1">
            <a:spLocks/>
          </p:cNvSpPr>
          <p:nvPr/>
        </p:nvSpPr>
        <p:spPr bwMode="gray">
          <a:xfrm>
            <a:off x="4039517" y="4137484"/>
            <a:ext cx="4112967" cy="1459764"/>
          </a:xfrm>
          <a:prstGeom prst="rect">
            <a:avLst/>
          </a:prstGeom>
          <a:noFill/>
          <a:ln w="9525">
            <a:noFill/>
            <a:miter lim="800000"/>
            <a:headEnd/>
            <a:tailEnd/>
          </a:ln>
        </p:spPr>
        <p:txBody>
          <a:bodyPr vert="horz" wrap="square" lIns="80141" tIns="40071" rIns="80141" bIns="40071" numCol="1" anchor="t" anchorCtr="0" compatLnSpc="1">
            <a:prstTxWarp prst="textNoShape">
              <a:avLst/>
            </a:prstTxWarp>
            <a:spAutoFit/>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lgn="l">
              <a:buNone/>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此时</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VTEP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之间传递</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IRB</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路由（多了</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L3 VNI</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VTEP1</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BD 20</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VTEP2</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BD 10</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之间的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IRB</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路由学习由路由携带</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RT</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值控制，该机制过程与</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MPLS VPN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VPNv4</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路由类似。</a:t>
            </a:r>
          </a:p>
        </p:txBody>
      </p:sp>
      <p:sp>
        <p:nvSpPr>
          <p:cNvPr id="32" name="圆角矩形 31"/>
          <p:cNvSpPr/>
          <p:nvPr/>
        </p:nvSpPr>
        <p:spPr bwMode="gray">
          <a:xfrm>
            <a:off x="711404" y="5943600"/>
            <a:ext cx="1474584" cy="257175"/>
          </a:xfrm>
          <a:prstGeom prst="roundRect">
            <a:avLst/>
          </a:prstGeom>
          <a:solidFill>
            <a:schemeClr val="bg1">
              <a:lumMod val="7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地址通告</a:t>
            </a:r>
          </a:p>
        </p:txBody>
      </p:sp>
      <p:sp>
        <p:nvSpPr>
          <p:cNvPr id="33" name="圆角矩形 32"/>
          <p:cNvSpPr/>
          <p:nvPr/>
        </p:nvSpPr>
        <p:spPr bwMode="gray">
          <a:xfrm>
            <a:off x="2185988" y="5943600"/>
            <a:ext cx="1474584" cy="257175"/>
          </a:xfrm>
          <a:prstGeom prst="roundRect">
            <a:avLst/>
          </a:prstGeom>
          <a:solidFill>
            <a:schemeClr val="bg1">
              <a:lumMod val="7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通告</a:t>
            </a:r>
          </a:p>
        </p:txBody>
      </p:sp>
      <p:sp>
        <p:nvSpPr>
          <p:cNvPr id="34" name="圆角矩形 33"/>
          <p:cNvSpPr/>
          <p:nvPr/>
        </p:nvSpPr>
        <p:spPr bwMode="gray">
          <a:xfrm>
            <a:off x="3673695" y="5943600"/>
            <a:ext cx="1474584" cy="257175"/>
          </a:xfrm>
          <a:prstGeom prst="roundRect">
            <a:avLst/>
          </a:prstGeom>
          <a:solidFill>
            <a:srgbClr val="AFD89C"/>
          </a:solid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路由通告</a:t>
            </a:r>
          </a:p>
        </p:txBody>
      </p:sp>
      <p:sp>
        <p:nvSpPr>
          <p:cNvPr id="30" name="五边形 24">
            <a:extLst>
              <a:ext uri="{FF2B5EF4-FFF2-40B4-BE49-F238E27FC236}">
                <a16:creationId xmlns:a16="http://schemas.microsoft.com/office/drawing/2014/main" id="{66BA07AD-FEEF-4CB3-8D55-B5A235B0FBAC}"/>
              </a:ext>
            </a:extLst>
          </p:cNvPr>
          <p:cNvSpPr/>
          <p:nvPr/>
        </p:nvSpPr>
        <p:spPr bwMode="gray">
          <a:xfrm>
            <a:off x="8632180" y="124239"/>
            <a:ext cx="108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Type 2</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燕尾形 26">
            <a:extLst>
              <a:ext uri="{FF2B5EF4-FFF2-40B4-BE49-F238E27FC236}">
                <a16:creationId xmlns:a16="http://schemas.microsoft.com/office/drawing/2014/main" id="{0C19331F-8FCC-488E-9C32-A3F774208D1E}"/>
              </a:ext>
            </a:extLst>
          </p:cNvPr>
          <p:cNvSpPr/>
          <p:nvPr/>
        </p:nvSpPr>
        <p:spPr bwMode="gray">
          <a:xfrm>
            <a:off x="10629668"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5</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p>
        </p:txBody>
      </p:sp>
      <p:sp>
        <p:nvSpPr>
          <p:cNvPr id="35" name="燕尾形 26">
            <a:extLst>
              <a:ext uri="{FF2B5EF4-FFF2-40B4-BE49-F238E27FC236}">
                <a16:creationId xmlns:a16="http://schemas.microsoft.com/office/drawing/2014/main" id="{5C797163-D6D3-4ACC-996D-421D87F18D19}"/>
              </a:ext>
            </a:extLst>
          </p:cNvPr>
          <p:cNvSpPr/>
          <p:nvPr/>
        </p:nvSpPr>
        <p:spPr bwMode="gray">
          <a:xfrm>
            <a:off x="9630924"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3</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2301789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a:sym typeface="Huawei Sans" panose="020C0503030203020204" pitchFamily="34" charset="0"/>
              </a:rPr>
              <a:t>EVPN</a:t>
            </a:r>
            <a:r>
              <a:rPr lang="zh-CN" altLang="en-US">
                <a:sym typeface="Huawei Sans" panose="020C0503030203020204" pitchFamily="34" charset="0"/>
              </a:rPr>
              <a:t> </a:t>
            </a:r>
            <a:r>
              <a:rPr lang="en-US" altLang="zh-CN">
                <a:sym typeface="Huawei Sans" panose="020C0503030203020204" pitchFamily="34" charset="0"/>
              </a:rPr>
              <a:t>RT</a:t>
            </a:r>
            <a:r>
              <a:rPr lang="zh-CN" altLang="en-US">
                <a:sym typeface="Huawei Sans" panose="020C0503030203020204" pitchFamily="34" charset="0"/>
              </a:rPr>
              <a:t>、</a:t>
            </a:r>
            <a:r>
              <a:rPr lang="en-US" altLang="zh-CN">
                <a:sym typeface="Huawei Sans" panose="020C0503030203020204" pitchFamily="34" charset="0"/>
              </a:rPr>
              <a:t>IP VPN RT (1)</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a:xfrm>
            <a:off x="455613" y="1047751"/>
            <a:ext cx="11256962" cy="2818572"/>
          </a:xfrm>
        </p:spPr>
        <p:txBody>
          <a:bodyPr/>
          <a:lstStyle/>
          <a:p>
            <a:r>
              <a:rPr lang="zh-CN" altLang="en-US" sz="1800" dirty="0">
                <a:sym typeface="Huawei Sans" panose="020C0503030203020204" pitchFamily="34" charset="0"/>
              </a:rPr>
              <a:t>新增</a:t>
            </a:r>
            <a:r>
              <a:rPr lang="en-US" altLang="zh-CN" sz="1800" dirty="0">
                <a:sym typeface="Huawei Sans" panose="020C0503030203020204" pitchFamily="34" charset="0"/>
              </a:rPr>
              <a:t>IP VPN</a:t>
            </a:r>
            <a:r>
              <a:rPr lang="zh-CN" altLang="en-US" sz="1800" dirty="0">
                <a:sym typeface="Huawei Sans" panose="020C0503030203020204" pitchFamily="34" charset="0"/>
              </a:rPr>
              <a:t>实例之后，</a:t>
            </a:r>
            <a:r>
              <a:rPr lang="en-US" altLang="zh-CN" sz="1800" dirty="0">
                <a:sym typeface="Huawei Sans" panose="020C0503030203020204" pitchFamily="34" charset="0"/>
              </a:rPr>
              <a:t>BGP EVPN</a:t>
            </a:r>
            <a:r>
              <a:rPr lang="zh-CN" altLang="en-US" sz="1800" dirty="0">
                <a:sym typeface="Huawei Sans" panose="020C0503030203020204" pitchFamily="34" charset="0"/>
              </a:rPr>
              <a:t>在传递</a:t>
            </a:r>
            <a:r>
              <a:rPr lang="en-US" altLang="zh-CN" sz="1800" dirty="0">
                <a:sym typeface="Huawei Sans" panose="020C0503030203020204" pitchFamily="34" charset="0"/>
              </a:rPr>
              <a:t>Type 2</a:t>
            </a:r>
            <a:r>
              <a:rPr lang="zh-CN" altLang="en-US" sz="1800" dirty="0">
                <a:sym typeface="Huawei Sans" panose="020C0503030203020204" pitchFamily="34" charset="0"/>
              </a:rPr>
              <a:t>路由时携带的</a:t>
            </a:r>
            <a:r>
              <a:rPr lang="en-US" altLang="zh-CN" sz="1800" dirty="0">
                <a:sym typeface="Huawei Sans" panose="020C0503030203020204" pitchFamily="34" charset="0"/>
              </a:rPr>
              <a:t>RT</a:t>
            </a:r>
            <a:r>
              <a:rPr lang="zh-CN" altLang="en-US" sz="1800" dirty="0">
                <a:sym typeface="Huawei Sans" panose="020C0503030203020204" pitchFamily="34" charset="0"/>
              </a:rPr>
              <a:t>值依旧是</a:t>
            </a:r>
            <a:r>
              <a:rPr lang="en-US" altLang="zh-CN" sz="1800" dirty="0">
                <a:sym typeface="Huawei Sans" panose="020C0503030203020204" pitchFamily="34" charset="0"/>
              </a:rPr>
              <a:t>EVPN RT</a:t>
            </a:r>
            <a:r>
              <a:rPr lang="zh-CN" altLang="en-US" sz="1800" dirty="0">
                <a:sym typeface="Huawei Sans" panose="020C0503030203020204" pitchFamily="34" charset="0"/>
              </a:rPr>
              <a:t>值，只是对端收到路由之后的处理行为存在区别：</a:t>
            </a:r>
            <a:endParaRPr lang="en-US" altLang="zh-CN" sz="1800" dirty="0">
              <a:sym typeface="Huawei Sans" panose="020C0503030203020204" pitchFamily="34" charset="0"/>
            </a:endParaRPr>
          </a:p>
          <a:p>
            <a:pPr lvl="1"/>
            <a:r>
              <a:rPr lang="zh-CN" altLang="en-US" sz="1600" dirty="0">
                <a:sym typeface="Huawei Sans" panose="020C0503030203020204" pitchFamily="34" charset="0"/>
              </a:rPr>
              <a:t>检查该路由携带的</a:t>
            </a:r>
            <a:r>
              <a:rPr lang="en-US" altLang="zh-CN" sz="1600" dirty="0">
                <a:sym typeface="Huawei Sans" panose="020C0503030203020204" pitchFamily="34" charset="0"/>
              </a:rPr>
              <a:t>RT</a:t>
            </a:r>
            <a:r>
              <a:rPr lang="zh-CN" altLang="en-US" sz="1600" dirty="0">
                <a:sym typeface="Huawei Sans" panose="020C0503030203020204" pitchFamily="34" charset="0"/>
              </a:rPr>
              <a:t>，如果与本端</a:t>
            </a:r>
            <a:r>
              <a:rPr lang="en-US" altLang="zh-CN" sz="1600" dirty="0">
                <a:sym typeface="Huawei Sans" panose="020C0503030203020204" pitchFamily="34" charset="0"/>
              </a:rPr>
              <a:t>EVPN</a:t>
            </a:r>
            <a:r>
              <a:rPr lang="zh-CN" altLang="en-US" sz="1600" dirty="0">
                <a:sym typeface="Huawei Sans" panose="020C0503030203020204" pitchFamily="34" charset="0"/>
              </a:rPr>
              <a:t>实例的</a:t>
            </a:r>
            <a:r>
              <a:rPr lang="en-US" altLang="zh-CN" sz="1600" dirty="0">
                <a:sym typeface="Huawei Sans" panose="020C0503030203020204" pitchFamily="34" charset="0"/>
              </a:rPr>
              <a:t>Import RT</a:t>
            </a:r>
            <a:r>
              <a:rPr lang="zh-CN" altLang="en-US" sz="1600" dirty="0">
                <a:sym typeface="Huawei Sans" panose="020C0503030203020204" pitchFamily="34" charset="0"/>
              </a:rPr>
              <a:t>相同，则接收该路由。</a:t>
            </a:r>
            <a:r>
              <a:rPr lang="en-US" altLang="zh-CN" sz="1600" dirty="0">
                <a:sym typeface="Huawei Sans" panose="020C0503030203020204" pitchFamily="34" charset="0"/>
              </a:rPr>
              <a:t>EVPN</a:t>
            </a:r>
            <a:r>
              <a:rPr lang="zh-CN" altLang="en-US" sz="1600" dirty="0">
                <a:sym typeface="Huawei Sans" panose="020C0503030203020204" pitchFamily="34" charset="0"/>
              </a:rPr>
              <a:t>实例获取到</a:t>
            </a:r>
            <a:r>
              <a:rPr lang="en-US" altLang="zh-CN" sz="1600" dirty="0">
                <a:sym typeface="Huawei Sans" panose="020C0503030203020204" pitchFamily="34" charset="0"/>
              </a:rPr>
              <a:t>IRB</a:t>
            </a:r>
            <a:r>
              <a:rPr lang="zh-CN" altLang="en-US" sz="1600" dirty="0">
                <a:sym typeface="Huawei Sans" panose="020C0503030203020204" pitchFamily="34" charset="0"/>
              </a:rPr>
              <a:t>类型路由后，还能提取到其中包含的</a:t>
            </a:r>
            <a:r>
              <a:rPr lang="en-US" altLang="zh-CN" sz="1600" dirty="0">
                <a:sym typeface="Huawei Sans" panose="020C0503030203020204" pitchFamily="34" charset="0"/>
              </a:rPr>
              <a:t>ARP</a:t>
            </a:r>
            <a:r>
              <a:rPr lang="zh-CN" altLang="en-US" sz="1600" dirty="0">
                <a:sym typeface="Huawei Sans" panose="020C0503030203020204" pitchFamily="34" charset="0"/>
              </a:rPr>
              <a:t>类型路由，用于主机</a:t>
            </a:r>
            <a:r>
              <a:rPr lang="en-US" altLang="zh-CN" sz="1600" dirty="0">
                <a:sym typeface="Huawei Sans" panose="020C0503030203020204" pitchFamily="34" charset="0"/>
              </a:rPr>
              <a:t>ARP</a:t>
            </a:r>
            <a:r>
              <a:rPr lang="zh-CN" altLang="en-US" sz="1600" dirty="0">
                <a:sym typeface="Huawei Sans" panose="020C0503030203020204" pitchFamily="34" charset="0"/>
              </a:rPr>
              <a:t>通告。</a:t>
            </a:r>
          </a:p>
          <a:p>
            <a:pPr lvl="1"/>
            <a:r>
              <a:rPr lang="zh-CN" altLang="en-US" sz="1600" dirty="0">
                <a:sym typeface="Huawei Sans" panose="020C0503030203020204" pitchFamily="34" charset="0"/>
              </a:rPr>
              <a:t>检查该路由携带的</a:t>
            </a:r>
            <a:r>
              <a:rPr lang="en-US" altLang="zh-CN" sz="1600" dirty="0">
                <a:sym typeface="Huawei Sans" panose="020C0503030203020204" pitchFamily="34" charset="0"/>
              </a:rPr>
              <a:t>RT</a:t>
            </a:r>
            <a:r>
              <a:rPr lang="zh-CN" altLang="en-US" sz="1600" dirty="0">
                <a:sym typeface="Huawei Sans" panose="020C0503030203020204" pitchFamily="34" charset="0"/>
              </a:rPr>
              <a:t>，如果与本端</a:t>
            </a:r>
            <a:r>
              <a:rPr lang="en-US" altLang="zh-CN" sz="1600" dirty="0">
                <a:sym typeface="Huawei Sans" panose="020C0503030203020204" pitchFamily="34" charset="0"/>
              </a:rPr>
              <a:t>IP VPN</a:t>
            </a:r>
            <a:r>
              <a:rPr lang="zh-CN" altLang="en-US" sz="1600" dirty="0">
                <a:sym typeface="Huawei Sans" panose="020C0503030203020204" pitchFamily="34" charset="0"/>
              </a:rPr>
              <a:t>实例的</a:t>
            </a:r>
            <a:r>
              <a:rPr lang="en-US" altLang="zh-CN" sz="1600" dirty="0">
                <a:sym typeface="Huawei Sans" panose="020C0503030203020204" pitchFamily="34" charset="0"/>
              </a:rPr>
              <a:t>Import RT</a:t>
            </a:r>
            <a:r>
              <a:rPr lang="zh-CN" altLang="en-US" sz="1600" dirty="0">
                <a:sym typeface="Huawei Sans" panose="020C0503030203020204" pitchFamily="34" charset="0"/>
              </a:rPr>
              <a:t>（</a:t>
            </a:r>
            <a:r>
              <a:rPr lang="en-US" altLang="zh-CN" sz="1600" dirty="0">
                <a:sym typeface="Huawei Sans" panose="020C0503030203020204" pitchFamily="34" charset="0"/>
              </a:rPr>
              <a:t>EVPN</a:t>
            </a:r>
            <a:r>
              <a:rPr lang="zh-CN" altLang="en-US" sz="1600" dirty="0">
                <a:sym typeface="Huawei Sans" panose="020C0503030203020204" pitchFamily="34" charset="0"/>
              </a:rPr>
              <a:t>）相同，则接收该路由。然后，</a:t>
            </a:r>
            <a:r>
              <a:rPr lang="en-US" altLang="zh-CN" sz="1600" dirty="0">
                <a:sym typeface="Huawei Sans" panose="020C0503030203020204" pitchFamily="34" charset="0"/>
              </a:rPr>
              <a:t>VPN</a:t>
            </a:r>
            <a:r>
              <a:rPr lang="zh-CN" altLang="en-US" sz="1600" dirty="0">
                <a:sym typeface="Huawei Sans" panose="020C0503030203020204" pitchFamily="34" charset="0"/>
              </a:rPr>
              <a:t>实例获取到该路由携带的</a:t>
            </a:r>
            <a:r>
              <a:rPr lang="en-US" altLang="zh-CN" sz="1600" dirty="0">
                <a:sym typeface="Huawei Sans" panose="020C0503030203020204" pitchFamily="34" charset="0"/>
              </a:rPr>
              <a:t>IRB</a:t>
            </a:r>
            <a:r>
              <a:rPr lang="zh-CN" altLang="en-US" sz="1600" dirty="0">
                <a:sym typeface="Huawei Sans" panose="020C0503030203020204" pitchFamily="34" charset="0"/>
              </a:rPr>
              <a:t>类型路由，从中提取的主机</a:t>
            </a:r>
            <a:r>
              <a:rPr lang="en-US" altLang="zh-CN" sz="1600" dirty="0">
                <a:sym typeface="Huawei Sans" panose="020C0503030203020204" pitchFamily="34" charset="0"/>
              </a:rPr>
              <a:t>IP</a:t>
            </a:r>
            <a:r>
              <a:rPr lang="zh-CN" altLang="en-US" sz="1600" dirty="0">
                <a:sym typeface="Huawei Sans" panose="020C0503030203020204" pitchFamily="34" charset="0"/>
              </a:rPr>
              <a:t>地址、三层</a:t>
            </a:r>
            <a:r>
              <a:rPr lang="en-US" altLang="zh-CN" sz="1600" dirty="0">
                <a:sym typeface="Huawei Sans" panose="020C0503030203020204" pitchFamily="34" charset="0"/>
              </a:rPr>
              <a:t>VNI</a:t>
            </a:r>
            <a:r>
              <a:rPr lang="zh-CN" altLang="en-US" sz="1600" dirty="0">
                <a:sym typeface="Huawei Sans" panose="020C0503030203020204" pitchFamily="34" charset="0"/>
              </a:rPr>
              <a:t>，在其路由表中保存主机</a:t>
            </a:r>
            <a:r>
              <a:rPr lang="en-US" altLang="zh-CN" sz="1600" dirty="0">
                <a:sym typeface="Huawei Sans" panose="020C0503030203020204" pitchFamily="34" charset="0"/>
              </a:rPr>
              <a:t>IP</a:t>
            </a:r>
            <a:r>
              <a:rPr lang="zh-CN" altLang="en-US" sz="1600" dirty="0">
                <a:sym typeface="Huawei Sans" panose="020C0503030203020204" pitchFamily="34" charset="0"/>
              </a:rPr>
              <a:t>路由，并根据路由的下一跳迭代出接口，最终迭代结果是指向</a:t>
            </a:r>
            <a:r>
              <a:rPr lang="en-US" altLang="zh-CN" sz="1600" dirty="0">
                <a:sym typeface="Huawei Sans" panose="020C0503030203020204" pitchFamily="34" charset="0"/>
              </a:rPr>
              <a:t>VTEP</a:t>
            </a:r>
            <a:r>
              <a:rPr lang="zh-CN" altLang="en-US" sz="1600" dirty="0">
                <a:sym typeface="Huawei Sans" panose="020C0503030203020204" pitchFamily="34" charset="0"/>
              </a:rPr>
              <a:t>的</a:t>
            </a:r>
            <a:r>
              <a:rPr lang="en-US" altLang="zh-CN" sz="1600" dirty="0">
                <a:sym typeface="Huawei Sans" panose="020C0503030203020204" pitchFamily="34" charset="0"/>
              </a:rPr>
              <a:t>VXLAN</a:t>
            </a:r>
            <a:r>
              <a:rPr lang="zh-CN" altLang="en-US" sz="1600" dirty="0">
                <a:sym typeface="Huawei Sans" panose="020C0503030203020204" pitchFamily="34" charset="0"/>
              </a:rPr>
              <a:t>隧道。</a:t>
            </a:r>
            <a:endParaRPr lang="en-US" altLang="zh-CN" sz="1600" dirty="0">
              <a:sym typeface="Huawei Sans" panose="020C0503030203020204" pitchFamily="34" charset="0"/>
            </a:endParaRPr>
          </a:p>
        </p:txBody>
      </p:sp>
      <p:sp>
        <p:nvSpPr>
          <p:cNvPr id="10" name="圆角矩形 9"/>
          <p:cNvSpPr/>
          <p:nvPr/>
        </p:nvSpPr>
        <p:spPr bwMode="gray">
          <a:xfrm>
            <a:off x="711404" y="5943600"/>
            <a:ext cx="1474584" cy="257175"/>
          </a:xfrm>
          <a:prstGeom prst="roundRect">
            <a:avLst/>
          </a:prstGeom>
          <a:solidFill>
            <a:schemeClr val="bg1">
              <a:lumMod val="7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地址通告</a:t>
            </a:r>
          </a:p>
        </p:txBody>
      </p:sp>
      <p:sp>
        <p:nvSpPr>
          <p:cNvPr id="11" name="圆角矩形 10"/>
          <p:cNvSpPr/>
          <p:nvPr/>
        </p:nvSpPr>
        <p:spPr bwMode="gray">
          <a:xfrm>
            <a:off x="2185988" y="5943600"/>
            <a:ext cx="1474584" cy="257175"/>
          </a:xfrm>
          <a:prstGeom prst="roundRect">
            <a:avLst/>
          </a:prstGeom>
          <a:solidFill>
            <a:schemeClr val="bg1">
              <a:lumMod val="7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通告</a:t>
            </a:r>
          </a:p>
        </p:txBody>
      </p:sp>
      <p:sp>
        <p:nvSpPr>
          <p:cNvPr id="12" name="圆角矩形 11"/>
          <p:cNvSpPr/>
          <p:nvPr/>
        </p:nvSpPr>
        <p:spPr bwMode="gray">
          <a:xfrm>
            <a:off x="3673695" y="5943600"/>
            <a:ext cx="1474584" cy="257175"/>
          </a:xfrm>
          <a:prstGeom prst="roundRect">
            <a:avLst/>
          </a:prstGeom>
          <a:solidFill>
            <a:srgbClr val="AFD89C"/>
          </a:solid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路由通告</a:t>
            </a:r>
          </a:p>
        </p:txBody>
      </p:sp>
      <p:sp>
        <p:nvSpPr>
          <p:cNvPr id="13" name="五边形 24">
            <a:extLst>
              <a:ext uri="{FF2B5EF4-FFF2-40B4-BE49-F238E27FC236}">
                <a16:creationId xmlns:a16="http://schemas.microsoft.com/office/drawing/2014/main" id="{66BA07AD-FEEF-4CB3-8D55-B5A235B0FBAC}"/>
              </a:ext>
            </a:extLst>
          </p:cNvPr>
          <p:cNvSpPr/>
          <p:nvPr/>
        </p:nvSpPr>
        <p:spPr bwMode="gray">
          <a:xfrm>
            <a:off x="8632182" y="124239"/>
            <a:ext cx="108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Type 2</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燕尾形 26">
            <a:extLst>
              <a:ext uri="{FF2B5EF4-FFF2-40B4-BE49-F238E27FC236}">
                <a16:creationId xmlns:a16="http://schemas.microsoft.com/office/drawing/2014/main" id="{0C19331F-8FCC-488E-9C32-A3F774208D1E}"/>
              </a:ext>
            </a:extLst>
          </p:cNvPr>
          <p:cNvSpPr/>
          <p:nvPr/>
        </p:nvSpPr>
        <p:spPr bwMode="gray">
          <a:xfrm>
            <a:off x="10629670"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5</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p>
        </p:txBody>
      </p:sp>
      <p:sp>
        <p:nvSpPr>
          <p:cNvPr id="15" name="燕尾形 26">
            <a:extLst>
              <a:ext uri="{FF2B5EF4-FFF2-40B4-BE49-F238E27FC236}">
                <a16:creationId xmlns:a16="http://schemas.microsoft.com/office/drawing/2014/main" id="{5C797163-D6D3-4ACC-996D-421D87F18D19}"/>
              </a:ext>
            </a:extLst>
          </p:cNvPr>
          <p:cNvSpPr/>
          <p:nvPr/>
        </p:nvSpPr>
        <p:spPr bwMode="gray">
          <a:xfrm>
            <a:off x="9630926"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3</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7418443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a:sym typeface="Huawei Sans" panose="020C0503030203020204" pitchFamily="34" charset="0"/>
              </a:rPr>
              <a:t>EVPN</a:t>
            </a:r>
            <a:r>
              <a:rPr lang="zh-CN" altLang="en-US">
                <a:sym typeface="Huawei Sans" panose="020C0503030203020204" pitchFamily="34" charset="0"/>
              </a:rPr>
              <a:t> </a:t>
            </a:r>
            <a:r>
              <a:rPr lang="en-US" altLang="zh-CN">
                <a:sym typeface="Huawei Sans" panose="020C0503030203020204" pitchFamily="34" charset="0"/>
              </a:rPr>
              <a:t>RT</a:t>
            </a:r>
            <a:r>
              <a:rPr lang="zh-CN" altLang="en-US">
                <a:sym typeface="Huawei Sans" panose="020C0503030203020204" pitchFamily="34" charset="0"/>
              </a:rPr>
              <a:t>、</a:t>
            </a:r>
            <a:r>
              <a:rPr lang="en-US" altLang="zh-CN">
                <a:sym typeface="Huawei Sans" panose="020C0503030203020204" pitchFamily="34" charset="0"/>
              </a:rPr>
              <a:t>IP VPN RT (2)</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a:xfrm>
            <a:off x="455613" y="1047750"/>
            <a:ext cx="11256962" cy="482931"/>
          </a:xfrm>
        </p:spPr>
        <p:txBody>
          <a:bodyPr/>
          <a:lstStyle/>
          <a:p>
            <a:r>
              <a:rPr lang="zh-CN" altLang="en-US" sz="1800" dirty="0">
                <a:sym typeface="Huawei Sans" panose="020C0503030203020204" pitchFamily="34" charset="0"/>
              </a:rPr>
              <a:t>只有当路由携带的</a:t>
            </a:r>
            <a:r>
              <a:rPr lang="en-US" altLang="zh-CN" sz="1800" dirty="0">
                <a:sym typeface="Huawei Sans" panose="020C0503030203020204" pitchFamily="34" charset="0"/>
              </a:rPr>
              <a:t>RT</a:t>
            </a:r>
            <a:r>
              <a:rPr lang="zh-CN" altLang="en-US" sz="1800" dirty="0">
                <a:sym typeface="Huawei Sans" panose="020C0503030203020204" pitchFamily="34" charset="0"/>
              </a:rPr>
              <a:t>值与</a:t>
            </a:r>
            <a:r>
              <a:rPr lang="en-US" altLang="zh-CN" sz="1800" dirty="0">
                <a:sym typeface="Huawei Sans" panose="020C0503030203020204" pitchFamily="34" charset="0"/>
              </a:rPr>
              <a:t>EVPN IRT</a:t>
            </a:r>
            <a:r>
              <a:rPr lang="zh-CN" altLang="en-US" sz="1800" dirty="0">
                <a:sym typeface="Huawei Sans" panose="020C0503030203020204" pitchFamily="34" charset="0"/>
              </a:rPr>
              <a:t>、</a:t>
            </a:r>
            <a:r>
              <a:rPr lang="en-US" altLang="zh-CN" sz="1800" dirty="0">
                <a:sym typeface="Huawei Sans" panose="020C0503030203020204" pitchFamily="34" charset="0"/>
              </a:rPr>
              <a:t>IP VPN IRT</a:t>
            </a:r>
            <a:r>
              <a:rPr lang="zh-CN" altLang="en-US" sz="1800" dirty="0">
                <a:sym typeface="Huawei Sans" panose="020C0503030203020204" pitchFamily="34" charset="0"/>
              </a:rPr>
              <a:t>（</a:t>
            </a:r>
            <a:r>
              <a:rPr lang="en-US" altLang="zh-CN" sz="1800" dirty="0">
                <a:sym typeface="Huawei Sans" panose="020C0503030203020204" pitchFamily="34" charset="0"/>
              </a:rPr>
              <a:t>EVPN</a:t>
            </a:r>
            <a:r>
              <a:rPr lang="zh-CN" altLang="en-US" sz="1800" dirty="0">
                <a:sym typeface="Huawei Sans" panose="020C0503030203020204" pitchFamily="34" charset="0"/>
              </a:rPr>
              <a:t>）都不相同时，该路由才会被丢弃。</a:t>
            </a:r>
          </a:p>
        </p:txBody>
      </p:sp>
      <p:sp>
        <p:nvSpPr>
          <p:cNvPr id="52" name="文本框 51"/>
          <p:cNvSpPr txBox="1"/>
          <p:nvPr/>
        </p:nvSpPr>
        <p:spPr bwMode="gray">
          <a:xfrm>
            <a:off x="3452012" y="1929989"/>
            <a:ext cx="2643988" cy="318401"/>
          </a:xfrm>
          <a:prstGeom prst="round2SameRect">
            <a:avLst>
              <a:gd name="adj1" fmla="val 20890"/>
              <a:gd name="adj2" fmla="val 0"/>
            </a:avLst>
          </a:prstGeom>
          <a:solidFill>
            <a:srgbClr val="EC7061"/>
          </a:solidFill>
          <a:ln w="19050">
            <a:solidFill>
              <a:sysClr val="window" lastClr="FFFFFF"/>
            </a:solidFill>
          </a:ln>
        </p:spPr>
        <p:txBody>
          <a:bodyPr wrap="none" lIns="0" tIns="0" rIns="0" bIns="0" rtlCol="0" anchor="ctr" anchorCtr="0">
            <a:noAutofit/>
          </a:bodyPr>
          <a:lstStyle>
            <a:defPPr>
              <a:defRPr lang="en-US"/>
            </a:defPPr>
            <a:lvl1pPr algn="ctr">
              <a:defRPr sz="1200" b="1">
                <a:solidFill>
                  <a:schemeClr val="bg1"/>
                </a:solidFill>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BGP Update</a:t>
            </a:r>
            <a:r>
              <a:rPr kumimoji="0" lang="zh-CN" altLang="en-US"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报文</a:t>
            </a:r>
            <a:endPar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文本框 52"/>
          <p:cNvSpPr txBox="1"/>
          <p:nvPr/>
        </p:nvSpPr>
        <p:spPr bwMode="gray">
          <a:xfrm>
            <a:off x="3452012" y="2254741"/>
            <a:ext cx="2643988" cy="751883"/>
          </a:xfrm>
          <a:prstGeom prst="rect">
            <a:avLst/>
          </a:prstGeom>
          <a:solidFill>
            <a:srgbClr val="EC7061">
              <a:lumMod val="20000"/>
              <a:lumOff val="80000"/>
            </a:srgbClr>
          </a:solidFill>
          <a:ln w="19050">
            <a:solidFill>
              <a:sysClr val="window" lastClr="FFFFFF"/>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文本框 53"/>
          <p:cNvSpPr txBox="1"/>
          <p:nvPr/>
        </p:nvSpPr>
        <p:spPr bwMode="gray">
          <a:xfrm>
            <a:off x="3557546" y="2598309"/>
            <a:ext cx="2432922" cy="270377"/>
          </a:xfrm>
          <a:prstGeom prst="rect">
            <a:avLst/>
          </a:prstGeom>
          <a:solidFill>
            <a:srgbClr val="EC7061">
              <a:lumMod val="40000"/>
              <a:lumOff val="60000"/>
            </a:srgbClr>
          </a:solidFill>
          <a:ln w="19050">
            <a:solidFill>
              <a:srgbClr val="EC7061">
                <a:lumMod val="60000"/>
                <a:lumOff val="40000"/>
              </a:srgbClr>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EVPN </a:t>
            </a: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路由</a:t>
            </a:r>
          </a:p>
        </p:txBody>
      </p:sp>
      <p:sp>
        <p:nvSpPr>
          <p:cNvPr id="55" name="矩形 54"/>
          <p:cNvSpPr/>
          <p:nvPr/>
        </p:nvSpPr>
        <p:spPr bwMode="gray">
          <a:xfrm>
            <a:off x="4042076" y="2303140"/>
            <a:ext cx="1463862" cy="307777"/>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EVPN RT</a:t>
            </a: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 </a:t>
            </a: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 </a:t>
            </a:r>
            <a:r>
              <a:rPr kumimoji="0" lang="en-US" altLang="zh-CN" sz="1400" b="0" i="0" u="none" strike="noStrike" kern="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20:1</a:t>
            </a:r>
          </a:p>
        </p:txBody>
      </p:sp>
      <p:sp>
        <p:nvSpPr>
          <p:cNvPr id="56" name="任意多边形 55"/>
          <p:cNvSpPr/>
          <p:nvPr/>
        </p:nvSpPr>
        <p:spPr bwMode="gray">
          <a:xfrm>
            <a:off x="3547956" y="3061850"/>
            <a:ext cx="2527977" cy="246901"/>
          </a:xfrm>
          <a:custGeom>
            <a:avLst/>
            <a:gdLst>
              <a:gd name="connsiteX0" fmla="*/ 0 w 1170432"/>
              <a:gd name="connsiteY0" fmla="*/ 9144 h 9144"/>
              <a:gd name="connsiteX1" fmla="*/ 1170432 w 1170432"/>
              <a:gd name="connsiteY1" fmla="*/ 0 h 9144"/>
              <a:gd name="connsiteX0" fmla="*/ 0 w 8584"/>
              <a:gd name="connsiteY0" fmla="*/ 76667 h 76667"/>
              <a:gd name="connsiteX1" fmla="*/ 8584 w 8584"/>
              <a:gd name="connsiteY1" fmla="*/ 0 h 76667"/>
              <a:gd name="connsiteX0" fmla="*/ 0 w 9109"/>
              <a:gd name="connsiteY0" fmla="*/ 1033 h 1033"/>
              <a:gd name="connsiteX1" fmla="*/ 9109 w 9109"/>
              <a:gd name="connsiteY1" fmla="*/ 0 h 1033"/>
              <a:gd name="connsiteX0" fmla="*/ 0 w 10000"/>
              <a:gd name="connsiteY0" fmla="*/ 118933 h 118933"/>
              <a:gd name="connsiteX1" fmla="*/ 10000 w 10000"/>
              <a:gd name="connsiteY1" fmla="*/ 108933 h 118933"/>
              <a:gd name="connsiteX0" fmla="*/ 0 w 10083"/>
              <a:gd name="connsiteY0" fmla="*/ 126881 h 126881"/>
              <a:gd name="connsiteX1" fmla="*/ 10083 w 10083"/>
              <a:gd name="connsiteY1" fmla="*/ 106359 h 126881"/>
              <a:gd name="connsiteX0" fmla="*/ 0 w 10083"/>
              <a:gd name="connsiteY0" fmla="*/ 247191 h 247191"/>
              <a:gd name="connsiteX1" fmla="*/ 10083 w 10083"/>
              <a:gd name="connsiteY1" fmla="*/ 226669 h 247191"/>
              <a:gd name="connsiteX0" fmla="*/ 0 w 10083"/>
              <a:gd name="connsiteY0" fmla="*/ 275627 h 275627"/>
              <a:gd name="connsiteX1" fmla="*/ 10083 w 10083"/>
              <a:gd name="connsiteY1" fmla="*/ 255105 h 275627"/>
              <a:gd name="connsiteX0" fmla="*/ 0 w 10305"/>
              <a:gd name="connsiteY0" fmla="*/ 277340 h 277340"/>
              <a:gd name="connsiteX1" fmla="*/ 10305 w 10305"/>
              <a:gd name="connsiteY1" fmla="*/ 253368 h 277340"/>
            </a:gdLst>
            <a:ahLst/>
            <a:cxnLst>
              <a:cxn ang="0">
                <a:pos x="connsiteX0" y="connsiteY0"/>
              </a:cxn>
              <a:cxn ang="0">
                <a:pos x="connsiteX1" y="connsiteY1"/>
              </a:cxn>
            </a:cxnLst>
            <a:rect l="l" t="t" r="r" b="b"/>
            <a:pathLst>
              <a:path w="10305" h="277340">
                <a:moveTo>
                  <a:pt x="0" y="277340"/>
                </a:moveTo>
                <a:cubicBezTo>
                  <a:pt x="2438" y="-102154"/>
                  <a:pt x="7492" y="-74742"/>
                  <a:pt x="10305" y="253368"/>
                </a:cubicBezTo>
              </a:path>
            </a:pathLst>
          </a:custGeom>
          <a:noFill/>
          <a:ln w="19050" cap="flat" cmpd="sng" algn="ctr">
            <a:solidFill>
              <a:srgbClr val="F7C6C0"/>
            </a:soli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7" name="组合 56"/>
          <p:cNvGrpSpPr/>
          <p:nvPr/>
        </p:nvGrpSpPr>
        <p:grpSpPr bwMode="gray">
          <a:xfrm>
            <a:off x="5230750" y="3375525"/>
            <a:ext cx="2204696" cy="696834"/>
            <a:chOff x="6682699" y="3442299"/>
            <a:chExt cx="2204696" cy="696834"/>
          </a:xfrm>
        </p:grpSpPr>
        <p:sp>
          <p:nvSpPr>
            <p:cNvPr id="58" name="矩形: 圆角 2">
              <a:extLst>
                <a:ext uri="{FF2B5EF4-FFF2-40B4-BE49-F238E27FC236}">
                  <a16:creationId xmlns:a16="http://schemas.microsoft.com/office/drawing/2014/main" id="{61ED3B87-6A99-429A-8105-146CD1F281AA}"/>
                </a:ext>
              </a:extLst>
            </p:cNvPr>
            <p:cNvSpPr>
              <a:spLocks/>
            </p:cNvSpPr>
            <p:nvPr/>
          </p:nvSpPr>
          <p:spPr bwMode="gray">
            <a:xfrm>
              <a:off x="6682699" y="3442299"/>
              <a:ext cx="2204696" cy="696834"/>
            </a:xfrm>
            <a:prstGeom prst="roundRect">
              <a:avLst>
                <a:gd name="adj" fmla="val 3125"/>
              </a:avLst>
            </a:prstGeom>
            <a:solidFill>
              <a:sysClr val="window" lastClr="FFFFFF"/>
            </a:solidFill>
            <a:ln w="19050" cap="flat" cmpd="sng" algn="ctr">
              <a:solidFill>
                <a:srgbClr val="BFBFB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TextBox 120">
              <a:extLst>
                <a:ext uri="{FF2B5EF4-FFF2-40B4-BE49-F238E27FC236}">
                  <a16:creationId xmlns:a16="http://schemas.microsoft.com/office/drawing/2014/main" id="{45F9B53F-D71E-4A97-8BDF-68FDC527CE1A}"/>
                </a:ext>
              </a:extLst>
            </p:cNvPr>
            <p:cNvSpPr txBox="1"/>
            <p:nvPr/>
          </p:nvSpPr>
          <p:spPr bwMode="gray">
            <a:xfrm>
              <a:off x="7274161" y="3636828"/>
              <a:ext cx="1021773"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VTEP2</a:t>
              </a:r>
            </a:p>
          </p:txBody>
        </p:sp>
      </p:grpSp>
      <p:grpSp>
        <p:nvGrpSpPr>
          <p:cNvPr id="60" name="组合 59"/>
          <p:cNvGrpSpPr/>
          <p:nvPr/>
        </p:nvGrpSpPr>
        <p:grpSpPr bwMode="gray">
          <a:xfrm>
            <a:off x="2219697" y="3375525"/>
            <a:ext cx="2204696" cy="696834"/>
            <a:chOff x="2630949" y="3308751"/>
            <a:chExt cx="2204696" cy="696834"/>
          </a:xfrm>
        </p:grpSpPr>
        <p:sp>
          <p:nvSpPr>
            <p:cNvPr id="61" name="矩形: 圆角 70">
              <a:extLst>
                <a:ext uri="{FF2B5EF4-FFF2-40B4-BE49-F238E27FC236}">
                  <a16:creationId xmlns:a16="http://schemas.microsoft.com/office/drawing/2014/main" id="{1C818269-4F57-496C-827F-F0469DBD9ED8}"/>
                </a:ext>
              </a:extLst>
            </p:cNvPr>
            <p:cNvSpPr>
              <a:spLocks/>
            </p:cNvSpPr>
            <p:nvPr/>
          </p:nvSpPr>
          <p:spPr bwMode="gray">
            <a:xfrm>
              <a:off x="2630949" y="3308751"/>
              <a:ext cx="2204696" cy="696834"/>
            </a:xfrm>
            <a:prstGeom prst="roundRect">
              <a:avLst>
                <a:gd name="adj" fmla="val 3125"/>
              </a:avLst>
            </a:prstGeom>
            <a:solidFill>
              <a:sysClr val="window" lastClr="FFFFFF"/>
            </a:solidFill>
            <a:ln w="19050" cap="flat" cmpd="sng" algn="ctr">
              <a:solidFill>
                <a:srgbClr val="BFBFB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TextBox 120">
              <a:extLst>
                <a:ext uri="{FF2B5EF4-FFF2-40B4-BE49-F238E27FC236}">
                  <a16:creationId xmlns:a16="http://schemas.microsoft.com/office/drawing/2014/main" id="{2279105C-F3EE-4FE6-A021-C58819E3BD8B}"/>
                </a:ext>
              </a:extLst>
            </p:cNvPr>
            <p:cNvSpPr txBox="1"/>
            <p:nvPr/>
          </p:nvSpPr>
          <p:spPr bwMode="gray">
            <a:xfrm>
              <a:off x="3216132" y="3503280"/>
              <a:ext cx="1034330"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VTEP1</a:t>
              </a:r>
            </a:p>
          </p:txBody>
        </p:sp>
      </p:grpSp>
      <p:cxnSp>
        <p:nvCxnSpPr>
          <p:cNvPr id="63" name="直接箭头连接符 62">
            <a:extLst>
              <a:ext uri="{FF2B5EF4-FFF2-40B4-BE49-F238E27FC236}">
                <a16:creationId xmlns:a16="http://schemas.microsoft.com/office/drawing/2014/main" id="{D8D4DFE4-76AF-4227-AC47-2C354CA39242}"/>
              </a:ext>
            </a:extLst>
          </p:cNvPr>
          <p:cNvCxnSpPr>
            <a:cxnSpLocks/>
          </p:cNvCxnSpPr>
          <p:nvPr/>
        </p:nvCxnSpPr>
        <p:spPr bwMode="gray">
          <a:xfrm>
            <a:off x="3412798" y="4705383"/>
            <a:ext cx="1817952" cy="0"/>
          </a:xfrm>
          <a:prstGeom prst="straightConnector1">
            <a:avLst/>
          </a:prstGeom>
          <a:noFill/>
          <a:ln w="12700" cap="flat" cmpd="sng" algn="ctr">
            <a:solidFill>
              <a:srgbClr val="F3FBFE"/>
            </a:solidFill>
            <a:prstDash val="solid"/>
            <a:miter lim="800000"/>
            <a:headEnd type="none" w="med" len="med"/>
            <a:tailEnd type="triangle" w="med" len="med"/>
          </a:ln>
          <a:effectLst>
            <a:outerShdw blurRad="152400" dist="38100" dir="5400000" algn="t" rotWithShape="0">
              <a:prstClr val="black">
                <a:alpha val="12000"/>
              </a:prstClr>
            </a:outerShdw>
          </a:effectLst>
        </p:spPr>
      </p:cxnSp>
      <p:grpSp>
        <p:nvGrpSpPr>
          <p:cNvPr id="64" name="组合 63"/>
          <p:cNvGrpSpPr/>
          <p:nvPr/>
        </p:nvGrpSpPr>
        <p:grpSpPr bwMode="gray">
          <a:xfrm>
            <a:off x="735225" y="3880622"/>
            <a:ext cx="2643988" cy="626554"/>
            <a:chOff x="4835645" y="5251537"/>
            <a:chExt cx="2643988" cy="626554"/>
          </a:xfrm>
        </p:grpSpPr>
        <p:sp>
          <p:nvSpPr>
            <p:cNvPr id="65" name="文本框 64"/>
            <p:cNvSpPr txBox="1"/>
            <p:nvPr/>
          </p:nvSpPr>
          <p:spPr bwMode="gray">
            <a:xfrm>
              <a:off x="4835645" y="5521915"/>
              <a:ext cx="2643988" cy="356176"/>
            </a:xfrm>
            <a:prstGeom prst="rect">
              <a:avLst/>
            </a:prstGeom>
            <a:solidFill>
              <a:srgbClr val="EC7061">
                <a:lumMod val="20000"/>
                <a:lumOff val="80000"/>
              </a:srgbClr>
            </a:solidFill>
            <a:ln w="19050">
              <a:solidFill>
                <a:sysClr val="window" lastClr="FFFFFF"/>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文本框 65"/>
            <p:cNvSpPr txBox="1"/>
            <p:nvPr/>
          </p:nvSpPr>
          <p:spPr bwMode="gray">
            <a:xfrm>
              <a:off x="4847787" y="5251537"/>
              <a:ext cx="2612794" cy="270377"/>
            </a:xfrm>
            <a:prstGeom prst="rect">
              <a:avLst/>
            </a:prstGeom>
            <a:solidFill>
              <a:srgbClr val="EC7061">
                <a:lumMod val="40000"/>
                <a:lumOff val="60000"/>
              </a:srgbClr>
            </a:solidFill>
            <a:ln w="19050">
              <a:solidFill>
                <a:srgbClr val="EC7061">
                  <a:lumMod val="60000"/>
                  <a:lumOff val="40000"/>
                </a:srgbClr>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BD 20</a:t>
              </a:r>
              <a:endPar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矩形 67"/>
            <p:cNvSpPr/>
            <p:nvPr/>
          </p:nvSpPr>
          <p:spPr bwMode="gray">
            <a:xfrm>
              <a:off x="5456971" y="5570313"/>
              <a:ext cx="1401346" cy="307777"/>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EVPN ERT 20:1</a:t>
              </a:r>
              <a:endParaRPr kumimoji="0" lang="en-US" altLang="zh-CN" sz="1400" b="0" i="0" u="none" strike="noStrike" kern="0" cap="none" spc="0" normalizeH="0" baseline="0" noProof="0" dirty="0">
                <a:ln>
                  <a:noFill/>
                </a:ln>
                <a:solidFill>
                  <a:srgbClr val="EC7061"/>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71" name="组合 70"/>
          <p:cNvGrpSpPr/>
          <p:nvPr/>
        </p:nvGrpSpPr>
        <p:grpSpPr bwMode="gray">
          <a:xfrm>
            <a:off x="6820488" y="2133292"/>
            <a:ext cx="2643988" cy="626554"/>
            <a:chOff x="4835645" y="5251537"/>
            <a:chExt cx="2643988" cy="626554"/>
          </a:xfrm>
        </p:grpSpPr>
        <p:sp>
          <p:nvSpPr>
            <p:cNvPr id="72" name="文本框 71"/>
            <p:cNvSpPr txBox="1"/>
            <p:nvPr/>
          </p:nvSpPr>
          <p:spPr bwMode="gray">
            <a:xfrm>
              <a:off x="4835645" y="5521915"/>
              <a:ext cx="2643988" cy="356176"/>
            </a:xfrm>
            <a:prstGeom prst="rect">
              <a:avLst/>
            </a:prstGeom>
            <a:solidFill>
              <a:srgbClr val="EC7061">
                <a:lumMod val="20000"/>
                <a:lumOff val="80000"/>
              </a:srgbClr>
            </a:solidFill>
            <a:ln w="19050">
              <a:solidFill>
                <a:sysClr val="window" lastClr="FFFFFF"/>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文本框 76"/>
            <p:cNvSpPr txBox="1"/>
            <p:nvPr/>
          </p:nvSpPr>
          <p:spPr bwMode="gray">
            <a:xfrm>
              <a:off x="4847787" y="5251537"/>
              <a:ext cx="2612794" cy="270377"/>
            </a:xfrm>
            <a:prstGeom prst="rect">
              <a:avLst/>
            </a:prstGeom>
            <a:solidFill>
              <a:srgbClr val="EC7061">
                <a:lumMod val="40000"/>
                <a:lumOff val="60000"/>
              </a:srgbClr>
            </a:solidFill>
            <a:ln w="19050">
              <a:solidFill>
                <a:srgbClr val="EC7061">
                  <a:lumMod val="60000"/>
                  <a:lumOff val="40000"/>
                </a:srgbClr>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BD 20</a:t>
              </a:r>
              <a:endPar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矩形 77"/>
            <p:cNvSpPr/>
            <p:nvPr/>
          </p:nvSpPr>
          <p:spPr bwMode="gray">
            <a:xfrm>
              <a:off x="5482619" y="5570313"/>
              <a:ext cx="1350050" cy="307777"/>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EVPN IRT 20:1</a:t>
              </a:r>
              <a:endParaRPr kumimoji="0" lang="en-US" altLang="zh-CN" sz="1400" b="0" i="0" u="none" strike="noStrike" kern="0" cap="none" spc="0" normalizeH="0" baseline="0" noProof="0" dirty="0">
                <a:ln>
                  <a:noFill/>
                </a:ln>
                <a:solidFill>
                  <a:srgbClr val="EC7061"/>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79" name="组合 78"/>
          <p:cNvGrpSpPr/>
          <p:nvPr/>
        </p:nvGrpSpPr>
        <p:grpSpPr bwMode="gray">
          <a:xfrm>
            <a:off x="6820488" y="2955174"/>
            <a:ext cx="2643988" cy="626554"/>
            <a:chOff x="4835645" y="5251537"/>
            <a:chExt cx="2643988" cy="626554"/>
          </a:xfrm>
        </p:grpSpPr>
        <p:sp>
          <p:nvSpPr>
            <p:cNvPr id="80" name="文本框 79"/>
            <p:cNvSpPr txBox="1"/>
            <p:nvPr/>
          </p:nvSpPr>
          <p:spPr bwMode="gray">
            <a:xfrm>
              <a:off x="4835645" y="5521915"/>
              <a:ext cx="2643988" cy="356176"/>
            </a:xfrm>
            <a:prstGeom prst="rect">
              <a:avLst/>
            </a:prstGeom>
            <a:solidFill>
              <a:srgbClr val="EC7061">
                <a:lumMod val="20000"/>
                <a:lumOff val="80000"/>
              </a:srgbClr>
            </a:solidFill>
            <a:ln w="19050">
              <a:solidFill>
                <a:sysClr val="window" lastClr="FFFFFF"/>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文本框 80"/>
            <p:cNvSpPr txBox="1"/>
            <p:nvPr/>
          </p:nvSpPr>
          <p:spPr bwMode="gray">
            <a:xfrm>
              <a:off x="4847787" y="5251537"/>
              <a:ext cx="2612794" cy="270377"/>
            </a:xfrm>
            <a:prstGeom prst="rect">
              <a:avLst/>
            </a:prstGeom>
            <a:solidFill>
              <a:srgbClr val="EC7061">
                <a:lumMod val="40000"/>
                <a:lumOff val="60000"/>
              </a:srgbClr>
            </a:solidFill>
            <a:ln w="19050">
              <a:solidFill>
                <a:srgbClr val="EC7061">
                  <a:lumMod val="60000"/>
                  <a:lumOff val="40000"/>
                </a:srgbClr>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VBDIF 20</a:t>
              </a:r>
              <a:endPar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矩形 81"/>
            <p:cNvSpPr/>
            <p:nvPr/>
          </p:nvSpPr>
          <p:spPr bwMode="gray">
            <a:xfrm>
              <a:off x="5424112" y="5570313"/>
              <a:ext cx="1467068" cy="307777"/>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 VPN IRT 20:1</a:t>
              </a:r>
              <a:endParaRPr kumimoji="0" lang="en-US" altLang="zh-CN" sz="1400" b="0" i="0" u="none" strike="noStrike" kern="0" cap="none" spc="0" normalizeH="0" baseline="0" noProof="0" dirty="0">
                <a:ln>
                  <a:noFill/>
                </a:ln>
                <a:solidFill>
                  <a:srgbClr val="EC7061"/>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83" name="矩形: 圆角 52">
            <a:extLst>
              <a:ext uri="{FF2B5EF4-FFF2-40B4-BE49-F238E27FC236}">
                <a16:creationId xmlns:a16="http://schemas.microsoft.com/office/drawing/2014/main" id="{70ADCB91-E11A-40F5-B977-66A090F8EF3C}"/>
              </a:ext>
            </a:extLst>
          </p:cNvPr>
          <p:cNvSpPr/>
          <p:nvPr/>
        </p:nvSpPr>
        <p:spPr bwMode="gray">
          <a:xfrm>
            <a:off x="6964608" y="5238909"/>
            <a:ext cx="1727325" cy="813062"/>
          </a:xfrm>
          <a:prstGeom prst="roundRect">
            <a:avLst>
              <a:gd name="adj" fmla="val 3125"/>
            </a:avLst>
          </a:prstGeom>
          <a:solidFill>
            <a:sysClr val="window" lastClr="FFFFFF"/>
          </a:solidFill>
          <a:ln w="19050" cap="flat" cmpd="sng" algn="ctr">
            <a:solidFill>
              <a:sysClr val="window" lastClr="FFFFFF">
                <a:lumMod val="7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799"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TextBox 120">
            <a:extLst>
              <a:ext uri="{FF2B5EF4-FFF2-40B4-BE49-F238E27FC236}">
                <a16:creationId xmlns:a16="http://schemas.microsoft.com/office/drawing/2014/main" id="{31930744-3D36-4F81-8426-6F129C1A6804}"/>
              </a:ext>
            </a:extLst>
          </p:cNvPr>
          <p:cNvSpPr txBox="1"/>
          <p:nvPr/>
        </p:nvSpPr>
        <p:spPr bwMode="gray">
          <a:xfrm>
            <a:off x="6964608" y="5744193"/>
            <a:ext cx="1727325"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BGP EVPN</a:t>
            </a:r>
            <a:r>
              <a:rPr kumimoji="0" lang="zh-CN" altLang="en-US" sz="1400" b="0" i="0" u="none" strike="noStrike" kern="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路由表</a:t>
            </a:r>
          </a:p>
        </p:txBody>
      </p:sp>
      <p:sp>
        <p:nvSpPr>
          <p:cNvPr id="95" name="矩形: 圆角 52">
            <a:extLst>
              <a:ext uri="{FF2B5EF4-FFF2-40B4-BE49-F238E27FC236}">
                <a16:creationId xmlns:a16="http://schemas.microsoft.com/office/drawing/2014/main" id="{70ADCB91-E11A-40F5-B977-66A090F8EF3C}"/>
              </a:ext>
            </a:extLst>
          </p:cNvPr>
          <p:cNvSpPr/>
          <p:nvPr/>
        </p:nvSpPr>
        <p:spPr bwMode="gray">
          <a:xfrm>
            <a:off x="9405119" y="5238909"/>
            <a:ext cx="1727325" cy="813062"/>
          </a:xfrm>
          <a:prstGeom prst="roundRect">
            <a:avLst>
              <a:gd name="adj" fmla="val 3125"/>
            </a:avLst>
          </a:prstGeom>
          <a:solidFill>
            <a:sysClr val="window" lastClr="FFFFFF"/>
          </a:solidFill>
          <a:ln w="19050" cap="flat" cmpd="sng" algn="ctr">
            <a:solidFill>
              <a:sysClr val="window" lastClr="FFFFFF">
                <a:lumMod val="7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799"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TextBox 120">
            <a:extLst>
              <a:ext uri="{FF2B5EF4-FFF2-40B4-BE49-F238E27FC236}">
                <a16:creationId xmlns:a16="http://schemas.microsoft.com/office/drawing/2014/main" id="{31930744-3D36-4F81-8426-6F129C1A6804}"/>
              </a:ext>
            </a:extLst>
          </p:cNvPr>
          <p:cNvSpPr txBox="1"/>
          <p:nvPr/>
        </p:nvSpPr>
        <p:spPr bwMode="gray">
          <a:xfrm>
            <a:off x="9405119" y="5744193"/>
            <a:ext cx="1727325"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 VPN</a:t>
            </a:r>
            <a:r>
              <a:rPr kumimoji="0" lang="zh-CN" altLang="en-US" sz="1400" b="0" i="0" u="none" strike="noStrike" kern="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路由表</a:t>
            </a:r>
          </a:p>
        </p:txBody>
      </p:sp>
      <p:sp>
        <p:nvSpPr>
          <p:cNvPr id="99" name="文本框 98"/>
          <p:cNvSpPr txBox="1"/>
          <p:nvPr/>
        </p:nvSpPr>
        <p:spPr bwMode="gray">
          <a:xfrm>
            <a:off x="5677292" y="4151191"/>
            <a:ext cx="1409309" cy="270377"/>
          </a:xfrm>
          <a:prstGeom prst="rect">
            <a:avLst/>
          </a:prstGeom>
          <a:solidFill>
            <a:srgbClr val="EC7061">
              <a:lumMod val="40000"/>
              <a:lumOff val="60000"/>
            </a:srgbClr>
          </a:solidFill>
          <a:ln w="19050">
            <a:solidFill>
              <a:srgbClr val="EC7061">
                <a:lumMod val="60000"/>
                <a:lumOff val="40000"/>
              </a:srgbClr>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EVPN </a:t>
            </a: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路由</a:t>
            </a:r>
          </a:p>
        </p:txBody>
      </p:sp>
      <p:sp>
        <p:nvSpPr>
          <p:cNvPr id="100" name="椭圆 99"/>
          <p:cNvSpPr>
            <a:spLocks noChangeAspect="1"/>
          </p:cNvSpPr>
          <p:nvPr/>
        </p:nvSpPr>
        <p:spPr bwMode="gray">
          <a:xfrm>
            <a:off x="3039333" y="2314597"/>
            <a:ext cx="232480" cy="232480"/>
          </a:xfrm>
          <a:prstGeom prst="ellipse">
            <a:avLst/>
          </a:prstGeom>
          <a:solidFill>
            <a:srgbClr val="EC7061">
              <a:lumMod val="100000"/>
            </a:srgbClr>
          </a:solidFill>
          <a:ln w="19050" cap="flat" cmpd="sng" algn="ctr">
            <a:no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椭圆 100"/>
          <p:cNvSpPr>
            <a:spLocks noChangeAspect="1"/>
          </p:cNvSpPr>
          <p:nvPr/>
        </p:nvSpPr>
        <p:spPr bwMode="gray">
          <a:xfrm>
            <a:off x="9559724" y="4322262"/>
            <a:ext cx="232480" cy="232480"/>
          </a:xfrm>
          <a:prstGeom prst="ellipse">
            <a:avLst/>
          </a:prstGeom>
          <a:solidFill>
            <a:srgbClr val="EC7061">
              <a:lumMod val="100000"/>
            </a:srgbClr>
          </a:solidFill>
          <a:ln w="19050" cap="flat" cmpd="sng" algn="ctr">
            <a:no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3</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文本框 101"/>
          <p:cNvSpPr txBox="1"/>
          <p:nvPr/>
        </p:nvSpPr>
        <p:spPr bwMode="gray">
          <a:xfrm>
            <a:off x="9564127" y="5384692"/>
            <a:ext cx="1409309" cy="270377"/>
          </a:xfrm>
          <a:prstGeom prst="rect">
            <a:avLst/>
          </a:prstGeom>
          <a:solidFill>
            <a:srgbClr val="EC7061">
              <a:lumMod val="40000"/>
              <a:lumOff val="60000"/>
            </a:srgbClr>
          </a:solidFill>
          <a:ln w="19050">
            <a:solidFill>
              <a:srgbClr val="EC7061">
                <a:lumMod val="60000"/>
                <a:lumOff val="40000"/>
              </a:srgbClr>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主机</a:t>
            </a: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a:t>
            </a: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路由</a:t>
            </a:r>
          </a:p>
        </p:txBody>
      </p:sp>
      <p:sp>
        <p:nvSpPr>
          <p:cNvPr id="103" name="文本框 102"/>
          <p:cNvSpPr txBox="1"/>
          <p:nvPr/>
        </p:nvSpPr>
        <p:spPr bwMode="gray">
          <a:xfrm>
            <a:off x="7123616" y="5384692"/>
            <a:ext cx="1409309" cy="270377"/>
          </a:xfrm>
          <a:prstGeom prst="rect">
            <a:avLst/>
          </a:prstGeom>
          <a:solidFill>
            <a:srgbClr val="EC7061">
              <a:lumMod val="40000"/>
              <a:lumOff val="60000"/>
            </a:srgbClr>
          </a:solidFill>
          <a:ln w="19050">
            <a:solidFill>
              <a:srgbClr val="EC7061">
                <a:lumMod val="60000"/>
                <a:lumOff val="40000"/>
              </a:srgbClr>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EVPN </a:t>
            </a: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路由</a:t>
            </a:r>
          </a:p>
        </p:txBody>
      </p:sp>
      <p:sp>
        <p:nvSpPr>
          <p:cNvPr id="104" name="椭圆 4"/>
          <p:cNvSpPr/>
          <p:nvPr/>
        </p:nvSpPr>
        <p:spPr bwMode="gray">
          <a:xfrm rot="10800000">
            <a:off x="7128111" y="4322262"/>
            <a:ext cx="804307" cy="1062430"/>
          </a:xfrm>
          <a:custGeom>
            <a:avLst/>
            <a:gdLst>
              <a:gd name="connsiteX0" fmla="*/ 0 w 1579418"/>
              <a:gd name="connsiteY0" fmla="*/ 789709 h 1579418"/>
              <a:gd name="connsiteX1" fmla="*/ 789709 w 1579418"/>
              <a:gd name="connsiteY1" fmla="*/ 0 h 1579418"/>
              <a:gd name="connsiteX2" fmla="*/ 1579418 w 1579418"/>
              <a:gd name="connsiteY2" fmla="*/ 789709 h 1579418"/>
              <a:gd name="connsiteX3" fmla="*/ 789709 w 1579418"/>
              <a:gd name="connsiteY3" fmla="*/ 1579418 h 1579418"/>
              <a:gd name="connsiteX4" fmla="*/ 0 w 1579418"/>
              <a:gd name="connsiteY4" fmla="*/ 789709 h 1579418"/>
              <a:gd name="connsiteX0" fmla="*/ 0 w 1601370"/>
              <a:gd name="connsiteY0" fmla="*/ 98714 h 888423"/>
              <a:gd name="connsiteX1" fmla="*/ 1579418 w 1601370"/>
              <a:gd name="connsiteY1" fmla="*/ 98714 h 888423"/>
              <a:gd name="connsiteX2" fmla="*/ 789709 w 1601370"/>
              <a:gd name="connsiteY2" fmla="*/ 888423 h 888423"/>
              <a:gd name="connsiteX3" fmla="*/ 0 w 1601370"/>
              <a:gd name="connsiteY3" fmla="*/ 98714 h 888423"/>
              <a:gd name="connsiteX0" fmla="*/ 0 w 789709"/>
              <a:gd name="connsiteY0" fmla="*/ 0 h 789709"/>
              <a:gd name="connsiteX1" fmla="*/ 789709 w 789709"/>
              <a:gd name="connsiteY1" fmla="*/ 789709 h 789709"/>
              <a:gd name="connsiteX2" fmla="*/ 0 w 789709"/>
              <a:gd name="connsiteY2" fmla="*/ 0 h 789709"/>
              <a:gd name="connsiteX0" fmla="*/ 789709 w 881149"/>
              <a:gd name="connsiteY0" fmla="*/ 789709 h 881149"/>
              <a:gd name="connsiteX1" fmla="*/ 0 w 881149"/>
              <a:gd name="connsiteY1" fmla="*/ 0 h 881149"/>
              <a:gd name="connsiteX2" fmla="*/ 881149 w 881149"/>
              <a:gd name="connsiteY2" fmla="*/ 881149 h 881149"/>
              <a:gd name="connsiteX0" fmla="*/ 789709 w 789709"/>
              <a:gd name="connsiteY0" fmla="*/ 789709 h 789709"/>
              <a:gd name="connsiteX1" fmla="*/ 0 w 789709"/>
              <a:gd name="connsiteY1" fmla="*/ 0 h 789709"/>
            </a:gdLst>
            <a:ahLst/>
            <a:cxnLst>
              <a:cxn ang="0">
                <a:pos x="connsiteX0" y="connsiteY0"/>
              </a:cxn>
              <a:cxn ang="0">
                <a:pos x="connsiteX1" y="connsiteY1"/>
              </a:cxn>
            </a:cxnLst>
            <a:rect l="l" t="t" r="r" b="b"/>
            <a:pathLst>
              <a:path w="789709" h="789709">
                <a:moveTo>
                  <a:pt x="789709" y="789709"/>
                </a:moveTo>
                <a:cubicBezTo>
                  <a:pt x="353565" y="789709"/>
                  <a:pt x="0" y="436144"/>
                  <a:pt x="0" y="0"/>
                </a:cubicBezTo>
              </a:path>
            </a:pathLst>
          </a:custGeom>
          <a:noFill/>
          <a:ln w="19050" cap="flat" cmpd="sng" algn="ctr">
            <a:solidFill>
              <a:srgbClr val="F7C6C0"/>
            </a:soli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椭圆 4"/>
          <p:cNvSpPr/>
          <p:nvPr/>
        </p:nvSpPr>
        <p:spPr bwMode="gray">
          <a:xfrm rot="10800000">
            <a:off x="7128112" y="4322262"/>
            <a:ext cx="3140669" cy="1062430"/>
          </a:xfrm>
          <a:custGeom>
            <a:avLst/>
            <a:gdLst>
              <a:gd name="connsiteX0" fmla="*/ 0 w 1579418"/>
              <a:gd name="connsiteY0" fmla="*/ 789709 h 1579418"/>
              <a:gd name="connsiteX1" fmla="*/ 789709 w 1579418"/>
              <a:gd name="connsiteY1" fmla="*/ 0 h 1579418"/>
              <a:gd name="connsiteX2" fmla="*/ 1579418 w 1579418"/>
              <a:gd name="connsiteY2" fmla="*/ 789709 h 1579418"/>
              <a:gd name="connsiteX3" fmla="*/ 789709 w 1579418"/>
              <a:gd name="connsiteY3" fmla="*/ 1579418 h 1579418"/>
              <a:gd name="connsiteX4" fmla="*/ 0 w 1579418"/>
              <a:gd name="connsiteY4" fmla="*/ 789709 h 1579418"/>
              <a:gd name="connsiteX0" fmla="*/ 0 w 1601370"/>
              <a:gd name="connsiteY0" fmla="*/ 98714 h 888423"/>
              <a:gd name="connsiteX1" fmla="*/ 1579418 w 1601370"/>
              <a:gd name="connsiteY1" fmla="*/ 98714 h 888423"/>
              <a:gd name="connsiteX2" fmla="*/ 789709 w 1601370"/>
              <a:gd name="connsiteY2" fmla="*/ 888423 h 888423"/>
              <a:gd name="connsiteX3" fmla="*/ 0 w 1601370"/>
              <a:gd name="connsiteY3" fmla="*/ 98714 h 888423"/>
              <a:gd name="connsiteX0" fmla="*/ 0 w 789709"/>
              <a:gd name="connsiteY0" fmla="*/ 0 h 789709"/>
              <a:gd name="connsiteX1" fmla="*/ 789709 w 789709"/>
              <a:gd name="connsiteY1" fmla="*/ 789709 h 789709"/>
              <a:gd name="connsiteX2" fmla="*/ 0 w 789709"/>
              <a:gd name="connsiteY2" fmla="*/ 0 h 789709"/>
              <a:gd name="connsiteX0" fmla="*/ 789709 w 881149"/>
              <a:gd name="connsiteY0" fmla="*/ 789709 h 881149"/>
              <a:gd name="connsiteX1" fmla="*/ 0 w 881149"/>
              <a:gd name="connsiteY1" fmla="*/ 0 h 881149"/>
              <a:gd name="connsiteX2" fmla="*/ 881149 w 881149"/>
              <a:gd name="connsiteY2" fmla="*/ 881149 h 881149"/>
              <a:gd name="connsiteX0" fmla="*/ 789709 w 789709"/>
              <a:gd name="connsiteY0" fmla="*/ 789709 h 789709"/>
              <a:gd name="connsiteX1" fmla="*/ 0 w 789709"/>
              <a:gd name="connsiteY1" fmla="*/ 0 h 789709"/>
            </a:gdLst>
            <a:ahLst/>
            <a:cxnLst>
              <a:cxn ang="0">
                <a:pos x="connsiteX0" y="connsiteY0"/>
              </a:cxn>
              <a:cxn ang="0">
                <a:pos x="connsiteX1" y="connsiteY1"/>
              </a:cxn>
            </a:cxnLst>
            <a:rect l="l" t="t" r="r" b="b"/>
            <a:pathLst>
              <a:path w="789709" h="789709">
                <a:moveTo>
                  <a:pt x="789709" y="789709"/>
                </a:moveTo>
                <a:cubicBezTo>
                  <a:pt x="353565" y="789709"/>
                  <a:pt x="0" y="436144"/>
                  <a:pt x="0" y="0"/>
                </a:cubicBezTo>
              </a:path>
            </a:pathLst>
          </a:custGeom>
          <a:noFill/>
          <a:ln w="19050" cap="flat" cmpd="sng" algn="ctr">
            <a:solidFill>
              <a:srgbClr val="F7C6C0"/>
            </a:soli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文本占位符 2"/>
          <p:cNvSpPr txBox="1">
            <a:spLocks/>
          </p:cNvSpPr>
          <p:nvPr/>
        </p:nvSpPr>
        <p:spPr bwMode="gray">
          <a:xfrm>
            <a:off x="9846212" y="4214673"/>
            <a:ext cx="1782695" cy="656531"/>
          </a:xfrm>
          <a:prstGeom prst="rect">
            <a:avLst/>
          </a:prstGeom>
          <a:noFill/>
          <a:ln w="9525">
            <a:noFill/>
            <a:miter lim="800000"/>
            <a:headEnd/>
            <a:tailEnd/>
          </a:ln>
        </p:spPr>
        <p:txBody>
          <a:bodyPr vert="horz" wrap="square" lIns="80141" tIns="40071" rIns="80141" bIns="40071" numCol="1" anchor="t" anchorCtr="0" compatLnSpc="1">
            <a:prstTxWarp prst="textNoShape">
              <a:avLst/>
            </a:prstTxWarp>
            <a:spAutoFit/>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marR="0" lvl="0" indent="0" algn="l" defTabSz="914034" rtl="0" eaLnBrk="1" fontAlgn="auto" latinLnBrk="0" hangingPunct="1">
              <a:lnSpc>
                <a:spcPct val="140000"/>
              </a:lnSpc>
              <a:spcBef>
                <a:spcPts val="792"/>
              </a:spcBef>
              <a:spcAft>
                <a:spcPts val="0"/>
              </a:spcAft>
              <a:buClrTx/>
              <a:buSzTx/>
              <a:buFont typeface="Arial" panose="020B0604020202020204" pitchFamily="34" charset="0"/>
              <a:buNone/>
              <a:tabLst/>
              <a:defRPr/>
            </a:pP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路由携带</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RT</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与</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 VPN</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实例</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IRT</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相同</a:t>
            </a:r>
          </a:p>
        </p:txBody>
      </p:sp>
      <p:sp>
        <p:nvSpPr>
          <p:cNvPr id="107" name="椭圆 106"/>
          <p:cNvSpPr>
            <a:spLocks noChangeAspect="1"/>
          </p:cNvSpPr>
          <p:nvPr/>
        </p:nvSpPr>
        <p:spPr bwMode="gray">
          <a:xfrm>
            <a:off x="5876645" y="4614764"/>
            <a:ext cx="232480" cy="232480"/>
          </a:xfrm>
          <a:prstGeom prst="ellipse">
            <a:avLst/>
          </a:prstGeom>
          <a:solidFill>
            <a:srgbClr val="EC7061">
              <a:lumMod val="100000"/>
            </a:srgbClr>
          </a:solidFill>
          <a:ln w="19050" cap="flat" cmpd="sng" algn="ctr">
            <a:no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文本占位符 2"/>
          <p:cNvSpPr txBox="1">
            <a:spLocks/>
          </p:cNvSpPr>
          <p:nvPr/>
        </p:nvSpPr>
        <p:spPr bwMode="gray">
          <a:xfrm>
            <a:off x="6163133" y="4507175"/>
            <a:ext cx="1602949" cy="656531"/>
          </a:xfrm>
          <a:prstGeom prst="rect">
            <a:avLst/>
          </a:prstGeom>
          <a:noFill/>
          <a:ln w="9525">
            <a:noFill/>
            <a:miter lim="800000"/>
            <a:headEnd/>
            <a:tailEnd/>
          </a:ln>
        </p:spPr>
        <p:txBody>
          <a:bodyPr vert="horz" wrap="square" lIns="80141" tIns="40071" rIns="80141" bIns="40071" numCol="1" anchor="t" anchorCtr="0" compatLnSpc="1">
            <a:prstTxWarp prst="textNoShape">
              <a:avLst/>
            </a:prstTxWarp>
            <a:spAutoFit/>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marR="0" lvl="0" indent="0" algn="l" defTabSz="914034" rtl="0" eaLnBrk="1" fontAlgn="auto" latinLnBrk="0" hangingPunct="1">
              <a:lnSpc>
                <a:spcPct val="140000"/>
              </a:lnSpc>
              <a:spcBef>
                <a:spcPts val="792"/>
              </a:spcBef>
              <a:spcAft>
                <a:spcPts val="0"/>
              </a:spcAft>
              <a:buClrTx/>
              <a:buSzTx/>
              <a:buFont typeface="Arial" panose="020B0604020202020204" pitchFamily="34" charset="0"/>
              <a:buNone/>
              <a:tabLst/>
              <a:defRPr/>
            </a:pP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路由携带</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RT</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与</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EVPN</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实例</a:t>
            </a:r>
            <a:r>
              <a:rPr kumimoji="0" lang="en-US" altLang="zh-CN"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IRT</a:t>
            </a:r>
            <a:r>
              <a:rPr kumimoji="0" lang="zh-CN" altLang="en-US" sz="1400" b="0" i="0" u="none" strike="noStrike" kern="120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相同</a:t>
            </a:r>
          </a:p>
        </p:txBody>
      </p:sp>
      <p:sp>
        <p:nvSpPr>
          <p:cNvPr id="48" name="圆角矩形 47"/>
          <p:cNvSpPr/>
          <p:nvPr/>
        </p:nvSpPr>
        <p:spPr bwMode="gray">
          <a:xfrm>
            <a:off x="711404" y="5943600"/>
            <a:ext cx="1474584" cy="257175"/>
          </a:xfrm>
          <a:prstGeom prst="roundRect">
            <a:avLst/>
          </a:prstGeom>
          <a:solidFill>
            <a:schemeClr val="bg1">
              <a:lumMod val="7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地址通告</a:t>
            </a:r>
          </a:p>
        </p:txBody>
      </p:sp>
      <p:sp>
        <p:nvSpPr>
          <p:cNvPr id="49" name="圆角矩形 48"/>
          <p:cNvSpPr/>
          <p:nvPr/>
        </p:nvSpPr>
        <p:spPr bwMode="gray">
          <a:xfrm>
            <a:off x="2185988" y="5943600"/>
            <a:ext cx="1474584" cy="257175"/>
          </a:xfrm>
          <a:prstGeom prst="roundRect">
            <a:avLst/>
          </a:prstGeom>
          <a:solidFill>
            <a:schemeClr val="bg1">
              <a:lumMod val="7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通告</a:t>
            </a:r>
          </a:p>
        </p:txBody>
      </p:sp>
      <p:sp>
        <p:nvSpPr>
          <p:cNvPr id="67" name="圆角矩形 66"/>
          <p:cNvSpPr/>
          <p:nvPr/>
        </p:nvSpPr>
        <p:spPr bwMode="gray">
          <a:xfrm>
            <a:off x="3673695" y="5943600"/>
            <a:ext cx="1474584" cy="257175"/>
          </a:xfrm>
          <a:prstGeom prst="roundRect">
            <a:avLst/>
          </a:prstGeom>
          <a:solidFill>
            <a:srgbClr val="AFD89C"/>
          </a:solid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路由通告</a:t>
            </a:r>
          </a:p>
        </p:txBody>
      </p:sp>
      <p:sp>
        <p:nvSpPr>
          <p:cNvPr id="69" name="五边形 24">
            <a:extLst>
              <a:ext uri="{FF2B5EF4-FFF2-40B4-BE49-F238E27FC236}">
                <a16:creationId xmlns:a16="http://schemas.microsoft.com/office/drawing/2014/main" id="{66BA07AD-FEEF-4CB3-8D55-B5A235B0FBAC}"/>
              </a:ext>
            </a:extLst>
          </p:cNvPr>
          <p:cNvSpPr/>
          <p:nvPr/>
        </p:nvSpPr>
        <p:spPr bwMode="gray">
          <a:xfrm>
            <a:off x="8632180" y="124239"/>
            <a:ext cx="108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Type 2</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燕尾形 26">
            <a:extLst>
              <a:ext uri="{FF2B5EF4-FFF2-40B4-BE49-F238E27FC236}">
                <a16:creationId xmlns:a16="http://schemas.microsoft.com/office/drawing/2014/main" id="{0C19331F-8FCC-488E-9C32-A3F774208D1E}"/>
              </a:ext>
            </a:extLst>
          </p:cNvPr>
          <p:cNvSpPr/>
          <p:nvPr/>
        </p:nvSpPr>
        <p:spPr bwMode="gray">
          <a:xfrm>
            <a:off x="10629668"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5</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p>
        </p:txBody>
      </p:sp>
      <p:sp>
        <p:nvSpPr>
          <p:cNvPr id="73" name="燕尾形 26">
            <a:extLst>
              <a:ext uri="{FF2B5EF4-FFF2-40B4-BE49-F238E27FC236}">
                <a16:creationId xmlns:a16="http://schemas.microsoft.com/office/drawing/2014/main" id="{5C797163-D6D3-4ACC-996D-421D87F18D19}"/>
              </a:ext>
            </a:extLst>
          </p:cNvPr>
          <p:cNvSpPr/>
          <p:nvPr/>
        </p:nvSpPr>
        <p:spPr bwMode="gray">
          <a:xfrm>
            <a:off x="9630924"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3</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8618998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sym typeface="Huawei Sans" panose="020C0503030203020204" pitchFamily="34" charset="0"/>
              </a:rPr>
              <a:t>对称</a:t>
            </a:r>
            <a:r>
              <a:rPr lang="en-US" altLang="zh-CN" dirty="0">
                <a:sym typeface="Huawei Sans" panose="020C0503030203020204" pitchFamily="34" charset="0"/>
              </a:rPr>
              <a:t>IRB</a:t>
            </a:r>
            <a:r>
              <a:rPr lang="zh-CN" altLang="en-US" dirty="0">
                <a:sym typeface="Huawei Sans" panose="020C0503030203020204" pitchFamily="34" charset="0"/>
              </a:rPr>
              <a:t>转发：主机</a:t>
            </a:r>
            <a:r>
              <a:rPr lang="en-US" altLang="zh-CN" dirty="0">
                <a:sym typeface="Huawei Sans" panose="020C0503030203020204" pitchFamily="34" charset="0"/>
              </a:rPr>
              <a:t>IP</a:t>
            </a:r>
            <a:r>
              <a:rPr lang="zh-CN" altLang="en-US" dirty="0">
                <a:sym typeface="Huawei Sans" panose="020C0503030203020204" pitchFamily="34" charset="0"/>
              </a:rPr>
              <a:t>路由通告 </a:t>
            </a:r>
            <a:r>
              <a:rPr lang="en-US" altLang="zh-CN" dirty="0">
                <a:sym typeface="Huawei Sans" panose="020C0503030203020204" pitchFamily="34" charset="0"/>
              </a:rPr>
              <a:t>(IRB</a:t>
            </a:r>
            <a:r>
              <a:rPr lang="zh-CN" altLang="en-US" dirty="0">
                <a:sym typeface="Huawei Sans" panose="020C0503030203020204" pitchFamily="34" charset="0"/>
              </a:rPr>
              <a:t>路由</a:t>
            </a:r>
            <a:r>
              <a:rPr lang="en-US" altLang="zh-CN" dirty="0">
                <a:sym typeface="Huawei Sans" panose="020C0503030203020204" pitchFamily="34" charset="0"/>
              </a:rPr>
              <a:t>)</a:t>
            </a:r>
            <a:endParaRPr lang="zh-CN" altLang="en-US" dirty="0">
              <a:sym typeface="Huawei Sans" panose="020C0503030203020204" pitchFamily="34" charset="0"/>
            </a:endParaRPr>
          </a:p>
        </p:txBody>
      </p:sp>
      <p:cxnSp>
        <p:nvCxnSpPr>
          <p:cNvPr id="42" name="直接连接符 41"/>
          <p:cNvCxnSpPr/>
          <p:nvPr/>
        </p:nvCxnSpPr>
        <p:spPr bwMode="gray">
          <a:xfrm flipH="1">
            <a:off x="4277181" y="3918932"/>
            <a:ext cx="898719" cy="0"/>
          </a:xfrm>
          <a:prstGeom prst="line">
            <a:avLst/>
          </a:prstGeom>
          <a:ln w="38100">
            <a:solidFill>
              <a:srgbClr val="EC706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bwMode="gray">
          <a:xfrm>
            <a:off x="8866681" y="2192332"/>
            <a:ext cx="151841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5" name="组合 44"/>
          <p:cNvGrpSpPr/>
          <p:nvPr/>
        </p:nvGrpSpPr>
        <p:grpSpPr bwMode="gray">
          <a:xfrm>
            <a:off x="3292197" y="1760284"/>
            <a:ext cx="442385" cy="432048"/>
            <a:chOff x="1194287" y="4005064"/>
            <a:chExt cx="442385" cy="432048"/>
          </a:xfrm>
        </p:grpSpPr>
        <p:cxnSp>
          <p:nvCxnSpPr>
            <p:cNvPr id="46" name="直接连接符 45"/>
            <p:cNvCxnSpPr/>
            <p:nvPr/>
          </p:nvCxnSpPr>
          <p:spPr bwMode="gray">
            <a:xfrm flipV="1">
              <a:off x="1415479" y="400506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bwMode="gray">
            <a:xfrm>
              <a:off x="1194287" y="400506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8" name="矩形 47"/>
          <p:cNvSpPr/>
          <p:nvPr/>
        </p:nvSpPr>
        <p:spPr bwMode="gray">
          <a:xfrm>
            <a:off x="2766230" y="2362772"/>
            <a:ext cx="1494320"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矩形 48"/>
          <p:cNvSpPr/>
          <p:nvPr/>
        </p:nvSpPr>
        <p:spPr bwMode="gray">
          <a:xfrm>
            <a:off x="2857602" y="1438797"/>
            <a:ext cx="1311576"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VTEP1</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1.1.1.1</a:t>
            </a:r>
          </a:p>
        </p:txBody>
      </p:sp>
      <p:grpSp>
        <p:nvGrpSpPr>
          <p:cNvPr id="50" name="组合 49"/>
          <p:cNvGrpSpPr/>
          <p:nvPr/>
        </p:nvGrpSpPr>
        <p:grpSpPr bwMode="gray">
          <a:xfrm>
            <a:off x="8657669" y="1760284"/>
            <a:ext cx="442385" cy="432048"/>
            <a:chOff x="1194287" y="4005064"/>
            <a:chExt cx="442385" cy="432048"/>
          </a:xfrm>
        </p:grpSpPr>
        <p:cxnSp>
          <p:nvCxnSpPr>
            <p:cNvPr id="51" name="直接连接符 50"/>
            <p:cNvCxnSpPr/>
            <p:nvPr/>
          </p:nvCxnSpPr>
          <p:spPr bwMode="gray">
            <a:xfrm flipV="1">
              <a:off x="1415479" y="400506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bwMode="gray">
            <a:xfrm>
              <a:off x="1194287" y="400506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3" name="矩形 52"/>
          <p:cNvSpPr/>
          <p:nvPr/>
        </p:nvSpPr>
        <p:spPr bwMode="gray">
          <a:xfrm>
            <a:off x="8131702" y="2362772"/>
            <a:ext cx="1494320"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矩形 53"/>
          <p:cNvSpPr/>
          <p:nvPr/>
        </p:nvSpPr>
        <p:spPr bwMode="gray">
          <a:xfrm>
            <a:off x="7920911" y="1238772"/>
            <a:ext cx="1915909"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VTEP2</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2.2.2.2</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Router 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B</a:t>
            </a:r>
          </a:p>
        </p:txBody>
      </p:sp>
      <p:sp>
        <p:nvSpPr>
          <p:cNvPr id="63" name="圆柱形 62"/>
          <p:cNvSpPr/>
          <p:nvPr/>
        </p:nvSpPr>
        <p:spPr bwMode="gray">
          <a:xfrm rot="16200000">
            <a:off x="6059575" y="-632527"/>
            <a:ext cx="242039" cy="5640344"/>
          </a:xfrm>
          <a:prstGeom prst="can">
            <a:avLst>
              <a:gd name="adj" fmla="val 72803"/>
            </a:avLst>
          </a:prstGeom>
          <a:solidFill>
            <a:srgbClr val="EC7061"/>
          </a:solidFill>
          <a:ln w="12700" cap="flat" cmpd="sng" algn="ctr">
            <a:solidFill>
              <a:sysClr val="window" lastClr="FFFFF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999">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矩形 63"/>
          <p:cNvSpPr/>
          <p:nvPr/>
        </p:nvSpPr>
        <p:spPr bwMode="gray">
          <a:xfrm>
            <a:off x="5609765" y="2044754"/>
            <a:ext cx="1141659" cy="307777"/>
          </a:xfrm>
          <a:prstGeom prst="rect">
            <a:avLst/>
          </a:prstGeom>
        </p:spPr>
        <p:txBody>
          <a:bodyPr wrap="none">
            <a:spAutoFit/>
          </a:bodyPr>
          <a:lstStyle/>
          <a:p>
            <a:pPr algn="just"/>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a:t>
            </a:r>
          </a:p>
        </p:txBody>
      </p:sp>
      <p:sp>
        <p:nvSpPr>
          <p:cNvPr id="65" name="矩形 64"/>
          <p:cNvSpPr/>
          <p:nvPr/>
        </p:nvSpPr>
        <p:spPr bwMode="gray">
          <a:xfrm>
            <a:off x="827984" y="2489370"/>
            <a:ext cx="1667444"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PC1 </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172.16.2.1/24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D</a:t>
            </a:r>
          </a:p>
        </p:txBody>
      </p:sp>
      <p:cxnSp>
        <p:nvCxnSpPr>
          <p:cNvPr id="66" name="直接连接符 65"/>
          <p:cNvCxnSpPr/>
          <p:nvPr/>
        </p:nvCxnSpPr>
        <p:spPr bwMode="gray">
          <a:xfrm>
            <a:off x="1883818" y="2192332"/>
            <a:ext cx="137816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矩形 66"/>
          <p:cNvSpPr/>
          <p:nvPr/>
        </p:nvSpPr>
        <p:spPr bwMode="gray">
          <a:xfrm>
            <a:off x="9866526" y="2489370"/>
            <a:ext cx="1667444"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PC2 </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172.16.1.2/24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A</a:t>
            </a:r>
          </a:p>
        </p:txBody>
      </p:sp>
      <p:pic>
        <p:nvPicPr>
          <p:cNvPr id="73" name="图片 87" descr="汇聚交换机.png"/>
          <p:cNvPicPr>
            <a:picLocks noChangeAspect="1"/>
          </p:cNvPicPr>
          <p:nvPr/>
        </p:nvPicPr>
        <p:blipFill>
          <a:blip r:embed="rId3"/>
          <a:stretch>
            <a:fillRect/>
          </a:stretch>
        </p:blipFill>
        <p:spPr bwMode="gray">
          <a:xfrm>
            <a:off x="3261980" y="1951372"/>
            <a:ext cx="502820" cy="411400"/>
          </a:xfrm>
          <a:prstGeom prst="rect">
            <a:avLst/>
          </a:prstGeom>
        </p:spPr>
      </p:pic>
      <p:pic>
        <p:nvPicPr>
          <p:cNvPr id="79" name="图片 87" descr="汇聚交换机.png"/>
          <p:cNvPicPr>
            <a:picLocks noChangeAspect="1"/>
          </p:cNvPicPr>
          <p:nvPr/>
        </p:nvPicPr>
        <p:blipFill>
          <a:blip r:embed="rId3"/>
          <a:stretch>
            <a:fillRect/>
          </a:stretch>
        </p:blipFill>
        <p:spPr bwMode="gray">
          <a:xfrm>
            <a:off x="8645295" y="1951372"/>
            <a:ext cx="502820" cy="411400"/>
          </a:xfrm>
          <a:prstGeom prst="rect">
            <a:avLst/>
          </a:prstGeom>
        </p:spPr>
      </p:pic>
      <p:pic>
        <p:nvPicPr>
          <p:cNvPr id="80" name="图片 11" descr="开放网络-蓝.png"/>
          <p:cNvPicPr>
            <a:picLocks noChangeAspect="1"/>
          </p:cNvPicPr>
          <p:nvPr/>
        </p:nvPicPr>
        <p:blipFill>
          <a:blip r:embed="rId4" cstate="print"/>
          <a:stretch>
            <a:fillRect/>
          </a:stretch>
        </p:blipFill>
        <p:spPr bwMode="gray">
          <a:xfrm>
            <a:off x="1438727" y="2026997"/>
            <a:ext cx="445956" cy="343290"/>
          </a:xfrm>
          <a:prstGeom prst="rect">
            <a:avLst/>
          </a:prstGeom>
        </p:spPr>
      </p:pic>
      <p:pic>
        <p:nvPicPr>
          <p:cNvPr id="83" name="图片 11" descr="开放网络-蓝.png"/>
          <p:cNvPicPr>
            <a:picLocks noChangeAspect="1"/>
          </p:cNvPicPr>
          <p:nvPr/>
        </p:nvPicPr>
        <p:blipFill>
          <a:blip r:embed="rId4" cstate="print"/>
          <a:stretch>
            <a:fillRect/>
          </a:stretch>
        </p:blipFill>
        <p:spPr bwMode="gray">
          <a:xfrm>
            <a:off x="10385093" y="2026997"/>
            <a:ext cx="445956" cy="343290"/>
          </a:xfrm>
          <a:prstGeom prst="rect">
            <a:avLst/>
          </a:prstGeom>
        </p:spPr>
      </p:pic>
      <p:sp>
        <p:nvSpPr>
          <p:cNvPr id="84" name="椭圆 83"/>
          <p:cNvSpPr>
            <a:spLocks noChangeAspect="1"/>
          </p:cNvSpPr>
          <p:nvPr/>
        </p:nvSpPr>
        <p:spPr bwMode="gray">
          <a:xfrm>
            <a:off x="10552806" y="3062504"/>
            <a:ext cx="232480" cy="232480"/>
          </a:xfrm>
          <a:prstGeom prst="ellipse">
            <a:avLst/>
          </a:prstGeom>
          <a:solidFill>
            <a:srgbClr val="EC7061">
              <a:lumMod val="100000"/>
            </a:srgbClr>
          </a:solidFill>
          <a:ln w="19050" cap="flat" cmpd="sng" algn="ctr">
            <a:noFill/>
            <a:prstDash val="solid"/>
            <a:miter lim="800000"/>
          </a:ln>
          <a:effectLst/>
        </p:spPr>
        <p:txBody>
          <a:bodyPr wrap="none" lIns="0" tIns="0" rIns="0" bIns="0" rtlCol="0" anchor="ctr"/>
          <a:lstStyle/>
          <a:p>
            <a:pPr algn="ctr"/>
            <a:r>
              <a:rPr lang="en-US" altLang="zh-CN" sz="1400" b="1"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矩形 84"/>
          <p:cNvSpPr/>
          <p:nvPr/>
        </p:nvSpPr>
        <p:spPr bwMode="gray">
          <a:xfrm>
            <a:off x="9958037" y="3338074"/>
            <a:ext cx="1502125" cy="738664"/>
          </a:xfrm>
          <a:prstGeom prst="rect">
            <a:avLst/>
          </a:prstGeom>
        </p:spPr>
        <p:txBody>
          <a:bodyPr wrap="square">
            <a:spAutoFit/>
          </a:bodyPr>
          <a:lstStyle/>
          <a:p>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学习到</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PC2</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表项，生成</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IRB</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类型路由。</a:t>
            </a:r>
            <a:endPar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椭圆 85"/>
          <p:cNvSpPr>
            <a:spLocks noChangeAspect="1"/>
          </p:cNvSpPr>
          <p:nvPr/>
        </p:nvSpPr>
        <p:spPr bwMode="gray">
          <a:xfrm>
            <a:off x="4685122" y="3062504"/>
            <a:ext cx="232480" cy="232480"/>
          </a:xfrm>
          <a:prstGeom prst="ellipse">
            <a:avLst/>
          </a:prstGeom>
          <a:solidFill>
            <a:srgbClr val="EC7061">
              <a:lumMod val="100000"/>
            </a:srgbClr>
          </a:solidFill>
          <a:ln w="19050" cap="flat" cmpd="sng" algn="ctr">
            <a:noFill/>
            <a:prstDash val="solid"/>
            <a:miter lim="800000"/>
          </a:ln>
          <a:effectLst/>
        </p:spPr>
        <p:txBody>
          <a:bodyPr wrap="none" lIns="0" tIns="0" rIns="0" bIns="0" rtlCol="0" anchor="ctr"/>
          <a:lstStyle/>
          <a:p>
            <a:pPr algn="ctr"/>
            <a:r>
              <a:rPr lang="en-US" altLang="zh-CN" sz="1400" b="1"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88" name="表格 87"/>
          <p:cNvGraphicFramePr>
            <a:graphicFrameLocks noGrp="1"/>
          </p:cNvGraphicFramePr>
          <p:nvPr>
            <p:extLst>
              <p:ext uri="{D42A27DB-BD31-4B8C-83A1-F6EECF244321}">
                <p14:modId xmlns:p14="http://schemas.microsoft.com/office/powerpoint/2010/main" val="1057611213"/>
              </p:ext>
            </p:extLst>
          </p:nvPr>
        </p:nvGraphicFramePr>
        <p:xfrm>
          <a:off x="764573" y="3150543"/>
          <a:ext cx="3600000" cy="548640"/>
        </p:xfrm>
        <a:graphic>
          <a:graphicData uri="http://schemas.openxmlformats.org/drawingml/2006/table">
            <a:tbl>
              <a:tblPr firstRow="1" bandRow="1">
                <a:tableStyleId>{5940675A-B579-460E-94D1-54222C63F5DA}</a:tableStyleId>
              </a:tblPr>
              <a:tblGrid>
                <a:gridCol w="1224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684000">
                  <a:extLst>
                    <a:ext uri="{9D8B030D-6E8A-4147-A177-3AD203B41FA5}">
                      <a16:colId xmlns:a16="http://schemas.microsoft.com/office/drawing/2014/main" val="20002"/>
                    </a:ext>
                  </a:extLst>
                </a:gridCol>
                <a:gridCol w="972000">
                  <a:extLst>
                    <a:ext uri="{9D8B030D-6E8A-4147-A177-3AD203B41FA5}">
                      <a16:colId xmlns:a16="http://schemas.microsoft.com/office/drawing/2014/main" val="20003"/>
                    </a:ext>
                  </a:extLst>
                </a:gridCol>
              </a:tblGrid>
              <a:tr h="0">
                <a:tc>
                  <a:txBody>
                    <a:bodyP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目的网络</a:t>
                      </a: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掩码</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L3 VNI</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下一跳</a:t>
                      </a: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出接口</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0"/>
                  </a:ext>
                </a:extLst>
              </a:tr>
              <a:tr h="0">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172.16.1.2/32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1000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2.2.2.2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隧道</a:t>
                      </a: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89" name="矩形 88"/>
          <p:cNvSpPr/>
          <p:nvPr/>
        </p:nvSpPr>
        <p:spPr bwMode="gray">
          <a:xfrm>
            <a:off x="1185150" y="3806794"/>
            <a:ext cx="3104717" cy="523220"/>
          </a:xfrm>
          <a:prstGeom prst="rect">
            <a:avLst/>
          </a:prstGeom>
        </p:spPr>
        <p:txBody>
          <a:bodyPr wrap="square">
            <a:spAutoFit/>
          </a:bodyPr>
          <a:lstStyle/>
          <a:p>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网关</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获得到达</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的主机路由，同时还包括</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VTEP1</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Router MAC</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文本框 99">
            <a:extLst>
              <a:ext uri="{FF2B5EF4-FFF2-40B4-BE49-F238E27FC236}">
                <a16:creationId xmlns:a16="http://schemas.microsoft.com/office/drawing/2014/main" id="{06B15736-FC8B-4050-A2F5-AB6BD864A78D}"/>
              </a:ext>
            </a:extLst>
          </p:cNvPr>
          <p:cNvSpPr txBox="1">
            <a:spLocks/>
          </p:cNvSpPr>
          <p:nvPr/>
        </p:nvSpPr>
        <p:spPr bwMode="gray">
          <a:xfrm>
            <a:off x="7823357" y="2815646"/>
            <a:ext cx="2134681" cy="1836000"/>
          </a:xfrm>
          <a:prstGeom prst="rect">
            <a:avLst/>
          </a:prstGeom>
          <a:solidFill>
            <a:srgbClr val="FFF7E1"/>
          </a:solidFill>
          <a:ln>
            <a:solidFill>
              <a:srgbClr val="FCC8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1200">
                <a:solidFill>
                  <a:schemeClr val="tx1"/>
                </a:solidFill>
                <a:latin typeface="Huawei Sans" panose="020C0503030203020204" pitchFamily="34" charset="0"/>
                <a:ea typeface="方正兰亭黑简体" panose="02000000000000000000" pitchFamily="2" charset="-122"/>
              </a:defRPr>
            </a:lvl1pPr>
          </a:lstStyle>
          <a:p>
            <a:r>
              <a:rPr lang="en-US" altLang="zh-CN" dirty="0">
                <a:sym typeface="Huawei Sans" panose="020C0503030203020204" pitchFamily="34" charset="0"/>
              </a:rPr>
              <a:t>IP VPN-Instance VPN1</a:t>
            </a:r>
          </a:p>
          <a:p>
            <a:r>
              <a:rPr lang="en-US" altLang="zh-CN" dirty="0">
                <a:sym typeface="Huawei Sans" panose="020C0503030203020204" pitchFamily="34" charset="0"/>
              </a:rPr>
              <a:t>VXLAN VNI </a:t>
            </a:r>
            <a:r>
              <a:rPr lang="en-US" altLang="zh-CN" dirty="0">
                <a:solidFill>
                  <a:srgbClr val="C7000B"/>
                </a:solidFill>
                <a:sym typeface="Huawei Sans" panose="020C0503030203020204" pitchFamily="34" charset="0"/>
              </a:rPr>
              <a:t>1000</a:t>
            </a:r>
            <a:r>
              <a:rPr lang="zh-CN" altLang="en-US" dirty="0">
                <a:solidFill>
                  <a:srgbClr val="C7000B"/>
                </a:solidFill>
                <a:sym typeface="Huawei Sans" panose="020C0503030203020204" pitchFamily="34" charset="0"/>
              </a:rPr>
              <a:t>（</a:t>
            </a:r>
            <a:r>
              <a:rPr lang="en-US" altLang="zh-CN" dirty="0">
                <a:solidFill>
                  <a:srgbClr val="C7000B"/>
                </a:solidFill>
                <a:sym typeface="Huawei Sans" panose="020C0503030203020204" pitchFamily="34" charset="0"/>
              </a:rPr>
              <a:t>L3 VNI</a:t>
            </a:r>
            <a:r>
              <a:rPr lang="zh-CN" altLang="en-US" dirty="0">
                <a:solidFill>
                  <a:srgbClr val="C7000B"/>
                </a:solidFill>
                <a:sym typeface="Huawei Sans" panose="020C0503030203020204" pitchFamily="34" charset="0"/>
              </a:rPr>
              <a:t>）</a:t>
            </a:r>
            <a:endParaRPr lang="en-US" altLang="zh-CN" dirty="0">
              <a:solidFill>
                <a:srgbClr val="C7000B"/>
              </a:solidFill>
              <a:sym typeface="Huawei Sans" panose="020C0503030203020204" pitchFamily="34" charset="0"/>
            </a:endParaRPr>
          </a:p>
          <a:p>
            <a:r>
              <a:rPr lang="en-US" altLang="zh-CN" dirty="0">
                <a:sym typeface="Huawei Sans" panose="020C0503030203020204" pitchFamily="34" charset="0"/>
              </a:rPr>
              <a:t>RD 103:1</a:t>
            </a:r>
          </a:p>
          <a:p>
            <a:r>
              <a:rPr lang="en-US" altLang="zh-CN" dirty="0">
                <a:sym typeface="Huawei Sans" panose="020C0503030203020204" pitchFamily="34" charset="0"/>
              </a:rPr>
              <a:t>RT 10:1</a:t>
            </a:r>
          </a:p>
          <a:p>
            <a:r>
              <a:rPr lang="en-US" altLang="zh-CN" dirty="0">
                <a:sym typeface="Huawei Sans" panose="020C0503030203020204" pitchFamily="34" charset="0"/>
              </a:rPr>
              <a:t>---------------------------</a:t>
            </a:r>
          </a:p>
          <a:p>
            <a:r>
              <a:rPr lang="en-US" altLang="zh-CN" dirty="0">
                <a:sym typeface="Huawei Sans" panose="020C0503030203020204" pitchFamily="34" charset="0"/>
              </a:rPr>
              <a:t>BD 10</a:t>
            </a:r>
          </a:p>
          <a:p>
            <a:r>
              <a:rPr lang="en-US" altLang="zh-CN" dirty="0">
                <a:sym typeface="Huawei Sans" panose="020C0503030203020204" pitchFamily="34" charset="0"/>
              </a:rPr>
              <a:t>EVPN VPN-Instance BD_10</a:t>
            </a:r>
          </a:p>
          <a:p>
            <a:r>
              <a:rPr lang="en-US" altLang="zh-CN" dirty="0">
                <a:sym typeface="Huawei Sans" panose="020C0503030203020204" pitchFamily="34" charset="0"/>
              </a:rPr>
              <a:t>RD  10:1</a:t>
            </a:r>
          </a:p>
          <a:p>
            <a:r>
              <a:rPr lang="en-US" altLang="zh-CN" dirty="0">
                <a:sym typeface="Huawei Sans" panose="020C0503030203020204" pitchFamily="34" charset="0"/>
              </a:rPr>
              <a:t>L2 VNI 100</a:t>
            </a:r>
          </a:p>
          <a:p>
            <a:r>
              <a:rPr lang="en-US" altLang="zh-CN" dirty="0">
                <a:sym typeface="Huawei Sans" panose="020C0503030203020204" pitchFamily="34" charset="0"/>
              </a:rPr>
              <a:t>RT 10:1</a:t>
            </a:r>
          </a:p>
        </p:txBody>
      </p:sp>
      <p:sp>
        <p:nvSpPr>
          <p:cNvPr id="107" name="椭圆 106"/>
          <p:cNvSpPr>
            <a:spLocks noChangeAspect="1"/>
          </p:cNvSpPr>
          <p:nvPr/>
        </p:nvSpPr>
        <p:spPr bwMode="gray">
          <a:xfrm>
            <a:off x="999235" y="3825844"/>
            <a:ext cx="232480" cy="232480"/>
          </a:xfrm>
          <a:prstGeom prst="ellipse">
            <a:avLst/>
          </a:prstGeom>
          <a:solidFill>
            <a:srgbClr val="EC7061">
              <a:lumMod val="100000"/>
            </a:srgbClr>
          </a:solidFill>
          <a:ln w="19050" cap="flat" cmpd="sng" algn="ctr">
            <a:noFill/>
            <a:prstDash val="solid"/>
            <a:miter lim="800000"/>
          </a:ln>
          <a:effectLst/>
        </p:spPr>
        <p:txBody>
          <a:bodyPr wrap="none" lIns="0" tIns="0" rIns="0" bIns="0" rtlCol="0" anchor="ctr"/>
          <a:lstStyle/>
          <a:p>
            <a:pPr algn="ctr"/>
            <a:r>
              <a:rPr lang="en-US" altLang="zh-CN" sz="1400" b="1"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矩形 107"/>
          <p:cNvSpPr/>
          <p:nvPr/>
        </p:nvSpPr>
        <p:spPr bwMode="gray">
          <a:xfrm rot="15603">
            <a:off x="1885001" y="1666359"/>
            <a:ext cx="846707" cy="523220"/>
          </a:xfrm>
          <a:prstGeom prst="rect">
            <a:avLst/>
          </a:prstGeom>
        </p:spPr>
        <p:txBody>
          <a:bodyPr wrap="none">
            <a:spAutoFit/>
          </a:bodyPr>
          <a:lstStyle/>
          <a:p>
            <a:pPr algn="just"/>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BD 20</a:t>
            </a:r>
          </a:p>
          <a:p>
            <a:pPr algn="just"/>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VNI 200</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矩形 108"/>
          <p:cNvSpPr/>
          <p:nvPr/>
        </p:nvSpPr>
        <p:spPr bwMode="gray">
          <a:xfrm rot="15603">
            <a:off x="9572428" y="1658738"/>
            <a:ext cx="846707" cy="523220"/>
          </a:xfrm>
          <a:prstGeom prst="rect">
            <a:avLst/>
          </a:prstGeom>
        </p:spPr>
        <p:txBody>
          <a:bodyPr wrap="none">
            <a:spAutoFit/>
          </a:bodyPr>
          <a:lstStyle/>
          <a:p>
            <a:pPr algn="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BD 10</a:t>
            </a:r>
          </a:p>
          <a:p>
            <a:pPr algn="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VNI 100</a:t>
            </a:r>
            <a:endPar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矩形 54"/>
          <p:cNvSpPr/>
          <p:nvPr/>
        </p:nvSpPr>
        <p:spPr bwMode="gray">
          <a:xfrm>
            <a:off x="2185988" y="5114925"/>
            <a:ext cx="7772049" cy="656590"/>
          </a:xfrm>
          <a:prstGeom prst="rect">
            <a:avLst/>
          </a:prstGeom>
          <a:solidFill>
            <a:srgbClr val="FFF7E1"/>
          </a:solidFill>
          <a:ln w="12700" cap="flat" cmpd="sng" algn="ctr">
            <a:solidFill>
              <a:srgbClr val="FCC800"/>
            </a:solidFill>
            <a:prstDash val="solid"/>
            <a:miter lim="800000"/>
          </a:ln>
          <a:effectLst/>
        </p:spPr>
        <p:txBody>
          <a:bodyPr rtlCol="0" anchor="ctr"/>
          <a:lstStyle/>
          <a:p>
            <a:pPr marL="0" marR="0" lvl="0" indent="0" algn="ctr" defTabSz="914400" eaLnBrk="1" fontAlgn="auto" latinLnBrk="0" hangingPunct="1">
              <a:lnSpc>
                <a:spcPts val="22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通过</a:t>
            </a:r>
            <a:r>
              <a:rPr kumimoji="0" lang="en-US" altLang="zh-CN" sz="14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EVPN Router’s MAC Extended Community</a:t>
            </a:r>
            <a:r>
              <a:rPr kumimoji="0" lang="zh-CN" altLang="en-US" sz="14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这一扩展团体属性子属性，</a:t>
            </a:r>
            <a:endParaRPr kumimoji="0" lang="en-US" altLang="zh-CN" sz="14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algn="ctr" defTabSz="914400" eaLnBrk="1" fontAlgn="auto" latinLnBrk="0" hangingPunct="1">
              <a:lnSpc>
                <a:spcPts val="22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BGP EVPN</a:t>
            </a:r>
            <a:r>
              <a:rPr kumimoji="0" lang="zh-CN" altLang="en-US" sz="14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传递</a:t>
            </a:r>
            <a:r>
              <a:rPr kumimoji="0" lang="en-US" altLang="zh-CN" sz="14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VTEP</a:t>
            </a:r>
            <a:r>
              <a:rPr kumimoji="0" lang="zh-CN" altLang="en-US" sz="14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自身的</a:t>
            </a:r>
            <a:r>
              <a:rPr kumimoji="0" lang="en-US" altLang="zh-CN" sz="14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Router MAC</a:t>
            </a:r>
            <a:r>
              <a:rPr kumimoji="0" lang="zh-CN" altLang="en-US" sz="14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，该</a:t>
            </a:r>
            <a:r>
              <a:rPr kumimoji="0" lang="en-US" altLang="zh-CN" sz="14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MAC</a:t>
            </a:r>
            <a:r>
              <a:rPr kumimoji="0" lang="zh-CN" altLang="en-US" sz="14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地址为</a:t>
            </a:r>
            <a:r>
              <a:rPr kumimoji="0" lang="en-US" altLang="zh-CN" sz="14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NVE</a:t>
            </a:r>
            <a:r>
              <a:rPr kumimoji="0" lang="zh-CN" altLang="en-US" sz="14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接口的</a:t>
            </a:r>
            <a:r>
              <a:rPr kumimoji="0" lang="en-US" altLang="zh-CN" sz="14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MAC</a:t>
            </a:r>
            <a:r>
              <a:rPr kumimoji="0" lang="zh-CN" altLang="en-US" sz="14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地址。</a:t>
            </a:r>
          </a:p>
        </p:txBody>
      </p:sp>
      <p:grpSp>
        <p:nvGrpSpPr>
          <p:cNvPr id="59" name="组合 58"/>
          <p:cNvGrpSpPr/>
          <p:nvPr/>
        </p:nvGrpSpPr>
        <p:grpSpPr bwMode="gray">
          <a:xfrm>
            <a:off x="5159662" y="2528242"/>
            <a:ext cx="2643988" cy="2520008"/>
            <a:chOff x="4879305" y="3004492"/>
            <a:chExt cx="2643988" cy="2520008"/>
          </a:xfrm>
        </p:grpSpPr>
        <p:sp>
          <p:nvSpPr>
            <p:cNvPr id="60" name="文本框 59"/>
            <p:cNvSpPr txBox="1"/>
            <p:nvPr/>
          </p:nvSpPr>
          <p:spPr bwMode="gray">
            <a:xfrm>
              <a:off x="4879305" y="3004492"/>
              <a:ext cx="2643988" cy="318401"/>
            </a:xfrm>
            <a:prstGeom prst="round2SameRect">
              <a:avLst>
                <a:gd name="adj1" fmla="val 20890"/>
                <a:gd name="adj2" fmla="val 0"/>
              </a:avLst>
            </a:prstGeom>
            <a:solidFill>
              <a:srgbClr val="EC7061"/>
            </a:solidFill>
            <a:ln w="19050">
              <a:solidFill>
                <a:sysClr val="window" lastClr="FFFFFF"/>
              </a:solidFill>
            </a:ln>
          </p:spPr>
          <p:txBody>
            <a:bodyPr wrap="none" lIns="0" tIns="0" rIns="0" bIns="0" rtlCol="0" anchor="ctr" anchorCtr="0">
              <a:noAutofit/>
            </a:bodyPr>
            <a:lstStyle>
              <a:defPPr>
                <a:defRPr lang="en-US"/>
              </a:defPPr>
              <a:lvl1pPr algn="ctr">
                <a:defRPr sz="1200" b="1">
                  <a:solidFill>
                    <a:schemeClr val="bg1"/>
                  </a:solidFill>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BGP Update</a:t>
              </a:r>
              <a:r>
                <a:rPr kumimoji="0" lang="zh-CN" altLang="en-US"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报文</a:t>
              </a:r>
              <a:endPar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文本框 60"/>
            <p:cNvSpPr txBox="1"/>
            <p:nvPr/>
          </p:nvSpPr>
          <p:spPr bwMode="gray">
            <a:xfrm>
              <a:off x="4879305" y="3329243"/>
              <a:ext cx="2643988" cy="2195257"/>
            </a:xfrm>
            <a:prstGeom prst="rect">
              <a:avLst/>
            </a:prstGeom>
            <a:solidFill>
              <a:srgbClr val="EC7061">
                <a:lumMod val="20000"/>
                <a:lumOff val="80000"/>
              </a:srgbClr>
            </a:solidFill>
            <a:ln w="19050">
              <a:solidFill>
                <a:sysClr val="window" lastClr="FFFFFF"/>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文本框 61"/>
            <p:cNvSpPr txBox="1"/>
            <p:nvPr/>
          </p:nvSpPr>
          <p:spPr bwMode="gray">
            <a:xfrm>
              <a:off x="4984839" y="3892569"/>
              <a:ext cx="2432922" cy="270377"/>
            </a:xfrm>
            <a:prstGeom prst="rect">
              <a:avLst/>
            </a:prstGeom>
            <a:solidFill>
              <a:srgbClr val="EC7061">
                <a:lumMod val="40000"/>
                <a:lumOff val="60000"/>
              </a:srgbClr>
            </a:solidFill>
            <a:ln w="19050">
              <a:solidFill>
                <a:srgbClr val="EC7061">
                  <a:lumMod val="60000"/>
                  <a:lumOff val="40000"/>
                </a:srgbClr>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Type 2</a:t>
              </a: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路由</a:t>
              </a:r>
            </a:p>
          </p:txBody>
        </p:sp>
        <p:sp>
          <p:nvSpPr>
            <p:cNvPr id="71" name="文本框 70"/>
            <p:cNvSpPr txBox="1"/>
            <p:nvPr/>
          </p:nvSpPr>
          <p:spPr bwMode="gray">
            <a:xfrm>
              <a:off x="4984839" y="4156383"/>
              <a:ext cx="2432922" cy="1234767"/>
            </a:xfrm>
            <a:prstGeom prst="rect">
              <a:avLst/>
            </a:prstGeom>
            <a:solidFill>
              <a:sysClr val="window" lastClr="FFFFFF"/>
            </a:solidFill>
            <a:ln w="19050">
              <a:solidFill>
                <a:srgbClr val="EC7061">
                  <a:lumMod val="60000"/>
                  <a:lumOff val="40000"/>
                </a:srgbClr>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RD 10</a:t>
              </a: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主机路由</a:t>
              </a: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=172.16.1.2/32</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MAC</a:t>
              </a: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地址</a:t>
              </a: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=MAC A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二层</a:t>
              </a: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VNI=100</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三层</a:t>
              </a: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VNI=1000</a:t>
              </a:r>
            </a:p>
          </p:txBody>
        </p:sp>
        <p:sp>
          <p:nvSpPr>
            <p:cNvPr id="74" name="矩形 73"/>
            <p:cNvSpPr/>
            <p:nvPr/>
          </p:nvSpPr>
          <p:spPr bwMode="gray">
            <a:xfrm>
              <a:off x="5243353" y="3370423"/>
              <a:ext cx="1915909" cy="523220"/>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EVPN RT</a:t>
              </a:r>
              <a:r>
                <a:rPr kumimoji="0" lang="zh-CN" altLang="en-US" sz="1400" b="0" i="0" u="none" strike="noStrike" kern="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1400" b="0" i="0" u="none" strike="noStrike" kern="0" cap="none" spc="0" normalizeH="0" baseline="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10:1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Router MAC</a:t>
              </a: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MAC B</a:t>
              </a:r>
              <a:endParaRPr kumimoji="0" lang="en-US" altLang="zh-CN" sz="1400" b="0" i="0" u="none" strike="noStrike" kern="0" cap="none" spc="0" normalizeH="0" baseline="0" noProof="0" dirty="0">
                <a:ln>
                  <a:noFill/>
                </a:ln>
                <a:solidFill>
                  <a:srgbClr val="EC7061"/>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70" name="圆角矩形 69"/>
          <p:cNvSpPr/>
          <p:nvPr/>
        </p:nvSpPr>
        <p:spPr bwMode="gray">
          <a:xfrm>
            <a:off x="711404" y="5943600"/>
            <a:ext cx="1474584" cy="257175"/>
          </a:xfrm>
          <a:prstGeom prst="roundRect">
            <a:avLst/>
          </a:prstGeom>
          <a:solidFill>
            <a:schemeClr val="bg1">
              <a:lumMod val="7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地址通告</a:t>
            </a:r>
          </a:p>
        </p:txBody>
      </p:sp>
      <p:sp>
        <p:nvSpPr>
          <p:cNvPr id="72" name="圆角矩形 71"/>
          <p:cNvSpPr/>
          <p:nvPr/>
        </p:nvSpPr>
        <p:spPr bwMode="gray">
          <a:xfrm>
            <a:off x="2185988" y="5943600"/>
            <a:ext cx="1474584" cy="257175"/>
          </a:xfrm>
          <a:prstGeom prst="roundRect">
            <a:avLst/>
          </a:prstGeom>
          <a:solidFill>
            <a:schemeClr val="bg1">
              <a:lumMod val="7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通告</a:t>
            </a:r>
          </a:p>
        </p:txBody>
      </p:sp>
      <p:sp>
        <p:nvSpPr>
          <p:cNvPr id="75" name="圆角矩形 74"/>
          <p:cNvSpPr/>
          <p:nvPr/>
        </p:nvSpPr>
        <p:spPr bwMode="gray">
          <a:xfrm>
            <a:off x="3673695" y="5943600"/>
            <a:ext cx="1474584" cy="257175"/>
          </a:xfrm>
          <a:prstGeom prst="roundRect">
            <a:avLst/>
          </a:prstGeom>
          <a:solidFill>
            <a:srgbClr val="AFD89C"/>
          </a:solid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路由通告</a:t>
            </a:r>
          </a:p>
        </p:txBody>
      </p:sp>
      <p:sp>
        <p:nvSpPr>
          <p:cNvPr id="68" name="五边形 24">
            <a:extLst>
              <a:ext uri="{FF2B5EF4-FFF2-40B4-BE49-F238E27FC236}">
                <a16:creationId xmlns:a16="http://schemas.microsoft.com/office/drawing/2014/main" id="{66BA07AD-FEEF-4CB3-8D55-B5A235B0FBAC}"/>
              </a:ext>
            </a:extLst>
          </p:cNvPr>
          <p:cNvSpPr/>
          <p:nvPr/>
        </p:nvSpPr>
        <p:spPr bwMode="gray">
          <a:xfrm>
            <a:off x="8632178" y="124239"/>
            <a:ext cx="108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Type 2</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燕尾形 26">
            <a:extLst>
              <a:ext uri="{FF2B5EF4-FFF2-40B4-BE49-F238E27FC236}">
                <a16:creationId xmlns:a16="http://schemas.microsoft.com/office/drawing/2014/main" id="{0C19331F-8FCC-488E-9C32-A3F774208D1E}"/>
              </a:ext>
            </a:extLst>
          </p:cNvPr>
          <p:cNvSpPr/>
          <p:nvPr/>
        </p:nvSpPr>
        <p:spPr bwMode="gray">
          <a:xfrm>
            <a:off x="10629666"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5</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p>
        </p:txBody>
      </p:sp>
      <p:sp>
        <p:nvSpPr>
          <p:cNvPr id="76" name="燕尾形 26">
            <a:extLst>
              <a:ext uri="{FF2B5EF4-FFF2-40B4-BE49-F238E27FC236}">
                <a16:creationId xmlns:a16="http://schemas.microsoft.com/office/drawing/2014/main" id="{5C797163-D6D3-4ACC-996D-421D87F18D19}"/>
              </a:ext>
            </a:extLst>
          </p:cNvPr>
          <p:cNvSpPr/>
          <p:nvPr/>
        </p:nvSpPr>
        <p:spPr bwMode="gray">
          <a:xfrm>
            <a:off x="9630922"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3</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5834428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任意多边形 55"/>
          <p:cNvSpPr/>
          <p:nvPr/>
        </p:nvSpPr>
        <p:spPr bwMode="gray">
          <a:xfrm>
            <a:off x="8842377" y="3168208"/>
            <a:ext cx="1930335" cy="729696"/>
          </a:xfrm>
          <a:custGeom>
            <a:avLst/>
            <a:gdLst>
              <a:gd name="connsiteX0" fmla="*/ 0 w 809625"/>
              <a:gd name="connsiteY0" fmla="*/ 0 h 583407"/>
              <a:gd name="connsiteX1" fmla="*/ 809625 w 809625"/>
              <a:gd name="connsiteY1" fmla="*/ 0 h 583407"/>
              <a:gd name="connsiteX2" fmla="*/ 809625 w 809625"/>
              <a:gd name="connsiteY2" fmla="*/ 583407 h 583407"/>
            </a:gdLst>
            <a:ahLst/>
            <a:cxnLst>
              <a:cxn ang="0">
                <a:pos x="connsiteX0" y="connsiteY0"/>
              </a:cxn>
              <a:cxn ang="0">
                <a:pos x="connsiteX1" y="connsiteY1"/>
              </a:cxn>
              <a:cxn ang="0">
                <a:pos x="connsiteX2" y="connsiteY2"/>
              </a:cxn>
            </a:cxnLst>
            <a:rect l="l" t="t" r="r" b="b"/>
            <a:pathLst>
              <a:path w="809625" h="583407">
                <a:moveTo>
                  <a:pt x="0" y="0"/>
                </a:moveTo>
                <a:lnTo>
                  <a:pt x="809625" y="0"/>
                </a:lnTo>
                <a:lnTo>
                  <a:pt x="809625" y="583407"/>
                </a:ln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7" name="组合 56"/>
          <p:cNvGrpSpPr/>
          <p:nvPr/>
        </p:nvGrpSpPr>
        <p:grpSpPr bwMode="gray">
          <a:xfrm>
            <a:off x="3184902" y="2740921"/>
            <a:ext cx="442385" cy="432048"/>
            <a:chOff x="1194287" y="4005064"/>
            <a:chExt cx="442385" cy="432048"/>
          </a:xfrm>
        </p:grpSpPr>
        <p:cxnSp>
          <p:nvCxnSpPr>
            <p:cNvPr id="58" name="直接连接符 57"/>
            <p:cNvCxnSpPr/>
            <p:nvPr/>
          </p:nvCxnSpPr>
          <p:spPr bwMode="gray">
            <a:xfrm flipV="1">
              <a:off x="1415479" y="400506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bwMode="gray">
            <a:xfrm>
              <a:off x="1194287" y="400506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0" name="组合 59"/>
          <p:cNvGrpSpPr/>
          <p:nvPr/>
        </p:nvGrpSpPr>
        <p:grpSpPr bwMode="gray">
          <a:xfrm>
            <a:off x="8559806" y="2710441"/>
            <a:ext cx="442385" cy="432048"/>
            <a:chOff x="1194287" y="4005064"/>
            <a:chExt cx="442385" cy="432048"/>
          </a:xfrm>
        </p:grpSpPr>
        <p:cxnSp>
          <p:nvCxnSpPr>
            <p:cNvPr id="61" name="直接连接符 60"/>
            <p:cNvCxnSpPr/>
            <p:nvPr/>
          </p:nvCxnSpPr>
          <p:spPr bwMode="gray">
            <a:xfrm flipV="1">
              <a:off x="1415479" y="400506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bwMode="gray">
            <a:xfrm>
              <a:off x="1194287" y="400506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标题 1"/>
          <p:cNvSpPr>
            <a:spLocks noGrp="1"/>
          </p:cNvSpPr>
          <p:nvPr>
            <p:ph type="title"/>
          </p:nvPr>
        </p:nvSpPr>
        <p:spPr bwMode="gray"/>
        <p:txBody>
          <a:bodyPr/>
          <a:lstStyle/>
          <a:p>
            <a:r>
              <a:rPr lang="zh-CN" altLang="en-US">
                <a:sym typeface="Huawei Sans" panose="020C0503030203020204" pitchFamily="34" charset="0"/>
              </a:rPr>
              <a:t>对称</a:t>
            </a:r>
            <a:r>
              <a:rPr lang="en-US" altLang="zh-CN">
                <a:sym typeface="Huawei Sans" panose="020C0503030203020204" pitchFamily="34" charset="0"/>
              </a:rPr>
              <a:t>IRB</a:t>
            </a:r>
            <a:r>
              <a:rPr lang="zh-CN" altLang="en-US">
                <a:sym typeface="Huawei Sans" panose="020C0503030203020204" pitchFamily="34" charset="0"/>
              </a:rPr>
              <a:t>转发：通信过程</a:t>
            </a:r>
            <a:endParaRPr lang="zh-CN" altLang="en-US" dirty="0">
              <a:sym typeface="Huawei Sans" panose="020C0503030203020204" pitchFamily="34" charset="0"/>
            </a:endParaRPr>
          </a:p>
        </p:txBody>
      </p:sp>
      <p:sp>
        <p:nvSpPr>
          <p:cNvPr id="13" name="矩形 12"/>
          <p:cNvSpPr/>
          <p:nvPr/>
        </p:nvSpPr>
        <p:spPr bwMode="gray">
          <a:xfrm>
            <a:off x="3032824" y="2191747"/>
            <a:ext cx="740908"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VTEP1</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1.1.1.1</a:t>
            </a:r>
          </a:p>
        </p:txBody>
      </p:sp>
      <p:pic>
        <p:nvPicPr>
          <p:cNvPr id="14" name="图片 87" descr="汇聚交换机.png"/>
          <p:cNvPicPr>
            <a:picLocks noChangeAspect="1"/>
          </p:cNvPicPr>
          <p:nvPr/>
        </p:nvPicPr>
        <p:blipFill>
          <a:blip r:embed="rId3"/>
          <a:stretch>
            <a:fillRect/>
          </a:stretch>
        </p:blipFill>
        <p:spPr bwMode="gray">
          <a:xfrm>
            <a:off x="3151868" y="2952584"/>
            <a:ext cx="502820" cy="411400"/>
          </a:xfrm>
          <a:prstGeom prst="rect">
            <a:avLst/>
          </a:prstGeom>
        </p:spPr>
      </p:pic>
      <p:pic>
        <p:nvPicPr>
          <p:cNvPr id="15" name="图片 87" descr="汇聚交换机.png"/>
          <p:cNvPicPr>
            <a:picLocks noChangeAspect="1"/>
          </p:cNvPicPr>
          <p:nvPr/>
        </p:nvPicPr>
        <p:blipFill>
          <a:blip r:embed="rId3"/>
          <a:stretch>
            <a:fillRect/>
          </a:stretch>
        </p:blipFill>
        <p:spPr bwMode="gray">
          <a:xfrm>
            <a:off x="8520401" y="2952584"/>
            <a:ext cx="502820" cy="411400"/>
          </a:xfrm>
          <a:prstGeom prst="rect">
            <a:avLst/>
          </a:prstGeom>
        </p:spPr>
      </p:pic>
      <p:sp>
        <p:nvSpPr>
          <p:cNvPr id="16" name="矩形 15"/>
          <p:cNvSpPr/>
          <p:nvPr/>
        </p:nvSpPr>
        <p:spPr bwMode="gray">
          <a:xfrm>
            <a:off x="655415" y="4400058"/>
            <a:ext cx="1287532" cy="738664"/>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PC1</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172.16.2.1/24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D</a:t>
            </a:r>
          </a:p>
        </p:txBody>
      </p:sp>
      <p:pic>
        <p:nvPicPr>
          <p:cNvPr id="17" name="图片 11" descr="开放网络-蓝.png"/>
          <p:cNvPicPr>
            <a:picLocks noChangeAspect="1"/>
          </p:cNvPicPr>
          <p:nvPr/>
        </p:nvPicPr>
        <p:blipFill>
          <a:blip r:embed="rId4" cstate="print"/>
          <a:stretch>
            <a:fillRect/>
          </a:stretch>
        </p:blipFill>
        <p:spPr bwMode="gray">
          <a:xfrm>
            <a:off x="1065085" y="3930994"/>
            <a:ext cx="539607" cy="415381"/>
          </a:xfrm>
          <a:prstGeom prst="rect">
            <a:avLst/>
          </a:prstGeom>
        </p:spPr>
      </p:pic>
      <p:sp>
        <p:nvSpPr>
          <p:cNvPr id="18" name="矩形 17"/>
          <p:cNvSpPr/>
          <p:nvPr/>
        </p:nvSpPr>
        <p:spPr bwMode="gray">
          <a:xfrm>
            <a:off x="10182095" y="4285581"/>
            <a:ext cx="1287532" cy="738664"/>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PC2</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172.16.1.2/24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A</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矩形 18"/>
          <p:cNvSpPr/>
          <p:nvPr/>
        </p:nvSpPr>
        <p:spPr bwMode="gray">
          <a:xfrm rot="15603">
            <a:off x="1358933" y="3176085"/>
            <a:ext cx="846707" cy="523220"/>
          </a:xfrm>
          <a:prstGeom prst="rect">
            <a:avLst/>
          </a:prstGeom>
        </p:spPr>
        <p:txBody>
          <a:bodyPr wrap="none">
            <a:spAutoFit/>
          </a:bodyPr>
          <a:lstStyle/>
          <a:p>
            <a:pPr algn="just"/>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BD 20</a:t>
            </a:r>
          </a:p>
          <a:p>
            <a:pPr algn="just"/>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VNI 200</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矩形 19"/>
          <p:cNvSpPr/>
          <p:nvPr/>
        </p:nvSpPr>
        <p:spPr bwMode="gray">
          <a:xfrm rot="15603">
            <a:off x="9924821" y="3168464"/>
            <a:ext cx="846707" cy="523220"/>
          </a:xfrm>
          <a:prstGeom prst="rect">
            <a:avLst/>
          </a:prstGeom>
        </p:spPr>
        <p:txBody>
          <a:bodyPr wrap="none">
            <a:spAutoFit/>
          </a:bodyPr>
          <a:lstStyle/>
          <a:p>
            <a:pPr algn="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BD 10</a:t>
            </a:r>
          </a:p>
          <a:p>
            <a:pPr algn="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VNI 100</a:t>
            </a:r>
            <a:endPar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圆柱形 20"/>
          <p:cNvSpPr/>
          <p:nvPr/>
        </p:nvSpPr>
        <p:spPr bwMode="gray">
          <a:xfrm rot="16200000">
            <a:off x="5952825" y="725321"/>
            <a:ext cx="242039" cy="4893112"/>
          </a:xfrm>
          <a:prstGeom prst="can">
            <a:avLst>
              <a:gd name="adj" fmla="val 72803"/>
            </a:avLst>
          </a:prstGeom>
          <a:solidFill>
            <a:srgbClr val="EC7061"/>
          </a:solidFill>
          <a:ln w="12700" cap="flat" cmpd="sng" algn="ctr">
            <a:solidFill>
              <a:sysClr val="window" lastClr="FFFFF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999">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矩形 21"/>
          <p:cNvSpPr/>
          <p:nvPr/>
        </p:nvSpPr>
        <p:spPr bwMode="gray">
          <a:xfrm>
            <a:off x="5503015" y="3024054"/>
            <a:ext cx="1141659" cy="307777"/>
          </a:xfrm>
          <a:prstGeom prst="rect">
            <a:avLst/>
          </a:prstGeom>
        </p:spPr>
        <p:txBody>
          <a:bodyPr wrap="none">
            <a:spAutoFit/>
          </a:bodyPr>
          <a:lstStyle/>
          <a:p>
            <a:pPr algn="just"/>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a:t>
            </a:r>
          </a:p>
        </p:txBody>
      </p:sp>
      <p:sp>
        <p:nvSpPr>
          <p:cNvPr id="23" name="矩形 22"/>
          <p:cNvSpPr/>
          <p:nvPr/>
        </p:nvSpPr>
        <p:spPr bwMode="gray">
          <a:xfrm>
            <a:off x="7771016" y="2171397"/>
            <a:ext cx="1915909"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VTEP2 2.2.2.2</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Router 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B</a:t>
            </a:r>
          </a:p>
        </p:txBody>
      </p:sp>
      <p:pic>
        <p:nvPicPr>
          <p:cNvPr id="24" name="图片 11" descr="开放网络-蓝.png"/>
          <p:cNvPicPr>
            <a:picLocks noChangeAspect="1"/>
          </p:cNvPicPr>
          <p:nvPr/>
        </p:nvPicPr>
        <p:blipFill>
          <a:blip r:embed="rId4" cstate="print"/>
          <a:stretch>
            <a:fillRect/>
          </a:stretch>
        </p:blipFill>
        <p:spPr bwMode="gray">
          <a:xfrm>
            <a:off x="10556058" y="3863063"/>
            <a:ext cx="539607" cy="415381"/>
          </a:xfrm>
          <a:prstGeom prst="rect">
            <a:avLst/>
          </a:prstGeom>
        </p:spPr>
      </p:pic>
      <p:sp>
        <p:nvSpPr>
          <p:cNvPr id="26" name="椭圆 25">
            <a:extLst>
              <a:ext uri="{FF2B5EF4-FFF2-40B4-BE49-F238E27FC236}">
                <a16:creationId xmlns:a16="http://schemas.microsoft.com/office/drawing/2014/main" id="{696C030C-47C1-4426-8FEA-7FF0447ECB4C}"/>
              </a:ext>
            </a:extLst>
          </p:cNvPr>
          <p:cNvSpPr/>
          <p:nvPr/>
        </p:nvSpPr>
        <p:spPr bwMode="gray">
          <a:xfrm rot="5400000" flipH="1">
            <a:off x="3196099" y="3172980"/>
            <a:ext cx="168379" cy="168357"/>
          </a:xfrm>
          <a:prstGeom prst="ellipse">
            <a:avLst/>
          </a:prstGeom>
          <a:solidFill>
            <a:srgbClr val="BDD7EE"/>
          </a:solidFill>
          <a:ln>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8" name="直接连接符 27">
            <a:extLst>
              <a:ext uri="{FF2B5EF4-FFF2-40B4-BE49-F238E27FC236}">
                <a16:creationId xmlns:a16="http://schemas.microsoft.com/office/drawing/2014/main" id="{BD69DE19-F81B-479A-A5D4-18C55D0BD6ED}"/>
              </a:ext>
            </a:extLst>
          </p:cNvPr>
          <p:cNvCxnSpPr>
            <a:cxnSpLocks/>
          </p:cNvCxnSpPr>
          <p:nvPr/>
        </p:nvCxnSpPr>
        <p:spPr bwMode="gray">
          <a:xfrm flipV="1">
            <a:off x="3283726" y="3341349"/>
            <a:ext cx="0" cy="758720"/>
          </a:xfrm>
          <a:prstGeom prst="line">
            <a:avLst/>
          </a:prstGeom>
          <a:ln w="19050">
            <a:solidFill>
              <a:srgbClr val="30B5C5"/>
            </a:solidFill>
            <a:prstDash val="sysDot"/>
          </a:ln>
        </p:spPr>
        <p:style>
          <a:lnRef idx="1">
            <a:schemeClr val="accent1"/>
          </a:lnRef>
          <a:fillRef idx="0">
            <a:schemeClr val="accent1"/>
          </a:fillRef>
          <a:effectRef idx="0">
            <a:schemeClr val="accent1"/>
          </a:effectRef>
          <a:fontRef idx="minor">
            <a:schemeClr val="tx1"/>
          </a:fontRef>
        </p:style>
      </p:cxnSp>
      <p:sp>
        <p:nvSpPr>
          <p:cNvPr id="55" name="任意多边形 54"/>
          <p:cNvSpPr/>
          <p:nvPr/>
        </p:nvSpPr>
        <p:spPr bwMode="gray">
          <a:xfrm flipH="1">
            <a:off x="1346199" y="3168207"/>
            <a:ext cx="1819420" cy="804862"/>
          </a:xfrm>
          <a:custGeom>
            <a:avLst/>
            <a:gdLst>
              <a:gd name="connsiteX0" fmla="*/ 0 w 809625"/>
              <a:gd name="connsiteY0" fmla="*/ 0 h 583407"/>
              <a:gd name="connsiteX1" fmla="*/ 809625 w 809625"/>
              <a:gd name="connsiteY1" fmla="*/ 0 h 583407"/>
              <a:gd name="connsiteX2" fmla="*/ 809625 w 809625"/>
              <a:gd name="connsiteY2" fmla="*/ 583407 h 583407"/>
            </a:gdLst>
            <a:ahLst/>
            <a:cxnLst>
              <a:cxn ang="0">
                <a:pos x="connsiteX0" y="connsiteY0"/>
              </a:cxn>
              <a:cxn ang="0">
                <a:pos x="connsiteX1" y="connsiteY1"/>
              </a:cxn>
              <a:cxn ang="0">
                <a:pos x="connsiteX2" y="connsiteY2"/>
              </a:cxn>
            </a:cxnLst>
            <a:rect l="l" t="t" r="r" b="b"/>
            <a:pathLst>
              <a:path w="809625" h="583407">
                <a:moveTo>
                  <a:pt x="0" y="0"/>
                </a:moveTo>
                <a:lnTo>
                  <a:pt x="809625" y="0"/>
                </a:lnTo>
                <a:lnTo>
                  <a:pt x="809625" y="583407"/>
                </a:ln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文本框 70">
            <a:extLst>
              <a:ext uri="{FF2B5EF4-FFF2-40B4-BE49-F238E27FC236}">
                <a16:creationId xmlns:a16="http://schemas.microsoft.com/office/drawing/2014/main" id="{06B15736-FC8B-4050-A2F5-AB6BD864A78D}"/>
              </a:ext>
            </a:extLst>
          </p:cNvPr>
          <p:cNvSpPr txBox="1">
            <a:spLocks/>
          </p:cNvSpPr>
          <p:nvPr/>
        </p:nvSpPr>
        <p:spPr bwMode="gray">
          <a:xfrm>
            <a:off x="2537530" y="3742942"/>
            <a:ext cx="1512000" cy="628440"/>
          </a:xfrm>
          <a:prstGeom prst="rect">
            <a:avLst/>
          </a:prstGeom>
          <a:solidFill>
            <a:srgbClr val="F2FBFC"/>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200" dirty="0">
                <a:solidFill>
                  <a:schemeClr val="tx1"/>
                </a:solidFill>
                <a:sym typeface="Huawei Sans" panose="020C0503030203020204" pitchFamily="34" charset="0"/>
              </a:rPr>
              <a:t>IP VPN</a:t>
            </a:r>
            <a:r>
              <a:rPr lang="zh-CN" altLang="en-US" sz="1200" dirty="0">
                <a:solidFill>
                  <a:schemeClr val="tx1"/>
                </a:solidFill>
                <a:sym typeface="Huawei Sans" panose="020C0503030203020204" pitchFamily="34" charset="0"/>
              </a:rPr>
              <a:t>实例 </a:t>
            </a:r>
            <a:r>
              <a:rPr lang="en-US" altLang="zh-CN" sz="1200" b="1" dirty="0">
                <a:solidFill>
                  <a:srgbClr val="C7000B"/>
                </a:solidFill>
                <a:sym typeface="Huawei Sans" panose="020C0503030203020204" pitchFamily="34" charset="0"/>
              </a:rPr>
              <a:t>VPN1</a:t>
            </a:r>
          </a:p>
          <a:p>
            <a:r>
              <a:rPr lang="en-US" altLang="zh-CN" sz="1200" dirty="0">
                <a:solidFill>
                  <a:schemeClr val="tx1"/>
                </a:solidFill>
                <a:sym typeface="Huawei Sans" panose="020C0503030203020204" pitchFamily="34" charset="0"/>
              </a:rPr>
              <a:t>BD 20</a:t>
            </a:r>
          </a:p>
          <a:p>
            <a:r>
              <a:rPr lang="en-US" altLang="zh-CN" sz="1200" dirty="0">
                <a:solidFill>
                  <a:schemeClr val="tx1"/>
                </a:solidFill>
                <a:sym typeface="Huawei Sans" panose="020C0503030203020204" pitchFamily="34" charset="0"/>
              </a:rPr>
              <a:t>L3 VNI 1000</a:t>
            </a:r>
          </a:p>
        </p:txBody>
      </p:sp>
      <p:cxnSp>
        <p:nvCxnSpPr>
          <p:cNvPr id="74" name="直接连接符 73"/>
          <p:cNvCxnSpPr/>
          <p:nvPr/>
        </p:nvCxnSpPr>
        <p:spPr bwMode="gray">
          <a:xfrm flipH="1">
            <a:off x="973119" y="2684278"/>
            <a:ext cx="2020959" cy="0"/>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sp>
        <p:nvSpPr>
          <p:cNvPr id="75" name="椭圆 74"/>
          <p:cNvSpPr>
            <a:spLocks noChangeAspect="1"/>
          </p:cNvSpPr>
          <p:nvPr/>
        </p:nvSpPr>
        <p:spPr bwMode="gray">
          <a:xfrm>
            <a:off x="784290" y="2595165"/>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矩形 75"/>
          <p:cNvSpPr/>
          <p:nvPr/>
        </p:nvSpPr>
        <p:spPr bwMode="gray">
          <a:xfrm>
            <a:off x="1046154" y="2710441"/>
            <a:ext cx="2066591"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发送单播帧给</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椭圆 76"/>
          <p:cNvSpPr>
            <a:spLocks noChangeAspect="1"/>
          </p:cNvSpPr>
          <p:nvPr/>
        </p:nvSpPr>
        <p:spPr bwMode="gray">
          <a:xfrm>
            <a:off x="2206823" y="4503502"/>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矩形 77"/>
          <p:cNvSpPr/>
          <p:nvPr/>
        </p:nvSpPr>
        <p:spPr bwMode="gray">
          <a:xfrm>
            <a:off x="2439302" y="4473809"/>
            <a:ext cx="2594813" cy="954107"/>
          </a:xfrm>
          <a:prstGeom prst="rect">
            <a:avLst/>
          </a:prstGeom>
        </p:spPr>
        <p:txBody>
          <a:bodyPr wrap="square">
            <a:spAutoFit/>
          </a:bodyPr>
          <a:lstStyle/>
          <a:p>
            <a:pPr algn="just"/>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VBDIF 20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 VPN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实例</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VPN1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的路由表中查找路由，发现匹配中的路由（</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32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位主机路由）下一跳为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的远端</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椭圆 80"/>
          <p:cNvSpPr>
            <a:spLocks noChangeAspect="1"/>
          </p:cNvSpPr>
          <p:nvPr/>
        </p:nvSpPr>
        <p:spPr bwMode="gray">
          <a:xfrm>
            <a:off x="3846634" y="2785737"/>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矩形 81"/>
          <p:cNvSpPr/>
          <p:nvPr/>
        </p:nvSpPr>
        <p:spPr bwMode="gray">
          <a:xfrm>
            <a:off x="4079113" y="2748089"/>
            <a:ext cx="3976627" cy="307777"/>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隧道将数据帧发往</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椭圆 95">
            <a:extLst>
              <a:ext uri="{FF2B5EF4-FFF2-40B4-BE49-F238E27FC236}">
                <a16:creationId xmlns:a16="http://schemas.microsoft.com/office/drawing/2014/main" id="{0B715521-6FFC-425A-9709-08A533BD8FE8}"/>
              </a:ext>
            </a:extLst>
          </p:cNvPr>
          <p:cNvSpPr/>
          <p:nvPr/>
        </p:nvSpPr>
        <p:spPr bwMode="gray">
          <a:xfrm rot="5400000" flipH="1">
            <a:off x="8546214" y="3172980"/>
            <a:ext cx="168379" cy="168357"/>
          </a:xfrm>
          <a:prstGeom prst="ellipse">
            <a:avLst/>
          </a:prstGeom>
          <a:solidFill>
            <a:srgbClr val="FFFFCC"/>
          </a:solidFill>
          <a:ln>
            <a:solidFill>
              <a:srgbClr val="F79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8" name="直接连接符 97">
            <a:extLst>
              <a:ext uri="{FF2B5EF4-FFF2-40B4-BE49-F238E27FC236}">
                <a16:creationId xmlns:a16="http://schemas.microsoft.com/office/drawing/2014/main" id="{52DC6F41-F8AF-440B-A7D8-2F383A91BFE3}"/>
              </a:ext>
            </a:extLst>
          </p:cNvPr>
          <p:cNvCxnSpPr>
            <a:cxnSpLocks/>
          </p:cNvCxnSpPr>
          <p:nvPr/>
        </p:nvCxnSpPr>
        <p:spPr bwMode="gray">
          <a:xfrm flipV="1">
            <a:off x="8633841" y="3341349"/>
            <a:ext cx="0" cy="758720"/>
          </a:xfrm>
          <a:prstGeom prst="line">
            <a:avLst/>
          </a:prstGeom>
          <a:ln w="19050">
            <a:solidFill>
              <a:srgbClr val="F79646"/>
            </a:solidFill>
            <a:prstDash val="sysDot"/>
          </a:ln>
        </p:spPr>
        <p:style>
          <a:lnRef idx="1">
            <a:schemeClr val="accent1"/>
          </a:lnRef>
          <a:fillRef idx="0">
            <a:schemeClr val="accent1"/>
          </a:fillRef>
          <a:effectRef idx="0">
            <a:schemeClr val="accent1"/>
          </a:effectRef>
          <a:fontRef idx="minor">
            <a:schemeClr val="tx1"/>
          </a:fontRef>
        </p:style>
      </p:cxnSp>
      <p:sp>
        <p:nvSpPr>
          <p:cNvPr id="101" name="文本框 100">
            <a:extLst>
              <a:ext uri="{FF2B5EF4-FFF2-40B4-BE49-F238E27FC236}">
                <a16:creationId xmlns:a16="http://schemas.microsoft.com/office/drawing/2014/main" id="{06B15736-FC8B-4050-A2F5-AB6BD864A78D}"/>
              </a:ext>
            </a:extLst>
          </p:cNvPr>
          <p:cNvSpPr txBox="1">
            <a:spLocks/>
          </p:cNvSpPr>
          <p:nvPr/>
        </p:nvSpPr>
        <p:spPr bwMode="gray">
          <a:xfrm>
            <a:off x="7490191" y="3742942"/>
            <a:ext cx="1512000" cy="628440"/>
          </a:xfrm>
          <a:prstGeom prst="rect">
            <a:avLst/>
          </a:prstGeom>
          <a:solidFill>
            <a:srgbClr val="FFF7E1"/>
          </a:solidFill>
          <a:ln>
            <a:solidFill>
              <a:srgbClr val="FCC8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200" dirty="0">
                <a:solidFill>
                  <a:schemeClr val="tx1"/>
                </a:solidFill>
                <a:sym typeface="Huawei Sans" panose="020C0503030203020204" pitchFamily="34" charset="0"/>
              </a:rPr>
              <a:t>IP VPN</a:t>
            </a:r>
            <a:r>
              <a:rPr lang="zh-CN" altLang="en-US" sz="1200" dirty="0">
                <a:solidFill>
                  <a:schemeClr val="tx1"/>
                </a:solidFill>
                <a:sym typeface="Huawei Sans" panose="020C0503030203020204" pitchFamily="34" charset="0"/>
              </a:rPr>
              <a:t>实例 </a:t>
            </a:r>
            <a:r>
              <a:rPr lang="en-US" altLang="zh-CN" sz="1200" b="1" dirty="0">
                <a:solidFill>
                  <a:srgbClr val="C7000B"/>
                </a:solidFill>
                <a:sym typeface="Huawei Sans" panose="020C0503030203020204" pitchFamily="34" charset="0"/>
              </a:rPr>
              <a:t>VPN1</a:t>
            </a:r>
            <a:endParaRPr lang="en-US" altLang="zh-CN" sz="1200" dirty="0">
              <a:solidFill>
                <a:srgbClr val="C7000B"/>
              </a:solidFill>
              <a:sym typeface="Huawei Sans" panose="020C0503030203020204" pitchFamily="34" charset="0"/>
            </a:endParaRPr>
          </a:p>
          <a:p>
            <a:r>
              <a:rPr lang="en-US" altLang="zh-CN" sz="1200" dirty="0">
                <a:solidFill>
                  <a:schemeClr val="tx1"/>
                </a:solidFill>
                <a:sym typeface="Huawei Sans" panose="020C0503030203020204" pitchFamily="34" charset="0"/>
              </a:rPr>
              <a:t>BD 10</a:t>
            </a:r>
          </a:p>
          <a:p>
            <a:r>
              <a:rPr lang="en-US" altLang="zh-CN" sz="1200" dirty="0">
                <a:solidFill>
                  <a:schemeClr val="tx1"/>
                </a:solidFill>
                <a:sym typeface="Huawei Sans" panose="020C0503030203020204" pitchFamily="34" charset="0"/>
              </a:rPr>
              <a:t>L3 VNI 1000</a:t>
            </a:r>
          </a:p>
        </p:txBody>
      </p:sp>
      <p:sp>
        <p:nvSpPr>
          <p:cNvPr id="103" name="椭圆 102"/>
          <p:cNvSpPr>
            <a:spLocks noChangeAspect="1"/>
          </p:cNvSpPr>
          <p:nvPr/>
        </p:nvSpPr>
        <p:spPr bwMode="gray">
          <a:xfrm>
            <a:off x="7093660" y="4401060"/>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矩形 103"/>
          <p:cNvSpPr/>
          <p:nvPr/>
        </p:nvSpPr>
        <p:spPr bwMode="gray">
          <a:xfrm>
            <a:off x="7326140" y="4371367"/>
            <a:ext cx="2509948" cy="954107"/>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VNI 1000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所对应的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 VPN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实例路由表中查找路由，发现为本地</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VBDIF</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接口直连路由，在对应</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中执行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查表。</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椭圆 104"/>
          <p:cNvSpPr>
            <a:spLocks noChangeAspect="1"/>
          </p:cNvSpPr>
          <p:nvPr/>
        </p:nvSpPr>
        <p:spPr bwMode="gray">
          <a:xfrm>
            <a:off x="9359315" y="2668393"/>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矩形 105"/>
          <p:cNvSpPr/>
          <p:nvPr/>
        </p:nvSpPr>
        <p:spPr bwMode="gray">
          <a:xfrm>
            <a:off x="9591794" y="2638700"/>
            <a:ext cx="2117875" cy="307777"/>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将数据帧发给</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44" name="表格 43"/>
          <p:cNvGraphicFramePr>
            <a:graphicFrameLocks noGrp="1"/>
          </p:cNvGraphicFramePr>
          <p:nvPr>
            <p:extLst>
              <p:ext uri="{D42A27DB-BD31-4B8C-83A1-F6EECF244321}">
                <p14:modId xmlns:p14="http://schemas.microsoft.com/office/powerpoint/2010/main" val="812768391"/>
              </p:ext>
            </p:extLst>
          </p:nvPr>
        </p:nvGraphicFramePr>
        <p:xfrm>
          <a:off x="4825223" y="1259859"/>
          <a:ext cx="2541553" cy="1336893"/>
        </p:xfrm>
        <a:graphic>
          <a:graphicData uri="http://schemas.openxmlformats.org/drawingml/2006/table">
            <a:tbl>
              <a:tblPr firstRow="1" bandRow="1">
                <a:tableStyleId>{72833802-FEF1-4C79-8D5D-14CF1EAF98D9}</a:tableStyleId>
              </a:tblPr>
              <a:tblGrid>
                <a:gridCol w="2541553">
                  <a:extLst>
                    <a:ext uri="{9D8B030D-6E8A-4147-A177-3AD203B41FA5}">
                      <a16:colId xmlns:a16="http://schemas.microsoft.com/office/drawing/2014/main" val="20000"/>
                    </a:ext>
                  </a:extLst>
                </a:gridCol>
              </a:tblGrid>
              <a:tr h="288000">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Outer</a:t>
                      </a:r>
                      <a:r>
                        <a:rPr lang="en-US" altLang="zh-CN" sz="1200" baseline="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noFill/>
                  </a:tcPr>
                </a:tc>
                <a:extLst>
                  <a:ext uri="{0D108BD9-81ED-4DB2-BD59-A6C34878D82A}">
                    <a16:rowId xmlns:a16="http://schemas.microsoft.com/office/drawing/2014/main" val="10000"/>
                  </a:ext>
                </a:extLst>
              </a:tr>
              <a:tr h="288000">
                <a:tc>
                  <a:txBody>
                    <a:bodyPr/>
                    <a:lstStyle/>
                    <a:p>
                      <a:pPr marL="0" marR="0" lvl="0" indent="0" algn="ctr" defTabSz="914034" rtl="0" eaLnBrk="1" fontAlgn="auto" latinLnBrk="0" hangingPunct="1">
                        <a:lnSpc>
                          <a:spcPct val="120000"/>
                        </a:lnSpc>
                        <a:spcBef>
                          <a:spcPts val="0"/>
                        </a:spcBef>
                        <a:spcAft>
                          <a:spcPts val="0"/>
                        </a:spcAft>
                        <a:buClrTx/>
                        <a:buSzTx/>
                        <a:buFontTx/>
                        <a:buNone/>
                        <a:tabLst/>
                        <a:defRPr/>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UDP</a:t>
                      </a: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tcPr>
                </a:tc>
                <a:extLst>
                  <a:ext uri="{0D108BD9-81ED-4DB2-BD59-A6C34878D82A}">
                    <a16:rowId xmlns:a16="http://schemas.microsoft.com/office/drawing/2014/main" val="10001"/>
                  </a:ext>
                </a:extLst>
              </a:tr>
              <a:tr h="288000">
                <a:tc>
                  <a:txBody>
                    <a:bodyPr/>
                    <a:lstStyle/>
                    <a:p>
                      <a:pPr marL="0" marR="0" lvl="0" indent="0" algn="ctr" defTabSz="914034" rtl="0" eaLnBrk="1" fontAlgn="auto" latinLnBrk="0" hangingPunct="1">
                        <a:lnSpc>
                          <a:spcPct val="120000"/>
                        </a:lnSpc>
                        <a:spcBef>
                          <a:spcPts val="0"/>
                        </a:spcBef>
                        <a:spcAft>
                          <a:spcPts val="0"/>
                        </a:spcAft>
                        <a:buClrTx/>
                        <a:buSzTx/>
                        <a:buFontTx/>
                        <a:buNone/>
                        <a:tabLst/>
                        <a:defRPr/>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头部</a:t>
                      </a:r>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L3 VNI 1000</a:t>
                      </a:r>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tcPr>
                </a:tc>
                <a:extLst>
                  <a:ext uri="{0D108BD9-81ED-4DB2-BD59-A6C34878D82A}">
                    <a16:rowId xmlns:a16="http://schemas.microsoft.com/office/drawing/2014/main" val="10002"/>
                  </a:ext>
                </a:extLst>
              </a:tr>
              <a:tr h="288000">
                <a:tc>
                  <a:txBody>
                    <a:bodyPr/>
                    <a:lstStyle/>
                    <a:p>
                      <a:pPr algn="ctr"/>
                      <a:r>
                        <a:rPr lang="zh-CN" altLang="en-US" sz="1200" b="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源</a:t>
                      </a:r>
                      <a:r>
                        <a:rPr lang="en-US" altLang="zh-CN" sz="1200" b="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b="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VBDIF</a:t>
                      </a:r>
                      <a:r>
                        <a:rPr lang="en-US" altLang="zh-CN" sz="1200" b="0" baseline="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 20</a:t>
                      </a:r>
                      <a:r>
                        <a:rPr lang="zh-CN" altLang="en-US" sz="1200" b="0" baseline="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接口</a:t>
                      </a:r>
                      <a:r>
                        <a:rPr lang="en-US" altLang="zh-CN" sz="1200" b="0" baseline="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MAC</a:t>
                      </a:r>
                    </a:p>
                    <a:p>
                      <a:pPr algn="ctr"/>
                      <a:r>
                        <a:rPr lang="zh-CN" altLang="en-US" sz="1200" b="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200" b="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b="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MAC B</a:t>
                      </a:r>
                      <a:endParaRPr lang="zh-CN" altLang="en-US" sz="1200" b="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rgbClr val="F2FBFC"/>
                    </a:solidFill>
                  </a:tcPr>
                </a:tc>
                <a:extLst>
                  <a:ext uri="{0D108BD9-81ED-4DB2-BD59-A6C34878D82A}">
                    <a16:rowId xmlns:a16="http://schemas.microsoft.com/office/drawing/2014/main" val="10003"/>
                  </a:ext>
                </a:extLst>
              </a:tr>
            </a:tbl>
          </a:graphicData>
        </a:graphic>
      </p:graphicFrame>
      <p:sp>
        <p:nvSpPr>
          <p:cNvPr id="51" name="圆角矩形 50"/>
          <p:cNvSpPr/>
          <p:nvPr/>
        </p:nvSpPr>
        <p:spPr bwMode="gray">
          <a:xfrm>
            <a:off x="711404" y="5943600"/>
            <a:ext cx="1474584" cy="257175"/>
          </a:xfrm>
          <a:prstGeom prst="roundRect">
            <a:avLst/>
          </a:prstGeom>
          <a:solidFill>
            <a:schemeClr val="bg1">
              <a:lumMod val="7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地址通告</a:t>
            </a:r>
          </a:p>
        </p:txBody>
      </p:sp>
      <p:sp>
        <p:nvSpPr>
          <p:cNvPr id="52" name="圆角矩形 51"/>
          <p:cNvSpPr/>
          <p:nvPr/>
        </p:nvSpPr>
        <p:spPr bwMode="gray">
          <a:xfrm>
            <a:off x="2185988" y="5943600"/>
            <a:ext cx="1474584" cy="257175"/>
          </a:xfrm>
          <a:prstGeom prst="roundRect">
            <a:avLst/>
          </a:prstGeom>
          <a:solidFill>
            <a:schemeClr val="bg1">
              <a:lumMod val="75000"/>
            </a:schemeClr>
          </a:solidFill>
          <a:ln w="95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通告</a:t>
            </a:r>
          </a:p>
        </p:txBody>
      </p:sp>
      <p:sp>
        <p:nvSpPr>
          <p:cNvPr id="53" name="圆角矩形 52"/>
          <p:cNvSpPr/>
          <p:nvPr/>
        </p:nvSpPr>
        <p:spPr bwMode="gray">
          <a:xfrm>
            <a:off x="3673695" y="5943600"/>
            <a:ext cx="1474584" cy="257175"/>
          </a:xfrm>
          <a:prstGeom prst="roundRect">
            <a:avLst/>
          </a:prstGeom>
          <a:solidFill>
            <a:srgbClr val="AFD89C"/>
          </a:solid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主机</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路由通告</a:t>
            </a:r>
          </a:p>
        </p:txBody>
      </p:sp>
      <p:sp>
        <p:nvSpPr>
          <p:cNvPr id="48" name="五边形 24">
            <a:extLst>
              <a:ext uri="{FF2B5EF4-FFF2-40B4-BE49-F238E27FC236}">
                <a16:creationId xmlns:a16="http://schemas.microsoft.com/office/drawing/2014/main" id="{66BA07AD-FEEF-4CB3-8D55-B5A235B0FBAC}"/>
              </a:ext>
            </a:extLst>
          </p:cNvPr>
          <p:cNvSpPr/>
          <p:nvPr/>
        </p:nvSpPr>
        <p:spPr bwMode="gray">
          <a:xfrm>
            <a:off x="8632182" y="124239"/>
            <a:ext cx="108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Type 2</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26">
            <a:extLst>
              <a:ext uri="{FF2B5EF4-FFF2-40B4-BE49-F238E27FC236}">
                <a16:creationId xmlns:a16="http://schemas.microsoft.com/office/drawing/2014/main" id="{0C19331F-8FCC-488E-9C32-A3F774208D1E}"/>
              </a:ext>
            </a:extLst>
          </p:cNvPr>
          <p:cNvSpPr/>
          <p:nvPr/>
        </p:nvSpPr>
        <p:spPr bwMode="gray">
          <a:xfrm>
            <a:off x="10629670"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5</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p>
        </p:txBody>
      </p:sp>
      <p:sp>
        <p:nvSpPr>
          <p:cNvPr id="50" name="燕尾形 26">
            <a:extLst>
              <a:ext uri="{FF2B5EF4-FFF2-40B4-BE49-F238E27FC236}">
                <a16:creationId xmlns:a16="http://schemas.microsoft.com/office/drawing/2014/main" id="{5C797163-D6D3-4ACC-996D-421D87F18D19}"/>
              </a:ext>
            </a:extLst>
          </p:cNvPr>
          <p:cNvSpPr/>
          <p:nvPr/>
        </p:nvSpPr>
        <p:spPr bwMode="gray">
          <a:xfrm>
            <a:off x="9630926"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3</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9792083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sym typeface="Huawei Sans" panose="020C0503030203020204" pitchFamily="34" charset="0"/>
              </a:rPr>
              <a:t>Type 3</a:t>
            </a:r>
            <a:r>
              <a:rPr lang="zh-CN" altLang="en-US" dirty="0">
                <a:sym typeface="Huawei Sans" panose="020C0503030203020204" pitchFamily="34" charset="0"/>
              </a:rPr>
              <a:t>类路由描述</a:t>
            </a:r>
          </a:p>
        </p:txBody>
      </p:sp>
      <p:sp>
        <p:nvSpPr>
          <p:cNvPr id="5" name="文本占位符 4"/>
          <p:cNvSpPr>
            <a:spLocks noGrp="1"/>
          </p:cNvSpPr>
          <p:nvPr>
            <p:ph type="body" sz="quarter" idx="10"/>
          </p:nvPr>
        </p:nvSpPr>
        <p:spPr bwMode="gray">
          <a:xfrm>
            <a:off x="455613" y="1047751"/>
            <a:ext cx="11256962" cy="1756410"/>
          </a:xfrm>
        </p:spPr>
        <p:txBody>
          <a:bodyPr/>
          <a:lstStyle/>
          <a:p>
            <a:r>
              <a:rPr lang="en-US" altLang="zh-CN" sz="1800" dirty="0">
                <a:sym typeface="Huawei Sans" panose="020C0503030203020204" pitchFamily="34" charset="0"/>
              </a:rPr>
              <a:t>Type 3</a:t>
            </a:r>
            <a:r>
              <a:rPr lang="zh-CN" altLang="en-US" sz="1800" dirty="0">
                <a:sym typeface="Huawei Sans" panose="020C0503030203020204" pitchFamily="34" charset="0"/>
              </a:rPr>
              <a:t>路由（</a:t>
            </a:r>
            <a:r>
              <a:rPr lang="en-US" altLang="zh-CN" sz="1800" dirty="0">
                <a:sym typeface="Huawei Sans" panose="020C0503030203020204" pitchFamily="34" charset="0"/>
              </a:rPr>
              <a:t>Inclusive Multicast</a:t>
            </a:r>
            <a:r>
              <a:rPr lang="zh-CN" altLang="en-US" sz="1800" dirty="0">
                <a:sym typeface="Huawei Sans" panose="020C0503030203020204" pitchFamily="34" charset="0"/>
              </a:rPr>
              <a:t>路由）：</a:t>
            </a:r>
          </a:p>
          <a:p>
            <a:pPr lvl="1"/>
            <a:r>
              <a:rPr lang="zh-CN" altLang="en-US" sz="1600" dirty="0">
                <a:highlight>
                  <a:srgbClr val="FFFF00"/>
                </a:highlight>
                <a:sym typeface="Huawei Sans" panose="020C0503030203020204" pitchFamily="34" charset="0"/>
              </a:rPr>
              <a:t>该类型路由在</a:t>
            </a:r>
            <a:r>
              <a:rPr lang="en-US" altLang="zh-CN" sz="1600" dirty="0">
                <a:highlight>
                  <a:srgbClr val="FFFF00"/>
                </a:highlight>
                <a:sym typeface="Huawei Sans" panose="020C0503030203020204" pitchFamily="34" charset="0"/>
              </a:rPr>
              <a:t>VXLAN</a:t>
            </a:r>
            <a:r>
              <a:rPr lang="zh-CN" altLang="en-US" sz="1600" dirty="0">
                <a:highlight>
                  <a:srgbClr val="FFFF00"/>
                </a:highlight>
                <a:sym typeface="Huawei Sans" panose="020C0503030203020204" pitchFamily="34" charset="0"/>
              </a:rPr>
              <a:t>控制平面中主要用于</a:t>
            </a:r>
            <a:r>
              <a:rPr lang="en-US" altLang="zh-CN" sz="1600" dirty="0">
                <a:highlight>
                  <a:srgbClr val="FFFF00"/>
                </a:highlight>
                <a:sym typeface="Huawei Sans" panose="020C0503030203020204" pitchFamily="34" charset="0"/>
              </a:rPr>
              <a:t>VTEP</a:t>
            </a:r>
            <a:r>
              <a:rPr lang="zh-CN" altLang="en-US" sz="1600" dirty="0">
                <a:highlight>
                  <a:srgbClr val="FFFF00"/>
                </a:highlight>
                <a:sym typeface="Huawei Sans" panose="020C0503030203020204" pitchFamily="34" charset="0"/>
              </a:rPr>
              <a:t>的自动发现和</a:t>
            </a:r>
            <a:r>
              <a:rPr lang="en-US" altLang="zh-CN" sz="1600" dirty="0">
                <a:highlight>
                  <a:srgbClr val="FFFF00"/>
                </a:highlight>
                <a:sym typeface="Huawei Sans" panose="020C0503030203020204" pitchFamily="34" charset="0"/>
              </a:rPr>
              <a:t>VXLAN</a:t>
            </a:r>
            <a:r>
              <a:rPr lang="zh-CN" altLang="en-US" sz="1600" dirty="0">
                <a:highlight>
                  <a:srgbClr val="FFFF00"/>
                </a:highlight>
                <a:sym typeface="Huawei Sans" panose="020C0503030203020204" pitchFamily="34" charset="0"/>
              </a:rPr>
              <a:t>隧道的动态建立。</a:t>
            </a:r>
          </a:p>
          <a:p>
            <a:pPr lvl="1"/>
            <a:r>
              <a:rPr lang="zh-CN" altLang="en-US" sz="1600" dirty="0">
                <a:sym typeface="Huawei Sans" panose="020C0503030203020204" pitchFamily="34" charset="0"/>
              </a:rPr>
              <a:t>作为</a:t>
            </a:r>
            <a:r>
              <a:rPr lang="en-US" altLang="zh-CN" sz="1600" dirty="0">
                <a:sym typeface="Huawei Sans" panose="020C0503030203020204" pitchFamily="34" charset="0"/>
              </a:rPr>
              <a:t>BGP EVPN</a:t>
            </a:r>
            <a:r>
              <a:rPr lang="zh-CN" altLang="en-US" sz="1600" dirty="0">
                <a:sym typeface="Huawei Sans" panose="020C0503030203020204" pitchFamily="34" charset="0"/>
              </a:rPr>
              <a:t>对等体的</a:t>
            </a:r>
            <a:r>
              <a:rPr lang="en-US" altLang="zh-CN" sz="1600" dirty="0">
                <a:sym typeface="Huawei Sans" panose="020C0503030203020204" pitchFamily="34" charset="0"/>
              </a:rPr>
              <a:t>VTEP</a:t>
            </a:r>
            <a:r>
              <a:rPr lang="zh-CN" altLang="en-US" sz="1600" dirty="0">
                <a:sym typeface="Huawei Sans" panose="020C0503030203020204" pitchFamily="34" charset="0"/>
              </a:rPr>
              <a:t>，通过</a:t>
            </a:r>
            <a:r>
              <a:rPr lang="en-US" altLang="zh-CN" sz="1600" dirty="0">
                <a:sym typeface="Huawei Sans" panose="020C0503030203020204" pitchFamily="34" charset="0"/>
              </a:rPr>
              <a:t>Inclusive Multicast</a:t>
            </a:r>
            <a:r>
              <a:rPr lang="zh-CN" altLang="en-US" sz="1600" dirty="0">
                <a:sym typeface="Huawei Sans" panose="020C0503030203020204" pitchFamily="34" charset="0"/>
              </a:rPr>
              <a:t>路由互相传递二层</a:t>
            </a:r>
            <a:r>
              <a:rPr lang="en-US" altLang="zh-CN" sz="1600" dirty="0">
                <a:sym typeface="Huawei Sans" panose="020C0503030203020204" pitchFamily="34" charset="0"/>
              </a:rPr>
              <a:t>VNI</a:t>
            </a:r>
            <a:r>
              <a:rPr lang="zh-CN" altLang="en-US" sz="1600" dirty="0">
                <a:sym typeface="Huawei Sans" panose="020C0503030203020204" pitchFamily="34" charset="0"/>
              </a:rPr>
              <a:t>和</a:t>
            </a:r>
            <a:r>
              <a:rPr lang="en-US" altLang="zh-CN" sz="1600" dirty="0">
                <a:sym typeface="Huawei Sans" panose="020C0503030203020204" pitchFamily="34" charset="0"/>
              </a:rPr>
              <a:t>VTEP IP</a:t>
            </a:r>
            <a:r>
              <a:rPr lang="zh-CN" altLang="en-US" sz="1600" dirty="0">
                <a:sym typeface="Huawei Sans" panose="020C0503030203020204" pitchFamily="34" charset="0"/>
              </a:rPr>
              <a:t>地址信息。</a:t>
            </a:r>
          </a:p>
          <a:p>
            <a:pPr lvl="1"/>
            <a:r>
              <a:rPr lang="zh-CN" altLang="en-US" sz="1600" dirty="0">
                <a:sym typeface="Huawei Sans" panose="020C0503030203020204" pitchFamily="34" charset="0"/>
              </a:rPr>
              <a:t>其中，</a:t>
            </a:r>
            <a:r>
              <a:rPr lang="en-US" altLang="zh-CN" sz="1600" dirty="0">
                <a:sym typeface="Huawei Sans" panose="020C0503030203020204" pitchFamily="34" charset="0"/>
              </a:rPr>
              <a:t>Originating Router's IP Address</a:t>
            </a:r>
            <a:r>
              <a:rPr lang="zh-CN" altLang="en-US" sz="1600" dirty="0">
                <a:sym typeface="Huawei Sans" panose="020C0503030203020204" pitchFamily="34" charset="0"/>
              </a:rPr>
              <a:t>字段为本端</a:t>
            </a:r>
            <a:r>
              <a:rPr lang="en-US" altLang="zh-CN" sz="1600" dirty="0">
                <a:sym typeface="Huawei Sans" panose="020C0503030203020204" pitchFamily="34" charset="0"/>
              </a:rPr>
              <a:t>VTEP IP</a:t>
            </a:r>
            <a:r>
              <a:rPr lang="zh-CN" altLang="en-US" sz="1600" dirty="0">
                <a:sym typeface="Huawei Sans" panose="020C0503030203020204" pitchFamily="34" charset="0"/>
              </a:rPr>
              <a:t>地址，</a:t>
            </a:r>
            <a:r>
              <a:rPr lang="en-US" altLang="zh-CN" sz="1600" dirty="0">
                <a:sym typeface="Huawei Sans" panose="020C0503030203020204" pitchFamily="34" charset="0"/>
              </a:rPr>
              <a:t>MPLS Label</a:t>
            </a:r>
            <a:r>
              <a:rPr lang="zh-CN" altLang="en-US" sz="1600" dirty="0">
                <a:sym typeface="Huawei Sans" panose="020C0503030203020204" pitchFamily="34" charset="0"/>
              </a:rPr>
              <a:t>字段为二层</a:t>
            </a:r>
            <a:r>
              <a:rPr lang="en-US" altLang="zh-CN" sz="1600" dirty="0">
                <a:sym typeface="Huawei Sans" panose="020C0503030203020204" pitchFamily="34" charset="0"/>
              </a:rPr>
              <a:t>VNI</a:t>
            </a:r>
            <a:r>
              <a:rPr lang="zh-CN" altLang="en-US" sz="1600" dirty="0">
                <a:sym typeface="Huawei Sans" panose="020C0503030203020204" pitchFamily="34" charset="0"/>
              </a:rPr>
              <a:t>。</a:t>
            </a:r>
          </a:p>
          <a:p>
            <a:endParaRPr lang="zh-CN" altLang="en-US" sz="1800" dirty="0">
              <a:sym typeface="Huawei Sans" panose="020C0503030203020204" pitchFamily="34" charset="0"/>
            </a:endParaRPr>
          </a:p>
        </p:txBody>
      </p:sp>
      <p:graphicFrame>
        <p:nvGraphicFramePr>
          <p:cNvPr id="7" name="表格 6">
            <a:extLst>
              <a:ext uri="{FF2B5EF4-FFF2-40B4-BE49-F238E27FC236}">
                <a16:creationId xmlns:a16="http://schemas.microsoft.com/office/drawing/2014/main" id="{4F7C5B2C-6238-4E83-8D96-FEB72F238DED}"/>
              </a:ext>
            </a:extLst>
          </p:cNvPr>
          <p:cNvGraphicFramePr>
            <a:graphicFrameLocks noGrp="1"/>
          </p:cNvGraphicFramePr>
          <p:nvPr>
            <p:extLst>
              <p:ext uri="{D42A27DB-BD31-4B8C-83A1-F6EECF244321}">
                <p14:modId xmlns:p14="http://schemas.microsoft.com/office/powerpoint/2010/main" val="2550822121"/>
              </p:ext>
            </p:extLst>
          </p:nvPr>
        </p:nvGraphicFramePr>
        <p:xfrm>
          <a:off x="1883188" y="3246853"/>
          <a:ext cx="4047384" cy="1281600"/>
        </p:xfrm>
        <a:graphic>
          <a:graphicData uri="http://schemas.openxmlformats.org/drawingml/2006/table">
            <a:tbl>
              <a:tblPr firstRow="1" bandRow="1">
                <a:tableStyleId>{5940675A-B579-460E-94D1-54222C63F5DA}</a:tableStyleId>
              </a:tblPr>
              <a:tblGrid>
                <a:gridCol w="4047384">
                  <a:extLst>
                    <a:ext uri="{9D8B030D-6E8A-4147-A177-3AD203B41FA5}">
                      <a16:colId xmlns:a16="http://schemas.microsoft.com/office/drawing/2014/main" val="20000"/>
                    </a:ext>
                  </a:extLst>
                </a:gridCol>
              </a:tblGrid>
              <a:tr h="320400">
                <a:tc>
                  <a:txBody>
                    <a:bodyPr/>
                    <a:lstStyle/>
                    <a:p>
                      <a:r>
                        <a:rPr lang="en-US" sz="1400" dirty="0">
                          <a:latin typeface="Huawei Sans" panose="020C0503030203020204" pitchFamily="34" charset="0"/>
                          <a:ea typeface="方正兰亭黑简体" panose="02000000000000000000" pitchFamily="2" charset="-122"/>
                          <a:sym typeface="Huawei Sans" panose="020C0503030203020204" pitchFamily="34" charset="0"/>
                        </a:rPr>
                        <a:t>Route Distinguisher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8 Byte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8100" marR="38100" marT="38100" marB="38100" anchor="ctr">
                    <a:solidFill>
                      <a:schemeClr val="bg1">
                        <a:lumMod val="95000"/>
                      </a:schemeClr>
                    </a:solidFill>
                  </a:tcPr>
                </a:tc>
                <a:extLst>
                  <a:ext uri="{0D108BD9-81ED-4DB2-BD59-A6C34878D82A}">
                    <a16:rowId xmlns:a16="http://schemas.microsoft.com/office/drawing/2014/main" val="10000"/>
                  </a:ext>
                </a:extLst>
              </a:tr>
              <a:tr h="320400">
                <a:tc>
                  <a:txBody>
                    <a:bodyPr/>
                    <a:lstStyle/>
                    <a:p>
                      <a:r>
                        <a:rPr lang="en-US" sz="1400" dirty="0">
                          <a:latin typeface="Huawei Sans" panose="020C0503030203020204" pitchFamily="34" charset="0"/>
                          <a:ea typeface="方正兰亭黑简体" panose="02000000000000000000" pitchFamily="2" charset="-122"/>
                          <a:sym typeface="Huawei Sans" panose="020C0503030203020204" pitchFamily="34" charset="0"/>
                        </a:rPr>
                        <a:t>Ethernet Tag ID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4 Byte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8100" marR="38100" marT="38100" marB="38100" anchor="ctr">
                    <a:solidFill>
                      <a:schemeClr val="bg1">
                        <a:lumMod val="95000"/>
                      </a:schemeClr>
                    </a:solidFill>
                  </a:tcPr>
                </a:tc>
                <a:extLst>
                  <a:ext uri="{0D108BD9-81ED-4DB2-BD59-A6C34878D82A}">
                    <a16:rowId xmlns:a16="http://schemas.microsoft.com/office/drawing/2014/main" val="10001"/>
                  </a:ext>
                </a:extLst>
              </a:tr>
              <a:tr h="320400">
                <a:tc>
                  <a:txBody>
                    <a:bodyPr/>
                    <a:lstStyle/>
                    <a:p>
                      <a:r>
                        <a:rPr lang="en-US" sz="1400" dirty="0">
                          <a:latin typeface="Huawei Sans" panose="020C0503030203020204" pitchFamily="34" charset="0"/>
                          <a:ea typeface="方正兰亭黑简体" panose="02000000000000000000" pitchFamily="2" charset="-122"/>
                          <a:sym typeface="Huawei Sans" panose="020C0503030203020204" pitchFamily="34" charset="0"/>
                        </a:rPr>
                        <a:t>IP Address Length</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 Byte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8100" marR="38100" marT="38100" marB="38100" anchor="ctr">
                    <a:solidFill>
                      <a:srgbClr val="FFF7E1"/>
                    </a:solidFill>
                  </a:tcPr>
                </a:tc>
                <a:extLst>
                  <a:ext uri="{0D108BD9-81ED-4DB2-BD59-A6C34878D82A}">
                    <a16:rowId xmlns:a16="http://schemas.microsoft.com/office/drawing/2014/main" val="10002"/>
                  </a:ext>
                </a:extLst>
              </a:tr>
              <a:tr h="320400">
                <a:tc>
                  <a:txBody>
                    <a:bodyPr/>
                    <a:lstStyle/>
                    <a:p>
                      <a:r>
                        <a:rPr lang="en-US" sz="1400" dirty="0">
                          <a:latin typeface="Huawei Sans" panose="020C0503030203020204" pitchFamily="34" charset="0"/>
                          <a:ea typeface="方正兰亭黑简体" panose="02000000000000000000" pitchFamily="2" charset="-122"/>
                          <a:sym typeface="Huawei Sans" panose="020C0503030203020204" pitchFamily="34" charset="0"/>
                        </a:rPr>
                        <a:t>Originating Router‘s IP Address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或</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16 Byte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8100" marR="38100" marT="38100" marB="38100" anchor="ctr">
                    <a:solidFill>
                      <a:srgbClr val="FFF7E1"/>
                    </a:solidFill>
                  </a:tcPr>
                </a:tc>
                <a:extLst>
                  <a:ext uri="{0D108BD9-81ED-4DB2-BD59-A6C34878D82A}">
                    <a16:rowId xmlns:a16="http://schemas.microsoft.com/office/drawing/2014/main" val="10003"/>
                  </a:ext>
                </a:extLst>
              </a:tr>
            </a:tbl>
          </a:graphicData>
        </a:graphic>
      </p:graphicFrame>
      <p:graphicFrame>
        <p:nvGraphicFramePr>
          <p:cNvPr id="9" name="表格 8">
            <a:extLst>
              <a:ext uri="{FF2B5EF4-FFF2-40B4-BE49-F238E27FC236}">
                <a16:creationId xmlns:a16="http://schemas.microsoft.com/office/drawing/2014/main" id="{C56FABA7-E43D-43E9-AB55-8F24AB65DBBB}"/>
              </a:ext>
            </a:extLst>
          </p:cNvPr>
          <p:cNvGraphicFramePr>
            <a:graphicFrameLocks noGrp="1"/>
          </p:cNvGraphicFramePr>
          <p:nvPr>
            <p:extLst>
              <p:ext uri="{D42A27DB-BD31-4B8C-83A1-F6EECF244321}">
                <p14:modId xmlns:p14="http://schemas.microsoft.com/office/powerpoint/2010/main" val="2515729611"/>
              </p:ext>
            </p:extLst>
          </p:nvPr>
        </p:nvGraphicFramePr>
        <p:xfrm>
          <a:off x="6364355" y="3246854"/>
          <a:ext cx="4872128" cy="1281600"/>
        </p:xfrm>
        <a:graphic>
          <a:graphicData uri="http://schemas.openxmlformats.org/drawingml/2006/table">
            <a:tbl>
              <a:tblPr>
                <a:tableStyleId>{5940675A-B579-460E-94D1-54222C63F5DA}</a:tableStyleId>
              </a:tblPr>
              <a:tblGrid>
                <a:gridCol w="4872128">
                  <a:extLst>
                    <a:ext uri="{9D8B030D-6E8A-4147-A177-3AD203B41FA5}">
                      <a16:colId xmlns:a16="http://schemas.microsoft.com/office/drawing/2014/main" val="20000"/>
                    </a:ext>
                  </a:extLst>
                </a:gridCol>
              </a:tblGrid>
              <a:tr h="320400">
                <a:tc>
                  <a:txBody>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该字段为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EVPN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实例下设置的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值。</a:t>
                      </a:r>
                    </a:p>
                  </a:txBody>
                  <a:tcPr marL="23295" marR="23295" marT="23295" marB="23295"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5"/>
                  </a:ext>
                </a:extLst>
              </a:tr>
              <a:tr h="320400">
                <a:tc>
                  <a:txBody>
                    <a:bodyPr/>
                    <a:lstStyle/>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该字段为当前设备上的</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VLAN ID</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。在此路由中为全</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a:t>
                      </a:r>
                    </a:p>
                  </a:txBody>
                  <a:tcPr marL="23295" marR="23295" marT="23295" marB="23295"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6"/>
                  </a:ext>
                </a:extLst>
              </a:tr>
              <a:tr h="320400">
                <a:tc>
                  <a:txBody>
                    <a:bodyPr/>
                    <a:lstStyle/>
                    <a:p>
                      <a:r>
                        <a:rPr lang="zh-CN" altLang="en-US" sz="14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该字段为此路由携带的本端</a:t>
                      </a:r>
                      <a:r>
                        <a:rPr lang="en-US" altLang="zh-CN" sz="14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VTEP IP</a:t>
                      </a:r>
                      <a:r>
                        <a:rPr lang="zh-CN" altLang="en-US" sz="14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地址的掩码长度。</a:t>
                      </a:r>
                    </a:p>
                  </a:txBody>
                  <a:tcPr marL="23295" marR="23295" marT="23295" marB="23295"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7"/>
                  </a:ext>
                </a:extLst>
              </a:tr>
              <a:tr h="320400">
                <a:tc>
                  <a:txBody>
                    <a:bodyPr/>
                    <a:lstStyle/>
                    <a:p>
                      <a:r>
                        <a:rPr lang="zh-CN" altLang="en-US" sz="14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该字段为此路由携带的本端</a:t>
                      </a:r>
                      <a:r>
                        <a:rPr lang="en-US" altLang="zh-CN" sz="14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VTEP IP</a:t>
                      </a:r>
                      <a:r>
                        <a:rPr lang="zh-CN" altLang="en-US" sz="14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地址。</a:t>
                      </a:r>
                    </a:p>
                  </a:txBody>
                  <a:tcPr marL="23295" marR="23295" marT="23295" marB="23295"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
        <p:nvSpPr>
          <p:cNvPr id="10" name="矩形 9">
            <a:extLst>
              <a:ext uri="{FF2B5EF4-FFF2-40B4-BE49-F238E27FC236}">
                <a16:creationId xmlns:a16="http://schemas.microsoft.com/office/drawing/2014/main" id="{AA60BC9C-F3A0-45F3-95FA-0756B177CE6E}"/>
              </a:ext>
            </a:extLst>
          </p:cNvPr>
          <p:cNvSpPr/>
          <p:nvPr/>
        </p:nvSpPr>
        <p:spPr bwMode="gray">
          <a:xfrm>
            <a:off x="766632" y="3856918"/>
            <a:ext cx="989373" cy="307777"/>
          </a:xfrm>
          <a:prstGeom prst="rect">
            <a:avLst/>
          </a:prstGeom>
        </p:spPr>
        <p:txBody>
          <a:bodyPr wrap="none">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NLRI</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格式 </a:t>
            </a:r>
          </a:p>
        </p:txBody>
      </p:sp>
      <p:graphicFrame>
        <p:nvGraphicFramePr>
          <p:cNvPr id="11" name="表格 10">
            <a:extLst>
              <a:ext uri="{FF2B5EF4-FFF2-40B4-BE49-F238E27FC236}">
                <a16:creationId xmlns:a16="http://schemas.microsoft.com/office/drawing/2014/main" id="{67CAF858-3DD2-40FA-A47D-59870A9CBEC1}"/>
              </a:ext>
            </a:extLst>
          </p:cNvPr>
          <p:cNvGraphicFramePr>
            <a:graphicFrameLocks noGrp="1"/>
          </p:cNvGraphicFramePr>
          <p:nvPr>
            <p:extLst>
              <p:ext uri="{D42A27DB-BD31-4B8C-83A1-F6EECF244321}">
                <p14:modId xmlns:p14="http://schemas.microsoft.com/office/powerpoint/2010/main" val="3101892875"/>
              </p:ext>
            </p:extLst>
          </p:nvPr>
        </p:nvGraphicFramePr>
        <p:xfrm>
          <a:off x="1877454" y="4637956"/>
          <a:ext cx="4047384" cy="1281604"/>
        </p:xfrm>
        <a:graphic>
          <a:graphicData uri="http://schemas.openxmlformats.org/drawingml/2006/table">
            <a:tbl>
              <a:tblPr firstRow="1" bandRow="1">
                <a:tableStyleId>{5940675A-B579-460E-94D1-54222C63F5DA}</a:tableStyleId>
              </a:tblPr>
              <a:tblGrid>
                <a:gridCol w="4047384">
                  <a:extLst>
                    <a:ext uri="{9D8B030D-6E8A-4147-A177-3AD203B41FA5}">
                      <a16:colId xmlns:a16="http://schemas.microsoft.com/office/drawing/2014/main" val="20000"/>
                    </a:ext>
                  </a:extLst>
                </a:gridCol>
              </a:tblGrid>
              <a:tr h="320401">
                <a:tc>
                  <a:txBody>
                    <a:bodyPr/>
                    <a:lstStyle/>
                    <a:p>
                      <a:r>
                        <a:rPr lang="en-US" sz="1400" dirty="0">
                          <a:latin typeface="Huawei Sans" panose="020C0503030203020204" pitchFamily="34" charset="0"/>
                          <a:ea typeface="方正兰亭黑简体" panose="02000000000000000000" pitchFamily="2" charset="-122"/>
                          <a:sym typeface="Huawei Sans" panose="020C0503030203020204" pitchFamily="34" charset="0"/>
                        </a:rPr>
                        <a:t>Flags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 Byte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8100" marR="38100" marT="38100" marB="38100" anchor="ctr">
                    <a:solidFill>
                      <a:schemeClr val="bg1">
                        <a:lumMod val="95000"/>
                      </a:schemeClr>
                    </a:solidFill>
                  </a:tcPr>
                </a:tc>
                <a:extLst>
                  <a:ext uri="{0D108BD9-81ED-4DB2-BD59-A6C34878D82A}">
                    <a16:rowId xmlns:a16="http://schemas.microsoft.com/office/drawing/2014/main" val="10000"/>
                  </a:ext>
                </a:extLst>
              </a:tr>
              <a:tr h="320401">
                <a:tc>
                  <a:txBody>
                    <a:bodyPr/>
                    <a:lstStyle/>
                    <a:p>
                      <a:r>
                        <a:rPr lang="en-US" sz="1400" dirty="0">
                          <a:latin typeface="Huawei Sans" panose="020C0503030203020204" pitchFamily="34" charset="0"/>
                          <a:ea typeface="方正兰亭黑简体" panose="02000000000000000000" pitchFamily="2" charset="-122"/>
                          <a:sym typeface="Huawei Sans" panose="020C0503030203020204" pitchFamily="34" charset="0"/>
                        </a:rPr>
                        <a:t>Tunnel Type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 Byte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8100" marR="38100" marT="38100" marB="38100" anchor="ctr">
                    <a:solidFill>
                      <a:schemeClr val="bg1">
                        <a:lumMod val="95000"/>
                      </a:schemeClr>
                    </a:solidFill>
                  </a:tcPr>
                </a:tc>
                <a:extLst>
                  <a:ext uri="{0D108BD9-81ED-4DB2-BD59-A6C34878D82A}">
                    <a16:rowId xmlns:a16="http://schemas.microsoft.com/office/drawing/2014/main" val="10001"/>
                  </a:ext>
                </a:extLst>
              </a:tr>
              <a:tr h="320401">
                <a:tc>
                  <a:txBody>
                    <a:bodyPr/>
                    <a:lstStyle/>
                    <a:p>
                      <a:r>
                        <a:rPr lang="en-US" sz="1400" dirty="0">
                          <a:latin typeface="Huawei Sans" panose="020C0503030203020204" pitchFamily="34" charset="0"/>
                          <a:ea typeface="方正兰亭黑简体" panose="02000000000000000000" pitchFamily="2" charset="-122"/>
                          <a:sym typeface="Huawei Sans" panose="020C0503030203020204" pitchFamily="34" charset="0"/>
                        </a:rPr>
                        <a:t>MPLS Label</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3 Byte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层</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VNI</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8100" marR="38100" marT="38100" marB="38100" anchor="ctr">
                    <a:solidFill>
                      <a:srgbClr val="FFF7E1"/>
                    </a:solidFill>
                  </a:tcPr>
                </a:tc>
                <a:extLst>
                  <a:ext uri="{0D108BD9-81ED-4DB2-BD59-A6C34878D82A}">
                    <a16:rowId xmlns:a16="http://schemas.microsoft.com/office/drawing/2014/main" val="10002"/>
                  </a:ext>
                </a:extLst>
              </a:tr>
              <a:tr h="320401">
                <a:tc>
                  <a:txBody>
                    <a:bodyPr/>
                    <a:lstStyle/>
                    <a:p>
                      <a:r>
                        <a:rPr lang="en-US" sz="1400" dirty="0">
                          <a:latin typeface="Huawei Sans" panose="020C0503030203020204" pitchFamily="34" charset="0"/>
                          <a:ea typeface="方正兰亭黑简体" panose="02000000000000000000" pitchFamily="2" charset="-122"/>
                          <a:sym typeface="Huawei Sans" panose="020C0503030203020204" pitchFamily="34" charset="0"/>
                        </a:rPr>
                        <a:t>Tunnel Identifier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（变长）</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8100" marR="38100" marT="38100" marB="38100" anchor="ctr">
                    <a:solidFill>
                      <a:schemeClr val="bg1">
                        <a:lumMod val="95000"/>
                      </a:schemeClr>
                    </a:solidFill>
                  </a:tcPr>
                </a:tc>
                <a:extLst>
                  <a:ext uri="{0D108BD9-81ED-4DB2-BD59-A6C34878D82A}">
                    <a16:rowId xmlns:a16="http://schemas.microsoft.com/office/drawing/2014/main" val="10003"/>
                  </a:ext>
                </a:extLst>
              </a:tr>
            </a:tbl>
          </a:graphicData>
        </a:graphic>
      </p:graphicFrame>
      <p:sp>
        <p:nvSpPr>
          <p:cNvPr id="12" name="矩形 11">
            <a:extLst>
              <a:ext uri="{FF2B5EF4-FFF2-40B4-BE49-F238E27FC236}">
                <a16:creationId xmlns:a16="http://schemas.microsoft.com/office/drawing/2014/main" id="{D78FC51D-14F8-48F7-A932-37A8543FA580}"/>
              </a:ext>
            </a:extLst>
          </p:cNvPr>
          <p:cNvSpPr/>
          <p:nvPr/>
        </p:nvSpPr>
        <p:spPr bwMode="gray">
          <a:xfrm>
            <a:off x="754608" y="5020121"/>
            <a:ext cx="982962" cy="307777"/>
          </a:xfrm>
          <a:prstGeom prst="rect">
            <a:avLst/>
          </a:prstGeom>
        </p:spPr>
        <p:txBody>
          <a:bodyPr wrap="none">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PMSI</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属性</a:t>
            </a:r>
          </a:p>
        </p:txBody>
      </p:sp>
      <p:graphicFrame>
        <p:nvGraphicFramePr>
          <p:cNvPr id="13" name="表格 12">
            <a:extLst>
              <a:ext uri="{FF2B5EF4-FFF2-40B4-BE49-F238E27FC236}">
                <a16:creationId xmlns:a16="http://schemas.microsoft.com/office/drawing/2014/main" id="{83426C0D-3A75-4CE6-89F8-B9546836FFC8}"/>
              </a:ext>
            </a:extLst>
          </p:cNvPr>
          <p:cNvGraphicFramePr>
            <a:graphicFrameLocks noGrp="1"/>
          </p:cNvGraphicFramePr>
          <p:nvPr>
            <p:extLst>
              <p:ext uri="{D42A27DB-BD31-4B8C-83A1-F6EECF244321}">
                <p14:modId xmlns:p14="http://schemas.microsoft.com/office/powerpoint/2010/main" val="389247284"/>
              </p:ext>
            </p:extLst>
          </p:nvPr>
        </p:nvGraphicFramePr>
        <p:xfrm>
          <a:off x="6364355" y="4637958"/>
          <a:ext cx="4872128" cy="1281600"/>
        </p:xfrm>
        <a:graphic>
          <a:graphicData uri="http://schemas.openxmlformats.org/drawingml/2006/table">
            <a:tbl>
              <a:tblPr>
                <a:tableStyleId>{5940675A-B579-460E-94D1-54222C63F5DA}</a:tableStyleId>
              </a:tblPr>
              <a:tblGrid>
                <a:gridCol w="4872128">
                  <a:extLst>
                    <a:ext uri="{9D8B030D-6E8A-4147-A177-3AD203B41FA5}">
                      <a16:colId xmlns:a16="http://schemas.microsoft.com/office/drawing/2014/main" val="20000"/>
                    </a:ext>
                  </a:extLst>
                </a:gridCol>
              </a:tblGrid>
              <a:tr h="320400">
                <a:tc>
                  <a:txBody>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场景中，该字段没有实际意义。</a:t>
                      </a:r>
                    </a:p>
                  </a:txBody>
                  <a:tcPr marL="23295" marR="23295" marT="23295" marB="23295"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5"/>
                  </a:ext>
                </a:extLst>
              </a:tr>
              <a:tr h="320400">
                <a:tc>
                  <a:txBody>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场景中，支持的类型为“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6</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Ingress Replication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p>
                  </a:txBody>
                  <a:tcPr marL="23295" marR="23295" marT="23295" marB="23295"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6"/>
                  </a:ext>
                </a:extLst>
              </a:tr>
              <a:tr h="320400">
                <a:tc>
                  <a:txBody>
                    <a:bodyPr/>
                    <a:lstStyle/>
                    <a:p>
                      <a:r>
                        <a:rPr lang="zh-CN" altLang="en-US" sz="14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该字段为此路由携带的二层</a:t>
                      </a:r>
                      <a:r>
                        <a:rPr lang="en-US" altLang="zh-CN" sz="14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VNI</a:t>
                      </a:r>
                      <a:r>
                        <a:rPr lang="zh-CN" altLang="en-US" sz="1400" dirty="0">
                          <a:solidFill>
                            <a:srgbClr val="FF0000"/>
                          </a:solidFill>
                          <a:latin typeface="Huawei Sans" panose="020C0503030203020204" pitchFamily="34" charset="0"/>
                          <a:ea typeface="方正兰亭黑简体" panose="02000000000000000000" pitchFamily="2" charset="-122"/>
                          <a:sym typeface="Huawei Sans" panose="020C0503030203020204" pitchFamily="34" charset="0"/>
                        </a:rPr>
                        <a:t>。</a:t>
                      </a:r>
                    </a:p>
                  </a:txBody>
                  <a:tcPr marL="23295" marR="23295" marT="23295" marB="23295"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7"/>
                  </a:ext>
                </a:extLst>
              </a:tr>
              <a:tr h="320400">
                <a:tc>
                  <a:txBody>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场景中，该字段也是本端</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 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a:t>
                      </a:r>
                    </a:p>
                  </a:txBody>
                  <a:tcPr marL="23295" marR="23295" marT="23295" marB="23295"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
        <p:nvSpPr>
          <p:cNvPr id="17" name="五边形 24">
            <a:extLst>
              <a:ext uri="{FF2B5EF4-FFF2-40B4-BE49-F238E27FC236}">
                <a16:creationId xmlns:a16="http://schemas.microsoft.com/office/drawing/2014/main" id="{66BA07AD-FEEF-4CB3-8D55-B5A235B0FBAC}"/>
              </a:ext>
            </a:extLst>
          </p:cNvPr>
          <p:cNvSpPr/>
          <p:nvPr/>
        </p:nvSpPr>
        <p:spPr bwMode="gray">
          <a:xfrm>
            <a:off x="8632177" y="124239"/>
            <a:ext cx="108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2</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燕尾形 26">
            <a:extLst>
              <a:ext uri="{FF2B5EF4-FFF2-40B4-BE49-F238E27FC236}">
                <a16:creationId xmlns:a16="http://schemas.microsoft.com/office/drawing/2014/main" id="{0C19331F-8FCC-488E-9C32-A3F774208D1E}"/>
              </a:ext>
            </a:extLst>
          </p:cNvPr>
          <p:cNvSpPr/>
          <p:nvPr/>
        </p:nvSpPr>
        <p:spPr bwMode="gray">
          <a:xfrm>
            <a:off x="10629665"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5</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p>
        </p:txBody>
      </p:sp>
      <p:sp>
        <p:nvSpPr>
          <p:cNvPr id="19" name="燕尾形 26">
            <a:extLst>
              <a:ext uri="{FF2B5EF4-FFF2-40B4-BE49-F238E27FC236}">
                <a16:creationId xmlns:a16="http://schemas.microsoft.com/office/drawing/2014/main" id="{5C797163-D6D3-4ACC-996D-421D87F18D19}"/>
              </a:ext>
            </a:extLst>
          </p:cNvPr>
          <p:cNvSpPr/>
          <p:nvPr/>
        </p:nvSpPr>
        <p:spPr bwMode="gray">
          <a:xfrm>
            <a:off x="9630921" y="124239"/>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Type 3</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1037739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sym typeface="Huawei Sans" panose="020C0503030203020204" pitchFamily="34" charset="0"/>
              </a:rPr>
              <a:t>建立</a:t>
            </a:r>
            <a:r>
              <a:rPr lang="en-US" altLang="zh-CN">
                <a:sym typeface="Huawei Sans" panose="020C0503030203020204" pitchFamily="34" charset="0"/>
              </a:rPr>
              <a:t>VXLAN</a:t>
            </a:r>
            <a:r>
              <a:rPr lang="zh-CN" altLang="en-US">
                <a:sym typeface="Huawei Sans" panose="020C0503030203020204" pitchFamily="34" charset="0"/>
              </a:rPr>
              <a:t>隧道</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a:xfrm>
            <a:off x="455613" y="1047750"/>
            <a:ext cx="11256962" cy="1273349"/>
          </a:xfrm>
        </p:spPr>
        <p:txBody>
          <a:bodyPr/>
          <a:lstStyle/>
          <a:p>
            <a:r>
              <a:rPr lang="en-US" altLang="zh-CN" sz="1800" dirty="0">
                <a:sym typeface="Huawei Sans" panose="020C0503030203020204" pitchFamily="34" charset="0"/>
              </a:rPr>
              <a:t>VTEP</a:t>
            </a:r>
            <a:r>
              <a:rPr lang="zh-CN" altLang="en-US" sz="1800" dirty="0">
                <a:sym typeface="Huawei Sans" panose="020C0503030203020204" pitchFamily="34" charset="0"/>
              </a:rPr>
              <a:t>通过</a:t>
            </a:r>
            <a:r>
              <a:rPr lang="en-US" altLang="zh-CN" sz="1800" dirty="0">
                <a:sym typeface="Huawei Sans" panose="020C0503030203020204" pitchFamily="34" charset="0"/>
              </a:rPr>
              <a:t>Type 3</a:t>
            </a:r>
            <a:r>
              <a:rPr lang="zh-CN" altLang="en-US" sz="1800" dirty="0">
                <a:sym typeface="Huawei Sans" panose="020C0503030203020204" pitchFamily="34" charset="0"/>
              </a:rPr>
              <a:t>路由互相传递二层</a:t>
            </a:r>
            <a:r>
              <a:rPr lang="en-US" altLang="zh-CN" sz="1800" dirty="0">
                <a:sym typeface="Huawei Sans" panose="020C0503030203020204" pitchFamily="34" charset="0"/>
              </a:rPr>
              <a:t>VNI</a:t>
            </a:r>
            <a:r>
              <a:rPr lang="zh-CN" altLang="en-US" sz="1800" dirty="0">
                <a:sym typeface="Huawei Sans" panose="020C0503030203020204" pitchFamily="34" charset="0"/>
              </a:rPr>
              <a:t>和</a:t>
            </a:r>
            <a:r>
              <a:rPr lang="en-US" altLang="zh-CN" sz="1800" dirty="0">
                <a:sym typeface="Huawei Sans" panose="020C0503030203020204" pitchFamily="34" charset="0"/>
              </a:rPr>
              <a:t>VTEP IP</a:t>
            </a:r>
            <a:r>
              <a:rPr lang="zh-CN" altLang="en-US" sz="1800" dirty="0">
                <a:sym typeface="Huawei Sans" panose="020C0503030203020204" pitchFamily="34" charset="0"/>
              </a:rPr>
              <a:t>地址信息。如果对端</a:t>
            </a:r>
            <a:r>
              <a:rPr lang="en-US" altLang="zh-CN" sz="1800" dirty="0">
                <a:sym typeface="Huawei Sans" panose="020C0503030203020204" pitchFamily="34" charset="0"/>
              </a:rPr>
              <a:t>VTEP IP</a:t>
            </a:r>
            <a:r>
              <a:rPr lang="zh-CN" altLang="en-US" sz="1800" dirty="0">
                <a:sym typeface="Huawei Sans" panose="020C0503030203020204" pitchFamily="34" charset="0"/>
              </a:rPr>
              <a:t>地址是三层路由可达的，则建立一条到对端的</a:t>
            </a:r>
            <a:r>
              <a:rPr lang="en-US" altLang="zh-CN" sz="1800" dirty="0">
                <a:sym typeface="Huawei Sans" panose="020C0503030203020204" pitchFamily="34" charset="0"/>
              </a:rPr>
              <a:t>VXLAN</a:t>
            </a:r>
            <a:r>
              <a:rPr lang="zh-CN" altLang="en-US" sz="1800" dirty="0">
                <a:sym typeface="Huawei Sans" panose="020C0503030203020204" pitchFamily="34" charset="0"/>
              </a:rPr>
              <a:t>隧道。同时，如果对端</a:t>
            </a:r>
            <a:r>
              <a:rPr lang="en-US" altLang="zh-CN" sz="1800" dirty="0">
                <a:sym typeface="Huawei Sans" panose="020C0503030203020204" pitchFamily="34" charset="0"/>
              </a:rPr>
              <a:t>VNI</a:t>
            </a:r>
            <a:r>
              <a:rPr lang="zh-CN" altLang="en-US" sz="1800" dirty="0">
                <a:sym typeface="Huawei Sans" panose="020C0503030203020204" pitchFamily="34" charset="0"/>
              </a:rPr>
              <a:t>与本端相同，则创建一个头端复制列表，用于后续</a:t>
            </a:r>
            <a:r>
              <a:rPr lang="en-US" altLang="zh-CN" sz="1800" dirty="0">
                <a:sym typeface="Huawei Sans" panose="020C0503030203020204" pitchFamily="34" charset="0"/>
              </a:rPr>
              <a:t>BUM</a:t>
            </a:r>
            <a:r>
              <a:rPr lang="zh-CN" altLang="en-US" sz="1800" dirty="0">
                <a:sym typeface="Huawei Sans" panose="020C0503030203020204" pitchFamily="34" charset="0"/>
              </a:rPr>
              <a:t>报文转发。</a:t>
            </a:r>
          </a:p>
        </p:txBody>
      </p:sp>
      <p:grpSp>
        <p:nvGrpSpPr>
          <p:cNvPr id="18" name="组合 17"/>
          <p:cNvGrpSpPr/>
          <p:nvPr/>
        </p:nvGrpSpPr>
        <p:grpSpPr bwMode="gray">
          <a:xfrm>
            <a:off x="1670948" y="3051638"/>
            <a:ext cx="442385" cy="324605"/>
            <a:chOff x="1194287" y="4005064"/>
            <a:chExt cx="442385" cy="432048"/>
          </a:xfrm>
        </p:grpSpPr>
        <p:cxnSp>
          <p:nvCxnSpPr>
            <p:cNvPr id="19" name="直接连接符 18"/>
            <p:cNvCxnSpPr/>
            <p:nvPr/>
          </p:nvCxnSpPr>
          <p:spPr bwMode="gray">
            <a:xfrm flipV="1">
              <a:off x="1415479" y="400506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gray">
            <a:xfrm>
              <a:off x="1194287" y="400506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矩形 20"/>
          <p:cNvSpPr/>
          <p:nvPr/>
        </p:nvSpPr>
        <p:spPr bwMode="gray">
          <a:xfrm>
            <a:off x="1152995" y="2706559"/>
            <a:ext cx="1478290"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VTEP</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 1.1.1.1/32</a:t>
            </a:r>
          </a:p>
        </p:txBody>
      </p:sp>
      <p:grpSp>
        <p:nvGrpSpPr>
          <p:cNvPr id="22" name="组合 21"/>
          <p:cNvGrpSpPr/>
          <p:nvPr/>
        </p:nvGrpSpPr>
        <p:grpSpPr bwMode="gray">
          <a:xfrm>
            <a:off x="10075320" y="3051638"/>
            <a:ext cx="442385" cy="324605"/>
            <a:chOff x="1194287" y="4005064"/>
            <a:chExt cx="442385" cy="432048"/>
          </a:xfrm>
        </p:grpSpPr>
        <p:cxnSp>
          <p:nvCxnSpPr>
            <p:cNvPr id="23" name="直接连接符 22"/>
            <p:cNvCxnSpPr/>
            <p:nvPr/>
          </p:nvCxnSpPr>
          <p:spPr bwMode="gray">
            <a:xfrm flipV="1">
              <a:off x="1415479" y="400506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bwMode="gray">
            <a:xfrm>
              <a:off x="1194287" y="400506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5" name="矩形 24"/>
          <p:cNvSpPr/>
          <p:nvPr/>
        </p:nvSpPr>
        <p:spPr bwMode="gray">
          <a:xfrm>
            <a:off x="9557371" y="2706559"/>
            <a:ext cx="1478290"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VTEP</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 2.2.2.2/32</a:t>
            </a:r>
          </a:p>
        </p:txBody>
      </p:sp>
      <p:pic>
        <p:nvPicPr>
          <p:cNvPr id="11" name="图片 87" descr="汇聚交换机.png"/>
          <p:cNvPicPr>
            <a:picLocks noChangeAspect="1"/>
          </p:cNvPicPr>
          <p:nvPr/>
        </p:nvPicPr>
        <p:blipFill>
          <a:blip r:embed="rId3"/>
          <a:stretch>
            <a:fillRect/>
          </a:stretch>
        </p:blipFill>
        <p:spPr bwMode="gray">
          <a:xfrm>
            <a:off x="1649938" y="3294832"/>
            <a:ext cx="502820" cy="411400"/>
          </a:xfrm>
          <a:prstGeom prst="rect">
            <a:avLst/>
          </a:prstGeom>
        </p:spPr>
      </p:pic>
      <p:sp>
        <p:nvSpPr>
          <p:cNvPr id="13" name="文本框 12"/>
          <p:cNvSpPr txBox="1"/>
          <p:nvPr/>
        </p:nvSpPr>
        <p:spPr bwMode="gray">
          <a:xfrm>
            <a:off x="1031214" y="3351868"/>
            <a:ext cx="575799" cy="307777"/>
          </a:xfrm>
          <a:prstGeom prst="rect">
            <a:avLst/>
          </a:prstGeom>
          <a:noFill/>
        </p:spPr>
        <p:txBody>
          <a:bodyPr wrap="none" rtlCol="0">
            <a:spAutoFit/>
          </a:bodyPr>
          <a:lstStyle/>
          <a:p>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bwMode="gray">
          <a:xfrm>
            <a:off x="10584988" y="3351868"/>
            <a:ext cx="575799" cy="307777"/>
          </a:xfrm>
          <a:prstGeom prst="rect">
            <a:avLst/>
          </a:prstGeom>
          <a:noFill/>
        </p:spPr>
        <p:txBody>
          <a:bodyPr wrap="none" rtlCol="0">
            <a:spAutoFit/>
          </a:bodyPr>
          <a:lstStyle/>
          <a:p>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任意多边形 51"/>
          <p:cNvSpPr/>
          <p:nvPr/>
        </p:nvSpPr>
        <p:spPr bwMode="gray">
          <a:xfrm>
            <a:off x="2195682" y="2814321"/>
            <a:ext cx="7816863" cy="506452"/>
          </a:xfrm>
          <a:custGeom>
            <a:avLst/>
            <a:gdLst>
              <a:gd name="connsiteX0" fmla="*/ 0 w 1388533"/>
              <a:gd name="connsiteY0" fmla="*/ 0 h 33866"/>
              <a:gd name="connsiteX1" fmla="*/ 1388533 w 1388533"/>
              <a:gd name="connsiteY1" fmla="*/ 33866 h 33866"/>
              <a:gd name="connsiteX0" fmla="*/ 0 w 1319173"/>
              <a:gd name="connsiteY0" fmla="*/ 0 h 51234"/>
              <a:gd name="connsiteX1" fmla="*/ 1319173 w 1319173"/>
              <a:gd name="connsiteY1" fmla="*/ 51234 h 51234"/>
              <a:gd name="connsiteX0" fmla="*/ 0 w 944632"/>
              <a:gd name="connsiteY0" fmla="*/ 0 h 603"/>
              <a:gd name="connsiteX1" fmla="*/ 944632 w 944632"/>
              <a:gd name="connsiteY1" fmla="*/ 603 h 603"/>
              <a:gd name="connsiteX0" fmla="*/ 0 w 10000"/>
              <a:gd name="connsiteY0" fmla="*/ 185459 h 195459"/>
              <a:gd name="connsiteX1" fmla="*/ 10000 w 10000"/>
              <a:gd name="connsiteY1" fmla="*/ 195459 h 195459"/>
              <a:gd name="connsiteX0" fmla="*/ 0 w 10000"/>
              <a:gd name="connsiteY0" fmla="*/ 302781 h 312781"/>
              <a:gd name="connsiteX1" fmla="*/ 10000 w 10000"/>
              <a:gd name="connsiteY1" fmla="*/ 312781 h 312781"/>
              <a:gd name="connsiteX0" fmla="*/ 0 w 10000"/>
              <a:gd name="connsiteY0" fmla="*/ 302781 h 312781"/>
              <a:gd name="connsiteX1" fmla="*/ 10000 w 10000"/>
              <a:gd name="connsiteY1" fmla="*/ 312781 h 312781"/>
            </a:gdLst>
            <a:ahLst/>
            <a:cxnLst>
              <a:cxn ang="0">
                <a:pos x="connsiteX0" y="connsiteY0"/>
              </a:cxn>
              <a:cxn ang="0">
                <a:pos x="connsiteX1" y="connsiteY1"/>
              </a:cxn>
            </a:cxnLst>
            <a:rect l="l" t="t" r="r" b="b"/>
            <a:pathLst>
              <a:path w="10000" h="312781">
                <a:moveTo>
                  <a:pt x="0" y="302781"/>
                </a:moveTo>
                <a:cubicBezTo>
                  <a:pt x="3333" y="-118629"/>
                  <a:pt x="7396" y="-86005"/>
                  <a:pt x="10000" y="312781"/>
                </a:cubicBezTo>
              </a:path>
            </a:pathLst>
          </a:custGeom>
          <a:noFill/>
          <a:ln w="19050">
            <a:solidFill>
              <a:schemeClr val="bg1">
                <a:lumMod val="50000"/>
              </a:schemeClr>
            </a:solidFill>
            <a:prstDash val="sysDot"/>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矩形 53"/>
          <p:cNvSpPr/>
          <p:nvPr/>
        </p:nvSpPr>
        <p:spPr bwMode="gray">
          <a:xfrm>
            <a:off x="5269454" y="2669622"/>
            <a:ext cx="1569660" cy="307777"/>
          </a:xfrm>
          <a:prstGeom prst="rect">
            <a:avLst/>
          </a:prstGeom>
          <a:solidFill>
            <a:schemeClr val="bg1"/>
          </a:solidFill>
        </p:spPr>
        <p:txBody>
          <a:bodyPr wrap="none">
            <a:spAutoFit/>
          </a:bodyPr>
          <a:lstStyle/>
          <a:p>
            <a:r>
              <a:rPr lang="en-US" altLang="zh-CN" sz="1400" dirty="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BGP EVPN</a:t>
            </a:r>
            <a:r>
              <a:rPr lang="zh-CN" altLang="en-US" sz="1400" dirty="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对等体</a:t>
            </a:r>
            <a:endParaRPr lang="en-US" altLang="zh-CN" sz="1400" dirty="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8" name="直接连接符 47">
            <a:extLst>
              <a:ext uri="{FF2B5EF4-FFF2-40B4-BE49-F238E27FC236}">
                <a16:creationId xmlns:a16="http://schemas.microsoft.com/office/drawing/2014/main" id="{062F7182-EB4F-47B5-A947-7E338CCA1217}"/>
              </a:ext>
            </a:extLst>
          </p:cNvPr>
          <p:cNvCxnSpPr>
            <a:cxnSpLocks/>
          </p:cNvCxnSpPr>
          <p:nvPr/>
        </p:nvCxnSpPr>
        <p:spPr bwMode="gray">
          <a:xfrm>
            <a:off x="6597646" y="3562267"/>
            <a:ext cx="1010984" cy="0"/>
          </a:xfrm>
          <a:prstGeom prst="line">
            <a:avLst/>
          </a:prstGeom>
          <a:noFill/>
          <a:ln w="38100" cap="flat" cmpd="sng" algn="ctr">
            <a:solidFill>
              <a:srgbClr val="EC7061"/>
            </a:solidFill>
            <a:prstDash val="solid"/>
            <a:miter lim="800000"/>
            <a:headEnd type="triangle"/>
          </a:ln>
          <a:effectLst/>
        </p:spPr>
      </p:cxnSp>
      <p:grpSp>
        <p:nvGrpSpPr>
          <p:cNvPr id="50" name="组合 49"/>
          <p:cNvGrpSpPr/>
          <p:nvPr/>
        </p:nvGrpSpPr>
        <p:grpSpPr bwMode="gray">
          <a:xfrm>
            <a:off x="10075320" y="3051638"/>
            <a:ext cx="442385" cy="324605"/>
            <a:chOff x="1194287" y="4005064"/>
            <a:chExt cx="442385" cy="432048"/>
          </a:xfrm>
        </p:grpSpPr>
        <p:cxnSp>
          <p:nvCxnSpPr>
            <p:cNvPr id="51" name="直接连接符 50"/>
            <p:cNvCxnSpPr/>
            <p:nvPr/>
          </p:nvCxnSpPr>
          <p:spPr bwMode="gray">
            <a:xfrm flipV="1">
              <a:off x="1415479" y="4005064"/>
              <a:ext cx="1" cy="432048"/>
            </a:xfrm>
            <a:prstGeom prst="line">
              <a:avLst/>
            </a:prstGeom>
            <a:noFill/>
            <a:ln w="19050" cap="flat" cmpd="sng" algn="ctr">
              <a:solidFill>
                <a:sysClr val="windowText" lastClr="000000"/>
              </a:solidFill>
              <a:prstDash val="solid"/>
              <a:miter lim="800000"/>
            </a:ln>
            <a:effectLst/>
          </p:spPr>
        </p:cxnSp>
        <p:cxnSp>
          <p:nvCxnSpPr>
            <p:cNvPr id="53" name="直接连接符 52"/>
            <p:cNvCxnSpPr/>
            <p:nvPr/>
          </p:nvCxnSpPr>
          <p:spPr bwMode="gray">
            <a:xfrm>
              <a:off x="1194287" y="4005064"/>
              <a:ext cx="442385" cy="0"/>
            </a:xfrm>
            <a:prstGeom prst="line">
              <a:avLst/>
            </a:prstGeom>
            <a:noFill/>
            <a:ln w="19050" cap="flat" cmpd="sng" algn="ctr">
              <a:solidFill>
                <a:sysClr val="windowText" lastClr="000000"/>
              </a:solidFill>
              <a:prstDash val="solid"/>
              <a:miter lim="800000"/>
            </a:ln>
            <a:effectLst/>
          </p:spPr>
        </p:cxnSp>
      </p:grpSp>
      <p:cxnSp>
        <p:nvCxnSpPr>
          <p:cNvPr id="60" name="直接连接符 59">
            <a:extLst>
              <a:ext uri="{FF2B5EF4-FFF2-40B4-BE49-F238E27FC236}">
                <a16:creationId xmlns:a16="http://schemas.microsoft.com/office/drawing/2014/main" id="{062F7182-EB4F-47B5-A947-7E338CCA1217}"/>
              </a:ext>
            </a:extLst>
          </p:cNvPr>
          <p:cNvCxnSpPr>
            <a:cxnSpLocks/>
          </p:cNvCxnSpPr>
          <p:nvPr/>
        </p:nvCxnSpPr>
        <p:spPr bwMode="gray">
          <a:xfrm flipH="1">
            <a:off x="3199191" y="3562267"/>
            <a:ext cx="2277694" cy="0"/>
          </a:xfrm>
          <a:prstGeom prst="line">
            <a:avLst/>
          </a:prstGeom>
          <a:noFill/>
          <a:ln w="38100" cap="flat" cmpd="sng" algn="ctr">
            <a:solidFill>
              <a:srgbClr val="EC7061"/>
            </a:solidFill>
            <a:prstDash val="solid"/>
            <a:miter lim="800000"/>
            <a:headEnd type="triangle"/>
          </a:ln>
          <a:effectLst/>
        </p:spPr>
      </p:cxnSp>
      <p:sp>
        <p:nvSpPr>
          <p:cNvPr id="61" name="文本框 60"/>
          <p:cNvSpPr txBox="1"/>
          <p:nvPr/>
        </p:nvSpPr>
        <p:spPr bwMode="gray">
          <a:xfrm>
            <a:off x="2980106" y="3382328"/>
            <a:ext cx="1632918" cy="318401"/>
          </a:xfrm>
          <a:prstGeom prst="round2SameRect">
            <a:avLst>
              <a:gd name="adj1" fmla="val 27325"/>
              <a:gd name="adj2" fmla="val 0"/>
            </a:avLst>
          </a:prstGeom>
          <a:solidFill>
            <a:srgbClr val="EC7061"/>
          </a:solidFill>
          <a:ln w="19050">
            <a:solidFill>
              <a:sysClr val="window" lastClr="FFFFFF"/>
            </a:solidFill>
          </a:ln>
        </p:spPr>
        <p:txBody>
          <a:bodyPr wrap="none" lIns="0" tIns="0" rIns="0" bIns="0" rtlCol="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BGP Update</a:t>
            </a:r>
            <a:r>
              <a:rPr kumimoji="0" lang="zh-CN" altLang="en-US"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报文</a:t>
            </a:r>
            <a:endPar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文本框 61"/>
          <p:cNvSpPr txBox="1"/>
          <p:nvPr/>
        </p:nvSpPr>
        <p:spPr bwMode="gray">
          <a:xfrm>
            <a:off x="2980106" y="3706232"/>
            <a:ext cx="1632918" cy="1360221"/>
          </a:xfrm>
          <a:prstGeom prst="rect">
            <a:avLst/>
          </a:prstGeom>
          <a:solidFill>
            <a:srgbClr val="EC7061">
              <a:lumMod val="20000"/>
              <a:lumOff val="80000"/>
            </a:srgbClr>
          </a:solidFill>
          <a:ln w="19050">
            <a:solidFill>
              <a:sysClr val="window" lastClr="FFFFFF"/>
            </a:solidFill>
          </a:ln>
        </p:spPr>
        <p:txBody>
          <a:bodyPr wrap="none" lIns="0" tIns="0" rIns="0" bIns="0" rtlCol="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文本框 62"/>
          <p:cNvSpPr txBox="1"/>
          <p:nvPr/>
        </p:nvSpPr>
        <p:spPr bwMode="gray">
          <a:xfrm>
            <a:off x="3084056" y="4054276"/>
            <a:ext cx="1425016" cy="297415"/>
          </a:xfrm>
          <a:prstGeom prst="rect">
            <a:avLst/>
          </a:prstGeom>
          <a:solidFill>
            <a:srgbClr val="EC7061">
              <a:lumMod val="40000"/>
              <a:lumOff val="60000"/>
            </a:srgbClr>
          </a:solidFill>
          <a:ln w="19050">
            <a:solidFill>
              <a:srgbClr val="EC7061">
                <a:lumMod val="60000"/>
                <a:lumOff val="40000"/>
              </a:srgbClr>
            </a:solidFill>
          </a:ln>
        </p:spPr>
        <p:txBody>
          <a:bodyPr wrap="none" lIns="0" tIns="0" rIns="0" bIns="0" rtlCol="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Type 3</a:t>
            </a: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路由</a:t>
            </a:r>
          </a:p>
        </p:txBody>
      </p:sp>
      <p:sp>
        <p:nvSpPr>
          <p:cNvPr id="64" name="文本框 63"/>
          <p:cNvSpPr txBox="1"/>
          <p:nvPr/>
        </p:nvSpPr>
        <p:spPr bwMode="gray">
          <a:xfrm>
            <a:off x="3084056" y="4358207"/>
            <a:ext cx="1425016" cy="512557"/>
          </a:xfrm>
          <a:prstGeom prst="rect">
            <a:avLst/>
          </a:prstGeom>
          <a:solidFill>
            <a:sysClr val="window" lastClr="FFFFFF"/>
          </a:solidFill>
          <a:ln w="19050">
            <a:solidFill>
              <a:srgbClr val="EC7061">
                <a:lumMod val="60000"/>
                <a:lumOff val="40000"/>
              </a:srgbClr>
            </a:solidFill>
          </a:ln>
        </p:spPr>
        <p:txBody>
          <a:bodyPr wrap="none" lIns="0" tIns="0" rIns="0" bIns="0" rtlCol="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VTEP</a:t>
            </a: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地址</a:t>
            </a: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=1.1.1.1</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VNI=1000</a:t>
            </a:r>
          </a:p>
        </p:txBody>
      </p:sp>
      <p:sp>
        <p:nvSpPr>
          <p:cNvPr id="65" name="文本框 64"/>
          <p:cNvSpPr txBox="1"/>
          <p:nvPr/>
        </p:nvSpPr>
        <p:spPr bwMode="gray">
          <a:xfrm>
            <a:off x="7504680" y="3382328"/>
            <a:ext cx="1632918" cy="318401"/>
          </a:xfrm>
          <a:prstGeom prst="round2SameRect">
            <a:avLst>
              <a:gd name="adj1" fmla="val 27325"/>
              <a:gd name="adj2" fmla="val 0"/>
            </a:avLst>
          </a:prstGeom>
          <a:solidFill>
            <a:srgbClr val="EC7061"/>
          </a:solidFill>
          <a:ln w="19050">
            <a:solidFill>
              <a:sysClr val="window" lastClr="FFFFFF"/>
            </a:solidFill>
          </a:ln>
        </p:spPr>
        <p:txBody>
          <a:bodyPr wrap="none" lIns="0" tIns="0" rIns="0" bIns="0" rtlCol="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BGP Update</a:t>
            </a:r>
            <a:r>
              <a:rPr kumimoji="0" lang="zh-CN" altLang="en-US"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报文</a:t>
            </a:r>
            <a:endPar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文本框 65"/>
          <p:cNvSpPr txBox="1"/>
          <p:nvPr/>
        </p:nvSpPr>
        <p:spPr bwMode="gray">
          <a:xfrm>
            <a:off x="7504680" y="3706232"/>
            <a:ext cx="1632918" cy="1360221"/>
          </a:xfrm>
          <a:prstGeom prst="rect">
            <a:avLst/>
          </a:prstGeom>
          <a:solidFill>
            <a:srgbClr val="EC7061">
              <a:lumMod val="20000"/>
              <a:lumOff val="80000"/>
            </a:srgbClr>
          </a:solidFill>
          <a:ln w="19050">
            <a:solidFill>
              <a:sysClr val="window" lastClr="FFFFFF"/>
            </a:solidFill>
          </a:ln>
        </p:spPr>
        <p:txBody>
          <a:bodyPr wrap="none" lIns="0" tIns="0" rIns="0" bIns="0" rtlCol="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文本框 66"/>
          <p:cNvSpPr txBox="1"/>
          <p:nvPr/>
        </p:nvSpPr>
        <p:spPr bwMode="gray">
          <a:xfrm>
            <a:off x="7608630" y="4054276"/>
            <a:ext cx="1425016" cy="297415"/>
          </a:xfrm>
          <a:prstGeom prst="rect">
            <a:avLst/>
          </a:prstGeom>
          <a:solidFill>
            <a:srgbClr val="EC7061">
              <a:lumMod val="40000"/>
              <a:lumOff val="60000"/>
            </a:srgbClr>
          </a:solidFill>
          <a:ln w="19050">
            <a:solidFill>
              <a:srgbClr val="EC7061">
                <a:lumMod val="60000"/>
                <a:lumOff val="40000"/>
              </a:srgbClr>
            </a:solidFill>
          </a:ln>
        </p:spPr>
        <p:txBody>
          <a:bodyPr wrap="none" lIns="0" tIns="0" rIns="0" bIns="0" rtlCol="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Type 3</a:t>
            </a:r>
            <a:r>
              <a:rPr kumimoji="0" lang="zh-CN" altLang="en-US" sz="14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路由</a:t>
            </a:r>
          </a:p>
        </p:txBody>
      </p:sp>
      <p:sp>
        <p:nvSpPr>
          <p:cNvPr id="68" name="文本框 67"/>
          <p:cNvSpPr txBox="1"/>
          <p:nvPr/>
        </p:nvSpPr>
        <p:spPr bwMode="gray">
          <a:xfrm>
            <a:off x="7608630" y="4358207"/>
            <a:ext cx="1425016" cy="512557"/>
          </a:xfrm>
          <a:prstGeom prst="rect">
            <a:avLst/>
          </a:prstGeom>
          <a:solidFill>
            <a:sysClr val="window" lastClr="FFFFFF"/>
          </a:solidFill>
          <a:ln w="19050">
            <a:solidFill>
              <a:srgbClr val="EC7061">
                <a:lumMod val="60000"/>
                <a:lumOff val="40000"/>
              </a:srgbClr>
            </a:solidFill>
          </a:ln>
        </p:spPr>
        <p:txBody>
          <a:bodyPr wrap="none" lIns="0" tIns="0" rIns="0" bIns="0" rtlCol="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VTEP</a:t>
            </a:r>
            <a:r>
              <a:rPr kumimoji="0" lang="zh-CN" altLang="en-US"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地址</a:t>
            </a:r>
            <a:r>
              <a:rPr kumimoji="0" lang="en-US" altLang="zh-CN"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=2.2.2.2</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VNI=1000</a:t>
            </a:r>
          </a:p>
        </p:txBody>
      </p:sp>
      <p:sp>
        <p:nvSpPr>
          <p:cNvPr id="69" name="椭圆 68"/>
          <p:cNvSpPr>
            <a:spLocks noChangeAspect="1"/>
          </p:cNvSpPr>
          <p:nvPr/>
        </p:nvSpPr>
        <p:spPr bwMode="gray">
          <a:xfrm>
            <a:off x="5921734" y="3443826"/>
            <a:ext cx="252000" cy="252000"/>
          </a:xfrm>
          <a:prstGeom prst="ellipse">
            <a:avLst/>
          </a:prstGeom>
          <a:solidFill>
            <a:srgbClr val="EC7061">
              <a:lumMod val="100000"/>
            </a:srgbClr>
          </a:solidFill>
          <a:ln w="19050" cap="flat" cmpd="sng" algn="ctr">
            <a:no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椭圆 69"/>
          <p:cNvSpPr>
            <a:spLocks noChangeAspect="1"/>
          </p:cNvSpPr>
          <p:nvPr/>
        </p:nvSpPr>
        <p:spPr bwMode="gray">
          <a:xfrm>
            <a:off x="5921734" y="5268481"/>
            <a:ext cx="252000" cy="252000"/>
          </a:xfrm>
          <a:prstGeom prst="ellipse">
            <a:avLst/>
          </a:prstGeom>
          <a:solidFill>
            <a:srgbClr val="EC7061">
              <a:lumMod val="100000"/>
            </a:srgbClr>
          </a:solidFill>
          <a:ln w="19050" cap="flat" cmpd="sng" algn="ctr">
            <a:noFill/>
            <a:prstDash val="solid"/>
            <a:miter lim="800000"/>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1" name="组合 70"/>
          <p:cNvGrpSpPr/>
          <p:nvPr/>
        </p:nvGrpSpPr>
        <p:grpSpPr bwMode="gray">
          <a:xfrm>
            <a:off x="3025079" y="5599412"/>
            <a:ext cx="6141843" cy="307777"/>
            <a:chOff x="3017951" y="5569690"/>
            <a:chExt cx="6141843" cy="307777"/>
          </a:xfrm>
        </p:grpSpPr>
        <p:sp>
          <p:nvSpPr>
            <p:cNvPr id="72" name="圆柱形 71"/>
            <p:cNvSpPr/>
            <p:nvPr/>
          </p:nvSpPr>
          <p:spPr bwMode="gray">
            <a:xfrm rot="16200000">
              <a:off x="5954547" y="2652656"/>
              <a:ext cx="268652" cy="6141843"/>
            </a:xfrm>
            <a:prstGeom prst="can">
              <a:avLst>
                <a:gd name="adj" fmla="val 49923"/>
              </a:avLst>
            </a:prstGeom>
            <a:solidFill>
              <a:srgbClr val="EC7061"/>
            </a:solidFill>
            <a:ln w="12700" cap="flat" cmpd="sng" algn="ctr">
              <a:solidFill>
                <a:sysClr val="window" lastClr="FFFFFF"/>
              </a:solidFill>
              <a:prstDash val="solid"/>
              <a:miter lim="800000"/>
            </a:ln>
            <a:effectLst/>
          </p:spPr>
          <p:txBody>
            <a:bodyPr wrap="square" rtlCol="0" anchor="ctr">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endParaRPr kumimoji="0" lang="zh-CN" altLang="en-US" sz="1999" b="0" i="0" u="none" strike="noStrike" kern="0" cap="none" spc="0" normalizeH="0" baseline="0" noProof="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矩形 72"/>
            <p:cNvSpPr/>
            <p:nvPr/>
          </p:nvSpPr>
          <p:spPr bwMode="gray">
            <a:xfrm rot="15603">
              <a:off x="4719642" y="5569690"/>
              <a:ext cx="2709396" cy="307777"/>
            </a:xfrm>
            <a:prstGeom prst="rect">
              <a:avLst/>
            </a:prstGeom>
          </p:spPr>
          <p:txBody>
            <a:bodyPr wrap="non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动态</a:t>
              </a:r>
              <a:r>
                <a:rPr kumimoji="0" lang="en-US" altLang="zh-CN"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VXLAN </a:t>
              </a:r>
              <a:r>
                <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隧道（</a:t>
              </a:r>
              <a:r>
                <a:rPr kumimoji="0" lang="en-US" altLang="zh-CN"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VNI 1000</a:t>
              </a:r>
              <a:r>
                <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p>
          </p:txBody>
        </p:sp>
      </p:grpSp>
      <p:pic>
        <p:nvPicPr>
          <p:cNvPr id="12" name="图片 87" descr="汇聚交换机.png"/>
          <p:cNvPicPr>
            <a:picLocks noChangeAspect="1"/>
          </p:cNvPicPr>
          <p:nvPr/>
        </p:nvPicPr>
        <p:blipFill>
          <a:blip r:embed="rId3"/>
          <a:stretch>
            <a:fillRect/>
          </a:stretch>
        </p:blipFill>
        <p:spPr bwMode="gray">
          <a:xfrm>
            <a:off x="10051971" y="3294832"/>
            <a:ext cx="502820" cy="411400"/>
          </a:xfrm>
          <a:prstGeom prst="rect">
            <a:avLst/>
          </a:prstGeom>
        </p:spPr>
      </p:pic>
      <p:sp>
        <p:nvSpPr>
          <p:cNvPr id="40" name="五边形 24">
            <a:extLst>
              <a:ext uri="{FF2B5EF4-FFF2-40B4-BE49-F238E27FC236}">
                <a16:creationId xmlns:a16="http://schemas.microsoft.com/office/drawing/2014/main" id="{66BA07AD-FEEF-4CB3-8D55-B5A235B0FBAC}"/>
              </a:ext>
            </a:extLst>
          </p:cNvPr>
          <p:cNvSpPr/>
          <p:nvPr/>
        </p:nvSpPr>
        <p:spPr bwMode="gray">
          <a:xfrm>
            <a:off x="8632180" y="124239"/>
            <a:ext cx="108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2</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燕尾形 26">
            <a:extLst>
              <a:ext uri="{FF2B5EF4-FFF2-40B4-BE49-F238E27FC236}">
                <a16:creationId xmlns:a16="http://schemas.microsoft.com/office/drawing/2014/main" id="{0C19331F-8FCC-488E-9C32-A3F774208D1E}"/>
              </a:ext>
            </a:extLst>
          </p:cNvPr>
          <p:cNvSpPr/>
          <p:nvPr/>
        </p:nvSpPr>
        <p:spPr bwMode="gray">
          <a:xfrm>
            <a:off x="10629668"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5</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p>
        </p:txBody>
      </p:sp>
      <p:sp>
        <p:nvSpPr>
          <p:cNvPr id="45" name="燕尾形 26">
            <a:extLst>
              <a:ext uri="{FF2B5EF4-FFF2-40B4-BE49-F238E27FC236}">
                <a16:creationId xmlns:a16="http://schemas.microsoft.com/office/drawing/2014/main" id="{5C797163-D6D3-4ACC-996D-421D87F18D19}"/>
              </a:ext>
            </a:extLst>
          </p:cNvPr>
          <p:cNvSpPr/>
          <p:nvPr/>
        </p:nvSpPr>
        <p:spPr bwMode="gray">
          <a:xfrm>
            <a:off x="9630924" y="124239"/>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Type 3</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3199141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sym typeface="Huawei Sans" panose="020C0503030203020204" pitchFamily="34" charset="0"/>
              </a:rPr>
              <a:t>Type 5</a:t>
            </a:r>
            <a:r>
              <a:rPr lang="zh-CN" altLang="en-US" dirty="0">
                <a:sym typeface="Huawei Sans" panose="020C0503030203020204" pitchFamily="34" charset="0"/>
              </a:rPr>
              <a:t>类路由描述</a:t>
            </a:r>
          </a:p>
        </p:txBody>
      </p:sp>
      <p:sp>
        <p:nvSpPr>
          <p:cNvPr id="3" name="文本占位符 2"/>
          <p:cNvSpPr>
            <a:spLocks noGrp="1"/>
          </p:cNvSpPr>
          <p:nvPr>
            <p:ph type="body" sz="quarter" idx="10"/>
          </p:nvPr>
        </p:nvSpPr>
        <p:spPr bwMode="gray">
          <a:xfrm>
            <a:off x="455613" y="1047751"/>
            <a:ext cx="11256962" cy="2067764"/>
          </a:xfrm>
        </p:spPr>
        <p:txBody>
          <a:bodyPr/>
          <a:lstStyle/>
          <a:p>
            <a:r>
              <a:rPr lang="en-US" altLang="zh-CN" sz="1800" dirty="0">
                <a:sym typeface="Huawei Sans" panose="020C0503030203020204" pitchFamily="34" charset="0"/>
              </a:rPr>
              <a:t>Type 5</a:t>
            </a:r>
            <a:r>
              <a:rPr lang="zh-CN" altLang="en-US" sz="1800" dirty="0">
                <a:sym typeface="Huawei Sans" panose="020C0503030203020204" pitchFamily="34" charset="0"/>
              </a:rPr>
              <a:t>路由（</a:t>
            </a:r>
            <a:r>
              <a:rPr lang="en-US" altLang="zh-CN" sz="1800" dirty="0">
                <a:sym typeface="Huawei Sans" panose="020C0503030203020204" pitchFamily="34" charset="0"/>
              </a:rPr>
              <a:t>IP</a:t>
            </a:r>
            <a:r>
              <a:rPr lang="zh-CN" altLang="en-US" sz="1800" dirty="0">
                <a:sym typeface="Huawei Sans" panose="020C0503030203020204" pitchFamily="34" charset="0"/>
              </a:rPr>
              <a:t>前缀路由）：</a:t>
            </a:r>
            <a:endParaRPr lang="en-US" altLang="zh-CN" sz="1800" dirty="0">
              <a:sym typeface="Huawei Sans" panose="020C0503030203020204" pitchFamily="34" charset="0"/>
            </a:endParaRPr>
          </a:p>
          <a:p>
            <a:pPr lvl="1"/>
            <a:r>
              <a:rPr lang="zh-CN" altLang="en-US" sz="1600" dirty="0">
                <a:sym typeface="Huawei Sans" panose="020C0503030203020204" pitchFamily="34" charset="0"/>
              </a:rPr>
              <a:t>该类型路由的</a:t>
            </a:r>
            <a:r>
              <a:rPr lang="en-US" altLang="zh-CN" sz="1600" dirty="0">
                <a:sym typeface="Huawei Sans" panose="020C0503030203020204" pitchFamily="34" charset="0"/>
              </a:rPr>
              <a:t>IP Prefix Length</a:t>
            </a:r>
            <a:r>
              <a:rPr lang="zh-CN" altLang="en-US" sz="1600" dirty="0">
                <a:sym typeface="Huawei Sans" panose="020C0503030203020204" pitchFamily="34" charset="0"/>
              </a:rPr>
              <a:t>和</a:t>
            </a:r>
            <a:r>
              <a:rPr lang="en-US" altLang="zh-CN" sz="1600" dirty="0">
                <a:sym typeface="Huawei Sans" panose="020C0503030203020204" pitchFamily="34" charset="0"/>
              </a:rPr>
              <a:t>IP Prefix</a:t>
            </a:r>
            <a:r>
              <a:rPr lang="zh-CN" altLang="en-US" sz="1600" dirty="0">
                <a:sym typeface="Huawei Sans" panose="020C0503030203020204" pitchFamily="34" charset="0"/>
              </a:rPr>
              <a:t>字段既可以携带主机</a:t>
            </a:r>
            <a:r>
              <a:rPr lang="en-US" altLang="zh-CN" sz="1600" dirty="0">
                <a:sym typeface="Huawei Sans" panose="020C0503030203020204" pitchFamily="34" charset="0"/>
              </a:rPr>
              <a:t>IP</a:t>
            </a:r>
            <a:r>
              <a:rPr lang="zh-CN" altLang="en-US" sz="1600" dirty="0">
                <a:sym typeface="Huawei Sans" panose="020C0503030203020204" pitchFamily="34" charset="0"/>
              </a:rPr>
              <a:t>地址，也可以携带网段地址。</a:t>
            </a:r>
            <a:endParaRPr lang="en-US" altLang="zh-CN" sz="1600" dirty="0">
              <a:sym typeface="Huawei Sans" panose="020C0503030203020204" pitchFamily="34" charset="0"/>
            </a:endParaRPr>
          </a:p>
          <a:p>
            <a:pPr lvl="1"/>
            <a:r>
              <a:rPr lang="zh-CN" altLang="en-US" sz="1600" dirty="0">
                <a:sym typeface="Huawei Sans" panose="020C0503030203020204" pitchFamily="34" charset="0"/>
              </a:rPr>
              <a:t>当携带主机</a:t>
            </a:r>
            <a:r>
              <a:rPr lang="en-US" altLang="zh-CN" sz="1600" dirty="0">
                <a:sym typeface="Huawei Sans" panose="020C0503030203020204" pitchFamily="34" charset="0"/>
              </a:rPr>
              <a:t>IP</a:t>
            </a:r>
            <a:r>
              <a:rPr lang="zh-CN" altLang="en-US" sz="1600" dirty="0">
                <a:sym typeface="Huawei Sans" panose="020C0503030203020204" pitchFamily="34" charset="0"/>
              </a:rPr>
              <a:t>地址时，该类型路由在</a:t>
            </a:r>
            <a:r>
              <a:rPr lang="en-US" altLang="zh-CN" sz="1600" dirty="0">
                <a:sym typeface="Huawei Sans" panose="020C0503030203020204" pitchFamily="34" charset="0"/>
              </a:rPr>
              <a:t>VXLAN</a:t>
            </a:r>
            <a:r>
              <a:rPr lang="zh-CN" altLang="en-US" sz="1600" dirty="0">
                <a:sym typeface="Huawei Sans" panose="020C0503030203020204" pitchFamily="34" charset="0"/>
              </a:rPr>
              <a:t>控制平面中的作用与</a:t>
            </a:r>
            <a:r>
              <a:rPr lang="en-US" altLang="zh-CN" sz="1600" dirty="0">
                <a:sym typeface="Huawei Sans" panose="020C0503030203020204" pitchFamily="34" charset="0"/>
              </a:rPr>
              <a:t>IRB</a:t>
            </a:r>
            <a:r>
              <a:rPr lang="zh-CN" altLang="en-US" sz="1600" dirty="0">
                <a:sym typeface="Huawei Sans" panose="020C0503030203020204" pitchFamily="34" charset="0"/>
              </a:rPr>
              <a:t>类型路由是一样的，主要用于分布式网关场景中的主机</a:t>
            </a:r>
            <a:r>
              <a:rPr lang="en-US" altLang="zh-CN" sz="1600" dirty="0">
                <a:sym typeface="Huawei Sans" panose="020C0503030203020204" pitchFamily="34" charset="0"/>
              </a:rPr>
              <a:t>IP</a:t>
            </a:r>
            <a:r>
              <a:rPr lang="zh-CN" altLang="en-US" sz="1600" dirty="0">
                <a:sym typeface="Huawei Sans" panose="020C0503030203020204" pitchFamily="34" charset="0"/>
              </a:rPr>
              <a:t>路由通告。</a:t>
            </a:r>
          </a:p>
          <a:p>
            <a:pPr lvl="1"/>
            <a:r>
              <a:rPr lang="zh-CN" altLang="en-US" sz="1600" dirty="0">
                <a:sym typeface="Huawei Sans" panose="020C0503030203020204" pitchFamily="34" charset="0"/>
              </a:rPr>
              <a:t>当携带网段地址时，通过传递该类型路由，可以实现</a:t>
            </a:r>
            <a:r>
              <a:rPr lang="en-US" altLang="zh-CN" sz="1600" dirty="0">
                <a:sym typeface="Huawei Sans" panose="020C0503030203020204" pitchFamily="34" charset="0"/>
              </a:rPr>
              <a:t>VXLAN</a:t>
            </a:r>
            <a:r>
              <a:rPr lang="zh-CN" altLang="en-US" sz="1600" dirty="0">
                <a:sym typeface="Huawei Sans" panose="020C0503030203020204" pitchFamily="34" charset="0"/>
              </a:rPr>
              <a:t>网络中的主机访问外部网络。</a:t>
            </a:r>
          </a:p>
        </p:txBody>
      </p:sp>
      <p:graphicFrame>
        <p:nvGraphicFramePr>
          <p:cNvPr id="14" name="表格 13"/>
          <p:cNvGraphicFramePr>
            <a:graphicFrameLocks noGrp="1"/>
          </p:cNvGraphicFramePr>
          <p:nvPr>
            <p:extLst>
              <p:ext uri="{D42A27DB-BD31-4B8C-83A1-F6EECF244321}">
                <p14:modId xmlns:p14="http://schemas.microsoft.com/office/powerpoint/2010/main" val="4163960580"/>
              </p:ext>
            </p:extLst>
          </p:nvPr>
        </p:nvGraphicFramePr>
        <p:xfrm>
          <a:off x="1656032" y="3627853"/>
          <a:ext cx="3491768" cy="2240252"/>
        </p:xfrm>
        <a:graphic>
          <a:graphicData uri="http://schemas.openxmlformats.org/drawingml/2006/table">
            <a:tbl>
              <a:tblPr firstRow="1" bandRow="1">
                <a:tableStyleId>{5940675A-B579-460E-94D1-54222C63F5DA}</a:tableStyleId>
              </a:tblPr>
              <a:tblGrid>
                <a:gridCol w="3491768">
                  <a:extLst>
                    <a:ext uri="{9D8B030D-6E8A-4147-A177-3AD203B41FA5}">
                      <a16:colId xmlns:a16="http://schemas.microsoft.com/office/drawing/2014/main" val="20000"/>
                    </a:ext>
                  </a:extLst>
                </a:gridCol>
              </a:tblGrid>
              <a:tr h="320036">
                <a:tc>
                  <a:txBody>
                    <a:bodyPr/>
                    <a:lstStyle/>
                    <a:p>
                      <a:r>
                        <a:rPr lang="en-US" sz="1400" dirty="0">
                          <a:latin typeface="Huawei Sans" panose="020C0503030203020204" pitchFamily="34" charset="0"/>
                          <a:ea typeface="方正兰亭黑简体" panose="02000000000000000000" pitchFamily="2" charset="-122"/>
                          <a:sym typeface="Huawei Sans" panose="020C0503030203020204" pitchFamily="34" charset="0"/>
                        </a:rPr>
                        <a:t>Route Distinguisher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8 Byte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8100" marR="38100" marT="38100" marB="38100">
                    <a:solidFill>
                      <a:srgbClr val="FFF7E1"/>
                    </a:solidFill>
                  </a:tcPr>
                </a:tc>
                <a:extLst>
                  <a:ext uri="{0D108BD9-81ED-4DB2-BD59-A6C34878D82A}">
                    <a16:rowId xmlns:a16="http://schemas.microsoft.com/office/drawing/2014/main" val="10000"/>
                  </a:ext>
                </a:extLst>
              </a:tr>
              <a:tr h="320036">
                <a:tc>
                  <a:txBody>
                    <a:bodyPr/>
                    <a:lstStyle/>
                    <a:p>
                      <a:r>
                        <a:rPr lang="en-US" sz="1400" dirty="0">
                          <a:latin typeface="Huawei Sans" panose="020C0503030203020204" pitchFamily="34" charset="0"/>
                          <a:ea typeface="方正兰亭黑简体" panose="02000000000000000000" pitchFamily="2" charset="-122"/>
                          <a:sym typeface="Huawei Sans" panose="020C0503030203020204" pitchFamily="34" charset="0"/>
                        </a:rPr>
                        <a:t>Ethernet Segment Identifier</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 Byte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8100" marR="38100" marT="38100" marB="38100">
                    <a:solidFill>
                      <a:srgbClr val="FFF7E1"/>
                    </a:solidFill>
                  </a:tcPr>
                </a:tc>
                <a:extLst>
                  <a:ext uri="{0D108BD9-81ED-4DB2-BD59-A6C34878D82A}">
                    <a16:rowId xmlns:a16="http://schemas.microsoft.com/office/drawing/2014/main" val="10001"/>
                  </a:ext>
                </a:extLst>
              </a:tr>
              <a:tr h="320036">
                <a:tc>
                  <a:txBody>
                    <a:bodyPr/>
                    <a:lstStyle/>
                    <a:p>
                      <a:r>
                        <a:rPr lang="en-US" sz="1400" dirty="0">
                          <a:latin typeface="Huawei Sans" panose="020C0503030203020204" pitchFamily="34" charset="0"/>
                          <a:ea typeface="方正兰亭黑简体" panose="02000000000000000000" pitchFamily="2" charset="-122"/>
                          <a:sym typeface="Huawei Sans" panose="020C0503030203020204" pitchFamily="34" charset="0"/>
                        </a:rPr>
                        <a:t>Ethernet Tag ID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4 Byte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8100" marR="38100" marT="38100" marB="38100">
                    <a:solidFill>
                      <a:srgbClr val="FFF7E1"/>
                    </a:solidFill>
                  </a:tcPr>
                </a:tc>
                <a:extLst>
                  <a:ext uri="{0D108BD9-81ED-4DB2-BD59-A6C34878D82A}">
                    <a16:rowId xmlns:a16="http://schemas.microsoft.com/office/drawing/2014/main" val="10002"/>
                  </a:ext>
                </a:extLst>
              </a:tr>
              <a:tr h="320036">
                <a:tc>
                  <a:txBody>
                    <a:bodyPr/>
                    <a:lstStyle/>
                    <a:p>
                      <a:r>
                        <a:rPr lang="en-US" sz="1400" dirty="0">
                          <a:latin typeface="Huawei Sans" panose="020C0503030203020204" pitchFamily="34" charset="0"/>
                          <a:ea typeface="方正兰亭黑简体" panose="02000000000000000000" pitchFamily="2" charset="-122"/>
                          <a:sym typeface="Huawei Sans" panose="020C0503030203020204" pitchFamily="34" charset="0"/>
                        </a:rPr>
                        <a:t>IP Prefix Length</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 Byte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8100" marR="38100" marT="38100" marB="38100">
                    <a:solidFill>
                      <a:srgbClr val="FFF7E1"/>
                    </a:solidFill>
                  </a:tcPr>
                </a:tc>
                <a:extLst>
                  <a:ext uri="{0D108BD9-81ED-4DB2-BD59-A6C34878D82A}">
                    <a16:rowId xmlns:a16="http://schemas.microsoft.com/office/drawing/2014/main" val="10003"/>
                  </a:ext>
                </a:extLst>
              </a:tr>
              <a:tr h="320036">
                <a:tc>
                  <a:txBody>
                    <a:bodyPr/>
                    <a:lstStyle/>
                    <a:p>
                      <a:r>
                        <a:rPr lang="en-US" sz="1400" dirty="0">
                          <a:latin typeface="Huawei Sans" panose="020C0503030203020204" pitchFamily="34" charset="0"/>
                          <a:ea typeface="方正兰亭黑简体" panose="02000000000000000000" pitchFamily="2" charset="-122"/>
                          <a:sym typeface="Huawei Sans" panose="020C0503030203020204" pitchFamily="34" charset="0"/>
                        </a:rPr>
                        <a:t>IP Prefix</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或</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16 Byte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8100" marR="38100" marT="38100" marB="38100">
                    <a:solidFill>
                      <a:srgbClr val="FFF7E1"/>
                    </a:solidFill>
                  </a:tcPr>
                </a:tc>
                <a:extLst>
                  <a:ext uri="{0D108BD9-81ED-4DB2-BD59-A6C34878D82A}">
                    <a16:rowId xmlns:a16="http://schemas.microsoft.com/office/drawing/2014/main" val="10004"/>
                  </a:ext>
                </a:extLst>
              </a:tr>
              <a:tr h="320036">
                <a:tc>
                  <a:txBody>
                    <a:bodyPr/>
                    <a:lstStyle/>
                    <a:p>
                      <a:r>
                        <a:rPr lang="en-US" sz="1400" dirty="0">
                          <a:latin typeface="Huawei Sans" panose="020C0503030203020204" pitchFamily="34" charset="0"/>
                          <a:ea typeface="方正兰亭黑简体" panose="02000000000000000000" pitchFamily="2" charset="-122"/>
                          <a:sym typeface="Huawei Sans" panose="020C0503030203020204" pitchFamily="34" charset="0"/>
                        </a:rPr>
                        <a:t>GW IP Address</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或</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16 Byte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8100" marR="38100" marT="38100" marB="38100">
                    <a:solidFill>
                      <a:srgbClr val="FFF7E1"/>
                    </a:solidFill>
                  </a:tcPr>
                </a:tc>
                <a:extLst>
                  <a:ext uri="{0D108BD9-81ED-4DB2-BD59-A6C34878D82A}">
                    <a16:rowId xmlns:a16="http://schemas.microsoft.com/office/drawing/2014/main" val="10005"/>
                  </a:ext>
                </a:extLst>
              </a:tr>
              <a:tr h="320036">
                <a:tc>
                  <a:txBody>
                    <a:bodyPr/>
                    <a:lstStyle/>
                    <a:p>
                      <a:r>
                        <a:rPr lang="en-US" sz="1400" dirty="0">
                          <a:latin typeface="Huawei Sans" panose="020C0503030203020204" pitchFamily="34" charset="0"/>
                          <a:ea typeface="方正兰亭黑简体" panose="02000000000000000000" pitchFamily="2" charset="-122"/>
                          <a:sym typeface="Huawei Sans" panose="020C0503030203020204" pitchFamily="34" charset="0"/>
                        </a:rPr>
                        <a:t>MPLS Label</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3 Byte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8100" marR="38100" marT="38100" marB="38100">
                    <a:solidFill>
                      <a:srgbClr val="FFF7E1"/>
                    </a:solidFill>
                  </a:tcPr>
                </a:tc>
                <a:extLst>
                  <a:ext uri="{0D108BD9-81ED-4DB2-BD59-A6C34878D82A}">
                    <a16:rowId xmlns:a16="http://schemas.microsoft.com/office/drawing/2014/main" val="10006"/>
                  </a:ext>
                </a:extLst>
              </a:tr>
            </a:tbl>
          </a:graphicData>
        </a:graphic>
      </p:graphicFrame>
      <p:graphicFrame>
        <p:nvGraphicFramePr>
          <p:cNvPr id="15" name="表格 14"/>
          <p:cNvGraphicFramePr>
            <a:graphicFrameLocks noGrp="1"/>
          </p:cNvGraphicFramePr>
          <p:nvPr>
            <p:extLst>
              <p:ext uri="{D42A27DB-BD31-4B8C-83A1-F6EECF244321}">
                <p14:modId xmlns:p14="http://schemas.microsoft.com/office/powerpoint/2010/main" val="1809106819"/>
              </p:ext>
            </p:extLst>
          </p:nvPr>
        </p:nvGraphicFramePr>
        <p:xfrm>
          <a:off x="5400448" y="3627853"/>
          <a:ext cx="4979520" cy="2242800"/>
        </p:xfrm>
        <a:graphic>
          <a:graphicData uri="http://schemas.openxmlformats.org/drawingml/2006/table">
            <a:tbl>
              <a:tblPr>
                <a:tableStyleId>{5940675A-B579-460E-94D1-54222C63F5DA}</a:tableStyleId>
              </a:tblPr>
              <a:tblGrid>
                <a:gridCol w="4979520">
                  <a:extLst>
                    <a:ext uri="{9D8B030D-6E8A-4147-A177-3AD203B41FA5}">
                      <a16:colId xmlns:a16="http://schemas.microsoft.com/office/drawing/2014/main" val="20000"/>
                    </a:ext>
                  </a:extLst>
                </a:gridCol>
              </a:tblGrid>
              <a:tr h="320400">
                <a:tc>
                  <a:txBody>
                    <a:bodyPr/>
                    <a:lstStyle/>
                    <a:p>
                      <a:r>
                        <a:rPr lang="zh-CN" altLang="en-US" sz="1400"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该字段为</a:t>
                      </a:r>
                      <a:r>
                        <a:rPr lang="en-US" sz="1400"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EVPN</a:t>
                      </a:r>
                      <a:r>
                        <a:rPr lang="zh-CN" altLang="en-US" sz="1400"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实例下设置的</a:t>
                      </a:r>
                      <a:r>
                        <a:rPr lang="en-US" sz="1400"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RD</a:t>
                      </a:r>
                      <a:r>
                        <a:rPr lang="zh-CN" altLang="en-US" sz="1400"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值。</a:t>
                      </a:r>
                    </a:p>
                  </a:txBody>
                  <a:tcPr marL="33278" marR="33278" marT="33278" marB="3327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0"/>
                  </a:ext>
                </a:extLst>
              </a:tr>
              <a:tr h="320400">
                <a:tc>
                  <a:txBody>
                    <a:bodyPr/>
                    <a:lstStyle/>
                    <a:p>
                      <a:r>
                        <a:rPr lang="zh-CN" altLang="en-US" sz="1400"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该字段为当前设备与对端连接定义的唯一标识。</a:t>
                      </a:r>
                    </a:p>
                  </a:txBody>
                  <a:tcPr marL="33278" marR="33278" marT="33278" marB="3327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20400">
                <a:tc>
                  <a:txBody>
                    <a:bodyPr/>
                    <a:lstStyle/>
                    <a:p>
                      <a:r>
                        <a:rPr lang="zh-CN" altLang="en-US" sz="1400"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该字段为当前设备上实际配置的</a:t>
                      </a:r>
                      <a:r>
                        <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VLAN ID</a:t>
                      </a:r>
                      <a:r>
                        <a:rPr lang="zh-CN" altLang="en-US" sz="1400"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a:t>
                      </a:r>
                    </a:p>
                  </a:txBody>
                  <a:tcPr marL="33278" marR="33278" marT="33278" marB="3327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2"/>
                  </a:ext>
                </a:extLst>
              </a:tr>
              <a:tr h="320400">
                <a:tc>
                  <a:txBody>
                    <a:bodyPr/>
                    <a:lstStyle/>
                    <a:p>
                      <a:r>
                        <a:rPr lang="zh-CN" altLang="en-US" sz="140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该字段为此路由携带的</a:t>
                      </a:r>
                      <a:r>
                        <a:rPr lang="en-US" altLang="zh-CN" sz="140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前缀掩码长度。</a:t>
                      </a:r>
                    </a:p>
                  </a:txBody>
                  <a:tcPr marL="33278" marR="33278" marT="33278" marB="3327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3"/>
                  </a:ext>
                </a:extLst>
              </a:tr>
              <a:tr h="320400">
                <a:tc>
                  <a:txBody>
                    <a:bodyPr/>
                    <a:lstStyle/>
                    <a:p>
                      <a:r>
                        <a:rPr lang="zh-CN" altLang="en-US" sz="140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该字段为此路由携带的</a:t>
                      </a:r>
                      <a:r>
                        <a:rPr lang="en-US" altLang="zh-CN" sz="140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前缀。</a:t>
                      </a:r>
                    </a:p>
                  </a:txBody>
                  <a:tcPr marL="33278" marR="33278" marT="33278" marB="3327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4"/>
                  </a:ext>
                </a:extLst>
              </a:tr>
              <a:tr h="320400">
                <a:tc>
                  <a:txBody>
                    <a:bodyPr/>
                    <a:lstStyle/>
                    <a:p>
                      <a:r>
                        <a:rPr lang="zh-CN" altLang="en-US" sz="140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该字段为默认网关地址。该字段在</a:t>
                      </a:r>
                      <a:r>
                        <a:rPr lang="en-US" altLang="zh-CN" sz="140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场景中没有实际意义。</a:t>
                      </a:r>
                    </a:p>
                  </a:txBody>
                  <a:tcPr marL="33278" marR="33278" marT="33278" marB="3327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5"/>
                  </a:ext>
                </a:extLst>
              </a:tr>
              <a:tr h="320400">
                <a:tc>
                  <a:txBody>
                    <a:bodyPr/>
                    <a:lstStyle/>
                    <a:p>
                      <a:r>
                        <a:rPr lang="zh-CN" altLang="en-US" sz="1400"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该字段为此路由携带的三层</a:t>
                      </a:r>
                      <a:r>
                        <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VNI</a:t>
                      </a:r>
                      <a:r>
                        <a:rPr lang="zh-CN" altLang="en-US" sz="1400"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a:t>
                      </a:r>
                    </a:p>
                  </a:txBody>
                  <a:tcPr marL="33278" marR="33278" marT="33278" marB="3327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
        <p:nvSpPr>
          <p:cNvPr id="16" name="矩形 15"/>
          <p:cNvSpPr/>
          <p:nvPr/>
        </p:nvSpPr>
        <p:spPr bwMode="gray">
          <a:xfrm>
            <a:off x="2925664" y="3237437"/>
            <a:ext cx="952504" cy="307777"/>
          </a:xfrm>
          <a:prstGeom prst="rect">
            <a:avLst/>
          </a:prstGeom>
        </p:spPr>
        <p:txBody>
          <a:bodyPr wrap="none">
            <a:spAutoFit/>
          </a:bodyPr>
          <a:lstStyle/>
          <a:p>
            <a:pPr algn="ct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报文格式 </a:t>
            </a:r>
          </a:p>
        </p:txBody>
      </p:sp>
      <p:sp>
        <p:nvSpPr>
          <p:cNvPr id="17" name="矩形 16"/>
          <p:cNvSpPr/>
          <p:nvPr/>
        </p:nvSpPr>
        <p:spPr bwMode="gray">
          <a:xfrm>
            <a:off x="7379326" y="3237437"/>
            <a:ext cx="902811" cy="307777"/>
          </a:xfrm>
          <a:prstGeom prst="rect">
            <a:avLst/>
          </a:prstGeom>
        </p:spPr>
        <p:txBody>
          <a:bodyPr wrap="none">
            <a:spAutoFit/>
          </a:bodyPr>
          <a:lstStyle/>
          <a:p>
            <a:pPr algn="ct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字段说明</a:t>
            </a:r>
          </a:p>
        </p:txBody>
      </p:sp>
      <p:sp>
        <p:nvSpPr>
          <p:cNvPr id="21" name="五边形 24">
            <a:extLst>
              <a:ext uri="{FF2B5EF4-FFF2-40B4-BE49-F238E27FC236}">
                <a16:creationId xmlns:a16="http://schemas.microsoft.com/office/drawing/2014/main" id="{66BA07AD-FEEF-4CB3-8D55-B5A235B0FBAC}"/>
              </a:ext>
            </a:extLst>
          </p:cNvPr>
          <p:cNvSpPr/>
          <p:nvPr/>
        </p:nvSpPr>
        <p:spPr bwMode="gray">
          <a:xfrm>
            <a:off x="8632177" y="124239"/>
            <a:ext cx="108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2</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6">
            <a:extLst>
              <a:ext uri="{FF2B5EF4-FFF2-40B4-BE49-F238E27FC236}">
                <a16:creationId xmlns:a16="http://schemas.microsoft.com/office/drawing/2014/main" id="{0C19331F-8FCC-488E-9C32-A3F774208D1E}"/>
              </a:ext>
            </a:extLst>
          </p:cNvPr>
          <p:cNvSpPr/>
          <p:nvPr/>
        </p:nvSpPr>
        <p:spPr bwMode="gray">
          <a:xfrm>
            <a:off x="10629665" y="124239"/>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Type 5</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a:t>
            </a:r>
          </a:p>
        </p:txBody>
      </p:sp>
      <p:sp>
        <p:nvSpPr>
          <p:cNvPr id="23" name="燕尾形 26">
            <a:extLst>
              <a:ext uri="{FF2B5EF4-FFF2-40B4-BE49-F238E27FC236}">
                <a16:creationId xmlns:a16="http://schemas.microsoft.com/office/drawing/2014/main" id="{5C797163-D6D3-4ACC-996D-421D87F18D19}"/>
              </a:ext>
            </a:extLst>
          </p:cNvPr>
          <p:cNvSpPr/>
          <p:nvPr/>
        </p:nvSpPr>
        <p:spPr bwMode="gray">
          <a:xfrm>
            <a:off x="9630921"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3</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4474994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sym typeface="Huawei Sans" panose="020C0503030203020204" pitchFamily="34" charset="0"/>
              </a:rPr>
              <a:t>通告</a:t>
            </a:r>
            <a:r>
              <a:rPr lang="en-US" altLang="zh-CN">
                <a:sym typeface="Huawei Sans" panose="020C0503030203020204" pitchFamily="34" charset="0"/>
              </a:rPr>
              <a:t>IP</a:t>
            </a:r>
            <a:r>
              <a:rPr lang="zh-CN" altLang="en-US">
                <a:sym typeface="Huawei Sans" panose="020C0503030203020204" pitchFamily="34" charset="0"/>
              </a:rPr>
              <a:t>前缀路由的应用场景</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a:xfrm>
            <a:off x="455613" y="1047750"/>
            <a:ext cx="11256962" cy="885431"/>
          </a:xfrm>
        </p:spPr>
        <p:txBody>
          <a:bodyPr/>
          <a:lstStyle/>
          <a:p>
            <a:r>
              <a:rPr lang="zh-CN" altLang="en-US" sz="1800" dirty="0">
                <a:sym typeface="Huawei Sans" panose="020C0503030203020204" pitchFamily="34" charset="0"/>
              </a:rPr>
              <a:t>对于</a:t>
            </a:r>
            <a:r>
              <a:rPr lang="en-US" altLang="zh-CN" sz="1800" dirty="0">
                <a:sym typeface="Huawei Sans" panose="020C0503030203020204" pitchFamily="34" charset="0"/>
              </a:rPr>
              <a:t>VXLAN</a:t>
            </a:r>
            <a:r>
              <a:rPr lang="zh-CN" altLang="en-US" sz="1800" dirty="0">
                <a:sym typeface="Huawei Sans" panose="020C0503030203020204" pitchFamily="34" charset="0"/>
              </a:rPr>
              <a:t>外部网络，</a:t>
            </a:r>
            <a:r>
              <a:rPr lang="en-US" altLang="zh-CN" sz="1800" dirty="0">
                <a:sym typeface="Huawei Sans" panose="020C0503030203020204" pitchFamily="34" charset="0"/>
              </a:rPr>
              <a:t>VTEP</a:t>
            </a:r>
            <a:r>
              <a:rPr lang="zh-CN" altLang="en-US" sz="1800" dirty="0">
                <a:sym typeface="Huawei Sans" panose="020C0503030203020204" pitchFamily="34" charset="0"/>
              </a:rPr>
              <a:t>可以通过</a:t>
            </a:r>
            <a:r>
              <a:rPr lang="en-US" altLang="zh-CN" sz="1800" dirty="0">
                <a:sym typeface="Huawei Sans" panose="020C0503030203020204" pitchFamily="34" charset="0"/>
              </a:rPr>
              <a:t>Type 5</a:t>
            </a:r>
            <a:r>
              <a:rPr lang="zh-CN" altLang="en-US" sz="1800" dirty="0">
                <a:sym typeface="Huawei Sans" panose="020C0503030203020204" pitchFamily="34" charset="0"/>
              </a:rPr>
              <a:t>类路由将外部路由通告到整个</a:t>
            </a:r>
            <a:r>
              <a:rPr lang="en-US" altLang="zh-CN" sz="1800" dirty="0">
                <a:sym typeface="Huawei Sans" panose="020C0503030203020204" pitchFamily="34" charset="0"/>
              </a:rPr>
              <a:t>VXLAN</a:t>
            </a:r>
            <a:r>
              <a:rPr lang="zh-CN" altLang="en-US" sz="1800" dirty="0">
                <a:sym typeface="Huawei Sans" panose="020C0503030203020204" pitchFamily="34" charset="0"/>
              </a:rPr>
              <a:t>网络中，用于指导</a:t>
            </a:r>
            <a:r>
              <a:rPr lang="en-US" altLang="zh-CN" sz="1800" dirty="0">
                <a:sym typeface="Huawei Sans" panose="020C0503030203020204" pitchFamily="34" charset="0"/>
              </a:rPr>
              <a:t>VXLAN</a:t>
            </a:r>
            <a:r>
              <a:rPr lang="zh-CN" altLang="en-US" sz="1800" dirty="0">
                <a:sym typeface="Huawei Sans" panose="020C0503030203020204" pitchFamily="34" charset="0"/>
              </a:rPr>
              <a:t>内部主机访问外部网络。</a:t>
            </a:r>
          </a:p>
        </p:txBody>
      </p:sp>
      <p:grpSp>
        <p:nvGrpSpPr>
          <p:cNvPr id="33" name="组合 32"/>
          <p:cNvGrpSpPr/>
          <p:nvPr/>
        </p:nvGrpSpPr>
        <p:grpSpPr bwMode="gray">
          <a:xfrm>
            <a:off x="9107497" y="3178627"/>
            <a:ext cx="442385" cy="432048"/>
            <a:chOff x="1194287" y="4005064"/>
            <a:chExt cx="442385" cy="432048"/>
          </a:xfrm>
        </p:grpSpPr>
        <p:cxnSp>
          <p:nvCxnSpPr>
            <p:cNvPr id="34" name="直接连接符 33"/>
            <p:cNvCxnSpPr/>
            <p:nvPr/>
          </p:nvCxnSpPr>
          <p:spPr bwMode="gray">
            <a:xfrm flipV="1">
              <a:off x="1415479" y="400506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bwMode="gray">
            <a:xfrm>
              <a:off x="1194287" y="400506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6" name="矩形 35"/>
          <p:cNvSpPr/>
          <p:nvPr/>
        </p:nvSpPr>
        <p:spPr bwMode="gray">
          <a:xfrm>
            <a:off x="8589546" y="2852050"/>
            <a:ext cx="1478290"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VTEP</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 2.2.2.2/32</a:t>
            </a:r>
          </a:p>
        </p:txBody>
      </p:sp>
      <p:cxnSp>
        <p:nvCxnSpPr>
          <p:cNvPr id="32" name="直接连接符 31"/>
          <p:cNvCxnSpPr>
            <a:endCxn id="31" idx="1"/>
          </p:cNvCxnSpPr>
          <p:nvPr/>
        </p:nvCxnSpPr>
        <p:spPr bwMode="gray">
          <a:xfrm>
            <a:off x="3068265" y="3207728"/>
            <a:ext cx="1025232" cy="3614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图片 87" descr="汇聚交换机.png"/>
          <p:cNvPicPr>
            <a:picLocks noChangeAspect="1"/>
          </p:cNvPicPr>
          <p:nvPr/>
        </p:nvPicPr>
        <p:blipFill>
          <a:blip r:embed="rId3" cstate="print"/>
          <a:stretch>
            <a:fillRect/>
          </a:stretch>
        </p:blipFill>
        <p:spPr bwMode="gray">
          <a:xfrm>
            <a:off x="9079574" y="3368360"/>
            <a:ext cx="490909" cy="401653"/>
          </a:xfrm>
          <a:prstGeom prst="rect">
            <a:avLst/>
          </a:prstGeom>
        </p:spPr>
      </p:pic>
      <p:sp>
        <p:nvSpPr>
          <p:cNvPr id="6" name="Freeform 159"/>
          <p:cNvSpPr/>
          <p:nvPr/>
        </p:nvSpPr>
        <p:spPr bwMode="gray">
          <a:xfrm flipH="1">
            <a:off x="1981332" y="2696100"/>
            <a:ext cx="1384250" cy="72358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324000" rtlCol="0" anchor="ctr">
            <a:noAutofit/>
          </a:bodyPr>
          <a:lstStyle/>
          <a:p>
            <a:pPr algn="ctr"/>
            <a:r>
              <a:rPr 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网络外部</a:t>
            </a:r>
            <a:endParaRPr 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1.2.3.0/24</a:t>
            </a:r>
          </a:p>
        </p:txBody>
      </p:sp>
      <p:grpSp>
        <p:nvGrpSpPr>
          <p:cNvPr id="15" name="组合 14"/>
          <p:cNvGrpSpPr/>
          <p:nvPr/>
        </p:nvGrpSpPr>
        <p:grpSpPr bwMode="gray">
          <a:xfrm>
            <a:off x="4620528" y="3415297"/>
            <a:ext cx="4386257" cy="307777"/>
            <a:chOff x="5413686" y="4038207"/>
            <a:chExt cx="4386257" cy="307777"/>
          </a:xfrm>
        </p:grpSpPr>
        <p:sp>
          <p:nvSpPr>
            <p:cNvPr id="13" name="圆柱形 12"/>
            <p:cNvSpPr/>
            <p:nvPr/>
          </p:nvSpPr>
          <p:spPr bwMode="gray">
            <a:xfrm rot="16200000">
              <a:off x="7485795" y="1987972"/>
              <a:ext cx="242039" cy="4386257"/>
            </a:xfrm>
            <a:prstGeom prst="can">
              <a:avLst>
                <a:gd name="adj" fmla="val 72803"/>
              </a:avLst>
            </a:prstGeom>
            <a:solidFill>
              <a:srgbClr val="EC7061"/>
            </a:solidFill>
            <a:ln w="12700" cap="flat" cmpd="sng" algn="ctr">
              <a:solidFill>
                <a:sysClr val="window" lastClr="FFFFF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999">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矩形 13"/>
            <p:cNvSpPr/>
            <p:nvPr/>
          </p:nvSpPr>
          <p:spPr bwMode="gray">
            <a:xfrm>
              <a:off x="7224949" y="4038207"/>
              <a:ext cx="769763" cy="307777"/>
            </a:xfrm>
            <a:prstGeom prst="rect">
              <a:avLst/>
            </a:prstGeom>
          </p:spPr>
          <p:txBody>
            <a:bodyPr wrap="none">
              <a:spAutoFit/>
            </a:bodyPr>
            <a:lstStyle/>
            <a:p>
              <a:pPr algn="just"/>
              <a:r>
                <a:rPr lang="en-US" altLang="zh-CN"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VNI 88</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7" name="文本框 16"/>
          <p:cNvSpPr txBox="1"/>
          <p:nvPr/>
        </p:nvSpPr>
        <p:spPr bwMode="gray">
          <a:xfrm>
            <a:off x="3490645" y="4167805"/>
            <a:ext cx="984565" cy="523220"/>
          </a:xfrm>
          <a:prstGeom prst="rect">
            <a:avLst/>
          </a:prstGeom>
          <a:noFill/>
        </p:spPr>
        <p:txBody>
          <a:bodyPr wrap="none" rtlCol="0">
            <a:spAutoFit/>
          </a:bodyPr>
          <a:lstStyle/>
          <a:p>
            <a:pPr algn="ct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静态路由 </a:t>
            </a:r>
            <a:endPar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1.2.3.0/24</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Right Arrow 158"/>
          <p:cNvSpPr/>
          <p:nvPr/>
        </p:nvSpPr>
        <p:spPr bwMode="gray">
          <a:xfrm>
            <a:off x="4351061" y="3862171"/>
            <a:ext cx="470906" cy="1134488"/>
          </a:xfrm>
          <a:custGeom>
            <a:avLst/>
            <a:gdLst>
              <a:gd name="connsiteX0" fmla="*/ 0 w 633403"/>
              <a:gd name="connsiteY0" fmla="*/ 140615 h 494305"/>
              <a:gd name="connsiteX1" fmla="*/ 386251 w 633403"/>
              <a:gd name="connsiteY1" fmla="*/ 140615 h 494305"/>
              <a:gd name="connsiteX2" fmla="*/ 386251 w 633403"/>
              <a:gd name="connsiteY2" fmla="*/ 0 h 494305"/>
              <a:gd name="connsiteX3" fmla="*/ 633403 w 633403"/>
              <a:gd name="connsiteY3" fmla="*/ 247153 h 494305"/>
              <a:gd name="connsiteX4" fmla="*/ 386251 w 633403"/>
              <a:gd name="connsiteY4" fmla="*/ 494305 h 494305"/>
              <a:gd name="connsiteX5" fmla="*/ 386251 w 633403"/>
              <a:gd name="connsiteY5" fmla="*/ 353690 h 494305"/>
              <a:gd name="connsiteX6" fmla="*/ 0 w 633403"/>
              <a:gd name="connsiteY6" fmla="*/ 353690 h 494305"/>
              <a:gd name="connsiteX7" fmla="*/ 0 w 633403"/>
              <a:gd name="connsiteY7" fmla="*/ 140615 h 494305"/>
              <a:gd name="connsiteX0" fmla="*/ 0 w 637213"/>
              <a:gd name="connsiteY0" fmla="*/ 0 h 1016630"/>
              <a:gd name="connsiteX1" fmla="*/ 390061 w 637213"/>
              <a:gd name="connsiteY1" fmla="*/ 662940 h 1016630"/>
              <a:gd name="connsiteX2" fmla="*/ 390061 w 637213"/>
              <a:gd name="connsiteY2" fmla="*/ 522325 h 1016630"/>
              <a:gd name="connsiteX3" fmla="*/ 637213 w 637213"/>
              <a:gd name="connsiteY3" fmla="*/ 769478 h 1016630"/>
              <a:gd name="connsiteX4" fmla="*/ 390061 w 637213"/>
              <a:gd name="connsiteY4" fmla="*/ 1016630 h 1016630"/>
              <a:gd name="connsiteX5" fmla="*/ 390061 w 637213"/>
              <a:gd name="connsiteY5" fmla="*/ 876015 h 1016630"/>
              <a:gd name="connsiteX6" fmla="*/ 3810 w 637213"/>
              <a:gd name="connsiteY6" fmla="*/ 876015 h 1016630"/>
              <a:gd name="connsiteX7" fmla="*/ 0 w 637213"/>
              <a:gd name="connsiteY7" fmla="*/ 0 h 1016630"/>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 name="connsiteX0" fmla="*/ 0 w 637213"/>
              <a:gd name="connsiteY0" fmla="*/ 0 h 1535148"/>
              <a:gd name="connsiteX1" fmla="*/ 390061 w 637213"/>
              <a:gd name="connsiteY1" fmla="*/ 662940 h 1535148"/>
              <a:gd name="connsiteX2" fmla="*/ 390061 w 637213"/>
              <a:gd name="connsiteY2" fmla="*/ 522325 h 1535148"/>
              <a:gd name="connsiteX3" fmla="*/ 637213 w 637213"/>
              <a:gd name="connsiteY3" fmla="*/ 769478 h 1535148"/>
              <a:gd name="connsiteX4" fmla="*/ 390061 w 637213"/>
              <a:gd name="connsiteY4" fmla="*/ 1016630 h 1535148"/>
              <a:gd name="connsiteX5" fmla="*/ 390061 w 637213"/>
              <a:gd name="connsiteY5" fmla="*/ 876015 h 1535148"/>
              <a:gd name="connsiteX6" fmla="*/ 7620 w 637213"/>
              <a:gd name="connsiteY6" fmla="*/ 1535148 h 1535148"/>
              <a:gd name="connsiteX7" fmla="*/ 0 w 637213"/>
              <a:gd name="connsiteY7" fmla="*/ 0 h 1535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7213" h="1535148">
                <a:moveTo>
                  <a:pt x="0" y="0"/>
                </a:moveTo>
                <a:cubicBezTo>
                  <a:pt x="76680" y="461013"/>
                  <a:pt x="122881" y="613413"/>
                  <a:pt x="390061" y="662940"/>
                </a:cubicBezTo>
                <a:lnTo>
                  <a:pt x="390061" y="522325"/>
                </a:lnTo>
                <a:lnTo>
                  <a:pt x="637213" y="769478"/>
                </a:lnTo>
                <a:lnTo>
                  <a:pt x="390061" y="1016630"/>
                </a:lnTo>
                <a:lnTo>
                  <a:pt x="390061" y="876015"/>
                </a:lnTo>
                <a:cubicBezTo>
                  <a:pt x="117801" y="973809"/>
                  <a:pt x="116050" y="1147800"/>
                  <a:pt x="7620" y="1535148"/>
                </a:cubicBezTo>
                <a:lnTo>
                  <a:pt x="0" y="0"/>
                </a:lnTo>
                <a:close/>
              </a:path>
            </a:pathLst>
          </a:custGeom>
          <a:gradFill flip="none" rotWithShape="1">
            <a:gsLst>
              <a:gs pos="15000">
                <a:schemeClr val="accent1">
                  <a:lumMod val="5000"/>
                  <a:lumOff val="95000"/>
                  <a:alpha val="0"/>
                </a:schemeClr>
              </a:gs>
              <a:gs pos="81000">
                <a:srgbClr val="FFCC66"/>
              </a:gs>
            </a:gsLst>
            <a:lin ang="0" scaled="1"/>
            <a:tileRect/>
          </a:gradFill>
          <a:ln>
            <a:gradFill flip="none" rotWithShape="1">
              <a:gsLst>
                <a:gs pos="11000">
                  <a:schemeClr val="accent1">
                    <a:lumMod val="0"/>
                    <a:lumOff val="100000"/>
                    <a:alpha val="0"/>
                  </a:schemeClr>
                </a:gs>
                <a:gs pos="67000">
                  <a:srgbClr val="FF9933"/>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文本框 18"/>
          <p:cNvSpPr txBox="1"/>
          <p:nvPr/>
        </p:nvSpPr>
        <p:spPr bwMode="gray">
          <a:xfrm>
            <a:off x="3838229" y="4996659"/>
            <a:ext cx="1261884" cy="523220"/>
          </a:xfrm>
          <a:prstGeom prst="rect">
            <a:avLst/>
          </a:prstGeom>
          <a:noFill/>
        </p:spPr>
        <p:txBody>
          <a:bodyPr wrap="none" rtlCol="0">
            <a:spAutoFit/>
          </a:bodyPr>
          <a:lstStyle/>
          <a:p>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引入静态路由</a:t>
            </a:r>
            <a:endPar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到</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BGP</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椭圆 25"/>
          <p:cNvSpPr>
            <a:spLocks noChangeAspect="1"/>
          </p:cNvSpPr>
          <p:nvPr/>
        </p:nvSpPr>
        <p:spPr bwMode="gray">
          <a:xfrm>
            <a:off x="4524433" y="4736015"/>
            <a:ext cx="232480" cy="232480"/>
          </a:xfrm>
          <a:prstGeom prst="ellipse">
            <a:avLst/>
          </a:prstGeom>
          <a:solidFill>
            <a:srgbClr val="EC7061">
              <a:lumMod val="100000"/>
            </a:srgbClr>
          </a:solidFill>
          <a:ln w="19050" cap="flat" cmpd="sng" algn="ctr">
            <a:noFill/>
            <a:prstDash val="solid"/>
            <a:miter lim="800000"/>
          </a:ln>
          <a:effectLst/>
        </p:spPr>
        <p:txBody>
          <a:bodyPr wrap="none" lIns="0" tIns="0" rIns="0" bIns="0" rtlCol="0" anchor="ctr"/>
          <a:lstStyle/>
          <a:p>
            <a:pPr algn="ctr"/>
            <a:r>
              <a:rPr lang="en-US" altLang="zh-CN" sz="1400" b="1"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7" name="组合 26"/>
          <p:cNvGrpSpPr/>
          <p:nvPr/>
        </p:nvGrpSpPr>
        <p:grpSpPr bwMode="gray">
          <a:xfrm>
            <a:off x="4118937" y="3178627"/>
            <a:ext cx="442385" cy="432048"/>
            <a:chOff x="1194287" y="4005064"/>
            <a:chExt cx="442385" cy="432048"/>
          </a:xfrm>
        </p:grpSpPr>
        <p:cxnSp>
          <p:nvCxnSpPr>
            <p:cNvPr id="28" name="直接连接符 27"/>
            <p:cNvCxnSpPr/>
            <p:nvPr/>
          </p:nvCxnSpPr>
          <p:spPr bwMode="gray">
            <a:xfrm flipV="1">
              <a:off x="1415479" y="400506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bwMode="gray">
            <a:xfrm>
              <a:off x="1194287" y="400506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0" name="矩形 29"/>
          <p:cNvSpPr/>
          <p:nvPr/>
        </p:nvSpPr>
        <p:spPr bwMode="gray">
          <a:xfrm>
            <a:off x="3600984" y="2852050"/>
            <a:ext cx="1478290"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 1.1.1.1/32</a:t>
            </a:r>
          </a:p>
        </p:txBody>
      </p:sp>
      <p:pic>
        <p:nvPicPr>
          <p:cNvPr id="31" name="图片 86" descr="核心交换机.png"/>
          <p:cNvPicPr>
            <a:picLocks noChangeAspect="1"/>
          </p:cNvPicPr>
          <p:nvPr/>
        </p:nvPicPr>
        <p:blipFill>
          <a:blip r:embed="rId4" cstate="print"/>
          <a:stretch>
            <a:fillRect/>
          </a:stretch>
        </p:blipFill>
        <p:spPr bwMode="gray">
          <a:xfrm>
            <a:off x="4093497" y="3368360"/>
            <a:ext cx="490909" cy="401653"/>
          </a:xfrm>
          <a:prstGeom prst="rect">
            <a:avLst/>
          </a:prstGeom>
        </p:spPr>
      </p:pic>
      <p:cxnSp>
        <p:nvCxnSpPr>
          <p:cNvPr id="37" name="直接连接符 36"/>
          <p:cNvCxnSpPr/>
          <p:nvPr/>
        </p:nvCxnSpPr>
        <p:spPr bwMode="gray">
          <a:xfrm flipH="1">
            <a:off x="7824280" y="4271278"/>
            <a:ext cx="1182505" cy="0"/>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sp>
        <p:nvSpPr>
          <p:cNvPr id="42" name="椭圆 41"/>
          <p:cNvSpPr>
            <a:spLocks noChangeAspect="1"/>
          </p:cNvSpPr>
          <p:nvPr/>
        </p:nvSpPr>
        <p:spPr bwMode="gray">
          <a:xfrm>
            <a:off x="8195799" y="4167805"/>
            <a:ext cx="232480" cy="232480"/>
          </a:xfrm>
          <a:prstGeom prst="ellipse">
            <a:avLst/>
          </a:prstGeom>
          <a:solidFill>
            <a:srgbClr val="EC7061">
              <a:lumMod val="100000"/>
            </a:srgbClr>
          </a:solidFill>
          <a:ln w="19050" cap="flat" cmpd="sng" algn="ctr">
            <a:noFill/>
            <a:prstDash val="solid"/>
            <a:miter lim="800000"/>
          </a:ln>
          <a:effectLst/>
        </p:spPr>
        <p:txBody>
          <a:bodyPr wrap="none" lIns="0" tIns="0" rIns="0" bIns="0" rtlCol="0" anchor="ctr"/>
          <a:lstStyle/>
          <a:p>
            <a:pPr algn="ctr"/>
            <a:r>
              <a:rPr lang="en-US" altLang="zh-CN" sz="1400" b="1"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椭圆 42"/>
          <p:cNvSpPr>
            <a:spLocks noChangeAspect="1"/>
          </p:cNvSpPr>
          <p:nvPr/>
        </p:nvSpPr>
        <p:spPr bwMode="gray">
          <a:xfrm>
            <a:off x="9212449" y="4168433"/>
            <a:ext cx="232480" cy="232480"/>
          </a:xfrm>
          <a:prstGeom prst="ellipse">
            <a:avLst/>
          </a:prstGeom>
          <a:solidFill>
            <a:srgbClr val="EC7061">
              <a:lumMod val="100000"/>
            </a:srgbClr>
          </a:solidFill>
          <a:ln w="19050" cap="flat" cmpd="sng" algn="ctr">
            <a:noFill/>
            <a:prstDash val="solid"/>
            <a:miter lim="800000"/>
          </a:ln>
          <a:effectLst/>
        </p:spPr>
        <p:txBody>
          <a:bodyPr wrap="none" lIns="0" tIns="0" rIns="0" bIns="0" rtlCol="0" anchor="ctr"/>
          <a:lstStyle/>
          <a:p>
            <a:pPr algn="ctr"/>
            <a:r>
              <a:rPr lang="en-US" altLang="zh-CN" sz="1400" b="1"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矩形 43"/>
          <p:cNvSpPr/>
          <p:nvPr/>
        </p:nvSpPr>
        <p:spPr bwMode="gray">
          <a:xfrm>
            <a:off x="8444797" y="4444003"/>
            <a:ext cx="1767784" cy="523220"/>
          </a:xfrm>
          <a:prstGeom prst="rect">
            <a:avLst/>
          </a:prstGeom>
        </p:spPr>
        <p:txBody>
          <a:bodyPr wrap="square">
            <a:spAutoFit/>
          </a:bodyPr>
          <a:lstStyle/>
          <a:p>
            <a:pPr algn="ct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获得到达</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1.2.3.0/24</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的路由</a:t>
            </a:r>
            <a:endPar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矩形 44"/>
          <p:cNvSpPr/>
          <p:nvPr/>
        </p:nvSpPr>
        <p:spPr bwMode="gray">
          <a:xfrm>
            <a:off x="3627652" y="3770013"/>
            <a:ext cx="1494320" cy="307777"/>
          </a:xfrm>
          <a:prstGeom prst="rect">
            <a:avLst/>
          </a:prstGeom>
        </p:spPr>
        <p:txBody>
          <a:bodyPr wrap="none">
            <a:spAutoFit/>
          </a:bodyPr>
          <a:lstStyle/>
          <a:p>
            <a:pPr algn="ct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400" b="1">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矩形 45"/>
          <p:cNvSpPr/>
          <p:nvPr/>
        </p:nvSpPr>
        <p:spPr bwMode="gray">
          <a:xfrm>
            <a:off x="8623642" y="3770013"/>
            <a:ext cx="1494320" cy="307777"/>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网关）</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文本框 48"/>
          <p:cNvSpPr txBox="1"/>
          <p:nvPr/>
        </p:nvSpPr>
        <p:spPr bwMode="gray">
          <a:xfrm>
            <a:off x="5366425" y="4112534"/>
            <a:ext cx="2643988" cy="318401"/>
          </a:xfrm>
          <a:prstGeom prst="round2SameRect">
            <a:avLst>
              <a:gd name="adj1" fmla="val 20890"/>
              <a:gd name="adj2" fmla="val 0"/>
            </a:avLst>
          </a:prstGeom>
          <a:solidFill>
            <a:srgbClr val="EC7061"/>
          </a:solidFill>
          <a:ln w="19050">
            <a:solidFill>
              <a:schemeClr val="bg1"/>
            </a:solidFill>
          </a:ln>
        </p:spPr>
        <p:txBody>
          <a:bodyPr wrap="none" lIns="0" tIns="0" rIns="0" bIns="0" rtlCol="0" anchor="ctr" anchorCtr="0">
            <a:noAutofit/>
          </a:bodyPr>
          <a:lstStyle>
            <a:defPPr>
              <a:defRPr lang="en-US"/>
            </a:defPPr>
            <a:lvl1pPr algn="ctr">
              <a:defRPr sz="1200" b="1">
                <a:solidFill>
                  <a:schemeClr val="bg1"/>
                </a:solidFill>
              </a:defRPr>
            </a:lvl1p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BGP Update</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报文</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文本框 49"/>
          <p:cNvSpPr txBox="1"/>
          <p:nvPr/>
        </p:nvSpPr>
        <p:spPr bwMode="gray">
          <a:xfrm>
            <a:off x="5366425" y="4437285"/>
            <a:ext cx="2643988" cy="1174845"/>
          </a:xfrm>
          <a:prstGeom prst="rect">
            <a:avLst/>
          </a:prstGeom>
          <a:solidFill>
            <a:schemeClr val="accent2">
              <a:lumMod val="20000"/>
              <a:lumOff val="80000"/>
            </a:schemeClr>
          </a:solidFill>
          <a:ln w="19050">
            <a:solidFill>
              <a:schemeClr val="bg1"/>
            </a:solidFill>
          </a:ln>
        </p:spPr>
        <p:txBody>
          <a:bodyPr wrap="none" lIns="0" tIns="0" rIns="0" bIns="0" rtlCol="0" anchor="ctr" anchorCtr="0">
            <a:noAutofit/>
          </a:bodyPr>
          <a:lstStyle>
            <a:defPPr>
              <a:defRPr lang="en-US"/>
            </a:defPPr>
            <a:lvl1pPr algn="ctr">
              <a:defRPr sz="1200"/>
            </a:lvl1pPr>
          </a:lstStyle>
          <a:p>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文本框 50"/>
          <p:cNvSpPr txBox="1"/>
          <p:nvPr/>
        </p:nvSpPr>
        <p:spPr bwMode="gray">
          <a:xfrm>
            <a:off x="5471959" y="4623695"/>
            <a:ext cx="2432922" cy="270377"/>
          </a:xfrm>
          <a:prstGeom prst="rect">
            <a:avLst/>
          </a:prstGeom>
          <a:solidFill>
            <a:schemeClr val="accent2">
              <a:lumMod val="40000"/>
              <a:lumOff val="60000"/>
            </a:schemeClr>
          </a:solidFill>
          <a:ln w="19050">
            <a:solidFill>
              <a:schemeClr val="accent2">
                <a:lumMod val="60000"/>
                <a:lumOff val="40000"/>
              </a:schemeClr>
            </a:solidFill>
          </a:ln>
        </p:spPr>
        <p:txBody>
          <a:bodyPr wrap="none" lIns="0" tIns="0" rIns="0" bIns="0" rtlCol="0" anchor="ctr" anchorCtr="0">
            <a:noAutofit/>
          </a:bodyPr>
          <a:lstStyle>
            <a:defPPr>
              <a:defRPr lang="en-US"/>
            </a:defPPr>
            <a:lvl1pPr algn="ctr">
              <a:defRPr sz="1200"/>
            </a:lvl1p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Type 5</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路由</a:t>
            </a:r>
          </a:p>
        </p:txBody>
      </p:sp>
      <p:sp>
        <p:nvSpPr>
          <p:cNvPr id="52" name="文本框 51"/>
          <p:cNvSpPr txBox="1"/>
          <p:nvPr/>
        </p:nvSpPr>
        <p:spPr bwMode="gray">
          <a:xfrm>
            <a:off x="5471959" y="4887510"/>
            <a:ext cx="2432922" cy="568410"/>
          </a:xfrm>
          <a:prstGeom prst="rect">
            <a:avLst/>
          </a:prstGeom>
          <a:solidFill>
            <a:schemeClr val="bg1"/>
          </a:solidFill>
          <a:ln w="19050">
            <a:solidFill>
              <a:schemeClr val="accent2">
                <a:lumMod val="60000"/>
                <a:lumOff val="40000"/>
              </a:schemeClr>
            </a:solidFill>
          </a:ln>
        </p:spPr>
        <p:txBody>
          <a:bodyPr wrap="none" lIns="0" tIns="0" rIns="0" bIns="0" rtlCol="0" anchor="ctr" anchorCtr="0">
            <a:noAutofit/>
          </a:bodyPr>
          <a:lstStyle>
            <a:defPPr>
              <a:defRPr lang="en-US"/>
            </a:defPPr>
            <a:lvl1pPr algn="ctr">
              <a:defRPr sz="1200"/>
            </a:lvl1pPr>
          </a:lstStyle>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前缀</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=1.2.3.0/24</a:t>
            </a:r>
          </a:p>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三层</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VNI=88</a:t>
            </a:r>
          </a:p>
        </p:txBody>
      </p:sp>
      <p:sp>
        <p:nvSpPr>
          <p:cNvPr id="38" name="五边形 24">
            <a:extLst>
              <a:ext uri="{FF2B5EF4-FFF2-40B4-BE49-F238E27FC236}">
                <a16:creationId xmlns:a16="http://schemas.microsoft.com/office/drawing/2014/main" id="{66BA07AD-FEEF-4CB3-8D55-B5A235B0FBAC}"/>
              </a:ext>
            </a:extLst>
          </p:cNvPr>
          <p:cNvSpPr/>
          <p:nvPr/>
        </p:nvSpPr>
        <p:spPr bwMode="gray">
          <a:xfrm>
            <a:off x="8632178" y="124239"/>
            <a:ext cx="108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2</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燕尾形 26">
            <a:extLst>
              <a:ext uri="{FF2B5EF4-FFF2-40B4-BE49-F238E27FC236}">
                <a16:creationId xmlns:a16="http://schemas.microsoft.com/office/drawing/2014/main" id="{0C19331F-8FCC-488E-9C32-A3F774208D1E}"/>
              </a:ext>
            </a:extLst>
          </p:cNvPr>
          <p:cNvSpPr/>
          <p:nvPr/>
        </p:nvSpPr>
        <p:spPr bwMode="gray">
          <a:xfrm>
            <a:off x="10629666" y="124239"/>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Type 5</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a:t>
            </a:r>
          </a:p>
        </p:txBody>
      </p:sp>
      <p:sp>
        <p:nvSpPr>
          <p:cNvPr id="40" name="燕尾形 26">
            <a:extLst>
              <a:ext uri="{FF2B5EF4-FFF2-40B4-BE49-F238E27FC236}">
                <a16:creationId xmlns:a16="http://schemas.microsoft.com/office/drawing/2014/main" id="{5C797163-D6D3-4ACC-996D-421D87F18D19}"/>
              </a:ext>
            </a:extLst>
          </p:cNvPr>
          <p:cNvSpPr/>
          <p:nvPr/>
        </p:nvSpPr>
        <p:spPr bwMode="gray">
          <a:xfrm>
            <a:off x="9630922"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Type 3</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3952429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a:solidFill>
                  <a:schemeClr val="bg1">
                    <a:lumMod val="50000"/>
                  </a:schemeClr>
                </a:solidFill>
                <a:sym typeface="Huawei Sans" panose="020C0503030203020204" pitchFamily="34" charset="0"/>
              </a:rPr>
              <a:t>VXLAN</a:t>
            </a:r>
            <a:r>
              <a:rPr lang="zh-CN" altLang="en-US" dirty="0">
                <a:solidFill>
                  <a:schemeClr val="bg1">
                    <a:lumMod val="50000"/>
                  </a:schemeClr>
                </a:solidFill>
                <a:sym typeface="Huawei Sans" panose="020C0503030203020204" pitchFamily="34" charset="0"/>
              </a:rPr>
              <a:t>及园区网络虚拟化技术背景</a:t>
            </a:r>
            <a:endParaRPr lang="en-US" altLang="zh-CN" dirty="0">
              <a:solidFill>
                <a:schemeClr val="bg1">
                  <a:lumMod val="50000"/>
                </a:schemeClr>
              </a:solidFill>
              <a:sym typeface="Huawei Sans" panose="020C0503030203020204" pitchFamily="34" charset="0"/>
            </a:endParaRPr>
          </a:p>
          <a:p>
            <a:r>
              <a:rPr lang="en-US" altLang="zh-CN" dirty="0">
                <a:solidFill>
                  <a:schemeClr val="bg1">
                    <a:lumMod val="50000"/>
                  </a:schemeClr>
                </a:solidFill>
                <a:sym typeface="Huawei Sans" panose="020C0503030203020204" pitchFamily="34" charset="0"/>
              </a:rPr>
              <a:t>VXLAN</a:t>
            </a:r>
            <a:r>
              <a:rPr lang="zh-CN" altLang="en-US" dirty="0">
                <a:solidFill>
                  <a:schemeClr val="bg1">
                    <a:lumMod val="50000"/>
                  </a:schemeClr>
                </a:solidFill>
                <a:sym typeface="Huawei Sans" panose="020C0503030203020204" pitchFamily="34" charset="0"/>
              </a:rPr>
              <a:t>的基本概念及工作原理</a:t>
            </a:r>
            <a:endParaRPr lang="en-US" altLang="zh-CN" dirty="0">
              <a:solidFill>
                <a:schemeClr val="bg1">
                  <a:lumMod val="50000"/>
                </a:schemeClr>
              </a:solidFill>
              <a:sym typeface="Huawei Sans" panose="020C0503030203020204" pitchFamily="34" charset="0"/>
            </a:endParaRPr>
          </a:p>
          <a:p>
            <a:r>
              <a:rPr lang="en-US" altLang="zh-CN" b="1" dirty="0">
                <a:sym typeface="Huawei Sans" panose="020C0503030203020204" pitchFamily="34" charset="0"/>
              </a:rPr>
              <a:t>BGP EVPN</a:t>
            </a:r>
          </a:p>
          <a:p>
            <a:pPr lvl="1"/>
            <a:r>
              <a:rPr lang="zh-CN" altLang="en-US" dirty="0">
                <a:solidFill>
                  <a:schemeClr val="bg1">
                    <a:lumMod val="50000"/>
                  </a:schemeClr>
                </a:solidFill>
                <a:sym typeface="Huawei Sans" panose="020C0503030203020204" pitchFamily="34" charset="0"/>
              </a:rPr>
              <a:t>基本概念</a:t>
            </a:r>
            <a:endParaRPr lang="en-US" altLang="zh-CN" dirty="0">
              <a:solidFill>
                <a:schemeClr val="bg1">
                  <a:lumMod val="50000"/>
                </a:schemeClr>
              </a:solidFill>
              <a:sym typeface="Huawei Sans" panose="020C0503030203020204" pitchFamily="34" charset="0"/>
            </a:endParaRPr>
          </a:p>
          <a:p>
            <a:pPr lvl="1"/>
            <a:r>
              <a:rPr lang="en-US" altLang="zh-CN" dirty="0">
                <a:solidFill>
                  <a:schemeClr val="bg1">
                    <a:lumMod val="50000"/>
                  </a:schemeClr>
                </a:solidFill>
                <a:sym typeface="Huawei Sans" panose="020C0503030203020204" pitchFamily="34" charset="0"/>
              </a:rPr>
              <a:t>BGP EVPN</a:t>
            </a:r>
            <a:r>
              <a:rPr lang="zh-CN" altLang="en-US" dirty="0">
                <a:solidFill>
                  <a:schemeClr val="bg1">
                    <a:lumMod val="50000"/>
                  </a:schemeClr>
                </a:solidFill>
                <a:sym typeface="Huawei Sans" panose="020C0503030203020204" pitchFamily="34" charset="0"/>
              </a:rPr>
              <a:t>路由</a:t>
            </a:r>
            <a:endParaRPr lang="en-US" altLang="zh-CN" dirty="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en-US" altLang="zh-CN" dirty="0">
                <a:sym typeface="Huawei Sans" panose="020C0503030203020204" pitchFamily="34" charset="0"/>
              </a:rPr>
              <a:t>BGP EVPN</a:t>
            </a:r>
            <a:r>
              <a:rPr lang="zh-CN" altLang="en-US" dirty="0">
                <a:sym typeface="Huawei Sans" panose="020C0503030203020204" pitchFamily="34" charset="0"/>
              </a:rPr>
              <a:t>特性</a:t>
            </a:r>
            <a:endParaRPr lang="en-US" altLang="zh-CN" dirty="0">
              <a:sym typeface="Huawei Sans" panose="020C0503030203020204" pitchFamily="34" charset="0"/>
            </a:endParaRPr>
          </a:p>
          <a:p>
            <a:r>
              <a:rPr lang="zh-CN" altLang="en-US" dirty="0">
                <a:solidFill>
                  <a:schemeClr val="bg1">
                    <a:lumMod val="50000"/>
                  </a:schemeClr>
                </a:solidFill>
                <a:sym typeface="Huawei Sans" panose="020C0503030203020204" pitchFamily="34" charset="0"/>
              </a:rPr>
              <a:t>园区网络虚拟化</a:t>
            </a:r>
          </a:p>
        </p:txBody>
      </p:sp>
    </p:spTree>
    <p:extLst>
      <p:ext uri="{BB962C8B-B14F-4D97-AF65-F5344CB8AC3E}">
        <p14:creationId xmlns:p14="http://schemas.microsoft.com/office/powerpoint/2010/main" val="29006304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en-US" altLang="zh-CN">
                <a:sym typeface="Huawei Sans" panose="020C0503030203020204" pitchFamily="34" charset="0"/>
              </a:rPr>
              <a:t>ARP</a:t>
            </a:r>
            <a:r>
              <a:rPr lang="zh-CN" altLang="en-US">
                <a:sym typeface="Huawei Sans" panose="020C0503030203020204" pitchFamily="34" charset="0"/>
              </a:rPr>
              <a:t>广播抑制</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bwMode="gray">
          <a:xfrm>
            <a:off x="455613" y="1047750"/>
            <a:ext cx="11256962" cy="1359219"/>
          </a:xfrm>
        </p:spPr>
        <p:txBody>
          <a:bodyPr/>
          <a:lstStyle/>
          <a:p>
            <a:pPr lvl="0"/>
            <a:r>
              <a:rPr lang="en-US" altLang="zh-CN" sz="1800" dirty="0">
                <a:sym typeface="Huawei Sans" panose="020C0503030203020204" pitchFamily="34" charset="0"/>
              </a:rPr>
              <a:t>BGP EVPN</a:t>
            </a:r>
            <a:r>
              <a:rPr lang="zh-CN" altLang="en-US" sz="1800" dirty="0">
                <a:sym typeface="Huawei Sans" panose="020C0503030203020204" pitchFamily="34" charset="0"/>
              </a:rPr>
              <a:t>的</a:t>
            </a:r>
            <a:r>
              <a:rPr lang="en-US" altLang="zh-CN" sz="1800" dirty="0">
                <a:sym typeface="Huawei Sans" panose="020C0503030203020204" pitchFamily="34" charset="0"/>
              </a:rPr>
              <a:t>Type 2</a:t>
            </a:r>
            <a:r>
              <a:rPr lang="zh-CN" altLang="en-US" sz="1800" dirty="0">
                <a:sym typeface="Huawei Sans" panose="020C0503030203020204" pitchFamily="34" charset="0"/>
              </a:rPr>
              <a:t>路由使得</a:t>
            </a:r>
            <a:r>
              <a:rPr lang="en-US" altLang="zh-CN" sz="1800" dirty="0">
                <a:sym typeface="Huawei Sans" panose="020C0503030203020204" pitchFamily="34" charset="0"/>
              </a:rPr>
              <a:t>VTEP</a:t>
            </a:r>
            <a:r>
              <a:rPr lang="zh-CN" altLang="en-US" sz="1800" dirty="0">
                <a:sym typeface="Huawei Sans" panose="020C0503030203020204" pitchFamily="34" charset="0"/>
              </a:rPr>
              <a:t>可以不依赖主机之间的通信过程完成</a:t>
            </a:r>
            <a:r>
              <a:rPr lang="en-US" altLang="zh-CN" sz="1800" dirty="0">
                <a:sym typeface="Huawei Sans" panose="020C0503030203020204" pitchFamily="34" charset="0"/>
              </a:rPr>
              <a:t>MAC</a:t>
            </a:r>
            <a:r>
              <a:rPr lang="zh-CN" altLang="en-US" sz="1800" dirty="0">
                <a:sym typeface="Huawei Sans" panose="020C0503030203020204" pitchFamily="34" charset="0"/>
              </a:rPr>
              <a:t>地址表的学习，但是主机间的</a:t>
            </a:r>
            <a:r>
              <a:rPr lang="en-US" altLang="zh-CN" sz="1800" dirty="0">
                <a:sym typeface="Huawei Sans" panose="020C0503030203020204" pitchFamily="34" charset="0"/>
              </a:rPr>
              <a:t>ARP</a:t>
            </a:r>
            <a:r>
              <a:rPr lang="zh-CN" altLang="en-US" sz="1800" dirty="0">
                <a:sym typeface="Huawei Sans" panose="020C0503030203020204" pitchFamily="34" charset="0"/>
              </a:rPr>
              <a:t>信息依旧需要在</a:t>
            </a:r>
            <a:r>
              <a:rPr lang="en-US" altLang="zh-CN" sz="1800" dirty="0">
                <a:sym typeface="Huawei Sans" panose="020C0503030203020204" pitchFamily="34" charset="0"/>
              </a:rPr>
              <a:t>VXLAN Overlay</a:t>
            </a:r>
            <a:r>
              <a:rPr lang="zh-CN" altLang="en-US" sz="1800" dirty="0">
                <a:sym typeface="Huawei Sans" panose="020C0503030203020204" pitchFamily="34" charset="0"/>
              </a:rPr>
              <a:t>中进行泛洪转发，这会占用大量的网络资源。</a:t>
            </a:r>
            <a:endParaRPr lang="en-US" altLang="zh-CN" sz="1800" dirty="0">
              <a:sym typeface="Huawei Sans" panose="020C0503030203020204" pitchFamily="34" charset="0"/>
            </a:endParaRPr>
          </a:p>
          <a:p>
            <a:pPr lvl="0"/>
            <a:r>
              <a:rPr lang="zh-CN" altLang="en-US" sz="1800" dirty="0">
                <a:sym typeface="Huawei Sans" panose="020C0503030203020204" pitchFamily="34" charset="0"/>
              </a:rPr>
              <a:t>为此可以通过</a:t>
            </a:r>
            <a:r>
              <a:rPr lang="en-US" altLang="zh-CN" sz="1800" dirty="0">
                <a:sym typeface="Huawei Sans" panose="020C0503030203020204" pitchFamily="34" charset="0"/>
              </a:rPr>
              <a:t>BGP EVPN</a:t>
            </a:r>
            <a:r>
              <a:rPr lang="zh-CN" altLang="en-US" sz="1800" dirty="0">
                <a:sym typeface="Huawei Sans" panose="020C0503030203020204" pitchFamily="34" charset="0"/>
              </a:rPr>
              <a:t>路由实现</a:t>
            </a:r>
            <a:r>
              <a:rPr lang="en-US" altLang="zh-CN" sz="1800" dirty="0">
                <a:sym typeface="Huawei Sans" panose="020C0503030203020204" pitchFamily="34" charset="0"/>
              </a:rPr>
              <a:t>ARP</a:t>
            </a:r>
            <a:r>
              <a:rPr lang="zh-CN" altLang="en-US" sz="1800" dirty="0">
                <a:sym typeface="Huawei Sans" panose="020C0503030203020204" pitchFamily="34" charset="0"/>
              </a:rPr>
              <a:t>广播抑制功能，减少广播流量。</a:t>
            </a:r>
            <a:endParaRPr lang="en-US" altLang="zh-CN" sz="1800" dirty="0">
              <a:sym typeface="Huawei Sans" panose="020C0503030203020204" pitchFamily="34" charset="0"/>
            </a:endParaRPr>
          </a:p>
        </p:txBody>
      </p:sp>
      <p:grpSp>
        <p:nvGrpSpPr>
          <p:cNvPr id="68" name="组合 67"/>
          <p:cNvGrpSpPr/>
          <p:nvPr/>
        </p:nvGrpSpPr>
        <p:grpSpPr bwMode="gray">
          <a:xfrm>
            <a:off x="3213477" y="3824373"/>
            <a:ext cx="442385" cy="432048"/>
            <a:chOff x="3213477" y="3973279"/>
            <a:chExt cx="442385" cy="432048"/>
          </a:xfrm>
        </p:grpSpPr>
        <p:cxnSp>
          <p:nvCxnSpPr>
            <p:cNvPr id="7" name="直接连接符 6"/>
            <p:cNvCxnSpPr/>
            <p:nvPr/>
          </p:nvCxnSpPr>
          <p:spPr bwMode="gray">
            <a:xfrm flipV="1">
              <a:off x="3434669" y="3973279"/>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bwMode="gray">
            <a:xfrm>
              <a:off x="3213477" y="4405327"/>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7" name="组合 66"/>
          <p:cNvGrpSpPr/>
          <p:nvPr/>
        </p:nvGrpSpPr>
        <p:grpSpPr bwMode="gray">
          <a:xfrm>
            <a:off x="8588381" y="3793893"/>
            <a:ext cx="442385" cy="432048"/>
            <a:chOff x="8588381" y="3942799"/>
            <a:chExt cx="442385" cy="432048"/>
          </a:xfrm>
        </p:grpSpPr>
        <p:cxnSp>
          <p:nvCxnSpPr>
            <p:cNvPr id="10" name="直接连接符 9"/>
            <p:cNvCxnSpPr/>
            <p:nvPr/>
          </p:nvCxnSpPr>
          <p:spPr bwMode="gray">
            <a:xfrm flipV="1">
              <a:off x="8809573" y="3942799"/>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gray">
            <a:xfrm>
              <a:off x="8588381" y="4374847"/>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矩形 11"/>
          <p:cNvSpPr/>
          <p:nvPr/>
        </p:nvSpPr>
        <p:spPr bwMode="gray">
          <a:xfrm>
            <a:off x="3061399" y="4277686"/>
            <a:ext cx="740908"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VTEP1</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1.1.1.1</a:t>
            </a:r>
          </a:p>
        </p:txBody>
      </p:sp>
      <p:pic>
        <p:nvPicPr>
          <p:cNvPr id="13" name="图片 87" descr="汇聚交换机.png"/>
          <p:cNvPicPr>
            <a:picLocks noChangeAspect="1"/>
          </p:cNvPicPr>
          <p:nvPr/>
        </p:nvPicPr>
        <p:blipFill>
          <a:blip r:embed="rId3"/>
          <a:stretch>
            <a:fillRect/>
          </a:stretch>
        </p:blipFill>
        <p:spPr bwMode="gray">
          <a:xfrm>
            <a:off x="3180443" y="3628997"/>
            <a:ext cx="502820" cy="411400"/>
          </a:xfrm>
          <a:prstGeom prst="rect">
            <a:avLst/>
          </a:prstGeom>
        </p:spPr>
      </p:pic>
      <p:pic>
        <p:nvPicPr>
          <p:cNvPr id="14" name="图片 87" descr="汇聚交换机.png"/>
          <p:cNvPicPr>
            <a:picLocks noChangeAspect="1"/>
          </p:cNvPicPr>
          <p:nvPr/>
        </p:nvPicPr>
        <p:blipFill>
          <a:blip r:embed="rId3"/>
          <a:stretch>
            <a:fillRect/>
          </a:stretch>
        </p:blipFill>
        <p:spPr bwMode="gray">
          <a:xfrm>
            <a:off x="8548976" y="3628997"/>
            <a:ext cx="502820" cy="411400"/>
          </a:xfrm>
          <a:prstGeom prst="rect">
            <a:avLst/>
          </a:prstGeom>
        </p:spPr>
      </p:pic>
      <p:sp>
        <p:nvSpPr>
          <p:cNvPr id="15" name="矩形 14"/>
          <p:cNvSpPr/>
          <p:nvPr/>
        </p:nvSpPr>
        <p:spPr bwMode="gray">
          <a:xfrm>
            <a:off x="680137" y="4031440"/>
            <a:ext cx="1287532" cy="738664"/>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PC1</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172.16.2.1/24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A</a:t>
            </a:r>
          </a:p>
        </p:txBody>
      </p:sp>
      <p:pic>
        <p:nvPicPr>
          <p:cNvPr id="16" name="图片 11" descr="开放网络-蓝.png"/>
          <p:cNvPicPr>
            <a:picLocks noChangeAspect="1"/>
          </p:cNvPicPr>
          <p:nvPr/>
        </p:nvPicPr>
        <p:blipFill>
          <a:blip r:embed="rId4" cstate="print"/>
          <a:stretch>
            <a:fillRect/>
          </a:stretch>
        </p:blipFill>
        <p:spPr bwMode="gray">
          <a:xfrm>
            <a:off x="981752" y="3634947"/>
            <a:ext cx="539607" cy="415381"/>
          </a:xfrm>
          <a:prstGeom prst="rect">
            <a:avLst/>
          </a:prstGeom>
        </p:spPr>
      </p:pic>
      <p:sp>
        <p:nvSpPr>
          <p:cNvPr id="17" name="矩形 16"/>
          <p:cNvSpPr/>
          <p:nvPr/>
        </p:nvSpPr>
        <p:spPr bwMode="gray">
          <a:xfrm>
            <a:off x="10265878" y="4032709"/>
            <a:ext cx="1287532" cy="738664"/>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PC2</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172.16.2.2/24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B</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矩形 17"/>
          <p:cNvSpPr/>
          <p:nvPr/>
        </p:nvSpPr>
        <p:spPr bwMode="gray">
          <a:xfrm rot="15603">
            <a:off x="1822847" y="3852498"/>
            <a:ext cx="846707" cy="523220"/>
          </a:xfrm>
          <a:prstGeom prst="rect">
            <a:avLst/>
          </a:prstGeom>
        </p:spPr>
        <p:txBody>
          <a:bodyPr wrap="none">
            <a:spAutoFit/>
          </a:bodyPr>
          <a:lstStyle/>
          <a:p>
            <a:pPr algn="just"/>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BD 20</a:t>
            </a:r>
          </a:p>
          <a:p>
            <a:pPr algn="just"/>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VNI 200</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矩形 18"/>
          <p:cNvSpPr/>
          <p:nvPr/>
        </p:nvSpPr>
        <p:spPr bwMode="gray">
          <a:xfrm rot="15603">
            <a:off x="9443415" y="3844877"/>
            <a:ext cx="846707" cy="523220"/>
          </a:xfrm>
          <a:prstGeom prst="rect">
            <a:avLst/>
          </a:prstGeom>
        </p:spPr>
        <p:txBody>
          <a:bodyPr wrap="none">
            <a:spAutoFit/>
          </a:bodyPr>
          <a:lstStyle/>
          <a:p>
            <a:pPr algn="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BD 20</a:t>
            </a:r>
          </a:p>
          <a:p>
            <a:pPr algn="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VNI 200</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圆柱形 19"/>
          <p:cNvSpPr/>
          <p:nvPr/>
        </p:nvSpPr>
        <p:spPr bwMode="gray">
          <a:xfrm rot="16200000">
            <a:off x="5981400" y="1401734"/>
            <a:ext cx="242039" cy="4893112"/>
          </a:xfrm>
          <a:prstGeom prst="can">
            <a:avLst>
              <a:gd name="adj" fmla="val 72803"/>
            </a:avLst>
          </a:prstGeom>
          <a:solidFill>
            <a:srgbClr val="EC7061"/>
          </a:solidFill>
          <a:ln w="12700" cap="flat" cmpd="sng" algn="ctr">
            <a:solidFill>
              <a:sysClr val="window" lastClr="FFFFF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999">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矩形 20"/>
          <p:cNvSpPr/>
          <p:nvPr/>
        </p:nvSpPr>
        <p:spPr bwMode="gray">
          <a:xfrm>
            <a:off x="5531590" y="3700467"/>
            <a:ext cx="1141659" cy="307777"/>
          </a:xfrm>
          <a:prstGeom prst="rect">
            <a:avLst/>
          </a:prstGeom>
        </p:spPr>
        <p:txBody>
          <a:bodyPr wrap="none">
            <a:spAutoFit/>
          </a:bodyPr>
          <a:lstStyle/>
          <a:p>
            <a:pPr algn="just"/>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a:t>
            </a:r>
          </a:p>
        </p:txBody>
      </p:sp>
      <p:sp>
        <p:nvSpPr>
          <p:cNvPr id="22" name="矩形 21"/>
          <p:cNvSpPr/>
          <p:nvPr/>
        </p:nvSpPr>
        <p:spPr bwMode="gray">
          <a:xfrm>
            <a:off x="8432398" y="4277686"/>
            <a:ext cx="740908"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VTEP2</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2.2.2.2</a:t>
            </a:r>
          </a:p>
        </p:txBody>
      </p:sp>
      <p:pic>
        <p:nvPicPr>
          <p:cNvPr id="23" name="图片 11" descr="开放网络-蓝.png"/>
          <p:cNvPicPr>
            <a:picLocks noChangeAspect="1"/>
          </p:cNvPicPr>
          <p:nvPr/>
        </p:nvPicPr>
        <p:blipFill>
          <a:blip r:embed="rId4" cstate="print"/>
          <a:stretch>
            <a:fillRect/>
          </a:stretch>
        </p:blipFill>
        <p:spPr bwMode="gray">
          <a:xfrm>
            <a:off x="10593028" y="3634947"/>
            <a:ext cx="539607" cy="415381"/>
          </a:xfrm>
          <a:prstGeom prst="rect">
            <a:avLst/>
          </a:prstGeom>
        </p:spPr>
      </p:pic>
      <p:cxnSp>
        <p:nvCxnSpPr>
          <p:cNvPr id="32" name="直接连接符 31"/>
          <p:cNvCxnSpPr/>
          <p:nvPr/>
        </p:nvCxnSpPr>
        <p:spPr bwMode="gray">
          <a:xfrm flipH="1">
            <a:off x="1045345" y="4960582"/>
            <a:ext cx="1375817" cy="0"/>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sp>
        <p:nvSpPr>
          <p:cNvPr id="33" name="椭圆 32"/>
          <p:cNvSpPr>
            <a:spLocks noChangeAspect="1"/>
          </p:cNvSpPr>
          <p:nvPr/>
        </p:nvSpPr>
        <p:spPr bwMode="gray">
          <a:xfrm>
            <a:off x="812865" y="4845460"/>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矩形 33"/>
          <p:cNvSpPr/>
          <p:nvPr/>
        </p:nvSpPr>
        <p:spPr bwMode="gray">
          <a:xfrm>
            <a:off x="981752" y="4960736"/>
            <a:ext cx="1199473" cy="523220"/>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请求</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报文。</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椭圆 38"/>
          <p:cNvSpPr>
            <a:spLocks noChangeAspect="1"/>
          </p:cNvSpPr>
          <p:nvPr/>
        </p:nvSpPr>
        <p:spPr bwMode="gray">
          <a:xfrm>
            <a:off x="3844052" y="4807752"/>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39"/>
          <p:cNvSpPr/>
          <p:nvPr/>
        </p:nvSpPr>
        <p:spPr bwMode="gray">
          <a:xfrm>
            <a:off x="4076531" y="4400772"/>
            <a:ext cx="3976627" cy="523220"/>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将</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数据帧目的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地址从全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F</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替换为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B</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封装交给</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48" name="表格 47"/>
          <p:cNvGraphicFramePr>
            <a:graphicFrameLocks noGrp="1"/>
          </p:cNvGraphicFramePr>
          <p:nvPr>
            <p:extLst>
              <p:ext uri="{D42A27DB-BD31-4B8C-83A1-F6EECF244321}">
                <p14:modId xmlns:p14="http://schemas.microsoft.com/office/powerpoint/2010/main" val="3533455417"/>
              </p:ext>
            </p:extLst>
          </p:nvPr>
        </p:nvGraphicFramePr>
        <p:xfrm>
          <a:off x="2132052" y="2966174"/>
          <a:ext cx="2538573" cy="548640"/>
        </p:xfrm>
        <a:graphic>
          <a:graphicData uri="http://schemas.openxmlformats.org/drawingml/2006/table">
            <a:tbl>
              <a:tblPr firstRow="1" bandRow="1">
                <a:tableStyleId>{5940675A-B579-460E-94D1-54222C63F5DA}</a:tableStyleId>
              </a:tblPr>
              <a:tblGrid>
                <a:gridCol w="912972">
                  <a:extLst>
                    <a:ext uri="{9D8B030D-6E8A-4147-A177-3AD203B41FA5}">
                      <a16:colId xmlns:a16="http://schemas.microsoft.com/office/drawing/2014/main" val="20000"/>
                    </a:ext>
                  </a:extLst>
                </a:gridCol>
                <a:gridCol w="748145">
                  <a:extLst>
                    <a:ext uri="{9D8B030D-6E8A-4147-A177-3AD203B41FA5}">
                      <a16:colId xmlns:a16="http://schemas.microsoft.com/office/drawing/2014/main" val="20001"/>
                    </a:ext>
                  </a:extLst>
                </a:gridCol>
                <a:gridCol w="877456">
                  <a:extLst>
                    <a:ext uri="{9D8B030D-6E8A-4147-A177-3AD203B41FA5}">
                      <a16:colId xmlns:a16="http://schemas.microsoft.com/office/drawing/2014/main" val="20002"/>
                    </a:ext>
                  </a:extLst>
                </a:gridCol>
              </a:tblGrid>
              <a:tr h="0">
                <a:tc>
                  <a:txBody>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地址</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MAC</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VTEP</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0"/>
                  </a:ext>
                </a:extLst>
              </a:tr>
              <a:tr h="0">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172.16.2.2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MAC</a:t>
                      </a:r>
                      <a:r>
                        <a:rPr lang="en-US" altLang="zh-CN" sz="1200" baseline="0" dirty="0">
                          <a:latin typeface="Huawei Sans" panose="020C0503030203020204" pitchFamily="34" charset="0"/>
                          <a:ea typeface="方正兰亭黑简体" panose="02000000000000000000" pitchFamily="2" charset="-122"/>
                          <a:sym typeface="Huawei Sans" panose="020C0503030203020204" pitchFamily="34" charset="0"/>
                        </a:rPr>
                        <a:t> B</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2.2.2.2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49" name="椭圆 48"/>
          <p:cNvSpPr>
            <a:spLocks noChangeAspect="1"/>
          </p:cNvSpPr>
          <p:nvPr/>
        </p:nvSpPr>
        <p:spPr bwMode="gray">
          <a:xfrm>
            <a:off x="2015812" y="2909844"/>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矩形 49"/>
          <p:cNvSpPr/>
          <p:nvPr/>
        </p:nvSpPr>
        <p:spPr bwMode="gray">
          <a:xfrm>
            <a:off x="2187919" y="2612668"/>
            <a:ext cx="2624436" cy="307777"/>
          </a:xfrm>
          <a:prstGeom prst="rect">
            <a:avLst/>
          </a:prstGeom>
        </p:spPr>
        <p:txBody>
          <a:bodyPr wrap="none">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查询</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BD 20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广播抑制表。</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2" name="直接连接符 51"/>
          <p:cNvCxnSpPr>
            <a:stCxn id="13" idx="1"/>
            <a:endCxn id="16" idx="3"/>
          </p:cNvCxnSpPr>
          <p:nvPr/>
        </p:nvCxnSpPr>
        <p:spPr bwMode="gray">
          <a:xfrm flipH="1">
            <a:off x="1521359" y="3834697"/>
            <a:ext cx="165908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a:endCxn id="14" idx="3"/>
          </p:cNvCxnSpPr>
          <p:nvPr/>
        </p:nvCxnSpPr>
        <p:spPr bwMode="gray">
          <a:xfrm flipH="1">
            <a:off x="9051796" y="3834697"/>
            <a:ext cx="156184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矩形 57"/>
          <p:cNvSpPr/>
          <p:nvPr/>
        </p:nvSpPr>
        <p:spPr bwMode="gray">
          <a:xfrm>
            <a:off x="6145916" y="5087365"/>
            <a:ext cx="1142426" cy="338400"/>
          </a:xfrm>
          <a:prstGeom prst="rect">
            <a:avLst/>
          </a:prstGeom>
          <a:solidFill>
            <a:srgbClr val="EC7061"/>
          </a:solidFill>
          <a:ln w="19050">
            <a:solidFill>
              <a:schemeClr val="bg1"/>
            </a:solidFill>
          </a:ln>
        </p:spPr>
        <p:txBody>
          <a:bodyPr wrap="none" anchor="ctr" anchorCtr="0">
            <a:noAutofit/>
          </a:bodyPr>
          <a:lstStyle/>
          <a:p>
            <a:pPr algn="ct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原始数据帧头部</a:t>
            </a:r>
          </a:p>
        </p:txBody>
      </p:sp>
      <p:sp>
        <p:nvSpPr>
          <p:cNvPr id="59" name="矩形 58"/>
          <p:cNvSpPr/>
          <p:nvPr/>
        </p:nvSpPr>
        <p:spPr bwMode="gray">
          <a:xfrm>
            <a:off x="5144807" y="5087365"/>
            <a:ext cx="1004879" cy="338400"/>
          </a:xfrm>
          <a:prstGeom prst="rect">
            <a:avLst/>
          </a:prstGeom>
          <a:solidFill>
            <a:schemeClr val="bg1">
              <a:lumMod val="75000"/>
            </a:schemeClr>
          </a:solidFill>
          <a:ln w="19050">
            <a:noFill/>
          </a:ln>
        </p:spPr>
        <p:txBody>
          <a:bodyPr wrap="none" anchor="ctr" anchorCtr="0">
            <a:noAutofit/>
          </a:bodyPr>
          <a:lstStyle/>
          <a:p>
            <a:pPr algn="ctr"/>
            <a:r>
              <a:rPr lang="en-US" altLang="zh-CN" sz="12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2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头部</a:t>
            </a:r>
            <a:endParaRPr lang="zh-CN" altLang="en-US"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矩形 59"/>
          <p:cNvSpPr/>
          <p:nvPr/>
        </p:nvSpPr>
        <p:spPr bwMode="gray">
          <a:xfrm>
            <a:off x="4143076" y="5087365"/>
            <a:ext cx="1004879" cy="338400"/>
          </a:xfrm>
          <a:prstGeom prst="rect">
            <a:avLst/>
          </a:prstGeom>
          <a:solidFill>
            <a:schemeClr val="bg1">
              <a:lumMod val="75000"/>
            </a:schemeClr>
          </a:solidFill>
          <a:ln w="19050">
            <a:noFill/>
          </a:ln>
        </p:spPr>
        <p:txBody>
          <a:bodyPr wrap="none" anchor="ctr" anchorCtr="0">
            <a:noAutofit/>
          </a:bodyPr>
          <a:lstStyle/>
          <a:p>
            <a:pPr algn="ctr"/>
            <a:r>
              <a:rPr lang="en-US" altLang="zh-CN" sz="12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UDP</a:t>
            </a:r>
            <a:r>
              <a:rPr lang="zh-CN" altLang="en-US" sz="12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头部</a:t>
            </a:r>
            <a:endParaRPr lang="zh-CN" altLang="en-US"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矩形 60"/>
          <p:cNvSpPr/>
          <p:nvPr/>
        </p:nvSpPr>
        <p:spPr bwMode="gray">
          <a:xfrm>
            <a:off x="3527617" y="5087365"/>
            <a:ext cx="625571" cy="338400"/>
          </a:xfrm>
          <a:prstGeom prst="rect">
            <a:avLst/>
          </a:prstGeom>
          <a:solidFill>
            <a:schemeClr val="bg1">
              <a:lumMod val="75000"/>
            </a:schemeClr>
          </a:solidFill>
          <a:ln w="19050">
            <a:noFill/>
          </a:ln>
        </p:spPr>
        <p:txBody>
          <a:bodyPr wrap="none" anchor="ctr" anchorCtr="0">
            <a:noAutofit/>
          </a:bodyPr>
          <a:lstStyle/>
          <a:p>
            <a:pPr algn="ctr"/>
            <a:r>
              <a:rPr lang="en-US" altLang="zh-CN" sz="12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rPr>
              <a:t>头部</a:t>
            </a:r>
            <a:endParaRPr lang="zh-CN" altLang="en-US" sz="1200" dirty="0">
              <a:solidFill>
                <a:schemeClr val="tx1">
                  <a:lumMod val="75000"/>
                  <a:lumOff val="2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矩形 62"/>
          <p:cNvSpPr/>
          <p:nvPr/>
        </p:nvSpPr>
        <p:spPr bwMode="gray">
          <a:xfrm>
            <a:off x="2776438" y="5659135"/>
            <a:ext cx="1983556" cy="523220"/>
          </a:xfrm>
          <a:prstGeom prst="rect">
            <a:avLst/>
          </a:prstGeom>
        </p:spPr>
        <p:txBody>
          <a:bodyPr wrap="none">
            <a:spAutoFit/>
          </a:bodyPr>
          <a:lstStyle/>
          <a:p>
            <a:pPr marL="182563" indent="-182563">
              <a:buFont typeface="Arial" panose="020B0604020202020204" pitchFamily="34" charset="0"/>
              <a:buChar char="•"/>
            </a:pP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源</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地址：</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1.1.1.1</a:t>
            </a:r>
          </a:p>
          <a:p>
            <a:pPr marL="182563" indent="-182563">
              <a:buFont typeface="Arial" panose="020B0604020202020204" pitchFamily="34" charset="0"/>
              <a:buChar char="•"/>
            </a:pP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地址：</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2.2.2.2</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右大括号 63"/>
          <p:cNvSpPr/>
          <p:nvPr/>
        </p:nvSpPr>
        <p:spPr bwMode="gray">
          <a:xfrm rot="5400000">
            <a:off x="3783633" y="5227108"/>
            <a:ext cx="103723" cy="623244"/>
          </a:xfrm>
          <a:prstGeom prst="rightBrac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矩形 68"/>
          <p:cNvSpPr/>
          <p:nvPr/>
        </p:nvSpPr>
        <p:spPr bwMode="gray">
          <a:xfrm>
            <a:off x="5262399" y="5659136"/>
            <a:ext cx="1856919" cy="523220"/>
          </a:xfrm>
          <a:prstGeom prst="rect">
            <a:avLst/>
          </a:prstGeom>
        </p:spPr>
        <p:txBody>
          <a:bodyPr wrap="none">
            <a:spAutoFit/>
          </a:bodyPr>
          <a:lstStyle/>
          <a:p>
            <a:pPr marL="182563" indent="-182563">
              <a:buFont typeface="Arial" panose="020B0604020202020204" pitchFamily="34" charset="0"/>
              <a:buChar char="•"/>
            </a:pP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源</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MAC A </a:t>
            </a:r>
          </a:p>
          <a:p>
            <a:pPr marL="182563" indent="-182563">
              <a:buFont typeface="Arial" panose="020B0604020202020204" pitchFamily="34" charset="0"/>
              <a:buChar char="•"/>
            </a:pP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MAC B</a:t>
            </a:r>
          </a:p>
        </p:txBody>
      </p:sp>
      <p:sp>
        <p:nvSpPr>
          <p:cNvPr id="70" name="右大括号 69"/>
          <p:cNvSpPr/>
          <p:nvPr/>
        </p:nvSpPr>
        <p:spPr bwMode="gray">
          <a:xfrm rot="5400000">
            <a:off x="6659503" y="5004142"/>
            <a:ext cx="103723" cy="1069181"/>
          </a:xfrm>
          <a:prstGeom prst="rightBrace">
            <a:avLst>
              <a:gd name="adj1" fmla="val 8333"/>
              <a:gd name="adj2" fmla="val 88085"/>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矩形 70"/>
          <p:cNvSpPr/>
          <p:nvPr/>
        </p:nvSpPr>
        <p:spPr bwMode="gray">
          <a:xfrm>
            <a:off x="7273103" y="5087365"/>
            <a:ext cx="822960" cy="338400"/>
          </a:xfrm>
          <a:prstGeom prst="rect">
            <a:avLst/>
          </a:prstGeom>
          <a:solidFill>
            <a:srgbClr val="EC7061"/>
          </a:solidFill>
          <a:ln w="19050">
            <a:solidFill>
              <a:schemeClr val="bg1"/>
            </a:solidFill>
          </a:ln>
        </p:spPr>
        <p:txBody>
          <a:bodyPr wrap="none" anchor="ctr" anchorCtr="0">
            <a:no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ARP</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矩形 71"/>
          <p:cNvSpPr/>
          <p:nvPr/>
        </p:nvSpPr>
        <p:spPr bwMode="gray">
          <a:xfrm>
            <a:off x="7489874" y="5659136"/>
            <a:ext cx="2113399" cy="523220"/>
          </a:xfrm>
          <a:prstGeom prst="rect">
            <a:avLst/>
          </a:prstGeom>
        </p:spPr>
        <p:txBody>
          <a:bodyPr wrap="none">
            <a:spAutoFit/>
          </a:bodyPr>
          <a:lstStyle/>
          <a:p>
            <a:pPr marL="182563" indent="-182563">
              <a:buFont typeface="Arial" panose="020B0604020202020204" pitchFamily="34" charset="0"/>
              <a:buChar char="•"/>
            </a:pP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Source MAC</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MAC A</a:t>
            </a:r>
          </a:p>
          <a:p>
            <a:pPr marL="182563" indent="-182563">
              <a:buFont typeface="Arial" panose="020B0604020202020204" pitchFamily="34" charset="0"/>
              <a:buChar char="•"/>
            </a:pP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Target MAC</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MAC B</a:t>
            </a:r>
          </a:p>
        </p:txBody>
      </p:sp>
      <p:sp>
        <p:nvSpPr>
          <p:cNvPr id="73" name="右大括号 72"/>
          <p:cNvSpPr/>
          <p:nvPr/>
        </p:nvSpPr>
        <p:spPr bwMode="gray">
          <a:xfrm rot="5400000">
            <a:off x="7638246" y="5163735"/>
            <a:ext cx="103723" cy="749995"/>
          </a:xfrm>
          <a:prstGeom prst="rightBrace">
            <a:avLst>
              <a:gd name="adj1" fmla="val 8333"/>
              <a:gd name="adj2" fmla="val 32840"/>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4" name="直接连接符 73"/>
          <p:cNvCxnSpPr>
            <a:endCxn id="39" idx="6"/>
          </p:cNvCxnSpPr>
          <p:nvPr/>
        </p:nvCxnSpPr>
        <p:spPr bwMode="gray">
          <a:xfrm flipH="1">
            <a:off x="4076532" y="4922874"/>
            <a:ext cx="3763692" cy="1118"/>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bwMode="gray">
          <a:xfrm flipH="1">
            <a:off x="9259639" y="4960582"/>
            <a:ext cx="1375817" cy="0"/>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sp>
        <p:nvSpPr>
          <p:cNvPr id="78" name="椭圆 77"/>
          <p:cNvSpPr>
            <a:spLocks noChangeAspect="1"/>
          </p:cNvSpPr>
          <p:nvPr/>
        </p:nvSpPr>
        <p:spPr bwMode="gray">
          <a:xfrm>
            <a:off x="9027159" y="4845460"/>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矩形 78"/>
          <p:cNvSpPr/>
          <p:nvPr/>
        </p:nvSpPr>
        <p:spPr bwMode="gray">
          <a:xfrm>
            <a:off x="9196046" y="4960736"/>
            <a:ext cx="1588218" cy="523220"/>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将该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报文单播转发给</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6863313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lstStyle/>
          <a:p>
            <a:r>
              <a:rPr lang="zh-CN" altLang="en-US">
                <a:sym typeface="Huawei Sans" panose="020C0503030203020204" pitchFamily="34" charset="0"/>
              </a:rPr>
              <a:t>主机信息收集</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a:xfrm>
            <a:off x="455613" y="1047751"/>
            <a:ext cx="11256962" cy="1689674"/>
          </a:xfrm>
        </p:spPr>
        <p:txBody>
          <a:bodyPr/>
          <a:lstStyle/>
          <a:p>
            <a:r>
              <a:rPr lang="en-US" altLang="zh-CN" sz="1800" dirty="0">
                <a:sym typeface="Huawei Sans" panose="020C0503030203020204" pitchFamily="34" charset="0"/>
              </a:rPr>
              <a:t>ARP</a:t>
            </a:r>
            <a:r>
              <a:rPr lang="zh-CN" altLang="en-US" sz="1800" dirty="0">
                <a:sym typeface="Huawei Sans" panose="020C0503030203020204" pitchFamily="34" charset="0"/>
              </a:rPr>
              <a:t>广播抑制功能的实现依赖于</a:t>
            </a:r>
            <a:r>
              <a:rPr lang="en-US" altLang="zh-CN" sz="1800" dirty="0">
                <a:sym typeface="Huawei Sans" panose="020C0503030203020204" pitchFamily="34" charset="0"/>
              </a:rPr>
              <a:t>ARP</a:t>
            </a:r>
            <a:r>
              <a:rPr lang="zh-CN" altLang="en-US" sz="1800" dirty="0">
                <a:sym typeface="Huawei Sans" panose="020C0503030203020204" pitchFamily="34" charset="0"/>
              </a:rPr>
              <a:t>广播抑制表，该表项的形成依赖于</a:t>
            </a:r>
            <a:r>
              <a:rPr lang="en-US" altLang="zh-CN" sz="1800" dirty="0">
                <a:sym typeface="Huawei Sans" panose="020C0503030203020204" pitchFamily="34" charset="0"/>
              </a:rPr>
              <a:t>BGP EVPN</a:t>
            </a:r>
            <a:r>
              <a:rPr lang="zh-CN" altLang="en-US" sz="1800" dirty="0">
                <a:sym typeface="Huawei Sans" panose="020C0503030203020204" pitchFamily="34" charset="0"/>
              </a:rPr>
              <a:t>携带的</a:t>
            </a:r>
            <a:r>
              <a:rPr lang="en-US" altLang="zh-CN" sz="1800" dirty="0">
                <a:sym typeface="Huawei Sans" panose="020C0503030203020204" pitchFamily="34" charset="0"/>
              </a:rPr>
              <a:t>Type 2</a:t>
            </a:r>
            <a:r>
              <a:rPr lang="zh-CN" altLang="en-US" sz="1800" dirty="0">
                <a:sym typeface="Huawei Sans" panose="020C0503030203020204" pitchFamily="34" charset="0"/>
              </a:rPr>
              <a:t>路由（</a:t>
            </a:r>
            <a:r>
              <a:rPr lang="en-US" altLang="zh-CN" sz="1800" dirty="0">
                <a:sym typeface="Huawei Sans" panose="020C0503030203020204" pitchFamily="34" charset="0"/>
              </a:rPr>
              <a:t>IRB</a:t>
            </a:r>
            <a:r>
              <a:rPr lang="zh-CN" altLang="en-US" sz="1800" dirty="0">
                <a:sym typeface="Huawei Sans" panose="020C0503030203020204" pitchFamily="34" charset="0"/>
              </a:rPr>
              <a:t>路由、主机</a:t>
            </a:r>
            <a:r>
              <a:rPr lang="en-US" altLang="zh-CN" sz="1800" dirty="0">
                <a:sym typeface="Huawei Sans" panose="020C0503030203020204" pitchFamily="34" charset="0"/>
              </a:rPr>
              <a:t>ARP</a:t>
            </a:r>
            <a:r>
              <a:rPr lang="zh-CN" altLang="en-US" sz="1800" dirty="0">
                <a:sym typeface="Huawei Sans" panose="020C0503030203020204" pitchFamily="34" charset="0"/>
              </a:rPr>
              <a:t>通告）。</a:t>
            </a:r>
          </a:p>
          <a:p>
            <a:r>
              <a:rPr lang="zh-CN" altLang="en-US" sz="1800" dirty="0">
                <a:sym typeface="Huawei Sans" panose="020C0503030203020204" pitchFamily="34" charset="0"/>
              </a:rPr>
              <a:t>默认情况下</a:t>
            </a:r>
            <a:r>
              <a:rPr lang="en-US" altLang="zh-CN" sz="1800" dirty="0">
                <a:sym typeface="Huawei Sans" panose="020C0503030203020204" pitchFamily="34" charset="0"/>
              </a:rPr>
              <a:t>L3</a:t>
            </a:r>
            <a:r>
              <a:rPr lang="zh-CN" altLang="en-US" sz="1800" dirty="0">
                <a:sym typeface="Huawei Sans" panose="020C0503030203020204" pitchFamily="34" charset="0"/>
              </a:rPr>
              <a:t>网关不会由本地的</a:t>
            </a:r>
            <a:r>
              <a:rPr lang="en-US" altLang="zh-CN" sz="1800" dirty="0">
                <a:sym typeface="Huawei Sans" panose="020C0503030203020204" pitchFamily="34" charset="0"/>
              </a:rPr>
              <a:t>ARP</a:t>
            </a:r>
            <a:r>
              <a:rPr lang="zh-CN" altLang="en-US" sz="1800" dirty="0">
                <a:sym typeface="Huawei Sans" panose="020C0503030203020204" pitchFamily="34" charset="0"/>
              </a:rPr>
              <a:t>信息生成</a:t>
            </a:r>
            <a:r>
              <a:rPr lang="en-US" altLang="zh-CN" sz="1800" dirty="0">
                <a:sym typeface="Huawei Sans" panose="020C0503030203020204" pitchFamily="34" charset="0"/>
              </a:rPr>
              <a:t>BGP EVPN</a:t>
            </a:r>
            <a:r>
              <a:rPr lang="zh-CN" altLang="en-US" sz="1800" dirty="0">
                <a:sym typeface="Huawei Sans" panose="020C0503030203020204" pitchFamily="34" charset="0"/>
              </a:rPr>
              <a:t>路由，需要手动使能</a:t>
            </a:r>
            <a:r>
              <a:rPr lang="en-US" altLang="zh-CN" sz="1800" dirty="0">
                <a:sym typeface="Huawei Sans" panose="020C0503030203020204" pitchFamily="34" charset="0"/>
              </a:rPr>
              <a:t>BGP EVPN</a:t>
            </a:r>
            <a:r>
              <a:rPr lang="zh-CN" altLang="en-US" sz="1800" dirty="0">
                <a:sym typeface="Huawei Sans" panose="020C0503030203020204" pitchFamily="34" charset="0"/>
              </a:rPr>
              <a:t>主机信息收集功能。之后</a:t>
            </a:r>
            <a:r>
              <a:rPr lang="en-US" altLang="zh-CN" sz="1800" dirty="0">
                <a:sym typeface="Huawei Sans" panose="020C0503030203020204" pitchFamily="34" charset="0"/>
              </a:rPr>
              <a:t>VTEP</a:t>
            </a:r>
            <a:r>
              <a:rPr lang="zh-CN" altLang="en-US" sz="1800" dirty="0">
                <a:sym typeface="Huawei Sans" panose="020C0503030203020204" pitchFamily="34" charset="0"/>
              </a:rPr>
              <a:t>会依据</a:t>
            </a:r>
            <a:r>
              <a:rPr lang="en-US" altLang="zh-CN" sz="1800" dirty="0">
                <a:sym typeface="Huawei Sans" panose="020C0503030203020204" pitchFamily="34" charset="0"/>
              </a:rPr>
              <a:t>ARP</a:t>
            </a:r>
            <a:r>
              <a:rPr lang="zh-CN" altLang="en-US" sz="1800" dirty="0">
                <a:sym typeface="Huawei Sans" panose="020C0503030203020204" pitchFamily="34" charset="0"/>
              </a:rPr>
              <a:t>信息生成</a:t>
            </a:r>
            <a:r>
              <a:rPr lang="en-US" altLang="zh-CN" sz="1800" dirty="0">
                <a:sym typeface="Huawei Sans" panose="020C0503030203020204" pitchFamily="34" charset="0"/>
              </a:rPr>
              <a:t>IRB</a:t>
            </a:r>
            <a:r>
              <a:rPr lang="zh-CN" altLang="en-US" sz="1800" dirty="0">
                <a:sym typeface="Huawei Sans" panose="020C0503030203020204" pitchFamily="34" charset="0"/>
              </a:rPr>
              <a:t>路由。</a:t>
            </a:r>
          </a:p>
          <a:p>
            <a:endParaRPr lang="zh-CN" altLang="en-US" sz="1800" dirty="0">
              <a:sym typeface="Huawei Sans" panose="020C0503030203020204" pitchFamily="34" charset="0"/>
            </a:endParaRPr>
          </a:p>
        </p:txBody>
      </p:sp>
      <p:sp>
        <p:nvSpPr>
          <p:cNvPr id="5" name="文本占位符 2"/>
          <p:cNvSpPr txBox="1">
            <a:spLocks/>
          </p:cNvSpPr>
          <p:nvPr/>
        </p:nvSpPr>
        <p:spPr bwMode="gray">
          <a:xfrm>
            <a:off x="468317" y="1233488"/>
            <a:ext cx="11276183" cy="738733"/>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30" name="表格 29"/>
          <p:cNvGraphicFramePr>
            <a:graphicFrameLocks noGrp="1"/>
          </p:cNvGraphicFramePr>
          <p:nvPr>
            <p:extLst>
              <p:ext uri="{D42A27DB-BD31-4B8C-83A1-F6EECF244321}">
                <p14:modId xmlns:p14="http://schemas.microsoft.com/office/powerpoint/2010/main" val="1740249144"/>
              </p:ext>
            </p:extLst>
          </p:nvPr>
        </p:nvGraphicFramePr>
        <p:xfrm>
          <a:off x="2397379" y="3154713"/>
          <a:ext cx="2538573" cy="548640"/>
        </p:xfrm>
        <a:graphic>
          <a:graphicData uri="http://schemas.openxmlformats.org/drawingml/2006/table">
            <a:tbl>
              <a:tblPr firstRow="1" bandRow="1">
                <a:tableStyleId>{5940675A-B579-460E-94D1-54222C63F5DA}</a:tableStyleId>
              </a:tblPr>
              <a:tblGrid>
                <a:gridCol w="912972">
                  <a:extLst>
                    <a:ext uri="{9D8B030D-6E8A-4147-A177-3AD203B41FA5}">
                      <a16:colId xmlns:a16="http://schemas.microsoft.com/office/drawing/2014/main" val="20000"/>
                    </a:ext>
                  </a:extLst>
                </a:gridCol>
                <a:gridCol w="748145">
                  <a:extLst>
                    <a:ext uri="{9D8B030D-6E8A-4147-A177-3AD203B41FA5}">
                      <a16:colId xmlns:a16="http://schemas.microsoft.com/office/drawing/2014/main" val="20001"/>
                    </a:ext>
                  </a:extLst>
                </a:gridCol>
                <a:gridCol w="877456">
                  <a:extLst>
                    <a:ext uri="{9D8B030D-6E8A-4147-A177-3AD203B41FA5}">
                      <a16:colId xmlns:a16="http://schemas.microsoft.com/office/drawing/2014/main" val="20002"/>
                    </a:ext>
                  </a:extLst>
                </a:gridCol>
              </a:tblGrid>
              <a:tr h="0">
                <a:tc>
                  <a:txBody>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地址</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MAC</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VTEP</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0"/>
                  </a:ext>
                </a:extLst>
              </a:tr>
              <a:tr h="0">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172.16.2.1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MAC</a:t>
                      </a:r>
                      <a:r>
                        <a:rPr lang="en-US" altLang="zh-CN" sz="1200" baseline="0" dirty="0">
                          <a:latin typeface="Huawei Sans" panose="020C0503030203020204" pitchFamily="34" charset="0"/>
                          <a:ea typeface="方正兰亭黑简体" panose="02000000000000000000" pitchFamily="2" charset="-122"/>
                          <a:sym typeface="Huawei Sans" panose="020C0503030203020204" pitchFamily="34" charset="0"/>
                        </a:rPr>
                        <a:t> A</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2.2.2.2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pSp>
        <p:nvGrpSpPr>
          <p:cNvPr id="7" name="组合 6"/>
          <p:cNvGrpSpPr/>
          <p:nvPr/>
        </p:nvGrpSpPr>
        <p:grpSpPr bwMode="gray">
          <a:xfrm>
            <a:off x="3429138" y="4012912"/>
            <a:ext cx="442385" cy="432048"/>
            <a:chOff x="3213477" y="3973279"/>
            <a:chExt cx="442385" cy="432048"/>
          </a:xfrm>
        </p:grpSpPr>
        <p:cxnSp>
          <p:nvCxnSpPr>
            <p:cNvPr id="8" name="直接连接符 7"/>
            <p:cNvCxnSpPr/>
            <p:nvPr/>
          </p:nvCxnSpPr>
          <p:spPr bwMode="gray">
            <a:xfrm flipV="1">
              <a:off x="3434669" y="3973279"/>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bwMode="gray">
            <a:xfrm>
              <a:off x="3213477" y="4405327"/>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组合 9"/>
          <p:cNvGrpSpPr/>
          <p:nvPr/>
        </p:nvGrpSpPr>
        <p:grpSpPr bwMode="gray">
          <a:xfrm>
            <a:off x="8328623" y="3982432"/>
            <a:ext cx="442385" cy="432048"/>
            <a:chOff x="8588381" y="3942799"/>
            <a:chExt cx="442385" cy="432048"/>
          </a:xfrm>
        </p:grpSpPr>
        <p:cxnSp>
          <p:nvCxnSpPr>
            <p:cNvPr id="11" name="直接连接符 10"/>
            <p:cNvCxnSpPr/>
            <p:nvPr/>
          </p:nvCxnSpPr>
          <p:spPr bwMode="gray">
            <a:xfrm flipV="1">
              <a:off x="8809573" y="3942799"/>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gray">
            <a:xfrm>
              <a:off x="8588381" y="4374847"/>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矩形 12"/>
          <p:cNvSpPr/>
          <p:nvPr/>
        </p:nvSpPr>
        <p:spPr bwMode="gray">
          <a:xfrm>
            <a:off x="3277060" y="4466225"/>
            <a:ext cx="740908"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VTEP1</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1.1.1.1</a:t>
            </a:r>
          </a:p>
        </p:txBody>
      </p:sp>
      <p:pic>
        <p:nvPicPr>
          <p:cNvPr id="14" name="图片 87" descr="汇聚交换机.png"/>
          <p:cNvPicPr>
            <a:picLocks noChangeAspect="1"/>
          </p:cNvPicPr>
          <p:nvPr/>
        </p:nvPicPr>
        <p:blipFill>
          <a:blip r:embed="rId3"/>
          <a:stretch>
            <a:fillRect/>
          </a:stretch>
        </p:blipFill>
        <p:spPr bwMode="gray">
          <a:xfrm>
            <a:off x="3396104" y="3817536"/>
            <a:ext cx="502820" cy="411400"/>
          </a:xfrm>
          <a:prstGeom prst="rect">
            <a:avLst/>
          </a:prstGeom>
        </p:spPr>
      </p:pic>
      <p:pic>
        <p:nvPicPr>
          <p:cNvPr id="15" name="图片 87" descr="汇聚交换机.png"/>
          <p:cNvPicPr>
            <a:picLocks noChangeAspect="1"/>
          </p:cNvPicPr>
          <p:nvPr/>
        </p:nvPicPr>
        <p:blipFill>
          <a:blip r:embed="rId3"/>
          <a:stretch>
            <a:fillRect/>
          </a:stretch>
        </p:blipFill>
        <p:spPr bwMode="gray">
          <a:xfrm>
            <a:off x="8289218" y="3817536"/>
            <a:ext cx="502820" cy="411400"/>
          </a:xfrm>
          <a:prstGeom prst="rect">
            <a:avLst/>
          </a:prstGeom>
        </p:spPr>
      </p:pic>
      <p:sp>
        <p:nvSpPr>
          <p:cNvPr id="16" name="矩形 15"/>
          <p:cNvSpPr/>
          <p:nvPr/>
        </p:nvSpPr>
        <p:spPr bwMode="gray">
          <a:xfrm>
            <a:off x="848663" y="4213234"/>
            <a:ext cx="1287532" cy="738664"/>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PC1</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172.16.2.1/24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A</a:t>
            </a:r>
          </a:p>
        </p:txBody>
      </p:sp>
      <p:pic>
        <p:nvPicPr>
          <p:cNvPr id="17" name="图片 11" descr="开放网络-蓝.png"/>
          <p:cNvPicPr>
            <a:picLocks noChangeAspect="1"/>
          </p:cNvPicPr>
          <p:nvPr/>
        </p:nvPicPr>
        <p:blipFill>
          <a:blip r:embed="rId4" cstate="print"/>
          <a:stretch>
            <a:fillRect/>
          </a:stretch>
        </p:blipFill>
        <p:spPr bwMode="gray">
          <a:xfrm>
            <a:off x="1197413" y="3823486"/>
            <a:ext cx="539607" cy="415381"/>
          </a:xfrm>
          <a:prstGeom prst="rect">
            <a:avLst/>
          </a:prstGeom>
        </p:spPr>
      </p:pic>
      <p:sp>
        <p:nvSpPr>
          <p:cNvPr id="18" name="矩形 17"/>
          <p:cNvSpPr/>
          <p:nvPr/>
        </p:nvSpPr>
        <p:spPr bwMode="gray">
          <a:xfrm>
            <a:off x="10055806" y="4221248"/>
            <a:ext cx="1287532" cy="738664"/>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PC2</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172.16.2.2/24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B</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矩形 18"/>
          <p:cNvSpPr/>
          <p:nvPr/>
        </p:nvSpPr>
        <p:spPr bwMode="gray">
          <a:xfrm rot="15603">
            <a:off x="2038508" y="4041037"/>
            <a:ext cx="846707" cy="523220"/>
          </a:xfrm>
          <a:prstGeom prst="rect">
            <a:avLst/>
          </a:prstGeom>
        </p:spPr>
        <p:txBody>
          <a:bodyPr wrap="none">
            <a:spAutoFit/>
          </a:bodyPr>
          <a:lstStyle/>
          <a:p>
            <a:pPr algn="just"/>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BD 20</a:t>
            </a:r>
          </a:p>
          <a:p>
            <a:pPr algn="just"/>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VNI 200</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矩形 19"/>
          <p:cNvSpPr/>
          <p:nvPr/>
        </p:nvSpPr>
        <p:spPr bwMode="gray">
          <a:xfrm rot="15603">
            <a:off x="9183657" y="4033416"/>
            <a:ext cx="846707" cy="523220"/>
          </a:xfrm>
          <a:prstGeom prst="rect">
            <a:avLst/>
          </a:prstGeom>
        </p:spPr>
        <p:txBody>
          <a:bodyPr wrap="none">
            <a:spAutoFit/>
          </a:bodyPr>
          <a:lstStyle/>
          <a:p>
            <a:pPr algn="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BD 20</a:t>
            </a:r>
          </a:p>
          <a:p>
            <a:pPr algn="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VNI 200</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圆柱形 20"/>
          <p:cNvSpPr/>
          <p:nvPr/>
        </p:nvSpPr>
        <p:spPr bwMode="gray">
          <a:xfrm rot="16200000">
            <a:off x="5978205" y="1827982"/>
            <a:ext cx="242039" cy="4417693"/>
          </a:xfrm>
          <a:prstGeom prst="can">
            <a:avLst>
              <a:gd name="adj" fmla="val 72803"/>
            </a:avLst>
          </a:prstGeom>
          <a:solidFill>
            <a:srgbClr val="EC7061"/>
          </a:solidFill>
          <a:ln w="12700" cap="flat" cmpd="sng" algn="ctr">
            <a:solidFill>
              <a:sysClr val="window" lastClr="FFFFF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999">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矩形 21"/>
          <p:cNvSpPr/>
          <p:nvPr/>
        </p:nvSpPr>
        <p:spPr bwMode="gray">
          <a:xfrm>
            <a:off x="5271832" y="3889006"/>
            <a:ext cx="1141659" cy="307777"/>
          </a:xfrm>
          <a:prstGeom prst="rect">
            <a:avLst/>
          </a:prstGeom>
        </p:spPr>
        <p:txBody>
          <a:bodyPr wrap="none">
            <a:spAutoFit/>
          </a:bodyPr>
          <a:lstStyle/>
          <a:p>
            <a:pPr algn="just"/>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a:t>
            </a:r>
          </a:p>
        </p:txBody>
      </p:sp>
      <p:sp>
        <p:nvSpPr>
          <p:cNvPr id="23" name="矩形 22"/>
          <p:cNvSpPr/>
          <p:nvPr/>
        </p:nvSpPr>
        <p:spPr bwMode="gray">
          <a:xfrm>
            <a:off x="8172640" y="4466225"/>
            <a:ext cx="740908"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VTEP2</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2.2.2.2</a:t>
            </a:r>
          </a:p>
        </p:txBody>
      </p:sp>
      <p:pic>
        <p:nvPicPr>
          <p:cNvPr id="24" name="图片 11" descr="开放网络-蓝.png"/>
          <p:cNvPicPr>
            <a:picLocks noChangeAspect="1"/>
          </p:cNvPicPr>
          <p:nvPr/>
        </p:nvPicPr>
        <p:blipFill>
          <a:blip r:embed="rId4" cstate="print"/>
          <a:stretch>
            <a:fillRect/>
          </a:stretch>
        </p:blipFill>
        <p:spPr bwMode="gray">
          <a:xfrm>
            <a:off x="10430092" y="3823486"/>
            <a:ext cx="539607" cy="415381"/>
          </a:xfrm>
          <a:prstGeom prst="rect">
            <a:avLst/>
          </a:prstGeom>
        </p:spPr>
      </p:pic>
      <p:sp>
        <p:nvSpPr>
          <p:cNvPr id="28" name="椭圆 27"/>
          <p:cNvSpPr>
            <a:spLocks noChangeAspect="1"/>
          </p:cNvSpPr>
          <p:nvPr/>
        </p:nvSpPr>
        <p:spPr bwMode="gray">
          <a:xfrm>
            <a:off x="4649946" y="5179369"/>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矩形 28"/>
          <p:cNvSpPr/>
          <p:nvPr/>
        </p:nvSpPr>
        <p:spPr bwMode="gray">
          <a:xfrm>
            <a:off x="4793505" y="4782347"/>
            <a:ext cx="2610059" cy="523220"/>
          </a:xfrm>
          <a:prstGeom prst="rect">
            <a:avLst/>
          </a:prstGeom>
        </p:spPr>
        <p:txBody>
          <a:bodyPr wrap="square">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 EVPN Type 2 IRB</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路由传递</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矩形 31"/>
          <p:cNvSpPr/>
          <p:nvPr/>
        </p:nvSpPr>
        <p:spPr bwMode="gray">
          <a:xfrm>
            <a:off x="2347713" y="2801207"/>
            <a:ext cx="2358338"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网关</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VBDIF 20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表项</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3" name="直接连接符 32"/>
          <p:cNvCxnSpPr>
            <a:stCxn id="14" idx="1"/>
            <a:endCxn id="17" idx="3"/>
          </p:cNvCxnSpPr>
          <p:nvPr/>
        </p:nvCxnSpPr>
        <p:spPr bwMode="gray">
          <a:xfrm flipH="1">
            <a:off x="1737020" y="4023236"/>
            <a:ext cx="165908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bwMode="gray">
          <a:xfrm flipH="1">
            <a:off x="8771008" y="4023236"/>
            <a:ext cx="165908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a:endCxn id="28" idx="6"/>
          </p:cNvCxnSpPr>
          <p:nvPr/>
        </p:nvCxnSpPr>
        <p:spPr bwMode="gray">
          <a:xfrm flipH="1">
            <a:off x="4882426" y="5295609"/>
            <a:ext cx="2676046" cy="0"/>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sp>
        <p:nvSpPr>
          <p:cNvPr id="48" name="椭圆 47"/>
          <p:cNvSpPr>
            <a:spLocks noChangeAspect="1"/>
          </p:cNvSpPr>
          <p:nvPr/>
        </p:nvSpPr>
        <p:spPr bwMode="gray">
          <a:xfrm>
            <a:off x="8096143" y="5221138"/>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矩形 48"/>
          <p:cNvSpPr/>
          <p:nvPr/>
        </p:nvSpPr>
        <p:spPr bwMode="gray">
          <a:xfrm>
            <a:off x="8328623" y="5132243"/>
            <a:ext cx="1588218" cy="738664"/>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使用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IRB</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路由生成</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IRB</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主机信息表。</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0" name="直接连接符 49"/>
          <p:cNvCxnSpPr/>
          <p:nvPr/>
        </p:nvCxnSpPr>
        <p:spPr bwMode="gray">
          <a:xfrm flipH="1">
            <a:off x="2920769" y="5276495"/>
            <a:ext cx="1375817" cy="0"/>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sp>
        <p:nvSpPr>
          <p:cNvPr id="51" name="椭圆 50"/>
          <p:cNvSpPr>
            <a:spLocks noChangeAspect="1"/>
          </p:cNvSpPr>
          <p:nvPr/>
        </p:nvSpPr>
        <p:spPr bwMode="gray">
          <a:xfrm>
            <a:off x="2688289" y="5161373"/>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矩形 51"/>
          <p:cNvSpPr/>
          <p:nvPr/>
        </p:nvSpPr>
        <p:spPr bwMode="gray">
          <a:xfrm>
            <a:off x="2857176" y="5276649"/>
            <a:ext cx="1439410" cy="738664"/>
          </a:xfrm>
          <a:prstGeom prst="rect">
            <a:avLst/>
          </a:prstGeom>
        </p:spPr>
        <p:txBody>
          <a:bodyPr wrap="square">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开启</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 EVPN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主机信息收集，生成</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IRB</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路由。</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94847951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sym typeface="Huawei Sans" panose="020C0503030203020204" pitchFamily="34" charset="0"/>
              </a:rPr>
              <a:t>本地</a:t>
            </a:r>
            <a:r>
              <a:rPr lang="en-US" altLang="zh-CN">
                <a:sym typeface="Huawei Sans" panose="020C0503030203020204" pitchFamily="34" charset="0"/>
              </a:rPr>
              <a:t>ARP</a:t>
            </a:r>
            <a:r>
              <a:rPr lang="zh-CN" altLang="en-US">
                <a:sym typeface="Huawei Sans" panose="020C0503030203020204" pitchFamily="34" charset="0"/>
              </a:rPr>
              <a:t>代理 </a:t>
            </a:r>
            <a:r>
              <a:rPr lang="en-US" altLang="zh-CN">
                <a:sym typeface="Huawei Sans" panose="020C0503030203020204" pitchFamily="34" charset="0"/>
              </a:rPr>
              <a:t>(1)</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bwMode="gray">
          <a:xfrm>
            <a:off x="455613" y="1047751"/>
            <a:ext cx="11256962" cy="1732676"/>
          </a:xfrm>
        </p:spPr>
        <p:txBody>
          <a:bodyPr/>
          <a:lstStyle/>
          <a:p>
            <a:r>
              <a:rPr lang="zh-CN" altLang="en-US" sz="1800" dirty="0">
                <a:sym typeface="Huawei Sans" panose="020C0503030203020204" pitchFamily="34" charset="0"/>
              </a:rPr>
              <a:t>全网开启</a:t>
            </a:r>
            <a:r>
              <a:rPr lang="en-US" altLang="zh-CN" sz="1800" dirty="0">
                <a:sym typeface="Huawei Sans" panose="020C0503030203020204" pitchFamily="34" charset="0"/>
              </a:rPr>
              <a:t>BGP EVPN</a:t>
            </a:r>
            <a:r>
              <a:rPr lang="zh-CN" altLang="en-US" sz="1800" dirty="0">
                <a:sym typeface="Huawei Sans" panose="020C0503030203020204" pitchFamily="34" charset="0"/>
              </a:rPr>
              <a:t>主机信息收集功能之后，</a:t>
            </a:r>
            <a:r>
              <a:rPr lang="en-US" altLang="zh-CN" sz="1800" dirty="0">
                <a:sym typeface="Huawei Sans" panose="020C0503030203020204" pitchFamily="34" charset="0"/>
              </a:rPr>
              <a:t>L3</a:t>
            </a:r>
            <a:r>
              <a:rPr lang="zh-CN" altLang="en-US" sz="1800" dirty="0">
                <a:sym typeface="Huawei Sans" panose="020C0503030203020204" pitchFamily="34" charset="0"/>
              </a:rPr>
              <a:t>网关上将学习到全部主机的</a:t>
            </a:r>
            <a:r>
              <a:rPr lang="en-US" altLang="zh-CN" sz="1800" dirty="0">
                <a:sym typeface="Huawei Sans" panose="020C0503030203020204" pitchFamily="34" charset="0"/>
              </a:rPr>
              <a:t>32</a:t>
            </a:r>
            <a:r>
              <a:rPr lang="zh-CN" altLang="en-US" sz="1800" dirty="0">
                <a:sym typeface="Huawei Sans" panose="020C0503030203020204" pitchFamily="34" charset="0"/>
              </a:rPr>
              <a:t>位主机路由，这使得</a:t>
            </a:r>
            <a:r>
              <a:rPr lang="en-US" altLang="zh-CN" sz="1800" dirty="0">
                <a:sym typeface="Huawei Sans" panose="020C0503030203020204" pitchFamily="34" charset="0"/>
              </a:rPr>
              <a:t>L3</a:t>
            </a:r>
            <a:r>
              <a:rPr lang="zh-CN" altLang="en-US" sz="1800" dirty="0">
                <a:sym typeface="Huawei Sans" panose="020C0503030203020204" pitchFamily="34" charset="0"/>
              </a:rPr>
              <a:t>网关在转发属于同一个</a:t>
            </a:r>
            <a:r>
              <a:rPr lang="en-US" altLang="zh-CN" sz="1800" dirty="0">
                <a:sym typeface="Huawei Sans" panose="020C0503030203020204" pitchFamily="34" charset="0"/>
              </a:rPr>
              <a:t>BD</a:t>
            </a:r>
            <a:r>
              <a:rPr lang="zh-CN" altLang="en-US" sz="1800" dirty="0">
                <a:sym typeface="Huawei Sans" panose="020C0503030203020204" pitchFamily="34" charset="0"/>
              </a:rPr>
              <a:t>之间的流量时完全可以依赖主机路由进行三层</a:t>
            </a:r>
            <a:r>
              <a:rPr lang="en-US" altLang="zh-CN" sz="1800" dirty="0">
                <a:sym typeface="Huawei Sans" panose="020C0503030203020204" pitchFamily="34" charset="0"/>
              </a:rPr>
              <a:t>IRB</a:t>
            </a:r>
            <a:r>
              <a:rPr lang="zh-CN" altLang="en-US" sz="1800" dirty="0">
                <a:sym typeface="Huawei Sans" panose="020C0503030203020204" pitchFamily="34" charset="0"/>
              </a:rPr>
              <a:t>对称转发。</a:t>
            </a:r>
          </a:p>
          <a:p>
            <a:r>
              <a:rPr lang="zh-CN" altLang="en-US" sz="1800" dirty="0">
                <a:sym typeface="Huawei Sans" panose="020C0503030203020204" pitchFamily="34" charset="0"/>
              </a:rPr>
              <a:t>为此可以在</a:t>
            </a:r>
            <a:r>
              <a:rPr lang="en-US" altLang="zh-CN" sz="1800" dirty="0">
                <a:sym typeface="Huawei Sans" panose="020C0503030203020204" pitchFamily="34" charset="0"/>
              </a:rPr>
              <a:t>L3</a:t>
            </a:r>
            <a:r>
              <a:rPr lang="zh-CN" altLang="en-US" sz="1800" dirty="0">
                <a:sym typeface="Huawei Sans" panose="020C0503030203020204" pitchFamily="34" charset="0"/>
              </a:rPr>
              <a:t>网关的</a:t>
            </a:r>
            <a:r>
              <a:rPr lang="en-US" altLang="zh-CN" sz="1800" dirty="0">
                <a:sym typeface="Huawei Sans" panose="020C0503030203020204" pitchFamily="34" charset="0"/>
              </a:rPr>
              <a:t>VBDIF</a:t>
            </a:r>
            <a:r>
              <a:rPr lang="zh-CN" altLang="en-US" sz="1800" dirty="0">
                <a:sym typeface="Huawei Sans" panose="020C0503030203020204" pitchFamily="34" charset="0"/>
              </a:rPr>
              <a:t>接口上开启本地</a:t>
            </a:r>
            <a:r>
              <a:rPr lang="en-US" altLang="zh-CN" sz="1800" dirty="0">
                <a:sym typeface="Huawei Sans" panose="020C0503030203020204" pitchFamily="34" charset="0"/>
              </a:rPr>
              <a:t>ARP</a:t>
            </a:r>
            <a:r>
              <a:rPr lang="zh-CN" altLang="en-US" sz="1800" dirty="0">
                <a:sym typeface="Huawei Sans" panose="020C0503030203020204" pitchFamily="34" charset="0"/>
              </a:rPr>
              <a:t>代理，</a:t>
            </a:r>
            <a:r>
              <a:rPr lang="en-US" altLang="zh-CN" sz="1800" dirty="0">
                <a:sym typeface="Huawei Sans" panose="020C0503030203020204" pitchFamily="34" charset="0"/>
              </a:rPr>
              <a:t>VBDIF</a:t>
            </a:r>
            <a:r>
              <a:rPr lang="zh-CN" altLang="en-US" sz="1800" dirty="0">
                <a:sym typeface="Huawei Sans" panose="020C0503030203020204" pitchFamily="34" charset="0"/>
              </a:rPr>
              <a:t>接口会响应下连主机对同网段</a:t>
            </a:r>
            <a:r>
              <a:rPr lang="en-US" altLang="zh-CN" sz="1800" dirty="0">
                <a:sym typeface="Huawei Sans" panose="020C0503030203020204" pitchFamily="34" charset="0"/>
              </a:rPr>
              <a:t>IP</a:t>
            </a:r>
            <a:r>
              <a:rPr lang="zh-CN" altLang="en-US" sz="1800" dirty="0">
                <a:sym typeface="Huawei Sans" panose="020C0503030203020204" pitchFamily="34" charset="0"/>
              </a:rPr>
              <a:t>地址的</a:t>
            </a:r>
            <a:r>
              <a:rPr lang="en-US" altLang="zh-CN" sz="1800" dirty="0">
                <a:sym typeface="Huawei Sans" panose="020C0503030203020204" pitchFamily="34" charset="0"/>
              </a:rPr>
              <a:t>ARP</a:t>
            </a:r>
            <a:r>
              <a:rPr lang="zh-CN" altLang="en-US" sz="1800" dirty="0">
                <a:sym typeface="Huawei Sans" panose="020C0503030203020204" pitchFamily="34" charset="0"/>
              </a:rPr>
              <a:t>请求，之后对该同网段</a:t>
            </a:r>
            <a:r>
              <a:rPr lang="en-US" altLang="zh-CN" sz="1800" dirty="0">
                <a:sym typeface="Huawei Sans" panose="020C0503030203020204" pitchFamily="34" charset="0"/>
              </a:rPr>
              <a:t>IP</a:t>
            </a:r>
            <a:r>
              <a:rPr lang="zh-CN" altLang="en-US" sz="1800" dirty="0">
                <a:sym typeface="Huawei Sans" panose="020C0503030203020204" pitchFamily="34" charset="0"/>
              </a:rPr>
              <a:t>的访问可以由</a:t>
            </a:r>
            <a:r>
              <a:rPr lang="en-US" altLang="zh-CN" sz="1800" dirty="0">
                <a:sym typeface="Huawei Sans" panose="020C0503030203020204" pitchFamily="34" charset="0"/>
              </a:rPr>
              <a:t>L3</a:t>
            </a:r>
            <a:r>
              <a:rPr lang="zh-CN" altLang="en-US" sz="1800" dirty="0">
                <a:sym typeface="Huawei Sans" panose="020C0503030203020204" pitchFamily="34" charset="0"/>
              </a:rPr>
              <a:t>网关进行三层转发完成。</a:t>
            </a:r>
          </a:p>
          <a:p>
            <a:endParaRPr lang="zh-CN" altLang="en-US" sz="1800" dirty="0">
              <a:sym typeface="Huawei Sans" panose="020C0503030203020204" pitchFamily="34" charset="0"/>
            </a:endParaRPr>
          </a:p>
        </p:txBody>
      </p:sp>
      <p:cxnSp>
        <p:nvCxnSpPr>
          <p:cNvPr id="23" name="直接连接符 22">
            <a:extLst>
              <a:ext uri="{FF2B5EF4-FFF2-40B4-BE49-F238E27FC236}">
                <a16:creationId xmlns:a16="http://schemas.microsoft.com/office/drawing/2014/main" id="{BD69DE19-F81B-479A-A5D4-18C55D0BD6ED}"/>
              </a:ext>
            </a:extLst>
          </p:cNvPr>
          <p:cNvCxnSpPr>
            <a:cxnSpLocks/>
            <a:stCxn id="22" idx="6"/>
          </p:cNvCxnSpPr>
          <p:nvPr/>
        </p:nvCxnSpPr>
        <p:spPr bwMode="gray">
          <a:xfrm flipV="1">
            <a:off x="4161717" y="3900377"/>
            <a:ext cx="0" cy="682882"/>
          </a:xfrm>
          <a:prstGeom prst="line">
            <a:avLst/>
          </a:prstGeom>
          <a:ln w="19050">
            <a:solidFill>
              <a:srgbClr val="30B5C5"/>
            </a:solidFill>
            <a:prstDash val="sysDot"/>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06B15736-FC8B-4050-A2F5-AB6BD864A78D}"/>
              </a:ext>
            </a:extLst>
          </p:cNvPr>
          <p:cNvSpPr txBox="1">
            <a:spLocks/>
          </p:cNvSpPr>
          <p:nvPr/>
        </p:nvSpPr>
        <p:spPr bwMode="gray">
          <a:xfrm>
            <a:off x="3823313" y="3204079"/>
            <a:ext cx="1968401" cy="745644"/>
          </a:xfrm>
          <a:prstGeom prst="rect">
            <a:avLst/>
          </a:prstGeom>
          <a:solidFill>
            <a:srgbClr val="BEE9EE"/>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200" dirty="0">
                <a:solidFill>
                  <a:schemeClr val="tx1"/>
                </a:solidFill>
                <a:sym typeface="Huawei Sans" panose="020C0503030203020204" pitchFamily="34" charset="0"/>
              </a:rPr>
              <a:t>VBDIF 20</a:t>
            </a:r>
          </a:p>
          <a:p>
            <a:r>
              <a:rPr lang="en-US" altLang="zh-CN" sz="1200" dirty="0">
                <a:solidFill>
                  <a:schemeClr val="tx1"/>
                </a:solidFill>
                <a:sym typeface="Huawei Sans" panose="020C0503030203020204" pitchFamily="34" charset="0"/>
              </a:rPr>
              <a:t> MAC C</a:t>
            </a:r>
          </a:p>
          <a:p>
            <a:r>
              <a:rPr lang="en-US" altLang="zh-CN" sz="1200" dirty="0">
                <a:solidFill>
                  <a:schemeClr val="tx1"/>
                </a:solidFill>
                <a:sym typeface="Huawei Sans" panose="020C0503030203020204" pitchFamily="34" charset="0"/>
              </a:rPr>
              <a:t>172.16.2.254</a:t>
            </a:r>
          </a:p>
          <a:p>
            <a:pPr algn="l"/>
            <a:r>
              <a:rPr lang="en-US" altLang="zh-CN" sz="1200" b="1" dirty="0">
                <a:sym typeface="Huawei Sans" panose="020C0503030203020204" pitchFamily="34" charset="0"/>
              </a:rPr>
              <a:t> </a:t>
            </a:r>
            <a:r>
              <a:rPr lang="en-US" altLang="zh-CN" sz="1200" dirty="0" err="1">
                <a:solidFill>
                  <a:srgbClr val="C7000B"/>
                </a:solidFill>
                <a:sym typeface="Huawei Sans" panose="020C0503030203020204" pitchFamily="34" charset="0"/>
              </a:rPr>
              <a:t>arp</a:t>
            </a:r>
            <a:r>
              <a:rPr lang="en-US" altLang="zh-CN" sz="1200" dirty="0">
                <a:solidFill>
                  <a:srgbClr val="C7000B"/>
                </a:solidFill>
                <a:sym typeface="Huawei Sans" panose="020C0503030203020204" pitchFamily="34" charset="0"/>
              </a:rPr>
              <a:t>-proxy local enable</a:t>
            </a:r>
          </a:p>
        </p:txBody>
      </p:sp>
      <p:grpSp>
        <p:nvGrpSpPr>
          <p:cNvPr id="51" name="组合 50"/>
          <p:cNvGrpSpPr/>
          <p:nvPr/>
        </p:nvGrpSpPr>
        <p:grpSpPr bwMode="gray">
          <a:xfrm>
            <a:off x="3945555" y="4885127"/>
            <a:ext cx="442385" cy="432048"/>
            <a:chOff x="3213477" y="3973279"/>
            <a:chExt cx="442385" cy="432048"/>
          </a:xfrm>
        </p:grpSpPr>
        <p:cxnSp>
          <p:nvCxnSpPr>
            <p:cNvPr id="52" name="直接连接符 51"/>
            <p:cNvCxnSpPr/>
            <p:nvPr/>
          </p:nvCxnSpPr>
          <p:spPr bwMode="gray">
            <a:xfrm flipV="1">
              <a:off x="3434669" y="3973279"/>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bwMode="gray">
            <a:xfrm>
              <a:off x="3213477" y="4405327"/>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p:nvGrpSpPr>
        <p:grpSpPr bwMode="gray">
          <a:xfrm>
            <a:off x="8412418" y="4854647"/>
            <a:ext cx="442385" cy="432048"/>
            <a:chOff x="8588381" y="3942799"/>
            <a:chExt cx="442385" cy="432048"/>
          </a:xfrm>
        </p:grpSpPr>
        <p:cxnSp>
          <p:nvCxnSpPr>
            <p:cNvPr id="55" name="直接连接符 54"/>
            <p:cNvCxnSpPr/>
            <p:nvPr/>
          </p:nvCxnSpPr>
          <p:spPr bwMode="gray">
            <a:xfrm flipV="1">
              <a:off x="8809573" y="3942799"/>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bwMode="gray">
            <a:xfrm>
              <a:off x="8588381" y="4374847"/>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7" name="矩形 56"/>
          <p:cNvSpPr/>
          <p:nvPr/>
        </p:nvSpPr>
        <p:spPr bwMode="gray">
          <a:xfrm>
            <a:off x="3793477" y="5338440"/>
            <a:ext cx="740908"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VTEP1</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1.1.1.1</a:t>
            </a:r>
          </a:p>
        </p:txBody>
      </p:sp>
      <p:pic>
        <p:nvPicPr>
          <p:cNvPr id="58" name="图片 87" descr="汇聚交换机.png"/>
          <p:cNvPicPr>
            <a:picLocks noChangeAspect="1"/>
          </p:cNvPicPr>
          <p:nvPr/>
        </p:nvPicPr>
        <p:blipFill>
          <a:blip r:embed="rId3"/>
          <a:stretch>
            <a:fillRect/>
          </a:stretch>
        </p:blipFill>
        <p:spPr bwMode="gray">
          <a:xfrm>
            <a:off x="3912521" y="4689751"/>
            <a:ext cx="502820" cy="411400"/>
          </a:xfrm>
          <a:prstGeom prst="rect">
            <a:avLst/>
          </a:prstGeom>
        </p:spPr>
      </p:pic>
      <p:pic>
        <p:nvPicPr>
          <p:cNvPr id="59" name="图片 87" descr="汇聚交换机.png"/>
          <p:cNvPicPr>
            <a:picLocks noChangeAspect="1"/>
          </p:cNvPicPr>
          <p:nvPr/>
        </p:nvPicPr>
        <p:blipFill>
          <a:blip r:embed="rId3"/>
          <a:stretch>
            <a:fillRect/>
          </a:stretch>
        </p:blipFill>
        <p:spPr bwMode="gray">
          <a:xfrm>
            <a:off x="8373013" y="4689751"/>
            <a:ext cx="502820" cy="411400"/>
          </a:xfrm>
          <a:prstGeom prst="rect">
            <a:avLst/>
          </a:prstGeom>
        </p:spPr>
      </p:pic>
      <p:sp>
        <p:nvSpPr>
          <p:cNvPr id="60" name="矩形 59"/>
          <p:cNvSpPr/>
          <p:nvPr/>
        </p:nvSpPr>
        <p:spPr bwMode="gray">
          <a:xfrm>
            <a:off x="1365080" y="5085449"/>
            <a:ext cx="1287532" cy="738664"/>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PC1</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172.16.2.1/24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A</a:t>
            </a:r>
          </a:p>
        </p:txBody>
      </p:sp>
      <p:pic>
        <p:nvPicPr>
          <p:cNvPr id="61" name="图片 11" descr="开放网络-蓝.png"/>
          <p:cNvPicPr>
            <a:picLocks noChangeAspect="1"/>
          </p:cNvPicPr>
          <p:nvPr/>
        </p:nvPicPr>
        <p:blipFill>
          <a:blip r:embed="rId4" cstate="print"/>
          <a:stretch>
            <a:fillRect/>
          </a:stretch>
        </p:blipFill>
        <p:spPr bwMode="gray">
          <a:xfrm>
            <a:off x="1713830" y="4695701"/>
            <a:ext cx="539607" cy="415381"/>
          </a:xfrm>
          <a:prstGeom prst="rect">
            <a:avLst/>
          </a:prstGeom>
        </p:spPr>
      </p:pic>
      <p:sp>
        <p:nvSpPr>
          <p:cNvPr id="62" name="矩形 61"/>
          <p:cNvSpPr/>
          <p:nvPr/>
        </p:nvSpPr>
        <p:spPr bwMode="gray">
          <a:xfrm>
            <a:off x="10139601" y="5093463"/>
            <a:ext cx="1287532" cy="738664"/>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PC2</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172.16.2.2/24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B</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矩形 62"/>
          <p:cNvSpPr/>
          <p:nvPr/>
        </p:nvSpPr>
        <p:spPr bwMode="gray">
          <a:xfrm rot="15603">
            <a:off x="2554925" y="4913252"/>
            <a:ext cx="846707" cy="523220"/>
          </a:xfrm>
          <a:prstGeom prst="rect">
            <a:avLst/>
          </a:prstGeom>
        </p:spPr>
        <p:txBody>
          <a:bodyPr wrap="none">
            <a:spAutoFit/>
          </a:bodyPr>
          <a:lstStyle/>
          <a:p>
            <a:pPr algn="just"/>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BD 20</a:t>
            </a:r>
          </a:p>
          <a:p>
            <a:pPr algn="just"/>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VNI 200</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矩形 63"/>
          <p:cNvSpPr/>
          <p:nvPr/>
        </p:nvSpPr>
        <p:spPr bwMode="gray">
          <a:xfrm rot="15603">
            <a:off x="9267452" y="4905631"/>
            <a:ext cx="846707" cy="523220"/>
          </a:xfrm>
          <a:prstGeom prst="rect">
            <a:avLst/>
          </a:prstGeom>
        </p:spPr>
        <p:txBody>
          <a:bodyPr wrap="none">
            <a:spAutoFit/>
          </a:bodyPr>
          <a:lstStyle/>
          <a:p>
            <a:pPr algn="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BD 20</a:t>
            </a:r>
          </a:p>
          <a:p>
            <a:pPr algn="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VNI 200</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圆柱形 64"/>
          <p:cNvSpPr/>
          <p:nvPr/>
        </p:nvSpPr>
        <p:spPr bwMode="gray">
          <a:xfrm rot="16200000">
            <a:off x="6242465" y="2880662"/>
            <a:ext cx="242039" cy="4056762"/>
          </a:xfrm>
          <a:prstGeom prst="can">
            <a:avLst>
              <a:gd name="adj" fmla="val 72803"/>
            </a:avLst>
          </a:prstGeom>
          <a:solidFill>
            <a:srgbClr val="EC7061"/>
          </a:solidFill>
          <a:ln w="12700" cap="flat" cmpd="sng" algn="ctr">
            <a:solidFill>
              <a:sysClr val="window" lastClr="FFFFF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999">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矩形 65"/>
          <p:cNvSpPr/>
          <p:nvPr/>
        </p:nvSpPr>
        <p:spPr bwMode="gray">
          <a:xfrm>
            <a:off x="5792655" y="4761221"/>
            <a:ext cx="1141659" cy="307777"/>
          </a:xfrm>
          <a:prstGeom prst="rect">
            <a:avLst/>
          </a:prstGeom>
        </p:spPr>
        <p:txBody>
          <a:bodyPr wrap="none">
            <a:spAutoFit/>
          </a:bodyPr>
          <a:lstStyle/>
          <a:p>
            <a:pPr algn="just"/>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a:t>
            </a:r>
          </a:p>
        </p:txBody>
      </p:sp>
      <p:sp>
        <p:nvSpPr>
          <p:cNvPr id="67" name="矩形 66"/>
          <p:cNvSpPr/>
          <p:nvPr/>
        </p:nvSpPr>
        <p:spPr bwMode="gray">
          <a:xfrm>
            <a:off x="8256435" y="5338440"/>
            <a:ext cx="740908"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VTEP2</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2.2.2.2</a:t>
            </a:r>
          </a:p>
        </p:txBody>
      </p:sp>
      <p:pic>
        <p:nvPicPr>
          <p:cNvPr id="68" name="图片 11" descr="开放网络-蓝.png"/>
          <p:cNvPicPr>
            <a:picLocks noChangeAspect="1"/>
          </p:cNvPicPr>
          <p:nvPr/>
        </p:nvPicPr>
        <p:blipFill>
          <a:blip r:embed="rId4" cstate="print"/>
          <a:stretch>
            <a:fillRect/>
          </a:stretch>
        </p:blipFill>
        <p:spPr bwMode="gray">
          <a:xfrm>
            <a:off x="10513887" y="4695701"/>
            <a:ext cx="539607" cy="415381"/>
          </a:xfrm>
          <a:prstGeom prst="rect">
            <a:avLst/>
          </a:prstGeom>
        </p:spPr>
      </p:pic>
      <p:cxnSp>
        <p:nvCxnSpPr>
          <p:cNvPr id="72" name="直接连接符 71"/>
          <p:cNvCxnSpPr>
            <a:stCxn id="58" idx="1"/>
            <a:endCxn id="61" idx="3"/>
          </p:cNvCxnSpPr>
          <p:nvPr/>
        </p:nvCxnSpPr>
        <p:spPr bwMode="gray">
          <a:xfrm flipH="1">
            <a:off x="2253437" y="4895451"/>
            <a:ext cx="165908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bwMode="gray">
          <a:xfrm flipH="1">
            <a:off x="8854803" y="4895451"/>
            <a:ext cx="165908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bwMode="gray">
          <a:xfrm flipH="1">
            <a:off x="1717904" y="3203925"/>
            <a:ext cx="1375817" cy="0"/>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sp>
        <p:nvSpPr>
          <p:cNvPr id="81" name="椭圆 80"/>
          <p:cNvSpPr>
            <a:spLocks noChangeAspect="1"/>
          </p:cNvSpPr>
          <p:nvPr/>
        </p:nvSpPr>
        <p:spPr bwMode="gray">
          <a:xfrm>
            <a:off x="1485424" y="3088803"/>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矩形 81"/>
          <p:cNvSpPr/>
          <p:nvPr/>
        </p:nvSpPr>
        <p:spPr bwMode="gray">
          <a:xfrm>
            <a:off x="1654311" y="3204079"/>
            <a:ext cx="1550395" cy="523220"/>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请求</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报文。</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4" name="直接连接符 83"/>
          <p:cNvCxnSpPr/>
          <p:nvPr/>
        </p:nvCxnSpPr>
        <p:spPr bwMode="gray">
          <a:xfrm flipH="1">
            <a:off x="2102061" y="4042125"/>
            <a:ext cx="1375817" cy="0"/>
          </a:xfrm>
          <a:prstGeom prst="line">
            <a:avLst/>
          </a:prstGeom>
          <a:ln w="38100">
            <a:solidFill>
              <a:srgbClr val="EC706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5" name="椭圆 84"/>
          <p:cNvSpPr>
            <a:spLocks noChangeAspect="1"/>
          </p:cNvSpPr>
          <p:nvPr/>
        </p:nvSpPr>
        <p:spPr bwMode="gray">
          <a:xfrm>
            <a:off x="3475272" y="3927003"/>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矩形 85"/>
          <p:cNvSpPr/>
          <p:nvPr/>
        </p:nvSpPr>
        <p:spPr bwMode="gray">
          <a:xfrm>
            <a:off x="2102061" y="4042279"/>
            <a:ext cx="1550395" cy="523220"/>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VBDIF 20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代理回应的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ARP Reply</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椭圆 21">
            <a:extLst>
              <a:ext uri="{FF2B5EF4-FFF2-40B4-BE49-F238E27FC236}">
                <a16:creationId xmlns:a16="http://schemas.microsoft.com/office/drawing/2014/main" id="{696C030C-47C1-4426-8FEA-7FF0447ECB4C}"/>
              </a:ext>
            </a:extLst>
          </p:cNvPr>
          <p:cNvSpPr/>
          <p:nvPr/>
        </p:nvSpPr>
        <p:spPr bwMode="gray">
          <a:xfrm rot="5400000" flipH="1">
            <a:off x="4077528" y="4583270"/>
            <a:ext cx="168379" cy="168357"/>
          </a:xfrm>
          <a:prstGeom prst="ellipse">
            <a:avLst/>
          </a:prstGeom>
          <a:solidFill>
            <a:srgbClr val="BDD7EE"/>
          </a:solidFill>
          <a:ln>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8303757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sym typeface="Huawei Sans" panose="020C0503030203020204" pitchFamily="34" charset="0"/>
              </a:rPr>
              <a:t>本地</a:t>
            </a:r>
            <a:r>
              <a:rPr lang="en-US" altLang="zh-CN">
                <a:sym typeface="Huawei Sans" panose="020C0503030203020204" pitchFamily="34" charset="0"/>
              </a:rPr>
              <a:t>ARP</a:t>
            </a:r>
            <a:r>
              <a:rPr lang="zh-CN" altLang="en-US">
                <a:sym typeface="Huawei Sans" panose="020C0503030203020204" pitchFamily="34" charset="0"/>
              </a:rPr>
              <a:t>代理 </a:t>
            </a:r>
            <a:r>
              <a:rPr lang="en-US" altLang="zh-CN">
                <a:sym typeface="Huawei Sans" panose="020C0503030203020204" pitchFamily="34" charset="0"/>
              </a:rPr>
              <a:t>(2)</a:t>
            </a:r>
            <a:endParaRPr lang="zh-CN" altLang="en-US" dirty="0">
              <a:sym typeface="Huawei Sans" panose="020C0503030203020204" pitchFamily="34" charset="0"/>
            </a:endParaRPr>
          </a:p>
        </p:txBody>
      </p:sp>
      <p:grpSp>
        <p:nvGrpSpPr>
          <p:cNvPr id="51" name="组合 50"/>
          <p:cNvGrpSpPr/>
          <p:nvPr/>
        </p:nvGrpSpPr>
        <p:grpSpPr bwMode="gray">
          <a:xfrm>
            <a:off x="3896389" y="3228256"/>
            <a:ext cx="442385" cy="432048"/>
            <a:chOff x="3213477" y="3973279"/>
            <a:chExt cx="442385" cy="432048"/>
          </a:xfrm>
        </p:grpSpPr>
        <p:cxnSp>
          <p:nvCxnSpPr>
            <p:cNvPr id="52" name="直接连接符 51"/>
            <p:cNvCxnSpPr/>
            <p:nvPr/>
          </p:nvCxnSpPr>
          <p:spPr bwMode="gray">
            <a:xfrm flipV="1">
              <a:off x="3434669" y="3973279"/>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bwMode="gray">
            <a:xfrm>
              <a:off x="3213477" y="4405327"/>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p:nvGrpSpPr>
        <p:grpSpPr bwMode="gray">
          <a:xfrm>
            <a:off x="8412418" y="3197776"/>
            <a:ext cx="442385" cy="432048"/>
            <a:chOff x="8588381" y="3942799"/>
            <a:chExt cx="442385" cy="432048"/>
          </a:xfrm>
        </p:grpSpPr>
        <p:cxnSp>
          <p:nvCxnSpPr>
            <p:cNvPr id="55" name="直接连接符 54"/>
            <p:cNvCxnSpPr/>
            <p:nvPr/>
          </p:nvCxnSpPr>
          <p:spPr bwMode="gray">
            <a:xfrm flipV="1">
              <a:off x="8809573" y="3942799"/>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bwMode="gray">
            <a:xfrm>
              <a:off x="8588381" y="4374847"/>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7" name="矩形 56"/>
          <p:cNvSpPr/>
          <p:nvPr/>
        </p:nvSpPr>
        <p:spPr bwMode="gray">
          <a:xfrm>
            <a:off x="3744311" y="3681569"/>
            <a:ext cx="740908"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VTEP1</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1.1.1.1</a:t>
            </a:r>
          </a:p>
        </p:txBody>
      </p:sp>
      <p:pic>
        <p:nvPicPr>
          <p:cNvPr id="58" name="图片 87" descr="汇聚交换机.png"/>
          <p:cNvPicPr>
            <a:picLocks noChangeAspect="1"/>
          </p:cNvPicPr>
          <p:nvPr/>
        </p:nvPicPr>
        <p:blipFill>
          <a:blip r:embed="rId3"/>
          <a:stretch>
            <a:fillRect/>
          </a:stretch>
        </p:blipFill>
        <p:spPr bwMode="gray">
          <a:xfrm>
            <a:off x="3863355" y="3032880"/>
            <a:ext cx="502820" cy="411400"/>
          </a:xfrm>
          <a:prstGeom prst="rect">
            <a:avLst/>
          </a:prstGeom>
        </p:spPr>
      </p:pic>
      <p:pic>
        <p:nvPicPr>
          <p:cNvPr id="59" name="图片 87" descr="汇聚交换机.png"/>
          <p:cNvPicPr>
            <a:picLocks noChangeAspect="1"/>
          </p:cNvPicPr>
          <p:nvPr/>
        </p:nvPicPr>
        <p:blipFill>
          <a:blip r:embed="rId3"/>
          <a:stretch>
            <a:fillRect/>
          </a:stretch>
        </p:blipFill>
        <p:spPr bwMode="gray">
          <a:xfrm>
            <a:off x="8373013" y="3032880"/>
            <a:ext cx="502820" cy="411400"/>
          </a:xfrm>
          <a:prstGeom prst="rect">
            <a:avLst/>
          </a:prstGeom>
        </p:spPr>
      </p:pic>
      <p:sp>
        <p:nvSpPr>
          <p:cNvPr id="60" name="矩形 59"/>
          <p:cNvSpPr/>
          <p:nvPr/>
        </p:nvSpPr>
        <p:spPr bwMode="gray">
          <a:xfrm>
            <a:off x="1315914" y="3428578"/>
            <a:ext cx="1287532" cy="738664"/>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PC1</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172.16.2.1/24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A</a:t>
            </a:r>
          </a:p>
        </p:txBody>
      </p:sp>
      <p:pic>
        <p:nvPicPr>
          <p:cNvPr id="61" name="图片 11" descr="开放网络-蓝.png"/>
          <p:cNvPicPr>
            <a:picLocks noChangeAspect="1"/>
          </p:cNvPicPr>
          <p:nvPr/>
        </p:nvPicPr>
        <p:blipFill>
          <a:blip r:embed="rId4" cstate="print"/>
          <a:stretch>
            <a:fillRect/>
          </a:stretch>
        </p:blipFill>
        <p:spPr bwMode="gray">
          <a:xfrm>
            <a:off x="1664664" y="3038830"/>
            <a:ext cx="539607" cy="415381"/>
          </a:xfrm>
          <a:prstGeom prst="rect">
            <a:avLst/>
          </a:prstGeom>
        </p:spPr>
      </p:pic>
      <p:sp>
        <p:nvSpPr>
          <p:cNvPr id="62" name="矩形 61"/>
          <p:cNvSpPr/>
          <p:nvPr/>
        </p:nvSpPr>
        <p:spPr bwMode="gray">
          <a:xfrm>
            <a:off x="10139601" y="3436592"/>
            <a:ext cx="1287532" cy="738664"/>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PC2</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172.16.2.2/24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B</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矩形 62"/>
          <p:cNvSpPr/>
          <p:nvPr/>
        </p:nvSpPr>
        <p:spPr bwMode="gray">
          <a:xfrm rot="15603">
            <a:off x="2505759" y="3256381"/>
            <a:ext cx="846707" cy="523220"/>
          </a:xfrm>
          <a:prstGeom prst="rect">
            <a:avLst/>
          </a:prstGeom>
        </p:spPr>
        <p:txBody>
          <a:bodyPr wrap="none">
            <a:spAutoFit/>
          </a:bodyPr>
          <a:lstStyle/>
          <a:p>
            <a:pPr algn="just"/>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BD 20</a:t>
            </a:r>
          </a:p>
          <a:p>
            <a:pPr algn="just"/>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VNI 200</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矩形 63"/>
          <p:cNvSpPr/>
          <p:nvPr/>
        </p:nvSpPr>
        <p:spPr bwMode="gray">
          <a:xfrm rot="15603">
            <a:off x="9267452" y="3248760"/>
            <a:ext cx="846707" cy="523220"/>
          </a:xfrm>
          <a:prstGeom prst="rect">
            <a:avLst/>
          </a:prstGeom>
        </p:spPr>
        <p:txBody>
          <a:bodyPr wrap="none">
            <a:spAutoFit/>
          </a:bodyPr>
          <a:lstStyle/>
          <a:p>
            <a:pPr algn="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BD 20</a:t>
            </a:r>
          </a:p>
          <a:p>
            <a:pPr algn="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VNI 200</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圆柱形 64"/>
          <p:cNvSpPr/>
          <p:nvPr/>
        </p:nvSpPr>
        <p:spPr bwMode="gray">
          <a:xfrm rot="16200000">
            <a:off x="6217882" y="1199208"/>
            <a:ext cx="242039" cy="4105928"/>
          </a:xfrm>
          <a:prstGeom prst="can">
            <a:avLst>
              <a:gd name="adj" fmla="val 72803"/>
            </a:avLst>
          </a:prstGeom>
          <a:solidFill>
            <a:srgbClr val="EC7061"/>
          </a:solidFill>
          <a:ln w="12700" cap="flat" cmpd="sng" algn="ctr">
            <a:solidFill>
              <a:sysClr val="window" lastClr="FFFFF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999">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矩形 65"/>
          <p:cNvSpPr/>
          <p:nvPr/>
        </p:nvSpPr>
        <p:spPr bwMode="gray">
          <a:xfrm>
            <a:off x="5768072" y="3104350"/>
            <a:ext cx="1141659" cy="307777"/>
          </a:xfrm>
          <a:prstGeom prst="rect">
            <a:avLst/>
          </a:prstGeom>
        </p:spPr>
        <p:txBody>
          <a:bodyPr wrap="none">
            <a:spAutoFit/>
          </a:bodyPr>
          <a:lstStyle/>
          <a:p>
            <a:pPr algn="just"/>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a:t>
            </a:r>
          </a:p>
        </p:txBody>
      </p:sp>
      <p:sp>
        <p:nvSpPr>
          <p:cNvPr id="67" name="矩形 66"/>
          <p:cNvSpPr/>
          <p:nvPr/>
        </p:nvSpPr>
        <p:spPr bwMode="gray">
          <a:xfrm>
            <a:off x="8256435" y="3681569"/>
            <a:ext cx="740908"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VTEP2</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2.2.2.2</a:t>
            </a:r>
          </a:p>
        </p:txBody>
      </p:sp>
      <p:pic>
        <p:nvPicPr>
          <p:cNvPr id="68" name="图片 11" descr="开放网络-蓝.png"/>
          <p:cNvPicPr>
            <a:picLocks noChangeAspect="1"/>
          </p:cNvPicPr>
          <p:nvPr/>
        </p:nvPicPr>
        <p:blipFill>
          <a:blip r:embed="rId4" cstate="print"/>
          <a:stretch>
            <a:fillRect/>
          </a:stretch>
        </p:blipFill>
        <p:spPr bwMode="gray">
          <a:xfrm>
            <a:off x="10513887" y="3038830"/>
            <a:ext cx="539607" cy="415381"/>
          </a:xfrm>
          <a:prstGeom prst="rect">
            <a:avLst/>
          </a:prstGeom>
        </p:spPr>
      </p:pic>
      <p:sp>
        <p:nvSpPr>
          <p:cNvPr id="69" name="椭圆 68"/>
          <p:cNvSpPr>
            <a:spLocks noChangeAspect="1"/>
          </p:cNvSpPr>
          <p:nvPr/>
        </p:nvSpPr>
        <p:spPr bwMode="gray">
          <a:xfrm>
            <a:off x="4300733" y="4734206"/>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矩形 69"/>
          <p:cNvSpPr/>
          <p:nvPr/>
        </p:nvSpPr>
        <p:spPr bwMode="gray">
          <a:xfrm>
            <a:off x="4505217" y="4103867"/>
            <a:ext cx="3589495" cy="738664"/>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查看目的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，为自身</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，查找路由表进行三层转发，匹配中主机路由，经由</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转发给</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2" name="直接连接符 71"/>
          <p:cNvCxnSpPr>
            <a:stCxn id="58" idx="1"/>
            <a:endCxn id="61" idx="3"/>
          </p:cNvCxnSpPr>
          <p:nvPr/>
        </p:nvCxnSpPr>
        <p:spPr bwMode="gray">
          <a:xfrm flipH="1">
            <a:off x="2204271" y="3238580"/>
            <a:ext cx="165908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bwMode="gray">
          <a:xfrm flipH="1">
            <a:off x="8854803" y="3238580"/>
            <a:ext cx="165908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bwMode="gray">
          <a:xfrm flipH="1">
            <a:off x="4533214" y="4848356"/>
            <a:ext cx="3561498" cy="0"/>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bwMode="gray">
          <a:xfrm flipH="1">
            <a:off x="1481720" y="4835930"/>
            <a:ext cx="1768761" cy="0"/>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sp>
        <p:nvSpPr>
          <p:cNvPr id="78" name="椭圆 77"/>
          <p:cNvSpPr>
            <a:spLocks noChangeAspect="1"/>
          </p:cNvSpPr>
          <p:nvPr/>
        </p:nvSpPr>
        <p:spPr bwMode="gray">
          <a:xfrm>
            <a:off x="1249239" y="4720808"/>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矩形 78"/>
          <p:cNvSpPr/>
          <p:nvPr/>
        </p:nvSpPr>
        <p:spPr bwMode="gray">
          <a:xfrm>
            <a:off x="1410393" y="4549293"/>
            <a:ext cx="2007390" cy="307777"/>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发往</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的数据帧</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42" name="表格 41"/>
          <p:cNvGraphicFramePr>
            <a:graphicFrameLocks noGrp="1"/>
          </p:cNvGraphicFramePr>
          <p:nvPr>
            <p:extLst>
              <p:ext uri="{D42A27DB-BD31-4B8C-83A1-F6EECF244321}">
                <p14:modId xmlns:p14="http://schemas.microsoft.com/office/powerpoint/2010/main" val="793857817"/>
              </p:ext>
            </p:extLst>
          </p:nvPr>
        </p:nvGraphicFramePr>
        <p:xfrm>
          <a:off x="879210" y="2251125"/>
          <a:ext cx="2538573" cy="548640"/>
        </p:xfrm>
        <a:graphic>
          <a:graphicData uri="http://schemas.openxmlformats.org/drawingml/2006/table">
            <a:tbl>
              <a:tblPr firstRow="1" bandRow="1">
                <a:tableStyleId>{5940675A-B579-460E-94D1-54222C63F5DA}</a:tableStyleId>
              </a:tblPr>
              <a:tblGrid>
                <a:gridCol w="912972">
                  <a:extLst>
                    <a:ext uri="{9D8B030D-6E8A-4147-A177-3AD203B41FA5}">
                      <a16:colId xmlns:a16="http://schemas.microsoft.com/office/drawing/2014/main" val="20000"/>
                    </a:ext>
                  </a:extLst>
                </a:gridCol>
                <a:gridCol w="748145">
                  <a:extLst>
                    <a:ext uri="{9D8B030D-6E8A-4147-A177-3AD203B41FA5}">
                      <a16:colId xmlns:a16="http://schemas.microsoft.com/office/drawing/2014/main" val="20001"/>
                    </a:ext>
                  </a:extLst>
                </a:gridCol>
                <a:gridCol w="877456">
                  <a:extLst>
                    <a:ext uri="{9D8B030D-6E8A-4147-A177-3AD203B41FA5}">
                      <a16:colId xmlns:a16="http://schemas.microsoft.com/office/drawing/2014/main" val="20002"/>
                    </a:ext>
                  </a:extLst>
                </a:gridCol>
              </a:tblGrid>
              <a:tr h="0">
                <a:tc>
                  <a:txBody>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地址</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MAC</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VTEP</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0"/>
                  </a:ext>
                </a:extLst>
              </a:tr>
              <a:tr h="0">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172.16.2.2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MAC C</a:t>
                      </a:r>
                      <a:endPar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B w="28575" cap="flat" cmpd="sng" algn="ctr">
                      <a:solidFill>
                        <a:schemeClr val="tx1"/>
                      </a:solidFill>
                      <a:prstDash val="solid"/>
                      <a:round/>
                      <a:headEnd type="none" w="med" len="med"/>
                      <a:tailEnd type="none" w="med" len="med"/>
                    </a:lnB>
                  </a:tcPr>
                </a:tc>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2.2.2.2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43" name="矩形 42"/>
          <p:cNvSpPr/>
          <p:nvPr/>
        </p:nvSpPr>
        <p:spPr>
          <a:xfrm>
            <a:off x="829544" y="1897619"/>
            <a:ext cx="1364476"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表项</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椭圆 43">
            <a:extLst>
              <a:ext uri="{FF2B5EF4-FFF2-40B4-BE49-F238E27FC236}">
                <a16:creationId xmlns:a16="http://schemas.microsoft.com/office/drawing/2014/main" id="{696C030C-47C1-4426-8FEA-7FF0447ECB4C}"/>
              </a:ext>
            </a:extLst>
          </p:cNvPr>
          <p:cNvSpPr/>
          <p:nvPr/>
        </p:nvSpPr>
        <p:spPr bwMode="gray">
          <a:xfrm rot="5400000" flipH="1">
            <a:off x="4028362" y="2950107"/>
            <a:ext cx="168379" cy="168357"/>
          </a:xfrm>
          <a:prstGeom prst="ellipse">
            <a:avLst/>
          </a:prstGeom>
          <a:solidFill>
            <a:srgbClr val="BDD7EE"/>
          </a:solidFill>
          <a:ln>
            <a:solidFill>
              <a:srgbClr val="2E75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5" name="直接连接符 44">
            <a:extLst>
              <a:ext uri="{FF2B5EF4-FFF2-40B4-BE49-F238E27FC236}">
                <a16:creationId xmlns:a16="http://schemas.microsoft.com/office/drawing/2014/main" id="{BD69DE19-F81B-479A-A5D4-18C55D0BD6ED}"/>
              </a:ext>
            </a:extLst>
          </p:cNvPr>
          <p:cNvCxnSpPr>
            <a:cxnSpLocks/>
            <a:stCxn id="44" idx="6"/>
          </p:cNvCxnSpPr>
          <p:nvPr/>
        </p:nvCxnSpPr>
        <p:spPr bwMode="gray">
          <a:xfrm flipV="1">
            <a:off x="4112551" y="2267214"/>
            <a:ext cx="0" cy="682882"/>
          </a:xfrm>
          <a:prstGeom prst="line">
            <a:avLst/>
          </a:prstGeom>
          <a:ln w="19050">
            <a:solidFill>
              <a:srgbClr val="30B5C5"/>
            </a:solidFill>
            <a:prstDash val="sysDot"/>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06B15736-FC8B-4050-A2F5-AB6BD864A78D}"/>
              </a:ext>
            </a:extLst>
          </p:cNvPr>
          <p:cNvSpPr txBox="1">
            <a:spLocks/>
          </p:cNvSpPr>
          <p:nvPr/>
        </p:nvSpPr>
        <p:spPr bwMode="gray">
          <a:xfrm>
            <a:off x="3774147" y="1688120"/>
            <a:ext cx="1858845" cy="628440"/>
          </a:xfrm>
          <a:prstGeom prst="rect">
            <a:avLst/>
          </a:prstGeom>
          <a:solidFill>
            <a:srgbClr val="BEE9EE"/>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a:solidFill>
                  <a:schemeClr val="lt1"/>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200" dirty="0">
                <a:solidFill>
                  <a:schemeClr val="tx1"/>
                </a:solidFill>
                <a:sym typeface="Huawei Sans" panose="020C0503030203020204" pitchFamily="34" charset="0"/>
              </a:rPr>
              <a:t>VBDIF 20</a:t>
            </a:r>
          </a:p>
          <a:p>
            <a:r>
              <a:rPr lang="en-US" altLang="zh-CN" sz="1200" dirty="0">
                <a:solidFill>
                  <a:srgbClr val="EC7061"/>
                </a:solidFill>
                <a:sym typeface="Huawei Sans" panose="020C0503030203020204" pitchFamily="34" charset="0"/>
              </a:rPr>
              <a:t> </a:t>
            </a:r>
            <a:r>
              <a:rPr lang="en-US" altLang="zh-CN" sz="1200" dirty="0">
                <a:solidFill>
                  <a:srgbClr val="C7000B"/>
                </a:solidFill>
                <a:sym typeface="Huawei Sans" panose="020C0503030203020204" pitchFamily="34" charset="0"/>
              </a:rPr>
              <a:t>MAC C</a:t>
            </a:r>
          </a:p>
          <a:p>
            <a:r>
              <a:rPr lang="en-US" altLang="zh-CN" sz="1200" dirty="0">
                <a:solidFill>
                  <a:schemeClr val="tx1"/>
                </a:solidFill>
                <a:sym typeface="Huawei Sans" panose="020C0503030203020204" pitchFamily="34" charset="0"/>
              </a:rPr>
              <a:t>172.16.2.254</a:t>
            </a:r>
          </a:p>
        </p:txBody>
      </p:sp>
      <p:sp>
        <p:nvSpPr>
          <p:cNvPr id="48" name="矩形 47"/>
          <p:cNvSpPr/>
          <p:nvPr/>
        </p:nvSpPr>
        <p:spPr bwMode="gray">
          <a:xfrm>
            <a:off x="2360282" y="5046628"/>
            <a:ext cx="713658" cy="338400"/>
          </a:xfrm>
          <a:prstGeom prst="rect">
            <a:avLst/>
          </a:prstGeom>
          <a:solidFill>
            <a:schemeClr val="bg1">
              <a:lumMod val="95000"/>
            </a:schemeClr>
          </a:solidFill>
          <a:ln w="19050">
            <a:noFill/>
          </a:ln>
        </p:spPr>
        <p:txBody>
          <a:bodyPr wrap="none" anchor="ctr" anchorCtr="0">
            <a:no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载荷</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矩形 48"/>
          <p:cNvSpPr/>
          <p:nvPr/>
        </p:nvSpPr>
        <p:spPr bwMode="gray">
          <a:xfrm>
            <a:off x="1431139" y="5046628"/>
            <a:ext cx="954017" cy="338400"/>
          </a:xfrm>
          <a:prstGeom prst="rect">
            <a:avLst/>
          </a:prstGeom>
          <a:solidFill>
            <a:schemeClr val="bg1">
              <a:lumMod val="85000"/>
            </a:schemeClr>
          </a:solidFill>
          <a:ln w="19050">
            <a:noFill/>
          </a:ln>
        </p:spPr>
        <p:txBody>
          <a:bodyPr wrap="none" anchor="ctr" anchorCtr="0">
            <a:noAutofit/>
          </a:bodyPr>
          <a:lstStyle/>
          <a:p>
            <a:pPr algn="ctr"/>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以太网帧头</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矩形 49"/>
          <p:cNvSpPr/>
          <p:nvPr/>
        </p:nvSpPr>
        <p:spPr bwMode="gray">
          <a:xfrm>
            <a:off x="843021" y="5604337"/>
            <a:ext cx="1858522" cy="523220"/>
          </a:xfrm>
          <a:prstGeom prst="rect">
            <a:avLst/>
          </a:prstGeom>
        </p:spPr>
        <p:txBody>
          <a:bodyPr wrap="none">
            <a:spAutoFit/>
          </a:bodyPr>
          <a:lstStyle/>
          <a:p>
            <a:pPr marL="182563" indent="-182563">
              <a:buFont typeface="Arial" panose="020B0604020202020204" pitchFamily="34" charset="0"/>
              <a:buChar char="•"/>
            </a:pP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源</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MAC A</a:t>
            </a:r>
          </a:p>
          <a:p>
            <a:pPr marL="182563" indent="-182563">
              <a:buFont typeface="Arial" panose="020B0604020202020204" pitchFamily="34" charset="0"/>
              <a:buChar char="•"/>
            </a:pP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目的</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MAC C</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右大括号 70"/>
          <p:cNvSpPr/>
          <p:nvPr/>
        </p:nvSpPr>
        <p:spPr bwMode="gray">
          <a:xfrm rot="5400000">
            <a:off x="1845324" y="5020837"/>
            <a:ext cx="103723" cy="926192"/>
          </a:xfrm>
          <a:prstGeom prst="rightBrac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39"/>
          <p:cNvSpPr/>
          <p:nvPr/>
        </p:nvSpPr>
        <p:spPr bwMode="auto">
          <a:xfrm>
            <a:off x="4300733" y="5432071"/>
            <a:ext cx="5814610" cy="673761"/>
          </a:xfrm>
          <a:prstGeom prst="rect">
            <a:avLst/>
          </a:prstGeom>
          <a:solidFill>
            <a:srgbClr val="FFF7E1"/>
          </a:solidFill>
          <a:ln w="12700" cap="flat" cmpd="sng" algn="ctr">
            <a:solidFill>
              <a:srgbClr val="FCC800"/>
            </a:solidFill>
            <a:prstDash val="solid"/>
            <a:miter lim="800000"/>
          </a:ln>
          <a:effectLst/>
        </p:spPr>
        <p:txBody>
          <a:bodyPr rtlCol="0" anchor="ctr"/>
          <a:lstStyle/>
          <a:p>
            <a:pPr marL="0" marR="0" lvl="0" indent="0" defTabSz="914400" eaLnBrk="1" fontAlgn="auto" latinLnBrk="0" hangingPunct="1">
              <a:lnSpc>
                <a:spcPts val="22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通过本地</a:t>
            </a:r>
            <a:r>
              <a:rPr kumimoji="0" lang="en-US" altLang="zh-CN" sz="14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ARP</a:t>
            </a:r>
            <a:r>
              <a:rPr kumimoji="0" lang="zh-CN" altLang="en-US" sz="14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代理机制，</a:t>
            </a:r>
            <a:r>
              <a:rPr kumimoji="0" lang="en-US" altLang="zh-CN" sz="14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ARP</a:t>
            </a:r>
            <a:r>
              <a:rPr kumimoji="0" lang="zh-CN" altLang="en-US" sz="14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报文的传递将会被抑制在本地</a:t>
            </a:r>
            <a:r>
              <a:rPr kumimoji="0" lang="en-US" altLang="zh-CN" sz="14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VTEP</a:t>
            </a:r>
            <a:r>
              <a:rPr kumimoji="0" lang="zh-CN" altLang="en-US" sz="14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之下，同时减少了</a:t>
            </a:r>
            <a:r>
              <a:rPr kumimoji="0" lang="en-US" altLang="zh-CN" sz="14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VTEP</a:t>
            </a:r>
            <a:r>
              <a:rPr kumimoji="0" lang="zh-CN" altLang="en-US" sz="1400" b="0" i="0" u="none" strike="noStrike" kern="0" cap="none" spc="0" normalizeH="0" baseline="0" noProof="0" dirty="0">
                <a:ln>
                  <a:noFill/>
                </a:ln>
                <a:solidFill>
                  <a:srgbClr val="ED6D00"/>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之间的不必要流量交互。</a:t>
            </a:r>
          </a:p>
        </p:txBody>
      </p:sp>
    </p:spTree>
    <p:extLst>
      <p:ext uri="{BB962C8B-B14F-4D97-AF65-F5344CB8AC3E}">
        <p14:creationId xmlns:p14="http://schemas.microsoft.com/office/powerpoint/2010/main" val="10501783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sym typeface="Huawei Sans" panose="020C0503030203020204" pitchFamily="34" charset="0"/>
              </a:rPr>
              <a:t>分布式网关</a:t>
            </a:r>
            <a:endParaRPr lang="zh-CN" altLang="en-US" dirty="0">
              <a:sym typeface="Huawei Sans" panose="020C0503030203020204" pitchFamily="34" charset="0"/>
            </a:endParaRPr>
          </a:p>
        </p:txBody>
      </p:sp>
      <p:sp>
        <p:nvSpPr>
          <p:cNvPr id="5" name="文本占位符 4"/>
          <p:cNvSpPr>
            <a:spLocks noGrp="1"/>
          </p:cNvSpPr>
          <p:nvPr>
            <p:ph type="body" sz="quarter" idx="10"/>
          </p:nvPr>
        </p:nvSpPr>
        <p:spPr bwMode="gray">
          <a:xfrm>
            <a:off x="455613" y="1047751"/>
            <a:ext cx="11256962" cy="1338742"/>
          </a:xfrm>
        </p:spPr>
        <p:txBody>
          <a:bodyPr/>
          <a:lstStyle/>
          <a:p>
            <a:r>
              <a:rPr lang="zh-CN" altLang="en-US" sz="1800" dirty="0">
                <a:sym typeface="Huawei Sans" panose="020C0503030203020204" pitchFamily="34" charset="0"/>
              </a:rPr>
              <a:t>在开启本地代理</a:t>
            </a:r>
            <a:r>
              <a:rPr lang="en-US" altLang="zh-CN" sz="1800" dirty="0">
                <a:sym typeface="Huawei Sans" panose="020C0503030203020204" pitchFamily="34" charset="0"/>
              </a:rPr>
              <a:t>ARP</a:t>
            </a:r>
            <a:r>
              <a:rPr lang="zh-CN" altLang="en-US" sz="1800" dirty="0">
                <a:sym typeface="Huawei Sans" panose="020C0503030203020204" pitchFamily="34" charset="0"/>
              </a:rPr>
              <a:t>的场景下，</a:t>
            </a:r>
            <a:r>
              <a:rPr lang="en-US" altLang="zh-CN" sz="1800" dirty="0">
                <a:sym typeface="Huawei Sans" panose="020C0503030203020204" pitchFamily="34" charset="0"/>
              </a:rPr>
              <a:t>VTEP</a:t>
            </a:r>
            <a:r>
              <a:rPr lang="zh-CN" altLang="en-US" sz="1800" dirty="0">
                <a:sym typeface="Huawei Sans" panose="020C0503030203020204" pitchFamily="34" charset="0"/>
              </a:rPr>
              <a:t>只需要维护本地的</a:t>
            </a:r>
            <a:r>
              <a:rPr lang="en-US" altLang="zh-CN" sz="1800" dirty="0">
                <a:sym typeface="Huawei Sans" panose="020C0503030203020204" pitchFamily="34" charset="0"/>
              </a:rPr>
              <a:t>ARP</a:t>
            </a:r>
            <a:r>
              <a:rPr lang="zh-CN" altLang="en-US" sz="1800" dirty="0">
                <a:sym typeface="Huawei Sans" panose="020C0503030203020204" pitchFamily="34" charset="0"/>
              </a:rPr>
              <a:t>表项，其他</a:t>
            </a:r>
            <a:r>
              <a:rPr lang="en-US" altLang="zh-CN" sz="1800" dirty="0">
                <a:sym typeface="Huawei Sans" panose="020C0503030203020204" pitchFamily="34" charset="0"/>
              </a:rPr>
              <a:t>VTEP</a:t>
            </a:r>
            <a:r>
              <a:rPr lang="zh-CN" altLang="en-US" sz="1800" dirty="0">
                <a:sym typeface="Huawei Sans" panose="020C0503030203020204" pitchFamily="34" charset="0"/>
              </a:rPr>
              <a:t>通过</a:t>
            </a:r>
            <a:r>
              <a:rPr lang="en-US" altLang="zh-CN" sz="1800" dirty="0">
                <a:sym typeface="Huawei Sans" panose="020C0503030203020204" pitchFamily="34" charset="0"/>
              </a:rPr>
              <a:t>BGP EVPN</a:t>
            </a:r>
            <a:r>
              <a:rPr lang="zh-CN" altLang="en-US" sz="1800" dirty="0">
                <a:sym typeface="Huawei Sans" panose="020C0503030203020204" pitchFamily="34" charset="0"/>
              </a:rPr>
              <a:t>路由传递的</a:t>
            </a:r>
            <a:r>
              <a:rPr lang="en-US" altLang="zh-CN" sz="1800" dirty="0">
                <a:sym typeface="Huawei Sans" panose="020C0503030203020204" pitchFamily="34" charset="0"/>
              </a:rPr>
              <a:t>ARP</a:t>
            </a:r>
            <a:r>
              <a:rPr lang="zh-CN" altLang="en-US" sz="1800" dirty="0">
                <a:sym typeface="Huawei Sans" panose="020C0503030203020204" pitchFamily="34" charset="0"/>
              </a:rPr>
              <a:t>信息在转发时并不会被用到，此时</a:t>
            </a:r>
            <a:r>
              <a:rPr lang="en-US" altLang="zh-CN" sz="1800" dirty="0">
                <a:sym typeface="Huawei Sans" panose="020C0503030203020204" pitchFamily="34" charset="0"/>
              </a:rPr>
              <a:t>VTEP</a:t>
            </a:r>
            <a:r>
              <a:rPr lang="zh-CN" altLang="en-US" sz="1800" dirty="0">
                <a:sym typeface="Huawei Sans" panose="020C0503030203020204" pitchFamily="34" charset="0"/>
              </a:rPr>
              <a:t>无需维护从其他</a:t>
            </a:r>
            <a:r>
              <a:rPr lang="en-US" altLang="zh-CN" sz="1800" dirty="0">
                <a:sym typeface="Huawei Sans" panose="020C0503030203020204" pitchFamily="34" charset="0"/>
              </a:rPr>
              <a:t>VTEP</a:t>
            </a:r>
            <a:r>
              <a:rPr lang="zh-CN" altLang="en-US" sz="1800" dirty="0">
                <a:sym typeface="Huawei Sans" panose="020C0503030203020204" pitchFamily="34" charset="0"/>
              </a:rPr>
              <a:t>学习到的</a:t>
            </a:r>
            <a:r>
              <a:rPr lang="en-US" altLang="zh-CN" sz="1800" dirty="0">
                <a:sym typeface="Huawei Sans" panose="020C0503030203020204" pitchFamily="34" charset="0"/>
              </a:rPr>
              <a:t>ARP</a:t>
            </a:r>
            <a:r>
              <a:rPr lang="zh-CN" altLang="en-US" sz="1800" dirty="0">
                <a:sym typeface="Huawei Sans" panose="020C0503030203020204" pitchFamily="34" charset="0"/>
              </a:rPr>
              <a:t>表项。</a:t>
            </a:r>
          </a:p>
          <a:p>
            <a:r>
              <a:rPr lang="zh-CN" altLang="en-US" sz="1800" dirty="0">
                <a:sym typeface="Huawei Sans" panose="020C0503030203020204" pitchFamily="34" charset="0"/>
              </a:rPr>
              <a:t>开启分布式网关之后，</a:t>
            </a:r>
            <a:r>
              <a:rPr lang="en-US" altLang="zh-CN" sz="1800" dirty="0">
                <a:sym typeface="Huawei Sans" panose="020C0503030203020204" pitchFamily="34" charset="0"/>
              </a:rPr>
              <a:t>VTEP</a:t>
            </a:r>
            <a:r>
              <a:rPr lang="zh-CN" altLang="en-US" sz="1800" dirty="0">
                <a:sym typeface="Huawei Sans" panose="020C0503030203020204" pitchFamily="34" charset="0"/>
              </a:rPr>
              <a:t>只处理收到的用户侧主机发送的</a:t>
            </a:r>
            <a:r>
              <a:rPr lang="en-US" altLang="zh-CN" sz="1800" dirty="0">
                <a:sym typeface="Huawei Sans" panose="020C0503030203020204" pitchFamily="34" charset="0"/>
              </a:rPr>
              <a:t>ARP</a:t>
            </a:r>
            <a:r>
              <a:rPr lang="zh-CN" altLang="en-US" sz="1800" dirty="0">
                <a:sym typeface="Huawei Sans" panose="020C0503030203020204" pitchFamily="34" charset="0"/>
              </a:rPr>
              <a:t>报文，删除已经学到的网络侧的</a:t>
            </a:r>
            <a:r>
              <a:rPr lang="en-US" altLang="zh-CN" sz="1800" dirty="0">
                <a:sym typeface="Huawei Sans" panose="020C0503030203020204" pitchFamily="34" charset="0"/>
              </a:rPr>
              <a:t>ARP</a:t>
            </a:r>
            <a:r>
              <a:rPr lang="zh-CN" altLang="en-US" sz="1800" dirty="0">
                <a:sym typeface="Huawei Sans" panose="020C0503030203020204" pitchFamily="34" charset="0"/>
              </a:rPr>
              <a:t>表项。</a:t>
            </a:r>
          </a:p>
          <a:p>
            <a:endParaRPr lang="zh-CN" altLang="en-US" sz="1800" dirty="0">
              <a:sym typeface="Huawei Sans" panose="020C0503030203020204" pitchFamily="34" charset="0"/>
            </a:endParaRPr>
          </a:p>
        </p:txBody>
      </p:sp>
      <p:grpSp>
        <p:nvGrpSpPr>
          <p:cNvPr id="18" name="组合 17"/>
          <p:cNvGrpSpPr/>
          <p:nvPr/>
        </p:nvGrpSpPr>
        <p:grpSpPr bwMode="gray">
          <a:xfrm>
            <a:off x="3896391" y="4370239"/>
            <a:ext cx="442385" cy="432048"/>
            <a:chOff x="3213477" y="3973279"/>
            <a:chExt cx="442385" cy="432048"/>
          </a:xfrm>
        </p:grpSpPr>
        <p:cxnSp>
          <p:nvCxnSpPr>
            <p:cNvPr id="19" name="直接连接符 18"/>
            <p:cNvCxnSpPr/>
            <p:nvPr/>
          </p:nvCxnSpPr>
          <p:spPr bwMode="gray">
            <a:xfrm flipV="1">
              <a:off x="3434669" y="3973279"/>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gray">
            <a:xfrm>
              <a:off x="3213477" y="4405327"/>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bwMode="gray">
          <a:xfrm>
            <a:off x="8412420" y="4339759"/>
            <a:ext cx="442385" cy="432048"/>
            <a:chOff x="8588381" y="3942799"/>
            <a:chExt cx="442385" cy="432048"/>
          </a:xfrm>
        </p:grpSpPr>
        <p:cxnSp>
          <p:nvCxnSpPr>
            <p:cNvPr id="22" name="直接连接符 21"/>
            <p:cNvCxnSpPr/>
            <p:nvPr/>
          </p:nvCxnSpPr>
          <p:spPr bwMode="gray">
            <a:xfrm flipV="1">
              <a:off x="8809573" y="3942799"/>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bwMode="gray">
            <a:xfrm>
              <a:off x="8588381" y="4374847"/>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矩形 23"/>
          <p:cNvSpPr/>
          <p:nvPr/>
        </p:nvSpPr>
        <p:spPr bwMode="gray">
          <a:xfrm>
            <a:off x="3744313" y="4823552"/>
            <a:ext cx="740908"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VTEP1</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1.1.1.1</a:t>
            </a:r>
          </a:p>
        </p:txBody>
      </p:sp>
      <p:pic>
        <p:nvPicPr>
          <p:cNvPr id="25" name="图片 87" descr="汇聚交换机.png"/>
          <p:cNvPicPr>
            <a:picLocks noChangeAspect="1"/>
          </p:cNvPicPr>
          <p:nvPr/>
        </p:nvPicPr>
        <p:blipFill>
          <a:blip r:embed="rId3"/>
          <a:stretch>
            <a:fillRect/>
          </a:stretch>
        </p:blipFill>
        <p:spPr bwMode="gray">
          <a:xfrm>
            <a:off x="3863357" y="4174863"/>
            <a:ext cx="502820" cy="411400"/>
          </a:xfrm>
          <a:prstGeom prst="rect">
            <a:avLst/>
          </a:prstGeom>
        </p:spPr>
      </p:pic>
      <p:pic>
        <p:nvPicPr>
          <p:cNvPr id="26" name="图片 87" descr="汇聚交换机.png"/>
          <p:cNvPicPr>
            <a:picLocks noChangeAspect="1"/>
          </p:cNvPicPr>
          <p:nvPr/>
        </p:nvPicPr>
        <p:blipFill>
          <a:blip r:embed="rId3"/>
          <a:stretch>
            <a:fillRect/>
          </a:stretch>
        </p:blipFill>
        <p:spPr bwMode="gray">
          <a:xfrm>
            <a:off x="8373015" y="4174863"/>
            <a:ext cx="502820" cy="411400"/>
          </a:xfrm>
          <a:prstGeom prst="rect">
            <a:avLst/>
          </a:prstGeom>
        </p:spPr>
      </p:pic>
      <p:sp>
        <p:nvSpPr>
          <p:cNvPr id="27" name="矩形 26"/>
          <p:cNvSpPr/>
          <p:nvPr/>
        </p:nvSpPr>
        <p:spPr bwMode="gray">
          <a:xfrm>
            <a:off x="1315916" y="4570561"/>
            <a:ext cx="1287532" cy="738664"/>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PC1</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172.16.2.1/24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A</a:t>
            </a:r>
          </a:p>
        </p:txBody>
      </p:sp>
      <p:pic>
        <p:nvPicPr>
          <p:cNvPr id="28" name="图片 11" descr="开放网络-蓝.png"/>
          <p:cNvPicPr>
            <a:picLocks noChangeAspect="1"/>
          </p:cNvPicPr>
          <p:nvPr/>
        </p:nvPicPr>
        <p:blipFill>
          <a:blip r:embed="rId4" cstate="print"/>
          <a:stretch>
            <a:fillRect/>
          </a:stretch>
        </p:blipFill>
        <p:spPr bwMode="gray">
          <a:xfrm>
            <a:off x="1664666" y="4180813"/>
            <a:ext cx="539607" cy="415381"/>
          </a:xfrm>
          <a:prstGeom prst="rect">
            <a:avLst/>
          </a:prstGeom>
        </p:spPr>
      </p:pic>
      <p:sp>
        <p:nvSpPr>
          <p:cNvPr id="29" name="矩形 28"/>
          <p:cNvSpPr/>
          <p:nvPr/>
        </p:nvSpPr>
        <p:spPr bwMode="gray">
          <a:xfrm>
            <a:off x="10139603" y="4578575"/>
            <a:ext cx="1287532" cy="738664"/>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PC2</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172.16.2.2/24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B</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矩形 29"/>
          <p:cNvSpPr/>
          <p:nvPr/>
        </p:nvSpPr>
        <p:spPr bwMode="gray">
          <a:xfrm rot="15603">
            <a:off x="2505761" y="4398364"/>
            <a:ext cx="846707" cy="523220"/>
          </a:xfrm>
          <a:prstGeom prst="rect">
            <a:avLst/>
          </a:prstGeom>
        </p:spPr>
        <p:txBody>
          <a:bodyPr wrap="none">
            <a:spAutoFit/>
          </a:bodyPr>
          <a:lstStyle/>
          <a:p>
            <a:pPr algn="just"/>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BD 20</a:t>
            </a:r>
          </a:p>
          <a:p>
            <a:pPr algn="just"/>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VNI 200</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矩形 30"/>
          <p:cNvSpPr/>
          <p:nvPr/>
        </p:nvSpPr>
        <p:spPr bwMode="gray">
          <a:xfrm rot="15603">
            <a:off x="9267454" y="4390743"/>
            <a:ext cx="846707" cy="523220"/>
          </a:xfrm>
          <a:prstGeom prst="rect">
            <a:avLst/>
          </a:prstGeom>
        </p:spPr>
        <p:txBody>
          <a:bodyPr wrap="none">
            <a:spAutoFit/>
          </a:bodyPr>
          <a:lstStyle/>
          <a:p>
            <a:pPr algn="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BD 20</a:t>
            </a:r>
          </a:p>
          <a:p>
            <a:pPr algn="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VNI 200</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圆柱形 31"/>
          <p:cNvSpPr/>
          <p:nvPr/>
        </p:nvSpPr>
        <p:spPr bwMode="gray">
          <a:xfrm rot="16200000">
            <a:off x="6217884" y="2341191"/>
            <a:ext cx="242039" cy="4105928"/>
          </a:xfrm>
          <a:prstGeom prst="can">
            <a:avLst>
              <a:gd name="adj" fmla="val 72803"/>
            </a:avLst>
          </a:prstGeom>
          <a:solidFill>
            <a:srgbClr val="EC7061"/>
          </a:solidFill>
          <a:ln w="12700" cap="flat" cmpd="sng" algn="ctr">
            <a:solidFill>
              <a:sysClr val="window" lastClr="FFFFFF"/>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999">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矩形 32"/>
          <p:cNvSpPr/>
          <p:nvPr/>
        </p:nvSpPr>
        <p:spPr bwMode="gray">
          <a:xfrm>
            <a:off x="5768074" y="4246333"/>
            <a:ext cx="1141659" cy="307777"/>
          </a:xfrm>
          <a:prstGeom prst="rect">
            <a:avLst/>
          </a:prstGeom>
        </p:spPr>
        <p:txBody>
          <a:bodyPr wrap="none">
            <a:spAutoFit/>
          </a:bodyPr>
          <a:lstStyle/>
          <a:p>
            <a:pPr algn="just"/>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隧道</a:t>
            </a:r>
          </a:p>
        </p:txBody>
      </p:sp>
      <p:sp>
        <p:nvSpPr>
          <p:cNvPr id="34" name="矩形 33"/>
          <p:cNvSpPr/>
          <p:nvPr/>
        </p:nvSpPr>
        <p:spPr bwMode="gray">
          <a:xfrm>
            <a:off x="8256437" y="4823552"/>
            <a:ext cx="740908"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VTEP2</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2.2.2.2</a:t>
            </a:r>
          </a:p>
        </p:txBody>
      </p:sp>
      <p:pic>
        <p:nvPicPr>
          <p:cNvPr id="35" name="图片 11" descr="开放网络-蓝.png"/>
          <p:cNvPicPr>
            <a:picLocks noChangeAspect="1"/>
          </p:cNvPicPr>
          <p:nvPr/>
        </p:nvPicPr>
        <p:blipFill>
          <a:blip r:embed="rId4" cstate="print"/>
          <a:stretch>
            <a:fillRect/>
          </a:stretch>
        </p:blipFill>
        <p:spPr bwMode="gray">
          <a:xfrm>
            <a:off x="10513889" y="4180813"/>
            <a:ext cx="539607" cy="415381"/>
          </a:xfrm>
          <a:prstGeom prst="rect">
            <a:avLst/>
          </a:prstGeom>
        </p:spPr>
      </p:pic>
      <p:cxnSp>
        <p:nvCxnSpPr>
          <p:cNvPr id="36" name="直接连接符 35"/>
          <p:cNvCxnSpPr>
            <a:stCxn id="25" idx="1"/>
            <a:endCxn id="28" idx="3"/>
          </p:cNvCxnSpPr>
          <p:nvPr/>
        </p:nvCxnSpPr>
        <p:spPr bwMode="gray">
          <a:xfrm flipH="1">
            <a:off x="2204273" y="4380563"/>
            <a:ext cx="165908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bwMode="gray">
          <a:xfrm flipH="1">
            <a:off x="8854805" y="4380563"/>
            <a:ext cx="165908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38" name="表格 37"/>
          <p:cNvGraphicFramePr>
            <a:graphicFrameLocks noGrp="1"/>
          </p:cNvGraphicFramePr>
          <p:nvPr>
            <p:extLst>
              <p:ext uri="{D42A27DB-BD31-4B8C-83A1-F6EECF244321}">
                <p14:modId xmlns:p14="http://schemas.microsoft.com/office/powerpoint/2010/main" val="280329468"/>
              </p:ext>
            </p:extLst>
          </p:nvPr>
        </p:nvGraphicFramePr>
        <p:xfrm>
          <a:off x="3182088" y="3171129"/>
          <a:ext cx="1661117" cy="822960"/>
        </p:xfrm>
        <a:graphic>
          <a:graphicData uri="http://schemas.openxmlformats.org/drawingml/2006/table">
            <a:tbl>
              <a:tblPr firstRow="1" bandRow="1">
                <a:tableStyleId>{5940675A-B579-460E-94D1-54222C63F5DA}</a:tableStyleId>
              </a:tblPr>
              <a:tblGrid>
                <a:gridCol w="912972">
                  <a:extLst>
                    <a:ext uri="{9D8B030D-6E8A-4147-A177-3AD203B41FA5}">
                      <a16:colId xmlns:a16="http://schemas.microsoft.com/office/drawing/2014/main" val="20000"/>
                    </a:ext>
                  </a:extLst>
                </a:gridCol>
                <a:gridCol w="748145">
                  <a:extLst>
                    <a:ext uri="{9D8B030D-6E8A-4147-A177-3AD203B41FA5}">
                      <a16:colId xmlns:a16="http://schemas.microsoft.com/office/drawing/2014/main" val="20001"/>
                    </a:ext>
                  </a:extLst>
                </a:gridCol>
              </a:tblGrid>
              <a:tr h="0">
                <a:tc>
                  <a:txBody>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rPr>
                        <a:t>地址</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MAC</a:t>
                      </a:r>
                      <a:endParaRPr lang="zh-CN" altLang="en-US" sz="1200" b="1"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0"/>
                  </a:ext>
                </a:extLst>
              </a:tr>
              <a:tr h="0">
                <a:tc>
                  <a:txBody>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172.16.2.1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tcPr>
                </a:tc>
                <a:tc>
                  <a:txBody>
                    <a:bodyPr/>
                    <a:lstStyle/>
                    <a:p>
                      <a:pPr algn="ct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MAC A</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0">
                <a:tc>
                  <a:txBody>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172.16.2.2</a:t>
                      </a:r>
                      <a:endPar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MAC B</a:t>
                      </a:r>
                      <a:endPar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39" name="矩形 38"/>
          <p:cNvSpPr/>
          <p:nvPr/>
        </p:nvSpPr>
        <p:spPr bwMode="gray">
          <a:xfrm>
            <a:off x="3182088" y="2817623"/>
            <a:ext cx="1444626"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表项</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乘号 2"/>
          <p:cNvSpPr/>
          <p:nvPr/>
        </p:nvSpPr>
        <p:spPr>
          <a:xfrm>
            <a:off x="4659720" y="3759648"/>
            <a:ext cx="366970" cy="332713"/>
          </a:xfrm>
          <a:prstGeom prst="mathMultiply">
            <a:avLst>
              <a:gd name="adj1" fmla="val 12069"/>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bwMode="gray">
          <a:xfrm rot="15603">
            <a:off x="4960324" y="3777854"/>
            <a:ext cx="589332" cy="307777"/>
          </a:xfrm>
          <a:prstGeom prst="rect">
            <a:avLst/>
          </a:prstGeom>
        </p:spPr>
        <p:txBody>
          <a:bodyPr wrap="square">
            <a:spAutoFit/>
          </a:bodyPr>
          <a:lstStyle/>
          <a:p>
            <a:pPr algn="just"/>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删除</a:t>
            </a:r>
          </a:p>
        </p:txBody>
      </p:sp>
    </p:spTree>
    <p:extLst>
      <p:ext uri="{BB962C8B-B14F-4D97-AF65-F5344CB8AC3E}">
        <p14:creationId xmlns:p14="http://schemas.microsoft.com/office/powerpoint/2010/main" val="245093426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a:sym typeface="Huawei Sans" panose="020C0503030203020204" pitchFamily="34" charset="0"/>
              </a:rPr>
              <a:t>MAC Mobility (1)</a:t>
            </a:r>
            <a:endParaRPr lang="zh-CN" altLang="en-US" dirty="0">
              <a:sym typeface="Huawei Sans" panose="020C0503030203020204" pitchFamily="34" charset="0"/>
            </a:endParaRPr>
          </a:p>
        </p:txBody>
      </p:sp>
      <p:sp>
        <p:nvSpPr>
          <p:cNvPr id="12" name="文本占位符 11"/>
          <p:cNvSpPr>
            <a:spLocks noGrp="1"/>
          </p:cNvSpPr>
          <p:nvPr>
            <p:ph type="body" sz="quarter" idx="10"/>
          </p:nvPr>
        </p:nvSpPr>
        <p:spPr>
          <a:xfrm>
            <a:off x="455613" y="1047751"/>
            <a:ext cx="11256962" cy="821972"/>
          </a:xfrm>
        </p:spPr>
        <p:txBody>
          <a:bodyPr/>
          <a:lstStyle/>
          <a:p>
            <a:r>
              <a:rPr lang="en-US" altLang="zh-CN" sz="1800" dirty="0"/>
              <a:t>MAC Mobility</a:t>
            </a:r>
            <a:r>
              <a:rPr lang="zh-CN" altLang="en-US" sz="1800" dirty="0"/>
              <a:t>扩展属性用于当一个主机</a:t>
            </a:r>
            <a:r>
              <a:rPr lang="en-US" altLang="zh-CN" sz="1800" dirty="0"/>
              <a:t>/VM</a:t>
            </a:r>
            <a:r>
              <a:rPr lang="zh-CN" altLang="en-US" sz="1800" dirty="0"/>
              <a:t>从一个</a:t>
            </a:r>
            <a:r>
              <a:rPr lang="en-US" altLang="zh-CN" sz="1800" dirty="0"/>
              <a:t>VTEP</a:t>
            </a:r>
            <a:r>
              <a:rPr lang="zh-CN" altLang="en-US" sz="1800" dirty="0"/>
              <a:t>启动到另外一个</a:t>
            </a:r>
            <a:r>
              <a:rPr lang="en-US" altLang="zh-CN" sz="1800" dirty="0"/>
              <a:t>VTEP</a:t>
            </a:r>
            <a:r>
              <a:rPr lang="zh-CN" altLang="en-US" sz="1800" dirty="0"/>
              <a:t>之下时，对外宣告该主机的位置移动。</a:t>
            </a:r>
          </a:p>
        </p:txBody>
      </p:sp>
      <p:grpSp>
        <p:nvGrpSpPr>
          <p:cNvPr id="33" name="组合 32"/>
          <p:cNvGrpSpPr/>
          <p:nvPr/>
        </p:nvGrpSpPr>
        <p:grpSpPr bwMode="gray">
          <a:xfrm>
            <a:off x="3211363" y="4220282"/>
            <a:ext cx="442385" cy="432048"/>
            <a:chOff x="2517427" y="3526934"/>
            <a:chExt cx="442385" cy="432048"/>
          </a:xfrm>
        </p:grpSpPr>
        <p:cxnSp>
          <p:nvCxnSpPr>
            <p:cNvPr id="4" name="直接连接符 3"/>
            <p:cNvCxnSpPr/>
            <p:nvPr/>
          </p:nvCxnSpPr>
          <p:spPr bwMode="gray">
            <a:xfrm flipV="1">
              <a:off x="2738619" y="352693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bwMode="gray">
            <a:xfrm>
              <a:off x="2517427" y="352693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矩形 8"/>
          <p:cNvSpPr/>
          <p:nvPr/>
        </p:nvSpPr>
        <p:spPr bwMode="gray">
          <a:xfrm>
            <a:off x="3062101" y="3690608"/>
            <a:ext cx="740908"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VTEP1</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1.1.1.1</a:t>
            </a:r>
          </a:p>
        </p:txBody>
      </p:sp>
      <p:pic>
        <p:nvPicPr>
          <p:cNvPr id="10" name="图片 87" descr="汇聚交换机.png"/>
          <p:cNvPicPr>
            <a:picLocks noChangeAspect="1"/>
          </p:cNvPicPr>
          <p:nvPr/>
        </p:nvPicPr>
        <p:blipFill>
          <a:blip r:embed="rId3"/>
          <a:stretch>
            <a:fillRect/>
          </a:stretch>
        </p:blipFill>
        <p:spPr bwMode="gray">
          <a:xfrm>
            <a:off x="3181145" y="4405675"/>
            <a:ext cx="502820" cy="411400"/>
          </a:xfrm>
          <a:prstGeom prst="rect">
            <a:avLst/>
          </a:prstGeom>
        </p:spPr>
      </p:pic>
      <p:grpSp>
        <p:nvGrpSpPr>
          <p:cNvPr id="34" name="组合 33"/>
          <p:cNvGrpSpPr/>
          <p:nvPr/>
        </p:nvGrpSpPr>
        <p:grpSpPr bwMode="gray">
          <a:xfrm>
            <a:off x="5884940" y="4189802"/>
            <a:ext cx="442385" cy="432048"/>
            <a:chOff x="4843385" y="3496454"/>
            <a:chExt cx="442385" cy="432048"/>
          </a:xfrm>
        </p:grpSpPr>
        <p:cxnSp>
          <p:nvCxnSpPr>
            <p:cNvPr id="7" name="直接连接符 6"/>
            <p:cNvCxnSpPr/>
            <p:nvPr/>
          </p:nvCxnSpPr>
          <p:spPr bwMode="gray">
            <a:xfrm flipV="1">
              <a:off x="5064577" y="349645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bwMode="gray">
            <a:xfrm>
              <a:off x="4843385" y="349645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1" name="图片 87" descr="汇聚交换机.png"/>
          <p:cNvPicPr>
            <a:picLocks noChangeAspect="1"/>
          </p:cNvPicPr>
          <p:nvPr/>
        </p:nvPicPr>
        <p:blipFill>
          <a:blip r:embed="rId3"/>
          <a:stretch>
            <a:fillRect/>
          </a:stretch>
        </p:blipFill>
        <p:spPr bwMode="gray">
          <a:xfrm>
            <a:off x="5854722" y="4405675"/>
            <a:ext cx="502820" cy="411400"/>
          </a:xfrm>
          <a:prstGeom prst="rect">
            <a:avLst/>
          </a:prstGeom>
        </p:spPr>
      </p:pic>
      <p:sp>
        <p:nvSpPr>
          <p:cNvPr id="14" name="矩形 13"/>
          <p:cNvSpPr/>
          <p:nvPr/>
        </p:nvSpPr>
        <p:spPr bwMode="gray">
          <a:xfrm>
            <a:off x="5736216" y="3690608"/>
            <a:ext cx="740908"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VTEP2</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2.2.2.2</a:t>
            </a:r>
          </a:p>
        </p:txBody>
      </p:sp>
      <p:grpSp>
        <p:nvGrpSpPr>
          <p:cNvPr id="35" name="组合 34"/>
          <p:cNvGrpSpPr/>
          <p:nvPr/>
        </p:nvGrpSpPr>
        <p:grpSpPr bwMode="gray">
          <a:xfrm>
            <a:off x="8950306" y="4189802"/>
            <a:ext cx="442385" cy="432048"/>
            <a:chOff x="7165438" y="3496454"/>
            <a:chExt cx="442385" cy="432048"/>
          </a:xfrm>
        </p:grpSpPr>
        <p:cxnSp>
          <p:nvCxnSpPr>
            <p:cNvPr id="16" name="直接连接符 15"/>
            <p:cNvCxnSpPr/>
            <p:nvPr/>
          </p:nvCxnSpPr>
          <p:spPr bwMode="gray">
            <a:xfrm flipV="1">
              <a:off x="7386630" y="349645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bwMode="gray">
            <a:xfrm>
              <a:off x="7165438" y="349645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8" name="图片 87" descr="汇聚交换机.png"/>
          <p:cNvPicPr>
            <a:picLocks noChangeAspect="1"/>
          </p:cNvPicPr>
          <p:nvPr/>
        </p:nvPicPr>
        <p:blipFill>
          <a:blip r:embed="rId3"/>
          <a:stretch>
            <a:fillRect/>
          </a:stretch>
        </p:blipFill>
        <p:spPr bwMode="gray">
          <a:xfrm>
            <a:off x="8920088" y="4405675"/>
            <a:ext cx="502820" cy="411400"/>
          </a:xfrm>
          <a:prstGeom prst="rect">
            <a:avLst/>
          </a:prstGeom>
        </p:spPr>
      </p:pic>
      <p:sp>
        <p:nvSpPr>
          <p:cNvPr id="19" name="矩形 18"/>
          <p:cNvSpPr/>
          <p:nvPr/>
        </p:nvSpPr>
        <p:spPr bwMode="gray">
          <a:xfrm>
            <a:off x="8801582" y="3690608"/>
            <a:ext cx="740908"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VTEP3</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3.3.3.3</a:t>
            </a:r>
          </a:p>
        </p:txBody>
      </p:sp>
      <p:sp>
        <p:nvSpPr>
          <p:cNvPr id="36" name="任意多边形 35"/>
          <p:cNvSpPr/>
          <p:nvPr/>
        </p:nvSpPr>
        <p:spPr bwMode="gray">
          <a:xfrm>
            <a:off x="3653747" y="3413453"/>
            <a:ext cx="2527977" cy="277153"/>
          </a:xfrm>
          <a:custGeom>
            <a:avLst/>
            <a:gdLst>
              <a:gd name="connsiteX0" fmla="*/ 0 w 1170432"/>
              <a:gd name="connsiteY0" fmla="*/ 9144 h 9144"/>
              <a:gd name="connsiteX1" fmla="*/ 1170432 w 1170432"/>
              <a:gd name="connsiteY1" fmla="*/ 0 h 9144"/>
              <a:gd name="connsiteX0" fmla="*/ 0 w 8584"/>
              <a:gd name="connsiteY0" fmla="*/ 76667 h 76667"/>
              <a:gd name="connsiteX1" fmla="*/ 8584 w 8584"/>
              <a:gd name="connsiteY1" fmla="*/ 0 h 76667"/>
              <a:gd name="connsiteX0" fmla="*/ 0 w 9109"/>
              <a:gd name="connsiteY0" fmla="*/ 1033 h 1033"/>
              <a:gd name="connsiteX1" fmla="*/ 9109 w 9109"/>
              <a:gd name="connsiteY1" fmla="*/ 0 h 1033"/>
              <a:gd name="connsiteX0" fmla="*/ 0 w 10000"/>
              <a:gd name="connsiteY0" fmla="*/ 118933 h 118933"/>
              <a:gd name="connsiteX1" fmla="*/ 10000 w 10000"/>
              <a:gd name="connsiteY1" fmla="*/ 108933 h 118933"/>
              <a:gd name="connsiteX0" fmla="*/ 0 w 10083"/>
              <a:gd name="connsiteY0" fmla="*/ 126881 h 126881"/>
              <a:gd name="connsiteX1" fmla="*/ 10083 w 10083"/>
              <a:gd name="connsiteY1" fmla="*/ 106359 h 126881"/>
              <a:gd name="connsiteX0" fmla="*/ 0 w 10083"/>
              <a:gd name="connsiteY0" fmla="*/ 247191 h 247191"/>
              <a:gd name="connsiteX1" fmla="*/ 10083 w 10083"/>
              <a:gd name="connsiteY1" fmla="*/ 226669 h 247191"/>
              <a:gd name="connsiteX0" fmla="*/ 0 w 10083"/>
              <a:gd name="connsiteY0" fmla="*/ 275627 h 275627"/>
              <a:gd name="connsiteX1" fmla="*/ 10083 w 10083"/>
              <a:gd name="connsiteY1" fmla="*/ 255105 h 275627"/>
              <a:gd name="connsiteX0" fmla="*/ 0 w 10305"/>
              <a:gd name="connsiteY0" fmla="*/ 277340 h 277340"/>
              <a:gd name="connsiteX1" fmla="*/ 10305 w 10305"/>
              <a:gd name="connsiteY1" fmla="*/ 253368 h 277340"/>
            </a:gdLst>
            <a:ahLst/>
            <a:cxnLst>
              <a:cxn ang="0">
                <a:pos x="connsiteX0" y="connsiteY0"/>
              </a:cxn>
              <a:cxn ang="0">
                <a:pos x="connsiteX1" y="connsiteY1"/>
              </a:cxn>
            </a:cxnLst>
            <a:rect l="l" t="t" r="r" b="b"/>
            <a:pathLst>
              <a:path w="10305" h="277340">
                <a:moveTo>
                  <a:pt x="0" y="277340"/>
                </a:moveTo>
                <a:cubicBezTo>
                  <a:pt x="2438" y="-102154"/>
                  <a:pt x="7492" y="-74742"/>
                  <a:pt x="10305" y="253368"/>
                </a:cubicBezTo>
              </a:path>
            </a:pathLst>
          </a:custGeom>
          <a:ln w="19050">
            <a:solidFill>
              <a:srgbClr val="30B5C5"/>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40"/>
          <p:cNvSpPr txBox="1"/>
          <p:nvPr/>
        </p:nvSpPr>
        <p:spPr bwMode="gray">
          <a:xfrm>
            <a:off x="3211363" y="1893747"/>
            <a:ext cx="2009421" cy="952759"/>
          </a:xfrm>
          <a:prstGeom prst="rect">
            <a:avLst/>
          </a:prstGeom>
          <a:solidFill>
            <a:schemeClr val="bg1"/>
          </a:solidFill>
          <a:ln w="19050">
            <a:solidFill>
              <a:schemeClr val="accent2">
                <a:lumMod val="60000"/>
                <a:lumOff val="40000"/>
              </a:schemeClr>
            </a:solidFill>
          </a:ln>
        </p:spPr>
        <p:txBody>
          <a:bodyPr wrap="none" lIns="0" tIns="0" rIns="0" bIns="0" rtlCol="0" anchor="ctr" anchorCtr="0">
            <a:noAutofit/>
          </a:bodyPr>
          <a:lstStyle>
            <a:defPPr>
              <a:defRPr lang="en-US"/>
            </a:defPPr>
            <a:lvl1pPr algn="ctr">
              <a:defRPr sz="1200"/>
            </a:lvl1p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Mobility - </a:t>
            </a:r>
            <a:r>
              <a:rPr lang="en-US" altLang="zh-CN" sz="1400" dirty="0" err="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Seq</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 0 </a:t>
            </a:r>
          </a:p>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前缀</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=172.16.2.1/24</a:t>
            </a: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B</a:t>
            </a:r>
          </a:p>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下一跳：</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VTEP1(1.1.1.1)</a:t>
            </a:r>
          </a:p>
        </p:txBody>
      </p:sp>
      <p:grpSp>
        <p:nvGrpSpPr>
          <p:cNvPr id="73" name="组合 72"/>
          <p:cNvGrpSpPr/>
          <p:nvPr/>
        </p:nvGrpSpPr>
        <p:grpSpPr bwMode="gray">
          <a:xfrm>
            <a:off x="2798314" y="4807550"/>
            <a:ext cx="1287532" cy="1456229"/>
            <a:chOff x="2798314" y="4721825"/>
            <a:chExt cx="1287532" cy="1456229"/>
          </a:xfrm>
        </p:grpSpPr>
        <p:sp>
          <p:nvSpPr>
            <p:cNvPr id="31" name="矩形 30"/>
            <p:cNvSpPr/>
            <p:nvPr/>
          </p:nvSpPr>
          <p:spPr bwMode="gray">
            <a:xfrm>
              <a:off x="2798314" y="5654834"/>
              <a:ext cx="1287532" cy="523220"/>
            </a:xfrm>
            <a:prstGeom prst="rect">
              <a:avLst/>
            </a:prstGeom>
          </p:spPr>
          <p:txBody>
            <a:bodyPr wrap="none">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172.16.2.1/24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B</a:t>
              </a:r>
            </a:p>
          </p:txBody>
        </p:sp>
        <p:grpSp>
          <p:nvGrpSpPr>
            <p:cNvPr id="72" name="组合 71"/>
            <p:cNvGrpSpPr/>
            <p:nvPr/>
          </p:nvGrpSpPr>
          <p:grpSpPr bwMode="gray">
            <a:xfrm>
              <a:off x="3148392" y="4721825"/>
              <a:ext cx="568325" cy="933009"/>
              <a:chOff x="3148392" y="4721825"/>
              <a:chExt cx="568325" cy="933009"/>
            </a:xfrm>
          </p:grpSpPr>
          <p:sp>
            <p:nvSpPr>
              <p:cNvPr id="30" name="圆角矩形 29"/>
              <p:cNvSpPr/>
              <p:nvPr/>
            </p:nvSpPr>
            <p:spPr bwMode="gray">
              <a:xfrm>
                <a:off x="3148392" y="5319418"/>
                <a:ext cx="568325" cy="335416"/>
              </a:xfrm>
              <a:prstGeom prst="roundRect">
                <a:avLst/>
              </a:prstGeom>
              <a:solidFill>
                <a:srgbClr val="72BD56"/>
              </a:solidFill>
              <a:ln w="19050">
                <a:solidFill>
                  <a:srgbClr val="72BD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VM1</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4" name="直接连接符 43"/>
              <p:cNvCxnSpPr>
                <a:stCxn id="10" idx="2"/>
                <a:endCxn id="30" idx="0"/>
              </p:cNvCxnSpPr>
              <p:nvPr/>
            </p:nvCxnSpPr>
            <p:spPr bwMode="gray">
              <a:xfrm>
                <a:off x="3432555" y="4721825"/>
                <a:ext cx="0" cy="59759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49" name="矩形 48"/>
          <p:cNvSpPr/>
          <p:nvPr/>
        </p:nvSpPr>
        <p:spPr bwMode="gray">
          <a:xfrm>
            <a:off x="1200567" y="4129168"/>
            <a:ext cx="1728032" cy="738664"/>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学习到</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VM1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信息，生成</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IRB</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路由对外通告。</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任意多边形 49"/>
          <p:cNvSpPr/>
          <p:nvPr/>
        </p:nvSpPr>
        <p:spPr bwMode="gray">
          <a:xfrm>
            <a:off x="3492632" y="2999228"/>
            <a:ext cx="5457674" cy="691379"/>
          </a:xfrm>
          <a:custGeom>
            <a:avLst/>
            <a:gdLst>
              <a:gd name="connsiteX0" fmla="*/ 0 w 1170432"/>
              <a:gd name="connsiteY0" fmla="*/ 9144 h 9144"/>
              <a:gd name="connsiteX1" fmla="*/ 1170432 w 1170432"/>
              <a:gd name="connsiteY1" fmla="*/ 0 h 9144"/>
              <a:gd name="connsiteX0" fmla="*/ 0 w 8584"/>
              <a:gd name="connsiteY0" fmla="*/ 76667 h 76667"/>
              <a:gd name="connsiteX1" fmla="*/ 8584 w 8584"/>
              <a:gd name="connsiteY1" fmla="*/ 0 h 76667"/>
              <a:gd name="connsiteX0" fmla="*/ 0 w 9109"/>
              <a:gd name="connsiteY0" fmla="*/ 1033 h 1033"/>
              <a:gd name="connsiteX1" fmla="*/ 9109 w 9109"/>
              <a:gd name="connsiteY1" fmla="*/ 0 h 1033"/>
              <a:gd name="connsiteX0" fmla="*/ 0 w 10000"/>
              <a:gd name="connsiteY0" fmla="*/ 118933 h 118933"/>
              <a:gd name="connsiteX1" fmla="*/ 10000 w 10000"/>
              <a:gd name="connsiteY1" fmla="*/ 108933 h 118933"/>
              <a:gd name="connsiteX0" fmla="*/ 0 w 10083"/>
              <a:gd name="connsiteY0" fmla="*/ 126881 h 126881"/>
              <a:gd name="connsiteX1" fmla="*/ 10083 w 10083"/>
              <a:gd name="connsiteY1" fmla="*/ 106359 h 126881"/>
              <a:gd name="connsiteX0" fmla="*/ 0 w 10083"/>
              <a:gd name="connsiteY0" fmla="*/ 247191 h 247191"/>
              <a:gd name="connsiteX1" fmla="*/ 10083 w 10083"/>
              <a:gd name="connsiteY1" fmla="*/ 226669 h 247191"/>
              <a:gd name="connsiteX0" fmla="*/ 0 w 10083"/>
              <a:gd name="connsiteY0" fmla="*/ 275627 h 275627"/>
              <a:gd name="connsiteX1" fmla="*/ 10083 w 10083"/>
              <a:gd name="connsiteY1" fmla="*/ 255105 h 275627"/>
              <a:gd name="connsiteX0" fmla="*/ 0 w 10305"/>
              <a:gd name="connsiteY0" fmla="*/ 277340 h 277340"/>
              <a:gd name="connsiteX1" fmla="*/ 10305 w 10305"/>
              <a:gd name="connsiteY1" fmla="*/ 253368 h 277340"/>
            </a:gdLst>
            <a:ahLst/>
            <a:cxnLst>
              <a:cxn ang="0">
                <a:pos x="connsiteX0" y="connsiteY0"/>
              </a:cxn>
              <a:cxn ang="0">
                <a:pos x="connsiteX1" y="connsiteY1"/>
              </a:cxn>
            </a:cxnLst>
            <a:rect l="l" t="t" r="r" b="b"/>
            <a:pathLst>
              <a:path w="10305" h="277340">
                <a:moveTo>
                  <a:pt x="0" y="277340"/>
                </a:moveTo>
                <a:cubicBezTo>
                  <a:pt x="2438" y="-102154"/>
                  <a:pt x="7492" y="-74742"/>
                  <a:pt x="10305" y="253368"/>
                </a:cubicBezTo>
              </a:path>
            </a:pathLst>
          </a:custGeom>
          <a:ln w="19050">
            <a:solidFill>
              <a:srgbClr val="30B5C5"/>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2" name="直接连接符 51"/>
          <p:cNvCxnSpPr>
            <a:stCxn id="41" idx="2"/>
          </p:cNvCxnSpPr>
          <p:nvPr/>
        </p:nvCxnSpPr>
        <p:spPr bwMode="gray">
          <a:xfrm>
            <a:off x="4216074" y="2846506"/>
            <a:ext cx="1004710" cy="165784"/>
          </a:xfrm>
          <a:prstGeom prst="line">
            <a:avLst/>
          </a:prstGeom>
          <a:noFill/>
          <a:ln w="19050">
            <a:solidFill>
              <a:srgbClr val="EC7061"/>
            </a:solidFill>
            <a:prstDash val="sysDot"/>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cxnSp>
      <p:cxnSp>
        <p:nvCxnSpPr>
          <p:cNvPr id="53" name="直接连接符 52"/>
          <p:cNvCxnSpPr>
            <a:stCxn id="41" idx="2"/>
          </p:cNvCxnSpPr>
          <p:nvPr/>
        </p:nvCxnSpPr>
        <p:spPr bwMode="gray">
          <a:xfrm>
            <a:off x="4216074" y="2846506"/>
            <a:ext cx="660726" cy="566946"/>
          </a:xfrm>
          <a:prstGeom prst="line">
            <a:avLst/>
          </a:prstGeom>
          <a:noFill/>
          <a:ln w="19050">
            <a:solidFill>
              <a:srgbClr val="EC7061"/>
            </a:solidFill>
            <a:prstDash val="sysDot"/>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cxnSp>
      <p:sp>
        <p:nvSpPr>
          <p:cNvPr id="64" name="椭圆 63"/>
          <p:cNvSpPr>
            <a:spLocks noChangeAspect="1"/>
          </p:cNvSpPr>
          <p:nvPr/>
        </p:nvSpPr>
        <p:spPr bwMode="gray">
          <a:xfrm>
            <a:off x="968087" y="4189802"/>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椭圆 64"/>
          <p:cNvSpPr>
            <a:spLocks noChangeAspect="1"/>
          </p:cNvSpPr>
          <p:nvPr/>
        </p:nvSpPr>
        <p:spPr bwMode="gray">
          <a:xfrm>
            <a:off x="3803547" y="5129880"/>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矩形 65"/>
          <p:cNvSpPr/>
          <p:nvPr/>
        </p:nvSpPr>
        <p:spPr bwMode="gray">
          <a:xfrm>
            <a:off x="4036027" y="5131514"/>
            <a:ext cx="1814908" cy="307777"/>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VM1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移动到</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下。</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矩形 66"/>
          <p:cNvSpPr/>
          <p:nvPr/>
        </p:nvSpPr>
        <p:spPr bwMode="gray">
          <a:xfrm>
            <a:off x="6709604" y="3919618"/>
            <a:ext cx="1814908" cy="1169551"/>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信息感知到</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VM2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，生成一条新的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IRB</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路由，该路由与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传递的路由相同。</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椭圆 67"/>
          <p:cNvSpPr>
            <a:spLocks noChangeAspect="1"/>
          </p:cNvSpPr>
          <p:nvPr/>
        </p:nvSpPr>
        <p:spPr bwMode="gray">
          <a:xfrm>
            <a:off x="6477124" y="3980252"/>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矩形 74"/>
          <p:cNvSpPr/>
          <p:nvPr/>
        </p:nvSpPr>
        <p:spPr bwMode="gray">
          <a:xfrm>
            <a:off x="876300" y="1935443"/>
            <a:ext cx="2335063" cy="738664"/>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 EVPN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路由，此时扩展团体属性：</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Mobility</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的序列号为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椭圆 75"/>
          <p:cNvSpPr>
            <a:spLocks noChangeAspect="1"/>
          </p:cNvSpPr>
          <p:nvPr/>
        </p:nvSpPr>
        <p:spPr bwMode="gray">
          <a:xfrm>
            <a:off x="643820" y="1996077"/>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019487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1.66667E-6 4.07407E-6 L 0.21849 -0.00093 " pathEditMode="relative" rAng="0" ptsTypes="AA">
                                      <p:cBhvr>
                                        <p:cTn id="6" dur="2000" fill="hold"/>
                                        <p:tgtEl>
                                          <p:spTgt spid="73"/>
                                        </p:tgtEl>
                                        <p:attrNameLst>
                                          <p:attrName>ppt_x</p:attrName>
                                          <p:attrName>ppt_y</p:attrName>
                                        </p:attrNameLst>
                                      </p:cBhvr>
                                      <p:rCtr x="10924" y="-46"/>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6" grpId="0"/>
      <p:bldP spid="67" grpId="0"/>
      <p:bldP spid="68"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a:sym typeface="Huawei Sans" panose="020C0503030203020204" pitchFamily="34" charset="0"/>
              </a:rPr>
              <a:t>MAC Mobility (2)</a:t>
            </a:r>
            <a:endParaRPr lang="zh-CN" altLang="en-US" dirty="0">
              <a:sym typeface="Huawei Sans" panose="020C0503030203020204" pitchFamily="34" charset="0"/>
            </a:endParaRPr>
          </a:p>
        </p:txBody>
      </p:sp>
      <p:grpSp>
        <p:nvGrpSpPr>
          <p:cNvPr id="36" name="组合 35"/>
          <p:cNvGrpSpPr/>
          <p:nvPr/>
        </p:nvGrpSpPr>
        <p:grpSpPr bwMode="gray">
          <a:xfrm>
            <a:off x="3211363" y="3743464"/>
            <a:ext cx="442385" cy="432048"/>
            <a:chOff x="2517427" y="3526934"/>
            <a:chExt cx="442385" cy="432048"/>
          </a:xfrm>
        </p:grpSpPr>
        <p:cxnSp>
          <p:nvCxnSpPr>
            <p:cNvPr id="37" name="直接连接符 36"/>
            <p:cNvCxnSpPr/>
            <p:nvPr/>
          </p:nvCxnSpPr>
          <p:spPr bwMode="gray">
            <a:xfrm flipV="1">
              <a:off x="2738619" y="352693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bwMode="gray">
            <a:xfrm>
              <a:off x="2517427" y="352693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9" name="矩形 38"/>
          <p:cNvSpPr/>
          <p:nvPr/>
        </p:nvSpPr>
        <p:spPr bwMode="gray">
          <a:xfrm>
            <a:off x="3062101" y="3213790"/>
            <a:ext cx="740908"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VTEP1</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1.1.1.1</a:t>
            </a:r>
          </a:p>
        </p:txBody>
      </p:sp>
      <p:pic>
        <p:nvPicPr>
          <p:cNvPr id="40" name="图片 87" descr="汇聚交换机.png"/>
          <p:cNvPicPr>
            <a:picLocks noChangeAspect="1"/>
          </p:cNvPicPr>
          <p:nvPr/>
        </p:nvPicPr>
        <p:blipFill>
          <a:blip r:embed="rId3"/>
          <a:stretch>
            <a:fillRect/>
          </a:stretch>
        </p:blipFill>
        <p:spPr bwMode="gray">
          <a:xfrm>
            <a:off x="3181145" y="3928857"/>
            <a:ext cx="502820" cy="411400"/>
          </a:xfrm>
          <a:prstGeom prst="rect">
            <a:avLst/>
          </a:prstGeom>
        </p:spPr>
      </p:pic>
      <p:grpSp>
        <p:nvGrpSpPr>
          <p:cNvPr id="41" name="组合 40"/>
          <p:cNvGrpSpPr/>
          <p:nvPr/>
        </p:nvGrpSpPr>
        <p:grpSpPr bwMode="gray">
          <a:xfrm>
            <a:off x="5884940" y="3712984"/>
            <a:ext cx="442385" cy="432048"/>
            <a:chOff x="4843385" y="3496454"/>
            <a:chExt cx="442385" cy="432048"/>
          </a:xfrm>
        </p:grpSpPr>
        <p:cxnSp>
          <p:nvCxnSpPr>
            <p:cNvPr id="42" name="直接连接符 41"/>
            <p:cNvCxnSpPr/>
            <p:nvPr/>
          </p:nvCxnSpPr>
          <p:spPr bwMode="gray">
            <a:xfrm flipV="1">
              <a:off x="5064577" y="349645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bwMode="gray">
            <a:xfrm>
              <a:off x="4843385" y="349645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44" name="图片 87" descr="汇聚交换机.png"/>
          <p:cNvPicPr>
            <a:picLocks noChangeAspect="1"/>
          </p:cNvPicPr>
          <p:nvPr/>
        </p:nvPicPr>
        <p:blipFill>
          <a:blip r:embed="rId3"/>
          <a:stretch>
            <a:fillRect/>
          </a:stretch>
        </p:blipFill>
        <p:spPr bwMode="gray">
          <a:xfrm>
            <a:off x="5854114" y="3928857"/>
            <a:ext cx="502820" cy="411400"/>
          </a:xfrm>
          <a:prstGeom prst="rect">
            <a:avLst/>
          </a:prstGeom>
        </p:spPr>
      </p:pic>
      <p:sp>
        <p:nvSpPr>
          <p:cNvPr id="45" name="矩形 44"/>
          <p:cNvSpPr/>
          <p:nvPr/>
        </p:nvSpPr>
        <p:spPr bwMode="gray">
          <a:xfrm>
            <a:off x="5736216" y="3213790"/>
            <a:ext cx="740908"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VTEP2</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2.2.2.2</a:t>
            </a:r>
          </a:p>
        </p:txBody>
      </p:sp>
      <p:grpSp>
        <p:nvGrpSpPr>
          <p:cNvPr id="46" name="组合 45"/>
          <p:cNvGrpSpPr/>
          <p:nvPr/>
        </p:nvGrpSpPr>
        <p:grpSpPr bwMode="gray">
          <a:xfrm>
            <a:off x="8950306" y="3712984"/>
            <a:ext cx="442385" cy="432048"/>
            <a:chOff x="7165438" y="3496454"/>
            <a:chExt cx="442385" cy="432048"/>
          </a:xfrm>
        </p:grpSpPr>
        <p:cxnSp>
          <p:nvCxnSpPr>
            <p:cNvPr id="47" name="直接连接符 46"/>
            <p:cNvCxnSpPr/>
            <p:nvPr/>
          </p:nvCxnSpPr>
          <p:spPr bwMode="gray">
            <a:xfrm flipV="1">
              <a:off x="7386630" y="3496454"/>
              <a:ext cx="1" cy="4320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bwMode="gray">
            <a:xfrm>
              <a:off x="7165438" y="3496454"/>
              <a:ext cx="4423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49" name="图片 87" descr="汇聚交换机.png"/>
          <p:cNvPicPr>
            <a:picLocks noChangeAspect="1"/>
          </p:cNvPicPr>
          <p:nvPr/>
        </p:nvPicPr>
        <p:blipFill>
          <a:blip r:embed="rId3"/>
          <a:stretch>
            <a:fillRect/>
          </a:stretch>
        </p:blipFill>
        <p:spPr bwMode="gray">
          <a:xfrm>
            <a:off x="8920088" y="3928857"/>
            <a:ext cx="502820" cy="411400"/>
          </a:xfrm>
          <a:prstGeom prst="rect">
            <a:avLst/>
          </a:prstGeom>
        </p:spPr>
      </p:pic>
      <p:sp>
        <p:nvSpPr>
          <p:cNvPr id="50" name="矩形 49"/>
          <p:cNvSpPr/>
          <p:nvPr/>
        </p:nvSpPr>
        <p:spPr bwMode="gray">
          <a:xfrm>
            <a:off x="8801582" y="3213790"/>
            <a:ext cx="740908" cy="523220"/>
          </a:xfrm>
          <a:prstGeom prst="rect">
            <a:avLst/>
          </a:prstGeom>
        </p:spPr>
        <p:txBody>
          <a:bodyPr wrap="none">
            <a:spAutoFit/>
          </a:bodyPr>
          <a:lstStyle/>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VTEP3</a:t>
            </a:r>
          </a:p>
          <a:p>
            <a:pPr algn="ct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3.3.3.3</a:t>
            </a:r>
          </a:p>
        </p:txBody>
      </p:sp>
      <p:sp>
        <p:nvSpPr>
          <p:cNvPr id="51" name="任意多边形 50"/>
          <p:cNvSpPr/>
          <p:nvPr/>
        </p:nvSpPr>
        <p:spPr bwMode="gray">
          <a:xfrm>
            <a:off x="6273605" y="2771417"/>
            <a:ext cx="2527977" cy="442372"/>
          </a:xfrm>
          <a:custGeom>
            <a:avLst/>
            <a:gdLst>
              <a:gd name="connsiteX0" fmla="*/ 0 w 1170432"/>
              <a:gd name="connsiteY0" fmla="*/ 9144 h 9144"/>
              <a:gd name="connsiteX1" fmla="*/ 1170432 w 1170432"/>
              <a:gd name="connsiteY1" fmla="*/ 0 h 9144"/>
              <a:gd name="connsiteX0" fmla="*/ 0 w 8584"/>
              <a:gd name="connsiteY0" fmla="*/ 76667 h 76667"/>
              <a:gd name="connsiteX1" fmla="*/ 8584 w 8584"/>
              <a:gd name="connsiteY1" fmla="*/ 0 h 76667"/>
              <a:gd name="connsiteX0" fmla="*/ 0 w 9109"/>
              <a:gd name="connsiteY0" fmla="*/ 1033 h 1033"/>
              <a:gd name="connsiteX1" fmla="*/ 9109 w 9109"/>
              <a:gd name="connsiteY1" fmla="*/ 0 h 1033"/>
              <a:gd name="connsiteX0" fmla="*/ 0 w 10000"/>
              <a:gd name="connsiteY0" fmla="*/ 118933 h 118933"/>
              <a:gd name="connsiteX1" fmla="*/ 10000 w 10000"/>
              <a:gd name="connsiteY1" fmla="*/ 108933 h 118933"/>
              <a:gd name="connsiteX0" fmla="*/ 0 w 10083"/>
              <a:gd name="connsiteY0" fmla="*/ 126881 h 126881"/>
              <a:gd name="connsiteX1" fmla="*/ 10083 w 10083"/>
              <a:gd name="connsiteY1" fmla="*/ 106359 h 126881"/>
              <a:gd name="connsiteX0" fmla="*/ 0 w 10083"/>
              <a:gd name="connsiteY0" fmla="*/ 247191 h 247191"/>
              <a:gd name="connsiteX1" fmla="*/ 10083 w 10083"/>
              <a:gd name="connsiteY1" fmla="*/ 226669 h 247191"/>
              <a:gd name="connsiteX0" fmla="*/ 0 w 10083"/>
              <a:gd name="connsiteY0" fmla="*/ 275627 h 275627"/>
              <a:gd name="connsiteX1" fmla="*/ 10083 w 10083"/>
              <a:gd name="connsiteY1" fmla="*/ 255105 h 275627"/>
              <a:gd name="connsiteX0" fmla="*/ 0 w 10305"/>
              <a:gd name="connsiteY0" fmla="*/ 277340 h 277340"/>
              <a:gd name="connsiteX1" fmla="*/ 10305 w 10305"/>
              <a:gd name="connsiteY1" fmla="*/ 253368 h 277340"/>
            </a:gdLst>
            <a:ahLst/>
            <a:cxnLst>
              <a:cxn ang="0">
                <a:pos x="connsiteX0" y="connsiteY0"/>
              </a:cxn>
              <a:cxn ang="0">
                <a:pos x="connsiteX1" y="connsiteY1"/>
              </a:cxn>
            </a:cxnLst>
            <a:rect l="l" t="t" r="r" b="b"/>
            <a:pathLst>
              <a:path w="10305" h="277340">
                <a:moveTo>
                  <a:pt x="0" y="277340"/>
                </a:moveTo>
                <a:cubicBezTo>
                  <a:pt x="2438" y="-102154"/>
                  <a:pt x="7492" y="-74742"/>
                  <a:pt x="10305" y="253368"/>
                </a:cubicBezTo>
              </a:path>
            </a:pathLst>
          </a:custGeom>
          <a:ln w="19050">
            <a:solidFill>
              <a:srgbClr val="30B5C5"/>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文本框 51"/>
          <p:cNvSpPr txBox="1"/>
          <p:nvPr/>
        </p:nvSpPr>
        <p:spPr bwMode="gray">
          <a:xfrm>
            <a:off x="5101422" y="1380298"/>
            <a:ext cx="2009421" cy="952759"/>
          </a:xfrm>
          <a:prstGeom prst="rect">
            <a:avLst/>
          </a:prstGeom>
          <a:solidFill>
            <a:schemeClr val="bg1"/>
          </a:solidFill>
          <a:ln w="19050">
            <a:solidFill>
              <a:schemeClr val="accent2">
                <a:lumMod val="60000"/>
                <a:lumOff val="40000"/>
              </a:schemeClr>
            </a:solidFill>
          </a:ln>
        </p:spPr>
        <p:txBody>
          <a:bodyPr wrap="none" lIns="0" tIns="0" rIns="0" bIns="0" rtlCol="0" anchor="ctr" anchorCtr="0">
            <a:noAutofit/>
          </a:bodyPr>
          <a:lstStyle>
            <a:defPPr>
              <a:defRPr lang="en-US"/>
            </a:defPPr>
            <a:lvl1pPr algn="ctr">
              <a:defRPr sz="1200"/>
            </a:lvl1p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Mobility - </a:t>
            </a:r>
            <a:r>
              <a:rPr lang="en-US" altLang="zh-CN" sz="1400" dirty="0" err="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Seq</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 1</a:t>
            </a:r>
            <a:r>
              <a:rPr lang="en-US" altLang="zh-CN" sz="14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 </a:t>
            </a:r>
          </a:p>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前缀</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=172.16.2.1/24</a:t>
            </a:r>
          </a:p>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B</a:t>
            </a:r>
          </a:p>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下一跳：</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VTEP2(2.2.2.2)</a:t>
            </a:r>
          </a:p>
        </p:txBody>
      </p:sp>
      <p:sp>
        <p:nvSpPr>
          <p:cNvPr id="54" name="矩形 53"/>
          <p:cNvSpPr/>
          <p:nvPr/>
        </p:nvSpPr>
        <p:spPr bwMode="gray">
          <a:xfrm>
            <a:off x="5452234" y="5263741"/>
            <a:ext cx="1287532" cy="523220"/>
          </a:xfrm>
          <a:prstGeom prst="rect">
            <a:avLst/>
          </a:prstGeom>
        </p:spPr>
        <p:txBody>
          <a:bodyPr wrap="none">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172.16.2.1/24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B</a:t>
            </a:r>
          </a:p>
        </p:txBody>
      </p:sp>
      <p:sp>
        <p:nvSpPr>
          <p:cNvPr id="56" name="圆角矩形 55"/>
          <p:cNvSpPr/>
          <p:nvPr/>
        </p:nvSpPr>
        <p:spPr bwMode="gray">
          <a:xfrm>
            <a:off x="5821362" y="4928325"/>
            <a:ext cx="568325" cy="335416"/>
          </a:xfrm>
          <a:prstGeom prst="roundRect">
            <a:avLst/>
          </a:prstGeom>
          <a:solidFill>
            <a:srgbClr val="72BD56"/>
          </a:solidFill>
          <a:ln w="19050">
            <a:solidFill>
              <a:srgbClr val="72BD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VM1</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7" name="直接连接符 56"/>
          <p:cNvCxnSpPr>
            <a:stCxn id="44" idx="2"/>
            <a:endCxn id="56" idx="0"/>
          </p:cNvCxnSpPr>
          <p:nvPr/>
        </p:nvCxnSpPr>
        <p:spPr bwMode="gray">
          <a:xfrm>
            <a:off x="6105524" y="4340257"/>
            <a:ext cx="1" cy="5880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a:stCxn id="52" idx="2"/>
          </p:cNvCxnSpPr>
          <p:nvPr/>
        </p:nvCxnSpPr>
        <p:spPr bwMode="gray">
          <a:xfrm>
            <a:off x="6106133" y="2333057"/>
            <a:ext cx="1332892" cy="323850"/>
          </a:xfrm>
          <a:prstGeom prst="line">
            <a:avLst/>
          </a:prstGeom>
          <a:noFill/>
          <a:ln w="19050">
            <a:solidFill>
              <a:srgbClr val="EC7061"/>
            </a:solidFill>
            <a:prstDash val="sysDot"/>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cxnSp>
      <p:cxnSp>
        <p:nvCxnSpPr>
          <p:cNvPr id="61" name="直接连接符 60"/>
          <p:cNvCxnSpPr>
            <a:stCxn id="52" idx="2"/>
          </p:cNvCxnSpPr>
          <p:nvPr/>
        </p:nvCxnSpPr>
        <p:spPr bwMode="gray">
          <a:xfrm flipH="1">
            <a:off x="4905375" y="2333057"/>
            <a:ext cx="1200758" cy="323850"/>
          </a:xfrm>
          <a:prstGeom prst="line">
            <a:avLst/>
          </a:prstGeom>
          <a:noFill/>
          <a:ln w="19050">
            <a:solidFill>
              <a:srgbClr val="EC7061"/>
            </a:solidFill>
            <a:prstDash val="sysDot"/>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cxnSp>
      <p:sp>
        <p:nvSpPr>
          <p:cNvPr id="67" name="任意多边形 66"/>
          <p:cNvSpPr/>
          <p:nvPr/>
        </p:nvSpPr>
        <p:spPr bwMode="gray">
          <a:xfrm>
            <a:off x="3432556" y="2771417"/>
            <a:ext cx="2527977" cy="442372"/>
          </a:xfrm>
          <a:custGeom>
            <a:avLst/>
            <a:gdLst>
              <a:gd name="connsiteX0" fmla="*/ 0 w 1170432"/>
              <a:gd name="connsiteY0" fmla="*/ 9144 h 9144"/>
              <a:gd name="connsiteX1" fmla="*/ 1170432 w 1170432"/>
              <a:gd name="connsiteY1" fmla="*/ 0 h 9144"/>
              <a:gd name="connsiteX0" fmla="*/ 0 w 8584"/>
              <a:gd name="connsiteY0" fmla="*/ 76667 h 76667"/>
              <a:gd name="connsiteX1" fmla="*/ 8584 w 8584"/>
              <a:gd name="connsiteY1" fmla="*/ 0 h 76667"/>
              <a:gd name="connsiteX0" fmla="*/ 0 w 9109"/>
              <a:gd name="connsiteY0" fmla="*/ 1033 h 1033"/>
              <a:gd name="connsiteX1" fmla="*/ 9109 w 9109"/>
              <a:gd name="connsiteY1" fmla="*/ 0 h 1033"/>
              <a:gd name="connsiteX0" fmla="*/ 0 w 10000"/>
              <a:gd name="connsiteY0" fmla="*/ 118933 h 118933"/>
              <a:gd name="connsiteX1" fmla="*/ 10000 w 10000"/>
              <a:gd name="connsiteY1" fmla="*/ 108933 h 118933"/>
              <a:gd name="connsiteX0" fmla="*/ 0 w 10083"/>
              <a:gd name="connsiteY0" fmla="*/ 126881 h 126881"/>
              <a:gd name="connsiteX1" fmla="*/ 10083 w 10083"/>
              <a:gd name="connsiteY1" fmla="*/ 106359 h 126881"/>
              <a:gd name="connsiteX0" fmla="*/ 0 w 10083"/>
              <a:gd name="connsiteY0" fmla="*/ 247191 h 247191"/>
              <a:gd name="connsiteX1" fmla="*/ 10083 w 10083"/>
              <a:gd name="connsiteY1" fmla="*/ 226669 h 247191"/>
              <a:gd name="connsiteX0" fmla="*/ 0 w 10083"/>
              <a:gd name="connsiteY0" fmla="*/ 275627 h 275627"/>
              <a:gd name="connsiteX1" fmla="*/ 10083 w 10083"/>
              <a:gd name="connsiteY1" fmla="*/ 255105 h 275627"/>
              <a:gd name="connsiteX0" fmla="*/ 0 w 10305"/>
              <a:gd name="connsiteY0" fmla="*/ 277340 h 277340"/>
              <a:gd name="connsiteX1" fmla="*/ 10305 w 10305"/>
              <a:gd name="connsiteY1" fmla="*/ 253368 h 277340"/>
            </a:gdLst>
            <a:ahLst/>
            <a:cxnLst>
              <a:cxn ang="0">
                <a:pos x="connsiteX0" y="connsiteY0"/>
              </a:cxn>
              <a:cxn ang="0">
                <a:pos x="connsiteX1" y="connsiteY1"/>
              </a:cxn>
            </a:cxnLst>
            <a:rect l="l" t="t" r="r" b="b"/>
            <a:pathLst>
              <a:path w="10305" h="277340">
                <a:moveTo>
                  <a:pt x="0" y="277340"/>
                </a:moveTo>
                <a:cubicBezTo>
                  <a:pt x="2438" y="-102154"/>
                  <a:pt x="7492" y="-74742"/>
                  <a:pt x="10305" y="253368"/>
                </a:cubicBezTo>
              </a:path>
            </a:pathLst>
          </a:custGeom>
          <a:ln w="19050">
            <a:solidFill>
              <a:srgbClr val="30B5C5"/>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矩形 69"/>
          <p:cNvSpPr/>
          <p:nvPr/>
        </p:nvSpPr>
        <p:spPr bwMode="gray">
          <a:xfrm>
            <a:off x="7577782" y="1378950"/>
            <a:ext cx="3109267" cy="523220"/>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 EVPN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路由，此时扩展团体属性：</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Mobility</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的序列号为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椭圆 70"/>
          <p:cNvSpPr>
            <a:spLocks noChangeAspect="1"/>
          </p:cNvSpPr>
          <p:nvPr/>
        </p:nvSpPr>
        <p:spPr bwMode="gray">
          <a:xfrm>
            <a:off x="7345303" y="1415176"/>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矩形 71"/>
          <p:cNvSpPr/>
          <p:nvPr/>
        </p:nvSpPr>
        <p:spPr bwMode="gray">
          <a:xfrm>
            <a:off x="758272" y="3733788"/>
            <a:ext cx="2374278" cy="1384995"/>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VTEP1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收到</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路由更新，通过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 Mobility</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携带序列号意识到下连</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VM</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已经发生了迁移，对外发送</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BGP Update</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报文撤销之前发送的路由更新。</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椭圆 72"/>
          <p:cNvSpPr>
            <a:spLocks noChangeAspect="1"/>
          </p:cNvSpPr>
          <p:nvPr/>
        </p:nvSpPr>
        <p:spPr bwMode="gray">
          <a:xfrm>
            <a:off x="758272" y="3492742"/>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6</a:t>
            </a:r>
            <a:endParaRPr lang="zh-CN" altLang="en-US" sz="15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84650875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a:solidFill>
                  <a:schemeClr val="bg1">
                    <a:lumMod val="50000"/>
                  </a:schemeClr>
                </a:solidFill>
                <a:sym typeface="Huawei Sans" panose="020C0503030203020204" pitchFamily="34" charset="0"/>
              </a:rPr>
              <a:t>VXLAN</a:t>
            </a:r>
            <a:r>
              <a:rPr lang="zh-CN" altLang="en-US" dirty="0">
                <a:solidFill>
                  <a:schemeClr val="bg1">
                    <a:lumMod val="50000"/>
                  </a:schemeClr>
                </a:solidFill>
                <a:sym typeface="Huawei Sans" panose="020C0503030203020204" pitchFamily="34" charset="0"/>
              </a:rPr>
              <a:t>及园区网络虚拟化技术背景</a:t>
            </a:r>
            <a:endParaRPr lang="en-US" altLang="zh-CN" dirty="0">
              <a:solidFill>
                <a:schemeClr val="bg1">
                  <a:lumMod val="50000"/>
                </a:schemeClr>
              </a:solidFill>
              <a:sym typeface="Huawei Sans" panose="020C0503030203020204" pitchFamily="34" charset="0"/>
            </a:endParaRPr>
          </a:p>
          <a:p>
            <a:r>
              <a:rPr lang="en-US" altLang="zh-CN" dirty="0">
                <a:solidFill>
                  <a:schemeClr val="bg1">
                    <a:lumMod val="50000"/>
                  </a:schemeClr>
                </a:solidFill>
                <a:sym typeface="Huawei Sans" panose="020C0503030203020204" pitchFamily="34" charset="0"/>
              </a:rPr>
              <a:t>VXLAN</a:t>
            </a:r>
            <a:r>
              <a:rPr lang="zh-CN" altLang="en-US" dirty="0">
                <a:solidFill>
                  <a:schemeClr val="bg1">
                    <a:lumMod val="50000"/>
                  </a:schemeClr>
                </a:solidFill>
                <a:sym typeface="Huawei Sans" panose="020C0503030203020204" pitchFamily="34" charset="0"/>
              </a:rPr>
              <a:t>的基本概念及工作原理</a:t>
            </a:r>
            <a:endParaRPr lang="en-US" altLang="zh-CN" dirty="0">
              <a:solidFill>
                <a:schemeClr val="bg1">
                  <a:lumMod val="50000"/>
                </a:schemeClr>
              </a:solidFill>
              <a:sym typeface="Huawei Sans" panose="020C0503030203020204" pitchFamily="34" charset="0"/>
            </a:endParaRPr>
          </a:p>
          <a:p>
            <a:r>
              <a:rPr lang="en-US" altLang="zh-CN" dirty="0">
                <a:solidFill>
                  <a:schemeClr val="bg1">
                    <a:lumMod val="50000"/>
                  </a:schemeClr>
                </a:solidFill>
                <a:sym typeface="Huawei Sans" panose="020C0503030203020204" pitchFamily="34" charset="0"/>
              </a:rPr>
              <a:t>BGP EVPN</a:t>
            </a:r>
            <a:r>
              <a:rPr lang="zh-CN" altLang="en-US" dirty="0">
                <a:solidFill>
                  <a:schemeClr val="bg1">
                    <a:lumMod val="50000"/>
                  </a:schemeClr>
                </a:solidFill>
                <a:sym typeface="Huawei Sans" panose="020C0503030203020204" pitchFamily="34" charset="0"/>
              </a:rPr>
              <a:t>概述</a:t>
            </a:r>
            <a:endParaRPr lang="en-US" altLang="zh-CN" dirty="0">
              <a:solidFill>
                <a:schemeClr val="bg1">
                  <a:lumMod val="50000"/>
                </a:schemeClr>
              </a:solidFill>
              <a:sym typeface="Huawei Sans" panose="020C0503030203020204" pitchFamily="34" charset="0"/>
            </a:endParaRPr>
          </a:p>
          <a:p>
            <a:r>
              <a:rPr lang="zh-CN" altLang="en-US" b="1" dirty="0">
                <a:sym typeface="Huawei Sans" panose="020C0503030203020204" pitchFamily="34" charset="0"/>
              </a:rPr>
              <a:t>园区网络虚拟化</a:t>
            </a:r>
          </a:p>
        </p:txBody>
      </p:sp>
    </p:spTree>
    <p:extLst>
      <p:ext uri="{BB962C8B-B14F-4D97-AF65-F5344CB8AC3E}">
        <p14:creationId xmlns:p14="http://schemas.microsoft.com/office/powerpoint/2010/main" val="20799210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a:sym typeface="Huawei Sans" panose="020C0503030203020204" pitchFamily="34" charset="0"/>
              </a:rPr>
              <a:t>VXLAN</a:t>
            </a:r>
            <a:r>
              <a:rPr lang="zh-CN" altLang="en-US">
                <a:sym typeface="Huawei Sans" panose="020C0503030203020204" pitchFamily="34" charset="0"/>
              </a:rPr>
              <a:t>虚拟园区网络层次及概念</a:t>
            </a:r>
            <a:endParaRPr lang="zh-CN" altLang="en-US" dirty="0">
              <a:sym typeface="Huawei Sans" panose="020C0503030203020204" pitchFamily="34" charset="0"/>
            </a:endParaRPr>
          </a:p>
        </p:txBody>
      </p:sp>
      <p:grpSp>
        <p:nvGrpSpPr>
          <p:cNvPr id="65" name="组合 64"/>
          <p:cNvGrpSpPr/>
          <p:nvPr/>
        </p:nvGrpSpPr>
        <p:grpSpPr bwMode="gray">
          <a:xfrm>
            <a:off x="772721" y="1224990"/>
            <a:ext cx="6050762" cy="2092210"/>
            <a:chOff x="657393" y="1224990"/>
            <a:chExt cx="6050762" cy="2092210"/>
          </a:xfrm>
        </p:grpSpPr>
        <p:sp>
          <p:nvSpPr>
            <p:cNvPr id="3" name="梯形 2"/>
            <p:cNvSpPr/>
            <p:nvPr/>
          </p:nvSpPr>
          <p:spPr bwMode="gray">
            <a:xfrm>
              <a:off x="657393" y="1224990"/>
              <a:ext cx="6050762" cy="1685757"/>
            </a:xfrm>
            <a:prstGeom prst="trapezoid">
              <a:avLst>
                <a:gd name="adj" fmla="val 22961"/>
              </a:avLst>
            </a:prstGeom>
            <a:gradFill flip="none" rotWithShape="1">
              <a:gsLst>
                <a:gs pos="0">
                  <a:schemeClr val="bg1"/>
                </a:gs>
                <a:gs pos="100000">
                  <a:srgbClr val="BEE9EE"/>
                </a:gs>
              </a:gsLst>
              <a:lin ang="5400000" scaled="1"/>
            </a:gradFill>
            <a:ln>
              <a:gradFill flip="none" rotWithShape="1">
                <a:gsLst>
                  <a:gs pos="0">
                    <a:schemeClr val="accent1">
                      <a:lumMod val="5000"/>
                      <a:lumOff val="95000"/>
                    </a:schemeClr>
                  </a:gs>
                  <a:gs pos="82000">
                    <a:srgbClr val="30B5C5"/>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梯形 3"/>
            <p:cNvSpPr/>
            <p:nvPr/>
          </p:nvSpPr>
          <p:spPr bwMode="gray">
            <a:xfrm>
              <a:off x="931069" y="1273160"/>
              <a:ext cx="1790622" cy="1209870"/>
            </a:xfrm>
            <a:prstGeom prst="trapezoid">
              <a:avLst>
                <a:gd name="adj" fmla="val 22668"/>
              </a:avLst>
            </a:prstGeom>
            <a:gradFill flip="none" rotWithShape="1">
              <a:gsLst>
                <a:gs pos="0">
                  <a:schemeClr val="bg1"/>
                </a:gs>
                <a:gs pos="100000">
                  <a:srgbClr val="56C4D2"/>
                </a:gs>
              </a:gsLst>
              <a:lin ang="5400000" scaled="1"/>
            </a:gradFill>
            <a:ln>
              <a:gradFill flip="none" rotWithShape="1">
                <a:gsLst>
                  <a:gs pos="0">
                    <a:schemeClr val="accent1">
                      <a:lumMod val="5000"/>
                      <a:lumOff val="95000"/>
                    </a:schemeClr>
                  </a:gs>
                  <a:gs pos="82000">
                    <a:srgbClr val="30B5C5"/>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矩形 17"/>
            <p:cNvSpPr/>
            <p:nvPr/>
          </p:nvSpPr>
          <p:spPr bwMode="gray">
            <a:xfrm>
              <a:off x="768367" y="2550901"/>
              <a:ext cx="2277480" cy="305105"/>
            </a:xfrm>
            <a:prstGeom prst="rect">
              <a:avLst/>
            </a:prstGeom>
          </p:spPr>
          <p:txBody>
            <a:bodyPr wrap="square">
              <a:noAutofit/>
            </a:bodyPr>
            <a:lstStyle/>
            <a:p>
              <a:pPr fontAlgn="ct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Overlay</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（虚拟网络层）</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矩形 32"/>
            <p:cNvSpPr/>
            <p:nvPr/>
          </p:nvSpPr>
          <p:spPr bwMode="gray">
            <a:xfrm>
              <a:off x="3556196" y="3012095"/>
              <a:ext cx="903164" cy="305105"/>
            </a:xfrm>
            <a:prstGeom prst="rect">
              <a:avLst/>
            </a:prstGeom>
          </p:spPr>
          <p:txBody>
            <a:bodyPr wrap="square">
              <a:noAutofit/>
            </a:bodyPr>
            <a:lstStyle/>
            <a:p>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Edge</a:t>
              </a:r>
            </a:p>
          </p:txBody>
        </p:sp>
        <p:sp>
          <p:nvSpPr>
            <p:cNvPr id="34" name="矩形 33"/>
            <p:cNvSpPr/>
            <p:nvPr/>
          </p:nvSpPr>
          <p:spPr bwMode="gray">
            <a:xfrm>
              <a:off x="4851581" y="3012095"/>
              <a:ext cx="1000845" cy="305105"/>
            </a:xfrm>
            <a:prstGeom prst="rect">
              <a:avLst/>
            </a:prstGeom>
          </p:spPr>
          <p:txBody>
            <a:bodyPr wrap="square">
              <a:noAutofit/>
            </a:bodyPr>
            <a:lstStyle/>
            <a:p>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Access</a:t>
              </a:r>
            </a:p>
          </p:txBody>
        </p:sp>
        <p:grpSp>
          <p:nvGrpSpPr>
            <p:cNvPr id="36" name="组合 35"/>
            <p:cNvGrpSpPr/>
            <p:nvPr/>
          </p:nvGrpSpPr>
          <p:grpSpPr bwMode="gray">
            <a:xfrm>
              <a:off x="1366961" y="1479229"/>
              <a:ext cx="556773" cy="629606"/>
              <a:chOff x="7493567" y="5008689"/>
              <a:chExt cx="1283264" cy="956570"/>
            </a:xfrm>
          </p:grpSpPr>
          <p:cxnSp>
            <p:nvCxnSpPr>
              <p:cNvPr id="37" name="直接连接符 36"/>
              <p:cNvCxnSpPr/>
              <p:nvPr/>
            </p:nvCxnSpPr>
            <p:spPr bwMode="gray">
              <a:xfrm flipH="1" flipV="1">
                <a:off x="7493567" y="5598789"/>
                <a:ext cx="1283264" cy="36647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bwMode="gray">
              <a:xfrm flipH="1">
                <a:off x="7588319" y="5008689"/>
                <a:ext cx="847863" cy="456494"/>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39" name="直接连接符 38"/>
            <p:cNvCxnSpPr>
              <a:stCxn id="42" idx="3"/>
              <a:endCxn id="43" idx="1"/>
            </p:cNvCxnSpPr>
            <p:nvPr/>
          </p:nvCxnSpPr>
          <p:spPr bwMode="gray">
            <a:xfrm>
              <a:off x="2017650" y="2125778"/>
              <a:ext cx="241810"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41" idx="3"/>
              <a:endCxn id="44" idx="1"/>
            </p:cNvCxnSpPr>
            <p:nvPr/>
          </p:nvCxnSpPr>
          <p:spPr bwMode="gray">
            <a:xfrm>
              <a:off x="1838256" y="1520298"/>
              <a:ext cx="242904"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41" name="图片 87" descr="汇聚交换机.png"/>
            <p:cNvPicPr>
              <a:picLocks noChangeAspect="1"/>
            </p:cNvPicPr>
            <p:nvPr/>
          </p:nvPicPr>
          <p:blipFill>
            <a:blip r:embed="rId3"/>
            <a:stretch>
              <a:fillRect/>
            </a:stretch>
          </p:blipFill>
          <p:spPr bwMode="gray">
            <a:xfrm>
              <a:off x="1603687" y="1424337"/>
              <a:ext cx="234569" cy="191922"/>
            </a:xfrm>
            <a:prstGeom prst="rect">
              <a:avLst/>
            </a:prstGeom>
          </p:spPr>
        </p:pic>
        <p:pic>
          <p:nvPicPr>
            <p:cNvPr id="42" name="图片 87" descr="汇聚交换机.png"/>
            <p:cNvPicPr>
              <a:picLocks noChangeAspect="1"/>
            </p:cNvPicPr>
            <p:nvPr/>
          </p:nvPicPr>
          <p:blipFill>
            <a:blip r:embed="rId3"/>
            <a:stretch>
              <a:fillRect/>
            </a:stretch>
          </p:blipFill>
          <p:spPr bwMode="gray">
            <a:xfrm>
              <a:off x="1783081" y="2029817"/>
              <a:ext cx="234569" cy="191922"/>
            </a:xfrm>
            <a:prstGeom prst="rect">
              <a:avLst/>
            </a:prstGeom>
          </p:spPr>
        </p:pic>
        <p:pic>
          <p:nvPicPr>
            <p:cNvPr id="43" name="图片 76" descr="接入交换机.png"/>
            <p:cNvPicPr>
              <a:picLocks noChangeAspect="1"/>
            </p:cNvPicPr>
            <p:nvPr/>
          </p:nvPicPr>
          <p:blipFill>
            <a:blip r:embed="rId4"/>
            <a:stretch>
              <a:fillRect/>
            </a:stretch>
          </p:blipFill>
          <p:spPr bwMode="gray">
            <a:xfrm>
              <a:off x="2259460" y="2029817"/>
              <a:ext cx="234569" cy="191922"/>
            </a:xfrm>
            <a:prstGeom prst="rect">
              <a:avLst/>
            </a:prstGeom>
          </p:spPr>
        </p:pic>
        <p:pic>
          <p:nvPicPr>
            <p:cNvPr id="44" name="图片 43" descr="接入交换机.png"/>
            <p:cNvPicPr>
              <a:picLocks noChangeAspect="1"/>
            </p:cNvPicPr>
            <p:nvPr/>
          </p:nvPicPr>
          <p:blipFill>
            <a:blip r:embed="rId4"/>
            <a:stretch>
              <a:fillRect/>
            </a:stretch>
          </p:blipFill>
          <p:spPr bwMode="gray">
            <a:xfrm>
              <a:off x="2081160" y="1424337"/>
              <a:ext cx="234569" cy="191922"/>
            </a:xfrm>
            <a:prstGeom prst="rect">
              <a:avLst/>
            </a:prstGeom>
          </p:spPr>
        </p:pic>
        <p:pic>
          <p:nvPicPr>
            <p:cNvPr id="45" name="图片 86" descr="核心交换机.png"/>
            <p:cNvPicPr>
              <a:picLocks noChangeAspect="1"/>
            </p:cNvPicPr>
            <p:nvPr/>
          </p:nvPicPr>
          <p:blipFill>
            <a:blip r:embed="rId5"/>
            <a:stretch>
              <a:fillRect/>
            </a:stretch>
          </p:blipFill>
          <p:spPr bwMode="gray">
            <a:xfrm>
              <a:off x="1220758" y="1741487"/>
              <a:ext cx="234569" cy="191922"/>
            </a:xfrm>
            <a:prstGeom prst="rect">
              <a:avLst/>
            </a:prstGeom>
          </p:spPr>
        </p:pic>
        <p:sp>
          <p:nvSpPr>
            <p:cNvPr id="46" name="矩形 45"/>
            <p:cNvSpPr/>
            <p:nvPr/>
          </p:nvSpPr>
          <p:spPr bwMode="gray">
            <a:xfrm>
              <a:off x="954138" y="2212014"/>
              <a:ext cx="1744485" cy="274594"/>
            </a:xfrm>
            <a:prstGeom prst="rect">
              <a:avLst/>
            </a:prstGeom>
          </p:spPr>
          <p:txBody>
            <a:bodyPr wrap="square">
              <a:noAutofit/>
            </a:bodyPr>
            <a:lstStyle/>
            <a:p>
              <a:pPr algn="ctr" fontAlgn="ct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虚拟网络</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a:t>
              </a:r>
            </a:p>
          </p:txBody>
        </p:sp>
        <p:sp>
          <p:nvSpPr>
            <p:cNvPr id="47" name="梯形 46"/>
            <p:cNvSpPr/>
            <p:nvPr/>
          </p:nvSpPr>
          <p:spPr bwMode="gray">
            <a:xfrm>
              <a:off x="2803976" y="1273160"/>
              <a:ext cx="1790622" cy="1209870"/>
            </a:xfrm>
            <a:prstGeom prst="trapezoid">
              <a:avLst>
                <a:gd name="adj" fmla="val 22668"/>
              </a:avLst>
            </a:prstGeom>
            <a:gradFill flip="none" rotWithShape="1">
              <a:gsLst>
                <a:gs pos="0">
                  <a:schemeClr val="bg1"/>
                </a:gs>
                <a:gs pos="100000">
                  <a:srgbClr val="56C4D2"/>
                </a:gs>
              </a:gsLst>
              <a:lin ang="5400000" scaled="1"/>
            </a:gradFill>
            <a:ln>
              <a:gradFill flip="none" rotWithShape="1">
                <a:gsLst>
                  <a:gs pos="0">
                    <a:schemeClr val="accent1">
                      <a:lumMod val="5000"/>
                      <a:lumOff val="95000"/>
                    </a:schemeClr>
                  </a:gs>
                  <a:gs pos="82000">
                    <a:srgbClr val="30B5C5"/>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8" name="直接连接符 47"/>
            <p:cNvCxnSpPr/>
            <p:nvPr/>
          </p:nvCxnSpPr>
          <p:spPr bwMode="gray">
            <a:xfrm flipH="1">
              <a:off x="3280974" y="1479225"/>
              <a:ext cx="367864" cy="30046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50" idx="3"/>
              <a:endCxn id="51" idx="1"/>
            </p:cNvCxnSpPr>
            <p:nvPr/>
          </p:nvCxnSpPr>
          <p:spPr bwMode="gray">
            <a:xfrm>
              <a:off x="3711163" y="1520298"/>
              <a:ext cx="242904"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50" name="图片 87" descr="汇聚交换机.png"/>
            <p:cNvPicPr>
              <a:picLocks noChangeAspect="1"/>
            </p:cNvPicPr>
            <p:nvPr/>
          </p:nvPicPr>
          <p:blipFill>
            <a:blip r:embed="rId3"/>
            <a:stretch>
              <a:fillRect/>
            </a:stretch>
          </p:blipFill>
          <p:spPr bwMode="gray">
            <a:xfrm>
              <a:off x="3476594" y="1424337"/>
              <a:ext cx="234569" cy="191922"/>
            </a:xfrm>
            <a:prstGeom prst="rect">
              <a:avLst/>
            </a:prstGeom>
          </p:spPr>
        </p:pic>
        <p:pic>
          <p:nvPicPr>
            <p:cNvPr id="51" name="图片 50" descr="接入交换机.png"/>
            <p:cNvPicPr>
              <a:picLocks noChangeAspect="1"/>
            </p:cNvPicPr>
            <p:nvPr/>
          </p:nvPicPr>
          <p:blipFill>
            <a:blip r:embed="rId4"/>
            <a:stretch>
              <a:fillRect/>
            </a:stretch>
          </p:blipFill>
          <p:spPr bwMode="gray">
            <a:xfrm>
              <a:off x="3954067" y="1424337"/>
              <a:ext cx="234569" cy="191922"/>
            </a:xfrm>
            <a:prstGeom prst="rect">
              <a:avLst/>
            </a:prstGeom>
          </p:spPr>
        </p:pic>
        <p:pic>
          <p:nvPicPr>
            <p:cNvPr id="52" name="图片 86" descr="核心交换机.png"/>
            <p:cNvPicPr>
              <a:picLocks noChangeAspect="1"/>
            </p:cNvPicPr>
            <p:nvPr/>
          </p:nvPicPr>
          <p:blipFill>
            <a:blip r:embed="rId5"/>
            <a:stretch>
              <a:fillRect/>
            </a:stretch>
          </p:blipFill>
          <p:spPr bwMode="gray">
            <a:xfrm>
              <a:off x="3093665" y="1741487"/>
              <a:ext cx="234569" cy="191922"/>
            </a:xfrm>
            <a:prstGeom prst="rect">
              <a:avLst/>
            </a:prstGeom>
          </p:spPr>
        </p:pic>
        <p:sp>
          <p:nvSpPr>
            <p:cNvPr id="53" name="矩形 52"/>
            <p:cNvSpPr/>
            <p:nvPr/>
          </p:nvSpPr>
          <p:spPr bwMode="gray">
            <a:xfrm>
              <a:off x="2827045" y="2212014"/>
              <a:ext cx="1744485" cy="274594"/>
            </a:xfrm>
            <a:prstGeom prst="rect">
              <a:avLst/>
            </a:prstGeom>
          </p:spPr>
          <p:txBody>
            <a:bodyPr wrap="square">
              <a:noAutofit/>
            </a:bodyPr>
            <a:lstStyle/>
            <a:p>
              <a:pPr algn="ctr" fontAlgn="ct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虚拟网络</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a:t>
              </a:r>
            </a:p>
          </p:txBody>
        </p:sp>
        <p:sp>
          <p:nvSpPr>
            <p:cNvPr id="54" name="梯形 53"/>
            <p:cNvSpPr/>
            <p:nvPr/>
          </p:nvSpPr>
          <p:spPr bwMode="gray">
            <a:xfrm>
              <a:off x="4690895" y="1273160"/>
              <a:ext cx="1790622" cy="1209870"/>
            </a:xfrm>
            <a:prstGeom prst="trapezoid">
              <a:avLst>
                <a:gd name="adj" fmla="val 22668"/>
              </a:avLst>
            </a:prstGeom>
            <a:gradFill flip="none" rotWithShape="1">
              <a:gsLst>
                <a:gs pos="0">
                  <a:schemeClr val="bg1"/>
                </a:gs>
                <a:gs pos="100000">
                  <a:srgbClr val="56C4D2"/>
                </a:gs>
              </a:gsLst>
              <a:lin ang="5400000" scaled="1"/>
            </a:gradFill>
            <a:ln>
              <a:gradFill flip="none" rotWithShape="1">
                <a:gsLst>
                  <a:gs pos="0">
                    <a:schemeClr val="accent1">
                      <a:lumMod val="5000"/>
                      <a:lumOff val="95000"/>
                    </a:schemeClr>
                  </a:gs>
                  <a:gs pos="82000">
                    <a:srgbClr val="30B5C5"/>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5" name="直接连接符 54"/>
            <p:cNvCxnSpPr/>
            <p:nvPr/>
          </p:nvCxnSpPr>
          <p:spPr bwMode="gray">
            <a:xfrm flipH="1" flipV="1">
              <a:off x="5126787" y="1867622"/>
              <a:ext cx="556773" cy="241207"/>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a:stCxn id="57" idx="3"/>
              <a:endCxn id="58" idx="1"/>
            </p:cNvCxnSpPr>
            <p:nvPr/>
          </p:nvCxnSpPr>
          <p:spPr bwMode="gray">
            <a:xfrm>
              <a:off x="5777476" y="2125778"/>
              <a:ext cx="241810"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57" name="图片 87" descr="汇聚交换机.png"/>
            <p:cNvPicPr>
              <a:picLocks noChangeAspect="1"/>
            </p:cNvPicPr>
            <p:nvPr/>
          </p:nvPicPr>
          <p:blipFill>
            <a:blip r:embed="rId3"/>
            <a:stretch>
              <a:fillRect/>
            </a:stretch>
          </p:blipFill>
          <p:spPr bwMode="gray">
            <a:xfrm>
              <a:off x="5542907" y="2029817"/>
              <a:ext cx="234569" cy="191922"/>
            </a:xfrm>
            <a:prstGeom prst="rect">
              <a:avLst/>
            </a:prstGeom>
          </p:spPr>
        </p:pic>
        <p:pic>
          <p:nvPicPr>
            <p:cNvPr id="58" name="图片 76" descr="接入交换机.png"/>
            <p:cNvPicPr>
              <a:picLocks noChangeAspect="1"/>
            </p:cNvPicPr>
            <p:nvPr/>
          </p:nvPicPr>
          <p:blipFill>
            <a:blip r:embed="rId4"/>
            <a:stretch>
              <a:fillRect/>
            </a:stretch>
          </p:blipFill>
          <p:spPr bwMode="gray">
            <a:xfrm>
              <a:off x="6019286" y="2029817"/>
              <a:ext cx="234569" cy="191922"/>
            </a:xfrm>
            <a:prstGeom prst="rect">
              <a:avLst/>
            </a:prstGeom>
          </p:spPr>
        </p:pic>
        <p:pic>
          <p:nvPicPr>
            <p:cNvPr id="59" name="图片 86" descr="核心交换机.png"/>
            <p:cNvPicPr>
              <a:picLocks noChangeAspect="1"/>
            </p:cNvPicPr>
            <p:nvPr/>
          </p:nvPicPr>
          <p:blipFill>
            <a:blip r:embed="rId5"/>
            <a:stretch>
              <a:fillRect/>
            </a:stretch>
          </p:blipFill>
          <p:spPr bwMode="gray">
            <a:xfrm>
              <a:off x="4980584" y="1741487"/>
              <a:ext cx="234569" cy="191922"/>
            </a:xfrm>
            <a:prstGeom prst="rect">
              <a:avLst/>
            </a:prstGeom>
          </p:spPr>
        </p:pic>
        <p:sp>
          <p:nvSpPr>
            <p:cNvPr id="60" name="矩形 59"/>
            <p:cNvSpPr/>
            <p:nvPr/>
          </p:nvSpPr>
          <p:spPr bwMode="gray">
            <a:xfrm>
              <a:off x="4713964" y="2212014"/>
              <a:ext cx="1744485" cy="274594"/>
            </a:xfrm>
            <a:prstGeom prst="rect">
              <a:avLst/>
            </a:prstGeom>
          </p:spPr>
          <p:txBody>
            <a:bodyPr wrap="square">
              <a:noAutofit/>
            </a:bodyPr>
            <a:lstStyle/>
            <a:p>
              <a:pPr algn="ctr" fontAlgn="ct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虚拟网络</a:t>
              </a: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3</a:t>
              </a:r>
            </a:p>
          </p:txBody>
        </p:sp>
      </p:grpSp>
      <p:grpSp>
        <p:nvGrpSpPr>
          <p:cNvPr id="68" name="组合 67"/>
          <p:cNvGrpSpPr/>
          <p:nvPr/>
        </p:nvGrpSpPr>
        <p:grpSpPr bwMode="gray">
          <a:xfrm>
            <a:off x="738785" y="4462476"/>
            <a:ext cx="6050762" cy="1685757"/>
            <a:chOff x="657393" y="4595826"/>
            <a:chExt cx="6050762" cy="1685757"/>
          </a:xfrm>
        </p:grpSpPr>
        <p:sp>
          <p:nvSpPr>
            <p:cNvPr id="5" name="梯形 4"/>
            <p:cNvSpPr/>
            <p:nvPr/>
          </p:nvSpPr>
          <p:spPr bwMode="gray">
            <a:xfrm>
              <a:off x="657393" y="4595826"/>
              <a:ext cx="6050762" cy="1685757"/>
            </a:xfrm>
            <a:prstGeom prst="trapezoid">
              <a:avLst>
                <a:gd name="adj" fmla="val 22961"/>
              </a:avLst>
            </a:prstGeom>
            <a:gradFill flip="none" rotWithShape="1">
              <a:gsLst>
                <a:gs pos="0">
                  <a:schemeClr val="bg1"/>
                </a:gs>
                <a:gs pos="100000">
                  <a:srgbClr val="BEE9EE"/>
                </a:gs>
              </a:gsLst>
              <a:lin ang="5400000" scaled="1"/>
            </a:gradFill>
            <a:ln>
              <a:gradFill flip="none" rotWithShape="1">
                <a:gsLst>
                  <a:gs pos="0">
                    <a:schemeClr val="accent1">
                      <a:lumMod val="5000"/>
                      <a:lumOff val="95000"/>
                    </a:schemeClr>
                  </a:gs>
                  <a:gs pos="82000">
                    <a:srgbClr val="30B5C5"/>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 name="直接连接符 6"/>
            <p:cNvCxnSpPr/>
            <p:nvPr/>
          </p:nvCxnSpPr>
          <p:spPr bwMode="gray">
            <a:xfrm flipH="1" flipV="1">
              <a:off x="2938602" y="5495388"/>
              <a:ext cx="1283264" cy="36647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bwMode="gray">
            <a:xfrm flipH="1">
              <a:off x="2964441" y="4956948"/>
              <a:ext cx="1025914" cy="552357"/>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bwMode="gray">
            <a:xfrm flipV="1">
              <a:off x="3798102" y="5025688"/>
              <a:ext cx="2450448" cy="839468"/>
              <a:chOff x="3911288" y="4456131"/>
              <a:chExt cx="2450448" cy="674979"/>
            </a:xfrm>
          </p:grpSpPr>
          <p:cxnSp>
            <p:nvCxnSpPr>
              <p:cNvPr id="10" name="直接连接符 9"/>
              <p:cNvCxnSpPr/>
              <p:nvPr/>
            </p:nvCxnSpPr>
            <p:spPr bwMode="gray">
              <a:xfrm>
                <a:off x="4393093" y="4456131"/>
                <a:ext cx="1323508"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gray">
              <a:xfrm flipV="1">
                <a:off x="3911288" y="5131110"/>
                <a:ext cx="1582732"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gray">
              <a:xfrm>
                <a:off x="5800440" y="4456131"/>
                <a:ext cx="561296"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13" name="图片 87" descr="汇聚交换机.png"/>
            <p:cNvPicPr>
              <a:picLocks noChangeAspect="1"/>
            </p:cNvPicPr>
            <p:nvPr/>
          </p:nvPicPr>
          <p:blipFill>
            <a:blip r:embed="rId3"/>
            <a:stretch>
              <a:fillRect/>
            </a:stretch>
          </p:blipFill>
          <p:spPr bwMode="gray">
            <a:xfrm>
              <a:off x="3675899" y="4916014"/>
              <a:ext cx="343433" cy="280992"/>
            </a:xfrm>
            <a:prstGeom prst="rect">
              <a:avLst/>
            </a:prstGeom>
          </p:spPr>
        </p:pic>
        <p:pic>
          <p:nvPicPr>
            <p:cNvPr id="14" name="图片 87" descr="汇聚交换机.png"/>
            <p:cNvPicPr>
              <a:picLocks noChangeAspect="1"/>
            </p:cNvPicPr>
            <p:nvPr/>
          </p:nvPicPr>
          <p:blipFill>
            <a:blip r:embed="rId3"/>
            <a:stretch>
              <a:fillRect/>
            </a:stretch>
          </p:blipFill>
          <p:spPr bwMode="gray">
            <a:xfrm>
              <a:off x="4020426" y="5711482"/>
              <a:ext cx="343433" cy="280992"/>
            </a:xfrm>
            <a:prstGeom prst="rect">
              <a:avLst/>
            </a:prstGeom>
          </p:spPr>
        </p:pic>
        <p:pic>
          <p:nvPicPr>
            <p:cNvPr id="15" name="图片 76" descr="接入交换机.png"/>
            <p:cNvPicPr>
              <a:picLocks noChangeAspect="1"/>
            </p:cNvPicPr>
            <p:nvPr/>
          </p:nvPicPr>
          <p:blipFill>
            <a:blip r:embed="rId4"/>
            <a:stretch>
              <a:fillRect/>
            </a:stretch>
          </p:blipFill>
          <p:spPr bwMode="gray">
            <a:xfrm>
              <a:off x="5454631" y="5711482"/>
              <a:ext cx="343433" cy="280992"/>
            </a:xfrm>
            <a:prstGeom prst="rect">
              <a:avLst/>
            </a:prstGeom>
          </p:spPr>
        </p:pic>
        <p:pic>
          <p:nvPicPr>
            <p:cNvPr id="16" name="图片 15" descr="接入交换机.png"/>
            <p:cNvPicPr>
              <a:picLocks noChangeAspect="1"/>
            </p:cNvPicPr>
            <p:nvPr/>
          </p:nvPicPr>
          <p:blipFill>
            <a:blip r:embed="rId4"/>
            <a:stretch>
              <a:fillRect/>
            </a:stretch>
          </p:blipFill>
          <p:spPr bwMode="gray">
            <a:xfrm>
              <a:off x="5111198" y="4916014"/>
              <a:ext cx="343433" cy="280992"/>
            </a:xfrm>
            <a:prstGeom prst="rect">
              <a:avLst/>
            </a:prstGeom>
          </p:spPr>
        </p:pic>
        <p:pic>
          <p:nvPicPr>
            <p:cNvPr id="17" name="图片 86" descr="核心交换机.png"/>
            <p:cNvPicPr>
              <a:picLocks noChangeAspect="1"/>
            </p:cNvPicPr>
            <p:nvPr/>
          </p:nvPicPr>
          <p:blipFill>
            <a:blip r:embed="rId5"/>
            <a:stretch>
              <a:fillRect/>
            </a:stretch>
          </p:blipFill>
          <p:spPr bwMode="gray">
            <a:xfrm>
              <a:off x="2787042" y="5358894"/>
              <a:ext cx="343433" cy="280992"/>
            </a:xfrm>
            <a:prstGeom prst="rect">
              <a:avLst/>
            </a:prstGeom>
          </p:spPr>
        </p:pic>
        <p:sp>
          <p:nvSpPr>
            <p:cNvPr id="19" name="矩形 18"/>
            <p:cNvSpPr/>
            <p:nvPr/>
          </p:nvSpPr>
          <p:spPr bwMode="gray">
            <a:xfrm>
              <a:off x="768367" y="5935649"/>
              <a:ext cx="2968733" cy="305105"/>
            </a:xfrm>
            <a:prstGeom prst="rect">
              <a:avLst/>
            </a:prstGeom>
          </p:spPr>
          <p:txBody>
            <a:bodyPr wrap="square">
              <a:noAutofit/>
            </a:bodyPr>
            <a:lstStyle/>
            <a:p>
              <a:pPr fontAlgn="ct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（物理网络层）</a:t>
              </a:r>
            </a:p>
          </p:txBody>
        </p:sp>
        <p:pic>
          <p:nvPicPr>
            <p:cNvPr id="61" name="图片 105" descr="AP.png"/>
            <p:cNvPicPr>
              <a:picLocks noChangeAspect="1"/>
            </p:cNvPicPr>
            <p:nvPr/>
          </p:nvPicPr>
          <p:blipFill>
            <a:blip r:embed="rId6"/>
            <a:stretch>
              <a:fillRect/>
            </a:stretch>
          </p:blipFill>
          <p:spPr bwMode="gray">
            <a:xfrm>
              <a:off x="6129455" y="5714811"/>
              <a:ext cx="335297" cy="274335"/>
            </a:xfrm>
            <a:prstGeom prst="rect">
              <a:avLst/>
            </a:prstGeom>
          </p:spPr>
        </p:pic>
      </p:grpSp>
      <p:grpSp>
        <p:nvGrpSpPr>
          <p:cNvPr id="66" name="组合 65"/>
          <p:cNvGrpSpPr/>
          <p:nvPr/>
        </p:nvGrpSpPr>
        <p:grpSpPr bwMode="gray">
          <a:xfrm>
            <a:off x="772721" y="2963803"/>
            <a:ext cx="6050762" cy="1685757"/>
            <a:chOff x="657393" y="3020953"/>
            <a:chExt cx="6050762" cy="1685757"/>
          </a:xfrm>
        </p:grpSpPr>
        <p:sp>
          <p:nvSpPr>
            <p:cNvPr id="6" name="梯形 5"/>
            <p:cNvSpPr/>
            <p:nvPr/>
          </p:nvSpPr>
          <p:spPr bwMode="gray">
            <a:xfrm>
              <a:off x="657393" y="3020953"/>
              <a:ext cx="6050762" cy="1685757"/>
            </a:xfrm>
            <a:prstGeom prst="trapezoid">
              <a:avLst>
                <a:gd name="adj" fmla="val 22961"/>
              </a:avLst>
            </a:prstGeom>
            <a:gradFill flip="none" rotWithShape="1">
              <a:gsLst>
                <a:gs pos="0">
                  <a:schemeClr val="bg1"/>
                </a:gs>
                <a:gs pos="100000">
                  <a:srgbClr val="BEE9EE"/>
                </a:gs>
              </a:gsLst>
              <a:lin ang="5400000" scaled="1"/>
            </a:gradFill>
            <a:ln>
              <a:gradFill flip="none" rotWithShape="1">
                <a:gsLst>
                  <a:gs pos="0">
                    <a:schemeClr val="accent1">
                      <a:lumMod val="5000"/>
                      <a:lumOff val="95000"/>
                    </a:schemeClr>
                  </a:gs>
                  <a:gs pos="82000">
                    <a:srgbClr val="30B5C5"/>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en-US" altLang="zh-CN"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矩形 19"/>
            <p:cNvSpPr/>
            <p:nvPr/>
          </p:nvSpPr>
          <p:spPr bwMode="gray">
            <a:xfrm>
              <a:off x="768367" y="4328834"/>
              <a:ext cx="1031636" cy="305105"/>
            </a:xfrm>
            <a:prstGeom prst="rect">
              <a:avLst/>
            </a:prstGeom>
          </p:spPr>
          <p:txBody>
            <a:bodyPr wrap="square">
              <a:noAutofit/>
            </a:bodyPr>
            <a:lstStyle/>
            <a:p>
              <a:pPr fontAlgn="ct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Fabric</a:t>
              </a:r>
              <a:endPar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1" name="直接连接符 20"/>
            <p:cNvCxnSpPr/>
            <p:nvPr/>
          </p:nvCxnSpPr>
          <p:spPr bwMode="gray">
            <a:xfrm flipH="1" flipV="1">
              <a:off x="2938602" y="3892631"/>
              <a:ext cx="1283264" cy="36647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gray">
            <a:xfrm flipH="1">
              <a:off x="2964441" y="3354191"/>
              <a:ext cx="1025914" cy="552357"/>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23" name="组合 22"/>
            <p:cNvGrpSpPr/>
            <p:nvPr/>
          </p:nvGrpSpPr>
          <p:grpSpPr bwMode="gray">
            <a:xfrm flipV="1">
              <a:off x="3798102" y="3422923"/>
              <a:ext cx="2450448" cy="839469"/>
              <a:chOff x="3911288" y="4456131"/>
              <a:chExt cx="2450448" cy="674979"/>
            </a:xfrm>
          </p:grpSpPr>
          <p:cxnSp>
            <p:nvCxnSpPr>
              <p:cNvPr id="24" name="直接连接符 23"/>
              <p:cNvCxnSpPr/>
              <p:nvPr/>
            </p:nvCxnSpPr>
            <p:spPr bwMode="gray">
              <a:xfrm flipV="1">
                <a:off x="4393093" y="4456131"/>
                <a:ext cx="1968643"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bwMode="gray">
              <a:xfrm flipV="1">
                <a:off x="3911288" y="5131110"/>
                <a:ext cx="1582732"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26" name="图片 87" descr="汇聚交换机.png"/>
            <p:cNvPicPr>
              <a:picLocks noChangeAspect="1"/>
            </p:cNvPicPr>
            <p:nvPr/>
          </p:nvPicPr>
          <p:blipFill>
            <a:blip r:embed="rId3"/>
            <a:stretch>
              <a:fillRect/>
            </a:stretch>
          </p:blipFill>
          <p:spPr bwMode="gray">
            <a:xfrm>
              <a:off x="3675899" y="3313257"/>
              <a:ext cx="343433" cy="280992"/>
            </a:xfrm>
            <a:prstGeom prst="rect">
              <a:avLst/>
            </a:prstGeom>
          </p:spPr>
        </p:pic>
        <p:pic>
          <p:nvPicPr>
            <p:cNvPr id="27" name="图片 87" descr="汇聚交换机.png"/>
            <p:cNvPicPr>
              <a:picLocks noChangeAspect="1"/>
            </p:cNvPicPr>
            <p:nvPr/>
          </p:nvPicPr>
          <p:blipFill>
            <a:blip r:embed="rId3"/>
            <a:stretch>
              <a:fillRect/>
            </a:stretch>
          </p:blipFill>
          <p:spPr bwMode="gray">
            <a:xfrm>
              <a:off x="4020426" y="4108725"/>
              <a:ext cx="343433" cy="280992"/>
            </a:xfrm>
            <a:prstGeom prst="rect">
              <a:avLst/>
            </a:prstGeom>
          </p:spPr>
        </p:pic>
        <p:pic>
          <p:nvPicPr>
            <p:cNvPr id="28" name="图片 76" descr="接入交换机.png"/>
            <p:cNvPicPr>
              <a:picLocks noChangeAspect="1"/>
            </p:cNvPicPr>
            <p:nvPr/>
          </p:nvPicPr>
          <p:blipFill>
            <a:blip r:embed="rId4"/>
            <a:stretch>
              <a:fillRect/>
            </a:stretch>
          </p:blipFill>
          <p:spPr bwMode="gray">
            <a:xfrm>
              <a:off x="5454631" y="4108725"/>
              <a:ext cx="343433" cy="280992"/>
            </a:xfrm>
            <a:prstGeom prst="rect">
              <a:avLst/>
            </a:prstGeom>
          </p:spPr>
        </p:pic>
        <p:pic>
          <p:nvPicPr>
            <p:cNvPr id="29" name="图片 28" descr="接入交换机.png"/>
            <p:cNvPicPr>
              <a:picLocks noChangeAspect="1"/>
            </p:cNvPicPr>
            <p:nvPr/>
          </p:nvPicPr>
          <p:blipFill>
            <a:blip r:embed="rId4"/>
            <a:stretch>
              <a:fillRect/>
            </a:stretch>
          </p:blipFill>
          <p:spPr bwMode="gray">
            <a:xfrm>
              <a:off x="5111198" y="3313257"/>
              <a:ext cx="343433" cy="280992"/>
            </a:xfrm>
            <a:prstGeom prst="rect">
              <a:avLst/>
            </a:prstGeom>
          </p:spPr>
        </p:pic>
        <p:pic>
          <p:nvPicPr>
            <p:cNvPr id="30" name="图片 86" descr="核心交换机.png"/>
            <p:cNvPicPr>
              <a:picLocks noChangeAspect="1"/>
            </p:cNvPicPr>
            <p:nvPr/>
          </p:nvPicPr>
          <p:blipFill>
            <a:blip r:embed="rId5"/>
            <a:stretch>
              <a:fillRect/>
            </a:stretch>
          </p:blipFill>
          <p:spPr bwMode="gray">
            <a:xfrm>
              <a:off x="2787042" y="3756137"/>
              <a:ext cx="343433" cy="280992"/>
            </a:xfrm>
            <a:prstGeom prst="rect">
              <a:avLst/>
            </a:prstGeom>
          </p:spPr>
        </p:pic>
        <p:sp>
          <p:nvSpPr>
            <p:cNvPr id="31" name="矩形 30"/>
            <p:cNvSpPr/>
            <p:nvPr/>
          </p:nvSpPr>
          <p:spPr bwMode="gray">
            <a:xfrm>
              <a:off x="2587444" y="4053199"/>
              <a:ext cx="889150" cy="305105"/>
            </a:xfrm>
            <a:prstGeom prst="rect">
              <a:avLst/>
            </a:prstGeom>
          </p:spPr>
          <p:txBody>
            <a:bodyPr wrap="square">
              <a:noAutofit/>
            </a:bodyPr>
            <a:lstStyle/>
            <a:p>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Border</a:t>
              </a:r>
            </a:p>
          </p:txBody>
        </p:sp>
        <p:sp>
          <p:nvSpPr>
            <p:cNvPr id="32" name="矩形 31"/>
            <p:cNvSpPr/>
            <p:nvPr/>
          </p:nvSpPr>
          <p:spPr bwMode="gray">
            <a:xfrm>
              <a:off x="3920341" y="4383364"/>
              <a:ext cx="793623" cy="305105"/>
            </a:xfrm>
            <a:prstGeom prst="rect">
              <a:avLst/>
            </a:prstGeom>
          </p:spPr>
          <p:txBody>
            <a:bodyPr wrap="square">
              <a:noAutofit/>
            </a:bodyPr>
            <a:lstStyle/>
            <a:p>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Edge</a:t>
              </a:r>
            </a:p>
          </p:txBody>
        </p:sp>
        <p:sp>
          <p:nvSpPr>
            <p:cNvPr id="35" name="矩形 34"/>
            <p:cNvSpPr/>
            <p:nvPr/>
          </p:nvSpPr>
          <p:spPr bwMode="gray">
            <a:xfrm>
              <a:off x="5313407" y="4383364"/>
              <a:ext cx="816048" cy="305105"/>
            </a:xfrm>
            <a:prstGeom prst="rect">
              <a:avLst/>
            </a:prstGeom>
          </p:spPr>
          <p:txBody>
            <a:bodyPr wrap="square">
              <a:noAutofit/>
            </a:bodyPr>
            <a:lstStyle/>
            <a:p>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Access</a:t>
              </a:r>
            </a:p>
          </p:txBody>
        </p:sp>
        <p:pic>
          <p:nvPicPr>
            <p:cNvPr id="62" name="图片 105" descr="AP.png"/>
            <p:cNvPicPr>
              <a:picLocks noChangeAspect="1"/>
            </p:cNvPicPr>
            <p:nvPr/>
          </p:nvPicPr>
          <p:blipFill>
            <a:blip r:embed="rId6"/>
            <a:stretch>
              <a:fillRect/>
            </a:stretch>
          </p:blipFill>
          <p:spPr bwMode="gray">
            <a:xfrm>
              <a:off x="6129455" y="4115382"/>
              <a:ext cx="335297" cy="274335"/>
            </a:xfrm>
            <a:prstGeom prst="rect">
              <a:avLst/>
            </a:prstGeom>
          </p:spPr>
        </p:pic>
      </p:grpSp>
      <p:sp>
        <p:nvSpPr>
          <p:cNvPr id="63" name="矩形 62"/>
          <p:cNvSpPr/>
          <p:nvPr/>
        </p:nvSpPr>
        <p:spPr bwMode="gray">
          <a:xfrm>
            <a:off x="6901646" y="4986813"/>
            <a:ext cx="4558518" cy="1044984"/>
          </a:xfrm>
          <a:prstGeom prst="rect">
            <a:avLst/>
          </a:prstGeom>
        </p:spPr>
        <p:txBody>
          <a:bodyPr wrap="square">
            <a:noAutofit/>
          </a:bodyPr>
          <a:lstStyle/>
          <a:p>
            <a:pPr marL="285750" indent="-285750" algn="just">
              <a:lnSpc>
                <a:spcPts val="21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由物理设备建立的物理网络。</a:t>
            </a:r>
          </a:p>
          <a:p>
            <a:pPr marL="285750" indent="-285750" algn="just">
              <a:lnSpc>
                <a:spcPts val="21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为园区内所有业务提供互联互通能力。</a:t>
            </a:r>
          </a:p>
          <a:p>
            <a:pPr marL="285750" indent="-285750" algn="just">
              <a:lnSpc>
                <a:spcPts val="21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业务数据转发的基础承载网。</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矩形 66"/>
          <p:cNvSpPr/>
          <p:nvPr/>
        </p:nvSpPr>
        <p:spPr bwMode="gray">
          <a:xfrm>
            <a:off x="6901646" y="3689146"/>
            <a:ext cx="4558517" cy="728106"/>
          </a:xfrm>
          <a:prstGeom prst="rect">
            <a:avLst/>
          </a:prstGeom>
        </p:spPr>
        <p:txBody>
          <a:bodyPr wrap="square">
            <a:noAutofit/>
          </a:bodyPr>
          <a:lstStyle/>
          <a:p>
            <a:pPr marL="285750" indent="-285750" algn="just">
              <a:lnSpc>
                <a:spcPts val="21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通过虚拟化技术，构建基于任意物理拓扑的逻辑拓扑。</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gn="just">
              <a:lnSpc>
                <a:spcPts val="21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上创建业务网络，与物理网络解耦。</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矩形 68"/>
          <p:cNvSpPr/>
          <p:nvPr/>
        </p:nvSpPr>
        <p:spPr bwMode="gray">
          <a:xfrm>
            <a:off x="6901646" y="1958013"/>
            <a:ext cx="4558518" cy="707329"/>
          </a:xfrm>
          <a:prstGeom prst="rect">
            <a:avLst/>
          </a:prstGeom>
        </p:spPr>
        <p:txBody>
          <a:bodyPr wrap="square">
            <a:noAutofit/>
          </a:bodyPr>
          <a:lstStyle/>
          <a:p>
            <a:pPr marL="285750" indent="-285750" algn="just">
              <a:lnSpc>
                <a:spcPts val="21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可以根据业务需求创建多个虚拟网络，实现业务隔离。</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gn="just">
              <a:lnSpc>
                <a:spcPts val="21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实现</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及</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L3</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通信。</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70010947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sym typeface="Huawei Sans" panose="020C0503030203020204" pitchFamily="34" charset="0"/>
              </a:rPr>
              <a:t>架构概述：网络节点</a:t>
            </a:r>
          </a:p>
        </p:txBody>
      </p:sp>
      <p:pic>
        <p:nvPicPr>
          <p:cNvPr id="49" name="图片 87" descr="汇聚交换机.png"/>
          <p:cNvPicPr>
            <a:picLocks noChangeAspect="1"/>
          </p:cNvPicPr>
          <p:nvPr/>
        </p:nvPicPr>
        <p:blipFill>
          <a:blip r:embed="rId3"/>
          <a:stretch>
            <a:fillRect/>
          </a:stretch>
        </p:blipFill>
        <p:spPr bwMode="gray">
          <a:xfrm>
            <a:off x="2888961" y="3582875"/>
            <a:ext cx="369473" cy="302297"/>
          </a:xfrm>
          <a:prstGeom prst="rect">
            <a:avLst/>
          </a:prstGeom>
          <a:effectLst/>
        </p:spPr>
      </p:pic>
      <p:sp>
        <p:nvSpPr>
          <p:cNvPr id="50" name="任意多边形 49"/>
          <p:cNvSpPr/>
          <p:nvPr/>
        </p:nvSpPr>
        <p:spPr bwMode="gray">
          <a:xfrm>
            <a:off x="1947969" y="2662470"/>
            <a:ext cx="4092505" cy="2223824"/>
          </a:xfrm>
          <a:custGeom>
            <a:avLst/>
            <a:gdLst>
              <a:gd name="connsiteX0" fmla="*/ 1522976 w 3069379"/>
              <a:gd name="connsiteY0" fmla="*/ 0 h 1667868"/>
              <a:gd name="connsiteX1" fmla="*/ 2105444 w 3069379"/>
              <a:gd name="connsiteY1" fmla="*/ 243498 h 1667868"/>
              <a:gd name="connsiteX2" fmla="*/ 2165457 w 3069379"/>
              <a:gd name="connsiteY2" fmla="*/ 316907 h 1667868"/>
              <a:gd name="connsiteX3" fmla="*/ 2204139 w 3069379"/>
              <a:gd name="connsiteY3" fmla="*/ 313329 h 1667868"/>
              <a:gd name="connsiteX4" fmla="*/ 2688456 w 3069379"/>
              <a:gd name="connsiteY4" fmla="*/ 757688 h 1667868"/>
              <a:gd name="connsiteX5" fmla="*/ 2679008 w 3069379"/>
              <a:gd name="connsiteY5" fmla="*/ 843679 h 1667868"/>
              <a:gd name="connsiteX6" fmla="*/ 2742591 w 3069379"/>
              <a:gd name="connsiteY6" fmla="*/ 850148 h 1667868"/>
              <a:gd name="connsiteX7" fmla="*/ 3069379 w 3069379"/>
              <a:gd name="connsiteY7" fmla="*/ 1254812 h 1667868"/>
              <a:gd name="connsiteX8" fmla="*/ 2742591 w 3069379"/>
              <a:gd name="connsiteY8" fmla="*/ 1659476 h 1667868"/>
              <a:gd name="connsiteX9" fmla="*/ 2727471 w 3069379"/>
              <a:gd name="connsiteY9" fmla="*/ 1661015 h 1667868"/>
              <a:gd name="connsiteX10" fmla="*/ 2727471 w 3069379"/>
              <a:gd name="connsiteY10" fmla="*/ 1667868 h 1667868"/>
              <a:gd name="connsiteX11" fmla="*/ 2660108 w 3069379"/>
              <a:gd name="connsiteY11" fmla="*/ 1667868 h 1667868"/>
              <a:gd name="connsiteX12" fmla="*/ 450197 w 3069379"/>
              <a:gd name="connsiteY12" fmla="*/ 1667868 h 1667868"/>
              <a:gd name="connsiteX13" fmla="*/ 373665 w 3069379"/>
              <a:gd name="connsiteY13" fmla="*/ 1667868 h 1667868"/>
              <a:gd name="connsiteX14" fmla="*/ 373665 w 3069379"/>
              <a:gd name="connsiteY14" fmla="*/ 1660082 h 1667868"/>
              <a:gd name="connsiteX15" fmla="*/ 359467 w 3069379"/>
              <a:gd name="connsiteY15" fmla="*/ 1658637 h 1667868"/>
              <a:gd name="connsiteX16" fmla="*/ 0 w 3069379"/>
              <a:gd name="connsiteY16" fmla="*/ 1213505 h 1667868"/>
              <a:gd name="connsiteX17" fmla="*/ 274960 w 3069379"/>
              <a:gd name="connsiteY17" fmla="*/ 794848 h 1667868"/>
              <a:gd name="connsiteX18" fmla="*/ 303951 w 3069379"/>
              <a:gd name="connsiteY18" fmla="*/ 785765 h 1667868"/>
              <a:gd name="connsiteX19" fmla="*/ 315888 w 3069379"/>
              <a:gd name="connsiteY19" fmla="*/ 677121 h 1667868"/>
              <a:gd name="connsiteX20" fmla="*/ 931587 w 3069379"/>
              <a:gd name="connsiteY20" fmla="*/ 216713 h 1667868"/>
              <a:gd name="connsiteX21" fmla="*/ 968567 w 3069379"/>
              <a:gd name="connsiteY21" fmla="*/ 220133 h 1667868"/>
              <a:gd name="connsiteX22" fmla="*/ 1062419 w 3069379"/>
              <a:gd name="connsiteY22" fmla="*/ 141982 h 1667868"/>
              <a:gd name="connsiteX23" fmla="*/ 1522976 w 3069379"/>
              <a:gd name="connsiteY23" fmla="*/ 0 h 1667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69379" h="1667868">
                <a:moveTo>
                  <a:pt x="1522976" y="0"/>
                </a:moveTo>
                <a:cubicBezTo>
                  <a:pt x="1750444" y="0"/>
                  <a:pt x="1956378" y="93052"/>
                  <a:pt x="2105444" y="243498"/>
                </a:cubicBezTo>
                <a:lnTo>
                  <a:pt x="2165457" y="316907"/>
                </a:lnTo>
                <a:lnTo>
                  <a:pt x="2204139" y="313329"/>
                </a:lnTo>
                <a:cubicBezTo>
                  <a:pt x="2471620" y="313329"/>
                  <a:pt x="2688456" y="512275"/>
                  <a:pt x="2688456" y="757688"/>
                </a:cubicBezTo>
                <a:lnTo>
                  <a:pt x="2679008" y="843679"/>
                </a:lnTo>
                <a:lnTo>
                  <a:pt x="2742591" y="850148"/>
                </a:lnTo>
                <a:cubicBezTo>
                  <a:pt x="2929088" y="888664"/>
                  <a:pt x="3069379" y="1055202"/>
                  <a:pt x="3069379" y="1254812"/>
                </a:cubicBezTo>
                <a:cubicBezTo>
                  <a:pt x="3069379" y="1454421"/>
                  <a:pt x="2929088" y="1620960"/>
                  <a:pt x="2742591" y="1659476"/>
                </a:cubicBezTo>
                <a:lnTo>
                  <a:pt x="2727471" y="1661015"/>
                </a:lnTo>
                <a:lnTo>
                  <a:pt x="2727471" y="1667868"/>
                </a:lnTo>
                <a:lnTo>
                  <a:pt x="2660108" y="1667868"/>
                </a:lnTo>
                <a:lnTo>
                  <a:pt x="450197" y="1667868"/>
                </a:lnTo>
                <a:lnTo>
                  <a:pt x="373665" y="1667868"/>
                </a:lnTo>
                <a:lnTo>
                  <a:pt x="373665" y="1660082"/>
                </a:lnTo>
                <a:lnTo>
                  <a:pt x="359467" y="1658637"/>
                </a:lnTo>
                <a:cubicBezTo>
                  <a:pt x="154319" y="1616269"/>
                  <a:pt x="0" y="1433076"/>
                  <a:pt x="0" y="1213505"/>
                </a:cubicBezTo>
                <a:cubicBezTo>
                  <a:pt x="0" y="1025301"/>
                  <a:pt x="113377" y="863824"/>
                  <a:pt x="274960" y="794848"/>
                </a:cubicBezTo>
                <a:lnTo>
                  <a:pt x="303951" y="785765"/>
                </a:lnTo>
                <a:lnTo>
                  <a:pt x="315888" y="677121"/>
                </a:lnTo>
                <a:cubicBezTo>
                  <a:pt x="374490" y="414367"/>
                  <a:pt x="627881" y="216713"/>
                  <a:pt x="931587" y="216713"/>
                </a:cubicBezTo>
                <a:lnTo>
                  <a:pt x="968567" y="220133"/>
                </a:lnTo>
                <a:lnTo>
                  <a:pt x="1062419" y="141982"/>
                </a:lnTo>
                <a:cubicBezTo>
                  <a:pt x="1193887" y="52342"/>
                  <a:pt x="1352375" y="0"/>
                  <a:pt x="1522976" y="0"/>
                </a:cubicBezTo>
                <a:close/>
              </a:path>
            </a:pathLst>
          </a:custGeom>
          <a:solidFill>
            <a:srgbClr val="BEE9EE">
              <a:alpha val="34000"/>
            </a:srgbClr>
          </a:solidFill>
          <a:ln w="12700" cap="flat" cmpd="sng" algn="ctr">
            <a:noFill/>
            <a:prstDash val="solid"/>
            <a:miter lim="800000"/>
          </a:ln>
          <a:effectLst/>
        </p:spPr>
        <p:txBody>
          <a:bodyPr wrap="square" rtlCol="0" anchor="ctr">
            <a:noAutofit/>
          </a:bodyPr>
          <a:lstStyle/>
          <a:p>
            <a:pPr algn="ctr" defTabSz="1219170" fontAlgn="ctr">
              <a:defRPr/>
            </a:pPr>
            <a:endParaRPr lang="en-US" sz="24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矩形 50"/>
          <p:cNvSpPr/>
          <p:nvPr/>
        </p:nvSpPr>
        <p:spPr bwMode="gray">
          <a:xfrm>
            <a:off x="6318064" y="1506810"/>
            <a:ext cx="5258782" cy="4144724"/>
          </a:xfrm>
          <a:prstGeom prst="rect">
            <a:avLst/>
          </a:prstGeom>
        </p:spPr>
        <p:txBody>
          <a:bodyPr wrap="square">
            <a:spAutoFit/>
          </a:bodyPr>
          <a:lstStyle/>
          <a:p>
            <a:pPr marL="228600" indent="-228600" algn="just" defTabSz="1218844" eaLnBrk="0" hangingPunct="0">
              <a:lnSpc>
                <a:spcPts val="2200"/>
              </a:lnSpc>
              <a:spcAft>
                <a:spcPts val="600"/>
              </a:spcAft>
              <a:buSzPct val="60000"/>
              <a:buFont typeface="Wingdings" panose="05000000000000000000" pitchFamily="2" charset="2"/>
              <a:buChar char="l"/>
              <a:defRPr/>
            </a:pPr>
            <a:r>
              <a:rPr lang="zh-CN" altLang="en-US"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防火墙（</a:t>
            </a:r>
            <a:r>
              <a:rPr lang="en-US" altLang="zh-CN"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Firewall</a:t>
            </a:r>
            <a:r>
              <a:rPr lang="zh-CN" altLang="en-US"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）节点：</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部署</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L4~L7</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安全策略时需该节点。可旁挂部署，或部署在园区出口处。</a:t>
            </a:r>
          </a:p>
          <a:p>
            <a:pPr marL="228600" indent="-228600" algn="just" defTabSz="1218844" eaLnBrk="0" hangingPunct="0">
              <a:lnSpc>
                <a:spcPts val="2200"/>
              </a:lnSpc>
              <a:spcAft>
                <a:spcPts val="600"/>
              </a:spcAft>
              <a:buSzPct val="60000"/>
              <a:buFont typeface="Wingdings" panose="05000000000000000000" pitchFamily="2" charset="2"/>
              <a:buChar char="l"/>
              <a:defRPr/>
            </a:pPr>
            <a:r>
              <a:rPr lang="zh-CN" altLang="en-US"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边界网关（</a:t>
            </a:r>
            <a:r>
              <a:rPr lang="en-US" altLang="zh-CN"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）节点：</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用于实现</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和外部网络之间的互联互通。一般为核心交换机。</a:t>
            </a:r>
          </a:p>
          <a:p>
            <a:pPr marL="228600" indent="-228600" algn="just" defTabSz="1218844" eaLnBrk="0" hangingPunct="0">
              <a:lnSpc>
                <a:spcPts val="2200"/>
              </a:lnSpc>
              <a:spcAft>
                <a:spcPts val="600"/>
              </a:spcAft>
              <a:buSzPct val="60000"/>
              <a:buFont typeface="Wingdings" panose="05000000000000000000" pitchFamily="2" charset="2"/>
              <a:buChar char="l"/>
              <a:defRPr/>
            </a:pPr>
            <a:r>
              <a:rPr lang="zh-CN" altLang="en-US"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边缘（</a:t>
            </a:r>
            <a:r>
              <a:rPr lang="en-US" altLang="zh-CN"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Edge</a:t>
            </a:r>
            <a:r>
              <a:rPr lang="zh-CN" altLang="en-US"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）节点：</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边缘设备，用于连接用户侧设备及</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。有线用户的数据从边缘节点进入</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封装。</a:t>
            </a:r>
          </a:p>
          <a:p>
            <a:pPr marL="228600" indent="-228600" algn="just" defTabSz="1218844" eaLnBrk="0" hangingPunct="0">
              <a:lnSpc>
                <a:spcPts val="2200"/>
              </a:lnSpc>
              <a:spcAft>
                <a:spcPts val="600"/>
              </a:spcAft>
              <a:buSzPct val="60000"/>
              <a:buFont typeface="Wingdings" panose="05000000000000000000" pitchFamily="2" charset="2"/>
              <a:buChar char="l"/>
              <a:defRPr/>
            </a:pPr>
            <a:r>
              <a:rPr lang="zh-CN" altLang="en-US"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透传（</a:t>
            </a:r>
            <a:r>
              <a:rPr lang="en-US" altLang="zh-CN"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Transparent</a:t>
            </a:r>
            <a:r>
              <a:rPr lang="zh-CN" altLang="en-US"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）节点：</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的透传节点，无需支持</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p>
          <a:p>
            <a:pPr marL="228600" indent="-228600" algn="just" defTabSz="1218844" eaLnBrk="0" hangingPunct="0">
              <a:lnSpc>
                <a:spcPts val="2200"/>
              </a:lnSpc>
              <a:spcAft>
                <a:spcPts val="600"/>
              </a:spcAft>
              <a:buSzPct val="60000"/>
              <a:buFont typeface="Wingdings" panose="05000000000000000000" pitchFamily="2" charset="2"/>
              <a:buChar char="l"/>
              <a:defRPr/>
            </a:pPr>
            <a:r>
              <a:rPr lang="zh-CN" altLang="en-US"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接入节点：</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也被称为扩展（</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Extended</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）节点，这是有线用户的接入节点，该节点为可选节点。用户可以从这里接入网络，接入节点无需支持</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p>
          <a:p>
            <a:pPr marL="228600" indent="-228600" algn="just" defTabSz="1218844" eaLnBrk="0" hangingPunct="0">
              <a:lnSpc>
                <a:spcPts val="2200"/>
              </a:lnSpc>
              <a:spcAft>
                <a:spcPts val="600"/>
              </a:spcAft>
              <a:buSzPct val="60000"/>
              <a:buFont typeface="Wingdings" panose="05000000000000000000" pitchFamily="2" charset="2"/>
              <a:buChar char="l"/>
              <a:defRPr/>
            </a:pPr>
            <a:r>
              <a:rPr lang="en-US" altLang="zh-CN"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AP</a:t>
            </a:r>
            <a:r>
              <a:rPr lang="zh-CN" altLang="en-US" sz="1400" b="1"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无线接入节点，用户从这里接入无线网络，并最终接入</a:t>
            </a:r>
            <a:r>
              <a:rPr lang="en-US" altLang="zh-CN"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4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52" name="圆角矩形 51"/>
          <p:cNvSpPr/>
          <p:nvPr/>
        </p:nvSpPr>
        <p:spPr bwMode="gray">
          <a:xfrm>
            <a:off x="1947969" y="4932593"/>
            <a:ext cx="4092504" cy="992207"/>
          </a:xfrm>
          <a:prstGeom prst="roundRect">
            <a:avLst/>
          </a:prstGeom>
          <a:solidFill>
            <a:sysClr val="window" lastClr="FFFFFF">
              <a:lumMod val="95000"/>
            </a:sysClr>
          </a:solidFill>
          <a:ln w="12700" cap="flat" cmpd="sng" algn="ctr">
            <a:noFill/>
            <a:prstDash val="solid"/>
            <a:miter lim="800000"/>
          </a:ln>
          <a:effectLst/>
        </p:spPr>
        <p:txBody>
          <a:bodyPr wrap="square" rtlCol="0" anchor="ctr">
            <a:noAutofit/>
          </a:bodyPr>
          <a:lstStyle/>
          <a:p>
            <a:pPr algn="ctr" defTabSz="1219170" fontAlgn="ctr">
              <a:defRPr/>
            </a:pPr>
            <a:endParaRPr lang="en-US" altLang="zh-CN" sz="24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3" name="Group 165"/>
          <p:cNvGrpSpPr/>
          <p:nvPr/>
        </p:nvGrpSpPr>
        <p:grpSpPr bwMode="gray">
          <a:xfrm rot="10800000">
            <a:off x="4600736" y="4842744"/>
            <a:ext cx="1001411" cy="575601"/>
            <a:chOff x="-1233037" y="914446"/>
            <a:chExt cx="1573823" cy="778776"/>
          </a:xfrm>
        </p:grpSpPr>
        <p:cxnSp>
          <p:nvCxnSpPr>
            <p:cNvPr id="54" name="Straight Connector 166"/>
            <p:cNvCxnSpPr/>
            <p:nvPr/>
          </p:nvCxnSpPr>
          <p:spPr bwMode="gray">
            <a:xfrm flipH="1" flipV="1">
              <a:off x="-1233037" y="914446"/>
              <a:ext cx="786912" cy="778776"/>
            </a:xfrm>
            <a:prstGeom prst="line">
              <a:avLst/>
            </a:prstGeom>
            <a:noFill/>
            <a:ln w="12700" cap="flat" cmpd="sng" algn="ctr">
              <a:solidFill>
                <a:sysClr val="window" lastClr="FFFFFF">
                  <a:lumMod val="75000"/>
                </a:sysClr>
              </a:solidFill>
              <a:prstDash val="solid"/>
              <a:miter lim="800000"/>
            </a:ln>
            <a:effectLst/>
          </p:spPr>
        </p:cxnSp>
        <p:cxnSp>
          <p:nvCxnSpPr>
            <p:cNvPr id="55" name="Straight Connector 167"/>
            <p:cNvCxnSpPr/>
            <p:nvPr/>
          </p:nvCxnSpPr>
          <p:spPr bwMode="gray">
            <a:xfrm flipV="1">
              <a:off x="-446125" y="914446"/>
              <a:ext cx="786911" cy="778776"/>
            </a:xfrm>
            <a:prstGeom prst="line">
              <a:avLst/>
            </a:prstGeom>
            <a:noFill/>
            <a:ln w="12700" cap="flat" cmpd="sng" algn="ctr">
              <a:solidFill>
                <a:sysClr val="window" lastClr="FFFFFF">
                  <a:lumMod val="75000"/>
                </a:sysClr>
              </a:solidFill>
              <a:prstDash val="solid"/>
              <a:miter lim="800000"/>
            </a:ln>
            <a:effectLst/>
          </p:spPr>
        </p:cxnSp>
      </p:grpSp>
      <p:grpSp>
        <p:nvGrpSpPr>
          <p:cNvPr id="56" name="Group 165"/>
          <p:cNvGrpSpPr/>
          <p:nvPr/>
        </p:nvGrpSpPr>
        <p:grpSpPr bwMode="gray">
          <a:xfrm rot="10800000">
            <a:off x="2463288" y="4842744"/>
            <a:ext cx="1001411" cy="575601"/>
            <a:chOff x="-1233037" y="914446"/>
            <a:chExt cx="1573823" cy="778776"/>
          </a:xfrm>
        </p:grpSpPr>
        <p:cxnSp>
          <p:nvCxnSpPr>
            <p:cNvPr id="57" name="Straight Connector 166"/>
            <p:cNvCxnSpPr/>
            <p:nvPr/>
          </p:nvCxnSpPr>
          <p:spPr bwMode="gray">
            <a:xfrm flipH="1" flipV="1">
              <a:off x="-1233037" y="914446"/>
              <a:ext cx="786912" cy="778776"/>
            </a:xfrm>
            <a:prstGeom prst="line">
              <a:avLst/>
            </a:prstGeom>
            <a:noFill/>
            <a:ln w="12700" cap="flat" cmpd="sng" algn="ctr">
              <a:solidFill>
                <a:sysClr val="window" lastClr="FFFFFF">
                  <a:lumMod val="75000"/>
                </a:sysClr>
              </a:solidFill>
              <a:prstDash val="solid"/>
              <a:miter lim="800000"/>
            </a:ln>
            <a:effectLst/>
          </p:spPr>
        </p:cxnSp>
        <p:cxnSp>
          <p:nvCxnSpPr>
            <p:cNvPr id="58" name="Straight Connector 167"/>
            <p:cNvCxnSpPr/>
            <p:nvPr/>
          </p:nvCxnSpPr>
          <p:spPr bwMode="gray">
            <a:xfrm flipV="1">
              <a:off x="-446125" y="914446"/>
              <a:ext cx="786911" cy="778776"/>
            </a:xfrm>
            <a:prstGeom prst="line">
              <a:avLst/>
            </a:prstGeom>
            <a:noFill/>
            <a:ln w="12700" cap="flat" cmpd="sng" algn="ctr">
              <a:solidFill>
                <a:sysClr val="window" lastClr="FFFFFF">
                  <a:lumMod val="75000"/>
                </a:sysClr>
              </a:solidFill>
              <a:prstDash val="solid"/>
              <a:miter lim="800000"/>
            </a:ln>
            <a:effectLst/>
          </p:spPr>
        </p:cxnSp>
      </p:grpSp>
      <p:grpSp>
        <p:nvGrpSpPr>
          <p:cNvPr id="59" name="Group 165"/>
          <p:cNvGrpSpPr/>
          <p:nvPr/>
        </p:nvGrpSpPr>
        <p:grpSpPr bwMode="gray">
          <a:xfrm rot="10800000" flipV="1">
            <a:off x="3009637" y="2576060"/>
            <a:ext cx="1871156" cy="215929"/>
            <a:chOff x="-2147195" y="914446"/>
            <a:chExt cx="2487980" cy="808747"/>
          </a:xfrm>
        </p:grpSpPr>
        <p:cxnSp>
          <p:nvCxnSpPr>
            <p:cNvPr id="60" name="Straight Connector 166"/>
            <p:cNvCxnSpPr/>
            <p:nvPr/>
          </p:nvCxnSpPr>
          <p:spPr bwMode="gray">
            <a:xfrm rot="10800000">
              <a:off x="-2147195" y="914446"/>
              <a:ext cx="1033442" cy="808747"/>
            </a:xfrm>
            <a:prstGeom prst="line">
              <a:avLst/>
            </a:prstGeom>
            <a:noFill/>
            <a:ln w="12700" cap="flat" cmpd="sng" algn="ctr">
              <a:solidFill>
                <a:schemeClr val="tx1"/>
              </a:solidFill>
              <a:prstDash val="solid"/>
              <a:miter lim="800000"/>
            </a:ln>
            <a:effectLst/>
          </p:spPr>
        </p:cxnSp>
        <p:cxnSp>
          <p:nvCxnSpPr>
            <p:cNvPr id="61" name="Straight Connector 167"/>
            <p:cNvCxnSpPr/>
            <p:nvPr/>
          </p:nvCxnSpPr>
          <p:spPr bwMode="gray">
            <a:xfrm rot="10800000" flipH="1">
              <a:off x="-744655" y="914446"/>
              <a:ext cx="1085440" cy="808747"/>
            </a:xfrm>
            <a:prstGeom prst="line">
              <a:avLst/>
            </a:prstGeom>
            <a:noFill/>
            <a:ln w="12700" cap="flat" cmpd="sng" algn="ctr">
              <a:solidFill>
                <a:schemeClr val="tx1"/>
              </a:solidFill>
              <a:prstDash val="solid"/>
              <a:miter lim="800000"/>
            </a:ln>
            <a:effectLst/>
          </p:spPr>
        </p:cxnSp>
      </p:grpSp>
      <p:pic>
        <p:nvPicPr>
          <p:cNvPr id="62" name="图片 87" descr="汇聚交换机.png"/>
          <p:cNvPicPr>
            <a:picLocks noChangeAspect="1"/>
          </p:cNvPicPr>
          <p:nvPr/>
        </p:nvPicPr>
        <p:blipFill>
          <a:blip r:embed="rId3"/>
          <a:stretch>
            <a:fillRect/>
          </a:stretch>
        </p:blipFill>
        <p:spPr bwMode="gray">
          <a:xfrm>
            <a:off x="2780298" y="4733295"/>
            <a:ext cx="369473" cy="302297"/>
          </a:xfrm>
          <a:prstGeom prst="rect">
            <a:avLst/>
          </a:prstGeom>
        </p:spPr>
      </p:pic>
      <p:pic>
        <p:nvPicPr>
          <p:cNvPr id="63" name="图片 76" descr="接入交换机.png"/>
          <p:cNvPicPr>
            <a:picLocks noChangeAspect="1"/>
          </p:cNvPicPr>
          <p:nvPr/>
        </p:nvPicPr>
        <p:blipFill>
          <a:blip r:embed="rId4"/>
          <a:stretch>
            <a:fillRect/>
          </a:stretch>
        </p:blipFill>
        <p:spPr bwMode="gray">
          <a:xfrm>
            <a:off x="2265434" y="5399534"/>
            <a:ext cx="369473" cy="302297"/>
          </a:xfrm>
          <a:prstGeom prst="rect">
            <a:avLst/>
          </a:prstGeom>
        </p:spPr>
      </p:pic>
      <p:pic>
        <p:nvPicPr>
          <p:cNvPr id="64" name="图片 9"/>
          <p:cNvPicPr>
            <a:picLocks noChangeAspect="1"/>
          </p:cNvPicPr>
          <p:nvPr/>
        </p:nvPicPr>
        <p:blipFill>
          <a:blip r:embed="rId5">
            <a:extLst>
              <a:ext uri="{28A0092B-C50C-407E-A947-70E740481C1C}">
                <a14:useLocalDpi xmlns:a14="http://schemas.microsoft.com/office/drawing/2010/main" val="0"/>
              </a:ext>
            </a:extLst>
          </a:blip>
          <a:stretch>
            <a:fillRect/>
          </a:stretch>
        </p:blipFill>
        <p:spPr bwMode="gray">
          <a:xfrm>
            <a:off x="2686105" y="2314971"/>
            <a:ext cx="369473" cy="302297"/>
          </a:xfrm>
          <a:prstGeom prst="rect">
            <a:avLst/>
          </a:prstGeom>
        </p:spPr>
      </p:pic>
      <p:pic>
        <p:nvPicPr>
          <p:cNvPr id="65" name="图片 105" descr="AP.png"/>
          <p:cNvPicPr>
            <a:picLocks noChangeAspect="1"/>
          </p:cNvPicPr>
          <p:nvPr/>
        </p:nvPicPr>
        <p:blipFill>
          <a:blip r:embed="rId6"/>
          <a:stretch>
            <a:fillRect/>
          </a:stretch>
        </p:blipFill>
        <p:spPr bwMode="gray">
          <a:xfrm>
            <a:off x="3295034" y="5399427"/>
            <a:ext cx="366860" cy="300160"/>
          </a:xfrm>
          <a:prstGeom prst="rect">
            <a:avLst/>
          </a:prstGeom>
        </p:spPr>
      </p:pic>
      <p:pic>
        <p:nvPicPr>
          <p:cNvPr id="66" name="图片 87" descr="汇聚交换机.png"/>
          <p:cNvPicPr>
            <a:picLocks noChangeAspect="1"/>
          </p:cNvPicPr>
          <p:nvPr/>
        </p:nvPicPr>
        <p:blipFill>
          <a:blip r:embed="rId3"/>
          <a:stretch>
            <a:fillRect/>
          </a:stretch>
        </p:blipFill>
        <p:spPr bwMode="gray">
          <a:xfrm>
            <a:off x="4924316" y="4733295"/>
            <a:ext cx="369473" cy="302297"/>
          </a:xfrm>
          <a:prstGeom prst="rect">
            <a:avLst/>
          </a:prstGeom>
        </p:spPr>
      </p:pic>
      <p:pic>
        <p:nvPicPr>
          <p:cNvPr id="67" name="图片 76" descr="接入交换机.png"/>
          <p:cNvPicPr>
            <a:picLocks noChangeAspect="1"/>
          </p:cNvPicPr>
          <p:nvPr/>
        </p:nvPicPr>
        <p:blipFill>
          <a:blip r:embed="rId4"/>
          <a:stretch>
            <a:fillRect/>
          </a:stretch>
        </p:blipFill>
        <p:spPr bwMode="gray">
          <a:xfrm>
            <a:off x="4409452" y="5399534"/>
            <a:ext cx="369473" cy="302297"/>
          </a:xfrm>
          <a:prstGeom prst="rect">
            <a:avLst/>
          </a:prstGeom>
        </p:spPr>
      </p:pic>
      <p:pic>
        <p:nvPicPr>
          <p:cNvPr id="68" name="图片 105" descr="AP.png"/>
          <p:cNvPicPr>
            <a:picLocks noChangeAspect="1"/>
          </p:cNvPicPr>
          <p:nvPr/>
        </p:nvPicPr>
        <p:blipFill>
          <a:blip r:embed="rId6"/>
          <a:stretch>
            <a:fillRect/>
          </a:stretch>
        </p:blipFill>
        <p:spPr bwMode="gray">
          <a:xfrm>
            <a:off x="5439051" y="5399427"/>
            <a:ext cx="366860" cy="300160"/>
          </a:xfrm>
          <a:prstGeom prst="rect">
            <a:avLst/>
          </a:prstGeom>
        </p:spPr>
      </p:pic>
      <p:pic>
        <p:nvPicPr>
          <p:cNvPr id="69" name="图片 9"/>
          <p:cNvPicPr>
            <a:picLocks noChangeAspect="1"/>
          </p:cNvPicPr>
          <p:nvPr/>
        </p:nvPicPr>
        <p:blipFill>
          <a:blip r:embed="rId5">
            <a:extLst>
              <a:ext uri="{28A0092B-C50C-407E-A947-70E740481C1C}">
                <a14:useLocalDpi xmlns:a14="http://schemas.microsoft.com/office/drawing/2010/main" val="0"/>
              </a:ext>
            </a:extLst>
          </a:blip>
          <a:stretch>
            <a:fillRect/>
          </a:stretch>
        </p:blipFill>
        <p:spPr bwMode="gray">
          <a:xfrm>
            <a:off x="4859648" y="2314971"/>
            <a:ext cx="369473" cy="302297"/>
          </a:xfrm>
          <a:prstGeom prst="rect">
            <a:avLst/>
          </a:prstGeom>
        </p:spPr>
      </p:pic>
      <p:pic>
        <p:nvPicPr>
          <p:cNvPr id="70" name="Picture 2" descr="G:\做的项目\公共\扁平图标切换\更新2015_01_21\oss扁平图标库2015_01_21更新-04.png"/>
          <p:cNvPicPr>
            <a:picLocks noChangeAspect="1" noChangeArrowheads="1"/>
          </p:cNvPicPr>
          <p:nvPr/>
        </p:nvPicPr>
        <p:blipFill>
          <a:blip r:embed="rId7"/>
          <a:stretch>
            <a:fillRect/>
          </a:stretch>
        </p:blipFill>
        <p:spPr bwMode="gray">
          <a:xfrm>
            <a:off x="3786504" y="1946256"/>
            <a:ext cx="369473" cy="302297"/>
          </a:xfrm>
          <a:prstGeom prst="rect">
            <a:avLst/>
          </a:prstGeom>
          <a:noFill/>
        </p:spPr>
      </p:pic>
      <p:sp>
        <p:nvSpPr>
          <p:cNvPr id="73" name="文本框 72"/>
          <p:cNvSpPr txBox="1"/>
          <p:nvPr/>
        </p:nvSpPr>
        <p:spPr bwMode="gray">
          <a:xfrm>
            <a:off x="3793973" y="3765007"/>
            <a:ext cx="1516761" cy="584775"/>
          </a:xfrm>
          <a:prstGeom prst="rect">
            <a:avLst/>
          </a:prstGeom>
          <a:noFill/>
        </p:spPr>
        <p:txBody>
          <a:bodyPr wrap="square" rtlCol="0">
            <a:noAutofit/>
          </a:bodyPr>
          <a:lstStyle/>
          <a:p>
            <a:pPr algn="ctr" font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域（</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5" name="直接箭头连接符 74"/>
          <p:cNvCxnSpPr/>
          <p:nvPr/>
        </p:nvCxnSpPr>
        <p:spPr bwMode="gray">
          <a:xfrm>
            <a:off x="1550749" y="2493169"/>
            <a:ext cx="1135355" cy="0"/>
          </a:xfrm>
          <a:prstGeom prst="straightConnector1">
            <a:avLst/>
          </a:prstGeom>
          <a:noFill/>
          <a:ln w="6350" cap="flat" cmpd="sng" algn="ctr">
            <a:solidFill>
              <a:schemeClr val="bg1">
                <a:lumMod val="75000"/>
              </a:schemeClr>
            </a:solidFill>
            <a:prstDash val="solid"/>
            <a:miter lim="800000"/>
            <a:tailEnd type="triangle"/>
          </a:ln>
          <a:effectLst/>
        </p:spPr>
      </p:cxnSp>
      <p:cxnSp>
        <p:nvCxnSpPr>
          <p:cNvPr id="77" name="直接箭头连接符 76"/>
          <p:cNvCxnSpPr/>
          <p:nvPr/>
        </p:nvCxnSpPr>
        <p:spPr bwMode="gray">
          <a:xfrm>
            <a:off x="1550750" y="2887918"/>
            <a:ext cx="2275223" cy="0"/>
          </a:xfrm>
          <a:prstGeom prst="straightConnector1">
            <a:avLst/>
          </a:prstGeom>
          <a:noFill/>
          <a:ln w="6350" cap="flat" cmpd="sng" algn="ctr">
            <a:solidFill>
              <a:schemeClr val="bg1">
                <a:lumMod val="75000"/>
              </a:schemeClr>
            </a:solidFill>
            <a:prstDash val="solid"/>
            <a:miter lim="800000"/>
            <a:tailEnd type="triangle"/>
          </a:ln>
          <a:effectLst/>
        </p:spPr>
      </p:cxnSp>
      <p:cxnSp>
        <p:nvCxnSpPr>
          <p:cNvPr id="79" name="直接箭头连接符 78"/>
          <p:cNvCxnSpPr/>
          <p:nvPr/>
        </p:nvCxnSpPr>
        <p:spPr bwMode="gray">
          <a:xfrm>
            <a:off x="1550749" y="3741419"/>
            <a:ext cx="1320091" cy="0"/>
          </a:xfrm>
          <a:prstGeom prst="straightConnector1">
            <a:avLst/>
          </a:prstGeom>
          <a:noFill/>
          <a:ln w="6350" cap="flat" cmpd="sng" algn="ctr">
            <a:solidFill>
              <a:schemeClr val="bg1">
                <a:lumMod val="75000"/>
              </a:schemeClr>
            </a:solidFill>
            <a:prstDash val="solid"/>
            <a:miter lim="800000"/>
            <a:tailEnd type="triangle"/>
          </a:ln>
          <a:effectLst/>
        </p:spPr>
      </p:cxnSp>
      <p:cxnSp>
        <p:nvCxnSpPr>
          <p:cNvPr id="81" name="直接箭头连接符 80"/>
          <p:cNvCxnSpPr/>
          <p:nvPr/>
        </p:nvCxnSpPr>
        <p:spPr bwMode="gray">
          <a:xfrm>
            <a:off x="1550750" y="4812597"/>
            <a:ext cx="1190804" cy="0"/>
          </a:xfrm>
          <a:prstGeom prst="straightConnector1">
            <a:avLst/>
          </a:prstGeom>
          <a:noFill/>
          <a:ln w="6350" cap="flat" cmpd="sng" algn="ctr">
            <a:solidFill>
              <a:schemeClr val="bg1">
                <a:lumMod val="75000"/>
              </a:schemeClr>
            </a:solidFill>
            <a:prstDash val="solid"/>
            <a:miter lim="800000"/>
            <a:tailEnd type="triangle"/>
          </a:ln>
          <a:effectLst/>
        </p:spPr>
      </p:cxnSp>
      <p:cxnSp>
        <p:nvCxnSpPr>
          <p:cNvPr id="83" name="直接箭头连接符 82"/>
          <p:cNvCxnSpPr/>
          <p:nvPr/>
        </p:nvCxnSpPr>
        <p:spPr bwMode="gray">
          <a:xfrm>
            <a:off x="1550750" y="5499599"/>
            <a:ext cx="643233" cy="0"/>
          </a:xfrm>
          <a:prstGeom prst="straightConnector1">
            <a:avLst/>
          </a:prstGeom>
          <a:noFill/>
          <a:ln w="6350" cap="flat" cmpd="sng" algn="ctr">
            <a:solidFill>
              <a:schemeClr val="bg1">
                <a:lumMod val="75000"/>
              </a:schemeClr>
            </a:solidFill>
            <a:prstDash val="solid"/>
            <a:miter lim="800000"/>
            <a:tailEnd type="triangle"/>
          </a:ln>
          <a:effectLst/>
        </p:spPr>
      </p:cxnSp>
      <p:cxnSp>
        <p:nvCxnSpPr>
          <p:cNvPr id="85" name="直接箭头连接符 84"/>
          <p:cNvCxnSpPr/>
          <p:nvPr/>
        </p:nvCxnSpPr>
        <p:spPr bwMode="gray">
          <a:xfrm flipV="1">
            <a:off x="2972402" y="5715283"/>
            <a:ext cx="359585" cy="317164"/>
          </a:xfrm>
          <a:prstGeom prst="straightConnector1">
            <a:avLst/>
          </a:prstGeom>
          <a:noFill/>
          <a:ln w="6350" cap="flat" cmpd="sng" algn="ctr">
            <a:solidFill>
              <a:schemeClr val="bg1">
                <a:lumMod val="75000"/>
              </a:schemeClr>
            </a:solidFill>
            <a:prstDash val="solid"/>
            <a:miter lim="800000"/>
            <a:tailEnd type="triangle"/>
          </a:ln>
          <a:effectLst/>
        </p:spPr>
      </p:cxnSp>
      <p:cxnSp>
        <p:nvCxnSpPr>
          <p:cNvPr id="86" name="直接箭头连接符 85"/>
          <p:cNvCxnSpPr/>
          <p:nvPr/>
        </p:nvCxnSpPr>
        <p:spPr bwMode="gray">
          <a:xfrm>
            <a:off x="1447798" y="6032447"/>
            <a:ext cx="1516194" cy="0"/>
          </a:xfrm>
          <a:prstGeom prst="straightConnector1">
            <a:avLst/>
          </a:prstGeom>
          <a:noFill/>
          <a:ln w="6350" cap="flat" cmpd="sng" algn="ctr">
            <a:solidFill>
              <a:schemeClr val="bg1">
                <a:lumMod val="75000"/>
              </a:schemeClr>
            </a:solidFill>
            <a:prstDash val="solid"/>
            <a:miter lim="800000"/>
            <a:tailEnd type="none"/>
          </a:ln>
          <a:effectLst/>
        </p:spPr>
      </p:cxnSp>
      <p:sp>
        <p:nvSpPr>
          <p:cNvPr id="87" name="文本框 86"/>
          <p:cNvSpPr txBox="1"/>
          <p:nvPr/>
        </p:nvSpPr>
        <p:spPr bwMode="gray">
          <a:xfrm>
            <a:off x="3679487" y="4973730"/>
            <a:ext cx="716996" cy="305105"/>
          </a:xfrm>
          <a:prstGeom prst="rect">
            <a:avLst/>
          </a:prstGeom>
          <a:noFill/>
        </p:spPr>
        <p:txBody>
          <a:bodyPr wrap="square" rtlCol="0">
            <a:noAutofit/>
          </a:bodyPr>
          <a:lstStyle/>
          <a:p>
            <a:pPr algn="ctr" fontAlgn="ctr"/>
            <a:r>
              <a:rPr lang="zh-CN" altLang="en-US" sz="1400" dirty="0">
                <a:solidFill>
                  <a:schemeClr val="bg2">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接入域</a:t>
            </a:r>
          </a:p>
        </p:txBody>
      </p:sp>
      <p:cxnSp>
        <p:nvCxnSpPr>
          <p:cNvPr id="88" name="Straight Connector 167"/>
          <p:cNvCxnSpPr>
            <a:endCxn id="70" idx="2"/>
          </p:cNvCxnSpPr>
          <p:nvPr/>
        </p:nvCxnSpPr>
        <p:spPr bwMode="gray">
          <a:xfrm flipH="1" flipV="1">
            <a:off x="3971240" y="2248554"/>
            <a:ext cx="0" cy="438921"/>
          </a:xfrm>
          <a:prstGeom prst="line">
            <a:avLst/>
          </a:prstGeom>
          <a:noFill/>
          <a:ln w="12700" cap="flat" cmpd="sng" algn="ctr">
            <a:solidFill>
              <a:schemeClr val="tx1"/>
            </a:solidFill>
            <a:prstDash val="solid"/>
            <a:miter lim="800000"/>
          </a:ln>
          <a:effectLst/>
        </p:spPr>
      </p:cxnSp>
      <p:pic>
        <p:nvPicPr>
          <p:cNvPr id="89" name="图片 86" descr="核心交换机.png"/>
          <p:cNvPicPr>
            <a:picLocks noChangeAspect="1"/>
          </p:cNvPicPr>
          <p:nvPr/>
        </p:nvPicPr>
        <p:blipFill>
          <a:blip r:embed="rId8"/>
          <a:stretch>
            <a:fillRect/>
          </a:stretch>
        </p:blipFill>
        <p:spPr bwMode="gray">
          <a:xfrm>
            <a:off x="3786504" y="2687475"/>
            <a:ext cx="369473" cy="302297"/>
          </a:xfrm>
          <a:prstGeom prst="rect">
            <a:avLst/>
          </a:prstGeom>
        </p:spPr>
      </p:pic>
      <p:pic>
        <p:nvPicPr>
          <p:cNvPr id="99" name="图片 9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2968007" y="1368347"/>
            <a:ext cx="1792651" cy="330612"/>
          </a:xfrm>
          <a:prstGeom prst="rect">
            <a:avLst/>
          </a:prstGeom>
        </p:spPr>
      </p:pic>
      <p:sp>
        <p:nvSpPr>
          <p:cNvPr id="43" name="TextBox 177"/>
          <p:cNvSpPr txBox="1"/>
          <p:nvPr/>
        </p:nvSpPr>
        <p:spPr bwMode="gray">
          <a:xfrm>
            <a:off x="731838" y="2363064"/>
            <a:ext cx="1083177" cy="252000"/>
          </a:xfrm>
          <a:prstGeom prst="rect">
            <a:avLst/>
          </a:prstGeom>
          <a:solidFill>
            <a:sysClr val="window" lastClr="FFFFFF">
              <a:lumMod val="85000"/>
            </a:sysClr>
          </a:solidFill>
          <a:ln>
            <a:noFill/>
          </a:ln>
        </p:spPr>
        <p:txBody>
          <a:bodyPr wrap="square" lIns="0" tIns="0" rIns="0" bIns="0" rtlCol="0" anchor="ctr" anchorCtr="0">
            <a:noAutofit/>
          </a:bodyPr>
          <a:lstStyle/>
          <a:p>
            <a:pPr algn="ctr" defTabSz="1219170" fontAlgn="ctr">
              <a:defRPr/>
            </a:pPr>
            <a:r>
              <a:rPr lang="zh-CN" altLang="en-US" sz="1200" ker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防火墙节点</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177"/>
          <p:cNvSpPr txBox="1"/>
          <p:nvPr/>
        </p:nvSpPr>
        <p:spPr bwMode="gray">
          <a:xfrm>
            <a:off x="731838" y="2757813"/>
            <a:ext cx="1083177" cy="252000"/>
          </a:xfrm>
          <a:prstGeom prst="rect">
            <a:avLst/>
          </a:prstGeom>
          <a:solidFill>
            <a:srgbClr val="C7000B"/>
          </a:solidFill>
          <a:ln>
            <a:noFill/>
          </a:ln>
        </p:spPr>
        <p:txBody>
          <a:bodyPr wrap="square" lIns="0" tIns="0" rIns="0" bIns="0" rtlCol="0" anchor="ctr" anchorCtr="0">
            <a:noAutofit/>
          </a:bodyPr>
          <a:lstStyle/>
          <a:p>
            <a:pPr algn="ctr" fontAlgn="ctr"/>
            <a:r>
              <a:rPr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边界网关节点</a:t>
            </a:r>
          </a:p>
        </p:txBody>
      </p:sp>
      <p:sp>
        <p:nvSpPr>
          <p:cNvPr id="45" name="TextBox 177"/>
          <p:cNvSpPr txBox="1"/>
          <p:nvPr/>
        </p:nvSpPr>
        <p:spPr bwMode="gray">
          <a:xfrm>
            <a:off x="731838" y="3597606"/>
            <a:ext cx="1083177" cy="252000"/>
          </a:xfrm>
          <a:prstGeom prst="rect">
            <a:avLst/>
          </a:prstGeom>
          <a:solidFill>
            <a:sysClr val="window" lastClr="FFFFFF">
              <a:lumMod val="85000"/>
            </a:sysClr>
          </a:solidFill>
          <a:ln>
            <a:noFill/>
          </a:ln>
        </p:spPr>
        <p:txBody>
          <a:bodyPr wrap="square" lIns="0" tIns="0" rIns="0" bIns="0" rtlCol="0" anchor="ctr" anchorCtr="0">
            <a:noAutofit/>
          </a:bodyPr>
          <a:lstStyle>
            <a:defPPr>
              <a:defRPr lang="zh-CN"/>
            </a:defPPr>
            <a:lvl1pPr algn="ctr">
              <a:defRPr sz="1000">
                <a:latin typeface="+mj-lt"/>
                <a:ea typeface="微软雅黑" panose="020B0503020204020204" pitchFamily="34" charset="-122"/>
              </a:defRPr>
            </a:lvl1pPr>
          </a:lstStyle>
          <a:p>
            <a:pPr defTabSz="1219170" fontAlgn="ctr">
              <a:defRPr/>
            </a:pPr>
            <a:r>
              <a:rPr lang="zh-CN" altLang="en-US"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透传节点</a:t>
            </a:r>
          </a:p>
        </p:txBody>
      </p:sp>
      <p:sp>
        <p:nvSpPr>
          <p:cNvPr id="46" name="TextBox 177"/>
          <p:cNvSpPr txBox="1"/>
          <p:nvPr/>
        </p:nvSpPr>
        <p:spPr bwMode="gray">
          <a:xfrm>
            <a:off x="731838" y="4686597"/>
            <a:ext cx="1083177" cy="252000"/>
          </a:xfrm>
          <a:prstGeom prst="rect">
            <a:avLst/>
          </a:prstGeom>
          <a:solidFill>
            <a:srgbClr val="C7000B"/>
          </a:solidFill>
          <a:ln>
            <a:noFill/>
          </a:ln>
        </p:spPr>
        <p:txBody>
          <a:bodyPr wrap="square" lIns="0" tIns="0" rIns="0" bIns="0" rtlCol="0" anchor="ctr" anchorCtr="0">
            <a:noAutofit/>
          </a:bodyPr>
          <a:lstStyle/>
          <a:p>
            <a:pPr algn="ctr" fontAlgn="ctr"/>
            <a:r>
              <a:rPr lang="zh-CN" altLang="en-US" sz="12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边缘节点</a:t>
            </a:r>
            <a:endParaRPr lang="zh-CN" altLang="en-US" sz="12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TextBox 177"/>
          <p:cNvSpPr txBox="1"/>
          <p:nvPr/>
        </p:nvSpPr>
        <p:spPr bwMode="gray">
          <a:xfrm>
            <a:off x="731838" y="5399534"/>
            <a:ext cx="1083177" cy="252000"/>
          </a:xfrm>
          <a:prstGeom prst="rect">
            <a:avLst/>
          </a:prstGeom>
          <a:solidFill>
            <a:sysClr val="window" lastClr="FFFFFF">
              <a:lumMod val="85000"/>
            </a:sysClr>
          </a:solidFill>
          <a:ln>
            <a:noFill/>
          </a:ln>
        </p:spPr>
        <p:txBody>
          <a:bodyPr wrap="square" lIns="0" tIns="0" rIns="0" bIns="0" rtlCol="0" anchor="ctr" anchorCtr="0">
            <a:noAutofit/>
          </a:bodyPr>
          <a:lstStyle>
            <a:defPPr>
              <a:defRPr lang="zh-CN"/>
            </a:defPPr>
            <a:lvl1pPr algn="ctr">
              <a:defRPr sz="1000">
                <a:latin typeface="+mj-lt"/>
                <a:ea typeface="微软雅黑" panose="020B0503020204020204" pitchFamily="34" charset="-122"/>
              </a:defRPr>
            </a:lvl1pPr>
          </a:lstStyle>
          <a:p>
            <a:pPr defTabSz="1219170" fontAlgn="ctr">
              <a:defRPr/>
            </a:pPr>
            <a:r>
              <a:rPr lang="zh-CN" altLang="en-US" sz="1200" ker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接入节点</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TextBox 177"/>
          <p:cNvSpPr txBox="1"/>
          <p:nvPr/>
        </p:nvSpPr>
        <p:spPr bwMode="gray">
          <a:xfrm>
            <a:off x="731838" y="5873865"/>
            <a:ext cx="1083177" cy="252000"/>
          </a:xfrm>
          <a:prstGeom prst="rect">
            <a:avLst/>
          </a:prstGeom>
          <a:solidFill>
            <a:sysClr val="window" lastClr="FFFFFF">
              <a:lumMod val="85000"/>
            </a:sysClr>
          </a:solidFill>
          <a:ln>
            <a:noFill/>
          </a:ln>
        </p:spPr>
        <p:txBody>
          <a:bodyPr wrap="square" lIns="0" tIns="0" rIns="0" bIns="0" rtlCol="0" anchor="ctr" anchorCtr="0">
            <a:noAutofit/>
          </a:bodyPr>
          <a:lstStyle>
            <a:defPPr>
              <a:defRPr lang="zh-CN"/>
            </a:defPPr>
            <a:lvl1pPr algn="ctr">
              <a:defRPr sz="1000">
                <a:latin typeface="+mj-lt"/>
                <a:ea typeface="微软雅黑" panose="020B0503020204020204" pitchFamily="34" charset="-122"/>
              </a:defRPr>
            </a:lvl1pPr>
          </a:lstStyle>
          <a:p>
            <a:pPr defTabSz="1219170" fontAlgn="ctr">
              <a:defRPr/>
            </a:pPr>
            <a:r>
              <a:rPr lang="en-US" altLang="zh-CN" sz="1200" ker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AP</a:t>
            </a:r>
            <a:endParaRPr lang="en-US" altLang="zh-CN" sz="1200"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08134290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a:sym typeface="Huawei Sans" panose="020C0503030203020204" pitchFamily="34" charset="0"/>
              </a:rPr>
              <a:t>Underlay</a:t>
            </a:r>
            <a:r>
              <a:rPr lang="zh-CN" altLang="en-US">
                <a:sym typeface="Huawei Sans" panose="020C0503030203020204" pitchFamily="34" charset="0"/>
              </a:rPr>
              <a:t>和</a:t>
            </a:r>
            <a:r>
              <a:rPr lang="en-US" altLang="zh-CN">
                <a:sym typeface="Huawei Sans" panose="020C0503030203020204" pitchFamily="34" charset="0"/>
              </a:rPr>
              <a:t>Fabric</a:t>
            </a:r>
            <a:endParaRPr lang="zh-CN" altLang="en-US" dirty="0">
              <a:sym typeface="Huawei Sans" panose="020C0503030203020204" pitchFamily="34" charset="0"/>
            </a:endParaRPr>
          </a:p>
        </p:txBody>
      </p:sp>
      <p:grpSp>
        <p:nvGrpSpPr>
          <p:cNvPr id="215" name="组合 214"/>
          <p:cNvGrpSpPr/>
          <p:nvPr/>
        </p:nvGrpSpPr>
        <p:grpSpPr bwMode="gray">
          <a:xfrm flipV="1">
            <a:off x="8900808" y="3775308"/>
            <a:ext cx="194258" cy="296327"/>
            <a:chOff x="5273248" y="4464391"/>
            <a:chExt cx="378553" cy="249005"/>
          </a:xfrm>
        </p:grpSpPr>
        <p:cxnSp>
          <p:nvCxnSpPr>
            <p:cNvPr id="216" name="直接连接符 215"/>
            <p:cNvCxnSpPr/>
            <p:nvPr/>
          </p:nvCxnSpPr>
          <p:spPr bwMode="gray">
            <a:xfrm>
              <a:off x="5273248" y="4464391"/>
              <a:ext cx="37855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7" name="直接连接符 216"/>
            <p:cNvCxnSpPr/>
            <p:nvPr/>
          </p:nvCxnSpPr>
          <p:spPr bwMode="gray">
            <a:xfrm>
              <a:off x="5462524" y="4464391"/>
              <a:ext cx="0" cy="2490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8" name="组合 217"/>
          <p:cNvGrpSpPr/>
          <p:nvPr/>
        </p:nvGrpSpPr>
        <p:grpSpPr bwMode="gray">
          <a:xfrm rot="5400000" flipV="1">
            <a:off x="7072902" y="3133643"/>
            <a:ext cx="194258" cy="296327"/>
            <a:chOff x="5273248" y="4464391"/>
            <a:chExt cx="378553" cy="249005"/>
          </a:xfrm>
        </p:grpSpPr>
        <p:cxnSp>
          <p:nvCxnSpPr>
            <p:cNvPr id="219" name="直接连接符 218"/>
            <p:cNvCxnSpPr/>
            <p:nvPr/>
          </p:nvCxnSpPr>
          <p:spPr bwMode="gray">
            <a:xfrm>
              <a:off x="5273248" y="4464391"/>
              <a:ext cx="37855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0" name="直接连接符 219"/>
            <p:cNvCxnSpPr/>
            <p:nvPr/>
          </p:nvCxnSpPr>
          <p:spPr bwMode="gray">
            <a:xfrm>
              <a:off x="5462524" y="4464391"/>
              <a:ext cx="0" cy="2490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2" name="组合 221"/>
          <p:cNvGrpSpPr/>
          <p:nvPr/>
        </p:nvGrpSpPr>
        <p:grpSpPr bwMode="gray">
          <a:xfrm>
            <a:off x="8852401" y="2343881"/>
            <a:ext cx="194258" cy="249005"/>
            <a:chOff x="5273248" y="4464391"/>
            <a:chExt cx="378553" cy="249005"/>
          </a:xfrm>
        </p:grpSpPr>
        <p:cxnSp>
          <p:nvCxnSpPr>
            <p:cNvPr id="223" name="直接连接符 222"/>
            <p:cNvCxnSpPr/>
            <p:nvPr/>
          </p:nvCxnSpPr>
          <p:spPr bwMode="gray">
            <a:xfrm>
              <a:off x="5273248" y="4464391"/>
              <a:ext cx="37855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4" name="直接连接符 223"/>
            <p:cNvCxnSpPr/>
            <p:nvPr/>
          </p:nvCxnSpPr>
          <p:spPr bwMode="gray">
            <a:xfrm>
              <a:off x="5462524" y="4464391"/>
              <a:ext cx="0" cy="2490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5" name="椭圆 224"/>
          <p:cNvSpPr/>
          <p:nvPr/>
        </p:nvSpPr>
        <p:spPr bwMode="gray">
          <a:xfrm rot="3329113">
            <a:off x="1299919" y="2412091"/>
            <a:ext cx="2359890" cy="2043936"/>
          </a:xfrm>
          <a:prstGeom prst="ellipse">
            <a:avLst/>
          </a:prstGeom>
          <a:solidFill>
            <a:srgbClr val="D7F2F5">
              <a:alpha val="32000"/>
            </a:srgbClr>
          </a:solidFill>
          <a:ln>
            <a:solidFill>
              <a:srgbClr val="94DAE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6" name="圆角矩形 75"/>
          <p:cNvSpPr/>
          <p:nvPr/>
        </p:nvSpPr>
        <p:spPr bwMode="gray">
          <a:xfrm>
            <a:off x="731838" y="1067713"/>
            <a:ext cx="5316648" cy="360000"/>
          </a:xfrm>
          <a:prstGeom prst="roundRect">
            <a:avLst>
              <a:gd name="adj" fmla="val 10919"/>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网络</a:t>
            </a:r>
          </a:p>
        </p:txBody>
      </p:sp>
      <p:sp>
        <p:nvSpPr>
          <p:cNvPr id="237" name="圆角矩形 75"/>
          <p:cNvSpPr/>
          <p:nvPr/>
        </p:nvSpPr>
        <p:spPr bwMode="gray">
          <a:xfrm>
            <a:off x="6096000" y="1067713"/>
            <a:ext cx="5364164" cy="360000"/>
          </a:xfrm>
          <a:prstGeom prst="roundRect">
            <a:avLst>
              <a:gd name="adj" fmla="val 10919"/>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6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网络</a:t>
            </a:r>
          </a:p>
        </p:txBody>
      </p:sp>
      <p:sp>
        <p:nvSpPr>
          <p:cNvPr id="238" name="圆角矩形 237"/>
          <p:cNvSpPr/>
          <p:nvPr/>
        </p:nvSpPr>
        <p:spPr bwMode="gray">
          <a:xfrm>
            <a:off x="731837" y="1492715"/>
            <a:ext cx="5316647" cy="4673722"/>
          </a:xfrm>
          <a:prstGeom prst="roundRect">
            <a:avLst>
              <a:gd name="adj" fmla="val 697"/>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9" name="圆角矩形 238"/>
          <p:cNvSpPr/>
          <p:nvPr/>
        </p:nvSpPr>
        <p:spPr bwMode="gray">
          <a:xfrm>
            <a:off x="6096000" y="1492715"/>
            <a:ext cx="5364164" cy="4673722"/>
          </a:xfrm>
          <a:prstGeom prst="roundRect">
            <a:avLst>
              <a:gd name="adj" fmla="val 697"/>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0" name="矩形 239"/>
          <p:cNvSpPr/>
          <p:nvPr/>
        </p:nvSpPr>
        <p:spPr bwMode="gray">
          <a:xfrm>
            <a:off x="731837" y="1565105"/>
            <a:ext cx="5316647" cy="605294"/>
          </a:xfrm>
          <a:prstGeom prst="rect">
            <a:avLst/>
          </a:prstGeom>
        </p:spPr>
        <p:txBody>
          <a:bodyPr wrap="square">
            <a:spAutoFit/>
          </a:bodyPr>
          <a:lstStyle/>
          <a:p>
            <a:pPr algn="just">
              <a:lnSpc>
                <a:spcPts val="2000"/>
              </a:lnSpc>
              <a:spcAft>
                <a:spcPts val="300"/>
              </a:spcAft>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网络是整个园区虚拟网络的“底座”，是由物理网络设备建立的物理组网，为园区内所有业务提供互联互通能力。</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3" name="矩形 242"/>
          <p:cNvSpPr/>
          <p:nvPr/>
        </p:nvSpPr>
        <p:spPr bwMode="gray">
          <a:xfrm>
            <a:off x="731838" y="4801197"/>
            <a:ext cx="5316646" cy="938719"/>
          </a:xfrm>
          <a:prstGeom prst="rect">
            <a:avLst/>
          </a:prstGeom>
        </p:spPr>
        <p:txBody>
          <a:bodyPr wrap="square">
            <a:spAutoFit/>
          </a:bodyPr>
          <a:lstStyle/>
          <a:p>
            <a:pPr marL="180975" indent="-180975" algn="just">
              <a:lnSpc>
                <a:spcPts val="2000"/>
              </a:lnSpc>
              <a:spcAft>
                <a:spcPts val="3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可表现为多层架构（核心、汇聚及接入层）</a:t>
            </a:r>
          </a:p>
          <a:p>
            <a:pPr marL="180975" indent="-180975" algn="just">
              <a:lnSpc>
                <a:spcPts val="2000"/>
              </a:lnSpc>
              <a:spcAft>
                <a:spcPts val="3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可表现为多种拓扑（树状、环状、网状等）</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80975" indent="-180975" algn="just">
              <a:lnSpc>
                <a:spcPts val="2000"/>
              </a:lnSpc>
              <a:spcAft>
                <a:spcPts val="300"/>
              </a:spcAft>
              <a:buFont typeface="Arial" panose="020B0604020202020204" pitchFamily="34" charset="0"/>
              <a:buChar cha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信息主要包含设备互联</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地址及</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IGP</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 name="组合 5"/>
          <p:cNvGrpSpPr/>
          <p:nvPr/>
        </p:nvGrpSpPr>
        <p:grpSpPr bwMode="gray">
          <a:xfrm>
            <a:off x="1227935" y="2208887"/>
            <a:ext cx="4351343" cy="2211442"/>
            <a:chOff x="785657" y="2721896"/>
            <a:chExt cx="4351343" cy="2211442"/>
          </a:xfrm>
        </p:grpSpPr>
        <p:cxnSp>
          <p:nvCxnSpPr>
            <p:cNvPr id="226" name="直接连接符 225"/>
            <p:cNvCxnSpPr/>
            <p:nvPr/>
          </p:nvCxnSpPr>
          <p:spPr bwMode="gray">
            <a:xfrm flipH="1" flipV="1">
              <a:off x="1171826" y="3856031"/>
              <a:ext cx="1667149" cy="698529"/>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7" name="直接连接符 226"/>
            <p:cNvCxnSpPr/>
            <p:nvPr/>
          </p:nvCxnSpPr>
          <p:spPr bwMode="gray">
            <a:xfrm flipH="1">
              <a:off x="1209867" y="3269846"/>
              <a:ext cx="1257277" cy="586185"/>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8" name="直接连接符 227"/>
            <p:cNvCxnSpPr/>
            <p:nvPr/>
          </p:nvCxnSpPr>
          <p:spPr bwMode="gray">
            <a:xfrm>
              <a:off x="2838975" y="4541382"/>
              <a:ext cx="2016489"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9" name="直接连接符 228"/>
            <p:cNvCxnSpPr/>
            <p:nvPr/>
          </p:nvCxnSpPr>
          <p:spPr bwMode="gray">
            <a:xfrm>
              <a:off x="2492756" y="3269846"/>
              <a:ext cx="866602"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30" name="图片 87" descr="汇聚交换机.png"/>
            <p:cNvPicPr>
              <a:picLocks noChangeAspect="1"/>
            </p:cNvPicPr>
            <p:nvPr/>
          </p:nvPicPr>
          <p:blipFill>
            <a:blip r:embed="rId3"/>
            <a:stretch>
              <a:fillRect/>
            </a:stretch>
          </p:blipFill>
          <p:spPr bwMode="gray">
            <a:xfrm>
              <a:off x="2281080" y="3124968"/>
              <a:ext cx="377776" cy="309091"/>
            </a:xfrm>
            <a:prstGeom prst="rect">
              <a:avLst/>
            </a:prstGeom>
          </p:spPr>
        </p:pic>
        <p:pic>
          <p:nvPicPr>
            <p:cNvPr id="231" name="图片 87" descr="汇聚交换机.png"/>
            <p:cNvPicPr>
              <a:picLocks noChangeAspect="1"/>
            </p:cNvPicPr>
            <p:nvPr/>
          </p:nvPicPr>
          <p:blipFill>
            <a:blip r:embed="rId3"/>
            <a:stretch>
              <a:fillRect/>
            </a:stretch>
          </p:blipFill>
          <p:spPr bwMode="gray">
            <a:xfrm>
              <a:off x="2625607" y="4386837"/>
              <a:ext cx="377776" cy="309091"/>
            </a:xfrm>
            <a:prstGeom prst="rect">
              <a:avLst/>
            </a:prstGeom>
          </p:spPr>
        </p:pic>
        <p:pic>
          <p:nvPicPr>
            <p:cNvPr id="232" name="图片 76" descr="接入交换机.png"/>
            <p:cNvPicPr>
              <a:picLocks noChangeAspect="1"/>
            </p:cNvPicPr>
            <p:nvPr/>
          </p:nvPicPr>
          <p:blipFill>
            <a:blip r:embed="rId4"/>
            <a:stretch>
              <a:fillRect/>
            </a:stretch>
          </p:blipFill>
          <p:spPr bwMode="gray">
            <a:xfrm>
              <a:off x="3724480" y="4386837"/>
              <a:ext cx="377776" cy="309091"/>
            </a:xfrm>
            <a:prstGeom prst="rect">
              <a:avLst/>
            </a:prstGeom>
          </p:spPr>
        </p:pic>
        <p:pic>
          <p:nvPicPr>
            <p:cNvPr id="233" name="图片 232" descr="接入交换机.png"/>
            <p:cNvPicPr>
              <a:picLocks noChangeAspect="1"/>
            </p:cNvPicPr>
            <p:nvPr/>
          </p:nvPicPr>
          <p:blipFill>
            <a:blip r:embed="rId4"/>
            <a:stretch>
              <a:fillRect/>
            </a:stretch>
          </p:blipFill>
          <p:spPr bwMode="gray">
            <a:xfrm>
              <a:off x="3381047" y="3124968"/>
              <a:ext cx="377776" cy="309091"/>
            </a:xfrm>
            <a:prstGeom prst="rect">
              <a:avLst/>
            </a:prstGeom>
          </p:spPr>
        </p:pic>
        <p:pic>
          <p:nvPicPr>
            <p:cNvPr id="234" name="图片 86" descr="核心交换机.png"/>
            <p:cNvPicPr>
              <a:picLocks noChangeAspect="1"/>
            </p:cNvPicPr>
            <p:nvPr/>
          </p:nvPicPr>
          <p:blipFill>
            <a:blip r:embed="rId5"/>
            <a:stretch>
              <a:fillRect/>
            </a:stretch>
          </p:blipFill>
          <p:spPr bwMode="gray">
            <a:xfrm>
              <a:off x="1020979" y="3707549"/>
              <a:ext cx="377776" cy="309091"/>
            </a:xfrm>
            <a:prstGeom prst="rect">
              <a:avLst/>
            </a:prstGeom>
          </p:spPr>
        </p:pic>
        <p:pic>
          <p:nvPicPr>
            <p:cNvPr id="235" name="图片 105" descr="AP.png"/>
            <p:cNvPicPr>
              <a:picLocks noChangeAspect="1"/>
            </p:cNvPicPr>
            <p:nvPr/>
          </p:nvPicPr>
          <p:blipFill>
            <a:blip r:embed="rId6"/>
            <a:stretch>
              <a:fillRect/>
            </a:stretch>
          </p:blipFill>
          <p:spPr bwMode="gray">
            <a:xfrm>
              <a:off x="4768173" y="4390498"/>
              <a:ext cx="368827" cy="301769"/>
            </a:xfrm>
            <a:prstGeom prst="rect">
              <a:avLst/>
            </a:prstGeom>
          </p:spPr>
        </p:pic>
        <p:sp>
          <p:nvSpPr>
            <p:cNvPr id="241" name="文本框 240"/>
            <p:cNvSpPr txBox="1"/>
            <p:nvPr/>
          </p:nvSpPr>
          <p:spPr bwMode="gray">
            <a:xfrm>
              <a:off x="892046" y="2721896"/>
              <a:ext cx="1013418" cy="523220"/>
            </a:xfrm>
            <a:prstGeom prst="rect">
              <a:avLst/>
            </a:prstGeom>
            <a:noFill/>
          </p:spPr>
          <p:txBody>
            <a:bodyPr wrap="none" rtlCol="0">
              <a:spAutoFit/>
            </a:bodyPr>
            <a:lstStyle/>
            <a:p>
              <a:pPr algn="ctr"/>
              <a:r>
                <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互联</a:t>
              </a: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VLAN</a:t>
              </a:r>
            </a:p>
            <a:p>
              <a:pPr algn="ctr"/>
              <a:r>
                <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互联</a:t>
              </a: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a:t>
              </a:r>
              <a:endPar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2" name="文本框 241"/>
            <p:cNvSpPr txBox="1"/>
            <p:nvPr/>
          </p:nvSpPr>
          <p:spPr bwMode="gray">
            <a:xfrm>
              <a:off x="785657" y="4410118"/>
              <a:ext cx="1013418" cy="523220"/>
            </a:xfrm>
            <a:prstGeom prst="rect">
              <a:avLst/>
            </a:prstGeom>
            <a:noFill/>
          </p:spPr>
          <p:txBody>
            <a:bodyPr wrap="none" rtlCol="0">
              <a:spAutoFit/>
            </a:bodyPr>
            <a:lstStyle/>
            <a:p>
              <a:pPr algn="ctr"/>
              <a:r>
                <a:rPr lang="zh-CN" altLang="en-US"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互联</a:t>
              </a:r>
              <a:r>
                <a:rPr lang="en-US" altLang="zh-CN"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VLAN</a:t>
              </a:r>
            </a:p>
            <a:p>
              <a:pPr algn="ctr"/>
              <a:r>
                <a:rPr lang="zh-CN" altLang="en-US"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互联</a:t>
              </a:r>
              <a:r>
                <a:rPr lang="en-US" altLang="zh-CN"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a:t>
              </a:r>
              <a:endParaRPr lang="zh-CN" altLang="en-US"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4" name="文本框 243"/>
            <p:cNvSpPr txBox="1"/>
            <p:nvPr/>
          </p:nvSpPr>
          <p:spPr bwMode="gray">
            <a:xfrm>
              <a:off x="1844097" y="3754880"/>
              <a:ext cx="1260280" cy="307777"/>
            </a:xfrm>
            <a:prstGeom prst="rect">
              <a:avLst/>
            </a:prstGeom>
            <a:noFill/>
          </p:spPr>
          <p:txBody>
            <a:bodyPr wrap="none" rtlCol="0">
              <a:spAutoFit/>
            </a:bodyPr>
            <a:lstStyle/>
            <a:p>
              <a:pPr algn="ct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IGP</a:t>
              </a:r>
              <a:r>
                <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p>
          </p:txBody>
        </p:sp>
        <p:cxnSp>
          <p:nvCxnSpPr>
            <p:cNvPr id="245" name="直接箭头连接符 244"/>
            <p:cNvCxnSpPr/>
            <p:nvPr/>
          </p:nvCxnSpPr>
          <p:spPr bwMode="gray">
            <a:xfrm>
              <a:off x="1619124" y="3115947"/>
              <a:ext cx="184020" cy="453744"/>
            </a:xfrm>
            <a:prstGeom prst="straightConnector1">
              <a:avLst/>
            </a:prstGeom>
            <a:ln w="28575">
              <a:solidFill>
                <a:srgbClr val="30B5C5"/>
              </a:solidFill>
              <a:tailEnd type="triangle"/>
            </a:ln>
          </p:spPr>
          <p:style>
            <a:lnRef idx="1">
              <a:schemeClr val="accent1"/>
            </a:lnRef>
            <a:fillRef idx="0">
              <a:schemeClr val="accent1"/>
            </a:fillRef>
            <a:effectRef idx="0">
              <a:schemeClr val="accent1"/>
            </a:effectRef>
            <a:fontRef idx="minor">
              <a:schemeClr val="tx1"/>
            </a:fontRef>
          </p:style>
        </p:cxnSp>
        <p:cxnSp>
          <p:nvCxnSpPr>
            <p:cNvPr id="246" name="直接箭头连接符 245"/>
            <p:cNvCxnSpPr/>
            <p:nvPr/>
          </p:nvCxnSpPr>
          <p:spPr bwMode="gray">
            <a:xfrm flipV="1">
              <a:off x="1444796" y="4065119"/>
              <a:ext cx="192918" cy="410389"/>
            </a:xfrm>
            <a:prstGeom prst="straightConnector1">
              <a:avLst/>
            </a:prstGeom>
            <a:ln w="28575">
              <a:solidFill>
                <a:srgbClr val="30B5C5"/>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47" name="直接连接符 246"/>
          <p:cNvCxnSpPr>
            <a:stCxn id="62" idx="1"/>
          </p:cNvCxnSpPr>
          <p:nvPr/>
        </p:nvCxnSpPr>
        <p:spPr bwMode="gray">
          <a:xfrm flipH="1" flipV="1">
            <a:off x="7355658" y="3248989"/>
            <a:ext cx="1453780" cy="492308"/>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8" name="直接连接符 247"/>
          <p:cNvCxnSpPr>
            <a:stCxn id="251" idx="1"/>
          </p:cNvCxnSpPr>
          <p:nvPr/>
        </p:nvCxnSpPr>
        <p:spPr bwMode="gray">
          <a:xfrm flipH="1">
            <a:off x="7397658" y="2672471"/>
            <a:ext cx="1358127" cy="576518"/>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9" name="直接连接符 248"/>
          <p:cNvCxnSpPr/>
          <p:nvPr/>
        </p:nvCxnSpPr>
        <p:spPr bwMode="gray">
          <a:xfrm>
            <a:off x="9022806" y="3741296"/>
            <a:ext cx="2016489"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0" name="直接连接符 249"/>
          <p:cNvCxnSpPr/>
          <p:nvPr/>
        </p:nvCxnSpPr>
        <p:spPr bwMode="gray">
          <a:xfrm>
            <a:off x="8967461" y="2662803"/>
            <a:ext cx="866602" cy="0"/>
          </a:xfrm>
          <a:prstGeom prst="line">
            <a:avLst/>
          </a:prstGeom>
          <a:ln w="95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51" name="图片 87" descr="汇聚交换机.png"/>
          <p:cNvPicPr>
            <a:picLocks noChangeAspect="1"/>
          </p:cNvPicPr>
          <p:nvPr/>
        </p:nvPicPr>
        <p:blipFill>
          <a:blip r:embed="rId3"/>
          <a:stretch>
            <a:fillRect/>
          </a:stretch>
        </p:blipFill>
        <p:spPr bwMode="gray">
          <a:xfrm>
            <a:off x="8755785" y="2517925"/>
            <a:ext cx="377776" cy="309091"/>
          </a:xfrm>
          <a:prstGeom prst="rect">
            <a:avLst/>
          </a:prstGeom>
        </p:spPr>
      </p:pic>
      <p:pic>
        <p:nvPicPr>
          <p:cNvPr id="252" name="图片 76" descr="接入交换机.png"/>
          <p:cNvPicPr>
            <a:picLocks noChangeAspect="1"/>
          </p:cNvPicPr>
          <p:nvPr/>
        </p:nvPicPr>
        <p:blipFill>
          <a:blip r:embed="rId4"/>
          <a:stretch>
            <a:fillRect/>
          </a:stretch>
        </p:blipFill>
        <p:spPr bwMode="gray">
          <a:xfrm>
            <a:off x="9908311" y="3586751"/>
            <a:ext cx="377776" cy="309091"/>
          </a:xfrm>
          <a:prstGeom prst="rect">
            <a:avLst/>
          </a:prstGeom>
        </p:spPr>
      </p:pic>
      <p:pic>
        <p:nvPicPr>
          <p:cNvPr id="253" name="图片 252" descr="接入交换机.png"/>
          <p:cNvPicPr>
            <a:picLocks noChangeAspect="1"/>
          </p:cNvPicPr>
          <p:nvPr/>
        </p:nvPicPr>
        <p:blipFill>
          <a:blip r:embed="rId4"/>
          <a:stretch>
            <a:fillRect/>
          </a:stretch>
        </p:blipFill>
        <p:spPr bwMode="gray">
          <a:xfrm>
            <a:off x="9855752" y="2517925"/>
            <a:ext cx="377776" cy="309091"/>
          </a:xfrm>
          <a:prstGeom prst="rect">
            <a:avLst/>
          </a:prstGeom>
        </p:spPr>
      </p:pic>
      <p:pic>
        <p:nvPicPr>
          <p:cNvPr id="254" name="图片 86" descr="核心交换机.png"/>
          <p:cNvPicPr>
            <a:picLocks noChangeAspect="1"/>
          </p:cNvPicPr>
          <p:nvPr/>
        </p:nvPicPr>
        <p:blipFill>
          <a:blip r:embed="rId5"/>
          <a:stretch>
            <a:fillRect/>
          </a:stretch>
        </p:blipFill>
        <p:spPr bwMode="gray">
          <a:xfrm>
            <a:off x="7204810" y="3100506"/>
            <a:ext cx="377776" cy="309091"/>
          </a:xfrm>
          <a:prstGeom prst="rect">
            <a:avLst/>
          </a:prstGeom>
        </p:spPr>
      </p:pic>
      <p:pic>
        <p:nvPicPr>
          <p:cNvPr id="255" name="图片 105" descr="AP.png"/>
          <p:cNvPicPr>
            <a:picLocks noChangeAspect="1"/>
          </p:cNvPicPr>
          <p:nvPr/>
        </p:nvPicPr>
        <p:blipFill>
          <a:blip r:embed="rId6"/>
          <a:stretch>
            <a:fillRect/>
          </a:stretch>
        </p:blipFill>
        <p:spPr bwMode="gray">
          <a:xfrm>
            <a:off x="10952004" y="3590412"/>
            <a:ext cx="368827" cy="301769"/>
          </a:xfrm>
          <a:prstGeom prst="rect">
            <a:avLst/>
          </a:prstGeom>
        </p:spPr>
      </p:pic>
      <p:sp>
        <p:nvSpPr>
          <p:cNvPr id="260" name="任意多边形 259"/>
          <p:cNvSpPr/>
          <p:nvPr/>
        </p:nvSpPr>
        <p:spPr bwMode="gray">
          <a:xfrm>
            <a:off x="7021868" y="2390036"/>
            <a:ext cx="1720105" cy="720827"/>
          </a:xfrm>
          <a:custGeom>
            <a:avLst/>
            <a:gdLst>
              <a:gd name="connsiteX0" fmla="*/ 0 w 1618488"/>
              <a:gd name="connsiteY0" fmla="*/ 713232 h 713232"/>
              <a:gd name="connsiteX1" fmla="*/ 1618488 w 1618488"/>
              <a:gd name="connsiteY1" fmla="*/ 0 h 713232"/>
              <a:gd name="connsiteX0" fmla="*/ 0 w 1618488"/>
              <a:gd name="connsiteY0" fmla="*/ 713232 h 713232"/>
              <a:gd name="connsiteX1" fmla="*/ 1618488 w 1618488"/>
              <a:gd name="connsiteY1" fmla="*/ 0 h 713232"/>
              <a:gd name="connsiteX0" fmla="*/ 0 w 1618488"/>
              <a:gd name="connsiteY0" fmla="*/ 813390 h 813390"/>
              <a:gd name="connsiteX1" fmla="*/ 1618488 w 1618488"/>
              <a:gd name="connsiteY1" fmla="*/ 100158 h 813390"/>
              <a:gd name="connsiteX0" fmla="*/ 0 w 1551297"/>
              <a:gd name="connsiteY0" fmla="*/ 893891 h 893891"/>
              <a:gd name="connsiteX1" fmla="*/ 1551297 w 1551297"/>
              <a:gd name="connsiteY1" fmla="*/ 80075 h 893891"/>
              <a:gd name="connsiteX0" fmla="*/ 0 w 1551297"/>
              <a:gd name="connsiteY0" fmla="*/ 840184 h 840184"/>
              <a:gd name="connsiteX1" fmla="*/ 1551297 w 1551297"/>
              <a:gd name="connsiteY1" fmla="*/ 26368 h 840184"/>
              <a:gd name="connsiteX0" fmla="*/ 0 w 1551297"/>
              <a:gd name="connsiteY0" fmla="*/ 840184 h 840184"/>
              <a:gd name="connsiteX1" fmla="*/ 1551297 w 1551297"/>
              <a:gd name="connsiteY1" fmla="*/ 26368 h 840184"/>
              <a:gd name="connsiteX0" fmla="*/ 0 w 1506503"/>
              <a:gd name="connsiteY0" fmla="*/ 872559 h 872559"/>
              <a:gd name="connsiteX1" fmla="*/ 1506503 w 1506503"/>
              <a:gd name="connsiteY1" fmla="*/ 22167 h 872559"/>
              <a:gd name="connsiteX0" fmla="*/ 0 w 1506503"/>
              <a:gd name="connsiteY0" fmla="*/ 864709 h 864709"/>
              <a:gd name="connsiteX1" fmla="*/ 1506503 w 1506503"/>
              <a:gd name="connsiteY1" fmla="*/ 14317 h 864709"/>
              <a:gd name="connsiteX0" fmla="*/ 0 w 1506503"/>
              <a:gd name="connsiteY0" fmla="*/ 863386 h 863386"/>
              <a:gd name="connsiteX1" fmla="*/ 1506503 w 1506503"/>
              <a:gd name="connsiteY1" fmla="*/ 12994 h 863386"/>
              <a:gd name="connsiteX0" fmla="*/ 0 w 1474806"/>
              <a:gd name="connsiteY0" fmla="*/ 875164 h 875164"/>
              <a:gd name="connsiteX1" fmla="*/ 1474806 w 1474806"/>
              <a:gd name="connsiteY1" fmla="*/ 12436 h 875164"/>
            </a:gdLst>
            <a:ahLst/>
            <a:cxnLst>
              <a:cxn ang="0">
                <a:pos x="connsiteX0" y="connsiteY0"/>
              </a:cxn>
              <a:cxn ang="0">
                <a:pos x="connsiteX1" y="connsiteY1"/>
              </a:cxn>
            </a:cxnLst>
            <a:rect l="l" t="t" r="r" b="b"/>
            <a:pathLst>
              <a:path w="1474806" h="875164">
                <a:moveTo>
                  <a:pt x="0" y="875164"/>
                </a:moveTo>
                <a:cubicBezTo>
                  <a:pt x="294461" y="116212"/>
                  <a:pt x="714928" y="-51572"/>
                  <a:pt x="1474806" y="12436"/>
                </a:cubicBezTo>
              </a:path>
            </a:pathLst>
          </a:custGeom>
          <a:noFill/>
          <a:ln>
            <a:solidFill>
              <a:srgbClr val="C7000B"/>
            </a:solidFill>
            <a:prstDash val="sysDash"/>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1" name="文本框 260"/>
          <p:cNvSpPr txBox="1"/>
          <p:nvPr/>
        </p:nvSpPr>
        <p:spPr bwMode="gray">
          <a:xfrm rot="19942996">
            <a:off x="6834206" y="2327921"/>
            <a:ext cx="1372492" cy="276999"/>
          </a:xfrm>
          <a:prstGeom prst="rect">
            <a:avLst/>
          </a:prstGeom>
          <a:noFill/>
        </p:spPr>
        <p:txBody>
          <a:bodyPr wrap="none" rtlCol="0">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BGP EVPN</a:t>
            </a:r>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对等体</a:t>
            </a:r>
          </a:p>
        </p:txBody>
      </p:sp>
      <p:sp>
        <p:nvSpPr>
          <p:cNvPr id="262" name="任意多边形 261"/>
          <p:cNvSpPr/>
          <p:nvPr/>
        </p:nvSpPr>
        <p:spPr bwMode="gray">
          <a:xfrm flipV="1">
            <a:off x="7050989" y="3411207"/>
            <a:ext cx="1791698" cy="660428"/>
          </a:xfrm>
          <a:custGeom>
            <a:avLst/>
            <a:gdLst>
              <a:gd name="connsiteX0" fmla="*/ 0 w 1618488"/>
              <a:gd name="connsiteY0" fmla="*/ 713232 h 713232"/>
              <a:gd name="connsiteX1" fmla="*/ 1618488 w 1618488"/>
              <a:gd name="connsiteY1" fmla="*/ 0 h 713232"/>
              <a:gd name="connsiteX0" fmla="*/ 0 w 1618488"/>
              <a:gd name="connsiteY0" fmla="*/ 713232 h 713232"/>
              <a:gd name="connsiteX1" fmla="*/ 1618488 w 1618488"/>
              <a:gd name="connsiteY1" fmla="*/ 0 h 713232"/>
              <a:gd name="connsiteX0" fmla="*/ 0 w 1618488"/>
              <a:gd name="connsiteY0" fmla="*/ 813390 h 813390"/>
              <a:gd name="connsiteX1" fmla="*/ 1618488 w 1618488"/>
              <a:gd name="connsiteY1" fmla="*/ 100158 h 813390"/>
              <a:gd name="connsiteX0" fmla="*/ 0 w 1620284"/>
              <a:gd name="connsiteY0" fmla="*/ 913418 h 913418"/>
              <a:gd name="connsiteX1" fmla="*/ 1620284 w 1620284"/>
              <a:gd name="connsiteY1" fmla="*/ 76221 h 913418"/>
              <a:gd name="connsiteX0" fmla="*/ 0 w 1620284"/>
              <a:gd name="connsiteY0" fmla="*/ 849454 h 849454"/>
              <a:gd name="connsiteX1" fmla="*/ 1620284 w 1620284"/>
              <a:gd name="connsiteY1" fmla="*/ 12257 h 849454"/>
              <a:gd name="connsiteX0" fmla="*/ 0 w 1658004"/>
              <a:gd name="connsiteY0" fmla="*/ 891229 h 891229"/>
              <a:gd name="connsiteX1" fmla="*/ 1658004 w 1658004"/>
              <a:gd name="connsiteY1" fmla="*/ 8954 h 891229"/>
              <a:gd name="connsiteX0" fmla="*/ 0 w 1658004"/>
              <a:gd name="connsiteY0" fmla="*/ 888174 h 888174"/>
              <a:gd name="connsiteX1" fmla="*/ 1658004 w 1658004"/>
              <a:gd name="connsiteY1" fmla="*/ 5899 h 888174"/>
              <a:gd name="connsiteX0" fmla="*/ 0 w 1658004"/>
              <a:gd name="connsiteY0" fmla="*/ 887368 h 887368"/>
              <a:gd name="connsiteX1" fmla="*/ 1658004 w 1658004"/>
              <a:gd name="connsiteY1" fmla="*/ 5093 h 887368"/>
            </a:gdLst>
            <a:ahLst/>
            <a:cxnLst>
              <a:cxn ang="0">
                <a:pos x="connsiteX0" y="connsiteY0"/>
              </a:cxn>
              <a:cxn ang="0">
                <a:pos x="connsiteX1" y="connsiteY1"/>
              </a:cxn>
            </a:cxnLst>
            <a:rect l="l" t="t" r="r" b="b"/>
            <a:pathLst>
              <a:path w="1658004" h="887368">
                <a:moveTo>
                  <a:pt x="0" y="887368"/>
                </a:moveTo>
                <a:cubicBezTo>
                  <a:pt x="346328" y="92682"/>
                  <a:pt x="794058" y="-29157"/>
                  <a:pt x="1658004" y="5093"/>
                </a:cubicBezTo>
              </a:path>
            </a:pathLst>
          </a:custGeom>
          <a:noFill/>
          <a:ln>
            <a:solidFill>
              <a:srgbClr val="C7000B"/>
            </a:solidFill>
            <a:prstDash val="sysDash"/>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3" name="文本框 262"/>
          <p:cNvSpPr txBox="1"/>
          <p:nvPr/>
        </p:nvSpPr>
        <p:spPr bwMode="gray">
          <a:xfrm rot="1416006">
            <a:off x="7115888" y="3635215"/>
            <a:ext cx="1372492" cy="276999"/>
          </a:xfrm>
          <a:prstGeom prst="rect">
            <a:avLst/>
          </a:prstGeom>
          <a:noFill/>
        </p:spPr>
        <p:txBody>
          <a:bodyPr wrap="none" rtlCol="0">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BGP EVPN</a:t>
            </a:r>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对等体</a:t>
            </a:r>
          </a:p>
        </p:txBody>
      </p:sp>
      <p:sp>
        <p:nvSpPr>
          <p:cNvPr id="264" name="矩形 263"/>
          <p:cNvSpPr/>
          <p:nvPr/>
        </p:nvSpPr>
        <p:spPr bwMode="gray">
          <a:xfrm>
            <a:off x="6108611" y="1565105"/>
            <a:ext cx="5351552" cy="605294"/>
          </a:xfrm>
          <a:prstGeom prst="rect">
            <a:avLst/>
          </a:prstGeom>
        </p:spPr>
        <p:txBody>
          <a:bodyPr wrap="square">
            <a:spAutoFit/>
          </a:bodyPr>
          <a:lstStyle/>
          <a:p>
            <a:pPr algn="just">
              <a:lnSpc>
                <a:spcPts val="2000"/>
              </a:lnSpc>
              <a:spcAft>
                <a:spcPts val="30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园区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是一个物理网络设备抽象后的网络资源池，</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将</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网络资源池化，以便实现“一网多用”。</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5" name="矩形 264"/>
          <p:cNvSpPr/>
          <p:nvPr/>
        </p:nvSpPr>
        <p:spPr bwMode="gray">
          <a:xfrm>
            <a:off x="6096000" y="4464998"/>
            <a:ext cx="5364163" cy="1528624"/>
          </a:xfrm>
          <a:prstGeom prst="rect">
            <a:avLst/>
          </a:prstGeom>
        </p:spPr>
        <p:txBody>
          <a:bodyPr wrap="square">
            <a:spAutoFit/>
          </a:bodyPr>
          <a:lstStyle/>
          <a:p>
            <a:pPr algn="just">
              <a:lnSpc>
                <a:spcPts val="2000"/>
              </a:lnSpc>
              <a:spcAft>
                <a:spcPts val="300"/>
              </a:spcAft>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的信息主要包含如下：</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80975" indent="-180975" algn="just">
              <a:lnSpc>
                <a:spcPts val="2000"/>
              </a:lnSpc>
              <a:spcAft>
                <a:spcPts val="3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终端接入的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Overlay</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网络资源池（</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BD-ID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VNI</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p>
          <a:p>
            <a:pPr marL="180975" indent="-180975" algn="just">
              <a:lnSpc>
                <a:spcPts val="2000"/>
              </a:lnSpc>
              <a:spcAft>
                <a:spcPts val="3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终端接入的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 ID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池</a:t>
            </a:r>
          </a:p>
          <a:p>
            <a:pPr marL="180975" indent="-180975" algn="just">
              <a:lnSpc>
                <a:spcPts val="2000"/>
              </a:lnSpc>
              <a:spcAft>
                <a:spcPts val="3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终端的接入点池（交换机端口或</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SSID</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，即有线或无线接入）等</a:t>
            </a:r>
          </a:p>
          <a:p>
            <a:pPr algn="just">
              <a:lnSpc>
                <a:spcPts val="2000"/>
              </a:lnSpc>
              <a:spcAft>
                <a:spcPts val="30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这些资源池可用于创建多个虚拟网络。</a:t>
            </a:r>
          </a:p>
        </p:txBody>
      </p:sp>
      <p:sp>
        <p:nvSpPr>
          <p:cNvPr id="266" name="文本框 265"/>
          <p:cNvSpPr txBox="1"/>
          <p:nvPr/>
        </p:nvSpPr>
        <p:spPr bwMode="gray">
          <a:xfrm>
            <a:off x="7572206" y="3092529"/>
            <a:ext cx="688009" cy="276999"/>
          </a:xfrm>
          <a:prstGeom prst="rect">
            <a:avLst/>
          </a:prstGeom>
          <a:noFill/>
        </p:spPr>
        <p:txBody>
          <a:bodyPr wrap="none" rtlCol="0">
            <a:spAutoFit/>
          </a:bodyPr>
          <a:lstStyle/>
          <a:p>
            <a:pPr algn="ctr"/>
            <a:r>
              <a:rPr lang="en-US" altLang="zh-CN" sz="12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Border</a:t>
            </a:r>
            <a:endParaRPr lang="zh-CN" altLang="en-US" sz="12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7" name="文本框 266"/>
          <p:cNvSpPr txBox="1"/>
          <p:nvPr/>
        </p:nvSpPr>
        <p:spPr bwMode="gray">
          <a:xfrm>
            <a:off x="8741974" y="2840755"/>
            <a:ext cx="561372" cy="276999"/>
          </a:xfrm>
          <a:prstGeom prst="rect">
            <a:avLst/>
          </a:prstGeom>
          <a:noFill/>
        </p:spPr>
        <p:txBody>
          <a:bodyPr wrap="none" rtlCol="0">
            <a:spAutoFit/>
          </a:bodyPr>
          <a:lstStyle/>
          <a:p>
            <a:pPr algn="ctr"/>
            <a:r>
              <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Edge</a:t>
            </a:r>
            <a:endPar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8" name="文本框 267"/>
          <p:cNvSpPr txBox="1"/>
          <p:nvPr/>
        </p:nvSpPr>
        <p:spPr bwMode="gray">
          <a:xfrm>
            <a:off x="8741974" y="3280298"/>
            <a:ext cx="561372" cy="276999"/>
          </a:xfrm>
          <a:prstGeom prst="rect">
            <a:avLst/>
          </a:prstGeom>
          <a:noFill/>
        </p:spPr>
        <p:txBody>
          <a:bodyPr wrap="none" rtlCol="0">
            <a:spAutoFit/>
          </a:bodyPr>
          <a:lstStyle/>
          <a:p>
            <a:pPr algn="ctr"/>
            <a:r>
              <a:rPr lang="en-US" altLang="zh-CN" sz="12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Edge</a:t>
            </a:r>
            <a:endParaRPr lang="zh-CN" altLang="en-US" sz="12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9" name="文本框 268"/>
          <p:cNvSpPr txBox="1"/>
          <p:nvPr/>
        </p:nvSpPr>
        <p:spPr bwMode="gray">
          <a:xfrm>
            <a:off x="9744624" y="2840755"/>
            <a:ext cx="662361" cy="276999"/>
          </a:xfrm>
          <a:prstGeom prst="rect">
            <a:avLst/>
          </a:prstGeom>
          <a:noFill/>
        </p:spPr>
        <p:txBody>
          <a:bodyPr wrap="none" rtlCol="0">
            <a:spAutoFit/>
          </a:bodyPr>
          <a:lstStyle/>
          <a:p>
            <a:pPr algn="ctr"/>
            <a:r>
              <a:rPr lang="en-US" altLang="zh-CN" sz="12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Access</a:t>
            </a:r>
            <a:endParaRPr lang="zh-CN" altLang="en-US" sz="12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0" name="文本框 269"/>
          <p:cNvSpPr txBox="1"/>
          <p:nvPr/>
        </p:nvSpPr>
        <p:spPr bwMode="gray">
          <a:xfrm>
            <a:off x="9744624" y="3280298"/>
            <a:ext cx="662361" cy="276999"/>
          </a:xfrm>
          <a:prstGeom prst="rect">
            <a:avLst/>
          </a:prstGeom>
          <a:noFill/>
        </p:spPr>
        <p:txBody>
          <a:bodyPr wrap="none" rtlCol="0">
            <a:spAutoFit/>
          </a:bodyPr>
          <a:lstStyle/>
          <a:p>
            <a:pPr algn="ctr"/>
            <a:r>
              <a:rPr lang="en-US" altLang="zh-CN" sz="12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Access</a:t>
            </a:r>
            <a:endParaRPr lang="zh-CN" altLang="en-US" sz="12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8" name="组合 67"/>
          <p:cNvGrpSpPr/>
          <p:nvPr/>
        </p:nvGrpSpPr>
        <p:grpSpPr bwMode="gray">
          <a:xfrm>
            <a:off x="10446419" y="2231937"/>
            <a:ext cx="176598" cy="86873"/>
            <a:chOff x="5273248" y="4464391"/>
            <a:chExt cx="378553" cy="249005"/>
          </a:xfrm>
        </p:grpSpPr>
        <p:cxnSp>
          <p:nvCxnSpPr>
            <p:cNvPr id="69" name="直接连接符 68"/>
            <p:cNvCxnSpPr/>
            <p:nvPr/>
          </p:nvCxnSpPr>
          <p:spPr bwMode="gray">
            <a:xfrm>
              <a:off x="5273248" y="4464391"/>
              <a:ext cx="37855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bwMode="gray">
            <a:xfrm>
              <a:off x="5462524" y="4464391"/>
              <a:ext cx="0" cy="2490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1" name="文本框 70"/>
          <p:cNvSpPr txBox="1"/>
          <p:nvPr/>
        </p:nvSpPr>
        <p:spPr bwMode="gray">
          <a:xfrm>
            <a:off x="10547347" y="2145468"/>
            <a:ext cx="853118"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Loopback</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2" name="图片 87" descr="汇聚交换机.png"/>
          <p:cNvPicPr>
            <a:picLocks noChangeAspect="1"/>
          </p:cNvPicPr>
          <p:nvPr/>
        </p:nvPicPr>
        <p:blipFill>
          <a:blip r:embed="rId3"/>
          <a:stretch>
            <a:fillRect/>
          </a:stretch>
        </p:blipFill>
        <p:spPr bwMode="gray">
          <a:xfrm>
            <a:off x="8809438" y="3586751"/>
            <a:ext cx="377776" cy="309091"/>
          </a:xfrm>
          <a:prstGeom prst="rect">
            <a:avLst/>
          </a:prstGeom>
        </p:spPr>
      </p:pic>
    </p:spTree>
    <p:extLst>
      <p:ext uri="{BB962C8B-B14F-4D97-AF65-F5344CB8AC3E}">
        <p14:creationId xmlns:p14="http://schemas.microsoft.com/office/powerpoint/2010/main" val="51172502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a:sym typeface="Huawei Sans" panose="020C0503030203020204" pitchFamily="34" charset="0"/>
              </a:rPr>
              <a:t>Overlay</a:t>
            </a:r>
            <a:endParaRPr lang="zh-CN" altLang="en-US" dirty="0">
              <a:sym typeface="Huawei Sans" panose="020C0503030203020204" pitchFamily="34" charset="0"/>
            </a:endParaRPr>
          </a:p>
        </p:txBody>
      </p:sp>
      <p:sp>
        <p:nvSpPr>
          <p:cNvPr id="78" name="圆角矩形 75"/>
          <p:cNvSpPr/>
          <p:nvPr/>
        </p:nvSpPr>
        <p:spPr bwMode="gray">
          <a:xfrm>
            <a:off x="564855" y="1056073"/>
            <a:ext cx="5364162" cy="360000"/>
          </a:xfrm>
          <a:prstGeom prst="roundRect">
            <a:avLst>
              <a:gd name="adj" fmla="val 10919"/>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现实生活中的</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Overlay</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圆角矩形 78"/>
          <p:cNvSpPr/>
          <p:nvPr/>
        </p:nvSpPr>
        <p:spPr bwMode="gray">
          <a:xfrm>
            <a:off x="564855" y="1471501"/>
            <a:ext cx="5364162" cy="4324285"/>
          </a:xfrm>
          <a:prstGeom prst="roundRect">
            <a:avLst>
              <a:gd name="adj" fmla="val 697"/>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任意多边形 79"/>
          <p:cNvSpPr/>
          <p:nvPr/>
        </p:nvSpPr>
        <p:spPr bwMode="gray">
          <a:xfrm>
            <a:off x="1454922" y="4534676"/>
            <a:ext cx="2529840" cy="568960"/>
          </a:xfrm>
          <a:custGeom>
            <a:avLst/>
            <a:gdLst>
              <a:gd name="connsiteX0" fmla="*/ 0 w 2529840"/>
              <a:gd name="connsiteY0" fmla="*/ 0 h 568960"/>
              <a:gd name="connsiteX1" fmla="*/ 1960880 w 2529840"/>
              <a:gd name="connsiteY1" fmla="*/ 0 h 568960"/>
              <a:gd name="connsiteX2" fmla="*/ 2529840 w 2529840"/>
              <a:gd name="connsiteY2" fmla="*/ 568960 h 568960"/>
            </a:gdLst>
            <a:ahLst/>
            <a:cxnLst>
              <a:cxn ang="0">
                <a:pos x="connsiteX0" y="connsiteY0"/>
              </a:cxn>
              <a:cxn ang="0">
                <a:pos x="connsiteX1" y="connsiteY1"/>
              </a:cxn>
              <a:cxn ang="0">
                <a:pos x="connsiteX2" y="connsiteY2"/>
              </a:cxn>
            </a:cxnLst>
            <a:rect l="l" t="t" r="r" b="b"/>
            <a:pathLst>
              <a:path w="2529840" h="568960">
                <a:moveTo>
                  <a:pt x="0" y="0"/>
                </a:moveTo>
                <a:lnTo>
                  <a:pt x="1960880" y="0"/>
                </a:lnTo>
                <a:lnTo>
                  <a:pt x="2529840" y="568960"/>
                </a:lnTo>
              </a:path>
            </a:pathLst>
          </a:custGeom>
          <a:ln w="11112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任意多边形 80"/>
          <p:cNvSpPr/>
          <p:nvPr/>
        </p:nvSpPr>
        <p:spPr bwMode="gray">
          <a:xfrm>
            <a:off x="1912122" y="4530814"/>
            <a:ext cx="3241040" cy="599440"/>
          </a:xfrm>
          <a:custGeom>
            <a:avLst/>
            <a:gdLst>
              <a:gd name="connsiteX0" fmla="*/ 0 w 3241040"/>
              <a:gd name="connsiteY0" fmla="*/ 0 h 599440"/>
              <a:gd name="connsiteX1" fmla="*/ 599440 w 3241040"/>
              <a:gd name="connsiteY1" fmla="*/ 599440 h 599440"/>
              <a:gd name="connsiteX2" fmla="*/ 3241040 w 3241040"/>
              <a:gd name="connsiteY2" fmla="*/ 599440 h 599440"/>
            </a:gdLst>
            <a:ahLst/>
            <a:cxnLst>
              <a:cxn ang="0">
                <a:pos x="connsiteX0" y="connsiteY0"/>
              </a:cxn>
              <a:cxn ang="0">
                <a:pos x="connsiteX1" y="connsiteY1"/>
              </a:cxn>
              <a:cxn ang="0">
                <a:pos x="connsiteX2" y="connsiteY2"/>
              </a:cxn>
            </a:cxnLst>
            <a:rect l="l" t="t" r="r" b="b"/>
            <a:pathLst>
              <a:path w="3241040" h="599440">
                <a:moveTo>
                  <a:pt x="0" y="0"/>
                </a:moveTo>
                <a:lnTo>
                  <a:pt x="599440" y="599440"/>
                </a:lnTo>
                <a:lnTo>
                  <a:pt x="3241040" y="599440"/>
                </a:lnTo>
              </a:path>
            </a:pathLst>
          </a:custGeom>
          <a:ln w="11112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文本框 81"/>
          <p:cNvSpPr txBox="1"/>
          <p:nvPr/>
        </p:nvSpPr>
        <p:spPr bwMode="gray">
          <a:xfrm>
            <a:off x="2245882" y="5334352"/>
            <a:ext cx="1980030" cy="307777"/>
          </a:xfrm>
          <a:prstGeom prst="rect">
            <a:avLst/>
          </a:prstGeom>
          <a:noFill/>
        </p:spPr>
        <p:txBody>
          <a:bodyPr wrap="none" rtlCol="0">
            <a:spAutoFit/>
          </a:bodyPr>
          <a:lstStyle/>
          <a:p>
            <a:pPr algn="ctr"/>
            <a:r>
              <a:rPr lang="zh-CN" altLang="en-US" sz="1400" b="1"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城市道路（基础设施）</a:t>
            </a:r>
          </a:p>
        </p:txBody>
      </p:sp>
      <p:cxnSp>
        <p:nvCxnSpPr>
          <p:cNvPr id="83" name="直接连接符 82"/>
          <p:cNvCxnSpPr/>
          <p:nvPr/>
        </p:nvCxnSpPr>
        <p:spPr bwMode="gray">
          <a:xfrm>
            <a:off x="4631979" y="5130254"/>
            <a:ext cx="440081" cy="440081"/>
          </a:xfrm>
          <a:prstGeom prst="line">
            <a:avLst/>
          </a:prstGeom>
          <a:ln w="11112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4" name="任意多边形 83"/>
          <p:cNvSpPr/>
          <p:nvPr/>
        </p:nvSpPr>
        <p:spPr bwMode="gray">
          <a:xfrm>
            <a:off x="1480323" y="2319514"/>
            <a:ext cx="2529840" cy="568960"/>
          </a:xfrm>
          <a:custGeom>
            <a:avLst/>
            <a:gdLst>
              <a:gd name="connsiteX0" fmla="*/ 0 w 2529840"/>
              <a:gd name="connsiteY0" fmla="*/ 0 h 568960"/>
              <a:gd name="connsiteX1" fmla="*/ 1960880 w 2529840"/>
              <a:gd name="connsiteY1" fmla="*/ 0 h 568960"/>
              <a:gd name="connsiteX2" fmla="*/ 2529840 w 2529840"/>
              <a:gd name="connsiteY2" fmla="*/ 568960 h 568960"/>
            </a:gdLst>
            <a:ahLst/>
            <a:cxnLst>
              <a:cxn ang="0">
                <a:pos x="connsiteX0" y="connsiteY0"/>
              </a:cxn>
              <a:cxn ang="0">
                <a:pos x="connsiteX1" y="connsiteY1"/>
              </a:cxn>
              <a:cxn ang="0">
                <a:pos x="connsiteX2" y="connsiteY2"/>
              </a:cxn>
            </a:cxnLst>
            <a:rect l="l" t="t" r="r" b="b"/>
            <a:pathLst>
              <a:path w="2529840" h="568960">
                <a:moveTo>
                  <a:pt x="0" y="0"/>
                </a:moveTo>
                <a:lnTo>
                  <a:pt x="1960880" y="0"/>
                </a:lnTo>
                <a:lnTo>
                  <a:pt x="2529840" y="568960"/>
                </a:lnTo>
              </a:path>
            </a:pathLst>
          </a:custGeom>
          <a:ln w="11112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任意多边形 84"/>
          <p:cNvSpPr/>
          <p:nvPr/>
        </p:nvSpPr>
        <p:spPr bwMode="gray">
          <a:xfrm>
            <a:off x="1937523" y="2315652"/>
            <a:ext cx="3241040" cy="599440"/>
          </a:xfrm>
          <a:custGeom>
            <a:avLst/>
            <a:gdLst>
              <a:gd name="connsiteX0" fmla="*/ 0 w 3241040"/>
              <a:gd name="connsiteY0" fmla="*/ 0 h 599440"/>
              <a:gd name="connsiteX1" fmla="*/ 599440 w 3241040"/>
              <a:gd name="connsiteY1" fmla="*/ 599440 h 599440"/>
              <a:gd name="connsiteX2" fmla="*/ 3241040 w 3241040"/>
              <a:gd name="connsiteY2" fmla="*/ 599440 h 599440"/>
            </a:gdLst>
            <a:ahLst/>
            <a:cxnLst>
              <a:cxn ang="0">
                <a:pos x="connsiteX0" y="connsiteY0"/>
              </a:cxn>
              <a:cxn ang="0">
                <a:pos x="connsiteX1" y="connsiteY1"/>
              </a:cxn>
              <a:cxn ang="0">
                <a:pos x="connsiteX2" y="connsiteY2"/>
              </a:cxn>
            </a:cxnLst>
            <a:rect l="l" t="t" r="r" b="b"/>
            <a:pathLst>
              <a:path w="3241040" h="599440">
                <a:moveTo>
                  <a:pt x="0" y="0"/>
                </a:moveTo>
                <a:lnTo>
                  <a:pt x="599440" y="599440"/>
                </a:lnTo>
                <a:lnTo>
                  <a:pt x="3241040" y="599440"/>
                </a:lnTo>
              </a:path>
            </a:pathLst>
          </a:custGeom>
          <a:ln w="111125">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文本框 85"/>
          <p:cNvSpPr txBox="1"/>
          <p:nvPr/>
        </p:nvSpPr>
        <p:spPr bwMode="gray">
          <a:xfrm>
            <a:off x="2334790" y="3119190"/>
            <a:ext cx="1800493" cy="307777"/>
          </a:xfrm>
          <a:prstGeom prst="rect">
            <a:avLst/>
          </a:prstGeom>
          <a:noFill/>
        </p:spPr>
        <p:txBody>
          <a:bodyPr wrap="none" rtlCol="0">
            <a:spAutoFit/>
          </a:bodyPr>
          <a:lstStyle/>
          <a:p>
            <a:pPr algn="ctr"/>
            <a:r>
              <a:rPr lang="zh-CN" altLang="en-US" sz="1400" b="1"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装载乘客的交通工具</a:t>
            </a:r>
          </a:p>
        </p:txBody>
      </p:sp>
      <p:cxnSp>
        <p:nvCxnSpPr>
          <p:cNvPr id="87" name="直接连接符 86"/>
          <p:cNvCxnSpPr/>
          <p:nvPr/>
        </p:nvCxnSpPr>
        <p:spPr bwMode="gray">
          <a:xfrm>
            <a:off x="4657380" y="2915092"/>
            <a:ext cx="440081" cy="440081"/>
          </a:xfrm>
          <a:prstGeom prst="line">
            <a:avLst/>
          </a:prstGeom>
          <a:ln w="1111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88" name="组合 320"/>
          <p:cNvGrpSpPr>
            <a:grpSpLocks/>
          </p:cNvGrpSpPr>
          <p:nvPr/>
        </p:nvGrpSpPr>
        <p:grpSpPr bwMode="gray">
          <a:xfrm>
            <a:off x="946171" y="1627473"/>
            <a:ext cx="409590" cy="560220"/>
            <a:chOff x="649288" y="2289176"/>
            <a:chExt cx="561975" cy="769938"/>
          </a:xfrm>
          <a:solidFill>
            <a:srgbClr val="C7000B"/>
          </a:solidFill>
        </p:grpSpPr>
        <p:sp>
          <p:nvSpPr>
            <p:cNvPr id="89" name="Freeform 78"/>
            <p:cNvSpPr>
              <a:spLocks noEditPoints="1"/>
            </p:cNvSpPr>
            <p:nvPr/>
          </p:nvSpPr>
          <p:spPr bwMode="gray">
            <a:xfrm>
              <a:off x="768350" y="2289176"/>
              <a:ext cx="323850" cy="327025"/>
            </a:xfrm>
            <a:custGeom>
              <a:avLst/>
              <a:gdLst>
                <a:gd name="T0" fmla="*/ 2147483647 w 775"/>
                <a:gd name="T1" fmla="*/ 2147483647 h 776"/>
                <a:gd name="T2" fmla="*/ 2147483647 w 775"/>
                <a:gd name="T3" fmla="*/ 2147483647 h 776"/>
                <a:gd name="T4" fmla="*/ 2147483647 w 775"/>
                <a:gd name="T5" fmla="*/ 2147483647 h 776"/>
                <a:gd name="T6" fmla="*/ 2147483647 w 775"/>
                <a:gd name="T7" fmla="*/ 2147483647 h 776"/>
                <a:gd name="T8" fmla="*/ 2147483647 w 775"/>
                <a:gd name="T9" fmla="*/ 2147483647 h 776"/>
                <a:gd name="T10" fmla="*/ 2147483647 w 775"/>
                <a:gd name="T11" fmla="*/ 2147483647 h 776"/>
                <a:gd name="T12" fmla="*/ 2147483647 w 775"/>
                <a:gd name="T13" fmla="*/ 2147483647 h 776"/>
                <a:gd name="T14" fmla="*/ 2147483647 w 775"/>
                <a:gd name="T15" fmla="*/ 2147483647 h 776"/>
                <a:gd name="T16" fmla="*/ 0 w 775"/>
                <a:gd name="T17" fmla="*/ 2147483647 h 776"/>
                <a:gd name="T18" fmla="*/ 2147483647 w 775"/>
                <a:gd name="T19" fmla="*/ 0 h 776"/>
                <a:gd name="T20" fmla="*/ 2147483647 w 775"/>
                <a:gd name="T21" fmla="*/ 2147483647 h 776"/>
                <a:gd name="T22" fmla="*/ 2147483647 w 775"/>
                <a:gd name="T23" fmla="*/ 2147483647 h 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5"/>
                <a:gd name="T37" fmla="*/ 0 h 776"/>
                <a:gd name="T38" fmla="*/ 775 w 775"/>
                <a:gd name="T39" fmla="*/ 776 h 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5" h="776">
                  <a:moveTo>
                    <a:pt x="387" y="67"/>
                  </a:moveTo>
                  <a:lnTo>
                    <a:pt x="387" y="67"/>
                  </a:lnTo>
                  <a:cubicBezTo>
                    <a:pt x="210" y="67"/>
                    <a:pt x="66" y="211"/>
                    <a:pt x="66" y="388"/>
                  </a:cubicBezTo>
                  <a:cubicBezTo>
                    <a:pt x="66" y="565"/>
                    <a:pt x="210" y="709"/>
                    <a:pt x="387" y="709"/>
                  </a:cubicBezTo>
                  <a:cubicBezTo>
                    <a:pt x="565" y="709"/>
                    <a:pt x="709" y="565"/>
                    <a:pt x="709" y="388"/>
                  </a:cubicBezTo>
                  <a:cubicBezTo>
                    <a:pt x="709" y="211"/>
                    <a:pt x="565" y="67"/>
                    <a:pt x="387" y="67"/>
                  </a:cubicBezTo>
                  <a:close/>
                  <a:moveTo>
                    <a:pt x="387" y="776"/>
                  </a:moveTo>
                  <a:lnTo>
                    <a:pt x="387" y="776"/>
                  </a:lnTo>
                  <a:cubicBezTo>
                    <a:pt x="174" y="776"/>
                    <a:pt x="0" y="602"/>
                    <a:pt x="0" y="388"/>
                  </a:cubicBezTo>
                  <a:cubicBezTo>
                    <a:pt x="0" y="174"/>
                    <a:pt x="174" y="0"/>
                    <a:pt x="387" y="0"/>
                  </a:cubicBezTo>
                  <a:cubicBezTo>
                    <a:pt x="601" y="0"/>
                    <a:pt x="775" y="174"/>
                    <a:pt x="775" y="388"/>
                  </a:cubicBezTo>
                  <a:cubicBezTo>
                    <a:pt x="775" y="602"/>
                    <a:pt x="601" y="776"/>
                    <a:pt x="387" y="776"/>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Freeform 79"/>
            <p:cNvSpPr>
              <a:spLocks/>
            </p:cNvSpPr>
            <p:nvPr/>
          </p:nvSpPr>
          <p:spPr bwMode="gray">
            <a:xfrm>
              <a:off x="649288" y="2652713"/>
              <a:ext cx="561975" cy="390525"/>
            </a:xfrm>
            <a:custGeom>
              <a:avLst/>
              <a:gdLst>
                <a:gd name="T0" fmla="*/ 2147483647 w 1337"/>
                <a:gd name="T1" fmla="*/ 2147483647 h 932"/>
                <a:gd name="T2" fmla="*/ 2147483647 w 1337"/>
                <a:gd name="T3" fmla="*/ 2147483647 h 932"/>
                <a:gd name="T4" fmla="*/ 2147483647 w 1337"/>
                <a:gd name="T5" fmla="*/ 2147483647 h 932"/>
                <a:gd name="T6" fmla="*/ 2147483647 w 1337"/>
                <a:gd name="T7" fmla="*/ 2147483647 h 932"/>
                <a:gd name="T8" fmla="*/ 2147483647 w 1337"/>
                <a:gd name="T9" fmla="*/ 2147483647 h 932"/>
                <a:gd name="T10" fmla="*/ 2147483647 w 1337"/>
                <a:gd name="T11" fmla="*/ 2147483647 h 932"/>
                <a:gd name="T12" fmla="*/ 2147483647 w 1337"/>
                <a:gd name="T13" fmla="*/ 2147483647 h 932"/>
                <a:gd name="T14" fmla="*/ 2147483647 w 1337"/>
                <a:gd name="T15" fmla="*/ 2147483647 h 932"/>
                <a:gd name="T16" fmla="*/ 2147483647 w 1337"/>
                <a:gd name="T17" fmla="*/ 2147483647 h 932"/>
                <a:gd name="T18" fmla="*/ 2147483647 w 1337"/>
                <a:gd name="T19" fmla="*/ 2147483647 h 932"/>
                <a:gd name="T20" fmla="*/ 2147483647 w 1337"/>
                <a:gd name="T21" fmla="*/ 2147483647 h 932"/>
                <a:gd name="T22" fmla="*/ 2147483647 w 1337"/>
                <a:gd name="T23" fmla="*/ 2147483647 h 932"/>
                <a:gd name="T24" fmla="*/ 2147483647 w 1337"/>
                <a:gd name="T25" fmla="*/ 2147483647 h 932"/>
                <a:gd name="T26" fmla="*/ 2147483647 w 1337"/>
                <a:gd name="T27" fmla="*/ 2147483647 h 932"/>
                <a:gd name="T28" fmla="*/ 2147483647 w 1337"/>
                <a:gd name="T29" fmla="*/ 2147483647 h 932"/>
                <a:gd name="T30" fmla="*/ 0 w 1337"/>
                <a:gd name="T31" fmla="*/ 2147483647 h 932"/>
                <a:gd name="T32" fmla="*/ 0 w 1337"/>
                <a:gd name="T33" fmla="*/ 2147483647 h 932"/>
                <a:gd name="T34" fmla="*/ 2147483647 w 1337"/>
                <a:gd name="T35" fmla="*/ 2147483647 h 932"/>
                <a:gd name="T36" fmla="*/ 2147483647 w 1337"/>
                <a:gd name="T37" fmla="*/ 2147483647 h 932"/>
                <a:gd name="T38" fmla="*/ 2147483647 w 1337"/>
                <a:gd name="T39" fmla="*/ 2147483647 h 932"/>
                <a:gd name="T40" fmla="*/ 2147483647 w 1337"/>
                <a:gd name="T41" fmla="*/ 2147483647 h 932"/>
                <a:gd name="T42" fmla="*/ 2147483647 w 1337"/>
                <a:gd name="T43" fmla="*/ 2147483647 h 932"/>
                <a:gd name="T44" fmla="*/ 2147483647 w 1337"/>
                <a:gd name="T45" fmla="*/ 2147483647 h 932"/>
                <a:gd name="T46" fmla="*/ 2147483647 w 1337"/>
                <a:gd name="T47" fmla="*/ 2147483647 h 932"/>
                <a:gd name="T48" fmla="*/ 2147483647 w 1337"/>
                <a:gd name="T49" fmla="*/ 2147483647 h 9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932"/>
                <a:gd name="T77" fmla="*/ 1337 w 1337"/>
                <a:gd name="T78" fmla="*/ 932 h 9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932">
                  <a:moveTo>
                    <a:pt x="1304" y="932"/>
                  </a:moveTo>
                  <a:lnTo>
                    <a:pt x="1304" y="932"/>
                  </a:lnTo>
                  <a:lnTo>
                    <a:pt x="1080" y="932"/>
                  </a:lnTo>
                  <a:lnTo>
                    <a:pt x="1080" y="866"/>
                  </a:lnTo>
                  <a:lnTo>
                    <a:pt x="1270" y="866"/>
                  </a:lnTo>
                  <a:lnTo>
                    <a:pt x="1270" y="429"/>
                  </a:lnTo>
                  <a:cubicBezTo>
                    <a:pt x="1270" y="255"/>
                    <a:pt x="1151" y="108"/>
                    <a:pt x="983" y="71"/>
                  </a:cubicBezTo>
                  <a:lnTo>
                    <a:pt x="694" y="412"/>
                  </a:lnTo>
                  <a:cubicBezTo>
                    <a:pt x="681" y="427"/>
                    <a:pt x="656" y="427"/>
                    <a:pt x="643" y="412"/>
                  </a:cubicBezTo>
                  <a:lnTo>
                    <a:pt x="353" y="71"/>
                  </a:lnTo>
                  <a:cubicBezTo>
                    <a:pt x="186" y="108"/>
                    <a:pt x="67" y="255"/>
                    <a:pt x="67" y="429"/>
                  </a:cubicBezTo>
                  <a:lnTo>
                    <a:pt x="67" y="866"/>
                  </a:lnTo>
                  <a:lnTo>
                    <a:pt x="896" y="866"/>
                  </a:lnTo>
                  <a:lnTo>
                    <a:pt x="896" y="932"/>
                  </a:lnTo>
                  <a:lnTo>
                    <a:pt x="33" y="932"/>
                  </a:lnTo>
                  <a:cubicBezTo>
                    <a:pt x="15" y="932"/>
                    <a:pt x="0" y="917"/>
                    <a:pt x="0" y="899"/>
                  </a:cubicBezTo>
                  <a:lnTo>
                    <a:pt x="0" y="429"/>
                  </a:lnTo>
                  <a:cubicBezTo>
                    <a:pt x="0" y="217"/>
                    <a:pt x="152" y="37"/>
                    <a:pt x="361" y="2"/>
                  </a:cubicBezTo>
                  <a:cubicBezTo>
                    <a:pt x="372" y="0"/>
                    <a:pt x="384" y="4"/>
                    <a:pt x="392" y="13"/>
                  </a:cubicBezTo>
                  <a:lnTo>
                    <a:pt x="668" y="339"/>
                  </a:lnTo>
                  <a:lnTo>
                    <a:pt x="945" y="13"/>
                  </a:lnTo>
                  <a:cubicBezTo>
                    <a:pt x="953" y="4"/>
                    <a:pt x="965" y="0"/>
                    <a:pt x="976" y="2"/>
                  </a:cubicBezTo>
                  <a:cubicBezTo>
                    <a:pt x="1185" y="37"/>
                    <a:pt x="1337" y="216"/>
                    <a:pt x="1337" y="429"/>
                  </a:cubicBezTo>
                  <a:lnTo>
                    <a:pt x="1337" y="899"/>
                  </a:lnTo>
                  <a:cubicBezTo>
                    <a:pt x="1337" y="917"/>
                    <a:pt x="1322" y="932"/>
                    <a:pt x="1304" y="932"/>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Freeform 80"/>
            <p:cNvSpPr>
              <a:spLocks/>
            </p:cNvSpPr>
            <p:nvPr/>
          </p:nvSpPr>
          <p:spPr bwMode="gray">
            <a:xfrm>
              <a:off x="879475" y="2667001"/>
              <a:ext cx="101600" cy="149225"/>
            </a:xfrm>
            <a:custGeom>
              <a:avLst/>
              <a:gdLst>
                <a:gd name="T0" fmla="*/ 2147483647 w 239"/>
                <a:gd name="T1" fmla="*/ 2147483647 h 357"/>
                <a:gd name="T2" fmla="*/ 2147483647 w 239"/>
                <a:gd name="T3" fmla="*/ 2147483647 h 357"/>
                <a:gd name="T4" fmla="*/ 2147483647 w 239"/>
                <a:gd name="T5" fmla="*/ 2147483647 h 357"/>
                <a:gd name="T6" fmla="*/ 2147483647 w 239"/>
                <a:gd name="T7" fmla="*/ 0 h 357"/>
                <a:gd name="T8" fmla="*/ 0 w 239"/>
                <a:gd name="T9" fmla="*/ 0 h 357"/>
                <a:gd name="T10" fmla="*/ 2147483647 w 239"/>
                <a:gd name="T11" fmla="*/ 2147483647 h 357"/>
                <a:gd name="T12" fmla="*/ 2147483647 w 239"/>
                <a:gd name="T13" fmla="*/ 2147483647 h 357"/>
                <a:gd name="T14" fmla="*/ 2147483647 w 239"/>
                <a:gd name="T15" fmla="*/ 2147483647 h 357"/>
                <a:gd name="T16" fmla="*/ 2147483647 w 239"/>
                <a:gd name="T17" fmla="*/ 2147483647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
                <a:gd name="T28" fmla="*/ 0 h 357"/>
                <a:gd name="T29" fmla="*/ 239 w 239"/>
                <a:gd name="T30" fmla="*/ 357 h 3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 h="357">
                  <a:moveTo>
                    <a:pt x="210" y="260"/>
                  </a:moveTo>
                  <a:lnTo>
                    <a:pt x="210" y="260"/>
                  </a:lnTo>
                  <a:lnTo>
                    <a:pt x="135" y="112"/>
                  </a:lnTo>
                  <a:lnTo>
                    <a:pt x="239" y="0"/>
                  </a:lnTo>
                  <a:lnTo>
                    <a:pt x="0" y="0"/>
                  </a:lnTo>
                  <a:lnTo>
                    <a:pt x="104" y="112"/>
                  </a:lnTo>
                  <a:lnTo>
                    <a:pt x="29" y="260"/>
                  </a:lnTo>
                  <a:lnTo>
                    <a:pt x="119" y="357"/>
                  </a:lnTo>
                  <a:lnTo>
                    <a:pt x="210" y="26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Freeform 81"/>
            <p:cNvSpPr>
              <a:spLocks/>
            </p:cNvSpPr>
            <p:nvPr/>
          </p:nvSpPr>
          <p:spPr bwMode="gray">
            <a:xfrm>
              <a:off x="803275" y="2652713"/>
              <a:ext cx="254000" cy="28575"/>
            </a:xfrm>
            <a:custGeom>
              <a:avLst/>
              <a:gdLst>
                <a:gd name="T0" fmla="*/ 2147483647 w 605"/>
                <a:gd name="T1" fmla="*/ 2147483647 h 67"/>
                <a:gd name="T2" fmla="*/ 2147483647 w 605"/>
                <a:gd name="T3" fmla="*/ 2147483647 h 67"/>
                <a:gd name="T4" fmla="*/ 0 w 605"/>
                <a:gd name="T5" fmla="*/ 2147483647 h 67"/>
                <a:gd name="T6" fmla="*/ 0 w 605"/>
                <a:gd name="T7" fmla="*/ 0 h 67"/>
                <a:gd name="T8" fmla="*/ 2147483647 w 605"/>
                <a:gd name="T9" fmla="*/ 0 h 67"/>
                <a:gd name="T10" fmla="*/ 2147483647 w 605"/>
                <a:gd name="T11" fmla="*/ 2147483647 h 67"/>
                <a:gd name="T12" fmla="*/ 0 60000 65536"/>
                <a:gd name="T13" fmla="*/ 0 60000 65536"/>
                <a:gd name="T14" fmla="*/ 0 60000 65536"/>
                <a:gd name="T15" fmla="*/ 0 60000 65536"/>
                <a:gd name="T16" fmla="*/ 0 60000 65536"/>
                <a:gd name="T17" fmla="*/ 0 60000 65536"/>
                <a:gd name="T18" fmla="*/ 0 w 605"/>
                <a:gd name="T19" fmla="*/ 0 h 67"/>
                <a:gd name="T20" fmla="*/ 605 w 60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605" h="67">
                  <a:moveTo>
                    <a:pt x="605" y="67"/>
                  </a:moveTo>
                  <a:lnTo>
                    <a:pt x="605" y="67"/>
                  </a:lnTo>
                  <a:lnTo>
                    <a:pt x="0" y="67"/>
                  </a:lnTo>
                  <a:lnTo>
                    <a:pt x="0" y="0"/>
                  </a:lnTo>
                  <a:lnTo>
                    <a:pt x="605" y="0"/>
                  </a:lnTo>
                  <a:lnTo>
                    <a:pt x="605" y="67"/>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Freeform 82"/>
            <p:cNvSpPr>
              <a:spLocks/>
            </p:cNvSpPr>
            <p:nvPr/>
          </p:nvSpPr>
          <p:spPr bwMode="gray">
            <a:xfrm>
              <a:off x="990600" y="3000376"/>
              <a:ext cx="58738"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Freeform 83"/>
            <p:cNvSpPr>
              <a:spLocks/>
            </p:cNvSpPr>
            <p:nvPr/>
          </p:nvSpPr>
          <p:spPr bwMode="gray">
            <a:xfrm>
              <a:off x="1081088" y="3000376"/>
              <a:ext cx="57150"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95" name="组合 320"/>
          <p:cNvGrpSpPr>
            <a:grpSpLocks/>
          </p:cNvGrpSpPr>
          <p:nvPr/>
        </p:nvGrpSpPr>
        <p:grpSpPr bwMode="gray">
          <a:xfrm>
            <a:off x="946171" y="2256827"/>
            <a:ext cx="409590" cy="560220"/>
            <a:chOff x="649288" y="2289176"/>
            <a:chExt cx="561975" cy="769938"/>
          </a:xfrm>
          <a:solidFill>
            <a:srgbClr val="56C4D2"/>
          </a:solidFill>
        </p:grpSpPr>
        <p:sp>
          <p:nvSpPr>
            <p:cNvPr id="96" name="Freeform 78"/>
            <p:cNvSpPr>
              <a:spLocks noEditPoints="1"/>
            </p:cNvSpPr>
            <p:nvPr/>
          </p:nvSpPr>
          <p:spPr bwMode="gray">
            <a:xfrm>
              <a:off x="768350" y="2289176"/>
              <a:ext cx="323850" cy="327025"/>
            </a:xfrm>
            <a:custGeom>
              <a:avLst/>
              <a:gdLst>
                <a:gd name="T0" fmla="*/ 2147483647 w 775"/>
                <a:gd name="T1" fmla="*/ 2147483647 h 776"/>
                <a:gd name="T2" fmla="*/ 2147483647 w 775"/>
                <a:gd name="T3" fmla="*/ 2147483647 h 776"/>
                <a:gd name="T4" fmla="*/ 2147483647 w 775"/>
                <a:gd name="T5" fmla="*/ 2147483647 h 776"/>
                <a:gd name="T6" fmla="*/ 2147483647 w 775"/>
                <a:gd name="T7" fmla="*/ 2147483647 h 776"/>
                <a:gd name="T8" fmla="*/ 2147483647 w 775"/>
                <a:gd name="T9" fmla="*/ 2147483647 h 776"/>
                <a:gd name="T10" fmla="*/ 2147483647 w 775"/>
                <a:gd name="T11" fmla="*/ 2147483647 h 776"/>
                <a:gd name="T12" fmla="*/ 2147483647 w 775"/>
                <a:gd name="T13" fmla="*/ 2147483647 h 776"/>
                <a:gd name="T14" fmla="*/ 2147483647 w 775"/>
                <a:gd name="T15" fmla="*/ 2147483647 h 776"/>
                <a:gd name="T16" fmla="*/ 0 w 775"/>
                <a:gd name="T17" fmla="*/ 2147483647 h 776"/>
                <a:gd name="T18" fmla="*/ 2147483647 w 775"/>
                <a:gd name="T19" fmla="*/ 0 h 776"/>
                <a:gd name="T20" fmla="*/ 2147483647 w 775"/>
                <a:gd name="T21" fmla="*/ 2147483647 h 776"/>
                <a:gd name="T22" fmla="*/ 2147483647 w 775"/>
                <a:gd name="T23" fmla="*/ 2147483647 h 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5"/>
                <a:gd name="T37" fmla="*/ 0 h 776"/>
                <a:gd name="T38" fmla="*/ 775 w 775"/>
                <a:gd name="T39" fmla="*/ 776 h 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5" h="776">
                  <a:moveTo>
                    <a:pt x="387" y="67"/>
                  </a:moveTo>
                  <a:lnTo>
                    <a:pt x="387" y="67"/>
                  </a:lnTo>
                  <a:cubicBezTo>
                    <a:pt x="210" y="67"/>
                    <a:pt x="66" y="211"/>
                    <a:pt x="66" y="388"/>
                  </a:cubicBezTo>
                  <a:cubicBezTo>
                    <a:pt x="66" y="565"/>
                    <a:pt x="210" y="709"/>
                    <a:pt x="387" y="709"/>
                  </a:cubicBezTo>
                  <a:cubicBezTo>
                    <a:pt x="565" y="709"/>
                    <a:pt x="709" y="565"/>
                    <a:pt x="709" y="388"/>
                  </a:cubicBezTo>
                  <a:cubicBezTo>
                    <a:pt x="709" y="211"/>
                    <a:pt x="565" y="67"/>
                    <a:pt x="387" y="67"/>
                  </a:cubicBezTo>
                  <a:close/>
                  <a:moveTo>
                    <a:pt x="387" y="776"/>
                  </a:moveTo>
                  <a:lnTo>
                    <a:pt x="387" y="776"/>
                  </a:lnTo>
                  <a:cubicBezTo>
                    <a:pt x="174" y="776"/>
                    <a:pt x="0" y="602"/>
                    <a:pt x="0" y="388"/>
                  </a:cubicBezTo>
                  <a:cubicBezTo>
                    <a:pt x="0" y="174"/>
                    <a:pt x="174" y="0"/>
                    <a:pt x="387" y="0"/>
                  </a:cubicBezTo>
                  <a:cubicBezTo>
                    <a:pt x="601" y="0"/>
                    <a:pt x="775" y="174"/>
                    <a:pt x="775" y="388"/>
                  </a:cubicBezTo>
                  <a:cubicBezTo>
                    <a:pt x="775" y="602"/>
                    <a:pt x="601" y="776"/>
                    <a:pt x="387" y="776"/>
                  </a:cubicBezTo>
                  <a:close/>
                </a:path>
              </a:pathLst>
            </a:custGeom>
            <a:grpFill/>
            <a:ln w="0">
              <a:noFill/>
              <a:round/>
              <a:headEnd/>
              <a:tailEnd/>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7" name="Freeform 79"/>
            <p:cNvSpPr>
              <a:spLocks/>
            </p:cNvSpPr>
            <p:nvPr/>
          </p:nvSpPr>
          <p:spPr bwMode="gray">
            <a:xfrm>
              <a:off x="649288" y="2652713"/>
              <a:ext cx="561975" cy="390525"/>
            </a:xfrm>
            <a:custGeom>
              <a:avLst/>
              <a:gdLst>
                <a:gd name="T0" fmla="*/ 2147483647 w 1337"/>
                <a:gd name="T1" fmla="*/ 2147483647 h 932"/>
                <a:gd name="T2" fmla="*/ 2147483647 w 1337"/>
                <a:gd name="T3" fmla="*/ 2147483647 h 932"/>
                <a:gd name="T4" fmla="*/ 2147483647 w 1337"/>
                <a:gd name="T5" fmla="*/ 2147483647 h 932"/>
                <a:gd name="T6" fmla="*/ 2147483647 w 1337"/>
                <a:gd name="T7" fmla="*/ 2147483647 h 932"/>
                <a:gd name="T8" fmla="*/ 2147483647 w 1337"/>
                <a:gd name="T9" fmla="*/ 2147483647 h 932"/>
                <a:gd name="T10" fmla="*/ 2147483647 w 1337"/>
                <a:gd name="T11" fmla="*/ 2147483647 h 932"/>
                <a:gd name="T12" fmla="*/ 2147483647 w 1337"/>
                <a:gd name="T13" fmla="*/ 2147483647 h 932"/>
                <a:gd name="T14" fmla="*/ 2147483647 w 1337"/>
                <a:gd name="T15" fmla="*/ 2147483647 h 932"/>
                <a:gd name="T16" fmla="*/ 2147483647 w 1337"/>
                <a:gd name="T17" fmla="*/ 2147483647 h 932"/>
                <a:gd name="T18" fmla="*/ 2147483647 w 1337"/>
                <a:gd name="T19" fmla="*/ 2147483647 h 932"/>
                <a:gd name="T20" fmla="*/ 2147483647 w 1337"/>
                <a:gd name="T21" fmla="*/ 2147483647 h 932"/>
                <a:gd name="T22" fmla="*/ 2147483647 w 1337"/>
                <a:gd name="T23" fmla="*/ 2147483647 h 932"/>
                <a:gd name="T24" fmla="*/ 2147483647 w 1337"/>
                <a:gd name="T25" fmla="*/ 2147483647 h 932"/>
                <a:gd name="T26" fmla="*/ 2147483647 w 1337"/>
                <a:gd name="T27" fmla="*/ 2147483647 h 932"/>
                <a:gd name="T28" fmla="*/ 2147483647 w 1337"/>
                <a:gd name="T29" fmla="*/ 2147483647 h 932"/>
                <a:gd name="T30" fmla="*/ 0 w 1337"/>
                <a:gd name="T31" fmla="*/ 2147483647 h 932"/>
                <a:gd name="T32" fmla="*/ 0 w 1337"/>
                <a:gd name="T33" fmla="*/ 2147483647 h 932"/>
                <a:gd name="T34" fmla="*/ 2147483647 w 1337"/>
                <a:gd name="T35" fmla="*/ 2147483647 h 932"/>
                <a:gd name="T36" fmla="*/ 2147483647 w 1337"/>
                <a:gd name="T37" fmla="*/ 2147483647 h 932"/>
                <a:gd name="T38" fmla="*/ 2147483647 w 1337"/>
                <a:gd name="T39" fmla="*/ 2147483647 h 932"/>
                <a:gd name="T40" fmla="*/ 2147483647 w 1337"/>
                <a:gd name="T41" fmla="*/ 2147483647 h 932"/>
                <a:gd name="T42" fmla="*/ 2147483647 w 1337"/>
                <a:gd name="T43" fmla="*/ 2147483647 h 932"/>
                <a:gd name="T44" fmla="*/ 2147483647 w 1337"/>
                <a:gd name="T45" fmla="*/ 2147483647 h 932"/>
                <a:gd name="T46" fmla="*/ 2147483647 w 1337"/>
                <a:gd name="T47" fmla="*/ 2147483647 h 932"/>
                <a:gd name="T48" fmla="*/ 2147483647 w 1337"/>
                <a:gd name="T49" fmla="*/ 2147483647 h 9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932"/>
                <a:gd name="T77" fmla="*/ 1337 w 1337"/>
                <a:gd name="T78" fmla="*/ 932 h 9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932">
                  <a:moveTo>
                    <a:pt x="1304" y="932"/>
                  </a:moveTo>
                  <a:lnTo>
                    <a:pt x="1304" y="932"/>
                  </a:lnTo>
                  <a:lnTo>
                    <a:pt x="1080" y="932"/>
                  </a:lnTo>
                  <a:lnTo>
                    <a:pt x="1080" y="866"/>
                  </a:lnTo>
                  <a:lnTo>
                    <a:pt x="1270" y="866"/>
                  </a:lnTo>
                  <a:lnTo>
                    <a:pt x="1270" y="429"/>
                  </a:lnTo>
                  <a:cubicBezTo>
                    <a:pt x="1270" y="255"/>
                    <a:pt x="1151" y="108"/>
                    <a:pt x="983" y="71"/>
                  </a:cubicBezTo>
                  <a:lnTo>
                    <a:pt x="694" y="412"/>
                  </a:lnTo>
                  <a:cubicBezTo>
                    <a:pt x="681" y="427"/>
                    <a:pt x="656" y="427"/>
                    <a:pt x="643" y="412"/>
                  </a:cubicBezTo>
                  <a:lnTo>
                    <a:pt x="353" y="71"/>
                  </a:lnTo>
                  <a:cubicBezTo>
                    <a:pt x="186" y="108"/>
                    <a:pt x="67" y="255"/>
                    <a:pt x="67" y="429"/>
                  </a:cubicBezTo>
                  <a:lnTo>
                    <a:pt x="67" y="866"/>
                  </a:lnTo>
                  <a:lnTo>
                    <a:pt x="896" y="866"/>
                  </a:lnTo>
                  <a:lnTo>
                    <a:pt x="896" y="932"/>
                  </a:lnTo>
                  <a:lnTo>
                    <a:pt x="33" y="932"/>
                  </a:lnTo>
                  <a:cubicBezTo>
                    <a:pt x="15" y="932"/>
                    <a:pt x="0" y="917"/>
                    <a:pt x="0" y="899"/>
                  </a:cubicBezTo>
                  <a:lnTo>
                    <a:pt x="0" y="429"/>
                  </a:lnTo>
                  <a:cubicBezTo>
                    <a:pt x="0" y="217"/>
                    <a:pt x="152" y="37"/>
                    <a:pt x="361" y="2"/>
                  </a:cubicBezTo>
                  <a:cubicBezTo>
                    <a:pt x="372" y="0"/>
                    <a:pt x="384" y="4"/>
                    <a:pt x="392" y="13"/>
                  </a:cubicBezTo>
                  <a:lnTo>
                    <a:pt x="668" y="339"/>
                  </a:lnTo>
                  <a:lnTo>
                    <a:pt x="945" y="13"/>
                  </a:lnTo>
                  <a:cubicBezTo>
                    <a:pt x="953" y="4"/>
                    <a:pt x="965" y="0"/>
                    <a:pt x="976" y="2"/>
                  </a:cubicBezTo>
                  <a:cubicBezTo>
                    <a:pt x="1185" y="37"/>
                    <a:pt x="1337" y="216"/>
                    <a:pt x="1337" y="429"/>
                  </a:cubicBezTo>
                  <a:lnTo>
                    <a:pt x="1337" y="899"/>
                  </a:lnTo>
                  <a:cubicBezTo>
                    <a:pt x="1337" y="917"/>
                    <a:pt x="1322" y="932"/>
                    <a:pt x="1304" y="932"/>
                  </a:cubicBezTo>
                  <a:close/>
                </a:path>
              </a:pathLst>
            </a:custGeom>
            <a:grpFill/>
            <a:ln w="0">
              <a:noFill/>
              <a:round/>
              <a:headEnd/>
              <a:tailEnd/>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Freeform 80"/>
            <p:cNvSpPr>
              <a:spLocks/>
            </p:cNvSpPr>
            <p:nvPr/>
          </p:nvSpPr>
          <p:spPr bwMode="gray">
            <a:xfrm>
              <a:off x="879475" y="2667001"/>
              <a:ext cx="101600" cy="149225"/>
            </a:xfrm>
            <a:custGeom>
              <a:avLst/>
              <a:gdLst>
                <a:gd name="T0" fmla="*/ 2147483647 w 239"/>
                <a:gd name="T1" fmla="*/ 2147483647 h 357"/>
                <a:gd name="T2" fmla="*/ 2147483647 w 239"/>
                <a:gd name="T3" fmla="*/ 2147483647 h 357"/>
                <a:gd name="T4" fmla="*/ 2147483647 w 239"/>
                <a:gd name="T5" fmla="*/ 2147483647 h 357"/>
                <a:gd name="T6" fmla="*/ 2147483647 w 239"/>
                <a:gd name="T7" fmla="*/ 0 h 357"/>
                <a:gd name="T8" fmla="*/ 0 w 239"/>
                <a:gd name="T9" fmla="*/ 0 h 357"/>
                <a:gd name="T10" fmla="*/ 2147483647 w 239"/>
                <a:gd name="T11" fmla="*/ 2147483647 h 357"/>
                <a:gd name="T12" fmla="*/ 2147483647 w 239"/>
                <a:gd name="T13" fmla="*/ 2147483647 h 357"/>
                <a:gd name="T14" fmla="*/ 2147483647 w 239"/>
                <a:gd name="T15" fmla="*/ 2147483647 h 357"/>
                <a:gd name="T16" fmla="*/ 2147483647 w 239"/>
                <a:gd name="T17" fmla="*/ 2147483647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
                <a:gd name="T28" fmla="*/ 0 h 357"/>
                <a:gd name="T29" fmla="*/ 239 w 239"/>
                <a:gd name="T30" fmla="*/ 357 h 3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 h="357">
                  <a:moveTo>
                    <a:pt x="210" y="260"/>
                  </a:moveTo>
                  <a:lnTo>
                    <a:pt x="210" y="260"/>
                  </a:lnTo>
                  <a:lnTo>
                    <a:pt x="135" y="112"/>
                  </a:lnTo>
                  <a:lnTo>
                    <a:pt x="239" y="0"/>
                  </a:lnTo>
                  <a:lnTo>
                    <a:pt x="0" y="0"/>
                  </a:lnTo>
                  <a:lnTo>
                    <a:pt x="104" y="112"/>
                  </a:lnTo>
                  <a:lnTo>
                    <a:pt x="29" y="260"/>
                  </a:lnTo>
                  <a:lnTo>
                    <a:pt x="119" y="357"/>
                  </a:lnTo>
                  <a:lnTo>
                    <a:pt x="210" y="260"/>
                  </a:lnTo>
                  <a:close/>
                </a:path>
              </a:pathLst>
            </a:custGeom>
            <a:grpFill/>
            <a:ln w="0">
              <a:noFill/>
              <a:round/>
              <a:headEnd/>
              <a:tailEnd/>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Freeform 81"/>
            <p:cNvSpPr>
              <a:spLocks/>
            </p:cNvSpPr>
            <p:nvPr/>
          </p:nvSpPr>
          <p:spPr bwMode="gray">
            <a:xfrm>
              <a:off x="803275" y="2652713"/>
              <a:ext cx="254000" cy="28575"/>
            </a:xfrm>
            <a:custGeom>
              <a:avLst/>
              <a:gdLst>
                <a:gd name="T0" fmla="*/ 2147483647 w 605"/>
                <a:gd name="T1" fmla="*/ 2147483647 h 67"/>
                <a:gd name="T2" fmla="*/ 2147483647 w 605"/>
                <a:gd name="T3" fmla="*/ 2147483647 h 67"/>
                <a:gd name="T4" fmla="*/ 0 w 605"/>
                <a:gd name="T5" fmla="*/ 2147483647 h 67"/>
                <a:gd name="T6" fmla="*/ 0 w 605"/>
                <a:gd name="T7" fmla="*/ 0 h 67"/>
                <a:gd name="T8" fmla="*/ 2147483647 w 605"/>
                <a:gd name="T9" fmla="*/ 0 h 67"/>
                <a:gd name="T10" fmla="*/ 2147483647 w 605"/>
                <a:gd name="T11" fmla="*/ 2147483647 h 67"/>
                <a:gd name="T12" fmla="*/ 0 60000 65536"/>
                <a:gd name="T13" fmla="*/ 0 60000 65536"/>
                <a:gd name="T14" fmla="*/ 0 60000 65536"/>
                <a:gd name="T15" fmla="*/ 0 60000 65536"/>
                <a:gd name="T16" fmla="*/ 0 60000 65536"/>
                <a:gd name="T17" fmla="*/ 0 60000 65536"/>
                <a:gd name="T18" fmla="*/ 0 w 605"/>
                <a:gd name="T19" fmla="*/ 0 h 67"/>
                <a:gd name="T20" fmla="*/ 605 w 60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605" h="67">
                  <a:moveTo>
                    <a:pt x="605" y="67"/>
                  </a:moveTo>
                  <a:lnTo>
                    <a:pt x="605" y="67"/>
                  </a:lnTo>
                  <a:lnTo>
                    <a:pt x="0" y="67"/>
                  </a:lnTo>
                  <a:lnTo>
                    <a:pt x="0" y="0"/>
                  </a:lnTo>
                  <a:lnTo>
                    <a:pt x="605" y="0"/>
                  </a:lnTo>
                  <a:lnTo>
                    <a:pt x="605" y="67"/>
                  </a:lnTo>
                  <a:close/>
                </a:path>
              </a:pathLst>
            </a:custGeom>
            <a:grpFill/>
            <a:ln w="0">
              <a:noFill/>
              <a:round/>
              <a:headEnd/>
              <a:tailEnd/>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Freeform 82"/>
            <p:cNvSpPr>
              <a:spLocks/>
            </p:cNvSpPr>
            <p:nvPr/>
          </p:nvSpPr>
          <p:spPr bwMode="gray">
            <a:xfrm>
              <a:off x="990600" y="3000376"/>
              <a:ext cx="58738"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grpFill/>
            <a:ln w="0">
              <a:noFill/>
              <a:round/>
              <a:headEnd/>
              <a:tailEnd/>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Freeform 83"/>
            <p:cNvSpPr>
              <a:spLocks/>
            </p:cNvSpPr>
            <p:nvPr/>
          </p:nvSpPr>
          <p:spPr bwMode="gray">
            <a:xfrm>
              <a:off x="1081088" y="3000376"/>
              <a:ext cx="57150"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grpFill/>
            <a:ln w="0">
              <a:noFill/>
              <a:round/>
              <a:headEnd/>
              <a:tailEnd/>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02" name="组合 320"/>
          <p:cNvGrpSpPr>
            <a:grpSpLocks/>
          </p:cNvGrpSpPr>
          <p:nvPr/>
        </p:nvGrpSpPr>
        <p:grpSpPr bwMode="gray">
          <a:xfrm>
            <a:off x="5295100" y="2516231"/>
            <a:ext cx="409590" cy="560220"/>
            <a:chOff x="649288" y="2289176"/>
            <a:chExt cx="561975" cy="769938"/>
          </a:xfrm>
          <a:solidFill>
            <a:srgbClr val="C7000B"/>
          </a:solidFill>
        </p:grpSpPr>
        <p:sp>
          <p:nvSpPr>
            <p:cNvPr id="103" name="Freeform 78"/>
            <p:cNvSpPr>
              <a:spLocks noEditPoints="1"/>
            </p:cNvSpPr>
            <p:nvPr/>
          </p:nvSpPr>
          <p:spPr bwMode="gray">
            <a:xfrm>
              <a:off x="768350" y="2289176"/>
              <a:ext cx="323850" cy="327025"/>
            </a:xfrm>
            <a:custGeom>
              <a:avLst/>
              <a:gdLst>
                <a:gd name="T0" fmla="*/ 2147483647 w 775"/>
                <a:gd name="T1" fmla="*/ 2147483647 h 776"/>
                <a:gd name="T2" fmla="*/ 2147483647 w 775"/>
                <a:gd name="T3" fmla="*/ 2147483647 h 776"/>
                <a:gd name="T4" fmla="*/ 2147483647 w 775"/>
                <a:gd name="T5" fmla="*/ 2147483647 h 776"/>
                <a:gd name="T6" fmla="*/ 2147483647 w 775"/>
                <a:gd name="T7" fmla="*/ 2147483647 h 776"/>
                <a:gd name="T8" fmla="*/ 2147483647 w 775"/>
                <a:gd name="T9" fmla="*/ 2147483647 h 776"/>
                <a:gd name="T10" fmla="*/ 2147483647 w 775"/>
                <a:gd name="T11" fmla="*/ 2147483647 h 776"/>
                <a:gd name="T12" fmla="*/ 2147483647 w 775"/>
                <a:gd name="T13" fmla="*/ 2147483647 h 776"/>
                <a:gd name="T14" fmla="*/ 2147483647 w 775"/>
                <a:gd name="T15" fmla="*/ 2147483647 h 776"/>
                <a:gd name="T16" fmla="*/ 0 w 775"/>
                <a:gd name="T17" fmla="*/ 2147483647 h 776"/>
                <a:gd name="T18" fmla="*/ 2147483647 w 775"/>
                <a:gd name="T19" fmla="*/ 0 h 776"/>
                <a:gd name="T20" fmla="*/ 2147483647 w 775"/>
                <a:gd name="T21" fmla="*/ 2147483647 h 776"/>
                <a:gd name="T22" fmla="*/ 2147483647 w 775"/>
                <a:gd name="T23" fmla="*/ 2147483647 h 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5"/>
                <a:gd name="T37" fmla="*/ 0 h 776"/>
                <a:gd name="T38" fmla="*/ 775 w 775"/>
                <a:gd name="T39" fmla="*/ 776 h 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5" h="776">
                  <a:moveTo>
                    <a:pt x="387" y="67"/>
                  </a:moveTo>
                  <a:lnTo>
                    <a:pt x="387" y="67"/>
                  </a:lnTo>
                  <a:cubicBezTo>
                    <a:pt x="210" y="67"/>
                    <a:pt x="66" y="211"/>
                    <a:pt x="66" y="388"/>
                  </a:cubicBezTo>
                  <a:cubicBezTo>
                    <a:pt x="66" y="565"/>
                    <a:pt x="210" y="709"/>
                    <a:pt x="387" y="709"/>
                  </a:cubicBezTo>
                  <a:cubicBezTo>
                    <a:pt x="565" y="709"/>
                    <a:pt x="709" y="565"/>
                    <a:pt x="709" y="388"/>
                  </a:cubicBezTo>
                  <a:cubicBezTo>
                    <a:pt x="709" y="211"/>
                    <a:pt x="565" y="67"/>
                    <a:pt x="387" y="67"/>
                  </a:cubicBezTo>
                  <a:close/>
                  <a:moveTo>
                    <a:pt x="387" y="776"/>
                  </a:moveTo>
                  <a:lnTo>
                    <a:pt x="387" y="776"/>
                  </a:lnTo>
                  <a:cubicBezTo>
                    <a:pt x="174" y="776"/>
                    <a:pt x="0" y="602"/>
                    <a:pt x="0" y="388"/>
                  </a:cubicBezTo>
                  <a:cubicBezTo>
                    <a:pt x="0" y="174"/>
                    <a:pt x="174" y="0"/>
                    <a:pt x="387" y="0"/>
                  </a:cubicBezTo>
                  <a:cubicBezTo>
                    <a:pt x="601" y="0"/>
                    <a:pt x="775" y="174"/>
                    <a:pt x="775" y="388"/>
                  </a:cubicBezTo>
                  <a:cubicBezTo>
                    <a:pt x="775" y="602"/>
                    <a:pt x="601" y="776"/>
                    <a:pt x="387" y="776"/>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Freeform 79"/>
            <p:cNvSpPr>
              <a:spLocks/>
            </p:cNvSpPr>
            <p:nvPr/>
          </p:nvSpPr>
          <p:spPr bwMode="gray">
            <a:xfrm>
              <a:off x="649288" y="2652713"/>
              <a:ext cx="561975" cy="390525"/>
            </a:xfrm>
            <a:custGeom>
              <a:avLst/>
              <a:gdLst>
                <a:gd name="T0" fmla="*/ 2147483647 w 1337"/>
                <a:gd name="T1" fmla="*/ 2147483647 h 932"/>
                <a:gd name="T2" fmla="*/ 2147483647 w 1337"/>
                <a:gd name="T3" fmla="*/ 2147483647 h 932"/>
                <a:gd name="T4" fmla="*/ 2147483647 w 1337"/>
                <a:gd name="T5" fmla="*/ 2147483647 h 932"/>
                <a:gd name="T6" fmla="*/ 2147483647 w 1337"/>
                <a:gd name="T7" fmla="*/ 2147483647 h 932"/>
                <a:gd name="T8" fmla="*/ 2147483647 w 1337"/>
                <a:gd name="T9" fmla="*/ 2147483647 h 932"/>
                <a:gd name="T10" fmla="*/ 2147483647 w 1337"/>
                <a:gd name="T11" fmla="*/ 2147483647 h 932"/>
                <a:gd name="T12" fmla="*/ 2147483647 w 1337"/>
                <a:gd name="T13" fmla="*/ 2147483647 h 932"/>
                <a:gd name="T14" fmla="*/ 2147483647 w 1337"/>
                <a:gd name="T15" fmla="*/ 2147483647 h 932"/>
                <a:gd name="T16" fmla="*/ 2147483647 w 1337"/>
                <a:gd name="T17" fmla="*/ 2147483647 h 932"/>
                <a:gd name="T18" fmla="*/ 2147483647 w 1337"/>
                <a:gd name="T19" fmla="*/ 2147483647 h 932"/>
                <a:gd name="T20" fmla="*/ 2147483647 w 1337"/>
                <a:gd name="T21" fmla="*/ 2147483647 h 932"/>
                <a:gd name="T22" fmla="*/ 2147483647 w 1337"/>
                <a:gd name="T23" fmla="*/ 2147483647 h 932"/>
                <a:gd name="T24" fmla="*/ 2147483647 w 1337"/>
                <a:gd name="T25" fmla="*/ 2147483647 h 932"/>
                <a:gd name="T26" fmla="*/ 2147483647 w 1337"/>
                <a:gd name="T27" fmla="*/ 2147483647 h 932"/>
                <a:gd name="T28" fmla="*/ 2147483647 w 1337"/>
                <a:gd name="T29" fmla="*/ 2147483647 h 932"/>
                <a:gd name="T30" fmla="*/ 0 w 1337"/>
                <a:gd name="T31" fmla="*/ 2147483647 h 932"/>
                <a:gd name="T32" fmla="*/ 0 w 1337"/>
                <a:gd name="T33" fmla="*/ 2147483647 h 932"/>
                <a:gd name="T34" fmla="*/ 2147483647 w 1337"/>
                <a:gd name="T35" fmla="*/ 2147483647 h 932"/>
                <a:gd name="T36" fmla="*/ 2147483647 w 1337"/>
                <a:gd name="T37" fmla="*/ 2147483647 h 932"/>
                <a:gd name="T38" fmla="*/ 2147483647 w 1337"/>
                <a:gd name="T39" fmla="*/ 2147483647 h 932"/>
                <a:gd name="T40" fmla="*/ 2147483647 w 1337"/>
                <a:gd name="T41" fmla="*/ 2147483647 h 932"/>
                <a:gd name="T42" fmla="*/ 2147483647 w 1337"/>
                <a:gd name="T43" fmla="*/ 2147483647 h 932"/>
                <a:gd name="T44" fmla="*/ 2147483647 w 1337"/>
                <a:gd name="T45" fmla="*/ 2147483647 h 932"/>
                <a:gd name="T46" fmla="*/ 2147483647 w 1337"/>
                <a:gd name="T47" fmla="*/ 2147483647 h 932"/>
                <a:gd name="T48" fmla="*/ 2147483647 w 1337"/>
                <a:gd name="T49" fmla="*/ 2147483647 h 9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932"/>
                <a:gd name="T77" fmla="*/ 1337 w 1337"/>
                <a:gd name="T78" fmla="*/ 932 h 9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932">
                  <a:moveTo>
                    <a:pt x="1304" y="932"/>
                  </a:moveTo>
                  <a:lnTo>
                    <a:pt x="1304" y="932"/>
                  </a:lnTo>
                  <a:lnTo>
                    <a:pt x="1080" y="932"/>
                  </a:lnTo>
                  <a:lnTo>
                    <a:pt x="1080" y="866"/>
                  </a:lnTo>
                  <a:lnTo>
                    <a:pt x="1270" y="866"/>
                  </a:lnTo>
                  <a:lnTo>
                    <a:pt x="1270" y="429"/>
                  </a:lnTo>
                  <a:cubicBezTo>
                    <a:pt x="1270" y="255"/>
                    <a:pt x="1151" y="108"/>
                    <a:pt x="983" y="71"/>
                  </a:cubicBezTo>
                  <a:lnTo>
                    <a:pt x="694" y="412"/>
                  </a:lnTo>
                  <a:cubicBezTo>
                    <a:pt x="681" y="427"/>
                    <a:pt x="656" y="427"/>
                    <a:pt x="643" y="412"/>
                  </a:cubicBezTo>
                  <a:lnTo>
                    <a:pt x="353" y="71"/>
                  </a:lnTo>
                  <a:cubicBezTo>
                    <a:pt x="186" y="108"/>
                    <a:pt x="67" y="255"/>
                    <a:pt x="67" y="429"/>
                  </a:cubicBezTo>
                  <a:lnTo>
                    <a:pt x="67" y="866"/>
                  </a:lnTo>
                  <a:lnTo>
                    <a:pt x="896" y="866"/>
                  </a:lnTo>
                  <a:lnTo>
                    <a:pt x="896" y="932"/>
                  </a:lnTo>
                  <a:lnTo>
                    <a:pt x="33" y="932"/>
                  </a:lnTo>
                  <a:cubicBezTo>
                    <a:pt x="15" y="932"/>
                    <a:pt x="0" y="917"/>
                    <a:pt x="0" y="899"/>
                  </a:cubicBezTo>
                  <a:lnTo>
                    <a:pt x="0" y="429"/>
                  </a:lnTo>
                  <a:cubicBezTo>
                    <a:pt x="0" y="217"/>
                    <a:pt x="152" y="37"/>
                    <a:pt x="361" y="2"/>
                  </a:cubicBezTo>
                  <a:cubicBezTo>
                    <a:pt x="372" y="0"/>
                    <a:pt x="384" y="4"/>
                    <a:pt x="392" y="13"/>
                  </a:cubicBezTo>
                  <a:lnTo>
                    <a:pt x="668" y="339"/>
                  </a:lnTo>
                  <a:lnTo>
                    <a:pt x="945" y="13"/>
                  </a:lnTo>
                  <a:cubicBezTo>
                    <a:pt x="953" y="4"/>
                    <a:pt x="965" y="0"/>
                    <a:pt x="976" y="2"/>
                  </a:cubicBezTo>
                  <a:cubicBezTo>
                    <a:pt x="1185" y="37"/>
                    <a:pt x="1337" y="216"/>
                    <a:pt x="1337" y="429"/>
                  </a:cubicBezTo>
                  <a:lnTo>
                    <a:pt x="1337" y="899"/>
                  </a:lnTo>
                  <a:cubicBezTo>
                    <a:pt x="1337" y="917"/>
                    <a:pt x="1322" y="932"/>
                    <a:pt x="1304" y="932"/>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Freeform 80"/>
            <p:cNvSpPr>
              <a:spLocks/>
            </p:cNvSpPr>
            <p:nvPr/>
          </p:nvSpPr>
          <p:spPr bwMode="gray">
            <a:xfrm>
              <a:off x="879475" y="2667001"/>
              <a:ext cx="101600" cy="149225"/>
            </a:xfrm>
            <a:custGeom>
              <a:avLst/>
              <a:gdLst>
                <a:gd name="T0" fmla="*/ 2147483647 w 239"/>
                <a:gd name="T1" fmla="*/ 2147483647 h 357"/>
                <a:gd name="T2" fmla="*/ 2147483647 w 239"/>
                <a:gd name="T3" fmla="*/ 2147483647 h 357"/>
                <a:gd name="T4" fmla="*/ 2147483647 w 239"/>
                <a:gd name="T5" fmla="*/ 2147483647 h 357"/>
                <a:gd name="T6" fmla="*/ 2147483647 w 239"/>
                <a:gd name="T7" fmla="*/ 0 h 357"/>
                <a:gd name="T8" fmla="*/ 0 w 239"/>
                <a:gd name="T9" fmla="*/ 0 h 357"/>
                <a:gd name="T10" fmla="*/ 2147483647 w 239"/>
                <a:gd name="T11" fmla="*/ 2147483647 h 357"/>
                <a:gd name="T12" fmla="*/ 2147483647 w 239"/>
                <a:gd name="T13" fmla="*/ 2147483647 h 357"/>
                <a:gd name="T14" fmla="*/ 2147483647 w 239"/>
                <a:gd name="T15" fmla="*/ 2147483647 h 357"/>
                <a:gd name="T16" fmla="*/ 2147483647 w 239"/>
                <a:gd name="T17" fmla="*/ 2147483647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
                <a:gd name="T28" fmla="*/ 0 h 357"/>
                <a:gd name="T29" fmla="*/ 239 w 239"/>
                <a:gd name="T30" fmla="*/ 357 h 3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 h="357">
                  <a:moveTo>
                    <a:pt x="210" y="260"/>
                  </a:moveTo>
                  <a:lnTo>
                    <a:pt x="210" y="260"/>
                  </a:lnTo>
                  <a:lnTo>
                    <a:pt x="135" y="112"/>
                  </a:lnTo>
                  <a:lnTo>
                    <a:pt x="239" y="0"/>
                  </a:lnTo>
                  <a:lnTo>
                    <a:pt x="0" y="0"/>
                  </a:lnTo>
                  <a:lnTo>
                    <a:pt x="104" y="112"/>
                  </a:lnTo>
                  <a:lnTo>
                    <a:pt x="29" y="260"/>
                  </a:lnTo>
                  <a:lnTo>
                    <a:pt x="119" y="357"/>
                  </a:lnTo>
                  <a:lnTo>
                    <a:pt x="210" y="260"/>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Freeform 81"/>
            <p:cNvSpPr>
              <a:spLocks/>
            </p:cNvSpPr>
            <p:nvPr/>
          </p:nvSpPr>
          <p:spPr bwMode="gray">
            <a:xfrm>
              <a:off x="803275" y="2652713"/>
              <a:ext cx="254000" cy="28575"/>
            </a:xfrm>
            <a:custGeom>
              <a:avLst/>
              <a:gdLst>
                <a:gd name="T0" fmla="*/ 2147483647 w 605"/>
                <a:gd name="T1" fmla="*/ 2147483647 h 67"/>
                <a:gd name="T2" fmla="*/ 2147483647 w 605"/>
                <a:gd name="T3" fmla="*/ 2147483647 h 67"/>
                <a:gd name="T4" fmla="*/ 0 w 605"/>
                <a:gd name="T5" fmla="*/ 2147483647 h 67"/>
                <a:gd name="T6" fmla="*/ 0 w 605"/>
                <a:gd name="T7" fmla="*/ 0 h 67"/>
                <a:gd name="T8" fmla="*/ 2147483647 w 605"/>
                <a:gd name="T9" fmla="*/ 0 h 67"/>
                <a:gd name="T10" fmla="*/ 2147483647 w 605"/>
                <a:gd name="T11" fmla="*/ 2147483647 h 67"/>
                <a:gd name="T12" fmla="*/ 0 60000 65536"/>
                <a:gd name="T13" fmla="*/ 0 60000 65536"/>
                <a:gd name="T14" fmla="*/ 0 60000 65536"/>
                <a:gd name="T15" fmla="*/ 0 60000 65536"/>
                <a:gd name="T16" fmla="*/ 0 60000 65536"/>
                <a:gd name="T17" fmla="*/ 0 60000 65536"/>
                <a:gd name="T18" fmla="*/ 0 w 605"/>
                <a:gd name="T19" fmla="*/ 0 h 67"/>
                <a:gd name="T20" fmla="*/ 605 w 60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605" h="67">
                  <a:moveTo>
                    <a:pt x="605" y="67"/>
                  </a:moveTo>
                  <a:lnTo>
                    <a:pt x="605" y="67"/>
                  </a:lnTo>
                  <a:lnTo>
                    <a:pt x="0" y="67"/>
                  </a:lnTo>
                  <a:lnTo>
                    <a:pt x="0" y="0"/>
                  </a:lnTo>
                  <a:lnTo>
                    <a:pt x="605" y="0"/>
                  </a:lnTo>
                  <a:lnTo>
                    <a:pt x="605" y="67"/>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Freeform 82"/>
            <p:cNvSpPr>
              <a:spLocks/>
            </p:cNvSpPr>
            <p:nvPr/>
          </p:nvSpPr>
          <p:spPr bwMode="gray">
            <a:xfrm>
              <a:off x="990600" y="3000376"/>
              <a:ext cx="58738"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Freeform 83"/>
            <p:cNvSpPr>
              <a:spLocks/>
            </p:cNvSpPr>
            <p:nvPr/>
          </p:nvSpPr>
          <p:spPr bwMode="gray">
            <a:xfrm>
              <a:off x="1081088" y="3000376"/>
              <a:ext cx="57150"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09" name="组合 320"/>
          <p:cNvGrpSpPr>
            <a:grpSpLocks/>
          </p:cNvGrpSpPr>
          <p:nvPr/>
        </p:nvGrpSpPr>
        <p:grpSpPr bwMode="gray">
          <a:xfrm>
            <a:off x="5105245" y="3246407"/>
            <a:ext cx="409590" cy="560220"/>
            <a:chOff x="649288" y="2289176"/>
            <a:chExt cx="561975" cy="769938"/>
          </a:xfrm>
          <a:solidFill>
            <a:srgbClr val="56C4D2"/>
          </a:solidFill>
        </p:grpSpPr>
        <p:sp>
          <p:nvSpPr>
            <p:cNvPr id="110" name="Freeform 78"/>
            <p:cNvSpPr>
              <a:spLocks noEditPoints="1"/>
            </p:cNvSpPr>
            <p:nvPr/>
          </p:nvSpPr>
          <p:spPr bwMode="gray">
            <a:xfrm>
              <a:off x="768350" y="2289176"/>
              <a:ext cx="323850" cy="327025"/>
            </a:xfrm>
            <a:custGeom>
              <a:avLst/>
              <a:gdLst>
                <a:gd name="T0" fmla="*/ 2147483647 w 775"/>
                <a:gd name="T1" fmla="*/ 2147483647 h 776"/>
                <a:gd name="T2" fmla="*/ 2147483647 w 775"/>
                <a:gd name="T3" fmla="*/ 2147483647 h 776"/>
                <a:gd name="T4" fmla="*/ 2147483647 w 775"/>
                <a:gd name="T5" fmla="*/ 2147483647 h 776"/>
                <a:gd name="T6" fmla="*/ 2147483647 w 775"/>
                <a:gd name="T7" fmla="*/ 2147483647 h 776"/>
                <a:gd name="T8" fmla="*/ 2147483647 w 775"/>
                <a:gd name="T9" fmla="*/ 2147483647 h 776"/>
                <a:gd name="T10" fmla="*/ 2147483647 w 775"/>
                <a:gd name="T11" fmla="*/ 2147483647 h 776"/>
                <a:gd name="T12" fmla="*/ 2147483647 w 775"/>
                <a:gd name="T13" fmla="*/ 2147483647 h 776"/>
                <a:gd name="T14" fmla="*/ 2147483647 w 775"/>
                <a:gd name="T15" fmla="*/ 2147483647 h 776"/>
                <a:gd name="T16" fmla="*/ 0 w 775"/>
                <a:gd name="T17" fmla="*/ 2147483647 h 776"/>
                <a:gd name="T18" fmla="*/ 2147483647 w 775"/>
                <a:gd name="T19" fmla="*/ 0 h 776"/>
                <a:gd name="T20" fmla="*/ 2147483647 w 775"/>
                <a:gd name="T21" fmla="*/ 2147483647 h 776"/>
                <a:gd name="T22" fmla="*/ 2147483647 w 775"/>
                <a:gd name="T23" fmla="*/ 2147483647 h 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75"/>
                <a:gd name="T37" fmla="*/ 0 h 776"/>
                <a:gd name="T38" fmla="*/ 775 w 775"/>
                <a:gd name="T39" fmla="*/ 776 h 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75" h="776">
                  <a:moveTo>
                    <a:pt x="387" y="67"/>
                  </a:moveTo>
                  <a:lnTo>
                    <a:pt x="387" y="67"/>
                  </a:lnTo>
                  <a:cubicBezTo>
                    <a:pt x="210" y="67"/>
                    <a:pt x="66" y="211"/>
                    <a:pt x="66" y="388"/>
                  </a:cubicBezTo>
                  <a:cubicBezTo>
                    <a:pt x="66" y="565"/>
                    <a:pt x="210" y="709"/>
                    <a:pt x="387" y="709"/>
                  </a:cubicBezTo>
                  <a:cubicBezTo>
                    <a:pt x="565" y="709"/>
                    <a:pt x="709" y="565"/>
                    <a:pt x="709" y="388"/>
                  </a:cubicBezTo>
                  <a:cubicBezTo>
                    <a:pt x="709" y="211"/>
                    <a:pt x="565" y="67"/>
                    <a:pt x="387" y="67"/>
                  </a:cubicBezTo>
                  <a:close/>
                  <a:moveTo>
                    <a:pt x="387" y="776"/>
                  </a:moveTo>
                  <a:lnTo>
                    <a:pt x="387" y="776"/>
                  </a:lnTo>
                  <a:cubicBezTo>
                    <a:pt x="174" y="776"/>
                    <a:pt x="0" y="602"/>
                    <a:pt x="0" y="388"/>
                  </a:cubicBezTo>
                  <a:cubicBezTo>
                    <a:pt x="0" y="174"/>
                    <a:pt x="174" y="0"/>
                    <a:pt x="387" y="0"/>
                  </a:cubicBezTo>
                  <a:cubicBezTo>
                    <a:pt x="601" y="0"/>
                    <a:pt x="775" y="174"/>
                    <a:pt x="775" y="388"/>
                  </a:cubicBezTo>
                  <a:cubicBezTo>
                    <a:pt x="775" y="602"/>
                    <a:pt x="601" y="776"/>
                    <a:pt x="387" y="776"/>
                  </a:cubicBezTo>
                  <a:close/>
                </a:path>
              </a:pathLst>
            </a:custGeom>
            <a:grpFill/>
            <a:ln w="0">
              <a:noFill/>
              <a:round/>
              <a:headEnd/>
              <a:tailEnd/>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Freeform 79"/>
            <p:cNvSpPr>
              <a:spLocks/>
            </p:cNvSpPr>
            <p:nvPr/>
          </p:nvSpPr>
          <p:spPr bwMode="gray">
            <a:xfrm>
              <a:off x="649288" y="2652713"/>
              <a:ext cx="561975" cy="390525"/>
            </a:xfrm>
            <a:custGeom>
              <a:avLst/>
              <a:gdLst>
                <a:gd name="T0" fmla="*/ 2147483647 w 1337"/>
                <a:gd name="T1" fmla="*/ 2147483647 h 932"/>
                <a:gd name="T2" fmla="*/ 2147483647 w 1337"/>
                <a:gd name="T3" fmla="*/ 2147483647 h 932"/>
                <a:gd name="T4" fmla="*/ 2147483647 w 1337"/>
                <a:gd name="T5" fmla="*/ 2147483647 h 932"/>
                <a:gd name="T6" fmla="*/ 2147483647 w 1337"/>
                <a:gd name="T7" fmla="*/ 2147483647 h 932"/>
                <a:gd name="T8" fmla="*/ 2147483647 w 1337"/>
                <a:gd name="T9" fmla="*/ 2147483647 h 932"/>
                <a:gd name="T10" fmla="*/ 2147483647 w 1337"/>
                <a:gd name="T11" fmla="*/ 2147483647 h 932"/>
                <a:gd name="T12" fmla="*/ 2147483647 w 1337"/>
                <a:gd name="T13" fmla="*/ 2147483647 h 932"/>
                <a:gd name="T14" fmla="*/ 2147483647 w 1337"/>
                <a:gd name="T15" fmla="*/ 2147483647 h 932"/>
                <a:gd name="T16" fmla="*/ 2147483647 w 1337"/>
                <a:gd name="T17" fmla="*/ 2147483647 h 932"/>
                <a:gd name="T18" fmla="*/ 2147483647 w 1337"/>
                <a:gd name="T19" fmla="*/ 2147483647 h 932"/>
                <a:gd name="T20" fmla="*/ 2147483647 w 1337"/>
                <a:gd name="T21" fmla="*/ 2147483647 h 932"/>
                <a:gd name="T22" fmla="*/ 2147483647 w 1337"/>
                <a:gd name="T23" fmla="*/ 2147483647 h 932"/>
                <a:gd name="T24" fmla="*/ 2147483647 w 1337"/>
                <a:gd name="T25" fmla="*/ 2147483647 h 932"/>
                <a:gd name="T26" fmla="*/ 2147483647 w 1337"/>
                <a:gd name="T27" fmla="*/ 2147483647 h 932"/>
                <a:gd name="T28" fmla="*/ 2147483647 w 1337"/>
                <a:gd name="T29" fmla="*/ 2147483647 h 932"/>
                <a:gd name="T30" fmla="*/ 0 w 1337"/>
                <a:gd name="T31" fmla="*/ 2147483647 h 932"/>
                <a:gd name="T32" fmla="*/ 0 w 1337"/>
                <a:gd name="T33" fmla="*/ 2147483647 h 932"/>
                <a:gd name="T34" fmla="*/ 2147483647 w 1337"/>
                <a:gd name="T35" fmla="*/ 2147483647 h 932"/>
                <a:gd name="T36" fmla="*/ 2147483647 w 1337"/>
                <a:gd name="T37" fmla="*/ 2147483647 h 932"/>
                <a:gd name="T38" fmla="*/ 2147483647 w 1337"/>
                <a:gd name="T39" fmla="*/ 2147483647 h 932"/>
                <a:gd name="T40" fmla="*/ 2147483647 w 1337"/>
                <a:gd name="T41" fmla="*/ 2147483647 h 932"/>
                <a:gd name="T42" fmla="*/ 2147483647 w 1337"/>
                <a:gd name="T43" fmla="*/ 2147483647 h 932"/>
                <a:gd name="T44" fmla="*/ 2147483647 w 1337"/>
                <a:gd name="T45" fmla="*/ 2147483647 h 932"/>
                <a:gd name="T46" fmla="*/ 2147483647 w 1337"/>
                <a:gd name="T47" fmla="*/ 2147483647 h 932"/>
                <a:gd name="T48" fmla="*/ 2147483647 w 1337"/>
                <a:gd name="T49" fmla="*/ 2147483647 h 9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7"/>
                <a:gd name="T76" fmla="*/ 0 h 932"/>
                <a:gd name="T77" fmla="*/ 1337 w 1337"/>
                <a:gd name="T78" fmla="*/ 932 h 9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7" h="932">
                  <a:moveTo>
                    <a:pt x="1304" y="932"/>
                  </a:moveTo>
                  <a:lnTo>
                    <a:pt x="1304" y="932"/>
                  </a:lnTo>
                  <a:lnTo>
                    <a:pt x="1080" y="932"/>
                  </a:lnTo>
                  <a:lnTo>
                    <a:pt x="1080" y="866"/>
                  </a:lnTo>
                  <a:lnTo>
                    <a:pt x="1270" y="866"/>
                  </a:lnTo>
                  <a:lnTo>
                    <a:pt x="1270" y="429"/>
                  </a:lnTo>
                  <a:cubicBezTo>
                    <a:pt x="1270" y="255"/>
                    <a:pt x="1151" y="108"/>
                    <a:pt x="983" y="71"/>
                  </a:cubicBezTo>
                  <a:lnTo>
                    <a:pt x="694" y="412"/>
                  </a:lnTo>
                  <a:cubicBezTo>
                    <a:pt x="681" y="427"/>
                    <a:pt x="656" y="427"/>
                    <a:pt x="643" y="412"/>
                  </a:cubicBezTo>
                  <a:lnTo>
                    <a:pt x="353" y="71"/>
                  </a:lnTo>
                  <a:cubicBezTo>
                    <a:pt x="186" y="108"/>
                    <a:pt x="67" y="255"/>
                    <a:pt x="67" y="429"/>
                  </a:cubicBezTo>
                  <a:lnTo>
                    <a:pt x="67" y="866"/>
                  </a:lnTo>
                  <a:lnTo>
                    <a:pt x="896" y="866"/>
                  </a:lnTo>
                  <a:lnTo>
                    <a:pt x="896" y="932"/>
                  </a:lnTo>
                  <a:lnTo>
                    <a:pt x="33" y="932"/>
                  </a:lnTo>
                  <a:cubicBezTo>
                    <a:pt x="15" y="932"/>
                    <a:pt x="0" y="917"/>
                    <a:pt x="0" y="899"/>
                  </a:cubicBezTo>
                  <a:lnTo>
                    <a:pt x="0" y="429"/>
                  </a:lnTo>
                  <a:cubicBezTo>
                    <a:pt x="0" y="217"/>
                    <a:pt x="152" y="37"/>
                    <a:pt x="361" y="2"/>
                  </a:cubicBezTo>
                  <a:cubicBezTo>
                    <a:pt x="372" y="0"/>
                    <a:pt x="384" y="4"/>
                    <a:pt x="392" y="13"/>
                  </a:cubicBezTo>
                  <a:lnTo>
                    <a:pt x="668" y="339"/>
                  </a:lnTo>
                  <a:lnTo>
                    <a:pt x="945" y="13"/>
                  </a:lnTo>
                  <a:cubicBezTo>
                    <a:pt x="953" y="4"/>
                    <a:pt x="965" y="0"/>
                    <a:pt x="976" y="2"/>
                  </a:cubicBezTo>
                  <a:cubicBezTo>
                    <a:pt x="1185" y="37"/>
                    <a:pt x="1337" y="216"/>
                    <a:pt x="1337" y="429"/>
                  </a:cubicBezTo>
                  <a:lnTo>
                    <a:pt x="1337" y="899"/>
                  </a:lnTo>
                  <a:cubicBezTo>
                    <a:pt x="1337" y="917"/>
                    <a:pt x="1322" y="932"/>
                    <a:pt x="1304" y="932"/>
                  </a:cubicBezTo>
                  <a:close/>
                </a:path>
              </a:pathLst>
            </a:custGeom>
            <a:grpFill/>
            <a:ln w="0">
              <a:noFill/>
              <a:round/>
              <a:headEnd/>
              <a:tailEnd/>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Freeform 80"/>
            <p:cNvSpPr>
              <a:spLocks/>
            </p:cNvSpPr>
            <p:nvPr/>
          </p:nvSpPr>
          <p:spPr bwMode="gray">
            <a:xfrm>
              <a:off x="879475" y="2667001"/>
              <a:ext cx="101600" cy="149225"/>
            </a:xfrm>
            <a:custGeom>
              <a:avLst/>
              <a:gdLst>
                <a:gd name="T0" fmla="*/ 2147483647 w 239"/>
                <a:gd name="T1" fmla="*/ 2147483647 h 357"/>
                <a:gd name="T2" fmla="*/ 2147483647 w 239"/>
                <a:gd name="T3" fmla="*/ 2147483647 h 357"/>
                <a:gd name="T4" fmla="*/ 2147483647 w 239"/>
                <a:gd name="T5" fmla="*/ 2147483647 h 357"/>
                <a:gd name="T6" fmla="*/ 2147483647 w 239"/>
                <a:gd name="T7" fmla="*/ 0 h 357"/>
                <a:gd name="T8" fmla="*/ 0 w 239"/>
                <a:gd name="T9" fmla="*/ 0 h 357"/>
                <a:gd name="T10" fmla="*/ 2147483647 w 239"/>
                <a:gd name="T11" fmla="*/ 2147483647 h 357"/>
                <a:gd name="T12" fmla="*/ 2147483647 w 239"/>
                <a:gd name="T13" fmla="*/ 2147483647 h 357"/>
                <a:gd name="T14" fmla="*/ 2147483647 w 239"/>
                <a:gd name="T15" fmla="*/ 2147483647 h 357"/>
                <a:gd name="T16" fmla="*/ 2147483647 w 239"/>
                <a:gd name="T17" fmla="*/ 2147483647 h 35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9"/>
                <a:gd name="T28" fmla="*/ 0 h 357"/>
                <a:gd name="T29" fmla="*/ 239 w 239"/>
                <a:gd name="T30" fmla="*/ 357 h 35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9" h="357">
                  <a:moveTo>
                    <a:pt x="210" y="260"/>
                  </a:moveTo>
                  <a:lnTo>
                    <a:pt x="210" y="260"/>
                  </a:lnTo>
                  <a:lnTo>
                    <a:pt x="135" y="112"/>
                  </a:lnTo>
                  <a:lnTo>
                    <a:pt x="239" y="0"/>
                  </a:lnTo>
                  <a:lnTo>
                    <a:pt x="0" y="0"/>
                  </a:lnTo>
                  <a:lnTo>
                    <a:pt x="104" y="112"/>
                  </a:lnTo>
                  <a:lnTo>
                    <a:pt x="29" y="260"/>
                  </a:lnTo>
                  <a:lnTo>
                    <a:pt x="119" y="357"/>
                  </a:lnTo>
                  <a:lnTo>
                    <a:pt x="210" y="260"/>
                  </a:lnTo>
                  <a:close/>
                </a:path>
              </a:pathLst>
            </a:custGeom>
            <a:grpFill/>
            <a:ln w="0">
              <a:noFill/>
              <a:round/>
              <a:headEnd/>
              <a:tailEnd/>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3" name="Freeform 81"/>
            <p:cNvSpPr>
              <a:spLocks/>
            </p:cNvSpPr>
            <p:nvPr/>
          </p:nvSpPr>
          <p:spPr bwMode="gray">
            <a:xfrm>
              <a:off x="803275" y="2652713"/>
              <a:ext cx="254000" cy="28575"/>
            </a:xfrm>
            <a:custGeom>
              <a:avLst/>
              <a:gdLst>
                <a:gd name="T0" fmla="*/ 2147483647 w 605"/>
                <a:gd name="T1" fmla="*/ 2147483647 h 67"/>
                <a:gd name="T2" fmla="*/ 2147483647 w 605"/>
                <a:gd name="T3" fmla="*/ 2147483647 h 67"/>
                <a:gd name="T4" fmla="*/ 0 w 605"/>
                <a:gd name="T5" fmla="*/ 2147483647 h 67"/>
                <a:gd name="T6" fmla="*/ 0 w 605"/>
                <a:gd name="T7" fmla="*/ 0 h 67"/>
                <a:gd name="T8" fmla="*/ 2147483647 w 605"/>
                <a:gd name="T9" fmla="*/ 0 h 67"/>
                <a:gd name="T10" fmla="*/ 2147483647 w 605"/>
                <a:gd name="T11" fmla="*/ 2147483647 h 67"/>
                <a:gd name="T12" fmla="*/ 0 60000 65536"/>
                <a:gd name="T13" fmla="*/ 0 60000 65536"/>
                <a:gd name="T14" fmla="*/ 0 60000 65536"/>
                <a:gd name="T15" fmla="*/ 0 60000 65536"/>
                <a:gd name="T16" fmla="*/ 0 60000 65536"/>
                <a:gd name="T17" fmla="*/ 0 60000 65536"/>
                <a:gd name="T18" fmla="*/ 0 w 605"/>
                <a:gd name="T19" fmla="*/ 0 h 67"/>
                <a:gd name="T20" fmla="*/ 605 w 605"/>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605" h="67">
                  <a:moveTo>
                    <a:pt x="605" y="67"/>
                  </a:moveTo>
                  <a:lnTo>
                    <a:pt x="605" y="67"/>
                  </a:lnTo>
                  <a:lnTo>
                    <a:pt x="0" y="67"/>
                  </a:lnTo>
                  <a:lnTo>
                    <a:pt x="0" y="0"/>
                  </a:lnTo>
                  <a:lnTo>
                    <a:pt x="605" y="0"/>
                  </a:lnTo>
                  <a:lnTo>
                    <a:pt x="605" y="67"/>
                  </a:lnTo>
                  <a:close/>
                </a:path>
              </a:pathLst>
            </a:custGeom>
            <a:grpFill/>
            <a:ln w="0">
              <a:noFill/>
              <a:round/>
              <a:headEnd/>
              <a:tailEnd/>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Freeform 82"/>
            <p:cNvSpPr>
              <a:spLocks/>
            </p:cNvSpPr>
            <p:nvPr/>
          </p:nvSpPr>
          <p:spPr bwMode="gray">
            <a:xfrm>
              <a:off x="990600" y="3000376"/>
              <a:ext cx="58738"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grpFill/>
            <a:ln w="0">
              <a:noFill/>
              <a:round/>
              <a:headEnd/>
              <a:tailEnd/>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5" name="Freeform 83"/>
            <p:cNvSpPr>
              <a:spLocks/>
            </p:cNvSpPr>
            <p:nvPr/>
          </p:nvSpPr>
          <p:spPr bwMode="gray">
            <a:xfrm>
              <a:off x="1081088" y="3000376"/>
              <a:ext cx="57150" cy="58738"/>
            </a:xfrm>
            <a:custGeom>
              <a:avLst/>
              <a:gdLst>
                <a:gd name="T0" fmla="*/ 2147483647 w 139"/>
                <a:gd name="T1" fmla="*/ 2147483647 h 138"/>
                <a:gd name="T2" fmla="*/ 2147483647 w 139"/>
                <a:gd name="T3" fmla="*/ 2147483647 h 138"/>
                <a:gd name="T4" fmla="*/ 0 w 139"/>
                <a:gd name="T5" fmla="*/ 2147483647 h 138"/>
                <a:gd name="T6" fmla="*/ 2147483647 w 139"/>
                <a:gd name="T7" fmla="*/ 0 h 138"/>
                <a:gd name="T8" fmla="*/ 2147483647 w 139"/>
                <a:gd name="T9" fmla="*/ 2147483647 h 138"/>
                <a:gd name="T10" fmla="*/ 2147483647 w 139"/>
                <a:gd name="T11" fmla="*/ 2147483647 h 138"/>
                <a:gd name="T12" fmla="*/ 0 60000 65536"/>
                <a:gd name="T13" fmla="*/ 0 60000 65536"/>
                <a:gd name="T14" fmla="*/ 0 60000 65536"/>
                <a:gd name="T15" fmla="*/ 0 60000 65536"/>
                <a:gd name="T16" fmla="*/ 0 60000 65536"/>
                <a:gd name="T17" fmla="*/ 0 60000 65536"/>
                <a:gd name="T18" fmla="*/ 0 w 139"/>
                <a:gd name="T19" fmla="*/ 0 h 138"/>
                <a:gd name="T20" fmla="*/ 139 w 139"/>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9" h="138">
                  <a:moveTo>
                    <a:pt x="69" y="138"/>
                  </a:moveTo>
                  <a:lnTo>
                    <a:pt x="69" y="138"/>
                  </a:lnTo>
                  <a:cubicBezTo>
                    <a:pt x="31" y="138"/>
                    <a:pt x="0" y="107"/>
                    <a:pt x="0" y="69"/>
                  </a:cubicBezTo>
                  <a:cubicBezTo>
                    <a:pt x="0" y="31"/>
                    <a:pt x="31" y="0"/>
                    <a:pt x="69" y="0"/>
                  </a:cubicBezTo>
                  <a:cubicBezTo>
                    <a:pt x="107" y="0"/>
                    <a:pt x="139" y="31"/>
                    <a:pt x="139" y="69"/>
                  </a:cubicBezTo>
                  <a:cubicBezTo>
                    <a:pt x="139" y="107"/>
                    <a:pt x="107" y="138"/>
                    <a:pt x="69" y="138"/>
                  </a:cubicBezTo>
                  <a:close/>
                </a:path>
              </a:pathLst>
            </a:custGeom>
            <a:grpFill/>
            <a:ln w="0">
              <a:noFill/>
              <a:round/>
              <a:headEnd/>
              <a:tailEnd/>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16" name="组合 115"/>
          <p:cNvGrpSpPr/>
          <p:nvPr/>
        </p:nvGrpSpPr>
        <p:grpSpPr bwMode="gray">
          <a:xfrm>
            <a:off x="1592308" y="1907583"/>
            <a:ext cx="641772" cy="370947"/>
            <a:chOff x="3381375" y="1086862"/>
            <a:chExt cx="984250" cy="568901"/>
          </a:xfrm>
          <a:solidFill>
            <a:schemeClr val="tx1">
              <a:lumMod val="50000"/>
              <a:lumOff val="50000"/>
            </a:schemeClr>
          </a:solidFill>
        </p:grpSpPr>
        <p:sp>
          <p:nvSpPr>
            <p:cNvPr id="117" name="Freeform 36"/>
            <p:cNvSpPr>
              <a:spLocks noEditPoints="1"/>
            </p:cNvSpPr>
            <p:nvPr/>
          </p:nvSpPr>
          <p:spPr bwMode="gray">
            <a:xfrm>
              <a:off x="3381375" y="1086862"/>
              <a:ext cx="984250" cy="568901"/>
            </a:xfrm>
            <a:custGeom>
              <a:avLst/>
              <a:gdLst>
                <a:gd name="T0" fmla="*/ 2147483647 w 2094"/>
                <a:gd name="T1" fmla="*/ 2147483647 h 1211"/>
                <a:gd name="T2" fmla="*/ 2147483647 w 2094"/>
                <a:gd name="T3" fmla="*/ 2147483647 h 1211"/>
                <a:gd name="T4" fmla="*/ 2147483647 w 2094"/>
                <a:gd name="T5" fmla="*/ 2147483647 h 1211"/>
                <a:gd name="T6" fmla="*/ 2147483647 w 2094"/>
                <a:gd name="T7" fmla="*/ 2147483647 h 1211"/>
                <a:gd name="T8" fmla="*/ 2147483647 w 2094"/>
                <a:gd name="T9" fmla="*/ 2147483647 h 1211"/>
                <a:gd name="T10" fmla="*/ 2147483647 w 2094"/>
                <a:gd name="T11" fmla="*/ 2147483647 h 1211"/>
                <a:gd name="T12" fmla="*/ 2147483647 w 2094"/>
                <a:gd name="T13" fmla="*/ 2147483647 h 1211"/>
                <a:gd name="T14" fmla="*/ 2147483647 w 2094"/>
                <a:gd name="T15" fmla="*/ 2147483647 h 1211"/>
                <a:gd name="T16" fmla="*/ 2147483647 w 2094"/>
                <a:gd name="T17" fmla="*/ 2147483647 h 1211"/>
                <a:gd name="T18" fmla="*/ 2147483647 w 2094"/>
                <a:gd name="T19" fmla="*/ 2147483647 h 1211"/>
                <a:gd name="T20" fmla="*/ 2147483647 w 2094"/>
                <a:gd name="T21" fmla="*/ 2147483647 h 1211"/>
                <a:gd name="T22" fmla="*/ 2147483647 w 2094"/>
                <a:gd name="T23" fmla="*/ 2147483647 h 1211"/>
                <a:gd name="T24" fmla="*/ 2147483647 w 2094"/>
                <a:gd name="T25" fmla="*/ 2147483647 h 1211"/>
                <a:gd name="T26" fmla="*/ 2147483647 w 2094"/>
                <a:gd name="T27" fmla="*/ 2147483647 h 1211"/>
                <a:gd name="T28" fmla="*/ 2147483647 w 2094"/>
                <a:gd name="T29" fmla="*/ 2147483647 h 1211"/>
                <a:gd name="T30" fmla="*/ 2147483647 w 2094"/>
                <a:gd name="T31" fmla="*/ 2147483647 h 1211"/>
                <a:gd name="T32" fmla="*/ 2147483647 w 2094"/>
                <a:gd name="T33" fmla="*/ 2147483647 h 1211"/>
                <a:gd name="T34" fmla="*/ 2147483647 w 2094"/>
                <a:gd name="T35" fmla="*/ 2147483647 h 1211"/>
                <a:gd name="T36" fmla="*/ 2147483647 w 2094"/>
                <a:gd name="T37" fmla="*/ 2147483647 h 1211"/>
                <a:gd name="T38" fmla="*/ 2147483647 w 2094"/>
                <a:gd name="T39" fmla="*/ 2147483647 h 1211"/>
                <a:gd name="T40" fmla="*/ 2147483647 w 2094"/>
                <a:gd name="T41" fmla="*/ 2147483647 h 1211"/>
                <a:gd name="T42" fmla="*/ 2147483647 w 2094"/>
                <a:gd name="T43" fmla="*/ 2147483647 h 1211"/>
                <a:gd name="T44" fmla="*/ 2147483647 w 2094"/>
                <a:gd name="T45" fmla="*/ 2147483647 h 1211"/>
                <a:gd name="T46" fmla="*/ 2147483647 w 2094"/>
                <a:gd name="T47" fmla="*/ 2147483647 h 1211"/>
                <a:gd name="T48" fmla="*/ 2147483647 w 2094"/>
                <a:gd name="T49" fmla="*/ 2147483647 h 1211"/>
                <a:gd name="T50" fmla="*/ 2147483647 w 2094"/>
                <a:gd name="T51" fmla="*/ 2147483647 h 1211"/>
                <a:gd name="T52" fmla="*/ 2147483647 w 2094"/>
                <a:gd name="T53" fmla="*/ 2147483647 h 1211"/>
                <a:gd name="T54" fmla="*/ 2147483647 w 2094"/>
                <a:gd name="T55" fmla="*/ 2147483647 h 1211"/>
                <a:gd name="T56" fmla="*/ 2147483647 w 2094"/>
                <a:gd name="T57" fmla="*/ 2147483647 h 1211"/>
                <a:gd name="T58" fmla="*/ 2147483647 w 2094"/>
                <a:gd name="T59" fmla="*/ 2147483647 h 1211"/>
                <a:gd name="T60" fmla="*/ 2147483647 w 2094"/>
                <a:gd name="T61" fmla="*/ 2147483647 h 1211"/>
                <a:gd name="T62" fmla="*/ 2147483647 w 2094"/>
                <a:gd name="T63" fmla="*/ 2147483647 h 1211"/>
                <a:gd name="T64" fmla="*/ 2147483647 w 2094"/>
                <a:gd name="T65" fmla="*/ 2147483647 h 1211"/>
                <a:gd name="T66" fmla="*/ 2147483647 w 2094"/>
                <a:gd name="T67" fmla="*/ 2147483647 h 1211"/>
                <a:gd name="T68" fmla="*/ 2147483647 w 2094"/>
                <a:gd name="T69" fmla="*/ 2147483647 h 1211"/>
                <a:gd name="T70" fmla="*/ 2147483647 w 2094"/>
                <a:gd name="T71" fmla="*/ 2147483647 h 1211"/>
                <a:gd name="T72" fmla="*/ 2147483647 w 2094"/>
                <a:gd name="T73" fmla="*/ 2147483647 h 1211"/>
                <a:gd name="T74" fmla="*/ 2147483647 w 2094"/>
                <a:gd name="T75" fmla="*/ 2147483647 h 1211"/>
                <a:gd name="T76" fmla="*/ 2147483647 w 2094"/>
                <a:gd name="T77" fmla="*/ 2147483647 h 1211"/>
                <a:gd name="T78" fmla="*/ 2147483647 w 2094"/>
                <a:gd name="T79" fmla="*/ 2147483647 h 1211"/>
                <a:gd name="T80" fmla="*/ 2147483647 w 2094"/>
                <a:gd name="T81" fmla="*/ 2147483647 h 1211"/>
                <a:gd name="T82" fmla="*/ 2147483647 w 2094"/>
                <a:gd name="T83" fmla="*/ 2147483647 h 1211"/>
                <a:gd name="T84" fmla="*/ 2147483647 w 2094"/>
                <a:gd name="T85" fmla="*/ 2147483647 h 1211"/>
                <a:gd name="T86" fmla="*/ 2147483647 w 2094"/>
                <a:gd name="T87" fmla="*/ 2147483647 h 1211"/>
                <a:gd name="T88" fmla="*/ 2147483647 w 2094"/>
                <a:gd name="T89" fmla="*/ 2147483647 h 1211"/>
                <a:gd name="T90" fmla="*/ 2147483647 w 2094"/>
                <a:gd name="T91" fmla="*/ 2147483647 h 1211"/>
                <a:gd name="T92" fmla="*/ 2147483647 w 2094"/>
                <a:gd name="T93" fmla="*/ 2147483647 h 1211"/>
                <a:gd name="T94" fmla="*/ 2147483647 w 2094"/>
                <a:gd name="T95" fmla="*/ 0 h 1211"/>
                <a:gd name="T96" fmla="*/ 2147483647 w 2094"/>
                <a:gd name="T97" fmla="*/ 2147483647 h 1211"/>
                <a:gd name="T98" fmla="*/ 2147483647 w 2094"/>
                <a:gd name="T99" fmla="*/ 2147483647 h 1211"/>
                <a:gd name="T100" fmla="*/ 2147483647 w 2094"/>
                <a:gd name="T101" fmla="*/ 2147483647 h 1211"/>
                <a:gd name="T102" fmla="*/ 0 w 2094"/>
                <a:gd name="T103" fmla="*/ 2147483647 h 1211"/>
                <a:gd name="T104" fmla="*/ 2147483647 w 2094"/>
                <a:gd name="T105" fmla="*/ 2147483647 h 1211"/>
                <a:gd name="T106" fmla="*/ 2147483647 w 2094"/>
                <a:gd name="T107" fmla="*/ 2147483647 h 1211"/>
                <a:gd name="T108" fmla="*/ 2147483647 w 2094"/>
                <a:gd name="T109" fmla="*/ 2147483647 h 1211"/>
                <a:gd name="T110" fmla="*/ 2147483647 w 2094"/>
                <a:gd name="T111" fmla="*/ 2147483647 h 1211"/>
                <a:gd name="T112" fmla="*/ 2147483647 w 2094"/>
                <a:gd name="T113" fmla="*/ 2147483647 h 1211"/>
                <a:gd name="T114" fmla="*/ 2147483647 w 2094"/>
                <a:gd name="T115" fmla="*/ 2147483647 h 1211"/>
                <a:gd name="T116" fmla="*/ 2147483647 w 2094"/>
                <a:gd name="T117" fmla="*/ 2147483647 h 1211"/>
                <a:gd name="T118" fmla="*/ 2147483647 w 2094"/>
                <a:gd name="T119" fmla="*/ 2147483647 h 1211"/>
                <a:gd name="T120" fmla="*/ 2147483647 w 2094"/>
                <a:gd name="T121" fmla="*/ 2147483647 h 1211"/>
                <a:gd name="T122" fmla="*/ 2147483647 w 2094"/>
                <a:gd name="T123" fmla="*/ 2147483647 h 1211"/>
                <a:gd name="T124" fmla="*/ 2147483647 w 2094"/>
                <a:gd name="T125" fmla="*/ 2147483647 h 121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094"/>
                <a:gd name="T190" fmla="*/ 0 h 1211"/>
                <a:gd name="T191" fmla="*/ 2094 w 2094"/>
                <a:gd name="T192" fmla="*/ 1211 h 1211"/>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094" h="1211">
                  <a:moveTo>
                    <a:pt x="2027" y="941"/>
                  </a:moveTo>
                  <a:lnTo>
                    <a:pt x="2027" y="941"/>
                  </a:lnTo>
                  <a:lnTo>
                    <a:pt x="2011" y="941"/>
                  </a:lnTo>
                  <a:cubicBezTo>
                    <a:pt x="1995" y="827"/>
                    <a:pt x="1896" y="738"/>
                    <a:pt x="1777" y="738"/>
                  </a:cubicBezTo>
                  <a:cubicBezTo>
                    <a:pt x="1658" y="738"/>
                    <a:pt x="1560" y="827"/>
                    <a:pt x="1544" y="941"/>
                  </a:cubicBezTo>
                  <a:lnTo>
                    <a:pt x="1516" y="941"/>
                  </a:lnTo>
                  <a:lnTo>
                    <a:pt x="1516" y="541"/>
                  </a:lnTo>
                  <a:cubicBezTo>
                    <a:pt x="1516" y="540"/>
                    <a:pt x="1516" y="539"/>
                    <a:pt x="1516" y="539"/>
                  </a:cubicBezTo>
                  <a:cubicBezTo>
                    <a:pt x="1516" y="538"/>
                    <a:pt x="1516" y="538"/>
                    <a:pt x="1516" y="537"/>
                  </a:cubicBezTo>
                  <a:cubicBezTo>
                    <a:pt x="1516" y="535"/>
                    <a:pt x="1515" y="533"/>
                    <a:pt x="1515" y="532"/>
                  </a:cubicBezTo>
                  <a:cubicBezTo>
                    <a:pt x="1515" y="531"/>
                    <a:pt x="1515" y="531"/>
                    <a:pt x="1514" y="531"/>
                  </a:cubicBezTo>
                  <a:cubicBezTo>
                    <a:pt x="1514" y="529"/>
                    <a:pt x="1513" y="527"/>
                    <a:pt x="1511" y="525"/>
                  </a:cubicBezTo>
                  <a:cubicBezTo>
                    <a:pt x="1511" y="525"/>
                    <a:pt x="1511" y="525"/>
                    <a:pt x="1511" y="524"/>
                  </a:cubicBezTo>
                  <a:cubicBezTo>
                    <a:pt x="1510" y="523"/>
                    <a:pt x="1402" y="381"/>
                    <a:pt x="1362" y="329"/>
                  </a:cubicBezTo>
                  <a:cubicBezTo>
                    <a:pt x="1299" y="247"/>
                    <a:pt x="1224" y="204"/>
                    <a:pt x="1145" y="204"/>
                  </a:cubicBezTo>
                  <a:lnTo>
                    <a:pt x="692" y="204"/>
                  </a:lnTo>
                  <a:cubicBezTo>
                    <a:pt x="596" y="204"/>
                    <a:pt x="500" y="218"/>
                    <a:pt x="452" y="319"/>
                  </a:cubicBezTo>
                  <a:cubicBezTo>
                    <a:pt x="423" y="379"/>
                    <a:pt x="363" y="523"/>
                    <a:pt x="360" y="530"/>
                  </a:cubicBezTo>
                  <a:cubicBezTo>
                    <a:pt x="360" y="530"/>
                    <a:pt x="360" y="530"/>
                    <a:pt x="360" y="530"/>
                  </a:cubicBezTo>
                  <a:cubicBezTo>
                    <a:pt x="360" y="530"/>
                    <a:pt x="360" y="530"/>
                    <a:pt x="360" y="530"/>
                  </a:cubicBezTo>
                  <a:cubicBezTo>
                    <a:pt x="360" y="530"/>
                    <a:pt x="360" y="531"/>
                    <a:pt x="360" y="531"/>
                  </a:cubicBezTo>
                  <a:cubicBezTo>
                    <a:pt x="359" y="532"/>
                    <a:pt x="359" y="534"/>
                    <a:pt x="358" y="536"/>
                  </a:cubicBezTo>
                  <a:cubicBezTo>
                    <a:pt x="358" y="537"/>
                    <a:pt x="358" y="537"/>
                    <a:pt x="358" y="538"/>
                  </a:cubicBezTo>
                  <a:cubicBezTo>
                    <a:pt x="358" y="539"/>
                    <a:pt x="358" y="540"/>
                    <a:pt x="358" y="541"/>
                  </a:cubicBezTo>
                  <a:lnTo>
                    <a:pt x="358" y="694"/>
                  </a:lnTo>
                  <a:cubicBezTo>
                    <a:pt x="358" y="709"/>
                    <a:pt x="369" y="720"/>
                    <a:pt x="384" y="721"/>
                  </a:cubicBezTo>
                  <a:cubicBezTo>
                    <a:pt x="392" y="721"/>
                    <a:pt x="578" y="731"/>
                    <a:pt x="615" y="941"/>
                  </a:cubicBezTo>
                  <a:lnTo>
                    <a:pt x="594" y="941"/>
                  </a:lnTo>
                  <a:cubicBezTo>
                    <a:pt x="578" y="827"/>
                    <a:pt x="480" y="738"/>
                    <a:pt x="361" y="738"/>
                  </a:cubicBezTo>
                  <a:cubicBezTo>
                    <a:pt x="242" y="738"/>
                    <a:pt x="143" y="827"/>
                    <a:pt x="127" y="941"/>
                  </a:cubicBezTo>
                  <a:lnTo>
                    <a:pt x="67" y="941"/>
                  </a:lnTo>
                  <a:lnTo>
                    <a:pt x="67" y="637"/>
                  </a:lnTo>
                  <a:cubicBezTo>
                    <a:pt x="67" y="532"/>
                    <a:pt x="159" y="529"/>
                    <a:pt x="170" y="529"/>
                  </a:cubicBezTo>
                  <a:lnTo>
                    <a:pt x="289" y="529"/>
                  </a:lnTo>
                  <a:lnTo>
                    <a:pt x="312" y="540"/>
                  </a:lnTo>
                  <a:lnTo>
                    <a:pt x="351" y="463"/>
                  </a:lnTo>
                  <a:lnTo>
                    <a:pt x="347" y="463"/>
                  </a:lnTo>
                  <a:cubicBezTo>
                    <a:pt x="361" y="431"/>
                    <a:pt x="385" y="377"/>
                    <a:pt x="425" y="284"/>
                  </a:cubicBezTo>
                  <a:cubicBezTo>
                    <a:pt x="457" y="213"/>
                    <a:pt x="524" y="181"/>
                    <a:pt x="642" y="181"/>
                  </a:cubicBezTo>
                  <a:lnTo>
                    <a:pt x="1165" y="181"/>
                  </a:lnTo>
                  <a:cubicBezTo>
                    <a:pt x="1251" y="181"/>
                    <a:pt x="1306" y="238"/>
                    <a:pt x="1349" y="293"/>
                  </a:cubicBezTo>
                  <a:cubicBezTo>
                    <a:pt x="1394" y="352"/>
                    <a:pt x="1535" y="516"/>
                    <a:pt x="1541" y="523"/>
                  </a:cubicBezTo>
                  <a:lnTo>
                    <a:pt x="1550" y="533"/>
                  </a:lnTo>
                  <a:lnTo>
                    <a:pt x="1562" y="534"/>
                  </a:lnTo>
                  <a:cubicBezTo>
                    <a:pt x="1562" y="534"/>
                    <a:pt x="1828" y="569"/>
                    <a:pt x="1931" y="582"/>
                  </a:cubicBezTo>
                  <a:cubicBezTo>
                    <a:pt x="2026" y="594"/>
                    <a:pt x="2027" y="660"/>
                    <a:pt x="2027" y="663"/>
                  </a:cubicBezTo>
                  <a:lnTo>
                    <a:pt x="2027" y="941"/>
                  </a:lnTo>
                  <a:close/>
                  <a:moveTo>
                    <a:pt x="1777" y="1144"/>
                  </a:moveTo>
                  <a:lnTo>
                    <a:pt x="1777" y="1144"/>
                  </a:lnTo>
                  <a:cubicBezTo>
                    <a:pt x="1684" y="1144"/>
                    <a:pt x="1608" y="1068"/>
                    <a:pt x="1608" y="974"/>
                  </a:cubicBezTo>
                  <a:cubicBezTo>
                    <a:pt x="1608" y="881"/>
                    <a:pt x="1684" y="805"/>
                    <a:pt x="1777" y="805"/>
                  </a:cubicBezTo>
                  <a:cubicBezTo>
                    <a:pt x="1871" y="805"/>
                    <a:pt x="1947" y="881"/>
                    <a:pt x="1947" y="974"/>
                  </a:cubicBezTo>
                  <a:cubicBezTo>
                    <a:pt x="1947" y="1068"/>
                    <a:pt x="1871" y="1144"/>
                    <a:pt x="1777" y="1144"/>
                  </a:cubicBezTo>
                  <a:close/>
                  <a:moveTo>
                    <a:pt x="942" y="514"/>
                  </a:moveTo>
                  <a:lnTo>
                    <a:pt x="942" y="514"/>
                  </a:lnTo>
                  <a:lnTo>
                    <a:pt x="942" y="257"/>
                  </a:lnTo>
                  <a:lnTo>
                    <a:pt x="1145" y="257"/>
                  </a:lnTo>
                  <a:cubicBezTo>
                    <a:pt x="1207" y="257"/>
                    <a:pt x="1266" y="292"/>
                    <a:pt x="1320" y="362"/>
                  </a:cubicBezTo>
                  <a:cubicBezTo>
                    <a:pt x="1346" y="395"/>
                    <a:pt x="1401" y="467"/>
                    <a:pt x="1436" y="514"/>
                  </a:cubicBezTo>
                  <a:lnTo>
                    <a:pt x="942" y="514"/>
                  </a:lnTo>
                  <a:close/>
                  <a:moveTo>
                    <a:pt x="425" y="514"/>
                  </a:moveTo>
                  <a:lnTo>
                    <a:pt x="425" y="514"/>
                  </a:lnTo>
                  <a:cubicBezTo>
                    <a:pt x="445" y="466"/>
                    <a:pt x="480" y="382"/>
                    <a:pt x="500" y="342"/>
                  </a:cubicBezTo>
                  <a:cubicBezTo>
                    <a:pt x="533" y="271"/>
                    <a:pt x="598" y="257"/>
                    <a:pt x="692" y="257"/>
                  </a:cubicBezTo>
                  <a:lnTo>
                    <a:pt x="889" y="257"/>
                  </a:lnTo>
                  <a:lnTo>
                    <a:pt x="889" y="514"/>
                  </a:lnTo>
                  <a:lnTo>
                    <a:pt x="425" y="514"/>
                  </a:lnTo>
                  <a:close/>
                  <a:moveTo>
                    <a:pt x="889" y="941"/>
                  </a:moveTo>
                  <a:lnTo>
                    <a:pt x="889" y="941"/>
                  </a:lnTo>
                  <a:lnTo>
                    <a:pt x="669" y="941"/>
                  </a:lnTo>
                  <a:cubicBezTo>
                    <a:pt x="636" y="730"/>
                    <a:pt x="475" y="682"/>
                    <a:pt x="411" y="671"/>
                  </a:cubicBezTo>
                  <a:lnTo>
                    <a:pt x="411" y="567"/>
                  </a:lnTo>
                  <a:lnTo>
                    <a:pt x="889" y="567"/>
                  </a:lnTo>
                  <a:lnTo>
                    <a:pt x="889" y="941"/>
                  </a:lnTo>
                  <a:close/>
                  <a:moveTo>
                    <a:pt x="361" y="1144"/>
                  </a:moveTo>
                  <a:lnTo>
                    <a:pt x="361" y="1144"/>
                  </a:lnTo>
                  <a:cubicBezTo>
                    <a:pt x="267" y="1144"/>
                    <a:pt x="191" y="1068"/>
                    <a:pt x="191" y="974"/>
                  </a:cubicBezTo>
                  <a:cubicBezTo>
                    <a:pt x="191" y="881"/>
                    <a:pt x="267" y="805"/>
                    <a:pt x="361" y="805"/>
                  </a:cubicBezTo>
                  <a:cubicBezTo>
                    <a:pt x="454" y="805"/>
                    <a:pt x="530" y="881"/>
                    <a:pt x="530" y="974"/>
                  </a:cubicBezTo>
                  <a:cubicBezTo>
                    <a:pt x="530" y="1068"/>
                    <a:pt x="454" y="1144"/>
                    <a:pt x="361" y="1144"/>
                  </a:cubicBezTo>
                  <a:close/>
                  <a:moveTo>
                    <a:pt x="872" y="87"/>
                  </a:moveTo>
                  <a:lnTo>
                    <a:pt x="872" y="87"/>
                  </a:lnTo>
                  <a:cubicBezTo>
                    <a:pt x="872" y="69"/>
                    <a:pt x="887" y="54"/>
                    <a:pt x="906" y="54"/>
                  </a:cubicBezTo>
                  <a:cubicBezTo>
                    <a:pt x="924" y="54"/>
                    <a:pt x="940" y="69"/>
                    <a:pt x="940" y="87"/>
                  </a:cubicBezTo>
                  <a:lnTo>
                    <a:pt x="940" y="115"/>
                  </a:lnTo>
                  <a:lnTo>
                    <a:pt x="872" y="115"/>
                  </a:lnTo>
                  <a:lnTo>
                    <a:pt x="872" y="87"/>
                  </a:lnTo>
                  <a:close/>
                  <a:moveTo>
                    <a:pt x="2094" y="663"/>
                  </a:moveTo>
                  <a:lnTo>
                    <a:pt x="2094" y="663"/>
                  </a:lnTo>
                  <a:cubicBezTo>
                    <a:pt x="2094" y="619"/>
                    <a:pt x="2062" y="532"/>
                    <a:pt x="1940" y="516"/>
                  </a:cubicBezTo>
                  <a:cubicBezTo>
                    <a:pt x="1850" y="504"/>
                    <a:pt x="1637" y="477"/>
                    <a:pt x="1583" y="470"/>
                  </a:cubicBezTo>
                  <a:cubicBezTo>
                    <a:pt x="1552" y="433"/>
                    <a:pt x="1440" y="302"/>
                    <a:pt x="1402" y="252"/>
                  </a:cubicBezTo>
                  <a:cubicBezTo>
                    <a:pt x="1352" y="188"/>
                    <a:pt x="1280" y="115"/>
                    <a:pt x="1165" y="115"/>
                  </a:cubicBezTo>
                  <a:lnTo>
                    <a:pt x="993" y="115"/>
                  </a:lnTo>
                  <a:lnTo>
                    <a:pt x="993" y="87"/>
                  </a:lnTo>
                  <a:cubicBezTo>
                    <a:pt x="993" y="39"/>
                    <a:pt x="954" y="0"/>
                    <a:pt x="906" y="0"/>
                  </a:cubicBezTo>
                  <a:cubicBezTo>
                    <a:pt x="858" y="0"/>
                    <a:pt x="819" y="39"/>
                    <a:pt x="819" y="87"/>
                  </a:cubicBezTo>
                  <a:lnTo>
                    <a:pt x="819" y="115"/>
                  </a:lnTo>
                  <a:lnTo>
                    <a:pt x="642" y="115"/>
                  </a:lnTo>
                  <a:cubicBezTo>
                    <a:pt x="550" y="115"/>
                    <a:pt x="421" y="129"/>
                    <a:pt x="364" y="258"/>
                  </a:cubicBezTo>
                  <a:cubicBezTo>
                    <a:pt x="318" y="363"/>
                    <a:pt x="293" y="419"/>
                    <a:pt x="281" y="449"/>
                  </a:cubicBezTo>
                  <a:cubicBezTo>
                    <a:pt x="278" y="454"/>
                    <a:pt x="276" y="459"/>
                    <a:pt x="275" y="463"/>
                  </a:cubicBezTo>
                  <a:lnTo>
                    <a:pt x="170" y="463"/>
                  </a:lnTo>
                  <a:cubicBezTo>
                    <a:pt x="111" y="463"/>
                    <a:pt x="0" y="499"/>
                    <a:pt x="0" y="637"/>
                  </a:cubicBezTo>
                  <a:lnTo>
                    <a:pt x="0" y="1008"/>
                  </a:lnTo>
                  <a:lnTo>
                    <a:pt x="127" y="1008"/>
                  </a:lnTo>
                  <a:cubicBezTo>
                    <a:pt x="143" y="1122"/>
                    <a:pt x="242" y="1211"/>
                    <a:pt x="361" y="1211"/>
                  </a:cubicBezTo>
                  <a:cubicBezTo>
                    <a:pt x="480" y="1211"/>
                    <a:pt x="578" y="1122"/>
                    <a:pt x="594" y="1008"/>
                  </a:cubicBezTo>
                  <a:lnTo>
                    <a:pt x="1078" y="1008"/>
                  </a:lnTo>
                  <a:cubicBezTo>
                    <a:pt x="1090" y="1029"/>
                    <a:pt x="1112" y="1044"/>
                    <a:pt x="1139" y="1044"/>
                  </a:cubicBezTo>
                  <a:cubicBezTo>
                    <a:pt x="1177" y="1044"/>
                    <a:pt x="1208" y="1013"/>
                    <a:pt x="1208" y="974"/>
                  </a:cubicBezTo>
                  <a:cubicBezTo>
                    <a:pt x="1208" y="936"/>
                    <a:pt x="1177" y="905"/>
                    <a:pt x="1139" y="905"/>
                  </a:cubicBezTo>
                  <a:cubicBezTo>
                    <a:pt x="1112" y="905"/>
                    <a:pt x="1090" y="920"/>
                    <a:pt x="1078" y="941"/>
                  </a:cubicBezTo>
                  <a:lnTo>
                    <a:pt x="942" y="941"/>
                  </a:lnTo>
                  <a:lnTo>
                    <a:pt x="942" y="567"/>
                  </a:lnTo>
                  <a:lnTo>
                    <a:pt x="1463" y="567"/>
                  </a:lnTo>
                  <a:lnTo>
                    <a:pt x="1463" y="941"/>
                  </a:lnTo>
                  <a:lnTo>
                    <a:pt x="1412" y="941"/>
                  </a:lnTo>
                  <a:cubicBezTo>
                    <a:pt x="1400" y="920"/>
                    <a:pt x="1378" y="905"/>
                    <a:pt x="1352" y="905"/>
                  </a:cubicBezTo>
                  <a:cubicBezTo>
                    <a:pt x="1313" y="905"/>
                    <a:pt x="1282" y="936"/>
                    <a:pt x="1282" y="974"/>
                  </a:cubicBezTo>
                  <a:cubicBezTo>
                    <a:pt x="1282" y="1013"/>
                    <a:pt x="1313" y="1044"/>
                    <a:pt x="1352" y="1044"/>
                  </a:cubicBezTo>
                  <a:cubicBezTo>
                    <a:pt x="1378" y="1044"/>
                    <a:pt x="1400" y="1029"/>
                    <a:pt x="1412" y="1008"/>
                  </a:cubicBezTo>
                  <a:lnTo>
                    <a:pt x="1544" y="1008"/>
                  </a:lnTo>
                  <a:cubicBezTo>
                    <a:pt x="1560" y="1122"/>
                    <a:pt x="1658" y="1211"/>
                    <a:pt x="1777" y="1211"/>
                  </a:cubicBezTo>
                  <a:cubicBezTo>
                    <a:pt x="1896" y="1211"/>
                    <a:pt x="1995" y="1122"/>
                    <a:pt x="2011" y="1008"/>
                  </a:cubicBezTo>
                  <a:lnTo>
                    <a:pt x="2094" y="1008"/>
                  </a:lnTo>
                  <a:lnTo>
                    <a:pt x="2094" y="663"/>
                  </a:ln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8" name="Freeform 37"/>
            <p:cNvSpPr>
              <a:spLocks noEditPoints="1"/>
            </p:cNvSpPr>
            <p:nvPr/>
          </p:nvSpPr>
          <p:spPr bwMode="gray">
            <a:xfrm>
              <a:off x="3486386" y="1479759"/>
              <a:ext cx="129929" cy="129781"/>
            </a:xfrm>
            <a:custGeom>
              <a:avLst/>
              <a:gdLst>
                <a:gd name="T0" fmla="*/ 2147483647 w 276"/>
                <a:gd name="T1" fmla="*/ 2147483647 h 277"/>
                <a:gd name="T2" fmla="*/ 2147483647 w 276"/>
                <a:gd name="T3" fmla="*/ 2147483647 h 277"/>
                <a:gd name="T4" fmla="*/ 2147483647 w 276"/>
                <a:gd name="T5" fmla="*/ 2147483647 h 277"/>
                <a:gd name="T6" fmla="*/ 2147483647 w 276"/>
                <a:gd name="T7" fmla="*/ 2147483647 h 277"/>
                <a:gd name="T8" fmla="*/ 2147483647 w 276"/>
                <a:gd name="T9" fmla="*/ 2147483647 h 277"/>
                <a:gd name="T10" fmla="*/ 2147483647 w 276"/>
                <a:gd name="T11" fmla="*/ 2147483647 h 277"/>
                <a:gd name="T12" fmla="*/ 2147483647 w 276"/>
                <a:gd name="T13" fmla="*/ 0 h 277"/>
                <a:gd name="T14" fmla="*/ 2147483647 w 276"/>
                <a:gd name="T15" fmla="*/ 0 h 277"/>
                <a:gd name="T16" fmla="*/ 0 w 276"/>
                <a:gd name="T17" fmla="*/ 2147483647 h 277"/>
                <a:gd name="T18" fmla="*/ 2147483647 w 276"/>
                <a:gd name="T19" fmla="*/ 2147483647 h 277"/>
                <a:gd name="T20" fmla="*/ 2147483647 w 276"/>
                <a:gd name="T21" fmla="*/ 2147483647 h 277"/>
                <a:gd name="T22" fmla="*/ 2147483647 w 276"/>
                <a:gd name="T23" fmla="*/ 0 h 2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6"/>
                <a:gd name="T37" fmla="*/ 0 h 277"/>
                <a:gd name="T38" fmla="*/ 276 w 276"/>
                <a:gd name="T39" fmla="*/ 277 h 2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6" h="277">
                  <a:moveTo>
                    <a:pt x="138" y="223"/>
                  </a:moveTo>
                  <a:lnTo>
                    <a:pt x="138" y="223"/>
                  </a:lnTo>
                  <a:cubicBezTo>
                    <a:pt x="91" y="223"/>
                    <a:pt x="53" y="185"/>
                    <a:pt x="53" y="138"/>
                  </a:cubicBezTo>
                  <a:cubicBezTo>
                    <a:pt x="53" y="92"/>
                    <a:pt x="91" y="54"/>
                    <a:pt x="138" y="54"/>
                  </a:cubicBezTo>
                  <a:cubicBezTo>
                    <a:pt x="185" y="54"/>
                    <a:pt x="223" y="92"/>
                    <a:pt x="223" y="138"/>
                  </a:cubicBezTo>
                  <a:cubicBezTo>
                    <a:pt x="223" y="185"/>
                    <a:pt x="185" y="223"/>
                    <a:pt x="138" y="223"/>
                  </a:cubicBezTo>
                  <a:close/>
                  <a:moveTo>
                    <a:pt x="138" y="0"/>
                  </a:moveTo>
                  <a:lnTo>
                    <a:pt x="138" y="0"/>
                  </a:lnTo>
                  <a:cubicBezTo>
                    <a:pt x="62" y="0"/>
                    <a:pt x="0" y="62"/>
                    <a:pt x="0" y="138"/>
                  </a:cubicBezTo>
                  <a:cubicBezTo>
                    <a:pt x="0" y="215"/>
                    <a:pt x="62" y="277"/>
                    <a:pt x="138" y="277"/>
                  </a:cubicBezTo>
                  <a:cubicBezTo>
                    <a:pt x="214" y="277"/>
                    <a:pt x="276" y="215"/>
                    <a:pt x="276" y="138"/>
                  </a:cubicBezTo>
                  <a:cubicBezTo>
                    <a:pt x="276" y="62"/>
                    <a:pt x="214" y="0"/>
                    <a:pt x="138" y="0"/>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9" name="Freeform 38"/>
            <p:cNvSpPr>
              <a:spLocks noEditPoints="1"/>
            </p:cNvSpPr>
            <p:nvPr/>
          </p:nvSpPr>
          <p:spPr bwMode="gray">
            <a:xfrm>
              <a:off x="4152045" y="1479759"/>
              <a:ext cx="129929" cy="129781"/>
            </a:xfrm>
            <a:custGeom>
              <a:avLst/>
              <a:gdLst>
                <a:gd name="T0" fmla="*/ 2147483647 w 276"/>
                <a:gd name="T1" fmla="*/ 2147483647 h 277"/>
                <a:gd name="T2" fmla="*/ 2147483647 w 276"/>
                <a:gd name="T3" fmla="*/ 2147483647 h 277"/>
                <a:gd name="T4" fmla="*/ 2147483647 w 276"/>
                <a:gd name="T5" fmla="*/ 2147483647 h 277"/>
                <a:gd name="T6" fmla="*/ 2147483647 w 276"/>
                <a:gd name="T7" fmla="*/ 2147483647 h 277"/>
                <a:gd name="T8" fmla="*/ 2147483647 w 276"/>
                <a:gd name="T9" fmla="*/ 2147483647 h 277"/>
                <a:gd name="T10" fmla="*/ 2147483647 w 276"/>
                <a:gd name="T11" fmla="*/ 2147483647 h 277"/>
                <a:gd name="T12" fmla="*/ 2147483647 w 276"/>
                <a:gd name="T13" fmla="*/ 0 h 277"/>
                <a:gd name="T14" fmla="*/ 2147483647 w 276"/>
                <a:gd name="T15" fmla="*/ 0 h 277"/>
                <a:gd name="T16" fmla="*/ 0 w 276"/>
                <a:gd name="T17" fmla="*/ 2147483647 h 277"/>
                <a:gd name="T18" fmla="*/ 2147483647 w 276"/>
                <a:gd name="T19" fmla="*/ 2147483647 h 277"/>
                <a:gd name="T20" fmla="*/ 2147483647 w 276"/>
                <a:gd name="T21" fmla="*/ 2147483647 h 277"/>
                <a:gd name="T22" fmla="*/ 2147483647 w 276"/>
                <a:gd name="T23" fmla="*/ 0 h 2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76"/>
                <a:gd name="T37" fmla="*/ 0 h 277"/>
                <a:gd name="T38" fmla="*/ 276 w 276"/>
                <a:gd name="T39" fmla="*/ 277 h 2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76" h="277">
                  <a:moveTo>
                    <a:pt x="138" y="223"/>
                  </a:moveTo>
                  <a:lnTo>
                    <a:pt x="138" y="223"/>
                  </a:lnTo>
                  <a:cubicBezTo>
                    <a:pt x="92" y="223"/>
                    <a:pt x="53" y="185"/>
                    <a:pt x="53" y="138"/>
                  </a:cubicBezTo>
                  <a:cubicBezTo>
                    <a:pt x="53" y="92"/>
                    <a:pt x="92" y="54"/>
                    <a:pt x="138" y="54"/>
                  </a:cubicBezTo>
                  <a:cubicBezTo>
                    <a:pt x="185" y="54"/>
                    <a:pt x="223" y="92"/>
                    <a:pt x="223" y="138"/>
                  </a:cubicBezTo>
                  <a:cubicBezTo>
                    <a:pt x="223" y="185"/>
                    <a:pt x="185" y="223"/>
                    <a:pt x="138" y="223"/>
                  </a:cubicBezTo>
                  <a:close/>
                  <a:moveTo>
                    <a:pt x="138" y="0"/>
                  </a:moveTo>
                  <a:lnTo>
                    <a:pt x="138" y="0"/>
                  </a:lnTo>
                  <a:cubicBezTo>
                    <a:pt x="62" y="0"/>
                    <a:pt x="0" y="62"/>
                    <a:pt x="0" y="138"/>
                  </a:cubicBezTo>
                  <a:cubicBezTo>
                    <a:pt x="0" y="215"/>
                    <a:pt x="62" y="277"/>
                    <a:pt x="138" y="277"/>
                  </a:cubicBezTo>
                  <a:cubicBezTo>
                    <a:pt x="214" y="277"/>
                    <a:pt x="276" y="215"/>
                    <a:pt x="276" y="138"/>
                  </a:cubicBezTo>
                  <a:cubicBezTo>
                    <a:pt x="276" y="62"/>
                    <a:pt x="214" y="0"/>
                    <a:pt x="138" y="0"/>
                  </a:cubicBezTo>
                  <a:close/>
                </a:path>
              </a:pathLst>
            </a:custGeom>
            <a:grp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20" name="文本框 119"/>
          <p:cNvSpPr txBox="1"/>
          <p:nvPr/>
        </p:nvSpPr>
        <p:spPr bwMode="gray">
          <a:xfrm>
            <a:off x="2536286" y="4681898"/>
            <a:ext cx="902811" cy="307777"/>
          </a:xfrm>
          <a:prstGeom prst="rect">
            <a:avLst/>
          </a:prstGeom>
          <a:noFill/>
        </p:spPr>
        <p:txBody>
          <a:bodyPr wrap="none" rtlCol="0">
            <a:spAutoFit/>
          </a:bodyPr>
          <a:lstStyle/>
          <a:p>
            <a:pPr algn="ctr"/>
            <a:r>
              <a:rPr lang="zh-CN" altLang="en-US" sz="1400"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四通八达</a:t>
            </a:r>
          </a:p>
        </p:txBody>
      </p:sp>
      <p:sp>
        <p:nvSpPr>
          <p:cNvPr id="121" name="Right Arrow 157"/>
          <p:cNvSpPr/>
          <p:nvPr/>
        </p:nvSpPr>
        <p:spPr bwMode="gray">
          <a:xfrm rot="16200000">
            <a:off x="2968788" y="3702148"/>
            <a:ext cx="633403" cy="494305"/>
          </a:xfrm>
          <a:prstGeom prst="rightArrow">
            <a:avLst>
              <a:gd name="adj1" fmla="val 79333"/>
              <a:gd name="adj2" fmla="val 50000"/>
            </a:avLst>
          </a:prstGeom>
          <a:gradFill flip="none" rotWithShape="1">
            <a:gsLst>
              <a:gs pos="15000">
                <a:schemeClr val="accent1">
                  <a:lumMod val="5000"/>
                  <a:lumOff val="95000"/>
                  <a:alpha val="0"/>
                </a:schemeClr>
              </a:gs>
              <a:gs pos="81000">
                <a:schemeClr val="bg1">
                  <a:lumMod val="65000"/>
                  <a:alpha val="75000"/>
                </a:schemeClr>
              </a:gs>
            </a:gsLst>
            <a:lin ang="0" scaled="1"/>
            <a:tileRect/>
          </a:gradFill>
          <a:ln>
            <a:gradFill flip="none" rotWithShape="1">
              <a:gsLst>
                <a:gs pos="0">
                  <a:schemeClr val="accent1">
                    <a:lumMod val="5000"/>
                    <a:lumOff val="95000"/>
                  </a:schemeClr>
                </a:gs>
                <a:gs pos="100000">
                  <a:schemeClr val="tx1"/>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圆角矩形 75"/>
          <p:cNvSpPr/>
          <p:nvPr/>
        </p:nvSpPr>
        <p:spPr bwMode="gray">
          <a:xfrm>
            <a:off x="6127344" y="1056073"/>
            <a:ext cx="5332820" cy="360000"/>
          </a:xfrm>
          <a:prstGeom prst="roundRect">
            <a:avLst>
              <a:gd name="adj" fmla="val 10919"/>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虚拟化园区网络中的</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Overlay</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3" name="图片 87" descr="汇聚交换机.png"/>
          <p:cNvPicPr>
            <a:picLocks noChangeAspect="1"/>
          </p:cNvPicPr>
          <p:nvPr/>
        </p:nvPicPr>
        <p:blipFill>
          <a:blip r:embed="rId3"/>
          <a:stretch>
            <a:fillRect/>
          </a:stretch>
        </p:blipFill>
        <p:spPr bwMode="gray">
          <a:xfrm>
            <a:off x="6784709" y="4808078"/>
            <a:ext cx="457109" cy="374000"/>
          </a:xfrm>
          <a:prstGeom prst="rect">
            <a:avLst/>
          </a:prstGeom>
        </p:spPr>
      </p:pic>
      <p:pic>
        <p:nvPicPr>
          <p:cNvPr id="124" name="图片 87" descr="汇聚交换机.png"/>
          <p:cNvPicPr>
            <a:picLocks noChangeAspect="1"/>
          </p:cNvPicPr>
          <p:nvPr/>
        </p:nvPicPr>
        <p:blipFill>
          <a:blip r:embed="rId3"/>
          <a:stretch>
            <a:fillRect/>
          </a:stretch>
        </p:blipFill>
        <p:spPr bwMode="gray">
          <a:xfrm>
            <a:off x="8410867" y="4808078"/>
            <a:ext cx="457109" cy="374000"/>
          </a:xfrm>
          <a:prstGeom prst="rect">
            <a:avLst/>
          </a:prstGeom>
        </p:spPr>
      </p:pic>
      <p:pic>
        <p:nvPicPr>
          <p:cNvPr id="125" name="图片 87" descr="汇聚交换机.png"/>
          <p:cNvPicPr>
            <a:picLocks noChangeAspect="1"/>
          </p:cNvPicPr>
          <p:nvPr/>
        </p:nvPicPr>
        <p:blipFill>
          <a:blip r:embed="rId3"/>
          <a:stretch>
            <a:fillRect/>
          </a:stretch>
        </p:blipFill>
        <p:spPr bwMode="gray">
          <a:xfrm>
            <a:off x="10037024" y="4808078"/>
            <a:ext cx="457109" cy="374000"/>
          </a:xfrm>
          <a:prstGeom prst="rect">
            <a:avLst/>
          </a:prstGeom>
        </p:spPr>
      </p:pic>
      <p:cxnSp>
        <p:nvCxnSpPr>
          <p:cNvPr id="126" name="直接连接符 125"/>
          <p:cNvCxnSpPr>
            <a:stCxn id="123" idx="3"/>
            <a:endCxn id="124" idx="1"/>
          </p:cNvCxnSpPr>
          <p:nvPr/>
        </p:nvCxnSpPr>
        <p:spPr bwMode="gray">
          <a:xfrm>
            <a:off x="7241818" y="4995078"/>
            <a:ext cx="1169049"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a:stCxn id="124" idx="3"/>
            <a:endCxn id="125" idx="1"/>
          </p:cNvCxnSpPr>
          <p:nvPr/>
        </p:nvCxnSpPr>
        <p:spPr bwMode="gray">
          <a:xfrm>
            <a:off x="8867976" y="4995078"/>
            <a:ext cx="1169048"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8" name="文本框 127"/>
          <p:cNvSpPr txBox="1"/>
          <p:nvPr/>
        </p:nvSpPr>
        <p:spPr bwMode="gray">
          <a:xfrm>
            <a:off x="8098250" y="5375186"/>
            <a:ext cx="1082348" cy="338554"/>
          </a:xfrm>
          <a:prstGeom prst="rect">
            <a:avLst/>
          </a:prstGeom>
          <a:noFill/>
        </p:spPr>
        <p:txBody>
          <a:bodyPr wrap="none" rtlCol="0">
            <a:spAutoFit/>
          </a:bodyPr>
          <a:lstStyle/>
          <a:p>
            <a:pPr algn="ctr"/>
            <a:r>
              <a:rPr lang="en-US" altLang="zh-CN" sz="16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Underlay</a:t>
            </a:r>
            <a:endParaRPr lang="zh-CN" altLang="en-US" sz="16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9" name="图片 87" descr="汇聚交换机.png"/>
          <p:cNvPicPr>
            <a:picLocks noChangeAspect="1"/>
          </p:cNvPicPr>
          <p:nvPr/>
        </p:nvPicPr>
        <p:blipFill>
          <a:blip r:embed="rId3"/>
          <a:stretch>
            <a:fillRect/>
          </a:stretch>
        </p:blipFill>
        <p:spPr bwMode="gray">
          <a:xfrm>
            <a:off x="7430178" y="2483850"/>
            <a:ext cx="457109" cy="374000"/>
          </a:xfrm>
          <a:prstGeom prst="rect">
            <a:avLst/>
          </a:prstGeom>
        </p:spPr>
      </p:pic>
      <p:pic>
        <p:nvPicPr>
          <p:cNvPr id="130" name="图片 87" descr="汇聚交换机.png"/>
          <p:cNvPicPr>
            <a:picLocks noChangeAspect="1"/>
          </p:cNvPicPr>
          <p:nvPr/>
        </p:nvPicPr>
        <p:blipFill>
          <a:blip r:embed="rId3"/>
          <a:stretch>
            <a:fillRect/>
          </a:stretch>
        </p:blipFill>
        <p:spPr bwMode="gray">
          <a:xfrm>
            <a:off x="8449930" y="2483850"/>
            <a:ext cx="457109" cy="374000"/>
          </a:xfrm>
          <a:prstGeom prst="rect">
            <a:avLst/>
          </a:prstGeom>
        </p:spPr>
      </p:pic>
      <p:pic>
        <p:nvPicPr>
          <p:cNvPr id="131" name="图片 87" descr="汇聚交换机.png"/>
          <p:cNvPicPr>
            <a:picLocks noChangeAspect="1"/>
          </p:cNvPicPr>
          <p:nvPr/>
        </p:nvPicPr>
        <p:blipFill>
          <a:blip r:embed="rId3"/>
          <a:stretch>
            <a:fillRect/>
          </a:stretch>
        </p:blipFill>
        <p:spPr bwMode="gray">
          <a:xfrm>
            <a:off x="9996829" y="2483850"/>
            <a:ext cx="457109" cy="374000"/>
          </a:xfrm>
          <a:prstGeom prst="rect">
            <a:avLst/>
          </a:prstGeom>
        </p:spPr>
      </p:pic>
      <p:cxnSp>
        <p:nvCxnSpPr>
          <p:cNvPr id="132" name="直接连接符 131"/>
          <p:cNvCxnSpPr>
            <a:stCxn id="129" idx="3"/>
            <a:endCxn id="130" idx="1"/>
          </p:cNvCxnSpPr>
          <p:nvPr/>
        </p:nvCxnSpPr>
        <p:spPr bwMode="gray">
          <a:xfrm>
            <a:off x="7887287" y="2670850"/>
            <a:ext cx="562643"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a:stCxn id="130" idx="3"/>
            <a:endCxn id="131" idx="1"/>
          </p:cNvCxnSpPr>
          <p:nvPr/>
        </p:nvCxnSpPr>
        <p:spPr bwMode="gray">
          <a:xfrm>
            <a:off x="8907039" y="2670850"/>
            <a:ext cx="108979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4" name="文本框 133"/>
          <p:cNvSpPr txBox="1"/>
          <p:nvPr/>
        </p:nvSpPr>
        <p:spPr bwMode="gray">
          <a:xfrm>
            <a:off x="8192726" y="3457126"/>
            <a:ext cx="952505" cy="338554"/>
          </a:xfrm>
          <a:prstGeom prst="rect">
            <a:avLst/>
          </a:prstGeom>
          <a:noFill/>
        </p:spPr>
        <p:txBody>
          <a:bodyPr wrap="none" rtlCol="0">
            <a:spAutoFit/>
          </a:bodyPr>
          <a:lstStyle/>
          <a:p>
            <a:pPr algn="ctr"/>
            <a:r>
              <a:rPr lang="en-US" altLang="zh-CN" sz="16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Overlay</a:t>
            </a:r>
            <a:endParaRPr lang="zh-CN" altLang="en-US" sz="16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5" name="文本框 134"/>
          <p:cNvSpPr txBox="1"/>
          <p:nvPr/>
        </p:nvSpPr>
        <p:spPr bwMode="gray">
          <a:xfrm>
            <a:off x="6127344" y="2233652"/>
            <a:ext cx="663964" cy="307777"/>
          </a:xfrm>
          <a:prstGeom prst="rect">
            <a:avLst/>
          </a:prstGeom>
          <a:noFill/>
        </p:spPr>
        <p:txBody>
          <a:bodyPr wrap="none" rtlCol="0">
            <a:spAutoFit/>
          </a:bodyPr>
          <a:lstStyle/>
          <a:p>
            <a:pPr algn="ctr"/>
            <a:r>
              <a:rPr lang="zh-CN" altLang="en-US" sz="1400" dirty="0">
                <a:solidFill>
                  <a:srgbClr val="EDAA4A"/>
                </a:solidFill>
                <a:latin typeface="Huawei Sans" panose="020C0503030203020204" pitchFamily="34" charset="0"/>
                <a:ea typeface="方正兰亭黑简体" panose="02000000000000000000" pitchFamily="2" charset="-122"/>
                <a:sym typeface="Huawei Sans" panose="020C0503030203020204" pitchFamily="34" charset="0"/>
              </a:rPr>
              <a:t>业务</a:t>
            </a:r>
            <a:r>
              <a:rPr lang="en-US" altLang="zh-CN" sz="1400" dirty="0">
                <a:solidFill>
                  <a:srgbClr val="EDAA4A"/>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dirty="0">
              <a:solidFill>
                <a:srgbClr val="EDAA4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6" name="文本框 135"/>
          <p:cNvSpPr txBox="1"/>
          <p:nvPr/>
        </p:nvSpPr>
        <p:spPr bwMode="gray">
          <a:xfrm>
            <a:off x="6127344" y="3351159"/>
            <a:ext cx="663964" cy="307777"/>
          </a:xfrm>
          <a:prstGeom prst="rect">
            <a:avLst/>
          </a:prstGeom>
          <a:noFill/>
        </p:spPr>
        <p:txBody>
          <a:bodyPr wrap="none" rtlCol="0">
            <a:spAutoFit/>
          </a:bodyPr>
          <a:lstStyle/>
          <a:p>
            <a:pPr algn="ctr"/>
            <a:r>
              <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业务</a:t>
            </a: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7" name="图片 11" descr="开放网络-蓝.png"/>
          <p:cNvPicPr>
            <a:picLocks noChangeAspect="1"/>
          </p:cNvPicPr>
          <p:nvPr/>
        </p:nvPicPr>
        <p:blipFill>
          <a:blip r:embed="rId4" cstate="print"/>
          <a:stretch>
            <a:fillRect/>
          </a:stretch>
        </p:blipFill>
        <p:spPr bwMode="gray">
          <a:xfrm>
            <a:off x="6236348" y="1859405"/>
            <a:ext cx="445956" cy="343290"/>
          </a:xfrm>
          <a:prstGeom prst="rect">
            <a:avLst/>
          </a:prstGeom>
        </p:spPr>
      </p:pic>
      <p:pic>
        <p:nvPicPr>
          <p:cNvPr id="138" name="图片 11" descr="开放网络-蓝.png"/>
          <p:cNvPicPr>
            <a:picLocks noChangeAspect="1"/>
          </p:cNvPicPr>
          <p:nvPr/>
        </p:nvPicPr>
        <p:blipFill>
          <a:blip r:embed="rId4" cstate="print"/>
          <a:stretch>
            <a:fillRect/>
          </a:stretch>
        </p:blipFill>
        <p:spPr bwMode="gray">
          <a:xfrm>
            <a:off x="6236348" y="2965723"/>
            <a:ext cx="445956" cy="343290"/>
          </a:xfrm>
          <a:prstGeom prst="rect">
            <a:avLst/>
          </a:prstGeom>
        </p:spPr>
      </p:pic>
      <p:sp>
        <p:nvSpPr>
          <p:cNvPr id="139" name="文本框 138"/>
          <p:cNvSpPr txBox="1"/>
          <p:nvPr/>
        </p:nvSpPr>
        <p:spPr bwMode="gray">
          <a:xfrm>
            <a:off x="10693085" y="2233652"/>
            <a:ext cx="663964" cy="307777"/>
          </a:xfrm>
          <a:prstGeom prst="rect">
            <a:avLst/>
          </a:prstGeom>
          <a:noFill/>
        </p:spPr>
        <p:txBody>
          <a:bodyPr wrap="none" rtlCol="0">
            <a:spAutoFit/>
          </a:bodyPr>
          <a:lstStyle/>
          <a:p>
            <a:pPr algn="ctr"/>
            <a:r>
              <a:rPr lang="zh-CN" altLang="en-US" sz="1400" dirty="0">
                <a:solidFill>
                  <a:srgbClr val="EDAA4A"/>
                </a:solidFill>
                <a:latin typeface="Huawei Sans" panose="020C0503030203020204" pitchFamily="34" charset="0"/>
                <a:ea typeface="方正兰亭黑简体" panose="02000000000000000000" pitchFamily="2" charset="-122"/>
                <a:sym typeface="Huawei Sans" panose="020C0503030203020204" pitchFamily="34" charset="0"/>
              </a:rPr>
              <a:t>业务</a:t>
            </a:r>
            <a:r>
              <a:rPr lang="en-US" altLang="zh-CN" sz="1400" dirty="0">
                <a:solidFill>
                  <a:srgbClr val="EDAA4A"/>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dirty="0">
              <a:solidFill>
                <a:srgbClr val="EDAA4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0" name="文本框 139"/>
          <p:cNvSpPr txBox="1"/>
          <p:nvPr/>
        </p:nvSpPr>
        <p:spPr bwMode="gray">
          <a:xfrm>
            <a:off x="10693085" y="3351159"/>
            <a:ext cx="663964" cy="307777"/>
          </a:xfrm>
          <a:prstGeom prst="rect">
            <a:avLst/>
          </a:prstGeom>
          <a:noFill/>
        </p:spPr>
        <p:txBody>
          <a:bodyPr wrap="none" rtlCol="0">
            <a:spAutoFit/>
          </a:bodyPr>
          <a:lstStyle/>
          <a:p>
            <a:pPr algn="ctr"/>
            <a:r>
              <a:rPr lang="zh-CN" altLang="en-US"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业务</a:t>
            </a:r>
            <a:r>
              <a:rPr lang="en-US" altLang="zh-CN"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41" name="图片 11" descr="开放网络-蓝.png"/>
          <p:cNvPicPr>
            <a:picLocks noChangeAspect="1"/>
          </p:cNvPicPr>
          <p:nvPr/>
        </p:nvPicPr>
        <p:blipFill>
          <a:blip r:embed="rId4" cstate="print"/>
          <a:stretch>
            <a:fillRect/>
          </a:stretch>
        </p:blipFill>
        <p:spPr bwMode="gray">
          <a:xfrm>
            <a:off x="10802089" y="1859405"/>
            <a:ext cx="445956" cy="343290"/>
          </a:xfrm>
          <a:prstGeom prst="rect">
            <a:avLst/>
          </a:prstGeom>
        </p:spPr>
      </p:pic>
      <p:pic>
        <p:nvPicPr>
          <p:cNvPr id="142" name="图片 11" descr="开放网络-蓝.png"/>
          <p:cNvPicPr>
            <a:picLocks noChangeAspect="1"/>
          </p:cNvPicPr>
          <p:nvPr/>
        </p:nvPicPr>
        <p:blipFill>
          <a:blip r:embed="rId4" cstate="print"/>
          <a:stretch>
            <a:fillRect/>
          </a:stretch>
        </p:blipFill>
        <p:spPr bwMode="gray">
          <a:xfrm>
            <a:off x="10802089" y="2965723"/>
            <a:ext cx="445956" cy="343290"/>
          </a:xfrm>
          <a:prstGeom prst="rect">
            <a:avLst/>
          </a:prstGeom>
        </p:spPr>
      </p:pic>
      <p:sp>
        <p:nvSpPr>
          <p:cNvPr id="143" name="文本框 142"/>
          <p:cNvSpPr txBox="1"/>
          <p:nvPr/>
        </p:nvSpPr>
        <p:spPr bwMode="gray">
          <a:xfrm>
            <a:off x="7292974" y="4664177"/>
            <a:ext cx="1013418" cy="682238"/>
          </a:xfrm>
          <a:prstGeom prst="rect">
            <a:avLst/>
          </a:prstGeom>
          <a:noFill/>
        </p:spPr>
        <p:txBody>
          <a:bodyPr wrap="none" rtlCol="0">
            <a:spAutoFit/>
          </a:bodyPr>
          <a:lstStyle/>
          <a:p>
            <a:pPr algn="ctr">
              <a:lnSpc>
                <a:spcPts val="2300"/>
              </a:lnSpc>
            </a:pPr>
            <a:r>
              <a:rPr lang="zh-CN" altLang="en-US" sz="140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互联</a:t>
            </a:r>
            <a:r>
              <a:rPr lang="en-US" altLang="zh-CN" sz="140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VLAN</a:t>
            </a:r>
          </a:p>
          <a:p>
            <a:pPr algn="ctr">
              <a:lnSpc>
                <a:spcPts val="2300"/>
              </a:lnSpc>
            </a:pPr>
            <a:r>
              <a:rPr lang="zh-CN" altLang="en-US" sz="140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互联</a:t>
            </a:r>
            <a:r>
              <a:rPr lang="en-US" altLang="zh-CN" sz="140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IP</a:t>
            </a:r>
            <a:endParaRPr lang="zh-CN" altLang="en-US" sz="140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4" name="文本框 143"/>
          <p:cNvSpPr txBox="1"/>
          <p:nvPr/>
        </p:nvSpPr>
        <p:spPr bwMode="gray">
          <a:xfrm>
            <a:off x="8945791" y="4664177"/>
            <a:ext cx="1013418" cy="682238"/>
          </a:xfrm>
          <a:prstGeom prst="rect">
            <a:avLst/>
          </a:prstGeom>
          <a:noFill/>
        </p:spPr>
        <p:txBody>
          <a:bodyPr wrap="none" rtlCol="0">
            <a:spAutoFit/>
          </a:bodyPr>
          <a:lstStyle/>
          <a:p>
            <a:pPr algn="ctr">
              <a:lnSpc>
                <a:spcPts val="2300"/>
              </a:lnSpc>
            </a:pPr>
            <a:r>
              <a:rPr lang="zh-CN" altLang="en-US" sz="1400"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互联</a:t>
            </a:r>
            <a:r>
              <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VLAN</a:t>
            </a:r>
          </a:p>
          <a:p>
            <a:pPr algn="ctr">
              <a:lnSpc>
                <a:spcPts val="2300"/>
              </a:lnSpc>
            </a:pPr>
            <a:r>
              <a:rPr lang="zh-CN" altLang="en-US" sz="1400"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互联</a:t>
            </a:r>
            <a:r>
              <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IP</a:t>
            </a:r>
            <a:endParaRPr lang="zh-CN" altLang="en-US" sz="1400"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5" name="Can 9"/>
          <p:cNvSpPr/>
          <p:nvPr/>
        </p:nvSpPr>
        <p:spPr bwMode="gray">
          <a:xfrm rot="5400000">
            <a:off x="6970966" y="1794743"/>
            <a:ext cx="180726" cy="540042"/>
          </a:xfrm>
          <a:prstGeom prst="can">
            <a:avLst>
              <a:gd name="adj" fmla="val 55920"/>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6" name="Can 9"/>
          <p:cNvSpPr/>
          <p:nvPr/>
        </p:nvSpPr>
        <p:spPr bwMode="gray">
          <a:xfrm rot="5400000">
            <a:off x="8539694" y="547969"/>
            <a:ext cx="410714" cy="3033587"/>
          </a:xfrm>
          <a:prstGeom prst="can">
            <a:avLst>
              <a:gd name="adj" fmla="val 57159"/>
            </a:avLst>
          </a:prstGeom>
          <a:solidFill>
            <a:srgbClr val="FFF2CC"/>
          </a:solidFill>
          <a:ln w="12700" cap="flat" cmpd="sng" algn="ctr">
            <a:solidFill>
              <a:srgbClr val="FFD17D"/>
            </a:solidFill>
            <a:prstDash val="solid"/>
            <a:miter lim="800000"/>
          </a:ln>
          <a:effectLst/>
        </p:spPr>
        <p:txBody>
          <a:bodyPr rtlCol="0" anchor="ctr"/>
          <a:lstStyle/>
          <a:p>
            <a:pPr algn="ctr"/>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7" name="Can 9"/>
          <p:cNvSpPr/>
          <p:nvPr/>
        </p:nvSpPr>
        <p:spPr bwMode="gray">
          <a:xfrm rot="5400000">
            <a:off x="10249297" y="1835720"/>
            <a:ext cx="180726" cy="458088"/>
          </a:xfrm>
          <a:prstGeom prst="can">
            <a:avLst>
              <a:gd name="adj" fmla="val 58731"/>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8" name="文本框 147"/>
          <p:cNvSpPr txBox="1"/>
          <p:nvPr/>
        </p:nvSpPr>
        <p:spPr bwMode="gray">
          <a:xfrm>
            <a:off x="8102044" y="1910873"/>
            <a:ext cx="1152880" cy="307777"/>
          </a:xfrm>
          <a:prstGeom prst="rect">
            <a:avLst/>
          </a:prstGeom>
          <a:noFill/>
        </p:spPr>
        <p:txBody>
          <a:bodyPr wrap="none" rtlCol="0">
            <a:spAutoFit/>
          </a:bodyPr>
          <a:lstStyle/>
          <a:p>
            <a:pPr algn="ctr"/>
            <a:r>
              <a:rPr lang="en-US" altLang="zh-CN" sz="1400" b="1" dirty="0">
                <a:solidFill>
                  <a:srgbClr val="EDAA4A"/>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b="1" dirty="0">
                <a:solidFill>
                  <a:srgbClr val="EDAA4A"/>
                </a:solidFill>
                <a:latin typeface="Huawei Sans" panose="020C0503030203020204" pitchFamily="34" charset="0"/>
                <a:ea typeface="方正兰亭黑简体" panose="02000000000000000000" pitchFamily="2" charset="-122"/>
                <a:sym typeface="Huawei Sans" panose="020C0503030203020204" pitchFamily="34" charset="0"/>
              </a:rPr>
              <a:t>封装</a:t>
            </a:r>
          </a:p>
        </p:txBody>
      </p:sp>
      <p:sp>
        <p:nvSpPr>
          <p:cNvPr id="149" name="Can 9"/>
          <p:cNvSpPr/>
          <p:nvPr/>
        </p:nvSpPr>
        <p:spPr bwMode="gray">
          <a:xfrm rot="5400000">
            <a:off x="6970966" y="2961047"/>
            <a:ext cx="180726" cy="540042"/>
          </a:xfrm>
          <a:prstGeom prst="can">
            <a:avLst>
              <a:gd name="adj" fmla="val 55920"/>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0" name="Can 9"/>
          <p:cNvSpPr/>
          <p:nvPr/>
        </p:nvSpPr>
        <p:spPr bwMode="gray">
          <a:xfrm rot="5400000">
            <a:off x="8539694" y="1714273"/>
            <a:ext cx="410714" cy="3033587"/>
          </a:xfrm>
          <a:prstGeom prst="can">
            <a:avLst>
              <a:gd name="adj" fmla="val 57159"/>
            </a:avLst>
          </a:prstGeom>
          <a:solidFill>
            <a:srgbClr val="F2FBFC"/>
          </a:solidFill>
          <a:ln w="12700" cap="flat" cmpd="sng" algn="ctr">
            <a:solidFill>
              <a:srgbClr val="30B5C5"/>
            </a:solidFill>
            <a:prstDash val="solid"/>
            <a:miter lim="800000"/>
          </a:ln>
          <a:effectLst/>
        </p:spPr>
        <p:txBody>
          <a:bodyPr rtlCol="0" anchor="ctr"/>
          <a:lstStyle/>
          <a:p>
            <a:pPr algn="ctr"/>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1" name="Can 9"/>
          <p:cNvSpPr/>
          <p:nvPr/>
        </p:nvSpPr>
        <p:spPr bwMode="gray">
          <a:xfrm rot="5400000">
            <a:off x="10249297" y="3002024"/>
            <a:ext cx="180726" cy="458088"/>
          </a:xfrm>
          <a:prstGeom prst="can">
            <a:avLst>
              <a:gd name="adj" fmla="val 58731"/>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2" name="文本框 151"/>
          <p:cNvSpPr txBox="1"/>
          <p:nvPr/>
        </p:nvSpPr>
        <p:spPr bwMode="gray">
          <a:xfrm>
            <a:off x="8102044" y="3077177"/>
            <a:ext cx="1152880" cy="307777"/>
          </a:xfrm>
          <a:prstGeom prst="rect">
            <a:avLst/>
          </a:prstGeom>
          <a:noFill/>
        </p:spPr>
        <p:txBody>
          <a:bodyPr wrap="none" rtlCol="0">
            <a:spAutoFit/>
          </a:bodyPr>
          <a:lstStyle/>
          <a:p>
            <a:pPr algn="ctr"/>
            <a:r>
              <a:rPr lang="en-US" altLang="zh-CN" sz="14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b="1"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封装</a:t>
            </a:r>
          </a:p>
        </p:txBody>
      </p:sp>
      <p:sp>
        <p:nvSpPr>
          <p:cNvPr id="153" name="Right Arrow 157"/>
          <p:cNvSpPr/>
          <p:nvPr/>
        </p:nvSpPr>
        <p:spPr bwMode="gray">
          <a:xfrm rot="16200000">
            <a:off x="8341318" y="3769266"/>
            <a:ext cx="633403" cy="1077116"/>
          </a:xfrm>
          <a:prstGeom prst="rightArrow">
            <a:avLst>
              <a:gd name="adj1" fmla="val 79333"/>
              <a:gd name="adj2" fmla="val 50000"/>
            </a:avLst>
          </a:prstGeom>
          <a:gradFill flip="none" rotWithShape="1">
            <a:gsLst>
              <a:gs pos="0">
                <a:schemeClr val="bg1">
                  <a:alpha val="0"/>
                </a:schemeClr>
              </a:gs>
              <a:gs pos="91000">
                <a:schemeClr val="bg1">
                  <a:lumMod val="65000"/>
                  <a:alpha val="75000"/>
                </a:schemeClr>
              </a:gs>
            </a:gsLst>
            <a:lin ang="0" scaled="1"/>
            <a:tileRect/>
          </a:gradFill>
          <a:ln w="9525">
            <a:gradFill flip="none" rotWithShape="1">
              <a:gsLst>
                <a:gs pos="0">
                  <a:schemeClr val="bg1">
                    <a:alpha val="0"/>
                  </a:schemeClr>
                </a:gs>
                <a:gs pos="88000">
                  <a:schemeClr val="bg1">
                    <a:lumMod val="50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4" name="文本框 153"/>
          <p:cNvSpPr txBox="1"/>
          <p:nvPr/>
        </p:nvSpPr>
        <p:spPr bwMode="gray">
          <a:xfrm>
            <a:off x="8248934" y="4128344"/>
            <a:ext cx="780983" cy="338554"/>
          </a:xfrm>
          <a:prstGeom prst="rect">
            <a:avLst/>
          </a:prstGeom>
          <a:noFill/>
        </p:spPr>
        <p:txBody>
          <a:bodyPr wrap="none" rtlCol="0">
            <a:spAutoFit/>
          </a:bodyPr>
          <a:lstStyle/>
          <a:p>
            <a:pPr algn="ctr"/>
            <a:r>
              <a:rPr lang="en-US" altLang="zh-CN" sz="1600" b="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Fabric</a:t>
            </a:r>
            <a:endParaRPr lang="zh-CN" altLang="en-US" sz="16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5" name="圆角矩形 154"/>
          <p:cNvSpPr/>
          <p:nvPr/>
        </p:nvSpPr>
        <p:spPr bwMode="gray">
          <a:xfrm>
            <a:off x="6127344" y="1471501"/>
            <a:ext cx="5332820" cy="4324285"/>
          </a:xfrm>
          <a:prstGeom prst="roundRect">
            <a:avLst>
              <a:gd name="adj" fmla="val 697"/>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6354626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2" name="直接连接符 41"/>
          <p:cNvCxnSpPr/>
          <p:nvPr/>
        </p:nvCxnSpPr>
        <p:spPr bwMode="gray">
          <a:xfrm>
            <a:off x="1567457" y="4387273"/>
            <a:ext cx="0" cy="598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bwMode="gray"/>
        <p:txBody>
          <a:bodyPr/>
          <a:lstStyle/>
          <a:p>
            <a:r>
              <a:rPr lang="zh-CN" altLang="en-US">
                <a:sym typeface="Huawei Sans" panose="020C0503030203020204" pitchFamily="34" charset="0"/>
              </a:rPr>
              <a:t>什么是</a:t>
            </a:r>
            <a:r>
              <a:rPr lang="en-US" altLang="zh-CN">
                <a:sym typeface="Huawei Sans" panose="020C0503030203020204" pitchFamily="34" charset="0"/>
              </a:rPr>
              <a:t>VN</a:t>
            </a:r>
            <a:endParaRPr lang="zh-CN" altLang="en-US">
              <a:sym typeface="Huawei Sans" panose="020C0503030203020204" pitchFamily="34" charset="0"/>
            </a:endParaRPr>
          </a:p>
        </p:txBody>
      </p:sp>
      <p:grpSp>
        <p:nvGrpSpPr>
          <p:cNvPr id="77" name="Group 165"/>
          <p:cNvGrpSpPr/>
          <p:nvPr/>
        </p:nvGrpSpPr>
        <p:grpSpPr bwMode="gray">
          <a:xfrm rot="10800000">
            <a:off x="1052285" y="5036457"/>
            <a:ext cx="980710" cy="502927"/>
            <a:chOff x="-1233037" y="914446"/>
            <a:chExt cx="1573823" cy="778776"/>
          </a:xfrm>
        </p:grpSpPr>
        <p:cxnSp>
          <p:nvCxnSpPr>
            <p:cNvPr id="78" name="Straight Connector 166"/>
            <p:cNvCxnSpPr/>
            <p:nvPr/>
          </p:nvCxnSpPr>
          <p:spPr bwMode="gray">
            <a:xfrm flipH="1" flipV="1">
              <a:off x="-1233037" y="914446"/>
              <a:ext cx="786912"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167"/>
            <p:cNvCxnSpPr/>
            <p:nvPr/>
          </p:nvCxnSpPr>
          <p:spPr bwMode="gray">
            <a:xfrm flipV="1">
              <a:off x="-446125" y="914446"/>
              <a:ext cx="786911"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1" name="直接连接符 80"/>
          <p:cNvCxnSpPr/>
          <p:nvPr/>
        </p:nvCxnSpPr>
        <p:spPr bwMode="gray">
          <a:xfrm>
            <a:off x="2688556" y="1331835"/>
            <a:ext cx="0" cy="21918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82"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466723" y="2149762"/>
            <a:ext cx="443667" cy="363001"/>
          </a:xfrm>
          <a:prstGeom prst="rect">
            <a:avLst/>
          </a:prstGeom>
        </p:spPr>
      </p:pic>
      <p:grpSp>
        <p:nvGrpSpPr>
          <p:cNvPr id="83" name="组合 758"/>
          <p:cNvGrpSpPr/>
          <p:nvPr/>
        </p:nvGrpSpPr>
        <p:grpSpPr bwMode="gray">
          <a:xfrm flipV="1">
            <a:off x="4784278" y="5208546"/>
            <a:ext cx="225699" cy="191129"/>
            <a:chOff x="7440613" y="4868863"/>
            <a:chExt cx="1019175" cy="828675"/>
          </a:xfrm>
          <a:solidFill>
            <a:schemeClr val="bg1">
              <a:lumMod val="50000"/>
            </a:schemeClr>
          </a:solidFill>
        </p:grpSpPr>
        <p:sp>
          <p:nvSpPr>
            <p:cNvPr id="84"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86" name="图片 11" descr="开放网络-蓝.png"/>
          <p:cNvPicPr>
            <a:picLocks noChangeAspect="1"/>
          </p:cNvPicPr>
          <p:nvPr/>
        </p:nvPicPr>
        <p:blipFill>
          <a:blip r:embed="rId4" cstate="print"/>
          <a:stretch>
            <a:fillRect/>
          </a:stretch>
        </p:blipFill>
        <p:spPr bwMode="gray">
          <a:xfrm>
            <a:off x="4730582" y="5498732"/>
            <a:ext cx="333091" cy="256408"/>
          </a:xfrm>
          <a:prstGeom prst="rect">
            <a:avLst/>
          </a:prstGeom>
        </p:spPr>
      </p:pic>
      <p:pic>
        <p:nvPicPr>
          <p:cNvPr id="88" name="图片 11" descr="开放网络-蓝.png"/>
          <p:cNvPicPr>
            <a:picLocks noChangeAspect="1"/>
          </p:cNvPicPr>
          <p:nvPr/>
        </p:nvPicPr>
        <p:blipFill>
          <a:blip r:embed="rId4" cstate="print"/>
          <a:stretch>
            <a:fillRect/>
          </a:stretch>
        </p:blipFill>
        <p:spPr bwMode="gray">
          <a:xfrm>
            <a:off x="905376" y="5498732"/>
            <a:ext cx="333091" cy="256408"/>
          </a:xfrm>
          <a:prstGeom prst="rect">
            <a:avLst/>
          </a:prstGeom>
        </p:spPr>
      </p:pic>
      <p:pic>
        <p:nvPicPr>
          <p:cNvPr id="89" name="图片 11" descr="开放网络-蓝.png"/>
          <p:cNvPicPr>
            <a:picLocks noChangeAspect="1"/>
          </p:cNvPicPr>
          <p:nvPr/>
        </p:nvPicPr>
        <p:blipFill>
          <a:blip r:embed="rId4" cstate="print"/>
          <a:stretch>
            <a:fillRect/>
          </a:stretch>
        </p:blipFill>
        <p:spPr bwMode="gray">
          <a:xfrm>
            <a:off x="1831668" y="5498732"/>
            <a:ext cx="333091" cy="256408"/>
          </a:xfrm>
          <a:prstGeom prst="rect">
            <a:avLst/>
          </a:prstGeom>
        </p:spPr>
      </p:pic>
      <p:sp>
        <p:nvSpPr>
          <p:cNvPr id="95" name="Freeform 159"/>
          <p:cNvSpPr/>
          <p:nvPr/>
        </p:nvSpPr>
        <p:spPr bwMode="gray">
          <a:xfrm flipH="1">
            <a:off x="2188007" y="1226714"/>
            <a:ext cx="997303" cy="52131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44000" rtlCol="0" anchor="ctr">
            <a:noAutofit/>
          </a:bodyPr>
          <a:lstStyle/>
          <a:p>
            <a:pPr algn="ctr"/>
            <a:r>
              <a:rPr 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cxnSp>
        <p:nvCxnSpPr>
          <p:cNvPr id="97" name="直接连接符 96"/>
          <p:cNvCxnSpPr/>
          <p:nvPr/>
        </p:nvCxnSpPr>
        <p:spPr bwMode="gray">
          <a:xfrm flipH="1">
            <a:off x="4071076" y="4985568"/>
            <a:ext cx="68169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bwMode="gray">
          <a:xfrm>
            <a:off x="3939833" y="4293755"/>
            <a:ext cx="0" cy="12049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9" name="Group 165"/>
          <p:cNvGrpSpPr/>
          <p:nvPr/>
        </p:nvGrpSpPr>
        <p:grpSpPr bwMode="gray">
          <a:xfrm rot="10800000">
            <a:off x="1509531" y="3378753"/>
            <a:ext cx="2358049" cy="863686"/>
            <a:chOff x="-1233037" y="914446"/>
            <a:chExt cx="1573823" cy="778776"/>
          </a:xfrm>
        </p:grpSpPr>
        <p:cxnSp>
          <p:nvCxnSpPr>
            <p:cNvPr id="100" name="Straight Connector 166"/>
            <p:cNvCxnSpPr/>
            <p:nvPr/>
          </p:nvCxnSpPr>
          <p:spPr bwMode="gray">
            <a:xfrm flipH="1" flipV="1">
              <a:off x="-1233037" y="914446"/>
              <a:ext cx="786912"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67"/>
            <p:cNvCxnSpPr/>
            <p:nvPr/>
          </p:nvCxnSpPr>
          <p:spPr bwMode="gray">
            <a:xfrm flipV="1">
              <a:off x="-446125" y="914446"/>
              <a:ext cx="786911"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02" name="图片 105" descr="AP.png"/>
          <p:cNvPicPr>
            <a:picLocks noChangeAspect="1"/>
          </p:cNvPicPr>
          <p:nvPr/>
        </p:nvPicPr>
        <p:blipFill>
          <a:blip r:embed="rId5" cstate="print"/>
          <a:stretch>
            <a:fillRect/>
          </a:stretch>
        </p:blipFill>
        <p:spPr bwMode="gray">
          <a:xfrm>
            <a:off x="4713794" y="4839952"/>
            <a:ext cx="366667" cy="300001"/>
          </a:xfrm>
          <a:prstGeom prst="rect">
            <a:avLst/>
          </a:prstGeom>
        </p:spPr>
      </p:pic>
      <p:pic>
        <p:nvPicPr>
          <p:cNvPr id="103" name="图片 76" descr="接入交换机.png"/>
          <p:cNvPicPr>
            <a:picLocks noChangeAspect="1"/>
          </p:cNvPicPr>
          <p:nvPr/>
        </p:nvPicPr>
        <p:blipFill>
          <a:blip r:embed="rId6" cstate="print"/>
          <a:stretch>
            <a:fillRect/>
          </a:stretch>
        </p:blipFill>
        <p:spPr bwMode="gray">
          <a:xfrm>
            <a:off x="3756499" y="4858351"/>
            <a:ext cx="366667" cy="300001"/>
          </a:xfrm>
          <a:prstGeom prst="rect">
            <a:avLst/>
          </a:prstGeom>
        </p:spPr>
      </p:pic>
      <p:pic>
        <p:nvPicPr>
          <p:cNvPr id="106" name="图片 105" descr="汇聚交换机.png"/>
          <p:cNvPicPr>
            <a:picLocks noChangeAspect="1"/>
          </p:cNvPicPr>
          <p:nvPr/>
        </p:nvPicPr>
        <p:blipFill>
          <a:blip r:embed="rId7" cstate="print"/>
          <a:stretch>
            <a:fillRect/>
          </a:stretch>
        </p:blipFill>
        <p:spPr bwMode="gray">
          <a:xfrm>
            <a:off x="1385268" y="4166348"/>
            <a:ext cx="366667" cy="300001"/>
          </a:xfrm>
          <a:prstGeom prst="rect">
            <a:avLst/>
          </a:prstGeom>
        </p:spPr>
      </p:pic>
      <p:pic>
        <p:nvPicPr>
          <p:cNvPr id="107" name="图片 87" descr="汇聚交换机.png"/>
          <p:cNvPicPr>
            <a:picLocks noChangeAspect="1"/>
          </p:cNvPicPr>
          <p:nvPr/>
        </p:nvPicPr>
        <p:blipFill>
          <a:blip r:embed="rId7" cstate="print"/>
          <a:stretch>
            <a:fillRect/>
          </a:stretch>
        </p:blipFill>
        <p:spPr bwMode="gray">
          <a:xfrm>
            <a:off x="3760885" y="4166348"/>
            <a:ext cx="366667" cy="300001"/>
          </a:xfrm>
          <a:prstGeom prst="rect">
            <a:avLst/>
          </a:prstGeom>
        </p:spPr>
      </p:pic>
      <p:pic>
        <p:nvPicPr>
          <p:cNvPr id="108" name="图片 76" descr="接入交换机.png"/>
          <p:cNvPicPr>
            <a:picLocks noChangeAspect="1"/>
          </p:cNvPicPr>
          <p:nvPr/>
        </p:nvPicPr>
        <p:blipFill>
          <a:blip r:embed="rId6" cstate="print"/>
          <a:stretch>
            <a:fillRect/>
          </a:stretch>
        </p:blipFill>
        <p:spPr bwMode="gray">
          <a:xfrm>
            <a:off x="1381087" y="4868231"/>
            <a:ext cx="366667" cy="300001"/>
          </a:xfrm>
          <a:prstGeom prst="rect">
            <a:avLst/>
          </a:prstGeom>
        </p:spPr>
      </p:pic>
      <p:sp>
        <p:nvSpPr>
          <p:cNvPr id="109" name="文本框 108"/>
          <p:cNvSpPr txBox="1"/>
          <p:nvPr/>
        </p:nvSpPr>
        <p:spPr bwMode="gray">
          <a:xfrm>
            <a:off x="2348265" y="3616271"/>
            <a:ext cx="676788" cy="276999"/>
          </a:xfrm>
          <a:prstGeom prst="rect">
            <a:avLst/>
          </a:prstGeom>
          <a:noFill/>
        </p:spPr>
        <p:txBody>
          <a:bodyPr wrap="none" rtlCol="0">
            <a:spAutoFit/>
          </a:bodyPr>
          <a:lstStyle/>
          <a:p>
            <a:pPr algn="ctr"/>
            <a:r>
              <a:rPr lang="en-US" altLang="zh-CN" sz="1200" b="1">
                <a:latin typeface="Huawei Sans" panose="020C0503030203020204" pitchFamily="34" charset="0"/>
                <a:ea typeface="方正兰亭黑简体" panose="02000000000000000000" pitchFamily="2" charset="-122"/>
                <a:sym typeface="Huawei Sans" panose="020C0503030203020204" pitchFamily="34" charset="0"/>
              </a:rPr>
              <a:t>Border</a:t>
            </a:r>
          </a:p>
        </p:txBody>
      </p:sp>
      <p:pic>
        <p:nvPicPr>
          <p:cNvPr id="113" name="图片 86" descr="核心交换机.png"/>
          <p:cNvPicPr>
            <a:picLocks noChangeAspect="1"/>
          </p:cNvPicPr>
          <p:nvPr/>
        </p:nvPicPr>
        <p:blipFill>
          <a:blip r:embed="rId8" cstate="print"/>
          <a:stretch>
            <a:fillRect/>
          </a:stretch>
        </p:blipFill>
        <p:spPr bwMode="gray">
          <a:xfrm>
            <a:off x="2466724" y="3241184"/>
            <a:ext cx="443667" cy="363001"/>
          </a:xfrm>
          <a:prstGeom prst="rect">
            <a:avLst/>
          </a:prstGeom>
        </p:spPr>
      </p:pic>
      <p:sp>
        <p:nvSpPr>
          <p:cNvPr id="115" name="文本框 114"/>
          <p:cNvSpPr txBox="1"/>
          <p:nvPr/>
        </p:nvSpPr>
        <p:spPr bwMode="gray">
          <a:xfrm>
            <a:off x="4709743" y="4609382"/>
            <a:ext cx="383439" cy="276999"/>
          </a:xfrm>
          <a:prstGeom prst="rect">
            <a:avLst/>
          </a:prstGeom>
          <a:noFill/>
        </p:spPr>
        <p:txBody>
          <a:bodyPr wrap="none" rtlCol="0">
            <a:spAutoFit/>
          </a:bodyPr>
          <a:lstStyle/>
          <a:p>
            <a:pPr algn="r"/>
            <a:r>
              <a:rPr lang="en-US" altLang="zh-CN" sz="1200" b="1">
                <a:latin typeface="Huawei Sans" panose="020C0503030203020204" pitchFamily="34" charset="0"/>
                <a:ea typeface="方正兰亭黑简体" panose="02000000000000000000" pitchFamily="2" charset="-122"/>
                <a:sym typeface="Huawei Sans" panose="020C0503030203020204" pitchFamily="34" charset="0"/>
              </a:rPr>
              <a:t>AP</a:t>
            </a:r>
          </a:p>
        </p:txBody>
      </p:sp>
      <p:sp>
        <p:nvSpPr>
          <p:cNvPr id="116" name="梯形 115"/>
          <p:cNvSpPr/>
          <p:nvPr/>
        </p:nvSpPr>
        <p:spPr bwMode="gray">
          <a:xfrm>
            <a:off x="981796" y="3697158"/>
            <a:ext cx="4268893" cy="1724415"/>
          </a:xfrm>
          <a:prstGeom prst="trapezoid">
            <a:avLst>
              <a:gd name="adj" fmla="val 22961"/>
            </a:avLst>
          </a:prstGeom>
          <a:gradFill flip="none" rotWithShape="1">
            <a:gsLst>
              <a:gs pos="0">
                <a:schemeClr val="bg1">
                  <a:alpha val="0"/>
                </a:schemeClr>
              </a:gs>
              <a:gs pos="100000">
                <a:srgbClr val="92D050">
                  <a:alpha val="49000"/>
                </a:srgbClr>
              </a:gs>
            </a:gsLst>
            <a:lin ang="5400000" scaled="1"/>
            <a:tileRect/>
          </a:gradFill>
          <a:ln>
            <a:gradFill flip="none" rotWithShape="1">
              <a:gsLst>
                <a:gs pos="0">
                  <a:schemeClr val="accent1">
                    <a:lumMod val="5000"/>
                    <a:lumOff val="95000"/>
                    <a:alpha val="0"/>
                  </a:schemeClr>
                </a:gs>
                <a:gs pos="90000">
                  <a:srgbClr val="00B050"/>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7" name="梯形 116"/>
          <p:cNvSpPr/>
          <p:nvPr/>
        </p:nvSpPr>
        <p:spPr bwMode="gray">
          <a:xfrm>
            <a:off x="981796" y="3424710"/>
            <a:ext cx="3645065" cy="1630207"/>
          </a:xfrm>
          <a:prstGeom prst="trapezoid">
            <a:avLst>
              <a:gd name="adj" fmla="val 22961"/>
            </a:avLst>
          </a:prstGeom>
          <a:gradFill flip="none" rotWithShape="1">
            <a:gsLst>
              <a:gs pos="0">
                <a:schemeClr val="bg1">
                  <a:alpha val="4000"/>
                </a:schemeClr>
              </a:gs>
              <a:gs pos="100000">
                <a:schemeClr val="accent4">
                  <a:lumMod val="60000"/>
                  <a:lumOff val="40000"/>
                  <a:alpha val="70000"/>
                </a:schemeClr>
              </a:gs>
            </a:gsLst>
            <a:lin ang="5400000" scaled="1"/>
            <a:tileRect/>
          </a:gradFill>
          <a:ln>
            <a:gradFill flip="none" rotWithShape="1">
              <a:gsLst>
                <a:gs pos="0">
                  <a:schemeClr val="accent1">
                    <a:lumMod val="5000"/>
                    <a:lumOff val="95000"/>
                    <a:alpha val="0"/>
                  </a:schemeClr>
                </a:gs>
                <a:gs pos="83000">
                  <a:schemeClr val="accent4">
                    <a:lumMod val="5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8" name="梯形 117"/>
          <p:cNvSpPr/>
          <p:nvPr/>
        </p:nvSpPr>
        <p:spPr bwMode="gray">
          <a:xfrm>
            <a:off x="991803" y="2921915"/>
            <a:ext cx="3590020" cy="1634931"/>
          </a:xfrm>
          <a:prstGeom prst="trapezoid">
            <a:avLst>
              <a:gd name="adj" fmla="val 22961"/>
            </a:avLst>
          </a:prstGeom>
          <a:gradFill flip="none" rotWithShape="1">
            <a:gsLst>
              <a:gs pos="0">
                <a:schemeClr val="bg1">
                  <a:alpha val="0"/>
                </a:schemeClr>
              </a:gs>
              <a:gs pos="100000">
                <a:srgbClr val="C00000">
                  <a:alpha val="21000"/>
                </a:srgbClr>
              </a:gs>
            </a:gsLst>
            <a:lin ang="5400000" scaled="1"/>
            <a:tileRect/>
          </a:gradFill>
          <a:ln>
            <a:gradFill flip="none" rotWithShape="1">
              <a:gsLst>
                <a:gs pos="0">
                  <a:schemeClr val="accent1">
                    <a:lumMod val="5000"/>
                    <a:lumOff val="95000"/>
                    <a:alpha val="0"/>
                  </a:schemeClr>
                </a:gs>
                <a:gs pos="90000">
                  <a:srgbClr val="C00000">
                    <a:alpha val="82000"/>
                  </a:srgb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9" name="文本框 118"/>
          <p:cNvSpPr txBox="1"/>
          <p:nvPr/>
        </p:nvSpPr>
        <p:spPr bwMode="gray">
          <a:xfrm>
            <a:off x="671812" y="5751781"/>
            <a:ext cx="800219" cy="461665"/>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Host1</a:t>
            </a:r>
          </a:p>
          <a:p>
            <a:pPr algn="ctr"/>
            <a:r>
              <a:rPr lang="zh-CN" altLang="en-US" sz="1200" dirty="0">
                <a:solidFill>
                  <a:srgbClr val="62B230"/>
                </a:solidFill>
                <a:latin typeface="Huawei Sans" panose="020C0503030203020204" pitchFamily="34" charset="0"/>
                <a:ea typeface="方正兰亭黑简体" panose="02000000000000000000" pitchFamily="2" charset="-122"/>
                <a:sym typeface="Huawei Sans" panose="020C0503030203020204" pitchFamily="34" charset="0"/>
              </a:rPr>
              <a:t>销售员工</a:t>
            </a:r>
            <a:endParaRPr lang="en-US" altLang="zh-CN" sz="1200" dirty="0">
              <a:solidFill>
                <a:srgbClr val="62B23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0" name="文本框 119"/>
          <p:cNvSpPr txBox="1"/>
          <p:nvPr/>
        </p:nvSpPr>
        <p:spPr bwMode="gray">
          <a:xfrm>
            <a:off x="1598105" y="5751781"/>
            <a:ext cx="800219" cy="461665"/>
          </a:xfrm>
          <a:prstGeom prst="rect">
            <a:avLst/>
          </a:prstGeom>
          <a:noFill/>
        </p:spPr>
        <p:txBody>
          <a:bodyPr wrap="none" rtlCol="0">
            <a:spAutoFit/>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Host2</a:t>
            </a:r>
          </a:p>
          <a:p>
            <a:pPr algn="ctr"/>
            <a:r>
              <a:rPr lang="zh-CN" altLang="en-US" sz="1200">
                <a:solidFill>
                  <a:srgbClr val="F08500"/>
                </a:solidFill>
                <a:latin typeface="Huawei Sans" panose="020C0503030203020204" pitchFamily="34" charset="0"/>
                <a:ea typeface="方正兰亭黑简体" panose="02000000000000000000" pitchFamily="2" charset="-122"/>
                <a:sym typeface="Huawei Sans" panose="020C0503030203020204" pitchFamily="34" charset="0"/>
              </a:rPr>
              <a:t>研发员工</a:t>
            </a:r>
            <a:endParaRPr lang="en-US" altLang="zh-CN" sz="1200">
              <a:solidFill>
                <a:srgbClr val="F085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1" name="文本框 120"/>
          <p:cNvSpPr txBox="1"/>
          <p:nvPr/>
        </p:nvSpPr>
        <p:spPr bwMode="gray">
          <a:xfrm>
            <a:off x="3568849" y="5751781"/>
            <a:ext cx="724878" cy="461665"/>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Host3</a:t>
            </a:r>
          </a:p>
          <a:p>
            <a:pPr algn="ctr"/>
            <a:r>
              <a:rPr lang="en-US" altLang="zh-CN" sz="1200" dirty="0" err="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IoT</a:t>
            </a:r>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设备</a:t>
            </a:r>
            <a:endPar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文本框 121"/>
          <p:cNvSpPr txBox="1"/>
          <p:nvPr/>
        </p:nvSpPr>
        <p:spPr bwMode="gray">
          <a:xfrm>
            <a:off x="4589192" y="5751781"/>
            <a:ext cx="615874" cy="461665"/>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Host4</a:t>
            </a:r>
          </a:p>
          <a:p>
            <a:pPr algn="ctr"/>
            <a:r>
              <a:rPr lang="zh-CN" altLang="en-US" sz="1200" dirty="0">
                <a:solidFill>
                  <a:srgbClr val="62B230"/>
                </a:solidFill>
                <a:latin typeface="Huawei Sans" panose="020C0503030203020204" pitchFamily="34" charset="0"/>
                <a:ea typeface="方正兰亭黑简体" panose="02000000000000000000" pitchFamily="2" charset="-122"/>
                <a:sym typeface="Huawei Sans" panose="020C0503030203020204" pitchFamily="34" charset="0"/>
              </a:rPr>
              <a:t>访客</a:t>
            </a:r>
            <a:endParaRPr lang="en-US" altLang="zh-CN" sz="1200" dirty="0">
              <a:solidFill>
                <a:srgbClr val="62B23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3" name="文本框 122"/>
          <p:cNvSpPr txBox="1"/>
          <p:nvPr/>
        </p:nvSpPr>
        <p:spPr bwMode="gray">
          <a:xfrm>
            <a:off x="2445515" y="5153951"/>
            <a:ext cx="646331" cy="276999"/>
          </a:xfrm>
          <a:prstGeom prst="rect">
            <a:avLst/>
          </a:prstGeom>
          <a:noFill/>
        </p:spPr>
        <p:txBody>
          <a:bodyPr wrap="none" rtlCol="0">
            <a:spAutoFit/>
          </a:bodyPr>
          <a:lstStyle/>
          <a:p>
            <a:pPr algn="ctr"/>
            <a:r>
              <a:rPr lang="zh-CN" altLang="en-US" sz="1200" b="1">
                <a:solidFill>
                  <a:schemeClr val="accent6">
                    <a:lumMod val="75000"/>
                  </a:schemeClr>
                </a:solidFill>
                <a:latin typeface="Huawei Sans" panose="020C0503030203020204" pitchFamily="34" charset="0"/>
                <a:ea typeface="方正兰亭黑简体" panose="02000000000000000000" pitchFamily="2" charset="-122"/>
                <a:sym typeface="Huawei Sans" panose="020C0503030203020204" pitchFamily="34" charset="0"/>
              </a:rPr>
              <a:t>办公网</a:t>
            </a:r>
            <a:endParaRPr lang="en-US" altLang="zh-CN" sz="1200" b="1">
              <a:solidFill>
                <a:schemeClr val="accent6">
                  <a:lumMod val="75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4" name="文本框 123"/>
          <p:cNvSpPr txBox="1"/>
          <p:nvPr/>
        </p:nvSpPr>
        <p:spPr bwMode="gray">
          <a:xfrm>
            <a:off x="2445515" y="4792547"/>
            <a:ext cx="646331" cy="276999"/>
          </a:xfrm>
          <a:prstGeom prst="rect">
            <a:avLst/>
          </a:prstGeom>
          <a:noFill/>
        </p:spPr>
        <p:txBody>
          <a:bodyPr wrap="none" rtlCol="0">
            <a:spAutoFit/>
          </a:bodyPr>
          <a:lstStyle/>
          <a:p>
            <a:pPr algn="ctr"/>
            <a:r>
              <a:rPr lang="zh-CN" altLang="en-US" sz="1200" b="1">
                <a:solidFill>
                  <a:srgbClr val="F08500"/>
                </a:solidFill>
                <a:latin typeface="Huawei Sans" panose="020C0503030203020204" pitchFamily="34" charset="0"/>
                <a:ea typeface="方正兰亭黑简体" panose="02000000000000000000" pitchFamily="2" charset="-122"/>
                <a:sym typeface="Huawei Sans" panose="020C0503030203020204" pitchFamily="34" charset="0"/>
              </a:rPr>
              <a:t>研发网</a:t>
            </a:r>
            <a:endParaRPr lang="en-US" altLang="zh-CN" sz="1200" b="1">
              <a:solidFill>
                <a:srgbClr val="F085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5" name="文本框 124"/>
          <p:cNvSpPr txBox="1"/>
          <p:nvPr/>
        </p:nvSpPr>
        <p:spPr bwMode="gray">
          <a:xfrm>
            <a:off x="2255878" y="4205245"/>
            <a:ext cx="1186543" cy="276999"/>
          </a:xfrm>
          <a:prstGeom prst="rect">
            <a:avLst/>
          </a:prstGeom>
          <a:noFill/>
        </p:spPr>
        <p:txBody>
          <a:bodyPr wrap="none" rtlCol="0">
            <a:spAutoFit/>
          </a:bodyPr>
          <a:lstStyle/>
          <a:p>
            <a:pPr algn="ctr"/>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物联网（</a:t>
            </a:r>
            <a:r>
              <a:rPr lang="en-US" altLang="zh-CN" sz="1200" b="1" dirty="0" err="1">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IoT</a:t>
            </a:r>
            <a:r>
              <a:rPr lang="zh-CN" altLang="en-US"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6" name="矩形 125"/>
          <p:cNvSpPr/>
          <p:nvPr/>
        </p:nvSpPr>
        <p:spPr bwMode="gray">
          <a:xfrm>
            <a:off x="5438776" y="1320320"/>
            <a:ext cx="6021388" cy="2015936"/>
          </a:xfrm>
          <a:prstGeom prst="rect">
            <a:avLst/>
          </a:prstGeom>
          <a:solidFill>
            <a:srgbClr val="F2FBFC"/>
          </a:solidFill>
          <a:ln w="9525" cap="flat" cmpd="sng" algn="ctr">
            <a:solidFill>
              <a:srgbClr val="94DAE2"/>
            </a:solidFill>
            <a:prstDash val="solid"/>
            <a:miter lim="800000"/>
          </a:ln>
          <a:effectLst/>
        </p:spPr>
        <p:txBody>
          <a:bodyPr rot="0" spcFirstLastPara="0" vertOverflow="overflow" horzOverflow="overflow" vert="horz" wrap="square" lIns="108000" tIns="72000" rIns="72000" bIns="72000" numCol="1" spcCol="0" rtlCol="0" fromWordArt="0" anchor="ctr" anchorCtr="0" forceAA="0" compatLnSpc="1">
            <a:prstTxWarp prst="textNoShape">
              <a:avLst/>
            </a:prstTxWarp>
            <a:noAutofit/>
          </a:bodyPr>
          <a:lstStyle/>
          <a:p>
            <a:pPr marL="285750" indent="-285750">
              <a:lnSpc>
                <a:spcPts val="2400"/>
              </a:lnSpc>
              <a:buFont typeface="Arial" panose="020B0604020202020204" pitchFamily="34" charset="0"/>
              <a:buChar char="•"/>
            </a:pP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使用</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能够在</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网络上构建若干个</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Virtual Network</a:t>
            </a: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，虚拟网络，通过</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VXLAN VNI+IP VPN-Instance</a:t>
            </a: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隔离实现）。</a:t>
            </a:r>
            <a:endPar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buFont typeface="Arial" panose="020B0604020202020204" pitchFamily="34" charset="0"/>
              <a:buChar char="•"/>
            </a:pP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被视为</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Overlay</a:t>
            </a: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网络。</a:t>
            </a:r>
            <a:endPar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buFont typeface="Arial" panose="020B0604020202020204" pitchFamily="34" charset="0"/>
              <a:buChar char="•"/>
            </a:pP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每个虚拟网络的业务数据在</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内都通过</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进行封装，以便实现转发面的隔离；控制面使用的协议是</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BGP EVPN</a:t>
            </a: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，该协议用于构建</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隧道、交互</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Overlay</a:t>
            </a: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路由信息。</a:t>
            </a:r>
          </a:p>
        </p:txBody>
      </p:sp>
      <p:sp>
        <p:nvSpPr>
          <p:cNvPr id="127" name="矩形 126"/>
          <p:cNvSpPr/>
          <p:nvPr/>
        </p:nvSpPr>
        <p:spPr bwMode="gray">
          <a:xfrm>
            <a:off x="5438776" y="3424710"/>
            <a:ext cx="6021388" cy="2477601"/>
          </a:xfrm>
          <a:prstGeom prst="rect">
            <a:avLst/>
          </a:prstGeom>
          <a:ln>
            <a:solidFill>
              <a:schemeClr val="bg1">
                <a:lumMod val="75000"/>
              </a:schemeClr>
            </a:solidFill>
          </a:ln>
        </p:spPr>
        <p:txBody>
          <a:bodyPr wrap="square">
            <a:spAutoFit/>
          </a:bodyPr>
          <a:lstStyle/>
          <a:p>
            <a:pPr algn="just">
              <a:lnSpc>
                <a:spcPts val="2600"/>
              </a:lnSpc>
              <a:spcAft>
                <a:spcPts val="600"/>
              </a:spcAft>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每个</a:t>
            </a: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都包含如下参数：</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marL="179388" indent="-179388" algn="just">
              <a:lnSpc>
                <a:spcPts val="26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网络服务资源（</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服务器、第三方</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RADIUS/Portal</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服务器等）。</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9388" indent="-179388" algn="just">
              <a:lnSpc>
                <a:spcPts val="26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外部网络（可选）。</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9388" indent="-179388" algn="just">
              <a:lnSpc>
                <a:spcPts val="26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地址段、</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及网关地址。</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9388" indent="-179388" algn="just">
              <a:lnSpc>
                <a:spcPts val="26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有线接入端口和（或）无线接入点。</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179388" indent="-179388" algn="just">
              <a:lnSpc>
                <a:spcPts val="26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其他参数。</a:t>
            </a:r>
          </a:p>
        </p:txBody>
      </p:sp>
      <p:pic>
        <p:nvPicPr>
          <p:cNvPr id="57" name="图片 56"/>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3233103" y="2914325"/>
            <a:ext cx="1346845" cy="248394"/>
          </a:xfrm>
          <a:prstGeom prst="rect">
            <a:avLst/>
          </a:prstGeom>
        </p:spPr>
      </p:pic>
      <p:sp>
        <p:nvSpPr>
          <p:cNvPr id="43" name="Freeform 133">
            <a:extLst>
              <a:ext uri="{FF2B5EF4-FFF2-40B4-BE49-F238E27FC236}">
                <a16:creationId xmlns:a16="http://schemas.microsoft.com/office/drawing/2014/main" id="{D6040B63-859C-4DBD-A521-0A92D5C50F21}"/>
              </a:ext>
            </a:extLst>
          </p:cNvPr>
          <p:cNvSpPr>
            <a:spLocks noEditPoints="1"/>
          </p:cNvSpPr>
          <p:nvPr/>
        </p:nvSpPr>
        <p:spPr bwMode="gray">
          <a:xfrm>
            <a:off x="3671977" y="5482901"/>
            <a:ext cx="391205" cy="310557"/>
          </a:xfrm>
          <a:custGeom>
            <a:avLst/>
            <a:gdLst>
              <a:gd name="T0" fmla="*/ 2147483646 w 1550"/>
              <a:gd name="T1" fmla="*/ 2147483646 h 1207"/>
              <a:gd name="T2" fmla="*/ 2147483646 w 1550"/>
              <a:gd name="T3" fmla="*/ 2147483646 h 1207"/>
              <a:gd name="T4" fmla="*/ 2147483646 w 1550"/>
              <a:gd name="T5" fmla="*/ 2147483646 h 1207"/>
              <a:gd name="T6" fmla="*/ 2147483646 w 1550"/>
              <a:gd name="T7" fmla="*/ 2147483646 h 1207"/>
              <a:gd name="T8" fmla="*/ 2147483646 w 1550"/>
              <a:gd name="T9" fmla="*/ 2147483646 h 1207"/>
              <a:gd name="T10" fmla="*/ 2147483646 w 1550"/>
              <a:gd name="T11" fmla="*/ 2147483646 h 1207"/>
              <a:gd name="T12" fmla="*/ 2147483646 w 1550"/>
              <a:gd name="T13" fmla="*/ 2147483646 h 1207"/>
              <a:gd name="T14" fmla="*/ 2147483646 w 1550"/>
              <a:gd name="T15" fmla="*/ 2147483646 h 1207"/>
              <a:gd name="T16" fmla="*/ 2147483646 w 1550"/>
              <a:gd name="T17" fmla="*/ 2147483646 h 1207"/>
              <a:gd name="T18" fmla="*/ 2147483646 w 1550"/>
              <a:gd name="T19" fmla="*/ 2147483646 h 1207"/>
              <a:gd name="T20" fmla="*/ 2147483646 w 1550"/>
              <a:gd name="T21" fmla="*/ 2147483646 h 1207"/>
              <a:gd name="T22" fmla="*/ 2147483646 w 1550"/>
              <a:gd name="T23" fmla="*/ 2147483646 h 1207"/>
              <a:gd name="T24" fmla="*/ 2147483646 w 1550"/>
              <a:gd name="T25" fmla="*/ 2147483646 h 1207"/>
              <a:gd name="T26" fmla="*/ 2147483646 w 1550"/>
              <a:gd name="T27" fmla="*/ 2147483646 h 1207"/>
              <a:gd name="T28" fmla="*/ 2147483646 w 1550"/>
              <a:gd name="T29" fmla="*/ 2147483646 h 1207"/>
              <a:gd name="T30" fmla="*/ 2147483646 w 1550"/>
              <a:gd name="T31" fmla="*/ 2147483646 h 1207"/>
              <a:gd name="T32" fmla="*/ 2147483646 w 1550"/>
              <a:gd name="T33" fmla="*/ 2147483646 h 1207"/>
              <a:gd name="T34" fmla="*/ 2147483646 w 1550"/>
              <a:gd name="T35" fmla="*/ 2147483646 h 1207"/>
              <a:gd name="T36" fmla="*/ 2147483646 w 1550"/>
              <a:gd name="T37" fmla="*/ 2147483646 h 1207"/>
              <a:gd name="T38" fmla="*/ 2147483646 w 1550"/>
              <a:gd name="T39" fmla="*/ 2147483646 h 1207"/>
              <a:gd name="T40" fmla="*/ 2147483646 w 1550"/>
              <a:gd name="T41" fmla="*/ 2147483646 h 1207"/>
              <a:gd name="T42" fmla="*/ 2147483646 w 1550"/>
              <a:gd name="T43" fmla="*/ 2147483646 h 1207"/>
              <a:gd name="T44" fmla="*/ 2147483646 w 1550"/>
              <a:gd name="T45" fmla="*/ 2147483646 h 1207"/>
              <a:gd name="T46" fmla="*/ 2147483646 w 1550"/>
              <a:gd name="T47" fmla="*/ 2147483646 h 1207"/>
              <a:gd name="T48" fmla="*/ 2147483646 w 1550"/>
              <a:gd name="T49" fmla="*/ 2147483646 h 1207"/>
              <a:gd name="T50" fmla="*/ 2147483646 w 1550"/>
              <a:gd name="T51" fmla="*/ 2147483646 h 1207"/>
              <a:gd name="T52" fmla="*/ 2147483646 w 1550"/>
              <a:gd name="T53" fmla="*/ 2147483646 h 1207"/>
              <a:gd name="T54" fmla="*/ 2147483646 w 1550"/>
              <a:gd name="T55" fmla="*/ 2147483646 h 1207"/>
              <a:gd name="T56" fmla="*/ 2147483646 w 1550"/>
              <a:gd name="T57" fmla="*/ 2147483646 h 1207"/>
              <a:gd name="T58" fmla="*/ 2147483646 w 1550"/>
              <a:gd name="T59" fmla="*/ 2147483646 h 1207"/>
              <a:gd name="T60" fmla="*/ 2147483646 w 1550"/>
              <a:gd name="T61" fmla="*/ 2147483646 h 1207"/>
              <a:gd name="T62" fmla="*/ 2147483646 w 1550"/>
              <a:gd name="T63" fmla="*/ 2147483646 h 1207"/>
              <a:gd name="T64" fmla="*/ 2147483646 w 1550"/>
              <a:gd name="T65" fmla="*/ 2147483646 h 1207"/>
              <a:gd name="T66" fmla="*/ 2147483646 w 1550"/>
              <a:gd name="T67" fmla="*/ 2147483646 h 1207"/>
              <a:gd name="T68" fmla="*/ 2147483646 w 1550"/>
              <a:gd name="T69" fmla="*/ 2147483646 h 1207"/>
              <a:gd name="T70" fmla="*/ 2147483646 w 1550"/>
              <a:gd name="T71" fmla="*/ 2147483646 h 1207"/>
              <a:gd name="T72" fmla="*/ 2147483646 w 1550"/>
              <a:gd name="T73" fmla="*/ 2147483646 h 1207"/>
              <a:gd name="T74" fmla="*/ 2147483646 w 1550"/>
              <a:gd name="T75" fmla="*/ 2147483646 h 1207"/>
              <a:gd name="T76" fmla="*/ 2147483646 w 1550"/>
              <a:gd name="T77" fmla="*/ 2147483646 h 1207"/>
              <a:gd name="T78" fmla="*/ 2147483646 w 1550"/>
              <a:gd name="T79" fmla="*/ 2147483646 h 1207"/>
              <a:gd name="T80" fmla="*/ 2147483646 w 1550"/>
              <a:gd name="T81" fmla="*/ 2147483646 h 1207"/>
              <a:gd name="T82" fmla="*/ 2147483646 w 1550"/>
              <a:gd name="T83" fmla="*/ 2147483646 h 1207"/>
              <a:gd name="T84" fmla="*/ 2147483646 w 1550"/>
              <a:gd name="T85" fmla="*/ 2147483646 h 1207"/>
              <a:gd name="T86" fmla="*/ 2147483646 w 1550"/>
              <a:gd name="T87" fmla="*/ 2147483646 h 1207"/>
              <a:gd name="T88" fmla="*/ 2147483646 w 1550"/>
              <a:gd name="T89" fmla="*/ 2147483646 h 1207"/>
              <a:gd name="T90" fmla="*/ 2147483646 w 1550"/>
              <a:gd name="T91" fmla="*/ 2147483646 h 1207"/>
              <a:gd name="T92" fmla="*/ 2147483646 w 1550"/>
              <a:gd name="T93" fmla="*/ 2147483646 h 1207"/>
              <a:gd name="T94" fmla="*/ 2147483646 w 1550"/>
              <a:gd name="T95" fmla="*/ 2147483646 h 1207"/>
              <a:gd name="T96" fmla="*/ 2147483646 w 1550"/>
              <a:gd name="T97" fmla="*/ 2147483646 h 1207"/>
              <a:gd name="T98" fmla="*/ 2147483646 w 1550"/>
              <a:gd name="T99" fmla="*/ 2147483646 h 1207"/>
              <a:gd name="T100" fmla="*/ 2147483646 w 1550"/>
              <a:gd name="T101" fmla="*/ 2147483646 h 1207"/>
              <a:gd name="T102" fmla="*/ 2147483646 w 1550"/>
              <a:gd name="T103" fmla="*/ 2147483646 h 1207"/>
              <a:gd name="T104" fmla="*/ 2147483646 w 1550"/>
              <a:gd name="T105" fmla="*/ 2147483646 h 1207"/>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550"/>
              <a:gd name="T160" fmla="*/ 0 h 1207"/>
              <a:gd name="T161" fmla="*/ 1550 w 1550"/>
              <a:gd name="T162" fmla="*/ 1207 h 1207"/>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550" h="1207">
                <a:moveTo>
                  <a:pt x="314" y="546"/>
                </a:moveTo>
                <a:lnTo>
                  <a:pt x="314" y="546"/>
                </a:lnTo>
                <a:cubicBezTo>
                  <a:pt x="299" y="448"/>
                  <a:pt x="320" y="392"/>
                  <a:pt x="334" y="368"/>
                </a:cubicBezTo>
                <a:cubicBezTo>
                  <a:pt x="374" y="381"/>
                  <a:pt x="416" y="399"/>
                  <a:pt x="459" y="424"/>
                </a:cubicBezTo>
                <a:cubicBezTo>
                  <a:pt x="460" y="425"/>
                  <a:pt x="461" y="426"/>
                  <a:pt x="462" y="427"/>
                </a:cubicBezTo>
                <a:cubicBezTo>
                  <a:pt x="450" y="463"/>
                  <a:pt x="435" y="530"/>
                  <a:pt x="459" y="604"/>
                </a:cubicBezTo>
                <a:cubicBezTo>
                  <a:pt x="483" y="676"/>
                  <a:pt x="522" y="704"/>
                  <a:pt x="550" y="716"/>
                </a:cubicBezTo>
                <a:cubicBezTo>
                  <a:pt x="563" y="721"/>
                  <a:pt x="577" y="724"/>
                  <a:pt x="591" y="724"/>
                </a:cubicBezTo>
                <a:cubicBezTo>
                  <a:pt x="609" y="724"/>
                  <a:pt x="628" y="719"/>
                  <a:pt x="645" y="710"/>
                </a:cubicBezTo>
                <a:cubicBezTo>
                  <a:pt x="677" y="693"/>
                  <a:pt x="699" y="660"/>
                  <a:pt x="707" y="618"/>
                </a:cubicBezTo>
                <a:cubicBezTo>
                  <a:pt x="715" y="625"/>
                  <a:pt x="724" y="632"/>
                  <a:pt x="733" y="638"/>
                </a:cubicBezTo>
                <a:cubicBezTo>
                  <a:pt x="737" y="814"/>
                  <a:pt x="653" y="849"/>
                  <a:pt x="586" y="859"/>
                </a:cubicBezTo>
                <a:cubicBezTo>
                  <a:pt x="543" y="859"/>
                  <a:pt x="503" y="846"/>
                  <a:pt x="465" y="819"/>
                </a:cubicBezTo>
                <a:cubicBezTo>
                  <a:pt x="380" y="758"/>
                  <a:pt x="328" y="638"/>
                  <a:pt x="314" y="546"/>
                </a:cubicBezTo>
                <a:close/>
                <a:moveTo>
                  <a:pt x="72" y="385"/>
                </a:moveTo>
                <a:lnTo>
                  <a:pt x="72" y="385"/>
                </a:lnTo>
                <a:cubicBezTo>
                  <a:pt x="74" y="364"/>
                  <a:pt x="84" y="352"/>
                  <a:pt x="93" y="348"/>
                </a:cubicBezTo>
                <a:cubicBezTo>
                  <a:pt x="106" y="346"/>
                  <a:pt x="175" y="335"/>
                  <a:pt x="267" y="352"/>
                </a:cubicBezTo>
                <a:cubicBezTo>
                  <a:pt x="249" y="391"/>
                  <a:pt x="233" y="456"/>
                  <a:pt x="248" y="556"/>
                </a:cubicBezTo>
                <a:cubicBezTo>
                  <a:pt x="251" y="575"/>
                  <a:pt x="256" y="596"/>
                  <a:pt x="262" y="618"/>
                </a:cubicBezTo>
                <a:cubicBezTo>
                  <a:pt x="78" y="499"/>
                  <a:pt x="70" y="411"/>
                  <a:pt x="72" y="385"/>
                </a:cubicBezTo>
                <a:close/>
                <a:moveTo>
                  <a:pt x="614" y="651"/>
                </a:moveTo>
                <a:lnTo>
                  <a:pt x="614" y="651"/>
                </a:lnTo>
                <a:cubicBezTo>
                  <a:pt x="605" y="656"/>
                  <a:pt x="591" y="660"/>
                  <a:pt x="575" y="654"/>
                </a:cubicBezTo>
                <a:cubicBezTo>
                  <a:pt x="554" y="645"/>
                  <a:pt x="535" y="620"/>
                  <a:pt x="523" y="583"/>
                </a:cubicBezTo>
                <a:cubicBezTo>
                  <a:pt x="508" y="537"/>
                  <a:pt x="513" y="494"/>
                  <a:pt x="520" y="466"/>
                </a:cubicBezTo>
                <a:cubicBezTo>
                  <a:pt x="561" y="495"/>
                  <a:pt x="597" y="526"/>
                  <a:pt x="633" y="557"/>
                </a:cubicBezTo>
                <a:cubicBezTo>
                  <a:pt x="636" y="560"/>
                  <a:pt x="639" y="562"/>
                  <a:pt x="642" y="564"/>
                </a:cubicBezTo>
                <a:cubicBezTo>
                  <a:pt x="645" y="581"/>
                  <a:pt x="645" y="634"/>
                  <a:pt x="614" y="651"/>
                </a:cubicBezTo>
                <a:close/>
                <a:moveTo>
                  <a:pt x="932" y="111"/>
                </a:moveTo>
                <a:lnTo>
                  <a:pt x="932" y="111"/>
                </a:lnTo>
                <a:cubicBezTo>
                  <a:pt x="1089" y="71"/>
                  <a:pt x="1194" y="99"/>
                  <a:pt x="1298" y="210"/>
                </a:cubicBezTo>
                <a:cubicBezTo>
                  <a:pt x="1398" y="318"/>
                  <a:pt x="1385" y="489"/>
                  <a:pt x="1377" y="548"/>
                </a:cubicBezTo>
                <a:cubicBezTo>
                  <a:pt x="1364" y="551"/>
                  <a:pt x="1344" y="556"/>
                  <a:pt x="1321" y="561"/>
                </a:cubicBezTo>
                <a:cubicBezTo>
                  <a:pt x="1321" y="561"/>
                  <a:pt x="1321" y="561"/>
                  <a:pt x="1321" y="561"/>
                </a:cubicBezTo>
                <a:cubicBezTo>
                  <a:pt x="1225" y="583"/>
                  <a:pt x="1060" y="619"/>
                  <a:pt x="945" y="637"/>
                </a:cubicBezTo>
                <a:cubicBezTo>
                  <a:pt x="847" y="652"/>
                  <a:pt x="772" y="588"/>
                  <a:pt x="676" y="506"/>
                </a:cubicBezTo>
                <a:cubicBezTo>
                  <a:pt x="624" y="462"/>
                  <a:pt x="564" y="411"/>
                  <a:pt x="493" y="367"/>
                </a:cubicBezTo>
                <a:cubicBezTo>
                  <a:pt x="425" y="326"/>
                  <a:pt x="357" y="302"/>
                  <a:pt x="297" y="290"/>
                </a:cubicBezTo>
                <a:cubicBezTo>
                  <a:pt x="510" y="229"/>
                  <a:pt x="827" y="139"/>
                  <a:pt x="932" y="111"/>
                </a:cubicBezTo>
                <a:close/>
                <a:moveTo>
                  <a:pt x="1188" y="724"/>
                </a:moveTo>
                <a:lnTo>
                  <a:pt x="1188" y="724"/>
                </a:lnTo>
                <a:cubicBezTo>
                  <a:pt x="1180" y="726"/>
                  <a:pt x="1170" y="729"/>
                  <a:pt x="1158" y="731"/>
                </a:cubicBezTo>
                <a:lnTo>
                  <a:pt x="946" y="785"/>
                </a:lnTo>
                <a:cubicBezTo>
                  <a:pt x="875" y="802"/>
                  <a:pt x="812" y="817"/>
                  <a:pt x="757" y="829"/>
                </a:cubicBezTo>
                <a:cubicBezTo>
                  <a:pt x="782" y="790"/>
                  <a:pt x="796" y="739"/>
                  <a:pt x="799" y="678"/>
                </a:cubicBezTo>
                <a:cubicBezTo>
                  <a:pt x="835" y="695"/>
                  <a:pt x="873" y="706"/>
                  <a:pt x="915" y="706"/>
                </a:cubicBezTo>
                <a:cubicBezTo>
                  <a:pt x="928" y="706"/>
                  <a:pt x="941" y="705"/>
                  <a:pt x="956" y="703"/>
                </a:cubicBezTo>
                <a:cubicBezTo>
                  <a:pt x="1053" y="687"/>
                  <a:pt x="1186" y="659"/>
                  <a:pt x="1283" y="638"/>
                </a:cubicBezTo>
                <a:cubicBezTo>
                  <a:pt x="1269" y="674"/>
                  <a:pt x="1241" y="712"/>
                  <a:pt x="1188" y="724"/>
                </a:cubicBezTo>
                <a:close/>
                <a:moveTo>
                  <a:pt x="1517" y="864"/>
                </a:moveTo>
                <a:lnTo>
                  <a:pt x="1517" y="864"/>
                </a:lnTo>
                <a:cubicBezTo>
                  <a:pt x="1498" y="864"/>
                  <a:pt x="1483" y="879"/>
                  <a:pt x="1483" y="897"/>
                </a:cubicBezTo>
                <a:lnTo>
                  <a:pt x="1483" y="939"/>
                </a:lnTo>
                <a:lnTo>
                  <a:pt x="1096" y="939"/>
                </a:lnTo>
                <a:cubicBezTo>
                  <a:pt x="1088" y="939"/>
                  <a:pt x="1080" y="936"/>
                  <a:pt x="1064" y="910"/>
                </a:cubicBezTo>
                <a:lnTo>
                  <a:pt x="1021" y="834"/>
                </a:lnTo>
                <a:lnTo>
                  <a:pt x="1174" y="796"/>
                </a:lnTo>
                <a:cubicBezTo>
                  <a:pt x="1185" y="793"/>
                  <a:pt x="1195" y="791"/>
                  <a:pt x="1203" y="789"/>
                </a:cubicBezTo>
                <a:cubicBezTo>
                  <a:pt x="1282" y="771"/>
                  <a:pt x="1338" y="710"/>
                  <a:pt x="1358" y="621"/>
                </a:cubicBezTo>
                <a:cubicBezTo>
                  <a:pt x="1392" y="613"/>
                  <a:pt x="1414" y="608"/>
                  <a:pt x="1414" y="608"/>
                </a:cubicBezTo>
                <a:cubicBezTo>
                  <a:pt x="1427" y="605"/>
                  <a:pt x="1437" y="595"/>
                  <a:pt x="1439" y="582"/>
                </a:cubicBezTo>
                <a:cubicBezTo>
                  <a:pt x="1441" y="572"/>
                  <a:pt x="1492" y="321"/>
                  <a:pt x="1346" y="165"/>
                </a:cubicBezTo>
                <a:cubicBezTo>
                  <a:pt x="1227" y="37"/>
                  <a:pt x="1094" y="0"/>
                  <a:pt x="916" y="47"/>
                </a:cubicBezTo>
                <a:cubicBezTo>
                  <a:pt x="751" y="90"/>
                  <a:pt x="81" y="282"/>
                  <a:pt x="74" y="284"/>
                </a:cubicBezTo>
                <a:cubicBezTo>
                  <a:pt x="74" y="284"/>
                  <a:pt x="74" y="284"/>
                  <a:pt x="74" y="284"/>
                </a:cubicBezTo>
                <a:cubicBezTo>
                  <a:pt x="73" y="285"/>
                  <a:pt x="73" y="285"/>
                  <a:pt x="73" y="285"/>
                </a:cubicBezTo>
                <a:cubicBezTo>
                  <a:pt x="72" y="285"/>
                  <a:pt x="71" y="286"/>
                  <a:pt x="69" y="286"/>
                </a:cubicBezTo>
                <a:cubicBezTo>
                  <a:pt x="69" y="286"/>
                  <a:pt x="68" y="287"/>
                  <a:pt x="68" y="287"/>
                </a:cubicBezTo>
                <a:cubicBezTo>
                  <a:pt x="34" y="300"/>
                  <a:pt x="10" y="336"/>
                  <a:pt x="6" y="379"/>
                </a:cubicBezTo>
                <a:cubicBezTo>
                  <a:pt x="0" y="441"/>
                  <a:pt x="31" y="569"/>
                  <a:pt x="301" y="719"/>
                </a:cubicBezTo>
                <a:cubicBezTo>
                  <a:pt x="330" y="778"/>
                  <a:pt x="371" y="834"/>
                  <a:pt x="427" y="874"/>
                </a:cubicBezTo>
                <a:cubicBezTo>
                  <a:pt x="475" y="908"/>
                  <a:pt x="529" y="926"/>
                  <a:pt x="585" y="926"/>
                </a:cubicBezTo>
                <a:cubicBezTo>
                  <a:pt x="585" y="926"/>
                  <a:pt x="585" y="926"/>
                  <a:pt x="586" y="926"/>
                </a:cubicBezTo>
                <a:cubicBezTo>
                  <a:pt x="586" y="926"/>
                  <a:pt x="586" y="926"/>
                  <a:pt x="587" y="926"/>
                </a:cubicBezTo>
                <a:cubicBezTo>
                  <a:pt x="588" y="926"/>
                  <a:pt x="590" y="926"/>
                  <a:pt x="591" y="926"/>
                </a:cubicBezTo>
                <a:cubicBezTo>
                  <a:pt x="592" y="926"/>
                  <a:pt x="592" y="926"/>
                  <a:pt x="592" y="926"/>
                </a:cubicBezTo>
                <a:cubicBezTo>
                  <a:pt x="606" y="925"/>
                  <a:pt x="620" y="924"/>
                  <a:pt x="634" y="922"/>
                </a:cubicBezTo>
                <a:cubicBezTo>
                  <a:pt x="683" y="913"/>
                  <a:pt x="742" y="901"/>
                  <a:pt x="811" y="885"/>
                </a:cubicBezTo>
                <a:cubicBezTo>
                  <a:pt x="811" y="885"/>
                  <a:pt x="811" y="886"/>
                  <a:pt x="811" y="886"/>
                </a:cubicBezTo>
                <a:lnTo>
                  <a:pt x="881" y="1032"/>
                </a:lnTo>
                <a:cubicBezTo>
                  <a:pt x="882" y="1032"/>
                  <a:pt x="882" y="1033"/>
                  <a:pt x="882" y="1033"/>
                </a:cubicBezTo>
                <a:cubicBezTo>
                  <a:pt x="911" y="1085"/>
                  <a:pt x="950" y="1137"/>
                  <a:pt x="1026" y="1137"/>
                </a:cubicBezTo>
                <a:lnTo>
                  <a:pt x="1068" y="1137"/>
                </a:lnTo>
                <a:cubicBezTo>
                  <a:pt x="1081" y="1155"/>
                  <a:pt x="1101" y="1167"/>
                  <a:pt x="1125" y="1167"/>
                </a:cubicBezTo>
                <a:cubicBezTo>
                  <a:pt x="1163" y="1167"/>
                  <a:pt x="1194" y="1136"/>
                  <a:pt x="1194" y="1098"/>
                </a:cubicBezTo>
                <a:cubicBezTo>
                  <a:pt x="1194" y="1059"/>
                  <a:pt x="1163" y="1028"/>
                  <a:pt x="1125" y="1028"/>
                </a:cubicBezTo>
                <a:cubicBezTo>
                  <a:pt x="1096" y="1028"/>
                  <a:pt x="1071" y="1046"/>
                  <a:pt x="1061" y="1071"/>
                </a:cubicBezTo>
                <a:lnTo>
                  <a:pt x="1026" y="1071"/>
                </a:lnTo>
                <a:cubicBezTo>
                  <a:pt x="992" y="1071"/>
                  <a:pt x="970" y="1053"/>
                  <a:pt x="941" y="1002"/>
                </a:cubicBezTo>
                <a:lnTo>
                  <a:pt x="877" y="870"/>
                </a:lnTo>
                <a:cubicBezTo>
                  <a:pt x="902" y="864"/>
                  <a:pt x="927" y="858"/>
                  <a:pt x="954" y="851"/>
                </a:cubicBezTo>
                <a:lnTo>
                  <a:pt x="1007" y="943"/>
                </a:lnTo>
                <a:cubicBezTo>
                  <a:pt x="1019" y="963"/>
                  <a:pt x="1044" y="1005"/>
                  <a:pt x="1096" y="1005"/>
                </a:cubicBezTo>
                <a:lnTo>
                  <a:pt x="1483" y="1005"/>
                </a:lnTo>
                <a:lnTo>
                  <a:pt x="1483" y="1071"/>
                </a:lnTo>
                <a:lnTo>
                  <a:pt x="1403" y="1071"/>
                </a:lnTo>
                <a:cubicBezTo>
                  <a:pt x="1393" y="1045"/>
                  <a:pt x="1368" y="1027"/>
                  <a:pt x="1339" y="1027"/>
                </a:cubicBezTo>
                <a:cubicBezTo>
                  <a:pt x="1300" y="1027"/>
                  <a:pt x="1269" y="1059"/>
                  <a:pt x="1269" y="1097"/>
                </a:cubicBezTo>
                <a:cubicBezTo>
                  <a:pt x="1269" y="1135"/>
                  <a:pt x="1300" y="1166"/>
                  <a:pt x="1339" y="1166"/>
                </a:cubicBezTo>
                <a:cubicBezTo>
                  <a:pt x="1362" y="1166"/>
                  <a:pt x="1382" y="1155"/>
                  <a:pt x="1395" y="1137"/>
                </a:cubicBezTo>
                <a:lnTo>
                  <a:pt x="1483" y="1137"/>
                </a:lnTo>
                <a:lnTo>
                  <a:pt x="1483" y="1174"/>
                </a:lnTo>
                <a:cubicBezTo>
                  <a:pt x="1483" y="1192"/>
                  <a:pt x="1498" y="1207"/>
                  <a:pt x="1517" y="1207"/>
                </a:cubicBezTo>
                <a:cubicBezTo>
                  <a:pt x="1535" y="1207"/>
                  <a:pt x="1550" y="1192"/>
                  <a:pt x="1550" y="1174"/>
                </a:cubicBezTo>
                <a:lnTo>
                  <a:pt x="1550" y="897"/>
                </a:lnTo>
                <a:cubicBezTo>
                  <a:pt x="1550" y="879"/>
                  <a:pt x="1535" y="864"/>
                  <a:pt x="1517" y="864"/>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lIns="102476" tIns="51238" rIns="102476" bIns="51238"/>
          <a:lstStyle/>
          <a:p>
            <a:pPr fontAlgn="ctr"/>
            <a:endParaRPr lang="en-US" altLang="zh-CN" sz="1200" dirty="0">
              <a:solidFill>
                <a:prstClr val="black"/>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Tree>
    <p:extLst>
      <p:ext uri="{BB962C8B-B14F-4D97-AF65-F5344CB8AC3E}">
        <p14:creationId xmlns:p14="http://schemas.microsoft.com/office/powerpoint/2010/main" val="188022302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0" name="直接连接符 39"/>
          <p:cNvCxnSpPr/>
          <p:nvPr/>
        </p:nvCxnSpPr>
        <p:spPr bwMode="gray">
          <a:xfrm>
            <a:off x="1532828" y="4387273"/>
            <a:ext cx="0" cy="598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bwMode="gray"/>
        <p:txBody>
          <a:bodyPr/>
          <a:lstStyle/>
          <a:p>
            <a:r>
              <a:rPr lang="zh-CN" altLang="en-US">
                <a:sym typeface="Huawei Sans" panose="020C0503030203020204" pitchFamily="34" charset="0"/>
              </a:rPr>
              <a:t>创建</a:t>
            </a:r>
            <a:r>
              <a:rPr lang="en-US" altLang="zh-CN">
                <a:sym typeface="Huawei Sans" panose="020C0503030203020204" pitchFamily="34" charset="0"/>
              </a:rPr>
              <a:t>VN</a:t>
            </a:r>
            <a:endParaRPr lang="zh-CN" altLang="en-US">
              <a:sym typeface="Huawei Sans" panose="020C0503030203020204" pitchFamily="34" charset="0"/>
            </a:endParaRPr>
          </a:p>
        </p:txBody>
      </p:sp>
      <p:grpSp>
        <p:nvGrpSpPr>
          <p:cNvPr id="3" name="Group 165"/>
          <p:cNvGrpSpPr/>
          <p:nvPr/>
        </p:nvGrpSpPr>
        <p:grpSpPr bwMode="gray">
          <a:xfrm rot="10800000">
            <a:off x="1017656" y="5036457"/>
            <a:ext cx="980710" cy="502927"/>
            <a:chOff x="-1233037" y="914446"/>
            <a:chExt cx="1573823" cy="778776"/>
          </a:xfrm>
        </p:grpSpPr>
        <p:cxnSp>
          <p:nvCxnSpPr>
            <p:cNvPr id="4" name="Straight Connector 166"/>
            <p:cNvCxnSpPr/>
            <p:nvPr/>
          </p:nvCxnSpPr>
          <p:spPr bwMode="gray">
            <a:xfrm flipH="1" flipV="1">
              <a:off x="-1233037" y="914446"/>
              <a:ext cx="786912"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167"/>
            <p:cNvCxnSpPr/>
            <p:nvPr/>
          </p:nvCxnSpPr>
          <p:spPr bwMode="gray">
            <a:xfrm flipV="1">
              <a:off x="-446125" y="914446"/>
              <a:ext cx="786911"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 name="直接连接符 5"/>
          <p:cNvCxnSpPr/>
          <p:nvPr/>
        </p:nvCxnSpPr>
        <p:spPr bwMode="gray">
          <a:xfrm>
            <a:off x="2653927" y="1331835"/>
            <a:ext cx="0" cy="21918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432094" y="2149762"/>
            <a:ext cx="443667" cy="363001"/>
          </a:xfrm>
          <a:prstGeom prst="rect">
            <a:avLst/>
          </a:prstGeom>
        </p:spPr>
      </p:pic>
      <p:grpSp>
        <p:nvGrpSpPr>
          <p:cNvPr id="8" name="组合 758"/>
          <p:cNvGrpSpPr/>
          <p:nvPr/>
        </p:nvGrpSpPr>
        <p:grpSpPr bwMode="gray">
          <a:xfrm flipV="1">
            <a:off x="4749649" y="5208546"/>
            <a:ext cx="225699" cy="191129"/>
            <a:chOff x="7440613" y="4868863"/>
            <a:chExt cx="1019175" cy="828675"/>
          </a:xfrm>
          <a:solidFill>
            <a:schemeClr val="bg1">
              <a:lumMod val="50000"/>
            </a:schemeClr>
          </a:solidFill>
        </p:grpSpPr>
        <p:sp>
          <p:nvSpPr>
            <p:cNvPr id="9" name="Freeform 15"/>
            <p:cNvSpPr>
              <a:spLocks/>
            </p:cNvSpPr>
            <p:nvPr/>
          </p:nvSpPr>
          <p:spPr bwMode="gray">
            <a:xfrm>
              <a:off x="7832726" y="5462588"/>
              <a:ext cx="234950" cy="234950"/>
            </a:xfrm>
            <a:custGeom>
              <a:avLst/>
              <a:gdLst/>
              <a:ahLst/>
              <a:cxnLst>
                <a:cxn ang="0">
                  <a:pos x="3281" y="680"/>
                </a:cxn>
                <a:cxn ang="0">
                  <a:pos x="3439" y="907"/>
                </a:cxn>
                <a:cxn ang="0">
                  <a:pos x="3559" y="1151"/>
                </a:cxn>
                <a:cxn ang="0">
                  <a:pos x="3642" y="1406"/>
                </a:cxn>
                <a:cxn ang="0">
                  <a:pos x="3686" y="1670"/>
                </a:cxn>
                <a:cxn ang="0">
                  <a:pos x="3693" y="1936"/>
                </a:cxn>
                <a:cxn ang="0">
                  <a:pos x="3661" y="2201"/>
                </a:cxn>
                <a:cxn ang="0">
                  <a:pos x="3591" y="2460"/>
                </a:cxn>
                <a:cxn ang="0">
                  <a:pos x="3484" y="2708"/>
                </a:cxn>
                <a:cxn ang="0">
                  <a:pos x="3339" y="2941"/>
                </a:cxn>
                <a:cxn ang="0">
                  <a:pos x="3155" y="3155"/>
                </a:cxn>
                <a:cxn ang="0">
                  <a:pos x="2941" y="3339"/>
                </a:cxn>
                <a:cxn ang="0">
                  <a:pos x="2708" y="3484"/>
                </a:cxn>
                <a:cxn ang="0">
                  <a:pos x="2460" y="3592"/>
                </a:cxn>
                <a:cxn ang="0">
                  <a:pos x="2201" y="3661"/>
                </a:cxn>
                <a:cxn ang="0">
                  <a:pos x="1936" y="3693"/>
                </a:cxn>
                <a:cxn ang="0">
                  <a:pos x="1670" y="3687"/>
                </a:cxn>
                <a:cxn ang="0">
                  <a:pos x="1408" y="3643"/>
                </a:cxn>
                <a:cxn ang="0">
                  <a:pos x="1152" y="3561"/>
                </a:cxn>
                <a:cxn ang="0">
                  <a:pos x="908" y="3440"/>
                </a:cxn>
                <a:cxn ang="0">
                  <a:pos x="680" y="3282"/>
                </a:cxn>
                <a:cxn ang="0">
                  <a:pos x="475" y="3086"/>
                </a:cxn>
                <a:cxn ang="0">
                  <a:pos x="304" y="2866"/>
                </a:cxn>
                <a:cxn ang="0">
                  <a:pos x="172" y="2627"/>
                </a:cxn>
                <a:cxn ang="0">
                  <a:pos x="76" y="2374"/>
                </a:cxn>
                <a:cxn ang="0">
                  <a:pos x="19" y="2114"/>
                </a:cxn>
                <a:cxn ang="0">
                  <a:pos x="0" y="1848"/>
                </a:cxn>
                <a:cxn ang="0">
                  <a:pos x="19" y="1582"/>
                </a:cxn>
                <a:cxn ang="0">
                  <a:pos x="76" y="1321"/>
                </a:cxn>
                <a:cxn ang="0">
                  <a:pos x="171" y="1069"/>
                </a:cxn>
                <a:cxn ang="0">
                  <a:pos x="304" y="830"/>
                </a:cxn>
                <a:cxn ang="0">
                  <a:pos x="475" y="609"/>
                </a:cxn>
                <a:cxn ang="0">
                  <a:pos x="680" y="414"/>
                </a:cxn>
                <a:cxn ang="0">
                  <a:pos x="907" y="255"/>
                </a:cxn>
                <a:cxn ang="0">
                  <a:pos x="1151" y="135"/>
                </a:cxn>
                <a:cxn ang="0">
                  <a:pos x="1407" y="52"/>
                </a:cxn>
                <a:cxn ang="0">
                  <a:pos x="1669" y="8"/>
                </a:cxn>
                <a:cxn ang="0">
                  <a:pos x="1936" y="2"/>
                </a:cxn>
                <a:cxn ang="0">
                  <a:pos x="2201" y="33"/>
                </a:cxn>
                <a:cxn ang="0">
                  <a:pos x="2459" y="104"/>
                </a:cxn>
                <a:cxn ang="0">
                  <a:pos x="2708" y="211"/>
                </a:cxn>
                <a:cxn ang="0">
                  <a:pos x="2940" y="356"/>
                </a:cxn>
                <a:cxn ang="0">
                  <a:pos x="3154" y="539"/>
                </a:cxn>
              </a:cxnLst>
              <a:rect l="0" t="0" r="r" b="b"/>
              <a:pathLst>
                <a:path w="3695" h="3695">
                  <a:moveTo>
                    <a:pt x="3154" y="539"/>
                  </a:moveTo>
                  <a:lnTo>
                    <a:pt x="3220" y="608"/>
                  </a:lnTo>
                  <a:lnTo>
                    <a:pt x="3281" y="680"/>
                  </a:lnTo>
                  <a:lnTo>
                    <a:pt x="3338" y="754"/>
                  </a:lnTo>
                  <a:lnTo>
                    <a:pt x="3391" y="829"/>
                  </a:lnTo>
                  <a:lnTo>
                    <a:pt x="3439" y="907"/>
                  </a:lnTo>
                  <a:lnTo>
                    <a:pt x="3483" y="987"/>
                  </a:lnTo>
                  <a:lnTo>
                    <a:pt x="3523" y="1068"/>
                  </a:lnTo>
                  <a:lnTo>
                    <a:pt x="3559" y="1151"/>
                  </a:lnTo>
                  <a:lnTo>
                    <a:pt x="3591" y="1235"/>
                  </a:lnTo>
                  <a:lnTo>
                    <a:pt x="3619" y="1320"/>
                  </a:lnTo>
                  <a:lnTo>
                    <a:pt x="3642" y="1406"/>
                  </a:lnTo>
                  <a:lnTo>
                    <a:pt x="3661" y="1493"/>
                  </a:lnTo>
                  <a:lnTo>
                    <a:pt x="3676" y="1582"/>
                  </a:lnTo>
                  <a:lnTo>
                    <a:pt x="3686" y="1670"/>
                  </a:lnTo>
                  <a:lnTo>
                    <a:pt x="3693" y="1758"/>
                  </a:lnTo>
                  <a:lnTo>
                    <a:pt x="3695" y="1847"/>
                  </a:lnTo>
                  <a:lnTo>
                    <a:pt x="3693" y="1936"/>
                  </a:lnTo>
                  <a:lnTo>
                    <a:pt x="3686" y="2024"/>
                  </a:lnTo>
                  <a:lnTo>
                    <a:pt x="3676" y="2113"/>
                  </a:lnTo>
                  <a:lnTo>
                    <a:pt x="3661" y="2201"/>
                  </a:lnTo>
                  <a:lnTo>
                    <a:pt x="3642" y="2288"/>
                  </a:lnTo>
                  <a:lnTo>
                    <a:pt x="3619" y="2374"/>
                  </a:lnTo>
                  <a:lnTo>
                    <a:pt x="3591" y="2460"/>
                  </a:lnTo>
                  <a:lnTo>
                    <a:pt x="3559" y="2544"/>
                  </a:lnTo>
                  <a:lnTo>
                    <a:pt x="3524" y="2626"/>
                  </a:lnTo>
                  <a:lnTo>
                    <a:pt x="3484" y="2708"/>
                  </a:lnTo>
                  <a:lnTo>
                    <a:pt x="3439" y="2788"/>
                  </a:lnTo>
                  <a:lnTo>
                    <a:pt x="3391" y="2865"/>
                  </a:lnTo>
                  <a:lnTo>
                    <a:pt x="3339" y="2941"/>
                  </a:lnTo>
                  <a:lnTo>
                    <a:pt x="3281" y="3015"/>
                  </a:lnTo>
                  <a:lnTo>
                    <a:pt x="3220" y="3086"/>
                  </a:lnTo>
                  <a:lnTo>
                    <a:pt x="3155" y="3155"/>
                  </a:lnTo>
                  <a:lnTo>
                    <a:pt x="3086" y="3220"/>
                  </a:lnTo>
                  <a:lnTo>
                    <a:pt x="3015" y="3282"/>
                  </a:lnTo>
                  <a:lnTo>
                    <a:pt x="2941" y="3339"/>
                  </a:lnTo>
                  <a:lnTo>
                    <a:pt x="2865" y="3391"/>
                  </a:lnTo>
                  <a:lnTo>
                    <a:pt x="2788" y="3440"/>
                  </a:lnTo>
                  <a:lnTo>
                    <a:pt x="2708" y="3484"/>
                  </a:lnTo>
                  <a:lnTo>
                    <a:pt x="2626" y="3524"/>
                  </a:lnTo>
                  <a:lnTo>
                    <a:pt x="2544" y="3560"/>
                  </a:lnTo>
                  <a:lnTo>
                    <a:pt x="2460" y="3592"/>
                  </a:lnTo>
                  <a:lnTo>
                    <a:pt x="2375" y="3619"/>
                  </a:lnTo>
                  <a:lnTo>
                    <a:pt x="2288" y="3643"/>
                  </a:lnTo>
                  <a:lnTo>
                    <a:pt x="2201" y="3661"/>
                  </a:lnTo>
                  <a:lnTo>
                    <a:pt x="2114" y="3676"/>
                  </a:lnTo>
                  <a:lnTo>
                    <a:pt x="2026" y="3687"/>
                  </a:lnTo>
                  <a:lnTo>
                    <a:pt x="1936" y="3693"/>
                  </a:lnTo>
                  <a:lnTo>
                    <a:pt x="1848" y="3695"/>
                  </a:lnTo>
                  <a:lnTo>
                    <a:pt x="1759" y="3693"/>
                  </a:lnTo>
                  <a:lnTo>
                    <a:pt x="1670" y="3687"/>
                  </a:lnTo>
                  <a:lnTo>
                    <a:pt x="1582" y="3676"/>
                  </a:lnTo>
                  <a:lnTo>
                    <a:pt x="1495" y="3662"/>
                  </a:lnTo>
                  <a:lnTo>
                    <a:pt x="1408" y="3643"/>
                  </a:lnTo>
                  <a:lnTo>
                    <a:pt x="1321" y="3620"/>
                  </a:lnTo>
                  <a:lnTo>
                    <a:pt x="1236" y="3592"/>
                  </a:lnTo>
                  <a:lnTo>
                    <a:pt x="1152" y="3561"/>
                  </a:lnTo>
                  <a:lnTo>
                    <a:pt x="1069" y="3524"/>
                  </a:lnTo>
                  <a:lnTo>
                    <a:pt x="987" y="3484"/>
                  </a:lnTo>
                  <a:lnTo>
                    <a:pt x="908" y="3440"/>
                  </a:lnTo>
                  <a:lnTo>
                    <a:pt x="830" y="3391"/>
                  </a:lnTo>
                  <a:lnTo>
                    <a:pt x="755" y="3339"/>
                  </a:lnTo>
                  <a:lnTo>
                    <a:pt x="680" y="3282"/>
                  </a:lnTo>
                  <a:lnTo>
                    <a:pt x="609" y="3220"/>
                  </a:lnTo>
                  <a:lnTo>
                    <a:pt x="541" y="3155"/>
                  </a:lnTo>
                  <a:lnTo>
                    <a:pt x="475" y="3086"/>
                  </a:lnTo>
                  <a:lnTo>
                    <a:pt x="414" y="3015"/>
                  </a:lnTo>
                  <a:lnTo>
                    <a:pt x="357" y="2941"/>
                  </a:lnTo>
                  <a:lnTo>
                    <a:pt x="304" y="2866"/>
                  </a:lnTo>
                  <a:lnTo>
                    <a:pt x="256" y="2788"/>
                  </a:lnTo>
                  <a:lnTo>
                    <a:pt x="212" y="2709"/>
                  </a:lnTo>
                  <a:lnTo>
                    <a:pt x="172" y="2627"/>
                  </a:lnTo>
                  <a:lnTo>
                    <a:pt x="136" y="2544"/>
                  </a:lnTo>
                  <a:lnTo>
                    <a:pt x="104" y="2460"/>
                  </a:lnTo>
                  <a:lnTo>
                    <a:pt x="76" y="2374"/>
                  </a:lnTo>
                  <a:lnTo>
                    <a:pt x="53" y="2288"/>
                  </a:lnTo>
                  <a:lnTo>
                    <a:pt x="34" y="2201"/>
                  </a:lnTo>
                  <a:lnTo>
                    <a:pt x="19" y="2114"/>
                  </a:lnTo>
                  <a:lnTo>
                    <a:pt x="9" y="2025"/>
                  </a:lnTo>
                  <a:lnTo>
                    <a:pt x="2" y="1937"/>
                  </a:lnTo>
                  <a:lnTo>
                    <a:pt x="0" y="1848"/>
                  </a:lnTo>
                  <a:lnTo>
                    <a:pt x="2" y="1759"/>
                  </a:lnTo>
                  <a:lnTo>
                    <a:pt x="9" y="1670"/>
                  </a:lnTo>
                  <a:lnTo>
                    <a:pt x="19" y="1582"/>
                  </a:lnTo>
                  <a:lnTo>
                    <a:pt x="34" y="1494"/>
                  </a:lnTo>
                  <a:lnTo>
                    <a:pt x="53" y="1407"/>
                  </a:lnTo>
                  <a:lnTo>
                    <a:pt x="76" y="1321"/>
                  </a:lnTo>
                  <a:lnTo>
                    <a:pt x="104" y="1236"/>
                  </a:lnTo>
                  <a:lnTo>
                    <a:pt x="136" y="1151"/>
                  </a:lnTo>
                  <a:lnTo>
                    <a:pt x="171" y="1069"/>
                  </a:lnTo>
                  <a:lnTo>
                    <a:pt x="211" y="988"/>
                  </a:lnTo>
                  <a:lnTo>
                    <a:pt x="255" y="907"/>
                  </a:lnTo>
                  <a:lnTo>
                    <a:pt x="304" y="830"/>
                  </a:lnTo>
                  <a:lnTo>
                    <a:pt x="356" y="754"/>
                  </a:lnTo>
                  <a:lnTo>
                    <a:pt x="414" y="681"/>
                  </a:lnTo>
                  <a:lnTo>
                    <a:pt x="475" y="609"/>
                  </a:lnTo>
                  <a:lnTo>
                    <a:pt x="540" y="540"/>
                  </a:lnTo>
                  <a:lnTo>
                    <a:pt x="609" y="475"/>
                  </a:lnTo>
                  <a:lnTo>
                    <a:pt x="680" y="414"/>
                  </a:lnTo>
                  <a:lnTo>
                    <a:pt x="754" y="356"/>
                  </a:lnTo>
                  <a:lnTo>
                    <a:pt x="830" y="303"/>
                  </a:lnTo>
                  <a:lnTo>
                    <a:pt x="907" y="255"/>
                  </a:lnTo>
                  <a:lnTo>
                    <a:pt x="987" y="211"/>
                  </a:lnTo>
                  <a:lnTo>
                    <a:pt x="1069" y="171"/>
                  </a:lnTo>
                  <a:lnTo>
                    <a:pt x="1151" y="135"/>
                  </a:lnTo>
                  <a:lnTo>
                    <a:pt x="1235" y="104"/>
                  </a:lnTo>
                  <a:lnTo>
                    <a:pt x="1320" y="76"/>
                  </a:lnTo>
                  <a:lnTo>
                    <a:pt x="1407" y="52"/>
                  </a:lnTo>
                  <a:lnTo>
                    <a:pt x="1494" y="33"/>
                  </a:lnTo>
                  <a:lnTo>
                    <a:pt x="1581" y="19"/>
                  </a:lnTo>
                  <a:lnTo>
                    <a:pt x="1669" y="8"/>
                  </a:lnTo>
                  <a:lnTo>
                    <a:pt x="1759" y="2"/>
                  </a:lnTo>
                  <a:lnTo>
                    <a:pt x="1847" y="0"/>
                  </a:lnTo>
                  <a:lnTo>
                    <a:pt x="1936" y="2"/>
                  </a:lnTo>
                  <a:lnTo>
                    <a:pt x="2025" y="8"/>
                  </a:lnTo>
                  <a:lnTo>
                    <a:pt x="2113" y="19"/>
                  </a:lnTo>
                  <a:lnTo>
                    <a:pt x="2201" y="33"/>
                  </a:lnTo>
                  <a:lnTo>
                    <a:pt x="2287" y="52"/>
                  </a:lnTo>
                  <a:lnTo>
                    <a:pt x="2374" y="76"/>
                  </a:lnTo>
                  <a:lnTo>
                    <a:pt x="2459" y="104"/>
                  </a:lnTo>
                  <a:lnTo>
                    <a:pt x="2543" y="135"/>
                  </a:lnTo>
                  <a:lnTo>
                    <a:pt x="2626" y="171"/>
                  </a:lnTo>
                  <a:lnTo>
                    <a:pt x="2708" y="211"/>
                  </a:lnTo>
                  <a:lnTo>
                    <a:pt x="2787" y="255"/>
                  </a:lnTo>
                  <a:lnTo>
                    <a:pt x="2865" y="303"/>
                  </a:lnTo>
                  <a:lnTo>
                    <a:pt x="2940" y="356"/>
                  </a:lnTo>
                  <a:lnTo>
                    <a:pt x="3015" y="413"/>
                  </a:lnTo>
                  <a:lnTo>
                    <a:pt x="3086" y="474"/>
                  </a:lnTo>
                  <a:lnTo>
                    <a:pt x="3154" y="539"/>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Freeform 16"/>
            <p:cNvSpPr>
              <a:spLocks noEditPoints="1"/>
            </p:cNvSpPr>
            <p:nvPr/>
          </p:nvSpPr>
          <p:spPr bwMode="gray">
            <a:xfrm>
              <a:off x="7440613" y="4868863"/>
              <a:ext cx="1019175" cy="544513"/>
            </a:xfrm>
            <a:custGeom>
              <a:avLst/>
              <a:gdLst/>
              <a:ahLst/>
              <a:cxnLst>
                <a:cxn ang="0">
                  <a:pos x="16025" y="3351"/>
                </a:cxn>
                <a:cxn ang="0">
                  <a:pos x="14975" y="4351"/>
                </a:cxn>
                <a:cxn ang="0">
                  <a:pos x="14184" y="3632"/>
                </a:cxn>
                <a:cxn ang="0">
                  <a:pos x="12564" y="2563"/>
                </a:cxn>
                <a:cxn ang="0">
                  <a:pos x="10805" y="1850"/>
                </a:cxn>
                <a:cxn ang="0">
                  <a:pos x="8960" y="1494"/>
                </a:cxn>
                <a:cxn ang="0">
                  <a:pos x="7087" y="1494"/>
                </a:cxn>
                <a:cxn ang="0">
                  <a:pos x="5243" y="1851"/>
                </a:cxn>
                <a:cxn ang="0">
                  <a:pos x="3483" y="2564"/>
                </a:cxn>
                <a:cxn ang="0">
                  <a:pos x="1864" y="3634"/>
                </a:cxn>
                <a:cxn ang="0">
                  <a:pos x="1075" y="4353"/>
                </a:cxn>
                <a:cxn ang="0">
                  <a:pos x="24" y="3353"/>
                </a:cxn>
                <a:cxn ang="0">
                  <a:pos x="516" y="2880"/>
                </a:cxn>
                <a:cxn ang="0">
                  <a:pos x="2325" y="1549"/>
                </a:cxn>
                <a:cxn ang="0">
                  <a:pos x="4312" y="627"/>
                </a:cxn>
                <a:cxn ang="0">
                  <a:pos x="6413" y="115"/>
                </a:cxn>
                <a:cxn ang="0">
                  <a:pos x="8562" y="13"/>
                </a:cxn>
                <a:cxn ang="0">
                  <a:pos x="10694" y="319"/>
                </a:cxn>
                <a:cxn ang="0">
                  <a:pos x="12747" y="1036"/>
                </a:cxn>
                <a:cxn ang="0">
                  <a:pos x="14654" y="2160"/>
                </a:cxn>
                <a:cxn ang="0">
                  <a:pos x="14055" y="5373"/>
                </a:cxn>
                <a:cxn ang="0">
                  <a:pos x="12871" y="6404"/>
                </a:cxn>
                <a:cxn ang="0">
                  <a:pos x="12058" y="5702"/>
                </a:cxn>
                <a:cxn ang="0">
                  <a:pos x="10898" y="5017"/>
                </a:cxn>
                <a:cxn ang="0">
                  <a:pos x="9649" y="4582"/>
                </a:cxn>
                <a:cxn ang="0">
                  <a:pos x="8352" y="4395"/>
                </a:cxn>
                <a:cxn ang="0">
                  <a:pos x="7044" y="4457"/>
                </a:cxn>
                <a:cxn ang="0">
                  <a:pos x="5767" y="4769"/>
                </a:cxn>
                <a:cxn ang="0">
                  <a:pos x="4558" y="5329"/>
                </a:cxn>
                <a:cxn ang="0">
                  <a:pos x="3457" y="6139"/>
                </a:cxn>
                <a:cxn ang="0">
                  <a:pos x="3129" y="6456"/>
                </a:cxn>
                <a:cxn ang="0">
                  <a:pos x="2045" y="5322"/>
                </a:cxn>
                <a:cxn ang="0">
                  <a:pos x="2731" y="4697"/>
                </a:cxn>
                <a:cxn ang="0">
                  <a:pos x="4122" y="3779"/>
                </a:cxn>
                <a:cxn ang="0">
                  <a:pos x="5635" y="3166"/>
                </a:cxn>
                <a:cxn ang="0">
                  <a:pos x="7219" y="2859"/>
                </a:cxn>
                <a:cxn ang="0">
                  <a:pos x="8829" y="2859"/>
                </a:cxn>
                <a:cxn ang="0">
                  <a:pos x="10413" y="3165"/>
                </a:cxn>
                <a:cxn ang="0">
                  <a:pos x="11926" y="3777"/>
                </a:cxn>
                <a:cxn ang="0">
                  <a:pos x="13318" y="4696"/>
                </a:cxn>
                <a:cxn ang="0">
                  <a:pos x="14005" y="5321"/>
                </a:cxn>
                <a:cxn ang="0">
                  <a:pos x="10854" y="8576"/>
                </a:cxn>
                <a:cxn ang="0">
                  <a:pos x="10754" y="8472"/>
                </a:cxn>
                <a:cxn ang="0">
                  <a:pos x="10150" y="7980"/>
                </a:cxn>
                <a:cxn ang="0">
                  <a:pos x="9479" y="7627"/>
                </a:cxn>
                <a:cxn ang="0">
                  <a:pos x="8762" y="7416"/>
                </a:cxn>
                <a:cxn ang="0">
                  <a:pos x="8025" y="7345"/>
                </a:cxn>
                <a:cxn ang="0">
                  <a:pos x="7287" y="7416"/>
                </a:cxn>
                <a:cxn ang="0">
                  <a:pos x="6571" y="7627"/>
                </a:cxn>
                <a:cxn ang="0">
                  <a:pos x="5900" y="7980"/>
                </a:cxn>
                <a:cxn ang="0">
                  <a:pos x="5297" y="8473"/>
                </a:cxn>
                <a:cxn ang="0">
                  <a:pos x="5198" y="8576"/>
                </a:cxn>
                <a:cxn ang="0">
                  <a:pos x="4197" y="7425"/>
                </a:cxn>
                <a:cxn ang="0">
                  <a:pos x="4843" y="6865"/>
                </a:cxn>
                <a:cxn ang="0">
                  <a:pos x="5758" y="6325"/>
                </a:cxn>
                <a:cxn ang="0">
                  <a:pos x="6743" y="5981"/>
                </a:cxn>
                <a:cxn ang="0">
                  <a:pos x="7766" y="5833"/>
                </a:cxn>
                <a:cxn ang="0">
                  <a:pos x="8797" y="5882"/>
                </a:cxn>
                <a:cxn ang="0">
                  <a:pos x="9806" y="6127"/>
                </a:cxn>
                <a:cxn ang="0">
                  <a:pos x="10760" y="6570"/>
                </a:cxn>
                <a:cxn ang="0">
                  <a:pos x="11627" y="7208"/>
                </a:cxn>
                <a:cxn ang="0">
                  <a:pos x="11903" y="7475"/>
                </a:cxn>
              </a:cxnLst>
              <a:rect l="0" t="0" r="r" b="b"/>
              <a:pathLst>
                <a:path w="16050" h="8576">
                  <a:moveTo>
                    <a:pt x="15950" y="3273"/>
                  </a:moveTo>
                  <a:lnTo>
                    <a:pt x="15975" y="3299"/>
                  </a:lnTo>
                  <a:lnTo>
                    <a:pt x="16000" y="3324"/>
                  </a:lnTo>
                  <a:lnTo>
                    <a:pt x="16025" y="3351"/>
                  </a:lnTo>
                  <a:lnTo>
                    <a:pt x="16050" y="3377"/>
                  </a:lnTo>
                  <a:lnTo>
                    <a:pt x="15025" y="4402"/>
                  </a:lnTo>
                  <a:lnTo>
                    <a:pt x="15000" y="4377"/>
                  </a:lnTo>
                  <a:lnTo>
                    <a:pt x="14975" y="4351"/>
                  </a:lnTo>
                  <a:lnTo>
                    <a:pt x="14950" y="4325"/>
                  </a:lnTo>
                  <a:lnTo>
                    <a:pt x="14923" y="4300"/>
                  </a:lnTo>
                  <a:lnTo>
                    <a:pt x="14560" y="3955"/>
                  </a:lnTo>
                  <a:lnTo>
                    <a:pt x="14184" y="3632"/>
                  </a:lnTo>
                  <a:lnTo>
                    <a:pt x="13796" y="3330"/>
                  </a:lnTo>
                  <a:lnTo>
                    <a:pt x="13396" y="3053"/>
                  </a:lnTo>
                  <a:lnTo>
                    <a:pt x="12984" y="2797"/>
                  </a:lnTo>
                  <a:lnTo>
                    <a:pt x="12564" y="2563"/>
                  </a:lnTo>
                  <a:lnTo>
                    <a:pt x="12136" y="2351"/>
                  </a:lnTo>
                  <a:lnTo>
                    <a:pt x="11698" y="2161"/>
                  </a:lnTo>
                  <a:lnTo>
                    <a:pt x="11254" y="1995"/>
                  </a:lnTo>
                  <a:lnTo>
                    <a:pt x="10805" y="1850"/>
                  </a:lnTo>
                  <a:lnTo>
                    <a:pt x="10349" y="1728"/>
                  </a:lnTo>
                  <a:lnTo>
                    <a:pt x="9889" y="1628"/>
                  </a:lnTo>
                  <a:lnTo>
                    <a:pt x="9426" y="1549"/>
                  </a:lnTo>
                  <a:lnTo>
                    <a:pt x="8960" y="1494"/>
                  </a:lnTo>
                  <a:lnTo>
                    <a:pt x="8492" y="1461"/>
                  </a:lnTo>
                  <a:lnTo>
                    <a:pt x="8024" y="1450"/>
                  </a:lnTo>
                  <a:lnTo>
                    <a:pt x="7556" y="1461"/>
                  </a:lnTo>
                  <a:lnTo>
                    <a:pt x="7087" y="1494"/>
                  </a:lnTo>
                  <a:lnTo>
                    <a:pt x="6622" y="1550"/>
                  </a:lnTo>
                  <a:lnTo>
                    <a:pt x="6158" y="1629"/>
                  </a:lnTo>
                  <a:lnTo>
                    <a:pt x="5699" y="1729"/>
                  </a:lnTo>
                  <a:lnTo>
                    <a:pt x="5243" y="1851"/>
                  </a:lnTo>
                  <a:lnTo>
                    <a:pt x="4793" y="1996"/>
                  </a:lnTo>
                  <a:lnTo>
                    <a:pt x="4350" y="2163"/>
                  </a:lnTo>
                  <a:lnTo>
                    <a:pt x="3912" y="2352"/>
                  </a:lnTo>
                  <a:lnTo>
                    <a:pt x="3483" y="2564"/>
                  </a:lnTo>
                  <a:lnTo>
                    <a:pt x="3064" y="2799"/>
                  </a:lnTo>
                  <a:lnTo>
                    <a:pt x="2652" y="3055"/>
                  </a:lnTo>
                  <a:lnTo>
                    <a:pt x="2253" y="3332"/>
                  </a:lnTo>
                  <a:lnTo>
                    <a:pt x="1864" y="3634"/>
                  </a:lnTo>
                  <a:lnTo>
                    <a:pt x="1488" y="3957"/>
                  </a:lnTo>
                  <a:lnTo>
                    <a:pt x="1125" y="4302"/>
                  </a:lnTo>
                  <a:lnTo>
                    <a:pt x="1099" y="4327"/>
                  </a:lnTo>
                  <a:lnTo>
                    <a:pt x="1075" y="4353"/>
                  </a:lnTo>
                  <a:lnTo>
                    <a:pt x="1050" y="4378"/>
                  </a:lnTo>
                  <a:lnTo>
                    <a:pt x="1025" y="4404"/>
                  </a:lnTo>
                  <a:lnTo>
                    <a:pt x="0" y="3378"/>
                  </a:lnTo>
                  <a:lnTo>
                    <a:pt x="24" y="3353"/>
                  </a:lnTo>
                  <a:lnTo>
                    <a:pt x="49" y="3326"/>
                  </a:lnTo>
                  <a:lnTo>
                    <a:pt x="74" y="3301"/>
                  </a:lnTo>
                  <a:lnTo>
                    <a:pt x="99" y="3276"/>
                  </a:lnTo>
                  <a:lnTo>
                    <a:pt x="516" y="2880"/>
                  </a:lnTo>
                  <a:lnTo>
                    <a:pt x="948" y="2509"/>
                  </a:lnTo>
                  <a:lnTo>
                    <a:pt x="1394" y="2162"/>
                  </a:lnTo>
                  <a:lnTo>
                    <a:pt x="1854" y="1843"/>
                  </a:lnTo>
                  <a:lnTo>
                    <a:pt x="2325" y="1549"/>
                  </a:lnTo>
                  <a:lnTo>
                    <a:pt x="2808" y="1280"/>
                  </a:lnTo>
                  <a:lnTo>
                    <a:pt x="3301" y="1037"/>
                  </a:lnTo>
                  <a:lnTo>
                    <a:pt x="3803" y="820"/>
                  </a:lnTo>
                  <a:lnTo>
                    <a:pt x="4312" y="627"/>
                  </a:lnTo>
                  <a:lnTo>
                    <a:pt x="4830" y="461"/>
                  </a:lnTo>
                  <a:lnTo>
                    <a:pt x="5353" y="320"/>
                  </a:lnTo>
                  <a:lnTo>
                    <a:pt x="5881" y="205"/>
                  </a:lnTo>
                  <a:lnTo>
                    <a:pt x="6413" y="115"/>
                  </a:lnTo>
                  <a:lnTo>
                    <a:pt x="6949" y="51"/>
                  </a:lnTo>
                  <a:lnTo>
                    <a:pt x="7485" y="13"/>
                  </a:lnTo>
                  <a:lnTo>
                    <a:pt x="8024" y="0"/>
                  </a:lnTo>
                  <a:lnTo>
                    <a:pt x="8562" y="13"/>
                  </a:lnTo>
                  <a:lnTo>
                    <a:pt x="9099" y="51"/>
                  </a:lnTo>
                  <a:lnTo>
                    <a:pt x="9634" y="115"/>
                  </a:lnTo>
                  <a:lnTo>
                    <a:pt x="10167" y="205"/>
                  </a:lnTo>
                  <a:lnTo>
                    <a:pt x="10694" y="319"/>
                  </a:lnTo>
                  <a:lnTo>
                    <a:pt x="11218" y="460"/>
                  </a:lnTo>
                  <a:lnTo>
                    <a:pt x="11735" y="626"/>
                  </a:lnTo>
                  <a:lnTo>
                    <a:pt x="12245" y="818"/>
                  </a:lnTo>
                  <a:lnTo>
                    <a:pt x="12747" y="1036"/>
                  </a:lnTo>
                  <a:lnTo>
                    <a:pt x="13239" y="1278"/>
                  </a:lnTo>
                  <a:lnTo>
                    <a:pt x="13722" y="1547"/>
                  </a:lnTo>
                  <a:lnTo>
                    <a:pt x="14194" y="1841"/>
                  </a:lnTo>
                  <a:lnTo>
                    <a:pt x="14654" y="2160"/>
                  </a:lnTo>
                  <a:lnTo>
                    <a:pt x="15100" y="2506"/>
                  </a:lnTo>
                  <a:lnTo>
                    <a:pt x="15532" y="2877"/>
                  </a:lnTo>
                  <a:lnTo>
                    <a:pt x="15950" y="3273"/>
                  </a:lnTo>
                  <a:close/>
                  <a:moveTo>
                    <a:pt x="14055" y="5373"/>
                  </a:moveTo>
                  <a:lnTo>
                    <a:pt x="12946" y="6481"/>
                  </a:lnTo>
                  <a:lnTo>
                    <a:pt x="12921" y="6456"/>
                  </a:lnTo>
                  <a:lnTo>
                    <a:pt x="12897" y="6430"/>
                  </a:lnTo>
                  <a:lnTo>
                    <a:pt x="12871" y="6404"/>
                  </a:lnTo>
                  <a:lnTo>
                    <a:pt x="12846" y="6379"/>
                  </a:lnTo>
                  <a:lnTo>
                    <a:pt x="12592" y="6137"/>
                  </a:lnTo>
                  <a:lnTo>
                    <a:pt x="12329" y="5912"/>
                  </a:lnTo>
                  <a:lnTo>
                    <a:pt x="12058" y="5702"/>
                  </a:lnTo>
                  <a:lnTo>
                    <a:pt x="11778" y="5507"/>
                  </a:lnTo>
                  <a:lnTo>
                    <a:pt x="11491" y="5328"/>
                  </a:lnTo>
                  <a:lnTo>
                    <a:pt x="11198" y="5165"/>
                  </a:lnTo>
                  <a:lnTo>
                    <a:pt x="10898" y="5017"/>
                  </a:lnTo>
                  <a:lnTo>
                    <a:pt x="10592" y="4885"/>
                  </a:lnTo>
                  <a:lnTo>
                    <a:pt x="10282" y="4768"/>
                  </a:lnTo>
                  <a:lnTo>
                    <a:pt x="9967" y="4667"/>
                  </a:lnTo>
                  <a:lnTo>
                    <a:pt x="9649" y="4582"/>
                  </a:lnTo>
                  <a:lnTo>
                    <a:pt x="9328" y="4512"/>
                  </a:lnTo>
                  <a:lnTo>
                    <a:pt x="9004" y="4457"/>
                  </a:lnTo>
                  <a:lnTo>
                    <a:pt x="8679" y="4418"/>
                  </a:lnTo>
                  <a:lnTo>
                    <a:pt x="8352" y="4395"/>
                  </a:lnTo>
                  <a:lnTo>
                    <a:pt x="8024" y="4387"/>
                  </a:lnTo>
                  <a:lnTo>
                    <a:pt x="7697" y="4395"/>
                  </a:lnTo>
                  <a:lnTo>
                    <a:pt x="7370" y="4418"/>
                  </a:lnTo>
                  <a:lnTo>
                    <a:pt x="7044" y="4457"/>
                  </a:lnTo>
                  <a:lnTo>
                    <a:pt x="6721" y="4512"/>
                  </a:lnTo>
                  <a:lnTo>
                    <a:pt x="6399" y="4582"/>
                  </a:lnTo>
                  <a:lnTo>
                    <a:pt x="6081" y="4668"/>
                  </a:lnTo>
                  <a:lnTo>
                    <a:pt x="5767" y="4769"/>
                  </a:lnTo>
                  <a:lnTo>
                    <a:pt x="5457" y="4886"/>
                  </a:lnTo>
                  <a:lnTo>
                    <a:pt x="5151" y="5018"/>
                  </a:lnTo>
                  <a:lnTo>
                    <a:pt x="4851" y="5166"/>
                  </a:lnTo>
                  <a:lnTo>
                    <a:pt x="4558" y="5329"/>
                  </a:lnTo>
                  <a:lnTo>
                    <a:pt x="4271" y="5509"/>
                  </a:lnTo>
                  <a:lnTo>
                    <a:pt x="3991" y="5703"/>
                  </a:lnTo>
                  <a:lnTo>
                    <a:pt x="3720" y="5913"/>
                  </a:lnTo>
                  <a:lnTo>
                    <a:pt x="3457" y="6139"/>
                  </a:lnTo>
                  <a:lnTo>
                    <a:pt x="3203" y="6380"/>
                  </a:lnTo>
                  <a:lnTo>
                    <a:pt x="3178" y="6406"/>
                  </a:lnTo>
                  <a:lnTo>
                    <a:pt x="3154" y="6431"/>
                  </a:lnTo>
                  <a:lnTo>
                    <a:pt x="3129" y="6456"/>
                  </a:lnTo>
                  <a:lnTo>
                    <a:pt x="3104" y="6482"/>
                  </a:lnTo>
                  <a:lnTo>
                    <a:pt x="1996" y="5374"/>
                  </a:lnTo>
                  <a:lnTo>
                    <a:pt x="2020" y="5348"/>
                  </a:lnTo>
                  <a:lnTo>
                    <a:pt x="2045" y="5322"/>
                  </a:lnTo>
                  <a:lnTo>
                    <a:pt x="2069" y="5297"/>
                  </a:lnTo>
                  <a:lnTo>
                    <a:pt x="2095" y="5272"/>
                  </a:lnTo>
                  <a:lnTo>
                    <a:pt x="2406" y="4975"/>
                  </a:lnTo>
                  <a:lnTo>
                    <a:pt x="2731" y="4697"/>
                  </a:lnTo>
                  <a:lnTo>
                    <a:pt x="3065" y="4439"/>
                  </a:lnTo>
                  <a:lnTo>
                    <a:pt x="3408" y="4199"/>
                  </a:lnTo>
                  <a:lnTo>
                    <a:pt x="3761" y="3980"/>
                  </a:lnTo>
                  <a:lnTo>
                    <a:pt x="4122" y="3779"/>
                  </a:lnTo>
                  <a:lnTo>
                    <a:pt x="4491" y="3596"/>
                  </a:lnTo>
                  <a:lnTo>
                    <a:pt x="4866" y="3434"/>
                  </a:lnTo>
                  <a:lnTo>
                    <a:pt x="5247" y="3290"/>
                  </a:lnTo>
                  <a:lnTo>
                    <a:pt x="5635" y="3166"/>
                  </a:lnTo>
                  <a:lnTo>
                    <a:pt x="6026" y="3061"/>
                  </a:lnTo>
                  <a:lnTo>
                    <a:pt x="6421" y="2974"/>
                  </a:lnTo>
                  <a:lnTo>
                    <a:pt x="6819" y="2907"/>
                  </a:lnTo>
                  <a:lnTo>
                    <a:pt x="7219" y="2859"/>
                  </a:lnTo>
                  <a:lnTo>
                    <a:pt x="7622" y="2831"/>
                  </a:lnTo>
                  <a:lnTo>
                    <a:pt x="8024" y="2821"/>
                  </a:lnTo>
                  <a:lnTo>
                    <a:pt x="8427" y="2831"/>
                  </a:lnTo>
                  <a:lnTo>
                    <a:pt x="8829" y="2859"/>
                  </a:lnTo>
                  <a:lnTo>
                    <a:pt x="9229" y="2907"/>
                  </a:lnTo>
                  <a:lnTo>
                    <a:pt x="9627" y="2973"/>
                  </a:lnTo>
                  <a:lnTo>
                    <a:pt x="10022" y="3060"/>
                  </a:lnTo>
                  <a:lnTo>
                    <a:pt x="10413" y="3165"/>
                  </a:lnTo>
                  <a:lnTo>
                    <a:pt x="10801" y="3289"/>
                  </a:lnTo>
                  <a:lnTo>
                    <a:pt x="11182" y="3433"/>
                  </a:lnTo>
                  <a:lnTo>
                    <a:pt x="11558" y="3595"/>
                  </a:lnTo>
                  <a:lnTo>
                    <a:pt x="11926" y="3777"/>
                  </a:lnTo>
                  <a:lnTo>
                    <a:pt x="12287" y="3978"/>
                  </a:lnTo>
                  <a:lnTo>
                    <a:pt x="12640" y="4198"/>
                  </a:lnTo>
                  <a:lnTo>
                    <a:pt x="12984" y="4437"/>
                  </a:lnTo>
                  <a:lnTo>
                    <a:pt x="13318" y="4696"/>
                  </a:lnTo>
                  <a:lnTo>
                    <a:pt x="13641" y="4973"/>
                  </a:lnTo>
                  <a:lnTo>
                    <a:pt x="13954" y="5270"/>
                  </a:lnTo>
                  <a:lnTo>
                    <a:pt x="13980" y="5295"/>
                  </a:lnTo>
                  <a:lnTo>
                    <a:pt x="14005" y="5321"/>
                  </a:lnTo>
                  <a:lnTo>
                    <a:pt x="14030" y="5347"/>
                  </a:lnTo>
                  <a:lnTo>
                    <a:pt x="14055" y="5373"/>
                  </a:lnTo>
                  <a:close/>
                  <a:moveTo>
                    <a:pt x="11928" y="7501"/>
                  </a:moveTo>
                  <a:lnTo>
                    <a:pt x="10854" y="8576"/>
                  </a:lnTo>
                  <a:lnTo>
                    <a:pt x="10829" y="8549"/>
                  </a:lnTo>
                  <a:lnTo>
                    <a:pt x="10805" y="8523"/>
                  </a:lnTo>
                  <a:lnTo>
                    <a:pt x="10780" y="8498"/>
                  </a:lnTo>
                  <a:lnTo>
                    <a:pt x="10754" y="8472"/>
                  </a:lnTo>
                  <a:lnTo>
                    <a:pt x="10610" y="8336"/>
                  </a:lnTo>
                  <a:lnTo>
                    <a:pt x="10462" y="8208"/>
                  </a:lnTo>
                  <a:lnTo>
                    <a:pt x="10307" y="8089"/>
                  </a:lnTo>
                  <a:lnTo>
                    <a:pt x="10150" y="7980"/>
                  </a:lnTo>
                  <a:lnTo>
                    <a:pt x="9987" y="7878"/>
                  </a:lnTo>
                  <a:lnTo>
                    <a:pt x="9821" y="7785"/>
                  </a:lnTo>
                  <a:lnTo>
                    <a:pt x="9651" y="7702"/>
                  </a:lnTo>
                  <a:lnTo>
                    <a:pt x="9479" y="7627"/>
                  </a:lnTo>
                  <a:lnTo>
                    <a:pt x="9303" y="7561"/>
                  </a:lnTo>
                  <a:lnTo>
                    <a:pt x="9124" y="7504"/>
                  </a:lnTo>
                  <a:lnTo>
                    <a:pt x="8945" y="7456"/>
                  </a:lnTo>
                  <a:lnTo>
                    <a:pt x="8762" y="7416"/>
                  </a:lnTo>
                  <a:lnTo>
                    <a:pt x="8580" y="7384"/>
                  </a:lnTo>
                  <a:lnTo>
                    <a:pt x="8395" y="7362"/>
                  </a:lnTo>
                  <a:lnTo>
                    <a:pt x="8210" y="7349"/>
                  </a:lnTo>
                  <a:lnTo>
                    <a:pt x="8025" y="7345"/>
                  </a:lnTo>
                  <a:lnTo>
                    <a:pt x="7839" y="7349"/>
                  </a:lnTo>
                  <a:lnTo>
                    <a:pt x="7655" y="7363"/>
                  </a:lnTo>
                  <a:lnTo>
                    <a:pt x="7470" y="7385"/>
                  </a:lnTo>
                  <a:lnTo>
                    <a:pt x="7287" y="7416"/>
                  </a:lnTo>
                  <a:lnTo>
                    <a:pt x="7105" y="7456"/>
                  </a:lnTo>
                  <a:lnTo>
                    <a:pt x="6926" y="7504"/>
                  </a:lnTo>
                  <a:lnTo>
                    <a:pt x="6747" y="7561"/>
                  </a:lnTo>
                  <a:lnTo>
                    <a:pt x="6571" y="7627"/>
                  </a:lnTo>
                  <a:lnTo>
                    <a:pt x="6399" y="7703"/>
                  </a:lnTo>
                  <a:lnTo>
                    <a:pt x="6229" y="7786"/>
                  </a:lnTo>
                  <a:lnTo>
                    <a:pt x="6063" y="7878"/>
                  </a:lnTo>
                  <a:lnTo>
                    <a:pt x="5900" y="7980"/>
                  </a:lnTo>
                  <a:lnTo>
                    <a:pt x="5742" y="8090"/>
                  </a:lnTo>
                  <a:lnTo>
                    <a:pt x="5588" y="8209"/>
                  </a:lnTo>
                  <a:lnTo>
                    <a:pt x="5440" y="8337"/>
                  </a:lnTo>
                  <a:lnTo>
                    <a:pt x="5297" y="8473"/>
                  </a:lnTo>
                  <a:lnTo>
                    <a:pt x="5271" y="8498"/>
                  </a:lnTo>
                  <a:lnTo>
                    <a:pt x="5246" y="8524"/>
                  </a:lnTo>
                  <a:lnTo>
                    <a:pt x="5222" y="8550"/>
                  </a:lnTo>
                  <a:lnTo>
                    <a:pt x="5198" y="8576"/>
                  </a:lnTo>
                  <a:lnTo>
                    <a:pt x="4123" y="7501"/>
                  </a:lnTo>
                  <a:lnTo>
                    <a:pt x="4147" y="7476"/>
                  </a:lnTo>
                  <a:lnTo>
                    <a:pt x="4172" y="7450"/>
                  </a:lnTo>
                  <a:lnTo>
                    <a:pt x="4197" y="7425"/>
                  </a:lnTo>
                  <a:lnTo>
                    <a:pt x="4222" y="7399"/>
                  </a:lnTo>
                  <a:lnTo>
                    <a:pt x="4422" y="7209"/>
                  </a:lnTo>
                  <a:lnTo>
                    <a:pt x="4629" y="7030"/>
                  </a:lnTo>
                  <a:lnTo>
                    <a:pt x="4843" y="6865"/>
                  </a:lnTo>
                  <a:lnTo>
                    <a:pt x="5064" y="6711"/>
                  </a:lnTo>
                  <a:lnTo>
                    <a:pt x="5290" y="6571"/>
                  </a:lnTo>
                  <a:lnTo>
                    <a:pt x="5522" y="6441"/>
                  </a:lnTo>
                  <a:lnTo>
                    <a:pt x="5758" y="6325"/>
                  </a:lnTo>
                  <a:lnTo>
                    <a:pt x="6000" y="6220"/>
                  </a:lnTo>
                  <a:lnTo>
                    <a:pt x="6243" y="6128"/>
                  </a:lnTo>
                  <a:lnTo>
                    <a:pt x="6492" y="6048"/>
                  </a:lnTo>
                  <a:lnTo>
                    <a:pt x="6743" y="5981"/>
                  </a:lnTo>
                  <a:lnTo>
                    <a:pt x="6997" y="5925"/>
                  </a:lnTo>
                  <a:lnTo>
                    <a:pt x="7252" y="5882"/>
                  </a:lnTo>
                  <a:lnTo>
                    <a:pt x="7508" y="5851"/>
                  </a:lnTo>
                  <a:lnTo>
                    <a:pt x="7766" y="5833"/>
                  </a:lnTo>
                  <a:lnTo>
                    <a:pt x="8025" y="5827"/>
                  </a:lnTo>
                  <a:lnTo>
                    <a:pt x="8283" y="5833"/>
                  </a:lnTo>
                  <a:lnTo>
                    <a:pt x="8541" y="5851"/>
                  </a:lnTo>
                  <a:lnTo>
                    <a:pt x="8797" y="5882"/>
                  </a:lnTo>
                  <a:lnTo>
                    <a:pt x="9053" y="5925"/>
                  </a:lnTo>
                  <a:lnTo>
                    <a:pt x="9306" y="5981"/>
                  </a:lnTo>
                  <a:lnTo>
                    <a:pt x="9557" y="6048"/>
                  </a:lnTo>
                  <a:lnTo>
                    <a:pt x="9806" y="6127"/>
                  </a:lnTo>
                  <a:lnTo>
                    <a:pt x="10050" y="6219"/>
                  </a:lnTo>
                  <a:lnTo>
                    <a:pt x="10291" y="6324"/>
                  </a:lnTo>
                  <a:lnTo>
                    <a:pt x="10528" y="6440"/>
                  </a:lnTo>
                  <a:lnTo>
                    <a:pt x="10760" y="6570"/>
                  </a:lnTo>
                  <a:lnTo>
                    <a:pt x="10985" y="6710"/>
                  </a:lnTo>
                  <a:lnTo>
                    <a:pt x="11206" y="6864"/>
                  </a:lnTo>
                  <a:lnTo>
                    <a:pt x="11421" y="7029"/>
                  </a:lnTo>
                  <a:lnTo>
                    <a:pt x="11627" y="7208"/>
                  </a:lnTo>
                  <a:lnTo>
                    <a:pt x="11828" y="7398"/>
                  </a:lnTo>
                  <a:lnTo>
                    <a:pt x="11853" y="7424"/>
                  </a:lnTo>
                  <a:lnTo>
                    <a:pt x="11878" y="7449"/>
                  </a:lnTo>
                  <a:lnTo>
                    <a:pt x="11903" y="7475"/>
                  </a:lnTo>
                  <a:lnTo>
                    <a:pt x="11928" y="7501"/>
                  </a:lnTo>
                  <a:close/>
                </a:path>
              </a:pathLst>
            </a:custGeom>
            <a:grpFill/>
            <a:ln w="9525">
              <a:noFill/>
              <a:round/>
              <a:headEnd/>
              <a:tailEnd/>
            </a:ln>
          </p:spPr>
          <p:txBody>
            <a:bodyPr/>
            <a:lstStyle/>
            <a:p>
              <a:pPr algn="ctr" eaLnBrk="1" fontAlgn="auto" hangingPunct="1">
                <a:spcBef>
                  <a:spcPts val="0"/>
                </a:spcBef>
                <a:spcAft>
                  <a:spcPts val="0"/>
                </a:spcAft>
                <a:defRPr/>
              </a:pPr>
              <a:endParaRPr lang="zh-CN" altLang="en-US" sz="1200" ker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11" name="图片 11" descr="开放网络-蓝.png"/>
          <p:cNvPicPr>
            <a:picLocks noChangeAspect="1"/>
          </p:cNvPicPr>
          <p:nvPr/>
        </p:nvPicPr>
        <p:blipFill>
          <a:blip r:embed="rId4" cstate="print"/>
          <a:stretch>
            <a:fillRect/>
          </a:stretch>
        </p:blipFill>
        <p:spPr bwMode="gray">
          <a:xfrm>
            <a:off x="4695953" y="5498732"/>
            <a:ext cx="333091" cy="256408"/>
          </a:xfrm>
          <a:prstGeom prst="rect">
            <a:avLst/>
          </a:prstGeom>
        </p:spPr>
      </p:pic>
      <p:pic>
        <p:nvPicPr>
          <p:cNvPr id="12" name="图片 11" descr="开放网络-蓝.png"/>
          <p:cNvPicPr>
            <a:picLocks noChangeAspect="1"/>
          </p:cNvPicPr>
          <p:nvPr/>
        </p:nvPicPr>
        <p:blipFill>
          <a:blip r:embed="rId4" cstate="print"/>
          <a:stretch>
            <a:fillRect/>
          </a:stretch>
        </p:blipFill>
        <p:spPr bwMode="gray">
          <a:xfrm>
            <a:off x="3738657" y="5498732"/>
            <a:ext cx="333091" cy="256408"/>
          </a:xfrm>
          <a:prstGeom prst="rect">
            <a:avLst/>
          </a:prstGeom>
        </p:spPr>
      </p:pic>
      <p:pic>
        <p:nvPicPr>
          <p:cNvPr id="13" name="图片 11" descr="开放网络-蓝.png"/>
          <p:cNvPicPr>
            <a:picLocks noChangeAspect="1"/>
          </p:cNvPicPr>
          <p:nvPr/>
        </p:nvPicPr>
        <p:blipFill>
          <a:blip r:embed="rId4" cstate="print"/>
          <a:stretch>
            <a:fillRect/>
          </a:stretch>
        </p:blipFill>
        <p:spPr bwMode="gray">
          <a:xfrm>
            <a:off x="870747" y="5498732"/>
            <a:ext cx="333091" cy="256408"/>
          </a:xfrm>
          <a:prstGeom prst="rect">
            <a:avLst/>
          </a:prstGeom>
        </p:spPr>
      </p:pic>
      <p:pic>
        <p:nvPicPr>
          <p:cNvPr id="14" name="图片 11" descr="开放网络-蓝.png"/>
          <p:cNvPicPr>
            <a:picLocks noChangeAspect="1"/>
          </p:cNvPicPr>
          <p:nvPr/>
        </p:nvPicPr>
        <p:blipFill>
          <a:blip r:embed="rId4" cstate="print"/>
          <a:stretch>
            <a:fillRect/>
          </a:stretch>
        </p:blipFill>
        <p:spPr bwMode="gray">
          <a:xfrm>
            <a:off x="1797039" y="5498732"/>
            <a:ext cx="333091" cy="256408"/>
          </a:xfrm>
          <a:prstGeom prst="rect">
            <a:avLst/>
          </a:prstGeom>
        </p:spPr>
      </p:pic>
      <p:sp>
        <p:nvSpPr>
          <p:cNvPr id="15" name="Freeform 159"/>
          <p:cNvSpPr/>
          <p:nvPr/>
        </p:nvSpPr>
        <p:spPr bwMode="gray">
          <a:xfrm flipH="1">
            <a:off x="2153378" y="1226714"/>
            <a:ext cx="997303" cy="52131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44000" rtlCol="0" anchor="ctr">
            <a:noAutofit/>
          </a:bodyPr>
          <a:lstStyle/>
          <a:p>
            <a:pPr algn="ctr"/>
            <a:r>
              <a:rPr 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cxnSp>
        <p:nvCxnSpPr>
          <p:cNvPr id="16" name="直接连接符 15"/>
          <p:cNvCxnSpPr/>
          <p:nvPr/>
        </p:nvCxnSpPr>
        <p:spPr bwMode="gray">
          <a:xfrm flipH="1">
            <a:off x="4036447" y="4985568"/>
            <a:ext cx="68169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bwMode="gray">
          <a:xfrm>
            <a:off x="3905204" y="4293755"/>
            <a:ext cx="0" cy="12049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Group 165"/>
          <p:cNvGrpSpPr/>
          <p:nvPr/>
        </p:nvGrpSpPr>
        <p:grpSpPr bwMode="gray">
          <a:xfrm rot="10800000">
            <a:off x="1474902" y="3378753"/>
            <a:ext cx="2358049" cy="863686"/>
            <a:chOff x="-1233037" y="914446"/>
            <a:chExt cx="1573823" cy="778776"/>
          </a:xfrm>
        </p:grpSpPr>
        <p:cxnSp>
          <p:nvCxnSpPr>
            <p:cNvPr id="19" name="Straight Connector 166"/>
            <p:cNvCxnSpPr/>
            <p:nvPr/>
          </p:nvCxnSpPr>
          <p:spPr bwMode="gray">
            <a:xfrm flipH="1" flipV="1">
              <a:off x="-1233037" y="914446"/>
              <a:ext cx="786912"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67"/>
            <p:cNvCxnSpPr/>
            <p:nvPr/>
          </p:nvCxnSpPr>
          <p:spPr bwMode="gray">
            <a:xfrm flipV="1">
              <a:off x="-446125" y="914446"/>
              <a:ext cx="786911" cy="77877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1" name="图片 105" descr="AP.png"/>
          <p:cNvPicPr>
            <a:picLocks noChangeAspect="1"/>
          </p:cNvPicPr>
          <p:nvPr/>
        </p:nvPicPr>
        <p:blipFill>
          <a:blip r:embed="rId5" cstate="print"/>
          <a:stretch>
            <a:fillRect/>
          </a:stretch>
        </p:blipFill>
        <p:spPr bwMode="gray">
          <a:xfrm>
            <a:off x="4679165" y="4839952"/>
            <a:ext cx="366667" cy="300001"/>
          </a:xfrm>
          <a:prstGeom prst="rect">
            <a:avLst/>
          </a:prstGeom>
        </p:spPr>
      </p:pic>
      <p:pic>
        <p:nvPicPr>
          <p:cNvPr id="22" name="图片 76" descr="接入交换机.png"/>
          <p:cNvPicPr>
            <a:picLocks noChangeAspect="1"/>
          </p:cNvPicPr>
          <p:nvPr/>
        </p:nvPicPr>
        <p:blipFill>
          <a:blip r:embed="rId6" cstate="print"/>
          <a:stretch>
            <a:fillRect/>
          </a:stretch>
        </p:blipFill>
        <p:spPr bwMode="gray">
          <a:xfrm>
            <a:off x="3721870" y="4858351"/>
            <a:ext cx="366667" cy="300001"/>
          </a:xfrm>
          <a:prstGeom prst="rect">
            <a:avLst/>
          </a:prstGeom>
        </p:spPr>
      </p:pic>
      <p:pic>
        <p:nvPicPr>
          <p:cNvPr id="23" name="图片 22" descr="汇聚交换机.png"/>
          <p:cNvPicPr>
            <a:picLocks noChangeAspect="1"/>
          </p:cNvPicPr>
          <p:nvPr/>
        </p:nvPicPr>
        <p:blipFill>
          <a:blip r:embed="rId7" cstate="print"/>
          <a:stretch>
            <a:fillRect/>
          </a:stretch>
        </p:blipFill>
        <p:spPr bwMode="gray">
          <a:xfrm>
            <a:off x="1350639" y="4166348"/>
            <a:ext cx="366667" cy="300001"/>
          </a:xfrm>
          <a:prstGeom prst="rect">
            <a:avLst/>
          </a:prstGeom>
        </p:spPr>
      </p:pic>
      <p:pic>
        <p:nvPicPr>
          <p:cNvPr id="24" name="图片 87" descr="汇聚交换机.png"/>
          <p:cNvPicPr>
            <a:picLocks noChangeAspect="1"/>
          </p:cNvPicPr>
          <p:nvPr/>
        </p:nvPicPr>
        <p:blipFill>
          <a:blip r:embed="rId7" cstate="print"/>
          <a:stretch>
            <a:fillRect/>
          </a:stretch>
        </p:blipFill>
        <p:spPr bwMode="gray">
          <a:xfrm>
            <a:off x="3726256" y="4166348"/>
            <a:ext cx="366667" cy="300001"/>
          </a:xfrm>
          <a:prstGeom prst="rect">
            <a:avLst/>
          </a:prstGeom>
        </p:spPr>
      </p:pic>
      <p:pic>
        <p:nvPicPr>
          <p:cNvPr id="25" name="图片 76" descr="接入交换机.png"/>
          <p:cNvPicPr>
            <a:picLocks noChangeAspect="1"/>
          </p:cNvPicPr>
          <p:nvPr/>
        </p:nvPicPr>
        <p:blipFill>
          <a:blip r:embed="rId6" cstate="print"/>
          <a:stretch>
            <a:fillRect/>
          </a:stretch>
        </p:blipFill>
        <p:spPr bwMode="gray">
          <a:xfrm>
            <a:off x="1346458" y="4868231"/>
            <a:ext cx="366667" cy="300001"/>
          </a:xfrm>
          <a:prstGeom prst="rect">
            <a:avLst/>
          </a:prstGeom>
        </p:spPr>
      </p:pic>
      <p:sp>
        <p:nvSpPr>
          <p:cNvPr id="26" name="文本框 25"/>
          <p:cNvSpPr txBox="1"/>
          <p:nvPr/>
        </p:nvSpPr>
        <p:spPr bwMode="gray">
          <a:xfrm>
            <a:off x="2313636" y="3616271"/>
            <a:ext cx="676788" cy="276999"/>
          </a:xfrm>
          <a:prstGeom prst="rect">
            <a:avLst/>
          </a:prstGeom>
          <a:noFill/>
        </p:spPr>
        <p:txBody>
          <a:bodyPr wrap="none" rtlCol="0">
            <a:spAutoFit/>
          </a:bodyPr>
          <a:lstStyle/>
          <a:p>
            <a:pPr algn="ctr"/>
            <a:r>
              <a:rPr lang="en-US" altLang="zh-CN" sz="1200" b="1">
                <a:latin typeface="Huawei Sans" panose="020C0503030203020204" pitchFamily="34" charset="0"/>
                <a:ea typeface="方正兰亭黑简体" panose="02000000000000000000" pitchFamily="2" charset="-122"/>
                <a:sym typeface="Huawei Sans" panose="020C0503030203020204" pitchFamily="34" charset="0"/>
              </a:rPr>
              <a:t>Border</a:t>
            </a:r>
          </a:p>
        </p:txBody>
      </p:sp>
      <p:pic>
        <p:nvPicPr>
          <p:cNvPr id="27" name="图片 86" descr="核心交换机.png"/>
          <p:cNvPicPr>
            <a:picLocks noChangeAspect="1"/>
          </p:cNvPicPr>
          <p:nvPr/>
        </p:nvPicPr>
        <p:blipFill>
          <a:blip r:embed="rId8" cstate="print"/>
          <a:stretch>
            <a:fillRect/>
          </a:stretch>
        </p:blipFill>
        <p:spPr bwMode="gray">
          <a:xfrm>
            <a:off x="2432095" y="3241184"/>
            <a:ext cx="443667" cy="363001"/>
          </a:xfrm>
          <a:prstGeom prst="rect">
            <a:avLst/>
          </a:prstGeom>
        </p:spPr>
      </p:pic>
      <p:sp>
        <p:nvSpPr>
          <p:cNvPr id="28" name="文本框 27"/>
          <p:cNvSpPr txBox="1"/>
          <p:nvPr/>
        </p:nvSpPr>
        <p:spPr bwMode="gray">
          <a:xfrm>
            <a:off x="4675114" y="4609382"/>
            <a:ext cx="383439" cy="276999"/>
          </a:xfrm>
          <a:prstGeom prst="rect">
            <a:avLst/>
          </a:prstGeom>
          <a:noFill/>
        </p:spPr>
        <p:txBody>
          <a:bodyPr wrap="none" rtlCol="0">
            <a:spAutoFit/>
          </a:bodyPr>
          <a:lstStyle/>
          <a:p>
            <a:pPr algn="r"/>
            <a:r>
              <a:rPr lang="en-US" altLang="zh-CN" sz="1200" b="1">
                <a:latin typeface="Huawei Sans" panose="020C0503030203020204" pitchFamily="34" charset="0"/>
                <a:ea typeface="方正兰亭黑简体" panose="02000000000000000000" pitchFamily="2" charset="-122"/>
                <a:sym typeface="Huawei Sans" panose="020C0503030203020204" pitchFamily="34" charset="0"/>
              </a:rPr>
              <a:t>AP</a:t>
            </a:r>
          </a:p>
        </p:txBody>
      </p:sp>
      <p:sp>
        <p:nvSpPr>
          <p:cNvPr id="29" name="梯形 28"/>
          <p:cNvSpPr/>
          <p:nvPr/>
        </p:nvSpPr>
        <p:spPr bwMode="gray">
          <a:xfrm>
            <a:off x="947167" y="3697158"/>
            <a:ext cx="4268893" cy="1724415"/>
          </a:xfrm>
          <a:prstGeom prst="trapezoid">
            <a:avLst>
              <a:gd name="adj" fmla="val 22961"/>
            </a:avLst>
          </a:prstGeom>
          <a:gradFill flip="none" rotWithShape="1">
            <a:gsLst>
              <a:gs pos="0">
                <a:schemeClr val="bg1">
                  <a:alpha val="0"/>
                </a:schemeClr>
              </a:gs>
              <a:gs pos="100000">
                <a:srgbClr val="92D050">
                  <a:alpha val="49000"/>
                </a:srgbClr>
              </a:gs>
            </a:gsLst>
            <a:lin ang="5400000" scaled="1"/>
            <a:tileRect/>
          </a:gradFill>
          <a:ln>
            <a:gradFill flip="none" rotWithShape="1">
              <a:gsLst>
                <a:gs pos="0">
                  <a:schemeClr val="accent1">
                    <a:lumMod val="5000"/>
                    <a:lumOff val="95000"/>
                    <a:alpha val="0"/>
                  </a:schemeClr>
                </a:gs>
                <a:gs pos="90000">
                  <a:srgbClr val="00B050"/>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p:cNvSpPr txBox="1"/>
          <p:nvPr/>
        </p:nvSpPr>
        <p:spPr bwMode="gray">
          <a:xfrm>
            <a:off x="738172" y="5751781"/>
            <a:ext cx="598241" cy="276999"/>
          </a:xfrm>
          <a:prstGeom prst="rect">
            <a:avLst/>
          </a:prstGeom>
          <a:noFill/>
        </p:spPr>
        <p:txBody>
          <a:bodyPr wrap="none" rtlCol="0">
            <a:spAutoFit/>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Host1</a:t>
            </a:r>
          </a:p>
        </p:txBody>
      </p:sp>
      <p:sp>
        <p:nvSpPr>
          <p:cNvPr id="33" name="文本框 32"/>
          <p:cNvSpPr txBox="1"/>
          <p:nvPr/>
        </p:nvSpPr>
        <p:spPr bwMode="gray">
          <a:xfrm>
            <a:off x="1664465" y="5751781"/>
            <a:ext cx="598241" cy="276999"/>
          </a:xfrm>
          <a:prstGeom prst="rect">
            <a:avLst/>
          </a:prstGeom>
          <a:noFill/>
        </p:spPr>
        <p:txBody>
          <a:bodyPr wrap="none" rtlCol="0">
            <a:spAutoFit/>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Host2</a:t>
            </a:r>
          </a:p>
        </p:txBody>
      </p:sp>
      <p:sp>
        <p:nvSpPr>
          <p:cNvPr id="34" name="文本框 33"/>
          <p:cNvSpPr txBox="1"/>
          <p:nvPr/>
        </p:nvSpPr>
        <p:spPr bwMode="gray">
          <a:xfrm>
            <a:off x="3597538" y="5751781"/>
            <a:ext cx="598241" cy="276999"/>
          </a:xfrm>
          <a:prstGeom prst="rect">
            <a:avLst/>
          </a:prstGeom>
          <a:noFill/>
        </p:spPr>
        <p:txBody>
          <a:bodyPr wrap="none" rtlCol="0">
            <a:spAutoFit/>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Host3</a:t>
            </a:r>
          </a:p>
        </p:txBody>
      </p:sp>
      <p:sp>
        <p:nvSpPr>
          <p:cNvPr id="35" name="文本框 34"/>
          <p:cNvSpPr txBox="1"/>
          <p:nvPr/>
        </p:nvSpPr>
        <p:spPr bwMode="gray">
          <a:xfrm>
            <a:off x="4563379" y="5751781"/>
            <a:ext cx="598241" cy="276999"/>
          </a:xfrm>
          <a:prstGeom prst="rect">
            <a:avLst/>
          </a:prstGeom>
          <a:noFill/>
        </p:spPr>
        <p:txBody>
          <a:bodyPr wrap="none" rtlCol="0">
            <a:spAutoFit/>
          </a:bodyPr>
          <a:lstStyle/>
          <a:p>
            <a:pPr algn="ctr"/>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Host4</a:t>
            </a:r>
          </a:p>
        </p:txBody>
      </p:sp>
      <p:sp>
        <p:nvSpPr>
          <p:cNvPr id="36" name="文本框 35"/>
          <p:cNvSpPr txBox="1"/>
          <p:nvPr/>
        </p:nvSpPr>
        <p:spPr bwMode="gray">
          <a:xfrm>
            <a:off x="2410886" y="4985568"/>
            <a:ext cx="646331" cy="276999"/>
          </a:xfrm>
          <a:prstGeom prst="rect">
            <a:avLst/>
          </a:prstGeom>
          <a:noFill/>
        </p:spPr>
        <p:txBody>
          <a:bodyPr wrap="none" rtlCol="0">
            <a:spAutoFit/>
          </a:bodyPr>
          <a:lstStyle/>
          <a:p>
            <a:pPr algn="ctr"/>
            <a:r>
              <a:rPr lang="zh-CN" altLang="en-US" sz="1200" b="1"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rPr>
              <a:t>办公网</a:t>
            </a:r>
            <a:endParaRPr lang="en-US" altLang="zh-CN" sz="1200" b="1"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9" name="图片 3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bwMode="gray">
          <a:xfrm>
            <a:off x="3838284" y="2841954"/>
            <a:ext cx="1346845" cy="248394"/>
          </a:xfrm>
          <a:prstGeom prst="rect">
            <a:avLst/>
          </a:prstGeom>
        </p:spPr>
      </p:pic>
      <p:sp>
        <p:nvSpPr>
          <p:cNvPr id="46" name="矩形 45"/>
          <p:cNvSpPr/>
          <p:nvPr/>
        </p:nvSpPr>
        <p:spPr bwMode="gray">
          <a:xfrm>
            <a:off x="7122897" y="1217535"/>
            <a:ext cx="3157153" cy="1643981"/>
          </a:xfrm>
          <a:prstGeom prst="rect">
            <a:avLst/>
          </a:prstGeom>
          <a:noFill/>
          <a:ln w="9525" cap="flat" cmpd="sng" algn="ctr">
            <a:noFill/>
            <a:prstDash val="solid"/>
            <a:miter lim="800000"/>
          </a:ln>
          <a:effectLst/>
        </p:spPr>
        <p:txBody>
          <a:bodyPr rot="0" spcFirstLastPara="0" vertOverflow="overflow" horzOverflow="overflow" vert="horz" wrap="square" lIns="108000" tIns="72000" rIns="72000" bIns="72000" numCol="1" spcCol="0" rtlCol="0" fromWordArt="0" anchor="ctr" anchorCtr="0" forceAA="0" compatLnSpc="1">
            <a:prstTxWarp prst="textNoShape">
              <a:avLst/>
            </a:prstTxWarp>
            <a:noAutofit/>
          </a:bodyPr>
          <a:lstStyle/>
          <a:p>
            <a:pPr>
              <a:lnSpc>
                <a:spcPts val="2400"/>
              </a:lnSpc>
            </a:pPr>
            <a:r>
              <a:rPr lang="en-US" altLang="zh-CN" sz="1400" b="1"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400" b="1"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设置</a:t>
            </a:r>
            <a:endParaRPr lang="en-US" altLang="zh-CN" sz="1400" b="1"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marL="179388" indent="-179388">
              <a:lnSpc>
                <a:spcPts val="2400"/>
              </a:lnSpc>
              <a:buFont typeface="Arial" panose="020B0604020202020204" pitchFamily="34" charset="0"/>
              <a:buChar char="•"/>
            </a:pPr>
            <a:r>
              <a:rPr lang="zh-CN" altLang="en-US" sz="14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用户网关位置</a:t>
            </a:r>
            <a:endParaRPr lang="en-US" altLang="zh-CN" sz="14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marL="179388" indent="-179388">
              <a:lnSpc>
                <a:spcPts val="2400"/>
              </a:lnSpc>
              <a:buFont typeface="Arial" panose="020B0604020202020204" pitchFamily="34" charset="0"/>
              <a:buChar char="•"/>
            </a:pPr>
            <a:r>
              <a:rPr lang="zh-CN" altLang="en-US" sz="14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外部网络</a:t>
            </a:r>
            <a:endParaRPr lang="en-US" altLang="zh-CN" sz="14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marL="179388" indent="-179388">
              <a:lnSpc>
                <a:spcPts val="2400"/>
              </a:lnSpc>
              <a:buFont typeface="Arial" panose="020B0604020202020204" pitchFamily="34" charset="0"/>
              <a:buChar char="•"/>
            </a:pPr>
            <a:r>
              <a:rPr lang="zh-CN" altLang="en-US" sz="14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网络服务资源</a:t>
            </a:r>
            <a:endParaRPr lang="en-US" altLang="zh-CN" sz="14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marL="179388" indent="-179388">
              <a:lnSpc>
                <a:spcPts val="2400"/>
              </a:lnSpc>
              <a:buFont typeface="Arial" panose="020B0604020202020204" pitchFamily="34" charset="0"/>
              <a:buChar char="•"/>
            </a:pPr>
            <a:r>
              <a:rPr lang="zh-CN" altLang="en-US" sz="14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用户子网及网关</a:t>
            </a:r>
            <a:endPar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矩形 48"/>
          <p:cNvSpPr/>
          <p:nvPr/>
        </p:nvSpPr>
        <p:spPr bwMode="gray">
          <a:xfrm>
            <a:off x="7122897" y="3229994"/>
            <a:ext cx="3157153" cy="1456426"/>
          </a:xfrm>
          <a:prstGeom prst="rect">
            <a:avLst/>
          </a:prstGeom>
          <a:noFill/>
          <a:ln w="9525" cap="flat" cmpd="sng" algn="ctr">
            <a:noFill/>
            <a:prstDash val="solid"/>
            <a:miter lim="800000"/>
          </a:ln>
          <a:effectLst/>
        </p:spPr>
        <p:txBody>
          <a:bodyPr rot="0" spcFirstLastPara="0" vertOverflow="overflow" horzOverflow="overflow" vert="horz" wrap="square" lIns="108000" tIns="72000" rIns="72000" bIns="72000" numCol="1" spcCol="0" rtlCol="0" fromWordArt="0" anchor="ctr" anchorCtr="0" forceAA="0" compatLnSpc="1">
            <a:prstTxWarp prst="textNoShape">
              <a:avLst/>
            </a:prstTxWarp>
            <a:noAutofit/>
          </a:bodyPr>
          <a:lstStyle/>
          <a:p>
            <a:pPr>
              <a:lnSpc>
                <a:spcPts val="2400"/>
              </a:lnSpc>
            </a:pPr>
            <a:r>
              <a:rPr lang="zh-CN" altLang="en-US" sz="1400" b="1"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有线接入</a:t>
            </a:r>
            <a:endParaRPr lang="en-US" altLang="zh-CN" sz="1400" b="1"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marL="179388" indent="-179388">
              <a:lnSpc>
                <a:spcPts val="2400"/>
              </a:lnSpc>
              <a:buFont typeface="Arial" panose="020B0604020202020204" pitchFamily="34" charset="0"/>
              <a:buChar char="•"/>
            </a:pP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接入站点、设备及端口</a:t>
            </a:r>
            <a:endPar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marL="179388" indent="-179388">
              <a:lnSpc>
                <a:spcPts val="2400"/>
              </a:lnSpc>
              <a:buFont typeface="Arial" panose="020B0604020202020204" pitchFamily="34" charset="0"/>
              <a:buChar char="•"/>
            </a:pP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认证方式</a:t>
            </a:r>
            <a:endPar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marL="179388" indent="-179388">
              <a:lnSpc>
                <a:spcPts val="2400"/>
              </a:lnSpc>
              <a:buFont typeface="Arial" panose="020B0604020202020204" pitchFamily="34" charset="0"/>
              <a:buChar char="•"/>
            </a:pP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信息</a:t>
            </a:r>
          </a:p>
        </p:txBody>
      </p:sp>
      <p:sp>
        <p:nvSpPr>
          <p:cNvPr id="52" name="矩形 51"/>
          <p:cNvSpPr/>
          <p:nvPr/>
        </p:nvSpPr>
        <p:spPr bwMode="gray">
          <a:xfrm>
            <a:off x="7122897" y="5061185"/>
            <a:ext cx="3157153" cy="1050669"/>
          </a:xfrm>
          <a:prstGeom prst="rect">
            <a:avLst/>
          </a:prstGeom>
          <a:noFill/>
          <a:ln w="9525" cap="flat" cmpd="sng" algn="ctr">
            <a:noFill/>
            <a:prstDash val="solid"/>
            <a:miter lim="800000"/>
          </a:ln>
          <a:effectLst/>
        </p:spPr>
        <p:txBody>
          <a:bodyPr rot="0" spcFirstLastPara="0" vertOverflow="overflow" horzOverflow="overflow" vert="horz" wrap="square" lIns="108000" tIns="72000" rIns="72000" bIns="72000" numCol="1" spcCol="0" rtlCol="0" fromWordArt="0" anchor="ctr" anchorCtr="0" forceAA="0" compatLnSpc="1">
            <a:prstTxWarp prst="textNoShape">
              <a:avLst/>
            </a:prstTxWarp>
            <a:noAutofit/>
          </a:bodyPr>
          <a:lstStyle/>
          <a:p>
            <a:pPr>
              <a:lnSpc>
                <a:spcPts val="2400"/>
              </a:lnSpc>
            </a:pPr>
            <a:r>
              <a:rPr lang="zh-CN" altLang="en-US" sz="1400" b="1"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无线接入</a:t>
            </a:r>
          </a:p>
          <a:p>
            <a:pPr marL="179388" indent="-179388">
              <a:lnSpc>
                <a:spcPts val="2400"/>
              </a:lnSpc>
              <a:buFont typeface="Arial" panose="020B0604020202020204" pitchFamily="34" charset="0"/>
              <a:buChar char="•"/>
            </a:pP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接入站点、设备</a:t>
            </a:r>
          </a:p>
        </p:txBody>
      </p:sp>
      <p:sp>
        <p:nvSpPr>
          <p:cNvPr id="56" name="Oval 4"/>
          <p:cNvSpPr>
            <a:spLocks noChangeAspect="1"/>
          </p:cNvSpPr>
          <p:nvPr/>
        </p:nvSpPr>
        <p:spPr bwMode="gray">
          <a:xfrm>
            <a:off x="6756473" y="1380227"/>
            <a:ext cx="252000" cy="252000"/>
          </a:xfrm>
          <a:prstGeom prst="ellipse">
            <a:avLst/>
          </a:prstGeom>
          <a:solidFill>
            <a:srgbClr val="56C4D2"/>
          </a:solidFill>
          <a:ln w="1270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Oval 4"/>
          <p:cNvSpPr>
            <a:spLocks noChangeAspect="1"/>
          </p:cNvSpPr>
          <p:nvPr/>
        </p:nvSpPr>
        <p:spPr bwMode="gray">
          <a:xfrm>
            <a:off x="6756473" y="3422684"/>
            <a:ext cx="252000" cy="252000"/>
          </a:xfrm>
          <a:prstGeom prst="ellipse">
            <a:avLst/>
          </a:prstGeom>
          <a:solidFill>
            <a:srgbClr val="56C4D2"/>
          </a:solidFill>
          <a:ln w="1270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Oval 4"/>
          <p:cNvSpPr>
            <a:spLocks noChangeAspect="1"/>
          </p:cNvSpPr>
          <p:nvPr/>
        </p:nvSpPr>
        <p:spPr bwMode="gray">
          <a:xfrm>
            <a:off x="6756473" y="5347351"/>
            <a:ext cx="252000" cy="252000"/>
          </a:xfrm>
          <a:prstGeom prst="ellipse">
            <a:avLst/>
          </a:prstGeom>
          <a:solidFill>
            <a:srgbClr val="56C4D2"/>
          </a:solidFill>
          <a:ln w="12700" cap="flat" cmpd="sng" algn="ctr">
            <a:noFill/>
            <a:prstDash val="solid"/>
            <a:miter lim="800000"/>
          </a:ln>
          <a:effectLst/>
        </p:spPr>
        <p:txBody>
          <a:bodyPr wrap="none" lIns="0" tIns="0" rIns="0" bIns="0"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3</a:t>
            </a:r>
            <a:endParaRPr kumimoji="0" lang="zh-CN" altLang="en-US" sz="14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45877052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8" name="直接连接符 27"/>
          <p:cNvCxnSpPr/>
          <p:nvPr/>
        </p:nvCxnSpPr>
        <p:spPr bwMode="gray">
          <a:xfrm>
            <a:off x="1694044" y="1811381"/>
            <a:ext cx="42853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圆角矩形 3"/>
          <p:cNvSpPr/>
          <p:nvPr/>
        </p:nvSpPr>
        <p:spPr bwMode="gray">
          <a:xfrm>
            <a:off x="731838" y="2739486"/>
            <a:ext cx="5364162" cy="1836992"/>
          </a:xfrm>
          <a:prstGeom prst="roundRect">
            <a:avLst>
              <a:gd name="adj" fmla="val 593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圆角矩形 31"/>
          <p:cNvSpPr/>
          <p:nvPr/>
        </p:nvSpPr>
        <p:spPr bwMode="gray">
          <a:xfrm>
            <a:off x="731838" y="4626835"/>
            <a:ext cx="2691096" cy="1573940"/>
          </a:xfrm>
          <a:prstGeom prst="roundRect">
            <a:avLst>
              <a:gd name="adj" fmla="val 593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圆角矩形 32"/>
          <p:cNvSpPr/>
          <p:nvPr/>
        </p:nvSpPr>
        <p:spPr bwMode="gray">
          <a:xfrm>
            <a:off x="3539018" y="4626835"/>
            <a:ext cx="2556982" cy="1573940"/>
          </a:xfrm>
          <a:prstGeom prst="roundRect">
            <a:avLst>
              <a:gd name="adj" fmla="val 593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a:sym typeface="Huawei Sans" panose="020C0503030203020204" pitchFamily="34" charset="0"/>
              </a:rPr>
              <a:t>典型案例分析：需求</a:t>
            </a:r>
          </a:p>
        </p:txBody>
      </p:sp>
      <p:pic>
        <p:nvPicPr>
          <p:cNvPr id="38" name="图片 87" descr="汇聚交换机.png"/>
          <p:cNvPicPr>
            <a:picLocks noChangeAspect="1"/>
          </p:cNvPicPr>
          <p:nvPr/>
        </p:nvPicPr>
        <p:blipFill>
          <a:blip r:embed="rId3"/>
          <a:stretch>
            <a:fillRect/>
          </a:stretch>
        </p:blipFill>
        <p:spPr bwMode="gray">
          <a:xfrm>
            <a:off x="1714886" y="4384562"/>
            <a:ext cx="491768" cy="402358"/>
          </a:xfrm>
          <a:prstGeom prst="rect">
            <a:avLst/>
          </a:prstGeom>
        </p:spPr>
      </p:pic>
      <p:pic>
        <p:nvPicPr>
          <p:cNvPr id="39"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bwMode="gray">
          <a:xfrm>
            <a:off x="2028939" y="1612698"/>
            <a:ext cx="491768" cy="402358"/>
          </a:xfrm>
          <a:prstGeom prst="rect">
            <a:avLst/>
          </a:prstGeom>
        </p:spPr>
      </p:pic>
      <p:pic>
        <p:nvPicPr>
          <p:cNvPr id="40" name="图片 86" descr="核心交换机.png"/>
          <p:cNvPicPr>
            <a:picLocks noChangeAspect="1"/>
          </p:cNvPicPr>
          <p:nvPr/>
        </p:nvPicPr>
        <p:blipFill>
          <a:blip r:embed="rId5"/>
          <a:stretch>
            <a:fillRect/>
          </a:stretch>
        </p:blipFill>
        <p:spPr bwMode="gray">
          <a:xfrm>
            <a:off x="3238125" y="2437330"/>
            <a:ext cx="491768" cy="402358"/>
          </a:xfrm>
          <a:prstGeom prst="rect">
            <a:avLst/>
          </a:prstGeom>
        </p:spPr>
      </p:pic>
      <p:pic>
        <p:nvPicPr>
          <p:cNvPr id="42" name="图片 11" descr="开放网络-蓝.png"/>
          <p:cNvPicPr>
            <a:picLocks noChangeAspect="1"/>
          </p:cNvPicPr>
          <p:nvPr/>
        </p:nvPicPr>
        <p:blipFill>
          <a:blip r:embed="rId6" cstate="print"/>
          <a:stretch>
            <a:fillRect/>
          </a:stretch>
        </p:blipFill>
        <p:spPr bwMode="gray">
          <a:xfrm>
            <a:off x="1060627" y="5167195"/>
            <a:ext cx="443344" cy="341279"/>
          </a:xfrm>
          <a:prstGeom prst="rect">
            <a:avLst/>
          </a:prstGeom>
        </p:spPr>
      </p:pic>
      <p:pic>
        <p:nvPicPr>
          <p:cNvPr id="43" name="图片 11" descr="开放网络-蓝.png"/>
          <p:cNvPicPr>
            <a:picLocks noChangeAspect="1"/>
          </p:cNvPicPr>
          <p:nvPr/>
        </p:nvPicPr>
        <p:blipFill>
          <a:blip r:embed="rId6" cstate="print"/>
          <a:stretch>
            <a:fillRect/>
          </a:stretch>
        </p:blipFill>
        <p:spPr bwMode="gray">
          <a:xfrm>
            <a:off x="2595650" y="5167195"/>
            <a:ext cx="443344" cy="341279"/>
          </a:xfrm>
          <a:prstGeom prst="rect">
            <a:avLst/>
          </a:prstGeom>
        </p:spPr>
      </p:pic>
      <p:sp>
        <p:nvSpPr>
          <p:cNvPr id="44" name="文本框 43"/>
          <p:cNvSpPr txBox="1"/>
          <p:nvPr/>
        </p:nvSpPr>
        <p:spPr bwMode="gray">
          <a:xfrm>
            <a:off x="830893" y="5576208"/>
            <a:ext cx="902811" cy="307777"/>
          </a:xfrm>
          <a:prstGeom prst="rect">
            <a:avLst/>
          </a:prstGeom>
          <a:noFill/>
        </p:spPr>
        <p:txBody>
          <a:bodyPr wrap="none" rtlCol="0">
            <a:spAutoFit/>
          </a:bodyPr>
          <a:lstStyle/>
          <a:p>
            <a:pPr algn="ctr"/>
            <a:r>
              <a:rPr lang="zh-CN" altLang="en-US" sz="1400" dirty="0">
                <a:solidFill>
                  <a:srgbClr val="62B230"/>
                </a:solidFill>
                <a:latin typeface="Huawei Sans" panose="020C0503030203020204" pitchFamily="34" charset="0"/>
                <a:ea typeface="方正兰亭黑简体" panose="02000000000000000000" pitchFamily="2" charset="-122"/>
                <a:sym typeface="Huawei Sans" panose="020C0503030203020204" pitchFamily="34" charset="0"/>
              </a:rPr>
              <a:t>销售员工</a:t>
            </a:r>
            <a:endParaRPr lang="en-US" altLang="zh-CN" sz="1400" dirty="0">
              <a:solidFill>
                <a:srgbClr val="62B23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文本框 44"/>
          <p:cNvSpPr txBox="1"/>
          <p:nvPr/>
        </p:nvSpPr>
        <p:spPr bwMode="gray">
          <a:xfrm>
            <a:off x="2365917" y="5576208"/>
            <a:ext cx="902811" cy="307777"/>
          </a:xfrm>
          <a:prstGeom prst="rect">
            <a:avLst/>
          </a:prstGeom>
          <a:noFill/>
        </p:spPr>
        <p:txBody>
          <a:bodyPr wrap="none" rtlCol="0">
            <a:spAutoFit/>
          </a:bodyPr>
          <a:lstStyle/>
          <a:p>
            <a:pPr algn="ctr"/>
            <a:r>
              <a:rPr lang="zh-CN" altLang="en-US"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研发员工</a:t>
            </a:r>
            <a:endParaRPr lang="en-US" altLang="zh-CN" sz="1400" dirty="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9" name="图片 4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4387876" y="2376150"/>
            <a:ext cx="1673180" cy="308578"/>
          </a:xfrm>
          <a:prstGeom prst="rect">
            <a:avLst/>
          </a:prstGeom>
        </p:spPr>
      </p:pic>
      <p:pic>
        <p:nvPicPr>
          <p:cNvPr id="54" name="图片 87" descr="汇聚交换机.png"/>
          <p:cNvPicPr>
            <a:picLocks noChangeAspect="1"/>
          </p:cNvPicPr>
          <p:nvPr/>
        </p:nvPicPr>
        <p:blipFill>
          <a:blip r:embed="rId3"/>
          <a:stretch>
            <a:fillRect/>
          </a:stretch>
        </p:blipFill>
        <p:spPr bwMode="gray">
          <a:xfrm>
            <a:off x="4755298" y="4384562"/>
            <a:ext cx="491768" cy="402358"/>
          </a:xfrm>
          <a:prstGeom prst="rect">
            <a:avLst/>
          </a:prstGeom>
        </p:spPr>
      </p:pic>
      <p:pic>
        <p:nvPicPr>
          <p:cNvPr id="55" name="图片 11" descr="开放网络-蓝.png"/>
          <p:cNvPicPr>
            <a:picLocks noChangeAspect="1"/>
          </p:cNvPicPr>
          <p:nvPr/>
        </p:nvPicPr>
        <p:blipFill>
          <a:blip r:embed="rId6" cstate="print"/>
          <a:stretch>
            <a:fillRect/>
          </a:stretch>
        </p:blipFill>
        <p:spPr bwMode="gray">
          <a:xfrm>
            <a:off x="3922958" y="5167195"/>
            <a:ext cx="443344" cy="341279"/>
          </a:xfrm>
          <a:prstGeom prst="rect">
            <a:avLst/>
          </a:prstGeom>
        </p:spPr>
      </p:pic>
      <p:pic>
        <p:nvPicPr>
          <p:cNvPr id="56" name="图片 11" descr="开放网络-蓝.png"/>
          <p:cNvPicPr>
            <a:picLocks noChangeAspect="1"/>
          </p:cNvPicPr>
          <p:nvPr/>
        </p:nvPicPr>
        <p:blipFill>
          <a:blip r:embed="rId6" cstate="print"/>
          <a:stretch>
            <a:fillRect/>
          </a:stretch>
        </p:blipFill>
        <p:spPr bwMode="gray">
          <a:xfrm>
            <a:off x="5476799" y="5167195"/>
            <a:ext cx="443344" cy="341279"/>
          </a:xfrm>
          <a:prstGeom prst="rect">
            <a:avLst/>
          </a:prstGeom>
        </p:spPr>
      </p:pic>
      <p:sp>
        <p:nvSpPr>
          <p:cNvPr id="57" name="文本框 56"/>
          <p:cNvSpPr txBox="1"/>
          <p:nvPr/>
        </p:nvSpPr>
        <p:spPr bwMode="gray">
          <a:xfrm>
            <a:off x="3693225" y="5576208"/>
            <a:ext cx="902811" cy="307777"/>
          </a:xfrm>
          <a:prstGeom prst="rect">
            <a:avLst/>
          </a:prstGeom>
          <a:noFill/>
        </p:spPr>
        <p:txBody>
          <a:bodyPr wrap="none" rtlCol="0">
            <a:spAutoFit/>
          </a:bodyPr>
          <a:lstStyle/>
          <a:p>
            <a:pPr algn="ctr"/>
            <a:r>
              <a:rPr lang="zh-CN" altLang="en-US" sz="1400" dirty="0">
                <a:solidFill>
                  <a:srgbClr val="62B230"/>
                </a:solidFill>
                <a:latin typeface="Huawei Sans" panose="020C0503030203020204" pitchFamily="34" charset="0"/>
                <a:ea typeface="方正兰亭黑简体" panose="02000000000000000000" pitchFamily="2" charset="-122"/>
                <a:sym typeface="Huawei Sans" panose="020C0503030203020204" pitchFamily="34" charset="0"/>
              </a:rPr>
              <a:t>销售员工</a:t>
            </a:r>
            <a:endParaRPr lang="en-US" altLang="zh-CN" sz="1400" dirty="0">
              <a:solidFill>
                <a:srgbClr val="62B23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文本框 57"/>
          <p:cNvSpPr txBox="1"/>
          <p:nvPr/>
        </p:nvSpPr>
        <p:spPr bwMode="gray">
          <a:xfrm>
            <a:off x="5247066" y="5576208"/>
            <a:ext cx="902811" cy="307777"/>
          </a:xfrm>
          <a:prstGeom prst="rect">
            <a:avLst/>
          </a:prstGeom>
          <a:noFill/>
        </p:spPr>
        <p:txBody>
          <a:bodyPr wrap="none" rtlCol="0">
            <a:spAutoFit/>
          </a:bodyPr>
          <a:lstStyle/>
          <a:p>
            <a:pPr algn="ctr"/>
            <a:r>
              <a:rPr lang="zh-CN" altLang="en-US" sz="140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rPr>
              <a:t>研发员工</a:t>
            </a:r>
            <a:endParaRPr lang="en-US" altLang="zh-CN" sz="1400">
              <a:solidFill>
                <a:srgbClr val="ED6D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文本框 26"/>
          <p:cNvSpPr txBox="1"/>
          <p:nvPr/>
        </p:nvSpPr>
        <p:spPr bwMode="gray">
          <a:xfrm>
            <a:off x="2047838" y="1254564"/>
            <a:ext cx="453970"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FW</a:t>
            </a:r>
            <a:endParaRPr lang="en-US" altLang="zh-CN" sz="1400">
              <a:solidFill>
                <a:srgbClr val="F085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文本框 2"/>
          <p:cNvSpPr txBox="1"/>
          <p:nvPr/>
        </p:nvSpPr>
        <p:spPr bwMode="gray">
          <a:xfrm>
            <a:off x="6459240" y="1293032"/>
            <a:ext cx="5000923" cy="1169551"/>
          </a:xfrm>
          <a:prstGeom prst="rect">
            <a:avLst/>
          </a:prstGeom>
          <a:noFill/>
        </p:spPr>
        <p:txBody>
          <a:bodyPr wrap="square" rtlCol="0">
            <a:spAutoFit/>
          </a:bodyPr>
          <a:lstStyle/>
          <a:p>
            <a:pPr>
              <a:lnSpc>
                <a:spcPts val="2400"/>
              </a:lnSpc>
              <a:spcAft>
                <a:spcPts val="600"/>
              </a:spcAft>
            </a:pP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需求：</a:t>
            </a:r>
            <a:endPar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spcAft>
                <a:spcPts val="600"/>
              </a:spcAft>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基于物理网络构建一个</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spcAft>
                <a:spcPts val="600"/>
              </a:spcAft>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采用分布式网关方案。</a:t>
            </a:r>
          </a:p>
        </p:txBody>
      </p:sp>
      <p:sp>
        <p:nvSpPr>
          <p:cNvPr id="34" name="文本框 33"/>
          <p:cNvSpPr txBox="1"/>
          <p:nvPr/>
        </p:nvSpPr>
        <p:spPr bwMode="gray">
          <a:xfrm>
            <a:off x="6459240" y="2830471"/>
            <a:ext cx="5000923" cy="2246769"/>
          </a:xfrm>
          <a:prstGeom prst="rect">
            <a:avLst/>
          </a:prstGeom>
          <a:noFill/>
        </p:spPr>
        <p:txBody>
          <a:bodyPr wrap="square" rtlCol="0">
            <a:spAutoFit/>
          </a:bodyPr>
          <a:lstStyle/>
          <a:p>
            <a:pPr>
              <a:lnSpc>
                <a:spcPts val="2400"/>
              </a:lnSpc>
              <a:spcAft>
                <a:spcPts val="600"/>
              </a:spcAft>
            </a:pP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需求：</a:t>
            </a:r>
            <a:endPar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spcAft>
                <a:spcPts val="600"/>
              </a:spcAft>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创建</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个</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，分别为办公（</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OA</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）及研发（</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RD</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spcAft>
                <a:spcPts val="600"/>
              </a:spcAft>
              <a:buFont typeface="Arial" panose="020B0604020202020204" pitchFamily="34" charset="0"/>
              <a:buChar char="•"/>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缺省时，</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个</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完全隔离，</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内可实现同子网、跨子网互访。</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spcAft>
                <a:spcPts val="600"/>
              </a:spcAft>
              <a:buFont typeface="Arial" panose="020B0604020202020204" pitchFamily="34" charset="0"/>
              <a:buChar char="•"/>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个</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均可访问</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FW</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所连接的外部网络。</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nSpc>
                <a:spcPts val="2400"/>
              </a:lnSpc>
              <a:spcAft>
                <a:spcPts val="600"/>
              </a:spcAft>
              <a:buFont typeface="Arial" panose="020B0604020202020204" pitchFamily="34" charset="0"/>
              <a:buChar char="•"/>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个</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内的终端均可通过</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DHCP Server</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获取</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3" name="图片 72" descr="交换机.png"/>
          <p:cNvPicPr>
            <a:picLocks noChangeAspect="1"/>
          </p:cNvPicPr>
          <p:nvPr/>
        </p:nvPicPr>
        <p:blipFill>
          <a:blip r:embed="rId8" cstate="print"/>
          <a:stretch>
            <a:fillRect/>
          </a:stretch>
        </p:blipFill>
        <p:spPr bwMode="gray">
          <a:xfrm>
            <a:off x="4756543" y="1613405"/>
            <a:ext cx="489285" cy="401651"/>
          </a:xfrm>
          <a:prstGeom prst="rect">
            <a:avLst/>
          </a:prstGeom>
        </p:spPr>
      </p:pic>
      <p:sp>
        <p:nvSpPr>
          <p:cNvPr id="64" name="文本框 63"/>
          <p:cNvSpPr txBox="1"/>
          <p:nvPr/>
        </p:nvSpPr>
        <p:spPr bwMode="gray">
          <a:xfrm>
            <a:off x="4387876" y="1254564"/>
            <a:ext cx="1226619"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DHCP Server</a:t>
            </a:r>
            <a:endParaRPr lang="en-US" altLang="zh-CN" sz="1400">
              <a:solidFill>
                <a:srgbClr val="F085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5" name="图片 87" descr="汇聚交换机.png"/>
          <p:cNvPicPr>
            <a:picLocks noChangeAspect="1"/>
          </p:cNvPicPr>
          <p:nvPr/>
        </p:nvPicPr>
        <p:blipFill>
          <a:blip r:embed="rId3">
            <a:duotone>
              <a:schemeClr val="accent3">
                <a:shade val="45000"/>
                <a:satMod val="135000"/>
              </a:schemeClr>
              <a:prstClr val="white"/>
            </a:duotone>
          </a:blip>
          <a:stretch>
            <a:fillRect/>
          </a:stretch>
        </p:blipFill>
        <p:spPr bwMode="gray">
          <a:xfrm>
            <a:off x="1714886" y="3457729"/>
            <a:ext cx="491768" cy="402358"/>
          </a:xfrm>
          <a:prstGeom prst="rect">
            <a:avLst/>
          </a:prstGeom>
        </p:spPr>
      </p:pic>
      <p:pic>
        <p:nvPicPr>
          <p:cNvPr id="66" name="图片 87" descr="汇聚交换机.png"/>
          <p:cNvPicPr>
            <a:picLocks noChangeAspect="1"/>
          </p:cNvPicPr>
          <p:nvPr/>
        </p:nvPicPr>
        <p:blipFill>
          <a:blip r:embed="rId3">
            <a:duotone>
              <a:schemeClr val="accent3">
                <a:shade val="45000"/>
                <a:satMod val="135000"/>
              </a:schemeClr>
              <a:prstClr val="white"/>
            </a:duotone>
          </a:blip>
          <a:stretch>
            <a:fillRect/>
          </a:stretch>
        </p:blipFill>
        <p:spPr bwMode="gray">
          <a:xfrm>
            <a:off x="4755298" y="3457729"/>
            <a:ext cx="491768" cy="402358"/>
          </a:xfrm>
          <a:prstGeom prst="rect">
            <a:avLst/>
          </a:prstGeom>
        </p:spPr>
      </p:pic>
      <p:sp>
        <p:nvSpPr>
          <p:cNvPr id="26" name="Freeform 159"/>
          <p:cNvSpPr/>
          <p:nvPr/>
        </p:nvSpPr>
        <p:spPr bwMode="gray">
          <a:xfrm flipH="1">
            <a:off x="844135" y="1539644"/>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spTree>
    <p:extLst>
      <p:ext uri="{BB962C8B-B14F-4D97-AF65-F5344CB8AC3E}">
        <p14:creationId xmlns:p14="http://schemas.microsoft.com/office/powerpoint/2010/main" val="144086744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1" name="直接连接符 30"/>
          <p:cNvCxnSpPr/>
          <p:nvPr/>
        </p:nvCxnSpPr>
        <p:spPr bwMode="gray">
          <a:xfrm>
            <a:off x="1625875" y="1811381"/>
            <a:ext cx="42853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Freeform 159"/>
          <p:cNvSpPr/>
          <p:nvPr/>
        </p:nvSpPr>
        <p:spPr bwMode="gray">
          <a:xfrm flipH="1">
            <a:off x="775966" y="1539644"/>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sp>
        <p:nvSpPr>
          <p:cNvPr id="2" name="标题 1"/>
          <p:cNvSpPr>
            <a:spLocks noGrp="1"/>
          </p:cNvSpPr>
          <p:nvPr>
            <p:ph type="title"/>
          </p:nvPr>
        </p:nvSpPr>
        <p:spPr bwMode="gray"/>
        <p:txBody>
          <a:bodyPr/>
          <a:lstStyle/>
          <a:p>
            <a:r>
              <a:rPr lang="zh-CN" altLang="en-US">
                <a:sym typeface="Huawei Sans" panose="020C0503030203020204" pitchFamily="34" charset="0"/>
              </a:rPr>
              <a:t>典型案例分析：</a:t>
            </a:r>
            <a:r>
              <a:rPr lang="en-US" altLang="zh-CN">
                <a:sym typeface="Huawei Sans" panose="020C0503030203020204" pitchFamily="34" charset="0"/>
              </a:rPr>
              <a:t>Fabric</a:t>
            </a:r>
            <a:r>
              <a:rPr lang="zh-CN" altLang="en-US">
                <a:sym typeface="Huawei Sans" panose="020C0503030203020204" pitchFamily="34" charset="0"/>
              </a:rPr>
              <a:t>管理 </a:t>
            </a:r>
            <a:r>
              <a:rPr lang="en-US" altLang="zh-CN">
                <a:sym typeface="Huawei Sans" panose="020C0503030203020204" pitchFamily="34" charset="0"/>
              </a:rPr>
              <a:t>(1)</a:t>
            </a:r>
            <a:endParaRPr lang="zh-CN" altLang="en-US" dirty="0">
              <a:sym typeface="Huawei Sans" panose="020C0503030203020204" pitchFamily="34" charset="0"/>
            </a:endParaRPr>
          </a:p>
        </p:txBody>
      </p:sp>
      <p:sp>
        <p:nvSpPr>
          <p:cNvPr id="27" name="圆角矩形 26"/>
          <p:cNvSpPr/>
          <p:nvPr/>
        </p:nvSpPr>
        <p:spPr bwMode="gray">
          <a:xfrm>
            <a:off x="731838" y="2739486"/>
            <a:ext cx="5364162" cy="1836992"/>
          </a:xfrm>
          <a:prstGeom prst="roundRect">
            <a:avLst>
              <a:gd name="adj" fmla="val 593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0" name="图片 87" descr="汇聚交换机.png"/>
          <p:cNvPicPr>
            <a:picLocks noChangeAspect="1"/>
          </p:cNvPicPr>
          <p:nvPr/>
        </p:nvPicPr>
        <p:blipFill>
          <a:blip r:embed="rId3"/>
          <a:stretch>
            <a:fillRect/>
          </a:stretch>
        </p:blipFill>
        <p:spPr bwMode="gray">
          <a:xfrm>
            <a:off x="1714886" y="4384562"/>
            <a:ext cx="491768" cy="402358"/>
          </a:xfrm>
          <a:prstGeom prst="rect">
            <a:avLst/>
          </a:prstGeom>
        </p:spPr>
      </p:pic>
      <p:pic>
        <p:nvPicPr>
          <p:cNvPr id="32" name="图片 86" descr="核心交换机.png"/>
          <p:cNvPicPr>
            <a:picLocks noChangeAspect="1"/>
          </p:cNvPicPr>
          <p:nvPr/>
        </p:nvPicPr>
        <p:blipFill>
          <a:blip r:embed="rId4"/>
          <a:stretch>
            <a:fillRect/>
          </a:stretch>
        </p:blipFill>
        <p:spPr bwMode="gray">
          <a:xfrm>
            <a:off x="3349070" y="2437330"/>
            <a:ext cx="491768" cy="402358"/>
          </a:xfrm>
          <a:prstGeom prst="rect">
            <a:avLst/>
          </a:prstGeom>
        </p:spPr>
      </p:pic>
      <p:pic>
        <p:nvPicPr>
          <p:cNvPr id="62" name="图片 87" descr="汇聚交换机.png"/>
          <p:cNvPicPr>
            <a:picLocks noChangeAspect="1"/>
          </p:cNvPicPr>
          <p:nvPr/>
        </p:nvPicPr>
        <p:blipFill>
          <a:blip r:embed="rId3"/>
          <a:stretch>
            <a:fillRect/>
          </a:stretch>
        </p:blipFill>
        <p:spPr bwMode="gray">
          <a:xfrm>
            <a:off x="4755298" y="4384562"/>
            <a:ext cx="491768" cy="402358"/>
          </a:xfrm>
          <a:prstGeom prst="rect">
            <a:avLst/>
          </a:prstGeom>
        </p:spPr>
      </p:pic>
      <p:sp>
        <p:nvSpPr>
          <p:cNvPr id="20" name="文本框 19"/>
          <p:cNvSpPr txBox="1"/>
          <p:nvPr/>
        </p:nvSpPr>
        <p:spPr bwMode="gray">
          <a:xfrm>
            <a:off x="1669664" y="4835952"/>
            <a:ext cx="582211"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Edge</a:t>
            </a:r>
          </a:p>
        </p:txBody>
      </p:sp>
      <p:sp>
        <p:nvSpPr>
          <p:cNvPr id="21" name="文本框 20"/>
          <p:cNvSpPr txBox="1"/>
          <p:nvPr/>
        </p:nvSpPr>
        <p:spPr bwMode="gray">
          <a:xfrm>
            <a:off x="4711567" y="4835952"/>
            <a:ext cx="582211"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Edge</a:t>
            </a:r>
          </a:p>
        </p:txBody>
      </p:sp>
      <p:sp>
        <p:nvSpPr>
          <p:cNvPr id="22" name="文本框 21"/>
          <p:cNvSpPr txBox="1"/>
          <p:nvPr/>
        </p:nvSpPr>
        <p:spPr bwMode="gray">
          <a:xfrm>
            <a:off x="3223699" y="2862474"/>
            <a:ext cx="728084"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Border</a:t>
            </a:r>
          </a:p>
        </p:txBody>
      </p:sp>
      <p:sp>
        <p:nvSpPr>
          <p:cNvPr id="23" name="文本框 22"/>
          <p:cNvSpPr txBox="1"/>
          <p:nvPr/>
        </p:nvSpPr>
        <p:spPr bwMode="gray">
          <a:xfrm>
            <a:off x="6322029" y="1539644"/>
            <a:ext cx="5329795" cy="3554819"/>
          </a:xfrm>
          <a:prstGeom prst="rect">
            <a:avLst/>
          </a:prstGeom>
          <a:noFill/>
        </p:spPr>
        <p:txBody>
          <a:bodyPr wrap="square" rtlCol="0">
            <a:spAutoFit/>
          </a:bodyPr>
          <a:lstStyle/>
          <a:p>
            <a:pPr>
              <a:lnSpc>
                <a:spcPts val="2400"/>
              </a:lnSpc>
              <a:spcAft>
                <a:spcPts val="600"/>
              </a:spcAft>
            </a:pP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创建及配置：</a:t>
            </a:r>
            <a:endPar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nSpc>
                <a:spcPts val="2400"/>
              </a:lnSpc>
              <a:spcAft>
                <a:spcPts val="600"/>
              </a:spcAft>
              <a:buFont typeface="+mj-ea"/>
              <a:buAutoNum type="circleNumDbPlain"/>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用户根据业务需求，将物理设备（核心交换机、汇聚交换机及接入交换机）添加到</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中。</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nSpc>
                <a:spcPts val="2400"/>
              </a:lnSpc>
              <a:spcAft>
                <a:spcPts val="600"/>
              </a:spcAft>
              <a:buFont typeface="+mj-ea"/>
              <a:buAutoNum type="circleNumDbPlain"/>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用户指定交换机的角色：</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节点及</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Edge</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节点。</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nSpc>
                <a:spcPts val="2400"/>
              </a:lnSpc>
              <a:spcAft>
                <a:spcPts val="600"/>
              </a:spcAft>
              <a:buFont typeface="+mj-ea"/>
              <a:buAutoNum type="circleNumDbPlain"/>
            </a:pP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自动将</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指定为</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，优化网络逻辑架构、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对等体关系模型。</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nSpc>
                <a:spcPts val="2400"/>
              </a:lnSpc>
              <a:spcAft>
                <a:spcPts val="600"/>
              </a:spcAft>
              <a:buFont typeface="+mj-ea"/>
              <a:buAutoNum type="circleNumDbPlain"/>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用户预定义</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个“外部网络”，用于供</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个</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到达外部网络。</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nSpc>
                <a:spcPts val="2400"/>
              </a:lnSpc>
              <a:spcAft>
                <a:spcPts val="600"/>
              </a:spcAft>
              <a:buFont typeface="+mj-ea"/>
              <a:buAutoNum type="circleNumDbPlain"/>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用户定义</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个“网络服务资源”，用于后续终端通过该资源（中的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DHCP Server</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）获取</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4" name="图片 87" descr="汇聚交换机.png"/>
          <p:cNvPicPr>
            <a:picLocks noChangeAspect="1"/>
          </p:cNvPicPr>
          <p:nvPr/>
        </p:nvPicPr>
        <p:blipFill>
          <a:blip r:embed="rId3">
            <a:duotone>
              <a:schemeClr val="accent3">
                <a:shade val="45000"/>
                <a:satMod val="135000"/>
              </a:schemeClr>
              <a:prstClr val="white"/>
            </a:duotone>
          </a:blip>
          <a:stretch>
            <a:fillRect/>
          </a:stretch>
        </p:blipFill>
        <p:spPr bwMode="gray">
          <a:xfrm>
            <a:off x="1714886" y="3457729"/>
            <a:ext cx="491768" cy="402358"/>
          </a:xfrm>
          <a:prstGeom prst="rect">
            <a:avLst/>
          </a:prstGeom>
        </p:spPr>
      </p:pic>
      <p:pic>
        <p:nvPicPr>
          <p:cNvPr id="25" name="图片 87" descr="汇聚交换机.png"/>
          <p:cNvPicPr>
            <a:picLocks noChangeAspect="1"/>
          </p:cNvPicPr>
          <p:nvPr/>
        </p:nvPicPr>
        <p:blipFill>
          <a:blip r:embed="rId3">
            <a:duotone>
              <a:schemeClr val="accent3">
                <a:shade val="45000"/>
                <a:satMod val="135000"/>
              </a:schemeClr>
              <a:prstClr val="white"/>
            </a:duotone>
          </a:blip>
          <a:stretch>
            <a:fillRect/>
          </a:stretch>
        </p:blipFill>
        <p:spPr bwMode="gray">
          <a:xfrm>
            <a:off x="4755298" y="3457729"/>
            <a:ext cx="491768" cy="402358"/>
          </a:xfrm>
          <a:prstGeom prst="rect">
            <a:avLst/>
          </a:prstGeom>
        </p:spPr>
      </p:pic>
      <p:pic>
        <p:nvPicPr>
          <p:cNvPr id="37" name="图片 9"/>
          <p:cNvPicPr>
            <a:picLocks noChangeAspect="1"/>
          </p:cNvPicPr>
          <p:nvPr/>
        </p:nvPicPr>
        <p:blipFill>
          <a:blip r:embed="rId5">
            <a:extLst>
              <a:ext uri="{28A0092B-C50C-407E-A947-70E740481C1C}">
                <a14:useLocalDpi xmlns:a14="http://schemas.microsoft.com/office/drawing/2010/main" val="0"/>
              </a:ext>
            </a:extLst>
          </a:blip>
          <a:stretch>
            <a:fillRect/>
          </a:stretch>
        </p:blipFill>
        <p:spPr bwMode="gray">
          <a:xfrm>
            <a:off x="1960770" y="1612698"/>
            <a:ext cx="491768" cy="402358"/>
          </a:xfrm>
          <a:prstGeom prst="rect">
            <a:avLst/>
          </a:prstGeom>
        </p:spPr>
      </p:pic>
      <p:sp>
        <p:nvSpPr>
          <p:cNvPr id="38" name="文本框 37"/>
          <p:cNvSpPr txBox="1"/>
          <p:nvPr/>
        </p:nvSpPr>
        <p:spPr bwMode="gray">
          <a:xfrm>
            <a:off x="1979669" y="1254564"/>
            <a:ext cx="453970"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FW</a:t>
            </a:r>
            <a:endParaRPr lang="en-US" altLang="zh-CN" sz="1400">
              <a:solidFill>
                <a:srgbClr val="F085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9" name="图片 72" descr="交换机.png"/>
          <p:cNvPicPr>
            <a:picLocks noChangeAspect="1"/>
          </p:cNvPicPr>
          <p:nvPr/>
        </p:nvPicPr>
        <p:blipFill>
          <a:blip r:embed="rId6" cstate="print"/>
          <a:stretch>
            <a:fillRect/>
          </a:stretch>
        </p:blipFill>
        <p:spPr bwMode="gray">
          <a:xfrm>
            <a:off x="4929231" y="1613405"/>
            <a:ext cx="489285" cy="401651"/>
          </a:xfrm>
          <a:prstGeom prst="rect">
            <a:avLst/>
          </a:prstGeom>
        </p:spPr>
      </p:pic>
      <p:sp>
        <p:nvSpPr>
          <p:cNvPr id="40" name="文本框 39"/>
          <p:cNvSpPr txBox="1"/>
          <p:nvPr/>
        </p:nvSpPr>
        <p:spPr bwMode="gray">
          <a:xfrm>
            <a:off x="4559326" y="1254564"/>
            <a:ext cx="1226619"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DHCP Server</a:t>
            </a:r>
            <a:endParaRPr lang="en-US" altLang="zh-CN" sz="1400">
              <a:solidFill>
                <a:srgbClr val="F085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2" name="图片 4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4457188" y="2376150"/>
            <a:ext cx="1673180" cy="308578"/>
          </a:xfrm>
          <a:prstGeom prst="rect">
            <a:avLst/>
          </a:prstGeom>
        </p:spPr>
      </p:pic>
      <p:cxnSp>
        <p:nvCxnSpPr>
          <p:cNvPr id="43" name="直接箭头连接符 42"/>
          <p:cNvCxnSpPr/>
          <p:nvPr/>
        </p:nvCxnSpPr>
        <p:spPr bwMode="gray">
          <a:xfrm flipH="1" flipV="1">
            <a:off x="2333656" y="2092265"/>
            <a:ext cx="853196" cy="513988"/>
          </a:xfrm>
          <a:prstGeom prst="straightConnector1">
            <a:avLst/>
          </a:prstGeom>
          <a:ln w="19050">
            <a:solidFill>
              <a:srgbClr val="C7000B"/>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bwMode="gray">
          <a:xfrm flipH="1" flipV="1">
            <a:off x="2462053" y="1957110"/>
            <a:ext cx="853196" cy="513988"/>
          </a:xfrm>
          <a:prstGeom prst="straightConnector1">
            <a:avLst/>
          </a:prstGeom>
          <a:ln w="19050">
            <a:solidFill>
              <a:srgbClr val="C7000B"/>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5" name="文本框 44"/>
          <p:cNvSpPr txBox="1"/>
          <p:nvPr/>
        </p:nvSpPr>
        <p:spPr bwMode="gray">
          <a:xfrm rot="1861070">
            <a:off x="2487148" y="1938377"/>
            <a:ext cx="1003801" cy="307777"/>
          </a:xfrm>
          <a:prstGeom prst="rect">
            <a:avLst/>
          </a:prstGeom>
          <a:noFill/>
        </p:spPr>
        <p:txBody>
          <a:bodyPr wrap="none" rtlCol="0">
            <a:spAutoFit/>
          </a:bodyPr>
          <a:lstStyle/>
          <a:p>
            <a:pPr algn="ctr"/>
            <a:r>
              <a:rPr lang="zh-CN" altLang="en-US" sz="140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外部网络</a:t>
            </a:r>
            <a:r>
              <a:rPr lang="en-US" altLang="zh-CN" sz="140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p>
        </p:txBody>
      </p:sp>
      <p:cxnSp>
        <p:nvCxnSpPr>
          <p:cNvPr id="47" name="直接箭头连接符 46"/>
          <p:cNvCxnSpPr/>
          <p:nvPr/>
        </p:nvCxnSpPr>
        <p:spPr bwMode="gray">
          <a:xfrm flipH="1">
            <a:off x="3951222" y="1957111"/>
            <a:ext cx="895231" cy="493553"/>
          </a:xfrm>
          <a:prstGeom prst="straightConnector1">
            <a:avLst/>
          </a:prstGeom>
          <a:ln w="19050">
            <a:solidFill>
              <a:srgbClr val="C7000B"/>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bwMode="gray">
          <a:xfrm rot="19854624">
            <a:off x="3672116" y="1908237"/>
            <a:ext cx="1261885" cy="307777"/>
          </a:xfrm>
          <a:prstGeom prst="rect">
            <a:avLst/>
          </a:prstGeom>
          <a:noFill/>
        </p:spPr>
        <p:txBody>
          <a:bodyPr wrap="none" rtlCol="0">
            <a:spAutoFit/>
          </a:bodyPr>
          <a:lstStyle/>
          <a:p>
            <a:pPr algn="ct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网络服务资源</a:t>
            </a:r>
            <a:endPar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文本框 48"/>
          <p:cNvSpPr txBox="1"/>
          <p:nvPr/>
        </p:nvSpPr>
        <p:spPr bwMode="gray">
          <a:xfrm rot="1861070">
            <a:off x="2115508" y="2303280"/>
            <a:ext cx="1003801" cy="307777"/>
          </a:xfrm>
          <a:prstGeom prst="rect">
            <a:avLst/>
          </a:prstGeom>
          <a:noFill/>
        </p:spPr>
        <p:txBody>
          <a:bodyPr wrap="none" rtlCol="0">
            <a:spAutoFit/>
          </a:bodyPr>
          <a:lstStyle/>
          <a:p>
            <a:pPr algn="ctr"/>
            <a:r>
              <a:rPr lang="zh-CN" altLang="en-US" sz="140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外部网络</a:t>
            </a:r>
            <a:r>
              <a:rPr lang="en-US" altLang="zh-CN" sz="140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a:t>
            </a:r>
          </a:p>
        </p:txBody>
      </p:sp>
    </p:spTree>
    <p:extLst>
      <p:ext uri="{BB962C8B-B14F-4D97-AF65-F5344CB8AC3E}">
        <p14:creationId xmlns:p14="http://schemas.microsoft.com/office/powerpoint/2010/main" val="348044049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sym typeface="Huawei Sans" panose="020C0503030203020204" pitchFamily="34" charset="0"/>
              </a:rPr>
              <a:t>典型案例分析：</a:t>
            </a:r>
            <a:r>
              <a:rPr lang="en-US" altLang="zh-CN">
                <a:sym typeface="Huawei Sans" panose="020C0503030203020204" pitchFamily="34" charset="0"/>
              </a:rPr>
              <a:t>Fabric</a:t>
            </a:r>
            <a:r>
              <a:rPr lang="zh-CN" altLang="en-US">
                <a:sym typeface="Huawei Sans" panose="020C0503030203020204" pitchFamily="34" charset="0"/>
              </a:rPr>
              <a:t>管理 </a:t>
            </a:r>
            <a:r>
              <a:rPr lang="en-US" altLang="zh-CN">
                <a:sym typeface="Huawei Sans" panose="020C0503030203020204" pitchFamily="34" charset="0"/>
              </a:rPr>
              <a:t>(2)</a:t>
            </a:r>
            <a:endParaRPr lang="zh-CN" altLang="en-US" dirty="0">
              <a:sym typeface="Huawei Sans" panose="020C0503030203020204" pitchFamily="34" charset="0"/>
            </a:endParaRPr>
          </a:p>
        </p:txBody>
      </p:sp>
      <p:sp>
        <p:nvSpPr>
          <p:cNvPr id="27" name="圆角矩形 26"/>
          <p:cNvSpPr/>
          <p:nvPr/>
        </p:nvSpPr>
        <p:spPr bwMode="gray">
          <a:xfrm>
            <a:off x="648074" y="2739486"/>
            <a:ext cx="5501940" cy="1836992"/>
          </a:xfrm>
          <a:prstGeom prst="roundRect">
            <a:avLst>
              <a:gd name="adj" fmla="val 593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0" name="图片 87" descr="汇聚交换机.png"/>
          <p:cNvPicPr>
            <a:picLocks noChangeAspect="1"/>
          </p:cNvPicPr>
          <p:nvPr/>
        </p:nvPicPr>
        <p:blipFill>
          <a:blip r:embed="rId3"/>
          <a:stretch>
            <a:fillRect/>
          </a:stretch>
        </p:blipFill>
        <p:spPr bwMode="gray">
          <a:xfrm>
            <a:off x="1714886" y="4384562"/>
            <a:ext cx="491768" cy="402358"/>
          </a:xfrm>
          <a:prstGeom prst="rect">
            <a:avLst/>
          </a:prstGeom>
        </p:spPr>
      </p:pic>
      <p:pic>
        <p:nvPicPr>
          <p:cNvPr id="32" name="图片 86" descr="核心交换机.png"/>
          <p:cNvPicPr>
            <a:picLocks noChangeAspect="1"/>
          </p:cNvPicPr>
          <p:nvPr/>
        </p:nvPicPr>
        <p:blipFill>
          <a:blip r:embed="rId4"/>
          <a:stretch>
            <a:fillRect/>
          </a:stretch>
        </p:blipFill>
        <p:spPr bwMode="gray">
          <a:xfrm>
            <a:off x="3238125" y="2437330"/>
            <a:ext cx="491768" cy="402358"/>
          </a:xfrm>
          <a:prstGeom prst="rect">
            <a:avLst/>
          </a:prstGeom>
        </p:spPr>
      </p:pic>
      <p:pic>
        <p:nvPicPr>
          <p:cNvPr id="62" name="图片 87" descr="汇聚交换机.png"/>
          <p:cNvPicPr>
            <a:picLocks noChangeAspect="1"/>
          </p:cNvPicPr>
          <p:nvPr/>
        </p:nvPicPr>
        <p:blipFill>
          <a:blip r:embed="rId3"/>
          <a:stretch>
            <a:fillRect/>
          </a:stretch>
        </p:blipFill>
        <p:spPr bwMode="gray">
          <a:xfrm>
            <a:off x="4638191" y="4384562"/>
            <a:ext cx="491768" cy="402358"/>
          </a:xfrm>
          <a:prstGeom prst="rect">
            <a:avLst/>
          </a:prstGeom>
        </p:spPr>
      </p:pic>
      <p:sp>
        <p:nvSpPr>
          <p:cNvPr id="20" name="文本框 19"/>
          <p:cNvSpPr txBox="1"/>
          <p:nvPr/>
        </p:nvSpPr>
        <p:spPr bwMode="gray">
          <a:xfrm>
            <a:off x="1669664" y="4835952"/>
            <a:ext cx="582211"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Edge</a:t>
            </a:r>
          </a:p>
        </p:txBody>
      </p:sp>
      <p:sp>
        <p:nvSpPr>
          <p:cNvPr id="21" name="文本框 20"/>
          <p:cNvSpPr txBox="1"/>
          <p:nvPr/>
        </p:nvSpPr>
        <p:spPr bwMode="gray">
          <a:xfrm>
            <a:off x="4594460" y="4835952"/>
            <a:ext cx="582211"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Edge</a:t>
            </a:r>
          </a:p>
        </p:txBody>
      </p:sp>
      <p:sp>
        <p:nvSpPr>
          <p:cNvPr id="22" name="文本框 21"/>
          <p:cNvSpPr txBox="1"/>
          <p:nvPr/>
        </p:nvSpPr>
        <p:spPr bwMode="gray">
          <a:xfrm>
            <a:off x="3093286" y="2818878"/>
            <a:ext cx="728084" cy="523220"/>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Border</a:t>
            </a:r>
          </a:p>
          <a:p>
            <a:pPr algn="ct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RR</a:t>
            </a:r>
          </a:p>
        </p:txBody>
      </p:sp>
      <p:sp>
        <p:nvSpPr>
          <p:cNvPr id="23" name="文本框 22"/>
          <p:cNvSpPr txBox="1"/>
          <p:nvPr/>
        </p:nvSpPr>
        <p:spPr bwMode="gray">
          <a:xfrm>
            <a:off x="6245670" y="1657817"/>
            <a:ext cx="5347843" cy="3093154"/>
          </a:xfrm>
          <a:prstGeom prst="rect">
            <a:avLst/>
          </a:prstGeom>
          <a:noFill/>
        </p:spPr>
        <p:txBody>
          <a:bodyPr wrap="square" rtlCol="0">
            <a:spAutoFit/>
          </a:bodyPr>
          <a:lstStyle/>
          <a:p>
            <a:pPr>
              <a:lnSpc>
                <a:spcPts val="2400"/>
              </a:lnSpc>
              <a:spcAft>
                <a:spcPts val="600"/>
              </a:spcAft>
            </a:pP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及</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网络自动化部署：</a:t>
            </a:r>
            <a:endPar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nSpc>
                <a:spcPts val="2400"/>
              </a:lnSpc>
              <a:spcAft>
                <a:spcPts val="600"/>
              </a:spcAft>
              <a:buFont typeface="+mj-ea"/>
              <a:buAutoNum type="circleNumDbPlain"/>
            </a:pP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根据已发现的物理网络拓扑，结合用户所定义的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网络，自动进行网络编排（用户可选择</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多区域或单区域）。</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nSpc>
                <a:spcPts val="2400"/>
              </a:lnSpc>
              <a:spcAft>
                <a:spcPts val="600"/>
              </a:spcAft>
              <a:buFont typeface="+mj-ea"/>
              <a:buAutoNum type="circleNumDbPlain"/>
            </a:pP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根据网络编排结果将</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Underlay</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网络配置自动下发到设备，使得设备之间</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可达。</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nSpc>
                <a:spcPts val="2400"/>
              </a:lnSpc>
              <a:spcAft>
                <a:spcPts val="600"/>
              </a:spcAft>
              <a:buFont typeface="+mj-ea"/>
              <a:buAutoNum type="circleNumDbPlain"/>
            </a:pP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将</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Fabric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配置自动下发到设备，设备之间建立</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BGP EVPN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对等体关系，完成控制面的准备工作。</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3" name="图片 87" descr="汇聚交换机.png"/>
          <p:cNvPicPr>
            <a:picLocks noChangeAspect="1"/>
          </p:cNvPicPr>
          <p:nvPr/>
        </p:nvPicPr>
        <p:blipFill>
          <a:blip r:embed="rId3">
            <a:duotone>
              <a:schemeClr val="accent3">
                <a:shade val="45000"/>
                <a:satMod val="135000"/>
              </a:schemeClr>
              <a:prstClr val="white"/>
            </a:duotone>
          </a:blip>
          <a:stretch>
            <a:fillRect/>
          </a:stretch>
        </p:blipFill>
        <p:spPr bwMode="gray">
          <a:xfrm>
            <a:off x="1714886" y="3457729"/>
            <a:ext cx="491768" cy="402358"/>
          </a:xfrm>
          <a:prstGeom prst="rect">
            <a:avLst/>
          </a:prstGeom>
        </p:spPr>
      </p:pic>
      <p:pic>
        <p:nvPicPr>
          <p:cNvPr id="14" name="图片 87" descr="汇聚交换机.png"/>
          <p:cNvPicPr>
            <a:picLocks noChangeAspect="1"/>
          </p:cNvPicPr>
          <p:nvPr/>
        </p:nvPicPr>
        <p:blipFill>
          <a:blip r:embed="rId3">
            <a:duotone>
              <a:schemeClr val="accent3">
                <a:shade val="45000"/>
                <a:satMod val="135000"/>
              </a:schemeClr>
              <a:prstClr val="white"/>
            </a:duotone>
          </a:blip>
          <a:stretch>
            <a:fillRect/>
          </a:stretch>
        </p:blipFill>
        <p:spPr bwMode="gray">
          <a:xfrm>
            <a:off x="4638191" y="3457729"/>
            <a:ext cx="491768" cy="402358"/>
          </a:xfrm>
          <a:prstGeom prst="rect">
            <a:avLst/>
          </a:prstGeom>
        </p:spPr>
      </p:pic>
      <p:sp>
        <p:nvSpPr>
          <p:cNvPr id="15" name="文本框 14"/>
          <p:cNvSpPr txBox="1"/>
          <p:nvPr/>
        </p:nvSpPr>
        <p:spPr bwMode="gray">
          <a:xfrm>
            <a:off x="630656" y="3477596"/>
            <a:ext cx="1165704"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Transparent</a:t>
            </a:r>
          </a:p>
        </p:txBody>
      </p:sp>
      <p:sp>
        <p:nvSpPr>
          <p:cNvPr id="16" name="文本框 15"/>
          <p:cNvSpPr txBox="1"/>
          <p:nvPr/>
        </p:nvSpPr>
        <p:spPr bwMode="gray">
          <a:xfrm>
            <a:off x="5050779" y="3481761"/>
            <a:ext cx="1165704"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Transparent</a:t>
            </a:r>
          </a:p>
        </p:txBody>
      </p:sp>
      <p:cxnSp>
        <p:nvCxnSpPr>
          <p:cNvPr id="4" name="直接箭头连接符 3"/>
          <p:cNvCxnSpPr/>
          <p:nvPr/>
        </p:nvCxnSpPr>
        <p:spPr bwMode="gray">
          <a:xfrm flipH="1">
            <a:off x="2251875" y="2956582"/>
            <a:ext cx="860879" cy="427338"/>
          </a:xfrm>
          <a:prstGeom prst="straightConnector1">
            <a:avLst/>
          </a:prstGeom>
          <a:ln w="19050">
            <a:solidFill>
              <a:srgbClr val="30B5C5"/>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bwMode="gray">
          <a:xfrm>
            <a:off x="3840839" y="2956582"/>
            <a:ext cx="807361" cy="427338"/>
          </a:xfrm>
          <a:prstGeom prst="straightConnector1">
            <a:avLst/>
          </a:prstGeom>
          <a:ln w="19050">
            <a:solidFill>
              <a:srgbClr val="30B5C5"/>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bwMode="gray">
          <a:xfrm flipH="1">
            <a:off x="1960769" y="3860087"/>
            <a:ext cx="1" cy="497806"/>
          </a:xfrm>
          <a:prstGeom prst="straightConnector1">
            <a:avLst/>
          </a:prstGeom>
          <a:ln w="19050">
            <a:solidFill>
              <a:srgbClr val="30B5C5"/>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bwMode="gray">
          <a:xfrm flipH="1">
            <a:off x="4905977" y="3860087"/>
            <a:ext cx="1" cy="497806"/>
          </a:xfrm>
          <a:prstGeom prst="straightConnector1">
            <a:avLst/>
          </a:prstGeom>
          <a:ln w="19050">
            <a:solidFill>
              <a:srgbClr val="30B5C5"/>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bwMode="gray">
          <a:xfrm>
            <a:off x="1706015" y="2738933"/>
            <a:ext cx="1226618" cy="523220"/>
          </a:xfrm>
          <a:prstGeom prst="rect">
            <a:avLst/>
          </a:prstGeom>
          <a:noFill/>
        </p:spPr>
        <p:txBody>
          <a:bodyPr wrap="none" rtlCol="0">
            <a:spAutoFit/>
          </a:bodyPr>
          <a:lstStyle/>
          <a:p>
            <a:pPr algn="ctr"/>
            <a:r>
              <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互联</a:t>
            </a: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IP/VLAN</a:t>
            </a:r>
          </a:p>
          <a:p>
            <a:pPr algn="ct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OSPF</a:t>
            </a:r>
          </a:p>
        </p:txBody>
      </p:sp>
      <p:sp>
        <p:nvSpPr>
          <p:cNvPr id="29" name="文本框 28"/>
          <p:cNvSpPr txBox="1"/>
          <p:nvPr/>
        </p:nvSpPr>
        <p:spPr bwMode="gray">
          <a:xfrm>
            <a:off x="3996826" y="2738933"/>
            <a:ext cx="1226618" cy="523220"/>
          </a:xfrm>
          <a:prstGeom prst="rect">
            <a:avLst/>
          </a:prstGeom>
          <a:noFill/>
        </p:spPr>
        <p:txBody>
          <a:bodyPr wrap="none" rtlCol="0">
            <a:spAutoFit/>
          </a:bodyPr>
          <a:lstStyle/>
          <a:p>
            <a:pPr algn="ctr"/>
            <a:r>
              <a:rPr lang="zh-CN" altLang="en-US"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互联</a:t>
            </a:r>
            <a:r>
              <a:rPr lang="en-US" altLang="zh-CN"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IP/VLAN</a:t>
            </a:r>
          </a:p>
          <a:p>
            <a:pPr algn="ctr"/>
            <a:r>
              <a:rPr lang="en-US" altLang="zh-CN"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OSPF</a:t>
            </a:r>
          </a:p>
        </p:txBody>
      </p:sp>
      <p:sp>
        <p:nvSpPr>
          <p:cNvPr id="33" name="文本框 32"/>
          <p:cNvSpPr txBox="1"/>
          <p:nvPr/>
        </p:nvSpPr>
        <p:spPr bwMode="gray">
          <a:xfrm>
            <a:off x="732016" y="3861342"/>
            <a:ext cx="1226618" cy="523220"/>
          </a:xfrm>
          <a:prstGeom prst="rect">
            <a:avLst/>
          </a:prstGeom>
          <a:noFill/>
        </p:spPr>
        <p:txBody>
          <a:bodyPr wrap="none" rtlCol="0">
            <a:spAutoFit/>
          </a:bodyPr>
          <a:lstStyle/>
          <a:p>
            <a:pPr algn="r"/>
            <a:r>
              <a:rPr lang="zh-CN" altLang="en-US"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互联</a:t>
            </a: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IP/VLAN</a:t>
            </a:r>
          </a:p>
          <a:p>
            <a:pPr algn="r"/>
            <a:r>
              <a:rPr lang="en-US" altLang="zh-CN" sz="14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OSPF</a:t>
            </a:r>
          </a:p>
        </p:txBody>
      </p:sp>
      <p:sp>
        <p:nvSpPr>
          <p:cNvPr id="34" name="文本框 33"/>
          <p:cNvSpPr txBox="1"/>
          <p:nvPr/>
        </p:nvSpPr>
        <p:spPr bwMode="gray">
          <a:xfrm>
            <a:off x="4905978" y="3861342"/>
            <a:ext cx="1226618" cy="523220"/>
          </a:xfrm>
          <a:prstGeom prst="rect">
            <a:avLst/>
          </a:prstGeom>
          <a:noFill/>
        </p:spPr>
        <p:txBody>
          <a:bodyPr wrap="none" rtlCol="0">
            <a:spAutoFit/>
          </a:bodyPr>
          <a:lstStyle/>
          <a:p>
            <a:r>
              <a:rPr lang="zh-CN" altLang="en-US"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互联</a:t>
            </a:r>
            <a:r>
              <a:rPr lang="en-US" altLang="zh-CN"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IP/VLAN</a:t>
            </a:r>
          </a:p>
          <a:p>
            <a:r>
              <a:rPr lang="en-US" altLang="zh-CN" sz="140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OSPF</a:t>
            </a:r>
          </a:p>
        </p:txBody>
      </p:sp>
      <p:sp>
        <p:nvSpPr>
          <p:cNvPr id="58" name="任意多边形 57"/>
          <p:cNvSpPr/>
          <p:nvPr/>
        </p:nvSpPr>
        <p:spPr bwMode="gray">
          <a:xfrm flipV="1">
            <a:off x="2208548" y="3204394"/>
            <a:ext cx="1029577" cy="1323027"/>
          </a:xfrm>
          <a:custGeom>
            <a:avLst/>
            <a:gdLst>
              <a:gd name="connsiteX0" fmla="*/ 0 w 1388533"/>
              <a:gd name="connsiteY0" fmla="*/ 0 h 33866"/>
              <a:gd name="connsiteX1" fmla="*/ 1388533 w 1388533"/>
              <a:gd name="connsiteY1" fmla="*/ 33866 h 33866"/>
              <a:gd name="connsiteX0" fmla="*/ 0 w 1319173"/>
              <a:gd name="connsiteY0" fmla="*/ 0 h 51234"/>
              <a:gd name="connsiteX1" fmla="*/ 1319173 w 1319173"/>
              <a:gd name="connsiteY1" fmla="*/ 51234 h 51234"/>
              <a:gd name="connsiteX0" fmla="*/ 0 w 944632"/>
              <a:gd name="connsiteY0" fmla="*/ 0 h 603"/>
              <a:gd name="connsiteX1" fmla="*/ 944632 w 944632"/>
              <a:gd name="connsiteY1" fmla="*/ 603 h 603"/>
              <a:gd name="connsiteX0" fmla="*/ 0 w 10000"/>
              <a:gd name="connsiteY0" fmla="*/ 185459 h 195459"/>
              <a:gd name="connsiteX1" fmla="*/ 10000 w 10000"/>
              <a:gd name="connsiteY1" fmla="*/ 195459 h 195459"/>
              <a:gd name="connsiteX0" fmla="*/ 0 w 10000"/>
              <a:gd name="connsiteY0" fmla="*/ 302781 h 312781"/>
              <a:gd name="connsiteX1" fmla="*/ 10000 w 10000"/>
              <a:gd name="connsiteY1" fmla="*/ 312781 h 312781"/>
              <a:gd name="connsiteX0" fmla="*/ 0 w 9869"/>
              <a:gd name="connsiteY0" fmla="*/ 283816 h 334869"/>
              <a:gd name="connsiteX1" fmla="*/ 9869 w 9869"/>
              <a:gd name="connsiteY1" fmla="*/ 334869 h 334869"/>
              <a:gd name="connsiteX0" fmla="*/ 0 w 15423"/>
              <a:gd name="connsiteY0" fmla="*/ 4447 h 20683"/>
              <a:gd name="connsiteX1" fmla="*/ 15423 w 15423"/>
              <a:gd name="connsiteY1" fmla="*/ 20683 h 20683"/>
              <a:gd name="connsiteX0" fmla="*/ 0 w 15423"/>
              <a:gd name="connsiteY0" fmla="*/ 219 h 16455"/>
              <a:gd name="connsiteX1" fmla="*/ 15423 w 15423"/>
              <a:gd name="connsiteY1" fmla="*/ 16455 h 16455"/>
              <a:gd name="connsiteX0" fmla="*/ 0 w 15423"/>
              <a:gd name="connsiteY0" fmla="*/ 0 h 16236"/>
              <a:gd name="connsiteX1" fmla="*/ 15423 w 15423"/>
              <a:gd name="connsiteY1" fmla="*/ 16236 h 16236"/>
              <a:gd name="connsiteX0" fmla="*/ 0 w 16084"/>
              <a:gd name="connsiteY0" fmla="*/ 0 h 16542"/>
              <a:gd name="connsiteX1" fmla="*/ 16084 w 16084"/>
              <a:gd name="connsiteY1" fmla="*/ 16542 h 16542"/>
              <a:gd name="connsiteX0" fmla="*/ 0 w 16084"/>
              <a:gd name="connsiteY0" fmla="*/ 0 h 16542"/>
              <a:gd name="connsiteX1" fmla="*/ 16084 w 16084"/>
              <a:gd name="connsiteY1" fmla="*/ 16542 h 16542"/>
            </a:gdLst>
            <a:ahLst/>
            <a:cxnLst>
              <a:cxn ang="0">
                <a:pos x="connsiteX0" y="connsiteY0"/>
              </a:cxn>
              <a:cxn ang="0">
                <a:pos x="connsiteX1" y="connsiteY1"/>
              </a:cxn>
            </a:cxnLst>
            <a:rect l="l" t="t" r="r" b="b"/>
            <a:pathLst>
              <a:path w="16084" h="16542">
                <a:moveTo>
                  <a:pt x="0" y="0"/>
                </a:moveTo>
                <a:cubicBezTo>
                  <a:pt x="7212" y="1617"/>
                  <a:pt x="13996" y="7289"/>
                  <a:pt x="16084" y="16542"/>
                </a:cubicBezTo>
              </a:path>
            </a:pathLst>
          </a:custGeom>
          <a:ln w="19050">
            <a:solidFill>
              <a:srgbClr val="C7000B"/>
            </a:solidFill>
            <a:prstDash val="dashDot"/>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任意多边形 58"/>
          <p:cNvSpPr/>
          <p:nvPr/>
        </p:nvSpPr>
        <p:spPr bwMode="gray">
          <a:xfrm flipH="1" flipV="1">
            <a:off x="3635434" y="3204394"/>
            <a:ext cx="1029577" cy="1323027"/>
          </a:xfrm>
          <a:custGeom>
            <a:avLst/>
            <a:gdLst>
              <a:gd name="connsiteX0" fmla="*/ 0 w 1388533"/>
              <a:gd name="connsiteY0" fmla="*/ 0 h 33866"/>
              <a:gd name="connsiteX1" fmla="*/ 1388533 w 1388533"/>
              <a:gd name="connsiteY1" fmla="*/ 33866 h 33866"/>
              <a:gd name="connsiteX0" fmla="*/ 0 w 1319173"/>
              <a:gd name="connsiteY0" fmla="*/ 0 h 51234"/>
              <a:gd name="connsiteX1" fmla="*/ 1319173 w 1319173"/>
              <a:gd name="connsiteY1" fmla="*/ 51234 h 51234"/>
              <a:gd name="connsiteX0" fmla="*/ 0 w 944632"/>
              <a:gd name="connsiteY0" fmla="*/ 0 h 603"/>
              <a:gd name="connsiteX1" fmla="*/ 944632 w 944632"/>
              <a:gd name="connsiteY1" fmla="*/ 603 h 603"/>
              <a:gd name="connsiteX0" fmla="*/ 0 w 10000"/>
              <a:gd name="connsiteY0" fmla="*/ 185459 h 195459"/>
              <a:gd name="connsiteX1" fmla="*/ 10000 w 10000"/>
              <a:gd name="connsiteY1" fmla="*/ 195459 h 195459"/>
              <a:gd name="connsiteX0" fmla="*/ 0 w 10000"/>
              <a:gd name="connsiteY0" fmla="*/ 302781 h 312781"/>
              <a:gd name="connsiteX1" fmla="*/ 10000 w 10000"/>
              <a:gd name="connsiteY1" fmla="*/ 312781 h 312781"/>
              <a:gd name="connsiteX0" fmla="*/ 0 w 9869"/>
              <a:gd name="connsiteY0" fmla="*/ 283816 h 334869"/>
              <a:gd name="connsiteX1" fmla="*/ 9869 w 9869"/>
              <a:gd name="connsiteY1" fmla="*/ 334869 h 334869"/>
              <a:gd name="connsiteX0" fmla="*/ 0 w 15423"/>
              <a:gd name="connsiteY0" fmla="*/ 4447 h 20683"/>
              <a:gd name="connsiteX1" fmla="*/ 15423 w 15423"/>
              <a:gd name="connsiteY1" fmla="*/ 20683 h 20683"/>
              <a:gd name="connsiteX0" fmla="*/ 0 w 15423"/>
              <a:gd name="connsiteY0" fmla="*/ 219 h 16455"/>
              <a:gd name="connsiteX1" fmla="*/ 15423 w 15423"/>
              <a:gd name="connsiteY1" fmla="*/ 16455 h 16455"/>
              <a:gd name="connsiteX0" fmla="*/ 0 w 15423"/>
              <a:gd name="connsiteY0" fmla="*/ 0 h 16236"/>
              <a:gd name="connsiteX1" fmla="*/ 15423 w 15423"/>
              <a:gd name="connsiteY1" fmla="*/ 16236 h 16236"/>
              <a:gd name="connsiteX0" fmla="*/ 0 w 16084"/>
              <a:gd name="connsiteY0" fmla="*/ 0 h 16542"/>
              <a:gd name="connsiteX1" fmla="*/ 16084 w 16084"/>
              <a:gd name="connsiteY1" fmla="*/ 16542 h 16542"/>
              <a:gd name="connsiteX0" fmla="*/ 0 w 16084"/>
              <a:gd name="connsiteY0" fmla="*/ 0 h 16542"/>
              <a:gd name="connsiteX1" fmla="*/ 16084 w 16084"/>
              <a:gd name="connsiteY1" fmla="*/ 16542 h 16542"/>
            </a:gdLst>
            <a:ahLst/>
            <a:cxnLst>
              <a:cxn ang="0">
                <a:pos x="connsiteX0" y="connsiteY0"/>
              </a:cxn>
              <a:cxn ang="0">
                <a:pos x="connsiteX1" y="connsiteY1"/>
              </a:cxn>
            </a:cxnLst>
            <a:rect l="l" t="t" r="r" b="b"/>
            <a:pathLst>
              <a:path w="16084" h="16542">
                <a:moveTo>
                  <a:pt x="0" y="0"/>
                </a:moveTo>
                <a:cubicBezTo>
                  <a:pt x="7212" y="1617"/>
                  <a:pt x="13996" y="7289"/>
                  <a:pt x="16084" y="16542"/>
                </a:cubicBezTo>
              </a:path>
            </a:pathLst>
          </a:custGeom>
          <a:ln w="19050">
            <a:solidFill>
              <a:srgbClr val="C7000B"/>
            </a:solidFill>
            <a:prstDash val="dashDot"/>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0" name="图片 9"/>
          <p:cNvPicPr>
            <a:picLocks noChangeAspect="1"/>
          </p:cNvPicPr>
          <p:nvPr/>
        </p:nvPicPr>
        <p:blipFill>
          <a:blip r:embed="rId5">
            <a:extLst>
              <a:ext uri="{28A0092B-C50C-407E-A947-70E740481C1C}">
                <a14:useLocalDpi xmlns:a14="http://schemas.microsoft.com/office/drawing/2010/main" val="0"/>
              </a:ext>
            </a:extLst>
          </a:blip>
          <a:stretch>
            <a:fillRect/>
          </a:stretch>
        </p:blipFill>
        <p:spPr bwMode="gray">
          <a:xfrm>
            <a:off x="1714805" y="1612698"/>
            <a:ext cx="491768" cy="402358"/>
          </a:xfrm>
          <a:prstGeom prst="rect">
            <a:avLst/>
          </a:prstGeom>
        </p:spPr>
      </p:pic>
      <p:sp>
        <p:nvSpPr>
          <p:cNvPr id="61" name="文本框 60"/>
          <p:cNvSpPr txBox="1"/>
          <p:nvPr/>
        </p:nvSpPr>
        <p:spPr bwMode="gray">
          <a:xfrm>
            <a:off x="1733704" y="1254564"/>
            <a:ext cx="453970"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FW</a:t>
            </a:r>
            <a:endParaRPr lang="en-US" altLang="zh-CN" sz="1400">
              <a:solidFill>
                <a:srgbClr val="F085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3" name="图片 72" descr="交换机.png"/>
          <p:cNvPicPr>
            <a:picLocks noChangeAspect="1"/>
          </p:cNvPicPr>
          <p:nvPr/>
        </p:nvPicPr>
        <p:blipFill>
          <a:blip r:embed="rId6" cstate="print"/>
          <a:stretch>
            <a:fillRect/>
          </a:stretch>
        </p:blipFill>
        <p:spPr bwMode="gray">
          <a:xfrm>
            <a:off x="4757781" y="1613405"/>
            <a:ext cx="489285" cy="401651"/>
          </a:xfrm>
          <a:prstGeom prst="rect">
            <a:avLst/>
          </a:prstGeom>
        </p:spPr>
      </p:pic>
      <p:sp>
        <p:nvSpPr>
          <p:cNvPr id="64" name="文本框 63"/>
          <p:cNvSpPr txBox="1"/>
          <p:nvPr/>
        </p:nvSpPr>
        <p:spPr bwMode="gray">
          <a:xfrm>
            <a:off x="4387876" y="1254564"/>
            <a:ext cx="1226619"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DHCP Server</a:t>
            </a:r>
            <a:endParaRPr lang="en-US" altLang="zh-CN" sz="1400">
              <a:solidFill>
                <a:srgbClr val="F085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5" name="图片 6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4386854" y="2376150"/>
            <a:ext cx="1673180" cy="308578"/>
          </a:xfrm>
          <a:prstGeom prst="rect">
            <a:avLst/>
          </a:prstGeom>
        </p:spPr>
      </p:pic>
      <p:sp>
        <p:nvSpPr>
          <p:cNvPr id="66" name="文本框 65"/>
          <p:cNvSpPr txBox="1"/>
          <p:nvPr/>
        </p:nvSpPr>
        <p:spPr bwMode="gray">
          <a:xfrm>
            <a:off x="2620555" y="4219644"/>
            <a:ext cx="1601722" cy="307777"/>
          </a:xfrm>
          <a:prstGeom prst="rect">
            <a:avLst/>
          </a:prstGeom>
          <a:noFill/>
        </p:spPr>
        <p:txBody>
          <a:bodyPr wrap="none" rtlCol="0">
            <a:spAutoFit/>
          </a:bodyPr>
          <a:lstStyle/>
          <a:p>
            <a:pPr algn="ctr"/>
            <a:r>
              <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BGP EVPN</a:t>
            </a: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对等体</a:t>
            </a:r>
            <a:endPar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29158140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sym typeface="Huawei Sans" panose="020C0503030203020204" pitchFamily="34" charset="0"/>
              </a:rPr>
              <a:t>典型案例分析：</a:t>
            </a:r>
            <a:r>
              <a:rPr lang="en-US" altLang="zh-CN">
                <a:sym typeface="Huawei Sans" panose="020C0503030203020204" pitchFamily="34" charset="0"/>
              </a:rPr>
              <a:t>VN</a:t>
            </a:r>
            <a:r>
              <a:rPr lang="zh-CN" altLang="en-US">
                <a:sym typeface="Huawei Sans" panose="020C0503030203020204" pitchFamily="34" charset="0"/>
              </a:rPr>
              <a:t>管理</a:t>
            </a:r>
          </a:p>
        </p:txBody>
      </p:sp>
      <p:sp>
        <p:nvSpPr>
          <p:cNvPr id="27" name="圆角矩形 26"/>
          <p:cNvSpPr/>
          <p:nvPr/>
        </p:nvSpPr>
        <p:spPr bwMode="gray">
          <a:xfrm>
            <a:off x="731838" y="2739486"/>
            <a:ext cx="5364162" cy="1836992"/>
          </a:xfrm>
          <a:prstGeom prst="roundRect">
            <a:avLst>
              <a:gd name="adj" fmla="val 593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2"/>
          <p:cNvSpPr txBox="1"/>
          <p:nvPr/>
        </p:nvSpPr>
        <p:spPr bwMode="gray">
          <a:xfrm>
            <a:off x="6372859" y="1700756"/>
            <a:ext cx="5087304" cy="2400657"/>
          </a:xfrm>
          <a:prstGeom prst="rect">
            <a:avLst/>
          </a:prstGeom>
          <a:noFill/>
        </p:spPr>
        <p:txBody>
          <a:bodyPr wrap="square" rtlCol="0">
            <a:spAutoFit/>
          </a:bodyPr>
          <a:lstStyle/>
          <a:p>
            <a:pPr>
              <a:lnSpc>
                <a:spcPts val="2400"/>
              </a:lnSpc>
              <a:spcAft>
                <a:spcPts val="600"/>
              </a:spcAft>
            </a:pP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创建</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nSpc>
                <a:spcPts val="2400"/>
              </a:lnSpc>
              <a:spcAft>
                <a:spcPts val="600"/>
              </a:spcAft>
              <a:buFont typeface="+mj-ea"/>
              <a:buAutoNum type="circleNumDbPlain"/>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用户在</a:t>
            </a: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上分别创建</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OA</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及</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RD</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虚拟网络，指定虚拟网络的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网段</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、网关地址、所关联的外部网络及网络服务资源，以及终端接入点位。</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nSpc>
                <a:spcPts val="2400"/>
              </a:lnSpc>
              <a:spcAft>
                <a:spcPts val="600"/>
              </a:spcAft>
              <a:buFont typeface="+mj-ea"/>
              <a:buAutoNum type="circleNumDbPlain"/>
            </a:pPr>
            <a:r>
              <a:rPr lang="en-US" altLang="zh-CN" sz="1600" dirty="0" err="1">
                <a:latin typeface="Huawei Sans" panose="020C0503030203020204" pitchFamily="34" charset="0"/>
                <a:ea typeface="方正兰亭黑简体" panose="02000000000000000000" pitchFamily="2" charset="-122"/>
                <a:sym typeface="Huawei Sans" panose="020C0503030203020204" pitchFamily="34" charset="0"/>
              </a:rPr>
              <a:t>iMaster</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NCE-Campus</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将用户意图翻译成配置下发到网络设备上。</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5"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gray">
          <a:xfrm>
            <a:off x="1714805" y="1612698"/>
            <a:ext cx="491768" cy="402358"/>
          </a:xfrm>
          <a:prstGeom prst="rect">
            <a:avLst/>
          </a:prstGeom>
        </p:spPr>
      </p:pic>
      <p:sp>
        <p:nvSpPr>
          <p:cNvPr id="36" name="文本框 35"/>
          <p:cNvSpPr txBox="1"/>
          <p:nvPr/>
        </p:nvSpPr>
        <p:spPr bwMode="gray">
          <a:xfrm>
            <a:off x="1733704" y="1254564"/>
            <a:ext cx="453970"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FW</a:t>
            </a:r>
            <a:endParaRPr lang="en-US" altLang="zh-CN" sz="1400">
              <a:solidFill>
                <a:srgbClr val="F085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7" name="图片 72" descr="交换机.png"/>
          <p:cNvPicPr>
            <a:picLocks noChangeAspect="1"/>
          </p:cNvPicPr>
          <p:nvPr/>
        </p:nvPicPr>
        <p:blipFill>
          <a:blip r:embed="rId4" cstate="print"/>
          <a:stretch>
            <a:fillRect/>
          </a:stretch>
        </p:blipFill>
        <p:spPr bwMode="gray">
          <a:xfrm>
            <a:off x="4757781" y="1613405"/>
            <a:ext cx="489285" cy="401651"/>
          </a:xfrm>
          <a:prstGeom prst="rect">
            <a:avLst/>
          </a:prstGeom>
        </p:spPr>
      </p:pic>
      <p:sp>
        <p:nvSpPr>
          <p:cNvPr id="38" name="文本框 37"/>
          <p:cNvSpPr txBox="1"/>
          <p:nvPr/>
        </p:nvSpPr>
        <p:spPr bwMode="gray">
          <a:xfrm>
            <a:off x="4387876" y="1254564"/>
            <a:ext cx="1226619"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DHCP Server</a:t>
            </a:r>
            <a:endParaRPr lang="en-US" altLang="zh-CN" sz="1400">
              <a:solidFill>
                <a:srgbClr val="F085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9" name="图片 3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5126307" y="2458495"/>
            <a:ext cx="1132252" cy="208817"/>
          </a:xfrm>
          <a:prstGeom prst="rect">
            <a:avLst/>
          </a:prstGeom>
        </p:spPr>
      </p:pic>
      <p:sp>
        <p:nvSpPr>
          <p:cNvPr id="44" name="圆角矩形 43"/>
          <p:cNvSpPr/>
          <p:nvPr/>
        </p:nvSpPr>
        <p:spPr bwMode="gray">
          <a:xfrm>
            <a:off x="815108" y="3030494"/>
            <a:ext cx="3054237" cy="1122387"/>
          </a:xfrm>
          <a:prstGeom prst="roundRect">
            <a:avLst>
              <a:gd name="adj" fmla="val 5930"/>
            </a:avLst>
          </a:prstGeom>
          <a:solidFill>
            <a:srgbClr val="FFF2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圆角矩形 44"/>
          <p:cNvSpPr/>
          <p:nvPr/>
        </p:nvSpPr>
        <p:spPr bwMode="gray">
          <a:xfrm>
            <a:off x="2903429" y="3250627"/>
            <a:ext cx="3054237" cy="1122387"/>
          </a:xfrm>
          <a:prstGeom prst="roundRect">
            <a:avLst>
              <a:gd name="adj" fmla="val 5930"/>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6" name="直接箭头连接符 45"/>
          <p:cNvCxnSpPr/>
          <p:nvPr/>
        </p:nvCxnSpPr>
        <p:spPr bwMode="gray">
          <a:xfrm flipV="1">
            <a:off x="1961121" y="2015067"/>
            <a:ext cx="0" cy="938228"/>
          </a:xfrm>
          <a:prstGeom prst="straightConnector1">
            <a:avLst/>
          </a:prstGeom>
          <a:ln w="19050">
            <a:solidFill>
              <a:srgbClr val="FFD17D"/>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7" name="任意多边形 6"/>
          <p:cNvSpPr/>
          <p:nvPr/>
        </p:nvSpPr>
        <p:spPr bwMode="gray">
          <a:xfrm>
            <a:off x="2108200" y="2015067"/>
            <a:ext cx="1998133" cy="1159934"/>
          </a:xfrm>
          <a:custGeom>
            <a:avLst/>
            <a:gdLst>
              <a:gd name="connsiteX0" fmla="*/ 0 w 1998133"/>
              <a:gd name="connsiteY0" fmla="*/ 0 h 1159934"/>
              <a:gd name="connsiteX1" fmla="*/ 0 w 1998133"/>
              <a:gd name="connsiteY1" fmla="*/ 364067 h 1159934"/>
              <a:gd name="connsiteX2" fmla="*/ 1998133 w 1998133"/>
              <a:gd name="connsiteY2" fmla="*/ 364067 h 1159934"/>
              <a:gd name="connsiteX3" fmla="*/ 1998133 w 1998133"/>
              <a:gd name="connsiteY3" fmla="*/ 1159934 h 1159934"/>
            </a:gdLst>
            <a:ahLst/>
            <a:cxnLst>
              <a:cxn ang="0">
                <a:pos x="connsiteX0" y="connsiteY0"/>
              </a:cxn>
              <a:cxn ang="0">
                <a:pos x="connsiteX1" y="connsiteY1"/>
              </a:cxn>
              <a:cxn ang="0">
                <a:pos x="connsiteX2" y="connsiteY2"/>
              </a:cxn>
              <a:cxn ang="0">
                <a:pos x="connsiteX3" y="connsiteY3"/>
              </a:cxn>
            </a:cxnLst>
            <a:rect l="l" t="t" r="r" b="b"/>
            <a:pathLst>
              <a:path w="1998133" h="1159934">
                <a:moveTo>
                  <a:pt x="0" y="0"/>
                </a:moveTo>
                <a:lnTo>
                  <a:pt x="0" y="364067"/>
                </a:lnTo>
                <a:lnTo>
                  <a:pt x="1998133" y="364067"/>
                </a:lnTo>
                <a:lnTo>
                  <a:pt x="1998133" y="1159934"/>
                </a:lnTo>
              </a:path>
            </a:pathLst>
          </a:custGeom>
          <a:ln w="19050">
            <a:solidFill>
              <a:srgbClr val="30B5C5"/>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9" name="直接箭头连接符 48"/>
          <p:cNvCxnSpPr/>
          <p:nvPr/>
        </p:nvCxnSpPr>
        <p:spPr bwMode="gray">
          <a:xfrm flipV="1">
            <a:off x="1961121" y="4103080"/>
            <a:ext cx="0" cy="938228"/>
          </a:xfrm>
          <a:prstGeom prst="straightConnector1">
            <a:avLst/>
          </a:prstGeom>
          <a:ln w="19050">
            <a:solidFill>
              <a:srgbClr val="FFD17D"/>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bwMode="gray">
          <a:xfrm flipV="1">
            <a:off x="4654477" y="4377655"/>
            <a:ext cx="0" cy="663653"/>
          </a:xfrm>
          <a:prstGeom prst="straightConnector1">
            <a:avLst/>
          </a:prstGeom>
          <a:ln w="19050">
            <a:solidFill>
              <a:srgbClr val="30B5C5"/>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任意多边形 8"/>
          <p:cNvSpPr/>
          <p:nvPr/>
        </p:nvSpPr>
        <p:spPr bwMode="gray">
          <a:xfrm>
            <a:off x="2802467" y="2015067"/>
            <a:ext cx="2125133" cy="999066"/>
          </a:xfrm>
          <a:custGeom>
            <a:avLst/>
            <a:gdLst>
              <a:gd name="connsiteX0" fmla="*/ 0 w 2201333"/>
              <a:gd name="connsiteY0" fmla="*/ 999066 h 999066"/>
              <a:gd name="connsiteX1" fmla="*/ 0 w 2201333"/>
              <a:gd name="connsiteY1" fmla="*/ 584200 h 999066"/>
              <a:gd name="connsiteX2" fmla="*/ 2201333 w 2201333"/>
              <a:gd name="connsiteY2" fmla="*/ 584200 h 999066"/>
              <a:gd name="connsiteX3" fmla="*/ 2201333 w 2201333"/>
              <a:gd name="connsiteY3" fmla="*/ 0 h 999066"/>
            </a:gdLst>
            <a:ahLst/>
            <a:cxnLst>
              <a:cxn ang="0">
                <a:pos x="connsiteX0" y="connsiteY0"/>
              </a:cxn>
              <a:cxn ang="0">
                <a:pos x="connsiteX1" y="connsiteY1"/>
              </a:cxn>
              <a:cxn ang="0">
                <a:pos x="connsiteX2" y="connsiteY2"/>
              </a:cxn>
              <a:cxn ang="0">
                <a:pos x="connsiteX3" y="connsiteY3"/>
              </a:cxn>
            </a:cxnLst>
            <a:rect l="l" t="t" r="r" b="b"/>
            <a:pathLst>
              <a:path w="2201333" h="999066">
                <a:moveTo>
                  <a:pt x="0" y="999066"/>
                </a:moveTo>
                <a:lnTo>
                  <a:pt x="0" y="584200"/>
                </a:lnTo>
                <a:lnTo>
                  <a:pt x="2201333" y="584200"/>
                </a:lnTo>
                <a:lnTo>
                  <a:pt x="2201333" y="0"/>
                </a:lnTo>
              </a:path>
            </a:pathLst>
          </a:custGeom>
          <a:ln w="19050">
            <a:solidFill>
              <a:srgbClr val="FFD17D"/>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1" name="直接箭头连接符 50"/>
          <p:cNvCxnSpPr/>
          <p:nvPr/>
        </p:nvCxnSpPr>
        <p:spPr bwMode="gray">
          <a:xfrm flipV="1">
            <a:off x="5110721" y="2015067"/>
            <a:ext cx="0" cy="1235560"/>
          </a:xfrm>
          <a:prstGeom prst="straightConnector1">
            <a:avLst/>
          </a:prstGeom>
          <a:ln w="19050">
            <a:solidFill>
              <a:srgbClr val="30B5C5"/>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bwMode="gray">
          <a:xfrm>
            <a:off x="853483" y="3198090"/>
            <a:ext cx="2180301" cy="784830"/>
          </a:xfrm>
          <a:prstGeom prst="rect">
            <a:avLst/>
          </a:prstGeom>
          <a:noFill/>
        </p:spPr>
        <p:txBody>
          <a:bodyPr wrap="square" rtlCol="0">
            <a:spAutoFit/>
          </a:bodyPr>
          <a:lstStyle/>
          <a:p>
            <a:pPr>
              <a:lnSpc>
                <a:spcPts val="1800"/>
              </a:lnSpc>
            </a:pP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OA</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虚拟网络</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ts val="18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 10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10.1.10.0/24</a:t>
            </a:r>
          </a:p>
          <a:p>
            <a:pPr>
              <a:lnSpc>
                <a:spcPts val="18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 20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10.1.20.0/24</a:t>
            </a:r>
          </a:p>
        </p:txBody>
      </p:sp>
      <p:sp>
        <p:nvSpPr>
          <p:cNvPr id="53" name="文本框 52"/>
          <p:cNvSpPr txBox="1"/>
          <p:nvPr/>
        </p:nvSpPr>
        <p:spPr bwMode="gray">
          <a:xfrm>
            <a:off x="3454830" y="3441623"/>
            <a:ext cx="2180301" cy="784830"/>
          </a:xfrm>
          <a:prstGeom prst="rect">
            <a:avLst/>
          </a:prstGeom>
          <a:noFill/>
        </p:spPr>
        <p:txBody>
          <a:bodyPr wrap="square" rtlCol="0">
            <a:spAutoFit/>
          </a:bodyPr>
          <a:lstStyle/>
          <a:p>
            <a:pPr>
              <a:lnSpc>
                <a:spcPts val="1800"/>
              </a:lnSpc>
            </a:pPr>
            <a:r>
              <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rPr>
              <a:t>RD</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虚拟网络</a:t>
            </a:r>
            <a:endParaRPr lang="en-US" altLang="zh-CN" sz="1400" b="1" dirty="0">
              <a:latin typeface="Huawei Sans" panose="020C0503030203020204" pitchFamily="34" charset="0"/>
              <a:ea typeface="方正兰亭黑简体" panose="02000000000000000000" pitchFamily="2" charset="-122"/>
              <a:sym typeface="Huawei Sans" panose="020C0503030203020204" pitchFamily="34" charset="0"/>
            </a:endParaRPr>
          </a:p>
          <a:p>
            <a:pPr>
              <a:lnSpc>
                <a:spcPts val="18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 30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10.1.30.0/24</a:t>
            </a:r>
          </a:p>
          <a:p>
            <a:pPr>
              <a:lnSpc>
                <a:spcPts val="1800"/>
              </a:lnSpc>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 40</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10.1.40.0/24</a:t>
            </a:r>
          </a:p>
        </p:txBody>
      </p:sp>
      <p:sp>
        <p:nvSpPr>
          <p:cNvPr id="54" name="文本框 53"/>
          <p:cNvSpPr txBox="1"/>
          <p:nvPr/>
        </p:nvSpPr>
        <p:spPr bwMode="gray">
          <a:xfrm>
            <a:off x="1982060" y="4696638"/>
            <a:ext cx="1472770" cy="323165"/>
          </a:xfrm>
          <a:prstGeom prst="rect">
            <a:avLst/>
          </a:prstGeom>
          <a:noFill/>
        </p:spPr>
        <p:txBody>
          <a:bodyPr wrap="square" rtlCol="0">
            <a:spAutoFit/>
          </a:bodyPr>
          <a:lstStyle/>
          <a:p>
            <a:pPr>
              <a:lnSpc>
                <a:spcPts val="1800"/>
              </a:lnSpc>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接入设备、端口</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文本框 54"/>
          <p:cNvSpPr txBox="1"/>
          <p:nvPr/>
        </p:nvSpPr>
        <p:spPr bwMode="gray">
          <a:xfrm>
            <a:off x="4706395" y="4696638"/>
            <a:ext cx="1472770" cy="323165"/>
          </a:xfrm>
          <a:prstGeom prst="rect">
            <a:avLst/>
          </a:prstGeom>
          <a:noFill/>
        </p:spPr>
        <p:txBody>
          <a:bodyPr wrap="square" rtlCol="0">
            <a:spAutoFit/>
          </a:bodyPr>
          <a:lstStyle/>
          <a:p>
            <a:pPr>
              <a:lnSpc>
                <a:spcPts val="1800"/>
              </a:lnSpc>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接入设备、端口</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文本框 55"/>
          <p:cNvSpPr txBox="1"/>
          <p:nvPr/>
        </p:nvSpPr>
        <p:spPr bwMode="gray">
          <a:xfrm>
            <a:off x="963612" y="2330292"/>
            <a:ext cx="1003801" cy="307777"/>
          </a:xfrm>
          <a:prstGeom prst="rect">
            <a:avLst/>
          </a:prstGeom>
          <a:noFill/>
        </p:spPr>
        <p:txBody>
          <a:bodyPr wrap="none" rtlCol="0">
            <a:spAutoFit/>
          </a:bodyPr>
          <a:lstStyle/>
          <a:p>
            <a:pPr algn="ct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外部网络</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a:t>
            </a:r>
          </a:p>
        </p:txBody>
      </p:sp>
      <p:sp>
        <p:nvSpPr>
          <p:cNvPr id="57" name="文本框 56"/>
          <p:cNvSpPr txBox="1"/>
          <p:nvPr/>
        </p:nvSpPr>
        <p:spPr bwMode="gray">
          <a:xfrm>
            <a:off x="2138566" y="2069798"/>
            <a:ext cx="1003801" cy="307777"/>
          </a:xfrm>
          <a:prstGeom prst="rect">
            <a:avLst/>
          </a:prstGeom>
          <a:noFill/>
        </p:spPr>
        <p:txBody>
          <a:bodyPr wrap="none" rtlCol="0">
            <a:spAutoFit/>
          </a:bodyPr>
          <a:lstStyle/>
          <a:p>
            <a:pPr algn="ct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外部网络</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2</a:t>
            </a:r>
          </a:p>
        </p:txBody>
      </p:sp>
      <p:sp>
        <p:nvSpPr>
          <p:cNvPr id="60" name="文本框 59"/>
          <p:cNvSpPr txBox="1"/>
          <p:nvPr/>
        </p:nvSpPr>
        <p:spPr bwMode="gray">
          <a:xfrm>
            <a:off x="3702660" y="2065515"/>
            <a:ext cx="1261885" cy="307777"/>
          </a:xfrm>
          <a:prstGeom prst="rect">
            <a:avLst/>
          </a:prstGeom>
          <a:noFill/>
        </p:spPr>
        <p:txBody>
          <a:bodyPr wrap="none" rtlCol="0">
            <a:spAutoFit/>
          </a:bodyPr>
          <a:lstStyle/>
          <a:p>
            <a:pPr algn="ct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网络服务资源</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1" name="图片 14" descr="日志告警服务器-蓝.png"/>
          <p:cNvPicPr>
            <a:picLocks noChangeAspect="1"/>
          </p:cNvPicPr>
          <p:nvPr/>
        </p:nvPicPr>
        <p:blipFill>
          <a:blip r:embed="rId6" cstate="print"/>
          <a:stretch>
            <a:fillRect/>
          </a:stretch>
        </p:blipFill>
        <p:spPr bwMode="gray">
          <a:xfrm>
            <a:off x="4353476" y="5360897"/>
            <a:ext cx="445956" cy="278465"/>
          </a:xfrm>
          <a:prstGeom prst="rect">
            <a:avLst/>
          </a:prstGeom>
        </p:spPr>
      </p:pic>
      <p:pic>
        <p:nvPicPr>
          <p:cNvPr id="63" name="图片 11" descr="开放网络-蓝.png"/>
          <p:cNvPicPr>
            <a:picLocks noChangeAspect="1"/>
          </p:cNvPicPr>
          <p:nvPr/>
        </p:nvPicPr>
        <p:blipFill>
          <a:blip r:embed="rId7" cstate="print"/>
          <a:stretch>
            <a:fillRect/>
          </a:stretch>
        </p:blipFill>
        <p:spPr bwMode="gray">
          <a:xfrm>
            <a:off x="5070865" y="5328484"/>
            <a:ext cx="445956" cy="343290"/>
          </a:xfrm>
          <a:prstGeom prst="rect">
            <a:avLst/>
          </a:prstGeom>
        </p:spPr>
      </p:pic>
      <p:pic>
        <p:nvPicPr>
          <p:cNvPr id="64" name="图片 42" descr="IP电话.png"/>
          <p:cNvPicPr>
            <a:picLocks noChangeAspect="1"/>
          </p:cNvPicPr>
          <p:nvPr/>
        </p:nvPicPr>
        <p:blipFill>
          <a:blip r:embed="rId8" cstate="print"/>
          <a:stretch>
            <a:fillRect/>
          </a:stretch>
        </p:blipFill>
        <p:spPr bwMode="gray">
          <a:xfrm>
            <a:off x="1550368" y="5326780"/>
            <a:ext cx="368791" cy="346698"/>
          </a:xfrm>
          <a:prstGeom prst="rect">
            <a:avLst/>
          </a:prstGeom>
        </p:spPr>
      </p:pic>
      <p:pic>
        <p:nvPicPr>
          <p:cNvPr id="65" name="图片 158" descr="SAN网络-蓝.png"/>
          <p:cNvPicPr>
            <a:picLocks noChangeAspect="1"/>
          </p:cNvPicPr>
          <p:nvPr/>
        </p:nvPicPr>
        <p:blipFill>
          <a:blip r:embed="rId9" cstate="print"/>
          <a:stretch>
            <a:fillRect/>
          </a:stretch>
        </p:blipFill>
        <p:spPr bwMode="gray">
          <a:xfrm>
            <a:off x="3050597" y="5300897"/>
            <a:ext cx="243218" cy="398465"/>
          </a:xfrm>
          <a:prstGeom prst="rect">
            <a:avLst/>
          </a:prstGeom>
        </p:spPr>
      </p:pic>
      <p:pic>
        <p:nvPicPr>
          <p:cNvPr id="66" name="图片 157" descr="故障链路.png"/>
          <p:cNvPicPr>
            <a:picLocks noChangeAspect="1"/>
          </p:cNvPicPr>
          <p:nvPr/>
        </p:nvPicPr>
        <p:blipFill>
          <a:blip r:embed="rId10" cstate="print"/>
          <a:stretch>
            <a:fillRect/>
          </a:stretch>
        </p:blipFill>
        <p:spPr bwMode="gray">
          <a:xfrm>
            <a:off x="2229010" y="5333738"/>
            <a:ext cx="446281" cy="332783"/>
          </a:xfrm>
          <a:prstGeom prst="rect">
            <a:avLst/>
          </a:prstGeom>
        </p:spPr>
      </p:pic>
      <p:pic>
        <p:nvPicPr>
          <p:cNvPr id="67" name="图片 47" descr="打印机.png"/>
          <p:cNvPicPr>
            <a:picLocks noChangeAspect="1"/>
          </p:cNvPicPr>
          <p:nvPr/>
        </p:nvPicPr>
        <p:blipFill>
          <a:blip r:embed="rId11" cstate="print"/>
          <a:stretch>
            <a:fillRect/>
          </a:stretch>
        </p:blipFill>
        <p:spPr bwMode="gray">
          <a:xfrm>
            <a:off x="3678597" y="5339197"/>
            <a:ext cx="404351" cy="321864"/>
          </a:xfrm>
          <a:prstGeom prst="rect">
            <a:avLst/>
          </a:prstGeom>
        </p:spPr>
      </p:pic>
    </p:spTree>
    <p:extLst>
      <p:ext uri="{BB962C8B-B14F-4D97-AF65-F5344CB8AC3E}">
        <p14:creationId xmlns:p14="http://schemas.microsoft.com/office/powerpoint/2010/main" val="317057395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sym typeface="Huawei Sans" panose="020C0503030203020204" pitchFamily="34" charset="0"/>
              </a:rPr>
              <a:t>典型案例分析：隧道建立</a:t>
            </a:r>
          </a:p>
        </p:txBody>
      </p:sp>
      <p:sp>
        <p:nvSpPr>
          <p:cNvPr id="27" name="圆角矩形 26"/>
          <p:cNvSpPr/>
          <p:nvPr/>
        </p:nvSpPr>
        <p:spPr bwMode="gray">
          <a:xfrm>
            <a:off x="755157" y="2537435"/>
            <a:ext cx="5364162" cy="1836992"/>
          </a:xfrm>
          <a:prstGeom prst="roundRect">
            <a:avLst>
              <a:gd name="adj" fmla="val 593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圆角矩形 27"/>
          <p:cNvSpPr/>
          <p:nvPr/>
        </p:nvSpPr>
        <p:spPr bwMode="gray">
          <a:xfrm>
            <a:off x="755157" y="4424784"/>
            <a:ext cx="2691096" cy="1734740"/>
          </a:xfrm>
          <a:prstGeom prst="roundRect">
            <a:avLst>
              <a:gd name="adj" fmla="val 593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圆角矩形 28"/>
          <p:cNvSpPr/>
          <p:nvPr/>
        </p:nvSpPr>
        <p:spPr bwMode="gray">
          <a:xfrm>
            <a:off x="3562337" y="4424784"/>
            <a:ext cx="2556982" cy="1734740"/>
          </a:xfrm>
          <a:prstGeom prst="roundRect">
            <a:avLst>
              <a:gd name="adj" fmla="val 593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0" name="图片 87" descr="汇聚交换机.png"/>
          <p:cNvPicPr>
            <a:picLocks noChangeAspect="1"/>
          </p:cNvPicPr>
          <p:nvPr/>
        </p:nvPicPr>
        <p:blipFill>
          <a:blip r:embed="rId3"/>
          <a:stretch>
            <a:fillRect/>
          </a:stretch>
        </p:blipFill>
        <p:spPr bwMode="gray">
          <a:xfrm>
            <a:off x="1738205" y="4182511"/>
            <a:ext cx="491768" cy="402358"/>
          </a:xfrm>
          <a:prstGeom prst="rect">
            <a:avLst/>
          </a:prstGeom>
        </p:spPr>
      </p:pic>
      <p:pic>
        <p:nvPicPr>
          <p:cNvPr id="32" name="图片 86" descr="核心交换机.png"/>
          <p:cNvPicPr>
            <a:picLocks noChangeAspect="1"/>
          </p:cNvPicPr>
          <p:nvPr/>
        </p:nvPicPr>
        <p:blipFill>
          <a:blip r:embed="rId4"/>
          <a:stretch>
            <a:fillRect/>
          </a:stretch>
        </p:blipFill>
        <p:spPr bwMode="gray">
          <a:xfrm>
            <a:off x="3261444" y="2235279"/>
            <a:ext cx="491768" cy="402358"/>
          </a:xfrm>
          <a:prstGeom prst="rect">
            <a:avLst/>
          </a:prstGeom>
        </p:spPr>
      </p:pic>
      <p:pic>
        <p:nvPicPr>
          <p:cNvPr id="33" name="图片 11" descr="开放网络-蓝.png"/>
          <p:cNvPicPr>
            <a:picLocks noChangeAspect="1"/>
          </p:cNvPicPr>
          <p:nvPr/>
        </p:nvPicPr>
        <p:blipFill>
          <a:blip r:embed="rId5" cstate="print"/>
          <a:stretch>
            <a:fillRect/>
          </a:stretch>
        </p:blipFill>
        <p:spPr bwMode="gray">
          <a:xfrm>
            <a:off x="1783275" y="4965144"/>
            <a:ext cx="443344" cy="341279"/>
          </a:xfrm>
          <a:prstGeom prst="rect">
            <a:avLst/>
          </a:prstGeom>
        </p:spPr>
      </p:pic>
      <p:sp>
        <p:nvSpPr>
          <p:cNvPr id="35" name="文本框 34"/>
          <p:cNvSpPr txBox="1"/>
          <p:nvPr/>
        </p:nvSpPr>
        <p:spPr bwMode="gray">
          <a:xfrm>
            <a:off x="1553541" y="5374157"/>
            <a:ext cx="902811" cy="307777"/>
          </a:xfrm>
          <a:prstGeom prst="rect">
            <a:avLst/>
          </a:prstGeom>
          <a:noFill/>
        </p:spPr>
        <p:txBody>
          <a:bodyPr wrap="none" rtlCol="0">
            <a:spAutoFit/>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销售员工</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2" name="图片 87" descr="汇聚交换机.png"/>
          <p:cNvPicPr>
            <a:picLocks noChangeAspect="1"/>
          </p:cNvPicPr>
          <p:nvPr/>
        </p:nvPicPr>
        <p:blipFill>
          <a:blip r:embed="rId3"/>
          <a:stretch>
            <a:fillRect/>
          </a:stretch>
        </p:blipFill>
        <p:spPr bwMode="gray">
          <a:xfrm>
            <a:off x="4778617" y="4182511"/>
            <a:ext cx="491768" cy="402358"/>
          </a:xfrm>
          <a:prstGeom prst="rect">
            <a:avLst/>
          </a:prstGeom>
        </p:spPr>
      </p:pic>
      <p:pic>
        <p:nvPicPr>
          <p:cNvPr id="63" name="图片 11" descr="开放网络-蓝.png"/>
          <p:cNvPicPr>
            <a:picLocks noChangeAspect="1"/>
          </p:cNvPicPr>
          <p:nvPr/>
        </p:nvPicPr>
        <p:blipFill>
          <a:blip r:embed="rId5" cstate="print"/>
          <a:stretch>
            <a:fillRect/>
          </a:stretch>
        </p:blipFill>
        <p:spPr bwMode="gray">
          <a:xfrm>
            <a:off x="4832154" y="4965144"/>
            <a:ext cx="443344" cy="341279"/>
          </a:xfrm>
          <a:prstGeom prst="rect">
            <a:avLst/>
          </a:prstGeom>
        </p:spPr>
      </p:pic>
      <p:sp>
        <p:nvSpPr>
          <p:cNvPr id="65" name="文本框 64"/>
          <p:cNvSpPr txBox="1"/>
          <p:nvPr/>
        </p:nvSpPr>
        <p:spPr bwMode="gray">
          <a:xfrm>
            <a:off x="4602421" y="5374157"/>
            <a:ext cx="902811" cy="307777"/>
          </a:xfrm>
          <a:prstGeom prst="rect">
            <a:avLst/>
          </a:prstGeom>
          <a:noFill/>
        </p:spPr>
        <p:txBody>
          <a:bodyPr wrap="none" rtlCol="0">
            <a:spAutoFit/>
          </a:bodyPr>
          <a:lstStyle/>
          <a:p>
            <a:pPr algn="ct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销售员工</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文本框 67"/>
          <p:cNvSpPr txBox="1"/>
          <p:nvPr/>
        </p:nvSpPr>
        <p:spPr bwMode="gray">
          <a:xfrm>
            <a:off x="6320634" y="2585762"/>
            <a:ext cx="4700917" cy="1785104"/>
          </a:xfrm>
          <a:prstGeom prst="rect">
            <a:avLst/>
          </a:prstGeom>
          <a:noFill/>
        </p:spPr>
        <p:txBody>
          <a:bodyPr wrap="square" rtlCol="0">
            <a:spAutoFit/>
          </a:bodyPr>
          <a:lstStyle/>
          <a:p>
            <a:pPr>
              <a:lnSpc>
                <a:spcPts val="2400"/>
              </a:lnSpc>
              <a:spcAft>
                <a:spcPts val="600"/>
              </a:spcAft>
            </a:pP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隧道自动建立：</a:t>
            </a:r>
            <a:endPar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endParaRPr>
          </a:p>
          <a:p>
            <a:pPr marL="342900" lvl="0" indent="-342900">
              <a:lnSpc>
                <a:spcPts val="2400"/>
              </a:lnSpc>
              <a:spcAft>
                <a:spcPts val="600"/>
              </a:spcAft>
              <a:buFont typeface="+mj-ea"/>
              <a:buAutoNum type="circleNumDbPlain"/>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BGP EVPN</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将用于建立</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的相关信息在对等体之间通告。</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lvl="0" indent="-342900">
              <a:lnSpc>
                <a:spcPts val="2400"/>
              </a:lnSpc>
              <a:spcAft>
                <a:spcPts val="600"/>
              </a:spcAft>
              <a:buFont typeface="+mj-ea"/>
              <a:buAutoNum type="circleNumDbPlain"/>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设备之间建立</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隧道，为后续的数据转发做准备。</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Can 225"/>
          <p:cNvSpPr/>
          <p:nvPr/>
        </p:nvSpPr>
        <p:spPr bwMode="gray">
          <a:xfrm rot="5400000">
            <a:off x="3394349" y="2902534"/>
            <a:ext cx="313070" cy="2368003"/>
          </a:xfrm>
          <a:prstGeom prst="can">
            <a:avLst>
              <a:gd name="adj" fmla="val 40000"/>
            </a:avLst>
          </a:prstGeom>
          <a:solidFill>
            <a:srgbClr val="AFD89C"/>
          </a:solidFill>
          <a:ln w="12700" cap="flat" cmpd="sng" algn="ctr">
            <a:solidFill>
              <a:sysClr val="window" lastClr="FFFFFF"/>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0" name="图片 9"/>
          <p:cNvPicPr>
            <a:picLocks noChangeAspect="1"/>
          </p:cNvPicPr>
          <p:nvPr/>
        </p:nvPicPr>
        <p:blipFill>
          <a:blip r:embed="rId6">
            <a:extLst>
              <a:ext uri="{28A0092B-C50C-407E-A947-70E740481C1C}">
                <a14:useLocalDpi xmlns:a14="http://schemas.microsoft.com/office/drawing/2010/main" val="0"/>
              </a:ext>
            </a:extLst>
          </a:blip>
          <a:stretch>
            <a:fillRect/>
          </a:stretch>
        </p:blipFill>
        <p:spPr bwMode="gray">
          <a:xfrm>
            <a:off x="1738124" y="1410647"/>
            <a:ext cx="491768" cy="402358"/>
          </a:xfrm>
          <a:prstGeom prst="rect">
            <a:avLst/>
          </a:prstGeom>
        </p:spPr>
      </p:pic>
      <p:sp>
        <p:nvSpPr>
          <p:cNvPr id="71" name="文本框 70"/>
          <p:cNvSpPr txBox="1"/>
          <p:nvPr/>
        </p:nvSpPr>
        <p:spPr bwMode="gray">
          <a:xfrm>
            <a:off x="1757023" y="1052513"/>
            <a:ext cx="453970"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FW</a:t>
            </a:r>
            <a:endParaRPr lang="en-US" altLang="zh-CN" sz="1400">
              <a:solidFill>
                <a:srgbClr val="F085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2" name="图片 72" descr="交换机.png"/>
          <p:cNvPicPr>
            <a:picLocks noChangeAspect="1"/>
          </p:cNvPicPr>
          <p:nvPr/>
        </p:nvPicPr>
        <p:blipFill>
          <a:blip r:embed="rId7" cstate="print"/>
          <a:stretch>
            <a:fillRect/>
          </a:stretch>
        </p:blipFill>
        <p:spPr bwMode="gray">
          <a:xfrm>
            <a:off x="4781100" y="1411354"/>
            <a:ext cx="489285" cy="401651"/>
          </a:xfrm>
          <a:prstGeom prst="rect">
            <a:avLst/>
          </a:prstGeom>
        </p:spPr>
      </p:pic>
      <p:sp>
        <p:nvSpPr>
          <p:cNvPr id="73" name="文本框 72"/>
          <p:cNvSpPr txBox="1"/>
          <p:nvPr/>
        </p:nvSpPr>
        <p:spPr bwMode="gray">
          <a:xfrm>
            <a:off x="4411195" y="1052513"/>
            <a:ext cx="1226619"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DHCP Server</a:t>
            </a:r>
            <a:endParaRPr lang="en-US" altLang="zh-CN" sz="1400">
              <a:solidFill>
                <a:srgbClr val="F085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4" name="图片 7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bwMode="gray">
          <a:xfrm>
            <a:off x="4411195" y="2174099"/>
            <a:ext cx="1673180" cy="308578"/>
          </a:xfrm>
          <a:prstGeom prst="rect">
            <a:avLst/>
          </a:prstGeom>
        </p:spPr>
      </p:pic>
      <p:sp>
        <p:nvSpPr>
          <p:cNvPr id="76" name="Can 225"/>
          <p:cNvSpPr/>
          <p:nvPr/>
        </p:nvSpPr>
        <p:spPr bwMode="gray">
          <a:xfrm rot="2372455">
            <a:off x="2420548" y="2453008"/>
            <a:ext cx="313070" cy="1770722"/>
          </a:xfrm>
          <a:prstGeom prst="can">
            <a:avLst>
              <a:gd name="adj" fmla="val 40000"/>
            </a:avLst>
          </a:prstGeom>
          <a:solidFill>
            <a:srgbClr val="AFD89C"/>
          </a:solidFill>
          <a:ln w="12700" cap="flat" cmpd="sng" algn="ctr">
            <a:solidFill>
              <a:sysClr val="window" lastClr="FFFFFF"/>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Can 225"/>
          <p:cNvSpPr/>
          <p:nvPr/>
        </p:nvSpPr>
        <p:spPr bwMode="gray">
          <a:xfrm rot="19240365">
            <a:off x="4289467" y="2453008"/>
            <a:ext cx="313070" cy="1770722"/>
          </a:xfrm>
          <a:prstGeom prst="can">
            <a:avLst>
              <a:gd name="adj" fmla="val 40000"/>
            </a:avLst>
          </a:prstGeom>
          <a:solidFill>
            <a:srgbClr val="AFD89C"/>
          </a:solidFill>
          <a:ln w="12700" cap="flat" cmpd="sng" algn="ctr">
            <a:solidFill>
              <a:sysClr val="window" lastClr="FFFFFF"/>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矩形 22"/>
          <p:cNvSpPr/>
          <p:nvPr/>
        </p:nvSpPr>
        <p:spPr bwMode="gray">
          <a:xfrm>
            <a:off x="2933465" y="3933881"/>
            <a:ext cx="1141659" cy="307777"/>
          </a:xfrm>
          <a:prstGeom prst="rect">
            <a:avLst/>
          </a:prstGeom>
        </p:spPr>
        <p:txBody>
          <a:bodyPr wrap="none">
            <a:spAutoFit/>
          </a:bodyPr>
          <a:lstStyle/>
          <a:p>
            <a:pPr algn="just"/>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隧道</a:t>
            </a:r>
          </a:p>
        </p:txBody>
      </p:sp>
      <p:sp>
        <p:nvSpPr>
          <p:cNvPr id="24" name="矩形 23"/>
          <p:cNvSpPr/>
          <p:nvPr/>
        </p:nvSpPr>
        <p:spPr bwMode="gray">
          <a:xfrm rot="18526879">
            <a:off x="1984008" y="3201414"/>
            <a:ext cx="1141659" cy="307777"/>
          </a:xfrm>
          <a:prstGeom prst="rect">
            <a:avLst/>
          </a:prstGeom>
        </p:spPr>
        <p:txBody>
          <a:bodyPr wrap="none">
            <a:spAutoFit/>
          </a:bodyPr>
          <a:lstStyle/>
          <a:p>
            <a:pPr algn="just"/>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隧道</a:t>
            </a:r>
          </a:p>
        </p:txBody>
      </p:sp>
      <p:sp>
        <p:nvSpPr>
          <p:cNvPr id="25" name="矩形 24"/>
          <p:cNvSpPr/>
          <p:nvPr/>
        </p:nvSpPr>
        <p:spPr bwMode="gray">
          <a:xfrm rot="2981043">
            <a:off x="3843092" y="3159079"/>
            <a:ext cx="1141659" cy="307777"/>
          </a:xfrm>
          <a:prstGeom prst="rect">
            <a:avLst/>
          </a:prstGeom>
        </p:spPr>
        <p:txBody>
          <a:bodyPr wrap="none">
            <a:spAutoFit/>
          </a:bodyPr>
          <a:lstStyle/>
          <a:p>
            <a:pPr algn="just"/>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隧道</a:t>
            </a:r>
          </a:p>
        </p:txBody>
      </p:sp>
    </p:spTree>
    <p:extLst>
      <p:ext uri="{BB962C8B-B14F-4D97-AF65-F5344CB8AC3E}">
        <p14:creationId xmlns:p14="http://schemas.microsoft.com/office/powerpoint/2010/main" val="105653723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sym typeface="Huawei Sans" panose="020C0503030203020204" pitchFamily="34" charset="0"/>
              </a:rPr>
              <a:t>典型案例分析：地址获取</a:t>
            </a:r>
          </a:p>
        </p:txBody>
      </p:sp>
      <p:sp>
        <p:nvSpPr>
          <p:cNvPr id="27" name="圆角矩形 26"/>
          <p:cNvSpPr/>
          <p:nvPr/>
        </p:nvSpPr>
        <p:spPr bwMode="gray">
          <a:xfrm>
            <a:off x="730240" y="2739486"/>
            <a:ext cx="5365760" cy="1836992"/>
          </a:xfrm>
          <a:prstGeom prst="roundRect">
            <a:avLst>
              <a:gd name="adj" fmla="val 593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圆角矩形 27"/>
          <p:cNvSpPr/>
          <p:nvPr/>
        </p:nvSpPr>
        <p:spPr bwMode="gray">
          <a:xfrm>
            <a:off x="731838" y="4626835"/>
            <a:ext cx="2691096" cy="1446887"/>
          </a:xfrm>
          <a:prstGeom prst="roundRect">
            <a:avLst>
              <a:gd name="adj" fmla="val 593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圆角矩形 28"/>
          <p:cNvSpPr/>
          <p:nvPr/>
        </p:nvSpPr>
        <p:spPr bwMode="gray">
          <a:xfrm>
            <a:off x="3539018" y="4626835"/>
            <a:ext cx="2556982" cy="1446887"/>
          </a:xfrm>
          <a:prstGeom prst="roundRect">
            <a:avLst>
              <a:gd name="adj" fmla="val 593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0" name="图片 87" descr="汇聚交换机.png"/>
          <p:cNvPicPr>
            <a:picLocks noChangeAspect="1"/>
          </p:cNvPicPr>
          <p:nvPr/>
        </p:nvPicPr>
        <p:blipFill>
          <a:blip r:embed="rId3"/>
          <a:stretch>
            <a:fillRect/>
          </a:stretch>
        </p:blipFill>
        <p:spPr bwMode="gray">
          <a:xfrm>
            <a:off x="1714886" y="4384562"/>
            <a:ext cx="491768" cy="402358"/>
          </a:xfrm>
          <a:prstGeom prst="rect">
            <a:avLst/>
          </a:prstGeom>
        </p:spPr>
      </p:pic>
      <p:pic>
        <p:nvPicPr>
          <p:cNvPr id="31" name="图片 86" descr="核心交换机.png"/>
          <p:cNvPicPr>
            <a:picLocks noChangeAspect="1"/>
          </p:cNvPicPr>
          <p:nvPr/>
        </p:nvPicPr>
        <p:blipFill>
          <a:blip r:embed="rId4"/>
          <a:stretch>
            <a:fillRect/>
          </a:stretch>
        </p:blipFill>
        <p:spPr bwMode="gray">
          <a:xfrm>
            <a:off x="3238125" y="2437330"/>
            <a:ext cx="491768" cy="402358"/>
          </a:xfrm>
          <a:prstGeom prst="rect">
            <a:avLst/>
          </a:prstGeom>
        </p:spPr>
      </p:pic>
      <p:pic>
        <p:nvPicPr>
          <p:cNvPr id="32" name="图片 11" descr="开放网络-蓝.png"/>
          <p:cNvPicPr>
            <a:picLocks noChangeAspect="1"/>
          </p:cNvPicPr>
          <p:nvPr/>
        </p:nvPicPr>
        <p:blipFill>
          <a:blip r:embed="rId5" cstate="print"/>
          <a:stretch>
            <a:fillRect/>
          </a:stretch>
        </p:blipFill>
        <p:spPr bwMode="gray">
          <a:xfrm>
            <a:off x="1759956" y="5167195"/>
            <a:ext cx="443344" cy="341279"/>
          </a:xfrm>
          <a:prstGeom prst="rect">
            <a:avLst/>
          </a:prstGeom>
        </p:spPr>
      </p:pic>
      <p:sp>
        <p:nvSpPr>
          <p:cNvPr id="33" name="文本框 32"/>
          <p:cNvSpPr txBox="1"/>
          <p:nvPr/>
        </p:nvSpPr>
        <p:spPr bwMode="gray">
          <a:xfrm>
            <a:off x="1471715" y="5576208"/>
            <a:ext cx="1019830" cy="307777"/>
          </a:xfrm>
          <a:prstGeom prst="rect">
            <a:avLst/>
          </a:prstGeom>
          <a:noFill/>
        </p:spPr>
        <p:txBody>
          <a:bodyPr wrap="none" rtlCol="0">
            <a:spAutoFit/>
          </a:bodyPr>
          <a:lstStyle/>
          <a:p>
            <a:pPr algn="ct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销售员工</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A</a:t>
            </a:r>
          </a:p>
        </p:txBody>
      </p:sp>
      <p:pic>
        <p:nvPicPr>
          <p:cNvPr id="34" name="图片 87" descr="汇聚交换机.png"/>
          <p:cNvPicPr>
            <a:picLocks noChangeAspect="1"/>
          </p:cNvPicPr>
          <p:nvPr/>
        </p:nvPicPr>
        <p:blipFill>
          <a:blip r:embed="rId3"/>
          <a:stretch>
            <a:fillRect/>
          </a:stretch>
        </p:blipFill>
        <p:spPr bwMode="gray">
          <a:xfrm>
            <a:off x="4755298" y="4384562"/>
            <a:ext cx="491768" cy="402358"/>
          </a:xfrm>
          <a:prstGeom prst="rect">
            <a:avLst/>
          </a:prstGeom>
        </p:spPr>
      </p:pic>
      <p:pic>
        <p:nvPicPr>
          <p:cNvPr id="41" name="图片 9"/>
          <p:cNvPicPr>
            <a:picLocks noChangeAspect="1"/>
          </p:cNvPicPr>
          <p:nvPr/>
        </p:nvPicPr>
        <p:blipFill>
          <a:blip r:embed="rId6">
            <a:extLst>
              <a:ext uri="{28A0092B-C50C-407E-A947-70E740481C1C}">
                <a14:useLocalDpi xmlns:a14="http://schemas.microsoft.com/office/drawing/2010/main" val="0"/>
              </a:ext>
            </a:extLst>
          </a:blip>
          <a:stretch>
            <a:fillRect/>
          </a:stretch>
        </p:blipFill>
        <p:spPr bwMode="gray">
          <a:xfrm>
            <a:off x="1714805" y="1612698"/>
            <a:ext cx="491768" cy="402358"/>
          </a:xfrm>
          <a:prstGeom prst="rect">
            <a:avLst/>
          </a:prstGeom>
        </p:spPr>
      </p:pic>
      <p:sp>
        <p:nvSpPr>
          <p:cNvPr id="62" name="文本框 61"/>
          <p:cNvSpPr txBox="1"/>
          <p:nvPr/>
        </p:nvSpPr>
        <p:spPr bwMode="gray">
          <a:xfrm>
            <a:off x="1733704" y="1254564"/>
            <a:ext cx="453970"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FW</a:t>
            </a:r>
            <a:endParaRPr lang="en-US" altLang="zh-CN" sz="1400">
              <a:solidFill>
                <a:srgbClr val="F085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3" name="图片 72" descr="交换机.png"/>
          <p:cNvPicPr>
            <a:picLocks noChangeAspect="1"/>
          </p:cNvPicPr>
          <p:nvPr/>
        </p:nvPicPr>
        <p:blipFill>
          <a:blip r:embed="rId7" cstate="print"/>
          <a:stretch>
            <a:fillRect/>
          </a:stretch>
        </p:blipFill>
        <p:spPr bwMode="gray">
          <a:xfrm>
            <a:off x="4757781" y="1613405"/>
            <a:ext cx="489285" cy="401651"/>
          </a:xfrm>
          <a:prstGeom prst="rect">
            <a:avLst/>
          </a:prstGeom>
        </p:spPr>
      </p:pic>
      <p:sp>
        <p:nvSpPr>
          <p:cNvPr id="64" name="文本框 63"/>
          <p:cNvSpPr txBox="1"/>
          <p:nvPr/>
        </p:nvSpPr>
        <p:spPr bwMode="gray">
          <a:xfrm>
            <a:off x="4387876" y="1254564"/>
            <a:ext cx="1226619"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DHCP Server</a:t>
            </a:r>
            <a:endParaRPr lang="en-US" altLang="zh-CN" sz="1400">
              <a:solidFill>
                <a:srgbClr val="F085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文本框 65"/>
          <p:cNvSpPr txBox="1"/>
          <p:nvPr/>
        </p:nvSpPr>
        <p:spPr bwMode="gray">
          <a:xfrm>
            <a:off x="1603860" y="4064136"/>
            <a:ext cx="713657"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1.1.1.1</a:t>
            </a:r>
          </a:p>
        </p:txBody>
      </p:sp>
      <p:sp>
        <p:nvSpPr>
          <p:cNvPr id="67" name="文本框 66"/>
          <p:cNvSpPr txBox="1"/>
          <p:nvPr/>
        </p:nvSpPr>
        <p:spPr bwMode="gray">
          <a:xfrm>
            <a:off x="3127180" y="2839688"/>
            <a:ext cx="713657"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3.3.3.3</a:t>
            </a:r>
          </a:p>
        </p:txBody>
      </p:sp>
      <p:sp>
        <p:nvSpPr>
          <p:cNvPr id="72" name="Can 225"/>
          <p:cNvSpPr/>
          <p:nvPr/>
        </p:nvSpPr>
        <p:spPr bwMode="gray">
          <a:xfrm rot="2783584">
            <a:off x="2276135" y="2467795"/>
            <a:ext cx="313070" cy="1770722"/>
          </a:xfrm>
          <a:prstGeom prst="can">
            <a:avLst>
              <a:gd name="adj" fmla="val 40000"/>
            </a:avLst>
          </a:prstGeom>
          <a:solidFill>
            <a:srgbClr val="AFD89C"/>
          </a:solidFill>
          <a:ln w="12700" cap="flat" cmpd="sng" algn="ctr">
            <a:solidFill>
              <a:sysClr val="window" lastClr="FFFFFF"/>
            </a:solidFill>
            <a:prstDash val="solid"/>
            <a:miter lim="800000"/>
          </a:ln>
          <a:effectLst/>
        </p:spPr>
        <p:txBody>
          <a:bodyPr rtlCol="0" anchor="ctr"/>
          <a:lstStyle/>
          <a:p>
            <a:pPr algn="ctr"/>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文本框 72"/>
          <p:cNvSpPr txBox="1"/>
          <p:nvPr/>
        </p:nvSpPr>
        <p:spPr bwMode="gray">
          <a:xfrm>
            <a:off x="730240" y="1642421"/>
            <a:ext cx="984565"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1.2.3.0/24</a:t>
            </a:r>
            <a:endParaRPr lang="en-US" altLang="zh-CN" sz="1400">
              <a:solidFill>
                <a:srgbClr val="F085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文本框 74"/>
          <p:cNvSpPr txBox="1"/>
          <p:nvPr/>
        </p:nvSpPr>
        <p:spPr bwMode="gray">
          <a:xfrm>
            <a:off x="4307577" y="2288070"/>
            <a:ext cx="1380507" cy="307777"/>
          </a:xfrm>
          <a:prstGeom prst="rect">
            <a:avLst/>
          </a:prstGeom>
          <a:noFill/>
        </p:spPr>
        <p:txBody>
          <a:bodyPr wrap="none" rtlCol="0">
            <a:spAutoFit/>
          </a:bodyPr>
          <a:lstStyle/>
          <a:p>
            <a:pPr algn="ct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报文交互</a:t>
            </a:r>
            <a:endPar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任意多边形 8"/>
          <p:cNvSpPr/>
          <p:nvPr/>
        </p:nvSpPr>
        <p:spPr bwMode="gray">
          <a:xfrm>
            <a:off x="1413932" y="2081646"/>
            <a:ext cx="3592561" cy="3421687"/>
          </a:xfrm>
          <a:custGeom>
            <a:avLst/>
            <a:gdLst>
              <a:gd name="connsiteX0" fmla="*/ 0 w 1744134"/>
              <a:gd name="connsiteY0" fmla="*/ 3369733 h 3369733"/>
              <a:gd name="connsiteX1" fmla="*/ 0 w 1744134"/>
              <a:gd name="connsiteY1" fmla="*/ 2167467 h 3369733"/>
              <a:gd name="connsiteX2" fmla="*/ 1744134 w 1744134"/>
              <a:gd name="connsiteY2" fmla="*/ 516467 h 3369733"/>
              <a:gd name="connsiteX3" fmla="*/ 880534 w 1744134"/>
              <a:gd name="connsiteY3" fmla="*/ 0 h 3369733"/>
              <a:gd name="connsiteX0" fmla="*/ 0 w 3616360"/>
              <a:gd name="connsiteY0" fmla="*/ 3421687 h 3421687"/>
              <a:gd name="connsiteX1" fmla="*/ 0 w 3616360"/>
              <a:gd name="connsiteY1" fmla="*/ 2219421 h 3421687"/>
              <a:gd name="connsiteX2" fmla="*/ 1744134 w 3616360"/>
              <a:gd name="connsiteY2" fmla="*/ 568421 h 3421687"/>
              <a:gd name="connsiteX3" fmla="*/ 3592561 w 3616360"/>
              <a:gd name="connsiteY3" fmla="*/ 0 h 3421687"/>
              <a:gd name="connsiteX0" fmla="*/ 0 w 3592561"/>
              <a:gd name="connsiteY0" fmla="*/ 3421687 h 3421687"/>
              <a:gd name="connsiteX1" fmla="*/ 0 w 3592561"/>
              <a:gd name="connsiteY1" fmla="*/ 2219421 h 3421687"/>
              <a:gd name="connsiteX2" fmla="*/ 1744134 w 3592561"/>
              <a:gd name="connsiteY2" fmla="*/ 568421 h 3421687"/>
              <a:gd name="connsiteX3" fmla="*/ 3592561 w 3592561"/>
              <a:gd name="connsiteY3" fmla="*/ 0 h 3421687"/>
              <a:gd name="connsiteX0" fmla="*/ 0 w 3592561"/>
              <a:gd name="connsiteY0" fmla="*/ 3421687 h 3421687"/>
              <a:gd name="connsiteX1" fmla="*/ 0 w 3592561"/>
              <a:gd name="connsiteY1" fmla="*/ 2219421 h 3421687"/>
              <a:gd name="connsiteX2" fmla="*/ 1744134 w 3592561"/>
              <a:gd name="connsiteY2" fmla="*/ 568421 h 3421687"/>
              <a:gd name="connsiteX3" fmla="*/ 3592561 w 3592561"/>
              <a:gd name="connsiteY3" fmla="*/ 0 h 3421687"/>
            </a:gdLst>
            <a:ahLst/>
            <a:cxnLst>
              <a:cxn ang="0">
                <a:pos x="connsiteX0" y="connsiteY0"/>
              </a:cxn>
              <a:cxn ang="0">
                <a:pos x="connsiteX1" y="connsiteY1"/>
              </a:cxn>
              <a:cxn ang="0">
                <a:pos x="connsiteX2" y="connsiteY2"/>
              </a:cxn>
              <a:cxn ang="0">
                <a:pos x="connsiteX3" y="connsiteY3"/>
              </a:cxn>
            </a:cxnLst>
            <a:rect l="l" t="t" r="r" b="b"/>
            <a:pathLst>
              <a:path w="3592561" h="3421687">
                <a:moveTo>
                  <a:pt x="0" y="3421687"/>
                </a:moveTo>
                <a:lnTo>
                  <a:pt x="0" y="2219421"/>
                </a:lnTo>
                <a:lnTo>
                  <a:pt x="1744134" y="568421"/>
                </a:lnTo>
                <a:lnTo>
                  <a:pt x="3592561" y="0"/>
                </a:lnTo>
              </a:path>
            </a:pathLst>
          </a:custGeom>
          <a:ln w="38100">
            <a:solidFill>
              <a:srgbClr val="62B230"/>
            </a:solidFill>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文本框 44"/>
          <p:cNvSpPr txBox="1"/>
          <p:nvPr/>
        </p:nvSpPr>
        <p:spPr bwMode="gray">
          <a:xfrm>
            <a:off x="6192540" y="1614218"/>
            <a:ext cx="5267623" cy="3477875"/>
          </a:xfrm>
          <a:prstGeom prst="rect">
            <a:avLst/>
          </a:prstGeom>
          <a:noFill/>
        </p:spPr>
        <p:txBody>
          <a:bodyPr wrap="square" rtlCol="0">
            <a:spAutoFit/>
          </a:bodyPr>
          <a:lstStyle/>
          <a:p>
            <a:pPr>
              <a:lnSpc>
                <a:spcPts val="2400"/>
              </a:lnSpc>
              <a:spcAft>
                <a:spcPts val="600"/>
              </a:spcAft>
            </a:pP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地址获取：</a:t>
            </a:r>
            <a:endPar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endParaRPr>
          </a:p>
          <a:p>
            <a:pPr marL="342900" lvl="0" indent="-342900">
              <a:lnSpc>
                <a:spcPts val="2400"/>
              </a:lnSpc>
              <a:spcAft>
                <a:spcPts val="600"/>
              </a:spcAft>
              <a:buFont typeface="+mj-ea"/>
              <a:buAutoNum type="circleNumDbPlain"/>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销售员工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接入网络，首先完成用户认证，认证成功后，认证点</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Edge1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获得该用户的授权结果，将用户划分到对应</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lvl="0" indent="-342900">
              <a:lnSpc>
                <a:spcPts val="2400"/>
              </a:lnSpc>
              <a:spcAft>
                <a:spcPts val="600"/>
              </a:spcAft>
              <a:buFont typeface="+mj-ea"/>
              <a:buAutoNum type="circleNumDbPlain"/>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发起</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请求，该请求到达网关设备</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Edge1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后，</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Edge1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将</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请求进行中继，中继报文通过</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隧道转发给</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lvl="0" indent="-342900">
              <a:lnSpc>
                <a:spcPts val="2400"/>
              </a:lnSpc>
              <a:spcAft>
                <a:spcPts val="600"/>
              </a:spcAft>
              <a:buFont typeface="+mj-ea"/>
              <a:buAutoNum type="circleNumDbPlain"/>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将</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解封装，并将</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中继报文转发给</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DHCP Server</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lvl="0" indent="-342900">
              <a:lnSpc>
                <a:spcPts val="2400"/>
              </a:lnSpc>
              <a:spcAft>
                <a:spcPts val="600"/>
              </a:spcAft>
              <a:buFont typeface="+mj-ea"/>
              <a:buAutoNum type="circleNumDbPlain"/>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DHCP Server</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为</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分配</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文本框 45"/>
          <p:cNvSpPr txBox="1"/>
          <p:nvPr/>
        </p:nvSpPr>
        <p:spPr bwMode="gray">
          <a:xfrm>
            <a:off x="2187674" y="4649235"/>
            <a:ext cx="683200"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Edge1</a:t>
            </a:r>
          </a:p>
        </p:txBody>
      </p:sp>
      <p:sp>
        <p:nvSpPr>
          <p:cNvPr id="47" name="文本框 46"/>
          <p:cNvSpPr txBox="1"/>
          <p:nvPr/>
        </p:nvSpPr>
        <p:spPr bwMode="gray">
          <a:xfrm>
            <a:off x="5247066" y="4649235"/>
            <a:ext cx="683199"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Edge2</a:t>
            </a:r>
          </a:p>
        </p:txBody>
      </p:sp>
      <p:sp>
        <p:nvSpPr>
          <p:cNvPr id="48" name="文本框 47"/>
          <p:cNvSpPr txBox="1"/>
          <p:nvPr/>
        </p:nvSpPr>
        <p:spPr bwMode="gray">
          <a:xfrm>
            <a:off x="3142814" y="2167823"/>
            <a:ext cx="728084"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Border</a:t>
            </a:r>
          </a:p>
        </p:txBody>
      </p:sp>
    </p:spTree>
    <p:extLst>
      <p:ext uri="{BB962C8B-B14F-4D97-AF65-F5344CB8AC3E}">
        <p14:creationId xmlns:p14="http://schemas.microsoft.com/office/powerpoint/2010/main" val="111320361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sym typeface="Huawei Sans" panose="020C0503030203020204" pitchFamily="34" charset="0"/>
              </a:rPr>
              <a:t>典型案例分析：同子网互访</a:t>
            </a:r>
          </a:p>
        </p:txBody>
      </p:sp>
      <p:sp>
        <p:nvSpPr>
          <p:cNvPr id="27" name="圆角矩形 26"/>
          <p:cNvSpPr/>
          <p:nvPr/>
        </p:nvSpPr>
        <p:spPr bwMode="gray">
          <a:xfrm>
            <a:off x="731838" y="2739486"/>
            <a:ext cx="5394960" cy="1836992"/>
          </a:xfrm>
          <a:prstGeom prst="roundRect">
            <a:avLst>
              <a:gd name="adj" fmla="val 593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圆角矩形 27"/>
          <p:cNvSpPr/>
          <p:nvPr/>
        </p:nvSpPr>
        <p:spPr bwMode="gray">
          <a:xfrm>
            <a:off x="731838" y="4626835"/>
            <a:ext cx="2691096" cy="1573940"/>
          </a:xfrm>
          <a:prstGeom prst="roundRect">
            <a:avLst>
              <a:gd name="adj" fmla="val 593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圆角矩形 28"/>
          <p:cNvSpPr/>
          <p:nvPr/>
        </p:nvSpPr>
        <p:spPr bwMode="gray">
          <a:xfrm>
            <a:off x="3539018" y="4626835"/>
            <a:ext cx="2556982" cy="1573940"/>
          </a:xfrm>
          <a:prstGeom prst="roundRect">
            <a:avLst>
              <a:gd name="adj" fmla="val 593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0" name="图片 87" descr="汇聚交换机.png"/>
          <p:cNvPicPr>
            <a:picLocks noChangeAspect="1"/>
          </p:cNvPicPr>
          <p:nvPr/>
        </p:nvPicPr>
        <p:blipFill>
          <a:blip r:embed="rId3"/>
          <a:stretch>
            <a:fillRect/>
          </a:stretch>
        </p:blipFill>
        <p:spPr bwMode="gray">
          <a:xfrm>
            <a:off x="1714886" y="4384562"/>
            <a:ext cx="491768" cy="402358"/>
          </a:xfrm>
          <a:prstGeom prst="rect">
            <a:avLst/>
          </a:prstGeom>
        </p:spPr>
      </p:pic>
      <p:pic>
        <p:nvPicPr>
          <p:cNvPr id="31" name="图片 86" descr="核心交换机.png"/>
          <p:cNvPicPr>
            <a:picLocks noChangeAspect="1"/>
          </p:cNvPicPr>
          <p:nvPr/>
        </p:nvPicPr>
        <p:blipFill>
          <a:blip r:embed="rId4"/>
          <a:stretch>
            <a:fillRect/>
          </a:stretch>
        </p:blipFill>
        <p:spPr bwMode="gray">
          <a:xfrm>
            <a:off x="3238125" y="2437330"/>
            <a:ext cx="491768" cy="402358"/>
          </a:xfrm>
          <a:prstGeom prst="rect">
            <a:avLst/>
          </a:prstGeom>
        </p:spPr>
      </p:pic>
      <p:pic>
        <p:nvPicPr>
          <p:cNvPr id="32" name="图片 11" descr="开放网络-蓝.png"/>
          <p:cNvPicPr>
            <a:picLocks noChangeAspect="1"/>
          </p:cNvPicPr>
          <p:nvPr/>
        </p:nvPicPr>
        <p:blipFill>
          <a:blip r:embed="rId5" cstate="print"/>
          <a:stretch>
            <a:fillRect/>
          </a:stretch>
        </p:blipFill>
        <p:spPr bwMode="gray">
          <a:xfrm>
            <a:off x="1759956" y="5094320"/>
            <a:ext cx="443344" cy="341279"/>
          </a:xfrm>
          <a:prstGeom prst="rect">
            <a:avLst/>
          </a:prstGeom>
        </p:spPr>
      </p:pic>
      <p:sp>
        <p:nvSpPr>
          <p:cNvPr id="33" name="文本框 32"/>
          <p:cNvSpPr txBox="1"/>
          <p:nvPr/>
        </p:nvSpPr>
        <p:spPr bwMode="gray">
          <a:xfrm>
            <a:off x="1180771" y="5462111"/>
            <a:ext cx="1601721" cy="738664"/>
          </a:xfrm>
          <a:prstGeom prst="rect">
            <a:avLst/>
          </a:prstGeom>
          <a:noFill/>
        </p:spPr>
        <p:txBody>
          <a:bodyPr wrap="none" rtlCol="0">
            <a:spAutoFit/>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销售员工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10.1.10.1/24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AAAA-0000-0001</a:t>
            </a:r>
          </a:p>
        </p:txBody>
      </p:sp>
      <p:pic>
        <p:nvPicPr>
          <p:cNvPr id="34" name="图片 87" descr="汇聚交换机.png"/>
          <p:cNvPicPr>
            <a:picLocks noChangeAspect="1"/>
          </p:cNvPicPr>
          <p:nvPr/>
        </p:nvPicPr>
        <p:blipFill>
          <a:blip r:embed="rId3"/>
          <a:stretch>
            <a:fillRect/>
          </a:stretch>
        </p:blipFill>
        <p:spPr bwMode="gray">
          <a:xfrm>
            <a:off x="4755298" y="4384562"/>
            <a:ext cx="491768" cy="402358"/>
          </a:xfrm>
          <a:prstGeom prst="rect">
            <a:avLst/>
          </a:prstGeom>
        </p:spPr>
      </p:pic>
      <p:pic>
        <p:nvPicPr>
          <p:cNvPr id="35" name="图片 11" descr="开放网络-蓝.png"/>
          <p:cNvPicPr>
            <a:picLocks noChangeAspect="1"/>
          </p:cNvPicPr>
          <p:nvPr/>
        </p:nvPicPr>
        <p:blipFill>
          <a:blip r:embed="rId5" cstate="print"/>
          <a:stretch>
            <a:fillRect/>
          </a:stretch>
        </p:blipFill>
        <p:spPr bwMode="gray">
          <a:xfrm>
            <a:off x="4808835" y="5094320"/>
            <a:ext cx="443344" cy="341279"/>
          </a:xfrm>
          <a:prstGeom prst="rect">
            <a:avLst/>
          </a:prstGeom>
        </p:spPr>
      </p:pic>
      <p:sp>
        <p:nvSpPr>
          <p:cNvPr id="36" name="文本框 35"/>
          <p:cNvSpPr txBox="1"/>
          <p:nvPr/>
        </p:nvSpPr>
        <p:spPr bwMode="gray">
          <a:xfrm>
            <a:off x="4229649" y="5462111"/>
            <a:ext cx="1601721" cy="738664"/>
          </a:xfrm>
          <a:prstGeom prst="rect">
            <a:avLst/>
          </a:prstGeom>
          <a:noFill/>
        </p:spPr>
        <p:txBody>
          <a:bodyPr wrap="none" rtlCol="0">
            <a:spAutoFit/>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销售员工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10.1.10.2/24</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AAAA-0000-0002</a:t>
            </a:r>
          </a:p>
        </p:txBody>
      </p:sp>
      <p:pic>
        <p:nvPicPr>
          <p:cNvPr id="41" name="图片 9"/>
          <p:cNvPicPr>
            <a:picLocks noChangeAspect="1"/>
          </p:cNvPicPr>
          <p:nvPr/>
        </p:nvPicPr>
        <p:blipFill>
          <a:blip r:embed="rId6">
            <a:extLst>
              <a:ext uri="{28A0092B-C50C-407E-A947-70E740481C1C}">
                <a14:useLocalDpi xmlns:a14="http://schemas.microsoft.com/office/drawing/2010/main" val="0"/>
              </a:ext>
            </a:extLst>
          </a:blip>
          <a:stretch>
            <a:fillRect/>
          </a:stretch>
        </p:blipFill>
        <p:spPr bwMode="gray">
          <a:xfrm>
            <a:off x="1714805" y="1612698"/>
            <a:ext cx="491768" cy="402358"/>
          </a:xfrm>
          <a:prstGeom prst="rect">
            <a:avLst/>
          </a:prstGeom>
        </p:spPr>
      </p:pic>
      <p:sp>
        <p:nvSpPr>
          <p:cNvPr id="62" name="文本框 61"/>
          <p:cNvSpPr txBox="1"/>
          <p:nvPr/>
        </p:nvSpPr>
        <p:spPr bwMode="gray">
          <a:xfrm>
            <a:off x="1733704" y="1254564"/>
            <a:ext cx="453970"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FW</a:t>
            </a:r>
            <a:endParaRPr lang="en-US" altLang="zh-CN" sz="1400">
              <a:solidFill>
                <a:srgbClr val="F085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3" name="图片 72" descr="交换机.png"/>
          <p:cNvPicPr>
            <a:picLocks noChangeAspect="1"/>
          </p:cNvPicPr>
          <p:nvPr/>
        </p:nvPicPr>
        <p:blipFill>
          <a:blip r:embed="rId7" cstate="print"/>
          <a:stretch>
            <a:fillRect/>
          </a:stretch>
        </p:blipFill>
        <p:spPr bwMode="gray">
          <a:xfrm>
            <a:off x="4757781" y="1613405"/>
            <a:ext cx="489285" cy="401651"/>
          </a:xfrm>
          <a:prstGeom prst="rect">
            <a:avLst/>
          </a:prstGeom>
        </p:spPr>
      </p:pic>
      <p:sp>
        <p:nvSpPr>
          <p:cNvPr id="64" name="文本框 63"/>
          <p:cNvSpPr txBox="1"/>
          <p:nvPr/>
        </p:nvSpPr>
        <p:spPr bwMode="gray">
          <a:xfrm>
            <a:off x="4387876" y="1254564"/>
            <a:ext cx="1226619"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DHCP Server</a:t>
            </a:r>
            <a:endParaRPr lang="en-US" altLang="zh-CN" sz="1400">
              <a:solidFill>
                <a:srgbClr val="F085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文本框 65"/>
          <p:cNvSpPr txBox="1"/>
          <p:nvPr/>
        </p:nvSpPr>
        <p:spPr bwMode="gray">
          <a:xfrm>
            <a:off x="1603860" y="4064136"/>
            <a:ext cx="713657"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1.1.1.1</a:t>
            </a:r>
          </a:p>
        </p:txBody>
      </p:sp>
      <p:sp>
        <p:nvSpPr>
          <p:cNvPr id="67" name="文本框 66"/>
          <p:cNvSpPr txBox="1"/>
          <p:nvPr/>
        </p:nvSpPr>
        <p:spPr bwMode="gray">
          <a:xfrm>
            <a:off x="4680467" y="4064136"/>
            <a:ext cx="713657"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2.2.2.2</a:t>
            </a:r>
          </a:p>
        </p:txBody>
      </p:sp>
      <p:cxnSp>
        <p:nvCxnSpPr>
          <p:cNvPr id="68" name="直接连接符 67">
            <a:extLst>
              <a:ext uri="{FF2B5EF4-FFF2-40B4-BE49-F238E27FC236}">
                <a16:creationId xmlns:a16="http://schemas.microsoft.com/office/drawing/2014/main" id="{49A22ADA-0369-4A01-A3B4-88C626FD0553}"/>
              </a:ext>
            </a:extLst>
          </p:cNvPr>
          <p:cNvCxnSpPr>
            <a:cxnSpLocks/>
          </p:cNvCxnSpPr>
          <p:nvPr/>
        </p:nvCxnSpPr>
        <p:spPr bwMode="gray">
          <a:xfrm>
            <a:off x="3729893" y="2839688"/>
            <a:ext cx="1282374" cy="1224448"/>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49A22ADA-0369-4A01-A3B4-88C626FD0553}"/>
              </a:ext>
            </a:extLst>
          </p:cNvPr>
          <p:cNvCxnSpPr>
            <a:cxnSpLocks/>
          </p:cNvCxnSpPr>
          <p:nvPr/>
        </p:nvCxnSpPr>
        <p:spPr bwMode="gray">
          <a:xfrm flipV="1">
            <a:off x="1933192" y="2874421"/>
            <a:ext cx="1256498" cy="1202893"/>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sp>
        <p:nvSpPr>
          <p:cNvPr id="70" name="任意多边形 69"/>
          <p:cNvSpPr/>
          <p:nvPr/>
        </p:nvSpPr>
        <p:spPr bwMode="gray">
          <a:xfrm>
            <a:off x="2353733" y="4284132"/>
            <a:ext cx="2286000" cy="1151467"/>
          </a:xfrm>
          <a:custGeom>
            <a:avLst/>
            <a:gdLst>
              <a:gd name="connsiteX0" fmla="*/ 0 w 2286000"/>
              <a:gd name="connsiteY0" fmla="*/ 1151467 h 1151467"/>
              <a:gd name="connsiteX1" fmla="*/ 0 w 2286000"/>
              <a:gd name="connsiteY1" fmla="*/ 0 h 1151467"/>
              <a:gd name="connsiteX2" fmla="*/ 2286000 w 2286000"/>
              <a:gd name="connsiteY2" fmla="*/ 0 h 1151467"/>
              <a:gd name="connsiteX3" fmla="*/ 2286000 w 2286000"/>
              <a:gd name="connsiteY3" fmla="*/ 1083734 h 1151467"/>
            </a:gdLst>
            <a:ahLst/>
            <a:cxnLst>
              <a:cxn ang="0">
                <a:pos x="connsiteX0" y="connsiteY0"/>
              </a:cxn>
              <a:cxn ang="0">
                <a:pos x="connsiteX1" y="connsiteY1"/>
              </a:cxn>
              <a:cxn ang="0">
                <a:pos x="connsiteX2" y="connsiteY2"/>
              </a:cxn>
              <a:cxn ang="0">
                <a:pos x="connsiteX3" y="connsiteY3"/>
              </a:cxn>
            </a:cxnLst>
            <a:rect l="l" t="t" r="r" b="b"/>
            <a:pathLst>
              <a:path w="2286000" h="1151467">
                <a:moveTo>
                  <a:pt x="0" y="1151467"/>
                </a:moveTo>
                <a:lnTo>
                  <a:pt x="0" y="0"/>
                </a:lnTo>
                <a:lnTo>
                  <a:pt x="2286000" y="0"/>
                </a:lnTo>
                <a:lnTo>
                  <a:pt x="2286000" y="1083734"/>
                </a:lnTo>
              </a:path>
            </a:pathLst>
          </a:custGeom>
          <a:ln w="38100">
            <a:solidFill>
              <a:srgbClr val="62B23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Can 225"/>
          <p:cNvSpPr/>
          <p:nvPr/>
        </p:nvSpPr>
        <p:spPr bwMode="gray">
          <a:xfrm rot="5400000">
            <a:off x="3350653" y="3250010"/>
            <a:ext cx="313070" cy="2077151"/>
          </a:xfrm>
          <a:prstGeom prst="can">
            <a:avLst>
              <a:gd name="adj" fmla="val 40000"/>
            </a:avLst>
          </a:prstGeom>
          <a:solidFill>
            <a:srgbClr val="AFD89C"/>
          </a:solidFill>
          <a:ln w="12700" cap="flat" cmpd="sng" algn="ctr">
            <a:solidFill>
              <a:sysClr val="window" lastClr="FFFFFF"/>
            </a:solidFill>
            <a:prstDash val="solid"/>
            <a:miter lim="800000"/>
          </a:ln>
          <a:effectLst/>
        </p:spPr>
        <p:txBody>
          <a:bodyPr rtlCol="0" anchor="ctr"/>
          <a:lstStyle/>
          <a:p>
            <a:pPr algn="ctr"/>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文本框 23"/>
          <p:cNvSpPr txBox="1"/>
          <p:nvPr/>
        </p:nvSpPr>
        <p:spPr bwMode="gray">
          <a:xfrm>
            <a:off x="6413655" y="2094690"/>
            <a:ext cx="5152669" cy="2862322"/>
          </a:xfrm>
          <a:prstGeom prst="rect">
            <a:avLst/>
          </a:prstGeom>
          <a:noFill/>
        </p:spPr>
        <p:txBody>
          <a:bodyPr wrap="square" rtlCol="0">
            <a:spAutoFit/>
          </a:bodyPr>
          <a:lstStyle/>
          <a:p>
            <a:pPr>
              <a:lnSpc>
                <a:spcPts val="2400"/>
              </a:lnSpc>
              <a:spcAft>
                <a:spcPts val="600"/>
              </a:spcAft>
            </a:pP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相同</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内的同子网互访：</a:t>
            </a:r>
            <a:endPar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endParaRPr>
          </a:p>
          <a:p>
            <a:pPr marL="342900" lvl="0" indent="-342900">
              <a:lnSpc>
                <a:spcPts val="2400"/>
              </a:lnSpc>
              <a:spcAft>
                <a:spcPts val="600"/>
              </a:spcAft>
              <a:buFont typeface="+mj-ea"/>
              <a:buAutoNum type="circleNumDbPlain"/>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销售员工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通过准入认证，接入园区网络。</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lvl="0" indent="-342900">
              <a:lnSpc>
                <a:spcPts val="2400"/>
              </a:lnSpc>
              <a:spcAft>
                <a:spcPts val="600"/>
              </a:spcAft>
              <a:buFont typeface="+mj-ea"/>
              <a:buAutoNum type="circleNumDbPlain"/>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以销售员工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为例，</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Edge2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将其</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地址通过</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更新通告给</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将其反射给</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Edge1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lvl="0" indent="-342900">
              <a:lnSpc>
                <a:spcPts val="2400"/>
              </a:lnSpc>
              <a:spcAft>
                <a:spcPts val="600"/>
              </a:spcAft>
              <a:buFont typeface="+mj-ea"/>
              <a:buAutoNum type="circleNumDbPlain"/>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Edge1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学习到</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AAAA-0000-0002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lvl="0" indent="-342900">
              <a:lnSpc>
                <a:spcPts val="2400"/>
              </a:lnSpc>
              <a:spcAft>
                <a:spcPts val="600"/>
              </a:spcAft>
              <a:buFont typeface="+mj-ea"/>
              <a:buAutoNum type="circleNumDbPlain"/>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当</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发送数据给</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时，流量到达</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Edge1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后，</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Edge1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将其执行</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封装，然后转发到</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Edge2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Edge2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进行</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解封装后将数据送达目的地。</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gray">
          <a:xfrm>
            <a:off x="2467950" y="4135932"/>
            <a:ext cx="2077813" cy="307777"/>
          </a:xfrm>
          <a:prstGeom prst="rect">
            <a:avLst/>
          </a:prstGeom>
        </p:spPr>
        <p:txBody>
          <a:bodyPr wrap="none">
            <a:spAutoFit/>
          </a:bodyPr>
          <a:lstStyle/>
          <a:p>
            <a:pPr algn="just"/>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隧道（</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L2 VNI</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47" name="文本框 46"/>
          <p:cNvSpPr txBox="1"/>
          <p:nvPr/>
        </p:nvSpPr>
        <p:spPr bwMode="gray">
          <a:xfrm>
            <a:off x="3024712" y="2935381"/>
            <a:ext cx="902811" cy="307777"/>
          </a:xfrm>
          <a:prstGeom prst="rect">
            <a:avLst/>
          </a:prstGeom>
          <a:noFill/>
        </p:spPr>
        <p:txBody>
          <a:bodyPr wrap="none" rtlCol="0">
            <a:spAutoFit/>
          </a:bodyPr>
          <a:lstStyle/>
          <a:p>
            <a:pPr algn="ct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路由反射</a:t>
            </a:r>
            <a:endPar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文本框 47"/>
          <p:cNvSpPr txBox="1"/>
          <p:nvPr/>
        </p:nvSpPr>
        <p:spPr bwMode="gray">
          <a:xfrm>
            <a:off x="1031605" y="4649235"/>
            <a:ext cx="683200"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Edge1</a:t>
            </a:r>
          </a:p>
        </p:txBody>
      </p:sp>
      <p:sp>
        <p:nvSpPr>
          <p:cNvPr id="49" name="文本框 48"/>
          <p:cNvSpPr txBox="1"/>
          <p:nvPr/>
        </p:nvSpPr>
        <p:spPr bwMode="gray">
          <a:xfrm>
            <a:off x="5247066" y="4649235"/>
            <a:ext cx="683199"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Edge2</a:t>
            </a:r>
          </a:p>
        </p:txBody>
      </p:sp>
      <p:sp>
        <p:nvSpPr>
          <p:cNvPr id="52" name="文本框 51"/>
          <p:cNvSpPr txBox="1"/>
          <p:nvPr/>
        </p:nvSpPr>
        <p:spPr bwMode="gray">
          <a:xfrm>
            <a:off x="3142814" y="2167823"/>
            <a:ext cx="728084"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Border</a:t>
            </a:r>
          </a:p>
        </p:txBody>
      </p:sp>
      <p:grpSp>
        <p:nvGrpSpPr>
          <p:cNvPr id="42" name="组合 41"/>
          <p:cNvGrpSpPr/>
          <p:nvPr/>
        </p:nvGrpSpPr>
        <p:grpSpPr bwMode="gray">
          <a:xfrm>
            <a:off x="3983398" y="2497731"/>
            <a:ext cx="2232508" cy="1205612"/>
            <a:chOff x="3983398" y="2497731"/>
            <a:chExt cx="2232508" cy="1205612"/>
          </a:xfrm>
        </p:grpSpPr>
        <p:sp>
          <p:nvSpPr>
            <p:cNvPr id="43" name="文本框 42"/>
            <p:cNvSpPr txBox="1"/>
            <p:nvPr/>
          </p:nvSpPr>
          <p:spPr bwMode="gray">
            <a:xfrm>
              <a:off x="3983398" y="2497731"/>
              <a:ext cx="2232508" cy="239219"/>
            </a:xfrm>
            <a:prstGeom prst="round2SameRect">
              <a:avLst>
                <a:gd name="adj1" fmla="val 20890"/>
                <a:gd name="adj2" fmla="val 0"/>
              </a:avLst>
            </a:prstGeom>
            <a:solidFill>
              <a:srgbClr val="EC7061"/>
            </a:solidFill>
            <a:ln w="19050">
              <a:solidFill>
                <a:sysClr val="window" lastClr="FFFFFF"/>
              </a:solidFill>
            </a:ln>
          </p:spPr>
          <p:txBody>
            <a:bodyPr wrap="none" lIns="0" tIns="0" rIns="0" bIns="0" rtlCol="0" anchor="ctr" anchorCtr="0">
              <a:noAutofit/>
            </a:bodyPr>
            <a:lstStyle>
              <a:defPPr>
                <a:defRPr lang="en-US"/>
              </a:defPPr>
              <a:lvl1pPr algn="ctr">
                <a:defRPr sz="1200" b="1">
                  <a:solidFill>
                    <a:schemeClr val="bg1"/>
                  </a:solidFill>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BGP Update</a:t>
              </a:r>
              <a:r>
                <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报文</a:t>
              </a:r>
              <a:endParaRPr kumimoji="0" lang="en-US" altLang="zh-CN"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文本框 43"/>
            <p:cNvSpPr txBox="1"/>
            <p:nvPr/>
          </p:nvSpPr>
          <p:spPr bwMode="gray">
            <a:xfrm>
              <a:off x="3983398" y="2738481"/>
              <a:ext cx="2232508" cy="964862"/>
            </a:xfrm>
            <a:prstGeom prst="rect">
              <a:avLst/>
            </a:prstGeom>
            <a:solidFill>
              <a:srgbClr val="EC7061">
                <a:lumMod val="20000"/>
                <a:lumOff val="80000"/>
              </a:srgbClr>
            </a:solidFill>
            <a:ln w="19050">
              <a:solidFill>
                <a:sysClr val="window" lastClr="FFFFFF"/>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文本框 44"/>
            <p:cNvSpPr txBox="1"/>
            <p:nvPr/>
          </p:nvSpPr>
          <p:spPr bwMode="gray">
            <a:xfrm>
              <a:off x="4072508" y="2987157"/>
              <a:ext cx="2054290" cy="184671"/>
            </a:xfrm>
            <a:prstGeom prst="rect">
              <a:avLst/>
            </a:prstGeom>
            <a:solidFill>
              <a:srgbClr val="EC7061">
                <a:lumMod val="40000"/>
                <a:lumOff val="60000"/>
              </a:srgbClr>
            </a:solidFill>
            <a:ln w="19050">
              <a:solidFill>
                <a:srgbClr val="EC7061">
                  <a:lumMod val="60000"/>
                  <a:lumOff val="40000"/>
                </a:srgbClr>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MAC/IP</a:t>
              </a: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路由</a:t>
              </a:r>
            </a:p>
          </p:txBody>
        </p:sp>
        <p:sp>
          <p:nvSpPr>
            <p:cNvPr id="46" name="文本框 45"/>
            <p:cNvSpPr txBox="1"/>
            <p:nvPr/>
          </p:nvSpPr>
          <p:spPr bwMode="gray">
            <a:xfrm>
              <a:off x="4072508" y="3171828"/>
              <a:ext cx="2054290" cy="440097"/>
            </a:xfrm>
            <a:prstGeom prst="rect">
              <a:avLst/>
            </a:prstGeom>
            <a:solidFill>
              <a:sysClr val="window" lastClr="FFFFFF"/>
            </a:solidFill>
            <a:ln w="19050">
              <a:solidFill>
                <a:srgbClr val="EC7061">
                  <a:lumMod val="60000"/>
                  <a:lumOff val="40000"/>
                </a:srgbClr>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MAC</a:t>
              </a: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地址</a:t>
              </a: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=AAAA-0000-0002</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L2 VNI=1000</a:t>
              </a:r>
              <a:endPar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矩形 49"/>
            <p:cNvSpPr/>
            <p:nvPr/>
          </p:nvSpPr>
          <p:spPr bwMode="gray">
            <a:xfrm>
              <a:off x="4390163" y="2714651"/>
              <a:ext cx="1418978" cy="276999"/>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Next_Hop=2.2.2.2</a:t>
              </a:r>
            </a:p>
          </p:txBody>
        </p:sp>
      </p:grpSp>
    </p:spTree>
    <p:extLst>
      <p:ext uri="{BB962C8B-B14F-4D97-AF65-F5344CB8AC3E}">
        <p14:creationId xmlns:p14="http://schemas.microsoft.com/office/powerpoint/2010/main" val="226014929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sym typeface="Huawei Sans" panose="020C0503030203020204" pitchFamily="34" charset="0"/>
              </a:rPr>
              <a:t>典型案例分析：跨子网互访</a:t>
            </a:r>
          </a:p>
        </p:txBody>
      </p:sp>
      <p:sp>
        <p:nvSpPr>
          <p:cNvPr id="27" name="圆角矩形 26"/>
          <p:cNvSpPr/>
          <p:nvPr/>
        </p:nvSpPr>
        <p:spPr bwMode="gray">
          <a:xfrm>
            <a:off x="731838" y="2739486"/>
            <a:ext cx="5364162" cy="1836992"/>
          </a:xfrm>
          <a:prstGeom prst="roundRect">
            <a:avLst>
              <a:gd name="adj" fmla="val 593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圆角矩形 27"/>
          <p:cNvSpPr/>
          <p:nvPr/>
        </p:nvSpPr>
        <p:spPr bwMode="gray">
          <a:xfrm>
            <a:off x="731838" y="4626835"/>
            <a:ext cx="2691096" cy="1472593"/>
          </a:xfrm>
          <a:prstGeom prst="roundRect">
            <a:avLst>
              <a:gd name="adj" fmla="val 593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圆角矩形 28"/>
          <p:cNvSpPr/>
          <p:nvPr/>
        </p:nvSpPr>
        <p:spPr bwMode="gray">
          <a:xfrm>
            <a:off x="3539018" y="4626835"/>
            <a:ext cx="2556982" cy="1472593"/>
          </a:xfrm>
          <a:prstGeom prst="roundRect">
            <a:avLst>
              <a:gd name="adj" fmla="val 593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0" name="图片 87" descr="汇聚交换机.png"/>
          <p:cNvPicPr>
            <a:picLocks noChangeAspect="1"/>
          </p:cNvPicPr>
          <p:nvPr/>
        </p:nvPicPr>
        <p:blipFill>
          <a:blip r:embed="rId3"/>
          <a:stretch>
            <a:fillRect/>
          </a:stretch>
        </p:blipFill>
        <p:spPr bwMode="gray">
          <a:xfrm>
            <a:off x="1714886" y="4384562"/>
            <a:ext cx="491768" cy="402358"/>
          </a:xfrm>
          <a:prstGeom prst="rect">
            <a:avLst/>
          </a:prstGeom>
        </p:spPr>
      </p:pic>
      <p:pic>
        <p:nvPicPr>
          <p:cNvPr id="32" name="图片 86" descr="核心交换机.png"/>
          <p:cNvPicPr>
            <a:picLocks noChangeAspect="1"/>
          </p:cNvPicPr>
          <p:nvPr/>
        </p:nvPicPr>
        <p:blipFill>
          <a:blip r:embed="rId4"/>
          <a:stretch>
            <a:fillRect/>
          </a:stretch>
        </p:blipFill>
        <p:spPr bwMode="gray">
          <a:xfrm>
            <a:off x="3238125" y="2437330"/>
            <a:ext cx="491768" cy="402358"/>
          </a:xfrm>
          <a:prstGeom prst="rect">
            <a:avLst/>
          </a:prstGeom>
        </p:spPr>
      </p:pic>
      <p:pic>
        <p:nvPicPr>
          <p:cNvPr id="33" name="图片 11" descr="开放网络-蓝.png"/>
          <p:cNvPicPr>
            <a:picLocks noChangeAspect="1"/>
          </p:cNvPicPr>
          <p:nvPr/>
        </p:nvPicPr>
        <p:blipFill>
          <a:blip r:embed="rId5" cstate="print"/>
          <a:stretch>
            <a:fillRect/>
          </a:stretch>
        </p:blipFill>
        <p:spPr bwMode="gray">
          <a:xfrm>
            <a:off x="1759956" y="5167195"/>
            <a:ext cx="443344" cy="341279"/>
          </a:xfrm>
          <a:prstGeom prst="rect">
            <a:avLst/>
          </a:prstGeom>
        </p:spPr>
      </p:pic>
      <p:sp>
        <p:nvSpPr>
          <p:cNvPr id="35" name="文本框 34"/>
          <p:cNvSpPr txBox="1"/>
          <p:nvPr/>
        </p:nvSpPr>
        <p:spPr bwMode="gray">
          <a:xfrm>
            <a:off x="1388359" y="5576208"/>
            <a:ext cx="1186543" cy="523220"/>
          </a:xfrm>
          <a:prstGeom prst="rect">
            <a:avLst/>
          </a:prstGeom>
          <a:noFill/>
        </p:spPr>
        <p:txBody>
          <a:bodyPr wrap="none" rtlCol="0">
            <a:spAutoFit/>
          </a:bodyPr>
          <a:lstStyle/>
          <a:p>
            <a:pPr algn="ct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销售员工</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A</a:t>
            </a:r>
          </a:p>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10.1.10.1/24</a:t>
            </a:r>
          </a:p>
        </p:txBody>
      </p:sp>
      <p:pic>
        <p:nvPicPr>
          <p:cNvPr id="62" name="图片 87" descr="汇聚交换机.png"/>
          <p:cNvPicPr>
            <a:picLocks noChangeAspect="1"/>
          </p:cNvPicPr>
          <p:nvPr/>
        </p:nvPicPr>
        <p:blipFill>
          <a:blip r:embed="rId3"/>
          <a:stretch>
            <a:fillRect/>
          </a:stretch>
        </p:blipFill>
        <p:spPr bwMode="gray">
          <a:xfrm>
            <a:off x="4755298" y="4384562"/>
            <a:ext cx="491768" cy="402358"/>
          </a:xfrm>
          <a:prstGeom prst="rect">
            <a:avLst/>
          </a:prstGeom>
        </p:spPr>
      </p:pic>
      <p:pic>
        <p:nvPicPr>
          <p:cNvPr id="63" name="图片 11" descr="开放网络-蓝.png"/>
          <p:cNvPicPr>
            <a:picLocks noChangeAspect="1"/>
          </p:cNvPicPr>
          <p:nvPr/>
        </p:nvPicPr>
        <p:blipFill>
          <a:blip r:embed="rId5" cstate="print"/>
          <a:stretch>
            <a:fillRect/>
          </a:stretch>
        </p:blipFill>
        <p:spPr bwMode="gray">
          <a:xfrm>
            <a:off x="4808835" y="5167195"/>
            <a:ext cx="443344" cy="341279"/>
          </a:xfrm>
          <a:prstGeom prst="rect">
            <a:avLst/>
          </a:prstGeom>
        </p:spPr>
      </p:pic>
      <p:sp>
        <p:nvSpPr>
          <p:cNvPr id="65" name="文本框 64"/>
          <p:cNvSpPr txBox="1"/>
          <p:nvPr/>
        </p:nvSpPr>
        <p:spPr bwMode="gray">
          <a:xfrm>
            <a:off x="4437238" y="5576208"/>
            <a:ext cx="1186543" cy="523220"/>
          </a:xfrm>
          <a:prstGeom prst="rect">
            <a:avLst/>
          </a:prstGeom>
          <a:noFill/>
        </p:spPr>
        <p:txBody>
          <a:bodyPr wrap="none" rtlCol="0">
            <a:spAutoFit/>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销售员工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C</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10.1.20.1/24</a:t>
            </a:r>
          </a:p>
        </p:txBody>
      </p:sp>
      <p:sp>
        <p:nvSpPr>
          <p:cNvPr id="68" name="文本框 67"/>
          <p:cNvSpPr txBox="1"/>
          <p:nvPr/>
        </p:nvSpPr>
        <p:spPr bwMode="gray">
          <a:xfrm>
            <a:off x="6469411" y="2026875"/>
            <a:ext cx="5116389" cy="3170099"/>
          </a:xfrm>
          <a:prstGeom prst="rect">
            <a:avLst/>
          </a:prstGeom>
          <a:noFill/>
        </p:spPr>
        <p:txBody>
          <a:bodyPr wrap="square" rtlCol="0">
            <a:spAutoFit/>
          </a:bodyPr>
          <a:lstStyle/>
          <a:p>
            <a:pPr>
              <a:lnSpc>
                <a:spcPts val="2400"/>
              </a:lnSpc>
              <a:spcAft>
                <a:spcPts val="600"/>
              </a:spcAft>
            </a:pP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相同</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VN</a:t>
            </a: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内的跨子网互访：</a:t>
            </a:r>
            <a:endPar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endParaRPr>
          </a:p>
          <a:p>
            <a:pPr marL="342900" lvl="0" indent="-342900">
              <a:lnSpc>
                <a:spcPts val="2400"/>
              </a:lnSpc>
              <a:spcAft>
                <a:spcPts val="600"/>
              </a:spcAft>
              <a:buFont typeface="+mj-ea"/>
              <a:buAutoNum type="circleNumDbPlain"/>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销售员工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C</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通过准入认证，接入园区网络。</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lvl="0" indent="-342900">
              <a:lnSpc>
                <a:spcPts val="2400"/>
              </a:lnSpc>
              <a:spcAft>
                <a:spcPts val="600"/>
              </a:spcAft>
              <a:buFont typeface="+mj-ea"/>
              <a:buAutoNum type="circleNumDbPlain"/>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Edge2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将其主机路由通过</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更新通告给</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将其反射给</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Edge1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lvl="0" indent="-342900">
              <a:lnSpc>
                <a:spcPts val="2400"/>
              </a:lnSpc>
              <a:spcAft>
                <a:spcPts val="600"/>
              </a:spcAft>
              <a:buFont typeface="+mj-ea"/>
              <a:buAutoNum type="circleNumDbPlain"/>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Edge1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学习到</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10.1.20.1/32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路由，路由下一跳为</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2.2.2.2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，出接口为</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隧道接口。</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lvl="0" indent="-342900">
              <a:lnSpc>
                <a:spcPts val="2400"/>
              </a:lnSpc>
              <a:spcAft>
                <a:spcPts val="600"/>
              </a:spcAft>
              <a:buFont typeface="+mj-ea"/>
              <a:buAutoNum type="circleNumDbPlain"/>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当</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发送数据给</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C</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时，流量到达</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Edge1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后，</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Edge1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将其执行</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封装，然后转发到</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Edge2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Edge2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进行</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解封装后将数据送达目的地。</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0" name="图片 9"/>
          <p:cNvPicPr>
            <a:picLocks noChangeAspect="1"/>
          </p:cNvPicPr>
          <p:nvPr/>
        </p:nvPicPr>
        <p:blipFill>
          <a:blip r:embed="rId6">
            <a:extLst>
              <a:ext uri="{28A0092B-C50C-407E-A947-70E740481C1C}">
                <a14:useLocalDpi xmlns:a14="http://schemas.microsoft.com/office/drawing/2010/main" val="0"/>
              </a:ext>
            </a:extLst>
          </a:blip>
          <a:stretch>
            <a:fillRect/>
          </a:stretch>
        </p:blipFill>
        <p:spPr bwMode="gray">
          <a:xfrm>
            <a:off x="1714805" y="1612698"/>
            <a:ext cx="491768" cy="402358"/>
          </a:xfrm>
          <a:prstGeom prst="rect">
            <a:avLst/>
          </a:prstGeom>
        </p:spPr>
      </p:pic>
      <p:sp>
        <p:nvSpPr>
          <p:cNvPr id="71" name="文本框 70"/>
          <p:cNvSpPr txBox="1"/>
          <p:nvPr/>
        </p:nvSpPr>
        <p:spPr bwMode="gray">
          <a:xfrm>
            <a:off x="1733704" y="1254564"/>
            <a:ext cx="453970"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FW</a:t>
            </a:r>
            <a:endParaRPr lang="en-US" altLang="zh-CN" sz="1400">
              <a:solidFill>
                <a:srgbClr val="F085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2" name="图片 72" descr="交换机.png"/>
          <p:cNvPicPr>
            <a:picLocks noChangeAspect="1"/>
          </p:cNvPicPr>
          <p:nvPr/>
        </p:nvPicPr>
        <p:blipFill>
          <a:blip r:embed="rId7" cstate="print"/>
          <a:stretch>
            <a:fillRect/>
          </a:stretch>
        </p:blipFill>
        <p:spPr bwMode="gray">
          <a:xfrm>
            <a:off x="4757781" y="1613405"/>
            <a:ext cx="489285" cy="401651"/>
          </a:xfrm>
          <a:prstGeom prst="rect">
            <a:avLst/>
          </a:prstGeom>
        </p:spPr>
      </p:pic>
      <p:sp>
        <p:nvSpPr>
          <p:cNvPr id="73" name="文本框 72"/>
          <p:cNvSpPr txBox="1"/>
          <p:nvPr/>
        </p:nvSpPr>
        <p:spPr bwMode="gray">
          <a:xfrm>
            <a:off x="4387876" y="1254564"/>
            <a:ext cx="1226619"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DHCP Server</a:t>
            </a:r>
            <a:endParaRPr lang="en-US" altLang="zh-CN" sz="1400">
              <a:solidFill>
                <a:srgbClr val="F085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文本框 76"/>
          <p:cNvSpPr txBox="1"/>
          <p:nvPr/>
        </p:nvSpPr>
        <p:spPr bwMode="gray">
          <a:xfrm>
            <a:off x="1603860" y="4064136"/>
            <a:ext cx="713657"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1.1.1.1</a:t>
            </a:r>
          </a:p>
        </p:txBody>
      </p:sp>
      <p:sp>
        <p:nvSpPr>
          <p:cNvPr id="78" name="文本框 77"/>
          <p:cNvSpPr txBox="1"/>
          <p:nvPr/>
        </p:nvSpPr>
        <p:spPr bwMode="gray">
          <a:xfrm>
            <a:off x="4680467" y="4064136"/>
            <a:ext cx="713657"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2.2.2.2</a:t>
            </a:r>
          </a:p>
        </p:txBody>
      </p:sp>
      <p:cxnSp>
        <p:nvCxnSpPr>
          <p:cNvPr id="79" name="直接连接符 78">
            <a:extLst>
              <a:ext uri="{FF2B5EF4-FFF2-40B4-BE49-F238E27FC236}">
                <a16:creationId xmlns:a16="http://schemas.microsoft.com/office/drawing/2014/main" id="{49A22ADA-0369-4A01-A3B4-88C626FD0553}"/>
              </a:ext>
            </a:extLst>
          </p:cNvPr>
          <p:cNvCxnSpPr>
            <a:cxnSpLocks/>
          </p:cNvCxnSpPr>
          <p:nvPr/>
        </p:nvCxnSpPr>
        <p:spPr bwMode="gray">
          <a:xfrm>
            <a:off x="3729893" y="2839688"/>
            <a:ext cx="1282374" cy="1224448"/>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49A22ADA-0369-4A01-A3B4-88C626FD0553}"/>
              </a:ext>
            </a:extLst>
          </p:cNvPr>
          <p:cNvCxnSpPr>
            <a:cxnSpLocks/>
          </p:cNvCxnSpPr>
          <p:nvPr/>
        </p:nvCxnSpPr>
        <p:spPr bwMode="gray">
          <a:xfrm flipV="1">
            <a:off x="1933192" y="2874421"/>
            <a:ext cx="1256498" cy="1202893"/>
          </a:xfrm>
          <a:prstGeom prst="line">
            <a:avLst/>
          </a:prstGeom>
          <a:ln w="38100">
            <a:solidFill>
              <a:srgbClr val="EC7061"/>
            </a:solidFill>
            <a:headEnd type="triangle"/>
          </a:ln>
        </p:spPr>
        <p:style>
          <a:lnRef idx="1">
            <a:schemeClr val="accent1"/>
          </a:lnRef>
          <a:fillRef idx="0">
            <a:schemeClr val="accent1"/>
          </a:fillRef>
          <a:effectRef idx="0">
            <a:schemeClr val="accent1"/>
          </a:effectRef>
          <a:fontRef idx="minor">
            <a:schemeClr val="tx1"/>
          </a:fontRef>
        </p:style>
      </p:cxnSp>
      <p:sp>
        <p:nvSpPr>
          <p:cNvPr id="7" name="任意多边形 6"/>
          <p:cNvSpPr/>
          <p:nvPr/>
        </p:nvSpPr>
        <p:spPr bwMode="gray">
          <a:xfrm>
            <a:off x="2353733" y="4284132"/>
            <a:ext cx="2286000" cy="1151467"/>
          </a:xfrm>
          <a:custGeom>
            <a:avLst/>
            <a:gdLst>
              <a:gd name="connsiteX0" fmla="*/ 0 w 2286000"/>
              <a:gd name="connsiteY0" fmla="*/ 1151467 h 1151467"/>
              <a:gd name="connsiteX1" fmla="*/ 0 w 2286000"/>
              <a:gd name="connsiteY1" fmla="*/ 0 h 1151467"/>
              <a:gd name="connsiteX2" fmla="*/ 2286000 w 2286000"/>
              <a:gd name="connsiteY2" fmla="*/ 0 h 1151467"/>
              <a:gd name="connsiteX3" fmla="*/ 2286000 w 2286000"/>
              <a:gd name="connsiteY3" fmla="*/ 1083734 h 1151467"/>
            </a:gdLst>
            <a:ahLst/>
            <a:cxnLst>
              <a:cxn ang="0">
                <a:pos x="connsiteX0" y="connsiteY0"/>
              </a:cxn>
              <a:cxn ang="0">
                <a:pos x="connsiteX1" y="connsiteY1"/>
              </a:cxn>
              <a:cxn ang="0">
                <a:pos x="connsiteX2" y="connsiteY2"/>
              </a:cxn>
              <a:cxn ang="0">
                <a:pos x="connsiteX3" y="connsiteY3"/>
              </a:cxn>
            </a:cxnLst>
            <a:rect l="l" t="t" r="r" b="b"/>
            <a:pathLst>
              <a:path w="2286000" h="1151467">
                <a:moveTo>
                  <a:pt x="0" y="1151467"/>
                </a:moveTo>
                <a:lnTo>
                  <a:pt x="0" y="0"/>
                </a:lnTo>
                <a:lnTo>
                  <a:pt x="2286000" y="0"/>
                </a:lnTo>
                <a:lnTo>
                  <a:pt x="2286000" y="1083734"/>
                </a:lnTo>
              </a:path>
            </a:pathLst>
          </a:custGeom>
          <a:ln w="38100">
            <a:solidFill>
              <a:srgbClr val="62B23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Can 225"/>
          <p:cNvSpPr/>
          <p:nvPr/>
        </p:nvSpPr>
        <p:spPr bwMode="gray">
          <a:xfrm rot="5400000">
            <a:off x="3350653" y="3250010"/>
            <a:ext cx="313070" cy="2077151"/>
          </a:xfrm>
          <a:prstGeom prst="can">
            <a:avLst>
              <a:gd name="adj" fmla="val 40000"/>
            </a:avLst>
          </a:prstGeom>
          <a:solidFill>
            <a:srgbClr val="AFD89C"/>
          </a:solidFill>
          <a:ln w="12700" cap="flat" cmpd="sng" algn="ctr">
            <a:solidFill>
              <a:sysClr val="window" lastClr="FFFFFF"/>
            </a:solidFill>
            <a:prstDash val="solid"/>
            <a:miter lim="800000"/>
          </a:ln>
          <a:effectLst/>
        </p:spPr>
        <p:txBody>
          <a:bodyPr rtlCol="0" anchor="ctr"/>
          <a:lstStyle/>
          <a:p>
            <a:pPr algn="ctr"/>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矩形 35"/>
          <p:cNvSpPr/>
          <p:nvPr/>
        </p:nvSpPr>
        <p:spPr bwMode="gray">
          <a:xfrm>
            <a:off x="2467950" y="4135932"/>
            <a:ext cx="2077813" cy="307777"/>
          </a:xfrm>
          <a:prstGeom prst="rect">
            <a:avLst/>
          </a:prstGeom>
        </p:spPr>
        <p:txBody>
          <a:bodyPr wrap="none">
            <a:spAutoFit/>
          </a:bodyPr>
          <a:lstStyle/>
          <a:p>
            <a:pPr algn="just"/>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隧道（</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L3 VNI</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42" name="文本框 41"/>
          <p:cNvSpPr txBox="1"/>
          <p:nvPr/>
        </p:nvSpPr>
        <p:spPr bwMode="gray">
          <a:xfrm>
            <a:off x="3024712" y="2935381"/>
            <a:ext cx="902811" cy="307777"/>
          </a:xfrm>
          <a:prstGeom prst="rect">
            <a:avLst/>
          </a:prstGeom>
          <a:noFill/>
        </p:spPr>
        <p:txBody>
          <a:bodyPr wrap="none" rtlCol="0">
            <a:spAutoFit/>
          </a:bodyPr>
          <a:lstStyle/>
          <a:p>
            <a:pPr algn="ctr"/>
            <a:r>
              <a:rPr lang="zh-CN" altLang="en-US"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路由反射</a:t>
            </a:r>
            <a:endParaRPr lang="en-US" altLang="zh-CN" sz="1400" b="1"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文本框 42"/>
          <p:cNvSpPr txBox="1"/>
          <p:nvPr/>
        </p:nvSpPr>
        <p:spPr bwMode="gray">
          <a:xfrm>
            <a:off x="1031605" y="4649235"/>
            <a:ext cx="683200"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Edge1</a:t>
            </a:r>
          </a:p>
        </p:txBody>
      </p:sp>
      <p:sp>
        <p:nvSpPr>
          <p:cNvPr id="44" name="文本框 43"/>
          <p:cNvSpPr txBox="1"/>
          <p:nvPr/>
        </p:nvSpPr>
        <p:spPr bwMode="gray">
          <a:xfrm>
            <a:off x="5247066" y="4649235"/>
            <a:ext cx="683199"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Edge2</a:t>
            </a:r>
          </a:p>
        </p:txBody>
      </p:sp>
      <p:sp>
        <p:nvSpPr>
          <p:cNvPr id="45" name="文本框 44"/>
          <p:cNvSpPr txBox="1"/>
          <p:nvPr/>
        </p:nvSpPr>
        <p:spPr bwMode="gray">
          <a:xfrm>
            <a:off x="3142814" y="2167823"/>
            <a:ext cx="728084"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Border</a:t>
            </a:r>
          </a:p>
        </p:txBody>
      </p:sp>
      <p:sp>
        <p:nvSpPr>
          <p:cNvPr id="46" name="文本框 45"/>
          <p:cNvSpPr txBox="1"/>
          <p:nvPr/>
        </p:nvSpPr>
        <p:spPr bwMode="gray">
          <a:xfrm>
            <a:off x="4171037" y="2497731"/>
            <a:ext cx="1857230" cy="239219"/>
          </a:xfrm>
          <a:prstGeom prst="round2SameRect">
            <a:avLst>
              <a:gd name="adj1" fmla="val 20890"/>
              <a:gd name="adj2" fmla="val 0"/>
            </a:avLst>
          </a:prstGeom>
          <a:solidFill>
            <a:srgbClr val="EC7061"/>
          </a:solidFill>
          <a:ln w="19050">
            <a:solidFill>
              <a:sysClr val="window" lastClr="FFFFFF"/>
            </a:solidFill>
          </a:ln>
        </p:spPr>
        <p:txBody>
          <a:bodyPr wrap="none" lIns="0" tIns="0" rIns="0" bIns="0" rtlCol="0" anchor="ctr" anchorCtr="0">
            <a:noAutofit/>
          </a:bodyPr>
          <a:lstStyle>
            <a:defPPr>
              <a:defRPr lang="en-US"/>
            </a:defPPr>
            <a:lvl1pPr algn="ctr">
              <a:defRPr sz="1200" b="1">
                <a:solidFill>
                  <a:schemeClr val="bg1"/>
                </a:solidFill>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BGP Update</a:t>
            </a:r>
            <a:r>
              <a:rPr kumimoji="0" lang="zh-CN" altLang="en-US" sz="12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报文</a:t>
            </a:r>
            <a:endParaRPr kumimoji="0" lang="en-US" altLang="zh-CN" sz="1200" b="1" i="0" u="none" strike="noStrike" kern="0" cap="none" spc="0" normalizeH="0" baseline="0" noProof="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文本框 46"/>
          <p:cNvSpPr txBox="1"/>
          <p:nvPr/>
        </p:nvSpPr>
        <p:spPr bwMode="gray">
          <a:xfrm>
            <a:off x="4171037" y="2738481"/>
            <a:ext cx="1857230" cy="964862"/>
          </a:xfrm>
          <a:prstGeom prst="rect">
            <a:avLst/>
          </a:prstGeom>
          <a:solidFill>
            <a:srgbClr val="EC7061">
              <a:lumMod val="20000"/>
              <a:lumOff val="80000"/>
            </a:srgbClr>
          </a:solidFill>
          <a:ln w="19050">
            <a:solidFill>
              <a:sysClr val="window" lastClr="FFFFFF"/>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文本框 47"/>
          <p:cNvSpPr txBox="1"/>
          <p:nvPr/>
        </p:nvSpPr>
        <p:spPr bwMode="gray">
          <a:xfrm>
            <a:off x="4245168" y="2782085"/>
            <a:ext cx="1708970" cy="184671"/>
          </a:xfrm>
          <a:prstGeom prst="rect">
            <a:avLst/>
          </a:prstGeom>
          <a:solidFill>
            <a:srgbClr val="EC7061">
              <a:lumMod val="40000"/>
              <a:lumOff val="60000"/>
            </a:srgbClr>
          </a:solidFill>
          <a:ln w="19050">
            <a:solidFill>
              <a:srgbClr val="EC7061">
                <a:lumMod val="60000"/>
                <a:lumOff val="40000"/>
              </a:srgbClr>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MAC/IP</a:t>
            </a: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路由（</a:t>
            </a: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IRB</a:t>
            </a: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49" name="文本框 48"/>
          <p:cNvSpPr txBox="1"/>
          <p:nvPr/>
        </p:nvSpPr>
        <p:spPr bwMode="gray">
          <a:xfrm>
            <a:off x="4245168" y="2966756"/>
            <a:ext cx="1708970" cy="645169"/>
          </a:xfrm>
          <a:prstGeom prst="rect">
            <a:avLst/>
          </a:prstGeom>
          <a:solidFill>
            <a:sysClr val="window" lastClr="FFFFFF"/>
          </a:solidFill>
          <a:ln w="19050">
            <a:solidFill>
              <a:srgbClr val="EC7061">
                <a:lumMod val="60000"/>
                <a:lumOff val="40000"/>
              </a:srgbClr>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主机路由</a:t>
            </a: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=10.1.20.1/32</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L3 VNI=10</a:t>
            </a:r>
          </a:p>
          <a:p>
            <a:pPr defTabSz="914400"/>
            <a:r>
              <a:rPr lang="en-US" altLang="zh-CN" kern="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Next_Hop</a:t>
            </a:r>
            <a:r>
              <a:rPr lang="en-US" altLang="zh-CN" kern="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=2.2.2.2</a:t>
            </a:r>
          </a:p>
        </p:txBody>
      </p:sp>
    </p:spTree>
    <p:extLst>
      <p:ext uri="{BB962C8B-B14F-4D97-AF65-F5344CB8AC3E}">
        <p14:creationId xmlns:p14="http://schemas.microsoft.com/office/powerpoint/2010/main" val="392939670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sym typeface="Huawei Sans" panose="020C0503030203020204" pitchFamily="34" charset="0"/>
              </a:rPr>
              <a:t>典型案例分析：访问外部网络</a:t>
            </a:r>
          </a:p>
        </p:txBody>
      </p:sp>
      <p:sp>
        <p:nvSpPr>
          <p:cNvPr id="27" name="圆角矩形 26"/>
          <p:cNvSpPr/>
          <p:nvPr/>
        </p:nvSpPr>
        <p:spPr bwMode="gray">
          <a:xfrm>
            <a:off x="730240" y="2739486"/>
            <a:ext cx="5365760" cy="1836992"/>
          </a:xfrm>
          <a:prstGeom prst="roundRect">
            <a:avLst>
              <a:gd name="adj" fmla="val 593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圆角矩形 27"/>
          <p:cNvSpPr/>
          <p:nvPr/>
        </p:nvSpPr>
        <p:spPr bwMode="gray">
          <a:xfrm>
            <a:off x="730240" y="4626835"/>
            <a:ext cx="2692694" cy="1472593"/>
          </a:xfrm>
          <a:prstGeom prst="roundRect">
            <a:avLst>
              <a:gd name="adj" fmla="val 593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圆角矩形 28"/>
          <p:cNvSpPr/>
          <p:nvPr/>
        </p:nvSpPr>
        <p:spPr bwMode="gray">
          <a:xfrm>
            <a:off x="3539018" y="4626835"/>
            <a:ext cx="2556982" cy="1472593"/>
          </a:xfrm>
          <a:prstGeom prst="roundRect">
            <a:avLst>
              <a:gd name="adj" fmla="val 593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0" name="图片 87" descr="汇聚交换机.png"/>
          <p:cNvPicPr>
            <a:picLocks noChangeAspect="1"/>
          </p:cNvPicPr>
          <p:nvPr/>
        </p:nvPicPr>
        <p:blipFill>
          <a:blip r:embed="rId3"/>
          <a:stretch>
            <a:fillRect/>
          </a:stretch>
        </p:blipFill>
        <p:spPr bwMode="gray">
          <a:xfrm>
            <a:off x="1714886" y="4384562"/>
            <a:ext cx="491768" cy="402358"/>
          </a:xfrm>
          <a:prstGeom prst="rect">
            <a:avLst/>
          </a:prstGeom>
        </p:spPr>
      </p:pic>
      <p:pic>
        <p:nvPicPr>
          <p:cNvPr id="31" name="图片 86" descr="核心交换机.png"/>
          <p:cNvPicPr>
            <a:picLocks noChangeAspect="1"/>
          </p:cNvPicPr>
          <p:nvPr/>
        </p:nvPicPr>
        <p:blipFill>
          <a:blip r:embed="rId4"/>
          <a:stretch>
            <a:fillRect/>
          </a:stretch>
        </p:blipFill>
        <p:spPr bwMode="gray">
          <a:xfrm>
            <a:off x="3238125" y="2437330"/>
            <a:ext cx="491768" cy="402358"/>
          </a:xfrm>
          <a:prstGeom prst="rect">
            <a:avLst/>
          </a:prstGeom>
        </p:spPr>
      </p:pic>
      <p:pic>
        <p:nvPicPr>
          <p:cNvPr id="32" name="图片 11" descr="开放网络-蓝.png"/>
          <p:cNvPicPr>
            <a:picLocks noChangeAspect="1"/>
          </p:cNvPicPr>
          <p:nvPr/>
        </p:nvPicPr>
        <p:blipFill>
          <a:blip r:embed="rId5" cstate="print"/>
          <a:stretch>
            <a:fillRect/>
          </a:stretch>
        </p:blipFill>
        <p:spPr bwMode="gray">
          <a:xfrm>
            <a:off x="1759956" y="5167195"/>
            <a:ext cx="443344" cy="341279"/>
          </a:xfrm>
          <a:prstGeom prst="rect">
            <a:avLst/>
          </a:prstGeom>
        </p:spPr>
      </p:pic>
      <p:sp>
        <p:nvSpPr>
          <p:cNvPr id="33" name="文本框 32"/>
          <p:cNvSpPr txBox="1"/>
          <p:nvPr/>
        </p:nvSpPr>
        <p:spPr bwMode="gray">
          <a:xfrm>
            <a:off x="1388359" y="5576208"/>
            <a:ext cx="1186543" cy="523220"/>
          </a:xfrm>
          <a:prstGeom prst="rect">
            <a:avLst/>
          </a:prstGeom>
          <a:noFill/>
        </p:spPr>
        <p:txBody>
          <a:bodyPr wrap="none" rtlCol="0">
            <a:spAutoFit/>
          </a:bodyPr>
          <a:lstStyle/>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销售员工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10.1.10.1/24</a:t>
            </a:r>
          </a:p>
        </p:txBody>
      </p:sp>
      <p:pic>
        <p:nvPicPr>
          <p:cNvPr id="34" name="图片 87" descr="汇聚交换机.png"/>
          <p:cNvPicPr>
            <a:picLocks noChangeAspect="1"/>
          </p:cNvPicPr>
          <p:nvPr/>
        </p:nvPicPr>
        <p:blipFill>
          <a:blip r:embed="rId3"/>
          <a:stretch>
            <a:fillRect/>
          </a:stretch>
        </p:blipFill>
        <p:spPr bwMode="gray">
          <a:xfrm>
            <a:off x="4755298" y="4384562"/>
            <a:ext cx="491768" cy="402358"/>
          </a:xfrm>
          <a:prstGeom prst="rect">
            <a:avLst/>
          </a:prstGeom>
        </p:spPr>
      </p:pic>
      <p:pic>
        <p:nvPicPr>
          <p:cNvPr id="41" name="图片 9"/>
          <p:cNvPicPr>
            <a:picLocks noChangeAspect="1"/>
          </p:cNvPicPr>
          <p:nvPr/>
        </p:nvPicPr>
        <p:blipFill>
          <a:blip r:embed="rId6">
            <a:extLst>
              <a:ext uri="{28A0092B-C50C-407E-A947-70E740481C1C}">
                <a14:useLocalDpi xmlns:a14="http://schemas.microsoft.com/office/drawing/2010/main" val="0"/>
              </a:ext>
            </a:extLst>
          </a:blip>
          <a:stretch>
            <a:fillRect/>
          </a:stretch>
        </p:blipFill>
        <p:spPr bwMode="gray">
          <a:xfrm>
            <a:off x="1714805" y="1612698"/>
            <a:ext cx="491768" cy="402358"/>
          </a:xfrm>
          <a:prstGeom prst="rect">
            <a:avLst/>
          </a:prstGeom>
        </p:spPr>
      </p:pic>
      <p:sp>
        <p:nvSpPr>
          <p:cNvPr id="62" name="文本框 61"/>
          <p:cNvSpPr txBox="1"/>
          <p:nvPr/>
        </p:nvSpPr>
        <p:spPr bwMode="gray">
          <a:xfrm>
            <a:off x="1733704" y="1254564"/>
            <a:ext cx="453970"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FW</a:t>
            </a:r>
            <a:endParaRPr lang="en-US" altLang="zh-CN" sz="1400">
              <a:solidFill>
                <a:srgbClr val="F08500"/>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3" name="图片 72" descr="交换机.png"/>
          <p:cNvPicPr>
            <a:picLocks noChangeAspect="1"/>
          </p:cNvPicPr>
          <p:nvPr/>
        </p:nvPicPr>
        <p:blipFill>
          <a:blip r:embed="rId7" cstate="print"/>
          <a:stretch>
            <a:fillRect/>
          </a:stretch>
        </p:blipFill>
        <p:spPr bwMode="gray">
          <a:xfrm>
            <a:off x="4757781" y="1613405"/>
            <a:ext cx="489285" cy="401651"/>
          </a:xfrm>
          <a:prstGeom prst="rect">
            <a:avLst/>
          </a:prstGeom>
        </p:spPr>
      </p:pic>
      <p:sp>
        <p:nvSpPr>
          <p:cNvPr id="64" name="文本框 63"/>
          <p:cNvSpPr txBox="1"/>
          <p:nvPr/>
        </p:nvSpPr>
        <p:spPr bwMode="gray">
          <a:xfrm>
            <a:off x="4387876" y="1254564"/>
            <a:ext cx="1226619"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DHCP Server</a:t>
            </a:r>
            <a:endParaRPr lang="en-US" altLang="zh-CN" sz="1400">
              <a:solidFill>
                <a:srgbClr val="F085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文本框 65"/>
          <p:cNvSpPr txBox="1"/>
          <p:nvPr/>
        </p:nvSpPr>
        <p:spPr bwMode="gray">
          <a:xfrm>
            <a:off x="1603860" y="4064136"/>
            <a:ext cx="713657"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1.1.1.1</a:t>
            </a:r>
          </a:p>
        </p:txBody>
      </p:sp>
      <p:sp>
        <p:nvSpPr>
          <p:cNvPr id="67" name="文本框 66"/>
          <p:cNvSpPr txBox="1"/>
          <p:nvPr/>
        </p:nvSpPr>
        <p:spPr bwMode="gray">
          <a:xfrm>
            <a:off x="3127180" y="2839688"/>
            <a:ext cx="713657"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3.3.3.3</a:t>
            </a:r>
          </a:p>
        </p:txBody>
      </p:sp>
      <p:sp>
        <p:nvSpPr>
          <p:cNvPr id="72" name="Can 225"/>
          <p:cNvSpPr/>
          <p:nvPr/>
        </p:nvSpPr>
        <p:spPr bwMode="gray">
          <a:xfrm rot="2783584">
            <a:off x="2276135" y="2467795"/>
            <a:ext cx="313070" cy="1770722"/>
          </a:xfrm>
          <a:prstGeom prst="can">
            <a:avLst>
              <a:gd name="adj" fmla="val 40000"/>
            </a:avLst>
          </a:prstGeom>
          <a:solidFill>
            <a:srgbClr val="AFD89C"/>
          </a:solidFill>
          <a:ln w="12700" cap="flat" cmpd="sng" algn="ctr">
            <a:solidFill>
              <a:sysClr val="window" lastClr="FFFFFF"/>
            </a:solidFill>
            <a:prstDash val="solid"/>
            <a:miter lim="800000"/>
          </a:ln>
          <a:effectLst/>
        </p:spPr>
        <p:txBody>
          <a:bodyPr rtlCol="0" anchor="ctr"/>
          <a:lstStyle/>
          <a:p>
            <a:pPr algn="ctr"/>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文本框 72"/>
          <p:cNvSpPr txBox="1"/>
          <p:nvPr/>
        </p:nvSpPr>
        <p:spPr bwMode="gray">
          <a:xfrm>
            <a:off x="730240" y="1642421"/>
            <a:ext cx="984565"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1.2.3.0/24</a:t>
            </a:r>
            <a:endParaRPr lang="en-US" altLang="zh-CN" sz="1400">
              <a:solidFill>
                <a:srgbClr val="F0850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7" name="直接箭头连接符 76"/>
          <p:cNvCxnSpPr/>
          <p:nvPr/>
        </p:nvCxnSpPr>
        <p:spPr bwMode="gray">
          <a:xfrm flipH="1">
            <a:off x="2187674" y="3127179"/>
            <a:ext cx="960899" cy="969659"/>
          </a:xfrm>
          <a:prstGeom prst="straightConnector1">
            <a:avLst/>
          </a:prstGeom>
          <a:ln w="19050">
            <a:solidFill>
              <a:srgbClr val="EC706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p:nvPr/>
        </p:nvCxnSpPr>
        <p:spPr bwMode="gray">
          <a:xfrm>
            <a:off x="3785768" y="3127179"/>
            <a:ext cx="925799" cy="985982"/>
          </a:xfrm>
          <a:prstGeom prst="straightConnector1">
            <a:avLst/>
          </a:prstGeom>
          <a:ln w="19050">
            <a:solidFill>
              <a:srgbClr val="EC7061"/>
            </a:solidFill>
            <a:prstDash val="solid"/>
            <a:headEnd type="none"/>
            <a:tailEnd type="triangle"/>
          </a:ln>
        </p:spPr>
        <p:style>
          <a:lnRef idx="1">
            <a:schemeClr val="accent1"/>
          </a:lnRef>
          <a:fillRef idx="0">
            <a:schemeClr val="accent1"/>
          </a:fillRef>
          <a:effectRef idx="0">
            <a:schemeClr val="accent1"/>
          </a:effectRef>
          <a:fontRef idx="minor">
            <a:schemeClr val="tx1"/>
          </a:fontRef>
        </p:style>
      </p:cxnSp>
      <p:sp>
        <p:nvSpPr>
          <p:cNvPr id="9" name="任意多边形 8"/>
          <p:cNvSpPr/>
          <p:nvPr/>
        </p:nvSpPr>
        <p:spPr bwMode="gray">
          <a:xfrm>
            <a:off x="1413933" y="2133600"/>
            <a:ext cx="1744134" cy="3369733"/>
          </a:xfrm>
          <a:custGeom>
            <a:avLst/>
            <a:gdLst>
              <a:gd name="connsiteX0" fmla="*/ 0 w 1744134"/>
              <a:gd name="connsiteY0" fmla="*/ 3369733 h 3369733"/>
              <a:gd name="connsiteX1" fmla="*/ 0 w 1744134"/>
              <a:gd name="connsiteY1" fmla="*/ 2167467 h 3369733"/>
              <a:gd name="connsiteX2" fmla="*/ 1744134 w 1744134"/>
              <a:gd name="connsiteY2" fmla="*/ 516467 h 3369733"/>
              <a:gd name="connsiteX3" fmla="*/ 880534 w 1744134"/>
              <a:gd name="connsiteY3" fmla="*/ 0 h 3369733"/>
            </a:gdLst>
            <a:ahLst/>
            <a:cxnLst>
              <a:cxn ang="0">
                <a:pos x="connsiteX0" y="connsiteY0"/>
              </a:cxn>
              <a:cxn ang="0">
                <a:pos x="connsiteX1" y="connsiteY1"/>
              </a:cxn>
              <a:cxn ang="0">
                <a:pos x="connsiteX2" y="connsiteY2"/>
              </a:cxn>
              <a:cxn ang="0">
                <a:pos x="connsiteX3" y="connsiteY3"/>
              </a:cxn>
            </a:cxnLst>
            <a:rect l="l" t="t" r="r" b="b"/>
            <a:pathLst>
              <a:path w="1744134" h="3369733">
                <a:moveTo>
                  <a:pt x="0" y="3369733"/>
                </a:moveTo>
                <a:lnTo>
                  <a:pt x="0" y="2167467"/>
                </a:lnTo>
                <a:lnTo>
                  <a:pt x="1744134" y="516467"/>
                </a:lnTo>
                <a:lnTo>
                  <a:pt x="880534" y="0"/>
                </a:lnTo>
              </a:path>
            </a:pathLst>
          </a:custGeom>
          <a:ln w="38100">
            <a:solidFill>
              <a:srgbClr val="62B230"/>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文本框 44"/>
          <p:cNvSpPr txBox="1"/>
          <p:nvPr/>
        </p:nvSpPr>
        <p:spPr bwMode="gray">
          <a:xfrm>
            <a:off x="6417651" y="2208875"/>
            <a:ext cx="5155644" cy="2400657"/>
          </a:xfrm>
          <a:prstGeom prst="rect">
            <a:avLst/>
          </a:prstGeom>
          <a:noFill/>
        </p:spPr>
        <p:txBody>
          <a:bodyPr wrap="square" rtlCol="0">
            <a:spAutoFit/>
          </a:bodyPr>
          <a:lstStyle/>
          <a:p>
            <a:pPr>
              <a:lnSpc>
                <a:spcPts val="2400"/>
              </a:lnSpc>
              <a:spcAft>
                <a:spcPts val="600"/>
              </a:spcAft>
            </a:pP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访问外部网络：</a:t>
            </a:r>
            <a:endPar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endParaRPr>
          </a:p>
          <a:p>
            <a:pPr marL="342900" lvl="0" indent="-342900">
              <a:lnSpc>
                <a:spcPts val="2400"/>
              </a:lnSpc>
              <a:spcAft>
                <a:spcPts val="600"/>
              </a:spcAft>
              <a:buFont typeface="+mj-ea"/>
              <a:buAutoNum type="circleNumDbPlain"/>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当用户将外部网络（目的网段为</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1.2.3.0/24</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）关联到</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OA</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虚拟网络后，</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iMaster NCE-Campus</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会将上述外部路由重分发到</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，并通告给</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Edge1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Edge2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lvl="0" indent="-342900">
              <a:lnSpc>
                <a:spcPts val="2400"/>
              </a:lnSpc>
              <a:spcAft>
                <a:spcPts val="600"/>
              </a:spcAft>
              <a:buFont typeface="+mj-ea"/>
              <a:buAutoNum type="circleNumDbPlain"/>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当</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发送数据到</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1.2.3.0/24</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时，流量送达</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Edge1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后，由其进行</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封装，然后送至</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Border</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将</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VXLAN</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解封装，然后将</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报文转发给</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FW</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文本框 45"/>
          <p:cNvSpPr txBox="1"/>
          <p:nvPr/>
        </p:nvSpPr>
        <p:spPr bwMode="gray">
          <a:xfrm>
            <a:off x="2166007" y="4649235"/>
            <a:ext cx="683200"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Edge1</a:t>
            </a:r>
          </a:p>
        </p:txBody>
      </p:sp>
      <p:sp>
        <p:nvSpPr>
          <p:cNvPr id="47" name="文本框 46"/>
          <p:cNvSpPr txBox="1"/>
          <p:nvPr/>
        </p:nvSpPr>
        <p:spPr bwMode="gray">
          <a:xfrm>
            <a:off x="5247066" y="4649235"/>
            <a:ext cx="683199"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Edge2</a:t>
            </a:r>
          </a:p>
        </p:txBody>
      </p:sp>
      <p:sp>
        <p:nvSpPr>
          <p:cNvPr id="48" name="文本框 47"/>
          <p:cNvSpPr txBox="1"/>
          <p:nvPr/>
        </p:nvSpPr>
        <p:spPr bwMode="gray">
          <a:xfrm>
            <a:off x="3142814" y="2167823"/>
            <a:ext cx="728084" cy="307777"/>
          </a:xfrm>
          <a:prstGeom prst="rect">
            <a:avLst/>
          </a:prstGeom>
          <a:noFill/>
        </p:spPr>
        <p:txBody>
          <a:bodyPr wrap="none" rtlCol="0">
            <a:spAutoFit/>
          </a:bodyPr>
          <a:lstStyle/>
          <a:p>
            <a:pPr algn="ct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Border</a:t>
            </a:r>
          </a:p>
        </p:txBody>
      </p:sp>
      <p:sp>
        <p:nvSpPr>
          <p:cNvPr id="35" name="文本框 34"/>
          <p:cNvSpPr txBox="1"/>
          <p:nvPr/>
        </p:nvSpPr>
        <p:spPr bwMode="gray">
          <a:xfrm>
            <a:off x="2665177" y="1696080"/>
            <a:ext cx="1702710" cy="523220"/>
          </a:xfrm>
          <a:prstGeom prst="rect">
            <a:avLst/>
          </a:prstGeom>
          <a:noFill/>
        </p:spPr>
        <p:txBody>
          <a:bodyPr wrap="none" rtlCol="0">
            <a:spAutoFit/>
          </a:bodyPr>
          <a:lstStyle/>
          <a:p>
            <a:pPr algn="ct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外部路由</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1.2.3.0/24</a:t>
            </a:r>
          </a:p>
          <a:p>
            <a:pPr algn="ct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下一跳</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FW</a:t>
            </a:r>
          </a:p>
        </p:txBody>
      </p:sp>
      <p:sp>
        <p:nvSpPr>
          <p:cNvPr id="36" name="文本框 35"/>
          <p:cNvSpPr txBox="1"/>
          <p:nvPr/>
        </p:nvSpPr>
        <p:spPr bwMode="gray">
          <a:xfrm>
            <a:off x="2715963" y="3397976"/>
            <a:ext cx="1523174" cy="738664"/>
          </a:xfrm>
          <a:prstGeom prst="rect">
            <a:avLst/>
          </a:prstGeom>
          <a:noFill/>
        </p:spPr>
        <p:txBody>
          <a:bodyPr wrap="none" rtlCol="0">
            <a:spAutoFit/>
          </a:bodyPr>
          <a:lstStyle/>
          <a:p>
            <a:pPr algn="ct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路由通告</a:t>
            </a:r>
            <a:endPar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路由：</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1.2.3.0/24</a:t>
            </a:r>
          </a:p>
          <a:p>
            <a:pPr algn="ct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下一跳：</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3.3.3.3</a:t>
            </a:r>
          </a:p>
        </p:txBody>
      </p:sp>
      <p:grpSp>
        <p:nvGrpSpPr>
          <p:cNvPr id="53" name="组合 52"/>
          <p:cNvGrpSpPr/>
          <p:nvPr/>
        </p:nvGrpSpPr>
        <p:grpSpPr bwMode="gray">
          <a:xfrm>
            <a:off x="4219615" y="2569519"/>
            <a:ext cx="1426264" cy="1205612"/>
            <a:chOff x="4219615" y="2569519"/>
            <a:chExt cx="1426264" cy="1205612"/>
          </a:xfrm>
        </p:grpSpPr>
        <p:sp>
          <p:nvSpPr>
            <p:cNvPr id="54" name="文本框 53"/>
            <p:cNvSpPr txBox="1"/>
            <p:nvPr/>
          </p:nvSpPr>
          <p:spPr bwMode="gray">
            <a:xfrm>
              <a:off x="4219615" y="2569519"/>
              <a:ext cx="1426264" cy="239219"/>
            </a:xfrm>
            <a:prstGeom prst="round2SameRect">
              <a:avLst>
                <a:gd name="adj1" fmla="val 20890"/>
                <a:gd name="adj2" fmla="val 0"/>
              </a:avLst>
            </a:prstGeom>
            <a:solidFill>
              <a:srgbClr val="EC7061"/>
            </a:solidFill>
            <a:ln w="19050">
              <a:solidFill>
                <a:sysClr val="window" lastClr="FFFFFF"/>
              </a:solidFill>
            </a:ln>
          </p:spPr>
          <p:txBody>
            <a:bodyPr wrap="none" lIns="0" tIns="0" rIns="0" bIns="0" rtlCol="0" anchor="ctr" anchorCtr="0">
              <a:noAutofit/>
            </a:bodyPr>
            <a:lstStyle>
              <a:defPPr>
                <a:defRPr lang="en-US"/>
              </a:defPPr>
              <a:lvl1pPr algn="ctr">
                <a:defRPr sz="1200" b="1">
                  <a:solidFill>
                    <a:schemeClr val="bg1"/>
                  </a:solidFill>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BGP Update</a:t>
              </a:r>
              <a:r>
                <a:rPr kumimoji="0" lang="zh-CN" altLang="en-US"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报文</a:t>
              </a:r>
              <a:endParaRPr kumimoji="0" lang="en-US" altLang="zh-CN" sz="1200" b="1"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文本框 54"/>
            <p:cNvSpPr txBox="1"/>
            <p:nvPr/>
          </p:nvSpPr>
          <p:spPr bwMode="gray">
            <a:xfrm>
              <a:off x="4219615" y="2810269"/>
              <a:ext cx="1426264" cy="964862"/>
            </a:xfrm>
            <a:prstGeom prst="rect">
              <a:avLst/>
            </a:prstGeom>
            <a:solidFill>
              <a:srgbClr val="EC7061">
                <a:lumMod val="20000"/>
                <a:lumOff val="80000"/>
              </a:srgbClr>
            </a:solidFill>
            <a:ln w="19050">
              <a:solidFill>
                <a:sysClr val="window" lastClr="FFFFFF"/>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文本框 55"/>
            <p:cNvSpPr txBox="1"/>
            <p:nvPr/>
          </p:nvSpPr>
          <p:spPr bwMode="gray">
            <a:xfrm>
              <a:off x="4276545" y="3058945"/>
              <a:ext cx="1312406" cy="184671"/>
            </a:xfrm>
            <a:prstGeom prst="rect">
              <a:avLst/>
            </a:prstGeom>
            <a:solidFill>
              <a:srgbClr val="EC7061">
                <a:lumMod val="40000"/>
                <a:lumOff val="60000"/>
              </a:srgbClr>
            </a:solidFill>
            <a:ln w="19050">
              <a:solidFill>
                <a:srgbClr val="EC7061">
                  <a:lumMod val="60000"/>
                  <a:lumOff val="40000"/>
                </a:srgbClr>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a:t>
              </a:r>
              <a:r>
                <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前缀路由</a:t>
              </a:r>
            </a:p>
          </p:txBody>
        </p:sp>
        <p:sp>
          <p:nvSpPr>
            <p:cNvPr id="57" name="文本框 56"/>
            <p:cNvSpPr txBox="1"/>
            <p:nvPr/>
          </p:nvSpPr>
          <p:spPr bwMode="gray">
            <a:xfrm>
              <a:off x="4276545" y="3243616"/>
              <a:ext cx="1312406" cy="440097"/>
            </a:xfrm>
            <a:prstGeom prst="rect">
              <a:avLst/>
            </a:prstGeom>
            <a:solidFill>
              <a:sysClr val="window" lastClr="FFFFFF"/>
            </a:solidFill>
            <a:ln w="19050">
              <a:solidFill>
                <a:srgbClr val="EC7061">
                  <a:lumMod val="60000"/>
                  <a:lumOff val="40000"/>
                </a:srgbClr>
              </a:solidFill>
            </a:ln>
          </p:spPr>
          <p:txBody>
            <a:bodyPr wrap="none" lIns="0" tIns="0" rIns="0" bIns="0" rtlCol="0" anchor="ctr" anchorCtr="0">
              <a:noAutofit/>
            </a:bodyPr>
            <a:lstStyle>
              <a:defPPr>
                <a:defRPr lang="en-US"/>
              </a:defPPr>
              <a:lvl1pPr algn="ctr">
                <a:defRPr sz="1200"/>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前缀</a:t>
              </a:r>
              <a:r>
                <a:rPr kumimoji="0" lang="en-US" altLang="zh-CN"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=1.2.3.0/24</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三层</a:t>
              </a:r>
              <a:r>
                <a:rPr kumimoji="0" lang="en-US" altLang="zh-CN"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VNI=88</a:t>
              </a:r>
            </a:p>
          </p:txBody>
        </p:sp>
        <p:sp>
          <p:nvSpPr>
            <p:cNvPr id="58" name="矩形 57"/>
            <p:cNvSpPr/>
            <p:nvPr/>
          </p:nvSpPr>
          <p:spPr bwMode="gray">
            <a:xfrm>
              <a:off x="4223258" y="2786439"/>
              <a:ext cx="1418978" cy="276999"/>
            </a:xfrm>
            <a:prstGeom prst="rect">
              <a:avLst/>
            </a:prstGeom>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a:ln>
                    <a:noFill/>
                  </a:ln>
                  <a:solidFill>
                    <a:prstClr val="black"/>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Next_Hop=3.3.3.3</a:t>
              </a:r>
            </a:p>
          </p:txBody>
        </p:sp>
      </p:grpSp>
    </p:spTree>
    <p:extLst>
      <p:ext uri="{BB962C8B-B14F-4D97-AF65-F5344CB8AC3E}">
        <p14:creationId xmlns:p14="http://schemas.microsoft.com/office/powerpoint/2010/main" val="293399648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sym typeface="Huawei Sans" panose="020C0503030203020204" pitchFamily="34" charset="0"/>
              </a:rPr>
              <a:t>(</a:t>
            </a:r>
            <a:r>
              <a:rPr lang="zh-CN" altLang="en-US" dirty="0">
                <a:sym typeface="Huawei Sans" panose="020C0503030203020204" pitchFamily="34" charset="0"/>
              </a:rPr>
              <a:t>判断题</a:t>
            </a:r>
            <a:r>
              <a:rPr lang="en-US" altLang="zh-CN" dirty="0">
                <a:sym typeface="Huawei Sans" panose="020C0503030203020204" pitchFamily="34" charset="0"/>
              </a:rPr>
              <a:t>)BGP EVPN Type 2</a:t>
            </a:r>
            <a:r>
              <a:rPr lang="zh-CN" altLang="en-US" dirty="0">
                <a:sym typeface="Huawei Sans" panose="020C0503030203020204" pitchFamily="34" charset="0"/>
              </a:rPr>
              <a:t>主机</a:t>
            </a:r>
            <a:r>
              <a:rPr lang="en-US" altLang="zh-CN" dirty="0">
                <a:sym typeface="Huawei Sans" panose="020C0503030203020204" pitchFamily="34" charset="0"/>
              </a:rPr>
              <a:t>IP</a:t>
            </a:r>
            <a:r>
              <a:rPr lang="zh-CN" altLang="en-US" dirty="0">
                <a:sym typeface="Huawei Sans" panose="020C0503030203020204" pitchFamily="34" charset="0"/>
              </a:rPr>
              <a:t>路由可以用于传递</a:t>
            </a:r>
            <a:r>
              <a:rPr lang="en-US" altLang="zh-CN" dirty="0">
                <a:sym typeface="Huawei Sans" panose="020C0503030203020204" pitchFamily="34" charset="0"/>
              </a:rPr>
              <a:t>ARP</a:t>
            </a:r>
            <a:r>
              <a:rPr lang="zh-CN" altLang="en-US" dirty="0">
                <a:sym typeface="Huawei Sans" panose="020C0503030203020204" pitchFamily="34" charset="0"/>
              </a:rPr>
              <a:t>信息。</a:t>
            </a:r>
            <a:r>
              <a:rPr lang="en-US" altLang="zh-CN" dirty="0">
                <a:sym typeface="Huawei Sans" panose="020C0503030203020204" pitchFamily="34" charset="0"/>
              </a:rPr>
              <a:t>(     )</a:t>
            </a:r>
          </a:p>
          <a:p>
            <a:pPr lvl="1"/>
            <a:r>
              <a:rPr lang="zh-CN" altLang="en-US" dirty="0">
                <a:sym typeface="Huawei Sans" panose="020C0503030203020204" pitchFamily="34" charset="0"/>
              </a:rPr>
              <a:t>正确</a:t>
            </a:r>
            <a:endParaRPr lang="en-US" altLang="zh-CN" dirty="0">
              <a:sym typeface="Huawei Sans" panose="020C0503030203020204" pitchFamily="34" charset="0"/>
            </a:endParaRPr>
          </a:p>
          <a:p>
            <a:pPr lvl="1"/>
            <a:r>
              <a:rPr lang="zh-CN" altLang="en-US" dirty="0">
                <a:sym typeface="Huawei Sans" panose="020C0503030203020204" pitchFamily="34" charset="0"/>
              </a:rPr>
              <a:t>错误</a:t>
            </a:r>
            <a:endParaRPr lang="en-US" altLang="zh-CN" dirty="0">
              <a:sym typeface="Huawei Sans" panose="020C0503030203020204" pitchFamily="34" charset="0"/>
            </a:endParaRPr>
          </a:p>
          <a:p>
            <a:r>
              <a:rPr lang="en-US" altLang="zh-CN" dirty="0">
                <a:sym typeface="Huawei Sans" panose="020C0503030203020204" pitchFamily="34" charset="0"/>
              </a:rPr>
              <a:t>(</a:t>
            </a:r>
            <a:r>
              <a:rPr lang="zh-CN" altLang="en-US" dirty="0">
                <a:sym typeface="Huawei Sans" panose="020C0503030203020204" pitchFamily="34" charset="0"/>
              </a:rPr>
              <a:t>单选题</a:t>
            </a:r>
            <a:r>
              <a:rPr lang="en-US" altLang="zh-CN" dirty="0">
                <a:sym typeface="Huawei Sans" panose="020C0503030203020204" pitchFamily="34" charset="0"/>
              </a:rPr>
              <a:t>)</a:t>
            </a:r>
            <a:r>
              <a:rPr lang="zh-CN" altLang="en-US" dirty="0">
                <a:sym typeface="Huawei Sans" panose="020C0503030203020204" pitchFamily="34" charset="0"/>
              </a:rPr>
              <a:t>以下关于</a:t>
            </a:r>
            <a:r>
              <a:rPr lang="en-US" altLang="zh-CN" dirty="0">
                <a:sym typeface="Huawei Sans" panose="020C0503030203020204" pitchFamily="34" charset="0"/>
              </a:rPr>
              <a:t>BGP EVPN</a:t>
            </a:r>
            <a:r>
              <a:rPr lang="zh-CN" altLang="en-US" dirty="0">
                <a:sym typeface="Huawei Sans" panose="020C0503030203020204" pitchFamily="34" charset="0"/>
              </a:rPr>
              <a:t>的描述，错误的是哪一选项？</a:t>
            </a:r>
            <a:r>
              <a:rPr lang="en-US" altLang="zh-CN" dirty="0">
                <a:sym typeface="Huawei Sans" panose="020C0503030203020204" pitchFamily="34" charset="0"/>
              </a:rPr>
              <a:t>(     )</a:t>
            </a:r>
          </a:p>
          <a:p>
            <a:pPr lvl="1"/>
            <a:r>
              <a:rPr lang="zh-CN" altLang="en-US" dirty="0">
                <a:sym typeface="Huawei Sans" panose="020C0503030203020204" pitchFamily="34" charset="0"/>
              </a:rPr>
              <a:t>通过</a:t>
            </a:r>
            <a:r>
              <a:rPr lang="en-US" altLang="zh-CN" dirty="0">
                <a:sym typeface="Huawei Sans" panose="020C0503030203020204" pitchFamily="34" charset="0"/>
              </a:rPr>
              <a:t>MP_REACH_NLRI</a:t>
            </a:r>
            <a:r>
              <a:rPr lang="zh-CN" altLang="en-US" dirty="0">
                <a:sym typeface="Huawei Sans" panose="020C0503030203020204" pitchFamily="34" charset="0"/>
              </a:rPr>
              <a:t>携带路由</a:t>
            </a:r>
            <a:endParaRPr lang="en-US" altLang="zh-CN" dirty="0">
              <a:sym typeface="Huawei Sans" panose="020C0503030203020204" pitchFamily="34" charset="0"/>
            </a:endParaRPr>
          </a:p>
          <a:p>
            <a:pPr lvl="1"/>
            <a:r>
              <a:rPr lang="zh-CN" altLang="en-US" dirty="0">
                <a:sym typeface="Huawei Sans" panose="020C0503030203020204" pitchFamily="34" charset="0"/>
              </a:rPr>
              <a:t>通过扩展团体属性携带</a:t>
            </a:r>
            <a:r>
              <a:rPr lang="en-US" altLang="zh-CN" dirty="0">
                <a:sym typeface="Huawei Sans" panose="020C0503030203020204" pitchFamily="34" charset="0"/>
              </a:rPr>
              <a:t>RT</a:t>
            </a:r>
            <a:r>
              <a:rPr lang="zh-CN" altLang="en-US" dirty="0">
                <a:sym typeface="Huawei Sans" panose="020C0503030203020204" pitchFamily="34" charset="0"/>
              </a:rPr>
              <a:t>值</a:t>
            </a:r>
            <a:endParaRPr lang="en-US" altLang="zh-CN" dirty="0">
              <a:sym typeface="Huawei Sans" panose="020C0503030203020204" pitchFamily="34" charset="0"/>
            </a:endParaRPr>
          </a:p>
          <a:p>
            <a:pPr lvl="1"/>
            <a:r>
              <a:rPr lang="zh-CN" altLang="en-US" dirty="0">
                <a:sym typeface="Huawei Sans" panose="020C0503030203020204" pitchFamily="34" charset="0"/>
              </a:rPr>
              <a:t>通过</a:t>
            </a:r>
            <a:r>
              <a:rPr lang="en-US" altLang="zh-CN" dirty="0">
                <a:sym typeface="Huawei Sans" panose="020C0503030203020204" pitchFamily="34" charset="0"/>
              </a:rPr>
              <a:t>MP_REACH_NLRI</a:t>
            </a:r>
            <a:r>
              <a:rPr lang="zh-CN" altLang="en-US" dirty="0">
                <a:sym typeface="Huawei Sans" panose="020C0503030203020204" pitchFamily="34" charset="0"/>
              </a:rPr>
              <a:t>携带</a:t>
            </a:r>
            <a:r>
              <a:rPr lang="en-US" altLang="zh-CN" dirty="0">
                <a:sym typeface="Huawei Sans" panose="020C0503030203020204" pitchFamily="34" charset="0"/>
              </a:rPr>
              <a:t>L2 VNI</a:t>
            </a:r>
            <a:r>
              <a:rPr lang="zh-CN" altLang="en-US" dirty="0">
                <a:sym typeface="Huawei Sans" panose="020C0503030203020204" pitchFamily="34" charset="0"/>
              </a:rPr>
              <a:t>、</a:t>
            </a:r>
            <a:r>
              <a:rPr lang="en-US" altLang="zh-CN" dirty="0">
                <a:sym typeface="Huawei Sans" panose="020C0503030203020204" pitchFamily="34" charset="0"/>
              </a:rPr>
              <a:t>L3 VNI</a:t>
            </a:r>
          </a:p>
          <a:p>
            <a:pPr lvl="1"/>
            <a:r>
              <a:rPr lang="zh-CN" altLang="en-US" dirty="0">
                <a:sym typeface="Huawei Sans" panose="020C0503030203020204" pitchFamily="34" charset="0"/>
              </a:rPr>
              <a:t>通过</a:t>
            </a:r>
            <a:r>
              <a:rPr lang="en-US" altLang="zh-CN" dirty="0" err="1">
                <a:sym typeface="Huawei Sans" panose="020C0503030203020204" pitchFamily="34" charset="0"/>
              </a:rPr>
              <a:t>Next_Hop</a:t>
            </a:r>
            <a:r>
              <a:rPr lang="zh-CN" altLang="en-US" dirty="0">
                <a:sym typeface="Huawei Sans" panose="020C0503030203020204" pitchFamily="34" charset="0"/>
              </a:rPr>
              <a:t>属性携带路由下一跳地址</a:t>
            </a:r>
            <a:endParaRPr lang="en-US" altLang="zh-CN" dirty="0">
              <a:sym typeface="Huawei Sans" panose="020C0503030203020204" pitchFamily="34" charset="0"/>
            </a:endParaRPr>
          </a:p>
        </p:txBody>
      </p:sp>
    </p:spTree>
    <p:extLst>
      <p:ext uri="{BB962C8B-B14F-4D97-AF65-F5344CB8AC3E}">
        <p14:creationId xmlns:p14="http://schemas.microsoft.com/office/powerpoint/2010/main" val="177518635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p:txBody>
          <a:bodyPr/>
          <a:lstStyle/>
          <a:p>
            <a:r>
              <a:rPr lang="en-US" altLang="zh-CN" dirty="0">
                <a:sym typeface="Huawei Sans" panose="020C0503030203020204" pitchFamily="34" charset="0"/>
              </a:rPr>
              <a:t>VXLAN</a:t>
            </a:r>
            <a:r>
              <a:rPr lang="zh-CN" altLang="en-US" dirty="0">
                <a:sym typeface="Huawei Sans" panose="020C0503030203020204" pitchFamily="34" charset="0"/>
              </a:rPr>
              <a:t>使用三层路由网络作为</a:t>
            </a:r>
            <a:r>
              <a:rPr lang="en-US" altLang="zh-CN" dirty="0">
                <a:sym typeface="Huawei Sans" panose="020C0503030203020204" pitchFamily="34" charset="0"/>
              </a:rPr>
              <a:t>Underlay</a:t>
            </a:r>
            <a:r>
              <a:rPr lang="zh-CN" altLang="en-US" dirty="0">
                <a:sym typeface="Huawei Sans" panose="020C0503030203020204" pitchFamily="34" charset="0"/>
              </a:rPr>
              <a:t>网络，在其上通过隧道构建</a:t>
            </a:r>
            <a:r>
              <a:rPr lang="en-US" altLang="zh-CN" dirty="0">
                <a:sym typeface="Huawei Sans" panose="020C0503030203020204" pitchFamily="34" charset="0"/>
              </a:rPr>
              <a:t>Overlay</a:t>
            </a:r>
            <a:r>
              <a:rPr lang="zh-CN" altLang="en-US" dirty="0">
                <a:sym typeface="Huawei Sans" panose="020C0503030203020204" pitchFamily="34" charset="0"/>
              </a:rPr>
              <a:t>虚拟网络，可以支持大规模的租户网络。</a:t>
            </a:r>
            <a:endParaRPr lang="en-US" altLang="zh-CN" dirty="0">
              <a:sym typeface="Huawei Sans" panose="020C0503030203020204" pitchFamily="34" charset="0"/>
            </a:endParaRPr>
          </a:p>
          <a:p>
            <a:r>
              <a:rPr lang="en-US" altLang="zh-CN" dirty="0">
                <a:sym typeface="Huawei Sans" panose="020C0503030203020204" pitchFamily="34" charset="0"/>
              </a:rPr>
              <a:t>VXLAN</a:t>
            </a:r>
            <a:r>
              <a:rPr lang="zh-CN" altLang="en-US" dirty="0">
                <a:sym typeface="Huawei Sans" panose="020C0503030203020204" pitchFamily="34" charset="0"/>
              </a:rPr>
              <a:t>自身并没有定义控制面，为了限制</a:t>
            </a:r>
            <a:r>
              <a:rPr lang="en-US" altLang="zh-CN" dirty="0">
                <a:sym typeface="Huawei Sans" panose="020C0503030203020204" pitchFamily="34" charset="0"/>
              </a:rPr>
              <a:t>BUM</a:t>
            </a:r>
            <a:r>
              <a:rPr lang="zh-CN" altLang="en-US" dirty="0">
                <a:sym typeface="Huawei Sans" panose="020C0503030203020204" pitchFamily="34" charset="0"/>
              </a:rPr>
              <a:t>流量的泛洪，需要借助其余控制层面的协议来优化</a:t>
            </a:r>
            <a:r>
              <a:rPr lang="en-US" altLang="zh-CN" dirty="0">
                <a:sym typeface="Huawei Sans" panose="020C0503030203020204" pitchFamily="34" charset="0"/>
              </a:rPr>
              <a:t>BUM</a:t>
            </a:r>
            <a:r>
              <a:rPr lang="zh-CN" altLang="en-US" dirty="0">
                <a:sym typeface="Huawei Sans" panose="020C0503030203020204" pitchFamily="34" charset="0"/>
              </a:rPr>
              <a:t>流量的转发。</a:t>
            </a:r>
            <a:endParaRPr lang="en-US" altLang="zh-CN" dirty="0">
              <a:sym typeface="Huawei Sans" panose="020C0503030203020204" pitchFamily="34" charset="0"/>
            </a:endParaRPr>
          </a:p>
          <a:p>
            <a:r>
              <a:rPr lang="en-US" altLang="zh-CN" dirty="0">
                <a:sym typeface="Huawei Sans" panose="020C0503030203020204" pitchFamily="34" charset="0"/>
              </a:rPr>
              <a:t>BGP EVPN</a:t>
            </a:r>
            <a:r>
              <a:rPr lang="zh-CN" altLang="en-US" dirty="0">
                <a:sym typeface="Huawei Sans" panose="020C0503030203020204" pitchFamily="34" charset="0"/>
              </a:rPr>
              <a:t>通过扩展</a:t>
            </a:r>
            <a:r>
              <a:rPr lang="en-US" altLang="zh-CN" dirty="0">
                <a:sym typeface="Huawei Sans" panose="020C0503030203020204" pitchFamily="34" charset="0"/>
              </a:rPr>
              <a:t>BGP</a:t>
            </a:r>
            <a:r>
              <a:rPr lang="zh-CN" altLang="en-US" dirty="0">
                <a:sym typeface="Huawei Sans" panose="020C0503030203020204" pitchFamily="34" charset="0"/>
              </a:rPr>
              <a:t>协议新定义了几种</a:t>
            </a:r>
            <a:r>
              <a:rPr lang="en-US" altLang="zh-CN" dirty="0">
                <a:sym typeface="Huawei Sans" panose="020C0503030203020204" pitchFamily="34" charset="0"/>
              </a:rPr>
              <a:t>BGP EVPN</a:t>
            </a:r>
            <a:r>
              <a:rPr lang="zh-CN" altLang="en-US" dirty="0">
                <a:sym typeface="Huawei Sans" panose="020C0503030203020204" pitchFamily="34" charset="0"/>
              </a:rPr>
              <a:t>路由。这些</a:t>
            </a:r>
            <a:r>
              <a:rPr lang="en-US" altLang="zh-CN" dirty="0">
                <a:sym typeface="Huawei Sans" panose="020C0503030203020204" pitchFamily="34" charset="0"/>
              </a:rPr>
              <a:t>BGP EVPN</a:t>
            </a:r>
            <a:r>
              <a:rPr lang="zh-CN" altLang="en-US" dirty="0">
                <a:sym typeface="Huawei Sans" panose="020C0503030203020204" pitchFamily="34" charset="0"/>
              </a:rPr>
              <a:t>路由可以用于传递</a:t>
            </a:r>
            <a:r>
              <a:rPr lang="en-US" altLang="zh-CN" dirty="0">
                <a:sym typeface="Huawei Sans" panose="020C0503030203020204" pitchFamily="34" charset="0"/>
              </a:rPr>
              <a:t>VTEP</a:t>
            </a:r>
            <a:r>
              <a:rPr lang="zh-CN" altLang="en-US" dirty="0">
                <a:sym typeface="Huawei Sans" panose="020C0503030203020204" pitchFamily="34" charset="0"/>
              </a:rPr>
              <a:t>地址、主机信息和路由信息，从而有效帮助</a:t>
            </a:r>
            <a:r>
              <a:rPr lang="en-US" altLang="zh-CN" dirty="0">
                <a:sym typeface="Huawei Sans" panose="020C0503030203020204" pitchFamily="34" charset="0"/>
              </a:rPr>
              <a:t>VXLAN</a:t>
            </a:r>
            <a:r>
              <a:rPr lang="zh-CN" altLang="en-US" dirty="0">
                <a:sym typeface="Huawei Sans" panose="020C0503030203020204" pitchFamily="34" charset="0"/>
              </a:rPr>
              <a:t>限制</a:t>
            </a:r>
            <a:r>
              <a:rPr lang="en-US" altLang="zh-CN" dirty="0">
                <a:sym typeface="Huawei Sans" panose="020C0503030203020204" pitchFamily="34" charset="0"/>
              </a:rPr>
              <a:t>BUM</a:t>
            </a:r>
            <a:r>
              <a:rPr lang="zh-CN" altLang="en-US" dirty="0">
                <a:sym typeface="Huawei Sans" panose="020C0503030203020204" pitchFamily="34" charset="0"/>
              </a:rPr>
              <a:t>流量的泛洪。 </a:t>
            </a:r>
          </a:p>
        </p:txBody>
      </p:sp>
    </p:spTree>
    <p:extLst>
      <p:ext uri="{BB962C8B-B14F-4D97-AF65-F5344CB8AC3E}">
        <p14:creationId xmlns:p14="http://schemas.microsoft.com/office/powerpoint/2010/main" val="33827944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8082025"/>
      </p:ext>
    </p:extLst>
  </p:cSld>
  <p:clrMapOvr>
    <a:masterClrMapping/>
  </p:clrMapOvr>
</p:sld>
</file>

<file path=ppt/theme/theme1.xml><?xml version="1.0" encoding="utf-8"?>
<a:theme xmlns:a="http://schemas.openxmlformats.org/drawingml/2006/main" name="1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功能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1" ma:contentTypeDescription="Create a new document." ma:contentTypeScope="" ma:versionID="fd4f534fc22f1d982cc2e0e62ad2af45">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A5960F2-6186-408B-A0DC-5CA5E58B604F}">
  <ds:schemaRefs>
    <ds:schemaRef ds:uri="http://schemas.openxmlformats.org/package/2006/metadata/core-properties"/>
    <ds:schemaRef ds:uri="http://schemas.microsoft.com/office/infopath/2007/PartnerControls"/>
    <ds:schemaRef ds:uri="http://purl.org/dc/dcmitype/"/>
    <ds:schemaRef ds:uri="http://schemas.microsoft.com/office/2006/metadata/properties"/>
    <ds:schemaRef ds:uri="http://purl.org/dc/elements/1.1/"/>
    <ds:schemaRef ds:uri="http://purl.org/dc/terms/"/>
    <ds:schemaRef ds:uri="http://schemas.microsoft.com/office/2006/documentManagement/types"/>
    <ds:schemaRef ds:uri="475f1e55-3009-46d8-9566-5d569a2b3a98"/>
    <ds:schemaRef ds:uri="http://www.w3.org/XML/1998/namespace"/>
  </ds:schemaRefs>
</ds:datastoreItem>
</file>

<file path=customXml/itemProps2.xml><?xml version="1.0" encoding="utf-8"?>
<ds:datastoreItem xmlns:ds="http://schemas.openxmlformats.org/officeDocument/2006/customXml" ds:itemID="{F77690EA-D362-454E-BB4D-5AF9317716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5f1e55-3009-46d8-9566-5d569a2b3a9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EDE263F-0510-4442-823E-69B63ECB61E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3036</TotalTime>
  <Words>14531</Words>
  <Application>Microsoft Office PowerPoint</Application>
  <PresentationFormat>宽屏</PresentationFormat>
  <Paragraphs>2219</Paragraphs>
  <Slides>89</Slides>
  <Notes>89</Notes>
  <HiddenSlides>1</HiddenSlides>
  <MMClips>0</MMClips>
  <ScaleCrop>false</ScaleCrop>
  <HeadingPairs>
    <vt:vector size="6" baseType="variant">
      <vt:variant>
        <vt:lpstr>已用的字体</vt:lpstr>
      </vt:variant>
      <vt:variant>
        <vt:i4>5</vt:i4>
      </vt:variant>
      <vt:variant>
        <vt:lpstr>主题</vt:lpstr>
      </vt:variant>
      <vt:variant>
        <vt:i4>4</vt:i4>
      </vt:variant>
      <vt:variant>
        <vt:lpstr>幻灯片标题</vt:lpstr>
      </vt:variant>
      <vt:variant>
        <vt:i4>89</vt:i4>
      </vt:variant>
    </vt:vector>
  </HeadingPairs>
  <TitlesOfParts>
    <vt:vector size="98" baseType="lpstr">
      <vt:lpstr>Huawei Sans</vt:lpstr>
      <vt:lpstr>Microsoft YaHei</vt:lpstr>
      <vt:lpstr>Microsoft YaHei</vt:lpstr>
      <vt:lpstr>Arial</vt:lpstr>
      <vt:lpstr>Wingdings</vt:lpstr>
      <vt:lpstr>1_标题页模板</vt:lpstr>
      <vt:lpstr>2_功能页模板</vt:lpstr>
      <vt:lpstr>3_内容页模板</vt:lpstr>
      <vt:lpstr>4_感谢页模板</vt:lpstr>
      <vt:lpstr>PowerPoint 演示文稿</vt:lpstr>
      <vt:lpstr>VXLAN与园区网络虚拟化</vt:lpstr>
      <vt:lpstr>PowerPoint 演示文稿</vt:lpstr>
      <vt:lpstr>PowerPoint 演示文稿</vt:lpstr>
      <vt:lpstr>PowerPoint 演示文稿</vt:lpstr>
      <vt:lpstr>技术背景：虚拟化被企业广泛部署</vt:lpstr>
      <vt:lpstr>网络的新需求：二层扩展</vt:lpstr>
      <vt:lpstr>网络的新需求：多租户隔离</vt:lpstr>
      <vt:lpstr>传统网络面临的问题</vt:lpstr>
      <vt:lpstr>PowerPoint 演示文稿</vt:lpstr>
      <vt:lpstr>VXLAN简介</vt:lpstr>
      <vt:lpstr>VXLAN在数据中心的应用</vt:lpstr>
      <vt:lpstr>在园区网络中使用VXLAN实现“一网多用”</vt:lpstr>
      <vt:lpstr>为什么选择VXLAN实现园区网络虚拟化</vt:lpstr>
      <vt:lpstr>VXLAN的报文格式</vt:lpstr>
      <vt:lpstr>VXLAN基本概念：NVE</vt:lpstr>
      <vt:lpstr>VXLAN基本概念：VTEP</vt:lpstr>
      <vt:lpstr>VXLAN基本概念：VNI与BD</vt:lpstr>
      <vt:lpstr>VXLAN基本概念：VAP</vt:lpstr>
      <vt:lpstr>VXLAN基本概念：Border、Edge</vt:lpstr>
      <vt:lpstr>VXLAN基本概念：VXLAN二层网关、三层网关</vt:lpstr>
      <vt:lpstr>VXLAN基本概念：VBDIF</vt:lpstr>
      <vt:lpstr>VXLAN基本概念：分布式与集中式网关</vt:lpstr>
      <vt:lpstr>PowerPoint 演示文稿</vt:lpstr>
      <vt:lpstr>VXLAN隧道的建立方式</vt:lpstr>
      <vt:lpstr>静态VXLAN隧道</vt:lpstr>
      <vt:lpstr>VXLAN MAC地址表项</vt:lpstr>
      <vt:lpstr>MAC地址动态学习 (1)</vt:lpstr>
      <vt:lpstr>MAC地址动态学习 (2)</vt:lpstr>
      <vt:lpstr>同子网已知目的地址单播报文转发</vt:lpstr>
      <vt:lpstr>BUM流量转发</vt:lpstr>
      <vt:lpstr>跨子网转发</vt:lpstr>
      <vt:lpstr>PowerPoint 演示文稿</vt:lpstr>
      <vt:lpstr>VXLAN配置介绍 (1)</vt:lpstr>
      <vt:lpstr>VXLAN配置介绍 (2)</vt:lpstr>
      <vt:lpstr>配置案例：同子网互访 (1)</vt:lpstr>
      <vt:lpstr>配置案例：同子网互访 (2) </vt:lpstr>
      <vt:lpstr>配置案例：不同子网互访 (集中式网关) (1)</vt:lpstr>
      <vt:lpstr>配置案例：不同子网互访 (集中式网关) (2)</vt:lpstr>
      <vt:lpstr>配置案例：不同子网互访 (集中式网关) (3)</vt:lpstr>
      <vt:lpstr>PowerPoint 演示文稿</vt:lpstr>
      <vt:lpstr>使用BGP EVPN作为控制面协议</vt:lpstr>
      <vt:lpstr>BGP EVPN概述</vt:lpstr>
      <vt:lpstr>EVPN NLRI</vt:lpstr>
      <vt:lpstr>Extended Community</vt:lpstr>
      <vt:lpstr>EVPN VPN-Instance </vt:lpstr>
      <vt:lpstr>PowerPoint 演示文稿</vt:lpstr>
      <vt:lpstr>Type 2类路由描述 (1)</vt:lpstr>
      <vt:lpstr>Type 2类路由描述 (2)</vt:lpstr>
      <vt:lpstr>主机MAC地址通告</vt:lpstr>
      <vt:lpstr>主机ARP通告</vt:lpstr>
      <vt:lpstr>分布式网关下的跨子网通信</vt:lpstr>
      <vt:lpstr>非对称IRB转发</vt:lpstr>
      <vt:lpstr>对称IRB转发</vt:lpstr>
      <vt:lpstr>EVPN RT、IP VPN RT (1)</vt:lpstr>
      <vt:lpstr>EVPN RT、IP VPN RT (2)</vt:lpstr>
      <vt:lpstr>对称IRB转发：主机IP路由通告 (IRB路由)</vt:lpstr>
      <vt:lpstr>对称IRB转发：通信过程</vt:lpstr>
      <vt:lpstr>Type 3类路由描述</vt:lpstr>
      <vt:lpstr>建立VXLAN隧道</vt:lpstr>
      <vt:lpstr>Type 5类路由描述</vt:lpstr>
      <vt:lpstr>通告IP前缀路由的应用场景</vt:lpstr>
      <vt:lpstr>PowerPoint 演示文稿</vt:lpstr>
      <vt:lpstr>ARP广播抑制</vt:lpstr>
      <vt:lpstr>主机信息收集</vt:lpstr>
      <vt:lpstr>本地ARP代理 (1)</vt:lpstr>
      <vt:lpstr>本地ARP代理 (2)</vt:lpstr>
      <vt:lpstr>分布式网关</vt:lpstr>
      <vt:lpstr>MAC Mobility (1)</vt:lpstr>
      <vt:lpstr>MAC Mobility (2)</vt:lpstr>
      <vt:lpstr>PowerPoint 演示文稿</vt:lpstr>
      <vt:lpstr>VXLAN虚拟园区网络层次及概念</vt:lpstr>
      <vt:lpstr>架构概述：网络节点</vt:lpstr>
      <vt:lpstr>Underlay和Fabric</vt:lpstr>
      <vt:lpstr>Overlay</vt:lpstr>
      <vt:lpstr>什么是VN</vt:lpstr>
      <vt:lpstr>创建VN</vt:lpstr>
      <vt:lpstr>典型案例分析：需求</vt:lpstr>
      <vt:lpstr>典型案例分析：Fabric管理 (1)</vt:lpstr>
      <vt:lpstr>典型案例分析：Fabric管理 (2)</vt:lpstr>
      <vt:lpstr>典型案例分析：VN管理</vt:lpstr>
      <vt:lpstr>典型案例分析：隧道建立</vt:lpstr>
      <vt:lpstr>典型案例分析：地址获取</vt:lpstr>
      <vt:lpstr>典型案例分析：同子网互访</vt:lpstr>
      <vt:lpstr>典型案例分析：跨子网互访</vt:lpstr>
      <vt:lpstr>典型案例分析：访问外部网络</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he junpeng</cp:lastModifiedBy>
  <cp:revision>442</cp:revision>
  <cp:lastPrinted>2020-07-31T09:33:18Z</cp:lastPrinted>
  <dcterms:created xsi:type="dcterms:W3CDTF">2018-11-29T10:16:29Z</dcterms:created>
  <dcterms:modified xsi:type="dcterms:W3CDTF">2023-08-18T02:42:54Z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(3)0ULNVuMYx4WXX2k9lqzXorY7Llm0XWWCa9WSPlSbLQyBogr5RonnUIRfzawGHkNDaACp96La
bugN65K0B7slnPBPC3gytFt5aUlij8sAGldMT8jEjcuqlpWf7MVtln8xqNyklzAl4Yav0S6c
VWCTZsAMqmoi4gxou+Fsf61II5ADsBQ8Nfk2BM/DiZbQpRQcxAjnkPSTCJVRuQqSNKmyvYyL
455l4nCkOlfpfICZic</vt:lpwstr>
  </property>
  <property fmtid="{D5CDD505-2E9C-101B-9397-08002B2CF9AE}" pid="3" name="_2015_ms_pID_7253431">
    <vt:lpwstr>QcAQpUuA3PEqXh+ggxkgWeQEK9F82iXSWfcxJHZrl7xACfDf11x+v4
2DId8IK81+b9pL8SRXp3HMM2tWpNCZl82lYRKcCed8ZDqa88EECFyZBJYWqGax+yayLeOkHv
Vi7RdGjE9CAyGwRuYsRSVvM5/n0MjFDt/UhGy3lgItuqsRASA08Djurkkb0mbEC+rY3fgTFA
fZmd8/O0JEGkxuFEWWZnFhks7mT/cvC3UPDj</vt:lpwstr>
  </property>
  <property fmtid="{D5CDD505-2E9C-101B-9397-08002B2CF9AE}" pid="4" name="_2015_ms_pID_7253432">
    <vt:lpwstr>ebIAsEpCkmVzAFZyaDxThQ0=</vt:lpwstr>
  </property>
  <property fmtid="{D5CDD505-2E9C-101B-9397-08002B2CF9AE}" pid="5" name="ContentTypeId">
    <vt:lpwstr>0x01010002C5B4B712841F4C8A7AAEE2CD191271</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1634024950</vt:lpwstr>
  </property>
</Properties>
</file>